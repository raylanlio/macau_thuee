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561" r:id="rId2"/>
    <p:sldId id="256" r:id="rId3"/>
    <p:sldId id="287" r:id="rId4"/>
    <p:sldId id="515" r:id="rId5"/>
    <p:sldId id="516" r:id="rId6"/>
    <p:sldId id="517" r:id="rId7"/>
    <p:sldId id="518" r:id="rId8"/>
    <p:sldId id="520" r:id="rId9"/>
    <p:sldId id="521" r:id="rId10"/>
    <p:sldId id="519" r:id="rId11"/>
    <p:sldId id="522" r:id="rId12"/>
    <p:sldId id="523" r:id="rId13"/>
    <p:sldId id="524" r:id="rId14"/>
    <p:sldId id="525" r:id="rId15"/>
    <p:sldId id="526" r:id="rId16"/>
    <p:sldId id="527" r:id="rId17"/>
    <p:sldId id="528" r:id="rId18"/>
    <p:sldId id="529" r:id="rId19"/>
    <p:sldId id="530" r:id="rId20"/>
    <p:sldId id="531" r:id="rId21"/>
    <p:sldId id="532" r:id="rId22"/>
    <p:sldId id="533" r:id="rId23"/>
    <p:sldId id="534" r:id="rId24"/>
    <p:sldId id="535" r:id="rId25"/>
    <p:sldId id="537" r:id="rId26"/>
    <p:sldId id="536" r:id="rId27"/>
    <p:sldId id="538" r:id="rId28"/>
    <p:sldId id="539" r:id="rId29"/>
    <p:sldId id="540" r:id="rId30"/>
    <p:sldId id="541" r:id="rId31"/>
    <p:sldId id="542" r:id="rId32"/>
    <p:sldId id="543" r:id="rId33"/>
    <p:sldId id="545" r:id="rId34"/>
    <p:sldId id="546" r:id="rId35"/>
    <p:sldId id="548" r:id="rId36"/>
    <p:sldId id="549" r:id="rId37"/>
    <p:sldId id="550" r:id="rId38"/>
    <p:sldId id="551" r:id="rId39"/>
    <p:sldId id="555" r:id="rId40"/>
    <p:sldId id="556" r:id="rId41"/>
    <p:sldId id="558" r:id="rId42"/>
    <p:sldId id="557" r:id="rId43"/>
    <p:sldId id="559" r:id="rId44"/>
    <p:sldId id="552" r:id="rId45"/>
    <p:sldId id="553" r:id="rId46"/>
    <p:sldId id="554" r:id="rId47"/>
    <p:sldId id="514" r:id="rId48"/>
    <p:sldId id="560" r:id="rId4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3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520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file:///D:\teaching\2018&#31179;%20&#20449;&#21495;&#19982;&#31995;&#32479;\&#35838;&#20214;\VLF&#22825;&#32447;.jpg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emf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0.emf"/><Relationship Id="rId7" Type="http://schemas.openxmlformats.org/officeDocument/2006/relationships/image" Target="../media/image66.png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8.emf"/><Relationship Id="rId4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A83C2-4C6C-40EF-9115-166580DD2CEC}"/>
              </a:ext>
            </a:extLst>
          </p:cNvPr>
          <p:cNvSpPr/>
          <p:nvPr/>
        </p:nvSpPr>
        <p:spPr>
          <a:xfrm>
            <a:off x="293032" y="1070392"/>
            <a:ext cx="2792752" cy="36240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荷塘</a:t>
            </a: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雨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播放</a:t>
            </a:r>
            <a:r>
              <a:rPr lang="en-US" altLang="zh-CN" sz="2400" b="1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讯会议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双向语音</a:t>
            </a:r>
            <a:r>
              <a:rPr lang="en-US" altLang="zh-CN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</a:t>
            </a: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交流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CD6244-59FA-48DB-B6C7-5D03B2902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" y="324409"/>
            <a:ext cx="1885793" cy="594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3287808"/>
            <a:ext cx="5814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腾讯会议（请保持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关闭摄像头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，发言前解除静音）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1256337"/>
            <a:ext cx="5989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荷塘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雨课堂（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请关闭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，可以点名、白板、做题、弹幕等）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762440" y="4769481"/>
            <a:ext cx="7924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雨课堂可以看</a:t>
            </a:r>
            <a:r>
              <a:rPr lang="en-US" altLang="zh-CN" sz="280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，腾讯会议可以看现场板书，</a:t>
            </a:r>
            <a:endParaRPr lang="en-US" altLang="zh-CN" sz="28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建议分别用两个终端打开。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加号 2"/>
          <p:cNvSpPr/>
          <p:nvPr/>
        </p:nvSpPr>
        <p:spPr bwMode="auto">
          <a:xfrm>
            <a:off x="1329368" y="2507286"/>
            <a:ext cx="720080" cy="652140"/>
          </a:xfrm>
          <a:prstGeom prst="mathPlus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6" t="-14343"/>
          <a:stretch/>
        </p:blipFill>
        <p:spPr>
          <a:xfrm>
            <a:off x="5840426" y="260648"/>
            <a:ext cx="2668450" cy="65791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451476" y="6397413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186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5276" y="1122363"/>
            <a:ext cx="8660920" cy="23876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Chapter 8 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Communication Systems</a:t>
            </a:r>
            <a:endParaRPr lang="zh-CN" altLang="en-US" sz="49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Amplitude Modulation</a:t>
            </a:r>
          </a:p>
          <a:p>
            <a:endParaRPr lang="en-US" altLang="zh-CN" dirty="0" smtClean="0"/>
          </a:p>
          <a:p>
            <a:r>
              <a:rPr lang="en-US" dirty="0" smtClean="0"/>
              <a:t>Sinusoidal AM Demodulation</a:t>
            </a:r>
          </a:p>
          <a:p>
            <a:endParaRPr lang="en-US" dirty="0" smtClean="0"/>
          </a:p>
          <a:p>
            <a:r>
              <a:rPr lang="en-US" altLang="zh-CN" dirty="0"/>
              <a:t>Frequency-Division </a:t>
            </a:r>
            <a:r>
              <a:rPr lang="en-US" altLang="zh-CN" dirty="0" smtClean="0"/>
              <a:t>Multiplexing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Single Sideband </a:t>
            </a:r>
            <a:r>
              <a:rPr lang="en-US" dirty="0" smtClean="0"/>
              <a:t>Modulation</a:t>
            </a:r>
          </a:p>
          <a:p>
            <a:endParaRPr lang="en-US" dirty="0" smtClean="0"/>
          </a:p>
          <a:p>
            <a:r>
              <a:rPr lang="en-US" dirty="0" smtClean="0"/>
              <a:t>Frequency Modulation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Definitions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Modulation</a:t>
            </a:r>
            <a:r>
              <a:rPr lang="en-US" dirty="0" smtClean="0"/>
              <a:t>: to embed an information-bearing signal into a second signal</a:t>
            </a:r>
          </a:p>
          <a:p>
            <a:pPr lvl="1"/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Modulating signal</a:t>
            </a:r>
            <a:r>
              <a:rPr lang="en-US" dirty="0" smtClean="0"/>
              <a:t>: the information-bearing signal</a:t>
            </a:r>
          </a:p>
          <a:p>
            <a:pPr lvl="1"/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Carrier signal</a:t>
            </a:r>
            <a:r>
              <a:rPr lang="en-US" dirty="0" smtClean="0"/>
              <a:t>: usually high frequency</a:t>
            </a:r>
          </a:p>
          <a:p>
            <a:pPr lvl="1"/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Modulated signal</a:t>
            </a:r>
            <a:r>
              <a:rPr lang="en-US" dirty="0" smtClean="0"/>
              <a:t>: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Demodulation</a:t>
            </a:r>
            <a:r>
              <a:rPr lang="en-US" dirty="0" smtClean="0"/>
              <a:t>: to extract the information-bearing signal from the modulated signal</a:t>
            </a:r>
          </a:p>
          <a:p>
            <a:r>
              <a:rPr lang="en-US" dirty="0"/>
              <a:t> </a:t>
            </a:r>
            <a:r>
              <a:rPr lang="en-US" dirty="0" smtClean="0"/>
              <a:t>Why modulation?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To shift the frequency of </a:t>
            </a:r>
            <a:r>
              <a:rPr lang="en-US" dirty="0"/>
              <a:t>information-bearing </a:t>
            </a:r>
            <a:r>
              <a:rPr lang="en-US" dirty="0" smtClean="0"/>
              <a:t>signal to higher frequency for transmission</a:t>
            </a:r>
          </a:p>
          <a:p>
            <a:pPr lvl="2"/>
            <a:r>
              <a:rPr lang="en-US" dirty="0"/>
              <a:t> </a:t>
            </a:r>
            <a:r>
              <a:rPr lang="en-US" dirty="0" smtClean="0"/>
              <a:t>the antenna dimension to transmit a frequency signal is at least 1/10 of the signal wavelength 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To simultaneously transmit multiple signals over the same channel</a:t>
            </a:r>
            <a:r>
              <a:rPr lang="en-US" dirty="0"/>
              <a:t>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multiplexing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</a:t>
            </a:r>
            <a:r>
              <a:rPr lang="en-US" dirty="0"/>
              <a:t>8</a:t>
            </a:r>
            <a:r>
              <a:rPr lang="en-US" dirty="0" smtClean="0"/>
              <a:t>.1 </a:t>
            </a:r>
            <a:r>
              <a:rPr lang="en-US" dirty="0"/>
              <a:t>Amplitude </a:t>
            </a:r>
            <a:r>
              <a:rPr lang="en-US" dirty="0" smtClean="0"/>
              <a:t>Modulation</a:t>
            </a:r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530878" y="3434754"/>
            <a:ext cx="2984472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Modem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=Modulation + Demodulation</a:t>
            </a:r>
          </a:p>
        </p:txBody>
      </p:sp>
    </p:spTree>
    <p:extLst>
      <p:ext uri="{BB962C8B-B14F-4D97-AF65-F5344CB8AC3E}">
        <p14:creationId xmlns:p14="http://schemas.microsoft.com/office/powerpoint/2010/main" val="378246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Why Modulation?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91706" y="1308100"/>
                <a:ext cx="8091577" cy="515308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dirty="0" err="1" smtClean="0"/>
                  <a:t>Friis</a:t>
                </a:r>
                <a:r>
                  <a:rPr lang="en-US" dirty="0" smtClean="0"/>
                  <a:t> Equation in the free space: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(4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 smtClean="0"/>
                  <a:t>: transmitted/received </a:t>
                </a:r>
                <a:r>
                  <a:rPr lang="en-US" dirty="0"/>
                  <a:t>signal power</a:t>
                </a:r>
              </a:p>
              <a:p>
                <a:pPr lvl="1"/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 smtClean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 smtClean="0"/>
                  <a:t>: transmitting/receiving antenna gain, largely depends on antenna size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: carrier wavelength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i="1" dirty="0" smtClean="0"/>
                  <a:t>d</a:t>
                </a:r>
                <a:r>
                  <a:rPr lang="en-US" dirty="0" smtClean="0"/>
                  <a:t>: transmission distance</a:t>
                </a:r>
                <a:endParaRPr lang="en-US" dirty="0"/>
              </a:p>
              <a:p>
                <a:r>
                  <a:rPr lang="en-US" dirty="0" smtClean="0"/>
                  <a:t> Very low </a:t>
                </a:r>
                <a:r>
                  <a:rPr lang="en-US" dirty="0"/>
                  <a:t>frequency </a:t>
                </a:r>
                <a:r>
                  <a:rPr lang="en-US" dirty="0" smtClean="0"/>
                  <a:t>(VLF</a:t>
                </a:r>
                <a:r>
                  <a:rPr lang="en-US" dirty="0"/>
                  <a:t>) communication (3 to 30  </a:t>
                </a:r>
                <a:r>
                  <a:rPr lang="en-US" dirty="0" smtClean="0"/>
                  <a:t>kHz, wavelengths 100-10 km)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>
                    <a:hlinkClick r:id="rId2" action="ppaction://program"/>
                  </a:rPr>
                  <a:t>antenna?</a:t>
                </a:r>
                <a:endParaRPr lang="en-US" dirty="0" smtClean="0"/>
              </a:p>
              <a:p>
                <a:r>
                  <a:rPr lang="en-US" dirty="0" smtClean="0"/>
                  <a:t> Extremely </a:t>
                </a:r>
                <a:r>
                  <a:rPr lang="en-US" dirty="0"/>
                  <a:t>low frequency (ELF</a:t>
                </a:r>
                <a:r>
                  <a:rPr lang="en-US" dirty="0" smtClean="0"/>
                  <a:t>) communication </a:t>
                </a:r>
                <a:r>
                  <a:rPr lang="en-US" dirty="0"/>
                  <a:t>for submarines  </a:t>
                </a:r>
                <a:r>
                  <a:rPr lang="en-US" dirty="0" smtClean="0"/>
                  <a:t>(3</a:t>
                </a:r>
                <a:r>
                  <a:rPr lang="en-US" altLang="zh-CN" dirty="0" smtClean="0"/>
                  <a:t>-</a:t>
                </a:r>
                <a:r>
                  <a:rPr lang="en-US" dirty="0" smtClean="0"/>
                  <a:t>30 </a:t>
                </a:r>
                <a:r>
                  <a:rPr lang="en-US" dirty="0"/>
                  <a:t>Hz, </a:t>
                </a:r>
                <a:r>
                  <a:rPr lang="en-US" dirty="0" smtClean="0"/>
                  <a:t>wavelength 100,000 </a:t>
                </a:r>
                <a:r>
                  <a:rPr lang="en-US" dirty="0"/>
                  <a:t>to 10,000 </a:t>
                </a:r>
                <a:r>
                  <a:rPr lang="en-US" dirty="0" smtClean="0"/>
                  <a:t>km)</a:t>
                </a:r>
              </a:p>
              <a:p>
                <a:pPr lvl="1"/>
                <a:r>
                  <a:rPr lang="en-US" altLang="zh-CN" dirty="0" smtClean="0"/>
                  <a:t>Russia ZEVS ELF: 82 Hz, 60km feedline, the antenna is actually the earth!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1706" y="1308100"/>
                <a:ext cx="8091577" cy="5153085"/>
              </a:xfrm>
              <a:blipFill>
                <a:blip r:embed="rId3"/>
                <a:stretch>
                  <a:fillRect l="-1206" t="-592" r="-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§8.1 Amplitude Modulation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090534" y="2724049"/>
            <a:ext cx="3258094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distance of mm-wave?</a:t>
            </a:r>
          </a:p>
        </p:txBody>
      </p:sp>
    </p:spTree>
    <p:extLst>
      <p:ext uri="{BB962C8B-B14F-4D97-AF65-F5344CB8AC3E}">
        <p14:creationId xmlns:p14="http://schemas.microsoft.com/office/powerpoint/2010/main" val="254530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Amplitude Modulation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Amplitude modulation (AM)</a:t>
                </a:r>
                <a:r>
                  <a:rPr lang="en-US" dirty="0" smtClean="0"/>
                  <a:t>: the amplitude of the carrier signal </a:t>
                </a:r>
                <a:r>
                  <a:rPr lang="en-US" i="1" dirty="0" smtClean="0"/>
                  <a:t>c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 is multiplied (modulated) by the modulating signal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Complex exponential amplitude modulation: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 smtClean="0"/>
                  <a:t> carrier frequency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Sinusoidal amplitude modulation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§8.1 Amplitude Modulation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2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Complex </a:t>
            </a:r>
            <a:r>
              <a:rPr lang="en-US" sz="3200" dirty="0" smtClean="0"/>
              <a:t>Exponential Amplitude Modulation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11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3703653" cy="4868863"/>
              </a:xfrm>
            </p:spPr>
            <p:txBody>
              <a:bodyPr/>
              <a:lstStyle/>
              <a:p>
                <a:r>
                  <a:rPr lang="en-US" dirty="0"/>
                  <a:t> carrier signal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altLang="zh-CN" dirty="0"/>
                  <a:t>For convenience,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y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groupChr>
                      <m:groupChrPr>
                        <m:chr m:val="↔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内容占位符 1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3703653" cy="4868863"/>
              </a:xfrm>
              <a:blipFill>
                <a:blip r:embed="rId2"/>
                <a:stretch>
                  <a:fillRect l="-2796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§8.1 Amplitude </a:t>
            </a:r>
            <a:r>
              <a:rPr lang="en-US" dirty="0" smtClean="0"/>
              <a:t>Modulation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744" y="1464317"/>
            <a:ext cx="3839850" cy="153966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744" y="3093765"/>
            <a:ext cx="3839850" cy="15396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744" y="4789242"/>
            <a:ext cx="3839850" cy="162233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838681" y="1402955"/>
            <a:ext cx="2103095" cy="646331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spectrum efficiency?</a:t>
            </a:r>
          </a:p>
        </p:txBody>
      </p:sp>
    </p:spTree>
    <p:extLst>
      <p:ext uri="{BB962C8B-B14F-4D97-AF65-F5344CB8AC3E}">
        <p14:creationId xmlns:p14="http://schemas.microsoft.com/office/powerpoint/2010/main" val="428361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Complex Exponential </a:t>
            </a:r>
            <a:r>
              <a:rPr lang="en-US" sz="3600" dirty="0" smtClean="0"/>
              <a:t>AM Demodulation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67162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b="0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Demodulation</a:t>
                </a:r>
                <a:r>
                  <a:rPr lang="en-US" b="0" dirty="0" smtClean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Local oscillation signal (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LO</a:t>
                </a:r>
                <a:r>
                  <a:rPr lang="en-US" dirty="0" smtClean="0"/>
                  <a:t>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671620"/>
              </a:xfrm>
              <a:blipFill>
                <a:blip r:embed="rId2"/>
                <a:stretch>
                  <a:fillRect l="-696" t="-17273" b="-1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§8.1 Amplitude </a:t>
            </a:r>
            <a:r>
              <a:rPr lang="en-US" dirty="0" smtClean="0"/>
              <a:t>Modulation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118" y="1979721"/>
            <a:ext cx="3839850" cy="162233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118" y="3372259"/>
            <a:ext cx="3839850" cy="15396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6118" y="4864305"/>
            <a:ext cx="3839850" cy="153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6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to Generate Complex Signals?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Use two signals to represent the complex signals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𝑗𝑠𝑖𝑛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Use one modulated sinusoidal signal to represent the complex signal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§8.1 Amplitude </a:t>
            </a:r>
            <a:r>
              <a:rPr lang="en-US" dirty="0" smtClean="0"/>
              <a:t>Modulation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333" y="2269492"/>
            <a:ext cx="3169627" cy="265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02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Sinusoidal </a:t>
            </a:r>
            <a:r>
              <a:rPr lang="en-US" dirty="0" smtClean="0"/>
              <a:t>Amplitude </a:t>
            </a:r>
            <a:r>
              <a:rPr lang="en-US" dirty="0"/>
              <a:t>Modulation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§8.1 Amplitude </a:t>
            </a:r>
            <a:r>
              <a:rPr lang="en-US" dirty="0" smtClean="0"/>
              <a:t>Modulation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8" y="1308101"/>
                <a:ext cx="3126605" cy="479085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carrier signal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For convenience,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+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8" y="1308101"/>
                <a:ext cx="3126605" cy="4790858"/>
              </a:xfrm>
              <a:blipFill>
                <a:blip r:embed="rId2"/>
                <a:stretch>
                  <a:fillRect l="-2534" t="-3057" b="-12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859" y="1373948"/>
            <a:ext cx="3839850" cy="153966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000" y="2983779"/>
            <a:ext cx="3839850" cy="153966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250" y="4517194"/>
            <a:ext cx="3891600" cy="162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5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Requirement on Carrier Frequency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3449302" cy="951523"/>
          </a:xfrm>
        </p:spPr>
        <p:txBody>
          <a:bodyPr/>
          <a:lstStyle/>
          <a:p>
            <a:r>
              <a:rPr lang="en-US" smtClean="0"/>
              <a:t> It is required that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§8.1 Amplitude </a:t>
            </a:r>
            <a:r>
              <a:rPr lang="en-US" dirty="0" smtClean="0"/>
              <a:t>Modulation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302" y="1356710"/>
            <a:ext cx="4326300" cy="153966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302" y="2896376"/>
            <a:ext cx="4326300" cy="15396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952" y="4394239"/>
            <a:ext cx="4336650" cy="1767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360801" y="1864933"/>
                <a:ext cx="1668149" cy="523220"/>
              </a:xfrm>
              <a:prstGeom prst="rect">
                <a:avLst/>
              </a:prstGeom>
              <a:ln w="2857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801" y="1864933"/>
                <a:ext cx="166814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6976850" y="1403268"/>
                <a:ext cx="165719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850" y="1403268"/>
                <a:ext cx="1657196" cy="461665"/>
              </a:xfrm>
              <a:prstGeom prst="rect">
                <a:avLst/>
              </a:prstGeom>
              <a:blipFill>
                <a:blip r:embed="rId6"/>
                <a:stretch>
                  <a:fillRect l="-551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372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Synchronous Demodulation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8180070" cy="4868863"/>
              </a:xfrm>
            </p:spPr>
            <p:txBody>
              <a:bodyPr/>
              <a:lstStyle/>
              <a:p>
                <a:r>
                  <a:rPr lang="en-US" dirty="0" smtClean="0"/>
                  <a:t> Modulated signal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LO signal: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Synchronous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demodulation</a:t>
                </a:r>
                <a:r>
                  <a:rPr lang="en-US" dirty="0" smtClean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 Demodulated signal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Pass </a:t>
                </a:r>
                <a:r>
                  <a:rPr lang="en-US" i="1" dirty="0" smtClean="0"/>
                  <a:t>w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 through an ideal </a:t>
                </a:r>
                <a:r>
                  <a:rPr lang="en-US" b="1" dirty="0" smtClean="0">
                    <a:solidFill>
                      <a:srgbClr val="0000FF"/>
                    </a:solidFill>
                  </a:rPr>
                  <a:t>lowpass </a:t>
                </a:r>
                <a:r>
                  <a:rPr lang="en-US" dirty="0" smtClean="0"/>
                  <a:t>filter to filter out the high frequency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) component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8180070" cy="4868863"/>
              </a:xfrm>
              <a:blipFill>
                <a:blip r:embed="rId2"/>
                <a:stretch>
                  <a:fillRect l="-1267" t="-2256" r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8.2 Demodulation for Sinusoidal 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51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Block Diagram of Synchronous </a:t>
            </a:r>
            <a:r>
              <a:rPr lang="en-US" sz="3200" dirty="0"/>
              <a:t>Demodulation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§8.2 Demodulation for Sinusoidal </a:t>
            </a:r>
            <a:r>
              <a:rPr lang="en-US" dirty="0" smtClean="0"/>
              <a:t>AM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274" y="1336514"/>
            <a:ext cx="3071880" cy="123173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462" y="2598681"/>
            <a:ext cx="3113280" cy="12978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274" y="3877433"/>
            <a:ext cx="3071880" cy="123173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296" y="5126984"/>
            <a:ext cx="4943160" cy="129786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296" y="5124524"/>
            <a:ext cx="4943160" cy="129786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283" y="1476379"/>
            <a:ext cx="3252488" cy="119350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07" y="3665782"/>
            <a:ext cx="4876920" cy="1694667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338719" y="2878282"/>
            <a:ext cx="1596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Sinusoidal 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53167" y="5557002"/>
            <a:ext cx="29547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Sinusoidal AM Demodulation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08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if Phase is NOT Synchronized?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13360" y="1308100"/>
                <a:ext cx="8930640" cy="4868863"/>
              </a:xfrm>
            </p:spPr>
            <p:txBody>
              <a:bodyPr/>
              <a:lstStyle/>
              <a:p>
                <a:r>
                  <a:rPr lang="en-US" dirty="0" smtClean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(2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 smtClean="0"/>
                  <a:t> The output of the demodulator is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 </a:t>
                </a:r>
                <a:r>
                  <a:rPr lang="en-US" b="1" dirty="0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?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 For synchronous demodulation, both </a:t>
                </a:r>
                <a:r>
                  <a:rPr lang="en-US" dirty="0" smtClean="0">
                    <a:sym typeface="Wingdings" panose="05000000000000000000" pitchFamily="2" charset="2"/>
                  </a:rPr>
                  <a:t>frequency synchronization and phase synchronization are required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360" y="1308100"/>
                <a:ext cx="8930640" cy="4868863"/>
              </a:xfrm>
              <a:blipFill>
                <a:blip r:embed="rId2"/>
                <a:stretch>
                  <a:fillRect l="-1160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§8.2 Demodulation for Sinusoidal </a:t>
            </a:r>
            <a:r>
              <a:rPr lang="en-US" dirty="0" smtClean="0"/>
              <a:t>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96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Percent Modulation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3383280"/>
                <a:ext cx="7886700" cy="2973071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  (</a:t>
                </a:r>
                <a:r>
                  <a:rPr lang="en-US" i="1" dirty="0" smtClean="0"/>
                  <a:t>A</a:t>
                </a:r>
                <a:r>
                  <a:rPr lang="en-US" dirty="0" smtClean="0"/>
                  <a:t>&gt;0)</a:t>
                </a:r>
              </a:p>
              <a:p>
                <a:r>
                  <a:rPr lang="en-US" dirty="0" smtClean="0"/>
                  <a:t> 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 is the maximum amplitude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Modulation index: </a:t>
                </a:r>
                <a:r>
                  <a:rPr lang="en-US" i="1" dirty="0" smtClean="0"/>
                  <a:t>m</a:t>
                </a:r>
                <a:r>
                  <a:rPr lang="en-US" dirty="0" smtClean="0"/>
                  <a:t>=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/</a:t>
                </a:r>
                <a:r>
                  <a:rPr lang="en-US" i="1" dirty="0" smtClean="0"/>
                  <a:t>A</a:t>
                </a:r>
              </a:p>
              <a:p>
                <a:pPr lvl="1"/>
                <a:r>
                  <a:rPr lang="en-US" i="1" dirty="0" smtClean="0"/>
                  <a:t> m</a:t>
                </a:r>
                <a:r>
                  <a:rPr lang="en-US" dirty="0" smtClean="0"/>
                  <a:t>=0.5, 50% modulation</a:t>
                </a:r>
              </a:p>
              <a:p>
                <a:pPr lvl="1"/>
                <a:r>
                  <a:rPr lang="en-US" dirty="0" smtClean="0"/>
                  <a:t> </a:t>
                </a:r>
                <a:r>
                  <a:rPr lang="en-US" i="1" dirty="0" smtClean="0"/>
                  <a:t>m</a:t>
                </a:r>
                <a:r>
                  <a:rPr lang="en-US" dirty="0" smtClean="0"/>
                  <a:t>=1.0, 100</a:t>
                </a:r>
                <a:r>
                  <a:rPr lang="en-US" dirty="0"/>
                  <a:t>% </a:t>
                </a:r>
                <a:r>
                  <a:rPr lang="en-US" dirty="0" smtClean="0"/>
                  <a:t>modulation</a:t>
                </a:r>
              </a:p>
              <a:p>
                <a:r>
                  <a:rPr lang="en-US" dirty="0" smtClean="0"/>
                  <a:t> For the following discussion </a:t>
                </a:r>
                <a:r>
                  <a:rPr lang="en-US" i="1" dirty="0" smtClean="0"/>
                  <a:t>m</a:t>
                </a:r>
                <a:r>
                  <a:rPr lang="en-US" dirty="0" smtClean="0"/>
                  <a:t>≤1 (and 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≤</a:t>
                </a:r>
                <a:r>
                  <a:rPr lang="en-US" i="1" dirty="0" smtClean="0"/>
                  <a:t>A</a:t>
                </a:r>
                <a:r>
                  <a:rPr lang="en-US" dirty="0" smtClean="0"/>
                  <a:t>)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383280"/>
                <a:ext cx="7886700" cy="2973071"/>
              </a:xfrm>
              <a:blipFill>
                <a:blip r:embed="rId2"/>
                <a:stretch>
                  <a:fillRect l="-1314" t="-3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§8.2 Demodulation for Sinusoidal </a:t>
            </a:r>
            <a:r>
              <a:rPr lang="en-US" dirty="0" smtClean="0"/>
              <a:t>AM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185" y="1347309"/>
            <a:ext cx="6226671" cy="193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0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 </a:t>
            </a:r>
            <a:r>
              <a:rPr lang="en-US" dirty="0" smtClean="0"/>
              <a:t>Modulation (m=0.5, m=1)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8030" y="1116281"/>
            <a:ext cx="6520500" cy="488250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§8.2 Demodulation for Sinusoidal </a:t>
            </a:r>
            <a:r>
              <a:rPr lang="en-US" dirty="0" smtClean="0"/>
              <a:t>AM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926736" y="2075642"/>
            <a:ext cx="981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26736" y="4300682"/>
            <a:ext cx="981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m=1.0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09146" y="1114203"/>
            <a:ext cx="12939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envelope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7002416" y="1389127"/>
            <a:ext cx="506730" cy="180496"/>
          </a:xfrm>
          <a:prstGeom prst="line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10" idx="2"/>
          </p:cNvCxnSpPr>
          <p:nvPr/>
        </p:nvCxnSpPr>
        <p:spPr>
          <a:xfrm flipH="1">
            <a:off x="7011306" y="1575868"/>
            <a:ext cx="1144812" cy="1464747"/>
          </a:xfrm>
          <a:prstGeom prst="line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594827" y="3568308"/>
            <a:ext cx="12939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envelope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7088097" y="3843232"/>
            <a:ext cx="506730" cy="180496"/>
          </a:xfrm>
          <a:prstGeom prst="line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15" idx="2"/>
          </p:cNvCxnSpPr>
          <p:nvPr/>
        </p:nvCxnSpPr>
        <p:spPr>
          <a:xfrm flipH="1">
            <a:off x="7144273" y="4029973"/>
            <a:ext cx="1097526" cy="1083020"/>
          </a:xfrm>
          <a:prstGeom prst="line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28650" y="5707592"/>
            <a:ext cx="8270240" cy="461665"/>
          </a:xfrm>
          <a:prstGeom prst="rect">
            <a:avLst/>
          </a:prstGeom>
          <a:ln w="19050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smooth curve connecting the peaks of modulated signal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96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 Modulation (m=0.5, </a:t>
            </a:r>
            <a:r>
              <a:rPr lang="en-US" strike="sngStrike" dirty="0" smtClean="0">
                <a:solidFill>
                  <a:srgbClr val="FF0000"/>
                </a:solidFill>
              </a:rPr>
              <a:t>m=3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7501" y="1025046"/>
            <a:ext cx="6520500" cy="488250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§8.2 Demodulation for Sinusoidal </a:t>
            </a:r>
            <a:r>
              <a:rPr lang="en-US" dirty="0" smtClean="0"/>
              <a:t>AM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654401" y="1860517"/>
            <a:ext cx="981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m=1.0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8650" y="4207477"/>
            <a:ext cx="981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m=3.0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10418" y="1193991"/>
            <a:ext cx="12939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envelope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7103688" y="1468915"/>
            <a:ext cx="506730" cy="180496"/>
          </a:xfrm>
          <a:prstGeom prst="line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10" idx="2"/>
          </p:cNvCxnSpPr>
          <p:nvPr/>
        </p:nvCxnSpPr>
        <p:spPr>
          <a:xfrm flipH="1">
            <a:off x="7159864" y="1655656"/>
            <a:ext cx="1097526" cy="1083020"/>
          </a:xfrm>
          <a:prstGeom prst="line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610418" y="3540608"/>
            <a:ext cx="12939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envelope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7103688" y="3815532"/>
            <a:ext cx="506730" cy="180496"/>
          </a:xfrm>
          <a:prstGeom prst="line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13" idx="2"/>
          </p:cNvCxnSpPr>
          <p:nvPr/>
        </p:nvCxnSpPr>
        <p:spPr>
          <a:xfrm flipH="1">
            <a:off x="7103688" y="4002273"/>
            <a:ext cx="1153702" cy="1070611"/>
          </a:xfrm>
          <a:prstGeom prst="line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乘号 16"/>
          <p:cNvSpPr/>
          <p:nvPr/>
        </p:nvSpPr>
        <p:spPr>
          <a:xfrm>
            <a:off x="822961" y="3947123"/>
            <a:ext cx="514540" cy="982372"/>
          </a:xfrm>
          <a:prstGeom prst="mathMultiply">
            <a:avLst>
              <a:gd name="adj1" fmla="val 3774"/>
            </a:avLst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矩形 17"/>
          <p:cNvSpPr/>
          <p:nvPr/>
        </p:nvSpPr>
        <p:spPr>
          <a:xfrm>
            <a:off x="1808384" y="5388338"/>
            <a:ext cx="6249312" cy="83099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cannot be larger than 1, because the envelope cannot tell if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larger or smaller than 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69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24741"/>
            <a:ext cx="6400801" cy="47928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Asynchronous Demodulation—</a:t>
            </a:r>
            <a:r>
              <a:rPr lang="en-US" altLang="zh-CN" sz="3200" dirty="0" smtClean="0"/>
              <a:t>Envelope Detector</a:t>
            </a:r>
            <a:endParaRPr lang="en-US" sz="32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7691" y="1360613"/>
            <a:ext cx="3098949" cy="1858248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§8.2 Demodulation for Sinusoidal </a:t>
            </a:r>
            <a:r>
              <a:rPr lang="en-US" dirty="0" smtClean="0"/>
              <a:t>AM</a:t>
            </a:r>
            <a:endParaRPr lang="en-US" dirty="0"/>
          </a:p>
        </p:txBody>
      </p:sp>
      <p:sp>
        <p:nvSpPr>
          <p:cNvPr id="11" name="矩形 10"/>
          <p:cNvSpPr/>
          <p:nvPr/>
        </p:nvSpPr>
        <p:spPr>
          <a:xfrm>
            <a:off x="438001" y="3557601"/>
            <a:ext cx="2785110" cy="1569660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Schottky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diode as half rectifier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RC network for lowpass filtering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8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Modulated Signal in Synchronous/Asynchronous Systems</a:t>
            </a:r>
            <a:endParaRPr lang="en-US" sz="36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§8.2 Demodulation for Sinusoidal </a:t>
            </a:r>
            <a:r>
              <a:rPr lang="en-US" dirty="0" smtClean="0"/>
              <a:t>AM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429" y="1412242"/>
            <a:ext cx="3647858" cy="146268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80" y="2927387"/>
            <a:ext cx="3697020" cy="154121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730" y="2927387"/>
            <a:ext cx="3697020" cy="154121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120456" y="4493576"/>
            <a:ext cx="33105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 spectra for synchronous demodulation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921664" y="4489992"/>
            <a:ext cx="26748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 spectra for envelope detection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921664" y="5423171"/>
            <a:ext cx="3792316" cy="707886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must exist the carrier component for envelope detection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35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Frequency-Division Multiplexing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7886700" cy="159336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Frequency-division multiplexing (FDM)</a:t>
            </a:r>
            <a:r>
              <a:rPr lang="en-US" dirty="0" smtClean="0"/>
              <a:t>: multiple modulating signals are modulated on different carrier frequencies, and the modulated signals are summed and transmitted simultaneously over the same communication channel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8.3 </a:t>
            </a:r>
            <a:r>
              <a:rPr lang="en-US" altLang="zh-CN" dirty="0" smtClean="0"/>
              <a:t>Frequency-Division Multiplexing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260" y="2494991"/>
            <a:ext cx="3989579" cy="361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6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Spectra of FDM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§8.3 </a:t>
            </a:r>
            <a:r>
              <a:rPr lang="en-US" altLang="zh-CN" dirty="0"/>
              <a:t>Frequency-Division </a:t>
            </a:r>
            <a:r>
              <a:rPr lang="en-US" altLang="zh-CN" dirty="0" smtClean="0"/>
              <a:t>Multiplexing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37" y="1478829"/>
            <a:ext cx="2903175" cy="1433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899" y="1580910"/>
            <a:ext cx="5278500" cy="13795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899" y="2739590"/>
            <a:ext cx="5278500" cy="14337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899" y="3935162"/>
            <a:ext cx="5278500" cy="140275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2899" y="5089662"/>
            <a:ext cx="5278500" cy="144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8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Demodulation of FDM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963" y="1533578"/>
            <a:ext cx="8432800" cy="1898451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§8.3 </a:t>
            </a:r>
            <a:r>
              <a:rPr lang="en-US" altLang="zh-CN" dirty="0"/>
              <a:t>Frequency-Division </a:t>
            </a:r>
            <a:r>
              <a:rPr lang="en-US" altLang="zh-CN" dirty="0" smtClean="0"/>
              <a:t>Multiplexing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1416399" y="1557394"/>
            <a:ext cx="20377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Bandpass filter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16400" y="4063130"/>
            <a:ext cx="21130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Demultiplexing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83599" y="1568897"/>
            <a:ext cx="1952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Lowpass filter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4450080" y="1310640"/>
            <a:ext cx="10160" cy="4236720"/>
          </a:xfrm>
          <a:prstGeom prst="line">
            <a:avLst/>
          </a:prstGeom>
          <a:ln w="412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216240" y="4063130"/>
            <a:ext cx="19431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Demodulation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87364" y="4979843"/>
            <a:ext cx="3972876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Channel selection filter at RF frequency is difficult to implement!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74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Demodulation of </a:t>
            </a:r>
            <a:r>
              <a:rPr lang="en-US" altLang="zh-CN" sz="3200" dirty="0" smtClean="0"/>
              <a:t>FDM with </a:t>
            </a:r>
            <a:r>
              <a:rPr lang="en-US" altLang="zh-CN" sz="3200" dirty="0"/>
              <a:t>Intermediate-Frequency</a:t>
            </a:r>
            <a:r>
              <a:rPr lang="en-US" altLang="zh-CN" sz="3200" dirty="0" smtClean="0"/>
              <a:t> Down-Conversion</a:t>
            </a:r>
            <a:endParaRPr lang="en-US" sz="32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978" y="1968260"/>
            <a:ext cx="8264770" cy="1648699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§8.3 </a:t>
            </a:r>
            <a:r>
              <a:rPr lang="en-US" altLang="zh-CN" dirty="0"/>
              <a:t>Frequency-Division </a:t>
            </a:r>
            <a:r>
              <a:rPr lang="en-US" altLang="zh-CN" dirty="0" smtClean="0"/>
              <a:t>Multiplexing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2076799" y="1628514"/>
            <a:ext cx="20377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Bandpass filter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88399" y="1696221"/>
            <a:ext cx="1952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Lowpass filter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5000991" y="1400205"/>
            <a:ext cx="10160" cy="4236720"/>
          </a:xfrm>
          <a:prstGeom prst="line">
            <a:avLst/>
          </a:prstGeom>
          <a:ln w="412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395224" y="4524989"/>
            <a:ext cx="19431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Demodulation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1786833" y="1400205"/>
            <a:ext cx="10160" cy="4236720"/>
          </a:xfrm>
          <a:prstGeom prst="line">
            <a:avLst/>
          </a:prstGeom>
          <a:ln w="412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824143" y="4272044"/>
            <a:ext cx="31666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Intermediate-Frequency (IF) Filter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(channel selection filter)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8882" y="4272044"/>
            <a:ext cx="16579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Down Conversion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0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Superheterodyne</a:t>
            </a:r>
            <a:r>
              <a:rPr lang="en-US" dirty="0"/>
              <a:t> </a:t>
            </a:r>
            <a:r>
              <a:rPr lang="en-US" dirty="0" smtClean="0"/>
              <a:t>Receiver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§8.3 </a:t>
            </a:r>
            <a:r>
              <a:rPr lang="en-US" altLang="zh-CN" dirty="0"/>
              <a:t>Frequency-Division </a:t>
            </a:r>
            <a:r>
              <a:rPr lang="en-US" altLang="zh-CN" dirty="0" smtClean="0"/>
              <a:t>Multiplexing</a:t>
            </a:r>
            <a:endParaRPr 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330" y="1374862"/>
            <a:ext cx="7296751" cy="263500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29" y="3832950"/>
            <a:ext cx="7296751" cy="25234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71" y="3938919"/>
            <a:ext cx="2179710" cy="26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17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Bluetooth 2.1 Frequency Channels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14123"/>
            <a:ext cx="8083033" cy="3025616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§8.3 </a:t>
            </a:r>
            <a:r>
              <a:rPr lang="en-US" altLang="zh-CN" dirty="0"/>
              <a:t>Frequency-Division </a:t>
            </a:r>
            <a:r>
              <a:rPr lang="en-US" altLang="zh-CN" dirty="0" smtClean="0"/>
              <a:t>Multiplexing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51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 smtClean="0"/>
              <a:t>Bluetooth Low-Energy (BLE) Frequency Channels</a:t>
            </a:r>
            <a:endParaRPr lang="en-US" sz="28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9" y="1535386"/>
            <a:ext cx="7206002" cy="4300816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§8.3 </a:t>
            </a:r>
            <a:r>
              <a:rPr lang="en-US" altLang="zh-CN" dirty="0"/>
              <a:t>Frequency-Division </a:t>
            </a:r>
            <a:r>
              <a:rPr lang="en-US" altLang="zh-CN" dirty="0" smtClean="0"/>
              <a:t>Multiplexing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96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5G </a:t>
            </a:r>
            <a:r>
              <a:rPr lang="en-US" altLang="zh-CN" dirty="0" smtClean="0"/>
              <a:t>Spectrum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06708"/>
            <a:ext cx="7886700" cy="4271647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§8.3 </a:t>
            </a:r>
            <a:r>
              <a:rPr lang="en-US" altLang="zh-CN" dirty="0"/>
              <a:t>Frequency-Division </a:t>
            </a:r>
            <a:r>
              <a:rPr lang="en-US" altLang="zh-CN" dirty="0" smtClean="0"/>
              <a:t>Multiplexing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70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Double-Sideband Modulation vs. Single-Sideband Modulation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8.4 SSB Modulation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175" y="1210538"/>
            <a:ext cx="3839850" cy="153966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838681" y="1402955"/>
            <a:ext cx="1676669" cy="646331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bandwidth?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72407" y="5744822"/>
            <a:ext cx="2793736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bandwidth?</a:t>
            </a:r>
          </a:p>
        </p:txBody>
      </p:sp>
      <p:sp>
        <p:nvSpPr>
          <p:cNvPr id="12" name="矩形 11"/>
          <p:cNvSpPr/>
          <p:nvPr/>
        </p:nvSpPr>
        <p:spPr>
          <a:xfrm>
            <a:off x="1184977" y="4671629"/>
            <a:ext cx="27937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Double-sideband modulation (DSB)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50" y="2566469"/>
            <a:ext cx="3881250" cy="1953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356" y="2558270"/>
            <a:ext cx="3839850" cy="19426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356" y="4195158"/>
            <a:ext cx="3881250" cy="194266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5721614" y="6002408"/>
            <a:ext cx="27937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Single-sideband modulation (SSB)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77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Hilbert </a:t>
            </a:r>
            <a:r>
              <a:rPr lang="en-US" altLang="zh-CN" dirty="0" smtClean="0"/>
              <a:t>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For a real signal </a:t>
                </a:r>
                <a:r>
                  <a:rPr lang="en-US" i="1" dirty="0"/>
                  <a:t>x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 smtClean="0"/>
                  <a:t>) of a real variable t, its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Hilbert transform</a:t>
                </a:r>
                <a:r>
                  <a:rPr lang="en-US" dirty="0" smtClean="0"/>
                  <a:t> </a:t>
                </a:r>
                <a:r>
                  <a:rPr lang="en-US" i="1" dirty="0" err="1"/>
                  <a:t>x</a:t>
                </a:r>
                <a:r>
                  <a:rPr lang="en-US" i="1" baseline="-25000" dirty="0" err="1" smtClean="0"/>
                  <a:t>h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 is defined as the convolution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 smtClean="0"/>
                  <a:t> and </a:t>
                </a:r>
                <a:r>
                  <a:rPr lang="en-US" i="1" dirty="0"/>
                  <a:t>x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 smtClean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It can be proven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 </a:t>
                </a:r>
                <a:r>
                  <a:rPr lang="en-US" i="1" dirty="0"/>
                  <a:t>x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 </a:t>
                </a:r>
                <a:r>
                  <a:rPr lang="en-US" dirty="0" smtClean="0"/>
                  <a:t>and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h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</a:t>
                </a:r>
                <a:r>
                  <a:rPr lang="en-US" dirty="0" smtClean="0"/>
                  <a:t> </a:t>
                </a:r>
                <a:r>
                  <a:rPr lang="en-US" dirty="0"/>
                  <a:t>are called the Hilbert </a:t>
                </a:r>
                <a:r>
                  <a:rPr lang="en-US" altLang="zh-CN" dirty="0"/>
                  <a:t>transform pair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 r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§8.4 SSB </a:t>
            </a:r>
            <a:r>
              <a:rPr lang="en-US" dirty="0" smtClean="0"/>
              <a:t>Modulation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91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Hilbert Filter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8098790" cy="486886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The Hilbert filter has an impulse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 err="1" smtClean="0">
                    <a:solidFill>
                      <a:srgbClr val="C00000"/>
                    </a:solidFill>
                  </a:rPr>
                  <a:t>signum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 function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Define a two-sided exponential function</a:t>
                </a:r>
                <a:endParaRPr lang="en-US" b="0" i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 smtClean="0"/>
                  <a:t>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 smtClean="0"/>
                  <a:t> in which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𝑠𝑔𝑛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By the </a:t>
                </a:r>
                <a:r>
                  <a:rPr lang="en-US" dirty="0"/>
                  <a:t>duality </a:t>
                </a:r>
                <a:r>
                  <a:rPr lang="en-US" dirty="0" smtClean="0"/>
                  <a:t>property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>
                    <a:ea typeface="Cambria Math" panose="02040503050406030204" pitchFamily="18" charset="0"/>
                  </a:rPr>
                  <a:t> Finally,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The frequency response of Hilbert </a:t>
                </a:r>
                <a:r>
                  <a:rPr lang="en-US" dirty="0"/>
                  <a:t>f</a:t>
                </a:r>
                <a:r>
                  <a:rPr lang="en-US" dirty="0" smtClean="0"/>
                  <a:t>ilter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8098790" cy="4868863"/>
              </a:xfrm>
              <a:blipFill>
                <a:blip r:embed="rId2"/>
                <a:stretch>
                  <a:fillRect l="-828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§8.4 SSB </a:t>
            </a:r>
            <a:r>
              <a:rPr lang="en-US" dirty="0" smtClean="0"/>
              <a:t>Modulation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48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Proof of Hilbert Transform Pair</a:t>
            </a:r>
            <a:r>
              <a:rPr lang="en-US" baseline="30000" dirty="0" smtClean="0">
                <a:solidFill>
                  <a:srgbClr val="FF0000"/>
                </a:solidFill>
              </a:rPr>
              <a:t>*</a:t>
            </a:r>
            <a:endParaRPr lang="en-US" baseline="30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8230870" cy="4868863"/>
              </a:xfrm>
            </p:spPr>
            <p:txBody>
              <a:bodyPr/>
              <a:lstStyle/>
              <a:p>
                <a:r>
                  <a:rPr lang="en-US" dirty="0" smtClean="0"/>
                  <a:t> Rewrite: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𝑗𝑠𝑔𝑛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By definition,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𝑗𝑠𝑔𝑛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𝑗𝑠𝑔𝑛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𝑗𝑠𝑔𝑛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 smtClean="0"/>
              </a:p>
              <a:p>
                <a:r>
                  <a:rPr lang="en-US" b="0" dirty="0" smtClean="0">
                    <a:ea typeface="Cambria Math" panose="02040503050406030204" pitchFamily="18" charset="0"/>
                  </a:rPr>
                  <a:t> Apply inverse FT to both sides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:r>
                  <a:rPr lang="en-US" b="0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8230870" cy="4868863"/>
              </a:xfrm>
              <a:blipFill>
                <a:blip r:embed="rId2"/>
                <a:stretch>
                  <a:fillRect l="-1259" t="-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§8.4 SSB </a:t>
            </a:r>
            <a:r>
              <a:rPr lang="en-US" dirty="0" smtClean="0"/>
              <a:t>Modulation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7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49590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Single Sideband Modulation Using Hilbert Filter</a:t>
            </a:r>
            <a:endParaRPr lang="en-US" sz="32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05" y="1224741"/>
            <a:ext cx="4438160" cy="2687551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§8.4 SSB </a:t>
            </a:r>
            <a:r>
              <a:rPr lang="en-US" dirty="0" smtClean="0"/>
              <a:t>Modulation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20" y="3512139"/>
            <a:ext cx="3839850" cy="15396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990" y="1304561"/>
            <a:ext cx="3881250" cy="178766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390" y="2914571"/>
            <a:ext cx="3839850" cy="168433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8390" y="4598905"/>
            <a:ext cx="3839850" cy="141566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448166" y="6033185"/>
            <a:ext cx="2669674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get 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701564" y="5656277"/>
                <a:ext cx="3536994" cy="529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]</a:t>
                </a: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64" y="5656277"/>
                <a:ext cx="3536994" cy="529184"/>
              </a:xfrm>
              <a:prstGeom prst="rect">
                <a:avLst/>
              </a:prstGeom>
              <a:blipFill>
                <a:blip r:embed="rId7"/>
                <a:stretch>
                  <a:fillRect r="-690"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628650" y="5208919"/>
                <a:ext cx="285982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𝑗𝑠𝑔𝑛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208919"/>
                <a:ext cx="2859821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232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Angle Modulation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8271510" cy="48688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Sinusoidal carrier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𝐴𝑐𝑜𝑠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𝐴𝑐𝑜𝑠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b="0" dirty="0" smtClean="0"/>
                  <a:t> in which the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angle</a:t>
                </a:r>
                <a:r>
                  <a:rPr lang="en-US" altLang="zh-CN" b="0" dirty="0" smtClean="0"/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/>
                  <a:t> </a:t>
                </a:r>
                <a:endParaRPr lang="en-US" altLang="zh-CN" b="0" dirty="0" smtClean="0"/>
              </a:p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Angle modulation</a:t>
                </a:r>
                <a:r>
                  <a:rPr lang="en-US" dirty="0" smtClean="0"/>
                  <a:t>: to use the modulating signal to change the angle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𝐴𝑐𝑜𝑠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𝐴𝑐𝑜𝑠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dirty="0" smtClean="0"/>
              </a:p>
              <a:p>
                <a:pPr lvl="1"/>
                <a:r>
                  <a:rPr lang="en-US" dirty="0" smtClean="0"/>
                  <a:t> phase </a:t>
                </a:r>
                <a:r>
                  <a:rPr lang="en-US" dirty="0"/>
                  <a:t>signal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is a function of time</a:t>
                </a:r>
              </a:p>
              <a:p>
                <a:r>
                  <a:rPr lang="en-US" dirty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Phase modulation (PM)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altLang="zh-CN" b="1" dirty="0" smtClean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Frequency modulation (FM)</a:t>
                </a:r>
                <a:r>
                  <a:rPr lang="en-US" altLang="zh-CN" dirty="0" smtClean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nary>
                        <m:nary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8271510" cy="4868863"/>
              </a:xfrm>
              <a:blipFill>
                <a:blip r:embed="rId2"/>
                <a:stretch>
                  <a:fillRect l="-1253" t="-3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8.7 Frequency Modulation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74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PM </a:t>
            </a:r>
            <a:r>
              <a:rPr lang="en-US" altLang="zh-CN" dirty="0" smtClean="0"/>
              <a:t>vs. FM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PM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altLang="zh-CN" dirty="0" smtClean="0"/>
                  <a:t>PM = FM with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 smtClean="0"/>
                  <a:t> as the modulating signal</a:t>
                </a:r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FM</a:t>
                </a:r>
                <a:r>
                  <a:rPr lang="en-US" altLang="zh-CN" dirty="0" smtClean="0"/>
                  <a:t>: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altLang="zh-CN" dirty="0" smtClean="0"/>
                  <a:t> FM </a:t>
                </a:r>
                <a:r>
                  <a:rPr lang="en-US" altLang="zh-CN" dirty="0"/>
                  <a:t>= </a:t>
                </a:r>
                <a:r>
                  <a:rPr lang="en-US" altLang="zh-CN" dirty="0" smtClean="0"/>
                  <a:t>PM </a:t>
                </a:r>
                <a:r>
                  <a:rPr lang="en-US" altLang="zh-CN" dirty="0"/>
                  <a:t>with the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as the modulating signal</a:t>
                </a:r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Angle modulation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𝐴𝑐𝑜𝑠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Instantaneous frequency</a:t>
                </a:r>
                <a:r>
                  <a:rPr lang="en-US" altLang="zh-CN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Purely sinusoidal signal,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constant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PM: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altLang="zh-CN" dirty="0" smtClean="0"/>
                  <a:t>FM: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§8.7 Frequency </a:t>
            </a:r>
            <a:r>
              <a:rPr lang="en-US" dirty="0" smtClean="0"/>
              <a:t>Modulation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80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 </a:t>
            </a:r>
            <a:r>
              <a:rPr lang="en-US" altLang="zh-CN" dirty="0"/>
              <a:t>vs. </a:t>
            </a:r>
            <a:r>
              <a:rPr lang="en-US" altLang="zh-CN" dirty="0" smtClean="0"/>
              <a:t>FM (</a:t>
            </a:r>
            <a:r>
              <a:rPr lang="en-US" altLang="zh-CN" dirty="0" err="1" smtClean="0"/>
              <a:t>cont</a:t>
            </a:r>
            <a:r>
              <a:rPr lang="en-US" altLang="zh-CN" dirty="0" smtClean="0"/>
              <a:t>’)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61" y="1231980"/>
            <a:ext cx="6843515" cy="5124371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§8.7 Frequency </a:t>
            </a:r>
            <a:r>
              <a:rPr lang="en-US" dirty="0" smtClean="0"/>
              <a:t>Modulation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71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Narrowband Frequency Modulation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8423910" cy="48688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 Frequency modulation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cos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Instantaneous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i="0">
                        <a:latin typeface="Cambria Math" panose="02040503050406030204" pitchFamily="18" charset="0"/>
                      </a:rPr>
                      <m:t>cos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dirty="0" smtClean="0"/>
                  <a:t> Let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lang="en-US" i="0">
                        <a:latin typeface="Cambria Math" panose="02040503050406030204" pitchFamily="18" charset="0"/>
                      </a:rPr>
                      <m:t>cos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Modulated signal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assume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altLang="zh-CN" b="0" dirty="0" smtClean="0"/>
              </a:p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modulation </a:t>
                </a:r>
                <a:r>
                  <a:rPr lang="en-US" b="1" dirty="0">
                    <a:solidFill>
                      <a:srgbClr val="C00000"/>
                    </a:solidFill>
                  </a:rPr>
                  <a:t>index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nor/>
                              </m:rPr>
                              <a:rPr lang="en-US" i="0"/>
                              <m:t>sin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dirty="0" smtClean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nor/>
                              </m:rPr>
                              <a:rPr lang="en-US" altLang="zh-CN" i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 smtClean="0"/>
                  <a:t>-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nor/>
                              </m:rPr>
                              <a:rPr lang="en-US" altLang="zh-CN" i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dirty="0" smtClean="0"/>
              </a:p>
              <a:p>
                <a:r>
                  <a:rPr lang="en-US" dirty="0" smtClean="0"/>
                  <a:t> when </a:t>
                </a:r>
                <a:r>
                  <a:rPr lang="en-US" i="1" dirty="0" smtClean="0"/>
                  <a:t>m</a:t>
                </a:r>
                <a:r>
                  <a:rPr lang="en-US" dirty="0" smtClean="0"/>
                  <a:t> is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sufficiently</a:t>
                </a:r>
                <a:r>
                  <a:rPr lang="en-US" dirty="0" smtClean="0"/>
                  <a:t> small,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</a:rPr>
                      <m:t>sin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 smtClean="0"/>
                  <a:t> </a:t>
                </a:r>
                <a:r>
                  <a:rPr lang="en-US" altLang="zh-CN" dirty="0"/>
                  <a:t>-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8423910" cy="4868863"/>
              </a:xfrm>
              <a:blipFill>
                <a:blip r:embed="rId2"/>
                <a:stretch>
                  <a:fillRect l="-1085"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§8.7 Frequency </a:t>
            </a:r>
            <a:r>
              <a:rPr lang="en-US" dirty="0" smtClean="0"/>
              <a:t>Modulation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3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Spectrum of Narrowband FM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2555" y="1635761"/>
            <a:ext cx="6754101" cy="312624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§8.7 Frequency </a:t>
            </a:r>
            <a:r>
              <a:rPr lang="en-US" dirty="0" smtClean="0"/>
              <a:t>Modulation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620644" y="4717416"/>
                <a:ext cx="6112571" cy="523220"/>
              </a:xfrm>
              <a:prstGeom prst="rect">
                <a:avLst/>
              </a:prstGeom>
              <a:ln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800" dirty="0"/>
                  <a:t> </a:t>
                </a:r>
                <a:r>
                  <a:rPr lang="en-US" altLang="zh-CN" sz="2800" dirty="0"/>
                  <a:t>-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nor/>
                      </m:rPr>
                      <a:rPr lang="en-US" altLang="zh-CN" sz="280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8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644" y="4717416"/>
                <a:ext cx="6112571" cy="523220"/>
              </a:xfrm>
              <a:prstGeom prst="rect">
                <a:avLst/>
              </a:prstGeom>
              <a:blipFill>
                <a:blip r:embed="rId3"/>
                <a:stretch>
                  <a:fillRect t="-11364" b="-29545"/>
                </a:stretch>
              </a:blipFill>
              <a:ln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1630804" y="5554550"/>
            <a:ext cx="1996316" cy="646331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of modulated signal?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14636" y="5554549"/>
            <a:ext cx="4018580" cy="646331"/>
          </a:xfrm>
          <a:prstGeom prst="rect">
            <a:avLst/>
          </a:prstGeom>
          <a:noFill/>
          <a:ln w="95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 to modulating signal bandwidth, independent of its amplitude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50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Wideband Frequency Modulation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Rewrite: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nor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-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𝑠𝑖𝑛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nor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When m is large, the spectrum of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 is dependent on both the amplitude and spectrum of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Both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nor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𝑠𝑖𝑛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nor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 smtClean="0"/>
                  <a:t> are periodic signal with fundamental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457200" lvl="1" indent="0">
                  <a:buNone/>
                </a:pPr>
                <a:r>
                  <a:rPr lang="en-US" dirty="0" smtClean="0">
                    <a:sym typeface="Wingdings" panose="05000000000000000000" pitchFamily="2" charset="2"/>
                  </a:rPr>
                  <a:t> impulse train at integer multiples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Spectrum of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 smtClean="0"/>
                  <a:t> contains impulses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 smtClean="0"/>
                  <a:t>……</a:t>
                </a:r>
              </a:p>
              <a:p>
                <a:r>
                  <a:rPr lang="en-US" dirty="0"/>
                  <a:t> </a:t>
                </a:r>
                <a:r>
                  <a:rPr lang="en-US" dirty="0" smtClean="0">
                    <a:solidFill>
                      <a:srgbClr val="0000FF"/>
                    </a:solidFill>
                  </a:rPr>
                  <a:t>Total bandwidth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 r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§8.7 Frequency </a:t>
            </a:r>
            <a:r>
              <a:rPr lang="en-US" dirty="0" smtClean="0"/>
              <a:t>Modulation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99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Digital Modulation: ASK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Amplitude-shift keying (ASK)</a:t>
                </a:r>
                <a:r>
                  <a:rPr lang="en-US" dirty="0" smtClean="0"/>
                  <a:t>:  amplitude modulation with digitized modulating signal 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modulating signal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 smtClean="0"/>
                  <a:t>  </a:t>
                </a:r>
              </a:p>
              <a:p>
                <a:pPr lvl="1"/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modulated signal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 smtClean="0"/>
                  <a:t> has only two levels </a:t>
                </a:r>
                <a:r>
                  <a:rPr lang="en-US" dirty="0" smtClean="0">
                    <a:sym typeface="Wingdings" panose="05000000000000000000" pitchFamily="2" charset="2"/>
                  </a:rPr>
                  <a:t> </a:t>
                </a:r>
                <a:r>
                  <a:rPr lang="en-US" b="1" dirty="0" smtClean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2ASK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The two levels are 0 and 1  </a:t>
                </a:r>
                <a:r>
                  <a:rPr lang="en-US" b="1" dirty="0" smtClean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OOK</a:t>
                </a:r>
                <a:r>
                  <a:rPr lang="en-US" dirty="0" smtClean="0">
                    <a:sym typeface="Wingdings" panose="05000000000000000000" pitchFamily="2" charset="2"/>
                  </a:rPr>
                  <a:t> (</a:t>
                </a:r>
                <a:r>
                  <a:rPr lang="en-US" b="1" dirty="0" smtClean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on-off keying</a:t>
                </a:r>
                <a:r>
                  <a:rPr lang="en-US" dirty="0" smtClean="0"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has only </a:t>
                </a:r>
                <a:r>
                  <a:rPr lang="en-US" dirty="0" smtClean="0"/>
                  <a:t>four </a:t>
                </a:r>
                <a:r>
                  <a:rPr lang="en-US" dirty="0"/>
                  <a:t>levels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b="1" dirty="0" smtClean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4ASK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Digital Modulation: PSK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161777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Phase-shift </a:t>
                </a:r>
                <a:r>
                  <a:rPr lang="en-US" b="1" dirty="0">
                    <a:solidFill>
                      <a:srgbClr val="C00000"/>
                    </a:solidFill>
                  </a:rPr>
                  <a:t>keying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(PSK</a:t>
                </a:r>
                <a:r>
                  <a:rPr lang="en-US" b="1" dirty="0">
                    <a:solidFill>
                      <a:srgbClr val="C00000"/>
                    </a:solidFill>
                  </a:rPr>
                  <a:t>)</a:t>
                </a:r>
                <a:r>
                  <a:rPr lang="en-US" dirty="0"/>
                  <a:t>:  </a:t>
                </a:r>
                <a:r>
                  <a:rPr lang="en-US" dirty="0" smtClean="0"/>
                  <a:t>phase </a:t>
                </a:r>
                <a:r>
                  <a:rPr lang="en-US" dirty="0"/>
                  <a:t>modulation with digitized modulating signal 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pPr marL="228600" lvl="1"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en-US" sz="2800" dirty="0"/>
                  <a:t> 2</a:t>
                </a:r>
                <a:r>
                  <a:rPr lang="en-US" altLang="zh-CN" sz="2800" dirty="0"/>
                  <a:t>PSK(BPSK), 4PSK(QPSK), 8PSK…</a:t>
                </a:r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1617770"/>
              </a:xfrm>
              <a:blipFill>
                <a:blip r:embed="rId2"/>
                <a:stretch>
                  <a:fillRect l="-1159" t="-8679" b="-1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40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693522"/>
            <a:ext cx="4286250" cy="337518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222757" y="6012473"/>
            <a:ext cx="23555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4PSK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25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Digital Modulation: FSK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1"/>
            <a:ext cx="7886700" cy="101854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Frequency-shift </a:t>
            </a:r>
            <a:r>
              <a:rPr lang="en-US" b="1" dirty="0">
                <a:solidFill>
                  <a:srgbClr val="C00000"/>
                </a:solidFill>
              </a:rPr>
              <a:t>keying </a:t>
            </a:r>
            <a:r>
              <a:rPr lang="en-US" b="1" dirty="0" smtClean="0">
                <a:solidFill>
                  <a:srgbClr val="C00000"/>
                </a:solidFill>
              </a:rPr>
              <a:t>(FSK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:  </a:t>
            </a:r>
            <a:r>
              <a:rPr lang="en-US" dirty="0" smtClean="0"/>
              <a:t>frequency </a:t>
            </a:r>
            <a:r>
              <a:rPr lang="en-US" dirty="0"/>
              <a:t>modulation with digitized modulating signal </a:t>
            </a:r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297" y="2699376"/>
            <a:ext cx="3782925" cy="310516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028950" y="5880392"/>
            <a:ext cx="23555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4FSK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63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Quadrature Modulation for Angle Modulation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3799840"/>
            <a:ext cx="7886700" cy="2377123"/>
          </a:xfrm>
        </p:spPr>
        <p:txBody>
          <a:bodyPr/>
          <a:lstStyle/>
          <a:p>
            <a:r>
              <a:rPr lang="en-US" dirty="0" smtClean="0"/>
              <a:t> In-phase path and Quadrature path</a:t>
            </a:r>
          </a:p>
          <a:p>
            <a:r>
              <a:rPr lang="en-US" dirty="0"/>
              <a:t> </a:t>
            </a:r>
            <a:r>
              <a:rPr lang="en-US" dirty="0" smtClean="0"/>
              <a:t>Since the modulating signal is discrete, the initial phase of the output signal at the beginning of each symbol period has limited number of values </a:t>
            </a:r>
            <a:r>
              <a:rPr lang="en-US" dirty="0" smtClean="0">
                <a:sym typeface="Wingdings" panose="05000000000000000000" pitchFamily="2" charset="2"/>
              </a:rPr>
              <a:t> constellation diagram</a:t>
            </a:r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60" y="1233384"/>
            <a:ext cx="3907603" cy="2490198"/>
          </a:xfrm>
          <a:prstGeom prst="rect">
            <a:avLst/>
          </a:prstGeom>
        </p:spPr>
      </p:pic>
      <p:graphicFrame>
        <p:nvGraphicFramePr>
          <p:cNvPr id="8" name="对象 1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228136"/>
              </p:ext>
            </p:extLst>
          </p:nvPr>
        </p:nvGraphicFramePr>
        <p:xfrm>
          <a:off x="4897169" y="1413287"/>
          <a:ext cx="3883025" cy="223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Visio" r:id="rId4" imgW="4771851" imgH="2783058" progId="Visio.Drawing.11">
                  <p:embed/>
                </p:oleObj>
              </mc:Choice>
              <mc:Fallback>
                <p:oleObj name="Visio" r:id="rId4" imgW="4771851" imgH="2783058" progId="Visio.Drawing.11">
                  <p:embed/>
                  <p:pic>
                    <p:nvPicPr>
                      <p:cNvPr id="85000" name="对象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169" y="1413287"/>
                        <a:ext cx="3883025" cy="223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847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Constellation </a:t>
            </a:r>
            <a:r>
              <a:rPr lang="en-US" dirty="0">
                <a:sym typeface="Wingdings" panose="05000000000000000000" pitchFamily="2" charset="2"/>
              </a:rPr>
              <a:t>D</a:t>
            </a:r>
            <a:r>
              <a:rPr lang="en-US" dirty="0" smtClean="0">
                <a:sym typeface="Wingdings" panose="05000000000000000000" pitchFamily="2" charset="2"/>
              </a:rPr>
              <a:t>iagram</a:t>
            </a:r>
            <a:endParaRPr lang="en-US" dirty="0"/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45" y="1691164"/>
            <a:ext cx="3143250" cy="3257550"/>
          </a:xfrm>
        </p:spPr>
      </p:pic>
      <p:pic>
        <p:nvPicPr>
          <p:cNvPr id="13" name="内容占位符 12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691164"/>
            <a:ext cx="2857500" cy="3009900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矩形 10"/>
          <p:cNvSpPr/>
          <p:nvPr/>
        </p:nvSpPr>
        <p:spPr>
          <a:xfrm>
            <a:off x="972865" y="5467866"/>
            <a:ext cx="3142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constellation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diagram of 8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PSK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29200" y="5220217"/>
            <a:ext cx="3667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constellation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diagram of 16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QAM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quadrature amplitude modulation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AM+PM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67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Channel Capacity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825499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Shannon’s Channel Capacity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second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825499"/>
              </a:xfrm>
              <a:blipFill>
                <a:blip r:embed="rId2"/>
                <a:stretch>
                  <a:fillRect l="-850" t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639" y="1756410"/>
            <a:ext cx="4800601" cy="44005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115050" y="4841268"/>
            <a:ext cx="288671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http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://www.ece.ualberta.ca/~hcdc/Library/MIMOchClass/ChannelCapacity.pdf</a:t>
            </a:r>
          </a:p>
        </p:txBody>
      </p:sp>
    </p:spTree>
    <p:extLst>
      <p:ext uri="{BB962C8B-B14F-4D97-AF65-F5344CB8AC3E}">
        <p14:creationId xmlns:p14="http://schemas.microsoft.com/office/powerpoint/2010/main" val="189760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Rapid Development in Wireless Communication</a:t>
            </a:r>
            <a:endParaRPr 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4</a:t>
            </a:r>
            <a:r>
              <a:rPr lang="en-US" altLang="zh-CN" dirty="0" smtClean="0"/>
              <a:t>G:</a:t>
            </a:r>
            <a:r>
              <a:rPr lang="en-US" dirty="0" smtClean="0"/>
              <a:t>150 </a:t>
            </a:r>
            <a:r>
              <a:rPr lang="en-US" dirty="0"/>
              <a:t>Mbps peak rate currently provided by 4G</a:t>
            </a:r>
          </a:p>
          <a:p>
            <a:r>
              <a:rPr lang="en-US" dirty="0" smtClean="0"/>
              <a:t> 4.5G</a:t>
            </a:r>
            <a:r>
              <a:rPr lang="en-US" dirty="0"/>
              <a:t>: </a:t>
            </a:r>
            <a:r>
              <a:rPr lang="en-US" dirty="0" smtClean="0"/>
              <a:t>peak data rate of 1.2 </a:t>
            </a:r>
            <a:r>
              <a:rPr lang="en-US" dirty="0" err="1"/>
              <a:t>Gbps</a:t>
            </a:r>
            <a:r>
              <a:rPr lang="en-US" dirty="0"/>
              <a:t> </a:t>
            </a:r>
            <a:r>
              <a:rPr lang="en-US" dirty="0" smtClean="0"/>
              <a:t>with </a:t>
            </a:r>
            <a:r>
              <a:rPr lang="en-US" dirty="0"/>
              <a:t>a total of 70 MHz </a:t>
            </a:r>
            <a:r>
              <a:rPr lang="en-US" dirty="0" smtClean="0"/>
              <a:t>bandwidth by HKT in 2015</a:t>
            </a:r>
          </a:p>
          <a:p>
            <a:pPr lvl="1"/>
            <a:r>
              <a:rPr lang="en-US" dirty="0" smtClean="0"/>
              <a:t> 256 QAM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4 x 4 MIMO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4 CC(</a:t>
            </a:r>
            <a:r>
              <a:rPr lang="en-US" dirty="0"/>
              <a:t>component </a:t>
            </a:r>
            <a:r>
              <a:rPr lang="en-US" dirty="0" smtClean="0"/>
              <a:t>carrier) CA (carrier aggregation)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en-US" sz="2800" dirty="0" smtClean="0"/>
              <a:t> In 2017, Huawei tested </a:t>
            </a:r>
            <a:r>
              <a:rPr lang="en-US" sz="2800" dirty="0"/>
              <a:t>20Gbps in 5G dual-connectivity </a:t>
            </a:r>
            <a:r>
              <a:rPr lang="en-US" sz="2800" dirty="0" smtClean="0"/>
              <a:t>test</a:t>
            </a:r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en-US" dirty="0"/>
              <a:t> </a:t>
            </a:r>
            <a:r>
              <a:rPr lang="en-US" dirty="0" smtClean="0"/>
              <a:t>3.5GHz </a:t>
            </a:r>
            <a:r>
              <a:rPr lang="en-US" dirty="0"/>
              <a:t>base station </a:t>
            </a:r>
            <a:r>
              <a:rPr lang="en-US" dirty="0" smtClean="0"/>
              <a:t>+ 28GHz </a:t>
            </a:r>
            <a:r>
              <a:rPr lang="en-US" dirty="0"/>
              <a:t>base station</a:t>
            </a:r>
            <a:endParaRPr lang="en-US" sz="24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7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Multiple-Input Multiple-Output (</a:t>
            </a:r>
            <a:r>
              <a:rPr lang="en-US" altLang="zh-CN" sz="3600" dirty="0" smtClean="0"/>
              <a:t>MIMO</a:t>
            </a:r>
            <a:r>
              <a:rPr lang="en-US" sz="3600" dirty="0" smtClean="0"/>
              <a:t>)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1"/>
            <a:ext cx="7886700" cy="2146300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altLang="zh-CN" dirty="0"/>
              <a:t>MIMO:  </a:t>
            </a:r>
            <a:r>
              <a:rPr lang="en-US" altLang="zh-CN" dirty="0" smtClean="0"/>
              <a:t>To use </a:t>
            </a:r>
            <a:r>
              <a:rPr lang="en-US" altLang="zh-CN" dirty="0"/>
              <a:t>multiple transmit and receive antennas to exploit multipath </a:t>
            </a:r>
            <a:r>
              <a:rPr lang="en-US" altLang="zh-CN" dirty="0" smtClean="0"/>
              <a:t>propagation to multiply </a:t>
            </a:r>
            <a:r>
              <a:rPr lang="en-US" altLang="zh-CN" dirty="0"/>
              <a:t>the capacity of a radio </a:t>
            </a:r>
            <a:r>
              <a:rPr lang="en-US" altLang="zh-CN" dirty="0" smtClean="0"/>
              <a:t>link</a:t>
            </a:r>
          </a:p>
          <a:p>
            <a:pPr lvl="1"/>
            <a:r>
              <a:rPr lang="en-US" dirty="0" smtClean="0"/>
              <a:t> send </a:t>
            </a:r>
            <a:r>
              <a:rPr lang="en-US" dirty="0"/>
              <a:t>and </a:t>
            </a:r>
            <a:r>
              <a:rPr lang="en-US" dirty="0" smtClean="0"/>
              <a:t>receive </a:t>
            </a:r>
            <a:r>
              <a:rPr lang="en-US" dirty="0"/>
              <a:t>more than one data signal simultaneously over the same radio channel </a:t>
            </a:r>
            <a:endParaRPr lang="en-US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330" y="3454401"/>
            <a:ext cx="3810000" cy="23336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44615" y="5618749"/>
            <a:ext cx="200279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Courtesy: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wikipedia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5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Summary</a:t>
            </a:r>
            <a:endParaRPr 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 Spectrum shifting in AM</a:t>
            </a:r>
          </a:p>
          <a:p>
            <a:r>
              <a:rPr lang="en-US" dirty="0"/>
              <a:t> </a:t>
            </a:r>
            <a:r>
              <a:rPr lang="en-US" dirty="0" smtClean="0"/>
              <a:t> How to build SSB?</a:t>
            </a:r>
          </a:p>
          <a:p>
            <a:r>
              <a:rPr lang="en-US" dirty="0"/>
              <a:t>  </a:t>
            </a:r>
            <a:r>
              <a:rPr lang="en-US" dirty="0" smtClean="0"/>
              <a:t>Frequency division multiplexing</a:t>
            </a:r>
          </a:p>
          <a:p>
            <a:r>
              <a:rPr lang="en-US" dirty="0"/>
              <a:t> </a:t>
            </a:r>
            <a:r>
              <a:rPr lang="en-US" dirty="0" smtClean="0"/>
              <a:t> Relationship between phase modulation and frequency modulation</a:t>
            </a:r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9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Can Shannon’s </a:t>
                </a:r>
                <a:r>
                  <a:rPr lang="en-US" dirty="0"/>
                  <a:t>Channel Capacity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 smtClean="0"/>
                  <a:t> be extended to infinity by improving SNR?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86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16318</TotalTime>
  <Words>4407</Words>
  <Application>Microsoft Office PowerPoint</Application>
  <PresentationFormat>全屏显示(4:3)</PresentationFormat>
  <Paragraphs>400</Paragraphs>
  <Slides>48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8" baseType="lpstr">
      <vt:lpstr>等线</vt:lpstr>
      <vt:lpstr>宋体</vt:lpstr>
      <vt:lpstr>微软雅黑</vt:lpstr>
      <vt:lpstr>微软雅黑</vt:lpstr>
      <vt:lpstr>Arial</vt:lpstr>
      <vt:lpstr>Cambria Math</vt:lpstr>
      <vt:lpstr>Times New Roman</vt:lpstr>
      <vt:lpstr>Wingdings</vt:lpstr>
      <vt:lpstr>Office 主题​​</vt:lpstr>
      <vt:lpstr>Visio</vt:lpstr>
      <vt:lpstr>PowerPoint 演示文稿</vt:lpstr>
      <vt:lpstr>Chapter 8   Communication Systems</vt:lpstr>
      <vt:lpstr>Outline</vt:lpstr>
      <vt:lpstr>Basic Definitions</vt:lpstr>
      <vt:lpstr>Why Modulation?</vt:lpstr>
      <vt:lpstr>Amplitude Modulation</vt:lpstr>
      <vt:lpstr>Complex Exponential Amplitude Modulation</vt:lpstr>
      <vt:lpstr>Complex Exponential AM Demodulation</vt:lpstr>
      <vt:lpstr>How to Generate Complex Signals?</vt:lpstr>
      <vt:lpstr>Sinusoidal Amplitude Modulation</vt:lpstr>
      <vt:lpstr>Requirement on Carrier Frequency</vt:lpstr>
      <vt:lpstr>Synchronous Demodulation</vt:lpstr>
      <vt:lpstr>Block Diagram of Synchronous Demodulation</vt:lpstr>
      <vt:lpstr>What if Phase is NOT Synchronized?</vt:lpstr>
      <vt:lpstr>Percent Modulation</vt:lpstr>
      <vt:lpstr>Percent Modulation (m=0.5, m=1)</vt:lpstr>
      <vt:lpstr>Percent Modulation (m=0.5, m=3)</vt:lpstr>
      <vt:lpstr>Asynchronous Demodulation—Envelope Detector</vt:lpstr>
      <vt:lpstr>Modulated Signal in Synchronous/Asynchronous Systems</vt:lpstr>
      <vt:lpstr>Frequency-Division Multiplexing</vt:lpstr>
      <vt:lpstr>Spectra of FDM</vt:lpstr>
      <vt:lpstr>Demodulation of FDM</vt:lpstr>
      <vt:lpstr>Demodulation of FDM with Intermediate-Frequency Down-Conversion</vt:lpstr>
      <vt:lpstr>Superheterodyne Receiver</vt:lpstr>
      <vt:lpstr>Bluetooth 2.1 Frequency Channels</vt:lpstr>
      <vt:lpstr>Bluetooth Low-Energy (BLE) Frequency Channels</vt:lpstr>
      <vt:lpstr>5G Spectrum</vt:lpstr>
      <vt:lpstr>Double-Sideband Modulation vs. Single-Sideband Modulation</vt:lpstr>
      <vt:lpstr>Hilbert Transform</vt:lpstr>
      <vt:lpstr>Hilbert Filter</vt:lpstr>
      <vt:lpstr>Proof of Hilbert Transform Pair*</vt:lpstr>
      <vt:lpstr>Single Sideband Modulation Using Hilbert Filter</vt:lpstr>
      <vt:lpstr>Angle Modulation</vt:lpstr>
      <vt:lpstr>PM vs. FM</vt:lpstr>
      <vt:lpstr>PM vs. FM (cont’)</vt:lpstr>
      <vt:lpstr>Narrowband Frequency Modulation</vt:lpstr>
      <vt:lpstr>Spectrum of Narrowband FM</vt:lpstr>
      <vt:lpstr>Wideband Frequency Modulation</vt:lpstr>
      <vt:lpstr>Digital Modulation: ASK</vt:lpstr>
      <vt:lpstr>Digital Modulation: PSK</vt:lpstr>
      <vt:lpstr>Digital Modulation: FSK</vt:lpstr>
      <vt:lpstr>Quadrature Modulation for Angle Modulation</vt:lpstr>
      <vt:lpstr>Constellation Diagram</vt:lpstr>
      <vt:lpstr>Channel Capacity</vt:lpstr>
      <vt:lpstr>Rapid Development in Wireless Communication</vt:lpstr>
      <vt:lpstr>Multiple-Input Multiple-Output (MIMO)</vt:lpstr>
      <vt:lpstr>Summary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990</cp:revision>
  <dcterms:created xsi:type="dcterms:W3CDTF">2018-09-11T08:26:55Z</dcterms:created>
  <dcterms:modified xsi:type="dcterms:W3CDTF">2020-12-09T00:12:22Z</dcterms:modified>
</cp:coreProperties>
</file>