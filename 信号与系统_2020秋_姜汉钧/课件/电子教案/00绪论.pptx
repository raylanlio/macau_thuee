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56" r:id="rId3"/>
    <p:sldId id="260" r:id="rId4"/>
    <p:sldId id="267" r:id="rId5"/>
    <p:sldId id="268" r:id="rId6"/>
    <p:sldId id="272" r:id="rId7"/>
    <p:sldId id="262" r:id="rId8"/>
    <p:sldId id="269" r:id="rId9"/>
    <p:sldId id="270" r:id="rId10"/>
    <p:sldId id="271" r:id="rId11"/>
    <p:sldId id="261" r:id="rId12"/>
    <p:sldId id="265" r:id="rId13"/>
    <p:sldId id="263" r:id="rId14"/>
    <p:sldId id="258" r:id="rId15"/>
    <p:sldId id="266" r:id="rId16"/>
    <p:sldId id="257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18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CD5FA-AD32-4B9A-9235-7F5254E91E7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92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650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zhaok17@mails.tsinghua.edu.cn" TargetMode="External"/><Relationship Id="rId2" Type="http://schemas.openxmlformats.org/officeDocument/2006/relationships/hyperlink" Target="mailto:jianghanjun@tsinghua.edu.cn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9090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03563" y="1122363"/>
            <a:ext cx="7453745" cy="2387600"/>
          </a:xfrm>
        </p:spPr>
        <p:txBody>
          <a:bodyPr/>
          <a:lstStyle/>
          <a:p>
            <a:r>
              <a:rPr lang="en-US" altLang="zh-CN" dirty="0" smtClean="0"/>
              <a:t>《</a:t>
            </a:r>
            <a:r>
              <a:rPr lang="zh-CN" altLang="en-US" dirty="0" smtClean="0"/>
              <a:t>信号与系统</a:t>
            </a:r>
            <a:r>
              <a:rPr lang="en-US" altLang="zh-CN" dirty="0" smtClean="0"/>
              <a:t>》</a:t>
            </a:r>
            <a:r>
              <a:rPr lang="zh-CN" altLang="en-US" dirty="0" smtClean="0"/>
              <a:t>课程简介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姜汉钧</a:t>
            </a:r>
            <a:endParaRPr lang="en-US" altLang="zh-CN" dirty="0" smtClean="0"/>
          </a:p>
          <a:p>
            <a:r>
              <a:rPr lang="en-US" altLang="zh-CN" dirty="0" smtClean="0"/>
              <a:t>2020</a:t>
            </a:r>
            <a:r>
              <a:rPr lang="zh-CN" altLang="en-US" dirty="0" smtClean="0"/>
              <a:t>年</a:t>
            </a:r>
            <a:r>
              <a:rPr lang="en-US" altLang="zh-CN" dirty="0" smtClean="0"/>
              <a:t>9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16</a:t>
            </a:r>
            <a:r>
              <a:rPr lang="zh-CN" altLang="en-US" dirty="0" smtClean="0"/>
              <a:t>日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344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信号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</a:t>
            </a:r>
            <a:r>
              <a:rPr lang="zh-CN" altLang="en-US" b="1" dirty="0" smtClean="0">
                <a:solidFill>
                  <a:srgbClr val="C00000"/>
                </a:solidFill>
              </a:rPr>
              <a:t>信号是消息的表现形式，消息是信号的具体内容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郑</a:t>
            </a:r>
            <a:r>
              <a:rPr lang="zh-CN" altLang="en-US" dirty="0"/>
              <a:t>君</a:t>
            </a:r>
            <a:r>
              <a:rPr lang="zh-CN" altLang="en-US" dirty="0" smtClean="0"/>
              <a:t>里老师等</a:t>
            </a:r>
            <a:r>
              <a:rPr lang="en-US" altLang="zh-CN" dirty="0" smtClean="0"/>
              <a:t>《</a:t>
            </a:r>
            <a:r>
              <a:rPr lang="zh-CN" altLang="en-US" dirty="0"/>
              <a:t>信号与系统</a:t>
            </a:r>
            <a:r>
              <a:rPr lang="en-US" altLang="zh-CN" dirty="0"/>
              <a:t>》 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zh-CN" altLang="en-US" dirty="0" smtClean="0"/>
              <a:t>信号用以描述各种物理现象</a:t>
            </a:r>
            <a:endParaRPr lang="en-US" altLang="zh-CN" dirty="0" smtClean="0"/>
          </a:p>
          <a:p>
            <a:pPr lvl="1"/>
            <a:r>
              <a:rPr lang="zh-CN" altLang="en-US" dirty="0"/>
              <a:t>声</a:t>
            </a:r>
            <a:r>
              <a:rPr lang="zh-CN" altLang="en-US" dirty="0" smtClean="0"/>
              <a:t>音信号：随时间变化的声强</a:t>
            </a:r>
            <a:endParaRPr lang="en-US" altLang="zh-CN" dirty="0" smtClean="0"/>
          </a:p>
          <a:p>
            <a:pPr lvl="1"/>
            <a:r>
              <a:rPr lang="zh-CN" altLang="en-US" dirty="0"/>
              <a:t>图</a:t>
            </a:r>
            <a:r>
              <a:rPr lang="zh-CN" altLang="en-US" dirty="0" smtClean="0"/>
              <a:t>像信号：随时间、空间变化的光学信息</a:t>
            </a:r>
            <a:endParaRPr lang="en-US" altLang="zh-CN" dirty="0" smtClean="0"/>
          </a:p>
          <a:p>
            <a:r>
              <a:rPr lang="zh-CN" altLang="en-US" sz="2800" dirty="0" smtClean="0"/>
              <a:t> 信</a:t>
            </a:r>
            <a:r>
              <a:rPr lang="zh-CN" altLang="en-US" sz="2800" dirty="0"/>
              <a:t>号还用来</a:t>
            </a:r>
            <a:r>
              <a:rPr lang="zh-CN" altLang="en-US" sz="2800" dirty="0" smtClean="0"/>
              <a:t>描述经济学</a:t>
            </a:r>
            <a:r>
              <a:rPr lang="zh-CN" altLang="en-US" sz="2800" dirty="0"/>
              <a:t>、社会学等各种学科中的有用信息，比</a:t>
            </a:r>
            <a:r>
              <a:rPr lang="zh-CN" altLang="en-US" sz="2800" dirty="0" smtClean="0"/>
              <a:t>如股市行情、人口统计等</a:t>
            </a:r>
            <a:endParaRPr lang="en-US" altLang="zh-CN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73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举例：语音信号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456" y="1499916"/>
            <a:ext cx="6032754" cy="4471084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3363170" y="600657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随时间变化的声强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48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举例：图像信号  </a:t>
            </a:r>
            <a:r>
              <a:rPr lang="en-US" altLang="zh-CN" dirty="0" smtClean="0"/>
              <a:t>Lena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296" y="1566259"/>
            <a:ext cx="4169664" cy="4169664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2830720" y="5861471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dirty="0" smtClean="0"/>
              <a:t>随空间</a:t>
            </a:r>
            <a:r>
              <a:rPr lang="zh-CN" altLang="en-US" dirty="0"/>
              <a:t>变化的光学信息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917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举例：股市指数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01952"/>
            <a:ext cx="7920718" cy="3319272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9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钱学</a:t>
            </a:r>
            <a:r>
              <a:rPr lang="zh-CN" altLang="en-US" dirty="0" smtClean="0"/>
              <a:t>森：</a:t>
            </a:r>
            <a:r>
              <a:rPr lang="zh-CN" altLang="en-US" b="1" dirty="0">
                <a:solidFill>
                  <a:srgbClr val="C00000"/>
                </a:solidFill>
              </a:rPr>
              <a:t>系统</a:t>
            </a:r>
            <a:r>
              <a:rPr lang="zh-CN" altLang="en-US" dirty="0"/>
              <a:t>是由相互作用相互依赖的若干组成部分结合而成的，具有特定功能的有机整体，而且这个有机整体又是它从属的更大系统的组成部分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A </a:t>
            </a:r>
            <a:r>
              <a:rPr lang="en-US" altLang="zh-CN" b="1" dirty="0">
                <a:solidFill>
                  <a:srgbClr val="C00000"/>
                </a:solidFill>
              </a:rPr>
              <a:t>system</a:t>
            </a:r>
            <a:r>
              <a:rPr lang="en-US" altLang="zh-CN" dirty="0"/>
              <a:t> is a process in which input signals are transformed, resulting in other signals as outputs.</a:t>
            </a:r>
          </a:p>
          <a:p>
            <a:r>
              <a:rPr lang="zh-CN" altLang="en-US" dirty="0"/>
              <a:t>不</a:t>
            </a:r>
            <a:r>
              <a:rPr lang="zh-CN" altLang="en-US" dirty="0" smtClean="0"/>
              <a:t>同的应用领域对系统有不同的具体化理解，在电路、通信等领域，系统经常与“网络”、“电路”等词汇混用。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34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系统举例：半波整流器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6561" y="1956816"/>
            <a:ext cx="5903427" cy="353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4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系统举例：无线收发机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91" y="1289813"/>
            <a:ext cx="6827293" cy="442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" t="1584" r="27600" b="21873"/>
          <a:stretch/>
        </p:blipFill>
        <p:spPr bwMode="auto">
          <a:xfrm>
            <a:off x="6958584" y="3695398"/>
            <a:ext cx="2182432" cy="234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743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系统举例：数据中心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423384"/>
            <a:ext cx="788670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4980622" y="5630710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不积跬步无以至千里</a:t>
            </a:r>
            <a:endParaRPr lang="en-US" sz="24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525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</a:t>
            </a:r>
            <a:r>
              <a:rPr lang="zh-CN" altLang="en-US" dirty="0"/>
              <a:t>定</a:t>
            </a:r>
            <a:r>
              <a:rPr lang="zh-CN" altLang="en-US" dirty="0" smtClean="0"/>
              <a:t>位与核心内容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信息领域专业基础课，是从事电路、算法、信息系统设计的基石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b="1" dirty="0" smtClean="0">
                <a:solidFill>
                  <a:srgbClr val="C00000"/>
                </a:solidFill>
              </a:rPr>
              <a:t>核心内容：</a:t>
            </a:r>
            <a:endParaRPr lang="en-US" altLang="zh-CN" b="1" dirty="0" smtClean="0">
              <a:solidFill>
                <a:srgbClr val="C00000"/>
              </a:solidFill>
            </a:endParaRPr>
          </a:p>
          <a:p>
            <a:r>
              <a:rPr lang="zh-CN" altLang="en-US" dirty="0" smtClean="0"/>
              <a:t>建模：信号与系统的数学描述，包括时域描述和频域描述</a:t>
            </a:r>
            <a:endParaRPr lang="en-US" altLang="zh-CN" dirty="0" smtClean="0"/>
          </a:p>
          <a:p>
            <a:r>
              <a:rPr lang="zh-CN" altLang="en-US" dirty="0"/>
              <a:t>信</a:t>
            </a:r>
            <a:r>
              <a:rPr lang="zh-CN" altLang="en-US" dirty="0" smtClean="0"/>
              <a:t>号分析：重点是信号在时域和频域相互变换的方法和数学特性</a:t>
            </a:r>
            <a:endParaRPr lang="en-US" altLang="zh-CN" dirty="0" smtClean="0"/>
          </a:p>
          <a:p>
            <a:r>
              <a:rPr lang="zh-CN" altLang="en-US" dirty="0"/>
              <a:t>系</a:t>
            </a:r>
            <a:r>
              <a:rPr lang="zh-CN" altLang="en-US" dirty="0" smtClean="0"/>
              <a:t>统分析：系统响应（时域响应、频域响应）</a:t>
            </a:r>
            <a:endParaRPr lang="en-US" altLang="zh-CN" dirty="0" smtClean="0"/>
          </a:p>
          <a:p>
            <a:r>
              <a:rPr lang="zh-CN" altLang="en-US" dirty="0"/>
              <a:t>设</a:t>
            </a:r>
            <a:r>
              <a:rPr lang="zh-CN" altLang="en-US" dirty="0" smtClean="0"/>
              <a:t>计：初步掌握简单电路系统的设计方法</a:t>
            </a:r>
            <a:endParaRPr lang="en-US" altLang="zh-CN" dirty="0" smtClean="0"/>
          </a:p>
          <a:p>
            <a:r>
              <a:rPr lang="zh-CN" altLang="en-US" dirty="0"/>
              <a:t>工</a:t>
            </a:r>
            <a:r>
              <a:rPr lang="zh-CN" altLang="en-US" dirty="0" smtClean="0"/>
              <a:t>具：初步掌握常用软件</a:t>
            </a:r>
            <a:r>
              <a:rPr lang="en-US" altLang="zh-CN" dirty="0" err="1" smtClean="0"/>
              <a:t>Matlab</a:t>
            </a:r>
            <a:r>
              <a:rPr lang="zh-CN" altLang="en-US" dirty="0" smtClean="0"/>
              <a:t>的使用方法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11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教学内容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32" y="1618488"/>
            <a:ext cx="8940787" cy="425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4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教材、参考书、课件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教材：</a:t>
            </a:r>
            <a:r>
              <a:rPr lang="en-US" altLang="zh-CN" dirty="0"/>
              <a:t>Alan V. Oppenheim, Alan S. </a:t>
            </a:r>
            <a:r>
              <a:rPr lang="en-US" altLang="zh-CN" dirty="0" err="1"/>
              <a:t>Willsky</a:t>
            </a:r>
            <a:r>
              <a:rPr lang="en-US" altLang="zh-CN" dirty="0"/>
              <a:t>, S. Hamid </a:t>
            </a:r>
            <a:r>
              <a:rPr lang="en-US" altLang="zh-CN" dirty="0" err="1"/>
              <a:t>Nawab</a:t>
            </a:r>
            <a:r>
              <a:rPr lang="en-US" altLang="zh-CN" dirty="0"/>
              <a:t>, Signals and Systems, Second Edition</a:t>
            </a:r>
            <a:r>
              <a:rPr lang="zh-CN" altLang="en-US" dirty="0"/>
              <a:t>，电子工业</a:t>
            </a:r>
            <a:r>
              <a:rPr lang="zh-CN" altLang="en-US" dirty="0" smtClean="0"/>
              <a:t>出版社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 有相应的中文翻译版</a:t>
            </a:r>
            <a:endParaRPr lang="en-US" altLang="zh-CN" dirty="0" smtClean="0"/>
          </a:p>
          <a:p>
            <a:r>
              <a:rPr lang="zh-CN" altLang="en-US" dirty="0" smtClean="0"/>
              <a:t> 参考书：</a:t>
            </a:r>
            <a:r>
              <a:rPr lang="zh-CN" altLang="zh-CN" dirty="0"/>
              <a:t>郑君里，应启珩，杨为理，信号与系统，第三版，</a:t>
            </a:r>
            <a:r>
              <a:rPr lang="zh-CN" altLang="zh-CN" dirty="0" smtClean="0"/>
              <a:t>清华大学出版社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zh-CN" altLang="en-US" dirty="0" smtClean="0"/>
              <a:t>课件：每周上课前上传到网络学堂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</a:t>
            </a:r>
            <a:r>
              <a:rPr lang="zh-CN" altLang="en-US" dirty="0" smtClean="0"/>
              <a:t>一般在上课前的周日上传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zh-CN" altLang="en-US" dirty="0" smtClean="0"/>
              <a:t>课件首次上传后，可能会更新，考试复习时记得上网络学堂确认是否有更新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25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作业、成绩评定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每周三</a:t>
            </a:r>
            <a:r>
              <a:rPr lang="zh-CN" altLang="en-US" dirty="0" smtClean="0"/>
              <a:t>下午在</a:t>
            </a:r>
            <a:r>
              <a:rPr lang="zh-CN" altLang="en-US" dirty="0" smtClean="0"/>
              <a:t>网络学堂布置</a:t>
            </a:r>
            <a:endParaRPr lang="en-US" altLang="zh-CN" dirty="0" smtClean="0"/>
          </a:p>
          <a:p>
            <a:r>
              <a:rPr lang="zh-CN" altLang="en-US" dirty="0"/>
              <a:t>每</a:t>
            </a:r>
            <a:r>
              <a:rPr lang="zh-CN" altLang="en-US" dirty="0" smtClean="0"/>
              <a:t>周作业截止时间：下个周三</a:t>
            </a:r>
            <a:endParaRPr lang="en-US" altLang="zh-CN" dirty="0" smtClean="0"/>
          </a:p>
          <a:p>
            <a:pPr lvl="1"/>
            <a:r>
              <a:rPr lang="zh-CN" altLang="en-US" dirty="0"/>
              <a:t>纸质</a:t>
            </a:r>
            <a:r>
              <a:rPr lang="zh-CN" altLang="en-US" dirty="0" smtClean="0"/>
              <a:t>版作业提交：上课前交到讲台</a:t>
            </a:r>
            <a:endParaRPr lang="en-US" altLang="zh-CN" dirty="0" smtClean="0"/>
          </a:p>
          <a:p>
            <a:pPr lvl="1"/>
            <a:r>
              <a:rPr lang="zh-CN" altLang="en-US" dirty="0"/>
              <a:t>电子</a:t>
            </a:r>
            <a:r>
              <a:rPr lang="zh-CN" altLang="en-US" dirty="0" smtClean="0"/>
              <a:t>版作业提交：网络学堂提交</a:t>
            </a:r>
            <a:endParaRPr lang="en-US" altLang="zh-CN" dirty="0" smtClean="0"/>
          </a:p>
          <a:p>
            <a:r>
              <a:rPr lang="zh-CN" altLang="en-US" dirty="0" smtClean="0"/>
              <a:t>独立完成，避免雷同</a:t>
            </a:r>
            <a:endParaRPr lang="en-US" altLang="zh-CN" dirty="0" smtClean="0"/>
          </a:p>
          <a:p>
            <a:r>
              <a:rPr lang="zh-CN" altLang="en-US" dirty="0"/>
              <a:t>作</a:t>
            </a:r>
            <a:r>
              <a:rPr lang="zh-CN" altLang="en-US" dirty="0" smtClean="0"/>
              <a:t>业有问题，随时可以给老师或助教发邮件</a:t>
            </a:r>
            <a:r>
              <a:rPr lang="zh-CN" altLang="en-US" dirty="0"/>
              <a:t>讨</a:t>
            </a:r>
            <a:r>
              <a:rPr lang="zh-CN" altLang="en-US" dirty="0" smtClean="0"/>
              <a:t>论</a:t>
            </a:r>
            <a:endParaRPr lang="en-US" altLang="zh-CN" dirty="0" smtClean="0"/>
          </a:p>
          <a:p>
            <a:r>
              <a:rPr lang="zh-CN" altLang="en-US" dirty="0" smtClean="0"/>
              <a:t>第</a:t>
            </a:r>
            <a:r>
              <a:rPr lang="en-US" altLang="zh-CN" dirty="0" smtClean="0"/>
              <a:t>8</a:t>
            </a:r>
            <a:r>
              <a:rPr lang="zh-CN" altLang="en-US" dirty="0" smtClean="0"/>
              <a:t>周、第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周</a:t>
            </a:r>
            <a:r>
              <a:rPr lang="zh-CN" altLang="en-US" dirty="0" smtClean="0"/>
              <a:t>各安排一次习题课，时间另行协调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zh-CN" altLang="en-US" dirty="0" smtClean="0"/>
              <a:t>成绩评定：平</a:t>
            </a:r>
            <a:r>
              <a:rPr lang="zh-CN" altLang="en-US" dirty="0"/>
              <a:t>时作业</a:t>
            </a:r>
            <a:r>
              <a:rPr lang="en-US" altLang="zh-CN" dirty="0"/>
              <a:t>20%</a:t>
            </a:r>
            <a:r>
              <a:rPr lang="zh-CN" altLang="en-US" dirty="0"/>
              <a:t>，课程大作业</a:t>
            </a:r>
            <a:r>
              <a:rPr lang="en-US" altLang="zh-CN" dirty="0"/>
              <a:t>10%</a:t>
            </a:r>
            <a:r>
              <a:rPr lang="zh-CN" altLang="en-US" dirty="0"/>
              <a:t>，期中考试</a:t>
            </a:r>
            <a:r>
              <a:rPr lang="en-US" altLang="zh-CN" dirty="0"/>
              <a:t>35%</a:t>
            </a:r>
            <a:r>
              <a:rPr lang="zh-CN" altLang="en-US" dirty="0"/>
              <a:t>，期末考试占</a:t>
            </a:r>
            <a:r>
              <a:rPr lang="en-US" altLang="zh-CN" dirty="0"/>
              <a:t>35</a:t>
            </a:r>
            <a:r>
              <a:rPr lang="en-US" altLang="zh-CN" dirty="0" smtClean="0"/>
              <a:t>%</a:t>
            </a:r>
          </a:p>
          <a:p>
            <a:pPr lvl="1"/>
            <a:r>
              <a:rPr lang="zh-CN" altLang="en-US" dirty="0"/>
              <a:t>大作</a:t>
            </a:r>
            <a:r>
              <a:rPr lang="zh-CN" altLang="en-US" dirty="0" smtClean="0"/>
              <a:t>业：有源</a:t>
            </a:r>
            <a:r>
              <a:rPr lang="zh-CN" altLang="zh-CN" dirty="0" smtClean="0"/>
              <a:t>滤波器</a:t>
            </a:r>
            <a:r>
              <a:rPr lang="zh-CN" altLang="zh-CN" dirty="0" smtClean="0"/>
              <a:t>设计</a:t>
            </a:r>
            <a:r>
              <a:rPr lang="zh-CN" altLang="en-US" dirty="0" smtClean="0"/>
              <a:t>（或许有调整）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85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考试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zh-CN" altLang="en-US" dirty="0" smtClean="0"/>
              <a:t>期中考试：前</a:t>
            </a:r>
            <a:r>
              <a:rPr lang="en-US" altLang="zh-CN" dirty="0" smtClean="0"/>
              <a:t>8</a:t>
            </a:r>
            <a:r>
              <a:rPr lang="zh-CN" altLang="en-US" dirty="0" smtClean="0"/>
              <a:t>次课的内容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zh-CN" altLang="en-US" dirty="0" smtClean="0"/>
              <a:t>时间安排在第</a:t>
            </a:r>
            <a:r>
              <a:rPr lang="en-US" altLang="zh-CN" dirty="0" smtClean="0"/>
              <a:t>9</a:t>
            </a:r>
            <a:r>
              <a:rPr lang="zh-CN" altLang="en-US" dirty="0" smtClean="0"/>
              <a:t>周（实际上课的第</a:t>
            </a:r>
            <a:r>
              <a:rPr lang="en-US" altLang="zh-CN" dirty="0" smtClean="0"/>
              <a:t>9</a:t>
            </a:r>
            <a:r>
              <a:rPr lang="zh-CN" altLang="en-US" dirty="0" smtClean="0"/>
              <a:t>周）周末</a:t>
            </a:r>
            <a:endParaRPr lang="en-US" altLang="zh-CN" dirty="0" smtClean="0"/>
          </a:p>
          <a:p>
            <a:r>
              <a:rPr lang="en-US" dirty="0"/>
              <a:t> </a:t>
            </a:r>
            <a:r>
              <a:rPr lang="zh-CN" altLang="en-US" dirty="0" smtClean="0"/>
              <a:t>期末考试：后</a:t>
            </a:r>
            <a:r>
              <a:rPr lang="en-US" altLang="zh-CN" dirty="0" smtClean="0"/>
              <a:t>7</a:t>
            </a:r>
            <a:r>
              <a:rPr lang="zh-CN" altLang="en-US" dirty="0" smtClean="0"/>
              <a:t>次课的内容</a:t>
            </a:r>
            <a:endParaRPr lang="en-US" altLang="zh-CN" dirty="0" smtClean="0"/>
          </a:p>
          <a:p>
            <a:r>
              <a:rPr lang="en-US" dirty="0"/>
              <a:t> </a:t>
            </a:r>
            <a:r>
              <a:rPr lang="zh-CN" altLang="en-US" dirty="0" smtClean="0"/>
              <a:t>考试方式：半开卷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zh-CN" altLang="en-US" dirty="0" smtClean="0"/>
              <a:t>每人可以携带</a:t>
            </a:r>
            <a:r>
              <a:rPr lang="en-US" altLang="zh-CN" dirty="0" smtClean="0"/>
              <a:t>2</a:t>
            </a:r>
            <a:r>
              <a:rPr lang="zh-CN" altLang="en-US" dirty="0" smtClean="0"/>
              <a:t>张</a:t>
            </a:r>
            <a:r>
              <a:rPr lang="en-US" altLang="zh-CN" dirty="0" smtClean="0"/>
              <a:t>A4</a:t>
            </a:r>
            <a:r>
              <a:rPr lang="zh-CN" altLang="en-US" dirty="0" smtClean="0"/>
              <a:t>纸的笔记</a:t>
            </a:r>
            <a:endParaRPr lang="en-US" altLang="zh-CN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1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联系</a:t>
            </a:r>
            <a:r>
              <a:rPr lang="zh-CN" altLang="en-US" dirty="0" smtClean="0"/>
              <a:t>信息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讲员：姜汉钧    </a:t>
            </a:r>
            <a:r>
              <a:rPr lang="en-US" altLang="zh-CN" dirty="0" smtClean="0">
                <a:hlinkClick r:id="rId2"/>
              </a:rPr>
              <a:t>jianghanjun@tsinghua.edu.cn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</a:t>
            </a:r>
            <a:r>
              <a:rPr lang="zh-CN" altLang="en-US" dirty="0" smtClean="0"/>
              <a:t>微电子所新所</a:t>
            </a:r>
            <a:r>
              <a:rPr lang="en-US" altLang="zh-CN" dirty="0" smtClean="0"/>
              <a:t>C316   13301272827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</a:t>
            </a:r>
            <a:r>
              <a:rPr lang="zh-CN" altLang="en-US" dirty="0" smtClean="0"/>
              <a:t>微信号：</a:t>
            </a:r>
            <a:r>
              <a:rPr lang="en-US" altLang="zh-CN" dirty="0" smtClean="0"/>
              <a:t>thuee7188</a:t>
            </a:r>
          </a:p>
          <a:p>
            <a:r>
              <a:rPr lang="zh-CN" altLang="en-US" dirty="0"/>
              <a:t>助</a:t>
            </a:r>
            <a:r>
              <a:rPr lang="zh-CN" altLang="en-US" dirty="0" smtClean="0"/>
              <a:t>教：赵亢  </a:t>
            </a:r>
            <a:r>
              <a:rPr lang="en-US" altLang="zh-CN" dirty="0" smtClean="0">
                <a:hlinkClick r:id="rId3"/>
              </a:rPr>
              <a:t>zhaok17@mails.tsinghua.edu.cn</a:t>
            </a:r>
            <a:r>
              <a:rPr lang="en-US" altLang="zh-CN" dirty="0" smtClean="0"/>
              <a:t>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</a:t>
            </a:r>
            <a:r>
              <a:rPr lang="zh-CN" altLang="en-US" dirty="0" smtClean="0"/>
              <a:t>微电子所新所</a:t>
            </a:r>
            <a:r>
              <a:rPr lang="en-US" altLang="zh-CN" dirty="0" smtClean="0"/>
              <a:t>C423     18810392853</a:t>
            </a:r>
          </a:p>
          <a:p>
            <a:r>
              <a:rPr lang="en-US" altLang="zh-CN" dirty="0" smtClean="0"/>
              <a:t> </a:t>
            </a:r>
            <a:r>
              <a:rPr lang="zh-CN" altLang="en-US" dirty="0"/>
              <a:t>答</a:t>
            </a:r>
            <a:r>
              <a:rPr lang="zh-CN" altLang="en-US" dirty="0" smtClean="0"/>
              <a:t>疑：每周三</a:t>
            </a:r>
            <a:r>
              <a:rPr lang="zh-CN" altLang="en-US" dirty="0" smtClean="0"/>
              <a:t>下午</a:t>
            </a:r>
            <a:r>
              <a:rPr lang="en-US" altLang="zh-CN" dirty="0" smtClean="0"/>
              <a:t>4:00-5:30  </a:t>
            </a:r>
            <a:r>
              <a:rPr lang="en-US" altLang="zh-CN" dirty="0" smtClean="0"/>
              <a:t>C316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96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782</Words>
  <Application>Microsoft Office PowerPoint</Application>
  <PresentationFormat>全屏显示(4:3)</PresentationFormat>
  <Paragraphs>103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宋体</vt:lpstr>
      <vt:lpstr>微软雅黑</vt:lpstr>
      <vt:lpstr>微软雅黑</vt:lpstr>
      <vt:lpstr>Arial</vt:lpstr>
      <vt:lpstr>Times New Roman</vt:lpstr>
      <vt:lpstr>Wingdings</vt:lpstr>
      <vt:lpstr>Office 主题​​</vt:lpstr>
      <vt:lpstr>PowerPoint 演示文稿</vt:lpstr>
      <vt:lpstr>《信号与系统》课程简介</vt:lpstr>
      <vt:lpstr>信号</vt:lpstr>
      <vt:lpstr>举例：语音信号</vt:lpstr>
      <vt:lpstr>举例：图像信号  Lena</vt:lpstr>
      <vt:lpstr>举例：股市指数</vt:lpstr>
      <vt:lpstr>系统</vt:lpstr>
      <vt:lpstr>系统举例：半波整流器</vt:lpstr>
      <vt:lpstr>系统举例：无线收发机</vt:lpstr>
      <vt:lpstr>系统举例：数据中心</vt:lpstr>
      <vt:lpstr>课程定位与核心内容</vt:lpstr>
      <vt:lpstr>教学内容</vt:lpstr>
      <vt:lpstr>教材、参考书、课件</vt:lpstr>
      <vt:lpstr>作业、成绩评定</vt:lpstr>
      <vt:lpstr>考试</vt:lpstr>
      <vt:lpstr>联系信息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116</cp:revision>
  <dcterms:created xsi:type="dcterms:W3CDTF">2018-09-11T08:26:55Z</dcterms:created>
  <dcterms:modified xsi:type="dcterms:W3CDTF">2020-09-16T00:14:54Z</dcterms:modified>
</cp:coreProperties>
</file>