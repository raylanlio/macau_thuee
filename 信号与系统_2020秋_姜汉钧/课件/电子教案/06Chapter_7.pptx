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384" r:id="rId2"/>
    <p:sldId id="256" r:id="rId3"/>
    <p:sldId id="287" r:id="rId4"/>
    <p:sldId id="361" r:id="rId5"/>
    <p:sldId id="362" r:id="rId6"/>
    <p:sldId id="363" r:id="rId7"/>
    <p:sldId id="364" r:id="rId8"/>
    <p:sldId id="365" r:id="rId9"/>
    <p:sldId id="366" r:id="rId10"/>
    <p:sldId id="367" r:id="rId11"/>
    <p:sldId id="368" r:id="rId12"/>
    <p:sldId id="369" r:id="rId13"/>
    <p:sldId id="370" r:id="rId14"/>
    <p:sldId id="371" r:id="rId15"/>
    <p:sldId id="372" r:id="rId16"/>
    <p:sldId id="373" r:id="rId17"/>
    <p:sldId id="374" r:id="rId18"/>
    <p:sldId id="375" r:id="rId19"/>
    <p:sldId id="376" r:id="rId20"/>
    <p:sldId id="377" r:id="rId21"/>
    <p:sldId id="378" r:id="rId22"/>
    <p:sldId id="379" r:id="rId23"/>
    <p:sldId id="381" r:id="rId24"/>
    <p:sldId id="380" r:id="rId25"/>
    <p:sldId id="382" r:id="rId26"/>
    <p:sldId id="383" r:id="rId27"/>
    <p:sldId id="360" r:id="rId28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3" autoAdjust="0"/>
    <p:restoredTop sz="94660"/>
  </p:normalViewPr>
  <p:slideViewPr>
    <p:cSldViewPr snapToGrid="0">
      <p:cViewPr varScale="1">
        <p:scale>
          <a:sx n="89" d="100"/>
          <a:sy n="89" d="100"/>
        </p:scale>
        <p:origin x="11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4.wmf"/><Relationship Id="rId1" Type="http://schemas.openxmlformats.org/officeDocument/2006/relationships/image" Target="../media/image4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6065A7-DFD5-4551-9E93-CC0B196D68A3}" type="datetimeFigureOut">
              <a:rPr lang="zh-CN" altLang="en-US" smtClean="0"/>
              <a:t>2020/10/27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FCD5FA-AD32-4B9A-9235-7F5254E91E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0529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单击以编辑母版副标题样式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675031" y="57929"/>
            <a:ext cx="4468969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1902465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14350" indent="-514350">
              <a:buFont typeface="+mj-lt"/>
              <a:buAutoNum type="arabicPeriod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28650" y="1240485"/>
            <a:ext cx="7920000" cy="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675031" y="57929"/>
            <a:ext cx="4468969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7842667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 smtClean="0"/>
              <a:t>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28650" y="1240485"/>
            <a:ext cx="7920000" cy="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533363" y="0"/>
            <a:ext cx="4610638" cy="297511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7628924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503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36514"/>
            <a:ext cx="3886200" cy="4840449"/>
          </a:xfrm>
        </p:spPr>
        <p:txBody>
          <a:bodyPr/>
          <a:lstStyle/>
          <a:p>
            <a:pPr lvl="0"/>
            <a:r>
              <a:rPr lang="zh-CN" altLang="en-US" dirty="0" smtClean="0"/>
              <a:t>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36514"/>
            <a:ext cx="3886200" cy="4840449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628650" y="1240485"/>
            <a:ext cx="7920000" cy="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855335" y="57929"/>
            <a:ext cx="4288665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724363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7"/>
            <a:ext cx="7886700" cy="792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3382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162174"/>
            <a:ext cx="3868340" cy="3933825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3382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162175"/>
            <a:ext cx="3887391" cy="3933824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628650" y="1240485"/>
            <a:ext cx="7920000" cy="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829577" y="57929"/>
            <a:ext cx="4314423" cy="223840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719730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28650" y="1240485"/>
            <a:ext cx="7920000" cy="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752305" y="57929"/>
            <a:ext cx="4391696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694817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468969" y="0"/>
            <a:ext cx="4675031" cy="281767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225019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5730875" y="57929"/>
            <a:ext cx="3413125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390984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5730875" y="57929"/>
            <a:ext cx="3413125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976313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5730875" y="57929"/>
            <a:ext cx="3413125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321001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89374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550EC97-E344-49BB-AF44-3FA9C7012734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87237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79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308100"/>
            <a:ext cx="7886700" cy="48688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fld id="{86F5DB48-3968-470F-BA12-55E81E004322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6176963"/>
            <a:ext cx="2820837" cy="68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719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1" r:id="rId13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p"/>
        <a:defRPr sz="28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u"/>
        <a:defRPr sz="20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Ø"/>
        <a:defRPr sz="18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emf"/><Relationship Id="rId4" Type="http://schemas.openxmlformats.org/officeDocument/2006/relationships/image" Target="../media/image7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emf"/><Relationship Id="rId5" Type="http://schemas.openxmlformats.org/officeDocument/2006/relationships/image" Target="../media/image17.emf"/><Relationship Id="rId4" Type="http://schemas.openxmlformats.org/officeDocument/2006/relationships/image" Target="../media/image16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emf"/><Relationship Id="rId5" Type="http://schemas.openxmlformats.org/officeDocument/2006/relationships/image" Target="../media/image24.emf"/><Relationship Id="rId4" Type="http://schemas.openxmlformats.org/officeDocument/2006/relationships/image" Target="../media/image23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emf"/><Relationship Id="rId5" Type="http://schemas.openxmlformats.org/officeDocument/2006/relationships/image" Target="../media/image28.emf"/><Relationship Id="rId4" Type="http://schemas.openxmlformats.org/officeDocument/2006/relationships/image" Target="../media/image27.e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3.emf"/><Relationship Id="rId4" Type="http://schemas.openxmlformats.org/officeDocument/2006/relationships/image" Target="../media/image32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35.emf"/><Relationship Id="rId7" Type="http://schemas.openxmlformats.org/officeDocument/2006/relationships/image" Target="../media/image39.emf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8.emf"/><Relationship Id="rId5" Type="http://schemas.openxmlformats.org/officeDocument/2006/relationships/image" Target="../media/image37.emf"/><Relationship Id="rId4" Type="http://schemas.openxmlformats.org/officeDocument/2006/relationships/image" Target="../media/image36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2.e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emf"/><Relationship Id="rId3" Type="http://schemas.openxmlformats.org/officeDocument/2006/relationships/image" Target="../media/image45.emf"/><Relationship Id="rId7" Type="http://schemas.openxmlformats.org/officeDocument/2006/relationships/image" Target="../media/image49.emf"/><Relationship Id="rId12" Type="http://schemas.openxmlformats.org/officeDocument/2006/relationships/image" Target="../media/image44.wmf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8.emf"/><Relationship Id="rId11" Type="http://schemas.openxmlformats.org/officeDocument/2006/relationships/oleObject" Target="../embeddings/oleObject2.bin"/><Relationship Id="rId5" Type="http://schemas.openxmlformats.org/officeDocument/2006/relationships/image" Target="../media/image47.emf"/><Relationship Id="rId10" Type="http://schemas.openxmlformats.org/officeDocument/2006/relationships/image" Target="../media/image43.wmf"/><Relationship Id="rId4" Type="http://schemas.openxmlformats.org/officeDocument/2006/relationships/image" Target="../media/image46.emf"/><Relationship Id="rId9" Type="http://schemas.openxmlformats.org/officeDocument/2006/relationships/oleObject" Target="../embeddings/oleObject1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emf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emf"/><Relationship Id="rId7" Type="http://schemas.openxmlformats.org/officeDocument/2006/relationships/image" Target="../media/image72.png"/><Relationship Id="rId2" Type="http://schemas.openxmlformats.org/officeDocument/2006/relationships/image" Target="../media/image53.emf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7.emf"/><Relationship Id="rId5" Type="http://schemas.openxmlformats.org/officeDocument/2006/relationships/image" Target="../media/image56.emf"/><Relationship Id="rId4" Type="http://schemas.openxmlformats.org/officeDocument/2006/relationships/image" Target="../media/image55.emf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45A83C2-4C6C-40EF-9115-166580DD2CEC}"/>
              </a:ext>
            </a:extLst>
          </p:cNvPr>
          <p:cNvSpPr/>
          <p:nvPr/>
        </p:nvSpPr>
        <p:spPr>
          <a:xfrm>
            <a:off x="293032" y="1070392"/>
            <a:ext cx="2792752" cy="362406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050" b="1" dirty="0" smtClean="0">
                <a:solidFill>
                  <a:srgbClr val="703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荷塘</a:t>
            </a:r>
            <a:r>
              <a:rPr lang="zh-CN" altLang="en-US" sz="4050" b="1" dirty="0" smtClean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雨</a:t>
            </a:r>
            <a:r>
              <a:rPr lang="zh-CN" altLang="en-US" sz="405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课堂</a:t>
            </a:r>
            <a:endParaRPr lang="en-US" altLang="zh-CN" sz="4050" b="1" dirty="0">
              <a:solidFill>
                <a:srgbClr val="0000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400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播放</a:t>
            </a:r>
            <a:r>
              <a:rPr lang="en-US" altLang="zh-CN" sz="2400" b="1" dirty="0" err="1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ppt</a:t>
            </a:r>
            <a:endParaRPr lang="en-US" altLang="zh-CN" sz="2400" b="1" dirty="0" smtClean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endParaRPr lang="en-US" altLang="zh-CN" sz="2400" b="1" dirty="0" smtClean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4050" b="1" dirty="0" smtClean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腾</a:t>
            </a:r>
            <a:r>
              <a:rPr lang="zh-CN" altLang="en-US" sz="405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讯会议</a:t>
            </a:r>
            <a:endParaRPr lang="en-US" altLang="zh-CN" sz="4050" b="1" dirty="0">
              <a:solidFill>
                <a:srgbClr val="0000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400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双向语音</a:t>
            </a:r>
            <a:r>
              <a:rPr lang="en-US" altLang="zh-CN" sz="2400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视频</a:t>
            </a:r>
            <a:r>
              <a:rPr lang="zh-CN" altLang="en-US" sz="2400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交流</a:t>
            </a:r>
            <a:endParaRPr lang="en-US" altLang="zh-CN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93CD6244-59FA-48DB-B6C7-5D03B29020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223" y="324409"/>
            <a:ext cx="1885793" cy="594155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6DCD9D40-0BFC-402C-824D-8544021A4860}"/>
              </a:ext>
            </a:extLst>
          </p:cNvPr>
          <p:cNvSpPr txBox="1"/>
          <p:nvPr/>
        </p:nvSpPr>
        <p:spPr>
          <a:xfrm>
            <a:off x="3128392" y="3287808"/>
            <a:ext cx="58144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2.  </a:t>
            </a:r>
            <a:r>
              <a:rPr lang="zh-CN" altLang="en-US" sz="2800" b="1" dirty="0" smtClean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开启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腾讯会议（请保持</a:t>
            </a:r>
            <a:r>
              <a:rPr lang="zh-CN" altLang="en-US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静音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，一般</a:t>
            </a:r>
            <a:r>
              <a:rPr lang="zh-CN" altLang="en-US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关闭摄像头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，发言前解除静音）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DCD9D40-0BFC-402C-824D-8544021A4860}"/>
              </a:ext>
            </a:extLst>
          </p:cNvPr>
          <p:cNvSpPr txBox="1"/>
          <p:nvPr/>
        </p:nvSpPr>
        <p:spPr>
          <a:xfrm>
            <a:off x="3128392" y="1256337"/>
            <a:ext cx="59893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800" b="1" dirty="0" smtClean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开启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荷塘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雨课堂（</a:t>
            </a:r>
            <a:r>
              <a:rPr lang="zh-CN" altLang="en-US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请关闭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音频</a:t>
            </a:r>
            <a:r>
              <a:rPr lang="zh-CN" altLang="en-US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，可以点名、白板、做题、弹幕等）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DCD9D40-0BFC-402C-824D-8544021A4860}"/>
              </a:ext>
            </a:extLst>
          </p:cNvPr>
          <p:cNvSpPr txBox="1"/>
          <p:nvPr/>
        </p:nvSpPr>
        <p:spPr>
          <a:xfrm>
            <a:off x="762440" y="4769481"/>
            <a:ext cx="792436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雨课堂可以看</a:t>
            </a:r>
            <a:r>
              <a:rPr lang="en-US" altLang="zh-CN" sz="2800" i="1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2800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，腾讯会议可以看现场板书，</a:t>
            </a:r>
            <a:endParaRPr lang="en-US" altLang="zh-CN" sz="2800" i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800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建议分别用两个终端打开。</a:t>
            </a:r>
            <a:endParaRPr lang="en-US" altLang="zh-CN" sz="2800" i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加号 2"/>
          <p:cNvSpPr/>
          <p:nvPr/>
        </p:nvSpPr>
        <p:spPr bwMode="auto">
          <a:xfrm>
            <a:off x="1329368" y="2507286"/>
            <a:ext cx="720080" cy="652140"/>
          </a:xfrm>
          <a:prstGeom prst="mathPlus">
            <a:avLst/>
          </a:prstGeom>
          <a:solidFill>
            <a:srgbClr val="0000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816" t="-14343"/>
          <a:stretch/>
        </p:blipFill>
        <p:spPr>
          <a:xfrm>
            <a:off x="5840426" y="260648"/>
            <a:ext cx="2668450" cy="657916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6451476" y="6397413"/>
            <a:ext cx="2057400" cy="365125"/>
          </a:xfrm>
        </p:spPr>
        <p:txBody>
          <a:bodyPr/>
          <a:lstStyle/>
          <a:p>
            <a:fld id="{8550EC97-E344-49BB-AF44-3FA9C7012734}" type="slidenum">
              <a:rPr lang="ko-KR" altLang="en-US" smtClean="0"/>
              <a:pPr/>
              <a:t>1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14868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14068" y="1122363"/>
            <a:ext cx="8402127" cy="238760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Chapter 7	Sampling</a:t>
            </a:r>
            <a:endParaRPr lang="zh-CN" altLang="en-US" sz="49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64372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Sampling Theorem</a:t>
            </a:r>
          </a:p>
          <a:p>
            <a:pPr lvl="1"/>
            <a:r>
              <a:rPr lang="en-US" dirty="0"/>
              <a:t> </a:t>
            </a:r>
            <a:r>
              <a:rPr lang="en-US" dirty="0" smtClean="0"/>
              <a:t>Impulse sampling</a:t>
            </a:r>
          </a:p>
          <a:p>
            <a:pPr lvl="1"/>
            <a:r>
              <a:rPr lang="en-US" dirty="0"/>
              <a:t> </a:t>
            </a:r>
            <a:r>
              <a:rPr lang="en-US" dirty="0" err="1" smtClean="0"/>
              <a:t>Nyquist</a:t>
            </a:r>
            <a:r>
              <a:rPr lang="en-US" dirty="0" smtClean="0"/>
              <a:t> sampling theorem</a:t>
            </a:r>
          </a:p>
          <a:p>
            <a:r>
              <a:rPr lang="en-US" dirty="0" smtClean="0"/>
              <a:t>Reconstruction </a:t>
            </a:r>
            <a:r>
              <a:rPr lang="en-US" altLang="zh-CN" dirty="0" smtClean="0"/>
              <a:t>Using Interpolation</a:t>
            </a:r>
          </a:p>
          <a:p>
            <a:r>
              <a:rPr lang="en-US" dirty="0" smtClean="0"/>
              <a:t>Undersampling and Aliasing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771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Sampling?</a:t>
            </a:r>
            <a:endParaRPr lang="en-US" dirty="0"/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 </a:t>
            </a:r>
            <a:r>
              <a:rPr lang="en-US" altLang="zh-CN" dirty="0">
                <a:solidFill>
                  <a:srgbClr val="C00000"/>
                </a:solidFill>
              </a:rPr>
              <a:t>Continuous-time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C00000"/>
                </a:solidFill>
              </a:rPr>
              <a:t>signal</a:t>
            </a:r>
            <a:r>
              <a:rPr lang="en-US" altLang="zh-CN" dirty="0"/>
              <a:t>: </a:t>
            </a:r>
            <a:r>
              <a:rPr lang="en-US" altLang="zh-CN" i="1" dirty="0" smtClean="0"/>
              <a:t>x</a:t>
            </a:r>
            <a:r>
              <a:rPr lang="en-US" altLang="zh-CN" dirty="0" smtClean="0"/>
              <a:t>(</a:t>
            </a:r>
            <a:r>
              <a:rPr lang="en-US" altLang="zh-CN" i="1" dirty="0" smtClean="0"/>
              <a:t>t</a:t>
            </a:r>
            <a:r>
              <a:rPr lang="en-US" altLang="zh-CN" dirty="0" smtClean="0"/>
              <a:t>)</a:t>
            </a:r>
          </a:p>
          <a:p>
            <a:r>
              <a:rPr lang="en-US" altLang="zh-CN" b="1" dirty="0"/>
              <a:t> </a:t>
            </a:r>
            <a:r>
              <a:rPr lang="en-US" altLang="zh-CN" dirty="0" smtClean="0">
                <a:solidFill>
                  <a:srgbClr val="C00000"/>
                </a:solidFill>
              </a:rPr>
              <a:t>Discrete-time </a:t>
            </a:r>
            <a:r>
              <a:rPr lang="en-US" altLang="zh-CN" dirty="0">
                <a:solidFill>
                  <a:srgbClr val="C00000"/>
                </a:solidFill>
              </a:rPr>
              <a:t>signal</a:t>
            </a:r>
            <a:r>
              <a:rPr lang="en-US" altLang="zh-CN" dirty="0"/>
              <a:t>: </a:t>
            </a:r>
            <a:r>
              <a:rPr lang="en-US" altLang="zh-CN" i="1" dirty="0"/>
              <a:t>x</a:t>
            </a:r>
            <a:r>
              <a:rPr lang="en-US" altLang="zh-CN" dirty="0"/>
              <a:t>[</a:t>
            </a:r>
            <a:r>
              <a:rPr lang="en-US" altLang="zh-CN" i="1" dirty="0"/>
              <a:t>n</a:t>
            </a:r>
            <a:r>
              <a:rPr lang="en-US" altLang="zh-CN" dirty="0" smtClean="0"/>
              <a:t>]</a:t>
            </a:r>
          </a:p>
          <a:p>
            <a:r>
              <a:rPr lang="en-US" altLang="zh-CN" dirty="0"/>
              <a:t> A</a:t>
            </a:r>
            <a:r>
              <a:rPr lang="en-US" altLang="zh-CN" dirty="0" smtClean="0"/>
              <a:t>dvantages of  processing discrete-time signals compared to processing continuous-time signals?</a:t>
            </a:r>
          </a:p>
          <a:p>
            <a:pPr lvl="1"/>
            <a:r>
              <a:rPr lang="en-US" altLang="zh-CN" dirty="0"/>
              <a:t> </a:t>
            </a:r>
            <a:r>
              <a:rPr lang="en-US" altLang="zh-CN" dirty="0" smtClean="0"/>
              <a:t>low cost, programmable, reproducible, by using CPU/DSP/GPU/NPU…</a:t>
            </a:r>
          </a:p>
          <a:p>
            <a:r>
              <a:rPr lang="en-US" altLang="zh-CN" dirty="0"/>
              <a:t> </a:t>
            </a:r>
            <a:r>
              <a:rPr lang="en-US" altLang="zh-CN" b="1" dirty="0" smtClean="0">
                <a:solidFill>
                  <a:srgbClr val="C00000"/>
                </a:solidFill>
              </a:rPr>
              <a:t>Samples</a:t>
            </a:r>
            <a:r>
              <a:rPr lang="en-US" altLang="zh-CN" dirty="0" smtClean="0"/>
              <a:t>: the values of a continuous-time signal at points </a:t>
            </a:r>
            <a:r>
              <a:rPr lang="en-US" altLang="zh-CN" u="sng" dirty="0" smtClean="0">
                <a:solidFill>
                  <a:srgbClr val="C00000"/>
                </a:solidFill>
              </a:rPr>
              <a:t>equally spaced in time</a:t>
            </a:r>
          </a:p>
          <a:p>
            <a:r>
              <a:rPr lang="en-US" altLang="zh-CN" dirty="0" smtClean="0"/>
              <a:t> </a:t>
            </a:r>
            <a:r>
              <a:rPr lang="en-US" altLang="zh-CN" b="1" u="sng" dirty="0" smtClean="0"/>
              <a:t>Sampling theorem </a:t>
            </a:r>
          </a:p>
          <a:p>
            <a:pPr lvl="1"/>
            <a:r>
              <a:rPr lang="en-US" altLang="zh-CN" dirty="0" smtClean="0"/>
              <a:t> Defines the conditions with which a continuous-time signal can be </a:t>
            </a:r>
            <a:r>
              <a:rPr lang="en-US" altLang="zh-CN" u="sng" dirty="0" smtClean="0">
                <a:solidFill>
                  <a:srgbClr val="FF0000"/>
                </a:solidFill>
              </a:rPr>
              <a:t>completely</a:t>
            </a:r>
            <a:r>
              <a:rPr lang="en-US" altLang="zh-CN" dirty="0" smtClean="0"/>
              <a:t> </a:t>
            </a:r>
            <a:r>
              <a:rPr lang="en-US" altLang="zh-CN" b="1" dirty="0" smtClean="0">
                <a:solidFill>
                  <a:srgbClr val="C00000"/>
                </a:solidFill>
              </a:rPr>
              <a:t>reconstruc</a:t>
            </a:r>
            <a:r>
              <a:rPr lang="en-US" altLang="zh-CN" b="1" dirty="0">
                <a:solidFill>
                  <a:srgbClr val="C00000"/>
                </a:solidFill>
              </a:rPr>
              <a:t>ted</a:t>
            </a:r>
            <a:r>
              <a:rPr lang="en-US" altLang="zh-CN" dirty="0" smtClean="0"/>
              <a:t> from a sequence of its samples</a:t>
            </a:r>
          </a:p>
          <a:p>
            <a:pPr lvl="1"/>
            <a:r>
              <a:rPr lang="en-US" altLang="zh-CN" dirty="0" smtClean="0"/>
              <a:t>the bridge between continuous-time signals and discrete-time signals</a:t>
            </a:r>
          </a:p>
          <a:p>
            <a:endParaRPr lang="zh-CN" altLang="en-US" dirty="0"/>
          </a:p>
          <a:p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§7.1 Sampling Theorem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268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 dirty="0" smtClean="0"/>
              <a:t>What if Sampling Theorem NOT Satisfied</a:t>
            </a:r>
            <a:endParaRPr lang="en-US" sz="3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08100"/>
            <a:ext cx="7886700" cy="1003779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 Without certain constraints, an arbitrary continuous-time signal can </a:t>
            </a:r>
            <a:r>
              <a:rPr lang="en-US" b="1" dirty="0" smtClean="0">
                <a:solidFill>
                  <a:srgbClr val="FF0000"/>
                </a:solidFill>
              </a:rPr>
              <a:t>NOT</a:t>
            </a:r>
            <a:r>
              <a:rPr lang="en-US" dirty="0" smtClean="0"/>
              <a:t> be reconstructed from its samples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§7.1 </a:t>
            </a:r>
            <a:r>
              <a:rPr lang="en-US" dirty="0"/>
              <a:t>Sampling </a:t>
            </a:r>
            <a:r>
              <a:rPr lang="en-US" dirty="0" smtClean="0"/>
              <a:t>Theorem</a:t>
            </a:r>
            <a:endParaRPr 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650" y="2239333"/>
            <a:ext cx="7679700" cy="3306668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839286" y="5427956"/>
            <a:ext cx="3672428" cy="523220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kT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)=</a:t>
            </a:r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kT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)=</a:t>
            </a:r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kT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8608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7680" y="365126"/>
            <a:ext cx="8148320" cy="792000"/>
          </a:xfrm>
        </p:spPr>
        <p:txBody>
          <a:bodyPr>
            <a:noAutofit/>
          </a:bodyPr>
          <a:lstStyle/>
          <a:p>
            <a:r>
              <a:rPr lang="en-US" altLang="zh-CN" sz="3200" dirty="0" smtClean="0"/>
              <a:t>Necessary Conditions for Signal Reconstruction</a:t>
            </a:r>
            <a:endParaRPr 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 </a:t>
            </a:r>
            <a:r>
              <a:rPr lang="en-US" altLang="zh-CN" dirty="0" smtClean="0"/>
              <a:t>To </a:t>
            </a:r>
            <a:r>
              <a:rPr lang="en-US" altLang="zh-CN" dirty="0"/>
              <a:t>completely reconstruct a continuous-time signal from a sequence of its samples</a:t>
            </a:r>
          </a:p>
          <a:p>
            <a:pPr marL="514350" indent="-514350">
              <a:buFont typeface="+mj-lt"/>
              <a:buAutoNum type="arabicParenR"/>
            </a:pPr>
            <a:r>
              <a:rPr lang="en-US" altLang="zh-CN" dirty="0"/>
              <a:t> </a:t>
            </a:r>
            <a:r>
              <a:rPr lang="en-US" altLang="zh-CN" dirty="0" smtClean="0"/>
              <a:t>The signal is </a:t>
            </a:r>
            <a:r>
              <a:rPr lang="en-US" altLang="zh-CN" b="1" dirty="0" smtClean="0">
                <a:solidFill>
                  <a:srgbClr val="C00000"/>
                </a:solidFill>
              </a:rPr>
              <a:t>band limited</a:t>
            </a:r>
            <a:r>
              <a:rPr lang="en-US" altLang="zh-CN" dirty="0" smtClean="0"/>
              <a:t>: its Fourier transform is zero outside a finite band of frequencies</a:t>
            </a:r>
          </a:p>
          <a:p>
            <a:pPr marL="514350" indent="-514350">
              <a:buFont typeface="+mj-lt"/>
              <a:buAutoNum type="arabicParenR"/>
            </a:pPr>
            <a:r>
              <a:rPr lang="en-US" altLang="zh-CN" dirty="0"/>
              <a:t> </a:t>
            </a:r>
            <a:r>
              <a:rPr lang="en-US" altLang="zh-CN" dirty="0" smtClean="0"/>
              <a:t>The sampling space is sufficiently small in comparison with the highest frequency</a:t>
            </a:r>
          </a:p>
          <a:p>
            <a:endParaRPr lang="en-US" altLang="zh-CN" dirty="0"/>
          </a:p>
          <a:p>
            <a:r>
              <a:rPr lang="en-US" altLang="zh-CN" dirty="0" smtClean="0"/>
              <a:t> </a:t>
            </a:r>
            <a:r>
              <a:rPr lang="en-US" altLang="zh-CN" b="1" dirty="0" smtClean="0">
                <a:solidFill>
                  <a:srgbClr val="C00000"/>
                </a:solidFill>
              </a:rPr>
              <a:t>Sampling theorem</a:t>
            </a:r>
            <a:r>
              <a:rPr lang="en-US" altLang="zh-CN" dirty="0" smtClean="0"/>
              <a:t>: if the above conditions are satisfied, the samples </a:t>
            </a:r>
            <a:r>
              <a:rPr lang="en-US" altLang="zh-CN" b="1" dirty="0" smtClean="0">
                <a:solidFill>
                  <a:srgbClr val="C00000"/>
                </a:solidFill>
              </a:rPr>
              <a:t>uniquely</a:t>
            </a:r>
            <a:r>
              <a:rPr lang="en-US" altLang="zh-CN" dirty="0" smtClean="0"/>
              <a:t> specify the original signal</a:t>
            </a:r>
          </a:p>
          <a:p>
            <a:pPr lvl="1"/>
            <a:r>
              <a:rPr lang="en-US" altLang="zh-CN" dirty="0"/>
              <a:t> </a:t>
            </a:r>
            <a:r>
              <a:rPr lang="en-US" altLang="zh-CN" dirty="0" smtClean="0"/>
              <a:t>What is a “sufficiently small” sampling space?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§7.1 </a:t>
            </a:r>
            <a:r>
              <a:rPr lang="en-US" dirty="0"/>
              <a:t>Sampling Theorem</a:t>
            </a:r>
          </a:p>
        </p:txBody>
      </p:sp>
    </p:spTree>
    <p:extLst>
      <p:ext uri="{BB962C8B-B14F-4D97-AF65-F5344CB8AC3E}">
        <p14:creationId xmlns:p14="http://schemas.microsoft.com/office/powerpoint/2010/main" val="2699829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Impulse-Train Sampling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8798" y="3199037"/>
            <a:ext cx="3728706" cy="3039203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dirty="0" smtClean="0"/>
              <a:t> </a:t>
            </a:r>
            <a:r>
              <a:rPr lang="en-US" altLang="zh-CN" b="1" dirty="0" smtClean="0">
                <a:solidFill>
                  <a:srgbClr val="C00000"/>
                </a:solidFill>
              </a:rPr>
              <a:t>Impulse-train sampling</a:t>
            </a:r>
            <a:r>
              <a:rPr lang="en-US" altLang="zh-CN" dirty="0" smtClean="0"/>
              <a:t>: continuous-time signal </a:t>
            </a:r>
            <a:r>
              <a:rPr lang="en-US" altLang="zh-CN" i="1" dirty="0" smtClean="0"/>
              <a:t>x</a:t>
            </a:r>
            <a:r>
              <a:rPr lang="en-US" altLang="zh-CN" dirty="0" smtClean="0"/>
              <a:t>(</a:t>
            </a:r>
            <a:r>
              <a:rPr lang="en-US" altLang="zh-CN" i="1" dirty="0" smtClean="0"/>
              <a:t>t</a:t>
            </a:r>
            <a:r>
              <a:rPr lang="en-US" altLang="zh-CN" dirty="0" smtClean="0"/>
              <a:t>) multiplied by a periodic impulse train </a:t>
            </a:r>
            <a:r>
              <a:rPr lang="en-US" altLang="zh-CN" i="1" dirty="0" smtClean="0"/>
              <a:t>p</a:t>
            </a:r>
            <a:r>
              <a:rPr lang="en-US" altLang="zh-CN" dirty="0" smtClean="0"/>
              <a:t>(</a:t>
            </a:r>
            <a:r>
              <a:rPr lang="en-US" altLang="zh-CN" i="1" dirty="0" smtClean="0"/>
              <a:t>t</a:t>
            </a:r>
            <a:r>
              <a:rPr lang="en-US" altLang="zh-CN" dirty="0" smtClean="0"/>
              <a:t>)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dirty="0"/>
              <a:t> </a:t>
            </a:r>
            <a:r>
              <a:rPr lang="en-US" altLang="zh-CN" b="1" dirty="0" smtClean="0">
                <a:solidFill>
                  <a:srgbClr val="C00000"/>
                </a:solidFill>
              </a:rPr>
              <a:t>sampling function</a:t>
            </a:r>
            <a:r>
              <a:rPr lang="en-US" altLang="zh-CN" dirty="0" smtClean="0"/>
              <a:t>: </a:t>
            </a:r>
            <a:r>
              <a:rPr lang="en-US" altLang="zh-CN" i="1" dirty="0" smtClean="0"/>
              <a:t>p</a:t>
            </a:r>
            <a:r>
              <a:rPr lang="en-US" altLang="zh-CN" dirty="0" smtClean="0"/>
              <a:t>(</a:t>
            </a:r>
            <a:r>
              <a:rPr lang="en-US" altLang="zh-CN" i="1" dirty="0" smtClean="0"/>
              <a:t>t</a:t>
            </a:r>
            <a:r>
              <a:rPr lang="en-US" altLang="zh-CN" dirty="0" smtClean="0"/>
              <a:t>)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s</a:t>
            </a:r>
            <a:r>
              <a:rPr lang="en-US" altLang="zh-CN" b="1" dirty="0" smtClean="0">
                <a:solidFill>
                  <a:srgbClr val="C00000"/>
                </a:solidFill>
              </a:rPr>
              <a:t>ampling period</a:t>
            </a:r>
            <a:r>
              <a:rPr lang="en-US" altLang="zh-CN" dirty="0" smtClean="0"/>
              <a:t>: the period of sampling function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sampling frequency</a:t>
            </a:r>
            <a:r>
              <a:rPr lang="en-US" dirty="0" smtClean="0"/>
              <a:t>: 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§7.1 </a:t>
            </a:r>
            <a:r>
              <a:rPr lang="en-US" dirty="0"/>
              <a:t>Sampling </a:t>
            </a:r>
            <a:r>
              <a:rPr lang="en-US" dirty="0" smtClean="0"/>
              <a:t>Theorem</a:t>
            </a:r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7506" y="1480403"/>
            <a:ext cx="4748063" cy="134333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7504" y="2941847"/>
            <a:ext cx="4748063" cy="1227083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22789"/>
            <a:ext cx="3798450" cy="2066666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7503" y="4426120"/>
            <a:ext cx="4748063" cy="131750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907046" y="5696043"/>
            <a:ext cx="4788519" cy="40011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Q: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impulse-train sampling time-invariant?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3892241" y="6096153"/>
            <a:ext cx="4788519" cy="40011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enerally not time-invariant. But…</a:t>
            </a:r>
          </a:p>
        </p:txBody>
      </p:sp>
    </p:spTree>
    <p:extLst>
      <p:ext uri="{BB962C8B-B14F-4D97-AF65-F5344CB8AC3E}">
        <p14:creationId xmlns:p14="http://schemas.microsoft.com/office/powerpoint/2010/main" val="2809348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smtClean="0"/>
              <a:t>Signals in Impulse-Train </a:t>
            </a:r>
            <a:r>
              <a:rPr lang="en-US" altLang="zh-CN" dirty="0"/>
              <a:t>Sampling</a:t>
            </a:r>
            <a:endParaRPr 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half" idx="1"/>
          </p:nvPr>
        </p:nvSpPr>
        <p:spPr>
          <a:xfrm>
            <a:off x="628650" y="1336515"/>
            <a:ext cx="3886200" cy="431326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 </a:t>
            </a:r>
            <a:r>
              <a:rPr lang="en-US" altLang="zh-CN" dirty="0" smtClean="0"/>
              <a:t>Time domain</a:t>
            </a:r>
            <a:endParaRPr lang="en-US" dirty="0"/>
          </a:p>
        </p:txBody>
      </p:sp>
      <p:sp>
        <p:nvSpPr>
          <p:cNvPr id="8" name="内容占位符 7"/>
          <p:cNvSpPr>
            <a:spLocks noGrp="1"/>
          </p:cNvSpPr>
          <p:nvPr>
            <p:ph sz="half" idx="2"/>
          </p:nvPr>
        </p:nvSpPr>
        <p:spPr>
          <a:xfrm>
            <a:off x="4629150" y="1336515"/>
            <a:ext cx="3886200" cy="512606"/>
          </a:xfrm>
        </p:spPr>
        <p:txBody>
          <a:bodyPr/>
          <a:lstStyle/>
          <a:p>
            <a:r>
              <a:rPr lang="en-US" dirty="0" smtClean="0"/>
              <a:t> Frequency domain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§7.1 </a:t>
            </a:r>
            <a:r>
              <a:rPr lang="en-US" dirty="0"/>
              <a:t>Sampling </a:t>
            </a:r>
            <a:r>
              <a:rPr lang="en-US" dirty="0" smtClean="0"/>
              <a:t>Theorem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>
                <a:spLocks noChangeAspect="1"/>
              </p:cNvSpPr>
              <p:nvPr/>
            </p:nvSpPr>
            <p:spPr>
              <a:xfrm>
                <a:off x="245125" y="1904287"/>
                <a:ext cx="2113784" cy="44589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125" y="1904287"/>
                <a:ext cx="2113784" cy="445891"/>
              </a:xfrm>
              <a:prstGeom prst="rect">
                <a:avLst/>
              </a:prstGeom>
              <a:blipFill>
                <a:blip r:embed="rId2"/>
                <a:stretch>
                  <a:fillRect t="-152703" r="-33429" b="-22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/>
              <p:nvPr/>
            </p:nvSpPr>
            <p:spPr>
              <a:xfrm>
                <a:off x="245125" y="2743004"/>
                <a:ext cx="2749214" cy="94782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000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𝛿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𝑛𝑇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125" y="2743004"/>
                <a:ext cx="2749214" cy="9478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/>
              <p:cNvSpPr/>
              <p:nvPr/>
            </p:nvSpPr>
            <p:spPr>
              <a:xfrm>
                <a:off x="245125" y="3989692"/>
                <a:ext cx="3529748" cy="94782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000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𝑛𝑇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𝛿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𝑛𝑇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125" y="3989692"/>
                <a:ext cx="3529748" cy="94782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/>
              <p:cNvSpPr/>
              <p:nvPr/>
            </p:nvSpPr>
            <p:spPr>
              <a:xfrm>
                <a:off x="4545049" y="1849121"/>
                <a:ext cx="4598951" cy="77271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sz="20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limLoc m:val="subSup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d>
                            <m:dPr>
                              <m:begChr m:val="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</m:e>
                      </m:nary>
                      <m:r>
                        <a:rPr lang="en-US" sz="20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" name="矩形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5049" y="1849121"/>
                <a:ext cx="4598951" cy="77271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/>
              <p:cNvSpPr/>
              <p:nvPr/>
            </p:nvSpPr>
            <p:spPr>
              <a:xfrm>
                <a:off x="4545049" y="2768492"/>
                <a:ext cx="3449086" cy="9478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sz="20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d>
                            <m:dPr>
                              <m:begChr m:val="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9" name="矩形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5049" y="2768492"/>
                <a:ext cx="3449086" cy="94788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/>
              <p:cNvSpPr/>
              <p:nvPr/>
            </p:nvSpPr>
            <p:spPr>
              <a:xfrm>
                <a:off x="4629150" y="3909762"/>
                <a:ext cx="4471032" cy="111889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sz="2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d>
                            <m:dPr>
                              <m:begChr m:val="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1" name="矩形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9150" y="3909762"/>
                <a:ext cx="4471032" cy="111889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/>
              <p:cNvSpPr/>
              <p:nvPr/>
            </p:nvSpPr>
            <p:spPr>
              <a:xfrm>
                <a:off x="3965716" y="2820345"/>
                <a:ext cx="593303" cy="6799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groupChr>
                        <m:groupChrPr>
                          <m:chr m:val="⇒"/>
                          <m:vertJc m:val="bot"/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a:rPr lang="en-US" sz="28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ℱ</m:t>
                          </m:r>
                        </m:e>
                      </m:groupCh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矩形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5716" y="2820345"/>
                <a:ext cx="593303" cy="67993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矩形 22"/>
              <p:cNvSpPr/>
              <p:nvPr/>
            </p:nvSpPr>
            <p:spPr>
              <a:xfrm>
                <a:off x="3951746" y="1812755"/>
                <a:ext cx="593303" cy="6799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groupChr>
                        <m:groupChrPr>
                          <m:chr m:val="⇒"/>
                          <m:vertJc m:val="bot"/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a:rPr lang="en-US" sz="28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ℱ</m:t>
                          </m:r>
                        </m:e>
                      </m:groupCh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矩形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1746" y="1812755"/>
                <a:ext cx="593303" cy="67993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矩形 23"/>
              <p:cNvSpPr/>
              <p:nvPr/>
            </p:nvSpPr>
            <p:spPr>
              <a:xfrm>
                <a:off x="3921547" y="4017018"/>
                <a:ext cx="593303" cy="6799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groupChr>
                        <m:groupChrPr>
                          <m:chr m:val="⇒"/>
                          <m:vertJc m:val="bot"/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a:rPr lang="en-US" sz="28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ℱ</m:t>
                          </m:r>
                        </m:e>
                      </m:groupCh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矩形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1547" y="4017018"/>
                <a:ext cx="593303" cy="67993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本框 24"/>
          <p:cNvSpPr txBox="1"/>
          <p:nvPr/>
        </p:nvSpPr>
        <p:spPr>
          <a:xfrm>
            <a:off x="1798320" y="5427956"/>
            <a:ext cx="6717030" cy="523220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lang="en-US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l-GR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also periodic, period </a:t>
            </a:r>
            <a:r>
              <a:rPr lang="el-GR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sz="28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=2</a:t>
            </a:r>
            <a:r>
              <a:rPr lang="el-GR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2110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8" grpId="0" build="p"/>
      <p:bldP spid="13" grpId="0"/>
      <p:bldP spid="16" grpId="0"/>
      <p:bldP spid="17" grpId="0"/>
      <p:bldP spid="18" grpId="0"/>
      <p:bldP spid="19" grpId="0"/>
      <p:bldP spid="21" grpId="0"/>
      <p:bldP spid="22" grpId="0"/>
      <p:bldP spid="23" grpId="0"/>
      <p:bldP spid="24" grpId="0"/>
      <p:bldP spid="2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628649" y="365126"/>
            <a:ext cx="8274431" cy="792000"/>
          </a:xfrm>
        </p:spPr>
        <p:txBody>
          <a:bodyPr>
            <a:normAutofit/>
          </a:bodyPr>
          <a:lstStyle/>
          <a:p>
            <a:r>
              <a:rPr lang="en-US" sz="3600" dirty="0" smtClean="0"/>
              <a:t>Sampling Effect in Frequency Domain (1)</a:t>
            </a:r>
            <a:endParaRPr lang="en-US" sz="3600" dirty="0"/>
          </a:p>
        </p:txBody>
      </p:sp>
      <p:sp>
        <p:nvSpPr>
          <p:cNvPr id="9" name="内容占位符 8"/>
          <p:cNvSpPr>
            <a:spLocks noGrp="1"/>
          </p:cNvSpPr>
          <p:nvPr>
            <p:ph idx="1"/>
          </p:nvPr>
        </p:nvSpPr>
        <p:spPr>
          <a:xfrm>
            <a:off x="628650" y="1308100"/>
            <a:ext cx="2581910" cy="3070859"/>
          </a:xfrm>
        </p:spPr>
        <p:txBody>
          <a:bodyPr>
            <a:noAutofit/>
          </a:bodyPr>
          <a:lstStyle/>
          <a:p>
            <a:r>
              <a:rPr lang="en-US" sz="2600" dirty="0" smtClean="0"/>
              <a:t> </a:t>
            </a:r>
            <a:r>
              <a:rPr lang="en-US" sz="2600" i="1" dirty="0" smtClean="0"/>
              <a:t>x</a:t>
            </a:r>
            <a:r>
              <a:rPr lang="en-US" sz="2600" dirty="0" smtClean="0"/>
              <a:t>(</a:t>
            </a:r>
            <a:r>
              <a:rPr lang="en-US" sz="2600" i="1" dirty="0" smtClean="0"/>
              <a:t>t</a:t>
            </a:r>
            <a:r>
              <a:rPr lang="en-US" sz="2600" dirty="0" smtClean="0"/>
              <a:t>) is band-limited</a:t>
            </a:r>
          </a:p>
          <a:p>
            <a:r>
              <a:rPr lang="en-US" sz="2600" dirty="0"/>
              <a:t> </a:t>
            </a:r>
            <a:r>
              <a:rPr lang="en-US" sz="2600" dirty="0" smtClean="0"/>
              <a:t>case I: </a:t>
            </a:r>
            <a:r>
              <a:rPr lang="el-GR" sz="2600" i="1" dirty="0" smtClean="0"/>
              <a:t>ω</a:t>
            </a:r>
            <a:r>
              <a:rPr lang="en-US" sz="2600" i="1" baseline="-25000" dirty="0" smtClean="0"/>
              <a:t>s</a:t>
            </a:r>
            <a:r>
              <a:rPr lang="en-US" sz="2600" dirty="0" smtClean="0"/>
              <a:t>&gt;2</a:t>
            </a:r>
            <a:r>
              <a:rPr lang="el-GR" sz="2600" i="1" dirty="0" smtClean="0"/>
              <a:t>ω</a:t>
            </a:r>
            <a:r>
              <a:rPr lang="en-US" sz="2600" i="1" baseline="-25000" dirty="0" smtClean="0"/>
              <a:t>M</a:t>
            </a:r>
          </a:p>
          <a:p>
            <a:r>
              <a:rPr lang="en-US" sz="2600" dirty="0"/>
              <a:t> </a:t>
            </a:r>
            <a:r>
              <a:rPr lang="en-US" altLang="zh-CN" sz="2600" i="1" dirty="0" smtClean="0"/>
              <a:t>X</a:t>
            </a:r>
            <a:r>
              <a:rPr lang="en-US" altLang="zh-CN" sz="2600" dirty="0" smtClean="0"/>
              <a:t>(</a:t>
            </a:r>
            <a:r>
              <a:rPr lang="en-US" altLang="zh-CN" sz="2600" i="1" dirty="0" smtClean="0"/>
              <a:t>j</a:t>
            </a:r>
            <a:r>
              <a:rPr lang="el-GR" altLang="zh-CN" sz="2600" i="1" dirty="0" smtClean="0"/>
              <a:t>ω</a:t>
            </a:r>
            <a:r>
              <a:rPr lang="en-US" altLang="zh-CN" sz="2600" dirty="0" smtClean="0"/>
              <a:t>) can be recovered from </a:t>
            </a:r>
            <a:r>
              <a:rPr lang="en-US" altLang="zh-CN" sz="2600" i="1" dirty="0" err="1" smtClean="0"/>
              <a:t>X</a:t>
            </a:r>
            <a:r>
              <a:rPr lang="en-US" altLang="zh-CN" sz="2600" i="1" baseline="-25000" dirty="0" err="1" smtClean="0"/>
              <a:t>p</a:t>
            </a:r>
            <a:r>
              <a:rPr lang="en-US" altLang="zh-CN" sz="2600" dirty="0" smtClean="0"/>
              <a:t>(</a:t>
            </a:r>
            <a:r>
              <a:rPr lang="en-US" altLang="zh-CN" sz="2600" i="1" dirty="0" smtClean="0"/>
              <a:t>j</a:t>
            </a:r>
            <a:r>
              <a:rPr lang="el-GR" altLang="zh-CN" sz="2600" i="1" dirty="0"/>
              <a:t>ω</a:t>
            </a:r>
            <a:r>
              <a:rPr lang="en-US" altLang="zh-CN" sz="2600" dirty="0"/>
              <a:t>) </a:t>
            </a:r>
            <a:r>
              <a:rPr lang="en-US" altLang="zh-CN" sz="2600" dirty="0" smtClean="0"/>
              <a:t>by a lowpass filter</a:t>
            </a:r>
            <a:endParaRPr lang="en-US" sz="260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§7.1 </a:t>
            </a:r>
            <a:r>
              <a:rPr lang="en-US" dirty="0"/>
              <a:t>Sampling </a:t>
            </a:r>
            <a:r>
              <a:rPr lang="en-US" dirty="0" smtClean="0"/>
              <a:t>Theorem</a:t>
            </a:r>
            <a:endParaRPr lang="en-US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4081" y="1157126"/>
            <a:ext cx="5589000" cy="191166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400" y="2821242"/>
            <a:ext cx="5576063" cy="1911668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9713" y="4485357"/>
            <a:ext cx="5705438" cy="2221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055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628649" y="365126"/>
            <a:ext cx="8274431" cy="792000"/>
          </a:xfrm>
        </p:spPr>
        <p:txBody>
          <a:bodyPr>
            <a:normAutofit/>
          </a:bodyPr>
          <a:lstStyle/>
          <a:p>
            <a:r>
              <a:rPr lang="en-US" sz="3600" dirty="0" smtClean="0"/>
              <a:t>Sampling Effect in Frequency Domain (2)</a:t>
            </a:r>
            <a:endParaRPr lang="en-US" sz="3600" dirty="0"/>
          </a:p>
        </p:txBody>
      </p:sp>
      <p:sp>
        <p:nvSpPr>
          <p:cNvPr id="9" name="内容占位符 8"/>
          <p:cNvSpPr>
            <a:spLocks noGrp="1"/>
          </p:cNvSpPr>
          <p:nvPr>
            <p:ph idx="1"/>
          </p:nvPr>
        </p:nvSpPr>
        <p:spPr>
          <a:xfrm>
            <a:off x="628648" y="1308101"/>
            <a:ext cx="2698369" cy="3843020"/>
          </a:xfrm>
        </p:spPr>
        <p:txBody>
          <a:bodyPr>
            <a:noAutofit/>
          </a:bodyPr>
          <a:lstStyle/>
          <a:p>
            <a:r>
              <a:rPr lang="en-US" sz="2600" dirty="0" smtClean="0"/>
              <a:t> </a:t>
            </a:r>
            <a:r>
              <a:rPr lang="en-US" sz="2600" i="1" dirty="0" smtClean="0"/>
              <a:t>x</a:t>
            </a:r>
            <a:r>
              <a:rPr lang="en-US" sz="2600" dirty="0" smtClean="0"/>
              <a:t>(</a:t>
            </a:r>
            <a:r>
              <a:rPr lang="en-US" sz="2600" i="1" dirty="0" smtClean="0"/>
              <a:t>t</a:t>
            </a:r>
            <a:r>
              <a:rPr lang="en-US" sz="2600" dirty="0" smtClean="0"/>
              <a:t>) is band-limited</a:t>
            </a:r>
          </a:p>
          <a:p>
            <a:r>
              <a:rPr lang="en-US" sz="2600" dirty="0"/>
              <a:t> </a:t>
            </a:r>
            <a:r>
              <a:rPr lang="en-US" sz="2600" dirty="0" smtClean="0"/>
              <a:t>case II: </a:t>
            </a:r>
            <a:r>
              <a:rPr lang="el-GR" sz="2600" i="1" dirty="0" smtClean="0"/>
              <a:t>ω</a:t>
            </a:r>
            <a:r>
              <a:rPr lang="en-US" sz="2600" i="1" baseline="-25000" dirty="0" smtClean="0"/>
              <a:t>s</a:t>
            </a:r>
            <a:r>
              <a:rPr lang="en-US" sz="2600" dirty="0" smtClean="0"/>
              <a:t>&lt;2</a:t>
            </a:r>
            <a:r>
              <a:rPr lang="el-GR" sz="2600" i="1" dirty="0" smtClean="0"/>
              <a:t>ω</a:t>
            </a:r>
            <a:r>
              <a:rPr lang="en-US" sz="2600" i="1" baseline="-25000" dirty="0" smtClean="0"/>
              <a:t>M</a:t>
            </a:r>
          </a:p>
          <a:p>
            <a:r>
              <a:rPr lang="en-US" sz="2600" dirty="0"/>
              <a:t> </a:t>
            </a:r>
            <a:r>
              <a:rPr lang="en-US" altLang="zh-CN" sz="2600" b="1" dirty="0" smtClean="0">
                <a:solidFill>
                  <a:srgbClr val="C00000"/>
                </a:solidFill>
              </a:rPr>
              <a:t>Aliasing</a:t>
            </a:r>
            <a:r>
              <a:rPr lang="en-US" altLang="zh-CN" sz="2600" dirty="0" smtClean="0"/>
              <a:t> happens: overlap in spectrum</a:t>
            </a:r>
          </a:p>
          <a:p>
            <a:r>
              <a:rPr lang="en-US" sz="2600" dirty="0"/>
              <a:t> </a:t>
            </a:r>
            <a:r>
              <a:rPr lang="en-US" altLang="zh-CN" sz="2600" i="1" dirty="0"/>
              <a:t>X</a:t>
            </a:r>
            <a:r>
              <a:rPr lang="en-US" altLang="zh-CN" sz="2600" dirty="0"/>
              <a:t>(</a:t>
            </a:r>
            <a:r>
              <a:rPr lang="en-US" altLang="zh-CN" sz="2600" i="1" dirty="0"/>
              <a:t>j</a:t>
            </a:r>
            <a:r>
              <a:rPr lang="el-GR" altLang="zh-CN" sz="2600" i="1" dirty="0"/>
              <a:t>ω</a:t>
            </a:r>
            <a:r>
              <a:rPr lang="en-US" altLang="zh-CN" sz="2600" dirty="0"/>
              <a:t>) can </a:t>
            </a:r>
            <a:r>
              <a:rPr lang="en-US" altLang="zh-CN" sz="2600" dirty="0" smtClean="0">
                <a:solidFill>
                  <a:srgbClr val="FF0000"/>
                </a:solidFill>
              </a:rPr>
              <a:t>not</a:t>
            </a:r>
            <a:r>
              <a:rPr lang="en-US" altLang="zh-CN" sz="2600" dirty="0" smtClean="0"/>
              <a:t> be </a:t>
            </a:r>
            <a:r>
              <a:rPr lang="en-US" altLang="zh-CN" sz="2600" dirty="0"/>
              <a:t>recovered from </a:t>
            </a:r>
            <a:r>
              <a:rPr lang="en-US" altLang="zh-CN" sz="2600" i="1" dirty="0" err="1"/>
              <a:t>X</a:t>
            </a:r>
            <a:r>
              <a:rPr lang="en-US" altLang="zh-CN" sz="2600" i="1" baseline="-25000" dirty="0" err="1"/>
              <a:t>p</a:t>
            </a:r>
            <a:r>
              <a:rPr lang="en-US" altLang="zh-CN" sz="2600" dirty="0"/>
              <a:t>(</a:t>
            </a:r>
            <a:r>
              <a:rPr lang="en-US" altLang="zh-CN" sz="2600" i="1" dirty="0"/>
              <a:t>j</a:t>
            </a:r>
            <a:r>
              <a:rPr lang="el-GR" altLang="zh-CN" sz="2600" i="1" dirty="0"/>
              <a:t>ω</a:t>
            </a:r>
            <a:r>
              <a:rPr lang="en-US" altLang="zh-CN" sz="2600" dirty="0"/>
              <a:t>) by a lowpass filter</a:t>
            </a:r>
            <a:endParaRPr lang="en-US" sz="2600" dirty="0"/>
          </a:p>
          <a:p>
            <a:endParaRPr lang="en-US" sz="260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§7.1 </a:t>
            </a:r>
            <a:r>
              <a:rPr lang="en-US" dirty="0"/>
              <a:t>Sampling </a:t>
            </a:r>
            <a:r>
              <a:rPr lang="en-US" dirty="0" smtClean="0"/>
              <a:t>Theorem</a:t>
            </a:r>
            <a:endParaRPr lang="en-US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4081" y="1157126"/>
            <a:ext cx="5589000" cy="1911668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081" y="4514616"/>
            <a:ext cx="5705438" cy="22475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7018" y="2896334"/>
            <a:ext cx="5576063" cy="1911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21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Sampling Theorem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b="1" dirty="0" err="1">
                <a:solidFill>
                  <a:srgbClr val="C00000"/>
                </a:solidFill>
              </a:rPr>
              <a:t>Nyquist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b="1" dirty="0" smtClean="0">
                <a:solidFill>
                  <a:srgbClr val="C00000"/>
                </a:solidFill>
              </a:rPr>
              <a:t>Sampling Theorem</a:t>
            </a:r>
            <a:r>
              <a:rPr lang="en-US" dirty="0" smtClean="0"/>
              <a:t>: </a:t>
            </a:r>
            <a:r>
              <a:rPr lang="en-US" i="1" dirty="0" smtClean="0"/>
              <a:t>x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 is a band-limited signal with </a:t>
            </a:r>
            <a:r>
              <a:rPr lang="en-US" i="1" dirty="0" smtClean="0"/>
              <a:t>X</a:t>
            </a:r>
            <a:r>
              <a:rPr lang="en-US" dirty="0" smtClean="0"/>
              <a:t>(</a:t>
            </a:r>
            <a:r>
              <a:rPr lang="en-US" i="1" dirty="0" smtClean="0"/>
              <a:t>j</a:t>
            </a:r>
            <a:r>
              <a:rPr lang="el-GR" i="1" dirty="0" smtClean="0"/>
              <a:t>ω</a:t>
            </a:r>
            <a:r>
              <a:rPr lang="en-US" dirty="0" smtClean="0"/>
              <a:t>)=0 for |</a:t>
            </a:r>
            <a:r>
              <a:rPr lang="el-GR" i="1" dirty="0" smtClean="0"/>
              <a:t>ω</a:t>
            </a:r>
            <a:r>
              <a:rPr lang="en-US" i="1" dirty="0" smtClean="0"/>
              <a:t>|&gt;</a:t>
            </a:r>
            <a:r>
              <a:rPr lang="el-GR" i="1" dirty="0" smtClean="0"/>
              <a:t>ω</a:t>
            </a:r>
            <a:r>
              <a:rPr lang="en-US" i="1" baseline="-25000" dirty="0" smtClean="0"/>
              <a:t>M</a:t>
            </a:r>
            <a:r>
              <a:rPr lang="en-US" dirty="0" smtClean="0"/>
              <a:t>, then </a:t>
            </a:r>
            <a:r>
              <a:rPr lang="en-US" i="1" dirty="0"/>
              <a:t>x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) </a:t>
            </a:r>
            <a:r>
              <a:rPr lang="en-US" dirty="0" smtClean="0"/>
              <a:t>is </a:t>
            </a:r>
            <a:r>
              <a:rPr lang="en-US" b="1" u="sng" dirty="0" smtClean="0">
                <a:solidFill>
                  <a:srgbClr val="C00000"/>
                </a:solidFill>
              </a:rPr>
              <a:t>uniquely</a:t>
            </a:r>
            <a:r>
              <a:rPr lang="en-US" dirty="0" smtClean="0"/>
              <a:t> determined by its samples </a:t>
            </a:r>
            <a:r>
              <a:rPr lang="en-US" i="1" dirty="0" smtClean="0"/>
              <a:t>x</a:t>
            </a:r>
            <a:r>
              <a:rPr lang="en-US" dirty="0" smtClean="0"/>
              <a:t>(</a:t>
            </a:r>
            <a:r>
              <a:rPr lang="en-US" i="1" dirty="0" err="1" smtClean="0"/>
              <a:t>nT</a:t>
            </a:r>
            <a:r>
              <a:rPr lang="en-US" dirty="0" smtClean="0"/>
              <a:t>), n = 0, ±1, </a:t>
            </a:r>
            <a:r>
              <a:rPr lang="en-US" dirty="0"/>
              <a:t>±1</a:t>
            </a:r>
            <a:r>
              <a:rPr lang="en-US" dirty="0" smtClean="0"/>
              <a:t>, ±2, …, if </a:t>
            </a:r>
            <a:r>
              <a:rPr lang="el-GR" i="1" dirty="0" smtClean="0"/>
              <a:t>ω</a:t>
            </a:r>
            <a:r>
              <a:rPr lang="en-US" i="1" baseline="-25000" dirty="0" smtClean="0"/>
              <a:t>s</a:t>
            </a:r>
            <a:r>
              <a:rPr lang="en-US" i="1" dirty="0" smtClean="0"/>
              <a:t>&gt;</a:t>
            </a:r>
            <a:r>
              <a:rPr lang="en-US" dirty="0" smtClean="0"/>
              <a:t>2</a:t>
            </a:r>
            <a:r>
              <a:rPr lang="el-GR" i="1" dirty="0" smtClean="0"/>
              <a:t>ω</a:t>
            </a:r>
            <a:r>
              <a:rPr lang="en-US" i="1" baseline="-25000" dirty="0" smtClean="0"/>
              <a:t>M</a:t>
            </a:r>
            <a:r>
              <a:rPr lang="en-US" dirty="0" smtClean="0"/>
              <a:t>, in which </a:t>
            </a:r>
            <a:r>
              <a:rPr lang="el-GR" i="1" dirty="0"/>
              <a:t>ω</a:t>
            </a:r>
            <a:r>
              <a:rPr lang="en-US" i="1" baseline="-25000" dirty="0" smtClean="0"/>
              <a:t>s</a:t>
            </a:r>
            <a:r>
              <a:rPr lang="en-US" dirty="0" smtClean="0"/>
              <a:t>=2</a:t>
            </a:r>
            <a:r>
              <a:rPr lang="el-GR" i="1" dirty="0" smtClean="0"/>
              <a:t>π</a:t>
            </a:r>
            <a:r>
              <a:rPr lang="en-US" dirty="0" smtClean="0"/>
              <a:t>/</a:t>
            </a:r>
            <a:r>
              <a:rPr lang="en-US" i="1" dirty="0" smtClean="0"/>
              <a:t>T</a:t>
            </a:r>
            <a:r>
              <a:rPr lang="en-US" dirty="0" smtClean="0"/>
              <a:t>.</a:t>
            </a:r>
          </a:p>
          <a:p>
            <a:pPr lvl="1"/>
            <a:r>
              <a:rPr lang="en-US" dirty="0"/>
              <a:t> </a:t>
            </a:r>
            <a:r>
              <a:rPr lang="en-US" b="1" dirty="0" err="1" smtClean="0">
                <a:solidFill>
                  <a:srgbClr val="C00000"/>
                </a:solidFill>
              </a:rPr>
              <a:t>Nyquist</a:t>
            </a:r>
            <a:r>
              <a:rPr lang="en-US" b="1" dirty="0" smtClean="0">
                <a:solidFill>
                  <a:srgbClr val="C00000"/>
                </a:solidFill>
              </a:rPr>
              <a:t> rate</a:t>
            </a:r>
            <a:r>
              <a:rPr lang="en-US" dirty="0" smtClean="0"/>
              <a:t>: 2</a:t>
            </a:r>
            <a:r>
              <a:rPr lang="el-GR" i="1" dirty="0"/>
              <a:t>ω</a:t>
            </a:r>
            <a:r>
              <a:rPr lang="en-US" i="1" baseline="-25000" dirty="0"/>
              <a:t>M</a:t>
            </a:r>
            <a:endParaRPr lang="en-US" dirty="0" smtClean="0"/>
          </a:p>
          <a:p>
            <a:pPr lvl="1"/>
            <a:r>
              <a:rPr lang="en-US" dirty="0"/>
              <a:t> </a:t>
            </a:r>
            <a:r>
              <a:rPr lang="en-US" b="1" dirty="0" err="1" smtClean="0">
                <a:solidFill>
                  <a:srgbClr val="C00000"/>
                </a:solidFill>
              </a:rPr>
              <a:t>Nyquist</a:t>
            </a:r>
            <a:r>
              <a:rPr lang="en-US" b="1" dirty="0" smtClean="0">
                <a:solidFill>
                  <a:srgbClr val="C00000"/>
                </a:solidFill>
              </a:rPr>
              <a:t> frequency</a:t>
            </a:r>
            <a:r>
              <a:rPr lang="en-US" dirty="0" smtClean="0"/>
              <a:t>: </a:t>
            </a:r>
            <a:r>
              <a:rPr lang="el-GR" i="1" dirty="0"/>
              <a:t>ω</a:t>
            </a:r>
            <a:r>
              <a:rPr lang="en-US" i="1" baseline="-25000" dirty="0" smtClean="0"/>
              <a:t>s</a:t>
            </a:r>
            <a:r>
              <a:rPr lang="en-US" i="1" dirty="0" smtClean="0"/>
              <a:t>/</a:t>
            </a:r>
            <a:r>
              <a:rPr lang="en-US" dirty="0" smtClean="0"/>
              <a:t>2</a:t>
            </a:r>
          </a:p>
          <a:p>
            <a:r>
              <a:rPr lang="en-US" dirty="0"/>
              <a:t> </a:t>
            </a:r>
            <a:r>
              <a:rPr lang="en-US" dirty="0" smtClean="0"/>
              <a:t>The original signal can be reconstructed from </a:t>
            </a:r>
            <a:r>
              <a:rPr lang="en-US" i="1" dirty="0"/>
              <a:t>x</a:t>
            </a:r>
            <a:r>
              <a:rPr lang="en-US" dirty="0"/>
              <a:t>(</a:t>
            </a:r>
            <a:r>
              <a:rPr lang="en-US" i="1" dirty="0" err="1"/>
              <a:t>nT</a:t>
            </a:r>
            <a:r>
              <a:rPr lang="en-US" dirty="0" smtClean="0"/>
              <a:t>) by passing the impulse train, for which the impulses have the amplitudes of  </a:t>
            </a:r>
            <a:r>
              <a:rPr lang="en-US" i="1" dirty="0"/>
              <a:t>x</a:t>
            </a:r>
            <a:r>
              <a:rPr lang="en-US" dirty="0"/>
              <a:t>(</a:t>
            </a:r>
            <a:r>
              <a:rPr lang="en-US" i="1" dirty="0" err="1"/>
              <a:t>nT</a:t>
            </a:r>
            <a:r>
              <a:rPr lang="en-US" dirty="0" smtClean="0"/>
              <a:t>), through an ideal </a:t>
            </a:r>
            <a:r>
              <a:rPr lang="en-US" dirty="0"/>
              <a:t>l</a:t>
            </a:r>
            <a:r>
              <a:rPr lang="en-US" dirty="0" smtClean="0"/>
              <a:t>owpass filter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§7.1 </a:t>
            </a:r>
            <a:r>
              <a:rPr lang="en-US" dirty="0"/>
              <a:t>Sampling </a:t>
            </a:r>
            <a:r>
              <a:rPr lang="en-US" dirty="0" smtClean="0"/>
              <a:t>Theorem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658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8169910" cy="792000"/>
          </a:xfrm>
        </p:spPr>
        <p:txBody>
          <a:bodyPr>
            <a:noAutofit/>
          </a:bodyPr>
          <a:lstStyle/>
          <a:p>
            <a:r>
              <a:rPr lang="en-US" altLang="zh-CN" sz="3600" dirty="0" smtClean="0"/>
              <a:t>Reconstruction Using Ideal Lowpass Filter</a:t>
            </a:r>
            <a:endParaRPr 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3850640"/>
            <a:ext cx="3669030" cy="2326323"/>
          </a:xfrm>
        </p:spPr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</a:rPr>
              <a:t>cut-off frequency </a:t>
            </a:r>
            <a:r>
              <a:rPr lang="en-US" dirty="0" smtClean="0"/>
              <a:t>of ideal lowpass filter </a:t>
            </a:r>
            <a:r>
              <a:rPr lang="el-GR" i="1" dirty="0" smtClean="0"/>
              <a:t>ω</a:t>
            </a:r>
            <a:r>
              <a:rPr lang="en-US" i="1" baseline="-25000" dirty="0" smtClean="0"/>
              <a:t>C</a:t>
            </a:r>
            <a:r>
              <a:rPr lang="en-US" dirty="0" smtClean="0"/>
              <a:t>: </a:t>
            </a:r>
            <a:r>
              <a:rPr lang="el-GR" i="1" dirty="0" smtClean="0"/>
              <a:t>ω</a:t>
            </a:r>
            <a:r>
              <a:rPr lang="en-US" i="1" baseline="-25000" dirty="0" smtClean="0"/>
              <a:t>M</a:t>
            </a:r>
            <a:r>
              <a:rPr lang="en-US" dirty="0" smtClean="0"/>
              <a:t>&lt;</a:t>
            </a:r>
            <a:r>
              <a:rPr lang="el-GR" i="1" dirty="0" smtClean="0"/>
              <a:t>ω</a:t>
            </a:r>
            <a:r>
              <a:rPr lang="en-US" i="1" baseline="-25000" dirty="0"/>
              <a:t>C </a:t>
            </a:r>
            <a:r>
              <a:rPr lang="en-US" dirty="0" smtClean="0"/>
              <a:t>&lt;</a:t>
            </a:r>
            <a:r>
              <a:rPr lang="el-GR" i="1" dirty="0"/>
              <a:t> </a:t>
            </a:r>
            <a:r>
              <a:rPr lang="el-GR" i="1" dirty="0" smtClean="0"/>
              <a:t>ω</a:t>
            </a:r>
            <a:r>
              <a:rPr lang="en-US" i="1" baseline="-25000" dirty="0" smtClean="0"/>
              <a:t>s </a:t>
            </a:r>
            <a:r>
              <a:rPr lang="en-US" dirty="0" smtClean="0"/>
              <a:t>-</a:t>
            </a:r>
            <a:r>
              <a:rPr lang="el-GR" i="1" dirty="0"/>
              <a:t> </a:t>
            </a:r>
            <a:r>
              <a:rPr lang="el-GR" i="1" dirty="0" smtClean="0"/>
              <a:t>ω</a:t>
            </a:r>
            <a:r>
              <a:rPr lang="en-US" i="1" baseline="-25000" dirty="0" smtClean="0"/>
              <a:t>M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§7.1 </a:t>
            </a:r>
            <a:r>
              <a:rPr lang="en-US" dirty="0"/>
              <a:t>Sampling </a:t>
            </a:r>
            <a:r>
              <a:rPr lang="en-US" dirty="0" smtClean="0"/>
              <a:t>Theorem</a:t>
            </a:r>
            <a:endParaRPr 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642" y="1224741"/>
            <a:ext cx="4024080" cy="1376401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642" y="2490613"/>
            <a:ext cx="4107915" cy="1348501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4480" y="5112973"/>
            <a:ext cx="4024080" cy="1274099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8424" y="3749005"/>
            <a:ext cx="4564350" cy="1498334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6605" y="1421114"/>
            <a:ext cx="4347000" cy="24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816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Sampling with a Zero-Order Hold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§7.1 </a:t>
            </a:r>
            <a:r>
              <a:rPr lang="en-US" dirty="0"/>
              <a:t>Sampling </a:t>
            </a:r>
            <a:r>
              <a:rPr lang="en-US" dirty="0" smtClean="0"/>
              <a:t>Theorem</a:t>
            </a:r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5710" y="4717206"/>
            <a:ext cx="3092580" cy="154380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062" y="1809680"/>
            <a:ext cx="8652602" cy="80186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5710" y="3023455"/>
            <a:ext cx="3092580" cy="1543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6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2800" dirty="0" smtClean="0"/>
              <a:t>Equivalent Model of Sampling with Zero-Order Hold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506730" y="3938743"/>
                <a:ext cx="4626170" cy="2238220"/>
              </a:xfrm>
            </p:spPr>
            <p:txBody>
              <a:bodyPr>
                <a:normAutofit/>
              </a:bodyPr>
              <a:lstStyle/>
              <a:p>
                <a:r>
                  <a:rPr lang="en-US" dirty="0" smtClean="0"/>
                  <a:t> </a:t>
                </a:r>
                <a:r>
                  <a:rPr lang="en-US" sz="2400" dirty="0" smtClean="0"/>
                  <a:t>a </a:t>
                </a:r>
                <a:r>
                  <a:rPr lang="en-US" altLang="zh-CN" sz="2400" dirty="0" smtClean="0"/>
                  <a:t>LTI system with the rectangle impulse response </a:t>
                </a:r>
                <a:r>
                  <a:rPr lang="en-US" altLang="zh-CN" sz="2400" i="1" dirty="0" smtClean="0"/>
                  <a:t>h</a:t>
                </a:r>
                <a:r>
                  <a:rPr lang="en-US" altLang="zh-CN" sz="2400" baseline="-25000" dirty="0" smtClean="0"/>
                  <a:t>0</a:t>
                </a:r>
                <a:r>
                  <a:rPr lang="en-US" altLang="zh-CN" sz="2400" dirty="0" smtClean="0"/>
                  <a:t>(</a:t>
                </a:r>
                <a:r>
                  <a:rPr lang="en-US" altLang="zh-CN" sz="2400" i="1" dirty="0" smtClean="0"/>
                  <a:t>t</a:t>
                </a:r>
                <a:r>
                  <a:rPr lang="en-US" altLang="zh-CN" sz="2400" dirty="0" smtClean="0"/>
                  <a:t>)</a:t>
                </a:r>
              </a:p>
              <a:p>
                <a:pPr marL="0" indent="0">
                  <a:buNone/>
                </a:pPr>
                <a:endParaRPr lang="en-US" altLang="zh-CN" sz="24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/2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func>
                                <m:func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/2)</m:t>
                                  </m:r>
                                </m:e>
                              </m:func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6730" y="3938743"/>
                <a:ext cx="4626170" cy="2238220"/>
              </a:xfrm>
              <a:blipFill>
                <a:blip r:embed="rId2"/>
                <a:stretch>
                  <a:fillRect l="-2240" t="-32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§7.1 </a:t>
            </a:r>
            <a:r>
              <a:rPr lang="en-US" dirty="0"/>
              <a:t>Sampling </a:t>
            </a:r>
            <a:r>
              <a:rPr lang="en-US" dirty="0" smtClean="0"/>
              <a:t>Theorem</a:t>
            </a:r>
            <a:endParaRPr 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70" y="1260735"/>
            <a:ext cx="5164650" cy="24180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1395" y="1502536"/>
            <a:ext cx="3418605" cy="96719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1394" y="2990143"/>
            <a:ext cx="3418605" cy="9486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1394" y="4705797"/>
            <a:ext cx="3418605" cy="883499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561343" y="6036861"/>
            <a:ext cx="5450314" cy="40011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Q: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zero-order hold sampling time-invariant?</a:t>
            </a:r>
          </a:p>
        </p:txBody>
      </p:sp>
    </p:spTree>
    <p:extLst>
      <p:ext uri="{BB962C8B-B14F-4D97-AF65-F5344CB8AC3E}">
        <p14:creationId xmlns:p14="http://schemas.microsoft.com/office/powerpoint/2010/main" val="3712765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smtClean="0"/>
              <a:t>How to Reconstruct from Zero-Order Hold?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3879338"/>
                <a:ext cx="4197350" cy="2297625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 smtClean="0"/>
                  <a:t> Ideally,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r>
                  <a:rPr lang="en-US" dirty="0" smtClean="0"/>
                  <a:t> should be a lowpass filter</a:t>
                </a:r>
              </a:p>
              <a:p>
                <a:r>
                  <a:rPr lang="en-US" dirty="0"/>
                  <a:t> </a:t>
                </a:r>
                <a:r>
                  <a:rPr lang="en-US" dirty="0" smtClean="0"/>
                  <a:t>The ideal reconstruction filter is given by</a:t>
                </a:r>
              </a:p>
              <a:p>
                <a:pPr marL="0" indent="0">
                  <a:buNone/>
                </a:pP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sup>
                        </m:sSup>
                      </m:num>
                      <m:den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func>
                              <m:func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/2)</m:t>
                                </m:r>
                              </m:e>
                            </m:func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den>
                        </m:f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3879338"/>
                <a:ext cx="4197350" cy="2297625"/>
              </a:xfrm>
              <a:blipFill>
                <a:blip r:embed="rId2"/>
                <a:stretch>
                  <a:fillRect l="-2177" t="-5836" r="-20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§7.1 </a:t>
            </a:r>
            <a:r>
              <a:rPr lang="en-US" dirty="0"/>
              <a:t>Sampling </a:t>
            </a:r>
            <a:r>
              <a:rPr lang="en-US" dirty="0" smtClean="0"/>
              <a:t>Theorem</a:t>
            </a:r>
            <a:endParaRPr 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008" y="1471259"/>
            <a:ext cx="5290920" cy="2273334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8156" y="4828599"/>
            <a:ext cx="1112625" cy="529583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7560441" y="4712398"/>
            <a:ext cx="319777" cy="707886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5332593" y="5384770"/>
            <a:ext cx="3012177" cy="830997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Discussion: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 if no reconstruction filter?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2593" y="1777905"/>
            <a:ext cx="3774128" cy="137020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98606" y="3213832"/>
            <a:ext cx="3791723" cy="144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552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Interpolation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2400" y="1430020"/>
            <a:ext cx="3982720" cy="4859020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 </a:t>
            </a:r>
            <a:r>
              <a:rPr lang="en-US" altLang="zh-CN" b="1" dirty="0" smtClean="0">
                <a:solidFill>
                  <a:srgbClr val="C00000"/>
                </a:solidFill>
              </a:rPr>
              <a:t>Interpolation</a:t>
            </a:r>
            <a:r>
              <a:rPr lang="en-US" altLang="zh-CN" dirty="0" smtClean="0"/>
              <a:t>: fitting of a continuous-time signal to a set of sample values</a:t>
            </a:r>
          </a:p>
          <a:p>
            <a:r>
              <a:rPr lang="en-US" dirty="0"/>
              <a:t> </a:t>
            </a:r>
            <a:r>
              <a:rPr lang="en-US" altLang="zh-CN" b="1" dirty="0" smtClean="0">
                <a:solidFill>
                  <a:srgbClr val="C00000"/>
                </a:solidFill>
              </a:rPr>
              <a:t>Linear interpolation</a:t>
            </a:r>
            <a:r>
              <a:rPr lang="en-US" altLang="zh-CN" dirty="0" smtClean="0"/>
              <a:t>: adjacent points are connected by straight lines</a:t>
            </a:r>
          </a:p>
          <a:p>
            <a:r>
              <a:rPr lang="en-US" dirty="0"/>
              <a:t> </a:t>
            </a:r>
            <a:r>
              <a:rPr lang="en-US" dirty="0" smtClean="0"/>
              <a:t>High-order interpolation: </a:t>
            </a:r>
            <a:r>
              <a:rPr lang="en-US" altLang="zh-CN" dirty="0"/>
              <a:t>adjacent points are connected </a:t>
            </a:r>
            <a:r>
              <a:rPr lang="en-US" altLang="zh-CN" dirty="0" smtClean="0"/>
              <a:t>by high-order polynomials or other mathematical functions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§7.2 Reconstruction Using Interpolation</a:t>
            </a:r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6640" y="1673860"/>
            <a:ext cx="5325332" cy="3987567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754880" y="1321108"/>
            <a:ext cx="3502770" cy="461665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Matlab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function 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interp1()</a:t>
            </a:r>
          </a:p>
        </p:txBody>
      </p:sp>
      <p:sp>
        <p:nvSpPr>
          <p:cNvPr id="9" name="矩形 8"/>
          <p:cNvSpPr/>
          <p:nvPr/>
        </p:nvSpPr>
        <p:spPr>
          <a:xfrm>
            <a:off x="4663439" y="5710020"/>
            <a:ext cx="3594211" cy="646331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differentiate between CT and DT signals in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Matlab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9905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Reconstruction = </a:t>
            </a:r>
            <a:r>
              <a:rPr lang="en-US" dirty="0"/>
              <a:t>Interpolation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4346303"/>
                <a:ext cx="8393430" cy="1849296"/>
              </a:xfrm>
            </p:spPr>
            <p:txBody>
              <a:bodyPr>
                <a:normAutofit/>
              </a:bodyPr>
              <a:lstStyle/>
              <a:p>
                <a:r>
                  <a:rPr lang="en-US" dirty="0" smtClean="0"/>
                  <a:t> </a:t>
                </a:r>
                <a:r>
                  <a:rPr lang="en-US" i="1" dirty="0" err="1" smtClean="0"/>
                  <a:t>x</a:t>
                </a:r>
                <a:r>
                  <a:rPr lang="en-US" i="1" baseline="-25000" dirty="0" err="1" smtClean="0"/>
                  <a:t>r</a:t>
                </a:r>
                <a:r>
                  <a:rPr lang="en-US" dirty="0" smtClean="0"/>
                  <a:t>(</a:t>
                </a:r>
                <a:r>
                  <a:rPr lang="en-US" i="1" dirty="0" smtClean="0"/>
                  <a:t>t</a:t>
                </a:r>
                <a:r>
                  <a:rPr lang="en-US" dirty="0" smtClean="0"/>
                  <a:t>)=</a:t>
                </a:r>
                <a:r>
                  <a:rPr lang="en-US" i="1" dirty="0" err="1" smtClean="0"/>
                  <a:t>x</a:t>
                </a:r>
                <a:r>
                  <a:rPr lang="en-US" i="1" baseline="-25000" dirty="0" err="1" smtClean="0"/>
                  <a:t>p</a:t>
                </a:r>
                <a:r>
                  <a:rPr lang="en-US" dirty="0" smtClean="0"/>
                  <a:t>(</a:t>
                </a:r>
                <a:r>
                  <a:rPr lang="en-US" i="1" dirty="0" smtClean="0"/>
                  <a:t>t</a:t>
                </a:r>
                <a:r>
                  <a:rPr lang="en-US" dirty="0" smtClean="0"/>
                  <a:t>)*</a:t>
                </a:r>
                <a:r>
                  <a:rPr lang="en-US" i="1" dirty="0" err="1" smtClean="0"/>
                  <a:t>h</a:t>
                </a:r>
                <a:r>
                  <a:rPr lang="en-US" i="1" baseline="-25000" dirty="0" err="1" smtClean="0"/>
                  <a:t>r</a:t>
                </a:r>
                <a:r>
                  <a:rPr lang="en-US" dirty="0" smtClean="0"/>
                  <a:t>(</a:t>
                </a:r>
                <a:r>
                  <a:rPr lang="en-US" i="1" dirty="0" smtClean="0"/>
                  <a:t>t</a:t>
                </a:r>
                <a:r>
                  <a:rPr lang="en-US" dirty="0" smtClean="0"/>
                  <a:t>)</a:t>
                </a:r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=−∞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+∞</m:t>
                        </m:r>
                      </m:sup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𝑛𝑇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𝛿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𝑛𝑇</m:t>
                            </m:r>
                          </m:e>
                        </m:d>
                      </m:e>
                    </m:nary>
                  </m:oMath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=−∞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+∞</m:t>
                        </m:r>
                      </m:sup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𝑛𝑇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US" i="1" dirty="0"/>
                          <m:t>h</m:t>
                        </m:r>
                        <m:r>
                          <m:rPr>
                            <m:nor/>
                          </m:rPr>
                          <a:rPr lang="en-US" i="1" baseline="-25000" dirty="0"/>
                          <m:t>r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𝑛𝑇</m:t>
                            </m:r>
                          </m:e>
                        </m:d>
                      </m:e>
                    </m:nary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4346303"/>
                <a:ext cx="8393430" cy="1849296"/>
              </a:xfrm>
              <a:blipFill>
                <a:blip r:embed="rId2"/>
                <a:stretch>
                  <a:fillRect l="-1235" t="-5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17</a:t>
            </a:fld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§7.2 </a:t>
            </a:r>
            <a:r>
              <a:rPr lang="en-US" dirty="0"/>
              <a:t>Reconstruction Using </a:t>
            </a:r>
            <a:r>
              <a:rPr lang="en-US" dirty="0" smtClean="0"/>
              <a:t>Interpolation</a:t>
            </a:r>
            <a:endParaRPr 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2774" y="1342227"/>
            <a:ext cx="5839052" cy="3247947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6168233" y="5391019"/>
            <a:ext cx="234711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 interpolation</a:t>
            </a:r>
          </a:p>
        </p:txBody>
      </p:sp>
    </p:spTree>
    <p:extLst>
      <p:ext uri="{BB962C8B-B14F-4D97-AF65-F5344CB8AC3E}">
        <p14:creationId xmlns:p14="http://schemas.microsoft.com/office/powerpoint/2010/main" val="3738870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Band-Limited Interpolation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 </a:t>
                </a:r>
                <a:r>
                  <a:rPr lang="en-US" b="1" dirty="0" smtClean="0">
                    <a:solidFill>
                      <a:srgbClr val="C00000"/>
                    </a:solidFill>
                  </a:rPr>
                  <a:t>band-limited interpolation</a:t>
                </a:r>
                <a:r>
                  <a:rPr lang="en-US" dirty="0" smtClean="0"/>
                  <a:t>: if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1" dirty="0"/>
                      <m:t>h</m:t>
                    </m:r>
                    <m:r>
                      <m:rPr>
                        <m:nor/>
                      </m:rPr>
                      <a:rPr lang="en-US" i="1" baseline="-25000" dirty="0"/>
                      <m:t>r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𝑛𝑇</m:t>
                        </m:r>
                      </m:e>
                    </m:d>
                  </m:oMath>
                </a14:m>
                <a:r>
                  <a:rPr lang="en-US" dirty="0" smtClean="0"/>
                  <a:t> is band-limited, then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=−∞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+∞</m:t>
                        </m:r>
                      </m:sup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𝑛𝑇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US" i="1" dirty="0"/>
                          <m:t>h</m:t>
                        </m:r>
                        <m:r>
                          <m:rPr>
                            <m:nor/>
                          </m:rPr>
                          <a:rPr lang="en-US" i="1" baseline="-25000" dirty="0"/>
                          <m:t>r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𝑛𝑇</m:t>
                            </m:r>
                          </m:e>
                        </m:d>
                      </m:e>
                    </m:nary>
                  </m:oMath>
                </a14:m>
                <a:r>
                  <a:rPr lang="en-US" dirty="0" smtClean="0"/>
                  <a:t> is band-limited interpolation</a:t>
                </a:r>
              </a:p>
              <a:p>
                <a:pPr lvl="1"/>
                <a:r>
                  <a:rPr lang="en-US" dirty="0"/>
                  <a:t> </a:t>
                </a:r>
                <a:r>
                  <a:rPr lang="en-US" dirty="0" smtClean="0"/>
                  <a:t>If </a:t>
                </a:r>
                <a:r>
                  <a:rPr lang="en-US" dirty="0" err="1" smtClean="0"/>
                  <a:t>Nyquist</a:t>
                </a:r>
                <a:r>
                  <a:rPr lang="en-US" dirty="0" smtClean="0"/>
                  <a:t> conditions are satisfied, then the band-limited interpolation uniquely reconstruct the original signal</a:t>
                </a:r>
              </a:p>
              <a:p>
                <a:r>
                  <a:rPr lang="en-US" dirty="0"/>
                  <a:t> </a:t>
                </a:r>
                <a:r>
                  <a:rPr lang="en-US" dirty="0" smtClean="0"/>
                  <a:t>Ideal case: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1" dirty="0"/>
                      <m:t>h</m:t>
                    </m:r>
                    <m:r>
                      <m:rPr>
                        <m:nor/>
                      </m:rPr>
                      <a:rPr lang="en-US" i="1" baseline="-25000" dirty="0"/>
                      <m:t>r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𝑛𝑇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dirty="0" smtClean="0"/>
                  <a:t>is the ideal lowpass filter</a:t>
                </a:r>
              </a:p>
              <a:p>
                <a:pPr lvl="1"/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endParaRPr lang="en-US" dirty="0" smtClean="0"/>
              </a:p>
              <a:p>
                <a:pPr lvl="1"/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=−∞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+∞</m:t>
                        </m:r>
                      </m:sup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𝑛𝑇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func>
                              <m:func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𝑛𝑇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))</m:t>
                                </m:r>
                              </m:e>
                            </m:func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𝜋𝜔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𝑛𝑇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</m:oMath>
                </a14:m>
                <a:endParaRPr lang="en-US" dirty="0"/>
              </a:p>
              <a:p>
                <a:r>
                  <a:rPr lang="en-US" dirty="0"/>
                  <a:t> </a:t>
                </a:r>
                <a:r>
                  <a:rPr lang="en-US" dirty="0" smtClean="0">
                    <a:solidFill>
                      <a:srgbClr val="FF0000"/>
                    </a:solidFill>
                  </a:rPr>
                  <a:t>Question:</a:t>
                </a:r>
                <a:r>
                  <a:rPr lang="en-US" dirty="0" smtClean="0"/>
                  <a:t> does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US" dirty="0" smtClean="0"/>
                  <a:t> have to be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dirty="0" smtClean="0"/>
                  <a:t> ?</a:t>
                </a:r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14" t="-2256" r="-14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§7.2 </a:t>
            </a:r>
            <a:r>
              <a:rPr lang="en-US" dirty="0"/>
              <a:t>Reconstruction Using </a:t>
            </a:r>
            <a:r>
              <a:rPr lang="en-US" dirty="0" smtClean="0"/>
              <a:t>Interpolation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5446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 smtClean="0"/>
                  <a:t>Does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US" dirty="0"/>
                  <a:t> have to be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dirty="0" smtClean="0"/>
                  <a:t> ?</a:t>
                </a:r>
                <a:endParaRPr lang="en-US" dirty="0"/>
              </a:p>
            </p:txBody>
          </p:sp>
        </mc:Choice>
        <mc:Fallback xmlns="">
          <p:sp>
            <p:nvSpPr>
              <p:cNvPr id="2" name="标题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3091" t="-17692" b="-3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§7.2 </a:t>
            </a:r>
            <a:r>
              <a:rPr lang="en-US" dirty="0"/>
              <a:t>Reconstruction Using </a:t>
            </a:r>
            <a:r>
              <a:rPr lang="en-US" dirty="0" smtClean="0"/>
              <a:t>Interpolation</a:t>
            </a:r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88532"/>
            <a:ext cx="3115350" cy="23327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8950" y="2503679"/>
            <a:ext cx="3115350" cy="23327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8975" y="2492205"/>
            <a:ext cx="3115350" cy="2332750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477520" y="1401462"/>
            <a:ext cx="82804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)=sin (2</a:t>
            </a:r>
            <a:r>
              <a:rPr lang="el-GR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·1·</a:t>
            </a:r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l-G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/3)+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sin (2</a:t>
            </a:r>
            <a:r>
              <a:rPr lang="el-GR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·1.75·</a:t>
            </a:r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l-G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/4), </a:t>
            </a:r>
            <a:r>
              <a:rPr lang="en-US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800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=1.75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=1/4,  </a:t>
            </a:r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8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=4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941160" y="4821282"/>
            <a:ext cx="12330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8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=2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970110" y="4847903"/>
            <a:ext cx="150233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8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=2.2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735483" y="4847903"/>
            <a:ext cx="150233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8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=1.8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295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smtClean="0"/>
              <a:t>Non-Ideal Interpolation – Zero-Order Hold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08101"/>
                <a:ext cx="7886700" cy="4562840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 smtClean="0"/>
                  <a:t> Ideal interpolation vs. Non-ideal interpolation</a:t>
                </a:r>
              </a:p>
              <a:p>
                <a:pPr lvl="1"/>
                <a:r>
                  <a:rPr lang="en-US" dirty="0" smtClean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dirty="0" smtClean="0"/>
                  <a:t> vs.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 smtClean="0"/>
              </a:p>
              <a:p>
                <a:pPr lvl="1"/>
                <a:endParaRPr lang="en-US" dirty="0"/>
              </a:p>
              <a:p>
                <a:pPr lvl="1"/>
                <a:endParaRPr lang="en-US" dirty="0" smtClean="0"/>
              </a:p>
              <a:p>
                <a:pPr lvl="1"/>
                <a:endParaRPr lang="en-US" dirty="0"/>
              </a:p>
              <a:p>
                <a:pPr marL="457200" lvl="1" indent="0">
                  <a:buNone/>
                </a:pPr>
                <a:endParaRPr lang="en-US" dirty="0" smtClean="0"/>
              </a:p>
              <a:p>
                <a:pPr marL="457200" lvl="1" indent="0">
                  <a:buNone/>
                </a:pPr>
                <a:endParaRPr lang="en-US" dirty="0"/>
              </a:p>
              <a:p>
                <a:r>
                  <a:rPr lang="en-US" dirty="0" smtClean="0"/>
                  <a:t> zero-order hold is a rough approximation of the ideal lowpass filter, but in some applications it is sufficient</a:t>
                </a:r>
              </a:p>
              <a:p>
                <a:pPr lvl="1"/>
                <a:r>
                  <a:rPr lang="en-US" dirty="0"/>
                  <a:t> </a:t>
                </a:r>
                <a:r>
                  <a:rPr lang="en-US" altLang="zh-CN" dirty="0" smtClean="0">
                    <a:solidFill>
                      <a:srgbClr val="FF0000"/>
                    </a:solidFill>
                  </a:rPr>
                  <a:t>Not continuous </a:t>
                </a:r>
                <a:r>
                  <a:rPr lang="en-US" altLang="zh-CN" dirty="0" smtClean="0"/>
                  <a:t>at the sampling points</a:t>
                </a:r>
                <a:endParaRPr lang="en-US" dirty="0" smtClean="0"/>
              </a:p>
              <a:p>
                <a:pPr lvl="1"/>
                <a:r>
                  <a:rPr lang="en-US" dirty="0"/>
                  <a:t> </a:t>
                </a:r>
                <a:r>
                  <a:rPr lang="en-US" dirty="0" smtClean="0"/>
                  <a:t>Example: current steering digital-to-analog converter (DAC) without reconstruction filter</a:t>
                </a:r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08101"/>
                <a:ext cx="7886700" cy="4562840"/>
              </a:xfrm>
              <a:blipFill>
                <a:blip r:embed="rId2"/>
                <a:stretch>
                  <a:fillRect l="-1159" t="-30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§7.2 </a:t>
            </a:r>
            <a:r>
              <a:rPr lang="en-US" dirty="0"/>
              <a:t>Reconstruction Using </a:t>
            </a:r>
            <a:r>
              <a:rPr lang="en-US" dirty="0" smtClean="0"/>
              <a:t>Interpolation</a:t>
            </a:r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1137" y="2186475"/>
            <a:ext cx="5881983" cy="1877606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097280" y="5538233"/>
            <a:ext cx="6380480" cy="40011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Q: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Why does a low-resolution look smoother at a distance?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937201" y="6038485"/>
            <a:ext cx="3809039" cy="40011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owpass effect of human eyes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2591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Non-Ideal Interpolation – </a:t>
            </a:r>
            <a:r>
              <a:rPr lang="en-US" sz="3200" dirty="0" smtClean="0"/>
              <a:t>First-Order </a:t>
            </a:r>
            <a:r>
              <a:rPr lang="en-US" sz="3200" dirty="0"/>
              <a:t>Hold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3535668"/>
                <a:ext cx="3983990" cy="2641295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 smtClean="0"/>
                  <a:t> </a:t>
                </a:r>
                <a:r>
                  <a:rPr lang="en-US" b="1" dirty="0" smtClean="0">
                    <a:solidFill>
                      <a:srgbClr val="C00000"/>
                    </a:solidFill>
                  </a:rPr>
                  <a:t>First-order hold </a:t>
                </a:r>
                <a:r>
                  <a:rPr lang="en-US" dirty="0" smtClean="0"/>
                  <a:t>sampling is actually </a:t>
                </a:r>
                <a:r>
                  <a:rPr lang="en-US" b="1" dirty="0" smtClean="0">
                    <a:solidFill>
                      <a:srgbClr val="C00000"/>
                    </a:solidFill>
                  </a:rPr>
                  <a:t>linear interpolation</a:t>
                </a:r>
              </a:p>
              <a:p>
                <a:pPr lvl="1"/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/2)</m:t>
                                    </m:r>
                                  </m:e>
                                </m:func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/2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i="1" dirty="0" err="1" smtClean="0"/>
                  <a:t>x</a:t>
                </a:r>
                <a:r>
                  <a:rPr lang="en-US" i="1" baseline="-25000" dirty="0" err="1" smtClean="0"/>
                  <a:t>r</a:t>
                </a:r>
                <a:r>
                  <a:rPr lang="en-US" dirty="0" smtClean="0"/>
                  <a:t>(</a:t>
                </a:r>
                <a:r>
                  <a:rPr lang="en-US" i="1" dirty="0" smtClean="0"/>
                  <a:t>t</a:t>
                </a:r>
                <a:r>
                  <a:rPr lang="en-US" dirty="0" smtClean="0"/>
                  <a:t>) is continuous at the sampling points</a:t>
                </a:r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3535668"/>
                <a:ext cx="3983990" cy="2641295"/>
              </a:xfrm>
              <a:blipFill>
                <a:blip r:embed="rId2"/>
                <a:stretch>
                  <a:fillRect l="-2599" t="-5774" b="-1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§7.2 </a:t>
            </a:r>
            <a:r>
              <a:rPr lang="en-US" dirty="0"/>
              <a:t>Reconstruction Using </a:t>
            </a:r>
            <a:r>
              <a:rPr lang="en-US" dirty="0" smtClean="0"/>
              <a:t>Interpolation</a:t>
            </a:r>
            <a:endParaRPr 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746" y="1493540"/>
            <a:ext cx="3912300" cy="21762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5435" y="1364333"/>
            <a:ext cx="3829500" cy="1136666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4735" y="3477221"/>
            <a:ext cx="3819150" cy="1074666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7282" y="5286655"/>
            <a:ext cx="4222800" cy="1157334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5085" y="2429227"/>
            <a:ext cx="3829500" cy="1116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/>
              <p:cNvSpPr/>
              <p:nvPr/>
            </p:nvSpPr>
            <p:spPr>
              <a:xfrm>
                <a:off x="5822542" y="4731275"/>
                <a:ext cx="2215286" cy="60567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2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𝑛𝑇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sz="1200" i="1" dirty="0"/>
                            <m:t>h</m:t>
                          </m:r>
                          <m:r>
                            <m:rPr>
                              <m:nor/>
                            </m:rPr>
                            <a:rPr lang="en-US" sz="1200" i="1" baseline="-25000" dirty="0"/>
                            <m:t>r</m:t>
                          </m:r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𝑛𝑇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2542" y="4731275"/>
                <a:ext cx="2215286" cy="60567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1778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Undersampling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08101"/>
            <a:ext cx="7886700" cy="1140460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Undersampling</a:t>
            </a:r>
            <a:r>
              <a:rPr lang="en-US" dirty="0" smtClean="0"/>
              <a:t>: sampling frequency lower than the </a:t>
            </a:r>
            <a:r>
              <a:rPr lang="en-US" dirty="0" err="1" smtClean="0"/>
              <a:t>Nyquist</a:t>
            </a:r>
            <a:r>
              <a:rPr lang="en-US" dirty="0" smtClean="0"/>
              <a:t> rate 2</a:t>
            </a:r>
            <a:r>
              <a:rPr lang="el-GR" i="1" dirty="0" smtClean="0"/>
              <a:t>ω</a:t>
            </a:r>
            <a:r>
              <a:rPr lang="en-US" i="1" baseline="-25000" dirty="0" smtClean="0"/>
              <a:t>M</a:t>
            </a:r>
            <a:r>
              <a:rPr lang="en-US" dirty="0" smtClean="0"/>
              <a:t>, or signal frequency higher than the </a:t>
            </a:r>
            <a:r>
              <a:rPr lang="en-US" dirty="0" err="1" smtClean="0"/>
              <a:t>Nyquist</a:t>
            </a:r>
            <a:r>
              <a:rPr lang="en-US" dirty="0" smtClean="0"/>
              <a:t> frequency </a:t>
            </a:r>
            <a:r>
              <a:rPr lang="el-GR" i="1" dirty="0" smtClean="0"/>
              <a:t>ω</a:t>
            </a:r>
            <a:r>
              <a:rPr lang="en-US" i="1" baseline="-25000" dirty="0" smtClean="0"/>
              <a:t>s</a:t>
            </a:r>
            <a:r>
              <a:rPr lang="en-US" dirty="0" smtClean="0"/>
              <a:t>/2. </a:t>
            </a:r>
          </a:p>
          <a:p>
            <a:r>
              <a:rPr lang="en-US" dirty="0"/>
              <a:t> </a:t>
            </a:r>
            <a:r>
              <a:rPr lang="en-US" dirty="0" smtClean="0"/>
              <a:t>Undersampling leads to aliasing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§7.3 Aliasing Effect of Undersampling</a:t>
            </a:r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0970" y="2172906"/>
            <a:ext cx="4024080" cy="137640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0970" y="3469641"/>
            <a:ext cx="4014765" cy="1376401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0970" y="4905940"/>
            <a:ext cx="4135860" cy="1497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476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Aliasing Effect on Sinusoidal </a:t>
            </a:r>
            <a:r>
              <a:rPr lang="en-US" dirty="0" smtClean="0"/>
              <a:t>Signals -- </a:t>
            </a:r>
            <a:r>
              <a:rPr lang="en-US" altLang="zh-CN" dirty="0" smtClean="0"/>
              <a:t>Frequency Domain</a:t>
            </a:r>
            <a:endParaRPr lang="en-US" dirty="0"/>
          </a:p>
        </p:txBody>
      </p:sp>
      <p:sp>
        <p:nvSpPr>
          <p:cNvPr id="8" name="内容占位符 7"/>
          <p:cNvSpPr>
            <a:spLocks noGrp="1"/>
          </p:cNvSpPr>
          <p:nvPr>
            <p:ph sz="half" idx="1"/>
          </p:nvPr>
        </p:nvSpPr>
        <p:spPr>
          <a:xfrm>
            <a:off x="628650" y="1336515"/>
            <a:ext cx="3886200" cy="604046"/>
          </a:xfrm>
        </p:spPr>
        <p:txBody>
          <a:bodyPr/>
          <a:lstStyle/>
          <a:p>
            <a:r>
              <a:rPr lang="en-US" dirty="0" smtClean="0"/>
              <a:t> without aliasing</a:t>
            </a:r>
            <a:endParaRPr 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half" idx="2"/>
          </p:nvPr>
        </p:nvSpPr>
        <p:spPr>
          <a:xfrm>
            <a:off x="4629150" y="1336514"/>
            <a:ext cx="3886200" cy="604047"/>
          </a:xfrm>
        </p:spPr>
        <p:txBody>
          <a:bodyPr/>
          <a:lstStyle/>
          <a:p>
            <a:r>
              <a:rPr lang="en-US" dirty="0" smtClean="0"/>
              <a:t> with aliasing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§7.3 </a:t>
            </a:r>
            <a:r>
              <a:rPr lang="en-US" dirty="0"/>
              <a:t>Aliasing Effect of </a:t>
            </a:r>
            <a:r>
              <a:rPr lang="en-US" dirty="0" smtClean="0"/>
              <a:t>Undersampling</a:t>
            </a:r>
            <a:endParaRPr lang="en-US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520" y="1930406"/>
            <a:ext cx="3576960" cy="13144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520" y="3291547"/>
            <a:ext cx="3593520" cy="12648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520" y="4770247"/>
            <a:ext cx="3709440" cy="1223467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1495" y="1930406"/>
            <a:ext cx="3576960" cy="13144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2865" y="3274657"/>
            <a:ext cx="3593520" cy="126480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62170" y="4803313"/>
            <a:ext cx="5191560" cy="1157333"/>
          </a:xfrm>
          <a:prstGeom prst="rect">
            <a:avLst/>
          </a:prstGeom>
        </p:spPr>
      </p:pic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7274987"/>
              </p:ext>
            </p:extLst>
          </p:nvPr>
        </p:nvGraphicFramePr>
        <p:xfrm>
          <a:off x="3472743" y="1731252"/>
          <a:ext cx="131436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030" name="公式" r:id="rId9" imgW="876240" imgH="228600" progId="Equation.3">
                  <p:embed/>
                </p:oleObj>
              </mc:Choice>
              <mc:Fallback>
                <p:oleObj name="公式" r:id="rId9" imgW="876240" imgH="228600" progId="Equation.3">
                  <p:embed/>
                  <p:pic>
                    <p:nvPicPr>
                      <p:cNvPr id="18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2743" y="1731252"/>
                        <a:ext cx="131436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9098436"/>
              </p:ext>
            </p:extLst>
          </p:nvPr>
        </p:nvGraphicFramePr>
        <p:xfrm>
          <a:off x="2732100" y="2012197"/>
          <a:ext cx="3105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031" name="公式" r:id="rId11" imgW="2070000" imgH="228600" progId="Equation.3">
                  <p:embed/>
                </p:oleObj>
              </mc:Choice>
              <mc:Fallback>
                <p:oleObj name="公式" r:id="rId11" imgW="2070000" imgH="228600" progId="Equation.3">
                  <p:embed/>
                  <p:pic>
                    <p:nvPicPr>
                      <p:cNvPr id="19" name="对象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2100" y="2012197"/>
                        <a:ext cx="31050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23486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9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Aliasing Effect on Sinusoidal Signals</a:t>
            </a:r>
            <a:br>
              <a:rPr lang="en-US" dirty="0" smtClean="0"/>
            </a:br>
            <a:r>
              <a:rPr lang="en-US" dirty="0" smtClean="0"/>
              <a:t>-- Time Domain</a:t>
            </a:r>
            <a:endParaRPr lang="en-US" dirty="0"/>
          </a:p>
        </p:txBody>
      </p:sp>
      <p:pic>
        <p:nvPicPr>
          <p:cNvPr id="7" name="内容占位符 6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0451" t="4434" r="8261" b="5667"/>
          <a:stretch/>
        </p:blipFill>
        <p:spPr>
          <a:xfrm>
            <a:off x="244994" y="1352138"/>
            <a:ext cx="7822046" cy="4264318"/>
          </a:xfrm>
          <a:prstGeom prst="rect">
            <a:avLst/>
          </a:prstGeom>
        </p:spPr>
      </p:pic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§7.3 </a:t>
            </a:r>
            <a:r>
              <a:rPr lang="en-US" dirty="0"/>
              <a:t>Aliasing Effect of </a:t>
            </a:r>
            <a:r>
              <a:rPr lang="en-US" dirty="0" smtClean="0"/>
              <a:t>Undersampling</a:t>
            </a:r>
            <a:endParaRPr lang="en-US" dirty="0"/>
          </a:p>
        </p:txBody>
      </p:sp>
      <p:sp>
        <p:nvSpPr>
          <p:cNvPr id="8" name="矩形 7"/>
          <p:cNvSpPr/>
          <p:nvPr/>
        </p:nvSpPr>
        <p:spPr>
          <a:xfrm>
            <a:off x="424104" y="5488302"/>
            <a:ext cx="558358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=6,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)=sin (2</a:t>
            </a:r>
            <a:r>
              <a:rPr lang="el-G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/3)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reconstruction/interpolation using ideal lowpass filter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148061" y="1473127"/>
            <a:ext cx="8162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</a:t>
            </a:r>
            <a:r>
              <a:rPr lang="en-US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/6</a:t>
            </a:r>
          </a:p>
          <a:p>
            <a:r>
              <a:rPr 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</a:t>
            </a:r>
            <a:r>
              <a:rPr lang="en-US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/6</a:t>
            </a:r>
            <a:endParaRPr lang="en-US" dirty="0"/>
          </a:p>
        </p:txBody>
      </p:sp>
      <p:sp>
        <p:nvSpPr>
          <p:cNvPr id="11" name="矩形 10"/>
          <p:cNvSpPr/>
          <p:nvPr/>
        </p:nvSpPr>
        <p:spPr>
          <a:xfrm>
            <a:off x="8090354" y="2601345"/>
            <a:ext cx="93166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/6</a:t>
            </a:r>
          </a:p>
          <a:p>
            <a:r>
              <a:rPr 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/6</a:t>
            </a:r>
            <a:endParaRPr lang="en-US" dirty="0"/>
          </a:p>
        </p:txBody>
      </p:sp>
      <p:sp>
        <p:nvSpPr>
          <p:cNvPr id="12" name="矩形 11"/>
          <p:cNvSpPr/>
          <p:nvPr/>
        </p:nvSpPr>
        <p:spPr>
          <a:xfrm>
            <a:off x="8090354" y="3628199"/>
            <a:ext cx="93166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i="1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i="1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/6</a:t>
            </a:r>
          </a:p>
          <a:p>
            <a:r>
              <a:rPr lang="en-US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i="1" baseline="-25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i="1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/6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067040" y="4691895"/>
            <a:ext cx="93166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i="1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i="1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/6</a:t>
            </a:r>
          </a:p>
          <a:p>
            <a:r>
              <a:rPr lang="en-US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i="1" baseline="-25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i="1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/6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200" y="1311121"/>
            <a:ext cx="1718154" cy="770566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6007684" y="5647233"/>
            <a:ext cx="2854959" cy="40011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Q1: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 about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0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5253762" y="6134633"/>
            <a:ext cx="2894299" cy="707886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Q2: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Only frequency folded? How about phase?</a:t>
            </a:r>
          </a:p>
        </p:txBody>
      </p:sp>
    </p:spTree>
    <p:extLst>
      <p:ext uri="{BB962C8B-B14F-4D97-AF65-F5344CB8AC3E}">
        <p14:creationId xmlns:p14="http://schemas.microsoft.com/office/powerpoint/2010/main" val="1851586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Aliasing Effect on </a:t>
            </a:r>
            <a:r>
              <a:rPr lang="en-US" sz="3200" dirty="0" smtClean="0"/>
              <a:t>Phase of Sinusoidal Signals</a:t>
            </a:r>
            <a:endParaRPr 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08101"/>
            <a:ext cx="7886700" cy="927100"/>
          </a:xfrm>
        </p:spPr>
        <p:txBody>
          <a:bodyPr/>
          <a:lstStyle/>
          <a:p>
            <a:r>
              <a:rPr lang="en-US" dirty="0" smtClean="0"/>
              <a:t> </a:t>
            </a:r>
            <a:r>
              <a:rPr lang="en-US" dirty="0"/>
              <a:t>A</a:t>
            </a:r>
            <a:r>
              <a:rPr lang="en-US" dirty="0" smtClean="0"/>
              <a:t>liasing </a:t>
            </a:r>
            <a:r>
              <a:rPr lang="en-US" dirty="0" smtClean="0">
                <a:sym typeface="Wingdings" panose="05000000000000000000" pitchFamily="2" charset="2"/>
              </a:rPr>
              <a:t> </a:t>
            </a:r>
            <a:r>
              <a:rPr lang="en-US" dirty="0" smtClean="0">
                <a:solidFill>
                  <a:srgbClr val="C00000"/>
                </a:solidFill>
                <a:sym typeface="Wingdings" panose="05000000000000000000" pitchFamily="2" charset="2"/>
              </a:rPr>
              <a:t>frequency folded </a:t>
            </a:r>
            <a:r>
              <a:rPr lang="en-US" dirty="0" smtClean="0">
                <a:sym typeface="Wingdings" panose="05000000000000000000" pitchFamily="2" charset="2"/>
              </a:rPr>
              <a:t>+ </a:t>
            </a:r>
            <a:r>
              <a:rPr lang="en-US" dirty="0" smtClean="0">
                <a:solidFill>
                  <a:srgbClr val="C00000"/>
                </a:solidFill>
                <a:sym typeface="Wingdings" panose="05000000000000000000" pitchFamily="2" charset="2"/>
              </a:rPr>
              <a:t>phase reversal</a:t>
            </a:r>
            <a:endParaRPr lang="en-US" dirty="0" smtClean="0">
              <a:solidFill>
                <a:srgbClr val="C00000"/>
              </a:solidFill>
            </a:endParaRPr>
          </a:p>
          <a:p>
            <a:pPr marL="457200" lvl="1" indent="0">
              <a:buNone/>
            </a:pPr>
            <a:r>
              <a:rPr lang="en-US" i="1" dirty="0" smtClean="0"/>
              <a:t>x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)=cos(</a:t>
            </a:r>
            <a:r>
              <a:rPr lang="el-GR" i="1" dirty="0" smtClean="0"/>
              <a:t>ω</a:t>
            </a:r>
            <a:r>
              <a:rPr lang="en-US" baseline="-25000" dirty="0" smtClean="0"/>
              <a:t>0</a:t>
            </a:r>
            <a:r>
              <a:rPr lang="en-US" i="1" dirty="0" smtClean="0"/>
              <a:t>t</a:t>
            </a:r>
            <a:r>
              <a:rPr lang="en-US" dirty="0" smtClean="0"/>
              <a:t>+</a:t>
            </a:r>
            <a:r>
              <a:rPr lang="el-GR" i="1" dirty="0" smtClean="0"/>
              <a:t>φ</a:t>
            </a:r>
            <a:r>
              <a:rPr lang="en-US" dirty="0" smtClean="0"/>
              <a:t>)  </a:t>
            </a:r>
            <a:r>
              <a:rPr lang="en-US" dirty="0" smtClean="0">
                <a:sym typeface="Wingdings" panose="05000000000000000000" pitchFamily="2" charset="2"/>
              </a:rPr>
              <a:t> </a:t>
            </a:r>
            <a:r>
              <a:rPr lang="en-US" i="1" dirty="0" err="1" smtClean="0"/>
              <a:t>x</a:t>
            </a:r>
            <a:r>
              <a:rPr lang="en-US" i="1" baseline="-25000" dirty="0" err="1" smtClean="0"/>
              <a:t>r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/>
              <a:t>)=cos</a:t>
            </a:r>
            <a:r>
              <a:rPr lang="en-US" dirty="0" smtClean="0"/>
              <a:t>((</a:t>
            </a:r>
            <a:r>
              <a:rPr lang="el-GR" i="1" dirty="0" smtClean="0"/>
              <a:t>ω</a:t>
            </a:r>
            <a:r>
              <a:rPr lang="en-US" baseline="-25000" dirty="0" smtClean="0"/>
              <a:t>s</a:t>
            </a:r>
            <a:r>
              <a:rPr lang="en-US" dirty="0" smtClean="0"/>
              <a:t>-</a:t>
            </a:r>
            <a:r>
              <a:rPr lang="el-GR" i="1" dirty="0"/>
              <a:t>ω</a:t>
            </a:r>
            <a:r>
              <a:rPr lang="en-US" baseline="-25000" dirty="0" smtClean="0"/>
              <a:t>0</a:t>
            </a:r>
            <a:r>
              <a:rPr lang="en-US" dirty="0" smtClean="0"/>
              <a:t>)</a:t>
            </a:r>
            <a:r>
              <a:rPr lang="en-US" i="1" dirty="0" smtClean="0"/>
              <a:t>t</a:t>
            </a:r>
            <a:r>
              <a:rPr lang="en-US" dirty="0"/>
              <a:t>-</a:t>
            </a:r>
            <a:r>
              <a:rPr lang="el-GR" i="1" dirty="0" smtClean="0"/>
              <a:t>φ</a:t>
            </a:r>
            <a:r>
              <a:rPr lang="en-US" dirty="0"/>
              <a:t>) 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§7.3 </a:t>
            </a:r>
            <a:r>
              <a:rPr lang="en-US" dirty="0"/>
              <a:t>Aliasing Effect of </a:t>
            </a:r>
            <a:r>
              <a:rPr lang="en-US" dirty="0" smtClean="0"/>
              <a:t>Undersampling</a:t>
            </a:r>
            <a:endParaRPr 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1789202" y="2509815"/>
            <a:ext cx="5322798" cy="707886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Q1: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 to explain the rotors of a helicopter rotate “reversely” or  stay still? </a:t>
            </a:r>
          </a:p>
        </p:txBody>
      </p:sp>
      <p:sp>
        <p:nvSpPr>
          <p:cNvPr id="8" name="矩形 7"/>
          <p:cNvSpPr/>
          <p:nvPr/>
        </p:nvSpPr>
        <p:spPr>
          <a:xfrm>
            <a:off x="1789202" y="3745965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i="1" u="sng" dirty="0"/>
              <a:t>https://www.bilibili.com/video/av4953251?from=search&amp;seid=13023715312627628363</a:t>
            </a:r>
          </a:p>
        </p:txBody>
      </p:sp>
    </p:spTree>
    <p:extLst>
      <p:ext uri="{BB962C8B-B14F-4D97-AF65-F5344CB8AC3E}">
        <p14:creationId xmlns:p14="http://schemas.microsoft.com/office/powerpoint/2010/main" val="2157723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Supplementary: Bandpass Sampling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§7.3 </a:t>
            </a:r>
            <a:r>
              <a:rPr lang="en-US" dirty="0"/>
              <a:t>Aliasing Effect of </a:t>
            </a:r>
            <a:r>
              <a:rPr lang="en-US" dirty="0" smtClean="0"/>
              <a:t>Undersampling</a:t>
            </a:r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9090" y="1157126"/>
            <a:ext cx="4024080" cy="14787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9090" y="2341884"/>
            <a:ext cx="4275585" cy="14229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526" y="3442953"/>
            <a:ext cx="6902415" cy="16182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525" y="4988410"/>
            <a:ext cx="6902415" cy="1301999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4425" y="5082879"/>
            <a:ext cx="1909575" cy="1218299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5529980" y="1329961"/>
            <a:ext cx="3614019" cy="1631216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Bandpass sampling theorem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band-limited signal which has energy in the frequency range of (</a:t>
            </a:r>
            <a:r>
              <a:rPr lang="el-GR" altLang="zh-CN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zh-CN" sz="20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l-GR" altLang="zh-CN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zh-CN" sz="20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can be uniquely reconstructed from its samples if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6004659" y="2959378"/>
                <a:ext cx="2664660" cy="901209"/>
              </a:xfrm>
              <a:prstGeom prst="rect">
                <a:avLst/>
              </a:prstGeom>
              <a:ln w="25400">
                <a:solidFill>
                  <a:srgbClr val="0000FF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</m:num>
                        <m:den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sz="1400" i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sz="1400" i="0"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num>
                        <m:den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400" i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en-US" sz="1400" i="0"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US" sz="1400" i="0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1400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400" i="0">
                          <a:latin typeface="Cambria Math" panose="02040503050406030204" pitchFamily="18" charset="0"/>
                        </a:rPr>
                        <m:t>is</m:t>
                      </m:r>
                      <m:r>
                        <a:rPr lang="en-US" sz="1400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400" i="0">
                          <a:latin typeface="Cambria Math" panose="02040503050406030204" pitchFamily="18" charset="0"/>
                        </a:rPr>
                        <m:t>an</m:t>
                      </m:r>
                      <m:r>
                        <a:rPr lang="en-US" sz="1400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400" i="0">
                          <a:latin typeface="Cambria Math" panose="02040503050406030204" pitchFamily="18" charset="0"/>
                        </a:rPr>
                        <m:t>integer</m:t>
                      </m:r>
                      <m:r>
                        <a:rPr lang="en-US" sz="1400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400" i="0">
                          <a:latin typeface="Cambria Math" panose="02040503050406030204" pitchFamily="18" charset="0"/>
                        </a:rPr>
                        <m:t>and</m:t>
                      </m:r>
                      <m:r>
                        <a:rPr lang="en-US" sz="1400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1400" i="0"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  <m:r>
                            <a:rPr lang="en-US" sz="1400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4659" y="2959378"/>
                <a:ext cx="2664660" cy="90120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5400">
                <a:solidFill>
                  <a:srgbClr val="0000F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6603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Two conditions of sampling theorem</a:t>
            </a:r>
          </a:p>
          <a:p>
            <a:pPr lvl="1"/>
            <a:r>
              <a:rPr lang="en-US" dirty="0"/>
              <a:t> </a:t>
            </a:r>
            <a:r>
              <a:rPr lang="en-US" dirty="0" smtClean="0">
                <a:solidFill>
                  <a:srgbClr val="FF0000"/>
                </a:solidFill>
              </a:rPr>
              <a:t>band-limited !!!</a:t>
            </a:r>
          </a:p>
          <a:p>
            <a:pPr lvl="1"/>
            <a:r>
              <a:rPr lang="en-US" dirty="0" smtClean="0"/>
              <a:t> sampling frequency sufficiently high</a:t>
            </a:r>
          </a:p>
          <a:p>
            <a:r>
              <a:rPr lang="en-US" dirty="0"/>
              <a:t> </a:t>
            </a:r>
            <a:r>
              <a:rPr lang="en-US" dirty="0" smtClean="0"/>
              <a:t>Reconstruction</a:t>
            </a:r>
          </a:p>
          <a:p>
            <a:pPr lvl="1"/>
            <a:r>
              <a:rPr lang="en-US" dirty="0"/>
              <a:t> </a:t>
            </a:r>
            <a:r>
              <a:rPr lang="en-US" dirty="0" smtClean="0"/>
              <a:t>Using ideal lowpass filter</a:t>
            </a:r>
          </a:p>
          <a:p>
            <a:pPr lvl="1"/>
            <a:r>
              <a:rPr lang="en-US" dirty="0"/>
              <a:t> </a:t>
            </a:r>
            <a:r>
              <a:rPr lang="en-US" dirty="0" smtClean="0"/>
              <a:t>zero-order and first-order hold </a:t>
            </a:r>
          </a:p>
          <a:p>
            <a:r>
              <a:rPr lang="en-US" dirty="0"/>
              <a:t> </a:t>
            </a:r>
            <a:r>
              <a:rPr lang="en-US" dirty="0" smtClean="0"/>
              <a:t>Aliasing: how does it happen?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449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9373</TotalTime>
  <Words>2071</Words>
  <Application>Microsoft Office PowerPoint</Application>
  <PresentationFormat>全屏显示(4:3)</PresentationFormat>
  <Paragraphs>237</Paragraphs>
  <Slides>27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7" baseType="lpstr">
      <vt:lpstr>等线</vt:lpstr>
      <vt:lpstr>宋体</vt:lpstr>
      <vt:lpstr>Microsoft YaHei</vt:lpstr>
      <vt:lpstr>Microsoft YaHei</vt:lpstr>
      <vt:lpstr>Arial</vt:lpstr>
      <vt:lpstr>Cambria Math</vt:lpstr>
      <vt:lpstr>Times New Roman</vt:lpstr>
      <vt:lpstr>Wingdings</vt:lpstr>
      <vt:lpstr>Office 主题​​</vt:lpstr>
      <vt:lpstr>公式</vt:lpstr>
      <vt:lpstr>PowerPoint 演示文稿</vt:lpstr>
      <vt:lpstr>Chapter 7 Sampling</vt:lpstr>
      <vt:lpstr>Outline</vt:lpstr>
      <vt:lpstr>Why Sampling?</vt:lpstr>
      <vt:lpstr>What if Sampling Theorem NOT Satisfied</vt:lpstr>
      <vt:lpstr>Necessary Conditions for Signal Reconstruction</vt:lpstr>
      <vt:lpstr>Impulse-Train Sampling</vt:lpstr>
      <vt:lpstr>Signals in Impulse-Train Sampling</vt:lpstr>
      <vt:lpstr>Sampling Effect in Frequency Domain (1)</vt:lpstr>
      <vt:lpstr>Sampling Effect in Frequency Domain (2)</vt:lpstr>
      <vt:lpstr>Sampling Theorem</vt:lpstr>
      <vt:lpstr>Reconstruction Using Ideal Lowpass Filter</vt:lpstr>
      <vt:lpstr>Sampling with a Zero-Order Hold</vt:lpstr>
      <vt:lpstr>Equivalent Model of Sampling with Zero-Order Hold</vt:lpstr>
      <vt:lpstr>How to Reconstruct from Zero-Order Hold?</vt:lpstr>
      <vt:lpstr>Interpolation</vt:lpstr>
      <vt:lpstr>Reconstruction = Interpolation</vt:lpstr>
      <vt:lpstr>Band-Limited Interpolation</vt:lpstr>
      <vt:lpstr>Does ω_C have to be ω_s/2 ?</vt:lpstr>
      <vt:lpstr>Non-Ideal Interpolation – Zero-Order Hold</vt:lpstr>
      <vt:lpstr>Non-Ideal Interpolation – First-Order Hold</vt:lpstr>
      <vt:lpstr>Undersampling</vt:lpstr>
      <vt:lpstr>Aliasing Effect on Sinusoidal Signals -- Frequency Domain</vt:lpstr>
      <vt:lpstr>Aliasing Effect on Sinusoidal Signals -- Time Domain</vt:lpstr>
      <vt:lpstr>Aliasing Effect on Phase of Sinusoidal Signals</vt:lpstr>
      <vt:lpstr>Supplementary: Bandpass Sampling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Hanjun Jiang</dc:creator>
  <cp:lastModifiedBy>Hanjun Jiang</cp:lastModifiedBy>
  <cp:revision>589</cp:revision>
  <dcterms:created xsi:type="dcterms:W3CDTF">2018-09-11T08:26:55Z</dcterms:created>
  <dcterms:modified xsi:type="dcterms:W3CDTF">2020-10-27T14:49:40Z</dcterms:modified>
</cp:coreProperties>
</file>