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88" r:id="rId2"/>
    <p:sldId id="256" r:id="rId3"/>
    <p:sldId id="257" r:id="rId4"/>
    <p:sldId id="260" r:id="rId5"/>
    <p:sldId id="287" r:id="rId6"/>
    <p:sldId id="262" r:id="rId7"/>
    <p:sldId id="261" r:id="rId8"/>
    <p:sldId id="263" r:id="rId9"/>
    <p:sldId id="264" r:id="rId10"/>
    <p:sldId id="265" r:id="rId11"/>
    <p:sldId id="266" r:id="rId12"/>
    <p:sldId id="282" r:id="rId13"/>
    <p:sldId id="283" r:id="rId14"/>
    <p:sldId id="284" r:id="rId15"/>
    <p:sldId id="285" r:id="rId16"/>
    <p:sldId id="267" r:id="rId17"/>
    <p:sldId id="268" r:id="rId18"/>
    <p:sldId id="269" r:id="rId19"/>
    <p:sldId id="270" r:id="rId20"/>
    <p:sldId id="271" r:id="rId21"/>
    <p:sldId id="272" r:id="rId22"/>
    <p:sldId id="278" r:id="rId23"/>
    <p:sldId id="279" r:id="rId24"/>
    <p:sldId id="280" r:id="rId25"/>
    <p:sldId id="281" r:id="rId26"/>
    <p:sldId id="273" r:id="rId27"/>
    <p:sldId id="274" r:id="rId28"/>
    <p:sldId id="275" r:id="rId29"/>
    <p:sldId id="276" r:id="rId30"/>
    <p:sldId id="277" r:id="rId31"/>
    <p:sldId id="286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18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信号与系统</a:t>
            </a:r>
            <a:r>
              <a:rPr lang="en-US" altLang="zh-CN" smtClean="0"/>
              <a:t>·2019</a:t>
            </a:r>
            <a:r>
              <a:rPr lang="zh-CN" altLang="en-US" smtClean="0"/>
              <a:t>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043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oleObject" Target="../embeddings/oleObject24.bin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11" Type="http://schemas.openxmlformats.org/officeDocument/2006/relationships/image" Target="../media/image31.wmf"/><Relationship Id="rId5" Type="http://schemas.openxmlformats.org/officeDocument/2006/relationships/oleObject" Target="../embeddings/oleObject25.bin"/><Relationship Id="rId10" Type="http://schemas.openxmlformats.org/officeDocument/2006/relationships/oleObject" Target="../embeddings/oleObject27.bin"/><Relationship Id="rId4" Type="http://schemas.openxmlformats.org/officeDocument/2006/relationships/image" Target="../media/image28.wmf"/><Relationship Id="rId9" Type="http://schemas.openxmlformats.org/officeDocument/2006/relationships/image" Target="../media/image3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9.wmf"/><Relationship Id="rId9" Type="http://schemas.openxmlformats.org/officeDocument/2006/relationships/image" Target="../media/image42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oleObject" Target="../embeddings/oleObject35.bin"/><Relationship Id="rId7" Type="http://schemas.openxmlformats.org/officeDocument/2006/relationships/image" Target="../media/image4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6.wmf"/><Relationship Id="rId9" Type="http://schemas.openxmlformats.org/officeDocument/2006/relationships/image" Target="../media/image4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46.bin"/><Relationship Id="rId3" Type="http://schemas.openxmlformats.org/officeDocument/2006/relationships/image" Target="../media/image58.emf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55.wmf"/><Relationship Id="rId4" Type="http://schemas.openxmlformats.org/officeDocument/2006/relationships/image" Target="../media/image59.e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0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6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70.wmf"/><Relationship Id="rId4" Type="http://schemas.openxmlformats.org/officeDocument/2006/relationships/oleObject" Target="../embeddings/oleObject54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7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74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2286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Chapter 1</a:t>
            </a:r>
            <a:br>
              <a:rPr lang="en-US" altLang="zh-CN" dirty="0" smtClean="0"/>
            </a:br>
            <a:r>
              <a:rPr lang="en-US" altLang="zh-CN" dirty="0" smtClean="0"/>
              <a:t>Signals and Systems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</a:t>
            </a:r>
            <a:r>
              <a:rPr lang="en-US" altLang="zh-CN" dirty="0" smtClean="0"/>
              <a:t>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Continuous-Time and Discrete-Time Signals</a:t>
            </a:r>
          </a:p>
          <a:p>
            <a:r>
              <a:rPr lang="en-US" altLang="zh-CN" dirty="0" smtClean="0"/>
              <a:t>Transformation of the Independent Variables</a:t>
            </a:r>
          </a:p>
          <a:p>
            <a:r>
              <a:rPr lang="en-US" altLang="zh-CN" dirty="0" smtClean="0"/>
              <a:t>Exponential and Sinusoidal Signals</a:t>
            </a:r>
          </a:p>
          <a:p>
            <a:r>
              <a:rPr lang="en-US" altLang="zh-CN" dirty="0" smtClean="0"/>
              <a:t>Unit Impulse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 Unit Step Functions</a:t>
            </a:r>
          </a:p>
          <a:p>
            <a:r>
              <a:rPr lang="en-US" altLang="zh-CN" dirty="0" smtClean="0"/>
              <a:t>Continuous-Time and Discrete-Time Systems</a:t>
            </a:r>
          </a:p>
          <a:p>
            <a:r>
              <a:rPr lang="en-US" altLang="zh-CN" dirty="0" smtClean="0"/>
              <a:t>Basic System Properties</a:t>
            </a:r>
          </a:p>
          <a:p>
            <a:endParaRPr lang="en-US" altLang="zh-CN" dirty="0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59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dirty="0" smtClean="0"/>
              <a:t>§1.1 Continuous-Time &amp; Discrete-Time Signals</a:t>
            </a:r>
            <a:endParaRPr lang="zh-CN" altLang="en-US" sz="3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Mathematical representation of signals: function of one or more independent variables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Number of independent variables</a:t>
            </a:r>
          </a:p>
          <a:p>
            <a:pPr lvl="2"/>
            <a:r>
              <a:rPr lang="en-US" altLang="zh-CN" dirty="0" smtClean="0"/>
              <a:t>We focus on the single independent variables case </a:t>
            </a:r>
          </a:p>
          <a:p>
            <a:pPr lvl="1"/>
            <a:r>
              <a:rPr lang="en-US" altLang="zh-CN" dirty="0" smtClean="0"/>
              <a:t> Generally refer to the independent variable as time, but actually may not be time</a:t>
            </a:r>
          </a:p>
          <a:p>
            <a:r>
              <a:rPr lang="en-US" altLang="zh-CN" dirty="0" smtClean="0"/>
              <a:t> Signal classification</a:t>
            </a:r>
          </a:p>
          <a:p>
            <a:pPr lvl="1"/>
            <a:r>
              <a:rPr lang="en-US" altLang="zh-CN" dirty="0" smtClean="0"/>
              <a:t>Deterministic signal vs. random signal</a:t>
            </a:r>
          </a:p>
          <a:p>
            <a:pPr lvl="1"/>
            <a:r>
              <a:rPr lang="en-US" altLang="zh-CN" dirty="0" smtClean="0"/>
              <a:t>Continuous-time vs. discrete-time signal</a:t>
            </a:r>
          </a:p>
          <a:p>
            <a:r>
              <a:rPr lang="en-US" altLang="zh-CN" b="1" dirty="0" smtClean="0">
                <a:solidFill>
                  <a:srgbClr val="C00000"/>
                </a:solidFill>
              </a:rPr>
              <a:t>Continuous-time</a:t>
            </a:r>
            <a:r>
              <a:rPr lang="en-US" altLang="zh-CN" dirty="0" smtClean="0"/>
              <a:t> signal: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</a:t>
            </a:r>
          </a:p>
          <a:p>
            <a:r>
              <a:rPr lang="en-US" altLang="zh-CN" b="1" dirty="0" smtClean="0">
                <a:solidFill>
                  <a:srgbClr val="C00000"/>
                </a:solidFill>
              </a:rPr>
              <a:t>Discrete-time signal</a:t>
            </a:r>
            <a:r>
              <a:rPr lang="en-US" altLang="zh-CN" dirty="0" smtClean="0"/>
              <a:t>: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 (</a:t>
            </a:r>
            <a:r>
              <a:rPr lang="en-US" altLang="zh-CN" b="1" dirty="0" smtClean="0">
                <a:solidFill>
                  <a:srgbClr val="C00000"/>
                </a:solidFill>
              </a:rPr>
              <a:t>Sequence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§1.1 Continuous-Time &amp; Discrete-Time Signals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374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Discrete-Time Signals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Originally discrete-time signals</a:t>
            </a:r>
          </a:p>
          <a:p>
            <a:pPr lvl="1"/>
            <a:r>
              <a:rPr lang="en-US" altLang="zh-CN" dirty="0" smtClean="0"/>
              <a:t>Stock market index</a:t>
            </a:r>
          </a:p>
          <a:p>
            <a:pPr lvl="1"/>
            <a:r>
              <a:rPr lang="en-US" altLang="zh-CN" dirty="0" smtClean="0"/>
              <a:t>Monthly bank account balance 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/>
              <a:t> Discretization </a:t>
            </a:r>
            <a:r>
              <a:rPr lang="en-US" altLang="zh-CN" dirty="0" smtClean="0"/>
              <a:t>of continuous-time signals</a:t>
            </a:r>
          </a:p>
          <a:p>
            <a:pPr lvl="1"/>
            <a:r>
              <a:rPr lang="en-US" altLang="zh-CN" dirty="0" smtClean="0"/>
              <a:t>Speech signals</a:t>
            </a:r>
          </a:p>
          <a:p>
            <a:pPr lvl="1"/>
            <a:r>
              <a:rPr lang="en-US" altLang="zh-CN" dirty="0" smtClean="0"/>
              <a:t>Image signals</a:t>
            </a:r>
          </a:p>
          <a:p>
            <a:pPr marL="457200" lvl="1" indent="0">
              <a:buNone/>
            </a:pPr>
            <a:r>
              <a:rPr lang="en-US" altLang="zh-CN" dirty="0" smtClean="0"/>
              <a:t>…..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§1.1 Continuous-Time &amp; Discrete-Time Signals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124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Signal Energy and Power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Recall</a:t>
            </a:r>
            <a:r>
              <a:rPr lang="en-US" altLang="zh-CN" dirty="0" smtClean="0">
                <a:solidFill>
                  <a:srgbClr val="C00000"/>
                </a:solidFill>
              </a:rPr>
              <a:t>:</a:t>
            </a:r>
            <a:r>
              <a:rPr lang="en-US" altLang="zh-CN" dirty="0" smtClean="0"/>
              <a:t> energy &amp; power definition for a resistor R</a:t>
            </a:r>
          </a:p>
          <a:p>
            <a:pPr lvl="1"/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Instantaneous power</a:t>
            </a:r>
            <a:endParaRPr lang="en-US" altLang="zh-CN" baseline="-25000" dirty="0" smtClean="0"/>
          </a:p>
          <a:p>
            <a:pPr marL="457200" lvl="1" indent="0">
              <a:buNone/>
            </a:pPr>
            <a:endParaRPr lang="en-US" altLang="zh-CN" baseline="-25000" dirty="0" smtClean="0"/>
          </a:p>
          <a:p>
            <a:pPr marL="457200" lvl="1" indent="0">
              <a:buNone/>
            </a:pPr>
            <a:endParaRPr lang="en-US" altLang="zh-CN" baseline="-25000" dirty="0"/>
          </a:p>
          <a:p>
            <a:pPr lvl="1"/>
            <a:r>
              <a:rPr lang="en-US" altLang="zh-CN" dirty="0" smtClean="0"/>
              <a:t> </a:t>
            </a:r>
            <a:r>
              <a:rPr lang="en-US" altLang="zh-CN" dirty="0">
                <a:solidFill>
                  <a:srgbClr val="C00000"/>
                </a:solidFill>
              </a:rPr>
              <a:t>E</a:t>
            </a:r>
            <a:r>
              <a:rPr lang="en-US" altLang="zh-CN" dirty="0" smtClean="0">
                <a:solidFill>
                  <a:srgbClr val="C00000"/>
                </a:solidFill>
              </a:rPr>
              <a:t>nergy</a:t>
            </a:r>
            <a:r>
              <a:rPr lang="en-US" altLang="zh-CN" dirty="0" smtClean="0"/>
              <a:t> over the time interval 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 </a:t>
            </a:r>
            <a:r>
              <a:rPr lang="en-US" altLang="zh-CN" dirty="0"/>
              <a:t>&lt; </a:t>
            </a:r>
            <a:r>
              <a:rPr lang="en-US" altLang="zh-CN" i="1" dirty="0"/>
              <a:t>t</a:t>
            </a:r>
            <a:r>
              <a:rPr lang="en-US" altLang="zh-CN" dirty="0"/>
              <a:t> &lt;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2</a:t>
            </a:r>
            <a:endParaRPr lang="en-US" altLang="zh-CN" i="1" dirty="0" smtClean="0"/>
          </a:p>
          <a:p>
            <a:pPr lvl="1"/>
            <a:endParaRPr lang="en-US" altLang="zh-CN" i="1" dirty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Average power </a:t>
            </a:r>
            <a:r>
              <a:rPr lang="en-US" altLang="zh-CN" dirty="0"/>
              <a:t>for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 </a:t>
            </a:r>
            <a:r>
              <a:rPr lang="en-US" altLang="zh-CN" dirty="0"/>
              <a:t>&lt; </a:t>
            </a:r>
            <a:r>
              <a:rPr lang="en-US" altLang="zh-CN" i="1" dirty="0"/>
              <a:t>t</a:t>
            </a:r>
            <a:r>
              <a:rPr lang="en-US" altLang="zh-CN" dirty="0"/>
              <a:t> &lt;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2</a:t>
            </a:r>
            <a:endParaRPr lang="en-US" altLang="zh-CN" i="1" dirty="0"/>
          </a:p>
          <a:p>
            <a:pPr marL="457200" lvl="1" indent="0">
              <a:buNone/>
            </a:pPr>
            <a:endParaRPr lang="en-US" altLang="zh-CN" i="1" dirty="0"/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u="sng" dirty="0" smtClean="0"/>
              <a:t>All with the corresponding dimensions</a:t>
            </a:r>
            <a:endParaRPr lang="en-US" altLang="zh-CN" u="sng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§1.1 Continuous-Time &amp; Discrete-Time Signals</a:t>
            </a:r>
            <a:endParaRPr lang="zh-CN" alt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195225" y="133651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904494" y="2163355"/>
            <a:ext cx="562302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978445"/>
              </p:ext>
            </p:extLst>
          </p:nvPr>
        </p:nvGraphicFramePr>
        <p:xfrm>
          <a:off x="2904494" y="2149499"/>
          <a:ext cx="1599505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7" name="公式" r:id="rId3" imgW="888614" imgH="393529" progId="Equation.3">
                  <p:embed/>
                </p:oleObj>
              </mc:Choice>
              <mc:Fallback>
                <p:oleObj name="公式" r:id="rId3" imgW="888614" imgH="393529" progId="Equation.3">
                  <p:embed/>
                  <p:pic>
                    <p:nvPicPr>
                      <p:cNvPr id="0" name="Object 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4494" y="2149499"/>
                        <a:ext cx="1599505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675533"/>
              </p:ext>
            </p:extLst>
          </p:nvPr>
        </p:nvGraphicFramePr>
        <p:xfrm>
          <a:off x="2348923" y="3121618"/>
          <a:ext cx="2651616" cy="708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8" name="公式" r:id="rId5" imgW="1473120" imgH="393480" progId="Equation.3">
                  <p:embed/>
                </p:oleObj>
              </mc:Choice>
              <mc:Fallback>
                <p:oleObj name="公式" r:id="rId5" imgW="147312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8923" y="3121618"/>
                        <a:ext cx="2651616" cy="7082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585116"/>
              </p:ext>
            </p:extLst>
          </p:nvPr>
        </p:nvGraphicFramePr>
        <p:xfrm>
          <a:off x="2137410" y="4371814"/>
          <a:ext cx="39776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9" name="公式" r:id="rId7" imgW="2209800" imgH="431800" progId="Equation.3">
                  <p:embed/>
                </p:oleObj>
              </mc:Choice>
              <mc:Fallback>
                <p:oleObj name="公式" r:id="rId7" imgW="22098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410" y="4371814"/>
                        <a:ext cx="39776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699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Signal Energy and Power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Continuous-time signal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Signal </a:t>
            </a:r>
            <a:r>
              <a:rPr lang="en-US" altLang="zh-CN" b="1" dirty="0" smtClean="0">
                <a:solidFill>
                  <a:srgbClr val="C00000"/>
                </a:solidFill>
              </a:rPr>
              <a:t>energy</a:t>
            </a:r>
            <a:r>
              <a:rPr lang="en-US" altLang="zh-CN" dirty="0" smtClean="0"/>
              <a:t> for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 </a:t>
            </a:r>
            <a:r>
              <a:rPr lang="en-US" altLang="zh-CN" dirty="0"/>
              <a:t>&lt; </a:t>
            </a:r>
            <a:r>
              <a:rPr lang="en-US" altLang="zh-CN" i="1" dirty="0"/>
              <a:t>t</a:t>
            </a:r>
            <a:r>
              <a:rPr lang="en-US" altLang="zh-CN" dirty="0"/>
              <a:t> &lt;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2</a:t>
            </a:r>
          </a:p>
          <a:p>
            <a:pPr lvl="1"/>
            <a:endParaRPr lang="en-US" altLang="zh-CN" baseline="-25000" dirty="0"/>
          </a:p>
          <a:p>
            <a:pPr marL="457200" lvl="1" indent="0">
              <a:buNone/>
            </a:pPr>
            <a:endParaRPr lang="en-US" altLang="zh-CN" baseline="-25000" dirty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Signal </a:t>
            </a:r>
            <a:r>
              <a:rPr lang="en-US" altLang="zh-CN" b="1" dirty="0">
                <a:solidFill>
                  <a:srgbClr val="C00000"/>
                </a:solidFill>
              </a:rPr>
              <a:t>average </a:t>
            </a:r>
            <a:r>
              <a:rPr lang="en-US" altLang="zh-CN" b="1" dirty="0" smtClean="0">
                <a:solidFill>
                  <a:srgbClr val="C00000"/>
                </a:solidFill>
              </a:rPr>
              <a:t>power</a:t>
            </a:r>
            <a:r>
              <a:rPr lang="en-US" altLang="zh-CN" dirty="0" smtClean="0"/>
              <a:t> for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 </a:t>
            </a:r>
            <a:r>
              <a:rPr lang="en-US" altLang="zh-CN" dirty="0"/>
              <a:t>&lt; </a:t>
            </a:r>
            <a:r>
              <a:rPr lang="en-US" altLang="zh-CN" i="1" dirty="0"/>
              <a:t>t</a:t>
            </a:r>
            <a:r>
              <a:rPr lang="en-US" altLang="zh-CN" dirty="0"/>
              <a:t> &lt;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2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altLang="zh-CN" dirty="0"/>
          </a:p>
          <a:p>
            <a:pPr lvl="1"/>
            <a:r>
              <a:rPr lang="en-US" altLang="zh-CN" dirty="0" smtClean="0"/>
              <a:t>Signal </a:t>
            </a:r>
            <a:r>
              <a:rPr lang="en-US" altLang="zh-CN" b="1" dirty="0" smtClean="0">
                <a:solidFill>
                  <a:srgbClr val="C00000"/>
                </a:solidFill>
              </a:rPr>
              <a:t>energy</a:t>
            </a:r>
            <a:r>
              <a:rPr lang="en-US" altLang="zh-CN" dirty="0" smtClean="0"/>
              <a:t> for −</a:t>
            </a:r>
            <a:r>
              <a:rPr lang="en-US" altLang="zh-CN" i="1" dirty="0" smtClean="0"/>
              <a:t>∞</a:t>
            </a:r>
            <a:r>
              <a:rPr lang="en-US" altLang="zh-CN" dirty="0" smtClean="0"/>
              <a:t> &lt;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 &lt; +</a:t>
            </a:r>
            <a:r>
              <a:rPr lang="en-US" altLang="zh-CN" i="1" dirty="0" smtClean="0"/>
              <a:t>∞</a:t>
            </a:r>
          </a:p>
          <a:p>
            <a:pPr lvl="1"/>
            <a:endParaRPr lang="en-US" altLang="zh-CN" i="1" dirty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Signal </a:t>
            </a:r>
            <a:r>
              <a:rPr lang="en-US" altLang="zh-CN" b="1" dirty="0" smtClean="0">
                <a:solidFill>
                  <a:srgbClr val="C00000"/>
                </a:solidFill>
              </a:rPr>
              <a:t>average power</a:t>
            </a:r>
            <a:r>
              <a:rPr lang="en-US" altLang="zh-CN" dirty="0" smtClean="0"/>
              <a:t> </a:t>
            </a:r>
            <a:r>
              <a:rPr lang="en-US" altLang="zh-CN" dirty="0"/>
              <a:t>for −</a:t>
            </a:r>
            <a:r>
              <a:rPr lang="en-US" altLang="zh-CN" i="1" dirty="0"/>
              <a:t>∞</a:t>
            </a:r>
            <a:r>
              <a:rPr lang="en-US" altLang="zh-CN" dirty="0"/>
              <a:t> &lt; </a:t>
            </a:r>
            <a:r>
              <a:rPr lang="en-US" altLang="zh-CN" i="1" dirty="0"/>
              <a:t>t</a:t>
            </a:r>
            <a:r>
              <a:rPr lang="en-US" altLang="zh-CN" dirty="0"/>
              <a:t> &lt; +</a:t>
            </a:r>
            <a:r>
              <a:rPr lang="en-US" altLang="zh-CN" i="1" dirty="0" smtClean="0"/>
              <a:t>∞</a:t>
            </a:r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§1.1 Continuous-Time &amp; Discrete-Time Signals</a:t>
            </a:r>
            <a:endParaRPr lang="zh-CN" alt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195225" y="133651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996193"/>
              </p:ext>
            </p:extLst>
          </p:nvPr>
        </p:nvGraphicFramePr>
        <p:xfrm>
          <a:off x="2769786" y="2145776"/>
          <a:ext cx="1211054" cy="639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" name="公式" r:id="rId3" imgW="672808" imgH="355446" progId="Equation.3">
                  <p:embed/>
                </p:oleObj>
              </mc:Choice>
              <mc:Fallback>
                <p:oleObj name="公式" r:id="rId3" imgW="672808" imgH="35544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9786" y="2145776"/>
                        <a:ext cx="1211054" cy="6398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61102"/>
              </p:ext>
            </p:extLst>
          </p:nvPr>
        </p:nvGraphicFramePr>
        <p:xfrm>
          <a:off x="1773991" y="4277550"/>
          <a:ext cx="3748680" cy="616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" name="公式" r:id="rId5" imgW="2082600" imgH="342720" progId="Equation.3">
                  <p:embed/>
                </p:oleObj>
              </mc:Choice>
              <mc:Fallback>
                <p:oleObj name="公式" r:id="rId5" imgW="2082600" imgH="3427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991" y="4277550"/>
                        <a:ext cx="3748680" cy="6168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825003"/>
              </p:ext>
            </p:extLst>
          </p:nvPr>
        </p:nvGraphicFramePr>
        <p:xfrm>
          <a:off x="2334451" y="5372438"/>
          <a:ext cx="2627759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" name="公式" r:id="rId7" imgW="1459866" imgH="393529" progId="Equation.3">
                  <p:embed/>
                </p:oleObj>
              </mc:Choice>
              <mc:Fallback>
                <p:oleObj name="公式" r:id="rId7" imgW="1459866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451" y="5372438"/>
                        <a:ext cx="2627759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179887"/>
              </p:ext>
            </p:extLst>
          </p:nvPr>
        </p:nvGraphicFramePr>
        <p:xfrm>
          <a:off x="2635983" y="3069193"/>
          <a:ext cx="18973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" name="公式" r:id="rId9" imgW="1054100" imgH="431800" progId="Equation.3">
                  <p:embed/>
                </p:oleObj>
              </mc:Choice>
              <mc:Fallback>
                <p:oleObj name="公式" r:id="rId9" imgW="1054100" imgH="431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983" y="3069193"/>
                        <a:ext cx="189738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5943600" y="5536024"/>
            <a:ext cx="2410691" cy="52322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Q: Dimension?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39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Signal Energy and Power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en-US" altLang="zh-CN" dirty="0" smtClean="0"/>
              <a:t>Discrete-time signal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</a:t>
            </a:r>
          </a:p>
          <a:p>
            <a:pPr lvl="1"/>
            <a:r>
              <a:rPr lang="en-US" altLang="zh-CN" dirty="0" smtClean="0"/>
              <a:t>Signal </a:t>
            </a:r>
            <a:r>
              <a:rPr lang="en-US" altLang="zh-CN" b="1" dirty="0" smtClean="0">
                <a:solidFill>
                  <a:srgbClr val="C00000"/>
                </a:solidFill>
              </a:rPr>
              <a:t>energy</a:t>
            </a:r>
            <a:r>
              <a:rPr lang="en-US" altLang="zh-CN" dirty="0" smtClean="0"/>
              <a:t> for </a:t>
            </a:r>
            <a:r>
              <a:rPr lang="en-US" altLang="zh-CN" i="1" dirty="0" smtClean="0"/>
              <a:t>n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 </a:t>
            </a:r>
            <a:r>
              <a:rPr lang="en-US" altLang="zh-CN" dirty="0"/>
              <a:t>≤</a:t>
            </a:r>
            <a:r>
              <a:rPr lang="en-US" altLang="zh-CN" dirty="0" smtClean="0"/>
              <a:t>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 </a:t>
            </a:r>
            <a:r>
              <a:rPr lang="en-US" altLang="zh-CN" dirty="0"/>
              <a:t>≤</a:t>
            </a:r>
            <a:r>
              <a:rPr lang="en-US" altLang="zh-CN" dirty="0" smtClean="0"/>
              <a:t> </a:t>
            </a:r>
            <a:r>
              <a:rPr lang="en-US" altLang="zh-CN" i="1" dirty="0" smtClean="0"/>
              <a:t>n</a:t>
            </a:r>
            <a:r>
              <a:rPr lang="en-US" altLang="zh-CN" baseline="-25000" dirty="0" smtClean="0"/>
              <a:t>2</a:t>
            </a:r>
          </a:p>
          <a:p>
            <a:pPr lvl="1"/>
            <a:endParaRPr lang="en-US" altLang="zh-CN" baseline="-25000" dirty="0"/>
          </a:p>
          <a:p>
            <a:pPr marL="457200" lvl="1" indent="0">
              <a:buNone/>
            </a:pPr>
            <a:endParaRPr lang="en-US" altLang="zh-CN" baseline="-25000" dirty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Signal </a:t>
            </a:r>
            <a:r>
              <a:rPr lang="en-US" altLang="zh-CN" b="1" dirty="0">
                <a:solidFill>
                  <a:srgbClr val="C00000"/>
                </a:solidFill>
              </a:rPr>
              <a:t>average </a:t>
            </a:r>
            <a:r>
              <a:rPr lang="en-US" altLang="zh-CN" b="1" dirty="0" smtClean="0">
                <a:solidFill>
                  <a:srgbClr val="C00000"/>
                </a:solidFill>
              </a:rPr>
              <a:t>power</a:t>
            </a:r>
            <a:r>
              <a:rPr lang="en-US" altLang="zh-CN" dirty="0" smtClean="0"/>
              <a:t> for </a:t>
            </a:r>
            <a:r>
              <a:rPr lang="en-US" altLang="zh-CN" i="1" dirty="0" smtClean="0"/>
              <a:t>n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 </a:t>
            </a:r>
            <a:r>
              <a:rPr lang="en-US" altLang="zh-CN" dirty="0"/>
              <a:t>≤</a:t>
            </a:r>
            <a:r>
              <a:rPr lang="en-US" altLang="zh-CN" dirty="0" smtClean="0"/>
              <a:t>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 ≤ </a:t>
            </a:r>
            <a:r>
              <a:rPr lang="en-US" altLang="zh-CN" i="1" dirty="0" smtClean="0"/>
              <a:t>n</a:t>
            </a:r>
            <a:r>
              <a:rPr lang="en-US" altLang="zh-CN" baseline="-25000" dirty="0" smtClean="0"/>
              <a:t>2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altLang="zh-CN" dirty="0"/>
          </a:p>
          <a:p>
            <a:pPr lvl="1"/>
            <a:r>
              <a:rPr lang="en-US" altLang="zh-CN" dirty="0" smtClean="0"/>
              <a:t>Signal </a:t>
            </a:r>
            <a:r>
              <a:rPr lang="en-US" altLang="zh-CN" b="1" dirty="0" smtClean="0">
                <a:solidFill>
                  <a:srgbClr val="C00000"/>
                </a:solidFill>
              </a:rPr>
              <a:t>energy</a:t>
            </a:r>
            <a:r>
              <a:rPr lang="en-US" altLang="zh-CN" dirty="0" smtClean="0"/>
              <a:t> for −</a:t>
            </a:r>
            <a:r>
              <a:rPr lang="en-US" altLang="zh-CN" i="1" dirty="0" smtClean="0"/>
              <a:t>∞</a:t>
            </a:r>
            <a:r>
              <a:rPr lang="en-US" altLang="zh-CN" dirty="0" smtClean="0"/>
              <a:t> &lt;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 &lt; +</a:t>
            </a:r>
            <a:r>
              <a:rPr lang="en-US" altLang="zh-CN" i="1" dirty="0" smtClean="0"/>
              <a:t>∞</a:t>
            </a:r>
          </a:p>
          <a:p>
            <a:pPr lvl="1"/>
            <a:endParaRPr lang="en-US" altLang="zh-CN" i="1" dirty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Signal </a:t>
            </a:r>
            <a:r>
              <a:rPr lang="en-US" altLang="zh-CN" b="1" dirty="0">
                <a:solidFill>
                  <a:srgbClr val="C00000"/>
                </a:solidFill>
              </a:rPr>
              <a:t>average </a:t>
            </a:r>
            <a:r>
              <a:rPr lang="en-US" altLang="zh-CN" b="1" dirty="0" smtClean="0">
                <a:solidFill>
                  <a:srgbClr val="C00000"/>
                </a:solidFill>
              </a:rPr>
              <a:t>power</a:t>
            </a:r>
            <a:r>
              <a:rPr lang="en-US" altLang="zh-CN" dirty="0" smtClean="0"/>
              <a:t> </a:t>
            </a:r>
            <a:r>
              <a:rPr lang="en-US" altLang="zh-CN" dirty="0"/>
              <a:t>for −</a:t>
            </a:r>
            <a:r>
              <a:rPr lang="en-US" altLang="zh-CN" i="1" dirty="0"/>
              <a:t>∞</a:t>
            </a:r>
            <a:r>
              <a:rPr lang="en-US" altLang="zh-CN" dirty="0"/>
              <a:t> &lt;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 </a:t>
            </a:r>
            <a:r>
              <a:rPr lang="en-US" altLang="zh-CN" dirty="0"/>
              <a:t>&lt; +</a:t>
            </a:r>
            <a:r>
              <a:rPr lang="en-US" altLang="zh-CN" i="1" dirty="0" smtClean="0"/>
              <a:t>∞</a:t>
            </a:r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§1.1 Continuous-Time &amp; Discrete-Time Signals</a:t>
            </a:r>
            <a:endParaRPr lang="zh-CN" alt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195225" y="133651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917679"/>
              </p:ext>
            </p:extLst>
          </p:nvPr>
        </p:nvGraphicFramePr>
        <p:xfrm>
          <a:off x="1690582" y="4263083"/>
          <a:ext cx="34518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公式" r:id="rId3" imgW="1917700" imgH="431800" progId="Equation.3">
                  <p:embed/>
                </p:oleObj>
              </mc:Choice>
              <mc:Fallback>
                <p:oleObj name="公式" r:id="rId3" imgW="19177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582" y="4263083"/>
                        <a:ext cx="34518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130735"/>
              </p:ext>
            </p:extLst>
          </p:nvPr>
        </p:nvGraphicFramePr>
        <p:xfrm>
          <a:off x="1630143" y="5282004"/>
          <a:ext cx="29032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name="公式" r:id="rId5" imgW="1612900" imgH="431800" progId="Equation.3">
                  <p:embed/>
                </p:oleObj>
              </mc:Choice>
              <mc:Fallback>
                <p:oleObj name="公式" r:id="rId5" imgW="16129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143" y="5282004"/>
                        <a:ext cx="29032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931150"/>
              </p:ext>
            </p:extLst>
          </p:nvPr>
        </p:nvGraphicFramePr>
        <p:xfrm>
          <a:off x="1724025" y="3009900"/>
          <a:ext cx="219551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公式" r:id="rId7" imgW="1218960" imgH="469800" progId="Equation.3">
                  <p:embed/>
                </p:oleObj>
              </mc:Choice>
              <mc:Fallback>
                <p:oleObj name="公式" r:id="rId7" imgW="121896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3009900"/>
                        <a:ext cx="2195513" cy="84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679455"/>
              </p:ext>
            </p:extLst>
          </p:nvPr>
        </p:nvGraphicFramePr>
        <p:xfrm>
          <a:off x="1954566" y="2020009"/>
          <a:ext cx="1074384" cy="845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公式" r:id="rId9" imgW="596880" imgH="469800" progId="Equation.3">
                  <p:embed/>
                </p:oleObj>
              </mc:Choice>
              <mc:Fallback>
                <p:oleObj name="公式" r:id="rId9" imgW="596880" imgH="469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566" y="2020009"/>
                        <a:ext cx="1074384" cy="845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273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 classes of signals 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346365" y="1308100"/>
            <a:ext cx="8575962" cy="48688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1. Finite total energy </a:t>
            </a:r>
            <a:r>
              <a:rPr lang="en-US" altLang="zh-CN" i="1" dirty="0" smtClean="0"/>
              <a:t>E</a:t>
            </a:r>
            <a:r>
              <a:rPr lang="en-US" altLang="zh-CN" baseline="-25000" dirty="0" smtClean="0"/>
              <a:t>∞</a:t>
            </a:r>
            <a:r>
              <a:rPr lang="en-US" altLang="zh-CN" dirty="0" smtClean="0"/>
              <a:t>&lt;</a:t>
            </a:r>
            <a:r>
              <a:rPr lang="en-US" altLang="zh-CN" dirty="0"/>
              <a:t> </a:t>
            </a:r>
            <a:r>
              <a:rPr lang="en-US" altLang="zh-CN" dirty="0" smtClean="0"/>
              <a:t>∞ =&gt; zero average power </a:t>
            </a:r>
            <a:r>
              <a:rPr lang="en-US" altLang="zh-CN" i="1" dirty="0" smtClean="0"/>
              <a:t>P</a:t>
            </a:r>
            <a:r>
              <a:rPr lang="en-US" altLang="zh-CN" baseline="-25000" dirty="0" smtClean="0"/>
              <a:t>∞</a:t>
            </a:r>
            <a:r>
              <a:rPr lang="en-US" altLang="zh-CN" dirty="0" smtClean="0"/>
              <a:t>=0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e.g.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2. Finite </a:t>
            </a:r>
            <a:r>
              <a:rPr lang="en-US" altLang="zh-CN" dirty="0"/>
              <a:t>average </a:t>
            </a:r>
            <a:r>
              <a:rPr lang="en-US" altLang="zh-CN" dirty="0" smtClean="0"/>
              <a:t>power </a:t>
            </a:r>
            <a:r>
              <a:rPr lang="en-US" altLang="zh-CN" i="1" dirty="0"/>
              <a:t>P</a:t>
            </a:r>
            <a:r>
              <a:rPr lang="en-US" altLang="zh-CN" baseline="-25000" dirty="0" smtClean="0"/>
              <a:t>∞</a:t>
            </a:r>
            <a:r>
              <a:rPr lang="en-US" altLang="zh-CN" dirty="0"/>
              <a:t> &lt; ∞</a:t>
            </a:r>
            <a:r>
              <a:rPr lang="en-US" altLang="zh-CN" dirty="0" smtClean="0"/>
              <a:t>, infinite </a:t>
            </a:r>
            <a:r>
              <a:rPr lang="en-US" altLang="zh-CN" dirty="0"/>
              <a:t>total </a:t>
            </a:r>
            <a:r>
              <a:rPr lang="en-US" altLang="zh-CN" dirty="0" smtClean="0"/>
              <a:t>energy </a:t>
            </a:r>
            <a:r>
              <a:rPr lang="en-US" altLang="zh-CN" i="1" dirty="0"/>
              <a:t>E</a:t>
            </a:r>
            <a:r>
              <a:rPr lang="en-US" altLang="zh-CN" baseline="-25000" dirty="0" smtClean="0"/>
              <a:t>∞</a:t>
            </a:r>
            <a:r>
              <a:rPr lang="en-US" altLang="zh-CN" dirty="0" smtClean="0"/>
              <a:t>=∞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3. Infinite </a:t>
            </a:r>
            <a:r>
              <a:rPr lang="en-US" altLang="zh-CN" dirty="0"/>
              <a:t>average </a:t>
            </a:r>
            <a:r>
              <a:rPr lang="en-US" altLang="zh-CN" dirty="0" smtClean="0"/>
              <a:t>power </a:t>
            </a:r>
            <a:r>
              <a:rPr lang="en-US" altLang="zh-CN" i="1" dirty="0" smtClean="0"/>
              <a:t>P</a:t>
            </a:r>
            <a:r>
              <a:rPr lang="en-US" altLang="zh-CN" baseline="-25000" dirty="0" smtClean="0"/>
              <a:t>∞</a:t>
            </a:r>
            <a:r>
              <a:rPr lang="en-US" altLang="zh-CN" dirty="0"/>
              <a:t>=</a:t>
            </a:r>
            <a:r>
              <a:rPr lang="en-US" altLang="zh-CN" dirty="0" smtClean="0"/>
              <a:t>∞ 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e.g.?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§1.1 Continuous-Time &amp; Discrete-Time Signals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320" y="1987508"/>
            <a:ext cx="4417698" cy="175502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66689" y="4060886"/>
            <a:ext cx="10406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e.g. 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27683" y="4060886"/>
            <a:ext cx="2855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]=1, 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)=cos</a:t>
            </a:r>
            <a:r>
              <a:rPr lang="el-GR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62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§</a:t>
            </a:r>
            <a:r>
              <a:rPr lang="en-US" altLang="zh-CN" sz="2800" dirty="0" smtClean="0"/>
              <a:t>1.2 Transformations of Independent Variables </a:t>
            </a:r>
            <a:endParaRPr lang="zh-CN" altLang="en-US" sz="2800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Time shift: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 smtClean="0">
                <a:sym typeface="Wingdings" panose="05000000000000000000" pitchFamily="2" charset="2"/>
              </a:rPr>
              <a:t>x</a:t>
            </a:r>
            <a:r>
              <a:rPr lang="en-US" altLang="zh-CN" dirty="0" smtClean="0">
                <a:sym typeface="Wingdings" panose="05000000000000000000" pitchFamily="2" charset="2"/>
              </a:rPr>
              <a:t>(</a:t>
            </a:r>
            <a:r>
              <a:rPr lang="en-US" altLang="zh-CN" i="1" dirty="0" smtClean="0">
                <a:sym typeface="Wingdings" panose="05000000000000000000" pitchFamily="2" charset="2"/>
              </a:rPr>
              <a:t>t</a:t>
            </a:r>
            <a:r>
              <a:rPr lang="en-US" altLang="zh-CN" dirty="0" smtClean="0">
                <a:sym typeface="Wingdings" panose="05000000000000000000" pitchFamily="2" charset="2"/>
              </a:rPr>
              <a:t>-</a:t>
            </a:r>
            <a:r>
              <a:rPr lang="en-US" altLang="zh-CN" i="1" dirty="0" smtClean="0">
                <a:sym typeface="Wingdings" panose="05000000000000000000" pitchFamily="2" charset="2"/>
              </a:rPr>
              <a:t>t</a:t>
            </a:r>
            <a:r>
              <a:rPr lang="en-US" altLang="zh-CN" baseline="-25000" dirty="0" smtClean="0">
                <a:sym typeface="Wingdings" panose="05000000000000000000" pitchFamily="2" charset="2"/>
              </a:rPr>
              <a:t>0</a:t>
            </a:r>
            <a:r>
              <a:rPr lang="en-US" altLang="zh-CN" dirty="0" smtClean="0">
                <a:sym typeface="Wingdings" panose="05000000000000000000" pitchFamily="2" charset="2"/>
              </a:rPr>
              <a:t>),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 smtClean="0">
                <a:sym typeface="Wingdings" panose="05000000000000000000" pitchFamily="2" charset="2"/>
              </a:rPr>
              <a:t>x</a:t>
            </a:r>
            <a:r>
              <a:rPr lang="en-US" altLang="zh-CN" dirty="0" smtClean="0">
                <a:sym typeface="Wingdings" panose="05000000000000000000" pitchFamily="2" charset="2"/>
              </a:rPr>
              <a:t>[</a:t>
            </a:r>
            <a:r>
              <a:rPr lang="en-US" altLang="zh-CN" i="1" dirty="0" smtClean="0">
                <a:sym typeface="Wingdings" panose="05000000000000000000" pitchFamily="2" charset="2"/>
              </a:rPr>
              <a:t>n</a:t>
            </a:r>
            <a:r>
              <a:rPr lang="en-US" altLang="zh-CN" dirty="0" smtClean="0">
                <a:sym typeface="Wingdings" panose="05000000000000000000" pitchFamily="2" charset="2"/>
              </a:rPr>
              <a:t>-</a:t>
            </a:r>
            <a:r>
              <a:rPr lang="en-US" altLang="zh-CN" i="1" dirty="0" smtClean="0">
                <a:sym typeface="Wingdings" panose="05000000000000000000" pitchFamily="2" charset="2"/>
              </a:rPr>
              <a:t>n</a:t>
            </a:r>
            <a:r>
              <a:rPr lang="en-US" altLang="zh-CN" baseline="-25000" dirty="0" smtClean="0">
                <a:sym typeface="Wingdings" panose="05000000000000000000" pitchFamily="2" charset="2"/>
              </a:rPr>
              <a:t>0</a:t>
            </a:r>
            <a:r>
              <a:rPr lang="en-US" altLang="zh-CN" dirty="0" smtClean="0">
                <a:sym typeface="Wingdings" panose="05000000000000000000" pitchFamily="2" charset="2"/>
              </a:rPr>
              <a:t>]</a:t>
            </a:r>
          </a:p>
          <a:p>
            <a:pPr lvl="1"/>
            <a:r>
              <a:rPr lang="en-US" altLang="zh-CN" dirty="0" smtClean="0">
                <a:sym typeface="Wingdings" panose="05000000000000000000" pitchFamily="2" charset="2"/>
              </a:rPr>
              <a:t>Left shift? Right shift?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Time reversal: 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>
                <a:sym typeface="Wingdings" panose="05000000000000000000" pitchFamily="2" charset="2"/>
              </a:rPr>
              <a:t>x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en-US" altLang="zh-CN" i="1" dirty="0">
                <a:sym typeface="Wingdings" panose="05000000000000000000" pitchFamily="2" charset="2"/>
              </a:rPr>
              <a:t>-t</a:t>
            </a:r>
            <a:r>
              <a:rPr lang="en-US" altLang="zh-CN" dirty="0" smtClean="0">
                <a:sym typeface="Wingdings" panose="05000000000000000000" pitchFamily="2" charset="2"/>
              </a:rPr>
              <a:t>), </a:t>
            </a:r>
            <a:r>
              <a:rPr lang="en-US" altLang="zh-CN" i="1" dirty="0"/>
              <a:t>x</a:t>
            </a:r>
            <a:r>
              <a:rPr lang="en-US" altLang="zh-CN" dirty="0"/>
              <a:t>[</a:t>
            </a:r>
            <a:r>
              <a:rPr lang="en-US" altLang="zh-CN" i="1" dirty="0"/>
              <a:t>n</a:t>
            </a:r>
            <a:r>
              <a:rPr lang="en-US" altLang="zh-CN" dirty="0"/>
              <a:t>]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>
                <a:sym typeface="Wingdings" panose="05000000000000000000" pitchFamily="2" charset="2"/>
              </a:rPr>
              <a:t>x</a:t>
            </a:r>
            <a:r>
              <a:rPr lang="en-US" altLang="zh-CN" dirty="0" smtClean="0">
                <a:sym typeface="Wingdings" panose="05000000000000000000" pitchFamily="2" charset="2"/>
              </a:rPr>
              <a:t>[-</a:t>
            </a:r>
            <a:r>
              <a:rPr lang="en-US" altLang="zh-CN" i="1" dirty="0" smtClean="0">
                <a:sym typeface="Wingdings" panose="05000000000000000000" pitchFamily="2" charset="2"/>
              </a:rPr>
              <a:t>n</a:t>
            </a:r>
            <a:r>
              <a:rPr lang="en-US" altLang="zh-CN" dirty="0" smtClean="0">
                <a:sym typeface="Wingdings" panose="05000000000000000000" pitchFamily="2" charset="2"/>
              </a:rPr>
              <a:t>]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Time scaling: 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>
                <a:sym typeface="Wingdings" panose="05000000000000000000" pitchFamily="2" charset="2"/>
              </a:rPr>
              <a:t>x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el-GR" altLang="zh-CN" i="1" dirty="0">
                <a:sym typeface="Wingdings" panose="05000000000000000000" pitchFamily="2" charset="2"/>
              </a:rPr>
              <a:t>α</a:t>
            </a:r>
            <a:r>
              <a:rPr lang="en-US" altLang="zh-CN" i="1" dirty="0">
                <a:sym typeface="Wingdings" panose="05000000000000000000" pitchFamily="2" charset="2"/>
              </a:rPr>
              <a:t>t</a:t>
            </a:r>
            <a:r>
              <a:rPr lang="en-US" altLang="zh-CN" dirty="0" smtClean="0">
                <a:sym typeface="Wingdings" panose="05000000000000000000" pitchFamily="2" charset="2"/>
              </a:rPr>
              <a:t>), </a:t>
            </a:r>
            <a:r>
              <a:rPr lang="en-US" altLang="zh-CN" i="1" dirty="0"/>
              <a:t>x</a:t>
            </a:r>
            <a:r>
              <a:rPr lang="en-US" altLang="zh-CN" dirty="0"/>
              <a:t>[</a:t>
            </a:r>
            <a:r>
              <a:rPr lang="en-US" altLang="zh-CN" i="1" dirty="0"/>
              <a:t>n</a:t>
            </a:r>
            <a:r>
              <a:rPr lang="en-US" altLang="zh-CN" dirty="0"/>
              <a:t>]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 smtClean="0">
                <a:sym typeface="Wingdings" panose="05000000000000000000" pitchFamily="2" charset="2"/>
              </a:rPr>
              <a:t>x</a:t>
            </a:r>
            <a:r>
              <a:rPr lang="en-US" altLang="zh-CN" dirty="0" smtClean="0">
                <a:sym typeface="Wingdings" panose="05000000000000000000" pitchFamily="2" charset="2"/>
              </a:rPr>
              <a:t>[</a:t>
            </a:r>
            <a:r>
              <a:rPr lang="el-GR" altLang="zh-CN" i="1" dirty="0" smtClean="0">
                <a:sym typeface="Wingdings" panose="05000000000000000000" pitchFamily="2" charset="2"/>
              </a:rPr>
              <a:t>α</a:t>
            </a:r>
            <a:r>
              <a:rPr lang="en-US" altLang="zh-CN" i="1" dirty="0" smtClean="0">
                <a:sym typeface="Wingdings" panose="05000000000000000000" pitchFamily="2" charset="2"/>
              </a:rPr>
              <a:t>n</a:t>
            </a:r>
            <a:r>
              <a:rPr lang="en-US" altLang="zh-CN" dirty="0" smtClean="0">
                <a:sym typeface="Wingdings" panose="05000000000000000000" pitchFamily="2" charset="2"/>
              </a:rPr>
              <a:t>] </a:t>
            </a:r>
            <a:r>
              <a:rPr lang="en-US" altLang="zh-CN" dirty="0" smtClean="0">
                <a:solidFill>
                  <a:srgbClr val="FF0000"/>
                </a:solidFill>
                <a:sym typeface="Wingdings" panose="05000000000000000000" pitchFamily="2" charset="2"/>
              </a:rPr>
              <a:t>(?)</a:t>
            </a:r>
          </a:p>
          <a:p>
            <a:pPr lvl="1"/>
            <a:r>
              <a:rPr lang="en-US" altLang="zh-CN" dirty="0">
                <a:sym typeface="Wingdings" panose="05000000000000000000" pitchFamily="2" charset="2"/>
              </a:rPr>
              <a:t>│</a:t>
            </a:r>
            <a:r>
              <a:rPr lang="el-GR" altLang="zh-CN" i="1" dirty="0">
                <a:sym typeface="Wingdings" panose="05000000000000000000" pitchFamily="2" charset="2"/>
              </a:rPr>
              <a:t>α</a:t>
            </a:r>
            <a:r>
              <a:rPr lang="en-US" altLang="zh-CN" dirty="0" smtClean="0">
                <a:sym typeface="Wingdings" panose="05000000000000000000" pitchFamily="2" charset="2"/>
              </a:rPr>
              <a:t>│&gt;1 compress</a:t>
            </a:r>
          </a:p>
          <a:p>
            <a:pPr lvl="1"/>
            <a:r>
              <a:rPr lang="en-US" altLang="zh-CN" dirty="0">
                <a:sym typeface="Wingdings" panose="05000000000000000000" pitchFamily="2" charset="2"/>
              </a:rPr>
              <a:t>│</a:t>
            </a:r>
            <a:r>
              <a:rPr lang="el-GR" altLang="zh-CN" i="1" dirty="0">
                <a:sym typeface="Wingdings" panose="05000000000000000000" pitchFamily="2" charset="2"/>
              </a:rPr>
              <a:t>α</a:t>
            </a:r>
            <a:r>
              <a:rPr lang="en-US" altLang="zh-CN" dirty="0" smtClean="0">
                <a:sym typeface="Wingdings" panose="05000000000000000000" pitchFamily="2" charset="2"/>
              </a:rPr>
              <a:t>│&lt;1  stretch</a:t>
            </a:r>
          </a:p>
          <a:p>
            <a:pPr marL="457200" lvl="1" indent="0">
              <a:buNone/>
            </a:pPr>
            <a:r>
              <a:rPr lang="en-US" altLang="zh-CN" dirty="0" smtClean="0">
                <a:solidFill>
                  <a:srgbClr val="0000FF"/>
                </a:solidFill>
                <a:sym typeface="Wingdings" panose="05000000000000000000" pitchFamily="2" charset="2"/>
              </a:rPr>
              <a:t>Q: How to fast forward a music player?</a:t>
            </a:r>
            <a:endParaRPr lang="zh-CN" altLang="en-US" dirty="0">
              <a:solidFill>
                <a:srgbClr val="0000FF"/>
              </a:solidFill>
            </a:endParaRPr>
          </a:p>
          <a:p>
            <a:r>
              <a:rPr lang="en-US" altLang="zh-CN" dirty="0" smtClean="0"/>
              <a:t> General form: 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>
                <a:sym typeface="Wingdings" panose="05000000000000000000" pitchFamily="2" charset="2"/>
              </a:rPr>
              <a:t>x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el-GR" altLang="zh-CN" i="1" dirty="0">
                <a:sym typeface="Wingdings" panose="05000000000000000000" pitchFamily="2" charset="2"/>
              </a:rPr>
              <a:t>α</a:t>
            </a:r>
            <a:r>
              <a:rPr lang="en-US" altLang="zh-CN" i="1" dirty="0" smtClean="0">
                <a:sym typeface="Wingdings" panose="05000000000000000000" pitchFamily="2" charset="2"/>
              </a:rPr>
              <a:t>t</a:t>
            </a:r>
            <a:r>
              <a:rPr lang="en-US" altLang="zh-CN" dirty="0" smtClean="0">
                <a:sym typeface="Wingdings" panose="05000000000000000000" pitchFamily="2" charset="2"/>
              </a:rPr>
              <a:t>+</a:t>
            </a:r>
            <a:r>
              <a:rPr lang="el-GR" altLang="zh-CN" i="1" dirty="0" smtClean="0">
                <a:sym typeface="Wingdings" panose="05000000000000000000" pitchFamily="2" charset="2"/>
              </a:rPr>
              <a:t>β</a:t>
            </a:r>
            <a:r>
              <a:rPr lang="en-US" altLang="zh-CN" dirty="0" smtClean="0">
                <a:sym typeface="Wingdings" panose="05000000000000000000" pitchFamily="2" charset="2"/>
              </a:rPr>
              <a:t>), </a:t>
            </a:r>
            <a:r>
              <a:rPr lang="en-US" altLang="zh-CN" i="1" dirty="0" smtClean="0">
                <a:solidFill>
                  <a:srgbClr val="FF0000"/>
                </a:solidFill>
              </a:rPr>
              <a:t>x</a:t>
            </a:r>
            <a:r>
              <a:rPr lang="en-US" altLang="zh-CN" dirty="0" smtClean="0">
                <a:solidFill>
                  <a:srgbClr val="FF0000"/>
                </a:solidFill>
              </a:rPr>
              <a:t>[</a:t>
            </a:r>
            <a:r>
              <a:rPr lang="en-US" altLang="zh-CN" i="1" dirty="0" smtClean="0">
                <a:solidFill>
                  <a:srgbClr val="FF0000"/>
                </a:solidFill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</a:rPr>
              <a:t>] </a:t>
            </a:r>
            <a:r>
              <a:rPr lang="en-US" altLang="zh-CN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i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x</a:t>
            </a:r>
            <a:r>
              <a:rPr lang="en-US" altLang="zh-CN" dirty="0" smtClean="0">
                <a:solidFill>
                  <a:srgbClr val="FF0000"/>
                </a:solidFill>
                <a:sym typeface="Wingdings" panose="05000000000000000000" pitchFamily="2" charset="2"/>
              </a:rPr>
              <a:t>[</a:t>
            </a:r>
            <a:r>
              <a:rPr lang="el-GR" altLang="zh-CN" i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α</a:t>
            </a:r>
            <a:r>
              <a:rPr lang="en-US" altLang="zh-CN" i="1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n+k</a:t>
            </a:r>
            <a:r>
              <a:rPr lang="en-US" altLang="zh-CN" dirty="0" smtClean="0">
                <a:solidFill>
                  <a:srgbClr val="FF0000"/>
                </a:solidFill>
                <a:sym typeface="Wingdings" panose="05000000000000000000" pitchFamily="2" charset="2"/>
              </a:rPr>
              <a:t>](?)</a:t>
            </a:r>
          </a:p>
          <a:p>
            <a:r>
              <a:rPr lang="en-US" altLang="zh-CN" dirty="0" smtClean="0">
                <a:sym typeface="Wingdings" panose="05000000000000000000" pitchFamily="2" charset="2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sym typeface="Wingdings" panose="05000000000000000000" pitchFamily="2" charset="2"/>
              </a:rPr>
              <a:t>Example 1.1: </a:t>
            </a:r>
            <a:r>
              <a:rPr lang="en-US" altLang="zh-CN" i="1" dirty="0" smtClean="0">
                <a:sym typeface="Wingdings" panose="05000000000000000000" pitchFamily="2" charset="2"/>
              </a:rPr>
              <a:t>x</a:t>
            </a:r>
            <a:r>
              <a:rPr lang="en-US" altLang="zh-CN" dirty="0" smtClean="0">
                <a:sym typeface="Wingdings" panose="05000000000000000000" pitchFamily="2" charset="2"/>
              </a:rPr>
              <a:t>(</a:t>
            </a:r>
            <a:r>
              <a:rPr lang="en-US" altLang="zh-CN" i="1" dirty="0" smtClean="0">
                <a:sym typeface="Wingdings" panose="05000000000000000000" pitchFamily="2" charset="2"/>
              </a:rPr>
              <a:t>t</a:t>
            </a:r>
            <a:r>
              <a:rPr lang="en-US" altLang="zh-CN" dirty="0" smtClean="0">
                <a:sym typeface="Wingdings" panose="05000000000000000000" pitchFamily="2" charset="2"/>
              </a:rPr>
              <a:t>+1), </a:t>
            </a:r>
            <a:r>
              <a:rPr lang="en-US" altLang="zh-CN" i="1" dirty="0" smtClean="0">
                <a:sym typeface="Wingdings" panose="05000000000000000000" pitchFamily="2" charset="2"/>
              </a:rPr>
              <a:t>x</a:t>
            </a:r>
            <a:r>
              <a:rPr lang="en-US" altLang="zh-CN" dirty="0" smtClean="0">
                <a:sym typeface="Wingdings" panose="05000000000000000000" pitchFamily="2" charset="2"/>
              </a:rPr>
              <a:t>(-</a:t>
            </a:r>
            <a:r>
              <a:rPr lang="en-US" altLang="zh-CN" i="1" dirty="0" smtClean="0">
                <a:sym typeface="Wingdings" panose="05000000000000000000" pitchFamily="2" charset="2"/>
              </a:rPr>
              <a:t>t</a:t>
            </a:r>
            <a:r>
              <a:rPr lang="en-US" altLang="zh-CN" dirty="0" smtClean="0">
                <a:sym typeface="Wingdings" panose="05000000000000000000" pitchFamily="2" charset="2"/>
              </a:rPr>
              <a:t>+1), </a:t>
            </a:r>
            <a:r>
              <a:rPr lang="en-US" altLang="zh-CN" i="1" dirty="0" smtClean="0">
                <a:sym typeface="Wingdings" panose="05000000000000000000" pitchFamily="2" charset="2"/>
              </a:rPr>
              <a:t>x</a:t>
            </a:r>
            <a:r>
              <a:rPr lang="en-US" altLang="zh-CN" dirty="0" smtClean="0">
                <a:sym typeface="Wingdings" panose="05000000000000000000" pitchFamily="2" charset="2"/>
              </a:rPr>
              <a:t>(1.5</a:t>
            </a:r>
            <a:r>
              <a:rPr lang="en-US" altLang="zh-CN" i="1" dirty="0" smtClean="0">
                <a:sym typeface="Wingdings" panose="05000000000000000000" pitchFamily="2" charset="2"/>
              </a:rPr>
              <a:t>t</a:t>
            </a:r>
            <a:r>
              <a:rPr lang="en-US" altLang="zh-CN" dirty="0" smtClean="0">
                <a:sym typeface="Wingdings" panose="05000000000000000000" pitchFamily="2" charset="2"/>
              </a:rPr>
              <a:t>), </a:t>
            </a:r>
            <a:r>
              <a:rPr lang="en-US" altLang="zh-CN" i="1" dirty="0" smtClean="0">
                <a:sym typeface="Wingdings" panose="05000000000000000000" pitchFamily="2" charset="2"/>
              </a:rPr>
              <a:t>x</a:t>
            </a:r>
            <a:r>
              <a:rPr lang="en-US" altLang="zh-CN" dirty="0" smtClean="0">
                <a:sym typeface="Wingdings" panose="05000000000000000000" pitchFamily="2" charset="2"/>
              </a:rPr>
              <a:t>(1.5</a:t>
            </a:r>
            <a:r>
              <a:rPr lang="en-US" altLang="zh-CN" i="1" dirty="0" smtClean="0">
                <a:sym typeface="Wingdings" panose="05000000000000000000" pitchFamily="2" charset="2"/>
              </a:rPr>
              <a:t>t</a:t>
            </a:r>
            <a:r>
              <a:rPr lang="en-US" altLang="zh-CN" dirty="0" smtClean="0">
                <a:sym typeface="Wingdings" panose="05000000000000000000" pitchFamily="2" charset="2"/>
              </a:rPr>
              <a:t>+1)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43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Periodic Signals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Periodic Signals</a:t>
            </a:r>
            <a:r>
              <a:rPr lang="en-US" altLang="zh-CN" dirty="0" smtClean="0"/>
              <a:t>:</a:t>
            </a:r>
          </a:p>
          <a:p>
            <a:pPr lvl="1"/>
            <a:r>
              <a:rPr lang="en-US" altLang="zh-CN" i="1" dirty="0" smtClean="0"/>
              <a:t> 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</a:t>
            </a:r>
            <a:r>
              <a:rPr lang="en-US" altLang="zh-CN" dirty="0"/>
              <a:t>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t+T</a:t>
            </a:r>
            <a:r>
              <a:rPr lang="en-US" altLang="zh-CN" dirty="0" smtClean="0"/>
              <a:t>) 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dirty="0"/>
              <a:t>[</a:t>
            </a:r>
            <a:r>
              <a:rPr lang="en-US" altLang="zh-CN" i="1" dirty="0"/>
              <a:t>n</a:t>
            </a:r>
            <a:r>
              <a:rPr lang="en-US" altLang="zh-CN" dirty="0" smtClean="0"/>
              <a:t>]=</a:t>
            </a:r>
            <a:r>
              <a:rPr lang="en-US" altLang="zh-CN" i="1" dirty="0"/>
              <a:t>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[</a:t>
            </a:r>
            <a:r>
              <a:rPr lang="en-US" altLang="zh-CN" i="1" dirty="0" err="1" smtClean="0"/>
              <a:t>n</a:t>
            </a:r>
            <a:r>
              <a:rPr lang="en-US" altLang="zh-CN" dirty="0" err="1" smtClean="0"/>
              <a:t>+</a:t>
            </a:r>
            <a:r>
              <a:rPr lang="en-US" altLang="zh-CN" i="1" dirty="0" err="1" smtClean="0"/>
              <a:t>N</a:t>
            </a:r>
            <a:r>
              <a:rPr lang="en-US" altLang="zh-CN" dirty="0" smtClean="0"/>
              <a:t>]</a:t>
            </a:r>
            <a:endParaRPr lang="en-US" altLang="zh-CN" dirty="0"/>
          </a:p>
          <a:p>
            <a:r>
              <a:rPr lang="en-US" altLang="zh-CN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fundamental period</a:t>
            </a:r>
            <a:r>
              <a:rPr lang="en-US" altLang="zh-CN" dirty="0" smtClean="0"/>
              <a:t>: the smallest positive value of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/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, denoted as </a:t>
            </a:r>
            <a:r>
              <a:rPr lang="en-US" altLang="zh-CN" i="1" dirty="0" smtClean="0"/>
              <a:t>T</a:t>
            </a:r>
            <a:r>
              <a:rPr lang="en-US" altLang="zh-CN" i="1" baseline="-25000" dirty="0" smtClean="0"/>
              <a:t>0</a:t>
            </a:r>
            <a:r>
              <a:rPr lang="en-US" altLang="zh-CN" i="1" dirty="0" smtClean="0"/>
              <a:t>/N</a:t>
            </a:r>
            <a:r>
              <a:rPr lang="en-US" altLang="zh-CN" i="1" baseline="-25000" dirty="0" smtClean="0"/>
              <a:t>0</a:t>
            </a:r>
          </a:p>
          <a:p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Q: </a:t>
            </a:r>
            <a:r>
              <a:rPr lang="en-US" altLang="zh-CN" dirty="0" smtClean="0"/>
              <a:t>what is the period of a constant signal?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§1.2 Transformations of Independent Variables 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54917" y="4103870"/>
            <a:ext cx="53803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Yes, but NO fundamental period</a:t>
            </a:r>
          </a:p>
        </p:txBody>
      </p:sp>
    </p:spTree>
    <p:extLst>
      <p:ext uri="{BB962C8B-B14F-4D97-AF65-F5344CB8AC3E}">
        <p14:creationId xmlns:p14="http://schemas.microsoft.com/office/powerpoint/2010/main" val="471051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Even and Odd Signals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Even</a:t>
            </a:r>
            <a:r>
              <a:rPr lang="en-US" altLang="zh-CN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signal</a:t>
            </a:r>
            <a:r>
              <a:rPr lang="en-US" altLang="zh-CN" dirty="0" smtClean="0"/>
              <a:t>: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(-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),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[-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]=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</a:t>
            </a:r>
          </a:p>
          <a:p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Odd signal</a:t>
            </a:r>
            <a:r>
              <a:rPr lang="en-US" altLang="zh-CN" dirty="0" smtClean="0"/>
              <a:t>: </a:t>
            </a:r>
            <a:r>
              <a:rPr lang="en-US" altLang="zh-CN" i="1" dirty="0"/>
              <a:t>x</a:t>
            </a:r>
            <a:r>
              <a:rPr lang="en-US" altLang="zh-CN" dirty="0"/>
              <a:t>(-</a:t>
            </a:r>
            <a:r>
              <a:rPr lang="en-US" altLang="zh-CN" i="1" dirty="0"/>
              <a:t>t</a:t>
            </a:r>
            <a:r>
              <a:rPr lang="en-US" altLang="zh-CN" dirty="0" smtClean="0"/>
              <a:t>)=-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/>
              <a:t>), </a:t>
            </a:r>
            <a:r>
              <a:rPr lang="en-US" altLang="zh-CN" i="1" dirty="0"/>
              <a:t>x</a:t>
            </a:r>
            <a:r>
              <a:rPr lang="en-US" altLang="zh-CN" dirty="0"/>
              <a:t>[-</a:t>
            </a:r>
            <a:r>
              <a:rPr lang="en-US" altLang="zh-CN" i="1" dirty="0"/>
              <a:t>n</a:t>
            </a:r>
            <a:r>
              <a:rPr lang="en-US" altLang="zh-CN" dirty="0" smtClean="0"/>
              <a:t>]=-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</a:t>
            </a:r>
          </a:p>
          <a:p>
            <a:pPr lvl="1"/>
            <a:r>
              <a:rPr lang="en-US" altLang="zh-CN" i="1" dirty="0" smtClean="0"/>
              <a:t>x</a:t>
            </a:r>
            <a:r>
              <a:rPr lang="en-US" altLang="zh-CN" dirty="0" smtClean="0"/>
              <a:t>(0)=0,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[0]=0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any signal can be written as the sum of an even signal and an odd signal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even part: </a:t>
            </a:r>
          </a:p>
          <a:p>
            <a:pPr marL="457200" lvl="1" indent="0">
              <a:buNone/>
            </a:pP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odd part: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§1.2 Transformations of Independent Variables 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718695"/>
              </p:ext>
            </p:extLst>
          </p:nvPr>
        </p:nvGraphicFramePr>
        <p:xfrm>
          <a:off x="2869300" y="3463688"/>
          <a:ext cx="28346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name="公式" r:id="rId3" imgW="1574800" imgH="393700" progId="Equation.3">
                  <p:embed/>
                </p:oleObj>
              </mc:Choice>
              <mc:Fallback>
                <p:oleObj name="公式" r:id="rId3" imgW="15748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300" y="3463688"/>
                        <a:ext cx="28346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499042"/>
              </p:ext>
            </p:extLst>
          </p:nvPr>
        </p:nvGraphicFramePr>
        <p:xfrm>
          <a:off x="2846440" y="4323322"/>
          <a:ext cx="28803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2" name="公式" r:id="rId5" imgW="1600200" imgH="393700" progId="Equation.3">
                  <p:embed/>
                </p:oleObj>
              </mc:Choice>
              <mc:Fallback>
                <p:oleObj name="公式" r:id="rId5" imgW="16002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440" y="4323322"/>
                        <a:ext cx="28803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803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§</a:t>
            </a:r>
            <a:r>
              <a:rPr lang="en-US" altLang="zh-CN" sz="3600" dirty="0" smtClean="0"/>
              <a:t>1.3 Exponential and Sinusoidal Signals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Complex exponential signal</a:t>
            </a:r>
            <a:r>
              <a:rPr lang="en-US" altLang="zh-CN" dirty="0" smtClean="0"/>
              <a:t>:</a:t>
            </a:r>
          </a:p>
          <a:p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Real exponential signal</a:t>
            </a:r>
            <a:r>
              <a:rPr lang="en-US" altLang="zh-CN" dirty="0" smtClean="0"/>
              <a:t>: </a:t>
            </a:r>
            <a:r>
              <a:rPr lang="en-US" altLang="zh-CN" i="1" dirty="0" smtClean="0"/>
              <a:t>C</a:t>
            </a:r>
            <a:r>
              <a:rPr lang="en-US" altLang="zh-CN" dirty="0" smtClean="0"/>
              <a:t> and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are all real </a:t>
            </a:r>
          </a:p>
          <a:p>
            <a:pPr lvl="1"/>
            <a:r>
              <a:rPr lang="en-US" altLang="zh-CN" dirty="0" smtClean="0"/>
              <a:t> a&gt;0, growing exponential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a&lt;0, decaying exponential </a:t>
            </a:r>
          </a:p>
          <a:p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Periodic complex exponential</a:t>
            </a:r>
            <a:r>
              <a:rPr lang="en-US" altLang="zh-CN" dirty="0" smtClean="0"/>
              <a:t>: </a:t>
            </a:r>
            <a:r>
              <a:rPr lang="en-US" altLang="zh-CN" i="1" dirty="0" smtClean="0"/>
              <a:t>C</a:t>
            </a:r>
            <a:r>
              <a:rPr lang="en-US" altLang="zh-CN" dirty="0" smtClean="0"/>
              <a:t> is real,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is purely imaginary</a:t>
            </a:r>
          </a:p>
          <a:p>
            <a:pPr lvl="1"/>
            <a:r>
              <a:rPr lang="en-US" altLang="zh-CN" dirty="0" smtClean="0"/>
              <a:t>Fundamental period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 smtClean="0"/>
              <a:t> Energy and average power over one period   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§1.3 Exponential and Sinusoidal Signals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760010"/>
              </p:ext>
            </p:extLst>
          </p:nvPr>
        </p:nvGraphicFramePr>
        <p:xfrm>
          <a:off x="5604242" y="1336514"/>
          <a:ext cx="12344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1" name="公式" r:id="rId3" imgW="685800" imgH="228600" progId="Equation.3">
                  <p:embed/>
                </p:oleObj>
              </mc:Choice>
              <mc:Fallback>
                <p:oleObj name="公式" r:id="rId3" imgW="6858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4242" y="1336514"/>
                        <a:ext cx="12344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300742"/>
              </p:ext>
            </p:extLst>
          </p:nvPr>
        </p:nvGraphicFramePr>
        <p:xfrm>
          <a:off x="4181475" y="3856244"/>
          <a:ext cx="1010990" cy="804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2" name="公式" r:id="rId5" imgW="558558" imgH="444307" progId="Equation.3">
                  <p:embed/>
                </p:oleObj>
              </mc:Choice>
              <mc:Fallback>
                <p:oleObj name="公式" r:id="rId5" imgW="558558" imgH="4443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3856244"/>
                        <a:ext cx="1010990" cy="8041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685478"/>
              </p:ext>
            </p:extLst>
          </p:nvPr>
        </p:nvGraphicFramePr>
        <p:xfrm>
          <a:off x="3759199" y="3560899"/>
          <a:ext cx="1211054" cy="4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3" name="公式" r:id="rId7" imgW="672808" imgH="228501" progId="Equation.3">
                  <p:embed/>
                </p:oleObj>
              </mc:Choice>
              <mc:Fallback>
                <p:oleObj name="公式" r:id="rId7" imgW="672808" imgH="22850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199" y="3560899"/>
                        <a:ext cx="1211054" cy="411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999962"/>
              </p:ext>
            </p:extLst>
          </p:nvPr>
        </p:nvGraphicFramePr>
        <p:xfrm>
          <a:off x="1291770" y="5287622"/>
          <a:ext cx="26974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4" name="公式" r:id="rId9" imgW="1498600" imgH="330200" progId="Equation.3">
                  <p:embed/>
                </p:oleObj>
              </mc:Choice>
              <mc:Fallback>
                <p:oleObj name="公式" r:id="rId9" imgW="1498600" imgH="330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1770" y="5287622"/>
                        <a:ext cx="269748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334703"/>
              </p:ext>
            </p:extLst>
          </p:nvPr>
        </p:nvGraphicFramePr>
        <p:xfrm>
          <a:off x="4533363" y="5255395"/>
          <a:ext cx="28575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5" name="公式" r:id="rId11" imgW="1587500" imgH="431800" progId="Equation.3">
                  <p:embed/>
                </p:oleObj>
              </mc:Choice>
              <mc:Fallback>
                <p:oleObj name="公式" r:id="rId11" imgW="1587500" imgH="431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363" y="5255395"/>
                        <a:ext cx="28575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455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Exponential and Sinusoidal </a:t>
            </a:r>
            <a:r>
              <a:rPr lang="en-US" altLang="zh-CN" sz="3600" dirty="0" smtClean="0"/>
              <a:t>Signals (</a:t>
            </a:r>
            <a:r>
              <a:rPr lang="en-US" altLang="zh-CN" sz="3600" dirty="0" err="1" smtClean="0"/>
              <a:t>cont</a:t>
            </a:r>
            <a:r>
              <a:rPr lang="en-US" altLang="zh-CN" sz="3600" dirty="0" smtClean="0"/>
              <a:t>’)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Sinusoidal signal</a:t>
            </a:r>
            <a:r>
              <a:rPr lang="en-US" altLang="zh-CN" dirty="0" smtClean="0"/>
              <a:t>: 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b="1" dirty="0" smtClean="0">
                <a:solidFill>
                  <a:srgbClr val="C00000"/>
                </a:solidFill>
              </a:rPr>
              <a:t>harmonically related</a:t>
            </a:r>
            <a:r>
              <a:rPr lang="en-US" altLang="zh-CN" b="1" dirty="0" smtClean="0"/>
              <a:t> </a:t>
            </a:r>
            <a:r>
              <a:rPr lang="en-US" altLang="zh-CN" dirty="0" smtClean="0"/>
              <a:t>complex exponentials: sets of periodic exponentials with a common period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0</a:t>
            </a:r>
          </a:p>
          <a:p>
            <a:endParaRPr lang="en-US" altLang="zh-CN" baseline="-25000" dirty="0"/>
          </a:p>
          <a:p>
            <a:r>
              <a:rPr lang="en-US" altLang="zh-CN" dirty="0"/>
              <a:t> </a:t>
            </a:r>
            <a:r>
              <a:rPr lang="en-US" altLang="zh-CN" i="1" dirty="0" smtClean="0">
                <a:solidFill>
                  <a:srgbClr val="C00000"/>
                </a:solidFill>
              </a:rPr>
              <a:t>k</a:t>
            </a:r>
            <a:r>
              <a:rPr lang="en-US" altLang="zh-CN" dirty="0" smtClean="0">
                <a:solidFill>
                  <a:srgbClr val="C00000"/>
                </a:solidFill>
              </a:rPr>
              <a:t>th harmonic</a:t>
            </a:r>
            <a:r>
              <a:rPr lang="en-US" altLang="zh-CN" dirty="0" smtClean="0"/>
              <a:t> </a:t>
            </a:r>
            <a:r>
              <a:rPr lang="el-GR" altLang="zh-CN" i="1" dirty="0" smtClean="0"/>
              <a:t>ϕ</a:t>
            </a:r>
            <a:r>
              <a:rPr lang="en-US" altLang="zh-CN" baseline="-25000" dirty="0" smtClean="0"/>
              <a:t>k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), fundamental frequency │</a:t>
            </a:r>
            <a:r>
              <a:rPr lang="en-US" altLang="zh-CN" i="1" dirty="0" smtClean="0"/>
              <a:t>k</a:t>
            </a:r>
            <a:r>
              <a:rPr lang="en-US" altLang="zh-CN" dirty="0" smtClean="0"/>
              <a:t>│ </a:t>
            </a:r>
            <a:r>
              <a:rPr lang="el-GR" altLang="zh-CN" dirty="0" smtClean="0"/>
              <a:t>ω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 fundamental period 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/</a:t>
            </a:r>
            <a:r>
              <a:rPr lang="en-US" altLang="zh-CN" dirty="0"/>
              <a:t> </a:t>
            </a:r>
            <a:r>
              <a:rPr lang="en-US" altLang="zh-CN" dirty="0" smtClean="0"/>
              <a:t>│</a:t>
            </a:r>
            <a:r>
              <a:rPr lang="en-US" altLang="zh-CN" i="1" dirty="0" smtClean="0"/>
              <a:t>k</a:t>
            </a:r>
            <a:r>
              <a:rPr lang="en-US" altLang="zh-CN" dirty="0" smtClean="0"/>
              <a:t>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§1.3 Exponential and Sinusoidal Signals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871846"/>
              </p:ext>
            </p:extLst>
          </p:nvPr>
        </p:nvGraphicFramePr>
        <p:xfrm>
          <a:off x="2025650" y="3604517"/>
          <a:ext cx="4089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" name="公式" r:id="rId3" imgW="2044700" imgH="241300" progId="Equation.3">
                  <p:embed/>
                </p:oleObj>
              </mc:Choice>
              <mc:Fallback>
                <p:oleObj name="公式" r:id="rId3" imgW="2044700" imgH="241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3604517"/>
                        <a:ext cx="4089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837588"/>
              </p:ext>
            </p:extLst>
          </p:nvPr>
        </p:nvGraphicFramePr>
        <p:xfrm>
          <a:off x="4126230" y="1336514"/>
          <a:ext cx="23317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7" name="公式" r:id="rId5" imgW="1295400" imgH="228600" progId="Equation.3">
                  <p:embed/>
                </p:oleObj>
              </mc:Choice>
              <mc:Fallback>
                <p:oleObj name="公式" r:id="rId5" imgW="12954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6230" y="1336514"/>
                        <a:ext cx="23317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210648"/>
              </p:ext>
            </p:extLst>
          </p:nvPr>
        </p:nvGraphicFramePr>
        <p:xfrm>
          <a:off x="2025650" y="1927382"/>
          <a:ext cx="365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8" name="公式" r:id="rId7" imgW="1828800" imgH="393700" progId="Equation.3">
                  <p:embed/>
                </p:oleObj>
              </mc:Choice>
              <mc:Fallback>
                <p:oleObj name="公式" r:id="rId7" imgW="18288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1927382"/>
                        <a:ext cx="3657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614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792000"/>
          </a:xfrm>
        </p:spPr>
        <p:txBody>
          <a:bodyPr>
            <a:noAutofit/>
          </a:bodyPr>
          <a:lstStyle/>
          <a:p>
            <a:r>
              <a:rPr lang="en-US" altLang="zh-CN" sz="2800" dirty="0" smtClean="0"/>
              <a:t>Continuous-time exponential vs. discrete-time exponential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vs.</a:t>
            </a:r>
          </a:p>
          <a:p>
            <a:r>
              <a:rPr lang="en-US" altLang="zh-CN" dirty="0"/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distinct signals for distinct </a:t>
            </a:r>
            <a:r>
              <a:rPr lang="el-GR" altLang="zh-CN" i="1" dirty="0" smtClean="0">
                <a:solidFill>
                  <a:srgbClr val="C00000"/>
                </a:solidFill>
              </a:rPr>
              <a:t>ω</a:t>
            </a:r>
            <a:r>
              <a:rPr lang="en-US" altLang="zh-CN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  vs. identical signals for </a:t>
            </a:r>
            <a:r>
              <a:rPr lang="el-GR" altLang="zh-CN" i="1" dirty="0">
                <a:solidFill>
                  <a:srgbClr val="C00000"/>
                </a:solidFill>
              </a:rPr>
              <a:t>ω</a:t>
            </a:r>
            <a:r>
              <a:rPr lang="en-US" altLang="zh-CN" baseline="-25000" dirty="0">
                <a:solidFill>
                  <a:srgbClr val="C00000"/>
                </a:solidFill>
              </a:rPr>
              <a:t>0 </a:t>
            </a:r>
            <a:r>
              <a:rPr lang="en-US" altLang="zh-CN" dirty="0" smtClean="0">
                <a:solidFill>
                  <a:srgbClr val="C00000"/>
                </a:solidFill>
              </a:rPr>
              <a:t>values separated by 2</a:t>
            </a:r>
            <a:r>
              <a:rPr lang="el-GR" altLang="zh-CN" dirty="0" smtClean="0">
                <a:solidFill>
                  <a:srgbClr val="C00000"/>
                </a:solidFill>
              </a:rPr>
              <a:t>π</a:t>
            </a:r>
            <a:r>
              <a:rPr lang="en-US" altLang="zh-CN" dirty="0" smtClean="0">
                <a:solidFill>
                  <a:srgbClr val="C00000"/>
                </a:solidFill>
              </a:rPr>
              <a:t> 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always periodic vs. periodic only if </a:t>
            </a:r>
            <a:r>
              <a:rPr lang="el-GR" altLang="zh-CN" i="1" dirty="0"/>
              <a:t>ω</a:t>
            </a:r>
            <a:r>
              <a:rPr lang="en-US" altLang="zh-CN" baseline="-25000" dirty="0"/>
              <a:t>0 </a:t>
            </a:r>
            <a:r>
              <a:rPr lang="en-US" altLang="zh-CN" dirty="0" smtClean="0"/>
              <a:t>=</a:t>
            </a:r>
            <a:r>
              <a:rPr lang="en-US" altLang="zh-CN" dirty="0"/>
              <a:t> 2</a:t>
            </a:r>
            <a:r>
              <a:rPr lang="el-GR" altLang="zh-CN" i="1" dirty="0" smtClean="0"/>
              <a:t>π</a:t>
            </a:r>
            <a:r>
              <a:rPr lang="en-US" altLang="zh-CN" i="1" dirty="0" smtClean="0"/>
              <a:t>m</a:t>
            </a:r>
            <a:r>
              <a:rPr lang="en-US" altLang="zh-CN" dirty="0" smtClean="0"/>
              <a:t>/</a:t>
            </a:r>
            <a:r>
              <a:rPr lang="en-US" altLang="zh-CN" i="1" dirty="0" smtClean="0"/>
              <a:t>N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fundamental frequency </a:t>
            </a:r>
            <a:r>
              <a:rPr lang="el-GR" altLang="zh-CN" i="1" dirty="0"/>
              <a:t>ω</a:t>
            </a:r>
            <a:r>
              <a:rPr lang="en-US" altLang="zh-CN" baseline="-25000" dirty="0"/>
              <a:t>0 </a:t>
            </a:r>
            <a:r>
              <a:rPr lang="en-US" altLang="zh-CN" baseline="-25000" dirty="0" smtClean="0"/>
              <a:t> </a:t>
            </a:r>
            <a:r>
              <a:rPr lang="en-US" altLang="zh-CN" dirty="0" smtClean="0"/>
              <a:t>vs. fundamental frequency </a:t>
            </a:r>
            <a:r>
              <a:rPr lang="el-GR" altLang="zh-CN" i="1" dirty="0"/>
              <a:t>ω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/</a:t>
            </a:r>
            <a:r>
              <a:rPr lang="en-US" altLang="zh-CN" i="1" dirty="0" smtClean="0"/>
              <a:t>m</a:t>
            </a:r>
          </a:p>
          <a:p>
            <a:pPr marL="0" indent="0">
              <a:buNone/>
            </a:pPr>
            <a:endParaRPr lang="zh-CN" altLang="en-US" i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§1.3 Exponential and Sinusoidal </a:t>
            </a:r>
            <a:r>
              <a:rPr lang="en-US" altLang="zh-CN" dirty="0" smtClean="0"/>
              <a:t>Signals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580314"/>
              </p:ext>
            </p:extLst>
          </p:nvPr>
        </p:nvGraphicFramePr>
        <p:xfrm>
          <a:off x="1219199" y="1308100"/>
          <a:ext cx="583946" cy="40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9" name="公式" r:id="rId3" imgW="291973" imgH="203112" progId="Equation.3">
                  <p:embed/>
                </p:oleObj>
              </mc:Choice>
              <mc:Fallback>
                <p:oleObj name="公式" r:id="rId3" imgW="291973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199" y="1308100"/>
                        <a:ext cx="583946" cy="4062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410536"/>
              </p:ext>
            </p:extLst>
          </p:nvPr>
        </p:nvGraphicFramePr>
        <p:xfrm>
          <a:off x="2724414" y="1336514"/>
          <a:ext cx="609072" cy="406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0" name="公式" r:id="rId5" imgW="304536" imgH="203024" progId="Equation.3">
                  <p:embed/>
                </p:oleObj>
              </mc:Choice>
              <mc:Fallback>
                <p:oleObj name="公式" r:id="rId5" imgW="304536" imgH="20302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414" y="1336514"/>
                        <a:ext cx="609072" cy="406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041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§</a:t>
            </a:r>
            <a:r>
              <a:rPr lang="en-US" altLang="zh-CN" sz="2800" dirty="0" smtClean="0"/>
              <a:t>1.4 Unit Impulse &amp; Unit Step Functions</a:t>
            </a:r>
            <a:endParaRPr lang="zh-CN" altLang="en-US" sz="2800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Discrete-time unit impulse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 smtClean="0">
              <a:solidFill>
                <a:srgbClr val="C00000"/>
              </a:solidFill>
            </a:endParaRPr>
          </a:p>
          <a:p>
            <a:endParaRPr lang="en-US" altLang="zh-CN" b="1" dirty="0" smtClean="0">
              <a:solidFill>
                <a:srgbClr val="C00000"/>
              </a:solidFill>
            </a:endParaRPr>
          </a:p>
          <a:p>
            <a:r>
              <a:rPr lang="en-US" altLang="zh-CN" b="1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Discrete-time unit step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§1.4 Unit Impulse &amp; Unit Step Functions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84832"/>
              </p:ext>
            </p:extLst>
          </p:nvPr>
        </p:nvGraphicFramePr>
        <p:xfrm>
          <a:off x="831272" y="1925782"/>
          <a:ext cx="176022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" name="公式" r:id="rId3" imgW="977900" imgH="457200" progId="Equation.3">
                  <p:embed/>
                </p:oleObj>
              </mc:Choice>
              <mc:Fallback>
                <p:oleObj name="公式" r:id="rId3" imgW="9779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272" y="1925782"/>
                        <a:ext cx="176022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958494"/>
              </p:ext>
            </p:extLst>
          </p:nvPr>
        </p:nvGraphicFramePr>
        <p:xfrm>
          <a:off x="854132" y="4707940"/>
          <a:ext cx="173736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2" name="公式" r:id="rId5" imgW="965200" imgH="457200" progId="Equation.3">
                  <p:embed/>
                </p:oleObj>
              </mc:Choice>
              <mc:Fallback>
                <p:oleObj name="公式" r:id="rId5" imgW="9652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132" y="4707940"/>
                        <a:ext cx="173736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5090" y="2555803"/>
            <a:ext cx="5396661" cy="3032319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885133"/>
              </p:ext>
            </p:extLst>
          </p:nvPr>
        </p:nvGraphicFramePr>
        <p:xfrm>
          <a:off x="4121150" y="1768475"/>
          <a:ext cx="219551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" name="公式" r:id="rId8" imgW="1218960" imgH="203040" progId="Equation.3">
                  <p:embed/>
                </p:oleObj>
              </mc:Choice>
              <mc:Fallback>
                <p:oleObj name="公式" r:id="rId8" imgW="121896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0" y="1768475"/>
                        <a:ext cx="2195513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208002"/>
              </p:ext>
            </p:extLst>
          </p:nvPr>
        </p:nvGraphicFramePr>
        <p:xfrm>
          <a:off x="4068384" y="2171380"/>
          <a:ext cx="32918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4" name="公式" r:id="rId10" imgW="1828800" imgH="228600" progId="Equation.3">
                  <p:embed/>
                </p:oleObj>
              </mc:Choice>
              <mc:Fallback>
                <p:oleObj name="公式" r:id="rId10" imgW="18288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384" y="2171380"/>
                        <a:ext cx="32918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5197575" y="1252948"/>
            <a:ext cx="27964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(unit sample)</a:t>
            </a:r>
          </a:p>
        </p:txBody>
      </p:sp>
    </p:spTree>
    <p:extLst>
      <p:ext uri="{BB962C8B-B14F-4D97-AF65-F5344CB8AC3E}">
        <p14:creationId xmlns:p14="http://schemas.microsoft.com/office/powerpoint/2010/main" val="275144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dirty="0" smtClean="0"/>
              <a:t>Relationship between unit impulse and unit step</a:t>
            </a:r>
            <a:endParaRPr lang="zh-CN" altLang="en-US" sz="3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r>
              <a:rPr lang="el-GR" altLang="zh-CN" i="1" dirty="0" smtClean="0"/>
              <a:t>δ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 is the </a:t>
            </a:r>
            <a:r>
              <a:rPr lang="en-US" altLang="zh-CN" b="1" dirty="0" smtClean="0">
                <a:solidFill>
                  <a:srgbClr val="C00000"/>
                </a:solidFill>
              </a:rPr>
              <a:t>first difference </a:t>
            </a:r>
            <a:r>
              <a:rPr lang="en-US" altLang="zh-CN" dirty="0" smtClean="0"/>
              <a:t>of 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</a:t>
            </a:r>
          </a:p>
          <a:p>
            <a:endParaRPr lang="en-US" altLang="zh-CN" dirty="0"/>
          </a:p>
          <a:p>
            <a:r>
              <a:rPr lang="en-US" altLang="zh-CN" dirty="0" smtClean="0"/>
              <a:t> </a:t>
            </a:r>
            <a:r>
              <a:rPr lang="en-US" altLang="zh-CN" i="1" dirty="0"/>
              <a:t>u</a:t>
            </a:r>
            <a:r>
              <a:rPr lang="en-US" altLang="zh-CN" dirty="0"/>
              <a:t>[</a:t>
            </a:r>
            <a:r>
              <a:rPr lang="en-US" altLang="zh-CN" i="1" dirty="0"/>
              <a:t>n</a:t>
            </a:r>
            <a:r>
              <a:rPr lang="en-US" altLang="zh-CN" dirty="0"/>
              <a:t>]</a:t>
            </a:r>
            <a:r>
              <a:rPr lang="el-GR" altLang="zh-CN" i="1" dirty="0"/>
              <a:t> </a:t>
            </a:r>
            <a:r>
              <a:rPr lang="en-US" altLang="zh-CN" dirty="0" smtClean="0"/>
              <a:t>is </a:t>
            </a:r>
            <a:r>
              <a:rPr lang="en-US" altLang="zh-CN" dirty="0"/>
              <a:t>the </a:t>
            </a:r>
            <a:r>
              <a:rPr lang="en-US" altLang="zh-CN" b="1" dirty="0" smtClean="0">
                <a:solidFill>
                  <a:srgbClr val="C00000"/>
                </a:solidFill>
              </a:rPr>
              <a:t>running sum </a:t>
            </a:r>
            <a:r>
              <a:rPr lang="en-US" altLang="zh-CN" dirty="0" smtClean="0"/>
              <a:t>of </a:t>
            </a:r>
            <a:r>
              <a:rPr lang="el-GR" altLang="zh-CN" i="1" dirty="0" smtClean="0"/>
              <a:t>δ</a:t>
            </a:r>
            <a:r>
              <a:rPr lang="en-US" altLang="zh-CN" dirty="0"/>
              <a:t>[</a:t>
            </a:r>
            <a:r>
              <a:rPr lang="en-US" altLang="zh-CN" i="1" dirty="0"/>
              <a:t>n</a:t>
            </a:r>
            <a:r>
              <a:rPr lang="en-US" altLang="zh-CN" dirty="0" smtClean="0"/>
              <a:t>]</a:t>
            </a:r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/>
              <a:t>]</a:t>
            </a:r>
            <a:r>
              <a:rPr lang="el-GR" altLang="zh-CN" i="1" dirty="0"/>
              <a:t> </a:t>
            </a:r>
            <a:r>
              <a:rPr lang="en-US" altLang="zh-CN" dirty="0" smtClean="0"/>
              <a:t>is a superposition of the delayed unit impulses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4422527" y="-48744"/>
            <a:ext cx="4610638" cy="297511"/>
          </a:xfrm>
        </p:spPr>
        <p:txBody>
          <a:bodyPr/>
          <a:lstStyle/>
          <a:p>
            <a:r>
              <a:rPr lang="en-US" altLang="zh-CN" dirty="0"/>
              <a:t>§1.4 Unit Impulse &amp; Unit Step Functions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756473"/>
              </p:ext>
            </p:extLst>
          </p:nvPr>
        </p:nvGraphicFramePr>
        <p:xfrm>
          <a:off x="2701635" y="1939636"/>
          <a:ext cx="2285008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3" name="公式" r:id="rId3" imgW="1269449" imgH="203112" progId="Equation.3">
                  <p:embed/>
                </p:oleObj>
              </mc:Choice>
              <mc:Fallback>
                <p:oleObj name="公式" r:id="rId3" imgW="1269449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635" y="1939636"/>
                        <a:ext cx="2285008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295284"/>
              </p:ext>
            </p:extLst>
          </p:nvPr>
        </p:nvGraphicFramePr>
        <p:xfrm>
          <a:off x="2701635" y="2704537"/>
          <a:ext cx="1713757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" name="公式" r:id="rId5" imgW="952087" imgH="431613" progId="Equation.3">
                  <p:embed/>
                </p:oleObj>
              </mc:Choice>
              <mc:Fallback>
                <p:oleObj name="公式" r:id="rId5" imgW="952087" imgH="4316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635" y="2704537"/>
                        <a:ext cx="1713757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973965"/>
              </p:ext>
            </p:extLst>
          </p:nvPr>
        </p:nvGraphicFramePr>
        <p:xfrm>
          <a:off x="3021536" y="3742531"/>
          <a:ext cx="1965107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5" name="公式" r:id="rId7" imgW="1091726" imgH="431613" progId="Equation.3">
                  <p:embed/>
                </p:oleObj>
              </mc:Choice>
              <mc:Fallback>
                <p:oleObj name="公式" r:id="rId7" imgW="1091726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536" y="3742531"/>
                        <a:ext cx="1965107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823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000" dirty="0" smtClean="0"/>
              <a:t>Continuous-Time Unit Step</a:t>
            </a:r>
            <a:endParaRPr lang="zh-CN" altLang="en-US" sz="4000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Continuous-time unit step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 smtClean="0">
              <a:solidFill>
                <a:srgbClr val="C00000"/>
              </a:solidFill>
            </a:endParaRPr>
          </a:p>
          <a:p>
            <a:r>
              <a:rPr lang="en-US" altLang="zh-CN" dirty="0" smtClean="0"/>
              <a:t> No definition for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=0</a:t>
            </a:r>
          </a:p>
          <a:p>
            <a:pPr lvl="1"/>
            <a:r>
              <a:rPr lang="en-US" altLang="zh-CN" dirty="0" smtClean="0"/>
              <a:t>some textbooks let 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]=0.5 @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=0</a:t>
            </a:r>
          </a:p>
          <a:p>
            <a:r>
              <a:rPr lang="en-US" altLang="zh-CN" dirty="0" smtClean="0"/>
              <a:t> e.g.</a:t>
            </a:r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§1.4 Unit Impulse &amp; Unit Step Functions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222153"/>
              </p:ext>
            </p:extLst>
          </p:nvPr>
        </p:nvGraphicFramePr>
        <p:xfrm>
          <a:off x="1565562" y="2185060"/>
          <a:ext cx="162306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公式" r:id="rId3" imgW="901700" imgH="457200" progId="Equation.3">
                  <p:embed/>
                </p:oleObj>
              </mc:Choice>
              <mc:Fallback>
                <p:oleObj name="公式" r:id="rId3" imgW="9017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562" y="2185060"/>
                        <a:ext cx="162306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887" y="1522412"/>
            <a:ext cx="5166326" cy="21482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8950" y="4107557"/>
            <a:ext cx="2867479" cy="21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3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Continuous-Time Unit </a:t>
            </a:r>
            <a:r>
              <a:rPr lang="en-US" altLang="zh-CN" dirty="0" smtClean="0"/>
              <a:t>Impulse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 is the </a:t>
            </a:r>
            <a:r>
              <a:rPr lang="en-US" altLang="zh-CN" dirty="0" smtClean="0">
                <a:solidFill>
                  <a:srgbClr val="C00000"/>
                </a:solidFill>
              </a:rPr>
              <a:t>running integral </a:t>
            </a:r>
            <a:r>
              <a:rPr lang="en-US" altLang="zh-CN" dirty="0" smtClean="0"/>
              <a:t>of </a:t>
            </a:r>
            <a:r>
              <a:rPr lang="en-US" altLang="zh-CN" b="1" dirty="0" smtClean="0">
                <a:solidFill>
                  <a:srgbClr val="C00000"/>
                </a:solidFill>
              </a:rPr>
              <a:t>unit impulse</a:t>
            </a:r>
            <a:r>
              <a:rPr lang="en-US" altLang="zh-CN" dirty="0" smtClean="0"/>
              <a:t> </a:t>
            </a:r>
            <a:r>
              <a:rPr lang="el-GR" altLang="zh-CN" i="1" dirty="0" smtClean="0"/>
              <a:t>δ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</a:p>
          <a:p>
            <a:r>
              <a:rPr lang="en-US" altLang="zh-CN" dirty="0"/>
              <a:t> </a:t>
            </a:r>
            <a:r>
              <a:rPr lang="el-GR" altLang="zh-CN" i="1" dirty="0"/>
              <a:t>δ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 smtClean="0"/>
              <a:t>) is the </a:t>
            </a:r>
            <a:r>
              <a:rPr lang="en-US" altLang="zh-CN" dirty="0" smtClean="0">
                <a:solidFill>
                  <a:srgbClr val="C00000"/>
                </a:solidFill>
              </a:rPr>
              <a:t>first derivative</a:t>
            </a:r>
            <a:r>
              <a:rPr lang="en-US" altLang="zh-CN" dirty="0" smtClean="0"/>
              <a:t> of </a:t>
            </a:r>
            <a:r>
              <a:rPr lang="en-US" altLang="zh-CN" i="1" dirty="0"/>
              <a:t>u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        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But how? </a:t>
            </a:r>
            <a:r>
              <a:rPr lang="en-US" altLang="zh-CN" i="1" dirty="0"/>
              <a:t>u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en-US" altLang="zh-CN" dirty="0" smtClean="0"/>
              <a:t>is </a:t>
            </a:r>
            <a:r>
              <a:rPr lang="en-US" altLang="zh-CN" b="1" u="sng" dirty="0" smtClean="0"/>
              <a:t>not differentiable </a:t>
            </a:r>
            <a:r>
              <a:rPr lang="en-US" altLang="zh-CN" dirty="0" smtClean="0"/>
              <a:t>at t=0 </a:t>
            </a:r>
            <a:r>
              <a:rPr lang="en-US" altLang="zh-CN" b="1" dirty="0" smtClean="0">
                <a:solidFill>
                  <a:srgbClr val="FF0000"/>
                </a:solidFill>
              </a:rPr>
              <a:t>!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dirty="0" smtClean="0"/>
              <a:t> Dirac Definition of </a:t>
            </a:r>
            <a:r>
              <a:rPr lang="en-US" altLang="zh-CN" b="1" dirty="0" smtClean="0">
                <a:solidFill>
                  <a:srgbClr val="C00000"/>
                </a:solidFill>
              </a:rPr>
              <a:t>unit impulse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§1.4 Unit Impulse &amp; Unit Step Functions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090612"/>
              </p:ext>
            </p:extLst>
          </p:nvPr>
        </p:nvGraphicFramePr>
        <p:xfrm>
          <a:off x="2080260" y="1756227"/>
          <a:ext cx="18973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" name="公式" r:id="rId3" imgW="1054100" imgH="330200" progId="Equation.3">
                  <p:embed/>
                </p:oleObj>
              </mc:Choice>
              <mc:Fallback>
                <p:oleObj name="公式" r:id="rId3" imgW="1054100" imgH="330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260" y="1756227"/>
                        <a:ext cx="189738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28368"/>
              </p:ext>
            </p:extLst>
          </p:nvPr>
        </p:nvGraphicFramePr>
        <p:xfrm>
          <a:off x="2080260" y="2715984"/>
          <a:ext cx="14859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" name="公式" r:id="rId5" imgW="825500" imgH="393700" progId="Equation.3">
                  <p:embed/>
                </p:oleObj>
              </mc:Choice>
              <mc:Fallback>
                <p:oleObj name="公式" r:id="rId5" imgW="8255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260" y="2715984"/>
                        <a:ext cx="14859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978207"/>
              </p:ext>
            </p:extLst>
          </p:nvPr>
        </p:nvGraphicFramePr>
        <p:xfrm>
          <a:off x="1013823" y="4601028"/>
          <a:ext cx="310896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3" name="公式" r:id="rId7" imgW="1727200" imgH="762000" progId="Equation.3">
                  <p:embed/>
                </p:oleObj>
              </mc:Choice>
              <mc:Fallback>
                <p:oleObj name="公式" r:id="rId7" imgW="1727200" imgH="762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823" y="4601028"/>
                        <a:ext cx="310896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0799" y="4191669"/>
            <a:ext cx="4893890" cy="203497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299201" y="4277862"/>
            <a:ext cx="1969322" cy="707886"/>
          </a:xfrm>
          <a:prstGeom prst="rect">
            <a:avLst/>
          </a:prstGeom>
          <a:noFill/>
          <a:ln w="34925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short time</a:t>
            </a:r>
          </a:p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large value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60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Definition of </a:t>
            </a:r>
            <a:r>
              <a:rPr lang="en-US" altLang="zh-CN" dirty="0"/>
              <a:t>U</a:t>
            </a:r>
            <a:r>
              <a:rPr lang="en-US" altLang="zh-CN" dirty="0" smtClean="0"/>
              <a:t>nit Impulse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§1.4 Unit Impulse &amp; Unit Step Functions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906085"/>
              </p:ext>
            </p:extLst>
          </p:nvPr>
        </p:nvGraphicFramePr>
        <p:xfrm>
          <a:off x="1138864" y="1930399"/>
          <a:ext cx="1759457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8" name="公式" r:id="rId3" imgW="977476" imgH="393529" progId="Equation.3">
                  <p:embed/>
                </p:oleObj>
              </mc:Choice>
              <mc:Fallback>
                <p:oleObj name="公式" r:id="rId3" imgW="977476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864" y="1930399"/>
                        <a:ext cx="1759457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435346"/>
              </p:ext>
            </p:extLst>
          </p:nvPr>
        </p:nvGraphicFramePr>
        <p:xfrm>
          <a:off x="1127439" y="2892654"/>
          <a:ext cx="1782306" cy="502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9" name="公式" r:id="rId5" imgW="990170" imgH="279279" progId="Equation.3">
                  <p:embed/>
                </p:oleObj>
              </mc:Choice>
              <mc:Fallback>
                <p:oleObj name="公式" r:id="rId5" imgW="990170" imgH="27927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39" y="2892654"/>
                        <a:ext cx="1782306" cy="5027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1119" y="1171640"/>
            <a:ext cx="5258707" cy="457212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25839" y="3649259"/>
            <a:ext cx="2994618" cy="1200329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l-GR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(t) is the idealization of a pulse which is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“short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enough”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5327" y="5015156"/>
            <a:ext cx="24641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 definition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913510" y="5758281"/>
            <a:ext cx="2573140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Meet Dirac Definition?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95327" y="5443708"/>
                <a:ext cx="3850861" cy="714683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𝜏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𝜏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27" y="5443708"/>
                <a:ext cx="3850861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768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  <p:bldP spid="14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Sampling Property of Unit Impulse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In real circuit, only short pulses are available for sampling. If the pulse is “</a:t>
            </a:r>
            <a:r>
              <a:rPr lang="en-US" altLang="zh-CN" b="1" dirty="0" smtClean="0"/>
              <a:t>short enough</a:t>
            </a:r>
            <a:r>
              <a:rPr lang="en-US" altLang="zh-CN" dirty="0" smtClean="0"/>
              <a:t>”</a:t>
            </a:r>
          </a:p>
          <a:p>
            <a:pPr marL="0" indent="0">
              <a:buNone/>
            </a:pPr>
            <a:r>
              <a:rPr lang="en-US" altLang="zh-CN" dirty="0" smtClean="0"/>
              <a:t>  </a:t>
            </a:r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§1.4 Unit Impulse &amp; Unit Step Functions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879534"/>
              </p:ext>
            </p:extLst>
          </p:nvPr>
        </p:nvGraphicFramePr>
        <p:xfrm>
          <a:off x="586528" y="1449578"/>
          <a:ext cx="2125058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0" name="公式" r:id="rId3" imgW="1180588" imgH="203112" progId="Equation.3">
                  <p:embed/>
                </p:oleObj>
              </mc:Choice>
              <mc:Fallback>
                <p:oleObj name="公式" r:id="rId3" imgW="1180588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528" y="1449578"/>
                        <a:ext cx="2125058" cy="36560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035974"/>
              </p:ext>
            </p:extLst>
          </p:nvPr>
        </p:nvGraphicFramePr>
        <p:xfrm>
          <a:off x="586528" y="2028999"/>
          <a:ext cx="30632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1" name="公式" r:id="rId5" imgW="1701800" imgH="228600" progId="Equation.3">
                  <p:embed/>
                </p:oleObj>
              </mc:Choice>
              <mc:Fallback>
                <p:oleObj name="公式" r:id="rId5" imgW="17018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528" y="2028999"/>
                        <a:ext cx="3063240" cy="41148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235221"/>
              </p:ext>
            </p:extLst>
          </p:nvPr>
        </p:nvGraphicFramePr>
        <p:xfrm>
          <a:off x="2320925" y="4441825"/>
          <a:ext cx="22399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2" name="公式" r:id="rId7" imgW="1244520" imgH="215640" progId="Equation.3">
                  <p:embed/>
                </p:oleObj>
              </mc:Choice>
              <mc:Fallback>
                <p:oleObj name="公式" r:id="rId7" imgW="124452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925" y="4441825"/>
                        <a:ext cx="2239963" cy="388938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1751" y="1449579"/>
            <a:ext cx="5335772" cy="22370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28650" y="5164869"/>
            <a:ext cx="71945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“short enough”? See Chapter 7</a:t>
            </a:r>
          </a:p>
        </p:txBody>
      </p:sp>
      <p:sp>
        <p:nvSpPr>
          <p:cNvPr id="17" name="矩形 16"/>
          <p:cNvSpPr/>
          <p:nvPr/>
        </p:nvSpPr>
        <p:spPr>
          <a:xfrm>
            <a:off x="628650" y="5605867"/>
            <a:ext cx="71945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l-GR" altLang="zh-CN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l-GR" altLang="zh-CN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)? </a:t>
            </a:r>
            <a:r>
              <a:rPr lang="en-US" altLang="zh-CN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  <a:p>
            <a:endParaRPr lang="en-US" altLang="zh-C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3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5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1.5 Systems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A </a:t>
            </a:r>
            <a:r>
              <a:rPr lang="en-US" altLang="zh-CN" b="1" dirty="0" smtClean="0">
                <a:solidFill>
                  <a:srgbClr val="C00000"/>
                </a:solidFill>
              </a:rPr>
              <a:t>system</a:t>
            </a:r>
            <a:r>
              <a:rPr lang="en-US" altLang="zh-CN" dirty="0" smtClean="0"/>
              <a:t> is a process in which input signals are transformed, resulting in other signals as outputs.</a:t>
            </a:r>
          </a:p>
          <a:p>
            <a:r>
              <a:rPr lang="en-US" altLang="zh-CN" dirty="0" smtClean="0"/>
              <a:t> continuous-time systems vs. discrete-time systems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§1.5 Systems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890" y="2623094"/>
            <a:ext cx="3925160" cy="2947125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097973"/>
              </p:ext>
            </p:extLst>
          </p:nvPr>
        </p:nvGraphicFramePr>
        <p:xfrm>
          <a:off x="6346372" y="3123891"/>
          <a:ext cx="147312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4" name="公式" r:id="rId4" imgW="736560" imgH="203040" progId="Equation.3">
                  <p:embed/>
                </p:oleObj>
              </mc:Choice>
              <mc:Fallback>
                <p:oleObj name="公式" r:id="rId4" imgW="73656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46372" y="3123891"/>
                        <a:ext cx="1473120" cy="406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036499"/>
              </p:ext>
            </p:extLst>
          </p:nvPr>
        </p:nvGraphicFramePr>
        <p:xfrm>
          <a:off x="6457950" y="4751867"/>
          <a:ext cx="152352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5" name="公式" r:id="rId6" imgW="761760" imgH="203040" progId="Equation.3">
                  <p:embed/>
                </p:oleObj>
              </mc:Choice>
              <mc:Fallback>
                <p:oleObj name="公式" r:id="rId6" imgW="76176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57950" y="4751867"/>
                        <a:ext cx="1523520" cy="406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6298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smtClean="0"/>
              <a:t>Examples of continuous-time </a:t>
            </a:r>
            <a:r>
              <a:rPr lang="en-US" altLang="zh-CN" sz="3600" dirty="0"/>
              <a:t>systems</a:t>
            </a:r>
            <a:endParaRPr lang="zh-CN" altLang="en-US" sz="3600" dirty="0"/>
          </a:p>
        </p:txBody>
      </p:sp>
      <p:sp>
        <p:nvSpPr>
          <p:cNvPr id="20" name="内容占位符 19"/>
          <p:cNvSpPr>
            <a:spLocks noGrp="1"/>
          </p:cNvSpPr>
          <p:nvPr>
            <p:ph idx="1"/>
          </p:nvPr>
        </p:nvSpPr>
        <p:spPr>
          <a:xfrm>
            <a:off x="628650" y="5439095"/>
            <a:ext cx="7886700" cy="737868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 smtClean="0"/>
              <a:t> A wide range of physical systems can be modeled within the class of systems that will be covered in this course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§1.5 Systems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05" y="1490363"/>
            <a:ext cx="3636105" cy="16592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31" y="1354376"/>
            <a:ext cx="3252221" cy="1983910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113215"/>
              </p:ext>
            </p:extLst>
          </p:nvPr>
        </p:nvGraphicFramePr>
        <p:xfrm>
          <a:off x="1174605" y="3178629"/>
          <a:ext cx="2787710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5" name="公式" r:id="rId5" imgW="1548728" imgH="393529" progId="Equation.3">
                  <p:embed/>
                </p:oleObj>
              </mc:Choice>
              <mc:Fallback>
                <p:oleObj name="公式" r:id="rId5" imgW="1548728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605" y="3178629"/>
                        <a:ext cx="2787710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777351"/>
              </p:ext>
            </p:extLst>
          </p:nvPr>
        </p:nvGraphicFramePr>
        <p:xfrm>
          <a:off x="1174605" y="3886981"/>
          <a:ext cx="32918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6" name="公式" r:id="rId7" imgW="1828800" imgH="393700" progId="Equation.3">
                  <p:embed/>
                </p:oleObj>
              </mc:Choice>
              <mc:Fallback>
                <p:oleObj name="公式" r:id="rId7" imgW="18288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605" y="3886981"/>
                        <a:ext cx="32918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72148"/>
              </p:ext>
            </p:extLst>
          </p:nvPr>
        </p:nvGraphicFramePr>
        <p:xfrm>
          <a:off x="4822230" y="3257935"/>
          <a:ext cx="2444958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7" name="公式" r:id="rId9" imgW="1358310" imgH="393529" progId="Equation.3">
                  <p:embed/>
                </p:oleObj>
              </mc:Choice>
              <mc:Fallback>
                <p:oleObj name="公式" r:id="rId9" imgW="1358310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230" y="3257935"/>
                        <a:ext cx="2444958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604479"/>
              </p:ext>
            </p:extLst>
          </p:nvPr>
        </p:nvGraphicFramePr>
        <p:xfrm>
          <a:off x="4822230" y="3849950"/>
          <a:ext cx="2604910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8" name="公式" r:id="rId11" imgW="1447172" imgH="393529" progId="Equation.3">
                  <p:embed/>
                </p:oleObj>
              </mc:Choice>
              <mc:Fallback>
                <p:oleObj name="公式" r:id="rId11" imgW="1447172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230" y="3849950"/>
                        <a:ext cx="2604910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947693"/>
              </p:ext>
            </p:extLst>
          </p:nvPr>
        </p:nvGraphicFramePr>
        <p:xfrm>
          <a:off x="3261806" y="4604033"/>
          <a:ext cx="2285008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9" name="公式" r:id="rId13" imgW="1269449" imgH="393529" progId="Equation.3">
                  <p:embed/>
                </p:oleObj>
              </mc:Choice>
              <mc:Fallback>
                <p:oleObj name="公式" r:id="rId13" imgW="1269449" imgH="39352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806" y="4604033"/>
                        <a:ext cx="2285008" cy="70835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997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Examples of </a:t>
            </a:r>
            <a:r>
              <a:rPr lang="en-US" altLang="zh-CN" dirty="0" smtClean="0"/>
              <a:t>discrete-time </a:t>
            </a:r>
            <a:r>
              <a:rPr lang="en-US" altLang="zh-CN" dirty="0"/>
              <a:t>systems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 smtClean="0"/>
              <a:t>month to month bank account balance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 smtClean="0"/>
              <a:t> Discrete-time representation of the automobile system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§1.5 </a:t>
            </a:r>
            <a:r>
              <a:rPr lang="en-US" altLang="zh-CN" dirty="0" smtClean="0"/>
              <a:t>Systems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14781"/>
              </p:ext>
            </p:extLst>
          </p:nvPr>
        </p:nvGraphicFramePr>
        <p:xfrm>
          <a:off x="899885" y="2438399"/>
          <a:ext cx="2720340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0" name="公式" r:id="rId3" imgW="1511300" imgH="203200" progId="Equation.3">
                  <p:embed/>
                </p:oleObj>
              </mc:Choice>
              <mc:Fallback>
                <p:oleObj name="公式" r:id="rId3" imgW="1511300" imgH="203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885" y="2438399"/>
                        <a:ext cx="2720340" cy="36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416973"/>
              </p:ext>
            </p:extLst>
          </p:nvPr>
        </p:nvGraphicFramePr>
        <p:xfrm>
          <a:off x="899884" y="3091542"/>
          <a:ext cx="2720340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1" name="公式" r:id="rId5" imgW="1511300" imgH="203200" progId="Equation.3">
                  <p:embed/>
                </p:oleObj>
              </mc:Choice>
              <mc:Fallback>
                <p:oleObj name="公式" r:id="rId5" imgW="15113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884" y="3091542"/>
                        <a:ext cx="2720340" cy="36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634395"/>
              </p:ext>
            </p:extLst>
          </p:nvPr>
        </p:nvGraphicFramePr>
        <p:xfrm>
          <a:off x="4662714" y="3756738"/>
          <a:ext cx="40690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2" name="公式" r:id="rId7" imgW="2260600" imgH="419100" progId="Equation.3">
                  <p:embed/>
                </p:oleObj>
              </mc:Choice>
              <mc:Fallback>
                <p:oleObj name="公式" r:id="rId7" imgW="22606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714" y="3756738"/>
                        <a:ext cx="40690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559929"/>
              </p:ext>
            </p:extLst>
          </p:nvPr>
        </p:nvGraphicFramePr>
        <p:xfrm>
          <a:off x="4629150" y="2607886"/>
          <a:ext cx="3124876" cy="1148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3" name="公式" r:id="rId9" imgW="1726451" imgH="634725" progId="Equation.3">
                  <p:embed/>
                </p:oleObj>
              </mc:Choice>
              <mc:Fallback>
                <p:oleObj name="公式" r:id="rId9" imgW="1726451" imgH="63472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2607886"/>
                        <a:ext cx="3124876" cy="11488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425617"/>
              </p:ext>
            </p:extLst>
          </p:nvPr>
        </p:nvGraphicFramePr>
        <p:xfrm>
          <a:off x="3028950" y="4690506"/>
          <a:ext cx="2513509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4" name="公式" r:id="rId11" imgW="1396394" imgH="203112" progId="Equation.3">
                  <p:embed/>
                </p:oleObj>
              </mc:Choice>
              <mc:Fallback>
                <p:oleObj name="公式" r:id="rId11" imgW="1396394" imgH="20311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4690506"/>
                        <a:ext cx="2513509" cy="36560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内容占位符 19"/>
          <p:cNvSpPr txBox="1">
            <a:spLocks/>
          </p:cNvSpPr>
          <p:nvPr/>
        </p:nvSpPr>
        <p:spPr>
          <a:xfrm>
            <a:off x="628650" y="5439095"/>
            <a:ext cx="7886700" cy="7378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mtClean="0"/>
              <a:t> A wide range of physical systems can be modeled within the class of systems that will be covered in this course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064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Interconnections of Systems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Series/cascade </a:t>
            </a:r>
            <a:r>
              <a:rPr lang="en-US" altLang="zh-CN" dirty="0" smtClean="0"/>
              <a:t>interconnection</a:t>
            </a:r>
          </a:p>
          <a:p>
            <a:r>
              <a:rPr lang="en-US" altLang="zh-CN" b="1" dirty="0" smtClean="0">
                <a:solidFill>
                  <a:srgbClr val="C00000"/>
                </a:solidFill>
              </a:rPr>
              <a:t>Parallel </a:t>
            </a:r>
            <a:r>
              <a:rPr lang="en-US" altLang="zh-CN" dirty="0"/>
              <a:t>interconnection</a:t>
            </a:r>
          </a:p>
          <a:p>
            <a:r>
              <a:rPr lang="en-US" altLang="zh-CN" b="1" dirty="0" smtClean="0">
                <a:solidFill>
                  <a:srgbClr val="C00000"/>
                </a:solidFill>
              </a:rPr>
              <a:t>Feedback</a:t>
            </a:r>
            <a:r>
              <a:rPr lang="en-US" altLang="zh-CN" dirty="0" smtClean="0"/>
              <a:t> interconnection 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§1.5 </a:t>
            </a:r>
            <a:r>
              <a:rPr lang="en-US" altLang="zh-CN" dirty="0" smtClean="0"/>
              <a:t>Systems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70" y="2849992"/>
            <a:ext cx="6140501" cy="89253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33" y="3921919"/>
            <a:ext cx="4323630" cy="200389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606" y="4114474"/>
            <a:ext cx="4172687" cy="190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9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1.6 Basic System Properties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 smtClean="0"/>
              <a:t>System with/without memory</a:t>
            </a:r>
          </a:p>
          <a:p>
            <a:r>
              <a:rPr lang="en-US" altLang="zh-CN" dirty="0" smtClean="0"/>
              <a:t>A system is </a:t>
            </a:r>
            <a:r>
              <a:rPr lang="en-US" altLang="zh-CN" b="1" dirty="0" smtClean="0">
                <a:solidFill>
                  <a:srgbClr val="C00000"/>
                </a:solidFill>
              </a:rPr>
              <a:t>memoryless</a:t>
            </a:r>
            <a:r>
              <a:rPr lang="en-US" altLang="zh-CN" dirty="0" smtClean="0"/>
              <a:t> if the output at a given time is dependent on the input at the same time.</a:t>
            </a:r>
          </a:p>
          <a:p>
            <a:pPr lvl="1"/>
            <a:r>
              <a:rPr lang="en-US" altLang="zh-CN" dirty="0" smtClean="0"/>
              <a:t>e.g., a resistor is memoryless</a:t>
            </a:r>
          </a:p>
          <a:p>
            <a:r>
              <a:rPr lang="en-US" altLang="zh-CN" dirty="0"/>
              <a:t> S</a:t>
            </a:r>
            <a:r>
              <a:rPr lang="en-US" altLang="zh-CN" dirty="0" smtClean="0"/>
              <a:t>ystems with memory</a:t>
            </a:r>
          </a:p>
          <a:p>
            <a:pPr lvl="1"/>
            <a:r>
              <a:rPr lang="en-US" altLang="zh-CN" dirty="0" smtClean="0"/>
              <a:t> a capacitor is a continuous-time system with memory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an accumulator/summer is a discrete-time system with memory: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§1.6 Basic System Properties 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007016"/>
              </p:ext>
            </p:extLst>
          </p:nvPr>
        </p:nvGraphicFramePr>
        <p:xfrm>
          <a:off x="3028950" y="3945013"/>
          <a:ext cx="2216459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3" name="公式" r:id="rId3" imgW="1231366" imgH="393529" progId="Equation.3">
                  <p:embed/>
                </p:oleObj>
              </mc:Choice>
              <mc:Fallback>
                <p:oleObj name="公式" r:id="rId3" imgW="1231366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3945013"/>
                        <a:ext cx="2216459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873109"/>
              </p:ext>
            </p:extLst>
          </p:nvPr>
        </p:nvGraphicFramePr>
        <p:xfrm>
          <a:off x="3028950" y="5097235"/>
          <a:ext cx="16687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4" name="公式" r:id="rId5" imgW="927100" imgH="431800" progId="Equation.3">
                  <p:embed/>
                </p:oleObj>
              </mc:Choice>
              <mc:Fallback>
                <p:oleObj name="公式" r:id="rId5" imgW="9271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5097235"/>
                        <a:ext cx="166878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896865" y="2818206"/>
            <a:ext cx="1492716" cy="400110"/>
          </a:xfrm>
          <a:prstGeom prst="rect">
            <a:avLst/>
          </a:prstGeom>
          <a:noFill/>
          <a:ln w="34925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Memristor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47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Invertibility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A system is </a:t>
            </a:r>
            <a:r>
              <a:rPr lang="en-US" altLang="zh-CN" b="1" dirty="0" smtClean="0">
                <a:solidFill>
                  <a:srgbClr val="C00000"/>
                </a:solidFill>
              </a:rPr>
              <a:t>invertible</a:t>
            </a:r>
            <a:r>
              <a:rPr lang="en-US" altLang="zh-CN" dirty="0" smtClean="0"/>
              <a:t> if distinct inputs leads to distinct outputs.</a:t>
            </a:r>
          </a:p>
          <a:p>
            <a:pPr lvl="1"/>
            <a:r>
              <a:rPr lang="en-US" altLang="zh-CN" dirty="0" smtClean="0"/>
              <a:t> A system is invertible, then an </a:t>
            </a:r>
            <a:r>
              <a:rPr lang="en-US" altLang="zh-CN" b="1" dirty="0" smtClean="0">
                <a:solidFill>
                  <a:srgbClr val="C00000"/>
                </a:solidFill>
              </a:rPr>
              <a:t>inverse system </a:t>
            </a:r>
            <a:r>
              <a:rPr lang="en-US" altLang="zh-CN" dirty="0" smtClean="0"/>
              <a:t>exists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e.g., </a:t>
            </a:r>
            <a:r>
              <a:rPr lang="en-US" altLang="zh-CN" i="1" dirty="0" smtClean="0"/>
              <a:t>w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</a:t>
            </a:r>
            <a:r>
              <a:rPr lang="en-US" altLang="zh-CN" i="1" dirty="0" smtClean="0"/>
              <a:t>y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)/2 is the inverse system of </a:t>
            </a:r>
            <a:r>
              <a:rPr lang="en-US" altLang="zh-CN" i="1" dirty="0" smtClean="0"/>
              <a:t>y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)=2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</a:rPr>
              <a:t>Q: what is the inverse system of                     ?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Application example: lossless compression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§1.6 Basic System Properties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81" y="2691774"/>
            <a:ext cx="7469237" cy="1270313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48167"/>
              </p:ext>
            </p:extLst>
          </p:nvPr>
        </p:nvGraphicFramePr>
        <p:xfrm>
          <a:off x="5840730" y="4554007"/>
          <a:ext cx="16459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0" name="公式" r:id="rId4" imgW="914400" imgH="431800" progId="Equation.3">
                  <p:embed/>
                </p:oleObj>
              </mc:Choice>
              <mc:Fallback>
                <p:oleObj name="公式" r:id="rId4" imgW="9144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730" y="4554007"/>
                        <a:ext cx="1645920" cy="77724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013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Causality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A system is </a:t>
            </a:r>
            <a:r>
              <a:rPr lang="en-US" altLang="zh-CN" b="1" dirty="0" smtClean="0">
                <a:solidFill>
                  <a:srgbClr val="C00000"/>
                </a:solidFill>
              </a:rPr>
              <a:t>causal</a:t>
            </a:r>
            <a:r>
              <a:rPr lang="en-US" altLang="zh-CN" dirty="0" smtClean="0"/>
              <a:t>/</a:t>
            </a:r>
            <a:r>
              <a:rPr lang="en-US" altLang="zh-CN" b="1" dirty="0" err="1" smtClean="0">
                <a:solidFill>
                  <a:srgbClr val="C00000"/>
                </a:solidFill>
              </a:rPr>
              <a:t>nonanticipative</a:t>
            </a:r>
            <a:r>
              <a:rPr lang="en-US" altLang="zh-CN" dirty="0" smtClean="0"/>
              <a:t> if the output at any time is not dependent on the input after that time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Non-causality is common in processing previously recorded signals, such as speech, video…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Q1: is </a:t>
            </a:r>
            <a:r>
              <a:rPr lang="en-US" altLang="zh-CN" i="1" dirty="0" smtClean="0"/>
              <a:t>y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]=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[-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 causal?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Q2: is </a:t>
            </a:r>
            <a:r>
              <a:rPr lang="en-US" altLang="zh-CN" i="1" dirty="0" smtClean="0"/>
              <a:t>y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+1) causal?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§1.6 Basic System Properties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026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Time Invariance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A system is </a:t>
            </a:r>
            <a:r>
              <a:rPr lang="en-US" altLang="zh-CN" b="1" dirty="0" smtClean="0">
                <a:solidFill>
                  <a:srgbClr val="C00000"/>
                </a:solidFill>
              </a:rPr>
              <a:t>time invariant </a:t>
            </a:r>
            <a:r>
              <a:rPr lang="en-US" altLang="zh-CN" dirty="0" smtClean="0"/>
              <a:t>if a time shift in the input results in an identical time shift in the output.</a:t>
            </a:r>
          </a:p>
          <a:p>
            <a:r>
              <a:rPr lang="en-US" altLang="zh-CN" dirty="0" smtClean="0"/>
              <a:t> Intuitively, the input-output relationship does not changes with time.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 Example 1.14,  is </a:t>
            </a:r>
            <a:r>
              <a:rPr lang="en-US" altLang="zh-CN" i="1" dirty="0" smtClean="0"/>
              <a:t>y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)=sin[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)] time invariant?</a:t>
            </a:r>
          </a:p>
          <a:p>
            <a:r>
              <a:rPr lang="en-US" altLang="zh-CN" dirty="0" smtClean="0"/>
              <a:t> Example 1.15, is </a:t>
            </a:r>
            <a:r>
              <a:rPr lang="en-US" altLang="zh-CN" i="1" dirty="0" smtClean="0"/>
              <a:t>y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]=</a:t>
            </a:r>
            <a:r>
              <a:rPr lang="en-US" altLang="zh-CN" i="1" dirty="0" err="1" smtClean="0"/>
              <a:t>nx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 time invariant?</a:t>
            </a:r>
            <a:endParaRPr lang="en-US" altLang="zh-CN" dirty="0"/>
          </a:p>
          <a:p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§1.6 Basic System Properties 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260463"/>
              </p:ext>
            </p:extLst>
          </p:nvPr>
        </p:nvGraphicFramePr>
        <p:xfrm>
          <a:off x="1698171" y="3142931"/>
          <a:ext cx="38176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5" name="公式" r:id="rId3" imgW="2120900" imgH="228600" progId="Equation.3">
                  <p:embed/>
                </p:oleObj>
              </mc:Choice>
              <mc:Fallback>
                <p:oleObj name="公式" r:id="rId3" imgW="21209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171" y="3142931"/>
                        <a:ext cx="38176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938254"/>
              </p:ext>
            </p:extLst>
          </p:nvPr>
        </p:nvGraphicFramePr>
        <p:xfrm>
          <a:off x="1698171" y="3701644"/>
          <a:ext cx="40233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6" name="公式" r:id="rId5" imgW="2235200" imgH="228600" progId="Equation.3">
                  <p:embed/>
                </p:oleObj>
              </mc:Choice>
              <mc:Fallback>
                <p:oleObj name="公式" r:id="rId5" imgW="22352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171" y="3701644"/>
                        <a:ext cx="402336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686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Linearity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en-US" altLang="zh-CN" dirty="0" smtClean="0"/>
              <a:t>A </a:t>
            </a:r>
            <a:r>
              <a:rPr lang="en-US" altLang="zh-CN" b="1" dirty="0" smtClean="0">
                <a:solidFill>
                  <a:srgbClr val="C00000"/>
                </a:solidFill>
              </a:rPr>
              <a:t>linear system </a:t>
            </a:r>
            <a:r>
              <a:rPr lang="en-US" altLang="zh-CN" dirty="0" smtClean="0"/>
              <a:t>is a system with the </a:t>
            </a:r>
            <a:r>
              <a:rPr lang="en-US" altLang="zh-CN" b="1" dirty="0" smtClean="0">
                <a:solidFill>
                  <a:srgbClr val="C00000"/>
                </a:solidFill>
              </a:rPr>
              <a:t>superposition property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Superposition property = </a:t>
            </a:r>
            <a:r>
              <a:rPr lang="en-US" altLang="zh-CN" dirty="0" smtClean="0">
                <a:solidFill>
                  <a:srgbClr val="C00000"/>
                </a:solidFill>
              </a:rPr>
              <a:t>additivity property </a:t>
            </a:r>
            <a:r>
              <a:rPr lang="en-US" altLang="zh-CN" dirty="0" smtClean="0"/>
              <a:t>+ </a:t>
            </a:r>
            <a:r>
              <a:rPr lang="en-US" altLang="zh-CN" dirty="0" smtClean="0">
                <a:solidFill>
                  <a:srgbClr val="C00000"/>
                </a:solidFill>
              </a:rPr>
              <a:t>scaling/homogeneity property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 Example 1.20: </a:t>
            </a:r>
            <a:r>
              <a:rPr lang="en-US" altLang="zh-CN" dirty="0"/>
              <a:t>is </a:t>
            </a:r>
            <a:r>
              <a:rPr lang="en-US" altLang="zh-CN" i="1" dirty="0"/>
              <a:t>y</a:t>
            </a:r>
            <a:r>
              <a:rPr lang="en-US" altLang="zh-CN" dirty="0"/>
              <a:t>[</a:t>
            </a:r>
            <a:r>
              <a:rPr lang="en-US" altLang="zh-CN" i="1" dirty="0"/>
              <a:t>n</a:t>
            </a:r>
            <a:r>
              <a:rPr lang="en-US" altLang="zh-CN" dirty="0"/>
              <a:t>]=2</a:t>
            </a:r>
            <a:r>
              <a:rPr lang="en-US" altLang="zh-CN" i="1" dirty="0"/>
              <a:t>x</a:t>
            </a:r>
            <a:r>
              <a:rPr lang="en-US" altLang="zh-CN" dirty="0"/>
              <a:t>[</a:t>
            </a:r>
            <a:r>
              <a:rPr lang="en-US" altLang="zh-CN" i="1" dirty="0"/>
              <a:t>n</a:t>
            </a:r>
            <a:r>
              <a:rPr lang="en-US" altLang="zh-CN" dirty="0"/>
              <a:t>]+3 linear</a:t>
            </a:r>
            <a:r>
              <a:rPr lang="en-US" altLang="zh-CN" dirty="0" smtClean="0"/>
              <a:t>?</a:t>
            </a:r>
          </a:p>
          <a:p>
            <a:r>
              <a:rPr lang="en-US" altLang="zh-CN" dirty="0" smtClean="0"/>
              <a:t> Example 1.17: is </a:t>
            </a:r>
            <a:r>
              <a:rPr lang="en-US" altLang="zh-CN" i="1" dirty="0" smtClean="0"/>
              <a:t>y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</a:t>
            </a:r>
            <a:r>
              <a:rPr lang="en-US" altLang="zh-CN" i="1" dirty="0" err="1" smtClean="0"/>
              <a:t>tx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 linear?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§1.6 Basic System Properties 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672081"/>
              </p:ext>
            </p:extLst>
          </p:nvPr>
        </p:nvGraphicFramePr>
        <p:xfrm>
          <a:off x="1649462" y="3135085"/>
          <a:ext cx="518922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3" name="公式" r:id="rId3" imgW="2882900" imgH="482600" progId="Equation.3">
                  <p:embed/>
                </p:oleObj>
              </mc:Choice>
              <mc:Fallback>
                <p:oleObj name="公式" r:id="rId3" imgW="2882900" imgH="482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62" y="3135085"/>
                        <a:ext cx="5189220" cy="868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780615"/>
              </p:ext>
            </p:extLst>
          </p:nvPr>
        </p:nvGraphicFramePr>
        <p:xfrm>
          <a:off x="1649461" y="4183152"/>
          <a:ext cx="557784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4" name="公式" r:id="rId5" imgW="3098800" imgH="482600" progId="Equation.3">
                  <p:embed/>
                </p:oleObj>
              </mc:Choice>
              <mc:Fallback>
                <p:oleObj name="公式" r:id="rId5" imgW="30988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61" y="4183152"/>
                        <a:ext cx="5577840" cy="868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371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Time-domain representation of signals</a:t>
            </a:r>
          </a:p>
          <a:p>
            <a:pPr lvl="1"/>
            <a:r>
              <a:rPr lang="en-US" altLang="zh-CN" dirty="0" smtClean="0"/>
              <a:t>Transformation</a:t>
            </a:r>
          </a:p>
          <a:p>
            <a:pPr lvl="1"/>
            <a:r>
              <a:rPr lang="en-US" altLang="zh-CN" dirty="0" smtClean="0"/>
              <a:t>Period signals</a:t>
            </a:r>
          </a:p>
          <a:p>
            <a:pPr lvl="1"/>
            <a:r>
              <a:rPr lang="en-US" altLang="zh-CN" b="1" u="sng" dirty="0" smtClean="0"/>
              <a:t>Unit step and unit impulse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Time-domain representation of systems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We will focus on </a:t>
            </a:r>
            <a:r>
              <a:rPr lang="en-US" altLang="zh-CN" b="1" dirty="0" smtClean="0">
                <a:solidFill>
                  <a:srgbClr val="C00000"/>
                </a:solidFill>
              </a:rPr>
              <a:t>linear, time-invariant (LTI)</a:t>
            </a:r>
            <a:r>
              <a:rPr lang="en-US" altLang="zh-CN" dirty="0" smtClean="0"/>
              <a:t> systems in the remaining part of this course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4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1843</Words>
  <Application>Microsoft Office PowerPoint</Application>
  <PresentationFormat>全屏显示(4:3)</PresentationFormat>
  <Paragraphs>324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等线</vt:lpstr>
      <vt:lpstr>宋体</vt:lpstr>
      <vt:lpstr>微软雅黑</vt:lpstr>
      <vt:lpstr>微软雅黑</vt:lpstr>
      <vt:lpstr>Arial</vt:lpstr>
      <vt:lpstr>Cambria Math</vt:lpstr>
      <vt:lpstr>Times New Roman</vt:lpstr>
      <vt:lpstr>Wingdings</vt:lpstr>
      <vt:lpstr>Office 主题​​</vt:lpstr>
      <vt:lpstr>公式</vt:lpstr>
      <vt:lpstr>PowerPoint 演示文稿</vt:lpstr>
      <vt:lpstr>Chapter 1 Signals and Systems</vt:lpstr>
      <vt:lpstr>Outline</vt:lpstr>
      <vt:lpstr>§1.1 Continuous-Time &amp; Discrete-Time Signals</vt:lpstr>
      <vt:lpstr>Discrete-Time Signals</vt:lpstr>
      <vt:lpstr>Signal Energy and Power</vt:lpstr>
      <vt:lpstr>Signal Energy and Power</vt:lpstr>
      <vt:lpstr>Signal Energy and Power</vt:lpstr>
      <vt:lpstr>3 classes of signals </vt:lpstr>
      <vt:lpstr>§1.2 Transformations of Independent Variables </vt:lpstr>
      <vt:lpstr>Periodic Signals</vt:lpstr>
      <vt:lpstr>Even and Odd Signals</vt:lpstr>
      <vt:lpstr>§1.3 Exponential and Sinusoidal Signals</vt:lpstr>
      <vt:lpstr>Exponential and Sinusoidal Signals (cont’)</vt:lpstr>
      <vt:lpstr>Continuous-time exponential vs. discrete-time exponential</vt:lpstr>
      <vt:lpstr>§1.4 Unit Impulse &amp; Unit Step Functions</vt:lpstr>
      <vt:lpstr>Relationship between unit impulse and unit step</vt:lpstr>
      <vt:lpstr>Continuous-Time Unit Step</vt:lpstr>
      <vt:lpstr>Continuous-Time Unit Impulse</vt:lpstr>
      <vt:lpstr>Definition of Unit Impulse</vt:lpstr>
      <vt:lpstr>Sampling Property of Unit Impulse</vt:lpstr>
      <vt:lpstr>§1.5 Systems</vt:lpstr>
      <vt:lpstr>Examples of continuous-time systems</vt:lpstr>
      <vt:lpstr>Examples of discrete-time systems</vt:lpstr>
      <vt:lpstr>Interconnections of Systems</vt:lpstr>
      <vt:lpstr>§1.6 Basic System Properties </vt:lpstr>
      <vt:lpstr>Invertibility</vt:lpstr>
      <vt:lpstr>Causality</vt:lpstr>
      <vt:lpstr>Time Invariance</vt:lpstr>
      <vt:lpstr>Linearity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107</cp:revision>
  <dcterms:created xsi:type="dcterms:W3CDTF">2018-09-11T08:26:55Z</dcterms:created>
  <dcterms:modified xsi:type="dcterms:W3CDTF">2020-09-16T00:14:56Z</dcterms:modified>
</cp:coreProperties>
</file>