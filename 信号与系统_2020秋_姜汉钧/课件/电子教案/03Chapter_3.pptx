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87" r:id="rId3"/>
    <p:sldId id="305" r:id="rId4"/>
    <p:sldId id="304" r:id="rId5"/>
    <p:sldId id="306" r:id="rId6"/>
    <p:sldId id="307" r:id="rId7"/>
    <p:sldId id="308" r:id="rId8"/>
    <p:sldId id="309" r:id="rId9"/>
    <p:sldId id="310" r:id="rId10"/>
    <p:sldId id="312" r:id="rId11"/>
    <p:sldId id="311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6" r:id="rId25"/>
    <p:sldId id="325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286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1.wmf"/><Relationship Id="rId7" Type="http://schemas.openxmlformats.org/officeDocument/2006/relationships/image" Target="../media/image24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4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4" Type="http://schemas.openxmlformats.org/officeDocument/2006/relationships/image" Target="../media/image9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9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6.wmf"/><Relationship Id="rId7" Type="http://schemas.openxmlformats.org/officeDocument/2006/relationships/image" Target="../media/image109.wmf"/><Relationship Id="rId2" Type="http://schemas.openxmlformats.org/officeDocument/2006/relationships/image" Target="../media/image9.wmf"/><Relationship Id="rId1" Type="http://schemas.openxmlformats.org/officeDocument/2006/relationships/image" Target="../media/image1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10" Type="http://schemas.openxmlformats.org/officeDocument/2006/relationships/image" Target="../media/image112.wmf"/><Relationship Id="rId4" Type="http://schemas.openxmlformats.org/officeDocument/2006/relationships/image" Target="../media/image24.wmf"/><Relationship Id="rId9" Type="http://schemas.openxmlformats.org/officeDocument/2006/relationships/image" Target="../media/image11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4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2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3.wmf"/><Relationship Id="rId4" Type="http://schemas.openxmlformats.org/officeDocument/2006/relationships/image" Target="../media/image6.wmf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5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2.wmf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3.wmf"/><Relationship Id="rId10" Type="http://schemas.openxmlformats.org/officeDocument/2006/relationships/image" Target="../media/image5.wmf"/><Relationship Id="rId19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52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oleObject" Target="../embeddings/oleObject5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11" Type="http://schemas.openxmlformats.org/officeDocument/2006/relationships/image" Target="../media/image53.e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1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7" Type="http://schemas.openxmlformats.org/officeDocument/2006/relationships/image" Target="../media/image59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6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image" Target="../media/image69.wmf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5.bin"/><Relationship Id="rId14" Type="http://schemas.openxmlformats.org/officeDocument/2006/relationships/oleObject" Target="../embeddings/oleObject6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7" Type="http://schemas.openxmlformats.org/officeDocument/2006/relationships/image" Target="../media/image85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8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oleObject" Target="../embeddings/oleObject9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105.emf"/><Relationship Id="rId7" Type="http://schemas.openxmlformats.org/officeDocument/2006/relationships/image" Target="../media/image10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0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9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10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7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5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116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11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0.wmf"/><Relationship Id="rId3" Type="http://schemas.openxmlformats.org/officeDocument/2006/relationships/image" Target="../media/image122.e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27.wmf"/><Relationship Id="rId3" Type="http://schemas.openxmlformats.org/officeDocument/2006/relationships/image" Target="../media/image130.e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133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32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3245" y="1122363"/>
            <a:ext cx="7782105" cy="2387600"/>
          </a:xfrm>
        </p:spPr>
        <p:txBody>
          <a:bodyPr/>
          <a:lstStyle/>
          <a:p>
            <a:r>
              <a:rPr lang="en-US" altLang="zh-CN" dirty="0" smtClean="0"/>
              <a:t>Chapter 3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4400" dirty="0" smtClean="0"/>
              <a:t>Fourier Series of Periodic Signals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LTI Response to Complex Exponential</a:t>
            </a:r>
          </a:p>
          <a:p>
            <a:r>
              <a:rPr lang="en-US" dirty="0" smtClean="0"/>
              <a:t>Fourier Series (CT)</a:t>
            </a:r>
          </a:p>
          <a:p>
            <a:r>
              <a:rPr lang="en-US" dirty="0" smtClean="0"/>
              <a:t>CT Fourier Series Convergence</a:t>
            </a:r>
          </a:p>
          <a:p>
            <a:r>
              <a:rPr lang="en-US" dirty="0" smtClean="0"/>
              <a:t>CT Fourier Series Properties</a:t>
            </a:r>
          </a:p>
          <a:p>
            <a:r>
              <a:rPr lang="en-US" dirty="0" smtClean="0"/>
              <a:t>DT Fourier Series</a:t>
            </a:r>
          </a:p>
          <a:p>
            <a:r>
              <a:rPr lang="en-US" dirty="0" smtClean="0"/>
              <a:t>DT Fourier Series Properties</a:t>
            </a:r>
          </a:p>
          <a:p>
            <a:r>
              <a:rPr lang="en-US" dirty="0" smtClean="0"/>
              <a:t>Filters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Recall: LTI Systems, System Response</a:t>
            </a:r>
            <a:endParaRPr lang="en-US" sz="3600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Linearity = Superposition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System Response using Convolution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Complex exponential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546247"/>
              </p:ext>
            </p:extLst>
          </p:nvPr>
        </p:nvGraphicFramePr>
        <p:xfrm>
          <a:off x="1231810" y="2024386"/>
          <a:ext cx="54641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4" name="公式" r:id="rId3" imgW="3035160" imgH="482400" progId="Equation.3">
                  <p:embed/>
                </p:oleObj>
              </mc:Choice>
              <mc:Fallback>
                <p:oleObj name="公式" r:id="rId3" imgW="3035160" imgH="4824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810" y="2024386"/>
                        <a:ext cx="5464175" cy="8683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409408"/>
              </p:ext>
            </p:extLst>
          </p:nvPr>
        </p:nvGraphicFramePr>
        <p:xfrm>
          <a:off x="1705395" y="4670070"/>
          <a:ext cx="384016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5" name="公式" r:id="rId5" imgW="2133360" imgH="431640" progId="Equation.3">
                  <p:embed/>
                </p:oleObj>
              </mc:Choice>
              <mc:Fallback>
                <p:oleObj name="公式" r:id="rId5" imgW="2133360" imgH="43164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395" y="4670070"/>
                        <a:ext cx="3840163" cy="776288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33688"/>
              </p:ext>
            </p:extLst>
          </p:nvPr>
        </p:nvGraphicFramePr>
        <p:xfrm>
          <a:off x="1705395" y="3925371"/>
          <a:ext cx="40909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6" name="公式" r:id="rId7" imgW="2273040" imgH="330120" progId="Equation.3">
                  <p:embed/>
                </p:oleObj>
              </mc:Choice>
              <mc:Fallback>
                <p:oleObj name="公式" r:id="rId7" imgW="2273040" imgH="33012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395" y="3925371"/>
                        <a:ext cx="4090988" cy="5937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46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61667" cy="792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§3.2 Response of LTI System to Complex Exponential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Fourier Series?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Purpose</a:t>
            </a:r>
            <a:r>
              <a:rPr lang="en-US" dirty="0" smtClean="0"/>
              <a:t>: represent signals as linear combinations of a set of basic signals </a:t>
            </a:r>
            <a:r>
              <a:rPr lang="en-US" dirty="0" smtClean="0">
                <a:sym typeface="Wingdings" panose="05000000000000000000" pitchFamily="2" charset="2"/>
              </a:rPr>
              <a:t> find system response using superposition</a:t>
            </a:r>
            <a:endParaRPr lang="en-US" dirty="0" smtClean="0"/>
          </a:p>
          <a:p>
            <a:r>
              <a:rPr lang="en-US" dirty="0" smtClean="0"/>
              <a:t> How to choose the basic signals?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Most signals can be represented by (decomposed into) weighted summation of basic signals</a:t>
            </a:r>
          </a:p>
          <a:p>
            <a:pPr lvl="1"/>
            <a:r>
              <a:rPr lang="en-US" dirty="0" smtClean="0"/>
              <a:t> System response to the basic signals is simple</a:t>
            </a:r>
          </a:p>
          <a:p>
            <a:r>
              <a:rPr lang="en-US" dirty="0"/>
              <a:t> </a:t>
            </a:r>
            <a:r>
              <a:rPr lang="en-US" dirty="0" smtClean="0"/>
              <a:t>For CT system, choose basic signals of the form</a:t>
            </a:r>
          </a:p>
          <a:p>
            <a:r>
              <a:rPr lang="en-US" dirty="0"/>
              <a:t> </a:t>
            </a:r>
            <a:r>
              <a:rPr lang="en-US" dirty="0" smtClean="0"/>
              <a:t>For DT system, choose basic signals of the 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§3.2 Response of LTI System to Complex Exponential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81350"/>
              </p:ext>
            </p:extLst>
          </p:nvPr>
        </p:nvGraphicFramePr>
        <p:xfrm>
          <a:off x="8112190" y="5344253"/>
          <a:ext cx="319763" cy="342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7" name="公式" r:id="rId3" imgW="177646" imgH="190335" progId="Equation.3">
                  <p:embed/>
                </p:oleObj>
              </mc:Choice>
              <mc:Fallback>
                <p:oleObj name="公式" r:id="rId3" imgW="177646" imgH="190335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90" y="5344253"/>
                        <a:ext cx="319763" cy="34260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204338"/>
              </p:ext>
            </p:extLst>
          </p:nvPr>
        </p:nvGraphicFramePr>
        <p:xfrm>
          <a:off x="8059770" y="4799263"/>
          <a:ext cx="342751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8" name="公式" r:id="rId5" imgW="190417" imgH="203112" progId="Equation.3">
                  <p:embed/>
                </p:oleObj>
              </mc:Choice>
              <mc:Fallback>
                <p:oleObj name="公式" r:id="rId5" imgW="190417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770" y="4799263"/>
                        <a:ext cx="342751" cy="36560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457950" y="5776853"/>
            <a:ext cx="1194322" cy="40011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Why?</a:t>
            </a:r>
          </a:p>
        </p:txBody>
      </p:sp>
    </p:spTree>
    <p:extLst>
      <p:ext uri="{BB962C8B-B14F-4D97-AF65-F5344CB8AC3E}">
        <p14:creationId xmlns:p14="http://schemas.microsoft.com/office/powerpoint/2010/main" val="84633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T LTI System Response to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Assume LTI system with impulse response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Recall </a:t>
            </a:r>
            <a:r>
              <a:rPr lang="en-US" b="1" dirty="0" smtClean="0">
                <a:solidFill>
                  <a:srgbClr val="C00000"/>
                </a:solidFill>
              </a:rPr>
              <a:t>integral convolution</a:t>
            </a:r>
            <a:r>
              <a:rPr lang="en-US" dirty="0" smtClean="0"/>
              <a:t>: </a:t>
            </a:r>
          </a:p>
          <a:p>
            <a:r>
              <a:rPr lang="en-US" dirty="0"/>
              <a:t> </a:t>
            </a:r>
            <a:r>
              <a:rPr lang="en-US" dirty="0" smtClean="0"/>
              <a:t>System response to 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Let </a:t>
            </a:r>
          </a:p>
          <a:p>
            <a:endParaRPr lang="en-US" dirty="0"/>
          </a:p>
          <a:p>
            <a:r>
              <a:rPr lang="en-US" dirty="0" smtClean="0"/>
              <a:t>                       </a:t>
            </a:r>
            <a:r>
              <a:rPr lang="en-US" i="1" dirty="0" err="1" smtClean="0"/>
              <a:t>e</a:t>
            </a:r>
            <a:r>
              <a:rPr lang="en-US" i="1" baseline="30000" dirty="0" err="1" smtClean="0"/>
              <a:t>st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eigenfunction</a:t>
            </a:r>
            <a:r>
              <a:rPr lang="en-US" b="1" dirty="0" smtClean="0"/>
              <a:t>,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eigenvalue</a:t>
            </a:r>
          </a:p>
          <a:p>
            <a:r>
              <a:rPr lang="en-US" dirty="0" smtClean="0"/>
              <a:t> If                      , then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§3.2 Response of LTI System to Complex Exponential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941356"/>
              </p:ext>
            </p:extLst>
          </p:nvPr>
        </p:nvGraphicFramePr>
        <p:xfrm>
          <a:off x="7201024" y="406643"/>
          <a:ext cx="571251" cy="609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4" name="公式" r:id="rId3" imgW="190417" imgH="203112" progId="Equation.3">
                  <p:embed/>
                </p:oleObj>
              </mc:Choice>
              <mc:Fallback>
                <p:oleObj name="公式" r:id="rId3" imgW="190417" imgH="203112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1024" y="406643"/>
                        <a:ext cx="571251" cy="609336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26125"/>
              </p:ext>
            </p:extLst>
          </p:nvPr>
        </p:nvGraphicFramePr>
        <p:xfrm>
          <a:off x="5478512" y="1743832"/>
          <a:ext cx="27203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5" name="公式" r:id="rId5" imgW="1511300" imgH="330200" progId="Equation.3">
                  <p:embed/>
                </p:oleObj>
              </mc:Choice>
              <mc:Fallback>
                <p:oleObj name="公式" r:id="rId5" imgW="1511300" imgH="3302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512" y="1743832"/>
                        <a:ext cx="2720340" cy="59436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488791"/>
              </p:ext>
            </p:extLst>
          </p:nvPr>
        </p:nvGraphicFramePr>
        <p:xfrm>
          <a:off x="4074185" y="2338192"/>
          <a:ext cx="342751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6" name="公式" r:id="rId7" imgW="190417" imgH="203112" progId="Equation.3">
                  <p:embed/>
                </p:oleObj>
              </mc:Choice>
              <mc:Fallback>
                <p:oleObj name="公式" r:id="rId7" imgW="190417" imgH="203112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185" y="2338192"/>
                        <a:ext cx="342751" cy="365602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194277"/>
              </p:ext>
            </p:extLst>
          </p:nvPr>
        </p:nvGraphicFramePr>
        <p:xfrm>
          <a:off x="4743450" y="2259545"/>
          <a:ext cx="2743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7" name="公式" r:id="rId8" imgW="1524000" imgH="1016000" progId="Equation.3">
                  <p:embed/>
                </p:oleObj>
              </mc:Choice>
              <mc:Fallback>
                <p:oleObj name="公式" r:id="rId8" imgW="1524000" imgH="1016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259545"/>
                        <a:ext cx="27432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691752"/>
              </p:ext>
            </p:extLst>
          </p:nvPr>
        </p:nvGraphicFramePr>
        <p:xfrm>
          <a:off x="1725283" y="3791165"/>
          <a:ext cx="24460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8" name="公式" r:id="rId10" imgW="1358900" imgH="330200" progId="Equation.3">
                  <p:embed/>
                </p:oleObj>
              </mc:Choice>
              <mc:Fallback>
                <p:oleObj name="公式" r:id="rId10" imgW="13589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283" y="3791165"/>
                        <a:ext cx="24460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17629"/>
              </p:ext>
            </p:extLst>
          </p:nvPr>
        </p:nvGraphicFramePr>
        <p:xfrm>
          <a:off x="1836738" y="4359275"/>
          <a:ext cx="16224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9" name="公式" r:id="rId12" imgW="901440" imgH="228600" progId="Equation.3">
                  <p:embed/>
                </p:oleObj>
              </mc:Choice>
              <mc:Fallback>
                <p:oleObj name="公式" r:id="rId12" imgW="90144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4359275"/>
                        <a:ext cx="1622425" cy="4111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553821"/>
              </p:ext>
            </p:extLst>
          </p:nvPr>
        </p:nvGraphicFramePr>
        <p:xfrm>
          <a:off x="1590246" y="5377140"/>
          <a:ext cx="1737360" cy="61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0" name="公式" r:id="rId14" imgW="965200" imgH="342900" progId="Equation.3">
                  <p:embed/>
                </p:oleObj>
              </mc:Choice>
              <mc:Fallback>
                <p:oleObj name="公式" r:id="rId14" imgW="965200" imgH="3429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246" y="5377140"/>
                        <a:ext cx="1737360" cy="6172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190322"/>
              </p:ext>
            </p:extLst>
          </p:nvPr>
        </p:nvGraphicFramePr>
        <p:xfrm>
          <a:off x="4275558" y="5421137"/>
          <a:ext cx="2423160" cy="61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1" name="公式" r:id="rId16" imgW="1346200" imgH="342900" progId="Equation.3">
                  <p:embed/>
                </p:oleObj>
              </mc:Choice>
              <mc:Fallback>
                <p:oleObj name="公式" r:id="rId16" imgW="1346200" imgH="3429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558" y="5421137"/>
                        <a:ext cx="2423160" cy="6172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188367"/>
              </p:ext>
            </p:extLst>
          </p:nvPr>
        </p:nvGraphicFramePr>
        <p:xfrm>
          <a:off x="1295646" y="4957193"/>
          <a:ext cx="1600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2" name="公式" r:id="rId18" imgW="888840" imgH="228600" progId="Equation.3">
                  <p:embed/>
                </p:oleObj>
              </mc:Choice>
              <mc:Fallback>
                <p:oleObj name="公式" r:id="rId18" imgW="88884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46" y="4957193"/>
                        <a:ext cx="160020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4462963" y="4084948"/>
            <a:ext cx="3989973" cy="83099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Eigenfunction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an input signal for which the response is a constant times the input</a:t>
            </a:r>
          </a:p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Eigenvalue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amplitude factor</a:t>
            </a:r>
          </a:p>
        </p:txBody>
      </p:sp>
    </p:spTree>
    <p:extLst>
      <p:ext uri="{BB962C8B-B14F-4D97-AF65-F5344CB8AC3E}">
        <p14:creationId xmlns:p14="http://schemas.microsoft.com/office/powerpoint/2010/main" val="5467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3.1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LTI system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-3)</a:t>
            </a:r>
          </a:p>
          <a:p>
            <a:r>
              <a:rPr lang="en-US" dirty="0"/>
              <a:t> </a:t>
            </a:r>
            <a:r>
              <a:rPr lang="en-US" dirty="0" smtClean="0"/>
              <a:t>input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e</a:t>
            </a:r>
            <a:r>
              <a:rPr lang="en-US" i="1" baseline="30000" dirty="0" smtClean="0"/>
              <a:t>j</a:t>
            </a:r>
            <a:r>
              <a:rPr lang="en-US" baseline="30000" dirty="0" smtClean="0"/>
              <a:t>2</a:t>
            </a:r>
            <a:r>
              <a:rPr lang="en-US" i="1" baseline="30000" dirty="0" smtClean="0"/>
              <a:t>t</a:t>
            </a:r>
          </a:p>
          <a:p>
            <a:pPr marL="0" indent="0">
              <a:buNone/>
            </a:pPr>
            <a:r>
              <a:rPr lang="en-US" i="1" baseline="30000" dirty="0"/>
              <a:t> </a:t>
            </a:r>
            <a:r>
              <a:rPr lang="en-US" i="1" dirty="0" smtClean="0"/>
              <a:t>    </a:t>
            </a:r>
            <a:r>
              <a:rPr lang="en-US" dirty="0" smtClean="0"/>
              <a:t>(a) 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e</a:t>
            </a:r>
            <a:r>
              <a:rPr lang="en-US" i="1" baseline="30000" dirty="0" smtClean="0"/>
              <a:t>j</a:t>
            </a:r>
            <a:r>
              <a:rPr lang="en-US" baseline="30000" dirty="0" smtClean="0"/>
              <a:t>2(</a:t>
            </a:r>
            <a:r>
              <a:rPr lang="en-US" i="1" baseline="30000" dirty="0" smtClean="0"/>
              <a:t>t</a:t>
            </a:r>
            <a:r>
              <a:rPr lang="en-US" baseline="30000" dirty="0" smtClean="0"/>
              <a:t>-3)</a:t>
            </a:r>
            <a:r>
              <a:rPr lang="en-US" dirty="0" smtClean="0"/>
              <a:t>=</a:t>
            </a:r>
            <a:r>
              <a:rPr lang="en-US" i="1" dirty="0" smtClean="0"/>
              <a:t>e</a:t>
            </a:r>
            <a:r>
              <a:rPr lang="en-US" baseline="30000" dirty="0" smtClean="0"/>
              <a:t>-</a:t>
            </a:r>
            <a:r>
              <a:rPr lang="en-US" i="1" baseline="30000" dirty="0" smtClean="0"/>
              <a:t>j</a:t>
            </a:r>
            <a:r>
              <a:rPr lang="en-US" baseline="30000" dirty="0" smtClean="0"/>
              <a:t>6</a:t>
            </a:r>
            <a:r>
              <a:rPr lang="en-US" i="1" dirty="0" smtClean="0"/>
              <a:t>e</a:t>
            </a:r>
            <a:r>
              <a:rPr lang="en-US" i="1" baseline="30000" dirty="0" smtClean="0"/>
              <a:t>j</a:t>
            </a:r>
            <a:r>
              <a:rPr lang="en-US" baseline="30000" dirty="0" smtClean="0"/>
              <a:t>2</a:t>
            </a:r>
            <a:r>
              <a:rPr lang="en-US" i="1" baseline="30000" dirty="0" smtClean="0"/>
              <a:t>t</a:t>
            </a:r>
            <a:endParaRPr lang="en-US" i="1" dirty="0" smtClean="0"/>
          </a:p>
          <a:p>
            <a:pPr marL="0" indent="0">
              <a:buNone/>
            </a:pPr>
            <a:r>
              <a:rPr lang="en-US" dirty="0" smtClean="0"/>
              <a:t>     (b)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-3),  </a:t>
            </a:r>
            <a:r>
              <a:rPr lang="en-US" b="1" dirty="0" smtClean="0">
                <a:solidFill>
                  <a:srgbClr val="C00000"/>
                </a:solidFill>
              </a:rPr>
              <a:t>eigenvalue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</a:p>
          <a:p>
            <a:pPr>
              <a:spcBef>
                <a:spcPts val="0"/>
              </a:spcBef>
            </a:pPr>
            <a:r>
              <a:rPr lang="en-US" dirty="0"/>
              <a:t> </a:t>
            </a:r>
            <a:r>
              <a:rPr lang="en-US" dirty="0" smtClean="0"/>
              <a:t>input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)=cos(4</a:t>
            </a:r>
            <a:r>
              <a:rPr lang="en-US" i="1" dirty="0" smtClean="0"/>
              <a:t>t</a:t>
            </a:r>
            <a:r>
              <a:rPr lang="en-US" dirty="0" smtClean="0"/>
              <a:t>)+cos(7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    (a)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dirty="0"/>
              <a:t> </a:t>
            </a:r>
            <a:r>
              <a:rPr lang="en-US" dirty="0" smtClean="0"/>
              <a:t>cos(4</a:t>
            </a:r>
            <a:r>
              <a:rPr lang="en-US" i="1" dirty="0" smtClean="0"/>
              <a:t>t</a:t>
            </a:r>
            <a:r>
              <a:rPr lang="en-US" dirty="0" smtClean="0"/>
              <a:t>-12)+cos(7</a:t>
            </a:r>
            <a:r>
              <a:rPr lang="en-US" i="1" dirty="0" smtClean="0"/>
              <a:t>t</a:t>
            </a:r>
            <a:r>
              <a:rPr lang="en-US" dirty="0" smtClean="0"/>
              <a:t>-21)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(b)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§3.2 Response of LTI System to Complex Exponential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225541"/>
              </p:ext>
            </p:extLst>
          </p:nvPr>
        </p:nvGraphicFramePr>
        <p:xfrm>
          <a:off x="5121592" y="2784327"/>
          <a:ext cx="35204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3" name="公式" r:id="rId3" imgW="1955800" imgH="330200" progId="Equation.3">
                  <p:embed/>
                </p:oleObj>
              </mc:Choice>
              <mc:Fallback>
                <p:oleObj name="公式" r:id="rId3" imgW="1955800" imgH="330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592" y="2784327"/>
                        <a:ext cx="352044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115523"/>
              </p:ext>
            </p:extLst>
          </p:nvPr>
        </p:nvGraphicFramePr>
        <p:xfrm>
          <a:off x="1614533" y="3326931"/>
          <a:ext cx="21717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4" name="公式" r:id="rId5" imgW="1206500" imgH="228600" progId="Equation.3">
                  <p:embed/>
                </p:oleObj>
              </mc:Choice>
              <mc:Fallback>
                <p:oleObj name="公式" r:id="rId5" imgW="12065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533" y="3326931"/>
                        <a:ext cx="21717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033569"/>
              </p:ext>
            </p:extLst>
          </p:nvPr>
        </p:nvGraphicFramePr>
        <p:xfrm>
          <a:off x="4084638" y="3300413"/>
          <a:ext cx="269716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5" name="公式" r:id="rId7" imgW="1498320" imgH="228600" progId="Equation.3">
                  <p:embed/>
                </p:oleObj>
              </mc:Choice>
              <mc:Fallback>
                <p:oleObj name="公式" r:id="rId7" imgW="14983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638" y="3300413"/>
                        <a:ext cx="2697162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321936"/>
              </p:ext>
            </p:extLst>
          </p:nvPr>
        </p:nvGraphicFramePr>
        <p:xfrm>
          <a:off x="1565910" y="4657486"/>
          <a:ext cx="42519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6" name="公式" r:id="rId9" imgW="2362200" imgH="393700" progId="Equation.3">
                  <p:embed/>
                </p:oleObj>
              </mc:Choice>
              <mc:Fallback>
                <p:oleObj name="公式" r:id="rId9" imgW="2362200" imgH="393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910" y="4657486"/>
                        <a:ext cx="4251960" cy="7086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072230"/>
              </p:ext>
            </p:extLst>
          </p:nvPr>
        </p:nvGraphicFramePr>
        <p:xfrm>
          <a:off x="1565910" y="5230657"/>
          <a:ext cx="6012180" cy="109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7" name="公式" r:id="rId11" imgW="3340100" imgH="609600" progId="Equation.3">
                  <p:embed/>
                </p:oleObj>
              </mc:Choice>
              <mc:Fallback>
                <p:oleObj name="公式" r:id="rId11" imgW="3340100" imgH="609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910" y="5230657"/>
                        <a:ext cx="6012180" cy="1097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973946" y="4055859"/>
            <a:ext cx="3025408" cy="830997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 eigenvalues to find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1302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 LTI System Response to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Assume LTI system with impulse response </a:t>
            </a:r>
            <a:r>
              <a:rPr lang="en-US" i="1" dirty="0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dirty="0" smtClean="0"/>
              <a:t>Recall </a:t>
            </a:r>
            <a:r>
              <a:rPr lang="en-US" b="1" dirty="0" smtClean="0">
                <a:solidFill>
                  <a:srgbClr val="C00000"/>
                </a:solidFill>
              </a:rPr>
              <a:t>sum convolution</a:t>
            </a:r>
            <a:r>
              <a:rPr lang="en-US" dirty="0" smtClean="0"/>
              <a:t>: </a:t>
            </a:r>
          </a:p>
          <a:p>
            <a:r>
              <a:rPr lang="en-US" dirty="0"/>
              <a:t> </a:t>
            </a:r>
            <a:r>
              <a:rPr lang="en-US" dirty="0" smtClean="0"/>
              <a:t>System response to 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Let </a:t>
            </a:r>
          </a:p>
          <a:p>
            <a:endParaRPr lang="en-US" dirty="0"/>
          </a:p>
          <a:p>
            <a:r>
              <a:rPr lang="en-US" dirty="0" smtClean="0"/>
              <a:t>                       </a:t>
            </a:r>
            <a:r>
              <a:rPr lang="en-US" i="1" dirty="0" err="1" smtClean="0"/>
              <a:t>z</a:t>
            </a:r>
            <a:r>
              <a:rPr lang="en-US" i="1" baseline="30000" dirty="0" err="1" smtClean="0"/>
              <a:t>n</a:t>
            </a:r>
            <a:r>
              <a:rPr lang="en-US" i="1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eigenfunction</a:t>
            </a:r>
            <a:r>
              <a:rPr lang="en-US" b="1" dirty="0" smtClean="0"/>
              <a:t>,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/>
              <a:t>z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eigenvalue</a:t>
            </a:r>
          </a:p>
          <a:p>
            <a:r>
              <a:rPr lang="en-US" dirty="0" smtClean="0"/>
              <a:t> If                    , then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§3.2 Response of LTI System to Complex Exponential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162022"/>
              </p:ext>
            </p:extLst>
          </p:nvPr>
        </p:nvGraphicFramePr>
        <p:xfrm>
          <a:off x="1406923" y="5420820"/>
          <a:ext cx="16224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3" name="公式" r:id="rId3" imgW="901440" imgH="342720" progId="Equation.3">
                  <p:embed/>
                </p:oleObj>
              </mc:Choice>
              <mc:Fallback>
                <p:oleObj name="公式" r:id="rId3" imgW="901440" imgH="342720" progId="Equation.3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923" y="5420820"/>
                        <a:ext cx="1622425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08553"/>
              </p:ext>
            </p:extLst>
          </p:nvPr>
        </p:nvGraphicFramePr>
        <p:xfrm>
          <a:off x="4028775" y="5469585"/>
          <a:ext cx="23098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4" name="公式" r:id="rId5" imgW="1282680" imgH="342720" progId="Equation.3">
                  <p:embed/>
                </p:oleObj>
              </mc:Choice>
              <mc:Fallback>
                <p:oleObj name="公式" r:id="rId5" imgW="1282680" imgH="34272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775" y="5469585"/>
                        <a:ext cx="2309813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477923"/>
              </p:ext>
            </p:extLst>
          </p:nvPr>
        </p:nvGraphicFramePr>
        <p:xfrm>
          <a:off x="1328738" y="4957763"/>
          <a:ext cx="15319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5" name="公式" r:id="rId7" imgW="850680" imgH="228600" progId="Equation.3">
                  <p:embed/>
                </p:oleObj>
              </mc:Choice>
              <mc:Fallback>
                <p:oleObj name="公式" r:id="rId7" imgW="850680" imgH="228600" progId="Equation.3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4957763"/>
                        <a:ext cx="1531937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4442305" y="3868044"/>
            <a:ext cx="3989973" cy="83099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Eigenfunction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an input signal for which the response is a constant times the input</a:t>
            </a:r>
          </a:p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Eigenvalue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amplitude factor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498737"/>
              </p:ext>
            </p:extLst>
          </p:nvPr>
        </p:nvGraphicFramePr>
        <p:xfrm>
          <a:off x="7220181" y="411602"/>
          <a:ext cx="532938" cy="57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6" name="公式" r:id="rId9" imgW="177646" imgH="190335" progId="Equation.3">
                  <p:embed/>
                </p:oleObj>
              </mc:Choice>
              <mc:Fallback>
                <p:oleObj name="公式" r:id="rId9" imgW="177646" imgH="190335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0181" y="411602"/>
                        <a:ext cx="532938" cy="571005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950889"/>
              </p:ext>
            </p:extLst>
          </p:nvPr>
        </p:nvGraphicFramePr>
        <p:xfrm>
          <a:off x="4846871" y="1702569"/>
          <a:ext cx="2536358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7" name="公式" r:id="rId11" imgW="1409088" imgH="431613" progId="Equation.3">
                  <p:embed/>
                </p:oleObj>
              </mc:Choice>
              <mc:Fallback>
                <p:oleObj name="公式" r:id="rId11" imgW="1409088" imgH="4316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871" y="1702569"/>
                        <a:ext cx="2536358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565910"/>
              </p:ext>
            </p:extLst>
          </p:nvPr>
        </p:nvGraphicFramePr>
        <p:xfrm>
          <a:off x="3955795" y="2350134"/>
          <a:ext cx="319763" cy="342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8" name="公式" r:id="rId13" imgW="177646" imgH="190335" progId="Equation.3">
                  <p:embed/>
                </p:oleObj>
              </mc:Choice>
              <mc:Fallback>
                <p:oleObj name="公式" r:id="rId13" imgW="177646" imgH="190335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795" y="2350134"/>
                        <a:ext cx="319763" cy="342603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092416"/>
              </p:ext>
            </p:extLst>
          </p:nvPr>
        </p:nvGraphicFramePr>
        <p:xfrm>
          <a:off x="1550515" y="2832083"/>
          <a:ext cx="57835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9" name="公式" r:id="rId14" imgW="3213100" imgH="431800" progId="Equation.3">
                  <p:embed/>
                </p:oleObj>
              </mc:Choice>
              <mc:Fallback>
                <p:oleObj name="公式" r:id="rId14" imgW="32131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515" y="2832083"/>
                        <a:ext cx="57835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245552"/>
              </p:ext>
            </p:extLst>
          </p:nvPr>
        </p:nvGraphicFramePr>
        <p:xfrm>
          <a:off x="1786255" y="3652625"/>
          <a:ext cx="21488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0" name="公式" r:id="rId16" imgW="1193800" imgH="431800" progId="Equation.3">
                  <p:embed/>
                </p:oleObj>
              </mc:Choice>
              <mc:Fallback>
                <p:oleObj name="公式" r:id="rId16" imgW="1193800" imgH="431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255" y="3652625"/>
                        <a:ext cx="21488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87705"/>
              </p:ext>
            </p:extLst>
          </p:nvPr>
        </p:nvGraphicFramePr>
        <p:xfrm>
          <a:off x="1906437" y="4416638"/>
          <a:ext cx="1645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1" name="公式" r:id="rId18" imgW="914400" imgH="228600" progId="Equation.3">
                  <p:embed/>
                </p:oleObj>
              </mc:Choice>
              <mc:Fallback>
                <p:oleObj name="公式" r:id="rId18" imgW="9144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437" y="4416638"/>
                        <a:ext cx="1645920" cy="4114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936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34195" cy="792000"/>
          </a:xfrm>
        </p:spPr>
        <p:txBody>
          <a:bodyPr>
            <a:noAutofit/>
          </a:bodyPr>
          <a:lstStyle/>
          <a:p>
            <a:r>
              <a:rPr lang="en-US" sz="3600" dirty="0"/>
              <a:t>§</a:t>
            </a:r>
            <a:r>
              <a:rPr lang="en-US" sz="3600" dirty="0" smtClean="0"/>
              <a:t>3.3 Fourier Series of CT Periodic Signals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 periodic signal: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err="1" smtClean="0"/>
              <a:t>t</a:t>
            </a:r>
            <a:r>
              <a:rPr lang="en-US" dirty="0" err="1" smtClean="0"/>
              <a:t>+</a:t>
            </a:r>
            <a:r>
              <a:rPr lang="en-US" i="1" dirty="0" err="1" smtClean="0"/>
              <a:t>T</a:t>
            </a:r>
            <a:r>
              <a:rPr lang="en-US" dirty="0" smtClean="0"/>
              <a:t>), </a:t>
            </a:r>
            <a:r>
              <a:rPr lang="en-US" i="1" dirty="0" smtClean="0"/>
              <a:t>T</a:t>
            </a:r>
            <a:r>
              <a:rPr lang="en-US" dirty="0" smtClean="0"/>
              <a:t> is positive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Fundamental per</a:t>
            </a:r>
            <a:r>
              <a:rPr lang="en-US" b="1" dirty="0">
                <a:solidFill>
                  <a:srgbClr val="C00000"/>
                </a:solidFill>
              </a:rPr>
              <a:t>iod</a:t>
            </a:r>
            <a:r>
              <a:rPr lang="en-US" dirty="0" smtClean="0"/>
              <a:t>: the minimum nonzero positive T, </a:t>
            </a:r>
            <a:r>
              <a:rPr lang="en-US" b="1" dirty="0" smtClean="0">
                <a:solidFill>
                  <a:srgbClr val="C00000"/>
                </a:solidFill>
              </a:rPr>
              <a:t>Fundamental frequency</a:t>
            </a:r>
            <a:r>
              <a:rPr lang="en-US" dirty="0" smtClean="0"/>
              <a:t>: </a:t>
            </a:r>
            <a:r>
              <a:rPr lang="el-GR" i="1" dirty="0" smtClean="0"/>
              <a:t>ω</a:t>
            </a:r>
            <a:r>
              <a:rPr lang="en-US" baseline="-25000" dirty="0" smtClean="0"/>
              <a:t>0</a:t>
            </a:r>
            <a:r>
              <a:rPr lang="en-US" dirty="0" smtClean="0"/>
              <a:t>=2</a:t>
            </a:r>
            <a:r>
              <a:rPr lang="el-GR" i="1" dirty="0" smtClean="0"/>
              <a:t>π</a:t>
            </a:r>
            <a:r>
              <a:rPr lang="en-US" dirty="0" smtClean="0"/>
              <a:t>/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Harmonically related </a:t>
            </a:r>
            <a:r>
              <a:rPr lang="en-US" dirty="0" smtClean="0"/>
              <a:t>complex exponentials</a:t>
            </a:r>
          </a:p>
          <a:p>
            <a:endParaRPr lang="en-US" dirty="0"/>
          </a:p>
          <a:p>
            <a:r>
              <a:rPr lang="en-US" dirty="0" smtClean="0"/>
              <a:t> linear combination of harmonically related complex exponentials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u="sng" dirty="0">
                <a:solidFill>
                  <a:srgbClr val="C00000"/>
                </a:solidFill>
              </a:rPr>
              <a:t>Fourier Series</a:t>
            </a:r>
            <a:r>
              <a:rPr lang="en-US" dirty="0"/>
              <a:t>: representation of a periodic signal in the above </a:t>
            </a:r>
            <a:r>
              <a:rPr lang="en-US" dirty="0" smtClean="0"/>
              <a:t>form</a:t>
            </a:r>
          </a:p>
          <a:p>
            <a:r>
              <a:rPr lang="en-US" i="1" dirty="0"/>
              <a:t> </a:t>
            </a:r>
            <a:r>
              <a:rPr lang="en-US" i="1" dirty="0" smtClean="0"/>
              <a:t>k</a:t>
            </a:r>
            <a:r>
              <a:rPr lang="en-US" dirty="0" smtClean="0"/>
              <a:t>=0, constant item</a:t>
            </a:r>
          </a:p>
          <a:p>
            <a:r>
              <a:rPr lang="en-US" dirty="0"/>
              <a:t> </a:t>
            </a:r>
            <a:r>
              <a:rPr lang="en-US" i="1" dirty="0" smtClean="0"/>
              <a:t>k</a:t>
            </a:r>
            <a:r>
              <a:rPr lang="en-US" dirty="0" smtClean="0"/>
              <a:t>=+1, -1, </a:t>
            </a:r>
            <a:r>
              <a:rPr lang="en-US" dirty="0" smtClean="0">
                <a:solidFill>
                  <a:srgbClr val="C00000"/>
                </a:solidFill>
              </a:rPr>
              <a:t>fundamental component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first harmonic component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k</a:t>
            </a:r>
            <a:r>
              <a:rPr lang="en-US" dirty="0" smtClean="0"/>
              <a:t>=+</a:t>
            </a:r>
            <a:r>
              <a:rPr lang="en-US" i="1" dirty="0" smtClean="0"/>
              <a:t>N</a:t>
            </a:r>
            <a:r>
              <a:rPr lang="en-US" dirty="0" smtClean="0"/>
              <a:t>, -</a:t>
            </a:r>
            <a:r>
              <a:rPr lang="en-US" i="1" dirty="0" smtClean="0"/>
              <a:t>N</a:t>
            </a:r>
            <a:r>
              <a:rPr lang="en-US" dirty="0" smtClean="0"/>
              <a:t>, </a:t>
            </a:r>
            <a:r>
              <a:rPr lang="en-US" i="1" dirty="0" smtClean="0"/>
              <a:t>N</a:t>
            </a:r>
            <a:r>
              <a:rPr lang="en-US" dirty="0" smtClean="0"/>
              <a:t>th harmonic components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Signals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886102"/>
              </p:ext>
            </p:extLst>
          </p:nvPr>
        </p:nvGraphicFramePr>
        <p:xfrm>
          <a:off x="2044074" y="2679953"/>
          <a:ext cx="466344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4" name="公式" r:id="rId3" imgW="2590800" imgH="241300" progId="Equation.3">
                  <p:embed/>
                </p:oleObj>
              </mc:Choice>
              <mc:Fallback>
                <p:oleObj name="公式" r:id="rId3" imgW="25908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074" y="2679953"/>
                        <a:ext cx="466344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640822"/>
              </p:ext>
            </p:extLst>
          </p:nvPr>
        </p:nvGraphicFramePr>
        <p:xfrm>
          <a:off x="2660231" y="3353911"/>
          <a:ext cx="3823537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5" name="公式" r:id="rId5" imgW="2108200" imgH="431800" progId="Equation.3">
                  <p:embed/>
                </p:oleObj>
              </mc:Choice>
              <mc:Fallback>
                <p:oleObj name="公式" r:id="rId5" imgW="21082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231" y="3353911"/>
                        <a:ext cx="3823537" cy="777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60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Fourier Series of Real Periodic Signals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real, then </a:t>
            </a:r>
            <a:r>
              <a:rPr lang="en-US" i="1" dirty="0" smtClean="0"/>
              <a:t>x</a:t>
            </a:r>
            <a:r>
              <a:rPr lang="en-US" baseline="30000" dirty="0" smtClean="0"/>
              <a:t>*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Signals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058312"/>
              </p:ext>
            </p:extLst>
          </p:nvPr>
        </p:nvGraphicFramePr>
        <p:xfrm>
          <a:off x="1161513" y="1777040"/>
          <a:ext cx="36576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6" name="公式" r:id="rId3" imgW="2032000" imgH="431800" progId="Equation.3">
                  <p:embed/>
                </p:oleObj>
              </mc:Choice>
              <mc:Fallback>
                <p:oleObj name="公式" r:id="rId3" imgW="20320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513" y="1777040"/>
                        <a:ext cx="36576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238401"/>
              </p:ext>
            </p:extLst>
          </p:nvPr>
        </p:nvGraphicFramePr>
        <p:xfrm>
          <a:off x="1136712" y="2705254"/>
          <a:ext cx="308610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7" name="公式" r:id="rId5" imgW="1714500" imgH="241300" progId="Equation.3">
                  <p:embed/>
                </p:oleObj>
              </mc:Choice>
              <mc:Fallback>
                <p:oleObj name="公式" r:id="rId5" imgW="17145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712" y="2705254"/>
                        <a:ext cx="308610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083414"/>
              </p:ext>
            </p:extLst>
          </p:nvPr>
        </p:nvGraphicFramePr>
        <p:xfrm>
          <a:off x="4441604" y="2655074"/>
          <a:ext cx="31318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8" name="公式" r:id="rId7" imgW="1739900" imgH="254000" progId="Equation.3">
                  <p:embed/>
                </p:oleObj>
              </mc:Choice>
              <mc:Fallback>
                <p:oleObj name="公式" r:id="rId7" imgW="17399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604" y="2655074"/>
                        <a:ext cx="313182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515595"/>
              </p:ext>
            </p:extLst>
          </p:nvPr>
        </p:nvGraphicFramePr>
        <p:xfrm>
          <a:off x="1136712" y="3247323"/>
          <a:ext cx="724662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9" name="公式" r:id="rId9" imgW="4025900" imgH="889000" progId="Equation.3">
                  <p:embed/>
                </p:oleObj>
              </mc:Choice>
              <mc:Fallback>
                <p:oleObj name="公式" r:id="rId9" imgW="4025900" imgH="889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712" y="3247323"/>
                        <a:ext cx="724662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447771"/>
              </p:ext>
            </p:extLst>
          </p:nvPr>
        </p:nvGraphicFramePr>
        <p:xfrm>
          <a:off x="1136712" y="5026911"/>
          <a:ext cx="1279604" cy="434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公式" r:id="rId11" imgW="710891" imgH="241195" progId="Equation.3">
                  <p:embed/>
                </p:oleObj>
              </mc:Choice>
              <mc:Fallback>
                <p:oleObj name="公式" r:id="rId11" imgW="710891" imgH="2411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712" y="5026911"/>
                        <a:ext cx="1279604" cy="4341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97681"/>
              </p:ext>
            </p:extLst>
          </p:nvPr>
        </p:nvGraphicFramePr>
        <p:xfrm>
          <a:off x="1136712" y="5369054"/>
          <a:ext cx="65379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公式" r:id="rId13" imgW="3632200" imgH="431800" progId="Equation.3">
                  <p:embed/>
                </p:oleObj>
              </mc:Choice>
              <mc:Fallback>
                <p:oleObj name="公式" r:id="rId13" imgW="3632200" imgH="431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712" y="5369054"/>
                        <a:ext cx="65379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768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3.2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Signals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774479"/>
              </p:ext>
            </p:extLst>
          </p:nvPr>
        </p:nvGraphicFramePr>
        <p:xfrm>
          <a:off x="741871" y="1466489"/>
          <a:ext cx="56007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1" name="公式" r:id="rId3" imgW="3111500" imgH="431800" progId="Equation.3">
                  <p:embed/>
                </p:oleObj>
              </mc:Choice>
              <mc:Fallback>
                <p:oleObj name="公式" r:id="rId3" imgW="31115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71" y="1466489"/>
                        <a:ext cx="56007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12428"/>
              </p:ext>
            </p:extLst>
          </p:nvPr>
        </p:nvGraphicFramePr>
        <p:xfrm>
          <a:off x="741871" y="2337400"/>
          <a:ext cx="42976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42" name="公式" r:id="rId5" imgW="2387600" imgH="393700" progId="Equation.3">
                  <p:embed/>
                </p:oleObj>
              </mc:Choice>
              <mc:Fallback>
                <p:oleObj name="公式" r:id="rId5" imgW="23876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871" y="2337400"/>
                        <a:ext cx="42976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294" y="2744534"/>
            <a:ext cx="5067332" cy="379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4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Find the Fourier Series Coefficients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</a:t>
            </a:r>
            <a:r>
              <a:rPr lang="en-US" dirty="0" smtClean="0"/>
              <a:t>Signals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06512"/>
              </p:ext>
            </p:extLst>
          </p:nvPr>
        </p:nvGraphicFramePr>
        <p:xfrm>
          <a:off x="1138687" y="1224741"/>
          <a:ext cx="51663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4" name="公式" r:id="rId3" imgW="2870200" imgH="431800" progId="Equation.3">
                  <p:embed/>
                </p:oleObj>
              </mc:Choice>
              <mc:Fallback>
                <p:oleObj name="公式" r:id="rId3" imgW="28702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687" y="1224741"/>
                        <a:ext cx="51663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484992"/>
              </p:ext>
            </p:extLst>
          </p:nvPr>
        </p:nvGraphicFramePr>
        <p:xfrm>
          <a:off x="1138687" y="1996382"/>
          <a:ext cx="62407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5" name="公式" r:id="rId5" imgW="3467100" imgH="431800" progId="Equation.3">
                  <p:embed/>
                </p:oleObj>
              </mc:Choice>
              <mc:Fallback>
                <p:oleObj name="公式" r:id="rId5" imgW="34671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687" y="1996382"/>
                        <a:ext cx="62407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289480"/>
              </p:ext>
            </p:extLst>
          </p:nvPr>
        </p:nvGraphicFramePr>
        <p:xfrm>
          <a:off x="1138687" y="3504163"/>
          <a:ext cx="40925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6" name="公式" r:id="rId7" imgW="2273040" imgH="330120" progId="Equation.3">
                  <p:embed/>
                </p:oleObj>
              </mc:Choice>
              <mc:Fallback>
                <p:oleObj name="公式" r:id="rId7" imgW="2273040" imgH="330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687" y="3504163"/>
                        <a:ext cx="4092575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297411"/>
              </p:ext>
            </p:extLst>
          </p:nvPr>
        </p:nvGraphicFramePr>
        <p:xfrm>
          <a:off x="1138687" y="2702294"/>
          <a:ext cx="278892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7" name="公式" r:id="rId9" imgW="1549400" imgH="457200" progId="Equation.3">
                  <p:embed/>
                </p:oleObj>
              </mc:Choice>
              <mc:Fallback>
                <p:oleObj name="公式" r:id="rId9" imgW="15494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687" y="2702294"/>
                        <a:ext cx="278892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685958"/>
              </p:ext>
            </p:extLst>
          </p:nvPr>
        </p:nvGraphicFramePr>
        <p:xfrm>
          <a:off x="1221871" y="4238405"/>
          <a:ext cx="235355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8" name="公式" r:id="rId11" imgW="1307532" imgH="393529" progId="Equation.3">
                  <p:embed/>
                </p:oleObj>
              </mc:Choice>
              <mc:Fallback>
                <p:oleObj name="公式" r:id="rId11" imgW="1307532" imgH="39352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1871" y="4238405"/>
                        <a:ext cx="2353558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445479"/>
              </p:ext>
            </p:extLst>
          </p:nvPr>
        </p:nvGraphicFramePr>
        <p:xfrm>
          <a:off x="3631281" y="5611588"/>
          <a:ext cx="47091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19" name="公式" r:id="rId13" imgW="2616200" imgH="393700" progId="Equation.3">
                  <p:embed/>
                </p:oleObj>
              </mc:Choice>
              <mc:Fallback>
                <p:oleObj name="公式" r:id="rId13" imgW="26162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281" y="5611588"/>
                        <a:ext cx="4709160" cy="7086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995471"/>
              </p:ext>
            </p:extLst>
          </p:nvPr>
        </p:nvGraphicFramePr>
        <p:xfrm>
          <a:off x="3652851" y="4703752"/>
          <a:ext cx="37947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20" name="公式" r:id="rId15" imgW="2108200" imgH="431800" progId="Equation.3">
                  <p:embed/>
                </p:oleObj>
              </mc:Choice>
              <mc:Fallback>
                <p:oleObj name="公式" r:id="rId15" imgW="2108200" imgH="431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51" y="4703752"/>
                        <a:ext cx="379476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925617" y="4921416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4963" y="5622964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69601"/>
              </p:ext>
            </p:extLst>
          </p:nvPr>
        </p:nvGraphicFramePr>
        <p:xfrm>
          <a:off x="5830047" y="3172247"/>
          <a:ext cx="525551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21" name="公式" r:id="rId17" imgW="291973" imgH="228501" progId="Equation.3">
                  <p:embed/>
                </p:oleObj>
              </mc:Choice>
              <mc:Fallback>
                <p:oleObj name="公式" r:id="rId17" imgW="291973" imgH="2285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047" y="3172247"/>
                        <a:ext cx="525551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5782151" y="3106298"/>
            <a:ext cx="2801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Fourier Series Coefficients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 coefficients</a:t>
            </a:r>
          </a:p>
        </p:txBody>
      </p:sp>
    </p:spTree>
    <p:extLst>
      <p:ext uri="{BB962C8B-B14F-4D97-AF65-F5344CB8AC3E}">
        <p14:creationId xmlns:p14="http://schemas.microsoft.com/office/powerpoint/2010/main" val="37263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10449"/>
            <a:ext cx="7886700" cy="792000"/>
          </a:xfrm>
        </p:spPr>
        <p:txBody>
          <a:bodyPr/>
          <a:lstStyle/>
          <a:p>
            <a:r>
              <a:rPr lang="en-US" dirty="0" smtClean="0"/>
              <a:t>Fourier Series Coefficients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    </a:t>
            </a:r>
            <a:r>
              <a:rPr lang="en-US" b="1" dirty="0">
                <a:solidFill>
                  <a:srgbClr val="C00000"/>
                </a:solidFill>
              </a:rPr>
              <a:t>Fourier Series Coefficients</a:t>
            </a:r>
            <a:r>
              <a:rPr lang="en-US" dirty="0"/>
              <a:t>, or </a:t>
            </a:r>
            <a:r>
              <a:rPr lang="en-US" b="1" dirty="0" smtClean="0">
                <a:solidFill>
                  <a:srgbClr val="C00000"/>
                </a:solidFill>
              </a:rPr>
              <a:t>Spectra </a:t>
            </a:r>
            <a:r>
              <a:rPr lang="en-US" b="1" dirty="0" err="1">
                <a:solidFill>
                  <a:srgbClr val="C00000"/>
                </a:solidFill>
              </a:rPr>
              <a:t>C</a:t>
            </a:r>
            <a:r>
              <a:rPr lang="en-US" b="1" dirty="0" err="1" smtClean="0">
                <a:solidFill>
                  <a:srgbClr val="C00000"/>
                </a:solidFill>
              </a:rPr>
              <a:t>oeffcients</a:t>
            </a:r>
            <a:r>
              <a:rPr lang="en-US" b="1" dirty="0" smtClean="0">
                <a:solidFill>
                  <a:srgbClr val="C00000"/>
                </a:solidFill>
              </a:rPr>
              <a:t>,  </a:t>
            </a:r>
            <a:r>
              <a:rPr lang="en-US" dirty="0" smtClean="0"/>
              <a:t>is complex </a:t>
            </a:r>
          </a:p>
          <a:p>
            <a:r>
              <a:rPr lang="en-US" dirty="0"/>
              <a:t> </a:t>
            </a:r>
            <a:r>
              <a:rPr lang="en-US" dirty="0" smtClean="0"/>
              <a:t>      magnitude </a:t>
            </a:r>
          </a:p>
          <a:p>
            <a:r>
              <a:rPr lang="en-US" dirty="0" smtClean="0"/>
              <a:t>       phase </a:t>
            </a:r>
          </a:p>
          <a:p>
            <a:r>
              <a:rPr lang="en-US" dirty="0"/>
              <a:t> </a:t>
            </a:r>
            <a:r>
              <a:rPr lang="en-US" dirty="0" smtClean="0"/>
              <a:t>Example 3.3 </a:t>
            </a:r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</a:t>
            </a:r>
            <a:r>
              <a:rPr lang="en-US" dirty="0" smtClean="0"/>
              <a:t>Signals</a:t>
            </a:r>
            <a:endParaRPr lang="en-US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29808"/>
              </p:ext>
            </p:extLst>
          </p:nvPr>
        </p:nvGraphicFramePr>
        <p:xfrm>
          <a:off x="1115568" y="1389888"/>
          <a:ext cx="525551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2" name="公式" r:id="rId3" imgW="291973" imgH="228501" progId="Equation.3">
                  <p:embed/>
                </p:oleObj>
              </mc:Choice>
              <mc:Fallback>
                <p:oleObj name="公式" r:id="rId3" imgW="291973" imgH="22850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568" y="1389888"/>
                        <a:ext cx="525551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375280"/>
              </p:ext>
            </p:extLst>
          </p:nvPr>
        </p:nvGraphicFramePr>
        <p:xfrm>
          <a:off x="1131815" y="2221062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3" name="公式" r:id="rId5" imgW="241200" imgH="253800" progId="Equation.3">
                  <p:embed/>
                </p:oleObj>
              </mc:Choice>
              <mc:Fallback>
                <p:oleObj name="公式" r:id="rId5" imgW="241200" imgH="2538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15" y="2221062"/>
                        <a:ext cx="43338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744197"/>
              </p:ext>
            </p:extLst>
          </p:nvPr>
        </p:nvGraphicFramePr>
        <p:xfrm>
          <a:off x="1069485" y="2781087"/>
          <a:ext cx="525551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4" name="公式" r:id="rId7" imgW="291973" imgH="228501" progId="Equation.3">
                  <p:embed/>
                </p:oleObj>
              </mc:Choice>
              <mc:Fallback>
                <p:oleObj name="公式" r:id="rId7" imgW="291973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485" y="2781087"/>
                        <a:ext cx="525551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338206"/>
              </p:ext>
            </p:extLst>
          </p:nvPr>
        </p:nvGraphicFramePr>
        <p:xfrm>
          <a:off x="2029967" y="3742531"/>
          <a:ext cx="37261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5" name="公式" r:id="rId9" imgW="2070100" imgH="419100" progId="Equation.3">
                  <p:embed/>
                </p:oleObj>
              </mc:Choice>
              <mc:Fallback>
                <p:oleObj name="公式" r:id="rId9" imgW="20701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9967" y="3742531"/>
                        <a:ext cx="37261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440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06805"/>
            <a:ext cx="8295894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Fourier Series of Periodic Square Wave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Use the analysis function to find</a:t>
            </a:r>
          </a:p>
          <a:p>
            <a:r>
              <a:rPr lang="en-US" dirty="0"/>
              <a:t> </a:t>
            </a:r>
            <a:r>
              <a:rPr lang="en-US" dirty="0" smtClean="0"/>
              <a:t>Choose [-</a:t>
            </a:r>
            <a:r>
              <a:rPr lang="en-US" i="1" dirty="0" smtClean="0"/>
              <a:t>T</a:t>
            </a:r>
            <a:r>
              <a:rPr lang="en-US" dirty="0" smtClean="0"/>
              <a:t>/2, </a:t>
            </a:r>
            <a:r>
              <a:rPr lang="en-US" i="1" dirty="0" smtClean="0"/>
              <a:t>T</a:t>
            </a:r>
            <a:r>
              <a:rPr lang="en-US" dirty="0" smtClean="0"/>
              <a:t>/2] as the integral interval, the actual integral interval is </a:t>
            </a:r>
            <a:r>
              <a:rPr lang="en-US" dirty="0"/>
              <a:t>[-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 smtClean="0"/>
              <a:t>] 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</a:t>
            </a:r>
            <a:r>
              <a:rPr lang="en-US" dirty="0" smtClean="0"/>
              <a:t>Signals</a:t>
            </a:r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085174"/>
              </p:ext>
            </p:extLst>
          </p:nvPr>
        </p:nvGraphicFramePr>
        <p:xfrm>
          <a:off x="5839319" y="2919351"/>
          <a:ext cx="525551" cy="411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2" name="公式" r:id="rId3" imgW="291973" imgH="228501" progId="Equation.3">
                  <p:embed/>
                </p:oleObj>
              </mc:Choice>
              <mc:Fallback>
                <p:oleObj name="公式" r:id="rId3" imgW="291973" imgH="228501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9319" y="2919351"/>
                        <a:ext cx="525551" cy="411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916731"/>
              </p:ext>
            </p:extLst>
          </p:nvPr>
        </p:nvGraphicFramePr>
        <p:xfrm>
          <a:off x="1094230" y="4049347"/>
          <a:ext cx="20574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3" name="公式" r:id="rId5" imgW="1143000" imgH="393700" progId="Equation.3">
                  <p:embed/>
                </p:oleObj>
              </mc:Choice>
              <mc:Fallback>
                <p:oleObj name="公式" r:id="rId5" imgW="11430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230" y="4049347"/>
                        <a:ext cx="20574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59353"/>
              </p:ext>
            </p:extLst>
          </p:nvPr>
        </p:nvGraphicFramePr>
        <p:xfrm>
          <a:off x="1095755" y="4758007"/>
          <a:ext cx="50063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4" name="公式" r:id="rId7" imgW="2781300" imgH="431800" progId="Equation.3">
                  <p:embed/>
                </p:oleObj>
              </mc:Choice>
              <mc:Fallback>
                <p:oleObj name="公式" r:id="rId7" imgW="27813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755" y="4758007"/>
                        <a:ext cx="50063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89027"/>
              </p:ext>
            </p:extLst>
          </p:nvPr>
        </p:nvGraphicFramePr>
        <p:xfrm>
          <a:off x="3181082" y="5268464"/>
          <a:ext cx="3657600" cy="1097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5" name="公式" r:id="rId9" imgW="2032000" imgH="609600" progId="Equation.3">
                  <p:embed/>
                </p:oleObj>
              </mc:Choice>
              <mc:Fallback>
                <p:oleObj name="公式" r:id="rId9" imgW="2032000" imgH="609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082" y="5268464"/>
                        <a:ext cx="3657600" cy="1097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3984" y="1198804"/>
            <a:ext cx="4429979" cy="1837003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64031"/>
              </p:ext>
            </p:extLst>
          </p:nvPr>
        </p:nvGraphicFramePr>
        <p:xfrm>
          <a:off x="808480" y="1660105"/>
          <a:ext cx="262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name="公式" r:id="rId12" imgW="1460500" imgH="508000" progId="Equation.3">
                  <p:embed/>
                </p:oleObj>
              </mc:Choice>
              <mc:Fallback>
                <p:oleObj name="公式" r:id="rId12" imgW="1460500" imgH="508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480" y="1660105"/>
                        <a:ext cx="2628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611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Fourier Series of Periodic Square </a:t>
            </a:r>
            <a:r>
              <a:rPr lang="en-US" sz="3200" dirty="0" smtClean="0"/>
              <a:t>Wave (</a:t>
            </a:r>
            <a:r>
              <a:rPr lang="en-US" sz="3200" dirty="0" err="1" smtClean="0"/>
              <a:t>cont</a:t>
            </a:r>
            <a:r>
              <a:rPr lang="en-US" sz="3200" dirty="0" smtClean="0"/>
              <a:t>’)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Duty cycle ratio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§3.3 Fourier Series of CT Periodic </a:t>
            </a:r>
            <a:r>
              <a:rPr lang="en-US" dirty="0" smtClean="0"/>
              <a:t>Signals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870" y="1224741"/>
            <a:ext cx="4982042" cy="5592260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682548"/>
              </p:ext>
            </p:extLst>
          </p:nvPr>
        </p:nvGraphicFramePr>
        <p:xfrm>
          <a:off x="1300718" y="1903666"/>
          <a:ext cx="959704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7" name="公式" r:id="rId4" imgW="533169" imgH="393529" progId="Equation.3">
                  <p:embed/>
                </p:oleObj>
              </mc:Choice>
              <mc:Fallback>
                <p:oleObj name="公式" r:id="rId4" imgW="533169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718" y="1903666"/>
                        <a:ext cx="959704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805053"/>
              </p:ext>
            </p:extLst>
          </p:nvPr>
        </p:nvGraphicFramePr>
        <p:xfrm>
          <a:off x="628650" y="3205770"/>
          <a:ext cx="290322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公式" r:id="rId6" imgW="1612900" imgH="660400" progId="Equation.3">
                  <p:embed/>
                </p:oleObj>
              </mc:Choice>
              <mc:Fallback>
                <p:oleObj name="公式" r:id="rId6" imgW="1612900" imgH="660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205770"/>
                        <a:ext cx="2903220" cy="118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5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§</a:t>
            </a:r>
            <a:r>
              <a:rPr lang="en-US" dirty="0" smtClean="0"/>
              <a:t>3.4 Convergence of Fourier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Dirichlet</a:t>
            </a:r>
            <a:r>
              <a:rPr lang="en-US" b="1" dirty="0" smtClean="0">
                <a:solidFill>
                  <a:srgbClr val="C00000"/>
                </a:solidFill>
              </a:rPr>
              <a:t> Conditions</a:t>
            </a:r>
            <a:r>
              <a:rPr lang="en-US" dirty="0" smtClean="0"/>
              <a:t>: If all 3 conditions are satisfied,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equals its Fourier Series representation, excepted at isolated values of </a:t>
            </a:r>
            <a:r>
              <a:rPr lang="en-US" i="1" dirty="0" smtClean="0"/>
              <a:t>t</a:t>
            </a:r>
            <a:r>
              <a:rPr lang="en-US" dirty="0" smtClean="0"/>
              <a:t> for which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is discontinuous</a:t>
            </a:r>
          </a:p>
          <a:p>
            <a:r>
              <a:rPr lang="en-US" dirty="0"/>
              <a:t> </a:t>
            </a:r>
            <a:r>
              <a:rPr lang="en-US" dirty="0" smtClean="0"/>
              <a:t>Condition #1: over any period, x(t) must be absolutely </a:t>
            </a:r>
            <a:r>
              <a:rPr lang="en-US" dirty="0" err="1" smtClean="0"/>
              <a:t>integrable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§3.4 Convergence of Fourier Series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948896"/>
              </p:ext>
            </p:extLst>
          </p:nvPr>
        </p:nvGraphicFramePr>
        <p:xfrm>
          <a:off x="4315968" y="3401568"/>
          <a:ext cx="1508105" cy="525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0" name="公式" r:id="rId3" imgW="837836" imgH="291973" progId="Equation.3">
                  <p:embed/>
                </p:oleObj>
              </mc:Choice>
              <mc:Fallback>
                <p:oleObj name="公式" r:id="rId3" imgW="837836" imgH="291973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968" y="3401568"/>
                        <a:ext cx="1508105" cy="525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413881"/>
              </p:ext>
            </p:extLst>
          </p:nvPr>
        </p:nvGraphicFramePr>
        <p:xfrm>
          <a:off x="1624691" y="3927119"/>
          <a:ext cx="211455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1" name="公式" r:id="rId5" imgW="1409700" imgH="1473200" progId="Equation.3">
                  <p:embed/>
                </p:oleObj>
              </mc:Choice>
              <mc:Fallback>
                <p:oleObj name="公式" r:id="rId5" imgW="1409700" imgH="147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691" y="3927119"/>
                        <a:ext cx="211455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4705" y="4078094"/>
            <a:ext cx="4964912" cy="205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5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Dirichlet</a:t>
            </a:r>
            <a:r>
              <a:rPr lang="en-US" dirty="0"/>
              <a:t> </a:t>
            </a:r>
            <a:r>
              <a:rPr lang="en-US" dirty="0" smtClean="0"/>
              <a:t>Conditions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Condition #2: In any finite time interval,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of bounded variations (finite number of maxima and minima during any single period)</a:t>
            </a:r>
          </a:p>
          <a:p>
            <a:pPr lvl="1"/>
            <a:r>
              <a:rPr lang="en-US" dirty="0" smtClean="0"/>
              <a:t>Counterexample: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)=sin(1/</a:t>
            </a:r>
            <a:r>
              <a:rPr lang="en-US" i="1" dirty="0" smtClean="0"/>
              <a:t>t</a:t>
            </a:r>
            <a:r>
              <a:rPr lang="en-US" dirty="0" smtClean="0"/>
              <a:t>)  (meets #1, but not #2)</a:t>
            </a:r>
            <a:endParaRPr lang="en-US" dirty="0"/>
          </a:p>
          <a:p>
            <a:r>
              <a:rPr lang="en-US" dirty="0" smtClean="0"/>
              <a:t> Condition #3: In any finite time interval, there are a finite number of discontinuities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Counterexample: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§3.4 Convergence of Fourier </a:t>
            </a:r>
            <a:r>
              <a:rPr lang="en-US" dirty="0" smtClean="0"/>
              <a:t>Series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09" y="3977640"/>
            <a:ext cx="5956066" cy="24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9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Gibbs Phenomenon </a:t>
            </a:r>
            <a:r>
              <a:rPr lang="en-US" sz="2800" dirty="0" smtClean="0"/>
              <a:t>(Michelson’s Observation on FS Representation of Periodic Square Wave)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3294126" cy="48688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If the </a:t>
            </a:r>
            <a:r>
              <a:rPr lang="en-US" dirty="0" err="1" smtClean="0"/>
              <a:t>Dirichlet’s</a:t>
            </a:r>
            <a:r>
              <a:rPr lang="en-US" dirty="0" smtClean="0"/>
              <a:t> Conditions are met, for </a:t>
            </a:r>
            <a:r>
              <a:rPr lang="en-US" dirty="0"/>
              <a:t>any </a:t>
            </a:r>
            <a:r>
              <a:rPr lang="en-US" dirty="0" smtClean="0"/>
              <a:t>continuous point </a:t>
            </a:r>
            <a:r>
              <a:rPr lang="en-US" i="1" dirty="0" smtClean="0"/>
              <a:t>t</a:t>
            </a:r>
            <a:r>
              <a:rPr lang="en-US" dirty="0" smtClean="0"/>
              <a:t>=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, it </a:t>
            </a:r>
            <a:r>
              <a:rPr lang="en-US" dirty="0"/>
              <a:t>is guaranteed that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Observation: for any </a:t>
            </a:r>
            <a:r>
              <a:rPr lang="en-US" i="1" dirty="0" smtClean="0"/>
              <a:t>N</a:t>
            </a:r>
            <a:r>
              <a:rPr lang="en-US" dirty="0" smtClean="0"/>
              <a:t>, overshoot of FS representation is about 9%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rgbClr val="C00000"/>
                </a:solidFill>
              </a:rPr>
              <a:t>Contradiction?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§3.4 Convergence of Fourier </a:t>
            </a:r>
            <a:r>
              <a:rPr lang="en-US" dirty="0" smtClean="0"/>
              <a:t>Series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1224741"/>
            <a:ext cx="4374261" cy="556074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56794" y="1700784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os</a:t>
            </a:r>
            <a:r>
              <a:rPr lang="en-US" b="1" dirty="0" smtClean="0"/>
              <a:t>=1.1366</a:t>
            </a:r>
            <a:endParaRPr lang="en-US" b="1" dirty="0"/>
          </a:p>
        </p:txBody>
      </p:sp>
      <p:sp>
        <p:nvSpPr>
          <p:cNvPr id="9" name="矩形 8"/>
          <p:cNvSpPr/>
          <p:nvPr/>
        </p:nvSpPr>
        <p:spPr>
          <a:xfrm>
            <a:off x="7065141" y="2710751"/>
            <a:ext cx="1279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os</a:t>
            </a:r>
            <a:r>
              <a:rPr lang="en-US" b="1" dirty="0" smtClean="0"/>
              <a:t>=1.0912</a:t>
            </a:r>
            <a:endParaRPr 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7235833" y="3985378"/>
            <a:ext cx="1279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os</a:t>
            </a:r>
            <a:r>
              <a:rPr lang="en-US" b="1" dirty="0" smtClean="0"/>
              <a:t>=1.0899</a:t>
            </a:r>
            <a:endParaRPr 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7235832" y="5332196"/>
            <a:ext cx="1279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os</a:t>
            </a:r>
            <a:r>
              <a:rPr lang="en-US" b="1" dirty="0" smtClean="0"/>
              <a:t>=1.0887</a:t>
            </a:r>
            <a:endParaRPr 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5534519" y="6416152"/>
            <a:ext cx="2249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N=1000, </a:t>
            </a:r>
            <a:r>
              <a:rPr lang="en-US" b="1" dirty="0" err="1" smtClean="0"/>
              <a:t>os</a:t>
            </a:r>
            <a:r>
              <a:rPr lang="en-US" b="1" dirty="0" smtClean="0"/>
              <a:t>=1.0895</a:t>
            </a:r>
            <a:endParaRPr lang="en-US" b="1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644986"/>
              </p:ext>
            </p:extLst>
          </p:nvPr>
        </p:nvGraphicFramePr>
        <p:xfrm>
          <a:off x="1235661" y="3777701"/>
          <a:ext cx="1873706" cy="57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3" name="公式" r:id="rId4" imgW="1040948" imgH="317362" progId="Equation.3">
                  <p:embed/>
                </p:oleObj>
              </mc:Choice>
              <mc:Fallback>
                <p:oleObj name="公式" r:id="rId4" imgW="1040948" imgH="31736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661" y="3777701"/>
                        <a:ext cx="1873706" cy="5712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472541"/>
              </p:ext>
            </p:extLst>
          </p:nvPr>
        </p:nvGraphicFramePr>
        <p:xfrm>
          <a:off x="1159843" y="1336514"/>
          <a:ext cx="210220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4" name="公式" r:id="rId6" imgW="1167893" imgH="431613" progId="Equation.3">
                  <p:embed/>
                </p:oleObj>
              </mc:Choice>
              <mc:Fallback>
                <p:oleObj name="公式" r:id="rId6" imgW="1167893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843" y="1336514"/>
                        <a:ext cx="210220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124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013" y="418689"/>
            <a:ext cx="7886700" cy="792000"/>
          </a:xfrm>
        </p:spPr>
        <p:txBody>
          <a:bodyPr/>
          <a:lstStyle/>
          <a:p>
            <a:r>
              <a:rPr lang="en-US" dirty="0" smtClean="0"/>
              <a:t>Convergence of Fourier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5147564"/>
          </a:xfrm>
        </p:spPr>
        <p:txBody>
          <a:bodyPr>
            <a:normAutofit/>
          </a:bodyPr>
          <a:lstStyle/>
          <a:p>
            <a:r>
              <a:rPr lang="en-US" dirty="0" smtClean="0"/>
              <a:t> Fourier Series Representation</a:t>
            </a:r>
          </a:p>
          <a:p>
            <a:r>
              <a:rPr lang="en-US" dirty="0"/>
              <a:t> </a:t>
            </a:r>
            <a:r>
              <a:rPr lang="en-US" dirty="0" smtClean="0"/>
              <a:t>Approximation error</a:t>
            </a:r>
          </a:p>
          <a:p>
            <a:r>
              <a:rPr lang="en-US" dirty="0"/>
              <a:t> </a:t>
            </a:r>
            <a:r>
              <a:rPr lang="en-US" dirty="0" smtClean="0"/>
              <a:t>Error Energy</a:t>
            </a:r>
          </a:p>
          <a:p>
            <a:r>
              <a:rPr lang="en-US" dirty="0"/>
              <a:t> </a:t>
            </a:r>
            <a:r>
              <a:rPr lang="en-US" dirty="0" smtClean="0"/>
              <a:t>It can be proved (Problem 3.66), to minimize        , we must choose   </a:t>
            </a:r>
          </a:p>
          <a:p>
            <a:r>
              <a:rPr lang="en-US" dirty="0"/>
              <a:t> </a:t>
            </a:r>
            <a:r>
              <a:rPr lang="en-US" dirty="0" smtClean="0"/>
              <a:t>When </a:t>
            </a:r>
            <a:r>
              <a:rPr lang="en-US" i="1" dirty="0" smtClean="0"/>
              <a:t>N</a:t>
            </a:r>
            <a:r>
              <a:rPr lang="en-US" dirty="0" smtClean="0">
                <a:sym typeface="Wingdings" panose="05000000000000000000" pitchFamily="2" charset="2"/>
              </a:rPr>
              <a:t>∞,     0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It only guarantees that the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energy error converges to 0</a:t>
            </a:r>
            <a:r>
              <a:rPr lang="en-US" dirty="0" smtClean="0">
                <a:sym typeface="Wingdings" panose="05000000000000000000" pitchFamily="2" charset="2"/>
              </a:rPr>
              <a:t>, but does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NOT</a:t>
            </a:r>
            <a:r>
              <a:rPr lang="en-US" dirty="0" smtClean="0">
                <a:sym typeface="Wingdings" panose="05000000000000000000" pitchFamily="2" charset="2"/>
              </a:rPr>
              <a:t> imply the signal convergence at any time point 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at discontinuous point?  High frequency ripple and overshoot (Gibbs Phenomenon)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§3.4 Convergence of Fourier </a:t>
            </a:r>
            <a:r>
              <a:rPr lang="en-US" dirty="0" smtClean="0"/>
              <a:t>Series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910608"/>
              </p:ext>
            </p:extLst>
          </p:nvPr>
        </p:nvGraphicFramePr>
        <p:xfrm>
          <a:off x="5586665" y="1157126"/>
          <a:ext cx="210220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9" name="公式" r:id="rId3" imgW="1167893" imgH="431613" progId="Equation.3">
                  <p:embed/>
                </p:oleObj>
              </mc:Choice>
              <mc:Fallback>
                <p:oleObj name="公式" r:id="rId3" imgW="1167893" imgH="431613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665" y="1157126"/>
                        <a:ext cx="210220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709928"/>
              </p:ext>
            </p:extLst>
          </p:nvPr>
        </p:nvGraphicFramePr>
        <p:xfrm>
          <a:off x="4331970" y="1696383"/>
          <a:ext cx="42519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0" name="公式" r:id="rId5" imgW="2362200" imgH="431800" progId="Equation.3">
                  <p:embed/>
                </p:oleObj>
              </mc:Choice>
              <mc:Fallback>
                <p:oleObj name="公式" r:id="rId5" imgW="23622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970" y="1696383"/>
                        <a:ext cx="42519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231985"/>
              </p:ext>
            </p:extLst>
          </p:nvPr>
        </p:nvGraphicFramePr>
        <p:xfrm>
          <a:off x="3233738" y="2351088"/>
          <a:ext cx="19192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1" name="公式" r:id="rId7" imgW="1066680" imgH="304560" progId="Equation.3">
                  <p:embed/>
                </p:oleObj>
              </mc:Choice>
              <mc:Fallback>
                <p:oleObj name="公式" r:id="rId7" imgW="1066680" imgH="304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2351088"/>
                        <a:ext cx="1919287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90632"/>
              </p:ext>
            </p:extLst>
          </p:nvPr>
        </p:nvGraphicFramePr>
        <p:xfrm>
          <a:off x="3417887" y="3198674"/>
          <a:ext cx="230822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2" name="公式" r:id="rId9" imgW="1282680" imgH="393480" progId="Equation.3">
                  <p:embed/>
                </p:oleObj>
              </mc:Choice>
              <mc:Fallback>
                <p:oleObj name="公式" r:id="rId9" imgW="1282680" imgH="39348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7" y="3198674"/>
                        <a:ext cx="2308225" cy="709612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24630"/>
              </p:ext>
            </p:extLst>
          </p:nvPr>
        </p:nvGraphicFramePr>
        <p:xfrm>
          <a:off x="7756525" y="2921000"/>
          <a:ext cx="4095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3" name="公式" r:id="rId11" imgW="228600" imgH="228600" progId="Equation.3">
                  <p:embed/>
                </p:oleObj>
              </mc:Choice>
              <mc:Fallback>
                <p:oleObj name="公式" r:id="rId11" imgW="2286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56525" y="2921000"/>
                        <a:ext cx="409575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90375"/>
              </p:ext>
            </p:extLst>
          </p:nvPr>
        </p:nvGraphicFramePr>
        <p:xfrm>
          <a:off x="3028950" y="3792399"/>
          <a:ext cx="4095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4" name="公式" r:id="rId13" imgW="228600" imgH="228600" progId="Equation.3">
                  <p:embed/>
                </p:oleObj>
              </mc:Choice>
              <mc:Fallback>
                <p:oleObj name="公式" r:id="rId13" imgW="228600" imgH="228600" progId="Equation.3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28950" y="3792399"/>
                        <a:ext cx="409575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616922"/>
              </p:ext>
            </p:extLst>
          </p:nvPr>
        </p:nvGraphicFramePr>
        <p:xfrm>
          <a:off x="4193381" y="3822591"/>
          <a:ext cx="1302455" cy="50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5" name="公式" r:id="rId14" imgW="723586" imgH="279279" progId="Equation.3">
                  <p:embed/>
                </p:oleObj>
              </mc:Choice>
              <mc:Fallback>
                <p:oleObj name="公式" r:id="rId14" imgW="723586" imgH="2792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381" y="3822591"/>
                        <a:ext cx="1302455" cy="502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361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13014" cy="792000"/>
          </a:xfrm>
        </p:spPr>
        <p:txBody>
          <a:bodyPr>
            <a:normAutofit fontScale="90000"/>
          </a:bodyPr>
          <a:lstStyle/>
          <a:p>
            <a:r>
              <a:rPr lang="en-US" dirty="0"/>
              <a:t>§</a:t>
            </a:r>
            <a:r>
              <a:rPr lang="en-US" dirty="0" smtClean="0"/>
              <a:t>3.5  Properties of CT Fourier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Linearity</a:t>
            </a:r>
            <a:r>
              <a:rPr lang="en-US" dirty="0" smtClean="0"/>
              <a:t>: 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and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have the same period </a:t>
            </a:r>
            <a:r>
              <a:rPr lang="en-US" i="1" dirty="0" smtClean="0"/>
              <a:t>T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Time shifting</a:t>
            </a:r>
          </a:p>
          <a:p>
            <a:r>
              <a:rPr lang="en-US" dirty="0"/>
              <a:t> </a:t>
            </a:r>
            <a:r>
              <a:rPr lang="en-US" dirty="0" smtClean="0"/>
              <a:t>Time reversal </a:t>
            </a:r>
          </a:p>
          <a:p>
            <a:endParaRPr lang="en-US" dirty="0"/>
          </a:p>
          <a:p>
            <a:r>
              <a:rPr lang="en-US" dirty="0" smtClean="0"/>
              <a:t> Time scaling 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Multiplication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§3.5  Properties of CT Fourier Series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414032"/>
              </p:ext>
            </p:extLst>
          </p:nvPr>
        </p:nvGraphicFramePr>
        <p:xfrm>
          <a:off x="1880235" y="1708403"/>
          <a:ext cx="452628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9" name="公式" r:id="rId3" imgW="2514600" imgH="660400" progId="Equation.3">
                  <p:embed/>
                </p:oleObj>
              </mc:Choice>
              <mc:Fallback>
                <p:oleObj name="公式" r:id="rId3" imgW="2514600" imgH="660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235" y="1708403"/>
                        <a:ext cx="4526280" cy="118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617662"/>
              </p:ext>
            </p:extLst>
          </p:nvPr>
        </p:nvGraphicFramePr>
        <p:xfrm>
          <a:off x="3310128" y="2762471"/>
          <a:ext cx="2216459" cy="57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0" name="公式" r:id="rId5" imgW="1231366" imgH="317362" progId="Equation.3">
                  <p:embed/>
                </p:oleObj>
              </mc:Choice>
              <mc:Fallback>
                <p:oleObj name="公式" r:id="rId5" imgW="1231366" imgH="31736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128" y="2762471"/>
                        <a:ext cx="2216459" cy="5712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658129"/>
              </p:ext>
            </p:extLst>
          </p:nvPr>
        </p:nvGraphicFramePr>
        <p:xfrm>
          <a:off x="3469297" y="3333723"/>
          <a:ext cx="1348155" cy="57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1" name="公式" r:id="rId7" imgW="748975" imgH="317362" progId="Equation.3">
                  <p:embed/>
                </p:oleObj>
              </mc:Choice>
              <mc:Fallback>
                <p:oleObj name="公式" r:id="rId7" imgW="748975" imgH="31736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297" y="3333723"/>
                        <a:ext cx="1348155" cy="5712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020683"/>
              </p:ext>
            </p:extLst>
          </p:nvPr>
        </p:nvGraphicFramePr>
        <p:xfrm>
          <a:off x="3310128" y="4115911"/>
          <a:ext cx="41148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2" name="公式" r:id="rId9" imgW="2286000" imgH="431800" progId="Equation.3">
                  <p:embed/>
                </p:oleObj>
              </mc:Choice>
              <mc:Fallback>
                <p:oleObj name="公式" r:id="rId9" imgW="22860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0128" y="4115911"/>
                        <a:ext cx="41148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846247"/>
              </p:ext>
            </p:extLst>
          </p:nvPr>
        </p:nvGraphicFramePr>
        <p:xfrm>
          <a:off x="2776347" y="5229403"/>
          <a:ext cx="22631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3" name="公式" r:id="rId11" imgW="1257300" imgH="431800" progId="Equation.3">
                  <p:embed/>
                </p:oleObj>
              </mc:Choice>
              <mc:Fallback>
                <p:oleObj name="公式" r:id="rId11" imgW="12573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347" y="5229403"/>
                        <a:ext cx="22631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5848350" y="283992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987967"/>
              </p:ext>
            </p:extLst>
          </p:nvPr>
        </p:nvGraphicFramePr>
        <p:xfrm>
          <a:off x="5726302" y="2793930"/>
          <a:ext cx="25527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4" name="公式" r:id="rId13" imgW="1701800" imgH="889000" progId="Equation.3">
                  <p:embed/>
                </p:oleObj>
              </mc:Choice>
              <mc:Fallback>
                <p:oleObj name="公式" r:id="rId13" imgW="1701800" imgH="8890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302" y="2793930"/>
                        <a:ext cx="2552700" cy="13335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541012"/>
              </p:ext>
            </p:extLst>
          </p:nvPr>
        </p:nvGraphicFramePr>
        <p:xfrm>
          <a:off x="5215318" y="4845083"/>
          <a:ext cx="31242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5" name="公式" r:id="rId15" imgW="2082800" imgH="1320800" progId="Equation.3">
                  <p:embed/>
                </p:oleObj>
              </mc:Choice>
              <mc:Fallback>
                <p:oleObj name="公式" r:id="rId15" imgW="2082800" imgH="1320800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318" y="4845083"/>
                        <a:ext cx="3124200" cy="19812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68015" y="56180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有错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86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Properties </a:t>
            </a:r>
            <a:r>
              <a:rPr lang="en-US" sz="3600" dirty="0"/>
              <a:t>of CT Fourier </a:t>
            </a:r>
            <a:r>
              <a:rPr lang="en-US" sz="3600" dirty="0" smtClean="0"/>
              <a:t>Series (</a:t>
            </a:r>
            <a:r>
              <a:rPr lang="en-US" sz="3600" dirty="0" err="1" smtClean="0"/>
              <a:t>cont</a:t>
            </a:r>
            <a:r>
              <a:rPr lang="en-US" sz="3600" dirty="0" smtClean="0"/>
              <a:t>’)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Conjugation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Conjugate Symmetry </a:t>
            </a:r>
            <a:r>
              <a:rPr lang="en-US" dirty="0" smtClean="0"/>
              <a:t>for real signals</a:t>
            </a:r>
          </a:p>
          <a:p>
            <a:endParaRPr lang="en-US" dirty="0"/>
          </a:p>
          <a:p>
            <a:pPr lvl="1"/>
            <a:r>
              <a:rPr lang="en-US" dirty="0" smtClean="0"/>
              <a:t> If x(t) is real and even, FS coefficients are also real and even (time reversal + conjugate symmetry)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If x(t) is real and </a:t>
            </a:r>
            <a:r>
              <a:rPr lang="en-US" dirty="0" smtClean="0"/>
              <a:t>odd, </a:t>
            </a:r>
            <a:r>
              <a:rPr lang="en-US" dirty="0"/>
              <a:t>FS </a:t>
            </a:r>
            <a:r>
              <a:rPr lang="en-US" dirty="0" smtClean="0"/>
              <a:t>coefficients </a:t>
            </a:r>
            <a:r>
              <a:rPr lang="en-US" dirty="0"/>
              <a:t>are </a:t>
            </a:r>
            <a:r>
              <a:rPr lang="en-US" dirty="0" smtClean="0"/>
              <a:t>purely imaginary and odd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/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Parseval’s</a:t>
            </a:r>
            <a:r>
              <a:rPr lang="en-US" b="1" dirty="0" smtClean="0">
                <a:solidFill>
                  <a:srgbClr val="C00000"/>
                </a:solidFill>
              </a:rPr>
              <a:t> Relation</a:t>
            </a:r>
            <a:r>
              <a:rPr lang="en-US" dirty="0" smtClean="0"/>
              <a:t>: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§3.5  Properties of CT Fourier Series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971120"/>
              </p:ext>
            </p:extLst>
          </p:nvPr>
        </p:nvGraphicFramePr>
        <p:xfrm>
          <a:off x="3292396" y="1426464"/>
          <a:ext cx="1279604" cy="59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3" name="公式" r:id="rId3" imgW="710891" imgH="330057" progId="Equation.3">
                  <p:embed/>
                </p:oleObj>
              </mc:Choice>
              <mc:Fallback>
                <p:oleObj name="公式" r:id="rId3" imgW="710891" imgH="330057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396" y="1426464"/>
                        <a:ext cx="1279604" cy="594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275869"/>
              </p:ext>
            </p:extLst>
          </p:nvPr>
        </p:nvGraphicFramePr>
        <p:xfrm>
          <a:off x="2654602" y="2869731"/>
          <a:ext cx="38404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4" name="公式" r:id="rId5" imgW="2133600" imgH="254000" progId="Equation.3">
                  <p:embed/>
                </p:oleObj>
              </mc:Choice>
              <mc:Fallback>
                <p:oleObj name="公式" r:id="rId5" imgW="2133600" imgH="2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602" y="2869731"/>
                        <a:ext cx="384048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373736"/>
              </p:ext>
            </p:extLst>
          </p:nvPr>
        </p:nvGraphicFramePr>
        <p:xfrm>
          <a:off x="4369802" y="5045299"/>
          <a:ext cx="24688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5" name="公式" r:id="rId7" imgW="1371600" imgH="431800" progId="Equation.3">
                  <p:embed/>
                </p:oleObj>
              </mc:Choice>
              <mc:Fallback>
                <p:oleObj name="公式" r:id="rId7" imgW="13716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802" y="5045299"/>
                        <a:ext cx="246888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89942" y="5831027"/>
            <a:ext cx="2697480" cy="70788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prove? Basic signals are orthogonal!</a:t>
            </a:r>
          </a:p>
        </p:txBody>
      </p:sp>
    </p:spTree>
    <p:extLst>
      <p:ext uri="{BB962C8B-B14F-4D97-AF65-F5344CB8AC3E}">
        <p14:creationId xmlns:p14="http://schemas.microsoft.com/office/powerpoint/2010/main" val="250366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3.6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383280"/>
            <a:ext cx="7886700" cy="2793683"/>
          </a:xfrm>
        </p:spPr>
        <p:txBody>
          <a:bodyPr/>
          <a:lstStyle/>
          <a:p>
            <a:r>
              <a:rPr lang="en-US" dirty="0" smtClean="0"/>
              <a:t> Let x(t) be the symmetric periodic square wave, </a:t>
            </a:r>
            <a:r>
              <a:rPr lang="en-US" i="1" dirty="0" smtClean="0"/>
              <a:t>T</a:t>
            </a:r>
            <a:r>
              <a:rPr lang="en-US" dirty="0" smtClean="0"/>
              <a:t>=4, 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=1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i="1" dirty="0" smtClean="0"/>
              <a:t>g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-1)-1/2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§3.5  Properties of CT Fourier Series</a:t>
            </a:r>
          </a:p>
          <a:p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065" y="1326324"/>
            <a:ext cx="5399809" cy="1749996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445469"/>
              </p:ext>
            </p:extLst>
          </p:nvPr>
        </p:nvGraphicFramePr>
        <p:xfrm>
          <a:off x="2780001" y="3728006"/>
          <a:ext cx="308610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7" name="公式" r:id="rId4" imgW="1714500" imgH="660400" progId="Equation.3">
                  <p:embed/>
                </p:oleObj>
              </mc:Choice>
              <mc:Fallback>
                <p:oleObj name="公式" r:id="rId4" imgW="1714500" imgH="660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001" y="3728006"/>
                        <a:ext cx="3086100" cy="1188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710352"/>
              </p:ext>
            </p:extLst>
          </p:nvPr>
        </p:nvGraphicFramePr>
        <p:xfrm>
          <a:off x="2832804" y="5350193"/>
          <a:ext cx="608076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8" name="公式" r:id="rId6" imgW="3378200" imgH="660400" progId="Equation.3">
                  <p:embed/>
                </p:oleObj>
              </mc:Choice>
              <mc:Fallback>
                <p:oleObj name="公式" r:id="rId6" imgW="3378200" imgH="660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804" y="5350193"/>
                        <a:ext cx="6080760" cy="118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132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Fourier Series of Impulse Train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4098798" cy="4868863"/>
          </a:xfrm>
        </p:spPr>
        <p:txBody>
          <a:bodyPr/>
          <a:lstStyle/>
          <a:p>
            <a:r>
              <a:rPr lang="en-US" dirty="0" smtClean="0"/>
              <a:t> Impulse train: </a:t>
            </a:r>
          </a:p>
          <a:p>
            <a:endParaRPr lang="en-US" dirty="0"/>
          </a:p>
          <a:p>
            <a:r>
              <a:rPr lang="en-US" dirty="0" smtClean="0"/>
              <a:t> FS of Impulse train: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Q: How to find the FS coefficients of symmetric periodic square wave?</a:t>
            </a:r>
          </a:p>
          <a:p>
            <a:pPr lvl="1"/>
            <a:r>
              <a:rPr lang="en-US" dirty="0"/>
              <a:t> </a:t>
            </a:r>
            <a:r>
              <a:rPr lang="en-US" i="1" dirty="0" smtClean="0"/>
              <a:t>q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+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)-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-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 </a:t>
            </a:r>
            <a:r>
              <a:rPr lang="en-US" i="1" dirty="0" smtClean="0"/>
              <a:t>q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)=d</a:t>
            </a:r>
            <a:r>
              <a:rPr lang="en-US" i="1" dirty="0" smtClean="0"/>
              <a:t>g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)/</a:t>
            </a:r>
            <a:r>
              <a:rPr lang="en-US" dirty="0" err="1" smtClean="0"/>
              <a:t>d</a:t>
            </a:r>
            <a:r>
              <a:rPr lang="en-US" i="1" dirty="0" err="1" smtClean="0"/>
              <a:t>t</a:t>
            </a:r>
            <a:endParaRPr lang="en-US" i="1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§3.5  Properties of CT Fourier </a:t>
            </a:r>
            <a:r>
              <a:rPr lang="en-US" dirty="0" smtClean="0"/>
              <a:t>Series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99675"/>
              </p:ext>
            </p:extLst>
          </p:nvPr>
        </p:nvGraphicFramePr>
        <p:xfrm>
          <a:off x="1344167" y="1627631"/>
          <a:ext cx="21488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5" name="公式" r:id="rId3" imgW="1193800" imgH="431800" progId="Equation.3">
                  <p:embed/>
                </p:oleObj>
              </mc:Choice>
              <mc:Fallback>
                <p:oleObj name="公式" r:id="rId3" imgW="11938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167" y="1627631"/>
                        <a:ext cx="21488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025693"/>
              </p:ext>
            </p:extLst>
          </p:nvPr>
        </p:nvGraphicFramePr>
        <p:xfrm>
          <a:off x="864781" y="2935223"/>
          <a:ext cx="3107612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6" name="公式" r:id="rId5" imgW="1726451" imgH="393529" progId="Equation.3">
                  <p:embed/>
                </p:oleObj>
              </mc:Choice>
              <mc:Fallback>
                <p:oleObj name="公式" r:id="rId5" imgW="1726451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781" y="2935223"/>
                        <a:ext cx="3107612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892" y="1261503"/>
            <a:ext cx="4086643" cy="509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8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14182" cy="792000"/>
          </a:xfrm>
        </p:spPr>
        <p:txBody>
          <a:bodyPr>
            <a:noAutofit/>
          </a:bodyPr>
          <a:lstStyle/>
          <a:p>
            <a:r>
              <a:rPr lang="en-US" sz="3600" dirty="0"/>
              <a:t>§</a:t>
            </a:r>
            <a:r>
              <a:rPr lang="en-US" sz="3600" dirty="0" smtClean="0"/>
              <a:t>3.6 Fourier Series of DT Periodic Signals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Recall: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is periodic if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err="1" smtClean="0"/>
              <a:t>n</a:t>
            </a:r>
            <a:r>
              <a:rPr lang="en-US" dirty="0" err="1" smtClean="0"/>
              <a:t>+</a:t>
            </a:r>
            <a:r>
              <a:rPr lang="en-US" i="1" dirty="0" err="1" smtClean="0"/>
              <a:t>N</a:t>
            </a:r>
            <a:r>
              <a:rPr lang="en-US" dirty="0" smtClean="0"/>
              <a:t>]</a:t>
            </a:r>
          </a:p>
          <a:p>
            <a:r>
              <a:rPr lang="en-US" dirty="0"/>
              <a:t> </a:t>
            </a:r>
            <a:r>
              <a:rPr lang="en-US" dirty="0" smtClean="0"/>
              <a:t>Fundamental period: the smallest positive </a:t>
            </a:r>
            <a:r>
              <a:rPr lang="en-US" i="1" dirty="0" smtClean="0"/>
              <a:t>N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Fundamental frequency</a:t>
            </a:r>
            <a:r>
              <a:rPr lang="en-US" dirty="0" smtClean="0"/>
              <a:t>: </a:t>
            </a:r>
            <a:r>
              <a:rPr lang="el-GR" i="1" dirty="0" smtClean="0"/>
              <a:t>ω</a:t>
            </a:r>
            <a:r>
              <a:rPr lang="en-US" baseline="-25000" dirty="0" smtClean="0"/>
              <a:t>0</a:t>
            </a:r>
            <a:r>
              <a:rPr lang="en-US" dirty="0" smtClean="0"/>
              <a:t>=2</a:t>
            </a:r>
            <a:r>
              <a:rPr lang="el-GR" i="1" dirty="0" smtClean="0"/>
              <a:t>π</a:t>
            </a:r>
            <a:r>
              <a:rPr lang="en-US" dirty="0" smtClean="0"/>
              <a:t>/</a:t>
            </a:r>
            <a:r>
              <a:rPr lang="en-US" i="1" dirty="0" smtClean="0"/>
              <a:t>N</a:t>
            </a:r>
          </a:p>
          <a:p>
            <a:r>
              <a:rPr lang="en-US" i="1" dirty="0"/>
              <a:t> </a:t>
            </a:r>
            <a:r>
              <a:rPr lang="en-US" dirty="0" smtClean="0"/>
              <a:t>DT complex exponential signals with period </a:t>
            </a:r>
            <a:r>
              <a:rPr lang="en-US" i="1" dirty="0" smtClean="0"/>
              <a:t>N</a:t>
            </a:r>
          </a:p>
          <a:p>
            <a:endParaRPr lang="en-US" dirty="0"/>
          </a:p>
          <a:p>
            <a:r>
              <a:rPr lang="en-US" dirty="0" smtClean="0"/>
              <a:t>  Only </a:t>
            </a:r>
            <a:r>
              <a:rPr lang="en-US" b="1" i="1" dirty="0" smtClean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 distinct signals </a:t>
            </a:r>
            <a:r>
              <a:rPr lang="en-US" dirty="0" smtClean="0"/>
              <a:t>in the above set</a:t>
            </a:r>
            <a:endParaRPr lang="en-US" dirty="0"/>
          </a:p>
          <a:p>
            <a:r>
              <a:rPr lang="en-US" dirty="0" smtClean="0"/>
              <a:t> linear combination of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§3.6 Fourier Series of DT Periodic Signals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744315"/>
              </p:ext>
            </p:extLst>
          </p:nvPr>
        </p:nvGraphicFramePr>
        <p:xfrm>
          <a:off x="1992219" y="3419616"/>
          <a:ext cx="464058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name="公式" r:id="rId3" imgW="2578100" imgH="241300" progId="Equation.3">
                  <p:embed/>
                </p:oleObj>
              </mc:Choice>
              <mc:Fallback>
                <p:oleObj name="公式" r:id="rId3" imgW="25781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219" y="3419616"/>
                        <a:ext cx="464058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224977"/>
              </p:ext>
            </p:extLst>
          </p:nvPr>
        </p:nvGraphicFramePr>
        <p:xfrm>
          <a:off x="1763762" y="4727447"/>
          <a:ext cx="507492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name="公式" r:id="rId5" imgW="2819400" imgH="444500" progId="Equation.3">
                  <p:embed/>
                </p:oleObj>
              </mc:Choice>
              <mc:Fallback>
                <p:oleObj name="公式" r:id="rId5" imgW="28194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62" y="4727447"/>
                        <a:ext cx="507492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536125"/>
              </p:ext>
            </p:extLst>
          </p:nvPr>
        </p:nvGraphicFramePr>
        <p:xfrm>
          <a:off x="1763762" y="5532710"/>
          <a:ext cx="5053103" cy="74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name="公式" r:id="rId7" imgW="3009900" imgH="444500" progId="Equation.3">
                  <p:embed/>
                </p:oleObj>
              </mc:Choice>
              <mc:Fallback>
                <p:oleObj name="公式" r:id="rId7" imgW="30099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62" y="5532710"/>
                        <a:ext cx="5053103" cy="744837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364462" y="3742531"/>
            <a:ext cx="1779538" cy="707886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from CT case!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4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Determine DT FS Coefficients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Method #1: solve the equation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§3.6 Fourier Series of DT Periodic </a:t>
            </a:r>
            <a:r>
              <a:rPr lang="en-US" dirty="0" smtClean="0"/>
              <a:t>Signals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394460" y="1946117"/>
          <a:ext cx="3177540" cy="288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5" name="公式" r:id="rId3" imgW="1765300" imgH="1600200" progId="Equation.3">
                  <p:embed/>
                </p:oleObj>
              </mc:Choice>
              <mc:Fallback>
                <p:oleObj name="公式" r:id="rId3" imgW="1765300" imgH="16002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460" y="1946117"/>
                        <a:ext cx="3177540" cy="2880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45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Determine DT FS Coefficients (</a:t>
            </a:r>
            <a:r>
              <a:rPr lang="en-US" sz="3600" dirty="0" err="1" smtClean="0"/>
              <a:t>cont</a:t>
            </a:r>
            <a:r>
              <a:rPr lang="en-US" sz="3600" dirty="0" smtClean="0"/>
              <a:t>’)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Method #2: for a given </a:t>
            </a:r>
            <a:r>
              <a:rPr lang="en-US" i="1" dirty="0" smtClean="0"/>
              <a:t>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Note that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§3.6 Fourier Series of DT Periodic </a:t>
            </a:r>
            <a:r>
              <a:rPr lang="en-US" dirty="0" smtClean="0"/>
              <a:t>Signals</a:t>
            </a:r>
            <a:endParaRPr 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25519"/>
              </p:ext>
            </p:extLst>
          </p:nvPr>
        </p:nvGraphicFramePr>
        <p:xfrm>
          <a:off x="1032242" y="1642872"/>
          <a:ext cx="5806440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0" name="公式" r:id="rId3" imgW="3225600" imgH="1168200" progId="Equation.3">
                  <p:embed/>
                </p:oleObj>
              </mc:Choice>
              <mc:Fallback>
                <p:oleObj name="公式" r:id="rId3" imgW="3225600" imgH="116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242" y="1642872"/>
                        <a:ext cx="5806440" cy="210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903814"/>
              </p:ext>
            </p:extLst>
          </p:nvPr>
        </p:nvGraphicFramePr>
        <p:xfrm>
          <a:off x="2503170" y="4138517"/>
          <a:ext cx="361188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1" name="公式" r:id="rId5" imgW="2006600" imgH="457200" progId="Equation.3">
                  <p:embed/>
                </p:oleObj>
              </mc:Choice>
              <mc:Fallback>
                <p:oleObj name="公式" r:id="rId5" imgW="20066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170" y="4138517"/>
                        <a:ext cx="361188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892679"/>
              </p:ext>
            </p:extLst>
          </p:nvPr>
        </p:nvGraphicFramePr>
        <p:xfrm>
          <a:off x="2506712" y="5241656"/>
          <a:ext cx="28575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2" name="公式" r:id="rId7" imgW="1587500" imgH="419100" progId="Equation.3">
                  <p:embed/>
                </p:oleObj>
              </mc:Choice>
              <mc:Fallback>
                <p:oleObj name="公式" r:id="rId7" imgW="15875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712" y="5241656"/>
                        <a:ext cx="28575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339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 Fourier Series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134666" cy="48688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Synthesis equation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Analysis equation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dirty="0" smtClean="0"/>
              <a:t> Spectral coefficients</a:t>
            </a:r>
          </a:p>
          <a:p>
            <a:r>
              <a:rPr lang="en-US" dirty="0"/>
              <a:t>  </a:t>
            </a:r>
            <a:r>
              <a:rPr lang="en-US" dirty="0" smtClean="0"/>
              <a:t>      repeat periodically with period </a:t>
            </a:r>
            <a:r>
              <a:rPr lang="en-US" i="1" dirty="0" smtClean="0"/>
              <a:t>N</a:t>
            </a:r>
            <a:r>
              <a:rPr lang="en-US" dirty="0" smtClean="0"/>
              <a:t>, it’s a </a:t>
            </a:r>
            <a:r>
              <a:rPr lang="en-US" b="1" dirty="0" smtClean="0">
                <a:solidFill>
                  <a:srgbClr val="C00000"/>
                </a:solidFill>
              </a:rPr>
              <a:t>finite </a:t>
            </a:r>
            <a:r>
              <a:rPr lang="en-US" dirty="0" smtClean="0"/>
              <a:t>set</a:t>
            </a:r>
          </a:p>
          <a:p>
            <a:r>
              <a:rPr lang="en-US" dirty="0"/>
              <a:t> </a:t>
            </a:r>
            <a:r>
              <a:rPr lang="en-US" dirty="0" smtClean="0"/>
              <a:t>We can still think      as a sequence defined for all values of 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NO</a:t>
            </a:r>
            <a:r>
              <a:rPr lang="en-US" dirty="0" smtClean="0"/>
              <a:t> convergence problem with DT FS! </a:t>
            </a:r>
            <a:r>
              <a:rPr lang="en-US" b="1" dirty="0" smtClean="0">
                <a:solidFill>
                  <a:srgbClr val="FF0000"/>
                </a:solidFill>
              </a:rPr>
              <a:t>NO</a:t>
            </a:r>
            <a:r>
              <a:rPr lang="en-US" dirty="0" smtClean="0"/>
              <a:t> Gibbs phenomenon!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§3.6 Fourier Series of DT Periodic Signals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013998"/>
              </p:ext>
            </p:extLst>
          </p:nvPr>
        </p:nvGraphicFramePr>
        <p:xfrm>
          <a:off x="3779836" y="1946602"/>
          <a:ext cx="49834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87" name="公式" r:id="rId3" imgW="2768600" imgH="419100" progId="Equation.3">
                  <p:embed/>
                </p:oleObj>
              </mc:Choice>
              <mc:Fallback>
                <p:oleObj name="公式" r:id="rId3" imgW="27686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6" y="1946602"/>
                        <a:ext cx="49834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816981"/>
              </p:ext>
            </p:extLst>
          </p:nvPr>
        </p:nvGraphicFramePr>
        <p:xfrm>
          <a:off x="4160520" y="1154602"/>
          <a:ext cx="390906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88" name="公式" r:id="rId5" imgW="2171700" imgH="444500" progId="Equation.3">
                  <p:embed/>
                </p:oleObj>
              </mc:Choice>
              <mc:Fallback>
                <p:oleObj name="公式" r:id="rId5" imgW="21717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520" y="1154602"/>
                        <a:ext cx="390906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559459"/>
              </p:ext>
            </p:extLst>
          </p:nvPr>
        </p:nvGraphicFramePr>
        <p:xfrm>
          <a:off x="4281903" y="3398053"/>
          <a:ext cx="502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89" name="公式" r:id="rId7" imgW="279400" imgH="228600" progId="Equation.3">
                  <p:embed/>
                </p:oleObj>
              </mc:Choice>
              <mc:Fallback>
                <p:oleObj name="公式" r:id="rId7" imgW="2794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903" y="3398053"/>
                        <a:ext cx="502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957576"/>
              </p:ext>
            </p:extLst>
          </p:nvPr>
        </p:nvGraphicFramePr>
        <p:xfrm>
          <a:off x="5360670" y="3370906"/>
          <a:ext cx="10972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0" name="公式" r:id="rId9" imgW="609600" imgH="228600" progId="Equation.3">
                  <p:embed/>
                </p:oleObj>
              </mc:Choice>
              <mc:Fallback>
                <p:oleObj name="公式" r:id="rId9" imgW="609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670" y="3370906"/>
                        <a:ext cx="10972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20431"/>
              </p:ext>
            </p:extLst>
          </p:nvPr>
        </p:nvGraphicFramePr>
        <p:xfrm>
          <a:off x="3633532" y="4484003"/>
          <a:ext cx="502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1" name="公式" r:id="rId11" imgW="279400" imgH="228600" progId="Equation.3">
                  <p:embed/>
                </p:oleObj>
              </mc:Choice>
              <mc:Fallback>
                <p:oleObj name="公式" r:id="rId11" imgW="279400" imgH="2286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532" y="4484003"/>
                        <a:ext cx="502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990077"/>
              </p:ext>
            </p:extLst>
          </p:nvPr>
        </p:nvGraphicFramePr>
        <p:xfrm>
          <a:off x="1151607" y="3925357"/>
          <a:ext cx="502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2" name="公式" r:id="rId12" imgW="279400" imgH="228600" progId="Equation.3">
                  <p:embed/>
                </p:oleObj>
              </mc:Choice>
              <mc:Fallback>
                <p:oleObj name="公式" r:id="rId12" imgW="279400" imgH="2286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607" y="3925357"/>
                        <a:ext cx="502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7271702" y="3101647"/>
            <a:ext cx="1779538" cy="707886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from CT case!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7644384" y="3742531"/>
            <a:ext cx="100584" cy="27168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890067" y="4820122"/>
            <a:ext cx="1779538" cy="400110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Why?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3.10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0013" y="1322307"/>
            <a:ext cx="7886700" cy="4868863"/>
          </a:xfrm>
        </p:spPr>
        <p:txBody>
          <a:bodyPr/>
          <a:lstStyle/>
          <a:p>
            <a:r>
              <a:rPr lang="en-US" dirty="0" smtClean="0"/>
              <a:t>                   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FF0000"/>
                </a:solidFill>
              </a:rPr>
              <a:t>periodic only if 2</a:t>
            </a:r>
            <a:r>
              <a:rPr lang="el-GR" i="1" dirty="0" smtClean="0">
                <a:solidFill>
                  <a:srgbClr val="FF0000"/>
                </a:solidFill>
              </a:rPr>
              <a:t>π</a:t>
            </a:r>
            <a:r>
              <a:rPr lang="en-US" dirty="0" smtClean="0">
                <a:solidFill>
                  <a:srgbClr val="FF0000"/>
                </a:solidFill>
              </a:rPr>
              <a:t>/</a:t>
            </a:r>
            <a:r>
              <a:rPr lang="el-GR" i="1" dirty="0" smtClean="0">
                <a:solidFill>
                  <a:srgbClr val="FF0000"/>
                </a:solidFill>
              </a:rPr>
              <a:t>ω</a:t>
            </a:r>
            <a:r>
              <a:rPr lang="en-US" baseline="-25000" dirty="0" smtClean="0">
                <a:solidFill>
                  <a:srgbClr val="FF0000"/>
                </a:solidFill>
              </a:rPr>
              <a:t>0</a:t>
            </a:r>
            <a:r>
              <a:rPr lang="en-US" dirty="0" smtClean="0">
                <a:solidFill>
                  <a:srgbClr val="FF0000"/>
                </a:solidFill>
              </a:rPr>
              <a:t> is an integer or a ratio of integers</a:t>
            </a:r>
          </a:p>
          <a:p>
            <a:r>
              <a:rPr lang="en-US" dirty="0"/>
              <a:t> 2</a:t>
            </a:r>
            <a:r>
              <a:rPr lang="el-GR" i="1" dirty="0"/>
              <a:t>π</a:t>
            </a:r>
            <a:r>
              <a:rPr lang="en-US" dirty="0"/>
              <a:t>/</a:t>
            </a:r>
            <a:r>
              <a:rPr lang="el-GR" i="1" dirty="0"/>
              <a:t>ω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i="1" dirty="0" smtClean="0"/>
              <a:t>N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Only </a:t>
            </a:r>
            <a:r>
              <a:rPr lang="en-US" i="1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 and </a:t>
            </a:r>
            <a:r>
              <a:rPr lang="en-US" i="1" dirty="0" smtClean="0"/>
              <a:t>a</a:t>
            </a:r>
            <a:r>
              <a:rPr lang="en-US" baseline="-25000" dirty="0" smtClean="0"/>
              <a:t>-1</a:t>
            </a:r>
            <a:r>
              <a:rPr lang="en-US" dirty="0" smtClean="0"/>
              <a:t>  (=</a:t>
            </a:r>
            <a:r>
              <a:rPr lang="en-US" i="1" dirty="0" smtClean="0"/>
              <a:t>a</a:t>
            </a:r>
            <a:r>
              <a:rPr lang="en-US" i="1" baseline="-25000" dirty="0" smtClean="0"/>
              <a:t>N</a:t>
            </a:r>
            <a:r>
              <a:rPr lang="en-US" baseline="-25000" dirty="0" smtClean="0"/>
              <a:t>-1</a:t>
            </a:r>
            <a:r>
              <a:rPr lang="en-US" dirty="0" smtClean="0"/>
              <a:t>) are non-zero</a:t>
            </a:r>
          </a:p>
          <a:p>
            <a:pPr lvl="1"/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2</a:t>
            </a:r>
            <a:r>
              <a:rPr lang="el-GR" i="1" dirty="0"/>
              <a:t>π</a:t>
            </a:r>
            <a:r>
              <a:rPr lang="en-US" dirty="0"/>
              <a:t>/</a:t>
            </a:r>
            <a:r>
              <a:rPr lang="el-GR" i="1" dirty="0"/>
              <a:t>ω</a:t>
            </a:r>
            <a:r>
              <a:rPr lang="en-US" baseline="-25000" dirty="0"/>
              <a:t>0</a:t>
            </a:r>
            <a:r>
              <a:rPr lang="en-US" dirty="0"/>
              <a:t> = </a:t>
            </a:r>
            <a:r>
              <a:rPr lang="en-US" i="1" dirty="0" smtClean="0"/>
              <a:t>N</a:t>
            </a:r>
            <a:r>
              <a:rPr lang="en-US" dirty="0" smtClean="0"/>
              <a:t>/</a:t>
            </a:r>
            <a:r>
              <a:rPr lang="en-US" i="1" dirty="0" smtClean="0"/>
              <a:t>M</a:t>
            </a:r>
            <a:r>
              <a:rPr lang="en-US" dirty="0" smtClean="0"/>
              <a:t>,  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If </a:t>
            </a:r>
            <a:r>
              <a:rPr lang="en-US" i="1" dirty="0" smtClean="0"/>
              <a:t>M</a:t>
            </a:r>
            <a:r>
              <a:rPr lang="en-US" dirty="0" smtClean="0"/>
              <a:t>=3 and </a:t>
            </a:r>
            <a:r>
              <a:rPr lang="en-US" i="1" dirty="0" smtClean="0"/>
              <a:t>N</a:t>
            </a:r>
            <a:r>
              <a:rPr lang="en-US" dirty="0" smtClean="0"/>
              <a:t>=5, only </a:t>
            </a:r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r>
              <a:rPr lang="en-US" dirty="0" smtClean="0"/>
              <a:t> and </a:t>
            </a:r>
            <a:r>
              <a:rPr lang="en-US" i="1" dirty="0" smtClean="0"/>
              <a:t>a</a:t>
            </a:r>
            <a:r>
              <a:rPr lang="en-US" baseline="-25000" dirty="0" smtClean="0"/>
              <a:t>-3</a:t>
            </a:r>
            <a:r>
              <a:rPr lang="en-US" dirty="0" smtClean="0"/>
              <a:t> are non-zero</a:t>
            </a:r>
          </a:p>
          <a:p>
            <a:pPr lvl="1"/>
            <a:r>
              <a:rPr lang="en-US" dirty="0" smtClean="0"/>
              <a:t>Actually </a:t>
            </a:r>
            <a:r>
              <a:rPr lang="en-US" i="1" dirty="0" smtClean="0"/>
              <a:t>a</a:t>
            </a:r>
            <a:r>
              <a:rPr lang="en-US" baseline="-25000" dirty="0" smtClean="0"/>
              <a:t>3</a:t>
            </a:r>
            <a:r>
              <a:rPr lang="en-US" dirty="0" smtClean="0"/>
              <a:t> and </a:t>
            </a:r>
            <a:r>
              <a:rPr lang="en-US" i="1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 are non-zero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§3.6 Fourier Series of DT Periodic </a:t>
            </a:r>
            <a:r>
              <a:rPr lang="en-US" dirty="0" smtClean="0"/>
              <a:t>Signals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009611"/>
              </p:ext>
            </p:extLst>
          </p:nvPr>
        </p:nvGraphicFramePr>
        <p:xfrm>
          <a:off x="1106424" y="1389888"/>
          <a:ext cx="15773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7" name="公式" r:id="rId3" imgW="876300" imgH="228600" progId="Equation.3">
                  <p:embed/>
                </p:oleObj>
              </mc:Choice>
              <mc:Fallback>
                <p:oleObj name="公式" r:id="rId3" imgW="876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24" y="1389888"/>
                        <a:ext cx="15773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262950"/>
              </p:ext>
            </p:extLst>
          </p:nvPr>
        </p:nvGraphicFramePr>
        <p:xfrm>
          <a:off x="3028950" y="2161071"/>
          <a:ext cx="36347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8" name="公式" r:id="rId5" imgW="2019300" imgH="431800" progId="Equation.3">
                  <p:embed/>
                </p:oleObj>
              </mc:Choice>
              <mc:Fallback>
                <p:oleObj name="公式" r:id="rId5" imgW="20193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2161071"/>
                        <a:ext cx="36347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677696"/>
              </p:ext>
            </p:extLst>
          </p:nvPr>
        </p:nvGraphicFramePr>
        <p:xfrm>
          <a:off x="3269808" y="3862444"/>
          <a:ext cx="39319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9" name="公式" r:id="rId7" imgW="2184400" imgH="431800" progId="Equation.3">
                  <p:embed/>
                </p:oleObj>
              </mc:Choice>
              <mc:Fallback>
                <p:oleObj name="公式" r:id="rId7" imgW="21844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9808" y="3862444"/>
                        <a:ext cx="39319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55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§</a:t>
            </a:r>
            <a:r>
              <a:rPr lang="en-US" dirty="0" smtClean="0"/>
              <a:t>3.7 Properties of DT FS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Multiplication vs. convolution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First difference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§3.7 Properties of DT FS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413961"/>
              </p:ext>
            </p:extLst>
          </p:nvPr>
        </p:nvGraphicFramePr>
        <p:xfrm>
          <a:off x="2293083" y="1719072"/>
          <a:ext cx="4480560" cy="118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5" name="公式" r:id="rId3" imgW="2489200" imgH="660400" progId="Equation.3">
                  <p:embed/>
                </p:oleObj>
              </mc:Choice>
              <mc:Fallback>
                <p:oleObj name="公式" r:id="rId3" imgW="2489200" imgH="660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083" y="1719072"/>
                        <a:ext cx="4480560" cy="118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744430"/>
              </p:ext>
            </p:extLst>
          </p:nvPr>
        </p:nvGraphicFramePr>
        <p:xfrm>
          <a:off x="2548890" y="3456781"/>
          <a:ext cx="356616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6" name="公式" r:id="rId5" imgW="1981200" imgH="317500" progId="Equation.3">
                  <p:embed/>
                </p:oleObj>
              </mc:Choice>
              <mc:Fallback>
                <p:oleObj name="公式" r:id="rId5" imgW="1981200" imgH="317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890" y="3456781"/>
                        <a:ext cx="356616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995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3.13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3839833" cy="48688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</a:t>
            </a:r>
            <a:r>
              <a:rPr lang="en-US" i="1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]+</a:t>
            </a:r>
            <a:r>
              <a:rPr lang="en-US" i="1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§3.7 Properties of DT </a:t>
            </a:r>
            <a:r>
              <a:rPr lang="en-US" dirty="0" smtClean="0"/>
              <a:t>FS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602" y="1041745"/>
            <a:ext cx="4166262" cy="5215494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148579"/>
              </p:ext>
            </p:extLst>
          </p:nvPr>
        </p:nvGraphicFramePr>
        <p:xfrm>
          <a:off x="464748" y="2064758"/>
          <a:ext cx="4571640" cy="1553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8" name="公式" r:id="rId4" imgW="2539800" imgH="863280" progId="Equation.3">
                  <p:embed/>
                </p:oleObj>
              </mc:Choice>
              <mc:Fallback>
                <p:oleObj name="公式" r:id="rId4" imgW="2539800" imgH="8632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748" y="2064758"/>
                        <a:ext cx="4571640" cy="1553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749571"/>
              </p:ext>
            </p:extLst>
          </p:nvPr>
        </p:nvGraphicFramePr>
        <p:xfrm>
          <a:off x="628650" y="4702759"/>
          <a:ext cx="4594860" cy="155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9" name="公式" r:id="rId6" imgW="2552700" imgH="863600" progId="Equation.3">
                  <p:embed/>
                </p:oleObj>
              </mc:Choice>
              <mc:Fallback>
                <p:oleObj name="公式" r:id="rId6" imgW="2552700" imgH="86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4702759"/>
                        <a:ext cx="4594860" cy="1554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629583"/>
              </p:ext>
            </p:extLst>
          </p:nvPr>
        </p:nvGraphicFramePr>
        <p:xfrm>
          <a:off x="494496" y="3681928"/>
          <a:ext cx="43662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0" name="公式" r:id="rId8" imgW="2425700" imgH="431800" progId="Equation.3">
                  <p:embed/>
                </p:oleObj>
              </mc:Choice>
              <mc:Fallback>
                <p:oleObj name="公式" r:id="rId8" imgW="24257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96" y="3681928"/>
                        <a:ext cx="43662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524639" y="3519614"/>
            <a:ext cx="698871" cy="1010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solidFill>
                  <a:srgbClr val="FF0000"/>
                </a:solidFill>
              </a:rPr>
              <a:t>?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3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Recall: Fourier Series</a:t>
            </a:r>
            <a:endParaRPr lang="en-US" sz="3600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Continuous-time Fourier Series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Discrete-time Fourier Series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3.8 Filters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/>
          </p:nvPr>
        </p:nvGraphicFramePr>
        <p:xfrm>
          <a:off x="3806190" y="2747190"/>
          <a:ext cx="47091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0" name="公式" r:id="rId3" imgW="2616200" imgH="393700" progId="Equation.3">
                  <p:embed/>
                </p:oleObj>
              </mc:Choice>
              <mc:Fallback>
                <p:oleObj name="公式" r:id="rId3" imgW="2616200" imgH="39370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190" y="2747190"/>
                        <a:ext cx="4709160" cy="7086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/>
          </p:nvPr>
        </p:nvGraphicFramePr>
        <p:xfrm>
          <a:off x="3827760" y="1839354"/>
          <a:ext cx="37947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1" name="公式" r:id="rId5" imgW="2108200" imgH="431800" progId="Equation.3">
                  <p:embed/>
                </p:oleObj>
              </mc:Choice>
              <mc:Fallback>
                <p:oleObj name="公式" r:id="rId5" imgW="2108200" imgH="431800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760" y="1839354"/>
                        <a:ext cx="379476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100526" y="2057018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09872" y="2758566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/>
          </p:nvPr>
        </p:nvGraphicFramePr>
        <p:xfrm>
          <a:off x="3669030" y="5087737"/>
          <a:ext cx="49834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2" name="公式" r:id="rId7" imgW="2768600" imgH="419100" progId="Equation.3">
                  <p:embed/>
                </p:oleObj>
              </mc:Choice>
              <mc:Fallback>
                <p:oleObj name="公式" r:id="rId7" imgW="2768600" imgH="41910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9030" y="5087737"/>
                        <a:ext cx="49834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/>
          </p:nvPr>
        </p:nvGraphicFramePr>
        <p:xfrm>
          <a:off x="3770610" y="4228236"/>
          <a:ext cx="390906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3" name="公式" r:id="rId9" imgW="2171700" imgH="444500" progId="Equation.3">
                  <p:embed/>
                </p:oleObj>
              </mc:Choice>
              <mc:Fallback>
                <p:oleObj name="公式" r:id="rId9" imgW="2171700" imgH="444500" progId="Equation.3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610" y="4228236"/>
                        <a:ext cx="390906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888719" y="5130628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nalysis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8248" y="4368677"/>
            <a:ext cx="2640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equation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15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Why Choose </a:t>
            </a:r>
            <a:r>
              <a:rPr lang="en-US" sz="3600" i="1" dirty="0" err="1" smtClean="0"/>
              <a:t>e</a:t>
            </a:r>
            <a:r>
              <a:rPr lang="en-US" sz="3600" baseline="30000" dirty="0" err="1" smtClean="0"/>
              <a:t>j</a:t>
            </a:r>
            <a:r>
              <a:rPr lang="el-GR" sz="3600" baseline="30000" dirty="0" smtClean="0"/>
              <a:t>ω</a:t>
            </a:r>
            <a:r>
              <a:rPr lang="en-US" sz="2000" baseline="30000" dirty="0" smtClean="0"/>
              <a:t>0</a:t>
            </a:r>
            <a:r>
              <a:rPr lang="en-US" sz="3600" baseline="30000" dirty="0" smtClean="0"/>
              <a:t>t</a:t>
            </a:r>
            <a:r>
              <a:rPr lang="en-US" sz="3600" dirty="0" smtClean="0"/>
              <a:t>/</a:t>
            </a:r>
            <a:r>
              <a:rPr lang="en-US" sz="3600" i="1" dirty="0" err="1" smtClean="0"/>
              <a:t>e</a:t>
            </a:r>
            <a:r>
              <a:rPr lang="en-US" sz="3600" baseline="30000" dirty="0" err="1" smtClean="0"/>
              <a:t>j</a:t>
            </a:r>
            <a:r>
              <a:rPr lang="el-GR" sz="3600" baseline="30000" dirty="0"/>
              <a:t>ω</a:t>
            </a:r>
            <a:r>
              <a:rPr lang="en-US" sz="2000" baseline="30000" dirty="0" smtClean="0"/>
              <a:t>0</a:t>
            </a:r>
            <a:r>
              <a:rPr lang="en-US" sz="3600" baseline="30000" dirty="0" smtClean="0"/>
              <a:t>n </a:t>
            </a:r>
            <a:r>
              <a:rPr lang="en-US" sz="3600" dirty="0"/>
              <a:t>as basic </a:t>
            </a:r>
            <a:r>
              <a:rPr lang="en-US" sz="3600" dirty="0" smtClean="0"/>
              <a:t>functions?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i="1" dirty="0" err="1" smtClean="0"/>
              <a:t>e</a:t>
            </a:r>
            <a:r>
              <a:rPr lang="en-US" i="1" baseline="30000" dirty="0" err="1" smtClean="0"/>
              <a:t>st</a:t>
            </a:r>
            <a:r>
              <a:rPr lang="en-US" dirty="0" smtClean="0"/>
              <a:t> is the </a:t>
            </a:r>
            <a:r>
              <a:rPr lang="en-US" dirty="0" err="1" smtClean="0"/>
              <a:t>eigen</a:t>
            </a:r>
            <a:r>
              <a:rPr lang="en-US" dirty="0" smtClean="0"/>
              <a:t>-function of LST systems</a:t>
            </a:r>
          </a:p>
          <a:p>
            <a:endParaRPr lang="en-US" dirty="0"/>
          </a:p>
          <a:p>
            <a:r>
              <a:rPr lang="en-US" dirty="0" smtClean="0"/>
              <a:t> In the CT case, choose the specific case </a:t>
            </a:r>
            <a:r>
              <a:rPr lang="en-US" dirty="0" smtClean="0">
                <a:latin typeface="Palace Script MT" panose="030303020206070C0B05" pitchFamily="66" charset="0"/>
              </a:rPr>
              <a:t>Re</a:t>
            </a:r>
            <a:r>
              <a:rPr lang="en-US" dirty="0" smtClean="0"/>
              <a:t>{</a:t>
            </a:r>
            <a:r>
              <a:rPr lang="en-US" i="1" dirty="0" err="1"/>
              <a:t>e</a:t>
            </a:r>
            <a:r>
              <a:rPr lang="en-US" i="1" baseline="30000" dirty="0" err="1"/>
              <a:t>st</a:t>
            </a:r>
            <a:r>
              <a:rPr lang="en-US" dirty="0" smtClean="0"/>
              <a:t>}=0, </a:t>
            </a:r>
            <a:r>
              <a:rPr lang="en-US" i="1" dirty="0" err="1" smtClean="0"/>
              <a:t>e</a:t>
            </a:r>
            <a:r>
              <a:rPr lang="en-US" i="1" baseline="30000" dirty="0" err="1" smtClean="0"/>
              <a:t>st</a:t>
            </a:r>
            <a:r>
              <a:rPr lang="en-US" i="1" baseline="30000" dirty="0" smtClean="0"/>
              <a:t> </a:t>
            </a:r>
            <a:r>
              <a:rPr lang="en-US" dirty="0" smtClean="0"/>
              <a:t>is of the form </a:t>
            </a:r>
            <a:r>
              <a:rPr lang="en-US" i="1" dirty="0" err="1" smtClean="0"/>
              <a:t>e</a:t>
            </a:r>
            <a:r>
              <a:rPr lang="en-US" i="1" baseline="30000" dirty="0" err="1" smtClean="0"/>
              <a:t>j</a:t>
            </a:r>
            <a:r>
              <a:rPr lang="el-GR" i="1" baseline="30000" dirty="0" smtClean="0"/>
              <a:t>ω</a:t>
            </a:r>
            <a:r>
              <a:rPr lang="en-US" i="1" baseline="30000" dirty="0" smtClean="0"/>
              <a:t>t</a:t>
            </a:r>
          </a:p>
          <a:p>
            <a:r>
              <a:rPr lang="en-US" i="1" baseline="30000" dirty="0"/>
              <a:t> </a:t>
            </a:r>
            <a:r>
              <a:rPr lang="en-US" dirty="0"/>
              <a:t>In the DT case, </a:t>
            </a:r>
            <a:r>
              <a:rPr lang="en-US" dirty="0" smtClean="0"/>
              <a:t>choose         so that  </a:t>
            </a:r>
            <a:endParaRPr lang="en-US" dirty="0"/>
          </a:p>
          <a:p>
            <a:r>
              <a:rPr lang="en-US" i="1" baseline="30000" dirty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System function 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Frequency response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Response to                         is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2486091" y="1851684"/>
          <a:ext cx="1600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4" name="公式" r:id="rId3" imgW="888840" imgH="228600" progId="Equation.3">
                  <p:embed/>
                </p:oleObj>
              </mc:Choice>
              <mc:Fallback>
                <p:oleObj name="公式" r:id="rId3" imgW="888840" imgH="2286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91" y="1851684"/>
                        <a:ext cx="160020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3784320" y="3372529"/>
          <a:ext cx="24460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5" name="公式" r:id="rId5" imgW="1358900" imgH="330200" progId="Equation.3">
                  <p:embed/>
                </p:oleObj>
              </mc:Choice>
              <mc:Fallback>
                <p:oleObj name="公式" r:id="rId5" imgW="1358900" imgH="3302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320" y="3372529"/>
                        <a:ext cx="24460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4903788" y="1847850"/>
          <a:ext cx="15763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6" name="公式" r:id="rId7" imgW="876240" imgH="228600" progId="Equation.3">
                  <p:embed/>
                </p:oleObj>
              </mc:Choice>
              <mc:Fallback>
                <p:oleObj name="公式" r:id="rId7" imgW="876240" imgH="2286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1847850"/>
                        <a:ext cx="1576387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6457950" y="3281089"/>
          <a:ext cx="21488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7" name="公式" r:id="rId9" imgW="1193800" imgH="431800" progId="Equation.3">
                  <p:embed/>
                </p:oleObj>
              </mc:Choice>
              <mc:Fallback>
                <p:oleObj name="公式" r:id="rId9" imgW="1193800" imgH="4318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3281089"/>
                        <a:ext cx="21488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442602" y="3010107"/>
          <a:ext cx="662652" cy="457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8" name="公式" r:id="rId11" imgW="368140" imgH="253890" progId="Equation.3">
                  <p:embed/>
                </p:oleObj>
              </mc:Choice>
              <mc:Fallback>
                <p:oleObj name="公式" r:id="rId11" imgW="368140" imgH="25389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602" y="3010107"/>
                        <a:ext cx="662652" cy="4570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287589" y="2989546"/>
          <a:ext cx="822604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9" name="公式" r:id="rId13" imgW="457002" imgH="203112" progId="Equation.3">
                  <p:embed/>
                </p:oleObj>
              </mc:Choice>
              <mc:Fallback>
                <p:oleObj name="公式" r:id="rId13" imgW="457002" imgH="203112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589" y="2989546"/>
                        <a:ext cx="822604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477388" y="4356769"/>
          <a:ext cx="27432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0" name="公式" r:id="rId15" imgW="1524000" imgH="330200" progId="Equation.3">
                  <p:embed/>
                </p:oleObj>
              </mc:Choice>
              <mc:Fallback>
                <p:oleObj name="公式" r:id="rId15" imgW="1524000" imgH="33020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388" y="4356769"/>
                        <a:ext cx="274320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857750" y="4340406"/>
          <a:ext cx="251460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1" name="公式" r:id="rId17" imgW="1397000" imgH="431800" progId="Equation.3">
                  <p:embed/>
                </p:oleObj>
              </mc:Choice>
              <mc:Fallback>
                <p:oleObj name="公式" r:id="rId17" imgW="1397000" imgH="43180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4340406"/>
                        <a:ext cx="251460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3028950" y="5207473"/>
          <a:ext cx="1944687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2" name="公式" r:id="rId19" imgW="1079280" imgH="431640" progId="Equation.3">
                  <p:embed/>
                </p:oleObj>
              </mc:Choice>
              <mc:Fallback>
                <p:oleObj name="公式" r:id="rId19" imgW="1079280" imgH="43164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207473"/>
                        <a:ext cx="1944687" cy="776287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573754" y="5197862"/>
          <a:ext cx="292608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23" name="公式" r:id="rId21" imgW="1625600" imgH="431800" progId="Equation.3">
                  <p:embed/>
                </p:oleObj>
              </mc:Choice>
              <mc:Fallback>
                <p:oleObj name="公式" r:id="rId21" imgW="1625600" imgH="431800" progId="Equation.3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54" y="5197862"/>
                        <a:ext cx="2926080" cy="7772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86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3.16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200150" y="2688335"/>
          <a:ext cx="525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8" name="公式" r:id="rId3" imgW="2921000" imgH="508000" progId="Equation.3">
                  <p:embed/>
                </p:oleObj>
              </mc:Choice>
              <mc:Fallback>
                <p:oleObj name="公式" r:id="rId3" imgW="2921000" imgH="5080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688335"/>
                        <a:ext cx="5257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200150" y="2238500"/>
          <a:ext cx="14859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9" name="公式" r:id="rId5" imgW="825500" imgH="228600" progId="Equation.3">
                  <p:embed/>
                </p:oleObj>
              </mc:Choice>
              <mc:Fallback>
                <p:oleObj name="公式" r:id="rId5" imgW="825500" imgH="2286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238500"/>
                        <a:ext cx="14859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330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Filtering</a:t>
            </a:r>
            <a:r>
              <a:rPr lang="en-US" dirty="0" smtClean="0"/>
              <a:t>: changing the relative amplitudes of the frequency components in a signal, or perhaps eliminating some frequency components</a:t>
            </a:r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frequency-shaping filter</a:t>
            </a:r>
            <a:r>
              <a:rPr lang="en-US" dirty="0" smtClean="0"/>
              <a:t>: change the shape of the spectrum</a:t>
            </a:r>
          </a:p>
          <a:p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frequency-selective filter</a:t>
            </a:r>
            <a:r>
              <a:rPr lang="en-US" dirty="0" smtClean="0"/>
              <a:t>: pass some frequencies undistorted and significantly attenuate or eliminate other frequencies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4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Filters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)=d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)/</a:t>
            </a:r>
            <a:r>
              <a:rPr lang="en-US" dirty="0" err="1" smtClean="0"/>
              <a:t>d</a:t>
            </a:r>
            <a:r>
              <a:rPr lang="en-US" i="1" dirty="0" err="1" smtClean="0"/>
              <a:t>t</a:t>
            </a:r>
            <a:r>
              <a:rPr lang="en-US" dirty="0" smtClean="0"/>
              <a:t> 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)=</a:t>
            </a:r>
            <a:r>
              <a:rPr lang="en-US" i="1" dirty="0"/>
              <a:t>j</a:t>
            </a:r>
            <a:r>
              <a:rPr lang="el-GR" i="1" dirty="0" smtClean="0"/>
              <a:t>ω</a:t>
            </a:r>
            <a:endParaRPr lang="en-US" i="1" dirty="0" smtClean="0"/>
          </a:p>
          <a:p>
            <a:pPr lvl="1"/>
            <a:r>
              <a:rPr lang="en-US" dirty="0" smtClean="0"/>
              <a:t>Can be used to find image edges</a:t>
            </a:r>
            <a:endParaRPr lang="en-US" dirty="0"/>
          </a:p>
          <a:p>
            <a:endParaRPr lang="en-US" i="1" dirty="0" smtClean="0"/>
          </a:p>
          <a:p>
            <a:r>
              <a:rPr lang="en-US" i="1" dirty="0"/>
              <a:t> </a:t>
            </a:r>
            <a:r>
              <a:rPr lang="en-US" i="1" dirty="0" smtClean="0"/>
              <a:t>y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]=(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]+</a:t>
            </a:r>
            <a:r>
              <a:rPr lang="en-US" i="1" dirty="0"/>
              <a:t> </a:t>
            </a:r>
            <a:r>
              <a:rPr lang="en-US" i="1" dirty="0" smtClean="0"/>
              <a:t>x</a:t>
            </a:r>
            <a:r>
              <a:rPr lang="en-US" dirty="0" smtClean="0"/>
              <a:t>[</a:t>
            </a:r>
            <a:r>
              <a:rPr lang="en-US" i="1" dirty="0" smtClean="0"/>
              <a:t>n-</a:t>
            </a:r>
            <a:r>
              <a:rPr lang="en-US" dirty="0" smtClean="0"/>
              <a:t>1])/2  </a:t>
            </a:r>
          </a:p>
          <a:p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err="1" smtClean="0"/>
              <a:t>e</a:t>
            </a:r>
            <a:r>
              <a:rPr lang="en-US" i="1" baseline="30000" dirty="0" err="1" smtClean="0"/>
              <a:t>j</a:t>
            </a:r>
            <a:r>
              <a:rPr lang="el-GR" i="1" baseline="30000" dirty="0"/>
              <a:t>ω</a:t>
            </a:r>
            <a:r>
              <a:rPr lang="en-US" dirty="0" smtClean="0"/>
              <a:t>)=(1+</a:t>
            </a:r>
            <a:r>
              <a:rPr lang="en-US" i="1" dirty="0" smtClean="0"/>
              <a:t> e</a:t>
            </a:r>
            <a:r>
              <a:rPr lang="en-US" i="1" baseline="30000" dirty="0" smtClean="0"/>
              <a:t>-j</a:t>
            </a:r>
            <a:r>
              <a:rPr lang="el-GR" i="1" baseline="30000" dirty="0" smtClean="0"/>
              <a:t>ω</a:t>
            </a:r>
            <a:r>
              <a:rPr lang="en-US" dirty="0" smtClean="0"/>
              <a:t>)/</a:t>
            </a:r>
            <a:r>
              <a:rPr lang="en-US" dirty="0"/>
              <a:t>2 </a:t>
            </a:r>
            <a:r>
              <a:rPr lang="en-US" dirty="0" smtClean="0"/>
              <a:t>=</a:t>
            </a:r>
            <a:r>
              <a:rPr lang="en-US" dirty="0"/>
              <a:t> </a:t>
            </a:r>
            <a:r>
              <a:rPr lang="en-US" i="1" dirty="0"/>
              <a:t>e</a:t>
            </a:r>
            <a:r>
              <a:rPr lang="en-US" i="1" baseline="30000" dirty="0"/>
              <a:t>-j</a:t>
            </a:r>
            <a:r>
              <a:rPr lang="el-GR" i="1" baseline="30000" dirty="0" smtClean="0"/>
              <a:t>ω</a:t>
            </a:r>
            <a:r>
              <a:rPr lang="en-US" baseline="30000" dirty="0" smtClean="0"/>
              <a:t>/2</a:t>
            </a:r>
            <a:r>
              <a:rPr lang="en-US" dirty="0" smtClean="0"/>
              <a:t>cos(</a:t>
            </a:r>
            <a:r>
              <a:rPr lang="el-GR" i="1" dirty="0" smtClean="0"/>
              <a:t>ω</a:t>
            </a:r>
            <a:r>
              <a:rPr lang="en-US" dirty="0" smtClean="0"/>
              <a:t>/2) </a:t>
            </a:r>
          </a:p>
          <a:p>
            <a:pPr lvl="1"/>
            <a:r>
              <a:rPr lang="en-US" dirty="0" smtClean="0"/>
              <a:t> Only consider a 2</a:t>
            </a:r>
            <a:r>
              <a:rPr lang="el-GR" dirty="0" smtClean="0"/>
              <a:t>π</a:t>
            </a:r>
            <a:r>
              <a:rPr lang="en-US" dirty="0" smtClean="0"/>
              <a:t> interval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Ideal </a:t>
            </a:r>
            <a:r>
              <a:rPr lang="en-US" altLang="zh-CN" dirty="0" err="1" smtClean="0"/>
              <a:t>Lowpass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Bandpass</a:t>
            </a:r>
            <a:r>
              <a:rPr lang="en-US" altLang="zh-CN" dirty="0" smtClean="0"/>
              <a:t> Filters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Ideal </a:t>
            </a:r>
            <a:r>
              <a:rPr lang="en-US" dirty="0" err="1" smtClean="0"/>
              <a:t>lowpass</a:t>
            </a:r>
            <a:r>
              <a:rPr lang="en-US" dirty="0" smtClean="0"/>
              <a:t> filter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err="1" smtClean="0"/>
              <a:t>lowpass</a:t>
            </a:r>
            <a:r>
              <a:rPr lang="en-US" dirty="0" smtClean="0"/>
              <a:t> filter: </a:t>
            </a:r>
            <a:r>
              <a:rPr lang="en-US" b="1" dirty="0" smtClean="0">
                <a:solidFill>
                  <a:srgbClr val="C00000"/>
                </a:solidFill>
              </a:rPr>
              <a:t>cutoff frequency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passband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stopband</a:t>
            </a:r>
          </a:p>
          <a:p>
            <a:r>
              <a:rPr lang="en-US" dirty="0"/>
              <a:t> </a:t>
            </a:r>
            <a:r>
              <a:rPr lang="en-US" dirty="0" err="1" smtClean="0"/>
              <a:t>bandpass</a:t>
            </a:r>
            <a:r>
              <a:rPr lang="en-US" dirty="0" smtClean="0"/>
              <a:t> filter: </a:t>
            </a:r>
            <a:r>
              <a:rPr lang="en-US" b="1" dirty="0" smtClean="0">
                <a:solidFill>
                  <a:srgbClr val="C00000"/>
                </a:solidFill>
              </a:rPr>
              <a:t>lower cutoff frequency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upper cutoff frequency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35642" y="1773936"/>
          <a:ext cx="2536358" cy="959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2" name="公式" r:id="rId3" imgW="1409088" imgH="533169" progId="Equation.3">
                  <p:embed/>
                </p:oleObj>
              </mc:Choice>
              <mc:Fallback>
                <p:oleObj name="公式" r:id="rId3" imgW="1409088" imgH="533169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642" y="1773936"/>
                        <a:ext cx="2536358" cy="9597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43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RC </a:t>
            </a:r>
            <a:r>
              <a:rPr lang="en-US" dirty="0" err="1" smtClean="0"/>
              <a:t>Lowpass</a:t>
            </a:r>
            <a:r>
              <a:rPr lang="en-US" dirty="0" smtClean="0"/>
              <a:t> Filter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DE: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altLang="zh-CN" dirty="0" smtClean="0"/>
              <a:t>For input </a:t>
            </a:r>
            <a:r>
              <a:rPr lang="en-US" altLang="zh-CN" i="1" dirty="0" smtClean="0"/>
              <a:t>v</a:t>
            </a:r>
            <a:r>
              <a:rPr lang="en-US" altLang="zh-CN" baseline="-25000" dirty="0" smtClean="0"/>
              <a:t>s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)=</a:t>
            </a:r>
            <a:r>
              <a:rPr lang="en-US" i="1" dirty="0" err="1"/>
              <a:t>e</a:t>
            </a:r>
            <a:r>
              <a:rPr lang="en-US" i="1" baseline="30000" dirty="0" err="1"/>
              <a:t>j</a:t>
            </a:r>
            <a:r>
              <a:rPr lang="el-GR" i="1" baseline="30000" dirty="0"/>
              <a:t>ω</a:t>
            </a:r>
            <a:r>
              <a:rPr lang="en-US" i="1" baseline="30000" dirty="0" smtClean="0"/>
              <a:t>t</a:t>
            </a:r>
            <a:r>
              <a:rPr lang="en-US" i="1" dirty="0" smtClean="0"/>
              <a:t>, </a:t>
            </a:r>
            <a:endParaRPr lang="en-US" i="1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System response:   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Impulse</a:t>
            </a:r>
            <a:r>
              <a:rPr lang="en-US" dirty="0" smtClean="0"/>
              <a:t> response: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480" y="1509623"/>
            <a:ext cx="3063621" cy="1398933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1817640" y="1308100"/>
          <a:ext cx="32918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6" name="公式" r:id="rId4" imgW="1828800" imgH="393700" progId="Equation.3">
                  <p:embed/>
                </p:oleObj>
              </mc:Choice>
              <mc:Fallback>
                <p:oleObj name="公式" r:id="rId4" imgW="1828800" imgH="3937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40" y="1308100"/>
                        <a:ext cx="32918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12807" y="2802887"/>
          <a:ext cx="205740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7" name="公式" r:id="rId6" imgW="1143000" imgH="241300" progId="Equation.3">
                  <p:embed/>
                </p:oleObj>
              </mc:Choice>
              <mc:Fallback>
                <p:oleObj name="公式" r:id="rId6" imgW="1143000" imgH="2413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07" y="2802887"/>
                        <a:ext cx="205740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112807" y="3296633"/>
          <a:ext cx="45262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8" name="公式" r:id="rId8" imgW="2514600" imgH="393700" progId="Equation.3">
                  <p:embed/>
                </p:oleObj>
              </mc:Choice>
              <mc:Fallback>
                <p:oleObj name="公式" r:id="rId8" imgW="2514600" imgH="3937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07" y="3296633"/>
                        <a:ext cx="45262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43795" y="3996494"/>
          <a:ext cx="45720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9" name="公式" r:id="rId10" imgW="2540000" imgH="393700" progId="Equation.3">
                  <p:embed/>
                </p:oleObj>
              </mc:Choice>
              <mc:Fallback>
                <p:oleObj name="公式" r:id="rId10" imgW="2540000" imgH="3937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795" y="3996494"/>
                        <a:ext cx="45720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101008" y="4507875"/>
          <a:ext cx="2193608" cy="137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0" name="公式" r:id="rId12" imgW="1218671" imgH="761669" progId="Equation.3">
                  <p:embed/>
                </p:oleObj>
              </mc:Choice>
              <mc:Fallback>
                <p:oleObj name="公式" r:id="rId12" imgW="1218671" imgH="761669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1008" y="4507875"/>
                        <a:ext cx="2193608" cy="1371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838150" y="5647999"/>
          <a:ext cx="2262159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1" name="公式" r:id="rId14" imgW="1256755" imgH="393529" progId="Equation.3">
                  <p:embed/>
                </p:oleObj>
              </mc:Choice>
              <mc:Fallback>
                <p:oleObj name="公式" r:id="rId14" imgW="1256755" imgH="393529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150" y="5647999"/>
                        <a:ext cx="2262159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294616" y="3442496"/>
            <a:ext cx="2478891" cy="1107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get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in time domain?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calculate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from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11640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RC </a:t>
            </a:r>
            <a:r>
              <a:rPr lang="en-US" altLang="zh-CN" dirty="0" err="1" smtClean="0"/>
              <a:t>Highpass</a:t>
            </a:r>
            <a:r>
              <a:rPr lang="en-US" altLang="zh-CN" dirty="0" smtClean="0"/>
              <a:t> Filter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Substitute                          into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For </a:t>
            </a:r>
            <a:r>
              <a:rPr lang="en-US" altLang="zh-CN" dirty="0"/>
              <a:t>input </a:t>
            </a:r>
            <a:r>
              <a:rPr lang="en-US" altLang="zh-CN" i="1" dirty="0"/>
              <a:t>v</a:t>
            </a:r>
            <a:r>
              <a:rPr lang="en-US" altLang="zh-CN" baseline="-25000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)=</a:t>
            </a:r>
            <a:r>
              <a:rPr lang="en-US" i="1" dirty="0" err="1"/>
              <a:t>e</a:t>
            </a:r>
            <a:r>
              <a:rPr lang="en-US" i="1" baseline="30000" dirty="0" err="1"/>
              <a:t>j</a:t>
            </a:r>
            <a:r>
              <a:rPr lang="el-GR" i="1" baseline="30000" dirty="0"/>
              <a:t>ω</a:t>
            </a:r>
            <a:r>
              <a:rPr lang="en-US" i="1" baseline="30000" dirty="0"/>
              <a:t>t</a:t>
            </a:r>
            <a:r>
              <a:rPr lang="en-US" i="1" dirty="0"/>
              <a:t>,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Impulse response </a:t>
            </a:r>
          </a:p>
          <a:p>
            <a:r>
              <a:rPr lang="en-US" dirty="0"/>
              <a:t> </a:t>
            </a:r>
            <a:r>
              <a:rPr lang="en-US" dirty="0" smtClean="0"/>
              <a:t>Step response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§3.8 </a:t>
            </a:r>
            <a:r>
              <a:rPr lang="en-US" dirty="0" smtClean="0"/>
              <a:t>Filters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12" y="1524639"/>
            <a:ext cx="3345996" cy="1644609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65561" y="1336514"/>
          <a:ext cx="21717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0" name="公式" r:id="rId4" imgW="1206500" imgH="228600" progId="Equation.3">
                  <p:embed/>
                </p:oleObj>
              </mc:Choice>
              <mc:Fallback>
                <p:oleObj name="公式" r:id="rId4" imgW="1206500" imgH="2286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561" y="1336514"/>
                        <a:ext cx="217170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418738" y="1778035"/>
          <a:ext cx="3267562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1" name="公式" r:id="rId6" imgW="1815312" imgH="393529" progId="Equation.3">
                  <p:embed/>
                </p:oleObj>
              </mc:Choice>
              <mc:Fallback>
                <p:oleObj name="公式" r:id="rId6" imgW="1815312" imgH="393529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738" y="1778035"/>
                        <a:ext cx="3267562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71600" y="2473196"/>
          <a:ext cx="33147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2" name="公式" r:id="rId8" imgW="1841500" imgH="393700" progId="Equation.3">
                  <p:embed/>
                </p:oleObj>
              </mc:Choice>
              <mc:Fallback>
                <p:oleObj name="公式" r:id="rId8" imgW="1841500" imgH="39370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473196"/>
                        <a:ext cx="33147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297823" y="3496471"/>
          <a:ext cx="44348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3" name="公式" r:id="rId10" imgW="2463800" imgH="393700" progId="Equation.3">
                  <p:embed/>
                </p:oleObj>
              </mc:Choice>
              <mc:Fallback>
                <p:oleObj name="公式" r:id="rId10" imgW="2463800" imgH="39370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823" y="3496471"/>
                        <a:ext cx="44348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955715" y="3985195"/>
          <a:ext cx="2193608" cy="105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4" name="公式" r:id="rId12" imgW="1218671" imgH="583947" progId="Equation.3">
                  <p:embed/>
                </p:oleObj>
              </mc:Choice>
              <mc:Fallback>
                <p:oleObj name="公式" r:id="rId12" imgW="1218671" imgH="583947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715" y="3985195"/>
                        <a:ext cx="2193608" cy="10511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333875" y="5676900"/>
          <a:ext cx="17827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5" name="公式" r:id="rId14" imgW="990360" imgH="228600" progId="Equation.3">
                  <p:embed/>
                </p:oleObj>
              </mc:Choice>
              <mc:Fallback>
                <p:oleObj name="公式" r:id="rId14" imgW="990360" imgH="228600" progId="Equation.3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5676900"/>
                        <a:ext cx="1782763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014215" y="4897971"/>
          <a:ext cx="31318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6" name="公式" r:id="rId16" imgW="1739900" imgH="393700" progId="Equation.3">
                  <p:embed/>
                </p:oleObj>
              </mc:Choice>
              <mc:Fallback>
                <p:oleObj name="公式" r:id="rId16" imgW="1739900" imgH="393700" progId="Equation.3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215" y="4897971"/>
                        <a:ext cx="31318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6162917" y="3789975"/>
            <a:ext cx="2478891" cy="1107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get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in time domain?</a:t>
            </a:r>
          </a:p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How to calculate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from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95802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 Why Fourier Series?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The basic functions for CT and DT</a:t>
            </a:r>
          </a:p>
          <a:p>
            <a:pPr lvl="1"/>
            <a:r>
              <a:rPr lang="en-US" altLang="zh-CN" dirty="0" smtClean="0"/>
              <a:t>Why choose complex exponentials?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Convergence problem in CT FS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System function and filtering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4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2003</Words>
  <Application>Microsoft Office PowerPoint</Application>
  <PresentationFormat>全屏显示(4:3)</PresentationFormat>
  <Paragraphs>397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等线</vt:lpstr>
      <vt:lpstr>宋体</vt:lpstr>
      <vt:lpstr>Arial</vt:lpstr>
      <vt:lpstr>Palace Script MT</vt:lpstr>
      <vt:lpstr>Times New Roman</vt:lpstr>
      <vt:lpstr>Wingdings</vt:lpstr>
      <vt:lpstr>Office 主题​​</vt:lpstr>
      <vt:lpstr>公式</vt:lpstr>
      <vt:lpstr>Chapter 3  Fourier Series of Periodic Signals</vt:lpstr>
      <vt:lpstr>Outline</vt:lpstr>
      <vt:lpstr>Recall: LTI Systems, System Response</vt:lpstr>
      <vt:lpstr>§3.2 Response of LTI System to Complex Exponential</vt:lpstr>
      <vt:lpstr>CT LTI System Response to </vt:lpstr>
      <vt:lpstr>Example 3.1 </vt:lpstr>
      <vt:lpstr>DT LTI System Response to </vt:lpstr>
      <vt:lpstr>§3.3 Fourier Series of CT Periodic Signals</vt:lpstr>
      <vt:lpstr>Fourier Series of Real Periodic Signals</vt:lpstr>
      <vt:lpstr>Example 3.2</vt:lpstr>
      <vt:lpstr>Find the Fourier Series Coefficients</vt:lpstr>
      <vt:lpstr>Fourier Series Coefficients</vt:lpstr>
      <vt:lpstr>Fourier Series of Periodic Square Wave</vt:lpstr>
      <vt:lpstr>Fourier Series of Periodic Square Wave (cont’)</vt:lpstr>
      <vt:lpstr>§3.4 Convergence of Fourier Series</vt:lpstr>
      <vt:lpstr>Dirichlet Conditions (cont’)</vt:lpstr>
      <vt:lpstr>Gibbs Phenomenon (Michelson’s Observation on FS Representation of Periodic Square Wave)</vt:lpstr>
      <vt:lpstr>Convergence of Fourier Series</vt:lpstr>
      <vt:lpstr>§3.5  Properties of CT Fourier Series</vt:lpstr>
      <vt:lpstr>Properties of CT Fourier Series (cont’)</vt:lpstr>
      <vt:lpstr>Example 3.6</vt:lpstr>
      <vt:lpstr>Fourier Series of Impulse Train</vt:lpstr>
      <vt:lpstr>§3.6 Fourier Series of DT Periodic Signals</vt:lpstr>
      <vt:lpstr>Determine DT FS Coefficients</vt:lpstr>
      <vt:lpstr>Determine DT FS Coefficients (cont’)</vt:lpstr>
      <vt:lpstr>DT Fourier Series</vt:lpstr>
      <vt:lpstr>Example 3.10</vt:lpstr>
      <vt:lpstr>§3.7 Properties of DT FS</vt:lpstr>
      <vt:lpstr>Example 3.13</vt:lpstr>
      <vt:lpstr>Recall: Fourier Series</vt:lpstr>
      <vt:lpstr>Why Choose ejω0t/ejω0n as basic functions?</vt:lpstr>
      <vt:lpstr>Example 3.16</vt:lpstr>
      <vt:lpstr>Filtering</vt:lpstr>
      <vt:lpstr>Typical Filters</vt:lpstr>
      <vt:lpstr>Ideal Lowpass/Bandpass Filters</vt:lpstr>
      <vt:lpstr>RC Lowpass Filter</vt:lpstr>
      <vt:lpstr>RC Highpass Filter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259</cp:revision>
  <dcterms:created xsi:type="dcterms:W3CDTF">2018-09-11T08:26:55Z</dcterms:created>
  <dcterms:modified xsi:type="dcterms:W3CDTF">2020-09-30T00:33:24Z</dcterms:modified>
</cp:coreProperties>
</file>