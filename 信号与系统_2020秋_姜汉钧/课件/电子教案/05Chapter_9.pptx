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1"/>
  </p:notesMasterIdLst>
  <p:sldIdLst>
    <p:sldId id="400" r:id="rId2"/>
    <p:sldId id="256" r:id="rId3"/>
    <p:sldId id="343" r:id="rId4"/>
    <p:sldId id="287" r:id="rId5"/>
    <p:sldId id="344" r:id="rId6"/>
    <p:sldId id="345" r:id="rId7"/>
    <p:sldId id="346" r:id="rId8"/>
    <p:sldId id="347" r:id="rId9"/>
    <p:sldId id="348" r:id="rId10"/>
    <p:sldId id="349" r:id="rId11"/>
    <p:sldId id="350" r:id="rId12"/>
    <p:sldId id="351" r:id="rId13"/>
    <p:sldId id="352" r:id="rId14"/>
    <p:sldId id="353" r:id="rId15"/>
    <p:sldId id="354" r:id="rId16"/>
    <p:sldId id="355" r:id="rId17"/>
    <p:sldId id="374" r:id="rId18"/>
    <p:sldId id="356" r:id="rId19"/>
    <p:sldId id="357" r:id="rId20"/>
    <p:sldId id="358" r:id="rId21"/>
    <p:sldId id="359" r:id="rId22"/>
    <p:sldId id="361" r:id="rId23"/>
    <p:sldId id="362" r:id="rId24"/>
    <p:sldId id="363" r:id="rId25"/>
    <p:sldId id="364" r:id="rId26"/>
    <p:sldId id="365" r:id="rId27"/>
    <p:sldId id="366" r:id="rId28"/>
    <p:sldId id="367" r:id="rId29"/>
    <p:sldId id="368" r:id="rId30"/>
    <p:sldId id="369" r:id="rId31"/>
    <p:sldId id="370" r:id="rId32"/>
    <p:sldId id="371" r:id="rId33"/>
    <p:sldId id="372" r:id="rId34"/>
    <p:sldId id="373" r:id="rId35"/>
    <p:sldId id="375" r:id="rId36"/>
    <p:sldId id="376" r:id="rId37"/>
    <p:sldId id="377" r:id="rId38"/>
    <p:sldId id="378" r:id="rId39"/>
    <p:sldId id="379" r:id="rId40"/>
    <p:sldId id="380" r:id="rId41"/>
    <p:sldId id="381" r:id="rId42"/>
    <p:sldId id="382" r:id="rId43"/>
    <p:sldId id="383" r:id="rId44"/>
    <p:sldId id="384" r:id="rId45"/>
    <p:sldId id="386" r:id="rId46"/>
    <p:sldId id="387" r:id="rId47"/>
    <p:sldId id="388" r:id="rId48"/>
    <p:sldId id="389" r:id="rId49"/>
    <p:sldId id="390" r:id="rId50"/>
    <p:sldId id="360" r:id="rId51"/>
    <p:sldId id="391" r:id="rId52"/>
    <p:sldId id="392" r:id="rId53"/>
    <p:sldId id="393" r:id="rId54"/>
    <p:sldId id="394" r:id="rId55"/>
    <p:sldId id="399" r:id="rId56"/>
    <p:sldId id="395" r:id="rId57"/>
    <p:sldId id="396" r:id="rId58"/>
    <p:sldId id="397" r:id="rId59"/>
    <p:sldId id="398" r:id="rId6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3" autoAdjust="0"/>
    <p:restoredTop sz="94660"/>
  </p:normalViewPr>
  <p:slideViewPr>
    <p:cSldViewPr snapToGrid="0">
      <p:cViewPr varScale="1">
        <p:scale>
          <a:sx n="89" d="100"/>
          <a:sy n="89" d="100"/>
        </p:scale>
        <p:origin x="11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7" Type="http://schemas.openxmlformats.org/officeDocument/2006/relationships/image" Target="../media/image12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wmf"/><Relationship Id="rId5" Type="http://schemas.openxmlformats.org/officeDocument/2006/relationships/image" Target="../media/image19.wmf"/><Relationship Id="rId4" Type="http://schemas.openxmlformats.org/officeDocument/2006/relationships/image" Target="../media/image18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image" Target="../media/image20.wmf"/><Relationship Id="rId1" Type="http://schemas.openxmlformats.org/officeDocument/2006/relationships/image" Target="../media/image18.wmf"/><Relationship Id="rId4" Type="http://schemas.openxmlformats.org/officeDocument/2006/relationships/image" Target="../media/image2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Relationship Id="rId5" Type="http://schemas.openxmlformats.org/officeDocument/2006/relationships/image" Target="../media/image26.wmf"/><Relationship Id="rId4" Type="http://schemas.openxmlformats.org/officeDocument/2006/relationships/image" Target="../media/image19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3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37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4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2" Type="http://schemas.openxmlformats.org/officeDocument/2006/relationships/image" Target="../media/image49.wmf"/><Relationship Id="rId1" Type="http://schemas.openxmlformats.org/officeDocument/2006/relationships/image" Target="../media/image4.wmf"/><Relationship Id="rId6" Type="http://schemas.openxmlformats.org/officeDocument/2006/relationships/image" Target="../media/image53.wmf"/><Relationship Id="rId5" Type="http://schemas.openxmlformats.org/officeDocument/2006/relationships/image" Target="../media/image52.wmf"/><Relationship Id="rId4" Type="http://schemas.openxmlformats.org/officeDocument/2006/relationships/image" Target="../media/image51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Relationship Id="rId4" Type="http://schemas.openxmlformats.org/officeDocument/2006/relationships/image" Target="../media/image57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59.wmf"/><Relationship Id="rId2" Type="http://schemas.openxmlformats.org/officeDocument/2006/relationships/image" Target="../media/image58.wmf"/><Relationship Id="rId1" Type="http://schemas.openxmlformats.org/officeDocument/2006/relationships/image" Target="../media/image45.wmf"/><Relationship Id="rId4" Type="http://schemas.openxmlformats.org/officeDocument/2006/relationships/image" Target="../media/image60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5" Type="http://schemas.openxmlformats.org/officeDocument/2006/relationships/image" Target="../media/image65.wmf"/><Relationship Id="rId4" Type="http://schemas.openxmlformats.org/officeDocument/2006/relationships/image" Target="../media/image64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image" Target="../media/image71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4.wmf"/><Relationship Id="rId2" Type="http://schemas.openxmlformats.org/officeDocument/2006/relationships/image" Target="../media/image73.wmf"/><Relationship Id="rId1" Type="http://schemas.openxmlformats.org/officeDocument/2006/relationships/image" Target="../media/image71.wmf"/></Relationships>
</file>

<file path=ppt/drawings/_rels/vmlDrawing20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5.wmf"/></Relationships>
</file>

<file path=ppt/drawings/_rels/vmlDrawing2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1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77.wmf"/><Relationship Id="rId2" Type="http://schemas.openxmlformats.org/officeDocument/2006/relationships/image" Target="../media/image62.wmf"/><Relationship Id="rId1" Type="http://schemas.openxmlformats.org/officeDocument/2006/relationships/image" Target="../media/image61.wmf"/><Relationship Id="rId6" Type="http://schemas.openxmlformats.org/officeDocument/2006/relationships/image" Target="../media/image80.wmf"/><Relationship Id="rId5" Type="http://schemas.openxmlformats.org/officeDocument/2006/relationships/image" Target="../media/image79.wmf"/><Relationship Id="rId4" Type="http://schemas.openxmlformats.org/officeDocument/2006/relationships/image" Target="../media/image78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2" Type="http://schemas.openxmlformats.org/officeDocument/2006/relationships/image" Target="../media/image81.wmf"/><Relationship Id="rId1" Type="http://schemas.openxmlformats.org/officeDocument/2006/relationships/image" Target="../media/image5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84.wmf"/><Relationship Id="rId2" Type="http://schemas.openxmlformats.org/officeDocument/2006/relationships/image" Target="../media/image83.wmf"/><Relationship Id="rId1" Type="http://schemas.openxmlformats.org/officeDocument/2006/relationships/image" Target="../media/image9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87.wmf"/><Relationship Id="rId7" Type="http://schemas.openxmlformats.org/officeDocument/2006/relationships/image" Target="../media/image91.wmf"/><Relationship Id="rId2" Type="http://schemas.openxmlformats.org/officeDocument/2006/relationships/image" Target="../media/image86.wmf"/><Relationship Id="rId1" Type="http://schemas.openxmlformats.org/officeDocument/2006/relationships/image" Target="../media/image85.wmf"/><Relationship Id="rId6" Type="http://schemas.openxmlformats.org/officeDocument/2006/relationships/image" Target="../media/image90.wmf"/><Relationship Id="rId5" Type="http://schemas.openxmlformats.org/officeDocument/2006/relationships/image" Target="../media/image89.wmf"/><Relationship Id="rId4" Type="http://schemas.openxmlformats.org/officeDocument/2006/relationships/image" Target="../media/image88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94.wmf"/><Relationship Id="rId2" Type="http://schemas.openxmlformats.org/officeDocument/2006/relationships/image" Target="../media/image93.wmf"/><Relationship Id="rId1" Type="http://schemas.openxmlformats.org/officeDocument/2006/relationships/image" Target="../media/image9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5" Type="http://schemas.openxmlformats.org/officeDocument/2006/relationships/image" Target="../media/image98.wmf"/><Relationship Id="rId4" Type="http://schemas.openxmlformats.org/officeDocument/2006/relationships/image" Target="../media/image29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wmf"/><Relationship Id="rId2" Type="http://schemas.openxmlformats.org/officeDocument/2006/relationships/image" Target="../media/image100.wmf"/><Relationship Id="rId1" Type="http://schemas.openxmlformats.org/officeDocument/2006/relationships/image" Target="../media/image9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wmf"/><Relationship Id="rId2" Type="http://schemas.openxmlformats.org/officeDocument/2006/relationships/image" Target="../media/image106.wmf"/><Relationship Id="rId1" Type="http://schemas.openxmlformats.org/officeDocument/2006/relationships/image" Target="../media/image105.wmf"/><Relationship Id="rId4" Type="http://schemas.openxmlformats.org/officeDocument/2006/relationships/image" Target="../media/image108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wmf"/><Relationship Id="rId2" Type="http://schemas.openxmlformats.org/officeDocument/2006/relationships/image" Target="../media/image114.wmf"/><Relationship Id="rId1" Type="http://schemas.openxmlformats.org/officeDocument/2006/relationships/image" Target="../media/image113.wmf"/><Relationship Id="rId4" Type="http://schemas.openxmlformats.org/officeDocument/2006/relationships/image" Target="../media/image116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9.wmf"/><Relationship Id="rId2" Type="http://schemas.openxmlformats.org/officeDocument/2006/relationships/image" Target="../media/image118.wmf"/><Relationship Id="rId1" Type="http://schemas.openxmlformats.org/officeDocument/2006/relationships/image" Target="../media/image117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wmf"/><Relationship Id="rId2" Type="http://schemas.openxmlformats.org/officeDocument/2006/relationships/image" Target="../media/image122.wmf"/><Relationship Id="rId1" Type="http://schemas.openxmlformats.org/officeDocument/2006/relationships/image" Target="../media/image121.wmf"/><Relationship Id="rId5" Type="http://schemas.openxmlformats.org/officeDocument/2006/relationships/image" Target="../media/image125.wmf"/><Relationship Id="rId4" Type="http://schemas.openxmlformats.org/officeDocument/2006/relationships/image" Target="../media/image124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wmf"/><Relationship Id="rId2" Type="http://schemas.openxmlformats.org/officeDocument/2006/relationships/image" Target="../media/image130.wmf"/><Relationship Id="rId1" Type="http://schemas.openxmlformats.org/officeDocument/2006/relationships/image" Target="../media/image129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7.wmf"/><Relationship Id="rId2" Type="http://schemas.openxmlformats.org/officeDocument/2006/relationships/image" Target="../media/image136.wmf"/><Relationship Id="rId1" Type="http://schemas.openxmlformats.org/officeDocument/2006/relationships/image" Target="../media/image135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wmf"/><Relationship Id="rId2" Type="http://schemas.openxmlformats.org/officeDocument/2006/relationships/image" Target="../media/image144.wmf"/><Relationship Id="rId1" Type="http://schemas.openxmlformats.org/officeDocument/2006/relationships/image" Target="../media/image143.wmf"/></Relationships>
</file>

<file path=ppt/drawings/_rels/vmlDrawing3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wmf"/><Relationship Id="rId1" Type="http://schemas.openxmlformats.org/officeDocument/2006/relationships/image" Target="../media/image1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6065A7-DFD5-4551-9E93-CC0B196D68A3}" type="datetimeFigureOut">
              <a:rPr lang="zh-CN" altLang="en-US" smtClean="0"/>
              <a:t>2020/10/21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CD5FA-AD32-4B9A-9235-7F5254E91E7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05297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190246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514350" indent="-514350">
              <a:buFont typeface="+mj-lt"/>
              <a:buAutoNum type="arabicPeriod"/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675031" y="57929"/>
            <a:ext cx="4468969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8426671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533363" y="0"/>
            <a:ext cx="4610638" cy="297511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628924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5034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36514"/>
            <a:ext cx="3886200" cy="4840449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55335" y="57929"/>
            <a:ext cx="428866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724363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792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3382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162174"/>
            <a:ext cx="3868340" cy="3933825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382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162175"/>
            <a:ext cx="3887391" cy="3933824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829577" y="57929"/>
            <a:ext cx="4314423" cy="223840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719730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28650" y="1240485"/>
            <a:ext cx="7920000" cy="0"/>
          </a:xfrm>
          <a:prstGeom prst="line">
            <a:avLst/>
          </a:prstGeom>
          <a:ln w="412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752305" y="57929"/>
            <a:ext cx="4391696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48178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5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4468969" y="0"/>
            <a:ext cx="4675031" cy="281767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225019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90984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76313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11"/>
          <p:cNvSpPr>
            <a:spLocks noGrp="1"/>
          </p:cNvSpPr>
          <p:nvPr>
            <p:ph type="body" sz="quarter" idx="13"/>
          </p:nvPr>
        </p:nvSpPr>
        <p:spPr>
          <a:xfrm>
            <a:off x="5730875" y="57929"/>
            <a:ext cx="3413125" cy="223838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400" b="1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321001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89374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550EC97-E344-49BB-AF44-3FA9C7012734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92623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79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08100"/>
            <a:ext cx="7886700" cy="486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defRPr>
            </a:lvl1pPr>
          </a:lstStyle>
          <a:p>
            <a:fld id="{86F5DB48-3968-470F-BA12-55E81E00432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6176963"/>
            <a:ext cx="2820837" cy="681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719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1" r:id="rId13"/>
  </p:sldLayoutIdLst>
  <p:timing>
    <p:tnLst>
      <p:par>
        <p:cTn id="1" dur="indefinite" restart="never" nodeType="tmRoot"/>
      </p:par>
    </p:tnLst>
  </p:timing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anose="05000000000000000000" pitchFamily="2" charset="2"/>
        <a:buChar char="p"/>
        <a:defRPr sz="2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n"/>
        <a:defRPr sz="24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u"/>
        <a:defRPr sz="20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Ø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w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oleObject" Target="../embeddings/oleObject8.bin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12" Type="http://schemas.openxmlformats.org/officeDocument/2006/relationships/image" Target="../media/image10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12.wmf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oleObject" Target="../embeddings/oleObject7.bin"/><Relationship Id="rId5" Type="http://schemas.openxmlformats.org/officeDocument/2006/relationships/oleObject" Target="../embeddings/oleObject4.bin"/><Relationship Id="rId15" Type="http://schemas.openxmlformats.org/officeDocument/2006/relationships/oleObject" Target="../embeddings/oleObject9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6.bin"/><Relationship Id="rId14" Type="http://schemas.openxmlformats.org/officeDocument/2006/relationships/image" Target="../media/image1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3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9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8.wmf"/><Relationship Id="rId4" Type="http://schemas.openxmlformats.org/officeDocument/2006/relationships/image" Target="../media/image15.wmf"/><Relationship Id="rId9" Type="http://schemas.openxmlformats.org/officeDocument/2006/relationships/oleObject" Target="../embeddings/oleObject15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0.wmf"/><Relationship Id="rId5" Type="http://schemas.openxmlformats.org/officeDocument/2006/relationships/oleObject" Target="../embeddings/oleObject18.bin"/><Relationship Id="rId10" Type="http://schemas.openxmlformats.org/officeDocument/2006/relationships/image" Target="../media/image22.wmf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26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24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19.wmf"/><Relationship Id="rId4" Type="http://schemas.openxmlformats.org/officeDocument/2006/relationships/image" Target="../media/image23.wmf"/><Relationship Id="rId9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0.wmf"/><Relationship Id="rId11" Type="http://schemas.openxmlformats.org/officeDocument/2006/relationships/image" Target="../media/image33.emf"/><Relationship Id="rId5" Type="http://schemas.openxmlformats.org/officeDocument/2006/relationships/oleObject" Target="../embeddings/oleObject27.bin"/><Relationship Id="rId10" Type="http://schemas.openxmlformats.org/officeDocument/2006/relationships/image" Target="../media/image32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9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3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37.png"/><Relationship Id="rId4" Type="http://schemas.openxmlformats.org/officeDocument/2006/relationships/image" Target="../media/image3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5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3.wmf"/><Relationship Id="rId5" Type="http://schemas.openxmlformats.org/officeDocument/2006/relationships/oleObject" Target="../embeddings/oleObject37.bin"/><Relationship Id="rId4" Type="http://schemas.openxmlformats.org/officeDocument/2006/relationships/image" Target="../media/image42.wmf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emf"/><Relationship Id="rId7" Type="http://schemas.openxmlformats.org/officeDocument/2006/relationships/image" Target="../media/image4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2.vml"/><Relationship Id="rId6" Type="http://schemas.openxmlformats.org/officeDocument/2006/relationships/oleObject" Target="../embeddings/oleObject39.bin"/><Relationship Id="rId5" Type="http://schemas.openxmlformats.org/officeDocument/2006/relationships/image" Target="../media/image48.emf"/><Relationship Id="rId4" Type="http://schemas.openxmlformats.org/officeDocument/2006/relationships/image" Target="../media/image47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wmf"/><Relationship Id="rId13" Type="http://schemas.openxmlformats.org/officeDocument/2006/relationships/oleObject" Target="../embeddings/oleObject44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52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5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5" Type="http://schemas.openxmlformats.org/officeDocument/2006/relationships/oleObject" Target="../embeddings/oleObject45.bin"/><Relationship Id="rId10" Type="http://schemas.openxmlformats.org/officeDocument/2006/relationships/image" Target="../media/image51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42.bin"/><Relationship Id="rId14" Type="http://schemas.openxmlformats.org/officeDocument/2006/relationships/image" Target="../media/image53.w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47.bin"/><Relationship Id="rId10" Type="http://schemas.openxmlformats.org/officeDocument/2006/relationships/image" Target="../media/image57.wmf"/><Relationship Id="rId4" Type="http://schemas.openxmlformats.org/officeDocument/2006/relationships/image" Target="../media/image54.wmf"/><Relationship Id="rId9" Type="http://schemas.openxmlformats.org/officeDocument/2006/relationships/oleObject" Target="../embeddings/oleObject49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image" Target="../media/image48.emf"/><Relationship Id="rId3" Type="http://schemas.openxmlformats.org/officeDocument/2006/relationships/oleObject" Target="../embeddings/oleObject50.bin"/><Relationship Id="rId7" Type="http://schemas.openxmlformats.org/officeDocument/2006/relationships/oleObject" Target="../embeddings/oleObject52.bin"/><Relationship Id="rId12" Type="http://schemas.openxmlformats.org/officeDocument/2006/relationships/image" Target="../media/image47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58.wmf"/><Relationship Id="rId11" Type="http://schemas.openxmlformats.org/officeDocument/2006/relationships/image" Target="../media/image46.emf"/><Relationship Id="rId5" Type="http://schemas.openxmlformats.org/officeDocument/2006/relationships/oleObject" Target="../embeddings/oleObject51.bin"/><Relationship Id="rId10" Type="http://schemas.openxmlformats.org/officeDocument/2006/relationships/image" Target="../media/image60.w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53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wmf"/><Relationship Id="rId3" Type="http://schemas.openxmlformats.org/officeDocument/2006/relationships/oleObject" Target="../embeddings/oleObject54.bin"/><Relationship Id="rId7" Type="http://schemas.openxmlformats.org/officeDocument/2006/relationships/oleObject" Target="../embeddings/oleObject56.bin"/><Relationship Id="rId12" Type="http://schemas.openxmlformats.org/officeDocument/2006/relationships/image" Target="../media/image6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58.bin"/><Relationship Id="rId5" Type="http://schemas.openxmlformats.org/officeDocument/2006/relationships/oleObject" Target="../embeddings/oleObject55.bin"/><Relationship Id="rId10" Type="http://schemas.openxmlformats.org/officeDocument/2006/relationships/image" Target="../media/image64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57.bin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67.wmf"/><Relationship Id="rId11" Type="http://schemas.openxmlformats.org/officeDocument/2006/relationships/image" Target="../media/image70.emf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69.emf"/><Relationship Id="rId4" Type="http://schemas.openxmlformats.org/officeDocument/2006/relationships/image" Target="../media/image66.wmf"/><Relationship Id="rId9" Type="http://schemas.openxmlformats.org/officeDocument/2006/relationships/image" Target="../media/image4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8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3.bin"/><Relationship Id="rId4" Type="http://schemas.openxmlformats.org/officeDocument/2006/relationships/image" Target="../media/image71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wm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73.wmf"/><Relationship Id="rId5" Type="http://schemas.openxmlformats.org/officeDocument/2006/relationships/oleObject" Target="../embeddings/oleObject65.bin"/><Relationship Id="rId4" Type="http://schemas.openxmlformats.org/officeDocument/2006/relationships/image" Target="../media/image71.w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77.png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5.w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1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70.bin"/><Relationship Id="rId4" Type="http://schemas.openxmlformats.org/officeDocument/2006/relationships/image" Target="../media/image71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7.wmf"/><Relationship Id="rId13" Type="http://schemas.openxmlformats.org/officeDocument/2006/relationships/oleObject" Target="../embeddings/oleObject76.bin"/><Relationship Id="rId3" Type="http://schemas.openxmlformats.org/officeDocument/2006/relationships/oleObject" Target="../embeddings/oleObject71.bin"/><Relationship Id="rId7" Type="http://schemas.openxmlformats.org/officeDocument/2006/relationships/oleObject" Target="../embeddings/oleObject73.bin"/><Relationship Id="rId12" Type="http://schemas.openxmlformats.org/officeDocument/2006/relationships/image" Target="../media/image79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62.wmf"/><Relationship Id="rId11" Type="http://schemas.openxmlformats.org/officeDocument/2006/relationships/oleObject" Target="../embeddings/oleObject75.bin"/><Relationship Id="rId5" Type="http://schemas.openxmlformats.org/officeDocument/2006/relationships/oleObject" Target="../embeddings/oleObject72.bin"/><Relationship Id="rId10" Type="http://schemas.openxmlformats.org/officeDocument/2006/relationships/image" Target="../media/image78.wmf"/><Relationship Id="rId4" Type="http://schemas.openxmlformats.org/officeDocument/2006/relationships/image" Target="../media/image61.wmf"/><Relationship Id="rId9" Type="http://schemas.openxmlformats.org/officeDocument/2006/relationships/oleObject" Target="../embeddings/oleObject74.bin"/><Relationship Id="rId14" Type="http://schemas.openxmlformats.org/officeDocument/2006/relationships/image" Target="../media/image80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81.wmf"/><Relationship Id="rId5" Type="http://schemas.openxmlformats.org/officeDocument/2006/relationships/oleObject" Target="../embeddings/oleObject77.bin"/><Relationship Id="rId4" Type="http://schemas.openxmlformats.org/officeDocument/2006/relationships/image" Target="../media/image54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wm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83.wmf"/><Relationship Id="rId5" Type="http://schemas.openxmlformats.org/officeDocument/2006/relationships/oleObject" Target="../embeddings/oleObject80.bin"/><Relationship Id="rId4" Type="http://schemas.openxmlformats.org/officeDocument/2006/relationships/image" Target="../media/image9.w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7.wmf"/><Relationship Id="rId13" Type="http://schemas.openxmlformats.org/officeDocument/2006/relationships/oleObject" Target="../embeddings/oleObject87.bin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12" Type="http://schemas.openxmlformats.org/officeDocument/2006/relationships/image" Target="../media/image89.wmf"/><Relationship Id="rId2" Type="http://schemas.openxmlformats.org/officeDocument/2006/relationships/slideLayout" Target="../slideLayouts/slideLayout3.xml"/><Relationship Id="rId16" Type="http://schemas.openxmlformats.org/officeDocument/2006/relationships/image" Target="../media/image91.wmf"/><Relationship Id="rId1" Type="http://schemas.openxmlformats.org/officeDocument/2006/relationships/vmlDrawing" Target="../drawings/vmlDrawing25.vml"/><Relationship Id="rId6" Type="http://schemas.openxmlformats.org/officeDocument/2006/relationships/image" Target="../media/image86.wmf"/><Relationship Id="rId11" Type="http://schemas.openxmlformats.org/officeDocument/2006/relationships/oleObject" Target="../embeddings/oleObject86.bin"/><Relationship Id="rId5" Type="http://schemas.openxmlformats.org/officeDocument/2006/relationships/oleObject" Target="../embeddings/oleObject83.bin"/><Relationship Id="rId15" Type="http://schemas.openxmlformats.org/officeDocument/2006/relationships/oleObject" Target="../embeddings/oleObject88.bin"/><Relationship Id="rId10" Type="http://schemas.openxmlformats.org/officeDocument/2006/relationships/image" Target="../media/image88.wmf"/><Relationship Id="rId4" Type="http://schemas.openxmlformats.org/officeDocument/2006/relationships/image" Target="../media/image85.wmf"/><Relationship Id="rId9" Type="http://schemas.openxmlformats.org/officeDocument/2006/relationships/oleObject" Target="../embeddings/oleObject85.bin"/><Relationship Id="rId14" Type="http://schemas.openxmlformats.org/officeDocument/2006/relationships/image" Target="../media/image90.wmf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wmf"/><Relationship Id="rId3" Type="http://schemas.openxmlformats.org/officeDocument/2006/relationships/oleObject" Target="../embeddings/oleObject89.bin"/><Relationship Id="rId7" Type="http://schemas.openxmlformats.org/officeDocument/2006/relationships/oleObject" Target="../embeddings/oleObject9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93.wmf"/><Relationship Id="rId5" Type="http://schemas.openxmlformats.org/officeDocument/2006/relationships/oleObject" Target="../embeddings/oleObject90.bin"/><Relationship Id="rId4" Type="http://schemas.openxmlformats.org/officeDocument/2006/relationships/image" Target="../media/image92.wmf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9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95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29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26.bin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wmf"/><Relationship Id="rId3" Type="http://schemas.openxmlformats.org/officeDocument/2006/relationships/oleObject" Target="../embeddings/oleObject96.bin"/><Relationship Id="rId7" Type="http://schemas.openxmlformats.org/officeDocument/2006/relationships/oleObject" Target="../embeddings/oleObject98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8.vml"/><Relationship Id="rId6" Type="http://schemas.openxmlformats.org/officeDocument/2006/relationships/image" Target="../media/image100.wmf"/><Relationship Id="rId5" Type="http://schemas.openxmlformats.org/officeDocument/2006/relationships/oleObject" Target="../embeddings/oleObject97.bin"/><Relationship Id="rId4" Type="http://schemas.openxmlformats.org/officeDocument/2006/relationships/image" Target="../media/image99.w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wmf"/><Relationship Id="rId3" Type="http://schemas.openxmlformats.org/officeDocument/2006/relationships/oleObject" Target="../embeddings/oleObject99.bin"/><Relationship Id="rId7" Type="http://schemas.openxmlformats.org/officeDocument/2006/relationships/oleObject" Target="../embeddings/oleObject10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03.wmf"/><Relationship Id="rId5" Type="http://schemas.openxmlformats.org/officeDocument/2006/relationships/oleObject" Target="../embeddings/oleObject100.bin"/><Relationship Id="rId4" Type="http://schemas.openxmlformats.org/officeDocument/2006/relationships/image" Target="../media/image102.wmf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3.bin"/><Relationship Id="rId13" Type="http://schemas.openxmlformats.org/officeDocument/2006/relationships/image" Target="../media/image108.wmf"/><Relationship Id="rId3" Type="http://schemas.openxmlformats.org/officeDocument/2006/relationships/oleObject" Target="../embeddings/oleObject102.bin"/><Relationship Id="rId7" Type="http://schemas.openxmlformats.org/officeDocument/2006/relationships/image" Target="../media/image111.emf"/><Relationship Id="rId12" Type="http://schemas.openxmlformats.org/officeDocument/2006/relationships/oleObject" Target="../embeddings/oleObject10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10.emf"/><Relationship Id="rId11" Type="http://schemas.openxmlformats.org/officeDocument/2006/relationships/image" Target="../media/image107.wmf"/><Relationship Id="rId5" Type="http://schemas.openxmlformats.org/officeDocument/2006/relationships/image" Target="../media/image109.emf"/><Relationship Id="rId10" Type="http://schemas.openxmlformats.org/officeDocument/2006/relationships/oleObject" Target="../embeddings/oleObject104.bin"/><Relationship Id="rId4" Type="http://schemas.openxmlformats.org/officeDocument/2006/relationships/image" Target="../media/image105.wmf"/><Relationship Id="rId9" Type="http://schemas.openxmlformats.org/officeDocument/2006/relationships/image" Target="../media/image106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6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1.vml"/><Relationship Id="rId4" Type="http://schemas.openxmlformats.org/officeDocument/2006/relationships/image" Target="../media/image112.wmf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14.wmf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116.wmf"/><Relationship Id="rId4" Type="http://schemas.openxmlformats.org/officeDocument/2006/relationships/image" Target="../media/image113.wmf"/><Relationship Id="rId9" Type="http://schemas.openxmlformats.org/officeDocument/2006/relationships/oleObject" Target="../embeddings/oleObject110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3.bin"/><Relationship Id="rId3" Type="http://schemas.openxmlformats.org/officeDocument/2006/relationships/image" Target="../media/image120.emf"/><Relationship Id="rId7" Type="http://schemas.openxmlformats.org/officeDocument/2006/relationships/image" Target="../media/image118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3.vml"/><Relationship Id="rId6" Type="http://schemas.openxmlformats.org/officeDocument/2006/relationships/oleObject" Target="../embeddings/oleObject112.bin"/><Relationship Id="rId5" Type="http://schemas.openxmlformats.org/officeDocument/2006/relationships/image" Target="../media/image117.wmf"/><Relationship Id="rId4" Type="http://schemas.openxmlformats.org/officeDocument/2006/relationships/oleObject" Target="../embeddings/oleObject111.bin"/><Relationship Id="rId9" Type="http://schemas.openxmlformats.org/officeDocument/2006/relationships/image" Target="../media/image119.wmf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wmf"/><Relationship Id="rId13" Type="http://schemas.openxmlformats.org/officeDocument/2006/relationships/image" Target="../media/image126.emf"/><Relationship Id="rId3" Type="http://schemas.openxmlformats.org/officeDocument/2006/relationships/oleObject" Target="../embeddings/oleObject114.bin"/><Relationship Id="rId7" Type="http://schemas.openxmlformats.org/officeDocument/2006/relationships/oleObject" Target="../embeddings/oleObject116.bin"/><Relationship Id="rId12" Type="http://schemas.openxmlformats.org/officeDocument/2006/relationships/image" Target="../media/image125.w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22.wmf"/><Relationship Id="rId11" Type="http://schemas.openxmlformats.org/officeDocument/2006/relationships/oleObject" Target="../embeddings/oleObject118.bin"/><Relationship Id="rId5" Type="http://schemas.openxmlformats.org/officeDocument/2006/relationships/oleObject" Target="../embeddings/oleObject115.bin"/><Relationship Id="rId15" Type="http://schemas.openxmlformats.org/officeDocument/2006/relationships/image" Target="../media/image128.emf"/><Relationship Id="rId10" Type="http://schemas.openxmlformats.org/officeDocument/2006/relationships/image" Target="../media/image124.wmf"/><Relationship Id="rId4" Type="http://schemas.openxmlformats.org/officeDocument/2006/relationships/image" Target="../media/image121.wmf"/><Relationship Id="rId9" Type="http://schemas.openxmlformats.org/officeDocument/2006/relationships/oleObject" Target="../embeddings/oleObject117.bin"/><Relationship Id="rId14" Type="http://schemas.openxmlformats.org/officeDocument/2006/relationships/image" Target="../media/image127.emf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wmf"/><Relationship Id="rId3" Type="http://schemas.openxmlformats.org/officeDocument/2006/relationships/oleObject" Target="../embeddings/oleObject119.bin"/><Relationship Id="rId7" Type="http://schemas.openxmlformats.org/officeDocument/2006/relationships/oleObject" Target="../embeddings/oleObject12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30.wmf"/><Relationship Id="rId5" Type="http://schemas.openxmlformats.org/officeDocument/2006/relationships/oleObject" Target="../embeddings/oleObject120.bin"/><Relationship Id="rId4" Type="http://schemas.openxmlformats.org/officeDocument/2006/relationships/image" Target="../media/image129.w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emf"/><Relationship Id="rId2" Type="http://schemas.openxmlformats.org/officeDocument/2006/relationships/image" Target="../media/image132.emf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emf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4.bin"/><Relationship Id="rId3" Type="http://schemas.openxmlformats.org/officeDocument/2006/relationships/oleObject" Target="../embeddings/oleObject122.bin"/><Relationship Id="rId7" Type="http://schemas.openxmlformats.org/officeDocument/2006/relationships/image" Target="../media/image138.emf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36.wmf"/><Relationship Id="rId5" Type="http://schemas.openxmlformats.org/officeDocument/2006/relationships/oleObject" Target="../embeddings/oleObject123.bin"/><Relationship Id="rId4" Type="http://schemas.openxmlformats.org/officeDocument/2006/relationships/image" Target="../media/image135.wmf"/><Relationship Id="rId9" Type="http://schemas.openxmlformats.org/officeDocument/2006/relationships/image" Target="../media/image137.wmf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25.bin"/><Relationship Id="rId7" Type="http://schemas.openxmlformats.org/officeDocument/2006/relationships/oleObject" Target="../embeddings/oleObject12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7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26.bin"/><Relationship Id="rId4" Type="http://schemas.openxmlformats.org/officeDocument/2006/relationships/image" Target="../media/image139.wmf"/><Relationship Id="rId9" Type="http://schemas.openxmlformats.org/officeDocument/2006/relationships/image" Target="../media/image142.e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5.wmf"/><Relationship Id="rId3" Type="http://schemas.openxmlformats.org/officeDocument/2006/relationships/oleObject" Target="../embeddings/oleObject128.bin"/><Relationship Id="rId7" Type="http://schemas.openxmlformats.org/officeDocument/2006/relationships/oleObject" Target="../embeddings/oleObject130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29.bin"/><Relationship Id="rId4" Type="http://schemas.openxmlformats.org/officeDocument/2006/relationships/image" Target="../media/image143.wmf"/><Relationship Id="rId9" Type="http://schemas.openxmlformats.org/officeDocument/2006/relationships/image" Target="../media/image146.emf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48.wmf"/><Relationship Id="rId5" Type="http://schemas.openxmlformats.org/officeDocument/2006/relationships/oleObject" Target="../embeddings/oleObject132.bin"/><Relationship Id="rId4" Type="http://schemas.openxmlformats.org/officeDocument/2006/relationships/image" Target="../media/image147.w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5A83C2-4C6C-40EF-9115-166580DD2CEC}"/>
              </a:ext>
            </a:extLst>
          </p:cNvPr>
          <p:cNvSpPr/>
          <p:nvPr/>
        </p:nvSpPr>
        <p:spPr>
          <a:xfrm>
            <a:off x="293032" y="1070392"/>
            <a:ext cx="2792752" cy="36240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703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荷塘</a:t>
            </a: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雨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课堂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播放</a:t>
            </a:r>
            <a:r>
              <a:rPr lang="en-US" altLang="zh-CN" sz="2400" b="1" dirty="0" err="1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ppt</a:t>
            </a: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endParaRPr lang="en-US" altLang="zh-CN" sz="2400" b="1" dirty="0" smtClean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4050" b="1" dirty="0" smtClean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腾</a:t>
            </a:r>
            <a:r>
              <a:rPr lang="zh-CN" altLang="en-US" sz="4050" b="1" dirty="0">
                <a:solidFill>
                  <a:srgbClr val="0000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讯会议</a:t>
            </a:r>
            <a:endParaRPr lang="en-US" altLang="zh-CN" sz="4050" b="1" dirty="0">
              <a:solidFill>
                <a:srgbClr val="0000FF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双向语音</a:t>
            </a:r>
            <a:r>
              <a:rPr lang="en-US" altLang="zh-CN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/</a:t>
            </a:r>
            <a:r>
              <a:rPr lang="zh-CN" altLang="en-US" sz="2400" b="1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视频</a:t>
            </a:r>
            <a:r>
              <a:rPr lang="zh-CN" altLang="en-US" sz="2400" b="1" dirty="0" smtClean="0">
                <a:latin typeface="Microsoft YaHei" panose="020B0503020204020204" pitchFamily="34" charset="-122"/>
                <a:ea typeface="Microsoft YaHei" panose="020B0503020204020204" pitchFamily="34" charset="-122"/>
              </a:rPr>
              <a:t>交流</a:t>
            </a:r>
            <a:endParaRPr lang="en-US" altLang="zh-CN" sz="2400" b="1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93CD6244-59FA-48DB-B6C7-5D03B29020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223" y="324409"/>
            <a:ext cx="1885793" cy="594155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3287808"/>
            <a:ext cx="58144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2. 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腾讯会议（请保持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静音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，一般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关闭摄像头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，发言前解除静音）</a:t>
            </a:r>
            <a:endParaRPr lang="en-US" altLang="zh-CN" sz="2800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3128392" y="1256337"/>
            <a:ext cx="59893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1. </a:t>
            </a:r>
            <a:r>
              <a:rPr lang="zh-CN" altLang="en-US" sz="2800" b="1" dirty="0" smtClean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开启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荷塘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雨课堂（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请关闭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音频</a:t>
            </a:r>
            <a:r>
              <a:rPr lang="zh-CN" altLang="en-US" sz="2800" b="1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输出</a:t>
            </a:r>
            <a:r>
              <a:rPr lang="zh-CN" altLang="en-US" sz="28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，可以点名、白板、做题、弹幕等）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6DCD9D40-0BFC-402C-824D-8544021A4860}"/>
              </a:ext>
            </a:extLst>
          </p:cNvPr>
          <p:cNvSpPr txBox="1"/>
          <p:nvPr/>
        </p:nvSpPr>
        <p:spPr>
          <a:xfrm>
            <a:off x="762440" y="4769481"/>
            <a:ext cx="792436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雨课堂可以看</a:t>
            </a:r>
            <a:r>
              <a:rPr lang="en-US" altLang="zh-CN" sz="2800" i="1" dirty="0" err="1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，腾讯会议可以看现场板书，</a:t>
            </a:r>
            <a:endParaRPr lang="en-US" altLang="zh-CN" sz="2800" i="1" dirty="0" smtClean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2800" i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建议分别用两个终端打开。</a:t>
            </a:r>
            <a:endParaRPr lang="en-US" altLang="zh-CN" sz="2800" i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加号 2"/>
          <p:cNvSpPr/>
          <p:nvPr/>
        </p:nvSpPr>
        <p:spPr bwMode="auto">
          <a:xfrm>
            <a:off x="1329368" y="2507286"/>
            <a:ext cx="720080" cy="652140"/>
          </a:xfrm>
          <a:prstGeom prst="mathPlus">
            <a:avLst/>
          </a:prstGeom>
          <a:solidFill>
            <a:srgbClr val="0000F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  <a:ea typeface="宋体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816" t="-14343"/>
          <a:stretch/>
        </p:blipFill>
        <p:spPr>
          <a:xfrm>
            <a:off x="5840426" y="260648"/>
            <a:ext cx="2668450" cy="657916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>
          <a:xfrm>
            <a:off x="6451476" y="6397413"/>
            <a:ext cx="2057400" cy="365125"/>
          </a:xfrm>
        </p:spPr>
        <p:txBody>
          <a:bodyPr/>
          <a:lstStyle/>
          <a:p>
            <a:fld id="{8550EC97-E344-49BB-AF44-3FA9C7012734}" type="slidenum">
              <a:rPr lang="ko-KR" altLang="en-US" smtClean="0"/>
              <a:pPr/>
              <a:t>1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941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14068" y="1122363"/>
            <a:ext cx="8402127" cy="2387600"/>
          </a:xfrm>
        </p:spPr>
        <p:txBody>
          <a:bodyPr>
            <a:normAutofit/>
          </a:bodyPr>
          <a:lstStyle/>
          <a:p>
            <a:r>
              <a:rPr lang="en-US" altLang="zh-CN" dirty="0" smtClean="0"/>
              <a:t>Chapter </a:t>
            </a:r>
            <a:r>
              <a:rPr lang="en-US" altLang="zh-CN" dirty="0"/>
              <a:t>9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en-US" altLang="zh-CN" dirty="0" smtClean="0"/>
              <a:t>The Laplace </a:t>
            </a:r>
            <a:r>
              <a:rPr lang="en-US" altLang="zh-CN" sz="4900" dirty="0" smtClean="0"/>
              <a:t>Transform</a:t>
            </a:r>
            <a:endParaRPr lang="zh-CN" altLang="en-US" sz="49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64372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Limitation of Fourier Transform</a:t>
            </a:r>
            <a:endParaRPr lang="en-US" dirty="0"/>
          </a:p>
        </p:txBody>
      </p:sp>
      <p:sp>
        <p:nvSpPr>
          <p:cNvPr id="8" name="内容占位符 7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 Recall: </a:t>
            </a:r>
            <a:r>
              <a:rPr lang="en-US" b="1" dirty="0">
                <a:solidFill>
                  <a:srgbClr val="C00000"/>
                </a:solidFill>
              </a:rPr>
              <a:t>Fourier </a:t>
            </a:r>
            <a:r>
              <a:rPr lang="en-US" b="1" dirty="0" smtClean="0">
                <a:solidFill>
                  <a:srgbClr val="C00000"/>
                </a:solidFill>
              </a:rPr>
              <a:t>Transform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1800" dirty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Convergence</a:t>
            </a:r>
            <a:r>
              <a:rPr lang="en-US" dirty="0" smtClean="0"/>
              <a:t>--</a:t>
            </a:r>
            <a:r>
              <a:rPr lang="en-US" dirty="0" err="1" smtClean="0"/>
              <a:t>Dirichlet</a:t>
            </a:r>
            <a:r>
              <a:rPr lang="en-US" dirty="0" smtClean="0"/>
              <a:t> Condition #1:</a:t>
            </a:r>
            <a:r>
              <a:rPr lang="en-US" i="1" dirty="0" smtClean="0"/>
              <a:t> </a:t>
            </a:r>
            <a:r>
              <a:rPr lang="en-US" dirty="0" smtClean="0"/>
              <a:t>absolutely </a:t>
            </a:r>
            <a:r>
              <a:rPr lang="en-US" dirty="0" err="1" smtClean="0"/>
              <a:t>integrable</a:t>
            </a:r>
            <a:endParaRPr lang="en-US" dirty="0" smtClean="0"/>
          </a:p>
          <a:p>
            <a:pPr marL="0" indent="0">
              <a:buNone/>
            </a:pPr>
            <a:endParaRPr lang="en-US" sz="1500" dirty="0" smtClean="0"/>
          </a:p>
          <a:p>
            <a:r>
              <a:rPr lang="en-US" dirty="0"/>
              <a:t> </a:t>
            </a:r>
            <a:r>
              <a:rPr lang="en-US" dirty="0" smtClean="0"/>
              <a:t>What 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 and/or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/>
              <a:t>)</a:t>
            </a:r>
            <a:r>
              <a:rPr lang="en-US" dirty="0" smtClean="0"/>
              <a:t> </a:t>
            </a:r>
            <a:r>
              <a:rPr lang="en-US" dirty="0"/>
              <a:t>is </a:t>
            </a:r>
            <a:r>
              <a:rPr lang="en-US" dirty="0" smtClean="0"/>
              <a:t>not absolutely </a:t>
            </a:r>
            <a:r>
              <a:rPr lang="en-US" dirty="0" err="1" smtClean="0"/>
              <a:t>integrable</a:t>
            </a:r>
            <a:r>
              <a:rPr lang="en-US" dirty="0" smtClean="0"/>
              <a:t>? </a:t>
            </a:r>
            <a:r>
              <a:rPr lang="en-US" b="1" dirty="0" smtClean="0">
                <a:solidFill>
                  <a:srgbClr val="FF0000"/>
                </a:solidFill>
              </a:rPr>
              <a:t>Unstable!</a:t>
            </a:r>
          </a:p>
          <a:p>
            <a:pPr marL="0" indent="0">
              <a:buNone/>
            </a:pPr>
            <a:r>
              <a:rPr lang="zh-CN" alt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</a:t>
            </a:r>
            <a:r>
              <a:rPr lang="zh-CN" altLang="en-US" b="1" dirty="0">
                <a:solidFill>
                  <a:srgbClr val="FF0000"/>
                </a:solidFill>
                <a:sym typeface="Wingdings" panose="05000000000000000000" pitchFamily="2" charset="2"/>
              </a:rPr>
              <a:t> </a:t>
            </a:r>
            <a:r>
              <a:rPr lang="en-US" altLang="zh-CN" dirty="0" smtClean="0">
                <a:sym typeface="Wingdings" panose="05000000000000000000" pitchFamily="2" charset="2"/>
              </a:rPr>
              <a:t>The Fourier transform can not be used for unstable system/signals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The Laplace transform can be used to analyze unstable systems/signals</a:t>
            </a:r>
          </a:p>
          <a:p>
            <a:r>
              <a:rPr lang="en-US" dirty="0"/>
              <a:t> </a:t>
            </a:r>
            <a:r>
              <a:rPr lang="en-US" dirty="0" smtClean="0"/>
              <a:t>Not just to handle </a:t>
            </a:r>
            <a:r>
              <a:rPr lang="en-US" dirty="0"/>
              <a:t>unstable </a:t>
            </a:r>
            <a:r>
              <a:rPr lang="en-US" dirty="0" smtClean="0"/>
              <a:t>systems/signals</a:t>
            </a:r>
          </a:p>
          <a:p>
            <a:pPr lvl="1"/>
            <a:r>
              <a:rPr lang="en-US" dirty="0"/>
              <a:t> </a:t>
            </a:r>
            <a:r>
              <a:rPr lang="en-US" altLang="zh-CN" dirty="0" smtClean="0"/>
              <a:t>The Laplace transform is more powerful in many ways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3024176"/>
              </p:ext>
            </p:extLst>
          </p:nvPr>
        </p:nvGraphicFramePr>
        <p:xfrm>
          <a:off x="1988820" y="1689008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05" name="公式" r:id="rId3" imgW="1435100" imgH="330200" progId="Equation.3">
                  <p:embed/>
                </p:oleObj>
              </mc:Choice>
              <mc:Fallback>
                <p:oleObj name="公式" r:id="rId3" imgW="1435100" imgH="3302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820" y="1689008"/>
                        <a:ext cx="258318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86106099"/>
              </p:ext>
            </p:extLst>
          </p:nvPr>
        </p:nvGraphicFramePr>
        <p:xfrm>
          <a:off x="2666641" y="2825875"/>
          <a:ext cx="160020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6206" name="公式" r:id="rId5" imgW="889000" imgH="330200" progId="Equation.3">
                  <p:embed/>
                </p:oleObj>
              </mc:Choice>
              <mc:Fallback>
                <p:oleObj name="公式" r:id="rId5" imgW="889000" imgH="3302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6641" y="2825875"/>
                        <a:ext cx="160020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6253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Laplace Transform</a:t>
            </a:r>
          </a:p>
          <a:p>
            <a:r>
              <a:rPr lang="en-US" dirty="0" smtClean="0"/>
              <a:t>Region of Convergence for Laplace Transform</a:t>
            </a:r>
          </a:p>
          <a:p>
            <a:r>
              <a:rPr lang="en-US" dirty="0" smtClean="0"/>
              <a:t>Inverse Laplace Transform</a:t>
            </a:r>
          </a:p>
          <a:p>
            <a:r>
              <a:rPr lang="en-US" dirty="0" smtClean="0"/>
              <a:t>Laplace Transform Properties</a:t>
            </a:r>
          </a:p>
          <a:p>
            <a:r>
              <a:rPr lang="en-US" dirty="0" smtClean="0"/>
              <a:t>LTI System Analysis Using Laplace Transform</a:t>
            </a:r>
          </a:p>
          <a:p>
            <a:r>
              <a:rPr lang="en-US" dirty="0" smtClean="0"/>
              <a:t>System Block Diagram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771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Laplace 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Recall: </a:t>
            </a:r>
            <a:r>
              <a:rPr lang="en-US" altLang="zh-CN" dirty="0" smtClean="0"/>
              <a:t>LTI </a:t>
            </a:r>
            <a:r>
              <a:rPr lang="en-US" altLang="zh-CN" dirty="0"/>
              <a:t>system response to </a:t>
            </a:r>
            <a:r>
              <a:rPr lang="en-US" altLang="zh-CN" dirty="0" err="1" smtClean="0">
                <a:solidFill>
                  <a:srgbClr val="C00000"/>
                </a:solidFill>
              </a:rPr>
              <a:t>eigen</a:t>
            </a:r>
            <a:r>
              <a:rPr lang="en-US" altLang="zh-CN" dirty="0" smtClean="0">
                <a:solidFill>
                  <a:srgbClr val="C00000"/>
                </a:solidFill>
              </a:rPr>
              <a:t>-function</a:t>
            </a:r>
          </a:p>
          <a:p>
            <a:endParaRPr lang="en-US" altLang="zh-CN" dirty="0">
              <a:solidFill>
                <a:srgbClr val="C0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is the Laplace transform of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zh-CN" dirty="0" smtClean="0"/>
              <a:t>If 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 is purely imaginary, then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is the Fourier Transform</a:t>
            </a:r>
          </a:p>
          <a:p>
            <a:r>
              <a:rPr lang="en-US" altLang="zh-CN" dirty="0">
                <a:solidFill>
                  <a:srgbClr val="C00000"/>
                </a:solidFill>
              </a:rPr>
              <a:t> </a:t>
            </a:r>
            <a:r>
              <a:rPr lang="en-US" altLang="zh-CN" b="1" dirty="0" smtClean="0">
                <a:solidFill>
                  <a:srgbClr val="C00000"/>
                </a:solidFill>
              </a:rPr>
              <a:t>Laplace transform:</a:t>
            </a:r>
          </a:p>
          <a:p>
            <a:endParaRPr lang="en-US" altLang="zh-CN" b="1" dirty="0">
              <a:solidFill>
                <a:srgbClr val="C00000"/>
              </a:solidFill>
            </a:endParaRPr>
          </a:p>
          <a:p>
            <a:endParaRPr lang="en-US" altLang="zh-CN" b="1" dirty="0" smtClean="0">
              <a:solidFill>
                <a:srgbClr val="C00000"/>
              </a:solidFill>
            </a:endParaRPr>
          </a:p>
          <a:p>
            <a:r>
              <a:rPr lang="en-US" altLang="zh-CN" dirty="0"/>
              <a:t> </a:t>
            </a:r>
            <a:r>
              <a:rPr lang="en-US" altLang="zh-CN" dirty="0" smtClean="0"/>
              <a:t>Laplace transform operator 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4318299"/>
              </p:ext>
            </p:extLst>
          </p:nvPr>
        </p:nvGraphicFramePr>
        <p:xfrm>
          <a:off x="7840498" y="1336514"/>
          <a:ext cx="342751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0" name="公式" r:id="rId3" imgW="190417" imgH="203112" progId="Equation.3">
                  <p:embed/>
                </p:oleObj>
              </mc:Choice>
              <mc:Fallback>
                <p:oleObj name="公式" r:id="rId3" imgW="190417" imgH="203112" progId="Equation.3">
                  <p:embed/>
                  <p:pic>
                    <p:nvPicPr>
                      <p:cNvPr id="21" name="对象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40498" y="1336514"/>
                        <a:ext cx="342751" cy="36560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72890614"/>
              </p:ext>
            </p:extLst>
          </p:nvPr>
        </p:nvGraphicFramePr>
        <p:xfrm>
          <a:off x="1591125" y="1846263"/>
          <a:ext cx="1600200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1" name="公式" r:id="rId5" imgW="888840" imgH="228600" progId="Equation.3">
                  <p:embed/>
                </p:oleObj>
              </mc:Choice>
              <mc:Fallback>
                <p:oleObj name="公式" r:id="rId5" imgW="888840" imgH="228600" progId="Equation.3">
                  <p:embed/>
                  <p:pic>
                    <p:nvPicPr>
                      <p:cNvPr id="16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1125" y="1846263"/>
                        <a:ext cx="1600200" cy="4111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641182"/>
              </p:ext>
            </p:extLst>
          </p:nvPr>
        </p:nvGraphicFramePr>
        <p:xfrm>
          <a:off x="4062776" y="1754664"/>
          <a:ext cx="24460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2" name="公式" r:id="rId7" imgW="1358900" imgH="330200" progId="Equation.3">
                  <p:embed/>
                </p:oleObj>
              </mc:Choice>
              <mc:Fallback>
                <p:oleObj name="公式" r:id="rId7" imgW="1358900" imgH="330200" progId="Equation.3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2776" y="1754664"/>
                        <a:ext cx="24460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9718828"/>
              </p:ext>
            </p:extLst>
          </p:nvPr>
        </p:nvGraphicFramePr>
        <p:xfrm>
          <a:off x="2308860" y="4392411"/>
          <a:ext cx="22631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3" name="公式" r:id="rId9" imgW="1257300" imgH="330200" progId="Equation.3">
                  <p:embed/>
                </p:oleObj>
              </mc:Choice>
              <mc:Fallback>
                <p:oleObj name="公式" r:id="rId9" imgW="12573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8860" y="4392411"/>
                        <a:ext cx="226314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18709"/>
              </p:ext>
            </p:extLst>
          </p:nvPr>
        </p:nvGraphicFramePr>
        <p:xfrm>
          <a:off x="5406698" y="5718255"/>
          <a:ext cx="1416704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4" name="公式" r:id="rId11" imgW="787058" imgH="304668" progId="Equation.3">
                  <p:embed/>
                </p:oleObj>
              </mc:Choice>
              <mc:Fallback>
                <p:oleObj name="公式" r:id="rId11" imgW="787058" imgH="304668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06698" y="5718255"/>
                        <a:ext cx="1416704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0285478"/>
              </p:ext>
            </p:extLst>
          </p:nvPr>
        </p:nvGraphicFramePr>
        <p:xfrm>
          <a:off x="5251496" y="5324776"/>
          <a:ext cx="1690906" cy="3884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5" name="公式" r:id="rId13" imgW="939392" imgH="215806" progId="Equation.3">
                  <p:embed/>
                </p:oleObj>
              </mc:Choice>
              <mc:Fallback>
                <p:oleObj name="公式" r:id="rId13" imgW="939392" imgH="215806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96" y="5324776"/>
                        <a:ext cx="1690906" cy="38845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0393132"/>
              </p:ext>
            </p:extLst>
          </p:nvPr>
        </p:nvGraphicFramePr>
        <p:xfrm>
          <a:off x="5251496" y="4518141"/>
          <a:ext cx="12573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7856" name="公式" r:id="rId15" imgW="698500" imgH="190500" progId="Equation.3">
                  <p:embed/>
                </p:oleObj>
              </mc:Choice>
              <mc:Fallback>
                <p:oleObj name="公式" r:id="rId15" imgW="698500" imgH="1905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1496" y="4518141"/>
                        <a:ext cx="12573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956690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600" dirty="0" smtClean="0"/>
              <a:t>Relationship between Fourier Transform and Laplace Transform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Fourier transform is a special case of Laplace transform when </a:t>
            </a:r>
            <a:r>
              <a:rPr lang="en-US" i="1" dirty="0" smtClean="0"/>
              <a:t>s</a:t>
            </a:r>
            <a:r>
              <a:rPr lang="en-US" dirty="0" smtClean="0"/>
              <a:t> is purely imaginary</a:t>
            </a:r>
          </a:p>
          <a:p>
            <a:endParaRPr lang="en-US" dirty="0"/>
          </a:p>
          <a:p>
            <a:r>
              <a:rPr lang="en-US" dirty="0" smtClean="0"/>
              <a:t> Laplace transform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the Fourier transform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i="1" dirty="0" smtClean="0"/>
              <a:t>e</a:t>
            </a:r>
            <a:r>
              <a:rPr lang="en-US" baseline="30000" dirty="0" smtClean="0"/>
              <a:t>-</a:t>
            </a:r>
            <a:r>
              <a:rPr lang="el-GR" i="1" baseline="30000" dirty="0" smtClean="0"/>
              <a:t>σ</a:t>
            </a:r>
            <a:r>
              <a:rPr lang="en-US" i="1" baseline="30000" dirty="0" smtClean="0"/>
              <a:t>t</a:t>
            </a:r>
            <a:endParaRPr lang="en-US" i="1" baseline="300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3350929"/>
              </p:ext>
            </p:extLst>
          </p:nvPr>
        </p:nvGraphicFramePr>
        <p:xfrm>
          <a:off x="2408305" y="2208361"/>
          <a:ext cx="2125058" cy="5027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49" name="公式" r:id="rId3" imgW="1180588" imgH="279279" progId="Equation.3">
                  <p:embed/>
                </p:oleObj>
              </mc:Choice>
              <mc:Fallback>
                <p:oleObj name="公式" r:id="rId3" imgW="1180588" imgH="27927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8305" y="2208361"/>
                        <a:ext cx="2125058" cy="5027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8687260"/>
              </p:ext>
            </p:extLst>
          </p:nvPr>
        </p:nvGraphicFramePr>
        <p:xfrm>
          <a:off x="2562764" y="3062110"/>
          <a:ext cx="3634740" cy="1668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250" name="公式" r:id="rId5" imgW="2019300" imgH="927100" progId="Equation.3">
                  <p:embed/>
                </p:oleObj>
              </mc:Choice>
              <mc:Fallback>
                <p:oleObj name="公式" r:id="rId5" imgW="2019300" imgH="927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2764" y="3062110"/>
                        <a:ext cx="3634740" cy="16687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6392893" y="3535396"/>
            <a:ext cx="2751107" cy="707886"/>
          </a:xfrm>
          <a:prstGeom prst="rect">
            <a:avLst/>
          </a:prstGeom>
          <a:noFill/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This Fourier transform may NOT converge!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2217707" y="5253871"/>
            <a:ext cx="4416006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the relationship really that simple?</a:t>
            </a:r>
          </a:p>
        </p:txBody>
      </p:sp>
    </p:spTree>
    <p:extLst>
      <p:ext uri="{BB962C8B-B14F-4D97-AF65-F5344CB8AC3E}">
        <p14:creationId xmlns:p14="http://schemas.microsoft.com/office/powerpoint/2010/main" val="20860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9.1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i="1" dirty="0" smtClean="0"/>
              <a:t>e</a:t>
            </a:r>
            <a:r>
              <a:rPr lang="en-US" baseline="30000" dirty="0" smtClean="0"/>
              <a:t>-</a:t>
            </a:r>
            <a:r>
              <a:rPr lang="en-US" i="1" baseline="30000" dirty="0" err="1" smtClean="0"/>
              <a:t>at</a:t>
            </a:r>
            <a:r>
              <a:rPr lang="en-US" i="1" dirty="0" err="1" smtClean="0"/>
              <a:t>u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Fourier transform converges only when </a:t>
            </a:r>
            <a:r>
              <a:rPr lang="en-US" i="1" dirty="0" smtClean="0"/>
              <a:t>a</a:t>
            </a:r>
            <a:r>
              <a:rPr lang="en-US" dirty="0" smtClean="0"/>
              <a:t>&gt;0</a:t>
            </a:r>
          </a:p>
          <a:p>
            <a:r>
              <a:rPr lang="en-US" dirty="0"/>
              <a:t> </a:t>
            </a:r>
            <a:r>
              <a:rPr lang="en-US" dirty="0" smtClean="0"/>
              <a:t>Laplace transform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When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0387266"/>
              </p:ext>
            </p:extLst>
          </p:nvPr>
        </p:nvGraphicFramePr>
        <p:xfrm>
          <a:off x="1758493" y="2777147"/>
          <a:ext cx="41605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1" name="公式" r:id="rId3" imgW="2311400" imgH="330200" progId="Equation.3">
                  <p:embed/>
                </p:oleObj>
              </mc:Choice>
              <mc:Fallback>
                <p:oleObj name="公式" r:id="rId3" imgW="2311400" imgH="330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93" y="2777147"/>
                        <a:ext cx="416052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67674"/>
              </p:ext>
            </p:extLst>
          </p:nvPr>
        </p:nvGraphicFramePr>
        <p:xfrm>
          <a:off x="1758493" y="3302760"/>
          <a:ext cx="45262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2" name="公式" r:id="rId5" imgW="2514600" imgH="330200" progId="Equation.3">
                  <p:embed/>
                </p:oleObj>
              </mc:Choice>
              <mc:Fallback>
                <p:oleObj name="公式" r:id="rId5" imgW="2514600" imgH="330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93" y="3302760"/>
                        <a:ext cx="45262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5385100"/>
              </p:ext>
            </p:extLst>
          </p:nvPr>
        </p:nvGraphicFramePr>
        <p:xfrm>
          <a:off x="2173856" y="3921801"/>
          <a:ext cx="2216459" cy="31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3" name="公式" r:id="rId7" imgW="1231366" imgH="177723" progId="Equation.3">
                  <p:embed/>
                </p:oleObj>
              </mc:Choice>
              <mc:Fallback>
                <p:oleObj name="公式" r:id="rId7" imgW="1231366" imgH="177723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3856" y="3921801"/>
                        <a:ext cx="2216459" cy="319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3906193"/>
              </p:ext>
            </p:extLst>
          </p:nvPr>
        </p:nvGraphicFramePr>
        <p:xfrm>
          <a:off x="1758493" y="4320934"/>
          <a:ext cx="29489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4" name="公式" r:id="rId9" imgW="1638300" imgH="419100" progId="Equation.3">
                  <p:embed/>
                </p:oleObj>
              </mc:Choice>
              <mc:Fallback>
                <p:oleObj name="公式" r:id="rId9" imgW="16383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93" y="4320934"/>
                        <a:ext cx="29489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7599324"/>
              </p:ext>
            </p:extLst>
          </p:nvPr>
        </p:nvGraphicFramePr>
        <p:xfrm>
          <a:off x="1758493" y="5254702"/>
          <a:ext cx="31546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9645" name="公式" r:id="rId11" imgW="1752600" imgH="393700" progId="Equation.3">
                  <p:embed/>
                </p:oleObj>
              </mc:Choice>
              <mc:Fallback>
                <p:oleObj name="公式" r:id="rId11" imgW="1752600" imgH="3937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93" y="5254702"/>
                        <a:ext cx="31546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281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9.2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signal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</a:t>
            </a:r>
            <a:r>
              <a:rPr lang="en-US" altLang="zh-CN" dirty="0" smtClean="0"/>
              <a:t>-</a:t>
            </a:r>
            <a:r>
              <a:rPr lang="en-US" i="1" dirty="0" smtClean="0"/>
              <a:t>e</a:t>
            </a:r>
            <a:r>
              <a:rPr lang="en-US" baseline="30000" dirty="0" smtClean="0"/>
              <a:t>-</a:t>
            </a:r>
            <a:r>
              <a:rPr lang="en-US" i="1" baseline="30000" dirty="0" err="1" smtClean="0"/>
              <a:t>at</a:t>
            </a:r>
            <a:r>
              <a:rPr lang="en-US" i="1" dirty="0" err="1" smtClean="0"/>
              <a:t>u</a:t>
            </a:r>
            <a:r>
              <a:rPr lang="en-US" dirty="0" smtClean="0"/>
              <a:t>(</a:t>
            </a:r>
            <a:r>
              <a:rPr lang="en-US" altLang="zh-CN" dirty="0" smtClean="0"/>
              <a:t>-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Fourier transform converges only when </a:t>
            </a:r>
            <a:r>
              <a:rPr lang="en-US" i="1" dirty="0" smtClean="0"/>
              <a:t>a</a:t>
            </a:r>
            <a:r>
              <a:rPr lang="en-US" dirty="0"/>
              <a:t>&lt;</a:t>
            </a:r>
            <a:r>
              <a:rPr lang="en-US" dirty="0" smtClean="0"/>
              <a:t>0</a:t>
            </a:r>
          </a:p>
          <a:p>
            <a:r>
              <a:rPr lang="en-US" dirty="0"/>
              <a:t> </a:t>
            </a:r>
            <a:r>
              <a:rPr lang="en-US" dirty="0" smtClean="0"/>
              <a:t>Laplace transform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When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1758493" y="4320934"/>
          <a:ext cx="29489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38" name="公式" r:id="rId3" imgW="1638300" imgH="419100" progId="Equation.3">
                  <p:embed/>
                </p:oleObj>
              </mc:Choice>
              <mc:Fallback>
                <p:oleObj name="公式" r:id="rId3" imgW="1638300" imgH="41910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8493" y="4320934"/>
                        <a:ext cx="29489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Rectangle 1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3" name="Rectangle 2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5241238"/>
              </p:ext>
            </p:extLst>
          </p:nvPr>
        </p:nvGraphicFramePr>
        <p:xfrm>
          <a:off x="1122363" y="2692400"/>
          <a:ext cx="6537325" cy="1235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39" name="公式" r:id="rId5" imgW="3632040" imgH="685800" progId="Equation.3">
                  <p:embed/>
                </p:oleObj>
              </mc:Choice>
              <mc:Fallback>
                <p:oleObj name="公式" r:id="rId5" imgW="3632040" imgH="6858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2363" y="2692400"/>
                        <a:ext cx="6537325" cy="1235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8986860"/>
              </p:ext>
            </p:extLst>
          </p:nvPr>
        </p:nvGraphicFramePr>
        <p:xfrm>
          <a:off x="2061713" y="3947002"/>
          <a:ext cx="2216459" cy="31990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40" name="公式" r:id="rId7" imgW="1231366" imgH="177723" progId="Equation.3">
                  <p:embed/>
                </p:oleObj>
              </mc:Choice>
              <mc:Fallback>
                <p:oleObj name="公式" r:id="rId7" imgW="1231366" imgH="17772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1713" y="3947002"/>
                        <a:ext cx="2216459" cy="319901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8387443"/>
              </p:ext>
            </p:extLst>
          </p:nvPr>
        </p:nvGraphicFramePr>
        <p:xfrm>
          <a:off x="1554163" y="5314950"/>
          <a:ext cx="3565525" cy="709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0541" name="公式" r:id="rId9" imgW="1981080" imgH="393480" progId="Equation.3">
                  <p:embed/>
                </p:oleObj>
              </mc:Choice>
              <mc:Fallback>
                <p:oleObj name="公式" r:id="rId9" imgW="1981080" imgH="39348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4163" y="5314950"/>
                        <a:ext cx="3565525" cy="7096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04642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Region of Convergence (RO</a:t>
            </a:r>
            <a:r>
              <a:rPr lang="en-US" altLang="zh-CN" dirty="0" smtClean="0"/>
              <a:t>C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2605" y="1194108"/>
            <a:ext cx="7886700" cy="4868863"/>
          </a:xfrm>
        </p:spPr>
        <p:txBody>
          <a:bodyPr/>
          <a:lstStyle/>
          <a:p>
            <a:r>
              <a:rPr lang="en-US" dirty="0" smtClean="0"/>
              <a:t> Two different signals, the same expression for Laplace transform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Region of Convergence (ROC): </a:t>
            </a:r>
            <a:r>
              <a:rPr lang="en-US" dirty="0" smtClean="0"/>
              <a:t>the range of values of s for which the Laplace integral converges</a:t>
            </a:r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15106045"/>
              </p:ext>
            </p:extLst>
          </p:nvPr>
        </p:nvGraphicFramePr>
        <p:xfrm>
          <a:off x="1050925" y="2199735"/>
          <a:ext cx="15773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2" name="公式" r:id="rId3" imgW="876300" imgH="228600" progId="Equation.3">
                  <p:embed/>
                </p:oleObj>
              </mc:Choice>
              <mc:Fallback>
                <p:oleObj name="公式" r:id="rId3" imgW="876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0925" y="2199735"/>
                        <a:ext cx="15773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8345170"/>
              </p:ext>
            </p:extLst>
          </p:nvPr>
        </p:nvGraphicFramePr>
        <p:xfrm>
          <a:off x="1065386" y="2762189"/>
          <a:ext cx="18973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3" name="公式" r:id="rId5" imgW="1054100" imgH="228600" progId="Equation.3">
                  <p:embed/>
                </p:oleObj>
              </mc:Choice>
              <mc:Fallback>
                <p:oleObj name="公式" r:id="rId5" imgW="10541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5386" y="2762189"/>
                        <a:ext cx="18973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3768109"/>
              </p:ext>
            </p:extLst>
          </p:nvPr>
        </p:nvGraphicFramePr>
        <p:xfrm>
          <a:off x="4572000" y="2259904"/>
          <a:ext cx="1462088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4" name="公式" r:id="rId7" imgW="812520" imgH="393480" progId="Equation.3">
                  <p:embed/>
                </p:oleObj>
              </mc:Choice>
              <mc:Fallback>
                <p:oleObj name="公式" r:id="rId7" imgW="812520" imgH="393480" progId="Equation.3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259904"/>
                        <a:ext cx="1462088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左右箭头 13"/>
          <p:cNvSpPr/>
          <p:nvPr/>
        </p:nvSpPr>
        <p:spPr>
          <a:xfrm>
            <a:off x="3338371" y="2425747"/>
            <a:ext cx="1061049" cy="37093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/>
          <p:cNvSpPr txBox="1"/>
          <p:nvPr/>
        </p:nvSpPr>
        <p:spPr>
          <a:xfrm>
            <a:off x="3672872" y="2136932"/>
            <a:ext cx="45717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b="1" dirty="0" smtClean="0">
                <a:solidFill>
                  <a:srgbClr val="FF0000"/>
                </a:solidFill>
              </a:rPr>
              <a:t>?</a:t>
            </a:r>
            <a:endParaRPr lang="en-US" sz="4800" b="1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669519" y="4160408"/>
            <a:ext cx="5459801" cy="523220"/>
          </a:xfrm>
          <a:prstGeom prst="rect">
            <a:avLst/>
          </a:prstGeom>
          <a:solidFill>
            <a:srgbClr val="92D050"/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 = integral + ROC</a:t>
            </a: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1277796"/>
              </p:ext>
            </p:extLst>
          </p:nvPr>
        </p:nvGraphicFramePr>
        <p:xfrm>
          <a:off x="1385426" y="4923426"/>
          <a:ext cx="31546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5" name="公式" r:id="rId9" imgW="1752600" imgH="393700" progId="Equation.3">
                  <p:embed/>
                </p:oleObj>
              </mc:Choice>
              <mc:Fallback>
                <p:oleObj name="公式" r:id="rId9" imgW="1752600" imgH="3937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5426" y="4923426"/>
                        <a:ext cx="31546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9301760"/>
              </p:ext>
            </p:extLst>
          </p:nvPr>
        </p:nvGraphicFramePr>
        <p:xfrm>
          <a:off x="4846638" y="4900613"/>
          <a:ext cx="3360737" cy="709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1686" name="公式" r:id="rId11" imgW="1866600" imgH="393480" progId="Equation.3">
                  <p:embed/>
                </p:oleObj>
              </mc:Choice>
              <mc:Fallback>
                <p:oleObj name="公式" r:id="rId11" imgW="1866600" imgH="39348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638" y="4900613"/>
                        <a:ext cx="3360737" cy="7096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/>
          <p:cNvSpPr txBox="1"/>
          <p:nvPr/>
        </p:nvSpPr>
        <p:spPr>
          <a:xfrm>
            <a:off x="2191416" y="5689300"/>
            <a:ext cx="4416006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Laplace transform of </a:t>
            </a:r>
            <a:r>
              <a:rPr lang="el-GR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)? ROC?</a:t>
            </a:r>
          </a:p>
        </p:txBody>
      </p:sp>
    </p:spTree>
    <p:extLst>
      <p:ext uri="{BB962C8B-B14F-4D97-AF65-F5344CB8AC3E}">
        <p14:creationId xmlns:p14="http://schemas.microsoft.com/office/powerpoint/2010/main" val="1025687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ROC on the s-plane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63" y="1823498"/>
            <a:ext cx="3726000" cy="333249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775" y="1823498"/>
            <a:ext cx="3772575" cy="3332499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115050" y="5386842"/>
            <a:ext cx="1370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 9.2</a:t>
            </a:r>
          </a:p>
        </p:txBody>
      </p:sp>
      <p:sp>
        <p:nvSpPr>
          <p:cNvPr id="10" name="矩形 9"/>
          <p:cNvSpPr/>
          <p:nvPr/>
        </p:nvSpPr>
        <p:spPr>
          <a:xfrm>
            <a:off x="1520043" y="5386842"/>
            <a:ext cx="1370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Example </a:t>
            </a:r>
            <a:r>
              <a:rPr lang="en-US" dirty="0" smtClean="0"/>
              <a:t>9.1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299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 of ROC (Example 9.3</a:t>
            </a:r>
            <a:r>
              <a:rPr lang="en-US" sz="3600" dirty="0"/>
              <a:t>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7968509"/>
              </p:ext>
            </p:extLst>
          </p:nvPr>
        </p:nvGraphicFramePr>
        <p:xfrm>
          <a:off x="663393" y="1415055"/>
          <a:ext cx="2788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81" name="公式" r:id="rId3" imgW="1549400" imgH="228600" progId="Equation.3">
                  <p:embed/>
                </p:oleObj>
              </mc:Choice>
              <mc:Fallback>
                <p:oleObj name="公式" r:id="rId3" imgW="15494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393" y="1415055"/>
                        <a:ext cx="2788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7154413"/>
              </p:ext>
            </p:extLst>
          </p:nvPr>
        </p:nvGraphicFramePr>
        <p:xfrm>
          <a:off x="663393" y="1864727"/>
          <a:ext cx="31318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82" name="公式" r:id="rId5" imgW="1739900" imgH="393700" progId="Equation.3">
                  <p:embed/>
                </p:oleObj>
              </mc:Choice>
              <mc:Fallback>
                <p:oleObj name="公式" r:id="rId5" imgW="17399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393" y="1864727"/>
                        <a:ext cx="31318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7875557"/>
              </p:ext>
            </p:extLst>
          </p:nvPr>
        </p:nvGraphicFramePr>
        <p:xfrm>
          <a:off x="663393" y="2484600"/>
          <a:ext cx="29718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83" name="公式" r:id="rId7" imgW="1651000" imgH="393700" progId="Equation.3">
                  <p:embed/>
                </p:oleObj>
              </mc:Choice>
              <mc:Fallback>
                <p:oleObj name="公式" r:id="rId7" imgW="16510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393" y="2484600"/>
                        <a:ext cx="29718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27875048"/>
              </p:ext>
            </p:extLst>
          </p:nvPr>
        </p:nvGraphicFramePr>
        <p:xfrm>
          <a:off x="685800" y="3194050"/>
          <a:ext cx="51435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2584" name="公式" r:id="rId9" imgW="2857320" imgH="419040" progId="Equation.3">
                  <p:embed/>
                </p:oleObj>
              </mc:Choice>
              <mc:Fallback>
                <p:oleObj name="公式" r:id="rId9" imgW="2857320" imgH="41904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94050"/>
                        <a:ext cx="5143500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672944" y="2706222"/>
            <a:ext cx="4331475" cy="3363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1266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ROC of Complex Exponential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ROC is only dependent on the real part (</a:t>
            </a:r>
            <a:r>
              <a:rPr lang="en-US" i="1" dirty="0" smtClean="0"/>
              <a:t>a</a:t>
            </a:r>
            <a:r>
              <a:rPr lang="en-US" dirty="0" smtClean="0"/>
              <a:t>), but not on the imaginary part (</a:t>
            </a:r>
            <a:r>
              <a:rPr lang="en-US" i="1" dirty="0" err="1" smtClean="0"/>
              <a:t>jb</a:t>
            </a:r>
            <a:r>
              <a:rPr lang="en-US" dirty="0" smtClean="0"/>
              <a:t>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4464206"/>
              </p:ext>
            </p:extLst>
          </p:nvPr>
        </p:nvGraphicFramePr>
        <p:xfrm>
          <a:off x="1069675" y="1471834"/>
          <a:ext cx="189738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4" name="公式" r:id="rId3" imgW="1054100" imgH="228600" progId="Equation.3">
                  <p:embed/>
                </p:oleObj>
              </mc:Choice>
              <mc:Fallback>
                <p:oleObj name="公式" r:id="rId3" imgW="10541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75" y="1471834"/>
                        <a:ext cx="189738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4504053"/>
              </p:ext>
            </p:extLst>
          </p:nvPr>
        </p:nvGraphicFramePr>
        <p:xfrm>
          <a:off x="1069675" y="2034288"/>
          <a:ext cx="28803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5" name="公式" r:id="rId5" imgW="1600200" imgH="330200" progId="Equation.3">
                  <p:embed/>
                </p:oleObj>
              </mc:Choice>
              <mc:Fallback>
                <p:oleObj name="公式" r:id="rId5" imgW="16002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75" y="2034288"/>
                        <a:ext cx="28803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7613337"/>
              </p:ext>
            </p:extLst>
          </p:nvPr>
        </p:nvGraphicFramePr>
        <p:xfrm>
          <a:off x="1069675" y="2645682"/>
          <a:ext cx="36347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6" name="公式" r:id="rId7" imgW="2019300" imgH="419100" progId="Equation.3">
                  <p:embed/>
                </p:oleObj>
              </mc:Choice>
              <mc:Fallback>
                <p:oleObj name="公式" r:id="rId7" imgW="20193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9675" y="2645682"/>
                        <a:ext cx="36347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288891"/>
              </p:ext>
            </p:extLst>
          </p:nvPr>
        </p:nvGraphicFramePr>
        <p:xfrm>
          <a:off x="2388870" y="4496104"/>
          <a:ext cx="37261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597" name="公式" r:id="rId9" imgW="2070100" imgH="393700" progId="Equation.3">
                  <p:embed/>
                </p:oleObj>
              </mc:Choice>
              <mc:Fallback>
                <p:oleObj name="公式" r:id="rId9" imgW="2070100" imgH="3937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88870" y="4496104"/>
                        <a:ext cx="37261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853029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smtClean="0"/>
              <a:t>Poles/Zeros of Rational Laplace Transform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Rational Laplace transform</a:t>
            </a:r>
            <a:r>
              <a:rPr lang="en-US" dirty="0" smtClean="0"/>
              <a:t>: ratio of rational functions (polynomials) </a:t>
            </a:r>
          </a:p>
          <a:p>
            <a:endParaRPr lang="en-US" dirty="0" smtClean="0"/>
          </a:p>
          <a:p>
            <a:r>
              <a:rPr lang="en-US" dirty="0" smtClean="0"/>
              <a:t>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dirty="0" smtClean="0"/>
              <a:t>) </a:t>
            </a:r>
            <a:r>
              <a:rPr lang="en-US" dirty="0"/>
              <a:t>is rational if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 is a linear combination of real/complex </a:t>
            </a:r>
            <a:r>
              <a:rPr lang="en-US" dirty="0" smtClean="0"/>
              <a:t>exponentials 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Zeros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/>
              <a:t> roots of </a:t>
            </a:r>
            <a:r>
              <a:rPr lang="en-US" dirty="0" smtClean="0"/>
              <a:t>numerator polynomial  </a:t>
            </a:r>
            <a:r>
              <a:rPr lang="en-US" i="1" dirty="0" smtClean="0"/>
              <a:t>N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Poles</a:t>
            </a:r>
            <a:r>
              <a:rPr lang="en-US" b="1" dirty="0">
                <a:solidFill>
                  <a:srgbClr val="C00000"/>
                </a:solidFill>
              </a:rPr>
              <a:t>:</a:t>
            </a:r>
            <a:r>
              <a:rPr lang="en-US" dirty="0"/>
              <a:t> roots of </a:t>
            </a:r>
            <a:r>
              <a:rPr lang="en-US" dirty="0" smtClean="0"/>
              <a:t>denominator polynomial </a:t>
            </a:r>
            <a:r>
              <a:rPr lang="en-US" i="1" dirty="0" smtClean="0"/>
              <a:t>D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pole-zero plot: </a:t>
            </a:r>
            <a:r>
              <a:rPr lang="en-US" dirty="0" smtClean="0"/>
              <a:t>representation of X(s) through its poles and zeros in the </a:t>
            </a:r>
            <a:r>
              <a:rPr lang="en-US" i="1" dirty="0" smtClean="0"/>
              <a:t>s</a:t>
            </a:r>
            <a:r>
              <a:rPr lang="en-US" dirty="0" smtClean="0"/>
              <a:t>-plane</a:t>
            </a:r>
          </a:p>
          <a:p>
            <a:r>
              <a:rPr lang="en-US" dirty="0" smtClean="0"/>
              <a:t> </a:t>
            </a:r>
            <a:r>
              <a:rPr lang="en-US" altLang="zh-CN" dirty="0" smtClean="0"/>
              <a:t>Example: </a:t>
            </a: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840153"/>
              </p:ext>
            </p:extLst>
          </p:nvPr>
        </p:nvGraphicFramePr>
        <p:xfrm>
          <a:off x="4629150" y="1957915"/>
          <a:ext cx="14859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4343" name="公式" r:id="rId3" imgW="825500" imgH="419100" progId="Equation.3">
                  <p:embed/>
                </p:oleObj>
              </mc:Choice>
              <mc:Fallback>
                <p:oleObj name="公式" r:id="rId3" imgW="8255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29150" y="1957915"/>
                        <a:ext cx="14859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762741" y="5489595"/>
                <a:ext cx="3732817" cy="687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+12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ℯ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62741" y="5489595"/>
                <a:ext cx="3732817" cy="687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6010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Pole-Zero Plot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7770" y="1298409"/>
            <a:ext cx="4331475" cy="3363501"/>
          </a:xfrm>
          <a:prstGeom prst="rect">
            <a:avLst/>
          </a:prstGeom>
        </p:spPr>
      </p:pic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596701"/>
              </p:ext>
            </p:extLst>
          </p:nvPr>
        </p:nvGraphicFramePr>
        <p:xfrm>
          <a:off x="2579688" y="5003800"/>
          <a:ext cx="361315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6306" name="公式" r:id="rId4" imgW="2006280" imgH="457200" progId="Equation.3">
                  <p:embed/>
                </p:oleObj>
              </mc:Choice>
              <mc:Fallback>
                <p:oleObj name="公式" r:id="rId4" imgW="2006280" imgH="4572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5003800"/>
                        <a:ext cx="3613150" cy="823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328091" y="2980159"/>
            <a:ext cx="2539864" cy="707886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define pole/zero of infinity?</a:t>
            </a:r>
          </a:p>
        </p:txBody>
      </p:sp>
    </p:spTree>
    <p:extLst>
      <p:ext uri="{BB962C8B-B14F-4D97-AF65-F5344CB8AC3E}">
        <p14:creationId xmlns:p14="http://schemas.microsoft.com/office/powerpoint/2010/main" val="383385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Laplace </a:t>
            </a:r>
            <a:r>
              <a:rPr lang="en-US" altLang="zh-CN" dirty="0" smtClean="0"/>
              <a:t>Transform Convergence vs. Fourier Transform Convergence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049524" cy="4868863"/>
          </a:xfrm>
        </p:spPr>
        <p:txBody>
          <a:bodyPr/>
          <a:lstStyle/>
          <a:p>
            <a:r>
              <a:rPr lang="en-US" dirty="0" smtClean="0"/>
              <a:t> If the Laplace transform ROC does not contain the </a:t>
            </a:r>
            <a:r>
              <a:rPr lang="en-US" i="1" dirty="0" smtClean="0"/>
              <a:t>j</a:t>
            </a:r>
            <a:r>
              <a:rPr lang="el-GR" i="1" dirty="0" smtClean="0"/>
              <a:t>ω</a:t>
            </a:r>
            <a:r>
              <a:rPr lang="en-US" dirty="0" smtClean="0"/>
              <a:t>-axis, then the Fourier transform does not converge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§9.1 Laplace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912" y="2255908"/>
            <a:ext cx="3609563" cy="2802918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009" y="2290996"/>
            <a:ext cx="3609563" cy="277708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920595" y="5269584"/>
                <a:ext cx="3732817" cy="687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+12</m:t>
                          </m:r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+10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ℯ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&gt;−1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595" y="5269584"/>
                <a:ext cx="3732817" cy="68736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矩形 12"/>
              <p:cNvSpPr/>
              <p:nvPr/>
            </p:nvSpPr>
            <p:spPr>
              <a:xfrm>
                <a:off x="5142686" y="5269584"/>
                <a:ext cx="2801793" cy="6873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ℜ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ℯ</m:t>
                      </m:r>
                      <m:d>
                        <m:dPr>
                          <m:begChr m:val="{"/>
                          <m:endChr m:val="}"/>
                          <m:ctrlP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&gt;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矩形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2686" y="5269584"/>
                <a:ext cx="2801793" cy="68736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516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22158" cy="79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Properties of Laplace Transform ROC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523900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Property #2: The ROC does not contain the poles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Question: </a:t>
            </a:r>
            <a:r>
              <a:rPr lang="en-US" altLang="zh-CN" dirty="0" smtClean="0"/>
              <a:t>How to find X(s) for the poles? </a:t>
            </a:r>
            <a:r>
              <a:rPr lang="en-US" altLang="zh-CN" dirty="0" smtClean="0">
                <a:sym typeface="Wingdings" panose="05000000000000000000" pitchFamily="2" charset="2"/>
              </a:rPr>
              <a:t>Use </a:t>
            </a:r>
            <a:r>
              <a:rPr lang="en-US" altLang="zh-CN" dirty="0" err="1" smtClean="0">
                <a:sym typeface="Wingdings" panose="05000000000000000000" pitchFamily="2" charset="2"/>
              </a:rPr>
              <a:t>L’hospital’s</a:t>
            </a:r>
            <a:r>
              <a:rPr lang="en-US" altLang="zh-CN" dirty="0" smtClean="0">
                <a:sym typeface="Wingdings" panose="05000000000000000000" pitchFamily="2" charset="2"/>
              </a:rPr>
              <a:t> Rule </a:t>
            </a:r>
          </a:p>
          <a:p>
            <a:pPr marL="0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 </a:t>
            </a:r>
          </a:p>
          <a:p>
            <a:endParaRPr lang="en-US" dirty="0" smtClean="0"/>
          </a:p>
          <a:p>
            <a:r>
              <a:rPr lang="en-US" dirty="0" smtClean="0"/>
              <a:t>Property #3: 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is of finite duration and absolutely </a:t>
            </a:r>
            <a:r>
              <a:rPr lang="en-US" dirty="0" err="1" smtClean="0"/>
              <a:t>integrable</a:t>
            </a:r>
            <a:r>
              <a:rPr lang="en-US" dirty="0" smtClean="0"/>
              <a:t>, then the ROC is the </a:t>
            </a:r>
            <a:r>
              <a:rPr lang="en-US" i="1" dirty="0" smtClean="0"/>
              <a:t>s</a:t>
            </a:r>
            <a:r>
              <a:rPr lang="en-US" dirty="0" smtClean="0"/>
              <a:t>-plane</a:t>
            </a:r>
          </a:p>
          <a:p>
            <a:pPr marL="0" indent="0">
              <a:buNone/>
            </a:pPr>
            <a:r>
              <a:rPr lang="en-US" dirty="0" smtClean="0"/>
              <a:t>                                  </a:t>
            </a:r>
            <a:r>
              <a:rPr lang="en-US" dirty="0" smtClean="0">
                <a:solidFill>
                  <a:srgbClr val="FF0000"/>
                </a:solidFill>
              </a:rPr>
              <a:t>Question</a:t>
            </a:r>
            <a:r>
              <a:rPr lang="en-US" dirty="0">
                <a:solidFill>
                  <a:srgbClr val="FF0000"/>
                </a:solidFill>
              </a:rPr>
              <a:t>: </a:t>
            </a:r>
            <a:r>
              <a:rPr lang="en-US" dirty="0" smtClean="0"/>
              <a:t>example?   </a:t>
            </a:r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                               </a:t>
            </a:r>
            <a:r>
              <a:rPr lang="el-GR" i="1" dirty="0" smtClean="0"/>
              <a:t>δ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9.2 </a:t>
            </a:r>
            <a:r>
              <a:rPr lang="en-US" altLang="zh-CN" dirty="0" smtClean="0"/>
              <a:t>ROC for </a:t>
            </a:r>
            <a:r>
              <a:rPr lang="en-US" dirty="0" smtClean="0"/>
              <a:t>Laplace </a:t>
            </a:r>
            <a:r>
              <a:rPr lang="en-US" dirty="0"/>
              <a:t>Transform</a:t>
            </a:r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24473648"/>
              </p:ext>
            </p:extLst>
          </p:nvPr>
        </p:nvGraphicFramePr>
        <p:xfrm>
          <a:off x="1656854" y="3120805"/>
          <a:ext cx="40233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62" name="公式" r:id="rId3" imgW="2235200" imgH="419100" progId="Equation.3">
                  <p:embed/>
                </p:oleObj>
              </mc:Choice>
              <mc:Fallback>
                <p:oleObj name="公式" r:id="rId3" imgW="22352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56854" y="3120805"/>
                        <a:ext cx="40233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66163743"/>
              </p:ext>
            </p:extLst>
          </p:nvPr>
        </p:nvGraphicFramePr>
        <p:xfrm>
          <a:off x="1569490" y="3927602"/>
          <a:ext cx="51435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63" name="公式" r:id="rId5" imgW="2857500" imgH="419100" progId="Equation.3">
                  <p:embed/>
                </p:oleObj>
              </mc:Choice>
              <mc:Fallback>
                <p:oleObj name="公式" r:id="rId5" imgW="28575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69490" y="3927602"/>
                        <a:ext cx="51435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3806743"/>
              </p:ext>
            </p:extLst>
          </p:nvPr>
        </p:nvGraphicFramePr>
        <p:xfrm>
          <a:off x="3320319" y="2305769"/>
          <a:ext cx="251460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7564" name="公式" r:id="rId7" imgW="1397000" imgH="482600" progId="Equation.3">
                  <p:embed/>
                </p:oleObj>
              </mc:Choice>
              <mc:Fallback>
                <p:oleObj name="公式" r:id="rId7" imgW="1397000" imgH="482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0319" y="2305769"/>
                        <a:ext cx="251460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9079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Sided Signals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Right-sided signal: </a:t>
            </a:r>
            <a:r>
              <a:rPr lang="en-US" dirty="0" smtClean="0"/>
              <a:t>There exists a finite time </a:t>
            </a:r>
            <a:r>
              <a:rPr lang="en-US" i="1" dirty="0" smtClean="0"/>
              <a:t>T</a:t>
            </a:r>
            <a:r>
              <a:rPr lang="en-US" baseline="-25000" dirty="0" smtClean="0"/>
              <a:t>1</a:t>
            </a:r>
            <a:r>
              <a:rPr lang="en-US" dirty="0" smtClean="0"/>
              <a:t>,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</a:t>
            </a:r>
            <a:r>
              <a:rPr lang="en-US" altLang="zh-CN" dirty="0" smtClean="0"/>
              <a:t>=0 for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&lt;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</a:t>
            </a:r>
          </a:p>
          <a:p>
            <a:r>
              <a:rPr lang="en-US" altLang="zh-CN" dirty="0"/>
              <a:t> </a:t>
            </a:r>
            <a:r>
              <a:rPr lang="en-US" altLang="zh-CN" dirty="0" smtClean="0"/>
              <a:t>Property #4: Right-sided signal has an ROC </a:t>
            </a:r>
            <a:r>
              <a:rPr lang="en-US" altLang="zh-CN" dirty="0"/>
              <a:t>(if exists) </a:t>
            </a:r>
            <a:r>
              <a:rPr lang="en-US" altLang="zh-CN" dirty="0" smtClean="0"/>
              <a:t>containing a </a:t>
            </a:r>
            <a:r>
              <a:rPr lang="en-US" altLang="zh-CN" b="1" dirty="0" smtClean="0">
                <a:solidFill>
                  <a:srgbClr val="C00000"/>
                </a:solidFill>
              </a:rPr>
              <a:t>right-sided plane </a:t>
            </a:r>
          </a:p>
          <a:p>
            <a:pPr lvl="1"/>
            <a:r>
              <a:rPr lang="en-US" altLang="zh-CN" dirty="0" smtClean="0"/>
              <a:t>right-sided plane is not the half-plane right to </a:t>
            </a:r>
            <a:r>
              <a:rPr lang="en-US" altLang="zh-CN" i="1" dirty="0" smtClean="0"/>
              <a:t>j</a:t>
            </a:r>
            <a:r>
              <a:rPr lang="el-GR" altLang="zh-CN" i="1" dirty="0" smtClean="0"/>
              <a:t>ω</a:t>
            </a:r>
            <a:r>
              <a:rPr lang="en-US" altLang="zh-CN" dirty="0"/>
              <a:t> </a:t>
            </a:r>
            <a:r>
              <a:rPr lang="en-US" altLang="zh-CN" dirty="0" smtClean="0"/>
              <a:t>axis 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Left-sided signals</a:t>
            </a:r>
            <a:r>
              <a:rPr lang="en-US" b="1" dirty="0">
                <a:solidFill>
                  <a:srgbClr val="C00000"/>
                </a:solidFill>
              </a:rPr>
              <a:t>: </a:t>
            </a:r>
            <a:r>
              <a:rPr lang="en-US" dirty="0"/>
              <a:t>There exists a finite time </a:t>
            </a:r>
            <a:r>
              <a:rPr lang="en-US" i="1" dirty="0"/>
              <a:t>T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/>
              <a:t>)</a:t>
            </a:r>
            <a:r>
              <a:rPr lang="en-US" altLang="zh-CN" dirty="0"/>
              <a:t>=0 for </a:t>
            </a:r>
            <a:r>
              <a:rPr lang="en-US" altLang="zh-CN" i="1" dirty="0" smtClean="0"/>
              <a:t>t</a:t>
            </a:r>
            <a:r>
              <a:rPr lang="en-US" altLang="zh-CN" dirty="0" smtClean="0"/>
              <a:t>&gt;</a:t>
            </a:r>
            <a:r>
              <a:rPr lang="en-US" altLang="zh-CN" i="1" dirty="0" smtClean="0"/>
              <a:t>T</a:t>
            </a:r>
            <a:r>
              <a:rPr lang="en-US" altLang="zh-CN" baseline="-25000" dirty="0" smtClean="0"/>
              <a:t>1 </a:t>
            </a:r>
          </a:p>
          <a:p>
            <a:r>
              <a:rPr lang="en-US" altLang="zh-CN" baseline="-25000" dirty="0"/>
              <a:t> </a:t>
            </a:r>
            <a:r>
              <a:rPr lang="en-US" altLang="zh-CN" dirty="0"/>
              <a:t>Property #5: </a:t>
            </a:r>
            <a:r>
              <a:rPr lang="en-US" altLang="zh-CN" dirty="0" smtClean="0"/>
              <a:t>Left-sided </a:t>
            </a:r>
            <a:r>
              <a:rPr lang="en-US" altLang="zh-CN" dirty="0"/>
              <a:t>signal has an ROC </a:t>
            </a:r>
            <a:r>
              <a:rPr lang="en-US" altLang="zh-CN" dirty="0" smtClean="0"/>
              <a:t>(if exists) containing </a:t>
            </a:r>
            <a:r>
              <a:rPr lang="en-US" altLang="zh-CN" dirty="0"/>
              <a:t>a </a:t>
            </a:r>
            <a:r>
              <a:rPr lang="en-US" altLang="zh-CN" b="1" dirty="0" smtClean="0">
                <a:solidFill>
                  <a:srgbClr val="C00000"/>
                </a:solidFill>
              </a:rPr>
              <a:t>left-sided </a:t>
            </a:r>
            <a:r>
              <a:rPr lang="en-US" altLang="zh-CN" b="1" dirty="0">
                <a:solidFill>
                  <a:srgbClr val="C00000"/>
                </a:solidFill>
              </a:rPr>
              <a:t>plane </a:t>
            </a:r>
            <a:endParaRPr lang="en-US" altLang="zh-CN" dirty="0"/>
          </a:p>
          <a:p>
            <a:r>
              <a:rPr lang="en-US" dirty="0" smtClean="0"/>
              <a:t> Property #6: The ROC of a </a:t>
            </a:r>
            <a:r>
              <a:rPr lang="en-US" b="1" dirty="0" smtClean="0">
                <a:solidFill>
                  <a:srgbClr val="C00000"/>
                </a:solidFill>
              </a:rPr>
              <a:t>t</a:t>
            </a:r>
            <a:r>
              <a:rPr lang="en-US" altLang="zh-CN" b="1" dirty="0" smtClean="0">
                <a:solidFill>
                  <a:srgbClr val="C00000"/>
                </a:solidFill>
              </a:rPr>
              <a:t>wo-sided signal </a:t>
            </a:r>
            <a:r>
              <a:rPr lang="en-US" altLang="zh-CN" dirty="0" smtClean="0"/>
              <a:t>(if exists) contains a strip in parallel with the </a:t>
            </a:r>
            <a:r>
              <a:rPr lang="en-US" altLang="zh-CN" i="1" dirty="0"/>
              <a:t>j</a:t>
            </a:r>
            <a:r>
              <a:rPr lang="el-GR" altLang="zh-CN" i="1" dirty="0"/>
              <a:t>ω</a:t>
            </a:r>
            <a:r>
              <a:rPr lang="en-US" altLang="zh-CN" dirty="0"/>
              <a:t> </a:t>
            </a:r>
            <a:r>
              <a:rPr lang="en-US" altLang="zh-CN" dirty="0" smtClean="0"/>
              <a:t>axis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§9.2 </a:t>
            </a:r>
            <a:r>
              <a:rPr lang="en-US" altLang="zh-CN" dirty="0"/>
              <a:t>ROC for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605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140446" cy="792000"/>
          </a:xfrm>
        </p:spPr>
        <p:txBody>
          <a:bodyPr>
            <a:normAutofit fontScale="90000"/>
          </a:bodyPr>
          <a:lstStyle/>
          <a:p>
            <a:r>
              <a:rPr lang="en-US" dirty="0"/>
              <a:t>Properties of Laplace Transform ROC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Property #7: Rational Laplace transform X(s), ROC is bounded by poles or extended to infinity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entire </a:t>
            </a:r>
            <a:r>
              <a:rPr lang="en-US" i="1" dirty="0" smtClean="0"/>
              <a:t>s</a:t>
            </a:r>
            <a:r>
              <a:rPr lang="en-US" dirty="0" smtClean="0"/>
              <a:t>-plane</a:t>
            </a:r>
          </a:p>
          <a:p>
            <a:pPr lvl="1"/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left-sided plane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left-side signals</a:t>
            </a:r>
          </a:p>
          <a:p>
            <a:pPr lvl="1"/>
            <a:r>
              <a:rPr lang="en-US" dirty="0"/>
              <a:t> </a:t>
            </a:r>
            <a:r>
              <a:rPr lang="en-US" dirty="0" smtClean="0">
                <a:solidFill>
                  <a:srgbClr val="C00000"/>
                </a:solidFill>
              </a:rPr>
              <a:t>right-sided plane </a:t>
            </a:r>
            <a:r>
              <a:rPr lang="en-US" dirty="0" smtClean="0"/>
              <a:t>for </a:t>
            </a:r>
            <a:r>
              <a:rPr lang="en-US" dirty="0" smtClean="0">
                <a:solidFill>
                  <a:srgbClr val="C00000"/>
                </a:solidFill>
              </a:rPr>
              <a:t>right-side signals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a single strip for </a:t>
            </a:r>
            <a:r>
              <a:rPr lang="en-US" dirty="0" smtClean="0">
                <a:solidFill>
                  <a:srgbClr val="C00000"/>
                </a:solidFill>
              </a:rPr>
              <a:t>two-sided signals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§9.2 </a:t>
            </a:r>
            <a:r>
              <a:rPr lang="en-US" altLang="zh-CN" dirty="0"/>
              <a:t>ROC for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9538" y="3601486"/>
            <a:ext cx="2887650" cy="2242334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888" y="3601486"/>
            <a:ext cx="2887650" cy="2232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54462" y="3601486"/>
            <a:ext cx="2887650" cy="2263000"/>
          </a:xfrm>
          <a:prstGeom prst="rect">
            <a:avLst/>
          </a:prstGeom>
        </p:spPr>
      </p:pic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1859774"/>
              </p:ext>
            </p:extLst>
          </p:nvPr>
        </p:nvGraphicFramePr>
        <p:xfrm>
          <a:off x="4846320" y="5799773"/>
          <a:ext cx="38404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8348" name="公式" r:id="rId6" imgW="2133600" imgH="419100" progId="Equation.3">
                  <p:embed/>
                </p:oleObj>
              </mc:Choice>
              <mc:Fallback>
                <p:oleObj name="公式" r:id="rId6" imgW="21336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46320" y="5799773"/>
                        <a:ext cx="38404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10669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Inverse Laplace </a:t>
            </a:r>
            <a:r>
              <a:rPr lang="en-US" altLang="zh-CN" dirty="0" smtClean="0"/>
              <a:t>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</a:t>
            </a:r>
            <a:r>
              <a:rPr lang="en-US" altLang="zh-CN" dirty="0"/>
              <a:t>Recall: Fourier </a:t>
            </a:r>
            <a:r>
              <a:rPr lang="en-US" altLang="zh-CN" dirty="0" smtClean="0"/>
              <a:t>transform pair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Laplace transform based on Fourier transform</a:t>
            </a:r>
          </a:p>
          <a:p>
            <a:endParaRPr lang="en-US" dirty="0"/>
          </a:p>
          <a:p>
            <a:r>
              <a:rPr lang="en-US" dirty="0"/>
              <a:t> </a:t>
            </a:r>
            <a:r>
              <a:rPr lang="en-US" dirty="0" smtClean="0"/>
              <a:t>Inverse FT</a:t>
            </a:r>
          </a:p>
          <a:p>
            <a:endParaRPr lang="en-US" dirty="0"/>
          </a:p>
          <a:p>
            <a:r>
              <a:rPr lang="en-US" dirty="0" smtClean="0"/>
              <a:t>  Change the integration variable to </a:t>
            </a:r>
            <a:r>
              <a:rPr lang="en-US" i="1" dirty="0" smtClean="0"/>
              <a:t>s</a:t>
            </a:r>
          </a:p>
          <a:p>
            <a:endParaRPr lang="en-US" i="1" dirty="0"/>
          </a:p>
          <a:p>
            <a:endParaRPr lang="en-US" i="1" dirty="0" smtClean="0"/>
          </a:p>
          <a:p>
            <a:r>
              <a:rPr lang="en-US" dirty="0"/>
              <a:t> </a:t>
            </a:r>
            <a:r>
              <a:rPr lang="en-US" dirty="0" smtClean="0"/>
              <a:t> </a:t>
            </a:r>
            <a:r>
              <a:rPr lang="en-US" altLang="zh-CN" dirty="0" smtClean="0"/>
              <a:t>Inverse Laplace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19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9.3 Inverse </a:t>
            </a:r>
            <a:r>
              <a:rPr lang="en-US" dirty="0"/>
              <a:t>Laplace </a:t>
            </a:r>
            <a:r>
              <a:rPr lang="en-US" altLang="zh-CN" dirty="0"/>
              <a:t>Transform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7255957"/>
              </p:ext>
            </p:extLst>
          </p:nvPr>
        </p:nvGraphicFramePr>
        <p:xfrm>
          <a:off x="1133480" y="1689813"/>
          <a:ext cx="25831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5" name="公式" r:id="rId3" imgW="1435100" imgH="330200" progId="Equation.3">
                  <p:embed/>
                </p:oleObj>
              </mc:Choice>
              <mc:Fallback>
                <p:oleObj name="公式" r:id="rId3" imgW="1435100" imgH="3302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80" y="1689813"/>
                        <a:ext cx="2583180" cy="59436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575210"/>
              </p:ext>
            </p:extLst>
          </p:nvPr>
        </p:nvGraphicFramePr>
        <p:xfrm>
          <a:off x="4800224" y="1658613"/>
          <a:ext cx="3016211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6" name="公式" r:id="rId5" imgW="1675673" imgH="393529" progId="Equation.3">
                  <p:embed/>
                </p:oleObj>
              </mc:Choice>
              <mc:Fallback>
                <p:oleObj name="公式" r:id="rId5" imgW="1675673" imgH="393529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224" y="1658613"/>
                        <a:ext cx="3016211" cy="708352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0260398"/>
              </p:ext>
            </p:extLst>
          </p:nvPr>
        </p:nvGraphicFramePr>
        <p:xfrm>
          <a:off x="1626602" y="2553467"/>
          <a:ext cx="521208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7" name="公式" r:id="rId7" imgW="2895600" imgH="330200" progId="Equation.3">
                  <p:embed/>
                </p:oleObj>
              </mc:Choice>
              <mc:Fallback>
                <p:oleObj name="公式" r:id="rId7" imgW="2895600" imgH="330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26602" y="2553467"/>
                        <a:ext cx="521208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619545"/>
              </p:ext>
            </p:extLst>
          </p:nvPr>
        </p:nvGraphicFramePr>
        <p:xfrm>
          <a:off x="2882270" y="3042671"/>
          <a:ext cx="58064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8" name="公式" r:id="rId9" imgW="3225800" imgH="393700" progId="Equation.3">
                  <p:embed/>
                </p:oleObj>
              </mc:Choice>
              <mc:Fallback>
                <p:oleObj name="公式" r:id="rId9" imgW="3225800" imgH="3937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2270" y="3042671"/>
                        <a:ext cx="5806440" cy="7086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4719106"/>
              </p:ext>
            </p:extLst>
          </p:nvPr>
        </p:nvGraphicFramePr>
        <p:xfrm>
          <a:off x="1514813" y="3469203"/>
          <a:ext cx="381762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19" name="公式" r:id="rId11" imgW="2120900" imgH="393700" progId="Equation.3">
                  <p:embed/>
                </p:oleObj>
              </mc:Choice>
              <mc:Fallback>
                <p:oleObj name="公式" r:id="rId11" imgW="2120900" imgH="3937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813" y="3469203"/>
                        <a:ext cx="381762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1578773"/>
              </p:ext>
            </p:extLst>
          </p:nvPr>
        </p:nvGraphicFramePr>
        <p:xfrm>
          <a:off x="1514813" y="4524048"/>
          <a:ext cx="56235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20" name="公式" r:id="rId13" imgW="3124200" imgH="419100" progId="Equation.3">
                  <p:embed/>
                </p:oleObj>
              </mc:Choice>
              <mc:Fallback>
                <p:oleObj name="公式" r:id="rId13" imgW="31242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4813" y="4524048"/>
                        <a:ext cx="56235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498924"/>
              </p:ext>
            </p:extLst>
          </p:nvPr>
        </p:nvGraphicFramePr>
        <p:xfrm>
          <a:off x="5332433" y="5383246"/>
          <a:ext cx="28117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021" name="公式" r:id="rId15" imgW="1562100" imgH="419100" progId="Equation.3">
                  <p:embed/>
                </p:oleObj>
              </mc:Choice>
              <mc:Fallback>
                <p:oleObj name="公式" r:id="rId15" imgW="15621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2433" y="5383246"/>
                        <a:ext cx="2811780" cy="7543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90641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How to Solve Inverse </a:t>
            </a:r>
            <a:r>
              <a:rPr lang="en-US" sz="3600" dirty="0"/>
              <a:t>Laplace </a:t>
            </a:r>
            <a:r>
              <a:rPr lang="en-US" altLang="zh-CN" sz="3600" dirty="0"/>
              <a:t>Transform</a:t>
            </a:r>
            <a:endParaRPr 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Formal inverse Laplace transform requires contour integration in the complex plane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For rational Laplace transform, use partial-fraction expansion</a:t>
            </a:r>
          </a:p>
          <a:p>
            <a:endParaRPr lang="en-US" dirty="0"/>
          </a:p>
          <a:p>
            <a:r>
              <a:rPr lang="en-US" dirty="0" smtClean="0"/>
              <a:t> If ROC is to the right of </a:t>
            </a:r>
            <a:r>
              <a:rPr lang="en-US" i="1" dirty="0" smtClean="0"/>
              <a:t>s</a:t>
            </a:r>
            <a:r>
              <a:rPr lang="en-US" dirty="0" smtClean="0"/>
              <a:t>=-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i</a:t>
            </a:r>
            <a:r>
              <a:rPr lang="en-US" dirty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If ROC is to the left of </a:t>
            </a:r>
            <a:r>
              <a:rPr lang="en-US" i="1" dirty="0"/>
              <a:t>s</a:t>
            </a:r>
            <a:r>
              <a:rPr lang="en-US" dirty="0"/>
              <a:t>=-</a:t>
            </a:r>
            <a:r>
              <a:rPr lang="en-US" i="1" dirty="0" err="1" smtClean="0"/>
              <a:t>a</a:t>
            </a:r>
            <a:r>
              <a:rPr lang="en-US" i="1" baseline="-25000" dirty="0" err="1" smtClean="0"/>
              <a:t>i</a:t>
            </a:r>
            <a:r>
              <a:rPr lang="en-US" i="1" baseline="-25000" dirty="0" smtClean="0"/>
              <a:t>  </a:t>
            </a: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§9.3 Inverse Laplace </a:t>
            </a:r>
            <a:r>
              <a:rPr lang="en-US" altLang="zh-CN" dirty="0" smtClean="0"/>
              <a:t>Transform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97410819"/>
              </p:ext>
            </p:extLst>
          </p:nvPr>
        </p:nvGraphicFramePr>
        <p:xfrm>
          <a:off x="2506937" y="2195361"/>
          <a:ext cx="28117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18" name="公式" r:id="rId3" imgW="1562100" imgH="419100" progId="Equation.3">
                  <p:embed/>
                </p:oleObj>
              </mc:Choice>
              <mc:Fallback>
                <p:oleObj name="公式" r:id="rId3" imgW="1562100" imgH="419100" progId="Equation.3">
                  <p:embed/>
                  <p:pic>
                    <p:nvPicPr>
                      <p:cNvPr id="2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937" y="2195361"/>
                        <a:ext cx="2811780" cy="75438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08594641"/>
              </p:ext>
            </p:extLst>
          </p:nvPr>
        </p:nvGraphicFramePr>
        <p:xfrm>
          <a:off x="2506937" y="3763252"/>
          <a:ext cx="272034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19" name="公式" r:id="rId5" imgW="1511300" imgH="444500" progId="Equation.3">
                  <p:embed/>
                </p:oleObj>
              </mc:Choice>
              <mc:Fallback>
                <p:oleObj name="公式" r:id="rId5" imgW="15113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937" y="3763252"/>
                        <a:ext cx="272034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30494661"/>
              </p:ext>
            </p:extLst>
          </p:nvPr>
        </p:nvGraphicFramePr>
        <p:xfrm>
          <a:off x="5501372" y="4543679"/>
          <a:ext cx="267462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20" name="公式" r:id="rId7" imgW="1485900" imgH="482600" progId="Equation.3">
                  <p:embed/>
                </p:oleObj>
              </mc:Choice>
              <mc:Fallback>
                <p:oleObj name="公式" r:id="rId7" imgW="1485900" imgH="482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1372" y="4543679"/>
                        <a:ext cx="267462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76599679"/>
              </p:ext>
            </p:extLst>
          </p:nvPr>
        </p:nvGraphicFramePr>
        <p:xfrm>
          <a:off x="5520690" y="5591747"/>
          <a:ext cx="2994660" cy="868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0721" name="公式" r:id="rId9" imgW="1663700" imgH="482600" progId="Equation.3">
                  <p:embed/>
                </p:oleObj>
              </mc:Choice>
              <mc:Fallback>
                <p:oleObj name="公式" r:id="rId9" imgW="1663700" imgH="482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0690" y="5591747"/>
                        <a:ext cx="2994660" cy="8686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文本框 13"/>
          <p:cNvSpPr txBox="1"/>
          <p:nvPr/>
        </p:nvSpPr>
        <p:spPr>
          <a:xfrm>
            <a:off x="5835632" y="3742531"/>
            <a:ext cx="2924320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pole inside ROC? </a:t>
            </a:r>
          </a:p>
        </p:txBody>
      </p:sp>
      <p:sp>
        <p:nvSpPr>
          <p:cNvPr id="15" name="文本框 14"/>
          <p:cNvSpPr txBox="1"/>
          <p:nvPr/>
        </p:nvSpPr>
        <p:spPr>
          <a:xfrm>
            <a:off x="5835632" y="4149406"/>
            <a:ext cx="2924320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See ROC property </a:t>
            </a:r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#8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8550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Examples of Inverse Laplace Transform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§9.3 Inverse Laplace </a:t>
            </a:r>
            <a:r>
              <a:rPr lang="en-US" altLang="zh-CN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71897367"/>
              </p:ext>
            </p:extLst>
          </p:nvPr>
        </p:nvGraphicFramePr>
        <p:xfrm>
          <a:off x="628650" y="1266424"/>
          <a:ext cx="38404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15" name="公式" r:id="rId3" imgW="2133600" imgH="419100" progId="Equation.3">
                  <p:embed/>
                </p:oleObj>
              </mc:Choice>
              <mc:Fallback>
                <p:oleObj name="公式" r:id="rId3" imgW="2133600" imgH="419100" progId="Equation.3">
                  <p:embed/>
                  <p:pic>
                    <p:nvPicPr>
                      <p:cNvPr id="11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266424"/>
                        <a:ext cx="384048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51414518"/>
              </p:ext>
            </p:extLst>
          </p:nvPr>
        </p:nvGraphicFramePr>
        <p:xfrm>
          <a:off x="776711" y="3243622"/>
          <a:ext cx="46405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16" name="公式" r:id="rId5" imgW="2578100" imgH="393700" progId="Equation.3">
                  <p:embed/>
                </p:oleObj>
              </mc:Choice>
              <mc:Fallback>
                <p:oleObj name="公式" r:id="rId5" imgW="25781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6711" y="3243622"/>
                        <a:ext cx="46405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6533942"/>
              </p:ext>
            </p:extLst>
          </p:nvPr>
        </p:nvGraphicFramePr>
        <p:xfrm>
          <a:off x="699514" y="1946200"/>
          <a:ext cx="50520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17" name="公式" r:id="rId7" imgW="2806700" imgH="393700" progId="Equation.3">
                  <p:embed/>
                </p:oleObj>
              </mc:Choice>
              <mc:Fallback>
                <p:oleObj name="公式" r:id="rId7" imgW="28067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14" y="1946200"/>
                        <a:ext cx="50520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432953"/>
              </p:ext>
            </p:extLst>
          </p:nvPr>
        </p:nvGraphicFramePr>
        <p:xfrm>
          <a:off x="699514" y="2632213"/>
          <a:ext cx="54635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718" name="公式" r:id="rId9" imgW="3035300" imgH="393700" progId="Equation.3">
                  <p:embed/>
                </p:oleObj>
              </mc:Choice>
              <mc:Fallback>
                <p:oleObj name="公式" r:id="rId9" imgW="30353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9514" y="2632213"/>
                        <a:ext cx="54635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42825" y="3968912"/>
            <a:ext cx="2887650" cy="2242334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9351" y="3948246"/>
            <a:ext cx="2887650" cy="2232000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25305" y="3948246"/>
            <a:ext cx="2887650" cy="226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378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Linearity of Laplace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9.5 Laplace </a:t>
            </a:r>
            <a:r>
              <a:rPr lang="en-US" altLang="zh-CN" dirty="0" smtClean="0"/>
              <a:t>Transform 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56175942"/>
              </p:ext>
            </p:extLst>
          </p:nvPr>
        </p:nvGraphicFramePr>
        <p:xfrm>
          <a:off x="638354" y="1595887"/>
          <a:ext cx="31546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06" name="公式" r:id="rId3" imgW="1752600" imgH="304800" progId="Equation.3">
                  <p:embed/>
                </p:oleObj>
              </mc:Choice>
              <mc:Fallback>
                <p:oleObj name="公式" r:id="rId3" imgW="17526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54" y="1595887"/>
                        <a:ext cx="315468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916149"/>
              </p:ext>
            </p:extLst>
          </p:nvPr>
        </p:nvGraphicFramePr>
        <p:xfrm>
          <a:off x="638353" y="2285454"/>
          <a:ext cx="3267562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07" name="公式" r:id="rId5" imgW="1815312" imgH="304668" progId="Equation.3">
                  <p:embed/>
                </p:oleObj>
              </mc:Choice>
              <mc:Fallback>
                <p:oleObj name="公式" r:id="rId5" imgW="1815312" imgH="30466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53" y="2285454"/>
                        <a:ext cx="3267562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99510548"/>
              </p:ext>
            </p:extLst>
          </p:nvPr>
        </p:nvGraphicFramePr>
        <p:xfrm>
          <a:off x="638353" y="2935206"/>
          <a:ext cx="379412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08" name="公式" r:id="rId7" imgW="2108160" imgH="304560" progId="Equation.3">
                  <p:embed/>
                </p:oleObj>
              </mc:Choice>
              <mc:Fallback>
                <p:oleObj name="公式" r:id="rId7" imgW="2108160" imgH="3045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38353" y="2935206"/>
                        <a:ext cx="3794125" cy="5476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3217710"/>
              </p:ext>
            </p:extLst>
          </p:nvPr>
        </p:nvGraphicFramePr>
        <p:xfrm>
          <a:off x="4410075" y="3073400"/>
          <a:ext cx="2332038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09" name="公式" r:id="rId9" imgW="1295280" imgH="215640" progId="Equation.3">
                  <p:embed/>
                </p:oleObj>
              </mc:Choice>
              <mc:Fallback>
                <p:oleObj name="公式" r:id="rId9" imgW="1295280" imgH="21564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4410075" y="3073400"/>
                        <a:ext cx="2332038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9192150"/>
              </p:ext>
            </p:extLst>
          </p:nvPr>
        </p:nvGraphicFramePr>
        <p:xfrm>
          <a:off x="4443413" y="3509963"/>
          <a:ext cx="4365625" cy="387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2810" name="公式" r:id="rId11" imgW="2425680" imgH="215640" progId="Equation.3">
                  <p:embed/>
                </p:oleObj>
              </mc:Choice>
              <mc:Fallback>
                <p:oleObj name="公式" r:id="rId11" imgW="2425680" imgH="215640" progId="Equation.3">
                  <p:embed/>
                  <p:pic>
                    <p:nvPicPr>
                      <p:cNvPr id="12" name="对象 11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4443413" y="3509963"/>
                        <a:ext cx="4365625" cy="387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乘号 13"/>
          <p:cNvSpPr/>
          <p:nvPr/>
        </p:nvSpPr>
        <p:spPr>
          <a:xfrm>
            <a:off x="4881052" y="3074171"/>
            <a:ext cx="1837426" cy="353683"/>
          </a:xfrm>
          <a:prstGeom prst="mathMultiply">
            <a:avLst/>
          </a:prstGeom>
          <a:solidFill>
            <a:srgbClr val="FF0000">
              <a:alpha val="5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文本框 14"/>
          <p:cNvSpPr txBox="1"/>
          <p:nvPr/>
        </p:nvSpPr>
        <p:spPr>
          <a:xfrm>
            <a:off x="974784" y="4367013"/>
            <a:ext cx="7177178" cy="1015663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</a:t>
            </a:r>
          </a:p>
          <a:p>
            <a:pPr marL="457200" indent="-457200">
              <a:buAutoNum type="arabicParenR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If the intersection of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is empty, no Laplace transform</a:t>
            </a:r>
          </a:p>
          <a:p>
            <a:pPr marL="457200" indent="-457200">
              <a:buAutoNum type="arabicParenR"/>
            </a:pP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)=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0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), and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=-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, then ROC becomes the entire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-plane</a:t>
            </a:r>
          </a:p>
        </p:txBody>
      </p:sp>
    </p:spTree>
    <p:extLst>
      <p:ext uri="{BB962C8B-B14F-4D97-AF65-F5344CB8AC3E}">
        <p14:creationId xmlns:p14="http://schemas.microsoft.com/office/powerpoint/2010/main" val="39273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dirty="0" smtClean="0"/>
              <a:t>ROC Extension by </a:t>
            </a:r>
            <a:r>
              <a:rPr lang="en-US" sz="3600" b="1" dirty="0" smtClean="0">
                <a:solidFill>
                  <a:srgbClr val="C00000"/>
                </a:solidFill>
              </a:rPr>
              <a:t>Pole-Zero Cancellation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2525321"/>
              </p:ext>
            </p:extLst>
          </p:nvPr>
        </p:nvGraphicFramePr>
        <p:xfrm>
          <a:off x="633610" y="1334915"/>
          <a:ext cx="28346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4" name="公式" r:id="rId3" imgW="1574800" imgH="393700" progId="Equation.3">
                  <p:embed/>
                </p:oleObj>
              </mc:Choice>
              <mc:Fallback>
                <p:oleObj name="公式" r:id="rId3" imgW="15748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3610" y="1334915"/>
                        <a:ext cx="28346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44529305"/>
              </p:ext>
            </p:extLst>
          </p:nvPr>
        </p:nvGraphicFramePr>
        <p:xfrm>
          <a:off x="628650" y="2001623"/>
          <a:ext cx="53492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5" name="公式" r:id="rId5" imgW="2971800" imgH="419100" progId="Equation.3">
                  <p:embed/>
                </p:oleObj>
              </mc:Choice>
              <mc:Fallback>
                <p:oleObj name="公式" r:id="rId5" imgW="29718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2001623"/>
                        <a:ext cx="53492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0253889"/>
              </p:ext>
            </p:extLst>
          </p:nvPr>
        </p:nvGraphicFramePr>
        <p:xfrm>
          <a:off x="635120" y="2772189"/>
          <a:ext cx="45720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636" name="公式" r:id="rId7" imgW="2540000" imgH="393700" progId="Equation.3">
                  <p:embed/>
                </p:oleObj>
              </mc:Choice>
              <mc:Fallback>
                <p:oleObj name="公式" r:id="rId7" imgW="25400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5120" y="2772189"/>
                        <a:ext cx="45720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80912" y="3480849"/>
            <a:ext cx="2887650" cy="2242334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2467" y="3480849"/>
            <a:ext cx="2887650" cy="2242334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29357" y="3480849"/>
            <a:ext cx="2887650" cy="2242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0207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Time Shifting of Laplace Transform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678633"/>
              </p:ext>
            </p:extLst>
          </p:nvPr>
        </p:nvGraphicFramePr>
        <p:xfrm>
          <a:off x="1078991" y="1874520"/>
          <a:ext cx="32461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59" name="公式" r:id="rId3" imgW="1803400" imgH="304800" progId="Equation.3">
                  <p:embed/>
                </p:oleObj>
              </mc:Choice>
              <mc:Fallback>
                <p:oleObj name="公式" r:id="rId3" imgW="18034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991" y="1874520"/>
                        <a:ext cx="324612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718296"/>
              </p:ext>
            </p:extLst>
          </p:nvPr>
        </p:nvGraphicFramePr>
        <p:xfrm>
          <a:off x="1078990" y="2803045"/>
          <a:ext cx="436626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60" name="公式" r:id="rId5" imgW="2425700" imgH="317500" progId="Equation.3">
                  <p:embed/>
                </p:oleObj>
              </mc:Choice>
              <mc:Fallback>
                <p:oleObj name="公式" r:id="rId5" imgW="2425700" imgH="3175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78990" y="2803045"/>
                        <a:ext cx="4366260" cy="5715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441128" y="3918957"/>
            <a:ext cx="5956368" cy="83099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 Laplace transform exists does not necessarily mean that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bounded</a:t>
            </a:r>
          </a:p>
        </p:txBody>
      </p:sp>
    </p:spTree>
    <p:extLst>
      <p:ext uri="{BB962C8B-B14F-4D97-AF65-F5344CB8AC3E}">
        <p14:creationId xmlns:p14="http://schemas.microsoft.com/office/powerpoint/2010/main" val="423811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Time Scaling of Laplace 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636" y="3257885"/>
            <a:ext cx="7886700" cy="2903411"/>
          </a:xfrm>
        </p:spPr>
        <p:txBody>
          <a:bodyPr/>
          <a:lstStyle/>
          <a:p>
            <a:r>
              <a:rPr lang="en-US" dirty="0" smtClean="0"/>
              <a:t> Compression in the time domain </a:t>
            </a:r>
            <a:r>
              <a:rPr lang="en-US" dirty="0" smtClean="0">
                <a:sym typeface="Wingdings" panose="05000000000000000000" pitchFamily="2" charset="2"/>
              </a:rPr>
              <a:t> Expansion in the </a:t>
            </a:r>
            <a:r>
              <a:rPr lang="en-US" i="1" dirty="0" smtClean="0">
                <a:sym typeface="Wingdings" panose="05000000000000000000" pitchFamily="2" charset="2"/>
              </a:rPr>
              <a:t>s</a:t>
            </a:r>
            <a:r>
              <a:rPr lang="en-US" dirty="0" smtClean="0">
                <a:sym typeface="Wingdings" panose="05000000000000000000" pitchFamily="2" charset="2"/>
              </a:rPr>
              <a:t>-domain</a:t>
            </a: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Time reversal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4762033"/>
              </p:ext>
            </p:extLst>
          </p:nvPr>
        </p:nvGraphicFramePr>
        <p:xfrm>
          <a:off x="749807" y="1435608"/>
          <a:ext cx="32461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7" name="公式" r:id="rId3" imgW="1803400" imgH="304800" progId="Equation.3">
                  <p:embed/>
                </p:oleObj>
              </mc:Choice>
              <mc:Fallback>
                <p:oleObj name="公式" r:id="rId3" imgW="1803400" imgH="3048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07" y="1435608"/>
                        <a:ext cx="324612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7924303"/>
              </p:ext>
            </p:extLst>
          </p:nvPr>
        </p:nvGraphicFramePr>
        <p:xfrm>
          <a:off x="749807" y="2262730"/>
          <a:ext cx="448056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8" name="公式" r:id="rId5" imgW="2489200" imgH="444500" progId="Equation.3">
                  <p:embed/>
                </p:oleObj>
              </mc:Choice>
              <mc:Fallback>
                <p:oleObj name="公式" r:id="rId5" imgW="2489200" imgH="444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807" y="2262730"/>
                        <a:ext cx="4480560" cy="8001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5479016" y="2354387"/>
            <a:ext cx="2686576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Is Eq. (9.90) correct? </a:t>
            </a:r>
          </a:p>
        </p:txBody>
      </p:sp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35023862"/>
              </p:ext>
            </p:extLst>
          </p:nvPr>
        </p:nvGraphicFramePr>
        <p:xfrm>
          <a:off x="2196275" y="4709590"/>
          <a:ext cx="4068792" cy="548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5669" name="公式" r:id="rId7" imgW="2260440" imgH="304560" progId="Equation.3">
                  <p:embed/>
                </p:oleObj>
              </mc:Choice>
              <mc:Fallback>
                <p:oleObj name="公式" r:id="rId7" imgW="2260440" imgH="30456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6275" y="4709590"/>
                        <a:ext cx="4068792" cy="54820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321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1" dirty="0" smtClean="0"/>
              <a:t>s</a:t>
            </a:r>
            <a:r>
              <a:rPr lang="en-US" dirty="0" smtClean="0"/>
              <a:t>-Domain Shifting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2752344"/>
            <a:ext cx="7886700" cy="3424619"/>
          </a:xfrm>
        </p:spPr>
        <p:txBody>
          <a:bodyPr/>
          <a:lstStyle/>
          <a:p>
            <a:r>
              <a:rPr lang="en-US" dirty="0" smtClean="0"/>
              <a:t> zero </a:t>
            </a:r>
            <a:r>
              <a:rPr lang="en-US" i="1" dirty="0" smtClean="0"/>
              <a:t>z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>
                <a:sym typeface="Wingdings" panose="05000000000000000000" pitchFamily="2" charset="2"/>
              </a:rPr>
              <a:t>z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s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  <a:r>
              <a:rPr lang="en-US" dirty="0" smtClean="0">
                <a:sym typeface="Wingdings" panose="05000000000000000000" pitchFamily="2" charset="2"/>
              </a:rPr>
              <a:t>, pole </a:t>
            </a:r>
            <a:r>
              <a:rPr lang="en-US" i="1" dirty="0" smtClean="0">
                <a:sym typeface="Wingdings" panose="05000000000000000000" pitchFamily="2" charset="2"/>
              </a:rPr>
              <a:t>p</a:t>
            </a: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i="1" dirty="0" smtClean="0">
                <a:sym typeface="Wingdings" panose="05000000000000000000" pitchFamily="2" charset="2"/>
              </a:rPr>
              <a:t>p</a:t>
            </a:r>
            <a:r>
              <a:rPr lang="en-US" dirty="0" smtClean="0">
                <a:sym typeface="Wingdings" panose="05000000000000000000" pitchFamily="2" charset="2"/>
              </a:rPr>
              <a:t>+</a:t>
            </a:r>
            <a:r>
              <a:rPr lang="en-US" i="1" dirty="0" smtClean="0">
                <a:sym typeface="Wingdings" panose="05000000000000000000" pitchFamily="2" charset="2"/>
              </a:rPr>
              <a:t>s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</a:p>
          <a:p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smtClean="0">
                <a:sym typeface="Wingdings" panose="05000000000000000000" pitchFamily="2" charset="2"/>
              </a:rPr>
              <a:t>A special case: </a:t>
            </a:r>
            <a:r>
              <a:rPr lang="en-US" i="1" dirty="0" smtClean="0">
                <a:sym typeface="Wingdings" panose="05000000000000000000" pitchFamily="2" charset="2"/>
              </a:rPr>
              <a:t>s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  <a:r>
              <a:rPr lang="en-US" dirty="0" smtClean="0">
                <a:sym typeface="Wingdings" panose="05000000000000000000" pitchFamily="2" charset="2"/>
              </a:rPr>
              <a:t>=</a:t>
            </a:r>
            <a:r>
              <a:rPr lang="en-US" i="1" dirty="0" smtClean="0">
                <a:sym typeface="Wingdings" panose="05000000000000000000" pitchFamily="2" charset="2"/>
              </a:rPr>
              <a:t>j</a:t>
            </a:r>
            <a:r>
              <a:rPr lang="el-GR" i="1" dirty="0" smtClean="0">
                <a:sym typeface="Wingdings" panose="05000000000000000000" pitchFamily="2" charset="2"/>
              </a:rPr>
              <a:t>ω</a:t>
            </a:r>
            <a:r>
              <a:rPr lang="en-US" baseline="-25000" dirty="0" smtClean="0">
                <a:sym typeface="Wingdings" panose="05000000000000000000" pitchFamily="2" charset="2"/>
              </a:rPr>
              <a:t>0</a:t>
            </a:r>
          </a:p>
          <a:p>
            <a:pPr marL="0" indent="0">
              <a:buNone/>
            </a:pPr>
            <a:endParaRPr lang="en-US" dirty="0" smtClean="0"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     </a:t>
            </a:r>
            <a:r>
              <a:rPr lang="en-US" b="1" dirty="0" smtClean="0">
                <a:solidFill>
                  <a:srgbClr val="C00000"/>
                </a:solidFill>
                <a:sym typeface="Wingdings" panose="05000000000000000000" pitchFamily="2" charset="2"/>
              </a:rPr>
              <a:t>frequency modulation </a:t>
            </a:r>
            <a:r>
              <a:rPr lang="en-US" dirty="0" smtClean="0">
                <a:sym typeface="Wingdings" panose="05000000000000000000" pitchFamily="2" charset="2"/>
              </a:rPr>
              <a:t> shift in the </a:t>
            </a:r>
            <a:r>
              <a:rPr lang="en-US" i="1" dirty="0" smtClean="0">
                <a:sym typeface="Wingdings" panose="05000000000000000000" pitchFamily="2" charset="2"/>
              </a:rPr>
              <a:t>s</a:t>
            </a:r>
            <a:r>
              <a:rPr lang="en-US" dirty="0" smtClean="0">
                <a:sym typeface="Wingdings" panose="05000000000000000000" pitchFamily="2" charset="2"/>
              </a:rPr>
              <a:t>-plane along the </a:t>
            </a:r>
            <a:r>
              <a:rPr lang="en-US" i="1" dirty="0" smtClean="0">
                <a:sym typeface="Wingdings" panose="05000000000000000000" pitchFamily="2" charset="2"/>
              </a:rPr>
              <a:t>j</a:t>
            </a:r>
            <a:r>
              <a:rPr lang="el-GR" i="1" dirty="0" smtClean="0">
                <a:sym typeface="Wingdings" panose="05000000000000000000" pitchFamily="2" charset="2"/>
              </a:rPr>
              <a:t>ω</a:t>
            </a:r>
            <a:r>
              <a:rPr lang="en-US" dirty="0" smtClean="0">
                <a:sym typeface="Wingdings" panose="05000000000000000000" pitchFamily="2" charset="2"/>
              </a:rPr>
              <a:t> axis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5065021"/>
              </p:ext>
            </p:extLst>
          </p:nvPr>
        </p:nvGraphicFramePr>
        <p:xfrm>
          <a:off x="774954" y="1984150"/>
          <a:ext cx="564642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53" name="公式" r:id="rId3" imgW="3136900" imgH="317500" progId="Equation.3">
                  <p:embed/>
                </p:oleObj>
              </mc:Choice>
              <mc:Fallback>
                <p:oleObj name="公式" r:id="rId3" imgW="3136900" imgH="3175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4954" y="1984150"/>
                        <a:ext cx="5646420" cy="57150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5936543"/>
              </p:ext>
            </p:extLst>
          </p:nvPr>
        </p:nvGraphicFramePr>
        <p:xfrm>
          <a:off x="740663" y="1336514"/>
          <a:ext cx="32461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6654" name="公式" r:id="rId5" imgW="1803400" imgH="304800" progId="Equation.3">
                  <p:embed/>
                </p:oleObj>
              </mc:Choice>
              <mc:Fallback>
                <p:oleObj name="公式" r:id="rId5" imgW="1803400" imgH="3048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63" y="1336514"/>
                        <a:ext cx="324612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1485086" y="3769744"/>
                <a:ext cx="4354997" cy="47141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groupChr>
                      <m:groupChrPr>
                        <m:chr m:val="↔"/>
                        <m:vertJc m:val="bot"/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e>
                    </m:groupCh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with ROC 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r>
                  <a:rPr lang="en-US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:r>
                  <a:rPr lang="en-US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</a:t>
                </a:r>
                <a:endParaRPr lang="en-US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5086" y="3769744"/>
                <a:ext cx="4354997" cy="471411"/>
              </a:xfrm>
              <a:prstGeom prst="rect">
                <a:avLst/>
              </a:prstGeom>
              <a:blipFill>
                <a:blip r:embed="rId7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338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Conjugation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154681"/>
            <a:ext cx="7886700" cy="1124711"/>
          </a:xfrm>
          <a:ln>
            <a:solidFill>
              <a:srgbClr val="0000FF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A useful observation: if </a:t>
            </a:r>
            <a:r>
              <a:rPr lang="en-US" b="1" i="1" u="sng" dirty="0" smtClean="0"/>
              <a:t>x</a:t>
            </a:r>
            <a:r>
              <a:rPr lang="en-US" b="1" u="sng" dirty="0" smtClean="0"/>
              <a:t>(</a:t>
            </a:r>
            <a:r>
              <a:rPr lang="en-US" b="1" i="1" u="sng" dirty="0" smtClean="0"/>
              <a:t>t</a:t>
            </a:r>
            <a:r>
              <a:rPr lang="en-US" b="1" u="sng" dirty="0" smtClean="0"/>
              <a:t>) is real</a:t>
            </a:r>
            <a:r>
              <a:rPr lang="en-US" dirty="0" smtClean="0"/>
              <a:t>, then any complex pole/zero must exist as a conjugate pair, i.e., if </a:t>
            </a:r>
            <a:r>
              <a:rPr lang="en-US" i="1" dirty="0" smtClean="0"/>
              <a:t>s</a:t>
            </a:r>
            <a:r>
              <a:rPr lang="en-US" baseline="-25000" dirty="0" smtClean="0"/>
              <a:t>0</a:t>
            </a:r>
            <a:r>
              <a:rPr lang="en-US" dirty="0" smtClean="0"/>
              <a:t> is complex and a pole/zero, then </a:t>
            </a:r>
            <a:r>
              <a:rPr lang="en-US" i="1" dirty="0" smtClean="0"/>
              <a:t>s</a:t>
            </a:r>
            <a:r>
              <a:rPr lang="en-US" baseline="-25000" dirty="0" smtClean="0"/>
              <a:t>0</a:t>
            </a:r>
            <a:r>
              <a:rPr lang="en-US" baseline="30000" dirty="0" smtClean="0"/>
              <a:t>*</a:t>
            </a:r>
            <a:r>
              <a:rPr lang="en-US" dirty="0" smtClean="0"/>
              <a:t> is also a pole/zero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7548652"/>
              </p:ext>
            </p:extLst>
          </p:nvPr>
        </p:nvGraphicFramePr>
        <p:xfrm>
          <a:off x="740663" y="1336514"/>
          <a:ext cx="324612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25" name="公式" r:id="rId3" imgW="1803400" imgH="304800" progId="Equation.3">
                  <p:embed/>
                </p:oleObj>
              </mc:Choice>
              <mc:Fallback>
                <p:oleObj name="公式" r:id="rId3" imgW="1803400" imgH="304800" progId="Equation.3">
                  <p:embed/>
                  <p:pic>
                    <p:nvPicPr>
                      <p:cNvPr id="9" name="对象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63" y="1336514"/>
                        <a:ext cx="324612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1840407"/>
              </p:ext>
            </p:extLst>
          </p:nvPr>
        </p:nvGraphicFramePr>
        <p:xfrm>
          <a:off x="740663" y="2014171"/>
          <a:ext cx="38404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7626" name="公式" r:id="rId5" imgW="2133600" imgH="304800" progId="Equation.3">
                  <p:embed/>
                </p:oleObj>
              </mc:Choice>
              <mc:Fallback>
                <p:oleObj name="公式" r:id="rId5" imgW="21336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0663" y="2014171"/>
                        <a:ext cx="3840480" cy="54864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8532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8277606" cy="792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Convolution Property of Laplace Transform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75106279"/>
              </p:ext>
            </p:extLst>
          </p:nvPr>
        </p:nvGraphicFramePr>
        <p:xfrm>
          <a:off x="638354" y="1467871"/>
          <a:ext cx="3154680" cy="5486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1" name="公式" r:id="rId3" imgW="1752600" imgH="304800" progId="Equation.3">
                  <p:embed/>
                </p:oleObj>
              </mc:Choice>
              <mc:Fallback>
                <p:oleObj name="公式" r:id="rId3" imgW="1752600" imgH="3048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54" y="1467871"/>
                        <a:ext cx="3154680" cy="5486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3964191"/>
              </p:ext>
            </p:extLst>
          </p:nvPr>
        </p:nvGraphicFramePr>
        <p:xfrm>
          <a:off x="638353" y="2044802"/>
          <a:ext cx="3267562" cy="548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2" name="公式" r:id="rId5" imgW="1815312" imgH="304668" progId="Equation.3">
                  <p:embed/>
                </p:oleObj>
              </mc:Choice>
              <mc:Fallback>
                <p:oleObj name="公式" r:id="rId5" imgW="1815312" imgH="304668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53" y="2044802"/>
                        <a:ext cx="3267562" cy="5484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72250" y="3601922"/>
            <a:ext cx="8043100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Discussion: the ROC of convolution might be larger than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∩</a:t>
            </a:r>
            <a:r>
              <a:rPr lang="en-US" altLang="zh-CN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altLang="zh-CN" sz="2400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US" sz="2400" baseline="-25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25489"/>
              </p:ext>
            </p:extLst>
          </p:nvPr>
        </p:nvGraphicFramePr>
        <p:xfrm>
          <a:off x="640639" y="2753773"/>
          <a:ext cx="72009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3" name="公式" r:id="rId7" imgW="4000320" imgH="304560" progId="Equation.3">
                  <p:embed/>
                </p:oleObj>
              </mc:Choice>
              <mc:Fallback>
                <p:oleObj name="公式" r:id="rId7" imgW="4000320" imgH="30456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639" y="2753773"/>
                        <a:ext cx="7200900" cy="549275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2414257"/>
              </p:ext>
            </p:extLst>
          </p:nvPr>
        </p:nvGraphicFramePr>
        <p:xfrm>
          <a:off x="4533363" y="4500975"/>
          <a:ext cx="294766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4" name="公式" r:id="rId9" imgW="1637589" imgH="393529" progId="Equation.3">
                  <p:embed/>
                </p:oleObj>
              </mc:Choice>
              <mc:Fallback>
                <p:oleObj name="公式" r:id="rId9" imgW="1637589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3363" y="4500975"/>
                        <a:ext cx="294766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11432202"/>
              </p:ext>
            </p:extLst>
          </p:nvPr>
        </p:nvGraphicFramePr>
        <p:xfrm>
          <a:off x="1205865" y="4527238"/>
          <a:ext cx="28803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5" name="公式" r:id="rId11" imgW="1600200" imgH="393700" progId="Equation.3">
                  <p:embed/>
                </p:oleObj>
              </mc:Choice>
              <mc:Fallback>
                <p:oleObj name="公式" r:id="rId11" imgW="16002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865" y="4527238"/>
                        <a:ext cx="28803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矩形 18"/>
          <p:cNvSpPr/>
          <p:nvPr/>
        </p:nvSpPr>
        <p:spPr>
          <a:xfrm>
            <a:off x="5907024" y="5283916"/>
            <a:ext cx="24567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Pole-Zero Cancellation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" name="对象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5318136"/>
              </p:ext>
            </p:extLst>
          </p:nvPr>
        </p:nvGraphicFramePr>
        <p:xfrm>
          <a:off x="1205865" y="5274272"/>
          <a:ext cx="4549140" cy="388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8986" name="公式" r:id="rId13" imgW="2527300" imgH="215900" progId="Equation.3">
                  <p:embed/>
                </p:oleObj>
              </mc:Choice>
              <mc:Fallback>
                <p:oleObj name="公式" r:id="rId13" imgW="2527300" imgH="2159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5865" y="5274272"/>
                        <a:ext cx="4549140" cy="38862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472250" y="3979170"/>
            <a:ext cx="2300859" cy="40011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example?</a:t>
            </a:r>
          </a:p>
        </p:txBody>
      </p:sp>
    </p:spTree>
    <p:extLst>
      <p:ext uri="{BB962C8B-B14F-4D97-AF65-F5344CB8AC3E}">
        <p14:creationId xmlns:p14="http://schemas.microsoft.com/office/powerpoint/2010/main" val="2511820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9" grpId="0"/>
      <p:bldP spid="22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Differentiation in Time Domain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Recall: Inverse Laplace transform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Differentiate both sides w.r.t </a:t>
            </a:r>
            <a:r>
              <a:rPr lang="en-US" i="1" dirty="0" smtClean="0"/>
              <a:t>t</a:t>
            </a:r>
          </a:p>
          <a:p>
            <a:endParaRPr lang="en-US" i="1" dirty="0"/>
          </a:p>
          <a:p>
            <a:endParaRPr lang="en-US" i="1" dirty="0" smtClean="0"/>
          </a:p>
          <a:p>
            <a:endParaRPr lang="en-US" i="1" dirty="0"/>
          </a:p>
          <a:p>
            <a:r>
              <a:rPr lang="en-US" dirty="0" smtClean="0"/>
              <a:t> If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 has a first-order pole at </a:t>
            </a:r>
            <a:r>
              <a:rPr lang="en-US" i="1" dirty="0" smtClean="0"/>
              <a:t>s</a:t>
            </a:r>
            <a:r>
              <a:rPr lang="en-US" dirty="0" smtClean="0"/>
              <a:t>=0, then ROC of </a:t>
            </a:r>
            <a:r>
              <a:rPr lang="en-US" i="1" dirty="0" err="1" smtClean="0"/>
              <a:t>sX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 may be larger than ROC of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     </a:t>
            </a:r>
            <a:r>
              <a:rPr lang="en-US" sz="2400" i="1" dirty="0" smtClean="0"/>
              <a:t>Example: x(t)=u(t), X(s)=1/s, ROC=right half plane</a:t>
            </a:r>
          </a:p>
          <a:p>
            <a:endParaRPr lang="en-US" i="1" dirty="0"/>
          </a:p>
          <a:p>
            <a:pPr marL="0" indent="0">
              <a:buNone/>
            </a:pPr>
            <a:endParaRPr lang="en-US" i="1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29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4647066"/>
              </p:ext>
            </p:extLst>
          </p:nvPr>
        </p:nvGraphicFramePr>
        <p:xfrm>
          <a:off x="2104601" y="1714048"/>
          <a:ext cx="281178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51" name="公式" r:id="rId3" imgW="1562100" imgH="419100" progId="Equation.3">
                  <p:embed/>
                </p:oleObj>
              </mc:Choice>
              <mc:Fallback>
                <p:oleObj name="公式" r:id="rId3" imgW="1562100" imgH="419100" progId="Equation.3">
                  <p:embed/>
                  <p:pic>
                    <p:nvPicPr>
                      <p:cNvPr id="7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601" y="1714048"/>
                        <a:ext cx="2811780" cy="75438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55630365"/>
              </p:ext>
            </p:extLst>
          </p:nvPr>
        </p:nvGraphicFramePr>
        <p:xfrm>
          <a:off x="2104601" y="2772920"/>
          <a:ext cx="30861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52" name="公式" r:id="rId5" imgW="1714500" imgH="419100" progId="Equation.3">
                  <p:embed/>
                </p:oleObj>
              </mc:Choice>
              <mc:Fallback>
                <p:oleObj name="公式" r:id="rId5" imgW="17145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4601" y="2772920"/>
                        <a:ext cx="30861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9516109"/>
              </p:ext>
            </p:extLst>
          </p:nvPr>
        </p:nvGraphicFramePr>
        <p:xfrm>
          <a:off x="1494239" y="3527300"/>
          <a:ext cx="48006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9753" name="公式" r:id="rId7" imgW="2667000" imgH="393700" progId="Equation.3">
                  <p:embed/>
                </p:oleObj>
              </mc:Choice>
              <mc:Fallback>
                <p:oleObj name="公式" r:id="rId7" imgW="26670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4239" y="3527300"/>
                        <a:ext cx="4800600" cy="7086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9150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Differentiation in </a:t>
            </a:r>
            <a:r>
              <a:rPr lang="en-US" i="1" dirty="0" smtClean="0"/>
              <a:t>s</a:t>
            </a:r>
            <a:r>
              <a:rPr lang="en-US" dirty="0" smtClean="0"/>
              <a:t>-Domain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98448"/>
            <a:ext cx="7886700" cy="4878515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altLang="zh-CN" dirty="0" smtClean="0"/>
              <a:t>Recall Laplace transform</a:t>
            </a:r>
          </a:p>
          <a:p>
            <a:r>
              <a:rPr lang="en-US" dirty="0"/>
              <a:t> Differentiate both sides w.r.t </a:t>
            </a:r>
            <a:r>
              <a:rPr lang="en-US" i="1" dirty="0" smtClean="0"/>
              <a:t>s</a:t>
            </a:r>
          </a:p>
          <a:p>
            <a:endParaRPr lang="en-US" i="1" dirty="0"/>
          </a:p>
          <a:p>
            <a:endParaRPr lang="en-US" i="1" dirty="0"/>
          </a:p>
          <a:p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3743963"/>
              </p:ext>
            </p:extLst>
          </p:nvPr>
        </p:nvGraphicFramePr>
        <p:xfrm>
          <a:off x="4864608" y="1224741"/>
          <a:ext cx="226314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6" name="公式" r:id="rId3" imgW="1257300" imgH="330200" progId="Equation.3">
                  <p:embed/>
                </p:oleObj>
              </mc:Choice>
              <mc:Fallback>
                <p:oleObj name="公式" r:id="rId3" imgW="1257300" imgH="33020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64608" y="1224741"/>
                        <a:ext cx="2263140" cy="594360"/>
                      </a:xfrm>
                      <a:prstGeom prst="rect">
                        <a:avLst/>
                      </a:prstGeom>
                      <a:noFill/>
                      <a:ln w="22225"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0883045"/>
              </p:ext>
            </p:extLst>
          </p:nvPr>
        </p:nvGraphicFramePr>
        <p:xfrm>
          <a:off x="932913" y="2351892"/>
          <a:ext cx="2696310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7" name="公式" r:id="rId5" imgW="1497950" imgH="393529" progId="Equation.3">
                  <p:embed/>
                </p:oleObj>
              </mc:Choice>
              <mc:Fallback>
                <p:oleObj name="公式" r:id="rId5" imgW="1497950" imgH="393529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913" y="2351892"/>
                        <a:ext cx="2696310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5961778"/>
              </p:ext>
            </p:extLst>
          </p:nvPr>
        </p:nvGraphicFramePr>
        <p:xfrm>
          <a:off x="932913" y="3060244"/>
          <a:ext cx="72009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0778" name="公式" r:id="rId7" imgW="4000500" imgH="393700" progId="Equation.3">
                  <p:embed/>
                </p:oleObj>
              </mc:Choice>
              <mc:Fallback>
                <p:oleObj name="公式" r:id="rId7" imgW="40005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2913" y="3060244"/>
                        <a:ext cx="7200900" cy="70866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882314" y="4246423"/>
            <a:ext cx="5956368" cy="461665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Any problem with the new ROC?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932913" y="4781795"/>
            <a:ext cx="7200900" cy="830997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 new ROC is correct if 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is rational. We can expand X(s) as the combination of first-order fractions.</a:t>
            </a:r>
          </a:p>
        </p:txBody>
      </p:sp>
    </p:spTree>
    <p:extLst>
      <p:ext uri="{BB962C8B-B14F-4D97-AF65-F5344CB8AC3E}">
        <p14:creationId xmlns:p14="http://schemas.microsoft.com/office/powerpoint/2010/main" val="3470874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Differentiation in </a:t>
            </a:r>
            <a:r>
              <a:rPr lang="en-US" sz="3600" i="1" dirty="0" smtClean="0"/>
              <a:t>s</a:t>
            </a:r>
            <a:r>
              <a:rPr lang="en-US" sz="3600" dirty="0" smtClean="0"/>
              <a:t>-Domain--Examples</a:t>
            </a:r>
            <a:endParaRPr lang="en-US" sz="3600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8582269"/>
              </p:ext>
            </p:extLst>
          </p:nvPr>
        </p:nvGraphicFramePr>
        <p:xfrm>
          <a:off x="859535" y="1280846"/>
          <a:ext cx="31546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26" name="公式" r:id="rId3" imgW="1752600" imgH="393700" progId="Equation.3">
                  <p:embed/>
                </p:oleObj>
              </mc:Choice>
              <mc:Fallback>
                <p:oleObj name="公式" r:id="rId3" imgW="17526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35" y="1280846"/>
                        <a:ext cx="31546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4803058"/>
              </p:ext>
            </p:extLst>
          </p:nvPr>
        </p:nvGraphicFramePr>
        <p:xfrm>
          <a:off x="859535" y="1901592"/>
          <a:ext cx="541782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27" name="公式" r:id="rId5" imgW="3009900" imgH="431800" progId="Equation.3">
                  <p:embed/>
                </p:oleObj>
              </mc:Choice>
              <mc:Fallback>
                <p:oleObj name="公式" r:id="rId5" imgW="3009900" imgH="4318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35" y="1901592"/>
                        <a:ext cx="541782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6469367"/>
              </p:ext>
            </p:extLst>
          </p:nvPr>
        </p:nvGraphicFramePr>
        <p:xfrm>
          <a:off x="859535" y="2548946"/>
          <a:ext cx="372618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28" name="公式" r:id="rId7" imgW="2070100" imgH="444500" progId="Equation.3">
                  <p:embed/>
                </p:oleObj>
              </mc:Choice>
              <mc:Fallback>
                <p:oleObj name="公式" r:id="rId7" imgW="2070100" imgH="444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9535" y="2548946"/>
                        <a:ext cx="372618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92558661"/>
              </p:ext>
            </p:extLst>
          </p:nvPr>
        </p:nvGraphicFramePr>
        <p:xfrm>
          <a:off x="800098" y="3279158"/>
          <a:ext cx="436626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29" name="公式" r:id="rId9" imgW="2425700" imgH="444500" progId="Equation.3">
                  <p:embed/>
                </p:oleObj>
              </mc:Choice>
              <mc:Fallback>
                <p:oleObj name="公式" r:id="rId9" imgW="2425700" imgH="444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098" y="3279158"/>
                        <a:ext cx="436626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122854"/>
              </p:ext>
            </p:extLst>
          </p:nvPr>
        </p:nvGraphicFramePr>
        <p:xfrm>
          <a:off x="3641173" y="4626391"/>
          <a:ext cx="51435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30" name="公式" r:id="rId11" imgW="2857500" imgH="444500" progId="Equation.3">
                  <p:embed/>
                </p:oleObj>
              </mc:Choice>
              <mc:Fallback>
                <p:oleObj name="公式" r:id="rId11" imgW="2857500" imgH="4445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1173" y="4626391"/>
                        <a:ext cx="51435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9851212"/>
              </p:ext>
            </p:extLst>
          </p:nvPr>
        </p:nvGraphicFramePr>
        <p:xfrm>
          <a:off x="763099" y="4079258"/>
          <a:ext cx="3770264" cy="79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31" name="公式" r:id="rId13" imgW="2094591" imgH="444307" progId="Equation.3">
                  <p:embed/>
                </p:oleObj>
              </mc:Choice>
              <mc:Fallback>
                <p:oleObj name="公式" r:id="rId13" imgW="2094591" imgH="444307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099" y="4079258"/>
                        <a:ext cx="3770264" cy="7997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63099" y="4826386"/>
            <a:ext cx="3207258" cy="40011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Partial-fraction expansion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859535" y="4128284"/>
            <a:ext cx="7516369" cy="0"/>
          </a:xfrm>
          <a:prstGeom prst="straightConnector1">
            <a:avLst/>
          </a:prstGeom>
          <a:ln w="41275" cmpd="dbl">
            <a:solidFill>
              <a:srgbClr val="0000FF"/>
            </a:solidFill>
            <a:headEnd type="diamond"/>
            <a:tailEnd type="diamon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对象 2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611895"/>
              </p:ext>
            </p:extLst>
          </p:nvPr>
        </p:nvGraphicFramePr>
        <p:xfrm>
          <a:off x="800098" y="5551901"/>
          <a:ext cx="5074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132" name="公式" r:id="rId15" imgW="2819400" imgH="228600" progId="Equation.3">
                  <p:embed/>
                </p:oleObj>
              </mc:Choice>
              <mc:Fallback>
                <p:oleObj name="公式" r:id="rId15" imgW="2819400" imgH="228600" progId="Equation.3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098" y="5551901"/>
                        <a:ext cx="5074920" cy="4114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51597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Integration in Time Domain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35024"/>
            <a:ext cx="7886700" cy="4841939"/>
          </a:xfrm>
        </p:spPr>
        <p:txBody>
          <a:bodyPr/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FF0000"/>
                </a:solidFill>
              </a:rPr>
              <a:t>Integration </a:t>
            </a:r>
            <a:r>
              <a:rPr lang="en-US" b="1" dirty="0" smtClean="0">
                <a:solidFill>
                  <a:srgbClr val="FF0000"/>
                </a:solidFill>
                <a:sym typeface="Wingdings" panose="05000000000000000000" pitchFamily="2" charset="2"/>
              </a:rPr>
              <a:t></a:t>
            </a:r>
            <a:r>
              <a:rPr lang="en-US" b="1" dirty="0" smtClean="0">
                <a:solidFill>
                  <a:srgbClr val="FF0000"/>
                </a:solidFill>
              </a:rPr>
              <a:t>convolution</a:t>
            </a: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Convolution property  +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8102777"/>
              </p:ext>
            </p:extLst>
          </p:nvPr>
        </p:nvGraphicFramePr>
        <p:xfrm>
          <a:off x="2245561" y="1979207"/>
          <a:ext cx="2514240" cy="5942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14" name="公式" r:id="rId3" imgW="1396800" imgH="330120" progId="Equation.3">
                  <p:embed/>
                </p:oleObj>
              </mc:Choice>
              <mc:Fallback>
                <p:oleObj name="公式" r:id="rId3" imgW="1396800" imgH="33012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5561" y="1979207"/>
                        <a:ext cx="2514240" cy="5942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0325435"/>
              </p:ext>
            </p:extLst>
          </p:nvPr>
        </p:nvGraphicFramePr>
        <p:xfrm>
          <a:off x="4759801" y="2751321"/>
          <a:ext cx="2193608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15" name="公式" r:id="rId5" imgW="1218671" imgH="393529" progId="Equation.3">
                  <p:embed/>
                </p:oleObj>
              </mc:Choice>
              <mc:Fallback>
                <p:oleObj name="公式" r:id="rId5" imgW="1218671" imgH="39352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59801" y="2751321"/>
                        <a:ext cx="2193608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0645251"/>
              </p:ext>
            </p:extLst>
          </p:nvPr>
        </p:nvGraphicFramePr>
        <p:xfrm>
          <a:off x="1120140" y="3577738"/>
          <a:ext cx="65379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2816" name="公式" r:id="rId7" imgW="3632200" imgH="393700" progId="Equation.3">
                  <p:embed/>
                </p:oleObj>
              </mc:Choice>
              <mc:Fallback>
                <p:oleObj name="公式" r:id="rId7" imgW="36322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0140" y="3577738"/>
                        <a:ext cx="65379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64186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Initial-Value and Final-Value Theorems</a:t>
            </a:r>
            <a:endParaRPr 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Assumption: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)=0 for </a:t>
            </a:r>
            <a:r>
              <a:rPr lang="en-US" i="1" dirty="0" smtClean="0"/>
              <a:t>t</a:t>
            </a:r>
            <a:r>
              <a:rPr lang="en-US" dirty="0" smtClean="0"/>
              <a:t>&lt;0, and </a:t>
            </a:r>
            <a:r>
              <a:rPr lang="en-US" i="1" dirty="0" smtClean="0"/>
              <a:t>x</a:t>
            </a:r>
            <a:r>
              <a:rPr lang="en-US" dirty="0" smtClean="0"/>
              <a:t>(</a:t>
            </a:r>
            <a:r>
              <a:rPr lang="en-US" i="1" dirty="0" smtClean="0"/>
              <a:t>t</a:t>
            </a:r>
            <a:r>
              <a:rPr lang="en-US" dirty="0" smtClean="0"/>
              <a:t>) contains no impulses or higher order singularities</a:t>
            </a:r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Initial-value theorem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Final-value theorem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Check Example 9.3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§9.5 Laplace </a:t>
            </a:r>
            <a:r>
              <a:rPr lang="en-US" altLang="zh-CN" dirty="0"/>
              <a:t>Transform </a:t>
            </a:r>
            <a:r>
              <a:rPr lang="en-US" altLang="zh-CN" dirty="0" smtClean="0"/>
              <a:t>Properties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392533"/>
              </p:ext>
            </p:extLst>
          </p:nvPr>
        </p:nvGraphicFramePr>
        <p:xfrm>
          <a:off x="2267712" y="2688335"/>
          <a:ext cx="1988820" cy="5257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1" name="公式" r:id="rId3" imgW="1104900" imgH="292100" progId="Equation.3">
                  <p:embed/>
                </p:oleObj>
              </mc:Choice>
              <mc:Fallback>
                <p:oleObj name="公式" r:id="rId3" imgW="1104900" imgH="292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12" y="2688335"/>
                        <a:ext cx="1988820" cy="52578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00091"/>
              </p:ext>
            </p:extLst>
          </p:nvPr>
        </p:nvGraphicFramePr>
        <p:xfrm>
          <a:off x="2267712" y="3662686"/>
          <a:ext cx="1920240" cy="5029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2" name="公式" r:id="rId5" imgW="1066800" imgH="279400" progId="Equation.3">
                  <p:embed/>
                </p:oleObj>
              </mc:Choice>
              <mc:Fallback>
                <p:oleObj name="公式" r:id="rId5" imgW="1066800" imgH="2794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7712" y="3662686"/>
                        <a:ext cx="1920240" cy="50292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3859381"/>
              </p:ext>
            </p:extLst>
          </p:nvPr>
        </p:nvGraphicFramePr>
        <p:xfrm>
          <a:off x="1151001" y="4659883"/>
          <a:ext cx="5143500" cy="754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3" name="公式" r:id="rId7" imgW="2857320" imgH="419040" progId="Equation.3">
                  <p:embed/>
                </p:oleObj>
              </mc:Choice>
              <mc:Fallback>
                <p:oleObj name="公式" r:id="rId7" imgW="2857320" imgH="41904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001" y="4659883"/>
                        <a:ext cx="5143500" cy="7540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4090391"/>
              </p:ext>
            </p:extLst>
          </p:nvPr>
        </p:nvGraphicFramePr>
        <p:xfrm>
          <a:off x="4256532" y="4226388"/>
          <a:ext cx="2788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4" name="公式" r:id="rId9" imgW="1549400" imgH="228600" progId="Equation.3">
                  <p:embed/>
                </p:oleObj>
              </mc:Choice>
              <mc:Fallback>
                <p:oleObj name="公式" r:id="rId9" imgW="1549400" imgH="2286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6532" y="4226388"/>
                        <a:ext cx="2788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22231732"/>
              </p:ext>
            </p:extLst>
          </p:nvPr>
        </p:nvGraphicFramePr>
        <p:xfrm>
          <a:off x="1128713" y="5435600"/>
          <a:ext cx="248920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995" name="公式" r:id="rId11" imgW="1384200" imgH="393480" progId="Equation.3">
                  <p:embed/>
                </p:oleObj>
              </mc:Choice>
              <mc:Fallback>
                <p:oleObj name="公式" r:id="rId11" imgW="138420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28713" y="5435600"/>
                        <a:ext cx="2489200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/>
          <p:cNvSpPr txBox="1"/>
          <p:nvPr/>
        </p:nvSpPr>
        <p:spPr>
          <a:xfrm>
            <a:off x="4846320" y="2951225"/>
            <a:ext cx="3392424" cy="461665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Homework: 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Prove them.</a:t>
            </a:r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445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Laplace Transform Pairs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Usually a signal is right-sided, and the corresponding ROC is the right-sided plane. </a:t>
            </a:r>
            <a:endParaRPr lang="en-US" dirty="0"/>
          </a:p>
          <a:p>
            <a:pPr marL="0" indent="0">
              <a:buNone/>
            </a:pPr>
            <a:r>
              <a:rPr lang="en-US" dirty="0" smtClean="0">
                <a:sym typeface="Wingdings" panose="05000000000000000000" pitchFamily="2" charset="2"/>
              </a:rPr>
              <a:t></a:t>
            </a:r>
            <a:r>
              <a:rPr lang="en-US" dirty="0" smtClean="0"/>
              <a:t> Usually we take the right-sided signals </a:t>
            </a:r>
            <a:r>
              <a:rPr lang="en-US" smtClean="0"/>
              <a:t>and right-sided </a:t>
            </a:r>
            <a:r>
              <a:rPr lang="en-US" dirty="0" smtClean="0"/>
              <a:t>plane ROC as the default 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smtClean="0"/>
              <a:t>§9.6 Laplace Transform Pairs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99726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System Function / Transfer Function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Recall convolution integral: LTI system with the impulse </a:t>
            </a:r>
            <a:r>
              <a:rPr lang="en-US" dirty="0"/>
              <a:t>response: </a:t>
            </a:r>
            <a:r>
              <a:rPr lang="en-US" i="1" dirty="0"/>
              <a:t>h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), the time-domain </a:t>
            </a:r>
            <a:r>
              <a:rPr lang="en-US" dirty="0"/>
              <a:t>response to any signal </a:t>
            </a:r>
            <a:r>
              <a:rPr lang="en-US" i="1" dirty="0"/>
              <a:t>x</a:t>
            </a:r>
            <a:r>
              <a:rPr lang="en-US" dirty="0"/>
              <a:t>(</a:t>
            </a:r>
            <a:r>
              <a:rPr lang="en-US" i="1" dirty="0"/>
              <a:t>t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Based on convolution property of </a:t>
            </a:r>
            <a:r>
              <a:rPr lang="en-US" dirty="0" smtClean="0">
                <a:latin typeface="Script MT Bold" panose="03040602040607080904" pitchFamily="66" charset="0"/>
              </a:rPr>
              <a:t>L</a:t>
            </a:r>
            <a:r>
              <a:rPr lang="en-US" dirty="0" smtClean="0"/>
              <a:t>-transform</a:t>
            </a:r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 is called the </a:t>
            </a:r>
            <a:r>
              <a:rPr lang="en-US" b="1" dirty="0" smtClean="0">
                <a:solidFill>
                  <a:srgbClr val="C00000"/>
                </a:solidFill>
              </a:rPr>
              <a:t>system function </a:t>
            </a:r>
            <a:r>
              <a:rPr lang="en-US" dirty="0" smtClean="0"/>
              <a:t>or </a:t>
            </a:r>
            <a:r>
              <a:rPr lang="en-US" b="1" dirty="0" smtClean="0">
                <a:solidFill>
                  <a:srgbClr val="C00000"/>
                </a:solidFill>
              </a:rPr>
              <a:t>transfer function</a:t>
            </a: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9.7 </a:t>
            </a:r>
            <a:r>
              <a:rPr lang="en-US" altLang="zh-CN" dirty="0" smtClean="0"/>
              <a:t>LTI System Analysis Using </a:t>
            </a:r>
            <a:r>
              <a:rPr lang="en-US" dirty="0" smtClean="0"/>
              <a:t>Laplace Transform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07791393"/>
              </p:ext>
            </p:extLst>
          </p:nvPr>
        </p:nvGraphicFramePr>
        <p:xfrm>
          <a:off x="1893886" y="2528633"/>
          <a:ext cx="40233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39" name="公式" r:id="rId3" imgW="2235200" imgH="330200" progId="Equation.3">
                  <p:embed/>
                </p:oleObj>
              </mc:Choice>
              <mc:Fallback>
                <p:oleObj name="公式" r:id="rId3" imgW="2235200" imgH="330200" progId="Equation.3">
                  <p:embed/>
                  <p:pic>
                    <p:nvPicPr>
                      <p:cNvPr id="13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6" y="2528633"/>
                        <a:ext cx="402336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63833711"/>
              </p:ext>
            </p:extLst>
          </p:nvPr>
        </p:nvGraphicFramePr>
        <p:xfrm>
          <a:off x="1893886" y="3699446"/>
          <a:ext cx="1942258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0" name="公式" r:id="rId5" imgW="1079032" imgH="203112" progId="Equation.3">
                  <p:embed/>
                </p:oleObj>
              </mc:Choice>
              <mc:Fallback>
                <p:oleObj name="公式" r:id="rId5" imgW="1079032" imgH="203112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6" y="3699446"/>
                        <a:ext cx="1942258" cy="36560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069131"/>
              </p:ext>
            </p:extLst>
          </p:nvPr>
        </p:nvGraphicFramePr>
        <p:xfrm>
          <a:off x="1893886" y="4372127"/>
          <a:ext cx="347472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41" name="公式" r:id="rId7" imgW="1930400" imgH="330200" progId="Equation.3">
                  <p:embed/>
                </p:oleObj>
              </mc:Choice>
              <mc:Fallback>
                <p:oleObj name="公式" r:id="rId7" imgW="19304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3886" y="4372127"/>
                        <a:ext cx="3474720" cy="594360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88277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System Causality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7886700" cy="4188636"/>
          </a:xfrm>
        </p:spPr>
        <p:txBody>
          <a:bodyPr>
            <a:normAutofit fontScale="92500"/>
          </a:bodyPr>
          <a:lstStyle/>
          <a:p>
            <a:r>
              <a:rPr lang="en-US" dirty="0"/>
              <a:t> Recall: A system is </a:t>
            </a:r>
            <a:r>
              <a:rPr lang="en-US" b="1" dirty="0" smtClean="0">
                <a:solidFill>
                  <a:srgbClr val="C00000"/>
                </a:solidFill>
              </a:rPr>
              <a:t>causal</a:t>
            </a:r>
            <a:r>
              <a:rPr lang="en-US" dirty="0" smtClean="0"/>
              <a:t> </a:t>
            </a:r>
            <a:r>
              <a:rPr lang="en-US" dirty="0"/>
              <a:t>if the output at any time is not dependent on the input after that </a:t>
            </a:r>
            <a:r>
              <a:rPr lang="en-US" dirty="0" smtClean="0"/>
              <a:t>time</a:t>
            </a:r>
          </a:p>
          <a:p>
            <a:r>
              <a:rPr lang="en-US" dirty="0"/>
              <a:t> </a:t>
            </a:r>
            <a:r>
              <a:rPr lang="en-US" b="1" u="sng" dirty="0">
                <a:solidFill>
                  <a:srgbClr val="C00000"/>
                </a:solidFill>
              </a:rPr>
              <a:t>A</a:t>
            </a:r>
            <a:r>
              <a:rPr lang="en-US" b="1" u="sng" dirty="0" smtClean="0">
                <a:solidFill>
                  <a:srgbClr val="C00000"/>
                </a:solidFill>
              </a:rPr>
              <a:t> </a:t>
            </a:r>
            <a:r>
              <a:rPr lang="en-US" b="1" u="sng" dirty="0">
                <a:solidFill>
                  <a:srgbClr val="C00000"/>
                </a:solidFill>
              </a:rPr>
              <a:t>LTI system is causal </a:t>
            </a:r>
            <a:r>
              <a:rPr lang="en-US" b="1" u="sng" dirty="0" smtClean="0">
                <a:solidFill>
                  <a:srgbClr val="C00000"/>
                </a:solidFill>
              </a:rPr>
              <a:t>if and only if </a:t>
            </a:r>
            <a:r>
              <a:rPr lang="en-US" b="1" i="1" u="sng" dirty="0" smtClean="0">
                <a:solidFill>
                  <a:srgbClr val="C00000"/>
                </a:solidFill>
              </a:rPr>
              <a:t>h</a:t>
            </a:r>
            <a:r>
              <a:rPr lang="en-US" b="1" u="sng" dirty="0" smtClean="0">
                <a:solidFill>
                  <a:srgbClr val="C00000"/>
                </a:solidFill>
              </a:rPr>
              <a:t>(</a:t>
            </a:r>
            <a:r>
              <a:rPr lang="en-US" b="1" i="1" u="sng" dirty="0" smtClean="0">
                <a:solidFill>
                  <a:srgbClr val="C00000"/>
                </a:solidFill>
              </a:rPr>
              <a:t>t</a:t>
            </a:r>
            <a:r>
              <a:rPr lang="en-US" b="1" u="sng" dirty="0">
                <a:solidFill>
                  <a:srgbClr val="C00000"/>
                </a:solidFill>
              </a:rPr>
              <a:t>)=0 for </a:t>
            </a:r>
            <a:r>
              <a:rPr lang="en-US" b="1" i="1" u="sng" dirty="0">
                <a:solidFill>
                  <a:srgbClr val="C00000"/>
                </a:solidFill>
              </a:rPr>
              <a:t>t</a:t>
            </a:r>
            <a:r>
              <a:rPr lang="en-US" b="1" u="sng" dirty="0">
                <a:solidFill>
                  <a:srgbClr val="C00000"/>
                </a:solidFill>
              </a:rPr>
              <a:t>&lt;0</a:t>
            </a:r>
          </a:p>
          <a:p>
            <a:r>
              <a:rPr lang="en-US" dirty="0" smtClean="0"/>
              <a:t> Statement #1: If a LTI system is causal, </a:t>
            </a:r>
            <a:r>
              <a:rPr lang="en-US" dirty="0"/>
              <a:t>t</a:t>
            </a:r>
            <a:r>
              <a:rPr lang="en-US" dirty="0" smtClean="0"/>
              <a:t>he ROC of the system function is a right-sided plane (sufficient,  </a:t>
            </a:r>
            <a:r>
              <a:rPr lang="en-US" b="1" dirty="0" smtClean="0">
                <a:solidFill>
                  <a:srgbClr val="FF0000"/>
                </a:solidFill>
              </a:rPr>
              <a:t>not necessary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Statement #2: </a:t>
            </a:r>
            <a:r>
              <a:rPr lang="en-US" dirty="0"/>
              <a:t>If </a:t>
            </a:r>
            <a:r>
              <a:rPr lang="en-US" dirty="0" smtClean="0"/>
              <a:t>a LTI system is causal with a </a:t>
            </a:r>
            <a:r>
              <a:rPr lang="en-US" b="1" dirty="0" smtClean="0">
                <a:solidFill>
                  <a:srgbClr val="C00000"/>
                </a:solidFill>
              </a:rPr>
              <a:t>rational</a:t>
            </a:r>
            <a:r>
              <a:rPr lang="en-US" dirty="0" smtClean="0"/>
              <a:t>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), causality is equivalent to that the </a:t>
            </a:r>
            <a:r>
              <a:rPr lang="en-US" dirty="0"/>
              <a:t>ROC of the system function is a </a:t>
            </a:r>
            <a:r>
              <a:rPr lang="en-US" dirty="0" smtClean="0"/>
              <a:t>right-sided </a:t>
            </a:r>
            <a:r>
              <a:rPr lang="en-US" dirty="0"/>
              <a:t>plane </a:t>
            </a:r>
            <a:r>
              <a:rPr lang="en-US" dirty="0" smtClean="0"/>
              <a:t>to the right of the rightmost pole </a:t>
            </a:r>
            <a:r>
              <a:rPr lang="en-US" dirty="0"/>
              <a:t>(</a:t>
            </a:r>
            <a:r>
              <a:rPr lang="en-US" dirty="0" smtClean="0">
                <a:solidFill>
                  <a:srgbClr val="C00000"/>
                </a:solidFill>
              </a:rPr>
              <a:t>sufficient and necessary</a:t>
            </a:r>
            <a:r>
              <a:rPr lang="en-US" dirty="0"/>
              <a:t>)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36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6597266" y="1755131"/>
            <a:ext cx="1778767" cy="52322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prove? (convolution integral)</a:t>
            </a:r>
          </a:p>
        </p:txBody>
      </p:sp>
    </p:spTree>
    <p:extLst>
      <p:ext uri="{BB962C8B-B14F-4D97-AF65-F5344CB8AC3E}">
        <p14:creationId xmlns:p14="http://schemas.microsoft.com/office/powerpoint/2010/main" val="2708992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</a:t>
            </a:r>
            <a:r>
              <a:rPr lang="en-US" altLang="zh-CN" dirty="0" smtClean="0"/>
              <a:t>Causality--Examples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0"/>
            <a:ext cx="8149590" cy="4868863"/>
          </a:xfrm>
        </p:spPr>
        <p:txBody>
          <a:bodyPr/>
          <a:lstStyle/>
          <a:p>
            <a:r>
              <a:rPr lang="en-US" dirty="0" smtClean="0"/>
              <a:t> 1st example of Statement #2 (rational, causal</a:t>
            </a:r>
            <a:r>
              <a:rPr lang="en-US" dirty="0"/>
              <a:t>, ROC is </a:t>
            </a:r>
            <a:r>
              <a:rPr lang="en-US" dirty="0" smtClean="0"/>
              <a:t>a right-sided </a:t>
            </a:r>
            <a:r>
              <a:rPr lang="en-US" dirty="0"/>
              <a:t>plane</a:t>
            </a:r>
            <a:r>
              <a:rPr lang="en-US" dirty="0" smtClean="0"/>
              <a:t>)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altLang="zh-CN" dirty="0" smtClean="0"/>
              <a:t>2nd example </a:t>
            </a:r>
            <a:r>
              <a:rPr lang="en-US" dirty="0"/>
              <a:t>of Statement #2 </a:t>
            </a:r>
            <a:r>
              <a:rPr lang="en-US" dirty="0" smtClean="0"/>
              <a:t>(rational, not causal, ROC is not a right-sided plane)</a:t>
            </a:r>
          </a:p>
          <a:p>
            <a:endParaRPr lang="en-US" dirty="0"/>
          </a:p>
          <a:p>
            <a:r>
              <a:rPr lang="en-US" dirty="0" smtClean="0"/>
              <a:t> An example that shows </a:t>
            </a:r>
            <a:r>
              <a:rPr lang="en-US" dirty="0"/>
              <a:t>Statement </a:t>
            </a:r>
            <a:r>
              <a:rPr lang="en-US" dirty="0" smtClean="0"/>
              <a:t>#1 is sufficient but not necessary (</a:t>
            </a:r>
            <a:r>
              <a:rPr lang="en-US" dirty="0" smtClean="0">
                <a:solidFill>
                  <a:srgbClr val="FF0000"/>
                </a:solidFill>
              </a:rPr>
              <a:t>not</a:t>
            </a:r>
            <a:r>
              <a:rPr lang="en-US" dirty="0" smtClean="0"/>
              <a:t> rational</a:t>
            </a:r>
            <a:r>
              <a:rPr lang="en-US" dirty="0"/>
              <a:t>, </a:t>
            </a:r>
            <a:r>
              <a:rPr lang="en-US" dirty="0" smtClean="0"/>
              <a:t>ROC </a:t>
            </a:r>
            <a:r>
              <a:rPr lang="en-US" dirty="0"/>
              <a:t>is </a:t>
            </a:r>
            <a:r>
              <a:rPr lang="en-US" dirty="0" smtClean="0"/>
              <a:t>a right-sided plane, not causal)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6934596"/>
              </p:ext>
            </p:extLst>
          </p:nvPr>
        </p:nvGraphicFramePr>
        <p:xfrm>
          <a:off x="1293984" y="2128704"/>
          <a:ext cx="46405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54" name="公式" r:id="rId3" imgW="2578100" imgH="393700" progId="Equation.3">
                  <p:embed/>
                </p:oleObj>
              </mc:Choice>
              <mc:Fallback>
                <p:oleObj name="公式" r:id="rId3" imgW="25781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984" y="2128704"/>
                        <a:ext cx="46405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26939687"/>
              </p:ext>
            </p:extLst>
          </p:nvPr>
        </p:nvGraphicFramePr>
        <p:xfrm>
          <a:off x="1293984" y="3475137"/>
          <a:ext cx="6103512" cy="7082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55" name="公式" r:id="rId5" imgW="3390840" imgH="393480" progId="Equation.3">
                  <p:embed/>
                </p:oleObj>
              </mc:Choice>
              <mc:Fallback>
                <p:oleObj name="公式" r:id="rId5" imgW="3390840" imgH="393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984" y="3475137"/>
                        <a:ext cx="6103512" cy="708264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0521615"/>
              </p:ext>
            </p:extLst>
          </p:nvPr>
        </p:nvGraphicFramePr>
        <p:xfrm>
          <a:off x="1293984" y="5004401"/>
          <a:ext cx="51663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5856" name="公式" r:id="rId7" imgW="2870200" imgH="419100" progId="Equation.3">
                  <p:embed/>
                </p:oleObj>
              </mc:Choice>
              <mc:Fallback>
                <p:oleObj name="公式" r:id="rId7" imgW="28702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3984" y="5004401"/>
                        <a:ext cx="51663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6610082" y="5193990"/>
            <a:ext cx="1189750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pole(s)?</a:t>
            </a:r>
          </a:p>
        </p:txBody>
      </p:sp>
      <p:sp>
        <p:nvSpPr>
          <p:cNvPr id="14" name="文本框 13"/>
          <p:cNvSpPr txBox="1"/>
          <p:nvPr/>
        </p:nvSpPr>
        <p:spPr>
          <a:xfrm>
            <a:off x="6610082" y="5652741"/>
            <a:ext cx="1573798" cy="7386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do Laplace transform?</a:t>
            </a:r>
          </a:p>
          <a:p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(Time Shifting)</a:t>
            </a:r>
          </a:p>
        </p:txBody>
      </p:sp>
    </p:spTree>
    <p:extLst>
      <p:ext uri="{BB962C8B-B14F-4D97-AF65-F5344CB8AC3E}">
        <p14:creationId xmlns:p14="http://schemas.microsoft.com/office/powerpoint/2010/main" val="133236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Stability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08101"/>
            <a:ext cx="8021574" cy="4553204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Stability</a:t>
            </a:r>
            <a:r>
              <a:rPr lang="en-US" dirty="0" smtClean="0"/>
              <a:t>: (Chapter 1) A system is stable if any bounded input produces a bounded output.</a:t>
            </a:r>
          </a:p>
          <a:p>
            <a:r>
              <a:rPr lang="en-US" dirty="0"/>
              <a:t> </a:t>
            </a:r>
            <a:r>
              <a:rPr lang="en-US" u="sng" dirty="0" smtClean="0">
                <a:solidFill>
                  <a:srgbClr val="C00000"/>
                </a:solidFill>
              </a:rPr>
              <a:t>A system is stable if and only if </a:t>
            </a:r>
            <a:r>
              <a:rPr lang="en-US" i="1" u="sng" dirty="0" smtClean="0">
                <a:solidFill>
                  <a:srgbClr val="C00000"/>
                </a:solidFill>
              </a:rPr>
              <a:t>h</a:t>
            </a:r>
            <a:r>
              <a:rPr lang="en-US" u="sng" dirty="0" smtClean="0">
                <a:solidFill>
                  <a:srgbClr val="C00000"/>
                </a:solidFill>
              </a:rPr>
              <a:t>(</a:t>
            </a:r>
            <a:r>
              <a:rPr lang="en-US" i="1" u="sng" dirty="0" smtClean="0">
                <a:solidFill>
                  <a:srgbClr val="C00000"/>
                </a:solidFill>
              </a:rPr>
              <a:t>t</a:t>
            </a:r>
            <a:r>
              <a:rPr lang="en-US" u="sng" dirty="0" smtClean="0">
                <a:solidFill>
                  <a:srgbClr val="C00000"/>
                </a:solidFill>
              </a:rPr>
              <a:t>) is absolutely </a:t>
            </a:r>
            <a:r>
              <a:rPr lang="en-US" u="sng" dirty="0" err="1" smtClean="0">
                <a:solidFill>
                  <a:srgbClr val="C00000"/>
                </a:solidFill>
              </a:rPr>
              <a:t>integrable</a:t>
            </a:r>
            <a:r>
              <a:rPr lang="en-US" u="sng" dirty="0" smtClean="0">
                <a:solidFill>
                  <a:srgbClr val="C00000"/>
                </a:solidFill>
              </a:rPr>
              <a:t>  </a:t>
            </a:r>
          </a:p>
          <a:p>
            <a:r>
              <a:rPr lang="en-US" dirty="0"/>
              <a:t> </a:t>
            </a:r>
            <a:r>
              <a:rPr lang="en-US" dirty="0" smtClean="0"/>
              <a:t>Statement #1: </a:t>
            </a:r>
            <a:r>
              <a:rPr lang="en-US" u="sng" dirty="0" smtClean="0">
                <a:solidFill>
                  <a:srgbClr val="C00000"/>
                </a:solidFill>
              </a:rPr>
              <a:t>A LTI system is stable if and only if the ROC of </a:t>
            </a:r>
            <a:r>
              <a:rPr lang="en-US" i="1" u="sng" dirty="0" smtClean="0">
                <a:solidFill>
                  <a:srgbClr val="C00000"/>
                </a:solidFill>
              </a:rPr>
              <a:t>H</a:t>
            </a:r>
            <a:r>
              <a:rPr lang="en-US" u="sng" dirty="0" smtClean="0">
                <a:solidFill>
                  <a:srgbClr val="C00000"/>
                </a:solidFill>
              </a:rPr>
              <a:t>(</a:t>
            </a:r>
            <a:r>
              <a:rPr lang="en-US" i="1" u="sng" dirty="0" smtClean="0">
                <a:solidFill>
                  <a:srgbClr val="C00000"/>
                </a:solidFill>
              </a:rPr>
              <a:t>s</a:t>
            </a:r>
            <a:r>
              <a:rPr lang="en-US" u="sng" dirty="0" smtClean="0">
                <a:solidFill>
                  <a:srgbClr val="C00000"/>
                </a:solidFill>
              </a:rPr>
              <a:t>) includes the entire </a:t>
            </a:r>
            <a:r>
              <a:rPr lang="en-US" i="1" u="sng" dirty="0" smtClean="0">
                <a:solidFill>
                  <a:srgbClr val="C00000"/>
                </a:solidFill>
              </a:rPr>
              <a:t>j</a:t>
            </a:r>
            <a:r>
              <a:rPr lang="el-GR" i="1" u="sng" dirty="0" smtClean="0">
                <a:solidFill>
                  <a:srgbClr val="C00000"/>
                </a:solidFill>
              </a:rPr>
              <a:t>ω</a:t>
            </a:r>
            <a:r>
              <a:rPr lang="en-US" u="sng" dirty="0" smtClean="0">
                <a:solidFill>
                  <a:srgbClr val="C00000"/>
                </a:solidFill>
              </a:rPr>
              <a:t> axis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If the 2</a:t>
            </a:r>
            <a:r>
              <a:rPr lang="en-US" baseline="30000" dirty="0" smtClean="0"/>
              <a:t>nd</a:t>
            </a:r>
            <a:r>
              <a:rPr lang="en-US" dirty="0" smtClean="0"/>
              <a:t> and 3</a:t>
            </a:r>
            <a:r>
              <a:rPr lang="en-US" baseline="30000" dirty="0" smtClean="0"/>
              <a:t>rd</a:t>
            </a:r>
            <a:r>
              <a:rPr lang="en-US" dirty="0" smtClean="0"/>
              <a:t> conditions of </a:t>
            </a:r>
            <a:r>
              <a:rPr lang="en-US" dirty="0" err="1" smtClean="0"/>
              <a:t>Dirichlet</a:t>
            </a:r>
            <a:r>
              <a:rPr lang="en-US" dirty="0" smtClean="0"/>
              <a:t> Conditions are satisfied, then absolutely </a:t>
            </a:r>
            <a:r>
              <a:rPr lang="en-US" dirty="0" err="1" smtClean="0"/>
              <a:t>integrable</a:t>
            </a:r>
            <a:r>
              <a:rPr lang="en-US" dirty="0" smtClean="0"/>
              <a:t> </a:t>
            </a:r>
            <a:r>
              <a:rPr lang="en-US" dirty="0" smtClean="0">
                <a:sym typeface="Wingdings" panose="05000000000000000000" pitchFamily="2" charset="2"/>
              </a:rPr>
              <a:t> Fourier transform convergence</a:t>
            </a:r>
            <a:endParaRPr lang="en-US" dirty="0"/>
          </a:p>
          <a:p>
            <a:r>
              <a:rPr lang="en-US" dirty="0" smtClean="0"/>
              <a:t> Statement #2: A </a:t>
            </a:r>
            <a:r>
              <a:rPr lang="en-US" dirty="0" smtClean="0">
                <a:solidFill>
                  <a:srgbClr val="C00000"/>
                </a:solidFill>
              </a:rPr>
              <a:t>causal</a:t>
            </a:r>
            <a:r>
              <a:rPr lang="en-US" dirty="0" smtClean="0"/>
              <a:t> system with rational </a:t>
            </a:r>
            <a:r>
              <a:rPr lang="en-US" i="1" dirty="0" smtClean="0"/>
              <a:t>H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 is stable if and only if all poles of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are </a:t>
            </a:r>
            <a:r>
              <a:rPr lang="en-US" altLang="zh-CN" b="1" dirty="0" smtClean="0">
                <a:solidFill>
                  <a:srgbClr val="C00000"/>
                </a:solidFill>
              </a:rPr>
              <a:t>left-half-plane poles</a:t>
            </a:r>
          </a:p>
          <a:p>
            <a:pPr lvl="1"/>
            <a:r>
              <a:rPr lang="en-US" dirty="0" smtClean="0"/>
              <a:t> causality </a:t>
            </a:r>
            <a:r>
              <a:rPr lang="en-US" dirty="0" smtClean="0">
                <a:sym typeface="Wingdings" panose="05000000000000000000" pitchFamily="2" charset="2"/>
              </a:rPr>
              <a:t> ROC is to the right of rightmost poles</a:t>
            </a: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2555618" y="2459219"/>
            <a:ext cx="2866774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prove it ?  (Problem 2.49)</a:t>
            </a:r>
          </a:p>
        </p:txBody>
      </p:sp>
    </p:spTree>
    <p:extLst>
      <p:ext uri="{BB962C8B-B14F-4D97-AF65-F5344CB8AC3E}">
        <p14:creationId xmlns:p14="http://schemas.microsoft.com/office/powerpoint/2010/main" val="2407446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System </a:t>
            </a:r>
            <a:r>
              <a:rPr lang="en-US" altLang="zh-CN" dirty="0" smtClean="0"/>
              <a:t>Stability—Example 9.20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39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79594618"/>
              </p:ext>
            </p:extLst>
          </p:nvPr>
        </p:nvGraphicFramePr>
        <p:xfrm>
          <a:off x="618047" y="1284229"/>
          <a:ext cx="3863340" cy="77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71" name="公式" r:id="rId3" imgW="2146300" imgH="431800" progId="Equation.3">
                  <p:embed/>
                </p:oleObj>
              </mc:Choice>
              <mc:Fallback>
                <p:oleObj name="公式" r:id="rId3" imgW="2146300" imgH="431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8047" y="1284229"/>
                        <a:ext cx="3863340" cy="77724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1" y="3767112"/>
            <a:ext cx="2577150" cy="2232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261" y="3767112"/>
            <a:ext cx="2173500" cy="2242334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15050" y="3787780"/>
            <a:ext cx="2577150" cy="2221666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44396953"/>
              </p:ext>
            </p:extLst>
          </p:nvPr>
        </p:nvGraphicFramePr>
        <p:xfrm>
          <a:off x="628650" y="1958485"/>
          <a:ext cx="64236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72" name="公式" r:id="rId8" imgW="3568700" imgH="393700" progId="Equation.3">
                  <p:embed/>
                </p:oleObj>
              </mc:Choice>
              <mc:Fallback>
                <p:oleObj name="公式" r:id="rId8" imgW="3568700" imgH="393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1958485"/>
                        <a:ext cx="64236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64683"/>
              </p:ext>
            </p:extLst>
          </p:nvPr>
        </p:nvGraphicFramePr>
        <p:xfrm>
          <a:off x="591345" y="2494422"/>
          <a:ext cx="68122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73" name="公式" r:id="rId10" imgW="3784600" imgH="393700" progId="Equation.3">
                  <p:embed/>
                </p:oleObj>
              </mc:Choice>
              <mc:Fallback>
                <p:oleObj name="公式" r:id="rId10" imgW="37846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345" y="2494422"/>
                        <a:ext cx="68122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0484127"/>
              </p:ext>
            </p:extLst>
          </p:nvPr>
        </p:nvGraphicFramePr>
        <p:xfrm>
          <a:off x="628650" y="3086545"/>
          <a:ext cx="68122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7974" name="公式" r:id="rId12" imgW="3784600" imgH="393700" progId="Equation.3">
                  <p:embed/>
                </p:oleObj>
              </mc:Choice>
              <mc:Fallback>
                <p:oleObj name="公式" r:id="rId12" imgW="3784600" imgH="3937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3086545"/>
                        <a:ext cx="68122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文本框 17"/>
          <p:cNvSpPr txBox="1"/>
          <p:nvPr/>
        </p:nvSpPr>
        <p:spPr>
          <a:xfrm>
            <a:off x="6787962" y="1539174"/>
            <a:ext cx="1904238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 #2 valid?  </a:t>
            </a:r>
          </a:p>
        </p:txBody>
      </p:sp>
      <p:sp>
        <p:nvSpPr>
          <p:cNvPr id="19" name="矩形 18"/>
          <p:cNvSpPr/>
          <p:nvPr/>
        </p:nvSpPr>
        <p:spPr>
          <a:xfrm>
            <a:off x="7683591" y="1890426"/>
            <a:ext cx="1008609" cy="307777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 causal!</a:t>
            </a:r>
          </a:p>
        </p:txBody>
      </p:sp>
    </p:spTree>
    <p:extLst>
      <p:ext uri="{BB962C8B-B14F-4D97-AF65-F5344CB8AC3E}">
        <p14:creationId xmlns:p14="http://schemas.microsoft.com/office/powerpoint/2010/main" val="1772079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System </a:t>
            </a:r>
            <a:r>
              <a:rPr lang="en-US" altLang="zh-CN" dirty="0" smtClean="0"/>
              <a:t>Stability—2</a:t>
            </a:r>
            <a:r>
              <a:rPr lang="en-US" altLang="zh-CN" baseline="30000" dirty="0" smtClean="0"/>
              <a:t>nd</a:t>
            </a:r>
            <a:r>
              <a:rPr lang="en-US" altLang="zh-CN" dirty="0" smtClean="0"/>
              <a:t> Order System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System function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If the system is causal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a) </a:t>
            </a:r>
            <a:r>
              <a:rPr lang="el-GR" i="1" dirty="0" smtClean="0"/>
              <a:t>ζ</a:t>
            </a:r>
            <a:r>
              <a:rPr lang="en-US" dirty="0" smtClean="0"/>
              <a:t>&lt;-1, 2 right-half-plane real poles</a:t>
            </a:r>
          </a:p>
          <a:p>
            <a:pPr marL="0" indent="0">
              <a:buNone/>
            </a:pPr>
            <a:r>
              <a:rPr lang="en-US" dirty="0" smtClean="0"/>
              <a:t>   b) -1&lt;</a:t>
            </a:r>
            <a:r>
              <a:rPr lang="el-GR" i="1" dirty="0"/>
              <a:t>ζ</a:t>
            </a:r>
            <a:r>
              <a:rPr lang="en-US" dirty="0" smtClean="0"/>
              <a:t>&lt;0, </a:t>
            </a:r>
            <a:r>
              <a:rPr lang="en-US" dirty="0"/>
              <a:t>2 </a:t>
            </a:r>
            <a:r>
              <a:rPr lang="en-US" dirty="0" smtClean="0"/>
              <a:t>right-half-plane conjugate </a:t>
            </a:r>
            <a:r>
              <a:rPr lang="en-US" dirty="0"/>
              <a:t>poles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   c) </a:t>
            </a:r>
            <a:r>
              <a:rPr lang="en-US" dirty="0"/>
              <a:t>0&lt;</a:t>
            </a:r>
            <a:r>
              <a:rPr lang="el-GR" i="1" dirty="0"/>
              <a:t>ζ</a:t>
            </a:r>
            <a:r>
              <a:rPr lang="en-US" dirty="0"/>
              <a:t>&lt;1, 2 </a:t>
            </a:r>
            <a:r>
              <a:rPr lang="en-US" dirty="0" smtClean="0"/>
              <a:t>left-half-plane </a:t>
            </a:r>
            <a:r>
              <a:rPr lang="en-US" dirty="0"/>
              <a:t>conjugate </a:t>
            </a:r>
            <a:r>
              <a:rPr lang="en-US" dirty="0" smtClean="0"/>
              <a:t>poles</a:t>
            </a:r>
          </a:p>
          <a:p>
            <a:pPr marL="0" indent="0">
              <a:buNone/>
            </a:pPr>
            <a:r>
              <a:rPr lang="en-US" dirty="0" smtClean="0"/>
              <a:t>   d) </a:t>
            </a:r>
            <a:r>
              <a:rPr lang="el-GR" i="1" dirty="0" smtClean="0"/>
              <a:t>ζ</a:t>
            </a:r>
            <a:r>
              <a:rPr lang="en-US" dirty="0" smtClean="0"/>
              <a:t>&gt;1</a:t>
            </a:r>
            <a:r>
              <a:rPr lang="en-US" dirty="0"/>
              <a:t>, 2 </a:t>
            </a:r>
            <a:r>
              <a:rPr lang="en-US" dirty="0" smtClean="0"/>
              <a:t>left-half-plane </a:t>
            </a:r>
            <a:r>
              <a:rPr lang="en-US" dirty="0"/>
              <a:t>real poles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28306312"/>
              </p:ext>
            </p:extLst>
          </p:nvPr>
        </p:nvGraphicFramePr>
        <p:xfrm>
          <a:off x="1858743" y="1865376"/>
          <a:ext cx="2674620" cy="822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9815" name="公式" r:id="rId3" imgW="1485900" imgH="457200" progId="Equation.3">
                  <p:embed/>
                </p:oleObj>
              </mc:Choice>
              <mc:Fallback>
                <p:oleObj name="公式" r:id="rId3" imgW="1485900" imgH="457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8743" y="1865376"/>
                        <a:ext cx="2674620" cy="8229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556545" y="3443898"/>
            <a:ext cx="108453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56545" y="3963399"/>
            <a:ext cx="108453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Unstable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556545" y="4482901"/>
            <a:ext cx="108453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556545" y="5014772"/>
            <a:ext cx="1084535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Stable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2347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System Function of LTI System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224741"/>
            <a:ext cx="7886700" cy="4868863"/>
          </a:xfrm>
        </p:spPr>
        <p:txBody>
          <a:bodyPr/>
          <a:lstStyle/>
          <a:p>
            <a:r>
              <a:rPr lang="en-US" dirty="0" smtClean="0"/>
              <a:t> LTI system described by </a:t>
            </a:r>
            <a:r>
              <a:rPr lang="en-US" i="1" dirty="0" smtClean="0"/>
              <a:t>N</a:t>
            </a:r>
            <a:r>
              <a:rPr lang="en-US" altLang="zh-CN" dirty="0" smtClean="0"/>
              <a:t>th-order </a:t>
            </a:r>
            <a:r>
              <a:rPr lang="en-US" dirty="0" smtClean="0"/>
              <a:t>linear constant-coefficient differential equation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Apply Laplace transform to both sides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By linearity property</a:t>
            </a:r>
          </a:p>
          <a:p>
            <a:r>
              <a:rPr lang="en-US" dirty="0" smtClean="0"/>
              <a:t> System function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73361617"/>
              </p:ext>
            </p:extLst>
          </p:nvPr>
        </p:nvGraphicFramePr>
        <p:xfrm>
          <a:off x="2491739" y="1970087"/>
          <a:ext cx="306324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0" name="公式" r:id="rId3" imgW="1701800" imgH="444500" progId="Equation.3">
                  <p:embed/>
                </p:oleObj>
              </mc:Choice>
              <mc:Fallback>
                <p:oleObj name="公式" r:id="rId3" imgW="1701800" imgH="444500" progId="Equation.3">
                  <p:embed/>
                  <p:pic>
                    <p:nvPicPr>
                      <p:cNvPr id="8" name="对象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1739" y="1970087"/>
                        <a:ext cx="306324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127018"/>
              </p:ext>
            </p:extLst>
          </p:nvPr>
        </p:nvGraphicFramePr>
        <p:xfrm>
          <a:off x="2430463" y="3078163"/>
          <a:ext cx="4114800" cy="868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1" name="公式" r:id="rId5" imgW="2286000" imgH="482400" progId="Equation.3">
                  <p:embed/>
                </p:oleObj>
              </mc:Choice>
              <mc:Fallback>
                <p:oleObj name="公式" r:id="rId5" imgW="2286000" imgH="482400" progId="Equation.3">
                  <p:embed/>
                  <p:pic>
                    <p:nvPicPr>
                      <p:cNvPr id="10" name="对象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0463" y="3078163"/>
                        <a:ext cx="4114800" cy="8683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326482"/>
              </p:ext>
            </p:extLst>
          </p:nvPr>
        </p:nvGraphicFramePr>
        <p:xfrm>
          <a:off x="4183063" y="4049713"/>
          <a:ext cx="2995612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2" name="公式" r:id="rId7" imgW="1663560" imgH="431640" progId="Equation.3">
                  <p:embed/>
                </p:oleObj>
              </mc:Choice>
              <mc:Fallback>
                <p:oleObj name="公式" r:id="rId7" imgW="1663560" imgH="431640" progId="Equation.3">
                  <p:embed/>
                  <p:pic>
                    <p:nvPicPr>
                      <p:cNvPr id="12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63" y="4049713"/>
                        <a:ext cx="2995612" cy="7778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7873682"/>
              </p:ext>
            </p:extLst>
          </p:nvPr>
        </p:nvGraphicFramePr>
        <p:xfrm>
          <a:off x="4229416" y="4931322"/>
          <a:ext cx="2651125" cy="1509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033" name="公式" r:id="rId9" imgW="1473120" imgH="838080" progId="Equation.3">
                  <p:embed/>
                </p:oleObj>
              </mc:Choice>
              <mc:Fallback>
                <p:oleObj name="公式" r:id="rId9" imgW="1473120" imgH="838080" progId="Equation.3">
                  <p:embed/>
                  <p:pic>
                    <p:nvPicPr>
                      <p:cNvPr id="14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9416" y="4931322"/>
                        <a:ext cx="2651125" cy="1509712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00FF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矩形 10"/>
          <p:cNvSpPr/>
          <p:nvPr/>
        </p:nvSpPr>
        <p:spPr>
          <a:xfrm>
            <a:off x="7178674" y="4721003"/>
            <a:ext cx="1498981" cy="7386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altLang="zh-CN" sz="1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Does DE itself specify the LTI system?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7170672" y="5580618"/>
            <a:ext cx="1514983" cy="523220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</a:t>
            </a:r>
            <a:r>
              <a:rPr lang="zh-CN" altLang="en-US" sz="14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 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Causality</a:t>
            </a:r>
            <a:r>
              <a:rPr lang="en-US" sz="1400" dirty="0" err="1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ROC</a:t>
            </a:r>
            <a:r>
              <a:rPr lang="en-US" sz="1400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?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9310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System Function of RLC System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42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86" y="1521910"/>
            <a:ext cx="3270600" cy="1219332"/>
          </a:xfrm>
          <a:prstGeom prst="rect">
            <a:avLst/>
          </a:prstGeom>
        </p:spPr>
      </p:pic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156266"/>
              </p:ext>
            </p:extLst>
          </p:nvPr>
        </p:nvGraphicFramePr>
        <p:xfrm>
          <a:off x="4183380" y="1492031"/>
          <a:ext cx="38633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1" name="公式" r:id="rId4" imgW="2146300" imgH="419100" progId="Equation.3">
                  <p:embed/>
                </p:oleObj>
              </mc:Choice>
              <mc:Fallback>
                <p:oleObj name="公式" r:id="rId4" imgW="21463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80" y="1492031"/>
                        <a:ext cx="38633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5141112"/>
              </p:ext>
            </p:extLst>
          </p:nvPr>
        </p:nvGraphicFramePr>
        <p:xfrm>
          <a:off x="4183379" y="2467016"/>
          <a:ext cx="39319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2" name="公式" r:id="rId6" imgW="2184400" imgH="228600" progId="Equation.3">
                  <p:embed/>
                </p:oleObj>
              </mc:Choice>
              <mc:Fallback>
                <p:oleObj name="公式" r:id="rId6" imgW="21844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79" y="2467016"/>
                        <a:ext cx="39319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73427"/>
              </p:ext>
            </p:extLst>
          </p:nvPr>
        </p:nvGraphicFramePr>
        <p:xfrm>
          <a:off x="4183378" y="3246120"/>
          <a:ext cx="345186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1993" name="公式" r:id="rId8" imgW="1917700" imgH="419100" progId="Equation.3">
                  <p:embed/>
                </p:oleObj>
              </mc:Choice>
              <mc:Fallback>
                <p:oleObj name="公式" r:id="rId8" imgW="1917700" imgH="4191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378" y="3246120"/>
                        <a:ext cx="345186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矩形 13"/>
          <p:cNvSpPr/>
          <p:nvPr/>
        </p:nvSpPr>
        <p:spPr>
          <a:xfrm>
            <a:off x="4183378" y="4408155"/>
            <a:ext cx="1498981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Q1: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6136257" y="4417596"/>
            <a:ext cx="1498981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Q2: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Stable?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64060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9.25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53313"/>
            <a:ext cx="7886700" cy="3119280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 LTI system</a:t>
            </a:r>
          </a:p>
          <a:p>
            <a:r>
              <a:rPr lang="en-US" dirty="0"/>
              <a:t> </a:t>
            </a:r>
            <a:r>
              <a:rPr lang="en-US" dirty="0" smtClean="0"/>
              <a:t>Apply Laplace transform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sz="1200" dirty="0"/>
              <a:t> </a:t>
            </a:r>
            <a:r>
              <a:rPr lang="en-US" sz="1200" dirty="0" smtClean="0"/>
              <a:t>  </a:t>
            </a:r>
          </a:p>
          <a:p>
            <a:r>
              <a:rPr lang="en-US" dirty="0" smtClean="0"/>
              <a:t> By definition</a:t>
            </a:r>
          </a:p>
          <a:p>
            <a:endParaRPr lang="en-US" dirty="0"/>
          </a:p>
          <a:p>
            <a:r>
              <a:rPr lang="en-US" dirty="0" smtClean="0"/>
              <a:t> </a:t>
            </a:r>
            <a:r>
              <a:rPr lang="en-US" altLang="zh-CN" dirty="0" smtClean="0"/>
              <a:t>ROC of </a:t>
            </a:r>
            <a:r>
              <a:rPr lang="en-US" altLang="zh-CN" i="1" dirty="0" smtClean="0"/>
              <a:t>Y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must contain the intersection of ROC of </a:t>
            </a:r>
            <a:r>
              <a:rPr lang="en-US" altLang="zh-CN" i="1" dirty="0" smtClean="0"/>
              <a:t>X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and ROC of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 (</a:t>
            </a:r>
            <a:r>
              <a:rPr lang="en-US" altLang="zh-CN" dirty="0" smtClean="0">
                <a:solidFill>
                  <a:srgbClr val="C00000"/>
                </a:solidFill>
              </a:rPr>
              <a:t>Convolution Property</a:t>
            </a:r>
            <a:r>
              <a:rPr lang="en-US" altLang="zh-CN" dirty="0" smtClean="0"/>
              <a:t>)</a:t>
            </a:r>
          </a:p>
          <a:p>
            <a:pPr lvl="1"/>
            <a:r>
              <a:rPr lang="en-US" dirty="0" smtClean="0"/>
              <a:t>Discussion: 3 possible choices of ROC of </a:t>
            </a:r>
            <a:r>
              <a:rPr lang="en-US" altLang="zh-CN" i="1" dirty="0" smtClean="0"/>
              <a:t>H</a:t>
            </a:r>
            <a:r>
              <a:rPr lang="en-US" altLang="zh-CN" dirty="0" smtClean="0"/>
              <a:t>(</a:t>
            </a:r>
            <a:r>
              <a:rPr lang="en-US" altLang="zh-CN" i="1" dirty="0" smtClean="0"/>
              <a:t>s</a:t>
            </a:r>
            <a:r>
              <a:rPr lang="en-US" altLang="zh-CN" dirty="0" smtClean="0"/>
              <a:t>)</a:t>
            </a:r>
            <a:endParaRPr lang="en-US" dirty="0" smtClean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43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22465433"/>
              </p:ext>
            </p:extLst>
          </p:nvPr>
        </p:nvGraphicFramePr>
        <p:xfrm>
          <a:off x="3406140" y="1412748"/>
          <a:ext cx="15773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46" name="公式" r:id="rId3" imgW="876300" imgH="228600" progId="Equation.3">
                  <p:embed/>
                </p:oleObj>
              </mc:Choice>
              <mc:Fallback>
                <p:oleObj name="公式" r:id="rId3" imgW="876300" imgH="2286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6140" y="1412748"/>
                        <a:ext cx="15773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5646759"/>
              </p:ext>
            </p:extLst>
          </p:nvPr>
        </p:nvGraphicFramePr>
        <p:xfrm>
          <a:off x="5223510" y="1426464"/>
          <a:ext cx="226314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47" name="公式" r:id="rId5" imgW="1257300" imgH="228600" progId="Equation.3">
                  <p:embed/>
                </p:oleObj>
              </mc:Choice>
              <mc:Fallback>
                <p:oleObj name="公式" r:id="rId5" imgW="12573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23510" y="1426464"/>
                        <a:ext cx="226314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6149702"/>
              </p:ext>
            </p:extLst>
          </p:nvPr>
        </p:nvGraphicFramePr>
        <p:xfrm>
          <a:off x="1033272" y="2057447"/>
          <a:ext cx="281178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48" name="公式" r:id="rId7" imgW="1562100" imgH="393700" progId="Equation.3">
                  <p:embed/>
                </p:oleObj>
              </mc:Choice>
              <mc:Fallback>
                <p:oleObj name="公式" r:id="rId7" imgW="15621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272" y="2057447"/>
                        <a:ext cx="281178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4734870"/>
              </p:ext>
            </p:extLst>
          </p:nvPr>
        </p:nvGraphicFramePr>
        <p:xfrm>
          <a:off x="4400550" y="2141164"/>
          <a:ext cx="34290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49" name="公式" r:id="rId9" imgW="1905000" imgH="393700" progId="Equation.3">
                  <p:embed/>
                </p:oleObj>
              </mc:Choice>
              <mc:Fallback>
                <p:oleObj name="公式" r:id="rId9" imgW="1905000" imgH="3937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0550" y="2141164"/>
                        <a:ext cx="34290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9847602"/>
              </p:ext>
            </p:extLst>
          </p:nvPr>
        </p:nvGraphicFramePr>
        <p:xfrm>
          <a:off x="3028950" y="2766107"/>
          <a:ext cx="31775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150" name="公式" r:id="rId11" imgW="1765300" imgH="419100" progId="Equation.3">
                  <p:embed/>
                </p:oleObj>
              </mc:Choice>
              <mc:Fallback>
                <p:oleObj name="公式" r:id="rId11" imgW="1765300" imgH="419100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28950" y="2766107"/>
                        <a:ext cx="31775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矩形 16"/>
          <p:cNvSpPr/>
          <p:nvPr/>
        </p:nvSpPr>
        <p:spPr>
          <a:xfrm>
            <a:off x="6589567" y="2952989"/>
            <a:ext cx="1084535" cy="400110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ROC?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149165" y="4260694"/>
            <a:ext cx="2319435" cy="1999499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00999" y="4260694"/>
            <a:ext cx="2410533" cy="1889092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34350" y="4317587"/>
            <a:ext cx="2295446" cy="1774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896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9.26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(1)</a:t>
            </a:r>
          </a:p>
          <a:p>
            <a:endParaRPr lang="en-US" dirty="0"/>
          </a:p>
          <a:p>
            <a:r>
              <a:rPr lang="en-US" dirty="0" smtClean="0"/>
              <a:t> (2) </a:t>
            </a:r>
            <a:r>
              <a:rPr lang="en-US" dirty="0" err="1" smtClean="0"/>
              <a:t>eigen</a:t>
            </a:r>
            <a:r>
              <a:rPr lang="en-US" dirty="0" smtClean="0"/>
              <a:t>-value</a:t>
            </a:r>
          </a:p>
          <a:p>
            <a:pPr marL="0" indent="0">
              <a:buNone/>
            </a:pPr>
            <a:r>
              <a:rPr lang="en-US" dirty="0"/>
              <a:t> </a:t>
            </a:r>
            <a:endParaRPr lang="en-US" dirty="0" smtClean="0"/>
          </a:p>
          <a:p>
            <a:r>
              <a:rPr lang="en-US" dirty="0" smtClean="0"/>
              <a:t>(3)initial-value theorem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44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§9.7 </a:t>
            </a:r>
            <a:r>
              <a:rPr lang="en-US" altLang="zh-CN" dirty="0"/>
              <a:t>LTI System Analysis Using </a:t>
            </a:r>
            <a:r>
              <a:rPr lang="en-US" dirty="0"/>
              <a:t>Laplace </a:t>
            </a:r>
            <a:r>
              <a:rPr lang="en-US" dirty="0" smtClean="0"/>
              <a:t>Transform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0501748"/>
              </p:ext>
            </p:extLst>
          </p:nvPr>
        </p:nvGraphicFramePr>
        <p:xfrm>
          <a:off x="1696720" y="1308100"/>
          <a:ext cx="233172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5" name="公式" r:id="rId3" imgW="1295400" imgH="419100" progId="Equation.3">
                  <p:embed/>
                </p:oleObj>
              </mc:Choice>
              <mc:Fallback>
                <p:oleObj name="公式" r:id="rId3" imgW="12954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6720" y="1308100"/>
                        <a:ext cx="233172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0833985"/>
              </p:ext>
            </p:extLst>
          </p:nvPr>
        </p:nvGraphicFramePr>
        <p:xfrm>
          <a:off x="4651449" y="3180080"/>
          <a:ext cx="3267562" cy="799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6" name="公式" r:id="rId5" imgW="1815312" imgH="444307" progId="Equation.3">
                  <p:embed/>
                </p:oleObj>
              </mc:Choice>
              <mc:Fallback>
                <p:oleObj name="公式" r:id="rId5" imgW="1815312" imgH="444307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1449" y="3180080"/>
                        <a:ext cx="3267562" cy="79975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1360052"/>
              </p:ext>
            </p:extLst>
          </p:nvPr>
        </p:nvGraphicFramePr>
        <p:xfrm>
          <a:off x="4121976" y="2397918"/>
          <a:ext cx="2787710" cy="3656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9107" name="公式" r:id="rId7" imgW="1548728" imgH="203112" progId="Equation.3">
                  <p:embed/>
                </p:oleObj>
              </mc:Choice>
              <mc:Fallback>
                <p:oleObj name="公式" r:id="rId7" imgW="1548728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21976" y="2397918"/>
                        <a:ext cx="2787710" cy="36560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271249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Interconnections of LTI Systems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Series connection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altLang="zh-CN" dirty="0" smtClean="0"/>
              <a:t>Parallel connection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45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9.8 System Block Diagram</a:t>
            </a:r>
            <a:endParaRPr 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749" y="1866846"/>
            <a:ext cx="8849252" cy="7362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656" y="3273786"/>
            <a:ext cx="8944345" cy="223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42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Feedback Connection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3931920"/>
            <a:ext cx="8129270" cy="2245043"/>
          </a:xfrm>
        </p:spPr>
        <p:txBody>
          <a:bodyPr>
            <a:normAutofit/>
          </a:bodyPr>
          <a:lstStyle/>
          <a:p>
            <a:r>
              <a:rPr lang="en-US" dirty="0" smtClean="0"/>
              <a:t> Feedforward/</a:t>
            </a:r>
            <a:r>
              <a:rPr lang="en-US" b="1" dirty="0" smtClean="0">
                <a:solidFill>
                  <a:srgbClr val="C00000"/>
                </a:solidFill>
              </a:rPr>
              <a:t>Open-loop</a:t>
            </a:r>
            <a:r>
              <a:rPr lang="en-US" dirty="0" smtClean="0"/>
              <a:t> transfer function  </a:t>
            </a:r>
            <a:r>
              <a:rPr lang="en-US" i="1" dirty="0" smtClean="0"/>
              <a:t>H</a:t>
            </a:r>
            <a:r>
              <a:rPr lang="en-US" baseline="-25000" dirty="0" smtClean="0"/>
              <a:t>1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dirty="0" smtClean="0"/>
              <a:t>Feedback transfer function </a:t>
            </a:r>
            <a:r>
              <a:rPr lang="en-US" i="1" dirty="0" smtClean="0"/>
              <a:t>H</a:t>
            </a:r>
            <a:r>
              <a:rPr lang="en-US" baseline="-25000" dirty="0" smtClean="0"/>
              <a:t>2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Loop transfer function 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 smtClean="0"/>
              <a:t>)</a:t>
            </a:r>
            <a:r>
              <a:rPr lang="en-US" i="1" dirty="0"/>
              <a:t> H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 smtClean="0"/>
              <a:t>)</a:t>
            </a:r>
          </a:p>
          <a:p>
            <a:r>
              <a:rPr lang="en-US" dirty="0"/>
              <a:t> </a:t>
            </a:r>
            <a:r>
              <a:rPr lang="en-US" b="1" dirty="0" smtClean="0">
                <a:solidFill>
                  <a:srgbClr val="C00000"/>
                </a:solidFill>
              </a:rPr>
              <a:t>Closed-loop</a:t>
            </a:r>
            <a:r>
              <a:rPr lang="en-US" dirty="0" smtClean="0"/>
              <a:t> </a:t>
            </a:r>
            <a:r>
              <a:rPr lang="en-US" dirty="0"/>
              <a:t>transfer </a:t>
            </a:r>
            <a:r>
              <a:rPr lang="en-US" dirty="0" smtClean="0"/>
              <a:t>function </a:t>
            </a:r>
            <a:r>
              <a:rPr lang="en-US" i="1" dirty="0"/>
              <a:t>H</a:t>
            </a:r>
            <a:r>
              <a:rPr lang="en-US" baseline="-25000" dirty="0"/>
              <a:t>1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/>
              <a:t>) </a:t>
            </a:r>
            <a:r>
              <a:rPr lang="en-US" dirty="0" smtClean="0"/>
              <a:t>/[1+</a:t>
            </a:r>
            <a:r>
              <a:rPr lang="en-US" i="1" dirty="0" smtClean="0"/>
              <a:t>H</a:t>
            </a:r>
            <a:r>
              <a:rPr lang="en-US" baseline="-25000" dirty="0" smtClean="0"/>
              <a:t>1</a:t>
            </a:r>
            <a:r>
              <a:rPr lang="en-US" dirty="0" smtClean="0"/>
              <a:t>(</a:t>
            </a:r>
            <a:r>
              <a:rPr lang="en-US" i="1" dirty="0" smtClean="0"/>
              <a:t>s</a:t>
            </a:r>
            <a:r>
              <a:rPr lang="en-US" dirty="0"/>
              <a:t>)</a:t>
            </a:r>
            <a:r>
              <a:rPr lang="en-US" i="1" dirty="0"/>
              <a:t> H</a:t>
            </a:r>
            <a:r>
              <a:rPr lang="en-US" baseline="-25000" dirty="0"/>
              <a:t>2</a:t>
            </a:r>
            <a:r>
              <a:rPr lang="en-US" dirty="0"/>
              <a:t>(</a:t>
            </a:r>
            <a:r>
              <a:rPr lang="en-US" i="1" dirty="0"/>
              <a:t>s</a:t>
            </a:r>
            <a:r>
              <a:rPr lang="en-US" dirty="0" smtClean="0"/>
              <a:t>)]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§9.8 System Block </a:t>
            </a:r>
            <a:r>
              <a:rPr lang="en-US" dirty="0" smtClean="0"/>
              <a:t>Diagram</a:t>
            </a:r>
            <a:endParaRPr 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662" y="1378147"/>
            <a:ext cx="4688550" cy="2332751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5890258" y="6028653"/>
            <a:ext cx="2156462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to derive it?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7516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r>
              <a:rPr lang="en-US" baseline="30000" dirty="0" smtClean="0"/>
              <a:t>st</a:t>
            </a:r>
            <a:r>
              <a:rPr lang="en-US" dirty="0" smtClean="0"/>
              <a:t>-order Integrator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§9.8 System Block </a:t>
            </a:r>
            <a:r>
              <a:rPr lang="en-US" dirty="0" smtClean="0"/>
              <a:t>Diagram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553608"/>
              </p:ext>
            </p:extLst>
          </p:nvPr>
        </p:nvGraphicFramePr>
        <p:xfrm>
          <a:off x="853439" y="1381760"/>
          <a:ext cx="148590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29" name="公式" r:id="rId3" imgW="825500" imgH="393700" progId="Equation.3">
                  <p:embed/>
                </p:oleObj>
              </mc:Choice>
              <mc:Fallback>
                <p:oleObj name="公式" r:id="rId3" imgW="8255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439" y="1381760"/>
                        <a:ext cx="148590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45407747"/>
              </p:ext>
            </p:extLst>
          </p:nvPr>
        </p:nvGraphicFramePr>
        <p:xfrm>
          <a:off x="1064896" y="2122530"/>
          <a:ext cx="729234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0" name="公式" r:id="rId5" imgW="4051300" imgH="419100" progId="Equation.3">
                  <p:embed/>
                </p:oleObj>
              </mc:Choice>
              <mc:Fallback>
                <p:oleObj name="公式" r:id="rId5" imgW="4051300" imgH="4191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4896" y="2122530"/>
                        <a:ext cx="729234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" name="图片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39669" y="2959484"/>
            <a:ext cx="4688550" cy="2332751"/>
          </a:xfrm>
          <a:prstGeom prst="rect">
            <a:avLst/>
          </a:prstGeom>
        </p:spPr>
      </p:pic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5906860"/>
              </p:ext>
            </p:extLst>
          </p:nvPr>
        </p:nvGraphicFramePr>
        <p:xfrm>
          <a:off x="965200" y="5354320"/>
          <a:ext cx="1713757" cy="7083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031" name="公式" r:id="rId8" imgW="952087" imgH="393529" progId="Equation.3">
                  <p:embed/>
                </p:oleObj>
              </mc:Choice>
              <mc:Fallback>
                <p:oleObj name="公式" r:id="rId8" imgW="952087" imgH="39352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354320"/>
                        <a:ext cx="1713757" cy="70835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矩形 15"/>
          <p:cNvSpPr/>
          <p:nvPr/>
        </p:nvSpPr>
        <p:spPr>
          <a:xfrm>
            <a:off x="628650" y="2259930"/>
            <a:ext cx="567692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9592" y="5523830"/>
            <a:ext cx="4683127" cy="369332"/>
          </a:xfrm>
          <a:prstGeom prst="rect">
            <a:avLst/>
          </a:prstGeom>
          <a:noFill/>
          <a:ln w="9525">
            <a:noFill/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(b)                                  </a:t>
            </a:r>
            <a:r>
              <a:rPr lang="en-US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 connection</a:t>
            </a:r>
            <a:endParaRPr lang="en-US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600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r>
              <a:rPr lang="en-US" baseline="30000" dirty="0" smtClean="0"/>
              <a:t>nd</a:t>
            </a:r>
            <a:r>
              <a:rPr lang="en-US" dirty="0" smtClean="0"/>
              <a:t>-order Filter (no zero)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§9.8 System Block </a:t>
            </a:r>
            <a:r>
              <a:rPr lang="en-US" dirty="0" smtClean="0"/>
              <a:t>Diagram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8217611"/>
              </p:ext>
            </p:extLst>
          </p:nvPr>
        </p:nvGraphicFramePr>
        <p:xfrm>
          <a:off x="741679" y="1379583"/>
          <a:ext cx="208026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3" name="公式" r:id="rId3" imgW="1155700" imgH="393700" progId="Equation.3">
                  <p:embed/>
                </p:oleObj>
              </mc:Choice>
              <mc:Fallback>
                <p:oleObj name="公式" r:id="rId3" imgW="1155700" imgH="3937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79" y="1379583"/>
                        <a:ext cx="208026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8100510"/>
              </p:ext>
            </p:extLst>
          </p:nvPr>
        </p:nvGraphicFramePr>
        <p:xfrm>
          <a:off x="741679" y="2310700"/>
          <a:ext cx="267462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4" name="公式" r:id="rId5" imgW="1485900" imgH="228600" progId="Equation.3">
                  <p:embed/>
                </p:oleObj>
              </mc:Choice>
              <mc:Fallback>
                <p:oleObj name="公式" r:id="rId5" imgW="1485900" imgH="2286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79" y="2310700"/>
                        <a:ext cx="267462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7546512"/>
              </p:ext>
            </p:extLst>
          </p:nvPr>
        </p:nvGraphicFramePr>
        <p:xfrm>
          <a:off x="741679" y="2944637"/>
          <a:ext cx="3337560" cy="4114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6065" name="公式" r:id="rId7" imgW="1854200" imgH="228600" progId="Equation.3">
                  <p:embed/>
                </p:oleObj>
              </mc:Choice>
              <mc:Fallback>
                <p:oleObj name="公式" r:id="rId7" imgW="1854200" imgH="2286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679" y="2944637"/>
                        <a:ext cx="3337560" cy="4114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42975" y="3484484"/>
            <a:ext cx="6380775" cy="27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448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</a:t>
            </a:r>
            <a:r>
              <a:rPr lang="en-US" baseline="30000" dirty="0"/>
              <a:t>nd</a:t>
            </a:r>
            <a:r>
              <a:rPr lang="en-US" dirty="0"/>
              <a:t>-order Filter </a:t>
            </a:r>
            <a:r>
              <a:rPr lang="en-US" dirty="0" smtClean="0"/>
              <a:t>(2 poles, 2 zeros)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49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§9.8 System Block </a:t>
            </a:r>
            <a:r>
              <a:rPr lang="en-US" dirty="0" smtClean="0"/>
              <a:t>Diagram</a:t>
            </a:r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134080"/>
              </p:ext>
            </p:extLst>
          </p:nvPr>
        </p:nvGraphicFramePr>
        <p:xfrm>
          <a:off x="678020" y="1242060"/>
          <a:ext cx="2171700" cy="7543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5" name="公式" r:id="rId3" imgW="1206500" imgH="419100" progId="Equation.3">
                  <p:embed/>
                </p:oleObj>
              </mc:Choice>
              <mc:Fallback>
                <p:oleObj name="公式" r:id="rId3" imgW="1206500" imgH="4191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8020" y="1242060"/>
                        <a:ext cx="2171700" cy="75438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22801422"/>
              </p:ext>
            </p:extLst>
          </p:nvPr>
        </p:nvGraphicFramePr>
        <p:xfrm>
          <a:off x="655638" y="1987550"/>
          <a:ext cx="4068762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6" name="公式" r:id="rId5" imgW="2260440" imgH="393480" progId="Equation.3">
                  <p:embed/>
                </p:oleObj>
              </mc:Choice>
              <mc:Fallback>
                <p:oleObj name="公式" r:id="rId5" imgW="2260440" imgH="3934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638" y="1987550"/>
                        <a:ext cx="4068762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9739623"/>
              </p:ext>
            </p:extLst>
          </p:nvPr>
        </p:nvGraphicFramePr>
        <p:xfrm>
          <a:off x="628650" y="2618271"/>
          <a:ext cx="5806440" cy="7086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7077" name="公式" r:id="rId7" imgW="3225800" imgH="393700" progId="Equation.3">
                  <p:embed/>
                </p:oleObj>
              </mc:Choice>
              <mc:Fallback>
                <p:oleObj name="公式" r:id="rId7" imgW="3225800" imgH="3937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" y="2618271"/>
                        <a:ext cx="5806440" cy="7086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14135" y="3441065"/>
            <a:ext cx="4961208" cy="3141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33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 Why Laplace transform?</a:t>
            </a:r>
          </a:p>
          <a:p>
            <a:r>
              <a:rPr lang="en-US" dirty="0"/>
              <a:t> </a:t>
            </a:r>
            <a:r>
              <a:rPr lang="en-US" b="1" u="sng" dirty="0" smtClean="0">
                <a:solidFill>
                  <a:srgbClr val="FF0000"/>
                </a:solidFill>
              </a:rPr>
              <a:t>Laplace transform = integral + ROC</a:t>
            </a:r>
          </a:p>
          <a:p>
            <a:r>
              <a:rPr lang="en-US" dirty="0"/>
              <a:t> </a:t>
            </a:r>
            <a:r>
              <a:rPr lang="en-US" dirty="0" smtClean="0"/>
              <a:t>ROC and poles</a:t>
            </a:r>
          </a:p>
          <a:p>
            <a:r>
              <a:rPr lang="en-US" dirty="0"/>
              <a:t> </a:t>
            </a:r>
            <a:r>
              <a:rPr lang="en-US" dirty="0" smtClean="0"/>
              <a:t>Inverse Laplace transform—still keep watch on ROC</a:t>
            </a:r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50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4490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Unilateral Laplace Transform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 Unilateral Laplace Transform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 unilateral Laplace transform pair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dirty="0"/>
              <a:t> </a:t>
            </a:r>
            <a:r>
              <a:rPr lang="en-US" dirty="0" smtClean="0"/>
              <a:t>Unilateral L-transform can be used to analyze </a:t>
            </a:r>
            <a:r>
              <a:rPr lang="en-US" b="1" dirty="0" smtClean="0">
                <a:solidFill>
                  <a:srgbClr val="FF0000"/>
                </a:solidFill>
              </a:rPr>
              <a:t>causal</a:t>
            </a:r>
            <a:r>
              <a:rPr lang="en-US" dirty="0" smtClean="0"/>
              <a:t> systems, especially linear systems defined by constant-coefficient DEs</a:t>
            </a:r>
          </a:p>
          <a:p>
            <a:pPr lvl="1"/>
            <a:r>
              <a:rPr lang="en-US" dirty="0"/>
              <a:t> </a:t>
            </a:r>
            <a:r>
              <a:rPr lang="en-US" dirty="0" smtClean="0"/>
              <a:t>especially usefully for system response analysis with </a:t>
            </a:r>
            <a:r>
              <a:rPr lang="en-US" b="1" dirty="0" smtClean="0">
                <a:solidFill>
                  <a:srgbClr val="FF0000"/>
                </a:solidFill>
              </a:rPr>
              <a:t>none-zero initial states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51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</a:t>
            </a:r>
            <a:r>
              <a:rPr lang="en-US" dirty="0" smtClean="0"/>
              <a:t>9.9 Unilateral Laplace Transform</a:t>
            </a:r>
            <a:endParaRPr lang="en-US" dirty="0"/>
          </a:p>
          <a:p>
            <a:endParaRPr lang="en-US" dirty="0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1977942"/>
              </p:ext>
            </p:extLst>
          </p:nvPr>
        </p:nvGraphicFramePr>
        <p:xfrm>
          <a:off x="1881603" y="3221103"/>
          <a:ext cx="2651760" cy="5214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37" name="公式" r:id="rId3" imgW="1473200" imgH="304800" progId="Equation.3">
                  <p:embed/>
                </p:oleObj>
              </mc:Choice>
              <mc:Fallback>
                <p:oleObj name="公式" r:id="rId3" imgW="1473200" imgH="3048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603" y="3221103"/>
                        <a:ext cx="2651760" cy="52142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2793256"/>
              </p:ext>
            </p:extLst>
          </p:nvPr>
        </p:nvGraphicFramePr>
        <p:xfrm>
          <a:off x="1881603" y="1936508"/>
          <a:ext cx="2194560" cy="59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8038" name="公式" r:id="rId5" imgW="1219200" imgH="330200" progId="Equation.3">
                  <p:embed/>
                </p:oleObj>
              </mc:Choice>
              <mc:Fallback>
                <p:oleObj name="公式" r:id="rId5" imgW="1219200" imgH="330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1603" y="1936508"/>
                        <a:ext cx="2194560" cy="59436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97356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 smtClean="0"/>
              <a:t>Unilateral L-Transform vs.</a:t>
            </a:r>
            <a:br>
              <a:rPr lang="en-US" altLang="zh-CN" dirty="0" smtClean="0"/>
            </a:br>
            <a:r>
              <a:rPr lang="en-US" altLang="zh-CN" dirty="0" smtClean="0"/>
              <a:t>Bilateral L-Transform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内容占位符 6"/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Unilateral </a:t>
                </a:r>
                <a:r>
                  <a:rPr lang="en-US" dirty="0"/>
                  <a:t>Laplace </a:t>
                </a:r>
                <a:r>
                  <a:rPr lang="en-US" dirty="0" smtClean="0"/>
                  <a:t>Transform </a:t>
                </a:r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𝒳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𝒰ℒ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7" name="内容占位符 6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665" t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内容占位符 7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 smtClean="0"/>
                  <a:t> Bilateral </a:t>
                </a:r>
                <a:r>
                  <a:rPr lang="en-US" dirty="0"/>
                  <a:t>Laplace </a:t>
                </a:r>
                <a:r>
                  <a:rPr lang="en-US" dirty="0" smtClean="0"/>
                  <a:t>Transform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</m:oMath>
                  </m:oMathPara>
                </a14:m>
                <a:endParaRPr lang="en-US" b="0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groupChr>
                        <m:groupChrPr>
                          <m:chr m:val="↔"/>
                          <m:vertJc m:val="bot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e>
                      </m:groupChr>
                      <m:r>
                        <a:rPr lang="en-US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𝑋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240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8" name="内容占位符 7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665" t="-21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52</a:t>
            </a:fld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矩形 13"/>
              <p:cNvSpPr/>
              <p:nvPr/>
            </p:nvSpPr>
            <p:spPr>
              <a:xfrm>
                <a:off x="2469311" y="3756738"/>
                <a:ext cx="4205378" cy="5847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矩形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9311" y="3756738"/>
                <a:ext cx="4205378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矩形 14"/>
          <p:cNvSpPr/>
          <p:nvPr/>
        </p:nvSpPr>
        <p:spPr>
          <a:xfrm>
            <a:off x="1657631" y="4688463"/>
            <a:ext cx="63954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Unilateral Laplace </a:t>
            </a:r>
            <a:r>
              <a:rPr lang="en-US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Transform: L-transform or right-sided signal </a:t>
            </a:r>
            <a:r>
              <a:rPr lang="en-US" sz="2400" dirty="0" smtClean="0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 </a:t>
            </a:r>
            <a:r>
              <a:rPr 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R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Wingdings" panose="05000000000000000000" pitchFamily="2" charset="2"/>
              </a:rPr>
              <a:t>OC: right-sided plane</a:t>
            </a:r>
            <a:r>
              <a:rPr lang="en-US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9052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Eg</a:t>
            </a:r>
            <a:r>
              <a:rPr lang="en-US" altLang="zh-CN" dirty="0" smtClean="0"/>
              <a:t>. 9.32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>
              <a:xfrm>
                <a:off x="4570922" y="1240485"/>
                <a:ext cx="3886200" cy="48404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𝒳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4570922" y="1240485"/>
                <a:ext cx="3886200" cy="484044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2"/>
              </p:nvPr>
            </p:nvSpPr>
            <p:spPr>
              <a:xfrm>
                <a:off x="685800" y="1336514"/>
                <a:ext cx="3886200" cy="484044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>
                          <a:rPr lang="en-US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85800" y="1336514"/>
                <a:ext cx="3886200" cy="4840449"/>
              </a:xfr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53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918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. 9.33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sz="half"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b="0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/>
              </a:p>
              <a:p>
                <a:endParaRPr lang="en-US" dirty="0" smtClean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p>
                        </m:sSup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sz="2400" i="1">
                        <a:latin typeface="Cambria Math" panose="02040503050406030204" pitchFamily="18" charset="0"/>
                      </a:rPr>
                      <m:t>,  </m:t>
                    </m:r>
                  </m:oMath>
                </a14:m>
                <a:endParaRPr lang="en-US" sz="2400" i="1" dirty="0" smtClean="0"/>
              </a:p>
              <a:p>
                <a:pPr marL="0" indent="0">
                  <a:buNone/>
                </a:pPr>
                <a:r>
                  <a:rPr lang="en-US" sz="2400" dirty="0" smtClean="0"/>
                  <a:t> 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&gt;−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内容占位符 3"/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endParaRPr lang="en-US" dirty="0" smtClean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𝒳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   </m:t>
                    </m:r>
                  </m:oMath>
                </a14:m>
                <a:endParaRPr lang="en-US" i="1" dirty="0" smtClean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 smtClean="0"/>
                  <a:t>   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dirty="0" smtClean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+1)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𝒳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US" sz="2400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e>
                              </m:d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𝑢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limLoc m:val="subSup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𝑎𝑡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p>
                          </m:sSup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en-US" sz="2400" i="1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ℛ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&gt;−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en-US" sz="240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4" name="内容占位符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1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54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2233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. 9.35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内容占位符 8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1"/>
                <a:ext cx="7886700" cy="4565162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buNone/>
                </a:pPr>
                <a:r>
                  <a:rPr lang="en-US" altLang="zh-CN" dirty="0" smtClean="0"/>
                  <a:t>Bilateral Laplace Transform</a:t>
                </a:r>
                <a:r>
                  <a:rPr lang="en-US" dirty="0" smtClean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&lt;−2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2&lt;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&lt;−1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&gt;−1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en-US" altLang="zh-CN" dirty="0" smtClean="0"/>
                  <a:t>Unilateral </a:t>
                </a:r>
                <a:r>
                  <a:rPr lang="en-US" altLang="zh-CN" dirty="0"/>
                  <a:t>Laplace Transform</a:t>
                </a:r>
                <a:r>
                  <a:rPr lang="en-US" dirty="0"/>
                  <a:t> </a:t>
                </a:r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𝒳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 </m:t>
                    </m:r>
                    <m:r>
                      <m:rPr>
                        <m:nor/>
                      </m:rPr>
                      <a:rPr lang="en-US"/>
                      <m:t>for</m:t>
                    </m:r>
                    <m:r>
                      <m:rPr>
                        <m:nor/>
                      </m:rPr>
                      <a:rPr lang="en-US"/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</m:sSup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9" name="内容占位符 8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1"/>
                <a:ext cx="7886700" cy="4565162"/>
              </a:xfrm>
              <a:blipFill>
                <a:blip r:embed="rId2"/>
                <a:stretch>
                  <a:fillRect l="-1391" t="-30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55</a:t>
            </a:fld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  <p:sp>
        <p:nvSpPr>
          <p:cNvPr id="11" name="矩形 10"/>
          <p:cNvSpPr/>
          <p:nvPr/>
        </p:nvSpPr>
        <p:spPr>
          <a:xfrm>
            <a:off x="1107242" y="5745475"/>
            <a:ext cx="2156462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Q: 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How about </a:t>
            </a:r>
            <a:r>
              <a:rPr lang="en-US" altLang="zh-CN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&lt;0?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958588" y="5767213"/>
            <a:ext cx="2156462" cy="369332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ot specified!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278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 10"/>
          <p:cNvSpPr>
            <a:spLocks noGrp="1"/>
          </p:cNvSpPr>
          <p:nvPr>
            <p:ph type="title"/>
          </p:nvPr>
        </p:nvSpPr>
        <p:spPr>
          <a:xfrm>
            <a:off x="628649" y="365126"/>
            <a:ext cx="8325569" cy="792000"/>
          </a:xfrm>
        </p:spPr>
        <p:txBody>
          <a:bodyPr>
            <a:noAutofit/>
          </a:bodyPr>
          <a:lstStyle/>
          <a:p>
            <a:r>
              <a:rPr lang="en-US" sz="3200" dirty="0" smtClean="0"/>
              <a:t>Convolution Property of Unilateral L-Transform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11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for all 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&lt;0, 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)=0, 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2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/>
                  <a:t>)=</a:t>
                </a:r>
                <a:r>
                  <a:rPr lang="en-US" dirty="0" smtClean="0"/>
                  <a:t>0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)∗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𝒰ℒ</m:t>
                              </m:r>
                            </m:e>
                          </m:groupChr>
                        </m:e>
                      </m:box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)∙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𝒳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If either </a:t>
                </a:r>
                <a:r>
                  <a:rPr lang="en-US" i="1" dirty="0" smtClean="0"/>
                  <a:t>x</a:t>
                </a:r>
                <a:r>
                  <a:rPr lang="en-US" baseline="-25000" dirty="0" smtClean="0"/>
                  <a:t>1</a:t>
                </a:r>
                <a:r>
                  <a:rPr lang="en-US" dirty="0" smtClean="0"/>
                  <a:t>(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) or </a:t>
                </a:r>
                <a:r>
                  <a:rPr lang="en-US" i="1" dirty="0"/>
                  <a:t>x</a:t>
                </a:r>
                <a:r>
                  <a:rPr lang="en-US" baseline="-25000" dirty="0"/>
                  <a:t>2</a:t>
                </a:r>
                <a:r>
                  <a:rPr lang="en-US" dirty="0"/>
                  <a:t>(</a:t>
                </a:r>
                <a:r>
                  <a:rPr lang="en-US" i="1" dirty="0"/>
                  <a:t>t</a:t>
                </a:r>
                <a:r>
                  <a:rPr lang="en-US" dirty="0" smtClean="0"/>
                  <a:t>) is nonzero for </a:t>
                </a:r>
                <a:r>
                  <a:rPr lang="en-US" i="1" dirty="0" smtClean="0"/>
                  <a:t>t</a:t>
                </a:r>
                <a:r>
                  <a:rPr lang="en-US" dirty="0" smtClean="0"/>
                  <a:t>&lt;0, the convolution property does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NOT</a:t>
                </a:r>
                <a:r>
                  <a:rPr lang="en-US" dirty="0" smtClean="0"/>
                  <a:t> hold</a:t>
                </a: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内容占位符 1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56</a:t>
            </a:fld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87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. 9.37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 smtClean="0"/>
                  <a:t> LTI system described by differential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Unilateral L-transform of system 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Input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 smtClean="0"/>
                  <a:t> Unilateral L-transform of output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ℋ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/2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Inverse unilateral L-transform gives the output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𝛼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50" t="-27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57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510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Differentiation Property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 smtClean="0"/>
                  <a:t> </a:t>
                </a:r>
                <a:r>
                  <a:rPr lang="en-US" dirty="0"/>
                  <a:t>Unilateral Laplace transform </a:t>
                </a:r>
                <a:r>
                  <a:rPr lang="en-US"/>
                  <a:t>of </a:t>
                </a:r>
                <a:r>
                  <a:rPr lang="en-US" smtClean="0"/>
                  <a:t>first-order </a:t>
                </a:r>
                <a:r>
                  <a:rPr lang="en-US" dirty="0" smtClean="0"/>
                  <a:t>differentiation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endParaRPr lang="en-US" i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f>
                            <m:f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𝑑𝑡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𝑠𝑡</m:t>
                                  </m:r>
                                </m:sup>
                              </m:sSup>
                            </m:e>
                          </m:d>
                        </m:e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</m:sSubSup>
                      <m:r>
                        <a:rPr lang="en-US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s</m:t>
                      </m:r>
                      <m:nary>
                        <m:naryPr>
                          <m:limLoc m:val="subSup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+∞</m:t>
                          </m:r>
                        </m:sup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𝑠𝑡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Unilateral Laplace transform of second-order differentiation</a:t>
                </a: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box>
                        <m:box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boxPr>
                        <m:e>
                          <m:groupChr>
                            <m:groupChrPr>
                              <m:chr m:val="↔"/>
                              <m:vertJc m:val="bot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𝒰ℒ</m:t>
                              </m:r>
                            </m:e>
                          </m:groupChr>
                        </m:e>
                      </m:box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𝒳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𝑠𝑥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14" t="-2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58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  <p:sp>
        <p:nvSpPr>
          <p:cNvPr id="7" name="矩形 6"/>
          <p:cNvSpPr/>
          <p:nvPr/>
        </p:nvSpPr>
        <p:spPr>
          <a:xfrm>
            <a:off x="3338422" y="5946130"/>
            <a:ext cx="5348378" cy="461665"/>
          </a:xfrm>
          <a:prstGeom prst="rect">
            <a:avLst/>
          </a:prstGeom>
          <a:ln w="25400">
            <a:solidFill>
              <a:srgbClr val="0000FF"/>
            </a:solidFill>
          </a:ln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Different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bilateral L-transform case</a:t>
            </a:r>
          </a:p>
        </p:txBody>
      </p:sp>
    </p:spTree>
    <p:extLst>
      <p:ext uri="{BB962C8B-B14F-4D97-AF65-F5344CB8AC3E}">
        <p14:creationId xmlns:p14="http://schemas.microsoft.com/office/powerpoint/2010/main" val="4071941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Eg</a:t>
            </a:r>
            <a:r>
              <a:rPr lang="en-US" dirty="0" smtClean="0"/>
              <a:t>. 9.38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628650" y="1308100"/>
                <a:ext cx="7886700" cy="5144458"/>
              </a:xfrm>
            </p:spPr>
            <p:txBody>
              <a:bodyPr>
                <a:normAutofit fontScale="62500" lnSpcReduction="20000"/>
              </a:bodyPr>
              <a:lstStyle/>
              <a:p>
                <a:r>
                  <a:rPr lang="en-US" dirty="0" smtClean="0"/>
                  <a:t> LTI system described by differential equation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𝑑𝑦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</a:t>
                </a:r>
                <a:r>
                  <a:rPr lang="en-US" dirty="0"/>
                  <a:t>Input signal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b="1" dirty="0" smtClean="0">
                    <a:solidFill>
                      <a:srgbClr val="FF0000"/>
                    </a:solidFill>
                  </a:rPr>
                  <a:t>Non-zero initial conditions</a:t>
                </a:r>
                <a:r>
                  <a:rPr lang="en-US" dirty="0" smtClean="0"/>
                  <a:t>: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(0</a:t>
                </a:r>
                <a:r>
                  <a:rPr lang="en-US" baseline="30000" dirty="0" smtClean="0"/>
                  <a:t>-</a:t>
                </a:r>
                <a:r>
                  <a:rPr lang="en-US" dirty="0" smtClean="0"/>
                  <a:t>)=</a:t>
                </a:r>
                <a:r>
                  <a:rPr lang="el-GR" i="1" dirty="0" smtClean="0"/>
                  <a:t>β</a:t>
                </a:r>
                <a:r>
                  <a:rPr lang="en-US" dirty="0" smtClean="0"/>
                  <a:t>, </a:t>
                </a:r>
                <a:r>
                  <a:rPr lang="en-US" i="1" dirty="0" smtClean="0"/>
                  <a:t>y</a:t>
                </a:r>
                <a:r>
                  <a:rPr lang="en-US" dirty="0" smtClean="0"/>
                  <a:t>’</a:t>
                </a:r>
                <a:r>
                  <a:rPr lang="en-US" baseline="30000" dirty="0" smtClean="0"/>
                  <a:t> </a:t>
                </a:r>
                <a:r>
                  <a:rPr lang="en-US" dirty="0" smtClean="0"/>
                  <a:t>(0</a:t>
                </a:r>
                <a:r>
                  <a:rPr lang="en-US" baseline="30000" dirty="0" smtClean="0"/>
                  <a:t>-</a:t>
                </a:r>
                <a:r>
                  <a:rPr lang="en-US" dirty="0" smtClean="0"/>
                  <a:t>)=</a:t>
                </a:r>
                <a:r>
                  <a:rPr lang="el-GR" i="1" dirty="0" smtClean="0"/>
                  <a:t>γ</a:t>
                </a:r>
                <a:endParaRPr lang="en-US" i="1" dirty="0" smtClean="0"/>
              </a:p>
              <a:p>
                <a:r>
                  <a:rPr lang="en-US" dirty="0" smtClean="0"/>
                  <a:t> Apply unilateral </a:t>
                </a:r>
                <a:r>
                  <a:rPr lang="en-US" dirty="0"/>
                  <a:t>L-transform </a:t>
                </a:r>
                <a:r>
                  <a:rPr lang="en-US" dirty="0" smtClean="0"/>
                  <a:t>to both sides of DE </a:t>
                </a:r>
                <a:r>
                  <a:rPr lang="en-US" dirty="0"/>
                  <a:t>system </a:t>
                </a:r>
                <a:r>
                  <a:rPr lang="en-US" dirty="0" smtClean="0"/>
                  <a:t>function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−3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𝛽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+3)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𝛾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𝛼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+1)(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+2)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 smtClean="0"/>
                  <a:t> The last term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𝛼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+2)</m:t>
                        </m:r>
                      </m:den>
                    </m:f>
                  </m:oMath>
                </a14:m>
                <a:r>
                  <a:rPr lang="en-US" dirty="0" smtClean="0"/>
                  <a:t> corresponds to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zero-state</a:t>
                </a:r>
                <a:r>
                  <a:rPr lang="en-US" dirty="0" smtClean="0"/>
                  <a:t>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response</a:t>
                </a:r>
                <a:r>
                  <a:rPr lang="en-US" dirty="0" smtClean="0"/>
                  <a:t> (</a:t>
                </a:r>
                <a:r>
                  <a:rPr lang="en-US" dirty="0" err="1" smtClean="0"/>
                  <a:t>Eg</a:t>
                </a:r>
                <a:r>
                  <a:rPr lang="en-US" dirty="0" smtClean="0"/>
                  <a:t>. 9.37)</a:t>
                </a:r>
              </a:p>
              <a:p>
                <a:r>
                  <a:rPr lang="en-US" dirty="0"/>
                  <a:t> </a:t>
                </a:r>
                <a:r>
                  <a:rPr lang="en-US" dirty="0" smtClean="0"/>
                  <a:t>The first two terms correspond to </a:t>
                </a:r>
                <a:r>
                  <a:rPr lang="en-US" b="1" dirty="0" smtClean="0">
                    <a:solidFill>
                      <a:srgbClr val="C00000"/>
                    </a:solidFill>
                  </a:rPr>
                  <a:t>zero-input response</a:t>
                </a:r>
              </a:p>
              <a:p>
                <a:r>
                  <a:rPr lang="en-US" dirty="0" smtClean="0"/>
                  <a:t>A numerical example </a:t>
                </a:r>
                <a:r>
                  <a:rPr lang="el-GR" i="1" dirty="0" smtClean="0"/>
                  <a:t>α</a:t>
                </a:r>
                <a:r>
                  <a:rPr lang="en-US" dirty="0" smtClean="0"/>
                  <a:t>=2, </a:t>
                </a:r>
                <a:r>
                  <a:rPr lang="el-GR" i="1" dirty="0" smtClean="0"/>
                  <a:t>β</a:t>
                </a:r>
                <a:r>
                  <a:rPr lang="en-US" dirty="0" smtClean="0"/>
                  <a:t>=3, </a:t>
                </a:r>
                <a:r>
                  <a:rPr lang="el-GR" i="1" dirty="0" smtClean="0"/>
                  <a:t>γ</a:t>
                </a:r>
                <a:r>
                  <a:rPr lang="en-US" dirty="0" smtClean="0"/>
                  <a:t>=-5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𝒴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den>
                      </m:f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+2</m:t>
                          </m:r>
                        </m:den>
                      </m:f>
                    </m:oMath>
                  </m:oMathPara>
                </a14:m>
                <a:endParaRPr lang="en-US" dirty="0" smtClean="0"/>
              </a:p>
              <a:p>
                <a:r>
                  <a:rPr lang="en-US" dirty="0"/>
                  <a:t> </a:t>
                </a:r>
                <a:r>
                  <a:rPr lang="en-US" dirty="0" smtClean="0"/>
                  <a:t>Inverse unilateral L-transform gives the output signal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308100"/>
                <a:ext cx="7886700" cy="5144458"/>
              </a:xfrm>
              <a:blipFill>
                <a:blip r:embed="rId2"/>
                <a:stretch>
                  <a:fillRect l="-464" t="-21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 smtClean="0"/>
              <a:t>信号与系统</a:t>
            </a:r>
            <a:r>
              <a:rPr lang="en-US" altLang="zh-CN" dirty="0" smtClean="0"/>
              <a:t>·2020</a:t>
            </a:r>
            <a:r>
              <a:rPr lang="zh-CN" altLang="en-US" dirty="0" smtClean="0"/>
              <a:t>秋</a:t>
            </a:r>
            <a:endParaRPr lang="zh-CN" altLang="en-US" dirty="0" smtClean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EAE409-083D-4484-8E90-ADA3961C591A}" type="slidenum">
              <a:rPr lang="zh-CN" altLang="en-US" smtClean="0"/>
              <a:t>59</a:t>
            </a:fld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§9.9 Unilateral Laplace </a:t>
            </a:r>
            <a:r>
              <a:rPr lang="en-US" dirty="0" smtClean="0"/>
              <a:t>Transform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53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8004</TotalTime>
  <Words>4208</Words>
  <Application>Microsoft Office PowerPoint</Application>
  <PresentationFormat>全屏显示(4:3)</PresentationFormat>
  <Paragraphs>549</Paragraphs>
  <Slides>59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59</vt:i4>
      </vt:variant>
    </vt:vector>
  </HeadingPairs>
  <TitlesOfParts>
    <vt:vector size="70" baseType="lpstr">
      <vt:lpstr>等线</vt:lpstr>
      <vt:lpstr>宋体</vt:lpstr>
      <vt:lpstr>微软雅黑</vt:lpstr>
      <vt:lpstr>微软雅黑</vt:lpstr>
      <vt:lpstr>Arial</vt:lpstr>
      <vt:lpstr>Cambria Math</vt:lpstr>
      <vt:lpstr>Script MT Bold</vt:lpstr>
      <vt:lpstr>Times New Roman</vt:lpstr>
      <vt:lpstr>Wingdings</vt:lpstr>
      <vt:lpstr>Office 主题​​</vt:lpstr>
      <vt:lpstr>公式</vt:lpstr>
      <vt:lpstr>PowerPoint 演示文稿</vt:lpstr>
      <vt:lpstr>Chapter 9  The Laplace Transform</vt:lpstr>
      <vt:lpstr>Limitation of Fourier Transform</vt:lpstr>
      <vt:lpstr>Outline</vt:lpstr>
      <vt:lpstr>Laplace Transform</vt:lpstr>
      <vt:lpstr>Relationship between Fourier Transform and Laplace Transform</vt:lpstr>
      <vt:lpstr>Example 9.1</vt:lpstr>
      <vt:lpstr>Example 9.2</vt:lpstr>
      <vt:lpstr>Region of Convergence (ROC)</vt:lpstr>
      <vt:lpstr>ROC on the s-plane</vt:lpstr>
      <vt:lpstr>Example of ROC (Example 9.3)</vt:lpstr>
      <vt:lpstr>ROC of Complex Exponential</vt:lpstr>
      <vt:lpstr>Poles/Zeros of Rational Laplace Transform</vt:lpstr>
      <vt:lpstr>Pole-Zero Plot</vt:lpstr>
      <vt:lpstr>Laplace Transform Convergence vs. Fourier Transform Convergence</vt:lpstr>
      <vt:lpstr>Properties of Laplace Transform ROC</vt:lpstr>
      <vt:lpstr>Sided Signals</vt:lpstr>
      <vt:lpstr>Properties of Laplace Transform ROC</vt:lpstr>
      <vt:lpstr>Inverse Laplace Transform</vt:lpstr>
      <vt:lpstr>How to Solve Inverse Laplace Transform</vt:lpstr>
      <vt:lpstr>Examples of Inverse Laplace Transform</vt:lpstr>
      <vt:lpstr>Linearity of Laplace Transform</vt:lpstr>
      <vt:lpstr>ROC Extension by Pole-Zero Cancellation</vt:lpstr>
      <vt:lpstr>Time Shifting of Laplace Transform</vt:lpstr>
      <vt:lpstr>Time Scaling of Laplace Transform</vt:lpstr>
      <vt:lpstr>s-Domain Shifting</vt:lpstr>
      <vt:lpstr>Conjugation</vt:lpstr>
      <vt:lpstr>Convolution Property of Laplace Transform</vt:lpstr>
      <vt:lpstr>Differentiation in Time Domain</vt:lpstr>
      <vt:lpstr>Differentiation in s-Domain</vt:lpstr>
      <vt:lpstr>Differentiation in s-Domain--Examples</vt:lpstr>
      <vt:lpstr>Integration in Time Domain</vt:lpstr>
      <vt:lpstr>Initial-Value and Final-Value Theorems</vt:lpstr>
      <vt:lpstr>Laplace Transform Pairs</vt:lpstr>
      <vt:lpstr>System Function / Transfer Function</vt:lpstr>
      <vt:lpstr>System Causality</vt:lpstr>
      <vt:lpstr>System Causality--Examples</vt:lpstr>
      <vt:lpstr>System Stability</vt:lpstr>
      <vt:lpstr>System Stability—Example 9.20</vt:lpstr>
      <vt:lpstr>System Stability—2nd Order System</vt:lpstr>
      <vt:lpstr>System Function of LTI System</vt:lpstr>
      <vt:lpstr>System Function of RLC System</vt:lpstr>
      <vt:lpstr>Example 9.25</vt:lpstr>
      <vt:lpstr>Example 9.26</vt:lpstr>
      <vt:lpstr>Interconnections of LTI Systems</vt:lpstr>
      <vt:lpstr>Feedback Connection</vt:lpstr>
      <vt:lpstr>1st-order Integrator</vt:lpstr>
      <vt:lpstr>2nd-order Filter (no zero)</vt:lpstr>
      <vt:lpstr>2nd-order Filter (2 poles, 2 zeros)</vt:lpstr>
      <vt:lpstr>Summary</vt:lpstr>
      <vt:lpstr>Unilateral Laplace Transform</vt:lpstr>
      <vt:lpstr>Unilateral L-Transform vs. Bilateral L-Transform</vt:lpstr>
      <vt:lpstr>Eg. 9.32</vt:lpstr>
      <vt:lpstr>Eg. 9.33</vt:lpstr>
      <vt:lpstr>Eg. 9.35</vt:lpstr>
      <vt:lpstr>Convolution Property of Unilateral L-Transform</vt:lpstr>
      <vt:lpstr>Eg. 9.37</vt:lpstr>
      <vt:lpstr>Differentiation Property</vt:lpstr>
      <vt:lpstr>Eg. 9.38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Hanjun Jiang</dc:creator>
  <cp:lastModifiedBy>Hanjun Jiang</cp:lastModifiedBy>
  <cp:revision>543</cp:revision>
  <dcterms:created xsi:type="dcterms:W3CDTF">2018-09-11T08:26:55Z</dcterms:created>
  <dcterms:modified xsi:type="dcterms:W3CDTF">2020-10-21T00:45:08Z</dcterms:modified>
</cp:coreProperties>
</file>