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87" r:id="rId3"/>
    <p:sldId id="562" r:id="rId4"/>
    <p:sldId id="575" r:id="rId5"/>
    <p:sldId id="570" r:id="rId6"/>
    <p:sldId id="571" r:id="rId7"/>
    <p:sldId id="572" r:id="rId8"/>
    <p:sldId id="573" r:id="rId9"/>
    <p:sldId id="576" r:id="rId10"/>
    <p:sldId id="577" r:id="rId11"/>
    <p:sldId id="578" r:id="rId12"/>
    <p:sldId id="574" r:id="rId13"/>
    <p:sldId id="561" r:id="rId14"/>
    <p:sldId id="563" r:id="rId15"/>
    <p:sldId id="564" r:id="rId16"/>
    <p:sldId id="565" r:id="rId17"/>
    <p:sldId id="566" r:id="rId18"/>
    <p:sldId id="567" r:id="rId19"/>
    <p:sldId id="568" r:id="rId20"/>
    <p:sldId id="569" r:id="rId2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3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065A7-DFD5-4551-9E93-CC0B196D68A3}" type="datetimeFigureOut">
              <a:rPr lang="zh-CN" altLang="en-US" smtClean="0"/>
              <a:t>2021/1/19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CD5FA-AD32-4B9A-9235-7F5254E91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529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675031" y="57929"/>
            <a:ext cx="4468969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902465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675031" y="57929"/>
            <a:ext cx="4468969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842667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533363" y="0"/>
            <a:ext cx="4610638" cy="29751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628924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03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36514"/>
            <a:ext cx="3886200" cy="4840449"/>
          </a:xfrm>
        </p:spPr>
        <p:txBody>
          <a:bodyPr/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36514"/>
            <a:ext cx="3886200" cy="484044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855335" y="57929"/>
            <a:ext cx="428866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2436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792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3382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162174"/>
            <a:ext cx="3868340" cy="39338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3382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162175"/>
            <a:ext cx="3887391" cy="3933824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829577" y="57929"/>
            <a:ext cx="4314423" cy="22384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19730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752305" y="57929"/>
            <a:ext cx="4391696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9481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468969" y="0"/>
            <a:ext cx="4675031" cy="281767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25019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90984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76313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2100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937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08100"/>
            <a:ext cx="7886700" cy="486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86F5DB48-3968-470F-BA12-55E81E00432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176963"/>
            <a:ext cx="282083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19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u"/>
        <a:defRPr sz="20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2.seas.gwu.edu/~ece121/Spring-11/filterdesign.pdf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6.png"/><Relationship Id="rId4" Type="http://schemas.openxmlformats.org/officeDocument/2006/relationships/hyperlink" Target="https://www2.seas.gwu.edu/~ece121/Spring-11/filterdesign.pdf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hyperlink" Target="https://www2.seas.gwu.edu/~ece121/Spring-11/filterdesign.pdf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hyperlink" Target="https://www2.seas.gwu.edu/~ece121/Spring-11/filterdesign.pdf" TargetMode="External"/><Relationship Id="rId4" Type="http://schemas.openxmlformats.org/officeDocument/2006/relationships/image" Target="../media/image21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2.seas.gwu.edu/~ece121/Spring-11/filterdesign.pdf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hyperlink" Target="https://www2.seas.gwu.edu/~ece121/Spring-11/filterdesign.pdf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2.seas.gwu.edu/~ece121/Spring-11/filterdesign.pdf" TargetMode="External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hyperlink" Target="https://www2.seas.gwu.edu/~ece121/Spring-11/filterdesign.pdf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emf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2.seas.gwu.edu/~ece121/Spring-11/filterdesign.pdf" TargetMode="External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5276" y="1122363"/>
            <a:ext cx="8660920" cy="2387600"/>
          </a:xfrm>
        </p:spPr>
        <p:txBody>
          <a:bodyPr>
            <a:normAutofit/>
          </a:bodyPr>
          <a:lstStyle/>
          <a:p>
            <a:r>
              <a:rPr lang="en-US" altLang="zh-CN" sz="4900" dirty="0" smtClean="0"/>
              <a:t>Filter Design Introduction</a:t>
            </a:r>
            <a:endParaRPr lang="zh-CN" altLang="en-US" sz="49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2020-12-26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4372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Butterworth Filter</a:t>
            </a:r>
          </a:p>
          <a:p>
            <a:endParaRPr lang="en-US" altLang="zh-CN" dirty="0" smtClean="0"/>
          </a:p>
          <a:p>
            <a:r>
              <a:rPr lang="en-US" dirty="0" smtClean="0"/>
              <a:t>Active filters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Low-pass filters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High-pass filters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771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Definitions – Low-pass Filter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9562" y="1324772"/>
            <a:ext cx="8453887" cy="823205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Passband</a:t>
            </a:r>
            <a:r>
              <a:rPr lang="en-US" dirty="0" smtClean="0"/>
              <a:t> vs. </a:t>
            </a:r>
            <a:r>
              <a:rPr lang="en-US" dirty="0" smtClean="0">
                <a:solidFill>
                  <a:srgbClr val="C00000"/>
                </a:solidFill>
              </a:rPr>
              <a:t>Stopband</a:t>
            </a:r>
            <a:r>
              <a:rPr lang="en-US" dirty="0" smtClean="0"/>
              <a:t> (passband frequency is not -3dB frequency)</a:t>
            </a:r>
          </a:p>
          <a:p>
            <a:r>
              <a:rPr lang="en-US" dirty="0"/>
              <a:t> </a:t>
            </a:r>
            <a:r>
              <a:rPr lang="en-US" dirty="0" smtClean="0"/>
              <a:t>Passband </a:t>
            </a:r>
            <a:r>
              <a:rPr lang="en-US" dirty="0" smtClean="0">
                <a:solidFill>
                  <a:srgbClr val="C00000"/>
                </a:solidFill>
              </a:rPr>
              <a:t>ripple</a:t>
            </a:r>
            <a:r>
              <a:rPr lang="en-US" dirty="0" smtClean="0"/>
              <a:t> &amp; Stopband </a:t>
            </a:r>
            <a:r>
              <a:rPr lang="en-US" dirty="0" smtClean="0">
                <a:solidFill>
                  <a:srgbClr val="C00000"/>
                </a:solidFill>
              </a:rPr>
              <a:t>attenuation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信号与系统</a:t>
            </a:r>
            <a:r>
              <a:rPr lang="en-US" altLang="zh-CN" smtClean="0"/>
              <a:t>·2020</a:t>
            </a:r>
            <a:r>
              <a:rPr lang="zh-CN" altLang="en-US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§P.1 Butterworth Filter </a:t>
            </a:r>
            <a:endParaRPr lang="en-US" dirty="0"/>
          </a:p>
        </p:txBody>
      </p:sp>
      <p:sp>
        <p:nvSpPr>
          <p:cNvPr id="8" name="矩形 7"/>
          <p:cNvSpPr/>
          <p:nvPr/>
        </p:nvSpPr>
        <p:spPr>
          <a:xfrm>
            <a:off x="0" y="2147977"/>
            <a:ext cx="1765718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necessarily normalized to 0 dB</a:t>
            </a:r>
            <a:endParaRPr lang="en-US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1621766" y="2500504"/>
            <a:ext cx="810883" cy="292388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512" y="2147977"/>
            <a:ext cx="6733701" cy="416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120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Definitions –High-pass Filter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9562" y="1324772"/>
            <a:ext cx="8453887" cy="823205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Passband</a:t>
            </a:r>
            <a:r>
              <a:rPr lang="en-US" dirty="0" smtClean="0"/>
              <a:t> vs. </a:t>
            </a:r>
            <a:r>
              <a:rPr lang="en-US" dirty="0" smtClean="0">
                <a:solidFill>
                  <a:srgbClr val="C00000"/>
                </a:solidFill>
              </a:rPr>
              <a:t>Stopband</a:t>
            </a:r>
            <a:r>
              <a:rPr lang="en-US" dirty="0" smtClean="0"/>
              <a:t> (passband frequency is not -3dB frequency)</a:t>
            </a:r>
          </a:p>
          <a:p>
            <a:r>
              <a:rPr lang="en-US" dirty="0"/>
              <a:t> </a:t>
            </a:r>
            <a:r>
              <a:rPr lang="en-US" dirty="0" smtClean="0"/>
              <a:t>Passband </a:t>
            </a:r>
            <a:r>
              <a:rPr lang="en-US" dirty="0" smtClean="0">
                <a:solidFill>
                  <a:srgbClr val="C00000"/>
                </a:solidFill>
              </a:rPr>
              <a:t>ripple</a:t>
            </a:r>
            <a:r>
              <a:rPr lang="en-US" dirty="0" smtClean="0"/>
              <a:t> &amp; Stopband </a:t>
            </a:r>
            <a:r>
              <a:rPr lang="en-US" dirty="0" smtClean="0">
                <a:solidFill>
                  <a:srgbClr val="C00000"/>
                </a:solidFill>
              </a:rPr>
              <a:t>attenuation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信号与系统</a:t>
            </a:r>
            <a:r>
              <a:rPr lang="en-US" altLang="zh-CN" smtClean="0"/>
              <a:t>·2020</a:t>
            </a:r>
            <a:r>
              <a:rPr lang="zh-CN" altLang="en-US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§P.1 Butterworth Filter </a:t>
            </a:r>
            <a:endParaRPr 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760" y="2035739"/>
            <a:ext cx="6987161" cy="432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926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178920" cy="792000"/>
          </a:xfrm>
        </p:spPr>
        <p:txBody>
          <a:bodyPr>
            <a:noAutofit/>
          </a:bodyPr>
          <a:lstStyle/>
          <a:p>
            <a:r>
              <a:rPr lang="en-US" sz="3200" dirty="0" smtClean="0"/>
              <a:t>Butterworth Filter: </a:t>
            </a:r>
            <a:r>
              <a:rPr lang="en-US" altLang="zh-CN" sz="3200" dirty="0" smtClean="0"/>
              <a:t>Maximum Passband Flatness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55273" y="1365111"/>
                <a:ext cx="8360077" cy="3767605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 smtClean="0"/>
                  <a:t> The </a:t>
                </a:r>
                <a:r>
                  <a:rPr lang="en-US" i="1" dirty="0" smtClean="0">
                    <a:solidFill>
                      <a:srgbClr val="C00000"/>
                    </a:solidFill>
                  </a:rPr>
                  <a:t>N</a:t>
                </a:r>
                <a:r>
                  <a:rPr lang="en-US" baseline="30000" dirty="0" smtClean="0">
                    <a:solidFill>
                      <a:srgbClr val="C00000"/>
                    </a:solidFill>
                  </a:rPr>
                  <a:t>th</a:t>
                </a:r>
                <a:r>
                  <a:rPr lang="en-US" dirty="0" smtClean="0">
                    <a:solidFill>
                      <a:srgbClr val="C00000"/>
                    </a:solidFill>
                  </a:rPr>
                  <a:t>-order 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Butterworth filter </a:t>
                </a:r>
                <a:r>
                  <a:rPr lang="en-US" altLang="zh-CN" dirty="0" smtClean="0"/>
                  <a:t>has magnitude-frequency response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altLang="zh-CN" dirty="0" smtClean="0"/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 2, …, 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dirty="0" smtClean="0"/>
                  <a:t> 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dirty="0" smtClean="0">
                    <a:sym typeface="Wingdings" panose="05000000000000000000" pitchFamily="2" charset="2"/>
                  </a:rPr>
                  <a:t>  </a:t>
                </a:r>
                <a:r>
                  <a:rPr lang="en-US" b="1" dirty="0" smtClean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maximum flatness </a:t>
                </a:r>
                <a:r>
                  <a:rPr lang="en-US" dirty="0" smtClean="0">
                    <a:sym typeface="Wingdings" panose="05000000000000000000" pitchFamily="2" charset="2"/>
                  </a:rPr>
                  <a:t>around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 smtClean="0"/>
                  <a:t> (in the passband)</a:t>
                </a:r>
              </a:p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 smtClean="0"/>
                  <a:t>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 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dirty="0" smtClean="0">
                    <a:sym typeface="Wingdings" panose="05000000000000000000" pitchFamily="2" charset="2"/>
                  </a:rPr>
                  <a:t>   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 smtClean="0"/>
                  <a:t> is the </a:t>
                </a:r>
                <a:r>
                  <a:rPr lang="en-US" dirty="0" smtClean="0">
                    <a:solidFill>
                      <a:srgbClr val="C00000"/>
                    </a:solidFill>
                  </a:rPr>
                  <a:t>-3dB frequency </a:t>
                </a:r>
                <a:r>
                  <a:rPr lang="en-US" dirty="0" smtClean="0"/>
                  <a:t>/ </a:t>
                </a:r>
                <a:r>
                  <a:rPr lang="en-US" dirty="0" smtClean="0">
                    <a:solidFill>
                      <a:srgbClr val="C00000"/>
                    </a:solidFill>
                  </a:rPr>
                  <a:t>cut-off frequency</a:t>
                </a:r>
              </a:p>
              <a:p>
                <a:r>
                  <a:rPr lang="en-US" sz="2900" dirty="0"/>
                  <a:t>Monotonicity in the passband and </a:t>
                </a:r>
                <a:r>
                  <a:rPr lang="en-US" sz="2900" dirty="0" smtClean="0"/>
                  <a:t>stopband</a:t>
                </a:r>
              </a:p>
              <a:p>
                <a:pPr marL="0" indent="0">
                  <a:buNone/>
                </a:pPr>
                <a:r>
                  <a:rPr lang="en-US" sz="3200" dirty="0" smtClean="0">
                    <a:sym typeface="Wingdings" panose="05000000000000000000" pitchFamily="2" charset="2"/>
                  </a:rPr>
                  <a:t>   excellent phase-frequency response</a:t>
                </a:r>
                <a:endParaRPr lang="en-US" sz="2900" dirty="0"/>
              </a:p>
              <a:p>
                <a:pPr marL="0" indent="0">
                  <a:buNone/>
                </a:pPr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5273" y="1365111"/>
                <a:ext cx="8360077" cy="3767605"/>
              </a:xfrm>
              <a:blipFill>
                <a:blip r:embed="rId2"/>
                <a:stretch>
                  <a:fillRect l="-656" t="-3236" b="-22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信号与系统</a:t>
            </a:r>
            <a:r>
              <a:rPr lang="en-US" altLang="zh-CN" smtClean="0"/>
              <a:t>·2020</a:t>
            </a:r>
            <a:r>
              <a:rPr lang="zh-CN" altLang="en-US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§P.1 Butterworth Filter 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135" y="3548811"/>
            <a:ext cx="3570798" cy="280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220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178920" cy="792000"/>
          </a:xfrm>
        </p:spPr>
        <p:txBody>
          <a:bodyPr>
            <a:noAutofit/>
          </a:bodyPr>
          <a:lstStyle/>
          <a:p>
            <a:r>
              <a:rPr lang="en-US" sz="3600" dirty="0" smtClean="0"/>
              <a:t>Poles and Transfer Function of Butterworth Low-</a:t>
            </a:r>
            <a:r>
              <a:rPr lang="en-US" altLang="zh-CN" sz="3600" dirty="0" smtClean="0"/>
              <a:t>Pass Filter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lang="en-US" dirty="0" smtClean="0"/>
                  <a:t>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den>
                    </m:f>
                  </m:oMath>
                </a14:m>
                <a:endParaRPr lang="en-US" dirty="0" smtClean="0"/>
              </a:p>
              <a:p>
                <a:r>
                  <a:rPr lang="en-US" dirty="0" smtClean="0">
                    <a:latin typeface="Cambria Math" panose="02040503050406030204" pitchFamily="18" charset="0"/>
                  </a:rPr>
                  <a:t> </a:t>
                </a:r>
                <a:r>
                  <a:rPr lang="en-US" dirty="0" smtClean="0"/>
                  <a:t>For real system,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i="1" dirty="0" smtClean="0">
                    <a:latin typeface="Cambria Math" panose="02040503050406030204" pitchFamily="18" charset="0"/>
                  </a:rPr>
                  <a:t> </a:t>
                </a:r>
                <a:r>
                  <a:rPr lang="en-US" dirty="0" smtClean="0">
                    <a:latin typeface="Cambria Math" panose="02040503050406030204" pitchFamily="18" charset="0"/>
                    <a:sym typeface="Wingdings" panose="05000000000000000000" pitchFamily="2" charset="2"/>
                  </a:rPr>
                  <a:t>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den>
                    </m:f>
                  </m:oMath>
                </a14:m>
                <a:endParaRPr lang="en-US" i="1" dirty="0" smtClean="0">
                  <a:latin typeface="Cambria Math" panose="02040503050406030204" pitchFamily="18" charset="0"/>
                </a:endParaRPr>
              </a:p>
              <a:p>
                <a:r>
                  <a:rPr lang="en-US" dirty="0" smtClean="0"/>
                  <a:t> 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bSup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den>
                    </m:f>
                  </m:oMath>
                </a14:m>
                <a:endParaRPr lang="en-US" dirty="0" smtClean="0"/>
              </a:p>
              <a:p>
                <a:r>
                  <a:rPr lang="en-US" dirty="0" smtClean="0"/>
                  <a:t> poles are given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 2, …, 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for a stable system, all the poles must be LHP poles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=1, 2, …,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</m:num>
                        <m:den>
                          <m:nary>
                            <m:naryPr>
                              <m:chr m:val="∏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altLang="zh-CN" dirty="0" smtClean="0"/>
                  <a:t>When </a:t>
                </a:r>
                <a:r>
                  <a:rPr lang="en-US" altLang="zh-CN" i="1" dirty="0" smtClean="0"/>
                  <a:t>N</a:t>
                </a:r>
                <a:r>
                  <a:rPr lang="en-US" altLang="zh-CN" dirty="0" smtClean="0"/>
                  <a:t> is 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even</a:t>
                </a:r>
                <a:r>
                  <a:rPr lang="en-US" altLang="zh-CN" dirty="0" smtClean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bSup>
                      </m:num>
                      <m:den>
                        <m:nary>
                          <m:naryPr>
                            <m:chr m:val="∏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/2</m:t>
                            </m:r>
                          </m:sup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bSup>
                      </m:num>
                      <m:den>
                        <m:nary>
                          <m:naryPr>
                            <m:chr m:val="∏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sup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num>
                                          <m:den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den>
                                        </m:f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d>
                          </m:e>
                        </m:nary>
                      </m:den>
                    </m:f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altLang="zh-CN" dirty="0" smtClean="0"/>
                  <a:t>When </a:t>
                </a:r>
                <a:r>
                  <a:rPr lang="en-US" altLang="zh-CN" i="1" dirty="0" smtClean="0"/>
                  <a:t>N</a:t>
                </a:r>
                <a:r>
                  <a:rPr lang="en-US" altLang="zh-CN" dirty="0" smtClean="0"/>
                  <a:t> is 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odd</a:t>
                </a:r>
                <a:r>
                  <a:rPr lang="en-US" altLang="zh-CN" dirty="0" smtClean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b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nary>
                          <m:naryPr>
                            <m:chr m:val="∏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−1)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sup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num>
                                          <m:den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den>
                                        </m:f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d>
                          </m:e>
                        </m:nary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32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信号与系统</a:t>
            </a:r>
            <a:r>
              <a:rPr lang="en-US" altLang="zh-CN" smtClean="0"/>
              <a:t>·2020</a:t>
            </a:r>
            <a:r>
              <a:rPr lang="zh-CN" altLang="en-US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5894538" y="6187074"/>
            <a:ext cx="3184224" cy="338554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Visualization of poles’ locations?</a:t>
            </a:r>
            <a:endParaRPr lang="en-US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H="1" flipV="1">
            <a:off x="7617126" y="5599125"/>
            <a:ext cx="366622" cy="577838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 flipV="1">
            <a:off x="7250504" y="5918259"/>
            <a:ext cx="733244" cy="258704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5223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Butterworth Polynomial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1"/>
                <a:ext cx="7886700" cy="102965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 smtClean="0"/>
                  <a:t> The denominator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 smtClean="0"/>
                  <a:t> can be written as the Butterworth Polynomial if </a:t>
                </a:r>
                <a:r>
                  <a:rPr lang="en-US" i="1" dirty="0" smtClean="0"/>
                  <a:t>s</a:t>
                </a:r>
                <a:r>
                  <a:rPr lang="en-US" dirty="0" smtClean="0"/>
                  <a:t> is normalized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Factorization of </a:t>
                </a:r>
                <a:r>
                  <a:rPr lang="en-US" dirty="0"/>
                  <a:t>Butterworth </a:t>
                </a:r>
                <a:r>
                  <a:rPr lang="en-US" dirty="0" smtClean="0"/>
                  <a:t>Polynomial</a:t>
                </a: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1"/>
                <a:ext cx="7886700" cy="1029658"/>
              </a:xfrm>
              <a:blipFill>
                <a:blip r:embed="rId2"/>
                <a:stretch>
                  <a:fillRect l="-1005" t="-14286" r="-850"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信号与系统</a:t>
            </a:r>
            <a:r>
              <a:rPr lang="en-US" altLang="zh-CN" smtClean="0"/>
              <a:t>·2020</a:t>
            </a:r>
            <a:r>
              <a:rPr lang="zh-CN" altLang="en-US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§P.1 Butterworth Filter </a:t>
            </a:r>
          </a:p>
        </p:txBody>
      </p:sp>
      <p:pic>
        <p:nvPicPr>
          <p:cNvPr id="1026" name="Picture 2" descr="https://www.physicsforums.com/attachments/untitled-png.104451/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397" y="2251494"/>
            <a:ext cx="8079932" cy="3607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840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49" y="365126"/>
            <a:ext cx="8204799" cy="792000"/>
          </a:xfrm>
        </p:spPr>
        <p:txBody>
          <a:bodyPr>
            <a:noAutofit/>
          </a:bodyPr>
          <a:lstStyle/>
          <a:p>
            <a:r>
              <a:rPr lang="en-US" sz="3200" dirty="0" smtClean="0"/>
              <a:t>Design Example of Butterworth Low-Pass Filter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03516" y="2022777"/>
                <a:ext cx="7962181" cy="4333574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 smtClean="0"/>
                  <a:t> LPF Requirement:</a:t>
                </a:r>
              </a:p>
              <a:p>
                <a:pPr lvl="1"/>
                <a:r>
                  <a:rPr lang="en-US" dirty="0" smtClean="0"/>
                  <a:t> Passband: 0-1MHz, passband ripple ≤ 1dB</a:t>
                </a:r>
              </a:p>
              <a:p>
                <a:pPr lvl="1"/>
                <a:r>
                  <a:rPr lang="en-US" dirty="0"/>
                  <a:t> </a:t>
                </a:r>
                <a:r>
                  <a:rPr lang="en-US" dirty="0" smtClean="0"/>
                  <a:t>Stopband: &gt;1.5MHz, stopband attenuation ≥15dB</a:t>
                </a:r>
              </a:p>
              <a:p>
                <a:r>
                  <a:rPr lang="en-US" dirty="0" smtClean="0"/>
                  <a:t> Find the filter order 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, cut-off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dirty="0" smtClean="0"/>
              </a:p>
              <a:p>
                <a:r>
                  <a:rPr lang="en-US" dirty="0" smtClean="0"/>
                  <a:t> Solution: 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×</m:t>
                                        </m:r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10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6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</m:den>
                        </m:f>
                      </m:sup>
                    </m:sSup>
                  </m:oMath>
                </a14:m>
                <a:endParaRPr lang="en-US" dirty="0" smtClean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×1.5×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×1.5×</m:t>
                                        </m:r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10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6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20</m:t>
                            </m:r>
                          </m:den>
                        </m:f>
                      </m:sup>
                    </m:sSup>
                  </m:oMath>
                </a14:m>
                <a:endParaRPr lang="en-US" dirty="0" smtClean="0"/>
              </a:p>
              <a:p>
                <a:pPr lvl="1"/>
                <a:r>
                  <a:rPr lang="en-US" dirty="0"/>
                  <a:t>T</a:t>
                </a:r>
                <a:r>
                  <a:rPr lang="en-US" b="0" dirty="0" smtClean="0"/>
                  <a:t>wo equations lead to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sup>
                                    </m:sSup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×1.5×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sup>
                                    </m:sSup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0.1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dirty="0" smtClean="0">
                    <a:sym typeface="Wingdings" panose="05000000000000000000" pitchFamily="2" charset="2"/>
                  </a:rPr>
                  <a:t></a:t>
                </a:r>
                <a:r>
                  <a:rPr lang="en-US" i="1" dirty="0" smtClean="0">
                    <a:sym typeface="Wingdings" panose="05000000000000000000" pitchFamily="2" charset="2"/>
                  </a:rPr>
                  <a:t>N</a:t>
                </a:r>
                <a:r>
                  <a:rPr lang="en-US" dirty="0" smtClean="0">
                    <a:sym typeface="Wingdings" panose="05000000000000000000" pitchFamily="2" charset="2"/>
                  </a:rPr>
                  <a:t>=5.885  </a:t>
                </a:r>
                <a:r>
                  <a:rPr lang="en-US" dirty="0">
                    <a:sym typeface="Wingdings" panose="05000000000000000000" pitchFamily="2" charset="2"/>
                  </a:rPr>
                  <a:t></a:t>
                </a:r>
                <a:r>
                  <a:rPr lang="en-US" i="1" dirty="0" smtClean="0">
                    <a:sym typeface="Wingdings" panose="05000000000000000000" pitchFamily="2" charset="2"/>
                  </a:rPr>
                  <a:t>N</a:t>
                </a:r>
                <a:r>
                  <a:rPr lang="en-US" dirty="0" smtClean="0">
                    <a:sym typeface="Wingdings" panose="05000000000000000000" pitchFamily="2" charset="2"/>
                  </a:rPr>
                  <a:t>=6</a:t>
                </a: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dirty="0" smtClean="0">
                    <a:sym typeface="Wingdings" panose="05000000000000000000" pitchFamily="2" charset="2"/>
                  </a:rPr>
                  <a:t>Calculation based on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dirty="0" smtClean="0"/>
                  <a:t> gives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×1.13×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𝑟𝑎𝑑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𝑠𝑒𝑐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/>
                  <a:t> </a:t>
                </a:r>
                <a:r>
                  <a:rPr lang="en-US" i="1" dirty="0" smtClean="0"/>
                  <a:t>H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s</a:t>
                </a:r>
                <a:r>
                  <a:rPr lang="en-US" dirty="0" smtClean="0"/>
                  <a:t>) can be obtained from the 6</a:t>
                </a:r>
                <a:r>
                  <a:rPr lang="en-US" baseline="30000" dirty="0" smtClean="0"/>
                  <a:t>th</a:t>
                </a:r>
                <a:r>
                  <a:rPr lang="en-US" dirty="0" smtClean="0"/>
                  <a:t>-order Butterworth Polynomial for 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=6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3516" y="2022777"/>
                <a:ext cx="7962181" cy="4333574"/>
              </a:xfrm>
              <a:blipFill>
                <a:blip r:embed="rId2"/>
                <a:stretch>
                  <a:fillRect l="-689" t="-2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信号与系统</a:t>
            </a:r>
            <a:r>
              <a:rPr lang="en-US" altLang="zh-CN" smtClean="0"/>
              <a:t>·2020</a:t>
            </a:r>
            <a:r>
              <a:rPr lang="zh-CN" altLang="en-US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P.1 </a:t>
            </a:r>
            <a:r>
              <a:rPr lang="en-US" dirty="0"/>
              <a:t>Butterworth Filter </a:t>
            </a:r>
          </a:p>
          <a:p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770" y="1305382"/>
            <a:ext cx="3176230" cy="21075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6838682" y="4573968"/>
                <a:ext cx="2269830" cy="621389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Q: why not use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to calculate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? </a:t>
                </a: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682" y="4573968"/>
                <a:ext cx="2269830" cy="621389"/>
              </a:xfrm>
              <a:prstGeom prst="rect">
                <a:avLst/>
              </a:prstGeom>
              <a:blipFill>
                <a:blip r:embed="rId4"/>
                <a:stretch>
                  <a:fillRect l="-1337" b="-10577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箭头连接符 10"/>
          <p:cNvCxnSpPr>
            <a:stCxn id="9" idx="2"/>
          </p:cNvCxnSpPr>
          <p:nvPr/>
        </p:nvCxnSpPr>
        <p:spPr>
          <a:xfrm flipH="1">
            <a:off x="7021902" y="5195357"/>
            <a:ext cx="951695" cy="541209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212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49" y="365126"/>
            <a:ext cx="8360076" cy="792000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Design </a:t>
            </a:r>
            <a:r>
              <a:rPr lang="en-US" dirty="0"/>
              <a:t>High-Pass Filter </a:t>
            </a:r>
            <a:r>
              <a:rPr lang="en-US" dirty="0" smtClean="0"/>
              <a:t>from </a:t>
            </a:r>
            <a:r>
              <a:rPr lang="en-US" altLang="zh-CN" dirty="0" smtClean="0"/>
              <a:t>Low-Pass Prototype Using Frequency Mapping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389527"/>
                <a:ext cx="8187546" cy="2599666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 smtClean="0"/>
                  <a:t> Step 1: Map the high-pass filter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𝐻𝑃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 smtClean="0"/>
                  <a:t>to a low-pass filter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dirty="0" smtClean="0"/>
              </a:p>
              <a:p>
                <a:pPr lvl="1"/>
                <a:r>
                  <a:rPr lang="en-US" dirty="0"/>
                  <a:t> </a:t>
                </a:r>
                <a:r>
                  <a:rPr lang="en-US" dirty="0" smtClean="0"/>
                  <a:t>Select a reference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 smtClean="0"/>
                  <a:t> (usually the cut-off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 smtClean="0"/>
                  <a:t>, 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 smtClean="0"/>
                  <a:t> is usually unknown at this step)</a:t>
                </a:r>
              </a:p>
              <a:p>
                <a:pPr lvl="1"/>
                <a:r>
                  <a:rPr lang="en-US" dirty="0"/>
                  <a:t> </a:t>
                </a:r>
                <a:r>
                  <a:rPr lang="en-US" dirty="0" smtClean="0"/>
                  <a:t>Map the frequencies using the following relationship</a:t>
                </a:r>
              </a:p>
              <a:p>
                <a:pPr marL="457200" lvl="1" indent="0" algn="ctr">
                  <a:buNone/>
                </a:pPr>
                <a:r>
                  <a:rPr lang="en-US" dirty="0"/>
                  <a:t> </a:t>
                </a:r>
                <a:r>
                  <a:rPr lang="en-US" dirty="0" smtClean="0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Step 2: Solve the low-pass filter and find the </a:t>
                </a:r>
                <a:r>
                  <a:rPr lang="en-US" b="1" dirty="0">
                    <a:solidFill>
                      <a:srgbClr val="C00000"/>
                    </a:solidFill>
                  </a:rPr>
                  <a:t>low-pass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prototype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𝐿𝑃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Step 3: Map the low-pass filter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𝐿𝑃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 smtClean="0"/>
                  <a:t> to the originally targeted high-pass filter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𝐻𝑃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 smtClean="0"/>
                  <a:t> by replacing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 smtClean="0"/>
                  <a:t> with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 smtClean="0"/>
                  <a:t>/s  (or replacing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 smtClean="0"/>
                  <a:t> with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/s </a:t>
                </a:r>
                <a:r>
                  <a:rPr lang="en-US" dirty="0" smtClean="0"/>
                  <a:t>)</a:t>
                </a: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389527"/>
                <a:ext cx="8187546" cy="2599666"/>
              </a:xfrm>
              <a:blipFill>
                <a:blip r:embed="rId2"/>
                <a:stretch>
                  <a:fillRect l="-670" t="-4695" r="-5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信号与系统</a:t>
            </a:r>
            <a:r>
              <a:rPr lang="en-US" altLang="zh-CN" smtClean="0"/>
              <a:t>·2020</a:t>
            </a:r>
            <a:r>
              <a:rPr lang="zh-CN" altLang="en-US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§P.1 Butterworth Filter 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04" y="3524284"/>
            <a:ext cx="7929904" cy="29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714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3464" y="255809"/>
            <a:ext cx="7824158" cy="792000"/>
          </a:xfrm>
        </p:spPr>
        <p:txBody>
          <a:bodyPr>
            <a:noAutofit/>
          </a:bodyPr>
          <a:lstStyle/>
          <a:p>
            <a:r>
              <a:rPr lang="en-US" sz="4000" dirty="0"/>
              <a:t>Design Example of Butterworth </a:t>
            </a:r>
            <a:r>
              <a:rPr lang="en-US" altLang="zh-CN" sz="4000" dirty="0"/>
              <a:t>High</a:t>
            </a:r>
            <a:r>
              <a:rPr lang="en-US" sz="4000" dirty="0" smtClean="0"/>
              <a:t>-Pass </a:t>
            </a:r>
            <a:r>
              <a:rPr lang="en-US" sz="4000" dirty="0"/>
              <a:t>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84672" y="1308100"/>
                <a:ext cx="8686800" cy="5153085"/>
              </a:xfrm>
            </p:spPr>
            <p:txBody>
              <a:bodyPr>
                <a:normAutofit fontScale="47500" lnSpcReduction="20000"/>
              </a:bodyPr>
              <a:lstStyle/>
              <a:p>
                <a:r>
                  <a:rPr lang="en-US" dirty="0" smtClean="0"/>
                  <a:t> </a:t>
                </a:r>
                <a:r>
                  <a:rPr lang="en-US" sz="3800" dirty="0" smtClean="0"/>
                  <a:t>High-pass filter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800" i="1">
                            <a:latin typeface="Cambria Math" panose="02040503050406030204" pitchFamily="18" charset="0"/>
                          </a:rPr>
                          <m:t>𝐻𝑃</m:t>
                        </m:r>
                      </m:sub>
                    </m:sSub>
                    <m:d>
                      <m:dPr>
                        <m:ctrlPr>
                          <a:rPr lang="en-US" sz="3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sz="3800" dirty="0" smtClean="0"/>
                  <a:t> requirement</a:t>
                </a:r>
                <a:r>
                  <a:rPr lang="en-US" sz="3800" dirty="0"/>
                  <a:t>:</a:t>
                </a:r>
              </a:p>
              <a:p>
                <a:pPr lvl="1"/>
                <a:r>
                  <a:rPr lang="en-US" sz="3400" dirty="0"/>
                  <a:t> Passband: &gt;1.5MHz</a:t>
                </a:r>
                <a:r>
                  <a:rPr lang="en-US" sz="3400" dirty="0" smtClean="0"/>
                  <a:t>, </a:t>
                </a:r>
                <a:r>
                  <a:rPr lang="en-US" sz="3400" dirty="0"/>
                  <a:t>passband ripple ≤ 1dB</a:t>
                </a:r>
              </a:p>
              <a:p>
                <a:pPr lvl="1"/>
                <a:r>
                  <a:rPr lang="en-US" sz="3400" dirty="0"/>
                  <a:t> Stopband: &lt;</a:t>
                </a:r>
                <a:r>
                  <a:rPr lang="en-US" sz="3400" dirty="0" smtClean="0"/>
                  <a:t>1MHz</a:t>
                </a:r>
                <a:r>
                  <a:rPr lang="en-US" sz="3400" dirty="0"/>
                  <a:t>, stopband attenuation ≥15dB</a:t>
                </a:r>
              </a:p>
              <a:p>
                <a:r>
                  <a:rPr lang="en-US" dirty="0" smtClean="0"/>
                  <a:t> </a:t>
                </a:r>
                <a:r>
                  <a:rPr lang="en-US" sz="3400" dirty="0" smtClean="0"/>
                  <a:t>Step 1: map high-pass </a:t>
                </a:r>
                <a:r>
                  <a:rPr lang="en-US" sz="3400" dirty="0"/>
                  <a:t>filter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𝐻𝑃</m:t>
                        </m:r>
                      </m:sub>
                    </m:sSub>
                    <m:d>
                      <m:d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3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sz="3400" dirty="0"/>
                  <a:t>to a low-pass filter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𝐿𝑃</m:t>
                        </m:r>
                      </m:sub>
                    </m:sSub>
                    <m:d>
                      <m:d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𝑗</m:t>
                        </m:r>
                        <m:sSup>
                          <m:sSupPr>
                            <m:ctrlPr>
                              <a:rPr lang="en-US" sz="3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3400" dirty="0" smtClean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3400" dirty="0" smtClean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3400" dirty="0" smtClean="0"/>
                  <a:t> unknown yet)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×1.5×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sz="3400" dirty="0"/>
                  <a:t> </a:t>
                </a:r>
                <a:r>
                  <a:rPr lang="en-US" sz="3400" dirty="0" smtClean="0"/>
                  <a:t>    Use the Butterworth filter to implement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𝐿𝑃</m:t>
                        </m:r>
                      </m:sub>
                    </m:sSub>
                    <m:d>
                      <m:d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𝑗</m:t>
                        </m:r>
                        <m:sSup>
                          <m:sSupPr>
                            <m:ctrlPr>
                              <a:rPr lang="en-US" sz="3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𝐿𝑃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𝐿𝑃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×1.5×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10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6</m:t>
                                          </m:r>
                                        </m:sup>
                                      </m:sSup>
                                    </m:den>
                                  </m:f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f>
                                                <m:f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sSub>
                                                    <m:sSub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𝜔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𝑐</m:t>
                                                      </m:r>
                                                    </m:sub>
                                                  </m:sSub>
                                                </m:num>
                                                <m:den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𝜋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×1.5×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10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6</m:t>
                                                      </m:r>
                                                    </m:sup>
                                                  </m:sSup>
                                                </m:den>
                                              </m:f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p>
                                      </m:sSup>
                                    </m:e>
                                  </m:rad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20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𝐿𝑃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𝐿𝑃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×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10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6</m:t>
                                          </m:r>
                                        </m:sup>
                                      </m:sSup>
                                    </m:den>
                                  </m:f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f>
                                                <m:f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sSub>
                                                    <m:sSub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𝜔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𝑐</m:t>
                                                      </m:r>
                                                    </m:sub>
                                                  </m:sSub>
                                                </m:num>
                                                <m:den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𝜋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×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10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6</m:t>
                                                      </m:r>
                                                    </m:sup>
                                                  </m:sSup>
                                                </m:den>
                                              </m:f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p>
                                      </m:sSup>
                                    </m:e>
                                  </m:rad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15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20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×1.5×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10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6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×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10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6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1.5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=5.885≈6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4672" y="1308100"/>
                <a:ext cx="8686800" cy="5153085"/>
              </a:xfrm>
              <a:blipFill>
                <a:blip r:embed="rId2"/>
                <a:stretch>
                  <a:fillRect l="-70" t="-2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信号与系统</a:t>
            </a:r>
            <a:r>
              <a:rPr lang="en-US" altLang="zh-CN" smtClean="0"/>
              <a:t>·2020</a:t>
            </a:r>
            <a:r>
              <a:rPr lang="zh-CN" altLang="en-US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§P.1 Butterworth Filter </a:t>
            </a:r>
          </a:p>
        </p:txBody>
      </p:sp>
    </p:spTree>
    <p:extLst>
      <p:ext uri="{BB962C8B-B14F-4D97-AF65-F5344CB8AC3E}">
        <p14:creationId xmlns:p14="http://schemas.microsoft.com/office/powerpoint/2010/main" val="444874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97511"/>
            <a:ext cx="7886700" cy="792000"/>
          </a:xfrm>
        </p:spPr>
        <p:txBody>
          <a:bodyPr>
            <a:normAutofit fontScale="90000"/>
          </a:bodyPr>
          <a:lstStyle/>
          <a:p>
            <a:r>
              <a:rPr lang="en-US" dirty="0"/>
              <a:t>Design Example of Butterworth </a:t>
            </a:r>
            <a:r>
              <a:rPr lang="en-US" altLang="zh-CN" dirty="0"/>
              <a:t>High</a:t>
            </a:r>
            <a:r>
              <a:rPr lang="en-US" dirty="0"/>
              <a:t>-Pass </a:t>
            </a:r>
            <a:r>
              <a:rPr lang="en-US" dirty="0" smtClean="0"/>
              <a:t>Filter (</a:t>
            </a:r>
            <a:r>
              <a:rPr lang="en-US" dirty="0" err="1" smtClean="0"/>
              <a:t>cont</a:t>
            </a:r>
            <a:r>
              <a:rPr lang="en-US" dirty="0" smtClean="0"/>
              <a:t>’)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47500" lnSpcReduction="20000"/>
              </a:bodyPr>
              <a:lstStyle/>
              <a:p>
                <a:r>
                  <a:rPr lang="en-US" sz="3400" dirty="0" smtClean="0"/>
                  <a:t> Step 2: find </a:t>
                </a:r>
                <a:r>
                  <a:rPr lang="en-US" sz="3400" dirty="0"/>
                  <a:t>the low-pass prototype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𝐿𝑃</m:t>
                        </m:r>
                      </m:sub>
                    </m:sSub>
                    <m:d>
                      <m:d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𝐿𝑃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×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10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6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×1.330×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𝐿𝑃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+3.864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+7.464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+9.141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+7.464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+3.864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 </a:t>
                </a:r>
                <a:r>
                  <a:rPr lang="en-US" sz="3400" dirty="0"/>
                  <a:t>Step 3: Replace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sz="3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3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3400" dirty="0"/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𝐿𝑃</m:t>
                        </m:r>
                      </m:sub>
                    </m:sSub>
                    <m:d>
                      <m:d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3400" dirty="0" smtClean="0"/>
                  <a:t> 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3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r>
                          <a:rPr lang="en-US" sz="3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en-US" sz="3400" dirty="0"/>
                  <a:t>  to obtain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𝐻𝑃</m:t>
                        </m:r>
                      </m:sub>
                    </m:sSub>
                    <m:d>
                      <m:d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𝐻𝑃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+3.864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+7.464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+9.141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+7.464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+3.864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3.41×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41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+1.57×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35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+3.64×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28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+5.33×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+5.21×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14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+3.23×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t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信号与系统</a:t>
            </a:r>
            <a:r>
              <a:rPr lang="en-US" altLang="zh-CN" smtClean="0"/>
              <a:t>·2020</a:t>
            </a:r>
            <a:r>
              <a:rPr lang="zh-CN" altLang="en-US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§P.1 Butterworth Filter </a:t>
            </a:r>
          </a:p>
        </p:txBody>
      </p:sp>
    </p:spTree>
    <p:extLst>
      <p:ext uri="{BB962C8B-B14F-4D97-AF65-F5344CB8AC3E}">
        <p14:creationId xmlns:p14="http://schemas.microsoft.com/office/powerpoint/2010/main" val="3383597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790" y="4157744"/>
            <a:ext cx="3833768" cy="223787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49" y="365126"/>
            <a:ext cx="8032271" cy="792000"/>
          </a:xfrm>
        </p:spPr>
        <p:txBody>
          <a:bodyPr>
            <a:noAutofit/>
          </a:bodyPr>
          <a:lstStyle/>
          <a:p>
            <a:r>
              <a:rPr lang="en-US" sz="3600" dirty="0" smtClean="0"/>
              <a:t>High-order Filter </a:t>
            </a:r>
            <a:r>
              <a:rPr lang="en-US" altLang="zh-CN" sz="3600" dirty="0" smtClean="0"/>
              <a:t>= Cascading of 1</a:t>
            </a:r>
            <a:r>
              <a:rPr lang="en-US" altLang="zh-CN" sz="3600" baseline="30000" dirty="0" smtClean="0"/>
              <a:t>st</a:t>
            </a:r>
            <a:r>
              <a:rPr lang="en-US" altLang="zh-CN" sz="3600" dirty="0" smtClean="0"/>
              <a:t>-order filter(s) and 2</a:t>
            </a:r>
            <a:r>
              <a:rPr lang="en-US" altLang="zh-CN" sz="3600" baseline="30000" dirty="0" smtClean="0"/>
              <a:t>nd</a:t>
            </a:r>
            <a:r>
              <a:rPr lang="en-US" altLang="zh-CN" sz="3600" dirty="0" smtClean="0"/>
              <a:t>-order filter(s)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308101"/>
                <a:ext cx="8417697" cy="2917670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 smtClean="0"/>
                  <a:t> If the transfer function has no zero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∏"/>
                              <m:limLoc m:val="subSup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nary>
                            <m:naryPr>
                              <m:chr m:val="∏"/>
                              <m:limLoc m:val="subSup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)/2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∙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nary>
                        <m:naryPr>
                          <m:chr m:val="∏"/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1=1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nary>
                                <m:naryPr>
                                  <m:chr m:val="∏"/>
                                  <m:limLoc m:val="subSup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1=1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p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den>
                          </m:f>
                        </m:e>
                      </m:nary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nary>
                        <m:naryPr>
                          <m:chr m:val="∏"/>
                          <m:limLoc m:val="subSup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)/2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308101"/>
                <a:ext cx="8417697" cy="2917670"/>
              </a:xfrm>
              <a:blipFill>
                <a:blip r:embed="rId3"/>
                <a:stretch>
                  <a:fillRect l="-941" t="-4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信号与系统</a:t>
            </a:r>
            <a:r>
              <a:rPr lang="en-US" altLang="zh-CN" smtClean="0"/>
              <a:t>·2020</a:t>
            </a:r>
            <a:r>
              <a:rPr lang="zh-CN" altLang="en-US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§P.1 Butterworth Filter </a:t>
            </a:r>
          </a:p>
        </p:txBody>
      </p:sp>
      <p:sp>
        <p:nvSpPr>
          <p:cNvPr id="7" name="矩形 6"/>
          <p:cNvSpPr/>
          <p:nvPr/>
        </p:nvSpPr>
        <p:spPr>
          <a:xfrm>
            <a:off x="6042008" y="4521045"/>
            <a:ext cx="2618912" cy="120032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Courtesy: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://www2.seas.gwu.edu/~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ece121/Spring-11/filterdesign.pdf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151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First-Order Low-Pass Filter</a:t>
            </a:r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873" y="1400781"/>
            <a:ext cx="3825707" cy="2340968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信号与系统</a:t>
            </a:r>
            <a:r>
              <a:rPr lang="en-US" altLang="zh-CN" smtClean="0"/>
              <a:t>·2020</a:t>
            </a:r>
            <a:r>
              <a:rPr lang="zh-CN" altLang="en-US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P.2 Active Filters</a:t>
            </a:r>
            <a:endParaRPr lang="en-US" dirty="0"/>
          </a:p>
        </p:txBody>
      </p:sp>
      <p:sp>
        <p:nvSpPr>
          <p:cNvPr id="8" name="矩形 7"/>
          <p:cNvSpPr/>
          <p:nvPr/>
        </p:nvSpPr>
        <p:spPr>
          <a:xfrm>
            <a:off x="193318" y="3985404"/>
            <a:ext cx="43140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latin typeface="Arial" panose="020B0604020202020204" pitchFamily="34" charset="0"/>
              </a:rPr>
              <a:t>First-Order Noninverting Low-Pass Filter</a:t>
            </a:r>
            <a:endParaRPr 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364" y="1316286"/>
            <a:ext cx="3981987" cy="2246142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4945375" y="3985404"/>
            <a:ext cx="39036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latin typeface="Arial" panose="020B0604020202020204" pitchFamily="34" charset="0"/>
              </a:rPr>
              <a:t>First-Order Inverting Low-Pass Filter</a:t>
            </a:r>
          </a:p>
        </p:txBody>
      </p:sp>
      <p:sp>
        <p:nvSpPr>
          <p:cNvPr id="13" name="矩形 12"/>
          <p:cNvSpPr/>
          <p:nvPr/>
        </p:nvSpPr>
        <p:spPr>
          <a:xfrm>
            <a:off x="1512535" y="5841917"/>
            <a:ext cx="5989567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Courtesy: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://www2.seas.gwu.edu/~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ece121/Spring-11/filterdesign.pdf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982505" y="4675491"/>
                <a:ext cx="2631963" cy="7920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505" y="4675491"/>
                <a:ext cx="2631963" cy="7920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5371989" y="4676901"/>
                <a:ext cx="2961128" cy="790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989" y="4676901"/>
                <a:ext cx="2961128" cy="7906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8258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i="1" dirty="0" smtClean="0">
                <a:latin typeface="Arial" panose="020B0604020202020204" pitchFamily="34" charset="0"/>
              </a:rPr>
              <a:t>Second-Order </a:t>
            </a:r>
            <a:r>
              <a:rPr lang="en-US" sz="3200" i="1" dirty="0" err="1" smtClean="0">
                <a:latin typeface="Arial" panose="020B0604020202020204" pitchFamily="34" charset="0"/>
              </a:rPr>
              <a:t>Sallen</a:t>
            </a:r>
            <a:r>
              <a:rPr lang="en-US" sz="3200" i="1" dirty="0" smtClean="0">
                <a:latin typeface="Arial" panose="020B0604020202020204" pitchFamily="34" charset="0"/>
              </a:rPr>
              <a:t>-Key Low-Pass Filter</a:t>
            </a:r>
            <a:endParaRPr lang="en-US" sz="3200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627" y="1542123"/>
            <a:ext cx="4200856" cy="2386850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信号与系统</a:t>
            </a:r>
            <a:r>
              <a:rPr lang="en-US" altLang="zh-CN" smtClean="0"/>
              <a:t>·2020</a:t>
            </a:r>
            <a:r>
              <a:rPr lang="zh-CN" altLang="en-US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§P.2 Active </a:t>
            </a:r>
            <a:r>
              <a:rPr lang="en-US" dirty="0" smtClean="0"/>
              <a:t>Filters</a:t>
            </a:r>
            <a:endParaRPr lang="en-US" dirty="0"/>
          </a:p>
        </p:txBody>
      </p:sp>
      <p:sp>
        <p:nvSpPr>
          <p:cNvPr id="8" name="矩形 7"/>
          <p:cNvSpPr/>
          <p:nvPr/>
        </p:nvSpPr>
        <p:spPr>
          <a:xfrm>
            <a:off x="552299" y="4313970"/>
            <a:ext cx="38395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latin typeface="Arial" panose="020B0604020202020204" pitchFamily="34" charset="0"/>
              </a:rPr>
              <a:t>General </a:t>
            </a:r>
            <a:r>
              <a:rPr lang="en-US" i="1" dirty="0" err="1">
                <a:latin typeface="Arial" panose="020B0604020202020204" pitchFamily="34" charset="0"/>
              </a:rPr>
              <a:t>Sallen</a:t>
            </a:r>
            <a:r>
              <a:rPr lang="en-US" i="1" dirty="0">
                <a:latin typeface="Arial" panose="020B0604020202020204" pitchFamily="34" charset="0"/>
              </a:rPr>
              <a:t>-Key Low-Pass Filter</a:t>
            </a:r>
            <a:endParaRPr lang="en-US" dirty="0"/>
          </a:p>
        </p:txBody>
      </p:sp>
      <p:sp>
        <p:nvSpPr>
          <p:cNvPr id="9" name="矩形 8"/>
          <p:cNvSpPr/>
          <p:nvPr/>
        </p:nvSpPr>
        <p:spPr>
          <a:xfrm>
            <a:off x="4784273" y="4297453"/>
            <a:ext cx="4108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latin typeface="Arial" panose="020B0604020202020204" pitchFamily="34" charset="0"/>
              </a:rPr>
              <a:t>Unity-Gain </a:t>
            </a:r>
            <a:r>
              <a:rPr lang="en-US" i="1" dirty="0" err="1">
                <a:latin typeface="Arial" panose="020B0604020202020204" pitchFamily="34" charset="0"/>
              </a:rPr>
              <a:t>Sallen</a:t>
            </a:r>
            <a:r>
              <a:rPr lang="en-US" i="1" dirty="0">
                <a:latin typeface="Arial" panose="020B0604020202020204" pitchFamily="34" charset="0"/>
              </a:rPr>
              <a:t>-Key Low-Pass Filter</a:t>
            </a:r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285" y="1724694"/>
            <a:ext cx="4491181" cy="1859810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1577216" y="1234346"/>
            <a:ext cx="5989567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Courtesy: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://www2.seas.gwu.edu/~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ece121/Spring-11/filterdesign.pdf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120770" y="4666785"/>
                <a:ext cx="4572483" cy="90806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70" y="4666785"/>
                <a:ext cx="4572483" cy="9080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5085825" y="4876839"/>
                <a:ext cx="3505712" cy="5028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825" y="4876839"/>
                <a:ext cx="3505712" cy="5028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1861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Second-Order Multiple Feedback (MFB) Low-Pass Filter</a:t>
            </a:r>
            <a:endParaRPr 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0421" y="1327232"/>
            <a:ext cx="5095875" cy="2438400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信号与系统</a:t>
            </a:r>
            <a:r>
              <a:rPr lang="en-US" altLang="zh-CN" smtClean="0"/>
              <a:t>·2020</a:t>
            </a:r>
            <a:r>
              <a:rPr lang="zh-CN" altLang="en-US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§P.2 Active </a:t>
            </a:r>
            <a:r>
              <a:rPr lang="en-US" dirty="0" smtClean="0"/>
              <a:t>Filters</a:t>
            </a:r>
            <a:endParaRPr 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6489" y="5226895"/>
            <a:ext cx="2541461" cy="83505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6992" y="5201017"/>
            <a:ext cx="1400110" cy="700056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6838682" y="2223266"/>
            <a:ext cx="16213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smtClean="0">
                <a:solidFill>
                  <a:srgbClr val="FF0000"/>
                </a:solidFill>
                <a:latin typeface="Arial" panose="020B0604020202020204" pitchFamily="34" charset="0"/>
              </a:rPr>
              <a:t>Usually for high-Q filters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497083" y="5958330"/>
            <a:ext cx="5989567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Courtesy: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://www2.seas.gwu.edu/~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ece121/Spring-11/filterdesign.pdf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1074389" y="3961785"/>
                <a:ext cx="5989567" cy="10172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389" y="3961785"/>
                <a:ext cx="5989567" cy="10172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6577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Conversion from Low-Pass Filter to High-Pass Filter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信号与系统</a:t>
            </a:r>
            <a:r>
              <a:rPr lang="en-US" altLang="zh-CN" smtClean="0"/>
              <a:t>·2020</a:t>
            </a:r>
            <a:r>
              <a:rPr lang="zh-CN" altLang="en-US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§P.2 Active </a:t>
            </a:r>
            <a:r>
              <a:rPr lang="en-US" dirty="0" smtClean="0"/>
              <a:t>Filters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6300"/>
            <a:ext cx="5076825" cy="21621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921" y="4132052"/>
            <a:ext cx="5051239" cy="2018581"/>
          </a:xfrm>
          <a:prstGeom prst="rect">
            <a:avLst/>
          </a:prstGeom>
        </p:spPr>
      </p:pic>
      <p:sp>
        <p:nvSpPr>
          <p:cNvPr id="10" name="下箭头 9"/>
          <p:cNvSpPr/>
          <p:nvPr/>
        </p:nvSpPr>
        <p:spPr>
          <a:xfrm rot="18591680">
            <a:off x="3989580" y="3291080"/>
            <a:ext cx="322072" cy="1118981"/>
          </a:xfrm>
          <a:prstGeom prst="downArrow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矩形 10"/>
          <p:cNvSpPr/>
          <p:nvPr/>
        </p:nvSpPr>
        <p:spPr>
          <a:xfrm>
            <a:off x="4375348" y="3368364"/>
            <a:ext cx="41652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smtClean="0">
                <a:solidFill>
                  <a:srgbClr val="0000FF"/>
                </a:solidFill>
                <a:latin typeface="Arial" panose="020B0604020202020204" pitchFamily="34" charset="0"/>
              </a:rPr>
              <a:t>Replace capacitors with resistors,</a:t>
            </a:r>
          </a:p>
          <a:p>
            <a:r>
              <a:rPr lang="en-US" i="1" dirty="0" smtClean="0">
                <a:solidFill>
                  <a:srgbClr val="0000FF"/>
                </a:solidFill>
                <a:latin typeface="Arial" panose="020B0604020202020204" pitchFamily="34" charset="0"/>
              </a:rPr>
              <a:t>&amp; replace resistors with capacitors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0166" y="5141342"/>
            <a:ext cx="2958860" cy="73866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Courtesy: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://www2.seas.gwu.edu/~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ece121/Spring-11/filterdesign.pdf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374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First-Order High-Pass Filter</a:t>
            </a:r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信号与系统</a:t>
            </a:r>
            <a:r>
              <a:rPr lang="en-US" altLang="zh-CN" smtClean="0"/>
              <a:t>·2020</a:t>
            </a:r>
            <a:r>
              <a:rPr lang="zh-CN" altLang="en-US" smtClean="0"/>
              <a:t>秋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§P.2 Active </a:t>
            </a:r>
            <a:r>
              <a:rPr lang="en-US" dirty="0" smtClean="0"/>
              <a:t>Filters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76" y="1496466"/>
            <a:ext cx="4238619" cy="227327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6173" y="1591481"/>
            <a:ext cx="4938423" cy="1902507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68845" y="4003662"/>
            <a:ext cx="43652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smtClean="0">
                <a:latin typeface="Arial" panose="020B0604020202020204" pitchFamily="34" charset="0"/>
              </a:rPr>
              <a:t>First-Order Noninverting High-Pass Filter</a:t>
            </a:r>
            <a:endParaRPr lang="en-US" dirty="0"/>
          </a:p>
        </p:txBody>
      </p:sp>
      <p:sp>
        <p:nvSpPr>
          <p:cNvPr id="11" name="矩形 10"/>
          <p:cNvSpPr/>
          <p:nvPr/>
        </p:nvSpPr>
        <p:spPr>
          <a:xfrm>
            <a:off x="4572000" y="3992724"/>
            <a:ext cx="39549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latin typeface="Arial" panose="020B0604020202020204" pitchFamily="34" charset="0"/>
              </a:rPr>
              <a:t>First-Order Inverting High-Pass Filter</a:t>
            </a:r>
            <a:endParaRPr lang="en-US" dirty="0"/>
          </a:p>
        </p:txBody>
      </p:sp>
      <p:sp>
        <p:nvSpPr>
          <p:cNvPr id="12" name="矩形 11"/>
          <p:cNvSpPr/>
          <p:nvPr/>
        </p:nvSpPr>
        <p:spPr>
          <a:xfrm>
            <a:off x="1961109" y="5879097"/>
            <a:ext cx="5989567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Courtesy: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://www2.seas.gwu.edu/~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ece121/Spring-11/filterdesign.pdf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908903" y="4657886"/>
                <a:ext cx="2631963" cy="10394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903" y="4657886"/>
                <a:ext cx="2631963" cy="10394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4955892" y="4670511"/>
                <a:ext cx="2631963" cy="10394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5892" y="4670511"/>
                <a:ext cx="2631963" cy="10394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6307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427" y="1406915"/>
            <a:ext cx="5323567" cy="275964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7512" y="408258"/>
            <a:ext cx="8231355" cy="792000"/>
          </a:xfrm>
        </p:spPr>
        <p:txBody>
          <a:bodyPr>
            <a:noAutofit/>
          </a:bodyPr>
          <a:lstStyle/>
          <a:p>
            <a:r>
              <a:rPr lang="en-US" sz="3600" dirty="0"/>
              <a:t>Second-Order </a:t>
            </a:r>
            <a:r>
              <a:rPr lang="en-US" sz="3600" dirty="0" err="1" smtClean="0"/>
              <a:t>Sallen</a:t>
            </a:r>
            <a:r>
              <a:rPr lang="en-US" sz="3600" dirty="0" smtClean="0"/>
              <a:t>-Key High-Pass </a:t>
            </a:r>
            <a:r>
              <a:rPr lang="en-US" sz="3600" dirty="0"/>
              <a:t>Filter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信号与系统</a:t>
            </a:r>
            <a:r>
              <a:rPr lang="en-US" altLang="zh-CN" smtClean="0"/>
              <a:t>·2020</a:t>
            </a:r>
            <a:r>
              <a:rPr lang="zh-CN" altLang="en-US" smtClean="0"/>
              <a:t>秋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§P.2 Active </a:t>
            </a:r>
            <a:r>
              <a:rPr lang="en-US" dirty="0" smtClean="0"/>
              <a:t>Filters</a:t>
            </a:r>
            <a:endParaRPr lang="en-US" dirty="0"/>
          </a:p>
        </p:txBody>
      </p:sp>
      <p:sp>
        <p:nvSpPr>
          <p:cNvPr id="10" name="矩形 9"/>
          <p:cNvSpPr/>
          <p:nvPr/>
        </p:nvSpPr>
        <p:spPr>
          <a:xfrm>
            <a:off x="1512535" y="5841917"/>
            <a:ext cx="5989567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Courtesy: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://www2.seas.gwu.edu/~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ece121/Spring-11/filterdesign.pdf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1412745" y="4373216"/>
                <a:ext cx="6408929" cy="1135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745" y="4373216"/>
                <a:ext cx="6408929" cy="11351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2935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7512" y="408258"/>
            <a:ext cx="8231355" cy="792000"/>
          </a:xfrm>
        </p:spPr>
        <p:txBody>
          <a:bodyPr>
            <a:noAutofit/>
          </a:bodyPr>
          <a:lstStyle/>
          <a:p>
            <a:r>
              <a:rPr lang="en-US" sz="3600" dirty="0"/>
              <a:t>Second-Order </a:t>
            </a:r>
            <a:r>
              <a:rPr lang="en-US" sz="3600" dirty="0" err="1" smtClean="0"/>
              <a:t>Sallen</a:t>
            </a:r>
            <a:r>
              <a:rPr lang="en-US" sz="3600" dirty="0" smtClean="0"/>
              <a:t>-Key High-Pass Filter (Unity Gain)</a:t>
            </a:r>
            <a:endParaRPr lang="en-US" sz="3600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信号与系统</a:t>
            </a:r>
            <a:r>
              <a:rPr lang="en-US" altLang="zh-CN" smtClean="0"/>
              <a:t>·2020</a:t>
            </a:r>
            <a:r>
              <a:rPr lang="zh-CN" altLang="en-US" smtClean="0"/>
              <a:t>秋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§P.2 Active </a:t>
            </a:r>
            <a:r>
              <a:rPr lang="en-US" dirty="0" smtClean="0"/>
              <a:t>Filters</a:t>
            </a:r>
            <a:endParaRPr lang="en-US" dirty="0"/>
          </a:p>
        </p:txBody>
      </p:sp>
      <p:sp>
        <p:nvSpPr>
          <p:cNvPr id="10" name="矩形 9"/>
          <p:cNvSpPr/>
          <p:nvPr/>
        </p:nvSpPr>
        <p:spPr>
          <a:xfrm>
            <a:off x="1508405" y="5832518"/>
            <a:ext cx="6669437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Courtesy: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://www2.seas.gwu.edu/~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ece121/Spring-11/filterdesign.pdf</a:t>
            </a: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248" y="1733135"/>
            <a:ext cx="5388543" cy="21534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1325315" y="4419463"/>
                <a:ext cx="5865367" cy="8801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315" y="4419463"/>
                <a:ext cx="5865367" cy="8801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1172" y="2218310"/>
            <a:ext cx="480060" cy="37338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8018" y="2273924"/>
            <a:ext cx="310923" cy="262151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0047288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Second-Order Multiple Feedback (MFB) </a:t>
            </a:r>
            <a:r>
              <a:rPr lang="en-US" dirty="0" smtClean="0"/>
              <a:t>High-Pass </a:t>
            </a:r>
            <a:r>
              <a:rPr lang="en-US" dirty="0"/>
              <a:t>Filter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信号与系统</a:t>
            </a:r>
            <a:r>
              <a:rPr lang="en-US" altLang="zh-CN" smtClean="0"/>
              <a:t>·2020</a:t>
            </a:r>
            <a:r>
              <a:rPr lang="zh-CN" altLang="en-US" smtClean="0"/>
              <a:t>秋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§P.2 Active </a:t>
            </a:r>
            <a:r>
              <a:rPr lang="en-US" dirty="0" smtClean="0"/>
              <a:t>Filters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915" y="1543748"/>
            <a:ext cx="4786831" cy="2238118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512535" y="5841917"/>
            <a:ext cx="6354756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Courtesy: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://www2.seas.gwu.edu/~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ece121/Spring-11/filterdesign.pdf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(corrected!)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1074842" y="4168488"/>
                <a:ext cx="6408929" cy="11323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842" y="4168488"/>
                <a:ext cx="6408929" cy="11323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7699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17010</TotalTime>
  <Words>3693</Words>
  <Application>Microsoft Office PowerPoint</Application>
  <PresentationFormat>全屏显示(4:3)</PresentationFormat>
  <Paragraphs>173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等线</vt:lpstr>
      <vt:lpstr>宋体</vt:lpstr>
      <vt:lpstr>Arial</vt:lpstr>
      <vt:lpstr>Cambria Math</vt:lpstr>
      <vt:lpstr>Times New Roman</vt:lpstr>
      <vt:lpstr>Wingdings</vt:lpstr>
      <vt:lpstr>Office 主题​​</vt:lpstr>
      <vt:lpstr>Filter Design Introduction</vt:lpstr>
      <vt:lpstr>Outline</vt:lpstr>
      <vt:lpstr>Definitions – Low-pass Filter</vt:lpstr>
      <vt:lpstr>Definitions –High-pass Filter</vt:lpstr>
      <vt:lpstr>Butterworth Filter: Maximum Passband Flatness</vt:lpstr>
      <vt:lpstr>Poles and Transfer Function of Butterworth Low-Pass Filter</vt:lpstr>
      <vt:lpstr>Butterworth Polynomial</vt:lpstr>
      <vt:lpstr>Design Example of Butterworth Low-Pass Filter</vt:lpstr>
      <vt:lpstr>Design High-Pass Filter from Low-Pass Prototype Using Frequency Mapping</vt:lpstr>
      <vt:lpstr>Design Example of Butterworth High-Pass Filter</vt:lpstr>
      <vt:lpstr>Design Example of Butterworth High-Pass Filter (cont’)</vt:lpstr>
      <vt:lpstr>High-order Filter = Cascading of 1st-order filter(s) and 2nd-order filter(s)</vt:lpstr>
      <vt:lpstr>First-Order Low-Pass Filter</vt:lpstr>
      <vt:lpstr>Second-Order Sallen-Key Low-Pass Filter</vt:lpstr>
      <vt:lpstr>Second-Order Multiple Feedback (MFB) Low-Pass Filter</vt:lpstr>
      <vt:lpstr>Conversion from Low-Pass Filter to High-Pass Filter</vt:lpstr>
      <vt:lpstr>First-Order High-Pass Filter</vt:lpstr>
      <vt:lpstr>Second-Order Sallen-Key High-Pass Filter</vt:lpstr>
      <vt:lpstr>Second-Order Sallen-Key High-Pass Filter (Unity Gain)</vt:lpstr>
      <vt:lpstr>Second-Order Multiple Feedback (MFB) High-Pass Filter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Hanjun Jiang</dc:creator>
  <cp:lastModifiedBy>Hanjun Jiang</cp:lastModifiedBy>
  <cp:revision>1032</cp:revision>
  <dcterms:created xsi:type="dcterms:W3CDTF">2018-09-11T08:26:55Z</dcterms:created>
  <dcterms:modified xsi:type="dcterms:W3CDTF">2021-01-19T14:27:46Z</dcterms:modified>
</cp:coreProperties>
</file>