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46"/>
  </p:notesMasterIdLst>
  <p:handoutMasterIdLst>
    <p:handoutMasterId r:id="rId47"/>
  </p:handoutMasterIdLst>
  <p:sldIdLst>
    <p:sldId id="303" r:id="rId2"/>
    <p:sldId id="354" r:id="rId3"/>
    <p:sldId id="359" r:id="rId4"/>
    <p:sldId id="355" r:id="rId5"/>
    <p:sldId id="352" r:id="rId6"/>
    <p:sldId id="304" r:id="rId7"/>
    <p:sldId id="290" r:id="rId8"/>
    <p:sldId id="330" r:id="rId9"/>
    <p:sldId id="305" r:id="rId10"/>
    <p:sldId id="306" r:id="rId11"/>
    <p:sldId id="333" r:id="rId12"/>
    <p:sldId id="331" r:id="rId13"/>
    <p:sldId id="332" r:id="rId14"/>
    <p:sldId id="334" r:id="rId15"/>
    <p:sldId id="335" r:id="rId16"/>
    <p:sldId id="336" r:id="rId17"/>
    <p:sldId id="324" r:id="rId18"/>
    <p:sldId id="325" r:id="rId19"/>
    <p:sldId id="326" r:id="rId20"/>
    <p:sldId id="327" r:id="rId21"/>
    <p:sldId id="328" r:id="rId22"/>
    <p:sldId id="329" r:id="rId23"/>
    <p:sldId id="337" r:id="rId24"/>
    <p:sldId id="338" r:id="rId25"/>
    <p:sldId id="340" r:id="rId26"/>
    <p:sldId id="339" r:id="rId27"/>
    <p:sldId id="341" r:id="rId28"/>
    <p:sldId id="353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6" r:id="rId40"/>
    <p:sldId id="362" r:id="rId41"/>
    <p:sldId id="363" r:id="rId42"/>
    <p:sldId id="364" r:id="rId43"/>
    <p:sldId id="360" r:id="rId44"/>
    <p:sldId id="361" r:id="rId45"/>
  </p:sldIdLst>
  <p:sldSz cx="9144000" cy="6858000" type="screen4x3"/>
  <p:notesSz cx="7099300" cy="10234613"/>
  <p:custDataLst>
    <p:tags r:id="rId4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FF"/>
    <a:srgbClr val="0000FF"/>
    <a:srgbClr val="FF0000"/>
    <a:srgbClr val="008000"/>
    <a:srgbClr val="7AC2C8"/>
    <a:srgbClr val="D7CDFF"/>
    <a:srgbClr val="A08AFE"/>
    <a:srgbClr val="000066"/>
    <a:srgbClr val="ABA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1" autoAdjust="0"/>
    <p:restoredTop sz="92523" autoAdjust="0"/>
  </p:normalViewPr>
  <p:slideViewPr>
    <p:cSldViewPr>
      <p:cViewPr>
        <p:scale>
          <a:sx n="125" d="100"/>
          <a:sy n="125" d="100"/>
        </p:scale>
        <p:origin x="-144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922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457DAD5-952A-44DF-99D1-3C89FBE63A39}" type="datetimeFigureOut">
              <a:rPr lang="zh-CN" altLang="en-US"/>
              <a:pPr>
                <a:defRPr/>
              </a:pPr>
              <a:t>2021/6/24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DF42D14-F714-42F4-8D75-8769CFDB164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053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3D11ED7B-9607-43C3-9313-D8C303C4F5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48560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1ED7B-9607-43C3-9313-D8C303C4F5C1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487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1ED7B-9607-43C3-9313-D8C303C4F5C1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2287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1ED7B-9607-43C3-9313-D8C303C4F5C1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614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1ED7B-9607-43C3-9313-D8C303C4F5C1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620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1ED7B-9607-43C3-9313-D8C303C4F5C1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88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1ED7B-9607-43C3-9313-D8C303C4F5C1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024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1ED7B-9607-43C3-9313-D8C303C4F5C1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48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 userDrawn="1"/>
        </p:nvSpPr>
        <p:spPr bwMode="auto">
          <a:xfrm>
            <a:off x="1835150" y="6021388"/>
            <a:ext cx="6904038" cy="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1979613" y="6165850"/>
            <a:ext cx="55451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1600" b="1" dirty="0" smtClean="0">
                <a:solidFill>
                  <a:srgbClr val="660066"/>
                </a:solidFill>
                <a:latin typeface="Arial" charset="0"/>
              </a:rPr>
              <a:t>清华大学微电子与纳电子学系</a:t>
            </a:r>
            <a:endParaRPr lang="en-US" altLang="zh-CN" sz="1600" b="1" dirty="0">
              <a:solidFill>
                <a:srgbClr val="660066"/>
              </a:solidFill>
              <a:latin typeface="Arial" charset="0"/>
            </a:endParaRPr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800225"/>
          </a:xfrm>
        </p:spPr>
        <p:txBody>
          <a:bodyPr/>
          <a:lstStyle>
            <a:lvl1pPr algn="ctr">
              <a:defRPr sz="4000" i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9" name="图片 8" descr="IM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941168"/>
            <a:ext cx="1845838" cy="19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3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9B028A-D22A-493A-9229-E70FA774430F}" type="slidenum">
              <a:rPr lang="ko-KR" altLang="en-US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413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i="0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D044E9-94A1-4358-86D9-944DC4CB2E3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694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FF835E-7ADA-46B7-8EFA-CE693C298C4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775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B13C85-8E0F-41CC-8651-3787FBD5355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616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3BD936-3346-4CA9-8CE5-2021D2551FD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316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910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079332-F903-4944-A421-4819396B465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8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0BE74B-FF64-42AD-8CB3-B7617FBE66A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258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4FF329-7D7F-4EFE-B935-5A329301207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642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91212"/>
          </a:xfrm>
        </p:spPr>
        <p:txBody>
          <a:bodyPr vert="eaVert"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912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DA75C8-3A80-4647-A5F9-9C839B63539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7584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8229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3721100"/>
            <a:ext cx="8229600" cy="2444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2DA34F-D232-4B84-8CDE-DAFC3D460B6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437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0403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21100"/>
            <a:ext cx="4038600" cy="2444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4F4B61-8DCE-44AD-AA8C-ACDB389F539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0827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0403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125538"/>
            <a:ext cx="4038600" cy="50403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5798F1-BB9C-4D2A-89B8-0549E595F9D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4043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25538"/>
            <a:ext cx="4038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457200" y="3721100"/>
            <a:ext cx="8229600" cy="2444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27AD63-A2B2-4938-B43C-16E11ED2EA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4064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8004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457200" y="1052513"/>
            <a:ext cx="8229600" cy="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029" name="Line 8"/>
          <p:cNvSpPr>
            <a:spLocks noChangeShapeType="1"/>
          </p:cNvSpPr>
          <p:nvPr userDrawn="1"/>
        </p:nvSpPr>
        <p:spPr bwMode="auto">
          <a:xfrm>
            <a:off x="755650" y="6453188"/>
            <a:ext cx="7696200" cy="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030" name="Text Box 10"/>
          <p:cNvSpPr txBox="1">
            <a:spLocks noChangeArrowheads="1"/>
          </p:cNvSpPr>
          <p:nvPr userDrawn="1"/>
        </p:nvSpPr>
        <p:spPr bwMode="auto">
          <a:xfrm>
            <a:off x="1979613" y="6524625"/>
            <a:ext cx="55451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1200" b="1" dirty="0" smtClean="0">
                <a:solidFill>
                  <a:srgbClr val="660066"/>
                </a:solidFill>
                <a:latin typeface="Arial" charset="0"/>
              </a:rPr>
              <a:t>清华大学微电子与纳电子学系</a:t>
            </a:r>
            <a:endParaRPr lang="en-US" altLang="zh-CN" sz="1200" b="1" dirty="0">
              <a:solidFill>
                <a:srgbClr val="660066"/>
              </a:solidFill>
              <a:latin typeface="Arial" charset="0"/>
            </a:endParaRPr>
          </a:p>
        </p:txBody>
      </p:sp>
      <p:sp>
        <p:nvSpPr>
          <p:cNvPr id="3788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3425" y="6534150"/>
            <a:ext cx="79057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660066"/>
                </a:solidFill>
                <a:ea typeface="Gulim" panose="020B0600000101010101" pitchFamily="34" charset="-127"/>
              </a:defRPr>
            </a:lvl1pPr>
          </a:lstStyle>
          <a:p>
            <a:fld id="{A5E56957-F3F7-4563-9E14-A86B775784F8}" type="slidenum">
              <a:rPr lang="ko-KR" altLang="en-US"/>
              <a:pPr/>
              <a:t>‹#›</a:t>
            </a:fld>
            <a:endParaRPr lang="en-US" altLang="ko-KR"/>
          </a:p>
        </p:txBody>
      </p:sp>
      <p:pic>
        <p:nvPicPr>
          <p:cNvPr id="11" name="图片 10" descr="IME.png"/>
          <p:cNvPicPr>
            <a:picLocks noChangeAspect="1"/>
          </p:cNvPicPr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0" y="5877272"/>
            <a:ext cx="944405" cy="9807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1" r:id="rId1"/>
    <p:sldLayoutId id="2147484447" r:id="rId2"/>
    <p:sldLayoutId id="2147484448" r:id="rId3"/>
    <p:sldLayoutId id="2147484449" r:id="rId4"/>
    <p:sldLayoutId id="2147484450" r:id="rId5"/>
    <p:sldLayoutId id="2147484451" r:id="rId6"/>
    <p:sldLayoutId id="2147484452" r:id="rId7"/>
    <p:sldLayoutId id="2147484453" r:id="rId8"/>
    <p:sldLayoutId id="2147484454" r:id="rId9"/>
    <p:sldLayoutId id="2147484455" r:id="rId10"/>
    <p:sldLayoutId id="2147484456" r:id="rId11"/>
    <p:sldLayoutId id="2147484457" r:id="rId12"/>
    <p:sldLayoutId id="2147484458" r:id="rId13"/>
    <p:sldLayoutId id="2147484459" r:id="rId14"/>
    <p:sldLayoutId id="2147484460" r:id="rId15"/>
    <p:sldLayoutId id="2147484462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2736" y="980728"/>
            <a:ext cx="6838528" cy="33848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5400" dirty="0" smtClean="0"/>
              <a:t>集成电路基础实验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zh-CN" altLang="en-US" sz="4400" dirty="0">
                <a:solidFill>
                  <a:srgbClr val="0000FF"/>
                </a:solidFill>
              </a:rPr>
              <a:t>实验</a:t>
            </a:r>
            <a:r>
              <a:rPr lang="zh-CN" altLang="en-US" sz="4400" dirty="0" smtClean="0">
                <a:solidFill>
                  <a:srgbClr val="0000FF"/>
                </a:solidFill>
              </a:rPr>
              <a:t>七 手势识别</a:t>
            </a:r>
            <a:endParaRPr lang="zh-CN" altLang="en-US" sz="4800" dirty="0">
              <a:solidFill>
                <a:srgbClr val="0000FF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797152"/>
            <a:ext cx="6400800" cy="838944"/>
          </a:xfrm>
        </p:spPr>
        <p:txBody>
          <a:bodyPr/>
          <a:lstStyle/>
          <a:p>
            <a:r>
              <a:rPr lang="en-US" altLang="zh-CN" dirty="0" smtClean="0"/>
              <a:t>2020-09-07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183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手势识别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</a:t>
            </a:fld>
            <a:endParaRPr lang="en-US" altLang="ko-KR" dirty="0"/>
          </a:p>
        </p:txBody>
      </p:sp>
      <p:sp>
        <p:nvSpPr>
          <p:cNvPr id="13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590118" y="1348417"/>
            <a:ext cx="936104" cy="143251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CMOS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smtClean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Sensor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2318310" y="1268759"/>
            <a:ext cx="1584176" cy="237626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FPGA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2318310" y="1268760"/>
            <a:ext cx="417981" cy="180785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格式转换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5004048" y="1348417"/>
            <a:ext cx="1080120" cy="209740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VGA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Interface</a:t>
            </a:r>
          </a:p>
        </p:txBody>
      </p:sp>
      <p:sp>
        <p:nvSpPr>
          <p:cNvPr id="8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6494774" y="1348416"/>
            <a:ext cx="1079348" cy="209740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Screen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1907704" y="4149080"/>
            <a:ext cx="1209574" cy="168530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 smtClean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Video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capture</a:t>
            </a:r>
          </a:p>
        </p:txBody>
      </p:sp>
      <p:sp>
        <p:nvSpPr>
          <p:cNvPr id="10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5637558" y="3936880"/>
            <a:ext cx="1800200" cy="2373964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Computer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 smtClean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Neural network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3779912" y="4005064"/>
            <a:ext cx="1080120" cy="1512168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Pictures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箭头连接符 11"/>
          <p:cNvCxnSpPr>
            <a:stCxn id="13" idx="3"/>
          </p:cNvCxnSpPr>
          <p:nvPr/>
        </p:nvCxnSpPr>
        <p:spPr bwMode="auto">
          <a:xfrm flipV="1">
            <a:off x="1526222" y="2064672"/>
            <a:ext cx="79208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>
            <a:off x="3902486" y="2132856"/>
            <a:ext cx="108012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>
            <a:off x="6062726" y="2132856"/>
            <a:ext cx="4320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直接箭头连接符 18"/>
          <p:cNvCxnSpPr/>
          <p:nvPr/>
        </p:nvCxnSpPr>
        <p:spPr bwMode="auto">
          <a:xfrm>
            <a:off x="2447764" y="3724681"/>
            <a:ext cx="0" cy="4243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直接箭头连接符 20"/>
          <p:cNvCxnSpPr/>
          <p:nvPr/>
        </p:nvCxnSpPr>
        <p:spPr bwMode="auto">
          <a:xfrm>
            <a:off x="3117278" y="4869160"/>
            <a:ext cx="6626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直接箭头连接符 22"/>
          <p:cNvCxnSpPr/>
          <p:nvPr/>
        </p:nvCxnSpPr>
        <p:spPr bwMode="auto">
          <a:xfrm>
            <a:off x="4860032" y="4869160"/>
            <a:ext cx="75608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直接箭头连接符 25"/>
          <p:cNvCxnSpPr/>
          <p:nvPr/>
        </p:nvCxnSpPr>
        <p:spPr bwMode="auto">
          <a:xfrm>
            <a:off x="4860032" y="5301208"/>
            <a:ext cx="75608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TextBox 24">
            <a:extLst>
              <a:ext uri="{FF2B5EF4-FFF2-40B4-BE49-F238E27FC236}">
                <a16:creationId xmlns="" xmlns:a16="http://schemas.microsoft.com/office/drawing/2014/main" id="{B1E7B184-4E49-FB42-82F9-277BCE5E8F72}"/>
              </a:ext>
            </a:extLst>
          </p:cNvPr>
          <p:cNvSpPr txBox="1"/>
          <p:nvPr/>
        </p:nvSpPr>
        <p:spPr>
          <a:xfrm>
            <a:off x="4934768" y="4543653"/>
            <a:ext cx="70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rPr>
              <a:t>训练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="" xmlns:a16="http://schemas.microsoft.com/office/drawing/2014/main" id="{B1E7B184-4E49-FB42-82F9-277BCE5E8F72}"/>
              </a:ext>
            </a:extLst>
          </p:cNvPr>
          <p:cNvSpPr txBox="1"/>
          <p:nvPr/>
        </p:nvSpPr>
        <p:spPr>
          <a:xfrm>
            <a:off x="4939467" y="4977934"/>
            <a:ext cx="70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500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推理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cxnSp>
        <p:nvCxnSpPr>
          <p:cNvPr id="30" name="直接箭头连接符 29"/>
          <p:cNvCxnSpPr>
            <a:stCxn id="10" idx="3"/>
          </p:cNvCxnSpPr>
          <p:nvPr/>
        </p:nvCxnSpPr>
        <p:spPr bwMode="auto">
          <a:xfrm flipV="1">
            <a:off x="7437758" y="4991730"/>
            <a:ext cx="302594" cy="1321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7700950" y="4077071"/>
            <a:ext cx="1080120" cy="1829318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结论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457844" y="1151904"/>
            <a:ext cx="5820906" cy="257277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3448595" y="3789039"/>
            <a:ext cx="4105072" cy="2523171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="" xmlns:a16="http://schemas.microsoft.com/office/drawing/2014/main" id="{B1E7B184-4E49-FB42-82F9-277BCE5E8F72}"/>
              </a:ext>
            </a:extLst>
          </p:cNvPr>
          <p:cNvSpPr txBox="1"/>
          <p:nvPr/>
        </p:nvSpPr>
        <p:spPr>
          <a:xfrm>
            <a:off x="590118" y="2814027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rPr>
              <a:t>第一部分：图像采集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="" xmlns:a16="http://schemas.microsoft.com/office/drawing/2014/main" id="{B1E7B184-4E49-FB42-82F9-277BCE5E8F72}"/>
              </a:ext>
            </a:extLst>
          </p:cNvPr>
          <p:cNvSpPr txBox="1"/>
          <p:nvPr/>
        </p:nvSpPr>
        <p:spPr>
          <a:xfrm>
            <a:off x="4093809" y="5517232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rPr>
              <a:t>第二部分：神经网络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1530434" y="1768990"/>
            <a:ext cx="805146" cy="295682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SCCB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60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DE2-115</a:t>
            </a:r>
            <a:r>
              <a:rPr lang="zh-CN" altLang="en-US" b="1" dirty="0"/>
              <a:t>平台的</a:t>
            </a:r>
            <a:r>
              <a:rPr lang="en-US" altLang="zh-CN" b="1" dirty="0"/>
              <a:t>OV7725</a:t>
            </a:r>
            <a:r>
              <a:rPr lang="zh-CN" altLang="en-US" b="1" dirty="0"/>
              <a:t>图像采集系统</a:t>
            </a:r>
            <a:r>
              <a:rPr lang="zh-CN" altLang="en-US" b="1" dirty="0" smtClean="0"/>
              <a:t>设计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SCCB</a:t>
            </a:r>
            <a:r>
              <a:rPr lang="zh-CN" altLang="en-US" dirty="0" smtClean="0"/>
              <a:t>通信接口模块设计（</a:t>
            </a:r>
            <a:r>
              <a:rPr lang="en-US" altLang="zh-CN" dirty="0" smtClean="0"/>
              <a:t>6.28 - 6.30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图像格式转换模块设计（</a:t>
            </a:r>
            <a:r>
              <a:rPr lang="en-US" altLang="zh-CN" dirty="0" smtClean="0"/>
              <a:t>7.1 - 7.2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7.5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b="1" dirty="0"/>
              <a:t>手势</a:t>
            </a:r>
            <a:r>
              <a:rPr lang="zh-CN" altLang="en-US" b="1" dirty="0" smtClean="0"/>
              <a:t>识别神经网络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个人图像数据集搭建（</a:t>
            </a:r>
            <a:r>
              <a:rPr lang="en-US" altLang="zh-CN" dirty="0" smtClean="0"/>
              <a:t>7.6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神经网络算法训练（</a:t>
            </a:r>
            <a:r>
              <a:rPr lang="en-US" altLang="zh-CN" dirty="0" smtClean="0"/>
              <a:t>7.6 - 7.9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b="1" dirty="0"/>
              <a:t>春季学期未完成实验补做</a:t>
            </a:r>
            <a:endParaRPr lang="en-US" altLang="zh-CN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手势识别实验安排（夏季学期）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112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87624" y="1196752"/>
            <a:ext cx="6838528" cy="3384847"/>
          </a:xfrm>
        </p:spPr>
        <p:txBody>
          <a:bodyPr/>
          <a:lstStyle/>
          <a:p>
            <a:r>
              <a:rPr lang="en-US" altLang="zh-CN" sz="4400" dirty="0"/>
              <a:t>SCCB</a:t>
            </a:r>
            <a:r>
              <a:rPr lang="zh-CN" altLang="en-US" sz="4400" dirty="0"/>
              <a:t>通信接口模块设计</a:t>
            </a:r>
            <a:endParaRPr lang="zh-CN" altLang="en-US" sz="4400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11694" y="1916832"/>
            <a:ext cx="448558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DE2-115</a:t>
            </a:r>
            <a:r>
              <a:rPr lang="zh-CN" altLang="en-US" b="1" dirty="0"/>
              <a:t>平台的</a:t>
            </a:r>
            <a:r>
              <a:rPr lang="en-US" altLang="zh-CN" b="1" dirty="0"/>
              <a:t>OV7725</a:t>
            </a:r>
            <a:r>
              <a:rPr lang="zh-CN" altLang="en-US" b="1" dirty="0"/>
              <a:t>图像采集系统设计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40204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DE2-115</a:t>
            </a:r>
            <a:r>
              <a:rPr lang="zh-CN" altLang="en-US" dirty="0"/>
              <a:t>平台的</a:t>
            </a:r>
            <a:r>
              <a:rPr lang="en-US" altLang="zh-CN" dirty="0"/>
              <a:t>OV7725</a:t>
            </a:r>
            <a:r>
              <a:rPr lang="zh-CN" altLang="en-US" dirty="0"/>
              <a:t>图像采集系统</a:t>
            </a:r>
            <a:endParaRPr 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5</a:t>
            </a:fld>
            <a:endParaRPr lang="en-US" altLang="ko-KR" dirty="0"/>
          </a:p>
        </p:txBody>
      </p:sp>
      <p:sp>
        <p:nvSpPr>
          <p:cNvPr id="69" name="Rectangle 3">
            <a:extLst>
              <a:ext uri="{FF2B5EF4-FFF2-40B4-BE49-F238E27FC236}">
                <a16:creationId xmlns="" xmlns:a16="http://schemas.microsoft.com/office/drawing/2014/main" id="{5FBADBBF-3821-0D4E-96C0-CC362C6A2C0F}"/>
              </a:ext>
            </a:extLst>
          </p:cNvPr>
          <p:cNvSpPr/>
          <p:nvPr/>
        </p:nvSpPr>
        <p:spPr>
          <a:xfrm>
            <a:off x="1150203" y="1532888"/>
            <a:ext cx="1085410" cy="231278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CMOS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Sensor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4">
            <a:extLst>
              <a:ext uri="{FF2B5EF4-FFF2-40B4-BE49-F238E27FC236}">
                <a16:creationId xmlns="" xmlns:a16="http://schemas.microsoft.com/office/drawing/2014/main" id="{AA46B98F-6F7F-8D44-ADB2-5301FB622F75}"/>
              </a:ext>
            </a:extLst>
          </p:cNvPr>
          <p:cNvSpPr/>
          <p:nvPr/>
        </p:nvSpPr>
        <p:spPr>
          <a:xfrm>
            <a:off x="3406454" y="1514210"/>
            <a:ext cx="970787" cy="396790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kern="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FPGA</a:t>
            </a:r>
          </a:p>
        </p:txBody>
      </p:sp>
      <p:sp>
        <p:nvSpPr>
          <p:cNvPr id="71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5819188" y="3983976"/>
            <a:ext cx="1279972" cy="149813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SDRAM</a:t>
            </a:r>
          </a:p>
        </p:txBody>
      </p:sp>
      <p:grpSp>
        <p:nvGrpSpPr>
          <p:cNvPr id="72" name="Group 32">
            <a:extLst>
              <a:ext uri="{FF2B5EF4-FFF2-40B4-BE49-F238E27FC236}">
                <a16:creationId xmlns="" xmlns:a16="http://schemas.microsoft.com/office/drawing/2014/main" id="{50628756-9705-114A-8A03-90279EBD646C}"/>
              </a:ext>
            </a:extLst>
          </p:cNvPr>
          <p:cNvGrpSpPr/>
          <p:nvPr/>
        </p:nvGrpSpPr>
        <p:grpSpPr>
          <a:xfrm>
            <a:off x="2359885" y="1507768"/>
            <a:ext cx="1007637" cy="2203544"/>
            <a:chOff x="2661112" y="1401164"/>
            <a:chExt cx="1707407" cy="2150918"/>
          </a:xfrm>
        </p:grpSpPr>
        <p:cxnSp>
          <p:nvCxnSpPr>
            <p:cNvPr id="118" name="Straight Arrow Connector 7">
              <a:extLst>
                <a:ext uri="{FF2B5EF4-FFF2-40B4-BE49-F238E27FC236}">
                  <a16:creationId xmlns="" xmlns:a16="http://schemas.microsoft.com/office/drawing/2014/main" id="{44F1126E-160D-9B4F-8521-CE0ADD043F48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811777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119" name="Straight Arrow Connector 12">
              <a:extLst>
                <a:ext uri="{FF2B5EF4-FFF2-40B4-BE49-F238E27FC236}">
                  <a16:creationId xmlns="" xmlns:a16="http://schemas.microsoft.com/office/drawing/2014/main" id="{8DA9EC7E-420D-1B4B-9C7E-77196742C8A4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095267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120" name="Straight Arrow Connector 13">
              <a:extLst>
                <a:ext uri="{FF2B5EF4-FFF2-40B4-BE49-F238E27FC236}">
                  <a16:creationId xmlns="" xmlns:a16="http://schemas.microsoft.com/office/drawing/2014/main" id="{9DED6653-94C2-BE48-B68B-DE7B3BAB00B7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1711379"/>
              <a:ext cx="1590848" cy="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arrow"/>
              <a:tailEnd type="arrow"/>
            </a:ln>
            <a:effectLst/>
          </p:spPr>
        </p:cxnSp>
        <p:sp>
          <p:nvSpPr>
            <p:cNvPr id="121" name="TextBox 16">
              <a:extLst>
                <a:ext uri="{FF2B5EF4-FFF2-40B4-BE49-F238E27FC236}">
                  <a16:creationId xmlns="" xmlns:a16="http://schemas.microsoft.com/office/drawing/2014/main" id="{72B82EF0-993B-A048-B1CD-A2008650148A}"/>
                </a:ext>
              </a:extLst>
            </p:cNvPr>
            <p:cNvSpPr txBox="1"/>
            <p:nvPr/>
          </p:nvSpPr>
          <p:spPr>
            <a:xfrm>
              <a:off x="2995137" y="1401164"/>
              <a:ext cx="118617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</a:rPr>
                <a:t>SCCB</a:t>
              </a:r>
            </a:p>
          </p:txBody>
        </p:sp>
        <p:sp>
          <p:nvSpPr>
            <p:cNvPr id="122" name="TextBox 17">
              <a:extLst>
                <a:ext uri="{FF2B5EF4-FFF2-40B4-BE49-F238E27FC236}">
                  <a16:creationId xmlns="" xmlns:a16="http://schemas.microsoft.com/office/drawing/2014/main" id="{805D42CE-79F0-1C43-9D9E-64F4F233BC42}"/>
                </a:ext>
              </a:extLst>
            </p:cNvPr>
            <p:cNvSpPr txBox="1"/>
            <p:nvPr/>
          </p:nvSpPr>
          <p:spPr>
            <a:xfrm>
              <a:off x="2975092" y="1817759"/>
              <a:ext cx="95301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PCLK</a:t>
              </a:r>
            </a:p>
          </p:txBody>
        </p:sp>
        <p:cxnSp>
          <p:nvCxnSpPr>
            <p:cNvPr id="123" name="Straight Arrow Connector 20">
              <a:extLst>
                <a:ext uri="{FF2B5EF4-FFF2-40B4-BE49-F238E27FC236}">
                  <a16:creationId xmlns="" xmlns:a16="http://schemas.microsoft.com/office/drawing/2014/main" id="{8E71A265-1CAD-E74C-80CC-3A274939A3C1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431585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24" name="TextBox 21">
              <a:extLst>
                <a:ext uri="{FF2B5EF4-FFF2-40B4-BE49-F238E27FC236}">
                  <a16:creationId xmlns="" xmlns:a16="http://schemas.microsoft.com/office/drawing/2014/main" id="{C60FA707-D9AE-794C-A0D6-7D557B8FA5C8}"/>
                </a:ext>
              </a:extLst>
            </p:cNvPr>
            <p:cNvSpPr txBox="1"/>
            <p:nvPr/>
          </p:nvSpPr>
          <p:spPr>
            <a:xfrm>
              <a:off x="2896550" y="2181303"/>
              <a:ext cx="127086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VSYNC</a:t>
              </a:r>
            </a:p>
          </p:txBody>
        </p:sp>
        <p:sp>
          <p:nvSpPr>
            <p:cNvPr id="125" name="TextBox 24">
              <a:extLst>
                <a:ext uri="{FF2B5EF4-FFF2-40B4-BE49-F238E27FC236}">
                  <a16:creationId xmlns="" xmlns:a16="http://schemas.microsoft.com/office/drawing/2014/main" id="{B1E7B184-4E49-FB42-82F9-277BCE5E8F72}"/>
                </a:ext>
              </a:extLst>
            </p:cNvPr>
            <p:cNvSpPr txBox="1"/>
            <p:nvPr/>
          </p:nvSpPr>
          <p:spPr>
            <a:xfrm>
              <a:off x="2990462" y="2519126"/>
              <a:ext cx="1190854" cy="315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HREF</a:t>
              </a:r>
            </a:p>
          </p:txBody>
        </p:sp>
        <p:cxnSp>
          <p:nvCxnSpPr>
            <p:cNvPr id="126" name="Straight Arrow Connector 25">
              <a:extLst>
                <a:ext uri="{FF2B5EF4-FFF2-40B4-BE49-F238E27FC236}">
                  <a16:creationId xmlns="" xmlns:a16="http://schemas.microsoft.com/office/drawing/2014/main" id="{6E3D9BF7-58FB-EE46-B8A6-B71152CA0303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3177415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27" name="TextBox 26">
              <a:extLst>
                <a:ext uri="{FF2B5EF4-FFF2-40B4-BE49-F238E27FC236}">
                  <a16:creationId xmlns="" xmlns:a16="http://schemas.microsoft.com/office/drawing/2014/main" id="{486C0DE3-66E2-2045-A4D3-20F5B556A335}"/>
                </a:ext>
              </a:extLst>
            </p:cNvPr>
            <p:cNvSpPr txBox="1"/>
            <p:nvPr/>
          </p:nvSpPr>
          <p:spPr>
            <a:xfrm>
              <a:off x="2789898" y="2862917"/>
              <a:ext cx="1578621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DATA[7:0]</a:t>
              </a:r>
            </a:p>
          </p:txBody>
        </p:sp>
        <p:cxnSp>
          <p:nvCxnSpPr>
            <p:cNvPr id="128" name="Straight Arrow Connector 27">
              <a:extLst>
                <a:ext uri="{FF2B5EF4-FFF2-40B4-BE49-F238E27FC236}">
                  <a16:creationId xmlns="" xmlns:a16="http://schemas.microsoft.com/office/drawing/2014/main" id="{1F212340-8D44-9F4E-80F4-256ECD1B4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1112" y="3507060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29" name="TextBox 31">
              <a:extLst>
                <a:ext uri="{FF2B5EF4-FFF2-40B4-BE49-F238E27FC236}">
                  <a16:creationId xmlns="" xmlns:a16="http://schemas.microsoft.com/office/drawing/2014/main" id="{342BE103-5B9E-9247-A2C3-D7ECC0A09D49}"/>
                </a:ext>
              </a:extLst>
            </p:cNvPr>
            <p:cNvSpPr txBox="1"/>
            <p:nvPr/>
          </p:nvSpPr>
          <p:spPr>
            <a:xfrm>
              <a:off x="2931213" y="3228917"/>
              <a:ext cx="120153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PWDN</a:t>
              </a:r>
            </a:p>
          </p:txBody>
        </p:sp>
      </p:grpSp>
      <p:sp>
        <p:nvSpPr>
          <p:cNvPr id="73" name="Rectangle 36">
            <a:extLst>
              <a:ext uri="{FF2B5EF4-FFF2-40B4-BE49-F238E27FC236}">
                <a16:creationId xmlns="" xmlns:a16="http://schemas.microsoft.com/office/drawing/2014/main" id="{58966265-4170-3542-94F6-A4EC0D869452}"/>
              </a:ext>
            </a:extLst>
          </p:cNvPr>
          <p:cNvSpPr/>
          <p:nvPr/>
        </p:nvSpPr>
        <p:spPr>
          <a:xfrm>
            <a:off x="5440362" y="1579608"/>
            <a:ext cx="1079348" cy="137184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ADV7123</a:t>
            </a:r>
          </a:p>
        </p:txBody>
      </p:sp>
      <p:grpSp>
        <p:nvGrpSpPr>
          <p:cNvPr id="74" name="Group 37">
            <a:extLst>
              <a:ext uri="{FF2B5EF4-FFF2-40B4-BE49-F238E27FC236}">
                <a16:creationId xmlns="" xmlns:a16="http://schemas.microsoft.com/office/drawing/2014/main" id="{AC3A8CFB-335A-9E45-AEB8-27D2CD0C78B9}"/>
              </a:ext>
            </a:extLst>
          </p:cNvPr>
          <p:cNvGrpSpPr/>
          <p:nvPr/>
        </p:nvGrpSpPr>
        <p:grpSpPr>
          <a:xfrm>
            <a:off x="4475484" y="1564663"/>
            <a:ext cx="929509" cy="1164116"/>
            <a:chOff x="2661112" y="1754287"/>
            <a:chExt cx="1590848" cy="1493920"/>
          </a:xfrm>
        </p:grpSpPr>
        <p:cxnSp>
          <p:nvCxnSpPr>
            <p:cNvPr id="110" name="Straight Arrow Connector 38">
              <a:extLst>
                <a:ext uri="{FF2B5EF4-FFF2-40B4-BE49-F238E27FC236}">
                  <a16:creationId xmlns="" xmlns:a16="http://schemas.microsoft.com/office/drawing/2014/main" id="{55C5F8D9-7B02-AD44-86E6-88B028846525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811777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111" name="Straight Arrow Connector 39">
              <a:extLst>
                <a:ext uri="{FF2B5EF4-FFF2-40B4-BE49-F238E27FC236}">
                  <a16:creationId xmlns="" xmlns:a16="http://schemas.microsoft.com/office/drawing/2014/main" id="{32629EF4-FC3E-3947-91BA-FC335AFB3318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095267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12" name="TextBox 42">
              <a:extLst>
                <a:ext uri="{FF2B5EF4-FFF2-40B4-BE49-F238E27FC236}">
                  <a16:creationId xmlns="" xmlns:a16="http://schemas.microsoft.com/office/drawing/2014/main" id="{6105D3AF-7A07-124B-8595-F9B14FB272DD}"/>
                </a:ext>
              </a:extLst>
            </p:cNvPr>
            <p:cNvSpPr txBox="1"/>
            <p:nvPr/>
          </p:nvSpPr>
          <p:spPr>
            <a:xfrm>
              <a:off x="2746336" y="1754287"/>
              <a:ext cx="1131708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DATA</a:t>
              </a:r>
            </a:p>
          </p:txBody>
        </p:sp>
        <p:cxnSp>
          <p:nvCxnSpPr>
            <p:cNvPr id="113" name="Straight Arrow Connector 43">
              <a:extLst>
                <a:ext uri="{FF2B5EF4-FFF2-40B4-BE49-F238E27FC236}">
                  <a16:creationId xmlns="" xmlns:a16="http://schemas.microsoft.com/office/drawing/2014/main" id="{803A7945-F2B8-B843-8A26-C670741E9B17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431585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14" name="TextBox 44">
              <a:extLst>
                <a:ext uri="{FF2B5EF4-FFF2-40B4-BE49-F238E27FC236}">
                  <a16:creationId xmlns="" xmlns:a16="http://schemas.microsoft.com/office/drawing/2014/main" id="{43F685AB-EAA8-FC41-B8BE-0A3BF0594F80}"/>
                </a:ext>
              </a:extLst>
            </p:cNvPr>
            <p:cNvSpPr txBox="1"/>
            <p:nvPr/>
          </p:nvSpPr>
          <p:spPr>
            <a:xfrm>
              <a:off x="2746336" y="2110510"/>
              <a:ext cx="1375979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BLANK</a:t>
              </a:r>
            </a:p>
          </p:txBody>
        </p:sp>
        <p:sp>
          <p:nvSpPr>
            <p:cNvPr id="115" name="TextBox 45">
              <a:extLst>
                <a:ext uri="{FF2B5EF4-FFF2-40B4-BE49-F238E27FC236}">
                  <a16:creationId xmlns="" xmlns:a16="http://schemas.microsoft.com/office/drawing/2014/main" id="{1DF664AB-6989-0541-B03C-DF0DFA13DD4C}"/>
                </a:ext>
              </a:extLst>
            </p:cNvPr>
            <p:cNvSpPr txBox="1"/>
            <p:nvPr/>
          </p:nvSpPr>
          <p:spPr>
            <a:xfrm>
              <a:off x="2733830" y="2479727"/>
              <a:ext cx="1166100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SYNC</a:t>
              </a:r>
            </a:p>
          </p:txBody>
        </p:sp>
        <p:cxnSp>
          <p:nvCxnSpPr>
            <p:cNvPr id="116" name="Straight Arrow Connector 46">
              <a:extLst>
                <a:ext uri="{FF2B5EF4-FFF2-40B4-BE49-F238E27FC236}">
                  <a16:creationId xmlns="" xmlns:a16="http://schemas.microsoft.com/office/drawing/2014/main" id="{7D4E590D-CBDF-2B41-B0C7-F09BACFC1DC8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3177415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17" name="TextBox 47">
              <a:extLst>
                <a:ext uri="{FF2B5EF4-FFF2-40B4-BE49-F238E27FC236}">
                  <a16:creationId xmlns="" xmlns:a16="http://schemas.microsoft.com/office/drawing/2014/main" id="{7CA4F52D-4B3C-7F48-90BF-01A87C9B4180}"/>
                </a:ext>
              </a:extLst>
            </p:cNvPr>
            <p:cNvSpPr txBox="1"/>
            <p:nvPr/>
          </p:nvSpPr>
          <p:spPr>
            <a:xfrm>
              <a:off x="2732972" y="2833487"/>
              <a:ext cx="1381948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CLK</a:t>
              </a:r>
            </a:p>
          </p:txBody>
        </p:sp>
      </p:grpSp>
      <p:grpSp>
        <p:nvGrpSpPr>
          <p:cNvPr id="75" name="Group 50">
            <a:extLst>
              <a:ext uri="{FF2B5EF4-FFF2-40B4-BE49-F238E27FC236}">
                <a16:creationId xmlns="" xmlns:a16="http://schemas.microsoft.com/office/drawing/2014/main" id="{B4CAAA64-E12A-F647-ABD7-F6684CE65E3E}"/>
              </a:ext>
            </a:extLst>
          </p:cNvPr>
          <p:cNvGrpSpPr/>
          <p:nvPr/>
        </p:nvGrpSpPr>
        <p:grpSpPr>
          <a:xfrm>
            <a:off x="6630830" y="1679561"/>
            <a:ext cx="623580" cy="910099"/>
            <a:chOff x="2658288" y="1741178"/>
            <a:chExt cx="1593672" cy="1167937"/>
          </a:xfrm>
        </p:grpSpPr>
        <p:cxnSp>
          <p:nvCxnSpPr>
            <p:cNvPr id="104" name="Straight Arrow Connector 51">
              <a:extLst>
                <a:ext uri="{FF2B5EF4-FFF2-40B4-BE49-F238E27FC236}">
                  <a16:creationId xmlns="" xmlns:a16="http://schemas.microsoft.com/office/drawing/2014/main" id="{805D619A-38FF-8542-8CA5-F140A9440072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811777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105" name="Straight Arrow Connector 52">
              <a:extLst>
                <a:ext uri="{FF2B5EF4-FFF2-40B4-BE49-F238E27FC236}">
                  <a16:creationId xmlns="" xmlns:a16="http://schemas.microsoft.com/office/drawing/2014/main" id="{5CB9E624-1A23-9346-9340-DCFD0275E3E6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095267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06" name="TextBox 53">
              <a:extLst>
                <a:ext uri="{FF2B5EF4-FFF2-40B4-BE49-F238E27FC236}">
                  <a16:creationId xmlns="" xmlns:a16="http://schemas.microsoft.com/office/drawing/2014/main" id="{8B974827-0A43-304F-A109-8F196238EA09}"/>
                </a:ext>
              </a:extLst>
            </p:cNvPr>
            <p:cNvSpPr txBox="1"/>
            <p:nvPr/>
          </p:nvSpPr>
          <p:spPr>
            <a:xfrm>
              <a:off x="2695166" y="1741178"/>
              <a:ext cx="1182895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IOR</a:t>
              </a:r>
            </a:p>
          </p:txBody>
        </p:sp>
        <p:cxnSp>
          <p:nvCxnSpPr>
            <p:cNvPr id="107" name="Straight Arrow Connector 54">
              <a:extLst>
                <a:ext uri="{FF2B5EF4-FFF2-40B4-BE49-F238E27FC236}">
                  <a16:creationId xmlns="" xmlns:a16="http://schemas.microsoft.com/office/drawing/2014/main" id="{DE937305-9B2E-F04A-9459-8B1606A7DA94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431585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08" name="TextBox 55">
              <a:extLst>
                <a:ext uri="{FF2B5EF4-FFF2-40B4-BE49-F238E27FC236}">
                  <a16:creationId xmlns="" xmlns:a16="http://schemas.microsoft.com/office/drawing/2014/main" id="{79B03266-C6EF-5B47-83DB-BE0F489A0AC6}"/>
                </a:ext>
              </a:extLst>
            </p:cNvPr>
            <p:cNvSpPr txBox="1"/>
            <p:nvPr/>
          </p:nvSpPr>
          <p:spPr>
            <a:xfrm>
              <a:off x="2658288" y="2110510"/>
              <a:ext cx="1573124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IOG</a:t>
              </a:r>
            </a:p>
          </p:txBody>
        </p:sp>
        <p:sp>
          <p:nvSpPr>
            <p:cNvPr id="109" name="TextBox 56">
              <a:extLst>
                <a:ext uri="{FF2B5EF4-FFF2-40B4-BE49-F238E27FC236}">
                  <a16:creationId xmlns="" xmlns:a16="http://schemas.microsoft.com/office/drawing/2014/main" id="{AEBE5A4C-79D0-824B-BE1C-336F3557D17C}"/>
                </a:ext>
              </a:extLst>
            </p:cNvPr>
            <p:cNvSpPr txBox="1"/>
            <p:nvPr/>
          </p:nvSpPr>
          <p:spPr>
            <a:xfrm>
              <a:off x="2695166" y="2494395"/>
              <a:ext cx="1178219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IOB</a:t>
              </a:r>
            </a:p>
          </p:txBody>
        </p:sp>
      </p:grpSp>
      <p:sp>
        <p:nvSpPr>
          <p:cNvPr id="76" name="Rectangle 60">
            <a:extLst>
              <a:ext uri="{FF2B5EF4-FFF2-40B4-BE49-F238E27FC236}">
                <a16:creationId xmlns="" xmlns:a16="http://schemas.microsoft.com/office/drawing/2014/main" id="{0CA111F7-C969-3946-BF44-BE4E23C6902F}"/>
              </a:ext>
            </a:extLst>
          </p:cNvPr>
          <p:cNvSpPr/>
          <p:nvPr/>
        </p:nvSpPr>
        <p:spPr>
          <a:xfrm>
            <a:off x="7274077" y="1589791"/>
            <a:ext cx="1079348" cy="209740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VGA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Interface</a:t>
            </a:r>
          </a:p>
        </p:txBody>
      </p:sp>
      <p:grpSp>
        <p:nvGrpSpPr>
          <p:cNvPr id="77" name="Group 61">
            <a:extLst>
              <a:ext uri="{FF2B5EF4-FFF2-40B4-BE49-F238E27FC236}">
                <a16:creationId xmlns="" xmlns:a16="http://schemas.microsoft.com/office/drawing/2014/main" id="{F320B524-AD1B-C64D-86B4-583D07B4B5FF}"/>
              </a:ext>
            </a:extLst>
          </p:cNvPr>
          <p:cNvGrpSpPr/>
          <p:nvPr/>
        </p:nvGrpSpPr>
        <p:grpSpPr>
          <a:xfrm>
            <a:off x="4455014" y="2948407"/>
            <a:ext cx="2791355" cy="610962"/>
            <a:chOff x="2661112" y="1623241"/>
            <a:chExt cx="1590848" cy="784052"/>
          </a:xfrm>
        </p:grpSpPr>
        <p:cxnSp>
          <p:nvCxnSpPr>
            <p:cNvPr id="100" name="Straight Arrow Connector 63">
              <a:extLst>
                <a:ext uri="{FF2B5EF4-FFF2-40B4-BE49-F238E27FC236}">
                  <a16:creationId xmlns="" xmlns:a16="http://schemas.microsoft.com/office/drawing/2014/main" id="{2B354AA2-3405-274F-BAF7-5C8175BE5976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1977923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01" name="TextBox 64">
              <a:extLst>
                <a:ext uri="{FF2B5EF4-FFF2-40B4-BE49-F238E27FC236}">
                  <a16:creationId xmlns="" xmlns:a16="http://schemas.microsoft.com/office/drawing/2014/main" id="{21A743A6-7096-6F4A-BE11-371EA54B2EEA}"/>
                </a:ext>
              </a:extLst>
            </p:cNvPr>
            <p:cNvSpPr txBox="1"/>
            <p:nvPr/>
          </p:nvSpPr>
          <p:spPr>
            <a:xfrm>
              <a:off x="3306209" y="1623241"/>
              <a:ext cx="902970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HS</a:t>
              </a:r>
            </a:p>
          </p:txBody>
        </p:sp>
        <p:cxnSp>
          <p:nvCxnSpPr>
            <p:cNvPr id="102" name="Straight Arrow Connector 65">
              <a:extLst>
                <a:ext uri="{FF2B5EF4-FFF2-40B4-BE49-F238E27FC236}">
                  <a16:creationId xmlns="" xmlns:a16="http://schemas.microsoft.com/office/drawing/2014/main" id="{F289BAFD-694F-1944-8590-517E2C2BAE15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12" y="2314240"/>
              <a:ext cx="159084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03" name="TextBox 66">
              <a:extLst>
                <a:ext uri="{FF2B5EF4-FFF2-40B4-BE49-F238E27FC236}">
                  <a16:creationId xmlns="" xmlns:a16="http://schemas.microsoft.com/office/drawing/2014/main" id="{4745FAF7-DF61-524D-8EDB-6B8FDE68CF40}"/>
                </a:ext>
              </a:extLst>
            </p:cNvPr>
            <p:cNvSpPr txBox="1"/>
            <p:nvPr/>
          </p:nvSpPr>
          <p:spPr>
            <a:xfrm>
              <a:off x="3301533" y="1992573"/>
              <a:ext cx="902970" cy="414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VS</a:t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4494235" y="3826879"/>
            <a:ext cx="1324953" cy="1644038"/>
            <a:chOff x="4656089" y="2651378"/>
            <a:chExt cx="951131" cy="1644038"/>
          </a:xfrm>
        </p:grpSpPr>
        <p:cxnSp>
          <p:nvCxnSpPr>
            <p:cNvPr id="88" name="Straight Arrow Connector 69">
              <a:extLst>
                <a:ext uri="{FF2B5EF4-FFF2-40B4-BE49-F238E27FC236}">
                  <a16:creationId xmlns="" xmlns:a16="http://schemas.microsoft.com/office/drawing/2014/main" id="{35FE5CE6-EC31-254D-A5DB-80D979226B93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89" y="3706556"/>
              <a:ext cx="89262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89" name="Straight Arrow Connector 70">
              <a:extLst>
                <a:ext uri="{FF2B5EF4-FFF2-40B4-BE49-F238E27FC236}">
                  <a16:creationId xmlns="" xmlns:a16="http://schemas.microsoft.com/office/drawing/2014/main" id="{2D572940-8525-3B4B-862E-E610DDA1AE87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89" y="3148225"/>
              <a:ext cx="89262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headEnd type="arrow"/>
              <a:tailEnd type="arrow"/>
            </a:ln>
            <a:effectLst/>
          </p:spPr>
        </p:cxnSp>
        <p:sp>
          <p:nvSpPr>
            <p:cNvPr id="90" name="TextBox 71">
              <a:extLst>
                <a:ext uri="{FF2B5EF4-FFF2-40B4-BE49-F238E27FC236}">
                  <a16:creationId xmlns="" xmlns:a16="http://schemas.microsoft.com/office/drawing/2014/main" id="{0191C930-9718-2241-ADC9-83317B439EA2}"/>
                </a:ext>
              </a:extLst>
            </p:cNvPr>
            <p:cNvSpPr txBox="1"/>
            <p:nvPr/>
          </p:nvSpPr>
          <p:spPr>
            <a:xfrm>
              <a:off x="4832263" y="2895166"/>
              <a:ext cx="67758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DATA</a:t>
              </a:r>
            </a:p>
          </p:txBody>
        </p:sp>
        <p:cxnSp>
          <p:nvCxnSpPr>
            <p:cNvPr id="91" name="Straight Arrow Connector 72">
              <a:extLst>
                <a:ext uri="{FF2B5EF4-FFF2-40B4-BE49-F238E27FC236}">
                  <a16:creationId xmlns="" xmlns:a16="http://schemas.microsoft.com/office/drawing/2014/main" id="{0E8DD65D-E58B-6240-80A2-A97311A84D25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89" y="3410296"/>
              <a:ext cx="89262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92" name="TextBox 73">
              <a:extLst>
                <a:ext uri="{FF2B5EF4-FFF2-40B4-BE49-F238E27FC236}">
                  <a16:creationId xmlns="" xmlns:a16="http://schemas.microsoft.com/office/drawing/2014/main" id="{19C4FF0E-2E0F-CC44-AE1E-799A74CBC97D}"/>
                </a:ext>
              </a:extLst>
            </p:cNvPr>
            <p:cNvSpPr txBox="1"/>
            <p:nvPr/>
          </p:nvSpPr>
          <p:spPr>
            <a:xfrm>
              <a:off x="4829639" y="3160103"/>
              <a:ext cx="68020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ADDR</a:t>
              </a:r>
            </a:p>
          </p:txBody>
        </p:sp>
        <p:sp>
          <p:nvSpPr>
            <p:cNvPr id="93" name="TextBox 74">
              <a:extLst>
                <a:ext uri="{FF2B5EF4-FFF2-40B4-BE49-F238E27FC236}">
                  <a16:creationId xmlns="" xmlns:a16="http://schemas.microsoft.com/office/drawing/2014/main" id="{C76E0A7C-79F9-2C44-8639-C1626C8E60A6}"/>
                </a:ext>
              </a:extLst>
            </p:cNvPr>
            <p:cNvSpPr txBox="1"/>
            <p:nvPr/>
          </p:nvSpPr>
          <p:spPr>
            <a:xfrm>
              <a:off x="4829640" y="3459240"/>
              <a:ext cx="76684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RD</a:t>
              </a:r>
            </a:p>
          </p:txBody>
        </p:sp>
        <p:cxnSp>
          <p:nvCxnSpPr>
            <p:cNvPr id="94" name="Straight Arrow Connector 75">
              <a:extLst>
                <a:ext uri="{FF2B5EF4-FFF2-40B4-BE49-F238E27FC236}">
                  <a16:creationId xmlns="" xmlns:a16="http://schemas.microsoft.com/office/drawing/2014/main" id="{8D9D77A3-F5DC-0949-9E7A-121BFB9BDAF5}"/>
                </a:ext>
              </a:extLst>
            </p:cNvPr>
            <p:cNvCxnSpPr>
              <a:cxnSpLocks/>
            </p:cNvCxnSpPr>
            <p:nvPr/>
          </p:nvCxnSpPr>
          <p:spPr>
            <a:xfrm>
              <a:off x="4666820" y="3961988"/>
              <a:ext cx="89262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95" name="TextBox 76">
              <a:extLst>
                <a:ext uri="{FF2B5EF4-FFF2-40B4-BE49-F238E27FC236}">
                  <a16:creationId xmlns="" xmlns:a16="http://schemas.microsoft.com/office/drawing/2014/main" id="{704FDF38-B07B-DA4C-8AC4-95BDD27F78CE}"/>
                </a:ext>
              </a:extLst>
            </p:cNvPr>
            <p:cNvSpPr txBox="1"/>
            <p:nvPr/>
          </p:nvSpPr>
          <p:spPr>
            <a:xfrm>
              <a:off x="4840371" y="3714672"/>
              <a:ext cx="76684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CE</a:t>
              </a:r>
            </a:p>
          </p:txBody>
        </p:sp>
        <p:cxnSp>
          <p:nvCxnSpPr>
            <p:cNvPr id="96" name="Straight Arrow Connector 77">
              <a:extLst>
                <a:ext uri="{FF2B5EF4-FFF2-40B4-BE49-F238E27FC236}">
                  <a16:creationId xmlns="" xmlns:a16="http://schemas.microsoft.com/office/drawing/2014/main" id="{2926AAA9-E8A7-CF42-BA56-E387D1676FBD}"/>
                </a:ext>
              </a:extLst>
            </p:cNvPr>
            <p:cNvCxnSpPr>
              <a:cxnSpLocks/>
            </p:cNvCxnSpPr>
            <p:nvPr/>
          </p:nvCxnSpPr>
          <p:spPr>
            <a:xfrm>
              <a:off x="4666821" y="4219567"/>
              <a:ext cx="89262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97" name="TextBox 78">
              <a:extLst>
                <a:ext uri="{FF2B5EF4-FFF2-40B4-BE49-F238E27FC236}">
                  <a16:creationId xmlns="" xmlns:a16="http://schemas.microsoft.com/office/drawing/2014/main" id="{EEAB998D-B12F-D442-9FB6-A17E790F22ED}"/>
                </a:ext>
              </a:extLst>
            </p:cNvPr>
            <p:cNvSpPr txBox="1"/>
            <p:nvPr/>
          </p:nvSpPr>
          <p:spPr>
            <a:xfrm>
              <a:off x="4840372" y="3972251"/>
              <a:ext cx="76684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WE</a:t>
              </a:r>
            </a:p>
          </p:txBody>
        </p:sp>
        <p:cxnSp>
          <p:nvCxnSpPr>
            <p:cNvPr id="98" name="Straight Arrow Connector 67">
              <a:extLst>
                <a:ext uri="{FF2B5EF4-FFF2-40B4-BE49-F238E27FC236}">
                  <a16:creationId xmlns="" xmlns:a16="http://schemas.microsoft.com/office/drawing/2014/main" id="{4FB6653D-2321-9448-BD4A-F772F5C6DC7A}"/>
                </a:ext>
              </a:extLst>
            </p:cNvPr>
            <p:cNvCxnSpPr>
              <a:cxnSpLocks/>
            </p:cNvCxnSpPr>
            <p:nvPr/>
          </p:nvCxnSpPr>
          <p:spPr>
            <a:xfrm>
              <a:off x="4675524" y="2901571"/>
              <a:ext cx="89262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99" name="TextBox 68">
              <a:extLst>
                <a:ext uri="{FF2B5EF4-FFF2-40B4-BE49-F238E27FC236}">
                  <a16:creationId xmlns="" xmlns:a16="http://schemas.microsoft.com/office/drawing/2014/main" id="{9A385056-9078-C941-9F31-EF8BCE69FF49}"/>
                </a:ext>
              </a:extLst>
            </p:cNvPr>
            <p:cNvSpPr txBox="1"/>
            <p:nvPr/>
          </p:nvSpPr>
          <p:spPr>
            <a:xfrm>
              <a:off x="4849074" y="2651378"/>
              <a:ext cx="68020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CLK</a:t>
              </a:r>
            </a:p>
          </p:txBody>
        </p:sp>
      </p:grpSp>
      <p:grpSp>
        <p:nvGrpSpPr>
          <p:cNvPr id="79" name="Group 8">
            <a:extLst>
              <a:ext uri="{FF2B5EF4-FFF2-40B4-BE49-F238E27FC236}">
                <a16:creationId xmlns="" xmlns:a16="http://schemas.microsoft.com/office/drawing/2014/main" id="{5579D36F-5012-A34F-8EF5-1BCDF5F3154F}"/>
              </a:ext>
            </a:extLst>
          </p:cNvPr>
          <p:cNvGrpSpPr/>
          <p:nvPr/>
        </p:nvGrpSpPr>
        <p:grpSpPr>
          <a:xfrm>
            <a:off x="1357182" y="4422791"/>
            <a:ext cx="1620686" cy="864521"/>
            <a:chOff x="8690251" y="4707261"/>
            <a:chExt cx="1620686" cy="864521"/>
          </a:xfrm>
        </p:grpSpPr>
        <p:grpSp>
          <p:nvGrpSpPr>
            <p:cNvPr id="80" name="Group 2">
              <a:extLst>
                <a:ext uri="{FF2B5EF4-FFF2-40B4-BE49-F238E27FC236}">
                  <a16:creationId xmlns="" xmlns:a16="http://schemas.microsoft.com/office/drawing/2014/main" id="{C58E8B54-52C6-2542-A1AA-4A759E7398BB}"/>
                </a:ext>
              </a:extLst>
            </p:cNvPr>
            <p:cNvGrpSpPr/>
            <p:nvPr/>
          </p:nvGrpSpPr>
          <p:grpSpPr>
            <a:xfrm>
              <a:off x="8690251" y="4863045"/>
              <a:ext cx="572925" cy="513575"/>
              <a:chOff x="9423953" y="4783145"/>
              <a:chExt cx="892628" cy="513575"/>
            </a:xfrm>
          </p:grpSpPr>
          <p:cxnSp>
            <p:nvCxnSpPr>
              <p:cNvPr id="85" name="Straight Arrow Connector 95">
                <a:extLst>
                  <a:ext uri="{FF2B5EF4-FFF2-40B4-BE49-F238E27FC236}">
                    <a16:creationId xmlns="" xmlns:a16="http://schemas.microsoft.com/office/drawing/2014/main" id="{919EF8DF-BD9D-4F47-926F-B3951903E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23953" y="4783145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  <a:tailEnd type="arrow"/>
              </a:ln>
              <a:effectLst/>
            </p:spPr>
          </p:cxnSp>
          <p:cxnSp>
            <p:nvCxnSpPr>
              <p:cNvPr id="86" name="Straight Arrow Connector 96">
                <a:extLst>
                  <a:ext uri="{FF2B5EF4-FFF2-40B4-BE49-F238E27FC236}">
                    <a16:creationId xmlns="" xmlns:a16="http://schemas.microsoft.com/office/drawing/2014/main" id="{97EED286-8E33-494D-917A-F9A40B2C82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23953" y="5029612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arrow"/>
              </a:ln>
              <a:effectLst/>
            </p:spPr>
          </p:cxnSp>
          <p:cxnSp>
            <p:nvCxnSpPr>
              <p:cNvPr id="87" name="Straight Arrow Connector 97">
                <a:extLst>
                  <a:ext uri="{FF2B5EF4-FFF2-40B4-BE49-F238E27FC236}">
                    <a16:creationId xmlns="" xmlns:a16="http://schemas.microsoft.com/office/drawing/2014/main" id="{E20B46DA-E048-794F-9A49-1C0023EAB9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23953" y="5296720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</p:grpSp>
        <p:grpSp>
          <p:nvGrpSpPr>
            <p:cNvPr id="81" name="Group 6">
              <a:extLst>
                <a:ext uri="{FF2B5EF4-FFF2-40B4-BE49-F238E27FC236}">
                  <a16:creationId xmlns="" xmlns:a16="http://schemas.microsoft.com/office/drawing/2014/main" id="{F8D3E23E-E1C2-4749-AC34-EE77C3F1EBE5}"/>
                </a:ext>
              </a:extLst>
            </p:cNvPr>
            <p:cNvGrpSpPr/>
            <p:nvPr/>
          </p:nvGrpSpPr>
          <p:grpSpPr>
            <a:xfrm>
              <a:off x="9314569" y="4707261"/>
              <a:ext cx="996368" cy="864521"/>
              <a:chOff x="8494473" y="4593457"/>
              <a:chExt cx="996368" cy="864521"/>
            </a:xfrm>
          </p:grpSpPr>
          <p:sp>
            <p:nvSpPr>
              <p:cNvPr id="82" name="TextBox 98">
                <a:extLst>
                  <a:ext uri="{FF2B5EF4-FFF2-40B4-BE49-F238E27FC236}">
                    <a16:creationId xmlns="" xmlns:a16="http://schemas.microsoft.com/office/drawing/2014/main" id="{53160A88-F586-654D-8863-003D460587D6}"/>
                  </a:ext>
                </a:extLst>
              </p:cNvPr>
              <p:cNvSpPr txBox="1"/>
              <p:nvPr/>
            </p:nvSpPr>
            <p:spPr>
              <a:xfrm>
                <a:off x="8501753" y="4593457"/>
                <a:ext cx="98908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时钟信号</a:t>
                </a:r>
                <a:endPara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83" name="TextBox 99">
                <a:extLst>
                  <a:ext uri="{FF2B5EF4-FFF2-40B4-BE49-F238E27FC236}">
                    <a16:creationId xmlns="" xmlns:a16="http://schemas.microsoft.com/office/drawing/2014/main" id="{79B07BBD-C409-C64A-9059-C2ACE78FCD67}"/>
                  </a:ext>
                </a:extLst>
              </p:cNvPr>
              <p:cNvSpPr txBox="1"/>
              <p:nvPr/>
            </p:nvSpPr>
            <p:spPr>
              <a:xfrm>
                <a:off x="8494473" y="4875925"/>
                <a:ext cx="98908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数据信号</a:t>
                </a:r>
                <a:endPara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84" name="TextBox 100">
                <a:extLst>
                  <a:ext uri="{FF2B5EF4-FFF2-40B4-BE49-F238E27FC236}">
                    <a16:creationId xmlns="" xmlns:a16="http://schemas.microsoft.com/office/drawing/2014/main" id="{2ABE97BB-BD94-A849-B0C0-9410660449C5}"/>
                  </a:ext>
                </a:extLst>
              </p:cNvPr>
              <p:cNvSpPr txBox="1"/>
              <p:nvPr/>
            </p:nvSpPr>
            <p:spPr>
              <a:xfrm>
                <a:off x="8494473" y="5134813"/>
                <a:ext cx="98908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控制信号</a:t>
                </a:r>
                <a:endPara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66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4034844" y="4077073"/>
            <a:ext cx="343019" cy="1261604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FIFO</a:t>
            </a:r>
          </a:p>
        </p:txBody>
      </p:sp>
      <p:cxnSp>
        <p:nvCxnSpPr>
          <p:cNvPr id="67" name="Straight Arrow Connector 46">
            <a:extLst>
              <a:ext uri="{FF2B5EF4-FFF2-40B4-BE49-F238E27FC236}">
                <a16:creationId xmlns="" xmlns:a16="http://schemas.microsoft.com/office/drawing/2014/main" id="{7D4E590D-CBDF-2B41-B0C7-F09BACFC1DC8}"/>
              </a:ext>
            </a:extLst>
          </p:cNvPr>
          <p:cNvCxnSpPr>
            <a:cxnSpLocks/>
          </p:cNvCxnSpPr>
          <p:nvPr/>
        </p:nvCxnSpPr>
        <p:spPr>
          <a:xfrm>
            <a:off x="6555079" y="2825877"/>
            <a:ext cx="684557" cy="0"/>
          </a:xfrm>
          <a:prstGeom prst="straightConnector1">
            <a:avLst/>
          </a:prstGeom>
          <a:noFill/>
          <a:ln w="19050" cap="flat" cmpd="sng" algn="ctr">
            <a:solidFill>
              <a:srgbClr val="5B9BD5">
                <a:lumMod val="75000"/>
              </a:srgbClr>
            </a:solidFill>
            <a:prstDash val="solid"/>
            <a:miter lim="800000"/>
            <a:tailEnd type="arrow"/>
          </a:ln>
          <a:effectLst/>
        </p:spPr>
      </p:cxnSp>
      <p:sp>
        <p:nvSpPr>
          <p:cNvPr id="130" name="TextBox 47">
            <a:extLst>
              <a:ext uri="{FF2B5EF4-FFF2-40B4-BE49-F238E27FC236}">
                <a16:creationId xmlns="" xmlns:a16="http://schemas.microsoft.com/office/drawing/2014/main" id="{7CA4F52D-4B3C-7F48-90BF-01A87C9B4180}"/>
              </a:ext>
            </a:extLst>
          </p:cNvPr>
          <p:cNvSpPr txBox="1"/>
          <p:nvPr/>
        </p:nvSpPr>
        <p:spPr>
          <a:xfrm>
            <a:off x="6639160" y="2545502"/>
            <a:ext cx="6398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rPr>
              <a:t>CLK</a:t>
            </a:r>
          </a:p>
        </p:txBody>
      </p:sp>
      <p:sp>
        <p:nvSpPr>
          <p:cNvPr id="133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3413529" y="1679009"/>
            <a:ext cx="417981" cy="180785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格式转换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4" name="标题 2"/>
          <p:cNvSpPr txBox="1">
            <a:spLocks/>
          </p:cNvSpPr>
          <p:nvPr/>
        </p:nvSpPr>
        <p:spPr bwMode="auto">
          <a:xfrm>
            <a:off x="519112" y="5657147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kern="0" dirty="0">
                <a:effectLst/>
              </a:rPr>
              <a:t>硬件结构图</a:t>
            </a:r>
            <a:endParaRPr lang="en-US" sz="1600" kern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74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6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49"/>
          <a:stretch/>
        </p:blipFill>
        <p:spPr>
          <a:xfrm>
            <a:off x="142901" y="1124744"/>
            <a:ext cx="8858198" cy="48333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9" t="15818" r="52533" b="77526"/>
          <a:stretch/>
        </p:blipFill>
        <p:spPr>
          <a:xfrm>
            <a:off x="457200" y="1412776"/>
            <a:ext cx="730424" cy="3600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9" t="15818" r="52533" b="77526"/>
          <a:stretch/>
        </p:blipFill>
        <p:spPr>
          <a:xfrm>
            <a:off x="1331640" y="1474487"/>
            <a:ext cx="1944216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1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7</a:t>
            </a:fld>
            <a:endParaRPr lang="en-US" altLang="ko-KR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529505"/>
              </p:ext>
            </p:extLst>
          </p:nvPr>
        </p:nvGraphicFramePr>
        <p:xfrm>
          <a:off x="1403648" y="1340768"/>
          <a:ext cx="6336703" cy="4752528"/>
        </p:xfrm>
        <a:graphic>
          <a:graphicData uri="http://schemas.openxmlformats.org/drawingml/2006/table">
            <a:tbl>
              <a:tblPr/>
              <a:tblGrid>
                <a:gridCol w="576641">
                  <a:extLst>
                    <a:ext uri="{9D8B030D-6E8A-4147-A177-3AD203B41FA5}">
                      <a16:colId xmlns="" xmlns:a16="http://schemas.microsoft.com/office/drawing/2014/main" val="1162163878"/>
                    </a:ext>
                  </a:extLst>
                </a:gridCol>
                <a:gridCol w="1070906">
                  <a:extLst>
                    <a:ext uri="{9D8B030D-6E8A-4147-A177-3AD203B41FA5}">
                      <a16:colId xmlns="" xmlns:a16="http://schemas.microsoft.com/office/drawing/2014/main" val="1353985245"/>
                    </a:ext>
                  </a:extLst>
                </a:gridCol>
                <a:gridCol w="4689156">
                  <a:extLst>
                    <a:ext uri="{9D8B030D-6E8A-4147-A177-3AD203B41FA5}">
                      <a16:colId xmlns="" xmlns:a16="http://schemas.microsoft.com/office/drawing/2014/main" val="275250365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引脚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1788674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SIOC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SCCB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接口串行时钟信号引脚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44366201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SCCB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接口串行数据信号引脚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9455377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VSYNC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像素数据场同步信号输出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926351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HREF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像素数据行同步信号输出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067438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PCLK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像素时钟输出入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87597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XCLK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传感器驱动时钟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3366899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D0~D9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10Bit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数据输出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3178942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RESET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复位输入，低电平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有效（给高电平）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4184298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PWDN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工作模式：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正常工作，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低功耗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模式（接地）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268545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3V3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3.3V</a:t>
                      </a: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供电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1436727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45154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97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8</a:t>
            </a:fld>
            <a:endParaRPr lang="en-US" altLang="ko-KR" dirty="0"/>
          </a:p>
        </p:txBody>
      </p:sp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403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smtClean="0"/>
              <a:t>OV7725</a:t>
            </a:r>
            <a:r>
              <a:rPr lang="zh-CN" altLang="en-US" sz="1800" dirty="0" smtClean="0"/>
              <a:t>支持多种图像输出：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en-US" altLang="zh-CN" sz="1800" dirty="0" smtClean="0"/>
              <a:t>RAW RGB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RGB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565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444</a:t>
            </a:r>
            <a:r>
              <a:rPr lang="zh-CN" altLang="en-US" sz="1800" dirty="0" smtClean="0"/>
              <a:t>）、</a:t>
            </a:r>
            <a:r>
              <a:rPr lang="en-US" altLang="zh-CN" sz="1800" dirty="0" smtClean="0"/>
              <a:t>YCbCr422</a:t>
            </a:r>
            <a:r>
              <a:rPr lang="zh-CN" altLang="en-US" sz="1800" dirty="0" smtClean="0"/>
              <a:t>等；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在本设计中采用</a:t>
            </a:r>
            <a:r>
              <a:rPr lang="en-US" altLang="zh-CN" sz="1800" dirty="0" smtClean="0">
                <a:solidFill>
                  <a:srgbClr val="FF0000"/>
                </a:solidFill>
              </a:rPr>
              <a:t>RAW RGB</a:t>
            </a:r>
            <a:r>
              <a:rPr lang="zh-CN" altLang="en-US" sz="1800" dirty="0" smtClean="0">
                <a:solidFill>
                  <a:srgbClr val="FF0000"/>
                </a:solidFill>
              </a:rPr>
              <a:t>输出格式</a:t>
            </a:r>
            <a:r>
              <a:rPr lang="zh-CN" altLang="en-US" sz="1800" dirty="0" smtClean="0"/>
              <a:t>，采集</a:t>
            </a:r>
            <a:r>
              <a:rPr lang="en-US" altLang="zh-CN" sz="1800" dirty="0" smtClean="0"/>
              <a:t>Sensor</a:t>
            </a:r>
            <a:r>
              <a:rPr lang="zh-CN" altLang="en-US" sz="1800" dirty="0" smtClean="0"/>
              <a:t>输出的</a:t>
            </a:r>
            <a:r>
              <a:rPr lang="en-US" altLang="zh-CN" sz="1800" dirty="0" smtClean="0"/>
              <a:t>Bayer</a:t>
            </a:r>
            <a:r>
              <a:rPr lang="zh-CN" altLang="en-US" sz="1800" dirty="0" smtClean="0"/>
              <a:t>帧并转为</a:t>
            </a:r>
            <a:r>
              <a:rPr lang="en-US" altLang="zh-CN" sz="1800" dirty="0" smtClean="0"/>
              <a:t>RGB888</a:t>
            </a:r>
            <a:r>
              <a:rPr lang="zh-CN" altLang="en-US" sz="1800" dirty="0" smtClean="0"/>
              <a:t>，在基本不损失图像质量的情况下完成高帧率推流。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注意：在</a:t>
            </a:r>
            <a:r>
              <a:rPr lang="en-US" altLang="zh-CN" sz="1800" dirty="0" smtClean="0"/>
              <a:t>RAW RGB</a:t>
            </a:r>
            <a:r>
              <a:rPr lang="zh-CN" altLang="en-US" sz="1800" dirty="0" smtClean="0"/>
              <a:t>模式下，传感器数据输出仅</a:t>
            </a:r>
            <a:r>
              <a:rPr lang="en-US" altLang="zh-CN" sz="1800" dirty="0" smtClean="0"/>
              <a:t>D[9:2]</a:t>
            </a:r>
            <a:r>
              <a:rPr lang="zh-CN" altLang="en-US" sz="1800" dirty="0" smtClean="0"/>
              <a:t>有效，</a:t>
            </a:r>
            <a:r>
              <a:rPr lang="en-US" altLang="zh-CN" sz="1800" dirty="0" smtClean="0"/>
              <a:t>D[1:0]</a:t>
            </a:r>
            <a:r>
              <a:rPr lang="zh-CN" altLang="en-US" sz="1800" dirty="0" smtClean="0"/>
              <a:t>忽略，后续讲义及设计中为便于理解，数据口定义为</a:t>
            </a:r>
            <a:r>
              <a:rPr lang="en-US" altLang="zh-CN" sz="1800" dirty="0" err="1" smtClean="0"/>
              <a:t>CMOS_data</a:t>
            </a:r>
            <a:r>
              <a:rPr lang="en-US" altLang="zh-CN" sz="1800" dirty="0" smtClean="0"/>
              <a:t>[7:0]</a:t>
            </a:r>
            <a:r>
              <a:rPr lang="zh-CN" altLang="en-US" sz="1800" dirty="0" smtClean="0"/>
              <a:t>对应</a:t>
            </a:r>
            <a:r>
              <a:rPr lang="en-US" altLang="zh-CN" sz="1800" dirty="0" smtClean="0"/>
              <a:t>D[9:2]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en-US" altLang="zh-CN" sz="1800" dirty="0" smtClean="0"/>
              <a:t>OV7725</a:t>
            </a:r>
            <a:r>
              <a:rPr lang="zh-CN" altLang="en-US" sz="1800" dirty="0"/>
              <a:t>支持</a:t>
            </a:r>
            <a:r>
              <a:rPr lang="zh-CN" altLang="en-US" sz="1800" dirty="0" smtClean="0"/>
              <a:t>多种分辨率：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en-US" altLang="zh-CN" sz="1800" dirty="0" smtClean="0"/>
              <a:t>VGA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QVGA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40</a:t>
            </a:r>
            <a:r>
              <a:rPr lang="zh-CN" altLang="en-US" sz="1800" dirty="0" smtClean="0"/>
              <a:t>*</a:t>
            </a:r>
            <a:r>
              <a:rPr lang="en-US" altLang="zh-CN" sz="1800" dirty="0" smtClean="0"/>
              <a:t>30</a:t>
            </a:r>
            <a:r>
              <a:rPr lang="zh-CN" altLang="en-US" sz="1800" dirty="0" smtClean="0"/>
              <a:t>至</a:t>
            </a:r>
            <a:r>
              <a:rPr lang="en-US" altLang="zh-CN" sz="1800" dirty="0" smtClean="0"/>
              <a:t>CIF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352x288</a:t>
            </a:r>
            <a:r>
              <a:rPr lang="zh-CN" altLang="en-US" sz="1800" dirty="0" smtClean="0"/>
              <a:t>）分辨率；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/>
              <a:t>在本设计</a:t>
            </a:r>
            <a:r>
              <a:rPr lang="zh-CN" altLang="en-US" sz="1800" dirty="0" smtClean="0"/>
              <a:t>中采用分辨率最高的</a:t>
            </a:r>
            <a:r>
              <a:rPr lang="en-US" altLang="zh-CN" sz="1800" dirty="0" smtClean="0"/>
              <a:t>VGA</a:t>
            </a:r>
            <a:r>
              <a:rPr lang="zh-CN" altLang="en-US" sz="1800" dirty="0" smtClean="0"/>
              <a:t>（</a:t>
            </a:r>
            <a:r>
              <a:rPr lang="en-US" altLang="zh-CN" sz="1800" dirty="0" smtClean="0">
                <a:solidFill>
                  <a:srgbClr val="FF0000"/>
                </a:solidFill>
              </a:rPr>
              <a:t>640x480</a:t>
            </a:r>
            <a:r>
              <a:rPr lang="zh-CN" altLang="en-US" sz="1800" dirty="0" smtClean="0"/>
              <a:t>）以获取最佳图像质量。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本设计中</a:t>
            </a:r>
            <a:r>
              <a:rPr lang="en-US" altLang="zh-CN" sz="1800" dirty="0" smtClean="0"/>
              <a:t>XCLK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24MHz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SCLK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400KHz</a:t>
            </a:r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在</a:t>
            </a:r>
            <a:r>
              <a:rPr lang="en-US" altLang="zh-CN" sz="1800" dirty="0"/>
              <a:t>FPGA</a:t>
            </a:r>
            <a:r>
              <a:rPr lang="zh-CN" altLang="en-US" sz="1800" dirty="0"/>
              <a:t>系统中。一般都采用</a:t>
            </a:r>
            <a:r>
              <a:rPr lang="en-US" altLang="zh-CN" sz="1800" dirty="0"/>
              <a:t>50MHz</a:t>
            </a:r>
            <a:r>
              <a:rPr lang="zh-CN" altLang="en-US" sz="1800" dirty="0"/>
              <a:t>晶振（如</a:t>
            </a:r>
            <a:r>
              <a:rPr lang="en-US" altLang="zh-CN" sz="1800" dirty="0"/>
              <a:t>DE2-115</a:t>
            </a:r>
            <a:r>
              <a:rPr lang="zh-CN" altLang="en-US" sz="1800" dirty="0"/>
              <a:t>），因此需要采用</a:t>
            </a:r>
            <a:r>
              <a:rPr lang="en-US" altLang="zh-CN" sz="1800" dirty="0"/>
              <a:t>PLL</a:t>
            </a:r>
            <a:r>
              <a:rPr lang="zh-CN" altLang="en-US" sz="1800" dirty="0"/>
              <a:t>生成</a:t>
            </a:r>
            <a:r>
              <a:rPr lang="en-US" altLang="zh-CN" sz="1800" dirty="0"/>
              <a:t>24MHz</a:t>
            </a:r>
            <a:r>
              <a:rPr lang="zh-CN" altLang="en-US" sz="1800" dirty="0"/>
              <a:t>时钟。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1755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 smtClean="0"/>
              <a:t>OV7725</a:t>
            </a:r>
            <a:r>
              <a:rPr lang="zh-CN" altLang="en-US" sz="1800" dirty="0" smtClean="0"/>
              <a:t>需要两个时钟输入</a:t>
            </a:r>
            <a:r>
              <a:rPr lang="en-US" altLang="zh-CN" sz="1800" dirty="0" smtClean="0"/>
              <a:t>:XCLK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SCLK</a:t>
            </a:r>
            <a:r>
              <a:rPr lang="zh-CN" altLang="en-US" sz="1800" dirty="0" smtClean="0"/>
              <a:t>，分别用来驱动传感器和</a:t>
            </a:r>
            <a:r>
              <a:rPr lang="en-US" altLang="zh-CN" sz="1800" dirty="0" smtClean="0"/>
              <a:t>SCCB</a:t>
            </a:r>
            <a:r>
              <a:rPr lang="zh-CN" altLang="en-US" sz="1800" dirty="0" smtClean="0"/>
              <a:t>总线，其推荐频率见</a:t>
            </a:r>
            <a:r>
              <a:rPr lang="en-US" altLang="zh-CN" sz="1800" dirty="0" smtClean="0"/>
              <a:t>Datasheet Page 7</a:t>
            </a:r>
            <a:r>
              <a:rPr lang="zh-CN" altLang="en-US" sz="1800" dirty="0" smtClean="0"/>
              <a:t>所示：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 smtClean="0"/>
          </a:p>
          <a:p>
            <a:pPr>
              <a:lnSpc>
                <a:spcPct val="150000"/>
              </a:lnSpc>
            </a:pP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 smtClean="0"/>
          </a:p>
          <a:p>
            <a:pPr>
              <a:lnSpc>
                <a:spcPct val="150000"/>
              </a:lnSpc>
            </a:pP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本设计中</a:t>
            </a:r>
            <a:r>
              <a:rPr lang="en-US" altLang="zh-CN" sz="1800" dirty="0" smtClean="0">
                <a:solidFill>
                  <a:srgbClr val="FF0000"/>
                </a:solidFill>
              </a:rPr>
              <a:t>XCLK</a:t>
            </a:r>
            <a:r>
              <a:rPr lang="zh-CN" altLang="en-US" sz="1800" dirty="0" smtClean="0">
                <a:solidFill>
                  <a:srgbClr val="FF0000"/>
                </a:solidFill>
              </a:rPr>
              <a:t>：</a:t>
            </a:r>
            <a:r>
              <a:rPr lang="en-US" altLang="zh-CN" sz="1800" dirty="0" smtClean="0">
                <a:solidFill>
                  <a:srgbClr val="FF0000"/>
                </a:solidFill>
              </a:rPr>
              <a:t>24MHz</a:t>
            </a:r>
            <a:r>
              <a:rPr lang="zh-CN" altLang="en-US" sz="1800" dirty="0" smtClean="0">
                <a:solidFill>
                  <a:srgbClr val="FF0000"/>
                </a:solidFill>
              </a:rPr>
              <a:t>，</a:t>
            </a:r>
            <a:r>
              <a:rPr lang="en-US" altLang="zh-CN" sz="1800" dirty="0" smtClean="0">
                <a:solidFill>
                  <a:srgbClr val="FF0000"/>
                </a:solidFill>
              </a:rPr>
              <a:t>SCLK</a:t>
            </a:r>
            <a:r>
              <a:rPr lang="zh-CN" altLang="en-US" sz="1800" dirty="0" smtClean="0">
                <a:solidFill>
                  <a:srgbClr val="FF0000"/>
                </a:solidFill>
              </a:rPr>
              <a:t>：</a:t>
            </a:r>
            <a:r>
              <a:rPr lang="en-US" altLang="zh-CN" sz="1800" dirty="0" smtClean="0">
                <a:solidFill>
                  <a:srgbClr val="FF0000"/>
                </a:solidFill>
              </a:rPr>
              <a:t>400KHz</a:t>
            </a:r>
          </a:p>
          <a:p>
            <a:pPr>
              <a:lnSpc>
                <a:spcPct val="150000"/>
              </a:lnSpc>
            </a:pPr>
            <a:r>
              <a:rPr lang="zh-CN" altLang="en-US" sz="1800" dirty="0" smtClean="0"/>
              <a:t>在</a:t>
            </a:r>
            <a:r>
              <a:rPr lang="en-US" altLang="zh-CN" sz="1800" dirty="0"/>
              <a:t>FPGA</a:t>
            </a:r>
            <a:r>
              <a:rPr lang="zh-CN" altLang="en-US" sz="1800" dirty="0"/>
              <a:t>系统中。一般都采用</a:t>
            </a:r>
            <a:r>
              <a:rPr lang="en-US" altLang="zh-CN" sz="1800" dirty="0"/>
              <a:t>50MHz</a:t>
            </a:r>
            <a:r>
              <a:rPr lang="zh-CN" altLang="en-US" sz="1800" dirty="0"/>
              <a:t>晶振（如</a:t>
            </a:r>
            <a:r>
              <a:rPr lang="en-US" altLang="zh-CN" sz="1800" dirty="0"/>
              <a:t>DE2-115</a:t>
            </a:r>
            <a:r>
              <a:rPr lang="zh-CN" altLang="en-US" sz="1800" dirty="0"/>
              <a:t>），因此需要采用</a:t>
            </a:r>
            <a:r>
              <a:rPr lang="en-US" altLang="zh-CN" sz="1800" dirty="0"/>
              <a:t>PLL</a:t>
            </a:r>
            <a:r>
              <a:rPr lang="zh-CN" altLang="en-US" sz="1800" dirty="0"/>
              <a:t>生成</a:t>
            </a:r>
            <a:r>
              <a:rPr lang="en-US" altLang="zh-CN" sz="1800" dirty="0"/>
              <a:t>24MHz</a:t>
            </a:r>
            <a:r>
              <a:rPr lang="zh-CN" altLang="en-US" sz="1800" dirty="0"/>
              <a:t>时钟。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 smtClean="0"/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</a:t>
            </a:r>
            <a:r>
              <a:rPr lang="zh-CN" altLang="en-US" dirty="0"/>
              <a:t> </a:t>
            </a:r>
            <a:r>
              <a:rPr lang="zh-CN" altLang="en-US" dirty="0" smtClean="0"/>
              <a:t>时钟输入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9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88840"/>
            <a:ext cx="6786723" cy="285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0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93838"/>
            <a:ext cx="8229600" cy="50403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j-lt"/>
              </a:rPr>
              <a:t>OV7725</a:t>
            </a:r>
            <a:r>
              <a:rPr lang="zh-CN" altLang="en-US" sz="2000" dirty="0" smtClean="0">
                <a:latin typeface="+mj-lt"/>
              </a:rPr>
              <a:t>上电时默认输出</a:t>
            </a:r>
            <a:r>
              <a:rPr lang="en-US" altLang="zh-CN" sz="2000" dirty="0" smtClean="0">
                <a:latin typeface="+mj-lt"/>
              </a:rPr>
              <a:t>YUV422</a:t>
            </a:r>
            <a:r>
              <a:rPr lang="zh-CN" altLang="en-US" sz="2000" dirty="0" smtClean="0">
                <a:latin typeface="+mj-lt"/>
              </a:rPr>
              <a:t>格式的视频流，但我们希望传感器能够按照预期的模式工作，这就需要配置分辨率、内部时钟、亮度、色差、</a:t>
            </a:r>
            <a:r>
              <a:rPr lang="en-US" altLang="zh-CN" sz="2000" dirty="0" smtClean="0">
                <a:latin typeface="+mj-lt"/>
              </a:rPr>
              <a:t>3A</a:t>
            </a:r>
            <a:r>
              <a:rPr lang="zh-CN" altLang="en-US" sz="2000" dirty="0" smtClean="0">
                <a:latin typeface="+mj-lt"/>
              </a:rPr>
              <a:t>参数等。因此需要一个接口来完成</a:t>
            </a:r>
            <a:r>
              <a:rPr lang="en-US" altLang="zh-CN" sz="2000" dirty="0" smtClean="0">
                <a:latin typeface="+mj-lt"/>
              </a:rPr>
              <a:t>OV7725</a:t>
            </a:r>
            <a:r>
              <a:rPr lang="zh-CN" altLang="en-US" sz="2000" dirty="0" smtClean="0">
                <a:latin typeface="+mj-lt"/>
              </a:rPr>
              <a:t>寄存器的配置</a:t>
            </a:r>
            <a:r>
              <a:rPr lang="en-US" altLang="zh-CN" sz="2000" dirty="0" smtClean="0">
                <a:latin typeface="+mj-lt"/>
              </a:rPr>
              <a:t>——SCCB</a:t>
            </a:r>
            <a:r>
              <a:rPr lang="zh-CN" altLang="en-US" sz="2000" dirty="0" smtClean="0">
                <a:latin typeface="+mj-lt"/>
              </a:rPr>
              <a:t>接口，即</a:t>
            </a:r>
            <a:r>
              <a:rPr lang="en-US" altLang="zh-CN" sz="2000" dirty="0" smtClean="0">
                <a:latin typeface="+mj-lt"/>
              </a:rPr>
              <a:t>Serial Camera Control Bus</a:t>
            </a:r>
            <a:r>
              <a:rPr lang="zh-CN" altLang="en-US" sz="2000" dirty="0" smtClean="0">
                <a:latin typeface="+mj-lt"/>
              </a:rPr>
              <a:t>，串行相机控制总线。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j-lt"/>
              </a:rPr>
              <a:t>SCCB</a:t>
            </a:r>
            <a:r>
              <a:rPr lang="zh-CN" altLang="en-US" sz="2000" dirty="0" smtClean="0">
                <a:latin typeface="+mj-lt"/>
              </a:rPr>
              <a:t>本质上就是</a:t>
            </a:r>
            <a:r>
              <a:rPr lang="en-US" altLang="zh-CN" sz="2000" dirty="0" smtClean="0">
                <a:latin typeface="+mj-lt"/>
              </a:rPr>
              <a:t>I2C</a:t>
            </a:r>
            <a:r>
              <a:rPr lang="zh-CN" altLang="en-US" sz="2000" dirty="0" smtClean="0">
                <a:latin typeface="+mj-lt"/>
              </a:rPr>
              <a:t>通信总线，只是</a:t>
            </a:r>
            <a:r>
              <a:rPr lang="en-US" altLang="zh-CN" sz="2000" dirty="0" err="1" smtClean="0">
                <a:latin typeface="+mj-lt"/>
              </a:rPr>
              <a:t>OmniVision</a:t>
            </a:r>
            <a:r>
              <a:rPr lang="zh-CN" altLang="en-US" sz="2000" dirty="0" smtClean="0">
                <a:latin typeface="+mj-lt"/>
              </a:rPr>
              <a:t>针对图像传感器提供的术语。</a:t>
            </a:r>
            <a:endParaRPr lang="en-US" altLang="zh-CN" sz="2000" dirty="0" smtClean="0">
              <a:latin typeface="+mj-lt"/>
            </a:endParaRP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SCCB</a:t>
            </a:r>
            <a:r>
              <a:rPr lang="zh-CN" altLang="en-US" dirty="0" smtClean="0"/>
              <a:t>接口简介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97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SCCB</a:t>
            </a:r>
            <a:r>
              <a:rPr lang="zh-CN" altLang="en-US" sz="2000" dirty="0"/>
              <a:t>总线通过串行方式发送</a:t>
            </a:r>
            <a:r>
              <a:rPr lang="en-US" altLang="zh-CN" sz="2000" dirty="0"/>
              <a:t>8</a:t>
            </a:r>
            <a:r>
              <a:rPr lang="zh-CN" altLang="en-US" sz="2000" dirty="0"/>
              <a:t>位数据，先送高位再送低位，具体请参照附件：</a:t>
            </a:r>
            <a:r>
              <a:rPr lang="en-US" altLang="zh-CN" sz="2000" dirty="0" err="1"/>
              <a:t>OmniVision</a:t>
            </a:r>
            <a:r>
              <a:rPr lang="en-US" altLang="zh-CN" sz="2000" dirty="0"/>
              <a:t> Serial Camera Control Bus Functional Specification</a:t>
            </a:r>
            <a:r>
              <a:rPr lang="zh-CN" altLang="en-US" sz="2000" dirty="0" smtClean="0"/>
              <a:t>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官方给出的</a:t>
            </a:r>
            <a:r>
              <a:rPr lang="en-US" altLang="zh-CN" sz="2000" dirty="0" smtClean="0">
                <a:latin typeface="+mj-lt"/>
              </a:rPr>
              <a:t>8</a:t>
            </a:r>
            <a:r>
              <a:rPr lang="zh-CN" altLang="en-US" sz="2000" dirty="0" smtClean="0">
                <a:latin typeface="+mj-lt"/>
              </a:rPr>
              <a:t>位数据串行发送时序图，如下图所示：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SCCB</a:t>
            </a:r>
            <a:r>
              <a:rPr lang="zh-CN" altLang="en-US" dirty="0" smtClean="0"/>
              <a:t>接口要点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11</a:t>
            </a:fld>
            <a:endParaRPr lang="en-US" altLang="ko-KR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645694"/>
            <a:ext cx="6858761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5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j-lt"/>
              </a:rPr>
              <a:t>SCCB</a:t>
            </a:r>
            <a:r>
              <a:rPr lang="zh-CN" altLang="en-US" sz="2000" dirty="0" smtClean="0">
                <a:latin typeface="+mj-lt"/>
              </a:rPr>
              <a:t>总线时序要点：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1</a:t>
            </a:r>
            <a:r>
              <a:rPr lang="zh-CN" altLang="en-US" sz="2000" dirty="0" smtClean="0">
                <a:latin typeface="+mj-lt"/>
              </a:rPr>
              <a:t>）开始、结束信号：当</a:t>
            </a:r>
            <a:r>
              <a:rPr lang="en-US" altLang="zh-CN" sz="2000" dirty="0" smtClean="0">
                <a:latin typeface="+mj-lt"/>
              </a:rPr>
              <a:t>SIOC</a:t>
            </a:r>
            <a:r>
              <a:rPr lang="zh-CN" altLang="en-US" sz="2000" dirty="0" smtClean="0">
                <a:latin typeface="+mj-lt"/>
              </a:rPr>
              <a:t>为高电平时，</a:t>
            </a:r>
            <a:r>
              <a:rPr lang="en-US" altLang="zh-CN" sz="2000" dirty="0" smtClean="0">
                <a:latin typeface="+mj-lt"/>
              </a:rPr>
              <a:t>SIOD</a:t>
            </a:r>
            <a:r>
              <a:rPr lang="zh-CN" altLang="en-US" sz="2000" dirty="0" smtClean="0">
                <a:latin typeface="+mj-lt"/>
              </a:rPr>
              <a:t>由高电平向低电平转换，开始传输信号；当</a:t>
            </a:r>
            <a:r>
              <a:rPr lang="en-US" altLang="zh-CN" sz="2000" dirty="0" smtClean="0">
                <a:latin typeface="+mj-lt"/>
              </a:rPr>
              <a:t>SIOC</a:t>
            </a:r>
            <a:r>
              <a:rPr lang="zh-CN" altLang="en-US" sz="2000" dirty="0" smtClean="0">
                <a:latin typeface="+mj-lt"/>
              </a:rPr>
              <a:t>为低电平时，</a:t>
            </a:r>
            <a:r>
              <a:rPr lang="en-US" altLang="zh-CN" sz="2000" dirty="0" smtClean="0">
                <a:latin typeface="+mj-lt"/>
              </a:rPr>
              <a:t>SIOD</a:t>
            </a:r>
            <a:r>
              <a:rPr lang="zh-CN" altLang="en-US" sz="2000" dirty="0" smtClean="0">
                <a:latin typeface="+mj-lt"/>
              </a:rPr>
              <a:t>由低电平向高电平转换，结束传送数据，如下图所示：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SCCB</a:t>
            </a:r>
            <a:r>
              <a:rPr lang="zh-CN" altLang="en-US" dirty="0" smtClean="0"/>
              <a:t>接口要点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12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90" y="3429000"/>
            <a:ext cx="3303663" cy="21483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3429000"/>
            <a:ext cx="3559971" cy="21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7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>
                <a:latin typeface="+mj-lt"/>
              </a:rPr>
              <a:t>2</a:t>
            </a:r>
            <a:r>
              <a:rPr lang="zh-CN" altLang="en-US" sz="2000" dirty="0" smtClean="0">
                <a:latin typeface="+mj-lt"/>
              </a:rPr>
              <a:t>）数据传输：当</a:t>
            </a:r>
            <a:r>
              <a:rPr lang="en-US" altLang="zh-CN" sz="2000" dirty="0" smtClean="0">
                <a:latin typeface="+mj-lt"/>
              </a:rPr>
              <a:t>SIOC</a:t>
            </a:r>
            <a:r>
              <a:rPr lang="zh-CN" altLang="en-US" sz="2000" dirty="0" smtClean="0">
                <a:latin typeface="+mj-lt"/>
              </a:rPr>
              <a:t>为高电平时，</a:t>
            </a:r>
            <a:r>
              <a:rPr lang="en-US" altLang="zh-CN" sz="2000" dirty="0" smtClean="0">
                <a:latin typeface="+mj-lt"/>
              </a:rPr>
              <a:t>SIOD</a:t>
            </a:r>
            <a:r>
              <a:rPr lang="zh-CN" altLang="en-US" sz="2000" dirty="0" smtClean="0">
                <a:latin typeface="+mj-lt"/>
              </a:rPr>
              <a:t>保持稳定，传输信号；当</a:t>
            </a:r>
            <a:r>
              <a:rPr lang="en-US" altLang="zh-CN" sz="2000" dirty="0" smtClean="0">
                <a:latin typeface="+mj-lt"/>
              </a:rPr>
              <a:t>SIOC</a:t>
            </a:r>
            <a:r>
              <a:rPr lang="zh-CN" altLang="en-US" sz="2000" dirty="0" smtClean="0">
                <a:latin typeface="+mj-lt"/>
              </a:rPr>
              <a:t>为低电平时，</a:t>
            </a:r>
            <a:r>
              <a:rPr lang="en-US" altLang="zh-CN" sz="2000" dirty="0" smtClean="0">
                <a:latin typeface="+mj-lt"/>
              </a:rPr>
              <a:t>SIOD</a:t>
            </a:r>
            <a:r>
              <a:rPr lang="zh-CN" altLang="en-US" sz="2000" dirty="0" smtClean="0">
                <a:latin typeface="+mj-lt"/>
              </a:rPr>
              <a:t>改变传输位。即</a:t>
            </a:r>
            <a:r>
              <a:rPr lang="en-US" altLang="zh-CN" sz="2000" dirty="0" smtClean="0">
                <a:latin typeface="+mj-lt"/>
              </a:rPr>
              <a:t>SCCB</a:t>
            </a:r>
            <a:r>
              <a:rPr lang="zh-CN" altLang="en-US" sz="2000" dirty="0" smtClean="0">
                <a:latin typeface="+mj-lt"/>
              </a:rPr>
              <a:t>时序在高电平时读取数据，在低电平时改变信号。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3</a:t>
            </a:r>
            <a:r>
              <a:rPr lang="zh-CN" altLang="en-US" sz="2000" dirty="0" smtClean="0">
                <a:latin typeface="+mj-lt"/>
              </a:rPr>
              <a:t>）应答信号：</a:t>
            </a:r>
            <a:r>
              <a:rPr lang="en-US" altLang="zh-CN" sz="2000" dirty="0" smtClean="0">
                <a:latin typeface="+mj-lt"/>
              </a:rPr>
              <a:t>8</a:t>
            </a:r>
            <a:r>
              <a:rPr lang="zh-CN" altLang="en-US" sz="2000" dirty="0" smtClean="0">
                <a:latin typeface="+mj-lt"/>
              </a:rPr>
              <a:t>位数据发送完毕后，即第</a:t>
            </a:r>
            <a:r>
              <a:rPr lang="en-US" altLang="zh-CN" sz="2000" dirty="0" smtClean="0">
                <a:latin typeface="+mj-lt"/>
              </a:rPr>
              <a:t>9</a:t>
            </a:r>
            <a:r>
              <a:rPr lang="zh-CN" altLang="en-US" sz="2000" dirty="0" smtClean="0">
                <a:latin typeface="+mj-lt"/>
              </a:rPr>
              <a:t>个时钟，若</a:t>
            </a:r>
            <a:r>
              <a:rPr lang="en-US" altLang="zh-CN" sz="2000" dirty="0" smtClean="0">
                <a:latin typeface="+mj-lt"/>
              </a:rPr>
              <a:t>SCCB</a:t>
            </a:r>
            <a:r>
              <a:rPr lang="zh-CN" altLang="en-US" sz="2000" dirty="0" smtClean="0">
                <a:latin typeface="+mj-lt"/>
              </a:rPr>
              <a:t>设备发出</a:t>
            </a:r>
            <a:r>
              <a:rPr lang="en-US" altLang="zh-CN" sz="2000" dirty="0" smtClean="0">
                <a:latin typeface="+mj-lt"/>
              </a:rPr>
              <a:t>ACK</a:t>
            </a:r>
            <a:r>
              <a:rPr lang="zh-CN" altLang="en-US" sz="2000" dirty="0" smtClean="0">
                <a:latin typeface="+mj-lt"/>
              </a:rPr>
              <a:t>相应，则</a:t>
            </a:r>
            <a:r>
              <a:rPr lang="en-US" altLang="zh-CN" sz="2000" dirty="0" smtClean="0">
                <a:latin typeface="+mj-lt"/>
              </a:rPr>
              <a:t>SIOD</a:t>
            </a:r>
            <a:r>
              <a:rPr lang="zh-CN" altLang="en-US" sz="2000" dirty="0" smtClean="0">
                <a:latin typeface="+mj-lt"/>
              </a:rPr>
              <a:t>会被拉低，反之，若没有接受到</a:t>
            </a:r>
            <a:r>
              <a:rPr lang="en-US" altLang="zh-CN" sz="2000" dirty="0" smtClean="0">
                <a:latin typeface="+mj-lt"/>
              </a:rPr>
              <a:t>ACK</a:t>
            </a:r>
            <a:r>
              <a:rPr lang="zh-CN" altLang="en-US" sz="2000" dirty="0" smtClean="0">
                <a:latin typeface="+mj-lt"/>
              </a:rPr>
              <a:t>，需重新进行配置，知道接收到器件响应信号为止。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SCCB</a:t>
            </a:r>
            <a:r>
              <a:rPr lang="zh-CN" altLang="en-US" dirty="0" smtClean="0"/>
              <a:t>接口要点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455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j-lt"/>
              </a:rPr>
              <a:t>SCCB</a:t>
            </a:r>
            <a:r>
              <a:rPr lang="zh-CN" altLang="en-US" sz="2000" dirty="0" smtClean="0">
                <a:latin typeface="+mj-lt"/>
              </a:rPr>
              <a:t>总线在寄存器写入和读取上有较大差别：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1</a:t>
            </a:r>
            <a:r>
              <a:rPr lang="zh-CN" altLang="en-US" sz="2000" dirty="0" smtClean="0">
                <a:latin typeface="+mj-lt"/>
              </a:rPr>
              <a:t>）写入时序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j-lt"/>
              </a:rPr>
              <a:t>SCCB</a:t>
            </a:r>
            <a:r>
              <a:rPr lang="zh-CN" altLang="en-US" sz="2000" dirty="0" smtClean="0">
                <a:latin typeface="+mj-lt"/>
              </a:rPr>
              <a:t>总线在写寄存器时，先写设备地址，再写目标寄存器地址，最后写入寄存器值，即</a:t>
            </a:r>
            <a:r>
              <a:rPr lang="en-US" altLang="zh-CN" sz="2000" dirty="0" err="1" smtClean="0">
                <a:latin typeface="+mj-lt"/>
              </a:rPr>
              <a:t>ID-Address+SUB-Address+W-Data</a:t>
            </a:r>
            <a:r>
              <a:rPr lang="zh-CN" altLang="en-US" sz="2000" dirty="0" smtClean="0">
                <a:latin typeface="+mj-lt"/>
              </a:rPr>
              <a:t>的流程，如下图所示：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其中</a:t>
            </a:r>
            <a:r>
              <a:rPr lang="en-US" altLang="zh-CN" sz="2000" dirty="0" smtClean="0">
                <a:latin typeface="+mj-lt"/>
              </a:rPr>
              <a:t>ID-Address</a:t>
            </a:r>
            <a:r>
              <a:rPr lang="zh-CN" altLang="en-US" sz="2000" dirty="0" smtClean="0">
                <a:latin typeface="+mj-lt"/>
              </a:rPr>
              <a:t>，</a:t>
            </a:r>
            <a:r>
              <a:rPr lang="en-US" altLang="zh-CN" sz="2000" dirty="0" smtClean="0">
                <a:latin typeface="+mj-lt"/>
              </a:rPr>
              <a:t>OV</a:t>
            </a:r>
            <a:r>
              <a:rPr lang="zh-CN" altLang="en-US" sz="2000" dirty="0" smtClean="0">
                <a:latin typeface="+mj-lt"/>
              </a:rPr>
              <a:t>传感器在写时为</a:t>
            </a:r>
            <a:r>
              <a:rPr lang="en-US" altLang="zh-CN" sz="2000" dirty="0" smtClean="0">
                <a:latin typeface="+mj-lt"/>
              </a:rPr>
              <a:t>0x42</a:t>
            </a:r>
            <a:r>
              <a:rPr lang="zh-CN" altLang="en-US" sz="2000" dirty="0" smtClean="0">
                <a:latin typeface="+mj-lt"/>
              </a:rPr>
              <a:t>，读时为</a:t>
            </a:r>
            <a:r>
              <a:rPr lang="en-US" altLang="zh-CN" sz="2000" dirty="0" smtClean="0">
                <a:latin typeface="+mj-lt"/>
              </a:rPr>
              <a:t>0x43</a:t>
            </a:r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SCCB</a:t>
            </a:r>
            <a:r>
              <a:rPr lang="zh-CN" altLang="en-US" dirty="0" smtClean="0"/>
              <a:t>接口时序要点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14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487007"/>
            <a:ext cx="7264831" cy="174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4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1</a:t>
            </a:r>
            <a:r>
              <a:rPr lang="zh-CN" altLang="en-US" sz="2000" dirty="0" smtClean="0">
                <a:latin typeface="+mj-lt"/>
              </a:rPr>
              <a:t>）读取时序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相对于写入而言，读取稍微复杂一点，需要写入两次设备</a:t>
            </a:r>
            <a:r>
              <a:rPr lang="en-US" altLang="zh-CN" sz="2000" dirty="0" smtClean="0">
                <a:latin typeface="+mj-lt"/>
              </a:rPr>
              <a:t>ID</a:t>
            </a:r>
            <a:r>
              <a:rPr lang="zh-CN" altLang="en-US" sz="2000" dirty="0" smtClean="0">
                <a:latin typeface="+mj-lt"/>
              </a:rPr>
              <a:t>，如下图所示</a:t>
            </a:r>
            <a:r>
              <a:rPr lang="zh-CN" altLang="en-US" sz="2000" dirty="0">
                <a:latin typeface="+mj-lt"/>
              </a:rPr>
              <a:t>：</a:t>
            </a:r>
            <a:endParaRPr lang="en-US" altLang="zh-CN" sz="20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smtClean="0">
                <a:latin typeface="+mj-lt"/>
              </a:rPr>
              <a:t>Phase 1</a:t>
            </a:r>
            <a:r>
              <a:rPr lang="zh-CN" altLang="en-US" sz="2000" dirty="0" smtClean="0">
                <a:latin typeface="+mj-lt"/>
              </a:rPr>
              <a:t>：写入目标设备写操作</a:t>
            </a:r>
            <a:r>
              <a:rPr lang="en-US" altLang="zh-CN" sz="2000" dirty="0" smtClean="0">
                <a:latin typeface="+mj-lt"/>
              </a:rPr>
              <a:t>ID</a:t>
            </a:r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0x42</a:t>
            </a:r>
            <a:r>
              <a:rPr lang="zh-CN" altLang="en-US" sz="2000" dirty="0" smtClean="0">
                <a:latin typeface="+mj-lt"/>
              </a:rPr>
              <a:t>）；</a:t>
            </a:r>
            <a:endParaRPr lang="en-US" altLang="zh-CN" sz="20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smtClean="0">
                <a:latin typeface="+mj-lt"/>
              </a:rPr>
              <a:t>Phase 2</a:t>
            </a:r>
            <a:r>
              <a:rPr lang="zh-CN" altLang="en-US" sz="2000" dirty="0" smtClean="0">
                <a:latin typeface="+mj-lt"/>
              </a:rPr>
              <a:t>：写入需要读取的寄存器地址；</a:t>
            </a:r>
            <a:endParaRPr lang="en-US" altLang="zh-CN" sz="20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smtClean="0">
                <a:latin typeface="+mj-lt"/>
              </a:rPr>
              <a:t>Phase 3</a:t>
            </a:r>
            <a:r>
              <a:rPr lang="zh-CN" altLang="en-US" sz="2000" dirty="0" smtClean="0">
                <a:latin typeface="+mj-lt"/>
              </a:rPr>
              <a:t>：写入目标设备读操作</a:t>
            </a:r>
            <a:r>
              <a:rPr lang="en-US" altLang="zh-CN" sz="2000" dirty="0" smtClean="0">
                <a:latin typeface="+mj-lt"/>
              </a:rPr>
              <a:t>ID</a:t>
            </a:r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0x43</a:t>
            </a:r>
            <a:r>
              <a:rPr lang="zh-CN" altLang="en-US" sz="2000" dirty="0" smtClean="0">
                <a:latin typeface="+mj-lt"/>
              </a:rPr>
              <a:t>）；</a:t>
            </a:r>
            <a:endParaRPr lang="en-US" altLang="zh-CN" sz="20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smtClean="0">
                <a:latin typeface="+mj-lt"/>
              </a:rPr>
              <a:t>Phase 4</a:t>
            </a:r>
            <a:r>
              <a:rPr lang="zh-CN" altLang="en-US" sz="2000" dirty="0" smtClean="0">
                <a:latin typeface="+mj-lt"/>
              </a:rPr>
              <a:t>：读取寄存器值。</a:t>
            </a:r>
            <a:endParaRPr lang="en-US" altLang="zh-CN" sz="20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 smtClean="0">
              <a:latin typeface="+mj-lt"/>
            </a:endParaRPr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SCCB</a:t>
            </a:r>
            <a:r>
              <a:rPr lang="zh-CN" altLang="en-US" dirty="0" smtClean="0"/>
              <a:t>接口时序要点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15</a:t>
            </a:fld>
            <a:endParaRPr lang="en-US" altLang="ko-KR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3" y="2636912"/>
            <a:ext cx="4926924" cy="9575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11351"/>
          <a:stretch/>
        </p:blipFill>
        <p:spPr>
          <a:xfrm>
            <a:off x="4583186" y="2648515"/>
            <a:ext cx="4525318" cy="99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从时序上来看，写入和读取的唯一区别在于</a:t>
            </a:r>
            <a:r>
              <a:rPr lang="en-US" altLang="zh-CN" sz="2000" dirty="0" smtClean="0">
                <a:latin typeface="+mj-lt"/>
              </a:rPr>
              <a:t>Phase 4 </a:t>
            </a:r>
            <a:r>
              <a:rPr lang="zh-CN" altLang="en-US" sz="2000" dirty="0" smtClean="0">
                <a:latin typeface="+mj-lt"/>
              </a:rPr>
              <a:t>的</a:t>
            </a:r>
            <a:r>
              <a:rPr lang="en-US" altLang="zh-CN" sz="2000" dirty="0" smtClean="0">
                <a:latin typeface="+mj-lt"/>
              </a:rPr>
              <a:t>ACK</a:t>
            </a:r>
            <a:r>
              <a:rPr lang="zh-CN" altLang="en-US" sz="2000" dirty="0" smtClean="0">
                <a:latin typeface="+mj-lt"/>
              </a:rPr>
              <a:t>，</a:t>
            </a:r>
            <a:r>
              <a:rPr lang="en-US" altLang="zh-CN" sz="2000" dirty="0" smtClean="0">
                <a:latin typeface="+mj-lt"/>
              </a:rPr>
              <a:t>Phase 1~3</a:t>
            </a:r>
            <a:r>
              <a:rPr lang="zh-CN" altLang="en-US" sz="2000" dirty="0" smtClean="0">
                <a:latin typeface="+mj-lt"/>
              </a:rPr>
              <a:t>均为地址、寄存器、数据的写入，处理器作为注意发送数据给</a:t>
            </a:r>
            <a:r>
              <a:rPr lang="en-US" altLang="zh-CN" sz="2000" dirty="0" smtClean="0">
                <a:latin typeface="+mj-lt"/>
              </a:rPr>
              <a:t>CMOS</a:t>
            </a:r>
            <a:r>
              <a:rPr lang="zh-CN" altLang="en-US" sz="2000" dirty="0" smtClean="0">
                <a:latin typeface="+mj-lt"/>
              </a:rPr>
              <a:t>，并进行串并转换。完成接收后处理器需要发送一个相应位给</a:t>
            </a:r>
            <a:r>
              <a:rPr lang="en-US" altLang="zh-CN" sz="2000" dirty="0" smtClean="0">
                <a:latin typeface="+mj-lt"/>
              </a:rPr>
              <a:t>CMOS Sensor</a:t>
            </a:r>
            <a:r>
              <a:rPr lang="zh-CN" altLang="en-US" sz="2000" dirty="0" smtClean="0">
                <a:latin typeface="+mj-lt"/>
              </a:rPr>
              <a:t>以表示数据成功接收，还需要发送一个标志位即</a:t>
            </a:r>
            <a:r>
              <a:rPr lang="en-US" altLang="zh-CN" sz="2000" dirty="0" smtClean="0">
                <a:latin typeface="+mj-lt"/>
              </a:rPr>
              <a:t>NA</a:t>
            </a:r>
            <a:r>
              <a:rPr lang="zh-CN" altLang="en-US" sz="2000" dirty="0" smtClean="0">
                <a:latin typeface="+mj-lt"/>
              </a:rPr>
              <a:t>。</a:t>
            </a:r>
            <a:endParaRPr lang="en-US" altLang="zh-CN" sz="2000" dirty="0" smtClean="0">
              <a:latin typeface="+mj-lt"/>
            </a:endParaRPr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SCCB</a:t>
            </a:r>
            <a:r>
              <a:rPr lang="zh-CN" altLang="en-US" dirty="0" smtClean="0"/>
              <a:t>接口时序要点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30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j-lt"/>
              </a:rPr>
              <a:t>OV7725</a:t>
            </a:r>
            <a:r>
              <a:rPr lang="zh-CN" altLang="en-US" sz="2000" dirty="0" smtClean="0">
                <a:latin typeface="+mj-lt"/>
              </a:rPr>
              <a:t>共有</a:t>
            </a:r>
            <a:r>
              <a:rPr lang="en-US" altLang="zh-CN" sz="2000" dirty="0" smtClean="0">
                <a:latin typeface="+mj-lt"/>
              </a:rPr>
              <a:t>172</a:t>
            </a:r>
            <a:r>
              <a:rPr lang="zh-CN" altLang="en-US" sz="2000" dirty="0" smtClean="0">
                <a:latin typeface="+mj-lt"/>
              </a:rPr>
              <a:t>个寄存器，用于</a:t>
            </a:r>
            <a:r>
              <a:rPr lang="en-US" altLang="zh-CN" sz="2000" dirty="0" smtClean="0">
                <a:latin typeface="+mj-lt"/>
              </a:rPr>
              <a:t>CMOS Sensor</a:t>
            </a:r>
            <a:r>
              <a:rPr lang="zh-CN" altLang="en-US" sz="2000" dirty="0" smtClean="0">
                <a:latin typeface="+mj-lt"/>
              </a:rPr>
              <a:t>的工作模式配置。在这</a:t>
            </a:r>
            <a:r>
              <a:rPr lang="en-US" altLang="zh-CN" sz="2000" dirty="0" smtClean="0">
                <a:latin typeface="+mj-lt"/>
              </a:rPr>
              <a:t>172</a:t>
            </a:r>
            <a:r>
              <a:rPr lang="zh-CN" altLang="en-US" sz="2000" dirty="0" smtClean="0">
                <a:latin typeface="+mj-lt"/>
              </a:rPr>
              <a:t>个寄存器中有些只读，有些则支持读、写。在传感器正常工作前，必须进行寄存器的初始化，不然无法得到预期效果。但只有其中一小部分寄存器就是需要我们通过</a:t>
            </a:r>
            <a:r>
              <a:rPr lang="en-US" altLang="zh-CN" sz="2000" dirty="0" smtClean="0">
                <a:latin typeface="+mj-lt"/>
              </a:rPr>
              <a:t>SCCB</a:t>
            </a:r>
            <a:r>
              <a:rPr lang="zh-CN" altLang="en-US" sz="2000" dirty="0" smtClean="0">
                <a:latin typeface="+mj-lt"/>
              </a:rPr>
              <a:t>总线接口进行配置的目标，其余则可采用默认值。</a:t>
            </a: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j-lt"/>
              </a:rPr>
              <a:t>关于寄存器配置，</a:t>
            </a:r>
            <a:r>
              <a:rPr lang="en-US" altLang="zh-CN" sz="2000" dirty="0" err="1" smtClean="0">
                <a:latin typeface="+mj-lt"/>
              </a:rPr>
              <a:t>OmniVision</a:t>
            </a:r>
            <a:r>
              <a:rPr lang="zh-CN" altLang="en-US" sz="2000" dirty="0" smtClean="0">
                <a:latin typeface="+mj-lt"/>
              </a:rPr>
              <a:t>给出了官方手册，请见附件</a:t>
            </a:r>
            <a:r>
              <a:rPr lang="en-US" altLang="zh-CN" sz="2000" dirty="0" smtClean="0">
                <a:latin typeface="+mj-lt"/>
              </a:rPr>
              <a:t>OV7725 Camera Module Software Application Notes</a:t>
            </a:r>
            <a:r>
              <a:rPr lang="zh-CN" altLang="en-US" sz="2000" dirty="0" smtClean="0">
                <a:latin typeface="+mj-lt"/>
              </a:rPr>
              <a:t>即</a:t>
            </a:r>
            <a:r>
              <a:rPr lang="en-US" altLang="zh-CN" sz="2000" dirty="0" smtClean="0">
                <a:latin typeface="+mj-lt"/>
              </a:rPr>
              <a:t>OV7725 Datasheet Page 12</a:t>
            </a:r>
            <a:r>
              <a:rPr lang="zh-CN" altLang="en-US" sz="2000" dirty="0" smtClean="0">
                <a:latin typeface="+mj-lt"/>
              </a:rPr>
              <a:t>，包括了时钟、阵列的配置，夜间模式的配置，白平衡配置等。</a:t>
            </a:r>
            <a:endParaRPr lang="en-US" altLang="zh-CN" sz="20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寄存器可大致分为几类，分别介绍如下：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 smtClean="0"/>
              <a:t>寄存器介绍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884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+mj-lt"/>
              </a:rPr>
              <a:t>1</a:t>
            </a:r>
            <a:r>
              <a:rPr lang="zh-CN" altLang="en-US" sz="1800" dirty="0" smtClean="0">
                <a:latin typeface="+mj-lt"/>
              </a:rPr>
              <a:t>、产品</a:t>
            </a:r>
            <a:r>
              <a:rPr lang="en-US" altLang="zh-CN" sz="1800" dirty="0" smtClean="0">
                <a:latin typeface="+mj-lt"/>
              </a:rPr>
              <a:t>ID</a:t>
            </a:r>
            <a:r>
              <a:rPr lang="zh-CN" altLang="en-US" sz="1800" dirty="0" smtClean="0">
                <a:latin typeface="+mj-lt"/>
              </a:rPr>
              <a:t>、制造商</a:t>
            </a:r>
            <a:r>
              <a:rPr lang="en-US" altLang="zh-CN" sz="1800" dirty="0" smtClean="0">
                <a:latin typeface="+mj-lt"/>
              </a:rPr>
              <a:t>ID</a:t>
            </a:r>
            <a:r>
              <a:rPr lang="zh-CN" altLang="en-US" sz="1800" dirty="0" smtClean="0">
                <a:latin typeface="+mj-lt"/>
              </a:rPr>
              <a:t>读取：</a:t>
            </a:r>
            <a:endParaRPr lang="en-US" altLang="zh-CN" sz="18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这</a:t>
            </a:r>
            <a:r>
              <a:rPr lang="zh-CN" altLang="en-US" sz="1800" dirty="0">
                <a:latin typeface="+mj-lt"/>
              </a:rPr>
              <a:t>几</a:t>
            </a:r>
            <a:r>
              <a:rPr lang="zh-CN" altLang="en-US" sz="1800" dirty="0" smtClean="0">
                <a:latin typeface="+mj-lt"/>
              </a:rPr>
              <a:t>个寄存器只支持只读操作，通过读取对应寄存器地址的值可以验证</a:t>
            </a:r>
            <a:r>
              <a:rPr lang="en-US" altLang="zh-CN" sz="1800" dirty="0" smtClean="0">
                <a:latin typeface="+mj-lt"/>
              </a:rPr>
              <a:t>SCCB</a:t>
            </a:r>
            <a:r>
              <a:rPr lang="zh-CN" altLang="en-US" sz="1800" dirty="0" smtClean="0">
                <a:latin typeface="+mj-lt"/>
              </a:rPr>
              <a:t>读取时序是否正确、</a:t>
            </a:r>
            <a:r>
              <a:rPr lang="en-US" altLang="zh-CN" sz="1800" dirty="0" smtClean="0">
                <a:latin typeface="+mj-lt"/>
              </a:rPr>
              <a:t>IC</a:t>
            </a:r>
            <a:r>
              <a:rPr lang="zh-CN" altLang="en-US" sz="1800" dirty="0" smtClean="0">
                <a:latin typeface="+mj-lt"/>
              </a:rPr>
              <a:t>是否正常工作。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+mj-lt"/>
              </a:rPr>
              <a:t>2</a:t>
            </a:r>
            <a:r>
              <a:rPr lang="zh-CN" altLang="en-US" sz="1800" dirty="0" smtClean="0">
                <a:latin typeface="+mj-lt"/>
              </a:rPr>
              <a:t>、分辨率、图像输出格式、像素时钟等的配置：</a:t>
            </a: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 smtClean="0"/>
              <a:t>寄存器介绍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18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52659"/>
            <a:ext cx="6428571" cy="6476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r="17120"/>
          <a:stretch/>
        </p:blipFill>
        <p:spPr>
          <a:xfrm>
            <a:off x="323528" y="3933056"/>
            <a:ext cx="8303765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5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4144" y="1340768"/>
            <a:ext cx="8229600" cy="43196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这几个寄存器完成输出图像的分辨率、输出格式、内部时钟、行场信号的电平标准等参数的设置。本设计中将</a:t>
            </a:r>
            <a:r>
              <a:rPr lang="en-US" altLang="zh-CN" sz="1800" dirty="0" smtClean="0">
                <a:latin typeface="+mj-lt"/>
              </a:rPr>
              <a:t>OV7725</a:t>
            </a:r>
            <a:r>
              <a:rPr lang="zh-CN" altLang="en-US" sz="1800" dirty="0" smtClean="0">
                <a:latin typeface="+mj-lt"/>
              </a:rPr>
              <a:t>配置为</a:t>
            </a:r>
            <a:r>
              <a:rPr lang="en-US" altLang="zh-CN" sz="1800" dirty="0" smtClean="0">
                <a:solidFill>
                  <a:srgbClr val="FF0000"/>
                </a:solidFill>
                <a:latin typeface="+mj-lt"/>
              </a:rPr>
              <a:t>640x480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输出模式、像素时钟等于输入时钟、以</a:t>
            </a:r>
            <a:r>
              <a:rPr lang="en-US" altLang="zh-CN" sz="1800" dirty="0" smtClean="0">
                <a:solidFill>
                  <a:srgbClr val="FF0000"/>
                </a:solidFill>
                <a:latin typeface="+mj-lt"/>
              </a:rPr>
              <a:t>Raw RGB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格式输出图像。</a:t>
            </a:r>
            <a:endParaRPr lang="en-US" altLang="zh-CN" sz="1800" dirty="0" smtClean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+mj-lt"/>
              </a:rPr>
              <a:t>3</a:t>
            </a:r>
            <a:r>
              <a:rPr lang="zh-CN" altLang="en-US" sz="1800" dirty="0" smtClean="0">
                <a:latin typeface="+mj-lt"/>
              </a:rPr>
              <a:t>、</a:t>
            </a:r>
            <a:r>
              <a:rPr lang="en-US" altLang="zh-CN" sz="1800" dirty="0" smtClean="0">
                <a:latin typeface="+mj-lt"/>
              </a:rPr>
              <a:t>DSP</a:t>
            </a:r>
            <a:r>
              <a:rPr lang="zh-CN" altLang="en-US" sz="1800" dirty="0" smtClean="0">
                <a:latin typeface="+mj-lt"/>
              </a:rPr>
              <a:t>图像处理器的初始化：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此处配置</a:t>
            </a:r>
            <a:r>
              <a:rPr lang="en-US" altLang="zh-CN" sz="1800" dirty="0" smtClean="0">
                <a:latin typeface="+mj-lt"/>
              </a:rPr>
              <a:t>DSP</a:t>
            </a:r>
            <a:r>
              <a:rPr lang="zh-CN" altLang="en-US" sz="1800" dirty="0">
                <a:latin typeface="+mj-lt"/>
              </a:rPr>
              <a:t>相关</a:t>
            </a:r>
            <a:r>
              <a:rPr lang="zh-CN" altLang="en-US" sz="1800" dirty="0" smtClean="0">
                <a:latin typeface="+mj-lt"/>
              </a:rPr>
              <a:t>参数：白平衡、色差等，因为设定的是</a:t>
            </a:r>
            <a:r>
              <a:rPr lang="en-US" altLang="zh-CN" sz="1800" dirty="0" smtClean="0">
                <a:latin typeface="+mj-lt"/>
              </a:rPr>
              <a:t>Raw RGB</a:t>
            </a:r>
            <a:r>
              <a:rPr lang="zh-CN" altLang="en-US" sz="1800" dirty="0" smtClean="0">
                <a:latin typeface="+mj-lt"/>
              </a:rPr>
              <a:t>输出，所以与</a:t>
            </a:r>
            <a:r>
              <a:rPr lang="en-US" altLang="zh-CN" sz="1800" dirty="0" smtClean="0">
                <a:latin typeface="+mj-lt"/>
              </a:rPr>
              <a:t>YUV</a:t>
            </a:r>
            <a:r>
              <a:rPr lang="zh-CN" altLang="en-US" sz="1800" dirty="0" smtClean="0">
                <a:latin typeface="+mj-lt"/>
              </a:rPr>
              <a:t>输出顺序无关。</a:t>
            </a: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 smtClean="0"/>
              <a:t>寄存器介绍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19</a:t>
            </a:fld>
            <a:endParaRPr lang="en-US" altLang="ko-KR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87" y="3275883"/>
            <a:ext cx="8142857" cy="1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3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 smtClean="0"/>
              <a:t>4</a:t>
            </a:r>
            <a:r>
              <a:rPr lang="zh-CN" altLang="en-US" sz="1800" dirty="0"/>
              <a:t>、自动增益、自动曝光、自动白平衡参数配置：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这里设置是否开启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自动增益、自动曝光、自动对比度</a:t>
            </a:r>
            <a:r>
              <a:rPr lang="zh-CN" altLang="en-US" sz="1800" dirty="0" smtClean="0">
                <a:latin typeface="+mj-lt"/>
              </a:rPr>
              <a:t>（</a:t>
            </a:r>
            <a:r>
              <a:rPr lang="en-US" altLang="zh-CN" sz="1800" dirty="0" smtClean="0">
                <a:latin typeface="+mj-lt"/>
              </a:rPr>
              <a:t>3A</a:t>
            </a:r>
            <a:r>
              <a:rPr lang="zh-CN" altLang="en-US" sz="1800" dirty="0" smtClean="0">
                <a:latin typeface="+mj-lt"/>
              </a:rPr>
              <a:t>），建议开启，当相机所采样到的图像突变时，会根据当前环境动态调整相关参数。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此外，为避免工频干扰，</a:t>
            </a:r>
            <a:r>
              <a:rPr lang="en-US" altLang="zh-CN" sz="1800" dirty="0" smtClean="0">
                <a:solidFill>
                  <a:srgbClr val="FF0000"/>
                </a:solidFill>
                <a:latin typeface="+mj-lt"/>
              </a:rPr>
              <a:t>0x2b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寄存器</a:t>
            </a:r>
            <a:r>
              <a:rPr lang="zh-CN" altLang="en-US" sz="1800" dirty="0" smtClean="0">
                <a:latin typeface="+mj-lt"/>
              </a:rPr>
              <a:t>用以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自动工频干扰消除配置</a:t>
            </a:r>
            <a:r>
              <a:rPr lang="zh-CN" altLang="en-US" sz="1800" dirty="0" smtClean="0">
                <a:latin typeface="+mj-lt"/>
              </a:rPr>
              <a:t>，这里选择</a:t>
            </a:r>
            <a:r>
              <a:rPr lang="en-US" altLang="zh-CN" sz="1800" dirty="0" smtClean="0">
                <a:latin typeface="+mj-lt"/>
              </a:rPr>
              <a:t>50Hz</a:t>
            </a:r>
            <a:r>
              <a:rPr lang="zh-CN" altLang="en-US" sz="1800" dirty="0" smtClean="0">
                <a:latin typeface="+mj-lt"/>
              </a:rPr>
              <a:t>消除，以对应中国大陆地区交流电频率</a:t>
            </a:r>
            <a:r>
              <a:rPr lang="en-US" altLang="zh-CN" sz="1800" dirty="0" smtClean="0">
                <a:latin typeface="+mj-lt"/>
              </a:rPr>
              <a:t>50Hz</a:t>
            </a:r>
            <a:r>
              <a:rPr lang="zh-CN" altLang="en-US" sz="1800" dirty="0" smtClean="0">
                <a:latin typeface="+mj-lt"/>
              </a:rPr>
              <a:t>，从而消除日光灯干扰。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 smtClean="0"/>
              <a:t>寄存器介绍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20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72816"/>
            <a:ext cx="7142857" cy="1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2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/>
              <a:t>5</a:t>
            </a:r>
            <a:r>
              <a:rPr lang="zh-CN" altLang="en-US" sz="1800" dirty="0" smtClean="0"/>
              <a:t>、边缘锐度、亮度、噪声抑制等参数配置：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+mj-lt"/>
              </a:rPr>
              <a:t>这里</a:t>
            </a:r>
            <a:r>
              <a:rPr lang="zh-CN" altLang="en-US" sz="1800" dirty="0" smtClean="0">
                <a:latin typeface="+mj-lt"/>
              </a:rPr>
              <a:t>完成</a:t>
            </a:r>
            <a:r>
              <a:rPr lang="en-US" altLang="zh-CN" sz="1800" dirty="0" smtClean="0">
                <a:latin typeface="+mj-lt"/>
              </a:rPr>
              <a:t>OV7725</a:t>
            </a:r>
            <a:r>
              <a:rPr lang="zh-CN" altLang="en-US" sz="1800" dirty="0" smtClean="0">
                <a:latin typeface="+mj-lt"/>
              </a:rPr>
              <a:t>输出图像的锐度、亮度、噪声抑制参数的配置，其中</a:t>
            </a:r>
            <a:r>
              <a:rPr lang="en-US" altLang="zh-CN" sz="1800" dirty="0" smtClean="0">
                <a:solidFill>
                  <a:srgbClr val="FF0000"/>
                </a:solidFill>
                <a:latin typeface="+mj-lt"/>
              </a:rPr>
              <a:t>0x9b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和</a:t>
            </a:r>
            <a:r>
              <a:rPr lang="en-US" altLang="zh-CN" sz="1800" dirty="0" smtClean="0">
                <a:solidFill>
                  <a:srgbClr val="FF0000"/>
                </a:solidFill>
                <a:latin typeface="+mj-lt"/>
              </a:rPr>
              <a:t>0x9c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寄存器</a:t>
            </a:r>
            <a:r>
              <a:rPr lang="zh-CN" altLang="en-US" sz="1800" dirty="0" smtClean="0">
                <a:latin typeface="+mj-lt"/>
              </a:rPr>
              <a:t>较为重要，分别用来配置输出图像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亮度和对比度。</a:t>
            </a:r>
            <a:endParaRPr lang="en-US" altLang="zh-CN" sz="1800" dirty="0" smtClean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 smtClean="0"/>
              <a:t>寄存器介绍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21</a:t>
            </a:fld>
            <a:endParaRPr lang="en-US" altLang="ko-KR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772816"/>
            <a:ext cx="3961905" cy="2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8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 smtClean="0"/>
              <a:t>6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Gamma</a:t>
            </a:r>
            <a:r>
              <a:rPr lang="zh-CN" altLang="en-US" sz="1800" dirty="0"/>
              <a:t>校正</a:t>
            </a:r>
            <a:r>
              <a:rPr lang="zh-CN" altLang="en-US" sz="1800" dirty="0" smtClean="0"/>
              <a:t>参数及其他参数配置：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以上</a:t>
            </a:r>
            <a:r>
              <a:rPr lang="en-US" altLang="zh-CN" sz="1800" dirty="0" smtClean="0">
                <a:latin typeface="+mj-lt"/>
              </a:rPr>
              <a:t>CMOS</a:t>
            </a:r>
            <a:r>
              <a:rPr lang="zh-CN" altLang="en-US" sz="1800" dirty="0" smtClean="0">
                <a:latin typeface="+mj-lt"/>
              </a:rPr>
              <a:t>寄存器列表通过</a:t>
            </a:r>
            <a:r>
              <a:rPr lang="en-US" altLang="zh-CN" sz="1800" dirty="0" smtClean="0">
                <a:latin typeface="+mj-lt"/>
              </a:rPr>
              <a:t>case</a:t>
            </a:r>
            <a:r>
              <a:rPr lang="zh-CN" altLang="en-US" sz="1800" dirty="0" smtClean="0">
                <a:latin typeface="+mj-lt"/>
              </a:rPr>
              <a:t>语句来描述，同时也可选择通过</a:t>
            </a:r>
            <a:r>
              <a:rPr lang="en-US" altLang="zh-CN" sz="1800" dirty="0" smtClean="0">
                <a:latin typeface="+mj-lt"/>
              </a:rPr>
              <a:t>ROM</a:t>
            </a:r>
            <a:r>
              <a:rPr lang="zh-CN" altLang="en-US" sz="1800" dirty="0" smtClean="0">
                <a:latin typeface="+mj-lt"/>
              </a:rPr>
              <a:t>存储</a:t>
            </a:r>
            <a:r>
              <a:rPr lang="en-US" altLang="zh-CN" sz="1800" dirty="0" err="1" smtClean="0">
                <a:latin typeface="+mj-lt"/>
              </a:rPr>
              <a:t>Mif</a:t>
            </a:r>
            <a:r>
              <a:rPr lang="zh-CN" altLang="en-US" sz="1800" dirty="0" smtClean="0">
                <a:latin typeface="+mj-lt"/>
              </a:rPr>
              <a:t>文件的方式实现，但在逻辑资源充足的器件中使用</a:t>
            </a:r>
            <a:r>
              <a:rPr lang="en-US" altLang="zh-CN" sz="1800" dirty="0" smtClean="0">
                <a:latin typeface="+mj-lt"/>
              </a:rPr>
              <a:t>case</a:t>
            </a:r>
            <a:r>
              <a:rPr lang="zh-CN" altLang="en-US" sz="1800" dirty="0" smtClean="0">
                <a:latin typeface="+mj-lt"/>
              </a:rPr>
              <a:t>描述更加方便调试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此外，在</a:t>
            </a:r>
            <a:r>
              <a:rPr lang="en-US" altLang="zh-CN" sz="1800" dirty="0" smtClean="0">
                <a:latin typeface="+mj-lt"/>
              </a:rPr>
              <a:t>OV7725</a:t>
            </a:r>
            <a:r>
              <a:rPr lang="zh-CN" altLang="en-US" sz="1800" dirty="0" smtClean="0">
                <a:latin typeface="+mj-lt"/>
              </a:rPr>
              <a:t>配置阶段，图像输出模式不断发生变化，这段时间中图像的输出流不稳定，为最大限度保证做不获得图像稳定性，手册中要求至少延时</a:t>
            </a:r>
            <a:r>
              <a:rPr lang="en-US" altLang="zh-CN" sz="1800" dirty="0" smtClean="0">
                <a:latin typeface="+mj-lt"/>
              </a:rPr>
              <a:t>10</a:t>
            </a:r>
            <a:r>
              <a:rPr lang="zh-CN" altLang="en-US" sz="1800" dirty="0" smtClean="0">
                <a:latin typeface="+mj-lt"/>
              </a:rPr>
              <a:t>帧开始采集图像。</a:t>
            </a: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 smtClean="0"/>
              <a:t>寄存器介绍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22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5371429" cy="2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3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 smtClean="0"/>
              <a:t>至此，已完成</a:t>
            </a:r>
            <a:r>
              <a:rPr lang="en-US" altLang="zh-CN" sz="1800" dirty="0" smtClean="0"/>
              <a:t>OV7725</a:t>
            </a:r>
            <a:r>
              <a:rPr lang="zh-CN" altLang="en-US" sz="1800" dirty="0" smtClean="0"/>
              <a:t>寄存器的初始化和图像格式配置，这里开始分析图像图像流的时序。如前文所述，传感器的图像数据端口如下：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其中相对</a:t>
            </a:r>
            <a:r>
              <a:rPr lang="en-US" altLang="zh-CN" sz="1800" dirty="0" smtClean="0">
                <a:latin typeface="+mj-lt"/>
              </a:rPr>
              <a:t>FPGA</a:t>
            </a:r>
            <a:r>
              <a:rPr lang="zh-CN" altLang="en-US" sz="1800" dirty="0" smtClean="0">
                <a:latin typeface="+mj-lt"/>
              </a:rPr>
              <a:t>而言，</a:t>
            </a:r>
            <a:r>
              <a:rPr lang="en-US" altLang="zh-CN" sz="1800" dirty="0" smtClean="0">
                <a:latin typeface="+mj-lt"/>
              </a:rPr>
              <a:t>XCLK</a:t>
            </a:r>
            <a:r>
              <a:rPr lang="zh-CN" altLang="en-US" sz="1800" dirty="0" smtClean="0">
                <a:latin typeface="+mj-lt"/>
              </a:rPr>
              <a:t>为输出给传感器的驱动时钟，</a:t>
            </a:r>
            <a:r>
              <a:rPr lang="en-US" altLang="zh-CN" sz="1800" dirty="0" smtClean="0">
                <a:latin typeface="+mj-lt"/>
              </a:rPr>
              <a:t>PCLK</a:t>
            </a:r>
            <a:r>
              <a:rPr lang="zh-CN" altLang="en-US" sz="1800" dirty="0" smtClean="0">
                <a:latin typeface="+mj-lt"/>
              </a:rPr>
              <a:t>、</a:t>
            </a:r>
            <a:r>
              <a:rPr lang="en-US" altLang="zh-CN" sz="1800" dirty="0" smtClean="0">
                <a:latin typeface="+mj-lt"/>
              </a:rPr>
              <a:t>VSYNC</a:t>
            </a:r>
            <a:r>
              <a:rPr lang="zh-CN" altLang="en-US" sz="1800" dirty="0" smtClean="0">
                <a:latin typeface="+mj-lt"/>
              </a:rPr>
              <a:t>、</a:t>
            </a:r>
            <a:r>
              <a:rPr lang="en-US" altLang="zh-CN" sz="1800" dirty="0" smtClean="0">
                <a:latin typeface="+mj-lt"/>
              </a:rPr>
              <a:t>HREF</a:t>
            </a:r>
            <a:r>
              <a:rPr lang="zh-CN" altLang="en-US" sz="1800" dirty="0">
                <a:latin typeface="+mj-lt"/>
              </a:rPr>
              <a:t>、</a:t>
            </a:r>
            <a:r>
              <a:rPr lang="en-US" altLang="zh-CN" sz="1800" dirty="0" smtClean="0">
                <a:latin typeface="+mj-lt"/>
              </a:rPr>
              <a:t>DATA</a:t>
            </a:r>
            <a:r>
              <a:rPr lang="zh-CN" altLang="en-US" sz="1800" dirty="0" smtClean="0">
                <a:latin typeface="+mj-lt"/>
              </a:rPr>
              <a:t>为传感器输出的图像流数据。在设计过程中可采用</a:t>
            </a:r>
            <a:r>
              <a:rPr lang="en-US" altLang="zh-CN" sz="1800" dirty="0" err="1" smtClean="0">
                <a:latin typeface="+mj-lt"/>
              </a:rPr>
              <a:t>Quartus</a:t>
            </a:r>
            <a:r>
              <a:rPr lang="en-US" altLang="zh-CN" sz="1800" dirty="0" smtClean="0">
                <a:latin typeface="+mj-lt"/>
              </a:rPr>
              <a:t> II</a:t>
            </a:r>
            <a:r>
              <a:rPr lang="zh-CN" altLang="en-US" sz="1800" dirty="0" smtClean="0">
                <a:latin typeface="+mj-lt"/>
              </a:rPr>
              <a:t>自带的</a:t>
            </a:r>
            <a:r>
              <a:rPr lang="zh-CN" altLang="en-US" sz="1800" dirty="0" smtClean="0">
                <a:solidFill>
                  <a:srgbClr val="FF0000"/>
                </a:solidFill>
                <a:latin typeface="+mj-lt"/>
              </a:rPr>
              <a:t>逻辑分析仪</a:t>
            </a:r>
            <a:r>
              <a:rPr lang="en-US" altLang="zh-CN" sz="1800" dirty="0" err="1" smtClean="0">
                <a:solidFill>
                  <a:srgbClr val="FF0000"/>
                </a:solidFill>
                <a:latin typeface="+mj-lt"/>
              </a:rPr>
              <a:t>SignalTap</a:t>
            </a:r>
            <a:r>
              <a:rPr lang="en-US" altLang="zh-CN" sz="1800" dirty="0" smtClean="0">
                <a:solidFill>
                  <a:srgbClr val="FF0000"/>
                </a:solidFill>
                <a:latin typeface="+mj-lt"/>
              </a:rPr>
              <a:t> II</a:t>
            </a:r>
            <a:r>
              <a:rPr lang="zh-CN" altLang="en-US" sz="1800" dirty="0" smtClean="0">
                <a:latin typeface="+mj-lt"/>
              </a:rPr>
              <a:t>进行</a:t>
            </a:r>
            <a:r>
              <a:rPr lang="en-US" altLang="zh-CN" sz="1800" dirty="0" smtClean="0">
                <a:latin typeface="+mj-lt"/>
              </a:rPr>
              <a:t>CMOS Sensor</a:t>
            </a:r>
            <a:r>
              <a:rPr lang="zh-CN" altLang="en-US" sz="1800" dirty="0" smtClean="0">
                <a:latin typeface="+mj-lt"/>
              </a:rPr>
              <a:t>时序的分析。</a:t>
            </a: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/>
              <a:t>图像</a:t>
            </a:r>
            <a:r>
              <a:rPr lang="zh-CN" altLang="en-US" dirty="0" smtClean="0"/>
              <a:t>数据采集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23</a:t>
            </a:fld>
            <a:endParaRPr lang="en-US" altLang="ko-KR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916201"/>
              </p:ext>
            </p:extLst>
          </p:nvPr>
        </p:nvGraphicFramePr>
        <p:xfrm>
          <a:off x="1403648" y="2204864"/>
          <a:ext cx="6336703" cy="2376264"/>
        </p:xfrm>
        <a:graphic>
          <a:graphicData uri="http://schemas.openxmlformats.org/drawingml/2006/table">
            <a:tbl>
              <a:tblPr/>
              <a:tblGrid>
                <a:gridCol w="576641">
                  <a:extLst>
                    <a:ext uri="{9D8B030D-6E8A-4147-A177-3AD203B41FA5}">
                      <a16:colId xmlns="" xmlns:a16="http://schemas.microsoft.com/office/drawing/2014/main" val="1162163878"/>
                    </a:ext>
                  </a:extLst>
                </a:gridCol>
                <a:gridCol w="1070906">
                  <a:extLst>
                    <a:ext uri="{9D8B030D-6E8A-4147-A177-3AD203B41FA5}">
                      <a16:colId xmlns="" xmlns:a16="http://schemas.microsoft.com/office/drawing/2014/main" val="1353985245"/>
                    </a:ext>
                  </a:extLst>
                </a:gridCol>
                <a:gridCol w="4689156">
                  <a:extLst>
                    <a:ext uri="{9D8B030D-6E8A-4147-A177-3AD203B41FA5}">
                      <a16:colId xmlns="" xmlns:a16="http://schemas.microsoft.com/office/drawing/2014/main" val="275250365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引脚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1788674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VSYNC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像素数据场同步信号输出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926351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HREF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像素数据行同步信号输出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067438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PCLK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像素时钟输出入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287597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XCLK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传感器驱动时钟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3366899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D0~D9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10Bit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输出（只用到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D2~D9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31789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53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待</a:t>
            </a:r>
            <a:r>
              <a:rPr lang="zh-CN" altLang="en-US" sz="1800" dirty="0" smtClean="0"/>
              <a:t>采集的</a:t>
            </a:r>
            <a:r>
              <a:rPr lang="en-US" altLang="zh-CN" sz="1800" dirty="0" smtClean="0"/>
              <a:t>Bayer</a:t>
            </a:r>
            <a:r>
              <a:rPr lang="zh-CN" altLang="en-US" sz="1800" dirty="0" smtClean="0"/>
              <a:t>帧如下图所示。每个像素只包含一个颜色，采集后通过与周边像素其他颜色差值的到</a:t>
            </a:r>
            <a:r>
              <a:rPr lang="en-US" altLang="zh-CN" sz="1800" dirty="0" smtClean="0"/>
              <a:t>RGB888</a:t>
            </a:r>
            <a:r>
              <a:rPr lang="zh-CN" altLang="en-US" sz="1800" dirty="0" smtClean="0"/>
              <a:t>图像。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/>
              <a:t>图像</a:t>
            </a:r>
            <a:r>
              <a:rPr lang="zh-CN" altLang="en-US" dirty="0" smtClean="0"/>
              <a:t>数据采集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24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988840"/>
            <a:ext cx="4968552" cy="442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9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0403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FF0000"/>
                </a:solidFill>
              </a:rPr>
              <a:t>传感器的详细工作逻辑可参照附件：</a:t>
            </a:r>
            <a:r>
              <a:rPr lang="en-US" altLang="zh-CN" sz="1800" dirty="0" smtClean="0">
                <a:solidFill>
                  <a:srgbClr val="FF0000"/>
                </a:solidFill>
              </a:rPr>
              <a:t>OV7725 Datasheet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需要注意的要点：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（</a:t>
            </a:r>
            <a:r>
              <a:rPr lang="en-US" altLang="zh-CN" sz="1800" dirty="0" smtClean="0">
                <a:latin typeface="+mj-lt"/>
              </a:rPr>
              <a:t>1</a:t>
            </a:r>
            <a:r>
              <a:rPr lang="zh-CN" altLang="en-US" sz="1800" dirty="0" smtClean="0">
                <a:latin typeface="+mj-lt"/>
              </a:rPr>
              <a:t>）</a:t>
            </a:r>
            <a:r>
              <a:rPr lang="en-US" altLang="zh-CN" sz="1800" dirty="0" smtClean="0">
                <a:latin typeface="+mj-lt"/>
              </a:rPr>
              <a:t>VSYNC</a:t>
            </a:r>
            <a:r>
              <a:rPr lang="zh-CN" altLang="en-US" sz="1800" dirty="0" smtClean="0">
                <a:latin typeface="+mj-lt"/>
              </a:rPr>
              <a:t>信号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+mj-lt"/>
              </a:rPr>
              <a:t>VSYNC</a:t>
            </a:r>
            <a:r>
              <a:rPr lang="zh-CN" altLang="en-US" sz="1800" dirty="0" smtClean="0">
                <a:latin typeface="+mj-lt"/>
              </a:rPr>
              <a:t>默认时为低电平有效，然而</a:t>
            </a:r>
            <a:r>
              <a:rPr lang="en-US" altLang="zh-CN" sz="1800" dirty="0" smtClean="0">
                <a:latin typeface="+mj-lt"/>
              </a:rPr>
              <a:t>VGA</a:t>
            </a:r>
            <a:r>
              <a:rPr lang="zh-CN" altLang="en-US" sz="1800" dirty="0" smtClean="0">
                <a:latin typeface="+mj-lt"/>
              </a:rPr>
              <a:t>等协议的</a:t>
            </a:r>
            <a:r>
              <a:rPr lang="en-US" altLang="zh-CN" sz="1800" dirty="0" smtClean="0">
                <a:latin typeface="+mj-lt"/>
              </a:rPr>
              <a:t>VSYNC</a:t>
            </a:r>
            <a:r>
              <a:rPr lang="zh-CN" altLang="en-US" sz="1800" dirty="0" smtClean="0">
                <a:latin typeface="+mj-lt"/>
              </a:rPr>
              <a:t>均为高电平有效，为方便后续图像输出，在寄存器配置中设置</a:t>
            </a:r>
            <a:r>
              <a:rPr lang="en-US" altLang="zh-CN" sz="1800" dirty="0" smtClean="0">
                <a:latin typeface="+mj-lt"/>
              </a:rPr>
              <a:t>0x15</a:t>
            </a:r>
            <a:r>
              <a:rPr lang="zh-CN" altLang="en-US" sz="1800" dirty="0" smtClean="0">
                <a:latin typeface="+mj-lt"/>
              </a:rPr>
              <a:t>位</a:t>
            </a:r>
            <a:r>
              <a:rPr lang="en-US" altLang="zh-CN" sz="1800" dirty="0" smtClean="0">
                <a:latin typeface="+mj-lt"/>
              </a:rPr>
              <a:t>0x02</a:t>
            </a:r>
            <a:r>
              <a:rPr lang="zh-CN" altLang="en-US" sz="1800" dirty="0" smtClean="0">
                <a:latin typeface="+mj-lt"/>
              </a:rPr>
              <a:t>，即翻转</a:t>
            </a:r>
            <a:r>
              <a:rPr lang="en-US" altLang="zh-CN" sz="1800" dirty="0" smtClean="0">
                <a:latin typeface="+mj-lt"/>
              </a:rPr>
              <a:t>VSYNC</a:t>
            </a:r>
            <a:r>
              <a:rPr lang="zh-CN" altLang="en-US" sz="1800" dirty="0" smtClean="0">
                <a:latin typeface="+mj-lt"/>
              </a:rPr>
              <a:t>，与</a:t>
            </a:r>
            <a:r>
              <a:rPr lang="en-US" altLang="zh-CN" sz="1800" dirty="0" smtClean="0">
                <a:latin typeface="+mj-lt"/>
              </a:rPr>
              <a:t>VGA</a:t>
            </a:r>
            <a:r>
              <a:rPr lang="zh-CN" altLang="en-US" sz="1800" dirty="0" smtClean="0">
                <a:latin typeface="+mj-lt"/>
              </a:rPr>
              <a:t>输出的</a:t>
            </a:r>
            <a:r>
              <a:rPr lang="en-US" altLang="zh-CN" sz="1800" dirty="0" smtClean="0">
                <a:latin typeface="+mj-lt"/>
              </a:rPr>
              <a:t>VSYNC</a:t>
            </a:r>
            <a:r>
              <a:rPr lang="zh-CN" altLang="en-US" sz="1800" dirty="0" smtClean="0">
                <a:latin typeface="+mj-lt"/>
              </a:rPr>
              <a:t>同步（你当然也可以分开做上升沿和下降沿检测）。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（</a:t>
            </a:r>
            <a:r>
              <a:rPr lang="en-US" altLang="zh-CN" sz="1800" dirty="0" smtClean="0">
                <a:latin typeface="+mj-lt"/>
              </a:rPr>
              <a:t>2</a:t>
            </a:r>
            <a:r>
              <a:rPr lang="zh-CN" altLang="en-US" sz="1800" dirty="0" smtClean="0">
                <a:latin typeface="+mj-lt"/>
              </a:rPr>
              <a:t>）图像信号深度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在行有效信号</a:t>
            </a:r>
            <a:r>
              <a:rPr lang="en-US" altLang="zh-CN" sz="1800" dirty="0" smtClean="0">
                <a:latin typeface="+mj-lt"/>
              </a:rPr>
              <a:t>HREF</a:t>
            </a:r>
            <a:r>
              <a:rPr lang="zh-CN" altLang="en-US" sz="1800" dirty="0" smtClean="0">
                <a:latin typeface="+mj-lt"/>
              </a:rPr>
              <a:t>起始时，</a:t>
            </a:r>
            <a:r>
              <a:rPr lang="en-US" altLang="zh-CN" sz="1800" dirty="0" smtClean="0">
                <a:latin typeface="+mj-lt"/>
              </a:rPr>
              <a:t>Data</a:t>
            </a:r>
            <a:r>
              <a:rPr lang="zh-CN" altLang="en-US" sz="1800" dirty="0" smtClean="0">
                <a:latin typeface="+mj-lt"/>
              </a:rPr>
              <a:t>同步从</a:t>
            </a:r>
            <a:r>
              <a:rPr lang="en-US" altLang="zh-CN" sz="1800" dirty="0" smtClean="0">
                <a:latin typeface="+mj-lt"/>
              </a:rPr>
              <a:t>8’h00</a:t>
            </a:r>
            <a:r>
              <a:rPr lang="zh-CN" altLang="en-US" sz="1800" dirty="0" smtClean="0">
                <a:latin typeface="+mj-lt"/>
              </a:rPr>
              <a:t>开始输出；在行有效信号</a:t>
            </a:r>
            <a:r>
              <a:rPr lang="en-US" altLang="zh-CN" sz="1800" dirty="0" smtClean="0">
                <a:latin typeface="+mj-lt"/>
              </a:rPr>
              <a:t>HREF</a:t>
            </a:r>
            <a:r>
              <a:rPr lang="zh-CN" altLang="en-US" sz="1800" dirty="0" smtClean="0">
                <a:latin typeface="+mj-lt"/>
              </a:rPr>
              <a:t>结束时，</a:t>
            </a:r>
            <a:r>
              <a:rPr lang="en-US" altLang="zh-CN" sz="1800" dirty="0" smtClean="0">
                <a:latin typeface="+mj-lt"/>
              </a:rPr>
              <a:t>Data</a:t>
            </a:r>
            <a:r>
              <a:rPr lang="zh-CN" altLang="en-US" sz="1800" dirty="0" smtClean="0">
                <a:latin typeface="+mj-lt"/>
              </a:rPr>
              <a:t>同步从输出变成</a:t>
            </a:r>
            <a:r>
              <a:rPr lang="en-US" altLang="zh-CN" sz="1800" dirty="0" smtClean="0">
                <a:latin typeface="+mj-lt"/>
              </a:rPr>
              <a:t>8’h00</a:t>
            </a:r>
            <a:r>
              <a:rPr lang="zh-CN" altLang="en-US" sz="1800" dirty="0" smtClean="0">
                <a:latin typeface="+mj-lt"/>
              </a:rPr>
              <a:t>。整个过程中每一个像素点会被采样两次，即在分辨率</a:t>
            </a:r>
            <a:r>
              <a:rPr lang="en-US" altLang="zh-CN" sz="1800" dirty="0" smtClean="0">
                <a:latin typeface="+mj-lt"/>
              </a:rPr>
              <a:t>640x480</a:t>
            </a:r>
            <a:r>
              <a:rPr lang="zh-CN" altLang="en-US" sz="1800" dirty="0" smtClean="0">
                <a:latin typeface="+mj-lt"/>
              </a:rPr>
              <a:t>下，每行有</a:t>
            </a:r>
            <a:r>
              <a:rPr lang="en-US" altLang="zh-CN" sz="1800" dirty="0" smtClean="0">
                <a:latin typeface="+mj-lt"/>
              </a:rPr>
              <a:t>1280</a:t>
            </a:r>
            <a:r>
              <a:rPr lang="zh-CN" altLang="en-US" sz="1800" dirty="0" smtClean="0">
                <a:latin typeface="+mj-lt"/>
              </a:rPr>
              <a:t>个数据输出。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（</a:t>
            </a:r>
            <a:r>
              <a:rPr lang="en-US" altLang="zh-CN" sz="1800" dirty="0" smtClean="0">
                <a:latin typeface="+mj-lt"/>
              </a:rPr>
              <a:t>3</a:t>
            </a:r>
            <a:r>
              <a:rPr lang="zh-CN" altLang="en-US" sz="1800" dirty="0" smtClean="0">
                <a:latin typeface="+mj-lt"/>
              </a:rPr>
              <a:t>）</a:t>
            </a:r>
            <a:r>
              <a:rPr lang="en-US" altLang="zh-CN" sz="1800" dirty="0" smtClean="0">
                <a:latin typeface="+mj-lt"/>
              </a:rPr>
              <a:t>XCLK</a:t>
            </a:r>
            <a:r>
              <a:rPr lang="zh-CN" altLang="en-US" sz="1800" dirty="0" smtClean="0">
                <a:latin typeface="+mj-lt"/>
              </a:rPr>
              <a:t>与</a:t>
            </a:r>
            <a:r>
              <a:rPr lang="en-US" altLang="zh-CN" sz="1800" dirty="0" smtClean="0">
                <a:latin typeface="+mj-lt"/>
              </a:rPr>
              <a:t>PCLK</a:t>
            </a:r>
            <a:r>
              <a:rPr lang="zh-CN" altLang="en-US" sz="1800" dirty="0" smtClean="0">
                <a:latin typeface="+mj-lt"/>
              </a:rPr>
              <a:t>的关系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+mj-lt"/>
              </a:rPr>
              <a:t>它</a:t>
            </a:r>
            <a:r>
              <a:rPr lang="zh-CN" altLang="en-US" sz="1800" dirty="0" smtClean="0">
                <a:latin typeface="+mj-lt"/>
              </a:rPr>
              <a:t>俩没有直接关系。</a:t>
            </a: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/>
              <a:t>图像</a:t>
            </a:r>
            <a:r>
              <a:rPr lang="zh-CN" altLang="en-US" dirty="0" smtClean="0"/>
              <a:t>数据采集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7005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 smtClean="0"/>
              <a:t>（</a:t>
            </a:r>
            <a:r>
              <a:rPr lang="en-US" altLang="zh-CN" sz="1800" dirty="0" smtClean="0"/>
              <a:t>4</a:t>
            </a:r>
            <a:r>
              <a:rPr lang="zh-CN" altLang="en-US" sz="1800" dirty="0" smtClean="0"/>
              <a:t>）数据捕获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由于</a:t>
            </a:r>
            <a:r>
              <a:rPr lang="en-US" altLang="zh-CN" sz="1800" dirty="0" smtClean="0">
                <a:latin typeface="+mj-lt"/>
              </a:rPr>
              <a:t>CMOS Sensor</a:t>
            </a:r>
            <a:r>
              <a:rPr lang="zh-CN" altLang="en-US" sz="1800" dirty="0" smtClean="0">
                <a:latin typeface="+mj-lt"/>
              </a:rPr>
              <a:t>的像素数据与</a:t>
            </a:r>
            <a:r>
              <a:rPr lang="en-US" altLang="zh-CN" sz="1800" dirty="0" smtClean="0">
                <a:latin typeface="+mj-lt"/>
              </a:rPr>
              <a:t>PCLK</a:t>
            </a:r>
            <a:r>
              <a:rPr lang="zh-CN" altLang="en-US" sz="1800" dirty="0" smtClean="0">
                <a:latin typeface="+mj-lt"/>
              </a:rPr>
              <a:t>同步，但</a:t>
            </a:r>
            <a:r>
              <a:rPr lang="en-US" altLang="zh-CN" sz="1800" dirty="0" smtClean="0">
                <a:latin typeface="+mj-lt"/>
              </a:rPr>
              <a:t>PCLK</a:t>
            </a:r>
            <a:r>
              <a:rPr lang="zh-CN" altLang="en-US" sz="1800" dirty="0" smtClean="0">
                <a:latin typeface="+mj-lt"/>
              </a:rPr>
              <a:t>与本地时钟均不同步，因此不能直接采用</a:t>
            </a:r>
            <a:r>
              <a:rPr lang="en-US" altLang="zh-CN" sz="1800" dirty="0" smtClean="0">
                <a:latin typeface="+mj-lt"/>
              </a:rPr>
              <a:t>XCLK</a:t>
            </a:r>
            <a:r>
              <a:rPr lang="zh-CN" altLang="en-US" sz="1800" dirty="0" smtClean="0">
                <a:latin typeface="+mj-lt"/>
              </a:rPr>
              <a:t>、</a:t>
            </a:r>
            <a:r>
              <a:rPr lang="en-US" altLang="zh-CN" sz="1800" dirty="0" smtClean="0">
                <a:latin typeface="+mj-lt"/>
              </a:rPr>
              <a:t>FPGA</a:t>
            </a:r>
            <a:r>
              <a:rPr lang="zh-CN" altLang="en-US" sz="1800" dirty="0" smtClean="0">
                <a:latin typeface="+mj-lt"/>
              </a:rPr>
              <a:t>时钟等时钟采样，在</a:t>
            </a:r>
            <a:r>
              <a:rPr lang="en-US" altLang="zh-CN" sz="1800" dirty="0" smtClean="0">
                <a:latin typeface="+mj-lt"/>
              </a:rPr>
              <a:t>OV7725 Datasheet</a:t>
            </a:r>
            <a:r>
              <a:rPr lang="zh-CN" altLang="en-US" sz="1800" dirty="0" smtClean="0">
                <a:latin typeface="+mj-lt"/>
              </a:rPr>
              <a:t>中给出了关于传感器图像流的格式，数据在</a:t>
            </a:r>
            <a:r>
              <a:rPr lang="en-US" altLang="zh-CN" sz="1800" dirty="0" smtClean="0">
                <a:latin typeface="+mj-lt"/>
              </a:rPr>
              <a:t>PCLK</a:t>
            </a:r>
            <a:r>
              <a:rPr lang="zh-CN" altLang="en-US" sz="1800" dirty="0" smtClean="0">
                <a:latin typeface="+mj-lt"/>
              </a:rPr>
              <a:t>上升沿有效，因此在设计中我们可以在</a:t>
            </a:r>
            <a:r>
              <a:rPr lang="en-US" altLang="zh-CN" sz="1800" dirty="0" smtClean="0">
                <a:latin typeface="+mj-lt"/>
              </a:rPr>
              <a:t>PCLK</a:t>
            </a:r>
            <a:r>
              <a:rPr lang="zh-CN" altLang="en-US" sz="1800" dirty="0" smtClean="0">
                <a:latin typeface="+mj-lt"/>
              </a:rPr>
              <a:t>上升沿进行行</a:t>
            </a:r>
            <a:r>
              <a:rPr lang="en-US" altLang="zh-CN" sz="1800" dirty="0" smtClean="0">
                <a:latin typeface="+mj-lt"/>
              </a:rPr>
              <a:t>/</a:t>
            </a:r>
            <a:r>
              <a:rPr lang="zh-CN" altLang="en-US" sz="1800" dirty="0" smtClean="0">
                <a:latin typeface="+mj-lt"/>
              </a:rPr>
              <a:t>场信号、像素数据的捕获。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通过</a:t>
            </a:r>
            <a:r>
              <a:rPr lang="en-US" altLang="zh-CN" sz="1800" dirty="0" smtClean="0">
                <a:latin typeface="+mj-lt"/>
              </a:rPr>
              <a:t>PCLK</a:t>
            </a:r>
            <a:r>
              <a:rPr lang="zh-CN" altLang="en-US" sz="1800" dirty="0" smtClean="0">
                <a:latin typeface="+mj-lt"/>
              </a:rPr>
              <a:t>上升沿采样，并检测</a:t>
            </a:r>
            <a:r>
              <a:rPr lang="en-US" altLang="zh-CN" sz="1800" dirty="0" smtClean="0">
                <a:latin typeface="+mj-lt"/>
              </a:rPr>
              <a:t>VSYNC</a:t>
            </a:r>
            <a:r>
              <a:rPr lang="zh-CN" altLang="en-US" sz="1800" dirty="0" smtClean="0">
                <a:latin typeface="+mj-lt"/>
              </a:rPr>
              <a:t>下降沿以确定完成</a:t>
            </a:r>
            <a:r>
              <a:rPr lang="en-US" altLang="zh-CN" sz="1800" dirty="0" smtClean="0">
                <a:latin typeface="+mj-lt"/>
              </a:rPr>
              <a:t>OV7725</a:t>
            </a:r>
            <a:r>
              <a:rPr lang="zh-CN" altLang="en-US" sz="1800" dirty="0" smtClean="0">
                <a:latin typeface="+mj-lt"/>
              </a:rPr>
              <a:t>一帧图像的输出采集。</a:t>
            </a:r>
            <a:endParaRPr lang="en-US" altLang="zh-CN" sz="1800" dirty="0" smtClean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OV7725 </a:t>
            </a:r>
            <a:r>
              <a:rPr lang="zh-CN" altLang="en-US" dirty="0" smtClean="0"/>
              <a:t>图像数据采集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4419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18864" y="980728"/>
            <a:ext cx="8229600" cy="50403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 smtClean="0"/>
              <a:t>（</a:t>
            </a:r>
            <a:r>
              <a:rPr lang="en-US" altLang="zh-CN" sz="1800" dirty="0"/>
              <a:t>1</a:t>
            </a:r>
            <a:r>
              <a:rPr lang="zh-CN" altLang="en-US" sz="1800" dirty="0" smtClean="0"/>
              <a:t>）跨时钟域数据交互</a:t>
            </a:r>
            <a:endParaRPr lang="en-US" altLang="zh-CN" sz="1800" dirty="0" smtClean="0"/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传感器（</a:t>
            </a:r>
            <a:r>
              <a:rPr lang="en-US" altLang="zh-CN" sz="1800" dirty="0" smtClean="0">
                <a:latin typeface="+mj-lt"/>
              </a:rPr>
              <a:t>24MHz</a:t>
            </a:r>
            <a:r>
              <a:rPr lang="zh-CN" altLang="en-US" sz="1800" dirty="0" smtClean="0">
                <a:latin typeface="+mj-lt"/>
              </a:rPr>
              <a:t>）、</a:t>
            </a:r>
            <a:r>
              <a:rPr lang="en-US" altLang="zh-CN" sz="1800" dirty="0" smtClean="0">
                <a:latin typeface="+mj-lt"/>
              </a:rPr>
              <a:t>FPGA</a:t>
            </a:r>
            <a:r>
              <a:rPr lang="zh-CN" altLang="en-US" sz="1800" dirty="0" smtClean="0">
                <a:latin typeface="+mj-lt"/>
              </a:rPr>
              <a:t>（</a:t>
            </a:r>
            <a:r>
              <a:rPr lang="en-US" altLang="zh-CN" sz="1800" dirty="0" smtClean="0">
                <a:latin typeface="+mj-lt"/>
              </a:rPr>
              <a:t>12MHz</a:t>
            </a:r>
            <a:r>
              <a:rPr lang="zh-CN" altLang="en-US" sz="1800" dirty="0" smtClean="0">
                <a:latin typeface="+mj-lt"/>
              </a:rPr>
              <a:t>）、</a:t>
            </a:r>
            <a:r>
              <a:rPr lang="en-US" altLang="zh-CN" sz="1800" dirty="0" smtClean="0">
                <a:latin typeface="+mj-lt"/>
              </a:rPr>
              <a:t>VGA</a:t>
            </a:r>
            <a:r>
              <a:rPr lang="zh-CN" altLang="en-US" sz="1800" dirty="0" smtClean="0">
                <a:latin typeface="+mj-lt"/>
              </a:rPr>
              <a:t>芯片（</a:t>
            </a:r>
            <a:r>
              <a:rPr lang="en-US" altLang="zh-CN" sz="1800" dirty="0" smtClean="0">
                <a:latin typeface="+mj-lt"/>
              </a:rPr>
              <a:t>25MHz</a:t>
            </a:r>
            <a:r>
              <a:rPr lang="zh-CN" altLang="en-US" sz="1800" dirty="0" smtClean="0">
                <a:latin typeface="+mj-lt"/>
              </a:rPr>
              <a:t>）均工作在不同的时钟频率，图像数据不能直接输出显示，需要使用</a:t>
            </a:r>
            <a:r>
              <a:rPr lang="en-US" altLang="zh-CN" sz="1800" dirty="0" smtClean="0">
                <a:latin typeface="+mj-lt"/>
              </a:rPr>
              <a:t>SDRAM</a:t>
            </a:r>
            <a:r>
              <a:rPr lang="zh-CN" altLang="en-US" sz="1800" dirty="0" smtClean="0">
                <a:latin typeface="+mj-lt"/>
              </a:rPr>
              <a:t>实现跨时钟域数据交互。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（</a:t>
            </a:r>
            <a:r>
              <a:rPr lang="en-US" altLang="zh-CN" sz="1800" dirty="0" smtClean="0">
                <a:latin typeface="+mj-lt"/>
              </a:rPr>
              <a:t>2</a:t>
            </a:r>
            <a:r>
              <a:rPr lang="zh-CN" altLang="en-US" sz="1800" dirty="0" smtClean="0">
                <a:latin typeface="+mj-lt"/>
              </a:rPr>
              <a:t>）</a:t>
            </a:r>
            <a:r>
              <a:rPr lang="en-US" altLang="zh-CN" sz="1800" dirty="0" smtClean="0">
                <a:latin typeface="+mj-lt"/>
              </a:rPr>
              <a:t>SDRAM</a:t>
            </a:r>
            <a:r>
              <a:rPr lang="zh-CN" altLang="en-US" sz="1800" dirty="0" smtClean="0">
                <a:latin typeface="+mj-lt"/>
              </a:rPr>
              <a:t>初始化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+mj-lt"/>
              </a:rPr>
              <a:t>SDRAM</a:t>
            </a:r>
            <a:r>
              <a:rPr lang="zh-CN" altLang="en-US" sz="1800" dirty="0" smtClean="0">
                <a:latin typeface="+mj-lt"/>
              </a:rPr>
              <a:t>上电后必须等待</a:t>
            </a:r>
            <a:r>
              <a:rPr lang="en-US" altLang="zh-CN" sz="1800" dirty="0" smtClean="0">
                <a:latin typeface="+mj-lt"/>
              </a:rPr>
              <a:t>100us</a:t>
            </a:r>
            <a:r>
              <a:rPr lang="zh-CN" altLang="en-US" sz="1800" dirty="0" smtClean="0">
                <a:latin typeface="+mj-lt"/>
              </a:rPr>
              <a:t>，不然会导致模式寄存器配置不成功，导致读写操作不正确，稳妥起见可以给</a:t>
            </a:r>
            <a:r>
              <a:rPr lang="en-US" altLang="zh-CN" sz="1800" dirty="0" smtClean="0">
                <a:latin typeface="+mj-lt"/>
              </a:rPr>
              <a:t>200us</a:t>
            </a:r>
            <a:r>
              <a:rPr lang="zh-CN" altLang="en-US" sz="1800" dirty="0" smtClean="0">
                <a:latin typeface="+mj-lt"/>
              </a:rPr>
              <a:t>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+mj-lt"/>
              </a:rPr>
              <a:t>SDRAM</a:t>
            </a:r>
            <a:r>
              <a:rPr lang="zh-CN" altLang="en-US" sz="1800" dirty="0" smtClean="0">
                <a:latin typeface="+mj-lt"/>
              </a:rPr>
              <a:t>的逻辑单元是电容结构，易掉电，需要至少每</a:t>
            </a:r>
            <a:r>
              <a:rPr lang="en-US" altLang="zh-CN" sz="1800" dirty="0" smtClean="0">
                <a:latin typeface="+mj-lt"/>
              </a:rPr>
              <a:t>64ms</a:t>
            </a:r>
            <a:r>
              <a:rPr lang="zh-CN" altLang="en-US" sz="1800" dirty="0" smtClean="0">
                <a:latin typeface="+mj-lt"/>
              </a:rPr>
              <a:t>对所有行列完成以此刷新。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+mj-lt"/>
              </a:rPr>
              <a:t>（</a:t>
            </a:r>
            <a:r>
              <a:rPr lang="en-US" altLang="zh-CN" sz="1800" dirty="0" smtClean="0">
                <a:latin typeface="+mj-lt"/>
              </a:rPr>
              <a:t>3</a:t>
            </a:r>
            <a:r>
              <a:rPr lang="zh-CN" altLang="en-US" sz="1800" dirty="0" smtClean="0">
                <a:latin typeface="+mj-lt"/>
              </a:rPr>
              <a:t>）时钟</a:t>
            </a:r>
            <a:endParaRPr lang="en-US" altLang="zh-CN" sz="1800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+mj-lt"/>
              </a:rPr>
              <a:t>SDRAM</a:t>
            </a:r>
            <a:r>
              <a:rPr lang="zh-CN" altLang="en-US" sz="1800" dirty="0" smtClean="0">
                <a:latin typeface="+mj-lt"/>
              </a:rPr>
              <a:t>本身需要一个驱动时钟、一个控制时钟，这两个时钟同频但不能同相，否则会引起数据不稳定。可通过</a:t>
            </a:r>
            <a:r>
              <a:rPr lang="en-US" altLang="zh-CN" sz="1800" dirty="0" smtClean="0">
                <a:latin typeface="+mj-lt"/>
              </a:rPr>
              <a:t>PLL</a:t>
            </a:r>
            <a:r>
              <a:rPr lang="zh-CN" altLang="en-US" sz="1800" dirty="0" smtClean="0">
                <a:latin typeface="+mj-lt"/>
              </a:rPr>
              <a:t>来输出两个同频不同相的时钟。</a:t>
            </a:r>
            <a:endParaRPr lang="en-US" altLang="zh-CN" sz="1800" dirty="0" smtClean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SDRAM</a:t>
            </a:r>
            <a:r>
              <a:rPr lang="zh-CN" altLang="en-US" dirty="0" smtClean="0"/>
              <a:t>注意事项</a:t>
            </a:r>
            <a:r>
              <a:rPr lang="zh-CN" altLang="en-US" sz="2000" dirty="0" smtClean="0"/>
              <a:t>（资料见</a:t>
            </a:r>
            <a:r>
              <a:rPr lang="en-US" altLang="zh-CN" sz="2000" dirty="0" smtClean="0"/>
              <a:t>DE2-115</a:t>
            </a:r>
            <a:r>
              <a:rPr lang="zh-CN" altLang="en-US" sz="2000" dirty="0" smtClean="0"/>
              <a:t>手册）</a:t>
            </a:r>
            <a:endParaRPr 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42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8062"/>
            <a:ext cx="6768752" cy="340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 smtClean="0"/>
              <a:t>1</a:t>
            </a:r>
            <a:r>
              <a:rPr lang="zh-CN" altLang="en-US" sz="2600" dirty="0" smtClean="0"/>
              <a:t>、时间安排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天 </a:t>
            </a:r>
            <a:r>
              <a:rPr lang="en-US" altLang="zh-CN" sz="2400" dirty="0"/>
              <a:t>6.28 - 6.30 </a:t>
            </a:r>
            <a:r>
              <a:rPr lang="zh-CN" altLang="en-US" sz="2600" dirty="0" smtClean="0"/>
              <a:t>）</a:t>
            </a:r>
            <a:endParaRPr lang="en-US" altLang="zh-CN" sz="2600" dirty="0" smtClean="0"/>
          </a:p>
          <a:p>
            <a:r>
              <a:rPr lang="en-US" altLang="zh-CN" sz="2600" dirty="0" smtClean="0"/>
              <a:t>2</a:t>
            </a:r>
            <a:r>
              <a:rPr lang="zh-CN" altLang="en-US" sz="2600" dirty="0" smtClean="0"/>
              <a:t>、验收标准：在</a:t>
            </a:r>
            <a:r>
              <a:rPr lang="en-US" altLang="zh-CN" sz="2600" dirty="0" smtClean="0"/>
              <a:t>signal type</a:t>
            </a:r>
            <a:r>
              <a:rPr lang="zh-CN" altLang="en-US" sz="2600" dirty="0" smtClean="0"/>
              <a:t>中循环观察寄存器</a:t>
            </a:r>
            <a:r>
              <a:rPr lang="zh-CN" altLang="en-US" sz="2600" dirty="0" smtClean="0"/>
              <a:t>信息</a:t>
            </a:r>
            <a:r>
              <a:rPr lang="zh-CN" altLang="en-US" sz="2600" dirty="0" smtClean="0"/>
              <a:t>（摄像头制造商信息）</a:t>
            </a:r>
            <a:endParaRPr lang="en-US" altLang="zh-CN" sz="2600" dirty="0" smtClean="0"/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28</a:t>
            </a:fld>
            <a:endParaRPr lang="en-US" altLang="ko-KR" dirty="0"/>
          </a:p>
        </p:txBody>
      </p:sp>
      <p:sp>
        <p:nvSpPr>
          <p:cNvPr id="5" name="矩形 4"/>
          <p:cNvSpPr/>
          <p:nvPr/>
        </p:nvSpPr>
        <p:spPr bwMode="auto">
          <a:xfrm>
            <a:off x="2843808" y="5373216"/>
            <a:ext cx="5760640" cy="288032"/>
          </a:xfrm>
          <a:prstGeom prst="rect">
            <a:avLst/>
          </a:prstGeom>
          <a:noFill/>
          <a:ln w="9525" cap="flat" cmpd="sng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82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2204839"/>
            <a:ext cx="7772400" cy="18002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3600" dirty="0" smtClean="0"/>
              <a:t>RAW RGB</a:t>
            </a:r>
            <a:r>
              <a:rPr lang="zh-CN" altLang="en-US" sz="3600" dirty="0" smtClean="0"/>
              <a:t>到</a:t>
            </a:r>
            <a:r>
              <a:rPr lang="en-US" altLang="zh-CN" sz="3600" dirty="0" smtClean="0"/>
              <a:t>RGB888</a:t>
            </a:r>
            <a:br>
              <a:rPr lang="en-US" altLang="zh-CN" sz="3600" dirty="0" smtClean="0"/>
            </a:br>
            <a:r>
              <a:rPr lang="zh-CN" altLang="en-US" sz="3600" dirty="0" smtClean="0"/>
              <a:t>图像格式转换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357042" y="1772816"/>
            <a:ext cx="448558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DE2-115</a:t>
            </a:r>
            <a:r>
              <a:rPr lang="zh-CN" altLang="en-US" b="1" dirty="0"/>
              <a:t>平台的</a:t>
            </a:r>
            <a:r>
              <a:rPr lang="en-US" altLang="zh-CN" b="1" dirty="0"/>
              <a:t>OV7725</a:t>
            </a:r>
            <a:r>
              <a:rPr lang="zh-CN" altLang="en-US" b="1" dirty="0"/>
              <a:t>图像采集系统设计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67219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DE2-115</a:t>
            </a:r>
            <a:r>
              <a:rPr lang="zh-CN" altLang="en-US" dirty="0"/>
              <a:t>平台的</a:t>
            </a:r>
            <a:r>
              <a:rPr lang="en-US" altLang="zh-CN" dirty="0"/>
              <a:t>OV7725</a:t>
            </a:r>
            <a:r>
              <a:rPr lang="zh-CN" altLang="en-US" dirty="0"/>
              <a:t>图像采集系统</a:t>
            </a:r>
            <a:endParaRPr 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30</a:t>
            </a:fld>
            <a:endParaRPr lang="en-US" altLang="ko-KR" dirty="0"/>
          </a:p>
        </p:txBody>
      </p:sp>
      <p:grpSp>
        <p:nvGrpSpPr>
          <p:cNvPr id="7" name="组合 6"/>
          <p:cNvGrpSpPr/>
          <p:nvPr/>
        </p:nvGrpSpPr>
        <p:grpSpPr>
          <a:xfrm>
            <a:off x="1150203" y="1507768"/>
            <a:ext cx="7203222" cy="3974343"/>
            <a:chOff x="1115616" y="1700544"/>
            <a:chExt cx="7203222" cy="3974343"/>
          </a:xfrm>
        </p:grpSpPr>
        <p:sp>
          <p:nvSpPr>
            <p:cNvPr id="69" name="Rectangle 3">
              <a:extLst>
                <a:ext uri="{FF2B5EF4-FFF2-40B4-BE49-F238E27FC236}">
                  <a16:creationId xmlns="" xmlns:a16="http://schemas.microsoft.com/office/drawing/2014/main" id="{5FBADBBF-3821-0D4E-96C0-CC362C6A2C0F}"/>
                </a:ext>
              </a:extLst>
            </p:cNvPr>
            <p:cNvSpPr/>
            <p:nvPr/>
          </p:nvSpPr>
          <p:spPr>
            <a:xfrm>
              <a:off x="1115616" y="1725664"/>
              <a:ext cx="1085410" cy="2312787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CMOS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Sensor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1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Rectangle 4">
              <a:extLst>
                <a:ext uri="{FF2B5EF4-FFF2-40B4-BE49-F238E27FC236}">
                  <a16:creationId xmlns="" xmlns:a16="http://schemas.microsoft.com/office/drawing/2014/main" id="{AA46B98F-6F7F-8D44-ADB2-5301FB622F75}"/>
                </a:ext>
              </a:extLst>
            </p:cNvPr>
            <p:cNvSpPr/>
            <p:nvPr/>
          </p:nvSpPr>
          <p:spPr>
            <a:xfrm>
              <a:off x="3371867" y="1706986"/>
              <a:ext cx="970787" cy="3967901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FPGA</a:t>
              </a:r>
            </a:p>
          </p:txBody>
        </p:sp>
        <p:sp>
          <p:nvSpPr>
            <p:cNvPr id="71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5784601" y="4176752"/>
              <a:ext cx="1279972" cy="149813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SDRAM</a:t>
              </a:r>
            </a:p>
          </p:txBody>
        </p:sp>
        <p:grpSp>
          <p:nvGrpSpPr>
            <p:cNvPr id="72" name="Group 32">
              <a:extLst>
                <a:ext uri="{FF2B5EF4-FFF2-40B4-BE49-F238E27FC236}">
                  <a16:creationId xmlns="" xmlns:a16="http://schemas.microsoft.com/office/drawing/2014/main" id="{50628756-9705-114A-8A03-90279EBD646C}"/>
                </a:ext>
              </a:extLst>
            </p:cNvPr>
            <p:cNvGrpSpPr/>
            <p:nvPr/>
          </p:nvGrpSpPr>
          <p:grpSpPr>
            <a:xfrm>
              <a:off x="2325298" y="1700544"/>
              <a:ext cx="1007637" cy="2203544"/>
              <a:chOff x="2661112" y="1401164"/>
              <a:chExt cx="1707407" cy="2150918"/>
            </a:xfrm>
          </p:grpSpPr>
          <p:cxnSp>
            <p:nvCxnSpPr>
              <p:cNvPr id="118" name="Straight Arrow Connector 7">
                <a:extLst>
                  <a:ext uri="{FF2B5EF4-FFF2-40B4-BE49-F238E27FC236}">
                    <a16:creationId xmlns="" xmlns:a16="http://schemas.microsoft.com/office/drawing/2014/main" id="{44F1126E-160D-9B4F-8521-CE0ADD043F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811777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cxnSp>
            <p:nvCxnSpPr>
              <p:cNvPr id="119" name="Straight Arrow Connector 12">
                <a:extLst>
                  <a:ext uri="{FF2B5EF4-FFF2-40B4-BE49-F238E27FC236}">
                    <a16:creationId xmlns="" xmlns:a16="http://schemas.microsoft.com/office/drawing/2014/main" id="{8DA9EC7E-420D-1B4B-9C7E-77196742C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095267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  <a:tailEnd type="arrow"/>
              </a:ln>
              <a:effectLst/>
            </p:spPr>
          </p:cxnSp>
          <p:cxnSp>
            <p:nvCxnSpPr>
              <p:cNvPr id="120" name="Straight Arrow Connector 13">
                <a:extLst>
                  <a:ext uri="{FF2B5EF4-FFF2-40B4-BE49-F238E27FC236}">
                    <a16:creationId xmlns="" xmlns:a16="http://schemas.microsoft.com/office/drawing/2014/main" id="{9DED6653-94C2-BE48-B68B-DE7B3BAB0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1711379"/>
                <a:ext cx="1590848" cy="3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headEnd type="arrow"/>
                <a:tailEnd type="arrow"/>
              </a:ln>
              <a:effectLst/>
            </p:spPr>
          </p:cxnSp>
          <p:sp>
            <p:nvSpPr>
              <p:cNvPr id="121" name="TextBox 16">
                <a:extLst>
                  <a:ext uri="{FF2B5EF4-FFF2-40B4-BE49-F238E27FC236}">
                    <a16:creationId xmlns="" xmlns:a16="http://schemas.microsoft.com/office/drawing/2014/main" id="{72B82EF0-993B-A048-B1CD-A2008650148A}"/>
                  </a:ext>
                </a:extLst>
              </p:cNvPr>
              <p:cNvSpPr txBox="1"/>
              <p:nvPr/>
            </p:nvSpPr>
            <p:spPr>
              <a:xfrm>
                <a:off x="2995137" y="1401164"/>
                <a:ext cx="118617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</a:rPr>
                  <a:t>SCCB</a:t>
                </a:r>
              </a:p>
            </p:txBody>
          </p:sp>
          <p:sp>
            <p:nvSpPr>
              <p:cNvPr id="122" name="TextBox 17">
                <a:extLst>
                  <a:ext uri="{FF2B5EF4-FFF2-40B4-BE49-F238E27FC236}">
                    <a16:creationId xmlns="" xmlns:a16="http://schemas.microsoft.com/office/drawing/2014/main" id="{805D42CE-79F0-1C43-9D9E-64F4F233BC42}"/>
                  </a:ext>
                </a:extLst>
              </p:cNvPr>
              <p:cNvSpPr txBox="1"/>
              <p:nvPr/>
            </p:nvSpPr>
            <p:spPr>
              <a:xfrm>
                <a:off x="2975092" y="1817759"/>
                <a:ext cx="95301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PCLK</a:t>
                </a:r>
              </a:p>
            </p:txBody>
          </p:sp>
          <p:cxnSp>
            <p:nvCxnSpPr>
              <p:cNvPr id="123" name="Straight Arrow Connector 20">
                <a:extLst>
                  <a:ext uri="{FF2B5EF4-FFF2-40B4-BE49-F238E27FC236}">
                    <a16:creationId xmlns="" xmlns:a16="http://schemas.microsoft.com/office/drawing/2014/main" id="{8E71A265-1CAD-E74C-80CC-3A274939A3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431585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24" name="TextBox 21">
                <a:extLst>
                  <a:ext uri="{FF2B5EF4-FFF2-40B4-BE49-F238E27FC236}">
                    <a16:creationId xmlns="" xmlns:a16="http://schemas.microsoft.com/office/drawing/2014/main" id="{C60FA707-D9AE-794C-A0D6-7D557B8FA5C8}"/>
                  </a:ext>
                </a:extLst>
              </p:cNvPr>
              <p:cNvSpPr txBox="1"/>
              <p:nvPr/>
            </p:nvSpPr>
            <p:spPr>
              <a:xfrm>
                <a:off x="2896550" y="2181303"/>
                <a:ext cx="127086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VSYNC</a:t>
                </a:r>
              </a:p>
            </p:txBody>
          </p:sp>
          <p:sp>
            <p:nvSpPr>
              <p:cNvPr id="125" name="TextBox 24">
                <a:extLst>
                  <a:ext uri="{FF2B5EF4-FFF2-40B4-BE49-F238E27FC236}">
                    <a16:creationId xmlns="" xmlns:a16="http://schemas.microsoft.com/office/drawing/2014/main" id="{B1E7B184-4E49-FB42-82F9-277BCE5E8F72}"/>
                  </a:ext>
                </a:extLst>
              </p:cNvPr>
              <p:cNvSpPr txBox="1"/>
              <p:nvPr/>
            </p:nvSpPr>
            <p:spPr>
              <a:xfrm>
                <a:off x="2990462" y="2519126"/>
                <a:ext cx="1190854" cy="315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HREF</a:t>
                </a:r>
              </a:p>
            </p:txBody>
          </p:sp>
          <p:cxnSp>
            <p:nvCxnSpPr>
              <p:cNvPr id="126" name="Straight Arrow Connector 25">
                <a:extLst>
                  <a:ext uri="{FF2B5EF4-FFF2-40B4-BE49-F238E27FC236}">
                    <a16:creationId xmlns="" xmlns:a16="http://schemas.microsoft.com/office/drawing/2014/main" id="{6E3D9BF7-58FB-EE46-B8A6-B71152CA0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3177415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27" name="TextBox 26">
                <a:extLst>
                  <a:ext uri="{FF2B5EF4-FFF2-40B4-BE49-F238E27FC236}">
                    <a16:creationId xmlns="" xmlns:a16="http://schemas.microsoft.com/office/drawing/2014/main" id="{486C0DE3-66E2-2045-A4D3-20F5B556A335}"/>
                  </a:ext>
                </a:extLst>
              </p:cNvPr>
              <p:cNvSpPr txBox="1"/>
              <p:nvPr/>
            </p:nvSpPr>
            <p:spPr>
              <a:xfrm>
                <a:off x="2789898" y="2862917"/>
                <a:ext cx="157862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DATA[7:0]</a:t>
                </a:r>
              </a:p>
            </p:txBody>
          </p:sp>
          <p:cxnSp>
            <p:nvCxnSpPr>
              <p:cNvPr id="128" name="Straight Arrow Connector 27">
                <a:extLst>
                  <a:ext uri="{FF2B5EF4-FFF2-40B4-BE49-F238E27FC236}">
                    <a16:creationId xmlns="" xmlns:a16="http://schemas.microsoft.com/office/drawing/2014/main" id="{1F212340-8D44-9F4E-80F4-256ECD1B4C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61112" y="3507060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29" name="TextBox 31">
                <a:extLst>
                  <a:ext uri="{FF2B5EF4-FFF2-40B4-BE49-F238E27FC236}">
                    <a16:creationId xmlns="" xmlns:a16="http://schemas.microsoft.com/office/drawing/2014/main" id="{342BE103-5B9E-9247-A2C3-D7ECC0A09D49}"/>
                  </a:ext>
                </a:extLst>
              </p:cNvPr>
              <p:cNvSpPr txBox="1"/>
              <p:nvPr/>
            </p:nvSpPr>
            <p:spPr>
              <a:xfrm>
                <a:off x="2931213" y="3228917"/>
                <a:ext cx="12015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PWDN</a:t>
                </a:r>
              </a:p>
            </p:txBody>
          </p:sp>
        </p:grpSp>
        <p:sp>
          <p:nvSpPr>
            <p:cNvPr id="73" name="Rectangle 36">
              <a:extLst>
                <a:ext uri="{FF2B5EF4-FFF2-40B4-BE49-F238E27FC236}">
                  <a16:creationId xmlns="" xmlns:a16="http://schemas.microsoft.com/office/drawing/2014/main" id="{58966265-4170-3542-94F6-A4EC0D869452}"/>
                </a:ext>
              </a:extLst>
            </p:cNvPr>
            <p:cNvSpPr/>
            <p:nvPr/>
          </p:nvSpPr>
          <p:spPr>
            <a:xfrm>
              <a:off x="5405775" y="1772384"/>
              <a:ext cx="1079348" cy="137184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ADV7123</a:t>
              </a:r>
            </a:p>
          </p:txBody>
        </p:sp>
        <p:grpSp>
          <p:nvGrpSpPr>
            <p:cNvPr id="74" name="Group 37">
              <a:extLst>
                <a:ext uri="{FF2B5EF4-FFF2-40B4-BE49-F238E27FC236}">
                  <a16:creationId xmlns="" xmlns:a16="http://schemas.microsoft.com/office/drawing/2014/main" id="{AC3A8CFB-335A-9E45-AEB8-27D2CD0C78B9}"/>
                </a:ext>
              </a:extLst>
            </p:cNvPr>
            <p:cNvGrpSpPr/>
            <p:nvPr/>
          </p:nvGrpSpPr>
          <p:grpSpPr>
            <a:xfrm>
              <a:off x="4440897" y="1757439"/>
              <a:ext cx="929509" cy="1164116"/>
              <a:chOff x="2661112" y="1754287"/>
              <a:chExt cx="1590848" cy="1493920"/>
            </a:xfrm>
          </p:grpSpPr>
          <p:cxnSp>
            <p:nvCxnSpPr>
              <p:cNvPr id="110" name="Straight Arrow Connector 38">
                <a:extLst>
                  <a:ext uri="{FF2B5EF4-FFF2-40B4-BE49-F238E27FC236}">
                    <a16:creationId xmlns="" xmlns:a16="http://schemas.microsoft.com/office/drawing/2014/main" id="{55C5F8D9-7B02-AD44-86E6-88B0288465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811777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cxnSp>
            <p:nvCxnSpPr>
              <p:cNvPr id="111" name="Straight Arrow Connector 39">
                <a:extLst>
                  <a:ext uri="{FF2B5EF4-FFF2-40B4-BE49-F238E27FC236}">
                    <a16:creationId xmlns="" xmlns:a16="http://schemas.microsoft.com/office/drawing/2014/main" id="{32629EF4-FC3E-3947-91BA-FC335AFB33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095267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12" name="TextBox 42">
                <a:extLst>
                  <a:ext uri="{FF2B5EF4-FFF2-40B4-BE49-F238E27FC236}">
                    <a16:creationId xmlns="" xmlns:a16="http://schemas.microsoft.com/office/drawing/2014/main" id="{6105D3AF-7A07-124B-8595-F9B14FB272DD}"/>
                  </a:ext>
                </a:extLst>
              </p:cNvPr>
              <p:cNvSpPr txBox="1"/>
              <p:nvPr/>
            </p:nvSpPr>
            <p:spPr>
              <a:xfrm>
                <a:off x="2746336" y="1754287"/>
                <a:ext cx="1131708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DATA</a:t>
                </a:r>
              </a:p>
            </p:txBody>
          </p:sp>
          <p:cxnSp>
            <p:nvCxnSpPr>
              <p:cNvPr id="113" name="Straight Arrow Connector 43">
                <a:extLst>
                  <a:ext uri="{FF2B5EF4-FFF2-40B4-BE49-F238E27FC236}">
                    <a16:creationId xmlns="" xmlns:a16="http://schemas.microsoft.com/office/drawing/2014/main" id="{803A7945-F2B8-B843-8A26-C670741E9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431585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14" name="TextBox 44">
                <a:extLst>
                  <a:ext uri="{FF2B5EF4-FFF2-40B4-BE49-F238E27FC236}">
                    <a16:creationId xmlns="" xmlns:a16="http://schemas.microsoft.com/office/drawing/2014/main" id="{43F685AB-EAA8-FC41-B8BE-0A3BF0594F80}"/>
                  </a:ext>
                </a:extLst>
              </p:cNvPr>
              <p:cNvSpPr txBox="1"/>
              <p:nvPr/>
            </p:nvSpPr>
            <p:spPr>
              <a:xfrm>
                <a:off x="2746336" y="2110510"/>
                <a:ext cx="1375979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BLANK</a:t>
                </a:r>
              </a:p>
            </p:txBody>
          </p:sp>
          <p:sp>
            <p:nvSpPr>
              <p:cNvPr id="115" name="TextBox 45">
                <a:extLst>
                  <a:ext uri="{FF2B5EF4-FFF2-40B4-BE49-F238E27FC236}">
                    <a16:creationId xmlns="" xmlns:a16="http://schemas.microsoft.com/office/drawing/2014/main" id="{1DF664AB-6989-0541-B03C-DF0DFA13DD4C}"/>
                  </a:ext>
                </a:extLst>
              </p:cNvPr>
              <p:cNvSpPr txBox="1"/>
              <p:nvPr/>
            </p:nvSpPr>
            <p:spPr>
              <a:xfrm>
                <a:off x="2733830" y="2479727"/>
                <a:ext cx="1166100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SYNC</a:t>
                </a:r>
              </a:p>
            </p:txBody>
          </p:sp>
          <p:cxnSp>
            <p:nvCxnSpPr>
              <p:cNvPr id="116" name="Straight Arrow Connector 46">
                <a:extLst>
                  <a:ext uri="{FF2B5EF4-FFF2-40B4-BE49-F238E27FC236}">
                    <a16:creationId xmlns="" xmlns:a16="http://schemas.microsoft.com/office/drawing/2014/main" id="{7D4E590D-CBDF-2B41-B0C7-F09BACFC1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3177415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17" name="TextBox 47">
                <a:extLst>
                  <a:ext uri="{FF2B5EF4-FFF2-40B4-BE49-F238E27FC236}">
                    <a16:creationId xmlns="" xmlns:a16="http://schemas.microsoft.com/office/drawing/2014/main" id="{7CA4F52D-4B3C-7F48-90BF-01A87C9B4180}"/>
                  </a:ext>
                </a:extLst>
              </p:cNvPr>
              <p:cNvSpPr txBox="1"/>
              <p:nvPr/>
            </p:nvSpPr>
            <p:spPr>
              <a:xfrm>
                <a:off x="2732972" y="2833487"/>
                <a:ext cx="1381948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CLK</a:t>
                </a:r>
              </a:p>
            </p:txBody>
          </p:sp>
        </p:grpSp>
        <p:grpSp>
          <p:nvGrpSpPr>
            <p:cNvPr id="75" name="Group 50">
              <a:extLst>
                <a:ext uri="{FF2B5EF4-FFF2-40B4-BE49-F238E27FC236}">
                  <a16:creationId xmlns="" xmlns:a16="http://schemas.microsoft.com/office/drawing/2014/main" id="{B4CAAA64-E12A-F647-ABD7-F6684CE65E3E}"/>
                </a:ext>
              </a:extLst>
            </p:cNvPr>
            <p:cNvGrpSpPr/>
            <p:nvPr/>
          </p:nvGrpSpPr>
          <p:grpSpPr>
            <a:xfrm>
              <a:off x="6596243" y="1872337"/>
              <a:ext cx="623580" cy="910099"/>
              <a:chOff x="2658288" y="1741178"/>
              <a:chExt cx="1593672" cy="1167937"/>
            </a:xfrm>
          </p:grpSpPr>
          <p:cxnSp>
            <p:nvCxnSpPr>
              <p:cNvPr id="104" name="Straight Arrow Connector 51">
                <a:extLst>
                  <a:ext uri="{FF2B5EF4-FFF2-40B4-BE49-F238E27FC236}">
                    <a16:creationId xmlns="" xmlns:a16="http://schemas.microsoft.com/office/drawing/2014/main" id="{805D619A-38FF-8542-8CA5-F140A9440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811777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arrow"/>
              </a:ln>
              <a:effectLst/>
            </p:spPr>
          </p:cxnSp>
          <p:cxnSp>
            <p:nvCxnSpPr>
              <p:cNvPr id="105" name="Straight Arrow Connector 52">
                <a:extLst>
                  <a:ext uri="{FF2B5EF4-FFF2-40B4-BE49-F238E27FC236}">
                    <a16:creationId xmlns="" xmlns:a16="http://schemas.microsoft.com/office/drawing/2014/main" id="{5CB9E624-1A23-9346-9340-DCFD0275E3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095267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06" name="TextBox 53">
                <a:extLst>
                  <a:ext uri="{FF2B5EF4-FFF2-40B4-BE49-F238E27FC236}">
                    <a16:creationId xmlns="" xmlns:a16="http://schemas.microsoft.com/office/drawing/2014/main" id="{8B974827-0A43-304F-A109-8F196238EA09}"/>
                  </a:ext>
                </a:extLst>
              </p:cNvPr>
              <p:cNvSpPr txBox="1"/>
              <p:nvPr/>
            </p:nvSpPr>
            <p:spPr>
              <a:xfrm>
                <a:off x="2695166" y="1741178"/>
                <a:ext cx="1182895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IOR</a:t>
                </a:r>
              </a:p>
            </p:txBody>
          </p:sp>
          <p:cxnSp>
            <p:nvCxnSpPr>
              <p:cNvPr id="107" name="Straight Arrow Connector 54">
                <a:extLst>
                  <a:ext uri="{FF2B5EF4-FFF2-40B4-BE49-F238E27FC236}">
                    <a16:creationId xmlns="" xmlns:a16="http://schemas.microsoft.com/office/drawing/2014/main" id="{DE937305-9B2E-F04A-9459-8B1606A7DA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431585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08" name="TextBox 55">
                <a:extLst>
                  <a:ext uri="{FF2B5EF4-FFF2-40B4-BE49-F238E27FC236}">
                    <a16:creationId xmlns="" xmlns:a16="http://schemas.microsoft.com/office/drawing/2014/main" id="{79B03266-C6EF-5B47-83DB-BE0F489A0AC6}"/>
                  </a:ext>
                </a:extLst>
              </p:cNvPr>
              <p:cNvSpPr txBox="1"/>
              <p:nvPr/>
            </p:nvSpPr>
            <p:spPr>
              <a:xfrm>
                <a:off x="2658288" y="2110510"/>
                <a:ext cx="1573124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IOG</a:t>
                </a:r>
              </a:p>
            </p:txBody>
          </p:sp>
          <p:sp>
            <p:nvSpPr>
              <p:cNvPr id="109" name="TextBox 56">
                <a:extLst>
                  <a:ext uri="{FF2B5EF4-FFF2-40B4-BE49-F238E27FC236}">
                    <a16:creationId xmlns="" xmlns:a16="http://schemas.microsoft.com/office/drawing/2014/main" id="{AEBE5A4C-79D0-824B-BE1C-336F3557D17C}"/>
                  </a:ext>
                </a:extLst>
              </p:cNvPr>
              <p:cNvSpPr txBox="1"/>
              <p:nvPr/>
            </p:nvSpPr>
            <p:spPr>
              <a:xfrm>
                <a:off x="2695166" y="2494395"/>
                <a:ext cx="1178219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IOB</a:t>
                </a:r>
              </a:p>
            </p:txBody>
          </p:sp>
        </p:grpSp>
        <p:sp>
          <p:nvSpPr>
            <p:cNvPr id="76" name="Rectangle 60">
              <a:extLst>
                <a:ext uri="{FF2B5EF4-FFF2-40B4-BE49-F238E27FC236}">
                  <a16:creationId xmlns="" xmlns:a16="http://schemas.microsoft.com/office/drawing/2014/main" id="{0CA111F7-C969-3946-BF44-BE4E23C6902F}"/>
                </a:ext>
              </a:extLst>
            </p:cNvPr>
            <p:cNvSpPr/>
            <p:nvPr/>
          </p:nvSpPr>
          <p:spPr>
            <a:xfrm>
              <a:off x="7239490" y="1782567"/>
              <a:ext cx="1079348" cy="2097407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VGA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Interface</a:t>
              </a:r>
            </a:p>
          </p:txBody>
        </p:sp>
        <p:grpSp>
          <p:nvGrpSpPr>
            <p:cNvPr id="77" name="Group 61">
              <a:extLst>
                <a:ext uri="{FF2B5EF4-FFF2-40B4-BE49-F238E27FC236}">
                  <a16:creationId xmlns="" xmlns:a16="http://schemas.microsoft.com/office/drawing/2014/main" id="{F320B524-AD1B-C64D-86B4-583D07B4B5FF}"/>
                </a:ext>
              </a:extLst>
            </p:cNvPr>
            <p:cNvGrpSpPr/>
            <p:nvPr/>
          </p:nvGrpSpPr>
          <p:grpSpPr>
            <a:xfrm>
              <a:off x="4420427" y="3141183"/>
              <a:ext cx="2791355" cy="610962"/>
              <a:chOff x="2661112" y="1623241"/>
              <a:chExt cx="1590848" cy="784052"/>
            </a:xfrm>
          </p:grpSpPr>
          <p:cxnSp>
            <p:nvCxnSpPr>
              <p:cNvPr id="100" name="Straight Arrow Connector 63">
                <a:extLst>
                  <a:ext uri="{FF2B5EF4-FFF2-40B4-BE49-F238E27FC236}">
                    <a16:creationId xmlns="" xmlns:a16="http://schemas.microsoft.com/office/drawing/2014/main" id="{2B354AA2-3405-274F-BAF7-5C8175BE5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1977923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01" name="TextBox 64">
                <a:extLst>
                  <a:ext uri="{FF2B5EF4-FFF2-40B4-BE49-F238E27FC236}">
                    <a16:creationId xmlns="" xmlns:a16="http://schemas.microsoft.com/office/drawing/2014/main" id="{21A743A6-7096-6F4A-BE11-371EA54B2EEA}"/>
                  </a:ext>
                </a:extLst>
              </p:cNvPr>
              <p:cNvSpPr txBox="1"/>
              <p:nvPr/>
            </p:nvSpPr>
            <p:spPr>
              <a:xfrm>
                <a:off x="3306209" y="1623241"/>
                <a:ext cx="902970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HS</a:t>
                </a:r>
              </a:p>
            </p:txBody>
          </p:sp>
          <p:cxnSp>
            <p:nvCxnSpPr>
              <p:cNvPr id="102" name="Straight Arrow Connector 65">
                <a:extLst>
                  <a:ext uri="{FF2B5EF4-FFF2-40B4-BE49-F238E27FC236}">
                    <a16:creationId xmlns="" xmlns:a16="http://schemas.microsoft.com/office/drawing/2014/main" id="{F289BAFD-694F-1944-8590-517E2C2BAE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112" y="2314240"/>
                <a:ext cx="159084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103" name="TextBox 66">
                <a:extLst>
                  <a:ext uri="{FF2B5EF4-FFF2-40B4-BE49-F238E27FC236}">
                    <a16:creationId xmlns="" xmlns:a16="http://schemas.microsoft.com/office/drawing/2014/main" id="{4745FAF7-DF61-524D-8EDB-6B8FDE68CF40}"/>
                  </a:ext>
                </a:extLst>
              </p:cNvPr>
              <p:cNvSpPr txBox="1"/>
              <p:nvPr/>
            </p:nvSpPr>
            <p:spPr>
              <a:xfrm>
                <a:off x="3301533" y="1992573"/>
                <a:ext cx="902970" cy="414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VS</a:t>
                </a: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4459648" y="4019655"/>
              <a:ext cx="1324953" cy="1644038"/>
              <a:chOff x="4656089" y="2651378"/>
              <a:chExt cx="951131" cy="1644038"/>
            </a:xfrm>
          </p:grpSpPr>
          <p:cxnSp>
            <p:nvCxnSpPr>
              <p:cNvPr id="88" name="Straight Arrow Connector 69">
                <a:extLst>
                  <a:ext uri="{FF2B5EF4-FFF2-40B4-BE49-F238E27FC236}">
                    <a16:creationId xmlns="" xmlns:a16="http://schemas.microsoft.com/office/drawing/2014/main" id="{35FE5CE6-EC31-254D-A5DB-80D979226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6089" y="3706556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cxnSp>
            <p:nvCxnSpPr>
              <p:cNvPr id="89" name="Straight Arrow Connector 70">
                <a:extLst>
                  <a:ext uri="{FF2B5EF4-FFF2-40B4-BE49-F238E27FC236}">
                    <a16:creationId xmlns="" xmlns:a16="http://schemas.microsoft.com/office/drawing/2014/main" id="{2D572940-8525-3B4B-862E-E610DDA1AE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6089" y="3148225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headEnd type="arrow"/>
                <a:tailEnd type="arrow"/>
              </a:ln>
              <a:effectLst/>
            </p:spPr>
          </p:cxnSp>
          <p:sp>
            <p:nvSpPr>
              <p:cNvPr id="90" name="TextBox 71">
                <a:extLst>
                  <a:ext uri="{FF2B5EF4-FFF2-40B4-BE49-F238E27FC236}">
                    <a16:creationId xmlns="" xmlns:a16="http://schemas.microsoft.com/office/drawing/2014/main" id="{0191C930-9718-2241-ADC9-83317B439EA2}"/>
                  </a:ext>
                </a:extLst>
              </p:cNvPr>
              <p:cNvSpPr txBox="1"/>
              <p:nvPr/>
            </p:nvSpPr>
            <p:spPr>
              <a:xfrm>
                <a:off x="4832263" y="2895166"/>
                <a:ext cx="6775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DATA</a:t>
                </a:r>
              </a:p>
            </p:txBody>
          </p:sp>
          <p:cxnSp>
            <p:nvCxnSpPr>
              <p:cNvPr id="91" name="Straight Arrow Connector 72">
                <a:extLst>
                  <a:ext uri="{FF2B5EF4-FFF2-40B4-BE49-F238E27FC236}">
                    <a16:creationId xmlns="" xmlns:a16="http://schemas.microsoft.com/office/drawing/2014/main" id="{0E8DD65D-E58B-6240-80A2-A97311A84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6089" y="3410296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92" name="TextBox 73">
                <a:extLst>
                  <a:ext uri="{FF2B5EF4-FFF2-40B4-BE49-F238E27FC236}">
                    <a16:creationId xmlns="" xmlns:a16="http://schemas.microsoft.com/office/drawing/2014/main" id="{19C4FF0E-2E0F-CC44-AE1E-799A74CBC97D}"/>
                  </a:ext>
                </a:extLst>
              </p:cNvPr>
              <p:cNvSpPr txBox="1"/>
              <p:nvPr/>
            </p:nvSpPr>
            <p:spPr>
              <a:xfrm>
                <a:off x="4829639" y="3160103"/>
                <a:ext cx="68020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ADDR</a:t>
                </a:r>
              </a:p>
            </p:txBody>
          </p:sp>
          <p:sp>
            <p:nvSpPr>
              <p:cNvPr id="93" name="TextBox 74">
                <a:extLst>
                  <a:ext uri="{FF2B5EF4-FFF2-40B4-BE49-F238E27FC236}">
                    <a16:creationId xmlns="" xmlns:a16="http://schemas.microsoft.com/office/drawing/2014/main" id="{C76E0A7C-79F9-2C44-8639-C1626C8E60A6}"/>
                  </a:ext>
                </a:extLst>
              </p:cNvPr>
              <p:cNvSpPr txBox="1"/>
              <p:nvPr/>
            </p:nvSpPr>
            <p:spPr>
              <a:xfrm>
                <a:off x="4829640" y="3459240"/>
                <a:ext cx="76684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RD</a:t>
                </a:r>
              </a:p>
            </p:txBody>
          </p:sp>
          <p:cxnSp>
            <p:nvCxnSpPr>
              <p:cNvPr id="94" name="Straight Arrow Connector 75">
                <a:extLst>
                  <a:ext uri="{FF2B5EF4-FFF2-40B4-BE49-F238E27FC236}">
                    <a16:creationId xmlns="" xmlns:a16="http://schemas.microsoft.com/office/drawing/2014/main" id="{8D9D77A3-F5DC-0949-9E7A-121BFB9BDA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6820" y="3961988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95" name="TextBox 76">
                <a:extLst>
                  <a:ext uri="{FF2B5EF4-FFF2-40B4-BE49-F238E27FC236}">
                    <a16:creationId xmlns="" xmlns:a16="http://schemas.microsoft.com/office/drawing/2014/main" id="{704FDF38-B07B-DA4C-8AC4-95BDD27F78CE}"/>
                  </a:ext>
                </a:extLst>
              </p:cNvPr>
              <p:cNvSpPr txBox="1"/>
              <p:nvPr/>
            </p:nvSpPr>
            <p:spPr>
              <a:xfrm>
                <a:off x="4840371" y="3714672"/>
                <a:ext cx="76684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CE</a:t>
                </a:r>
              </a:p>
            </p:txBody>
          </p:sp>
          <p:cxnSp>
            <p:nvCxnSpPr>
              <p:cNvPr id="96" name="Straight Arrow Connector 77">
                <a:extLst>
                  <a:ext uri="{FF2B5EF4-FFF2-40B4-BE49-F238E27FC236}">
                    <a16:creationId xmlns="" xmlns:a16="http://schemas.microsoft.com/office/drawing/2014/main" id="{2926AAA9-E8A7-CF42-BA56-E387D1676F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6821" y="4219567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97" name="TextBox 78">
                <a:extLst>
                  <a:ext uri="{FF2B5EF4-FFF2-40B4-BE49-F238E27FC236}">
                    <a16:creationId xmlns="" xmlns:a16="http://schemas.microsoft.com/office/drawing/2014/main" id="{EEAB998D-B12F-D442-9FB6-A17E790F22ED}"/>
                  </a:ext>
                </a:extLst>
              </p:cNvPr>
              <p:cNvSpPr txBox="1"/>
              <p:nvPr/>
            </p:nvSpPr>
            <p:spPr>
              <a:xfrm>
                <a:off x="4840372" y="3972251"/>
                <a:ext cx="76684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WE</a:t>
                </a:r>
              </a:p>
            </p:txBody>
          </p:sp>
          <p:cxnSp>
            <p:nvCxnSpPr>
              <p:cNvPr id="98" name="Straight Arrow Connector 67">
                <a:extLst>
                  <a:ext uri="{FF2B5EF4-FFF2-40B4-BE49-F238E27FC236}">
                    <a16:creationId xmlns="" xmlns:a16="http://schemas.microsoft.com/office/drawing/2014/main" id="{4FB6653D-2321-9448-BD4A-F772F5C6DC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5524" y="2901571"/>
                <a:ext cx="89262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>
                    <a:lumMod val="75000"/>
                  </a:srgbClr>
                </a:solidFill>
                <a:prstDash val="solid"/>
                <a:miter lim="800000"/>
                <a:tailEnd type="arrow"/>
              </a:ln>
              <a:effectLst/>
            </p:spPr>
          </p:cxnSp>
          <p:sp>
            <p:nvSpPr>
              <p:cNvPr id="99" name="TextBox 68">
                <a:extLst>
                  <a:ext uri="{FF2B5EF4-FFF2-40B4-BE49-F238E27FC236}">
                    <a16:creationId xmlns="" xmlns:a16="http://schemas.microsoft.com/office/drawing/2014/main" id="{9A385056-9078-C941-9F31-EF8BCE69FF49}"/>
                  </a:ext>
                </a:extLst>
              </p:cNvPr>
              <p:cNvSpPr txBox="1"/>
              <p:nvPr/>
            </p:nvSpPr>
            <p:spPr>
              <a:xfrm>
                <a:off x="4849074" y="2651378"/>
                <a:ext cx="68020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rPr>
                  <a:t>CLK</a:t>
                </a:r>
              </a:p>
            </p:txBody>
          </p:sp>
        </p:grpSp>
        <p:grpSp>
          <p:nvGrpSpPr>
            <p:cNvPr id="79" name="Group 8">
              <a:extLst>
                <a:ext uri="{FF2B5EF4-FFF2-40B4-BE49-F238E27FC236}">
                  <a16:creationId xmlns="" xmlns:a16="http://schemas.microsoft.com/office/drawing/2014/main" id="{5579D36F-5012-A34F-8EF5-1BCDF5F3154F}"/>
                </a:ext>
              </a:extLst>
            </p:cNvPr>
            <p:cNvGrpSpPr/>
            <p:nvPr/>
          </p:nvGrpSpPr>
          <p:grpSpPr>
            <a:xfrm>
              <a:off x="1322595" y="4615567"/>
              <a:ext cx="1620686" cy="864521"/>
              <a:chOff x="8690251" y="4707261"/>
              <a:chExt cx="1620686" cy="864521"/>
            </a:xfrm>
          </p:grpSpPr>
          <p:grpSp>
            <p:nvGrpSpPr>
              <p:cNvPr id="80" name="Group 2">
                <a:extLst>
                  <a:ext uri="{FF2B5EF4-FFF2-40B4-BE49-F238E27FC236}">
                    <a16:creationId xmlns="" xmlns:a16="http://schemas.microsoft.com/office/drawing/2014/main" id="{C58E8B54-52C6-2542-A1AA-4A759E7398BB}"/>
                  </a:ext>
                </a:extLst>
              </p:cNvPr>
              <p:cNvGrpSpPr/>
              <p:nvPr/>
            </p:nvGrpSpPr>
            <p:grpSpPr>
              <a:xfrm>
                <a:off x="8690251" y="4863045"/>
                <a:ext cx="572925" cy="513575"/>
                <a:chOff x="9423953" y="4783145"/>
                <a:chExt cx="892628" cy="513575"/>
              </a:xfrm>
            </p:grpSpPr>
            <p:cxnSp>
              <p:nvCxnSpPr>
                <p:cNvPr id="85" name="Straight Arrow Connector 95">
                  <a:extLst>
                    <a:ext uri="{FF2B5EF4-FFF2-40B4-BE49-F238E27FC236}">
                      <a16:creationId xmlns="" xmlns:a16="http://schemas.microsoft.com/office/drawing/2014/main" id="{919EF8DF-BD9D-4F47-926F-B3951903EF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23953" y="4783145"/>
                  <a:ext cx="892628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5B9BD5">
                      <a:lumMod val="75000"/>
                    </a:srgbClr>
                  </a:solidFill>
                  <a:prstDash val="solid"/>
                  <a:miter lim="800000"/>
                  <a:tailEnd type="arrow"/>
                </a:ln>
                <a:effectLst/>
              </p:spPr>
            </p:cxnSp>
            <p:cxnSp>
              <p:nvCxnSpPr>
                <p:cNvPr id="86" name="Straight Arrow Connector 96">
                  <a:extLst>
                    <a:ext uri="{FF2B5EF4-FFF2-40B4-BE49-F238E27FC236}">
                      <a16:creationId xmlns="" xmlns:a16="http://schemas.microsoft.com/office/drawing/2014/main" id="{97EED286-8E33-494D-917A-F9A40B2C82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23953" y="5029612"/>
                  <a:ext cx="892628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  <a:tailEnd type="arrow"/>
                </a:ln>
                <a:effectLst/>
              </p:spPr>
            </p:cxnSp>
            <p:cxnSp>
              <p:nvCxnSpPr>
                <p:cNvPr id="87" name="Straight Arrow Connector 97">
                  <a:extLst>
                    <a:ext uri="{FF2B5EF4-FFF2-40B4-BE49-F238E27FC236}">
                      <a16:creationId xmlns="" xmlns:a16="http://schemas.microsoft.com/office/drawing/2014/main" id="{E20B46DA-E048-794F-9A49-1C0023EAB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23953" y="5296720"/>
                  <a:ext cx="892628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arrow"/>
                </a:ln>
                <a:effectLst/>
              </p:spPr>
            </p:cxnSp>
          </p:grpSp>
          <p:grpSp>
            <p:nvGrpSpPr>
              <p:cNvPr id="81" name="Group 6">
                <a:extLst>
                  <a:ext uri="{FF2B5EF4-FFF2-40B4-BE49-F238E27FC236}">
                    <a16:creationId xmlns="" xmlns:a16="http://schemas.microsoft.com/office/drawing/2014/main" id="{F8D3E23E-E1C2-4749-AC34-EE77C3F1EBE5}"/>
                  </a:ext>
                </a:extLst>
              </p:cNvPr>
              <p:cNvGrpSpPr/>
              <p:nvPr/>
            </p:nvGrpSpPr>
            <p:grpSpPr>
              <a:xfrm>
                <a:off x="9314569" y="4707261"/>
                <a:ext cx="996368" cy="864521"/>
                <a:chOff x="8494473" y="4593457"/>
                <a:chExt cx="996368" cy="864521"/>
              </a:xfrm>
            </p:grpSpPr>
            <p:sp>
              <p:nvSpPr>
                <p:cNvPr id="82" name="TextBox 98">
                  <a:extLst>
                    <a:ext uri="{FF2B5EF4-FFF2-40B4-BE49-F238E27FC236}">
                      <a16:creationId xmlns="" xmlns:a16="http://schemas.microsoft.com/office/drawing/2014/main" id="{53160A88-F586-654D-8863-003D460587D6}"/>
                    </a:ext>
                  </a:extLst>
                </p:cNvPr>
                <p:cNvSpPr txBox="1"/>
                <p:nvPr/>
              </p:nvSpPr>
              <p:spPr>
                <a:xfrm>
                  <a:off x="8501753" y="4593457"/>
                  <a:ext cx="989088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5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</a:rPr>
                    <a:t>时钟信号</a:t>
                  </a:r>
                  <a:endPara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83" name="TextBox 99">
                  <a:extLst>
                    <a:ext uri="{FF2B5EF4-FFF2-40B4-BE49-F238E27FC236}">
                      <a16:creationId xmlns="" xmlns:a16="http://schemas.microsoft.com/office/drawing/2014/main" id="{79B07BBD-C409-C64A-9059-C2ACE78FCD67}"/>
                    </a:ext>
                  </a:extLst>
                </p:cNvPr>
                <p:cNvSpPr txBox="1"/>
                <p:nvPr/>
              </p:nvSpPr>
              <p:spPr>
                <a:xfrm>
                  <a:off x="8494473" y="4875925"/>
                  <a:ext cx="989088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5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</a:rPr>
                    <a:t>数据信号</a:t>
                  </a:r>
                  <a:endPara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84" name="TextBox 100">
                  <a:extLst>
                    <a:ext uri="{FF2B5EF4-FFF2-40B4-BE49-F238E27FC236}">
                      <a16:creationId xmlns="" xmlns:a16="http://schemas.microsoft.com/office/drawing/2014/main" id="{2ABE97BB-BD94-A849-B0C0-9410660449C5}"/>
                    </a:ext>
                  </a:extLst>
                </p:cNvPr>
                <p:cNvSpPr txBox="1"/>
                <p:nvPr/>
              </p:nvSpPr>
              <p:spPr>
                <a:xfrm>
                  <a:off x="8494473" y="5134813"/>
                  <a:ext cx="989088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5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</a:rPr>
                    <a:t>控制信号</a:t>
                  </a:r>
                  <a:endPara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</p:grpSp>
        </p:grpSp>
        <p:sp>
          <p:nvSpPr>
            <p:cNvPr id="66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4000257" y="4269849"/>
              <a:ext cx="343019" cy="126160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FIFO</a:t>
              </a:r>
            </a:p>
          </p:txBody>
        </p:sp>
        <p:cxnSp>
          <p:nvCxnSpPr>
            <p:cNvPr id="67" name="Straight Arrow Connector 46">
              <a:extLst>
                <a:ext uri="{FF2B5EF4-FFF2-40B4-BE49-F238E27FC236}">
                  <a16:creationId xmlns="" xmlns:a16="http://schemas.microsoft.com/office/drawing/2014/main" id="{7D4E590D-CBDF-2B41-B0C7-F09BACFC1DC8}"/>
                </a:ext>
              </a:extLst>
            </p:cNvPr>
            <p:cNvCxnSpPr>
              <a:cxnSpLocks/>
            </p:cNvCxnSpPr>
            <p:nvPr/>
          </p:nvCxnSpPr>
          <p:spPr>
            <a:xfrm>
              <a:off x="6520492" y="3018653"/>
              <a:ext cx="68455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>
                  <a:lumMod val="75000"/>
                </a:srgbClr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130" name="TextBox 47">
              <a:extLst>
                <a:ext uri="{FF2B5EF4-FFF2-40B4-BE49-F238E27FC236}">
                  <a16:creationId xmlns="" xmlns:a16="http://schemas.microsoft.com/office/drawing/2014/main" id="{7CA4F52D-4B3C-7F48-90BF-01A87C9B4180}"/>
                </a:ext>
              </a:extLst>
            </p:cNvPr>
            <p:cNvSpPr txBox="1"/>
            <p:nvPr/>
          </p:nvSpPr>
          <p:spPr>
            <a:xfrm>
              <a:off x="6604573" y="2738278"/>
              <a:ext cx="63985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</a:rPr>
                <a:t>CLK</a:t>
              </a:r>
            </a:p>
          </p:txBody>
        </p:sp>
        <p:sp>
          <p:nvSpPr>
            <p:cNvPr id="133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3378942" y="1871785"/>
              <a:ext cx="417981" cy="180785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格式转换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4" name="标题 2"/>
          <p:cNvSpPr txBox="1">
            <a:spLocks/>
          </p:cNvSpPr>
          <p:nvPr/>
        </p:nvSpPr>
        <p:spPr bwMode="auto">
          <a:xfrm>
            <a:off x="519112" y="5657147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400" kern="0" dirty="0">
                <a:effectLst/>
              </a:rPr>
              <a:t>硬件结构图</a:t>
            </a:r>
            <a:endParaRPr lang="en-US" sz="1600" kern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1292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14400" y="5608216"/>
            <a:ext cx="8229600" cy="100731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+mj-lt"/>
              </a:rPr>
              <a:t>项目</a:t>
            </a:r>
            <a:r>
              <a:rPr lang="zh-CN" altLang="en-US" sz="1800" dirty="0"/>
              <a:t>已适配</a:t>
            </a:r>
            <a:r>
              <a:rPr lang="en-US" altLang="zh-CN" sz="1800" dirty="0"/>
              <a:t>DE2-115</a:t>
            </a:r>
            <a:r>
              <a:rPr lang="zh-CN" altLang="en-US" sz="1800" dirty="0"/>
              <a:t>平台，</a:t>
            </a:r>
            <a:r>
              <a:rPr lang="en-US" altLang="zh-CN" sz="1800" dirty="0"/>
              <a:t>GPIO</a:t>
            </a:r>
            <a:r>
              <a:rPr lang="zh-CN" altLang="en-US" sz="1800" dirty="0"/>
              <a:t>与</a:t>
            </a:r>
            <a:r>
              <a:rPr lang="en-US" altLang="zh-CN" sz="1800" dirty="0"/>
              <a:t>Sensor</a:t>
            </a:r>
            <a:r>
              <a:rPr lang="zh-CN" altLang="en-US" sz="1800" dirty="0"/>
              <a:t>链接引脚请查看</a:t>
            </a:r>
            <a:r>
              <a:rPr lang="en-US" altLang="zh-CN" sz="1800" dirty="0"/>
              <a:t>Assignment Editor</a:t>
            </a:r>
            <a:r>
              <a:rPr lang="zh-CN" altLang="en-US" sz="1800" dirty="0"/>
              <a:t>。</a:t>
            </a:r>
            <a:r>
              <a:rPr lang="zh-CN" altLang="en-US" sz="1800" dirty="0">
                <a:solidFill>
                  <a:srgbClr val="FF0000"/>
                </a:solidFill>
              </a:rPr>
              <a:t>图像格式转换模块需要同学完成设计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提供的代码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31</a:t>
            </a:fld>
            <a:endParaRPr lang="en-US" altLang="ko-KR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57200" y="1196752"/>
          <a:ext cx="8322689" cy="443688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70384">
                  <a:extLst>
                    <a:ext uri="{9D8B030D-6E8A-4147-A177-3AD203B41FA5}">
                      <a16:colId xmlns="" xmlns:a16="http://schemas.microsoft.com/office/drawing/2014/main" val="1162163878"/>
                    </a:ext>
                  </a:extLst>
                </a:gridCol>
                <a:gridCol w="2422809">
                  <a:extLst>
                    <a:ext uri="{9D8B030D-6E8A-4147-A177-3AD203B41FA5}">
                      <a16:colId xmlns="" xmlns:a16="http://schemas.microsoft.com/office/drawing/2014/main" val="73723293"/>
                    </a:ext>
                  </a:extLst>
                </a:gridCol>
                <a:gridCol w="3024336">
                  <a:extLst>
                    <a:ext uri="{9D8B030D-6E8A-4147-A177-3AD203B41FA5}">
                      <a16:colId xmlns="" xmlns:a16="http://schemas.microsoft.com/office/drawing/2014/main" val="3901127286"/>
                    </a:ext>
                  </a:extLst>
                </a:gridCol>
                <a:gridCol w="2505160">
                  <a:extLst>
                    <a:ext uri="{9D8B030D-6E8A-4147-A177-3AD203B41FA5}">
                      <a16:colId xmlns="" xmlns:a16="http://schemas.microsoft.com/office/drawing/2014/main" val="275250365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序号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位置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文件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361788674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/dev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DE2_115_OV7725_VGA.qpf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项目文件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401926351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DE2_115_OV7725_VGA.v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Top Module</a:t>
                      </a:r>
                      <a:endParaRPr lang="zh-CN" alt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82067438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/CMOS_OV7725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SCCB_Timing_Control.v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SCCB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时序控制模块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41287597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altLang="zh-CN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/CMOS_OV7725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SCCB_OV7725_RAW_Config.v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OV7725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寄存器配置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93366899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altLang="zh-CN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/CMOS_OV7725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CMOS_OV7725_Capture_RAW.v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OV7725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数据捕捉模块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83178942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Format_Conversion</a:t>
                      </a:r>
                      <a:endParaRPr lang="en-US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RAWRGB_2_RGB888.v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图像格式转换模块（待设计）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28379467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/Sdram_Control_2Port_1MX32Bit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Sdram_Control_2Port.v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SDRAM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模块及</a:t>
                      </a: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FIFO IP</a:t>
                      </a:r>
                      <a:endParaRPr lang="zh-CN" alt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235180426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system_index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system_ctrl.v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system_init_delay.v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全局</a:t>
                      </a: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PLL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及上电后延时控制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80466242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/VGA_24Bit_IP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VGA_Driver.v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VGA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驱动模块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98643190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src</a:t>
                      </a: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/VGA_24Bit_IP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VGA_Parameters.v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VGA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配置参数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2465380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64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文件名：</a:t>
            </a:r>
            <a:r>
              <a:rPr lang="en-US" altLang="zh-CN" sz="1800" dirty="0"/>
              <a:t>RAWRGB_2_RGB888.v	</a:t>
            </a:r>
            <a:r>
              <a:rPr lang="zh-CN" altLang="en-US" sz="1800" dirty="0"/>
              <a:t>位置：</a:t>
            </a:r>
            <a:r>
              <a:rPr lang="en-US" altLang="zh-CN" sz="1800" dirty="0"/>
              <a:t>/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/</a:t>
            </a:r>
            <a:r>
              <a:rPr lang="en-US" altLang="zh-CN" sz="1800" dirty="0" err="1"/>
              <a:t>Format_Conversion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格式转换模块</a:t>
            </a:r>
            <a:r>
              <a:rPr lang="en-US" altLang="zh-CN" dirty="0"/>
              <a:t>IO</a:t>
            </a:r>
            <a:r>
              <a:rPr lang="zh-CN" altLang="en-US" dirty="0"/>
              <a:t>接口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32</a:t>
            </a:fld>
            <a:endParaRPr lang="en-US" altLang="ko-KR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611560" y="1628800"/>
          <a:ext cx="8075240" cy="435648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26049">
                  <a:extLst>
                    <a:ext uri="{9D8B030D-6E8A-4147-A177-3AD203B41FA5}">
                      <a16:colId xmlns="" xmlns:a16="http://schemas.microsoft.com/office/drawing/2014/main" val="1162163878"/>
                    </a:ext>
                  </a:extLst>
                </a:gridCol>
                <a:gridCol w="800249">
                  <a:extLst>
                    <a:ext uri="{9D8B030D-6E8A-4147-A177-3AD203B41FA5}">
                      <a16:colId xmlns="" xmlns:a16="http://schemas.microsoft.com/office/drawing/2014/main" val="1353985245"/>
                    </a:ext>
                  </a:extLst>
                </a:gridCol>
                <a:gridCol w="509249">
                  <a:extLst>
                    <a:ext uri="{9D8B030D-6E8A-4147-A177-3AD203B41FA5}">
                      <a16:colId xmlns="" xmlns:a16="http://schemas.microsoft.com/office/drawing/2014/main" val="73723293"/>
                    </a:ext>
                  </a:extLst>
                </a:gridCol>
                <a:gridCol w="2008869">
                  <a:extLst>
                    <a:ext uri="{9D8B030D-6E8A-4147-A177-3AD203B41FA5}">
                      <a16:colId xmlns="" xmlns:a16="http://schemas.microsoft.com/office/drawing/2014/main" val="3901127286"/>
                    </a:ext>
                  </a:extLst>
                </a:gridCol>
                <a:gridCol w="4330824">
                  <a:extLst>
                    <a:ext uri="{9D8B030D-6E8A-4147-A177-3AD203B41FA5}">
                      <a16:colId xmlns="" xmlns:a16="http://schemas.microsoft.com/office/drawing/2014/main" val="275250365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序号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位宽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名称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361788674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pclk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像素时钟输入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401926351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rst_n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复位信号输入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820674386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per_frame_vsync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像素数据场同步信号输入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41287597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per_frame_href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像素数据行同步信号输入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93366899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per_img_RAW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RAW</a:t>
                      </a: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像素数据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83178942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Output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post_frame_vsync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转换后像素数据场同步信号输出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28379467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Output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post_frame_href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转换后像素数据行同步信号输出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235180426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Output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post_img_red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转换后像素</a:t>
                      </a: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</a:t>
                      </a: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80466242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Output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post_img_green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转换后像素</a:t>
                      </a: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</a:t>
                      </a: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98643190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output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post_img_blue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转换后像素</a:t>
                      </a: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</a:t>
                      </a:r>
                      <a:r>
                        <a:rPr lang="zh-CN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2465380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19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1</a:t>
            </a:r>
            <a:r>
              <a:rPr lang="zh-CN" altLang="en-US" sz="2000" dirty="0">
                <a:latin typeface="+mj-lt"/>
              </a:rPr>
              <a:t>、从</a:t>
            </a:r>
            <a:r>
              <a:rPr lang="en-US" altLang="zh-CN" sz="2000" dirty="0">
                <a:latin typeface="+mj-lt"/>
              </a:rPr>
              <a:t>CMOS</a:t>
            </a:r>
            <a:r>
              <a:rPr lang="zh-CN" altLang="en-US" sz="2000" dirty="0">
                <a:latin typeface="+mj-lt"/>
              </a:rPr>
              <a:t>获取</a:t>
            </a:r>
            <a:r>
              <a:rPr lang="en-US" altLang="zh-CN" sz="2000" dirty="0">
                <a:latin typeface="+mj-lt"/>
              </a:rPr>
              <a:t>3</a:t>
            </a:r>
            <a:r>
              <a:rPr lang="zh-CN" altLang="en-US" sz="2000" dirty="0">
                <a:latin typeface="+mj-lt"/>
              </a:rPr>
              <a:t>行像素数据，临时储存。</a:t>
            </a: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2</a:t>
            </a:r>
            <a:r>
              <a:rPr lang="zh-CN" altLang="en-US" sz="2000" dirty="0">
                <a:latin typeface="+mj-lt"/>
              </a:rPr>
              <a:t>、完成</a:t>
            </a:r>
            <a:r>
              <a:rPr lang="en-US" altLang="zh-CN" sz="2000" dirty="0">
                <a:latin typeface="+mj-lt"/>
              </a:rPr>
              <a:t>1</a:t>
            </a:r>
            <a:r>
              <a:rPr lang="zh-CN" altLang="en-US" sz="2000" dirty="0">
                <a:latin typeface="+mj-lt"/>
              </a:rPr>
              <a:t>像素的插值，得到转换后的</a:t>
            </a:r>
            <a:r>
              <a:rPr lang="en-US" altLang="zh-CN" sz="2000" dirty="0">
                <a:latin typeface="+mj-lt"/>
              </a:rPr>
              <a:t>1</a:t>
            </a:r>
            <a:r>
              <a:rPr lang="zh-CN" altLang="en-US" sz="2000" dirty="0">
                <a:latin typeface="+mj-lt"/>
              </a:rPr>
              <a:t>像素</a:t>
            </a:r>
            <a:r>
              <a:rPr lang="en-US" altLang="zh-CN" sz="2000" dirty="0">
                <a:latin typeface="+mj-lt"/>
              </a:rPr>
              <a:t>RGB888</a:t>
            </a:r>
            <a:r>
              <a:rPr lang="zh-CN" altLang="en-US" sz="2000" dirty="0">
                <a:latin typeface="+mj-lt"/>
              </a:rPr>
              <a:t>格式数据并完成输出</a:t>
            </a: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3</a:t>
            </a:r>
            <a:r>
              <a:rPr lang="zh-CN" altLang="en-US" sz="2000" dirty="0">
                <a:latin typeface="+mj-lt"/>
              </a:rPr>
              <a:t>、重复第</a:t>
            </a:r>
            <a:r>
              <a:rPr lang="en-US" altLang="zh-CN" sz="2000" dirty="0">
                <a:latin typeface="+mj-lt"/>
              </a:rPr>
              <a:t>2</a:t>
            </a:r>
            <a:r>
              <a:rPr lang="zh-CN" altLang="en-US" sz="2000" dirty="0">
                <a:latin typeface="+mj-lt"/>
              </a:rPr>
              <a:t>步直至完成一行</a:t>
            </a:r>
            <a:r>
              <a:rPr lang="en-US" altLang="zh-CN" sz="2000" dirty="0">
                <a:latin typeface="+mj-lt"/>
              </a:rPr>
              <a:t>RGB888</a:t>
            </a:r>
            <a:r>
              <a:rPr lang="zh-CN" altLang="en-US" sz="2000" dirty="0">
                <a:latin typeface="+mj-lt"/>
              </a:rPr>
              <a:t>格式数据输出，</a:t>
            </a:r>
            <a:r>
              <a:rPr lang="zh-CN" altLang="en-US" sz="2000" dirty="0"/>
              <a:t>更新</a:t>
            </a:r>
            <a:r>
              <a:rPr lang="en-US" altLang="zh-CN" sz="2000" dirty="0"/>
              <a:t>Post HREF</a:t>
            </a:r>
            <a:r>
              <a:rPr lang="zh-CN" altLang="en-US" sz="2000" dirty="0"/>
              <a:t>信号。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4</a:t>
            </a:r>
            <a:r>
              <a:rPr lang="zh-CN" altLang="en-US" sz="2000" dirty="0">
                <a:latin typeface="+mj-lt"/>
              </a:rPr>
              <a:t>、获取新的</a:t>
            </a:r>
            <a:r>
              <a:rPr lang="en-US" altLang="zh-CN" sz="2000" dirty="0">
                <a:latin typeface="+mj-lt"/>
              </a:rPr>
              <a:t>1</a:t>
            </a:r>
            <a:r>
              <a:rPr lang="zh-CN" altLang="en-US" sz="2000" dirty="0">
                <a:latin typeface="+mj-lt"/>
              </a:rPr>
              <a:t>行像素数据，替换临时存储的最上面</a:t>
            </a:r>
            <a:r>
              <a:rPr lang="en-US" altLang="zh-CN" sz="2000" dirty="0">
                <a:latin typeface="+mj-lt"/>
              </a:rPr>
              <a:t>1</a:t>
            </a:r>
            <a:r>
              <a:rPr lang="zh-CN" altLang="en-US" sz="2000" dirty="0">
                <a:latin typeface="+mj-lt"/>
              </a:rPr>
              <a:t>行像素数据。</a:t>
            </a: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5</a:t>
            </a:r>
            <a:r>
              <a:rPr lang="zh-CN" altLang="en-US" sz="2000" dirty="0">
                <a:latin typeface="+mj-lt"/>
              </a:rPr>
              <a:t>、重复</a:t>
            </a:r>
            <a:r>
              <a:rPr lang="en-US" altLang="zh-CN" sz="2000" dirty="0">
                <a:latin typeface="+mj-lt"/>
              </a:rPr>
              <a:t>3</a:t>
            </a:r>
            <a:r>
              <a:rPr lang="zh-CN" altLang="en-US" sz="2000" dirty="0">
                <a:latin typeface="+mj-lt"/>
              </a:rPr>
              <a:t>、</a:t>
            </a:r>
            <a:r>
              <a:rPr lang="en-US" altLang="zh-CN" sz="2000" dirty="0">
                <a:latin typeface="+mj-lt"/>
              </a:rPr>
              <a:t>4</a:t>
            </a:r>
            <a:r>
              <a:rPr lang="zh-CN" altLang="en-US" sz="2000" dirty="0">
                <a:latin typeface="+mj-lt"/>
              </a:rPr>
              <a:t>步，直至完成整帧转换，更新</a:t>
            </a:r>
            <a:r>
              <a:rPr lang="en-US" altLang="zh-CN" sz="2000" dirty="0">
                <a:latin typeface="+mj-lt"/>
              </a:rPr>
              <a:t>Post VSYNC</a:t>
            </a:r>
            <a:r>
              <a:rPr lang="zh-CN" altLang="en-US" sz="2000" dirty="0">
                <a:latin typeface="+mj-lt"/>
              </a:rPr>
              <a:t>信号。</a:t>
            </a:r>
            <a:endParaRPr lang="en-US" altLang="zh-CN" sz="20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图像转换模块要做的事情（简要）：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7794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99724" y="1237729"/>
            <a:ext cx="4164764" cy="503976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800" dirty="0"/>
              <a:t>每帧图像由</a:t>
            </a:r>
            <a:r>
              <a:rPr lang="en-US" altLang="zh-CN" sz="1800" dirty="0"/>
              <a:t>640x480=307200</a:t>
            </a:r>
            <a:r>
              <a:rPr lang="zh-CN" altLang="en-US" sz="1800" dirty="0"/>
              <a:t>个像素组成，每个像素包含</a:t>
            </a:r>
            <a:r>
              <a:rPr lang="en-US" altLang="zh-CN" sz="1800" dirty="0"/>
              <a:t>8</a:t>
            </a:r>
            <a:r>
              <a:rPr lang="zh-CN" altLang="en-US" sz="1800" dirty="0"/>
              <a:t>位数据。</a:t>
            </a:r>
            <a:endParaRPr lang="en-US" altLang="zh-CN" sz="1800" dirty="0"/>
          </a:p>
          <a:p>
            <a:pPr algn="just">
              <a:lnSpc>
                <a:spcPct val="150000"/>
              </a:lnSpc>
            </a:pPr>
            <a:r>
              <a:rPr lang="zh-CN" altLang="en-US" sz="1800" dirty="0"/>
              <a:t>每一帧图像采集的过程，都是通过</a:t>
            </a:r>
            <a:r>
              <a:rPr lang="en-US" altLang="zh-CN" sz="1800" dirty="0"/>
              <a:t>8</a:t>
            </a:r>
            <a:r>
              <a:rPr lang="zh-CN" altLang="en-US" sz="1800" dirty="0"/>
              <a:t>位并口获取</a:t>
            </a:r>
            <a:r>
              <a:rPr lang="en-US" altLang="zh-CN" sz="1800" dirty="0"/>
              <a:t>307200</a:t>
            </a:r>
            <a:r>
              <a:rPr lang="zh-CN" altLang="en-US" sz="1800" dirty="0"/>
              <a:t>次数据。</a:t>
            </a:r>
            <a:endParaRPr lang="en-US" altLang="zh-CN" sz="1800" dirty="0"/>
          </a:p>
          <a:p>
            <a:pPr algn="just">
              <a:lnSpc>
                <a:spcPct val="150000"/>
              </a:lnSpc>
            </a:pPr>
            <a:r>
              <a:rPr lang="en-US" altLang="zh-CN" sz="1800" dirty="0"/>
              <a:t>VSYNC</a:t>
            </a:r>
            <a:r>
              <a:rPr lang="zh-CN" altLang="en-US" sz="1800" dirty="0"/>
              <a:t>帧同步信号上升（或下降，取决于寄存器定义）且</a:t>
            </a:r>
            <a:r>
              <a:rPr lang="en-US" altLang="zh-CN" sz="1800" dirty="0"/>
              <a:t>HREF</a:t>
            </a:r>
            <a:r>
              <a:rPr lang="zh-CN" altLang="en-US" sz="1800" dirty="0"/>
              <a:t>行同步信号上升时，采集从左上角开始，从左至右在</a:t>
            </a:r>
            <a:r>
              <a:rPr lang="en-US" altLang="zh-CN" sz="1800" dirty="0"/>
              <a:t>PCLK</a:t>
            </a:r>
            <a:r>
              <a:rPr lang="zh-CN" altLang="en-US" sz="1800" dirty="0"/>
              <a:t>上升沿时采集像素的数据，采集满一行</a:t>
            </a:r>
            <a:r>
              <a:rPr lang="en-US" altLang="zh-CN" sz="1800" dirty="0"/>
              <a:t>640</a:t>
            </a:r>
            <a:r>
              <a:rPr lang="zh-CN" altLang="en-US" sz="1800" dirty="0"/>
              <a:t>个像素后，</a:t>
            </a:r>
            <a:r>
              <a:rPr lang="en-US" altLang="zh-CN" sz="1800" dirty="0"/>
              <a:t>HREF</a:t>
            </a:r>
            <a:r>
              <a:rPr lang="zh-CN" altLang="en-US" sz="1800" dirty="0"/>
              <a:t>行同步信号下降，并口信号进入消隐区，等待下一个</a:t>
            </a:r>
            <a:r>
              <a:rPr lang="en-US" altLang="zh-CN" sz="1800" dirty="0"/>
              <a:t>HREF</a:t>
            </a:r>
            <a:r>
              <a:rPr lang="zh-CN" altLang="en-US" sz="1800" dirty="0"/>
              <a:t>的上升沿以采集下一行数据。</a:t>
            </a:r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图像的获取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34</a:t>
            </a:fld>
            <a:endParaRPr lang="en-US" altLang="ko-KR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713427" y="1957769"/>
            <a:ext cx="3888432" cy="374441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我是一帧图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713427" y="1957697"/>
            <a:ext cx="135632" cy="12688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849952" y="1957769"/>
            <a:ext cx="135632" cy="12688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987022" y="1957697"/>
            <a:ext cx="135632" cy="12688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箭头连接符 11"/>
          <p:cNvCxnSpPr>
            <a:endCxn id="8" idx="0"/>
          </p:cNvCxnSpPr>
          <p:nvPr/>
        </p:nvCxnSpPr>
        <p:spPr bwMode="auto">
          <a:xfrm flipH="1">
            <a:off x="917768" y="1733858"/>
            <a:ext cx="137070" cy="22391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719903" y="1240141"/>
            <a:ext cx="2007840" cy="56768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我是一个</a:t>
            </a:r>
            <a:r>
              <a:rPr lang="en-US" altLang="zh-CN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8Bit</a:t>
            </a: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像素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 flipH="1">
            <a:off x="917768" y="2355834"/>
            <a:ext cx="3396059" cy="32023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>
            <a:off x="985584" y="5558169"/>
            <a:ext cx="340025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直接箭头连接符 24"/>
          <p:cNvCxnSpPr/>
          <p:nvPr/>
        </p:nvCxnSpPr>
        <p:spPr bwMode="auto">
          <a:xfrm>
            <a:off x="957517" y="2245801"/>
            <a:ext cx="340025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1692701" y="1788153"/>
            <a:ext cx="2007840" cy="56768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640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 rot="16200000">
            <a:off x="-107251" y="3505419"/>
            <a:ext cx="2007840" cy="56768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480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0" name="直接箭头连接符 29"/>
          <p:cNvCxnSpPr/>
          <p:nvPr/>
        </p:nvCxnSpPr>
        <p:spPr bwMode="auto">
          <a:xfrm>
            <a:off x="4418136" y="1733858"/>
            <a:ext cx="171822" cy="20965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4469071" y="1957697"/>
            <a:ext cx="135632" cy="12688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1043608" y="1863190"/>
            <a:ext cx="596735" cy="21156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……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3926754" y="1881172"/>
            <a:ext cx="596735" cy="21156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……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5" name="直接箭头连接符 34"/>
          <p:cNvCxnSpPr/>
          <p:nvPr/>
        </p:nvCxnSpPr>
        <p:spPr bwMode="auto">
          <a:xfrm flipV="1">
            <a:off x="468653" y="1998039"/>
            <a:ext cx="247880" cy="37317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-86152" y="2279092"/>
            <a:ext cx="2007840" cy="56768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VSYNC</a:t>
            </a:r>
            <a:r>
              <a:rPr lang="zh-CN" altLang="en-US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、</a:t>
            </a:r>
            <a:r>
              <a:rPr lang="en-US" altLang="zh-CN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HREF</a:t>
            </a: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上升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3353849" y="1293566"/>
            <a:ext cx="2007840" cy="56768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HREF</a:t>
            </a: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下降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712903" y="4524730"/>
            <a:ext cx="135632" cy="12688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790215" y="4418914"/>
            <a:ext cx="596735" cy="21156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……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4" name="直接箭头连接符 43"/>
          <p:cNvCxnSpPr>
            <a:stCxn id="45" idx="0"/>
          </p:cNvCxnSpPr>
          <p:nvPr/>
        </p:nvCxnSpPr>
        <p:spPr bwMode="auto">
          <a:xfrm flipV="1">
            <a:off x="517979" y="4564096"/>
            <a:ext cx="190391" cy="23305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-149084" y="4797152"/>
            <a:ext cx="1334126" cy="323036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HREF</a:t>
            </a: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上升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4465761" y="5568032"/>
            <a:ext cx="135632" cy="12688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Rectangle 5">
            <a:extLst>
              <a:ext uri="{FF2B5EF4-FFF2-40B4-BE49-F238E27FC236}">
                <a16:creationId xmlns="" xmlns:a16="http://schemas.microsoft.com/office/drawing/2014/main" id="{8A9FD92B-0BD6-F04D-9A67-32398C4CEA4E}"/>
              </a:ext>
            </a:extLst>
          </p:cNvPr>
          <p:cNvSpPr/>
          <p:nvPr/>
        </p:nvSpPr>
        <p:spPr>
          <a:xfrm>
            <a:off x="2727743" y="4867310"/>
            <a:ext cx="2007840" cy="567680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VSYNC</a:t>
            </a:r>
            <a:r>
              <a:rPr lang="zh-CN" altLang="en-US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、</a:t>
            </a:r>
            <a:r>
              <a:rPr lang="en-US" altLang="zh-CN" kern="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HREF</a:t>
            </a: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下降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1" name="直接箭头连接符 50"/>
          <p:cNvCxnSpPr/>
          <p:nvPr/>
        </p:nvCxnSpPr>
        <p:spPr bwMode="auto">
          <a:xfrm>
            <a:off x="4346346" y="5300250"/>
            <a:ext cx="171822" cy="20965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0213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940152" y="1205898"/>
            <a:ext cx="2952328" cy="503976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800" dirty="0"/>
              <a:t>采集到的</a:t>
            </a:r>
            <a:r>
              <a:rPr lang="en-US" altLang="zh-CN" sz="1800" dirty="0"/>
              <a:t>Bayer</a:t>
            </a:r>
            <a:r>
              <a:rPr lang="zh-CN" altLang="en-US" sz="1800" dirty="0"/>
              <a:t>帧如下图所示，无法直接作为图像格式输出显示，需要采集后通过插值的到</a:t>
            </a:r>
            <a:r>
              <a:rPr lang="en-US" altLang="zh-CN" sz="1800" dirty="0"/>
              <a:t>RGB888</a:t>
            </a:r>
            <a:r>
              <a:rPr lang="zh-CN" altLang="en-US" sz="1800" dirty="0"/>
              <a:t>图像格式。</a:t>
            </a:r>
            <a:endParaRPr lang="en-US" altLang="zh-CN" sz="1800" dirty="0"/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+mj-lt"/>
              </a:rPr>
              <a:t>RAW RGB</a:t>
            </a:r>
            <a:r>
              <a:rPr lang="zh-CN" altLang="en-US" sz="1800" dirty="0">
                <a:latin typeface="+mj-lt"/>
              </a:rPr>
              <a:t>：每个像素仅包含一个颜色</a:t>
            </a:r>
            <a:r>
              <a:rPr lang="en-US" altLang="zh-CN" sz="1800" dirty="0">
                <a:latin typeface="+mj-lt"/>
              </a:rPr>
              <a:t>8Bit</a:t>
            </a:r>
            <a:r>
              <a:rPr lang="zh-CN" altLang="en-US" sz="1800" dirty="0">
                <a:latin typeface="+mj-lt"/>
              </a:rPr>
              <a:t>。</a:t>
            </a:r>
            <a:endParaRPr lang="en-US" altLang="zh-CN" sz="1800" dirty="0">
              <a:latin typeface="+mj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+mj-lt"/>
              </a:rPr>
              <a:t>RGB888</a:t>
            </a:r>
            <a:r>
              <a:rPr lang="zh-CN" altLang="en-US" sz="1800" dirty="0">
                <a:latin typeface="+mj-lt"/>
              </a:rPr>
              <a:t>：每个像素包含</a:t>
            </a:r>
            <a:r>
              <a:rPr lang="en-US" altLang="zh-CN" sz="1800" dirty="0">
                <a:latin typeface="+mj-lt"/>
              </a:rPr>
              <a:t>3</a:t>
            </a:r>
            <a:r>
              <a:rPr lang="zh-CN" altLang="en-US" sz="1800" dirty="0">
                <a:latin typeface="+mj-lt"/>
              </a:rPr>
              <a:t>通道共</a:t>
            </a:r>
            <a:r>
              <a:rPr lang="en-US" altLang="zh-CN" sz="1800" dirty="0">
                <a:latin typeface="+mj-lt"/>
              </a:rPr>
              <a:t>24Bit</a:t>
            </a:r>
            <a:r>
              <a:rPr lang="zh-CN" altLang="en-US" sz="1800" dirty="0">
                <a:latin typeface="+mj-lt"/>
              </a:rPr>
              <a:t>。</a:t>
            </a:r>
            <a:endParaRPr lang="en-US" altLang="zh-CN" sz="1800" dirty="0">
              <a:latin typeface="+mj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dirty="0">
                <a:latin typeface="+mj-lt"/>
              </a:rPr>
              <a:t>CMOS</a:t>
            </a:r>
            <a:r>
              <a:rPr lang="zh-CN" altLang="en-US" sz="1800" dirty="0">
                <a:latin typeface="+mj-lt"/>
              </a:rPr>
              <a:t>相关信息以</a:t>
            </a:r>
            <a:r>
              <a:rPr lang="en-US" altLang="zh-CN" sz="1800" dirty="0">
                <a:latin typeface="+mj-lt"/>
              </a:rPr>
              <a:t>Datasheet</a:t>
            </a:r>
            <a:r>
              <a:rPr lang="zh-CN" altLang="en-US" sz="1800" dirty="0">
                <a:latin typeface="+mj-lt"/>
              </a:rPr>
              <a:t>为准。</a:t>
            </a:r>
            <a:endParaRPr lang="en-US" altLang="zh-CN" sz="1800" dirty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格式转换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35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8" y="1061655"/>
            <a:ext cx="5976664" cy="532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7652" y="1052737"/>
            <a:ext cx="8474828" cy="225959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800" dirty="0"/>
              <a:t>最简单的插值方法</a:t>
            </a:r>
            <a:r>
              <a:rPr lang="en-US" altLang="zh-CN" sz="1800" dirty="0"/>
              <a:t>——</a:t>
            </a:r>
            <a:r>
              <a:rPr lang="zh-CN" altLang="en-US" sz="1800" dirty="0"/>
              <a:t>局部均值：</a:t>
            </a:r>
            <a:endParaRPr lang="en-US" altLang="zh-CN" sz="1800" dirty="0"/>
          </a:p>
          <a:p>
            <a:pPr algn="just">
              <a:lnSpc>
                <a:spcPct val="150000"/>
              </a:lnSpc>
            </a:pPr>
            <a:r>
              <a:rPr lang="zh-CN" altLang="en-US" sz="1800" dirty="0"/>
              <a:t>以目标像素点为中心，依据周围</a:t>
            </a:r>
            <a:r>
              <a:rPr lang="en-US" altLang="zh-CN" sz="1800" dirty="0"/>
              <a:t>3x3</a:t>
            </a:r>
            <a:r>
              <a:rPr lang="zh-CN" altLang="en-US" sz="1800" dirty="0"/>
              <a:t>的像素矩阵，目标像素点颜色不变，其余两色数据通过求</a:t>
            </a:r>
            <a:r>
              <a:rPr lang="en-US" altLang="zh-CN" sz="1800" dirty="0"/>
              <a:t>3x3</a:t>
            </a:r>
            <a:r>
              <a:rPr lang="zh-CN" altLang="en-US" sz="1800" dirty="0"/>
              <a:t>像素矩阵中相应颜色像素均值得到。</a:t>
            </a:r>
            <a:endParaRPr lang="en-US" altLang="zh-CN" sz="1800" dirty="0"/>
          </a:p>
          <a:p>
            <a:pPr algn="just">
              <a:lnSpc>
                <a:spcPct val="150000"/>
              </a:lnSpc>
            </a:pPr>
            <a:r>
              <a:rPr lang="zh-CN" altLang="en-US" sz="1800" dirty="0"/>
              <a:t>从</a:t>
            </a:r>
            <a:r>
              <a:rPr lang="en-US" altLang="zh-CN" sz="1800" dirty="0"/>
              <a:t>3x3</a:t>
            </a:r>
            <a:r>
              <a:rPr lang="zh-CN" altLang="en-US" sz="1800" dirty="0"/>
              <a:t>像素矩阵的角度来观察</a:t>
            </a:r>
            <a:r>
              <a:rPr lang="en-US" altLang="zh-CN" sz="1800" dirty="0"/>
              <a:t>RAW RGB</a:t>
            </a:r>
            <a:r>
              <a:rPr lang="zh-CN" altLang="en-US" sz="1800" dirty="0"/>
              <a:t>的</a:t>
            </a:r>
            <a:r>
              <a:rPr lang="en-US" altLang="zh-CN" sz="1800" dirty="0"/>
              <a:t>Bayer</a:t>
            </a:r>
            <a:r>
              <a:rPr lang="zh-CN" altLang="en-US" sz="1800" dirty="0"/>
              <a:t>帧，共有四种不同的中心点模式，如下图所示：</a:t>
            </a:r>
            <a:endParaRPr lang="en-US" altLang="zh-CN" sz="1800" dirty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RGB</a:t>
            </a:r>
            <a:r>
              <a:rPr lang="zh-CN" altLang="en-US" dirty="0"/>
              <a:t>插值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36</a:t>
            </a:fld>
            <a:endParaRPr lang="en-US" altLang="ko-KR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476683" y="3356992"/>
            <a:ext cx="6190633" cy="1800200"/>
            <a:chOff x="1392061" y="2220849"/>
            <a:chExt cx="6190633" cy="1800200"/>
          </a:xfrm>
        </p:grpSpPr>
        <p:sp>
          <p:nvSpPr>
            <p:cNvPr id="11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6100105" y="2220849"/>
              <a:ext cx="1482589" cy="18002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343B96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B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43B9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3141332" y="2220849"/>
              <a:ext cx="2720989" cy="18002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800" b="1" kern="0" dirty="0">
                  <a:solidFill>
                    <a:srgbClr val="00AB4E"/>
                  </a:solidFill>
                  <a:latin typeface="Calibri" panose="020F0502020204030204"/>
                  <a:ea typeface="等线" panose="02010600030101010101" pitchFamily="2" charset="-122"/>
                </a:rPr>
                <a:t>G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392061" y="2220849"/>
              <a:ext cx="1482589" cy="18002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EB2D2C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R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67" t="16804" r="69880" b="68330"/>
            <a:stretch/>
          </p:blipFill>
          <p:spPr>
            <a:xfrm>
              <a:off x="1558240" y="2708832"/>
              <a:ext cx="1150230" cy="115023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86" t="18155" r="66265" b="68330"/>
            <a:stretch/>
          </p:blipFill>
          <p:spPr>
            <a:xfrm>
              <a:off x="3347864" y="2813399"/>
              <a:ext cx="1045663" cy="104566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01" t="22210" r="62651" b="64275"/>
            <a:stretch/>
          </p:blipFill>
          <p:spPr>
            <a:xfrm>
              <a:off x="4555406" y="2815385"/>
              <a:ext cx="1045663" cy="104566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20" t="22210" r="57832" b="64275"/>
            <a:stretch/>
          </p:blipFill>
          <p:spPr>
            <a:xfrm>
              <a:off x="6318567" y="2786709"/>
              <a:ext cx="1045663" cy="1045663"/>
            </a:xfrm>
            <a:prstGeom prst="rect">
              <a:avLst/>
            </a:prstGeom>
          </p:spPr>
        </p:pic>
      </p:grpSp>
      <p:sp>
        <p:nvSpPr>
          <p:cNvPr id="12" name="内容占位符 1"/>
          <p:cNvSpPr txBox="1">
            <a:spLocks/>
          </p:cNvSpPr>
          <p:nvPr/>
        </p:nvSpPr>
        <p:spPr bwMode="auto">
          <a:xfrm>
            <a:off x="539552" y="5240425"/>
            <a:ext cx="8474828" cy="52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kern="0" dirty="0"/>
              <a:t>其中，以</a:t>
            </a:r>
            <a:r>
              <a:rPr lang="en-US" altLang="zh-CN" sz="1800" kern="0" dirty="0"/>
              <a:t>Red</a:t>
            </a:r>
            <a:r>
              <a:rPr lang="zh-CN" altLang="en-US" sz="1800" kern="0" dirty="0"/>
              <a:t>或</a:t>
            </a:r>
            <a:r>
              <a:rPr lang="en-US" altLang="zh-CN" sz="1800" kern="0" dirty="0"/>
              <a:t>Blue</a:t>
            </a:r>
            <a:r>
              <a:rPr lang="zh-CN" altLang="en-US" sz="1800" kern="0" dirty="0"/>
              <a:t>为中心的</a:t>
            </a:r>
            <a:r>
              <a:rPr lang="en-US" altLang="zh-CN" sz="1800" kern="0" dirty="0"/>
              <a:t>3x3</a:t>
            </a:r>
            <a:r>
              <a:rPr lang="zh-CN" altLang="en-US" sz="1800" kern="0" dirty="0"/>
              <a:t>模式只有一种，而以</a:t>
            </a:r>
            <a:r>
              <a:rPr lang="en-US" altLang="zh-CN" sz="1800" kern="0" dirty="0"/>
              <a:t>Green</a:t>
            </a:r>
            <a:r>
              <a:rPr lang="zh-CN" altLang="en-US" sz="1800" kern="0" dirty="0"/>
              <a:t>为中心有两种。</a:t>
            </a:r>
            <a:endParaRPr lang="en-US" altLang="zh-CN" sz="1800" kern="0" dirty="0"/>
          </a:p>
        </p:txBody>
      </p:sp>
    </p:spTree>
    <p:extLst>
      <p:ext uri="{BB962C8B-B14F-4D97-AF65-F5344CB8AC3E}">
        <p14:creationId xmlns:p14="http://schemas.microsoft.com/office/powerpoint/2010/main" val="257039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88551" y="3697440"/>
            <a:ext cx="8566897" cy="201657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800" dirty="0"/>
              <a:t>模式</a:t>
            </a:r>
            <a:r>
              <a:rPr lang="en-US" altLang="zh-CN" sz="1800" dirty="0"/>
              <a:t>1</a:t>
            </a:r>
            <a:r>
              <a:rPr lang="zh-CN" altLang="en-US" sz="1800" dirty="0"/>
              <a:t>：</a:t>
            </a:r>
            <a:r>
              <a:rPr lang="en-US" altLang="zh-CN" sz="1800" dirty="0"/>
              <a:t>R=(0,0); G=((-1,0)+(0,-1)+(0,1)+(1,0))/4; B=((-1,-1)+(-1,1)+(1,-1)+(1,1))/4;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800" dirty="0"/>
              <a:t>模式</a:t>
            </a:r>
            <a:r>
              <a:rPr lang="en-US" altLang="zh-CN" sz="1800" dirty="0"/>
              <a:t>2</a:t>
            </a:r>
            <a:r>
              <a:rPr lang="zh-CN" altLang="en-US" sz="1800" dirty="0"/>
              <a:t>：</a:t>
            </a:r>
            <a:r>
              <a:rPr lang="en-US" altLang="zh-CN" sz="1800" dirty="0"/>
              <a:t>R=((0,-1)+(0,1))/2; G=(0,0); B=((-1,0)+(1,0))/2;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800" dirty="0"/>
              <a:t>模式</a:t>
            </a:r>
            <a:r>
              <a:rPr lang="en-US" altLang="zh-CN" sz="1800" dirty="0"/>
              <a:t>3</a:t>
            </a:r>
            <a:r>
              <a:rPr lang="zh-CN" altLang="en-US" sz="1800" dirty="0"/>
              <a:t>：</a:t>
            </a:r>
            <a:r>
              <a:rPr lang="en-US" altLang="zh-CN" sz="1800" dirty="0"/>
              <a:t>R=((-1,0)+(1,0))/2; G=(0,0); B=((0,-1)+(0,1))/2;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800" dirty="0"/>
              <a:t>模式</a:t>
            </a:r>
            <a:r>
              <a:rPr lang="en-US" altLang="zh-CN" sz="1800" dirty="0"/>
              <a:t>4</a:t>
            </a:r>
            <a:r>
              <a:rPr lang="zh-CN" altLang="en-US" sz="1800" dirty="0"/>
              <a:t>：</a:t>
            </a:r>
            <a:r>
              <a:rPr lang="en-US" altLang="zh-CN" sz="1800" dirty="0"/>
              <a:t>R=((-1,-1)+(-1,1)+(1,-1)+(1,1))/4; G =((-1,0)+(0,-1)+(0,1)+(1,0))/4; B=(0,0);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RGB</a:t>
            </a:r>
            <a:r>
              <a:rPr lang="zh-CN" altLang="en-US" dirty="0"/>
              <a:t>插值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37</a:t>
            </a:fld>
            <a:endParaRPr lang="en-US" altLang="ko-KR" dirty="0"/>
          </a:p>
        </p:txBody>
      </p:sp>
      <p:grpSp>
        <p:nvGrpSpPr>
          <p:cNvPr id="13" name="组合 12"/>
          <p:cNvGrpSpPr/>
          <p:nvPr/>
        </p:nvGrpSpPr>
        <p:grpSpPr>
          <a:xfrm>
            <a:off x="2411760" y="1313224"/>
            <a:ext cx="6190633" cy="1800200"/>
            <a:chOff x="1392061" y="2220849"/>
            <a:chExt cx="6190633" cy="1800200"/>
          </a:xfrm>
        </p:grpSpPr>
        <p:sp>
          <p:nvSpPr>
            <p:cNvPr id="11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6100105" y="2220849"/>
              <a:ext cx="1482589" cy="18002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343B96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B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43B9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3141332" y="2220849"/>
              <a:ext cx="2720989" cy="18002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800" b="1" kern="0" dirty="0">
                  <a:solidFill>
                    <a:srgbClr val="00AB4E"/>
                  </a:solidFill>
                  <a:latin typeface="Calibri" panose="020F0502020204030204"/>
                  <a:ea typeface="等线" panose="02010600030101010101" pitchFamily="2" charset="-122"/>
                </a:rPr>
                <a:t>G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392061" y="2220849"/>
              <a:ext cx="1482589" cy="180020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EB2D2C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R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67" t="16804" r="69880" b="68330"/>
            <a:stretch/>
          </p:blipFill>
          <p:spPr>
            <a:xfrm>
              <a:off x="1558240" y="2708832"/>
              <a:ext cx="1150230" cy="115023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86" t="18155" r="66265" b="68330"/>
            <a:stretch/>
          </p:blipFill>
          <p:spPr>
            <a:xfrm>
              <a:off x="3347864" y="2813399"/>
              <a:ext cx="1045663" cy="104566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01" t="22210" r="62651" b="64275"/>
            <a:stretch/>
          </p:blipFill>
          <p:spPr>
            <a:xfrm>
              <a:off x="4555406" y="2815385"/>
              <a:ext cx="1045663" cy="104566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20" t="22210" r="57832" b="64275"/>
            <a:stretch/>
          </p:blipFill>
          <p:spPr>
            <a:xfrm>
              <a:off x="6318567" y="2786709"/>
              <a:ext cx="1045663" cy="1045663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1015137" y="1881949"/>
            <a:ext cx="1125229" cy="1051934"/>
            <a:chOff x="1015137" y="1765477"/>
            <a:chExt cx="1125229" cy="1051934"/>
          </a:xfrm>
        </p:grpSpPr>
        <p:sp>
          <p:nvSpPr>
            <p:cNvPr id="15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015137" y="1765477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-1,-1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401772" y="1765477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-1,0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7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785088" y="1766056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-1,1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9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015673" y="2123363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0,-1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0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402308" y="2123363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0,0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1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785624" y="2123942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0,1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2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016846" y="2481249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1,-1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3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403481" y="2481249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1,0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="" xmlns:a16="http://schemas.microsoft.com/office/drawing/2014/main" id="{8A9FD92B-0BD6-F04D-9A67-32398C4CEA4E}"/>
                </a:ext>
              </a:extLst>
            </p:cNvPr>
            <p:cNvSpPr/>
            <p:nvPr/>
          </p:nvSpPr>
          <p:spPr>
            <a:xfrm>
              <a:off x="1786797" y="2481828"/>
              <a:ext cx="353569" cy="33558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b="1" kern="0" dirty="0">
                  <a:latin typeface="Calibri" panose="020F0502020204030204"/>
                  <a:ea typeface="等线" panose="02010600030101010101" pitchFamily="2" charset="-122"/>
                </a:rPr>
                <a:t>1,1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26" name="内容占位符 1"/>
          <p:cNvSpPr txBox="1">
            <a:spLocks/>
          </p:cNvSpPr>
          <p:nvPr/>
        </p:nvSpPr>
        <p:spPr bwMode="auto">
          <a:xfrm>
            <a:off x="363508" y="5572097"/>
            <a:ext cx="8600980" cy="52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kern="0" dirty="0"/>
              <a:t>对每个像素进行此插值操作，完成整帧图像数据转换，得到</a:t>
            </a:r>
            <a:r>
              <a:rPr lang="en-US" altLang="zh-CN" sz="1800" kern="0" dirty="0"/>
              <a:t>RGB888</a:t>
            </a:r>
            <a:r>
              <a:rPr lang="zh-CN" altLang="en-US" sz="1800" kern="0" dirty="0"/>
              <a:t>格式图像。</a:t>
            </a:r>
            <a:endParaRPr lang="en-US" altLang="zh-CN" sz="1800" kern="0" dirty="0"/>
          </a:p>
        </p:txBody>
      </p:sp>
      <p:sp>
        <p:nvSpPr>
          <p:cNvPr id="27" name="内容占位符 1"/>
          <p:cNvSpPr txBox="1">
            <a:spLocks/>
          </p:cNvSpPr>
          <p:nvPr/>
        </p:nvSpPr>
        <p:spPr bwMode="auto">
          <a:xfrm>
            <a:off x="385178" y="3248163"/>
            <a:ext cx="8474828" cy="52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kern="0" dirty="0"/>
              <a:t>进行像素插值时，其</a:t>
            </a:r>
            <a:r>
              <a:rPr lang="en-US" altLang="zh-CN" sz="1800" kern="0" dirty="0"/>
              <a:t>3</a:t>
            </a:r>
            <a:r>
              <a:rPr lang="zh-CN" altLang="en-US" sz="1800" kern="0" dirty="0"/>
              <a:t>通道各</a:t>
            </a:r>
            <a:r>
              <a:rPr lang="en-US" altLang="zh-CN" sz="1800" kern="0" dirty="0"/>
              <a:t>8bit</a:t>
            </a:r>
            <a:r>
              <a:rPr lang="zh-CN" altLang="en-US" sz="1800" kern="0" dirty="0"/>
              <a:t>数据可根据周围所处不同模式求均值得到：</a:t>
            </a:r>
            <a:endParaRPr lang="en-US" altLang="zh-CN" sz="1800" kern="0" dirty="0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1AFFBCD8-BD6B-4FAD-88F7-2D472EA530D1}"/>
              </a:ext>
            </a:extLst>
          </p:cNvPr>
          <p:cNvSpPr/>
          <p:nvPr/>
        </p:nvSpPr>
        <p:spPr>
          <a:xfrm>
            <a:off x="2381546" y="150975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模式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C68B7AE3-029A-4012-8234-43532E9FF25E}"/>
              </a:ext>
            </a:extLst>
          </p:cNvPr>
          <p:cNvSpPr/>
          <p:nvPr/>
        </p:nvSpPr>
        <p:spPr>
          <a:xfrm>
            <a:off x="4348422" y="1464920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模式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9DD0A7E7-99B2-4FB6-A79B-05FCB9EB3CA2}"/>
              </a:ext>
            </a:extLst>
          </p:cNvPr>
          <p:cNvSpPr/>
          <p:nvPr/>
        </p:nvSpPr>
        <p:spPr>
          <a:xfrm>
            <a:off x="5710650" y="14830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模式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7699FE29-D243-49DE-9DE2-49227E1BF0DB}"/>
              </a:ext>
            </a:extLst>
          </p:cNvPr>
          <p:cNvSpPr/>
          <p:nvPr/>
        </p:nvSpPr>
        <p:spPr>
          <a:xfrm>
            <a:off x="7092280" y="155134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模式</a:t>
            </a: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484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03165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1</a:t>
            </a:r>
            <a:r>
              <a:rPr lang="zh-CN" altLang="en-US" sz="2000" dirty="0">
                <a:latin typeface="+mj-lt"/>
              </a:rPr>
              <a:t>、边缘像素数据</a:t>
            </a:r>
            <a:r>
              <a:rPr lang="zh-CN" altLang="en-US" sz="2000">
                <a:latin typeface="+mj-lt"/>
              </a:rPr>
              <a:t>如何处理、如何</a:t>
            </a:r>
            <a:r>
              <a:rPr lang="zh-CN" altLang="en-US" sz="2000" dirty="0">
                <a:latin typeface="+mj-lt"/>
              </a:rPr>
              <a:t>做插值？</a:t>
            </a: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2</a:t>
            </a:r>
            <a:r>
              <a:rPr lang="zh-CN" altLang="en-US" sz="2000" dirty="0">
                <a:latin typeface="+mj-lt"/>
              </a:rPr>
              <a:t>、如何进行像素数据的临时存储？可考虑寄存器直接存储，或用</a:t>
            </a:r>
            <a:r>
              <a:rPr lang="en-US" altLang="zh-CN" sz="2000" dirty="0">
                <a:latin typeface="+mj-lt"/>
              </a:rPr>
              <a:t>IP</a:t>
            </a:r>
            <a:r>
              <a:rPr lang="zh-CN" altLang="en-US" sz="2000" dirty="0">
                <a:latin typeface="+mj-lt"/>
              </a:rPr>
              <a:t>核生成合适的线性移位寄存器。</a:t>
            </a: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3</a:t>
            </a:r>
            <a:r>
              <a:rPr lang="zh-CN" altLang="en-US" sz="2000" dirty="0">
                <a:latin typeface="+mj-lt"/>
              </a:rPr>
              <a:t>、格式转换后输出图像相较于</a:t>
            </a:r>
            <a:r>
              <a:rPr lang="en-US" altLang="zh-CN" sz="2000" dirty="0">
                <a:latin typeface="+mj-lt"/>
              </a:rPr>
              <a:t>CMOS</a:t>
            </a:r>
            <a:r>
              <a:rPr lang="zh-CN" altLang="en-US" sz="2000" dirty="0">
                <a:latin typeface="+mj-lt"/>
              </a:rPr>
              <a:t>直接输出图像有一定的时间延时，因此需要</a:t>
            </a:r>
            <a:r>
              <a:rPr lang="en-US" altLang="zh-CN" sz="2000" dirty="0">
                <a:latin typeface="+mj-lt"/>
              </a:rPr>
              <a:t>Post HREF</a:t>
            </a:r>
            <a:r>
              <a:rPr lang="zh-CN" altLang="en-US" sz="2000" dirty="0">
                <a:latin typeface="+mj-lt"/>
              </a:rPr>
              <a:t>等信号代替原</a:t>
            </a:r>
            <a:r>
              <a:rPr lang="en-US" altLang="zh-CN" sz="2000" dirty="0">
                <a:latin typeface="+mj-lt"/>
              </a:rPr>
              <a:t>HREF</a:t>
            </a:r>
            <a:r>
              <a:rPr lang="zh-CN" altLang="en-US" sz="2000" dirty="0">
                <a:latin typeface="+mj-lt"/>
              </a:rPr>
              <a:t>信号，是否需要单独的</a:t>
            </a:r>
            <a:r>
              <a:rPr lang="en-US" altLang="zh-CN" sz="2000" dirty="0">
                <a:latin typeface="+mj-lt"/>
              </a:rPr>
              <a:t>Post PCLK</a:t>
            </a:r>
            <a:r>
              <a:rPr lang="zh-CN" altLang="en-US" sz="2000" dirty="0">
                <a:latin typeface="+mj-lt"/>
              </a:rPr>
              <a:t>？</a:t>
            </a:r>
            <a:endParaRPr lang="en-US" altLang="zh-CN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</a:rPr>
              <a:t>4</a:t>
            </a:r>
            <a:r>
              <a:rPr lang="zh-CN" altLang="en-US" sz="2000" dirty="0">
                <a:latin typeface="+mj-lt"/>
              </a:rPr>
              <a:t>、不同的插值方法？</a:t>
            </a: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模块实现时考虑的问题：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0892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 smtClean="0"/>
              <a:t>1</a:t>
            </a:r>
            <a:r>
              <a:rPr lang="zh-CN" altLang="en-US" sz="2600" dirty="0" smtClean="0"/>
              <a:t>、时间安排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天 </a:t>
            </a:r>
            <a:r>
              <a:rPr lang="en-US" altLang="zh-CN" sz="2400" dirty="0"/>
              <a:t>7.1 - 7.2</a:t>
            </a:r>
            <a:r>
              <a:rPr lang="zh-CN" altLang="en-US" sz="2400" dirty="0"/>
              <a:t>，</a:t>
            </a:r>
            <a:r>
              <a:rPr lang="en-US" altLang="zh-CN" sz="2400" dirty="0"/>
              <a:t>7.5 </a:t>
            </a:r>
            <a:r>
              <a:rPr lang="zh-CN" altLang="en-US" sz="2600" dirty="0" smtClean="0"/>
              <a:t>）</a:t>
            </a:r>
            <a:endParaRPr lang="en-US" altLang="zh-CN" sz="2600" dirty="0" smtClean="0"/>
          </a:p>
          <a:p>
            <a:r>
              <a:rPr lang="en-US" altLang="zh-CN" sz="2600" dirty="0" smtClean="0"/>
              <a:t>2</a:t>
            </a:r>
            <a:r>
              <a:rPr lang="zh-CN" altLang="en-US" sz="2600" dirty="0" smtClean="0"/>
              <a:t>、验收标准：通过显示器</a:t>
            </a:r>
            <a:r>
              <a:rPr lang="en-US" altLang="zh-CN" sz="2600" dirty="0" smtClean="0"/>
              <a:t>VGA</a:t>
            </a:r>
            <a:r>
              <a:rPr lang="zh-CN" altLang="en-US" sz="2600" dirty="0" smtClean="0"/>
              <a:t>接口实现视频</a:t>
            </a:r>
            <a:r>
              <a:rPr lang="zh-CN" altLang="en-US" sz="2600" dirty="0" smtClean="0"/>
              <a:t>输出</a:t>
            </a:r>
            <a:endParaRPr lang="en-US" altLang="zh-CN" sz="2600" dirty="0" smtClean="0"/>
          </a:p>
          <a:p>
            <a:endParaRPr lang="en-US" altLang="zh-CN" sz="2600" dirty="0" smtClean="0"/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532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5488" y="1916832"/>
            <a:ext cx="7772400" cy="18002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400" dirty="0"/>
              <a:t>个人图像数据集搭建</a:t>
            </a:r>
            <a:endParaRPr lang="zh-CN" altLang="en-US" sz="4800" dirty="0"/>
          </a:p>
        </p:txBody>
      </p:sp>
      <p:sp>
        <p:nvSpPr>
          <p:cNvPr id="3" name="标题 1"/>
          <p:cNvSpPr txBox="1">
            <a:spLocks/>
          </p:cNvSpPr>
          <p:nvPr/>
        </p:nvSpPr>
        <p:spPr bwMode="auto">
          <a:xfrm>
            <a:off x="805860" y="3645024"/>
            <a:ext cx="7772400" cy="1511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0" dirty="0" smtClean="0"/>
              <a:t>使用助教提供的采集平台</a:t>
            </a:r>
            <a:endParaRPr lang="en-US" altLang="zh-CN" sz="2800" b="0" dirty="0" smtClean="0"/>
          </a:p>
        </p:txBody>
      </p:sp>
      <p:sp>
        <p:nvSpPr>
          <p:cNvPr id="4" name="矩形 3"/>
          <p:cNvSpPr/>
          <p:nvPr/>
        </p:nvSpPr>
        <p:spPr>
          <a:xfrm>
            <a:off x="3549924" y="1844824"/>
            <a:ext cx="204414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手势识别神经网络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52527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buNone/>
            </a:pPr>
            <a:r>
              <a:rPr lang="zh-CN" altLang="zh-CN" sz="2400" dirty="0" smtClean="0"/>
              <a:t>构建</a:t>
            </a:r>
            <a:r>
              <a:rPr lang="zh-CN" altLang="zh-CN" sz="2400" dirty="0"/>
              <a:t>包含“</a:t>
            </a:r>
            <a:r>
              <a:rPr lang="en-US" altLang="zh-CN" sz="2400" dirty="0"/>
              <a:t>0</a:t>
            </a:r>
            <a:r>
              <a:rPr lang="zh-CN" altLang="zh-CN" sz="2400" dirty="0"/>
              <a:t>”到“</a:t>
            </a:r>
            <a:r>
              <a:rPr lang="en-US" altLang="zh-CN" sz="2400" dirty="0"/>
              <a:t>9</a:t>
            </a:r>
            <a:r>
              <a:rPr lang="zh-CN" altLang="zh-CN" sz="2400" dirty="0"/>
              <a:t>”共</a:t>
            </a:r>
            <a:r>
              <a:rPr lang="en-US" altLang="zh-CN" sz="2400" dirty="0"/>
              <a:t>10</a:t>
            </a:r>
            <a:r>
              <a:rPr lang="zh-CN" altLang="zh-CN" sz="2400" dirty="0"/>
              <a:t>个手势的图像数据集；每种手势采集的图片不少于</a:t>
            </a:r>
            <a:r>
              <a:rPr lang="en-US" altLang="zh-CN" sz="2400" dirty="0"/>
              <a:t>24</a:t>
            </a:r>
            <a:r>
              <a:rPr lang="zh-CN" altLang="zh-CN" sz="2400" dirty="0"/>
              <a:t>张（正面和方面图像各一半，包含不同角度），每个人采集的数据集规模不小于</a:t>
            </a:r>
            <a:r>
              <a:rPr lang="en-US" altLang="zh-CN" sz="2400" dirty="0"/>
              <a:t>240</a:t>
            </a:r>
            <a:r>
              <a:rPr lang="zh-CN" altLang="zh-CN" sz="2400" dirty="0"/>
              <a:t>张。</a:t>
            </a:r>
          </a:p>
          <a:p>
            <a:pPr lvl="0">
              <a:lnSpc>
                <a:spcPct val="150000"/>
              </a:lnSpc>
            </a:pPr>
            <a:r>
              <a:rPr lang="zh-CN" altLang="zh-CN" sz="2000" dirty="0"/>
              <a:t>本实验采集的手势图片背景统一</a:t>
            </a:r>
            <a:r>
              <a:rPr lang="zh-CN" altLang="zh-CN" sz="2000" dirty="0" smtClean="0"/>
              <a:t>为蓝色</a:t>
            </a:r>
            <a:r>
              <a:rPr lang="zh-CN" altLang="zh-CN" sz="2000" dirty="0"/>
              <a:t>；</a:t>
            </a:r>
          </a:p>
          <a:p>
            <a:pPr lvl="0">
              <a:lnSpc>
                <a:spcPct val="150000"/>
              </a:lnSpc>
            </a:pPr>
            <a:r>
              <a:rPr lang="zh-CN" altLang="zh-CN" sz="2000" dirty="0"/>
              <a:t>采集时手是是悬着的，没有被桌面支撑，</a:t>
            </a:r>
          </a:p>
          <a:p>
            <a:pPr lvl="0">
              <a:lnSpc>
                <a:spcPct val="150000"/>
              </a:lnSpc>
            </a:pPr>
            <a:r>
              <a:rPr lang="zh-CN" altLang="zh-CN" sz="2000" dirty="0"/>
              <a:t>采集时要求裸手，戒指、手环之类的物品一律取下；</a:t>
            </a:r>
          </a:p>
          <a:p>
            <a:pPr lvl="0">
              <a:lnSpc>
                <a:spcPct val="150000"/>
              </a:lnSpc>
            </a:pPr>
            <a:r>
              <a:rPr lang="zh-CN" altLang="zh-CN" sz="2000" dirty="0"/>
              <a:t>所有手势图片在采集时采用固定</a:t>
            </a:r>
            <a:r>
              <a:rPr lang="zh-CN" altLang="zh-CN" sz="2000" dirty="0" smtClean="0"/>
              <a:t>光源照射</a:t>
            </a:r>
            <a:r>
              <a:rPr lang="zh-CN" altLang="zh-CN" sz="2000" dirty="0"/>
              <a:t>，以保证相似的曝光条件；</a:t>
            </a:r>
          </a:p>
          <a:p>
            <a:pPr lvl="0">
              <a:lnSpc>
                <a:spcPct val="150000"/>
              </a:lnSpc>
            </a:pPr>
            <a:r>
              <a:rPr lang="zh-CN" altLang="zh-CN" sz="2000" dirty="0"/>
              <a:t>拍照时手势离摄像头的距离统一为</a:t>
            </a:r>
            <a:r>
              <a:rPr lang="en-US" altLang="zh-CN" sz="2000" dirty="0"/>
              <a:t>30cm</a:t>
            </a:r>
            <a:r>
              <a:rPr lang="zh-CN" altLang="zh-CN" sz="2000" dirty="0"/>
              <a:t>左右，并调整摄像头焦距确保清晰成像。</a:t>
            </a:r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41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697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 smtClean="0"/>
              <a:t>1</a:t>
            </a:r>
            <a:r>
              <a:rPr lang="zh-CN" altLang="en-US" sz="2600" dirty="0" smtClean="0"/>
              <a:t>、时间安排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1</a:t>
            </a:r>
            <a:r>
              <a:rPr lang="zh-CN" altLang="en-US" sz="2600" dirty="0" smtClean="0"/>
              <a:t>天 </a:t>
            </a:r>
            <a:r>
              <a:rPr lang="en-US" altLang="zh-CN" sz="2400" dirty="0"/>
              <a:t>7.6 </a:t>
            </a:r>
            <a:r>
              <a:rPr lang="zh-CN" altLang="en-US" sz="2600" dirty="0" smtClean="0"/>
              <a:t>）</a:t>
            </a:r>
            <a:endParaRPr lang="en-US" altLang="zh-CN" sz="2600" dirty="0" smtClean="0"/>
          </a:p>
          <a:p>
            <a:r>
              <a:rPr lang="en-US" altLang="zh-CN" sz="2600" dirty="0" smtClean="0"/>
              <a:t>2</a:t>
            </a:r>
            <a:r>
              <a:rPr lang="zh-CN" altLang="en-US" sz="2600" dirty="0" smtClean="0"/>
              <a:t>、验收标准</a:t>
            </a:r>
            <a:r>
              <a:rPr lang="zh-CN" altLang="en-US" sz="2600" dirty="0" smtClean="0"/>
              <a:t>：从采集平台原始数据中选取符合标准的</a:t>
            </a:r>
            <a:r>
              <a:rPr lang="en-US" altLang="zh-CN" sz="2600" dirty="0" smtClean="0"/>
              <a:t>10</a:t>
            </a:r>
            <a:r>
              <a:rPr lang="zh-CN" altLang="en-US" sz="2600" dirty="0" smtClean="0"/>
              <a:t>*</a:t>
            </a:r>
            <a:r>
              <a:rPr lang="en-US" altLang="zh-CN" sz="2600" dirty="0" smtClean="0"/>
              <a:t>24</a:t>
            </a:r>
            <a:r>
              <a:rPr lang="zh-CN" altLang="en-US" sz="2600" dirty="0" smtClean="0"/>
              <a:t>张手势照片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42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80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2204839"/>
            <a:ext cx="7772400" cy="18002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400" dirty="0" smtClean="0"/>
              <a:t>神经网络算法训练</a:t>
            </a:r>
            <a:endParaRPr lang="zh-CN" altLang="en-US" sz="4800" dirty="0"/>
          </a:p>
        </p:txBody>
      </p:sp>
      <p:sp>
        <p:nvSpPr>
          <p:cNvPr id="3" name="标题 1"/>
          <p:cNvSpPr txBox="1">
            <a:spLocks/>
          </p:cNvSpPr>
          <p:nvPr/>
        </p:nvSpPr>
        <p:spPr bwMode="auto">
          <a:xfrm>
            <a:off x="805860" y="3284775"/>
            <a:ext cx="77724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i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0" dirty="0" smtClean="0"/>
              <a:t>使用</a:t>
            </a:r>
            <a:r>
              <a:rPr lang="en-US" altLang="zh-CN" sz="2800" b="0" dirty="0" err="1" smtClean="0"/>
              <a:t>Jupyter</a:t>
            </a:r>
            <a:r>
              <a:rPr lang="en-US" altLang="zh-CN" sz="2800" b="0" dirty="0" smtClean="0"/>
              <a:t> notebook</a:t>
            </a:r>
            <a:r>
              <a:rPr lang="zh-CN" altLang="en-US" sz="2800" b="0" dirty="0" smtClean="0"/>
              <a:t>教学</a:t>
            </a:r>
            <a:endParaRPr lang="zh-CN" altLang="en-US" sz="2800" b="0" dirty="0"/>
          </a:p>
        </p:txBody>
      </p:sp>
      <p:sp>
        <p:nvSpPr>
          <p:cNvPr id="4" name="矩形 3"/>
          <p:cNvSpPr/>
          <p:nvPr/>
        </p:nvSpPr>
        <p:spPr>
          <a:xfrm>
            <a:off x="3559073" y="2132856"/>
            <a:ext cx="204414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手势识别神经网络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93500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 smtClean="0"/>
              <a:t>1</a:t>
            </a:r>
            <a:r>
              <a:rPr lang="zh-CN" altLang="en-US" sz="2600" dirty="0" smtClean="0"/>
              <a:t>、时间安排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天 </a:t>
            </a:r>
            <a:r>
              <a:rPr lang="en-US" altLang="zh-CN" sz="2400" dirty="0"/>
              <a:t>7.6 - 7.9 </a:t>
            </a:r>
            <a:r>
              <a:rPr lang="zh-CN" altLang="en-US" sz="2600" dirty="0" smtClean="0"/>
              <a:t>）</a:t>
            </a:r>
            <a:endParaRPr lang="en-US" altLang="zh-CN" sz="2600" dirty="0" smtClean="0"/>
          </a:p>
          <a:p>
            <a:r>
              <a:rPr lang="en-US" altLang="zh-CN" sz="2600" dirty="0" smtClean="0"/>
              <a:t>2</a:t>
            </a:r>
            <a:r>
              <a:rPr lang="zh-CN" altLang="en-US" sz="2600" dirty="0" smtClean="0"/>
              <a:t>、验收标准</a:t>
            </a:r>
            <a:r>
              <a:rPr lang="zh-CN" altLang="en-US" sz="2600" dirty="0" smtClean="0"/>
              <a:t>：训练手势</a:t>
            </a:r>
            <a:r>
              <a:rPr lang="en-US" altLang="zh-CN" sz="2600" dirty="0" smtClean="0"/>
              <a:t>10</a:t>
            </a:r>
            <a:r>
              <a:rPr lang="zh-CN" altLang="en-US" sz="2600" dirty="0" smtClean="0"/>
              <a:t>分类神经网络，总体正确率达到</a:t>
            </a:r>
            <a:r>
              <a:rPr lang="en-US" altLang="zh-CN" sz="2600" dirty="0" smtClean="0"/>
              <a:t>90%</a:t>
            </a:r>
            <a:r>
              <a:rPr lang="zh-CN" altLang="en-US" sz="2600" dirty="0" smtClean="0"/>
              <a:t>以上</a:t>
            </a:r>
            <a:endParaRPr lang="en-US" altLang="zh-CN" sz="2200" dirty="0" smtClean="0"/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44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33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504"/>
  <p:tag name="DEFAULTHEIGHT" val="315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26084</TotalTime>
  <Words>3362</Words>
  <Application>Microsoft Office PowerPoint</Application>
  <PresentationFormat>全屏显示(4:3)</PresentationFormat>
  <Paragraphs>535</Paragraphs>
  <Slides>44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5" baseType="lpstr">
      <vt:lpstr>默认设计模板</vt:lpstr>
      <vt:lpstr>集成电路基础实验 实验七 手势识别</vt:lpstr>
      <vt:lpstr>手势识别</vt:lpstr>
      <vt:lpstr>手势识别实验安排（夏季学期）</vt:lpstr>
      <vt:lpstr>SCCB通信接口模块设计</vt:lpstr>
      <vt:lpstr>基于DE2-115平台的OV7725图像采集系统</vt:lpstr>
      <vt:lpstr>OV7725</vt:lpstr>
      <vt:lpstr>OV7725</vt:lpstr>
      <vt:lpstr>OV7725</vt:lpstr>
      <vt:lpstr>OV7725 时钟输入</vt:lpstr>
      <vt:lpstr>OV7725 SCCB接口简介</vt:lpstr>
      <vt:lpstr>OV7725 SCCB接口要点</vt:lpstr>
      <vt:lpstr>OV7725 SCCB接口要点</vt:lpstr>
      <vt:lpstr>OV7725 SCCB接口要点</vt:lpstr>
      <vt:lpstr>OV7725 SCCB接口时序要点</vt:lpstr>
      <vt:lpstr>OV7725 SCCB接口时序要点</vt:lpstr>
      <vt:lpstr>OV7725 SCCB接口时序要点</vt:lpstr>
      <vt:lpstr>OV7725 寄存器介绍</vt:lpstr>
      <vt:lpstr>OV7725 寄存器介绍</vt:lpstr>
      <vt:lpstr>OV7725 寄存器介绍</vt:lpstr>
      <vt:lpstr>OV7725 寄存器介绍</vt:lpstr>
      <vt:lpstr>OV7725 寄存器介绍</vt:lpstr>
      <vt:lpstr>OV7725 寄存器介绍</vt:lpstr>
      <vt:lpstr>OV7725 图像数据采集</vt:lpstr>
      <vt:lpstr>OV7725 图像数据采集</vt:lpstr>
      <vt:lpstr>OV7725 图像数据采集</vt:lpstr>
      <vt:lpstr>OV7725 图像数据采集</vt:lpstr>
      <vt:lpstr>SDRAM注意事项（资料见DE2-115手册）</vt:lpstr>
      <vt:lpstr>PowerPoint 演示文稿</vt:lpstr>
      <vt:lpstr>RAW RGB到RGB888 图像格式转换</vt:lpstr>
      <vt:lpstr>基于DE2-115平台的OV7725图像采集系统</vt:lpstr>
      <vt:lpstr>提供的代码</vt:lpstr>
      <vt:lpstr>格式转换模块IO接口</vt:lpstr>
      <vt:lpstr>图像转换模块要做的事情（简要）：</vt:lpstr>
      <vt:lpstr>图像的获取</vt:lpstr>
      <vt:lpstr>格式转换</vt:lpstr>
      <vt:lpstr>RAW RGB插值</vt:lpstr>
      <vt:lpstr>RAW RGB插值</vt:lpstr>
      <vt:lpstr>模块实现时考虑的问题：</vt:lpstr>
      <vt:lpstr>PowerPoint 演示文稿</vt:lpstr>
      <vt:lpstr>个人图像数据集搭建</vt:lpstr>
      <vt:lpstr>PowerPoint 演示文稿</vt:lpstr>
      <vt:lpstr>PowerPoint 演示文稿</vt:lpstr>
      <vt:lpstr>神经网络算法训练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</dc:title>
  <dc:creator>Zehua Lan</dc:creator>
  <cp:lastModifiedBy>HP</cp:lastModifiedBy>
  <cp:revision>1314</cp:revision>
  <dcterms:created xsi:type="dcterms:W3CDTF">2006-02-19T12:40:14Z</dcterms:created>
  <dcterms:modified xsi:type="dcterms:W3CDTF">2021-06-24T07:22:04Z</dcterms:modified>
</cp:coreProperties>
</file>