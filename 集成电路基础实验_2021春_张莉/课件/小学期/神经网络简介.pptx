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notesMasterIdLst>
    <p:notesMasterId r:id="rId22"/>
  </p:notesMasterIdLst>
  <p:handoutMasterIdLst>
    <p:handoutMasterId r:id="rId23"/>
  </p:handoutMasterIdLst>
  <p:sldIdLst>
    <p:sldId id="303" r:id="rId2"/>
    <p:sldId id="305" r:id="rId3"/>
    <p:sldId id="306" r:id="rId4"/>
    <p:sldId id="307" r:id="rId5"/>
    <p:sldId id="308" r:id="rId6"/>
    <p:sldId id="304" r:id="rId7"/>
    <p:sldId id="309" r:id="rId8"/>
    <p:sldId id="310" r:id="rId9"/>
    <p:sldId id="312" r:id="rId10"/>
    <p:sldId id="314" r:id="rId11"/>
    <p:sldId id="315" r:id="rId12"/>
    <p:sldId id="316" r:id="rId13"/>
    <p:sldId id="318" r:id="rId14"/>
    <p:sldId id="317" r:id="rId15"/>
    <p:sldId id="319" r:id="rId16"/>
    <p:sldId id="320" r:id="rId17"/>
    <p:sldId id="321" r:id="rId18"/>
    <p:sldId id="322" r:id="rId19"/>
    <p:sldId id="324" r:id="rId20"/>
    <p:sldId id="323" r:id="rId21"/>
  </p:sldIdLst>
  <p:sldSz cx="9144000" cy="6858000" type="screen4x3"/>
  <p:notesSz cx="7099300" cy="10234613"/>
  <p:custDataLst>
    <p:tags r:id="rId24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0000FF"/>
    <a:srgbClr val="CC00FF"/>
    <a:srgbClr val="008000"/>
    <a:srgbClr val="7AC2C8"/>
    <a:srgbClr val="D7CDFF"/>
    <a:srgbClr val="A08AFE"/>
    <a:srgbClr val="000066"/>
    <a:srgbClr val="ABA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11" autoAdjust="0"/>
    <p:restoredTop sz="92523" autoAdjust="0"/>
  </p:normalViewPr>
  <p:slideViewPr>
    <p:cSldViewPr>
      <p:cViewPr varScale="1">
        <p:scale>
          <a:sx n="105" d="100"/>
          <a:sy n="105" d="100"/>
        </p:scale>
        <p:origin x="-20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922" y="-102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E457DAD5-952A-44DF-99D1-3C89FBE63A39}" type="datetimeFigureOut">
              <a:rPr lang="zh-CN" altLang="en-US"/>
              <a:pPr>
                <a:defRPr/>
              </a:pPr>
              <a:t>2021/6/24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9DF42D14-F714-42F4-8D75-8769CFDB164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3053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75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fld id="{3D11ED7B-9607-43C3-9313-D8C303C4F5C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485606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5"/>
          <p:cNvSpPr>
            <a:spLocks noChangeShapeType="1"/>
          </p:cNvSpPr>
          <p:nvPr userDrawn="1"/>
        </p:nvSpPr>
        <p:spPr bwMode="auto">
          <a:xfrm>
            <a:off x="1835150" y="6021388"/>
            <a:ext cx="6904038" cy="0"/>
          </a:xfrm>
          <a:prstGeom prst="line">
            <a:avLst/>
          </a:prstGeom>
          <a:noFill/>
          <a:ln w="28575">
            <a:solidFill>
              <a:srgbClr val="660066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 userDrawn="1"/>
        </p:nvSpPr>
        <p:spPr bwMode="auto">
          <a:xfrm>
            <a:off x="1979613" y="6165850"/>
            <a:ext cx="554513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1600" b="1" dirty="0" smtClean="0">
                <a:solidFill>
                  <a:srgbClr val="660066"/>
                </a:solidFill>
                <a:latin typeface="Arial" charset="0"/>
              </a:rPr>
              <a:t>清华大学微电子与纳电子学系</a:t>
            </a:r>
            <a:endParaRPr lang="en-US" altLang="zh-CN" sz="1600" b="1" dirty="0">
              <a:solidFill>
                <a:srgbClr val="660066"/>
              </a:solidFill>
              <a:latin typeface="Arial" charset="0"/>
            </a:endParaRPr>
          </a:p>
        </p:txBody>
      </p:sp>
      <p:sp>
        <p:nvSpPr>
          <p:cNvPr id="385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5650" y="1484313"/>
            <a:ext cx="7772400" cy="1800225"/>
          </a:xfrm>
        </p:spPr>
        <p:txBody>
          <a:bodyPr/>
          <a:lstStyle>
            <a:lvl1pPr algn="ctr">
              <a:defRPr sz="4000" i="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850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 dirty="0"/>
              <a:t>单击此处编辑母版副标题样式</a:t>
            </a:r>
          </a:p>
        </p:txBody>
      </p:sp>
      <p:pic>
        <p:nvPicPr>
          <p:cNvPr id="9" name="图片 8" descr="IME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4941168"/>
            <a:ext cx="1845838" cy="1916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039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i="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9B028A-D22A-493A-9229-E70FA774430F}" type="slidenum">
              <a:rPr lang="ko-KR" altLang="en-US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94137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i="0" cap="all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D044E9-94A1-4358-86D9-944DC4CB2E33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96947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i="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8"/>
            <a:ext cx="4038600" cy="50403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50403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FF835E-7ADA-46B7-8EFA-CE693C298C46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47757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 i="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B13C85-8E0F-41CC-8651-3787FBD5355E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66162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i="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3BD936-3346-4CA9-8CE5-2021D2551FD0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23162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50EC97-E344-49BB-AF44-3FA9C701273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99102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 i="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079332-F903-4944-A421-4819396B4659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287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 i="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0BE74B-FF64-42AD-8CB3-B7617FBE66AF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52587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i="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4FF329-7D7F-4EFE-B935-5A329301207D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66423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91212"/>
          </a:xfrm>
        </p:spPr>
        <p:txBody>
          <a:bodyPr vert="eaVert"/>
          <a:lstStyle>
            <a:lvl1pPr>
              <a:defRPr i="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912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DA75C8-3A80-4647-A5F9-9C839B635396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675842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>
            <a:lvl1pPr>
              <a:defRPr i="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8"/>
            <a:ext cx="8229600" cy="24431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3721100"/>
            <a:ext cx="8229600" cy="24447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2DA34F-D232-4B84-8CDE-DAFC3D460B6E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57437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>
            <a:lvl1pPr>
              <a:defRPr i="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8"/>
            <a:ext cx="4038600" cy="504031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125538"/>
            <a:ext cx="4038600" cy="24431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721100"/>
            <a:ext cx="4038600" cy="24447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4F4B61-8DCE-44AD-AA8C-ACDB389F5397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808270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>
            <a:lvl1pPr>
              <a:defRPr i="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8"/>
            <a:ext cx="4038600" cy="504031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48200" y="1125538"/>
            <a:ext cx="4038600" cy="504031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5798F1-BB9C-4D2A-89B8-0549E595F9D9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84043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标题和两项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>
            <a:lvl1pPr>
              <a:defRPr i="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125538"/>
            <a:ext cx="4038600" cy="24431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125538"/>
            <a:ext cx="4038600" cy="24431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3"/>
          </p:nvPr>
        </p:nvSpPr>
        <p:spPr>
          <a:xfrm>
            <a:off x="457200" y="3721100"/>
            <a:ext cx="8229600" cy="24447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27AD63-A2B2-4938-B43C-16E11ED2EA65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740643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>
  <p:cSld name="标题，文本与媒体剪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媒体占位符 3"/>
          <p:cNvSpPr>
            <a:spLocks noGrp="1"/>
          </p:cNvSpPr>
          <p:nvPr>
            <p:ph type="media"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 smtClean="0"/>
          </a:p>
        </p:txBody>
      </p:sp>
    </p:spTree>
    <p:extLst>
      <p:ext uri="{BB962C8B-B14F-4D97-AF65-F5344CB8AC3E}">
        <p14:creationId xmlns:p14="http://schemas.microsoft.com/office/powerpoint/2010/main" val="12800421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2CEC1D-69EB-C641-95D9-18ED192C26C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917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06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504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Line 7"/>
          <p:cNvSpPr>
            <a:spLocks noChangeShapeType="1"/>
          </p:cNvSpPr>
          <p:nvPr userDrawn="1"/>
        </p:nvSpPr>
        <p:spPr bwMode="auto">
          <a:xfrm>
            <a:off x="457200" y="1052513"/>
            <a:ext cx="8229600" cy="0"/>
          </a:xfrm>
          <a:prstGeom prst="line">
            <a:avLst/>
          </a:prstGeom>
          <a:noFill/>
          <a:ln w="28575">
            <a:solidFill>
              <a:srgbClr val="660066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1029" name="Line 8"/>
          <p:cNvSpPr>
            <a:spLocks noChangeShapeType="1"/>
          </p:cNvSpPr>
          <p:nvPr userDrawn="1"/>
        </p:nvSpPr>
        <p:spPr bwMode="auto">
          <a:xfrm>
            <a:off x="755650" y="6453188"/>
            <a:ext cx="7696200" cy="0"/>
          </a:xfrm>
          <a:prstGeom prst="line">
            <a:avLst/>
          </a:prstGeom>
          <a:noFill/>
          <a:ln w="28575">
            <a:solidFill>
              <a:srgbClr val="660066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1030" name="Text Box 10"/>
          <p:cNvSpPr txBox="1">
            <a:spLocks noChangeArrowheads="1"/>
          </p:cNvSpPr>
          <p:nvPr userDrawn="1"/>
        </p:nvSpPr>
        <p:spPr bwMode="auto">
          <a:xfrm>
            <a:off x="1979613" y="6524625"/>
            <a:ext cx="554513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1200" b="1" dirty="0" smtClean="0">
                <a:solidFill>
                  <a:srgbClr val="660066"/>
                </a:solidFill>
                <a:latin typeface="Arial" charset="0"/>
              </a:rPr>
              <a:t>清华大学微电子与纳电子学系</a:t>
            </a:r>
            <a:endParaRPr lang="en-US" altLang="zh-CN" sz="1200" b="1" dirty="0">
              <a:solidFill>
                <a:srgbClr val="660066"/>
              </a:solidFill>
              <a:latin typeface="Arial" charset="0"/>
            </a:endParaRPr>
          </a:p>
        </p:txBody>
      </p:sp>
      <p:sp>
        <p:nvSpPr>
          <p:cNvPr id="378891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53425" y="6534150"/>
            <a:ext cx="790575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660066"/>
                </a:solidFill>
                <a:ea typeface="Gulim" panose="020B0600000101010101" pitchFamily="34" charset="-127"/>
              </a:defRPr>
            </a:lvl1pPr>
          </a:lstStyle>
          <a:p>
            <a:fld id="{A5E56957-F3F7-4563-9E14-A86B775784F8}" type="slidenum">
              <a:rPr lang="ko-KR" altLang="en-US"/>
              <a:pPr/>
              <a:t>‹#›</a:t>
            </a:fld>
            <a:endParaRPr lang="en-US" altLang="ko-KR"/>
          </a:p>
        </p:txBody>
      </p:sp>
      <p:pic>
        <p:nvPicPr>
          <p:cNvPr id="11" name="图片 10" descr="IME.png"/>
          <p:cNvPicPr>
            <a:picLocks noChangeAspect="1"/>
          </p:cNvPicPr>
          <p:nvPr userDrawn="1"/>
        </p:nvPicPr>
        <p:blipFill>
          <a:blip r:embed="rId19" cstate="print"/>
          <a:stretch>
            <a:fillRect/>
          </a:stretch>
        </p:blipFill>
        <p:spPr>
          <a:xfrm>
            <a:off x="0" y="5877272"/>
            <a:ext cx="944405" cy="98072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61" r:id="rId1"/>
    <p:sldLayoutId id="2147484447" r:id="rId2"/>
    <p:sldLayoutId id="2147484448" r:id="rId3"/>
    <p:sldLayoutId id="2147484449" r:id="rId4"/>
    <p:sldLayoutId id="2147484450" r:id="rId5"/>
    <p:sldLayoutId id="2147484451" r:id="rId6"/>
    <p:sldLayoutId id="2147484452" r:id="rId7"/>
    <p:sldLayoutId id="2147484453" r:id="rId8"/>
    <p:sldLayoutId id="2147484454" r:id="rId9"/>
    <p:sldLayoutId id="2147484455" r:id="rId10"/>
    <p:sldLayoutId id="2147484456" r:id="rId11"/>
    <p:sldLayoutId id="2147484457" r:id="rId12"/>
    <p:sldLayoutId id="2147484458" r:id="rId13"/>
    <p:sldLayoutId id="2147484459" r:id="rId14"/>
    <p:sldLayoutId id="2147484460" r:id="rId15"/>
    <p:sldLayoutId id="2147484462" r:id="rId16"/>
    <p:sldLayoutId id="2147484463" r:id="rId17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 i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 i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 i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 i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52736" y="980728"/>
            <a:ext cx="6838528" cy="338484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4400" dirty="0" smtClean="0"/>
              <a:t>集成电路基础实验</a:t>
            </a:r>
            <a:r>
              <a:rPr lang="en-US" altLang="zh-CN" sz="4800" dirty="0" smtClean="0"/>
              <a:t/>
            </a:r>
            <a:br>
              <a:rPr lang="en-US" altLang="zh-CN" sz="4800" dirty="0" smtClean="0"/>
            </a:br>
            <a:r>
              <a:rPr lang="zh-CN" altLang="en-US" sz="4400" dirty="0">
                <a:solidFill>
                  <a:srgbClr val="0000FF"/>
                </a:solidFill>
              </a:rPr>
              <a:t>机器学习与神经网络简介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4797152"/>
            <a:ext cx="6400800" cy="838944"/>
          </a:xfrm>
        </p:spPr>
        <p:txBody>
          <a:bodyPr/>
          <a:lstStyle/>
          <a:p>
            <a:r>
              <a:rPr lang="en-US" altLang="zh-CN" dirty="0" smtClean="0"/>
              <a:t>2021-06-07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18304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机器学习算法：从数据中学习的算法</a:t>
            </a:r>
            <a:endParaRPr lang="en-US" altLang="zh-CN" dirty="0" smtClean="0"/>
          </a:p>
          <a:p>
            <a:r>
              <a:rPr lang="zh-CN" altLang="en-US" dirty="0" smtClean="0"/>
              <a:t>学习：对于某类任务</a:t>
            </a:r>
            <a:r>
              <a:rPr lang="en-US" altLang="zh-CN" dirty="0" smtClean="0"/>
              <a:t>T</a:t>
            </a:r>
            <a:r>
              <a:rPr lang="zh-CN" altLang="en-US" dirty="0" smtClean="0"/>
              <a:t>和性能度量</a:t>
            </a:r>
            <a:r>
              <a:rPr lang="en-US" altLang="zh-CN" dirty="0" smtClean="0"/>
              <a:t>P</a:t>
            </a:r>
            <a:r>
              <a:rPr lang="zh-CN" altLang="en-US" dirty="0" smtClean="0"/>
              <a:t>，一个计算机程序被认为可以从经验</a:t>
            </a:r>
            <a:r>
              <a:rPr lang="en-US" altLang="zh-CN" dirty="0" smtClean="0"/>
              <a:t>E</a:t>
            </a:r>
            <a:r>
              <a:rPr lang="zh-CN" altLang="en-US" dirty="0" smtClean="0"/>
              <a:t>中学习是指，通过经验</a:t>
            </a:r>
            <a:r>
              <a:rPr lang="en-US" altLang="zh-CN" dirty="0" smtClean="0"/>
              <a:t>E</a:t>
            </a:r>
            <a:r>
              <a:rPr lang="zh-CN" altLang="en-US" dirty="0" smtClean="0"/>
              <a:t>改进后，它在任务</a:t>
            </a:r>
            <a:r>
              <a:rPr lang="en-US" altLang="zh-CN" dirty="0" smtClean="0"/>
              <a:t>T</a:t>
            </a:r>
            <a:r>
              <a:rPr lang="zh-CN" altLang="en-US" dirty="0" smtClean="0"/>
              <a:t>上由性能度量</a:t>
            </a:r>
            <a:r>
              <a:rPr lang="en-US" altLang="zh-CN" dirty="0" smtClean="0"/>
              <a:t>P</a:t>
            </a:r>
            <a:r>
              <a:rPr lang="zh-CN" altLang="en-US" dirty="0" smtClean="0"/>
              <a:t>衡量的性能有所提升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任务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性能度量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经验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机器学习的定义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2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57936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2519486"/>
          </a:xfrm>
        </p:spPr>
        <p:txBody>
          <a:bodyPr/>
          <a:lstStyle/>
          <a:p>
            <a:r>
              <a:rPr lang="zh-CN" altLang="en-US" dirty="0"/>
              <a:t>任务：机器学习系统如何处理样本（</a:t>
            </a:r>
            <a:r>
              <a:rPr lang="en-US" altLang="zh-CN" dirty="0"/>
              <a:t>Sample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学习过程本身不是任务</a:t>
            </a:r>
            <a:endParaRPr lang="en-US" altLang="zh-CN" dirty="0"/>
          </a:p>
          <a:p>
            <a:r>
              <a:rPr lang="zh-CN" altLang="en-US" dirty="0"/>
              <a:t>样本：从希望机器学习系统处理的对象或时间中收集到的已经量化的特征（</a:t>
            </a:r>
            <a:r>
              <a:rPr lang="en-US" altLang="zh-CN" dirty="0"/>
              <a:t>feature</a:t>
            </a:r>
            <a:r>
              <a:rPr lang="zh-CN" altLang="en-US" dirty="0"/>
              <a:t>）的</a:t>
            </a:r>
            <a:r>
              <a:rPr lang="zh-CN" altLang="en-US" dirty="0" smtClean="0"/>
              <a:t>集合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通常以向量或矩阵形式表示</a:t>
            </a:r>
            <a:endParaRPr lang="en-US" altLang="zh-CN" dirty="0"/>
          </a:p>
          <a:p>
            <a:r>
              <a:rPr lang="zh-CN" altLang="en-US" dirty="0" smtClean="0"/>
              <a:t>常见的机器学习任务：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Task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3</a:t>
            </a:fld>
            <a:endParaRPr lang="en-US" altLang="ko-K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827832" y="3959771"/>
                <a:ext cx="7920880" cy="2349549"/>
              </a:xfrm>
              <a:prstGeom prst="rect">
                <a:avLst/>
              </a:prstGeom>
            </p:spPr>
            <p:txBody>
              <a:bodyPr numCol="2">
                <a:noAutofit/>
              </a:bodyPr>
              <a:lstStyle/>
              <a:p>
                <a:pPr marL="309150" lvl="1" indent="-342900">
                  <a:buFont typeface="Wingdings" panose="05000000000000000000" pitchFamily="2" charset="2"/>
                  <a:buChar char="ü"/>
                </a:pPr>
                <a:r>
                  <a:rPr lang="zh-CN" altLang="en-US" dirty="0" smtClean="0"/>
                  <a:t>分类：指定某些输入属于</a:t>
                </a:r>
                <a:r>
                  <a:rPr lang="en-US" altLang="zh-CN" i="1" dirty="0" smtClean="0"/>
                  <a:t>k</a:t>
                </a:r>
                <a:r>
                  <a:rPr lang="zh-CN" altLang="en-US" dirty="0" smtClean="0"/>
                  <a:t>类中的哪一类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1,…,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dirty="0" smtClean="0"/>
                  <a:t>，或者不同类别的概率</a:t>
                </a:r>
                <a:endParaRPr lang="en-US" altLang="zh-CN" dirty="0"/>
              </a:p>
              <a:p>
                <a:pPr marL="309150" lvl="1" indent="-342900">
                  <a:buFont typeface="Wingdings" panose="05000000000000000000" pitchFamily="2" charset="2"/>
                  <a:buChar char="ü"/>
                </a:pPr>
                <a:r>
                  <a:rPr lang="zh-CN" altLang="en-US" dirty="0"/>
                  <a:t>输入缺失</a:t>
                </a:r>
                <a:r>
                  <a:rPr lang="zh-CN" altLang="en-US" dirty="0" smtClean="0"/>
                  <a:t>分类：输入向量的某些分量缺失，比如医疗诊断</a:t>
                </a:r>
                <a:endParaRPr lang="en-US" altLang="zh-CN" dirty="0"/>
              </a:p>
              <a:p>
                <a:pPr marL="309150" lvl="1" indent="-342900">
                  <a:buFont typeface="Wingdings" panose="05000000000000000000" pitchFamily="2" charset="2"/>
                  <a:buChar char="ü"/>
                </a:pPr>
                <a:r>
                  <a:rPr lang="zh-CN" altLang="en-US" dirty="0" smtClean="0"/>
                  <a:t>回归：输出预测数值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zh-CN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zh-CN" altLang="en-US" dirty="0" smtClean="0"/>
                  <a:t>，比如保险赔付</a:t>
                </a:r>
                <a:endParaRPr lang="en-US" altLang="zh-CN" dirty="0"/>
              </a:p>
              <a:p>
                <a:pPr marL="309150" lvl="1" indent="-342900">
                  <a:buFont typeface="Wingdings" panose="05000000000000000000" pitchFamily="2" charset="2"/>
                  <a:buChar char="ü"/>
                </a:pPr>
                <a:r>
                  <a:rPr lang="zh-CN" altLang="en-US" dirty="0" smtClean="0"/>
                  <a:t>转录：输出离散文本信息，比如</a:t>
                </a:r>
                <a:r>
                  <a:rPr lang="en-US" altLang="zh-CN" dirty="0" smtClean="0"/>
                  <a:t>OCR</a:t>
                </a:r>
                <a:r>
                  <a:rPr lang="zh-CN" altLang="en-US" dirty="0" smtClean="0"/>
                  <a:t>、语音识别</a:t>
                </a:r>
                <a:endParaRPr lang="en-US" altLang="zh-CN" dirty="0"/>
              </a:p>
              <a:p>
                <a:pPr marL="309150" lvl="1" indent="-342900">
                  <a:buFont typeface="Wingdings" panose="05000000000000000000" pitchFamily="2" charset="2"/>
                  <a:buChar char="ü"/>
                </a:pPr>
                <a:r>
                  <a:rPr lang="zh-CN" altLang="en-US" dirty="0"/>
                  <a:t>机器翻译</a:t>
                </a:r>
                <a:endParaRPr lang="en-US" altLang="zh-CN" dirty="0"/>
              </a:p>
              <a:p>
                <a:pPr marL="309150" lvl="1" indent="-342900">
                  <a:buFont typeface="Wingdings" panose="05000000000000000000" pitchFamily="2" charset="2"/>
                  <a:buChar char="ü"/>
                </a:pPr>
                <a:r>
                  <a:rPr lang="zh-CN" altLang="en-US" dirty="0"/>
                  <a:t>结构输出</a:t>
                </a:r>
                <a:endParaRPr lang="en-US" altLang="zh-CN" dirty="0"/>
              </a:p>
              <a:p>
                <a:pPr marL="309150" lvl="1" indent="-342900">
                  <a:buFont typeface="Wingdings" panose="05000000000000000000" pitchFamily="2" charset="2"/>
                  <a:buChar char="ü"/>
                </a:pPr>
                <a:r>
                  <a:rPr lang="zh-CN" altLang="en-US" dirty="0"/>
                  <a:t>异常检测</a:t>
                </a:r>
                <a:endParaRPr lang="en-US" altLang="zh-CN" dirty="0"/>
              </a:p>
              <a:p>
                <a:pPr marL="309150" lvl="1" indent="-342900">
                  <a:buFont typeface="Wingdings" panose="05000000000000000000" pitchFamily="2" charset="2"/>
                  <a:buChar char="ü"/>
                </a:pPr>
                <a:r>
                  <a:rPr lang="zh-CN" altLang="en-US" dirty="0"/>
                  <a:t>合成和</a:t>
                </a:r>
                <a:r>
                  <a:rPr lang="zh-CN" altLang="en-US" dirty="0" smtClean="0"/>
                  <a:t>采样：比如视频合成</a:t>
                </a:r>
                <a:endParaRPr lang="en-US" altLang="zh-CN" dirty="0" smtClean="0"/>
              </a:p>
              <a:p>
                <a:pPr marL="309150" lvl="1" indent="-342900">
                  <a:buFont typeface="Wingdings" panose="05000000000000000000" pitchFamily="2" charset="2"/>
                  <a:buChar char="ü"/>
                </a:pPr>
                <a:r>
                  <a:rPr lang="zh-CN" altLang="en-US" dirty="0" smtClean="0"/>
                  <a:t>缺失值填补</a:t>
                </a:r>
                <a:endParaRPr lang="en-US" altLang="zh-CN" dirty="0" smtClean="0"/>
              </a:p>
              <a:p>
                <a:pPr marL="309150" lvl="1" indent="-342900">
                  <a:buFont typeface="Wingdings" panose="05000000000000000000" pitchFamily="2" charset="2"/>
                  <a:buChar char="ü"/>
                </a:pPr>
                <a:r>
                  <a:rPr lang="zh-CN" altLang="en-US" dirty="0" smtClean="0"/>
                  <a:t>去噪</a:t>
                </a:r>
                <a:endParaRPr lang="en-US" altLang="zh-CN" dirty="0" smtClean="0"/>
              </a:p>
              <a:p>
                <a:pPr marL="309150" lvl="1" indent="-342900">
                  <a:buFont typeface="Wingdings" panose="05000000000000000000" pitchFamily="2" charset="2"/>
                  <a:buChar char="ü"/>
                </a:pPr>
                <a:r>
                  <a:rPr lang="zh-CN" altLang="en-US" dirty="0" smtClean="0"/>
                  <a:t>密度估计或概率质量函数估计</a:t>
                </a:r>
                <a:endParaRPr 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832" y="3959771"/>
                <a:ext cx="7920880" cy="2349549"/>
              </a:xfrm>
              <a:prstGeom prst="rect">
                <a:avLst/>
              </a:prstGeom>
              <a:blipFill>
                <a:blip r:embed="rId2"/>
                <a:stretch>
                  <a:fillRect l="-539" t="-2078" b="-1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0242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性能度量的方法与任务属性相关</a:t>
            </a:r>
            <a:endParaRPr lang="en-US" altLang="zh-CN" dirty="0" smtClean="0"/>
          </a:p>
          <a:p>
            <a:r>
              <a:rPr lang="zh-CN" altLang="en-US" dirty="0" smtClean="0"/>
              <a:t>例如：分类、缺失输入分类、转录等任务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准确率（</a:t>
            </a:r>
            <a:r>
              <a:rPr lang="en-US" altLang="zh-CN" dirty="0" smtClean="0"/>
              <a:t>accuracy</a:t>
            </a:r>
            <a:r>
              <a:rPr lang="zh-CN" altLang="en-US" dirty="0" smtClean="0"/>
              <a:t>）：模型输出正确结果的样本比率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错误率（</a:t>
            </a:r>
            <a:r>
              <a:rPr lang="en-US" altLang="zh-CN" dirty="0" err="1" smtClean="0"/>
              <a:t>errorrate</a:t>
            </a:r>
            <a:r>
              <a:rPr lang="zh-CN" altLang="en-US" dirty="0" smtClean="0"/>
              <a:t>）</a:t>
            </a:r>
            <a:r>
              <a:rPr lang="zh-CN" altLang="en-US" dirty="0"/>
              <a:t>：</a:t>
            </a:r>
            <a:r>
              <a:rPr lang="zh-CN" altLang="en-US" dirty="0" smtClean="0"/>
              <a:t>模型输出</a:t>
            </a:r>
            <a:r>
              <a:rPr lang="zh-CN" altLang="en-US" dirty="0"/>
              <a:t>错误</a:t>
            </a:r>
            <a:r>
              <a:rPr lang="zh-CN" altLang="en-US" dirty="0" smtClean="0"/>
              <a:t>结果</a:t>
            </a:r>
            <a:r>
              <a:rPr lang="zh-CN" altLang="en-US" dirty="0"/>
              <a:t>的样本比率</a:t>
            </a:r>
            <a:endParaRPr lang="en-US" altLang="zh-CN" dirty="0"/>
          </a:p>
          <a:p>
            <a:pPr lvl="1"/>
            <a:r>
              <a:rPr lang="zh-CN" altLang="en-US" dirty="0" smtClean="0"/>
              <a:t>错误率又称为</a:t>
            </a:r>
            <a:r>
              <a:rPr lang="en-US" altLang="zh-CN" dirty="0" smtClean="0"/>
              <a:t>0-1</a:t>
            </a:r>
            <a:r>
              <a:rPr lang="zh-CN" altLang="en-US" dirty="0" smtClean="0"/>
              <a:t>损失的期望</a:t>
            </a:r>
            <a:endParaRPr lang="en-US" altLang="zh-CN" dirty="0" smtClean="0"/>
          </a:p>
          <a:p>
            <a:r>
              <a:rPr lang="zh-CN" altLang="en-US" dirty="0" smtClean="0"/>
              <a:t>数据集（</a:t>
            </a:r>
            <a:r>
              <a:rPr lang="en-US" altLang="zh-CN" dirty="0" smtClean="0"/>
              <a:t>dataset</a:t>
            </a:r>
            <a:r>
              <a:rPr lang="zh-CN" altLang="en-US" dirty="0" smtClean="0"/>
              <a:t>）：很多样本组成的集合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样本又称作数据点（</a:t>
            </a:r>
            <a:r>
              <a:rPr lang="en-US" altLang="zh-CN" dirty="0" smtClean="0"/>
              <a:t>data point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训练集（</a:t>
            </a:r>
            <a:r>
              <a:rPr lang="en-US" altLang="zh-CN" dirty="0" smtClean="0"/>
              <a:t>training set</a:t>
            </a:r>
            <a:r>
              <a:rPr lang="zh-CN" altLang="en-US" dirty="0" smtClean="0"/>
              <a:t>）</a:t>
            </a:r>
            <a:r>
              <a:rPr lang="zh-CN" altLang="en-US" dirty="0"/>
              <a:t>数据</a:t>
            </a:r>
            <a:r>
              <a:rPr lang="zh-CN" altLang="en-US" dirty="0" smtClean="0"/>
              <a:t>：用于</a:t>
            </a:r>
            <a:r>
              <a:rPr lang="zh-CN" altLang="en-US" dirty="0"/>
              <a:t>训练</a:t>
            </a:r>
            <a:r>
              <a:rPr lang="zh-CN" altLang="en-US" dirty="0" smtClean="0"/>
              <a:t>学习系统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测试集（</a:t>
            </a:r>
            <a:r>
              <a:rPr lang="en-US" altLang="zh-CN" dirty="0" smtClean="0"/>
              <a:t>test set</a:t>
            </a:r>
            <a:r>
              <a:rPr lang="zh-CN" altLang="en-US" dirty="0" smtClean="0"/>
              <a:t>）数据：用于评估系统性能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性能度量</a:t>
            </a:r>
            <a:r>
              <a:rPr lang="en-US" altLang="zh-CN" dirty="0"/>
              <a:t> </a:t>
            </a:r>
            <a:r>
              <a:rPr lang="en-US" altLang="zh-CN" dirty="0" smtClean="0"/>
              <a:t>Performance Measure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4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00813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根据学习过程中的不同经验，机器学习可分为无监督学习（</a:t>
            </a:r>
            <a:r>
              <a:rPr lang="en-US" altLang="zh-CN" dirty="0" smtClean="0"/>
              <a:t>unsupervised</a:t>
            </a:r>
            <a:r>
              <a:rPr lang="zh-CN" altLang="en-US" dirty="0" smtClean="0"/>
              <a:t>）和监督（</a:t>
            </a:r>
            <a:r>
              <a:rPr lang="en-US" altLang="zh-CN" dirty="0" smtClean="0"/>
              <a:t>supervised</a:t>
            </a:r>
            <a:r>
              <a:rPr lang="zh-CN" altLang="en-US" dirty="0" smtClean="0"/>
              <a:t>）算法</a:t>
            </a:r>
            <a:endParaRPr lang="en-US" altLang="zh-CN" dirty="0" smtClean="0"/>
          </a:p>
          <a:p>
            <a:r>
              <a:rPr lang="zh-CN" altLang="en-US" dirty="0" smtClean="0"/>
              <a:t>监督学习（</a:t>
            </a:r>
            <a:r>
              <a:rPr lang="en-US" altLang="zh-CN" dirty="0" smtClean="0"/>
              <a:t>supervised learning</a:t>
            </a:r>
            <a:r>
              <a:rPr lang="zh-CN" altLang="en-US" dirty="0" smtClean="0"/>
              <a:t>）：</a:t>
            </a:r>
            <a:r>
              <a:rPr lang="zh-CN" altLang="en-US" dirty="0"/>
              <a:t>训练</a:t>
            </a:r>
            <a:r>
              <a:rPr lang="zh-CN" altLang="en-US" dirty="0" smtClean="0"/>
              <a:t>数据集中的样本都有一个标签（</a:t>
            </a:r>
            <a:r>
              <a:rPr lang="en-US" altLang="zh-CN" dirty="0" smtClean="0"/>
              <a:t>label</a:t>
            </a:r>
            <a:r>
              <a:rPr lang="zh-CN" altLang="en-US" dirty="0" smtClean="0"/>
              <a:t>）或者目标（</a:t>
            </a:r>
            <a:r>
              <a:rPr lang="en-US" altLang="zh-CN" dirty="0" smtClean="0"/>
              <a:t>task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无监督学习（</a:t>
            </a:r>
            <a:r>
              <a:rPr lang="en-US" altLang="zh-CN" dirty="0" smtClean="0"/>
              <a:t>unsupervised learning</a:t>
            </a:r>
            <a:r>
              <a:rPr lang="zh-CN" altLang="en-US" dirty="0" smtClean="0"/>
              <a:t>）：训练含有很多特征的数据集，学习出这个数据集上有用的结构性质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密度估计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合成或降噪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聚类：将数据集分成相似样本的集合</a:t>
            </a:r>
            <a:endParaRPr 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经验</a:t>
            </a:r>
            <a:r>
              <a:rPr lang="en-US" altLang="zh-CN" dirty="0" smtClean="0"/>
              <a:t>Experience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5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74477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人工神经网络是模拟生物神经网络架构和功能的一种计算模型，可以用于实现机器学习</a:t>
            </a:r>
            <a:endParaRPr lang="en-US" altLang="zh-CN" dirty="0"/>
          </a:p>
          <a:p>
            <a:pPr lvl="1"/>
            <a:r>
              <a:rPr lang="zh-CN" altLang="en-US" dirty="0" smtClean="0"/>
              <a:t>像人类神经系统一样接收、处理和传递信息</a:t>
            </a:r>
            <a:endParaRPr lang="en-US" dirty="0" smtClean="0"/>
          </a:p>
          <a:p>
            <a:r>
              <a:rPr lang="zh-CN" altLang="en-US" dirty="0" smtClean="0"/>
              <a:t>神经网络的三层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输入层  </a:t>
            </a:r>
            <a:r>
              <a:rPr lang="en-US" altLang="zh-CN" dirty="0" smtClean="0"/>
              <a:t>input layer</a:t>
            </a:r>
          </a:p>
          <a:p>
            <a:pPr lvl="1"/>
            <a:r>
              <a:rPr lang="zh-CN" altLang="en-US" dirty="0"/>
              <a:t>隐藏</a:t>
            </a:r>
            <a:r>
              <a:rPr lang="zh-CN" altLang="en-US" dirty="0" smtClean="0"/>
              <a:t>层  </a:t>
            </a:r>
            <a:r>
              <a:rPr lang="en-US" altLang="zh-CN" dirty="0" smtClean="0"/>
              <a:t>Hidden layer(s)</a:t>
            </a:r>
          </a:p>
          <a:p>
            <a:pPr lvl="1"/>
            <a:r>
              <a:rPr lang="zh-CN" altLang="en-US" dirty="0" smtClean="0"/>
              <a:t>输出层  </a:t>
            </a:r>
            <a:r>
              <a:rPr lang="en-US" altLang="zh-CN" dirty="0" smtClean="0"/>
              <a:t>output layer</a:t>
            </a:r>
            <a:endParaRPr lang="en-US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 smtClean="0"/>
              <a:t>人工神经网络</a:t>
            </a:r>
            <a:r>
              <a:rPr lang="en-US" altLang="zh-CN" sz="2800" dirty="0" smtClean="0"/>
              <a:t>(</a:t>
            </a:r>
            <a:r>
              <a:rPr lang="en-US" sz="2800" dirty="0" smtClean="0"/>
              <a:t>Artificial Neural Network, ANN)</a:t>
            </a:r>
            <a:endParaRPr 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6</a:t>
            </a:fld>
            <a:endParaRPr lang="en-US" altLang="ko-KR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2852936"/>
            <a:ext cx="4257278" cy="2605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800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2231454"/>
          </a:xfrm>
        </p:spPr>
        <p:txBody>
          <a:bodyPr>
            <a:normAutofit fontScale="62500" lnSpcReduction="20000"/>
          </a:bodyPr>
          <a:lstStyle/>
          <a:p>
            <a:r>
              <a:rPr lang="zh-CN" altLang="en-US" dirty="0"/>
              <a:t>生物神经</a:t>
            </a:r>
            <a:r>
              <a:rPr lang="zh-CN" altLang="en-US" dirty="0" smtClean="0"/>
              <a:t>元组</a:t>
            </a:r>
            <a:r>
              <a:rPr lang="zh-CN" altLang="en-US" dirty="0"/>
              <a:t>成</a:t>
            </a:r>
            <a:r>
              <a:rPr lang="zh-CN" altLang="en-US" dirty="0" smtClean="0"/>
              <a:t>包括</a:t>
            </a:r>
            <a:r>
              <a:rPr lang="zh-CN" altLang="en-US" dirty="0"/>
              <a:t>：</a:t>
            </a:r>
            <a:r>
              <a:rPr lang="zh-CN" altLang="en-US" dirty="0" smtClean="0"/>
              <a:t>细胞体</a:t>
            </a:r>
            <a:r>
              <a:rPr lang="zh-CN" altLang="en-US" dirty="0"/>
              <a:t>、树突、轴突、</a:t>
            </a:r>
            <a:r>
              <a:rPr lang="zh-CN" altLang="en-US" dirty="0" smtClean="0"/>
              <a:t>突触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树突</a:t>
            </a:r>
            <a:r>
              <a:rPr lang="en-US" altLang="zh-CN" dirty="0"/>
              <a:t>D</a:t>
            </a:r>
            <a:r>
              <a:rPr lang="en-US" altLang="zh-CN" dirty="0" smtClean="0"/>
              <a:t>endritic tree</a:t>
            </a:r>
            <a:r>
              <a:rPr lang="zh-CN" altLang="en-US" dirty="0" smtClean="0"/>
              <a:t>：输入</a:t>
            </a:r>
            <a:r>
              <a:rPr lang="zh-CN" altLang="en-US" dirty="0"/>
              <a:t>端，接收从其他细胞传递过来的电信号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轴突</a:t>
            </a:r>
            <a:r>
              <a:rPr lang="en-US" altLang="zh-CN" dirty="0" smtClean="0"/>
              <a:t>Axon</a:t>
            </a:r>
            <a:r>
              <a:rPr lang="zh-CN" altLang="en-US" dirty="0" smtClean="0"/>
              <a:t>：输出</a:t>
            </a:r>
            <a:r>
              <a:rPr lang="zh-CN" altLang="en-US" dirty="0"/>
              <a:t>端，传递电荷给其他</a:t>
            </a:r>
            <a:r>
              <a:rPr lang="zh-CN" altLang="en-US" dirty="0" smtClean="0"/>
              <a:t>细胞</a:t>
            </a:r>
            <a:endParaRPr lang="en-US" altLang="zh-CN" dirty="0" smtClean="0"/>
          </a:p>
          <a:p>
            <a:pPr lvl="2"/>
            <a:r>
              <a:rPr lang="zh-CN" altLang="en-US" dirty="0"/>
              <a:t>一</a:t>
            </a:r>
            <a:r>
              <a:rPr lang="zh-CN" altLang="en-US" dirty="0" smtClean="0"/>
              <a:t>个神经元只有一个轴突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突触</a:t>
            </a:r>
            <a:r>
              <a:rPr lang="en-US" altLang="zh-CN" dirty="0" smtClean="0"/>
              <a:t>Synapse</a:t>
            </a:r>
            <a:r>
              <a:rPr lang="zh-CN" altLang="en-US" dirty="0" smtClean="0"/>
              <a:t>：可以</a:t>
            </a:r>
            <a:r>
              <a:rPr lang="zh-CN" altLang="en-US" dirty="0"/>
              <a:t>看作</a:t>
            </a:r>
            <a:r>
              <a:rPr lang="en-US" dirty="0"/>
              <a:t>I/O</a:t>
            </a:r>
            <a:r>
              <a:rPr lang="zh-CN" altLang="en-US" dirty="0"/>
              <a:t>接口，连接</a:t>
            </a:r>
            <a:r>
              <a:rPr lang="zh-CN" altLang="en-US" dirty="0" smtClean="0"/>
              <a:t>神经元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单个</a:t>
            </a:r>
            <a:r>
              <a:rPr lang="zh-CN" altLang="en-US" dirty="0"/>
              <a:t>神经元可以和上千个神经元</a:t>
            </a:r>
            <a:r>
              <a:rPr lang="zh-CN" altLang="en-US" dirty="0" smtClean="0"/>
              <a:t>连接</a:t>
            </a:r>
            <a:endParaRPr lang="en-US" altLang="zh-CN" dirty="0" smtClean="0"/>
          </a:p>
          <a:p>
            <a:r>
              <a:rPr lang="zh-CN" altLang="en-US" dirty="0"/>
              <a:t>细胞体内有膜电位，从外界传递过来的电流使膜电位发生变化，并且不断累加，当膜电位升高到超过一个阈值时，神经元被激活，产生一个</a:t>
            </a:r>
            <a:r>
              <a:rPr lang="zh-CN" altLang="en-US" dirty="0" smtClean="0"/>
              <a:t>脉冲</a:t>
            </a:r>
            <a:r>
              <a:rPr lang="en-US" altLang="zh-CN" dirty="0" smtClean="0"/>
              <a:t>(Spike)</a:t>
            </a:r>
            <a:r>
              <a:rPr lang="zh-CN" altLang="en-US" dirty="0" smtClean="0"/>
              <a:t>，</a:t>
            </a:r>
            <a:r>
              <a:rPr lang="zh-CN" altLang="en-US" dirty="0"/>
              <a:t>传递到下一个</a:t>
            </a:r>
            <a:r>
              <a:rPr lang="zh-CN" altLang="en-US" dirty="0" smtClean="0"/>
              <a:t>神经元</a:t>
            </a:r>
            <a:endParaRPr lang="zh-CN" altLang="en-US" dirty="0"/>
          </a:p>
          <a:p>
            <a:endParaRPr 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生物</a:t>
            </a:r>
            <a:r>
              <a:rPr lang="zh-CN" altLang="en-US" dirty="0" smtClean="0"/>
              <a:t>神经元</a:t>
            </a:r>
            <a:r>
              <a:rPr lang="en-US" altLang="zh-CN" dirty="0" smtClean="0"/>
              <a:t>(Neuron)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7</a:t>
            </a:fld>
            <a:endParaRPr lang="en-US" altLang="ko-KR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3343605"/>
            <a:ext cx="5167288" cy="298928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744300" y="5404079"/>
            <a:ext cx="229219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zh-CN" altLang="en-US" i="1" dirty="0"/>
              <a:t>来源</a:t>
            </a:r>
            <a:r>
              <a:rPr lang="zh-CN" altLang="en-US" i="1" dirty="0" smtClean="0"/>
              <a:t>：</a:t>
            </a:r>
            <a:r>
              <a:rPr lang="en-US" i="1" dirty="0"/>
              <a:t>https://</a:t>
            </a:r>
            <a:r>
              <a:rPr lang="en-US" i="1" dirty="0" smtClean="0"/>
              <a:t>www.jianshu.com/p/f69e16df2623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873800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 smtClean="0"/>
              <a:t>活动脉冲</a:t>
            </a:r>
            <a:r>
              <a:rPr lang="en-US" altLang="zh-CN" dirty="0" smtClean="0"/>
              <a:t>(spike</a:t>
            </a:r>
            <a:r>
              <a:rPr lang="en-US" altLang="zh-CN" dirty="0"/>
              <a:t>)</a:t>
            </a:r>
            <a:r>
              <a:rPr lang="zh-CN" altLang="en-US" dirty="0" smtClean="0"/>
              <a:t>沿着轴突传递，到达突触，引发突触囊泡（</a:t>
            </a:r>
            <a:r>
              <a:rPr lang="en-US" altLang="zh-CN" dirty="0" smtClean="0"/>
              <a:t>vesicle</a:t>
            </a:r>
            <a:r>
              <a:rPr lang="zh-CN" altLang="en-US" dirty="0" smtClean="0"/>
              <a:t>）释放化学递质（</a:t>
            </a:r>
            <a:r>
              <a:rPr lang="en-US" altLang="zh-CN" dirty="0" smtClean="0"/>
              <a:t>transmitter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有若干种神经递质</a:t>
            </a:r>
            <a:endParaRPr lang="en-US" dirty="0"/>
          </a:p>
          <a:p>
            <a:r>
              <a:rPr lang="zh-CN" altLang="en-US" dirty="0" smtClean="0"/>
              <a:t>递质分子扩散通过突触间隙</a:t>
            </a:r>
            <a:r>
              <a:rPr lang="en-US" altLang="zh-CN" dirty="0" smtClean="0"/>
              <a:t>(cleft)</a:t>
            </a:r>
            <a:r>
              <a:rPr lang="zh-CN" altLang="en-US" dirty="0" smtClean="0"/>
              <a:t>，与接收神经元细胞膜中的受体（</a:t>
            </a:r>
            <a:r>
              <a:rPr lang="en-US" altLang="zh-CN" dirty="0" smtClean="0"/>
              <a:t>receptor</a:t>
            </a:r>
            <a:r>
              <a:rPr lang="zh-CN" altLang="en-US" dirty="0" smtClean="0"/>
              <a:t>）分子结合，改变其形状（在细胞膜上打开特定离子进出的洞）</a:t>
            </a:r>
            <a:endParaRPr lang="en-US" altLang="zh-CN" dirty="0" smtClean="0"/>
          </a:p>
          <a:p>
            <a:r>
              <a:rPr lang="zh-CN" altLang="en-US" dirty="0" smtClean="0"/>
              <a:t>如何修改突触传递效果（类比于</a:t>
            </a:r>
            <a:r>
              <a:rPr lang="en-US" altLang="zh-CN" dirty="0" smtClean="0"/>
              <a:t>ANN</a:t>
            </a:r>
            <a:r>
              <a:rPr lang="zh-CN" altLang="en-US" dirty="0" smtClean="0"/>
              <a:t>中的权重）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改变递质囊泡的数量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改变受体分子的数量</a:t>
            </a:r>
            <a:endParaRPr lang="en-US" altLang="zh-CN" dirty="0" smtClean="0"/>
          </a:p>
          <a:p>
            <a:r>
              <a:rPr lang="zh-CN" altLang="en-US" dirty="0" smtClean="0"/>
              <a:t>与</a:t>
            </a:r>
            <a:r>
              <a:rPr lang="en-US" altLang="zh-CN" dirty="0" smtClean="0"/>
              <a:t>RAM</a:t>
            </a:r>
            <a:r>
              <a:rPr lang="zh-CN" altLang="en-US" dirty="0" smtClean="0"/>
              <a:t>相比，突触很慢，但是相对于</a:t>
            </a:r>
            <a:r>
              <a:rPr lang="en-US" altLang="zh-CN" dirty="0" smtClean="0"/>
              <a:t>RAM</a:t>
            </a:r>
            <a:r>
              <a:rPr lang="zh-CN" altLang="en-US" dirty="0" smtClean="0"/>
              <a:t>有重要优势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体积小、功耗低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用本地信号进行修改</a:t>
            </a:r>
            <a:r>
              <a:rPr lang="en-US" altLang="zh-CN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zh-CN" altLang="en-US" dirty="0" smtClean="0">
                <a:solidFill>
                  <a:srgbClr val="FF0000"/>
                </a:solidFill>
                <a:sym typeface="Wingdings" panose="05000000000000000000" pitchFamily="2" charset="2"/>
              </a:rPr>
              <a:t>按什么规则修改？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突触</a:t>
            </a:r>
            <a:r>
              <a:rPr lang="en-US" altLang="zh-CN" dirty="0" smtClean="0"/>
              <a:t>Synapse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8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79572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003232" cy="5040312"/>
          </a:xfrm>
        </p:spPr>
        <p:txBody>
          <a:bodyPr/>
          <a:lstStyle/>
          <a:p>
            <a:r>
              <a:rPr lang="zh-CN" altLang="en-US" sz="2400" dirty="0"/>
              <a:t>大脑皮层神经元</a:t>
            </a:r>
            <a:r>
              <a:rPr lang="en-US" altLang="zh-CN" sz="2400" dirty="0"/>
              <a:t>(</a:t>
            </a:r>
            <a:r>
              <a:rPr lang="en-US" sz="2400" dirty="0"/>
              <a:t>Cortical neurons)</a:t>
            </a:r>
            <a:r>
              <a:rPr lang="zh-CN" altLang="en-US" sz="2400" dirty="0"/>
              <a:t>用脉冲</a:t>
            </a:r>
            <a:r>
              <a:rPr lang="en-US" altLang="zh-CN" sz="2400" dirty="0"/>
              <a:t>(</a:t>
            </a:r>
            <a:r>
              <a:rPr lang="en-US" sz="2400" dirty="0"/>
              <a:t>spikes)</a:t>
            </a:r>
            <a:r>
              <a:rPr lang="zh-CN" altLang="en-US" sz="2400" dirty="0"/>
              <a:t>进行</a:t>
            </a:r>
            <a:r>
              <a:rPr lang="zh-CN" altLang="en-US" sz="2400" dirty="0" smtClean="0"/>
              <a:t>通讯</a:t>
            </a:r>
            <a:endParaRPr lang="en-US" altLang="zh-CN" sz="2400" dirty="0" smtClean="0"/>
          </a:p>
          <a:p>
            <a:r>
              <a:rPr lang="zh-CN" altLang="en-US" sz="2400" dirty="0" smtClean="0"/>
              <a:t>每个</a:t>
            </a:r>
            <a:r>
              <a:rPr lang="zh-CN" altLang="en-US" sz="2400" dirty="0"/>
              <a:t>神经元从其它神经元接收信号</a:t>
            </a:r>
            <a:endParaRPr lang="en-US" altLang="zh-CN" sz="2400" dirty="0"/>
          </a:p>
          <a:p>
            <a:r>
              <a:rPr lang="zh-CN" altLang="en-US" sz="2400" dirty="0" smtClean="0"/>
              <a:t>神经元</a:t>
            </a:r>
            <a:r>
              <a:rPr lang="zh-CN" altLang="en-US" sz="2400" dirty="0"/>
              <a:t>的每个输入被突触权重控制</a:t>
            </a:r>
            <a:endParaRPr lang="en-US" altLang="zh-CN" sz="2400" dirty="0"/>
          </a:p>
          <a:p>
            <a:pPr lvl="1"/>
            <a:r>
              <a:rPr lang="zh-CN" altLang="en-US" sz="2000" dirty="0"/>
              <a:t>权重可能是正的或者负的</a:t>
            </a:r>
            <a:endParaRPr lang="en-US" sz="2000" dirty="0"/>
          </a:p>
          <a:p>
            <a:r>
              <a:rPr lang="zh-CN" altLang="en-US" sz="2400" dirty="0"/>
              <a:t>整个神经网络的计算依赖于突触权重的适应改变</a:t>
            </a:r>
            <a:r>
              <a:rPr lang="en-US" altLang="zh-CN" sz="2400" dirty="0"/>
              <a:t>(adapt)</a:t>
            </a:r>
          </a:p>
          <a:p>
            <a:r>
              <a:rPr lang="zh-CN" altLang="en-US" sz="2400" dirty="0"/>
              <a:t>每个人有</a:t>
            </a:r>
            <a:r>
              <a:rPr lang="en-US" altLang="zh-CN" sz="2400" dirty="0"/>
              <a:t>10</a:t>
            </a:r>
            <a:r>
              <a:rPr lang="en-US" altLang="zh-CN" sz="2400" baseline="30000" dirty="0"/>
              <a:t>11</a:t>
            </a:r>
            <a:r>
              <a:rPr lang="zh-CN" altLang="en-US" sz="2400" dirty="0"/>
              <a:t>个神经元，每个神经元有</a:t>
            </a:r>
            <a:r>
              <a:rPr lang="en-US" altLang="zh-CN" sz="2400" dirty="0"/>
              <a:t>10</a:t>
            </a:r>
            <a:r>
              <a:rPr lang="en-US" altLang="zh-CN" sz="2400" baseline="30000" dirty="0"/>
              <a:t>4</a:t>
            </a:r>
            <a:r>
              <a:rPr lang="zh-CN" altLang="en-US" sz="2400" dirty="0"/>
              <a:t>个权重</a:t>
            </a:r>
            <a:endParaRPr lang="en-US" altLang="zh-CN" sz="2400" dirty="0"/>
          </a:p>
          <a:p>
            <a:pPr lvl="1"/>
            <a:r>
              <a:rPr lang="zh-CN" altLang="en-US" sz="2000" dirty="0"/>
              <a:t>大量</a:t>
            </a:r>
            <a:r>
              <a:rPr lang="zh-CN" altLang="en-US" sz="2000" dirty="0" smtClean="0"/>
              <a:t>权重</a:t>
            </a:r>
            <a:r>
              <a:rPr lang="zh-CN" altLang="en-US" sz="2000" dirty="0"/>
              <a:t>快速改变，计算带宽远超</a:t>
            </a:r>
            <a:r>
              <a:rPr lang="zh-CN" altLang="en-US" sz="2000" dirty="0" smtClean="0"/>
              <a:t>工作站</a:t>
            </a:r>
            <a:endParaRPr lang="en-US" altLang="zh-CN" sz="2000" dirty="0" smtClean="0"/>
          </a:p>
          <a:p>
            <a:pPr marL="342900" lvl="1" indent="-342900">
              <a:buChar char="•"/>
            </a:pPr>
            <a:r>
              <a:rPr lang="zh-CN" altLang="en-US" dirty="0">
                <a:cs typeface="+mn-cs"/>
              </a:rPr>
              <a:t>线性神经元</a:t>
            </a:r>
            <a:endParaRPr lang="en-US" dirty="0">
              <a:cs typeface="+mn-cs"/>
            </a:endParaRPr>
          </a:p>
        </p:txBody>
      </p:sp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 smtClean="0"/>
              <a:t>神经元建模</a:t>
            </a:r>
            <a:endParaRPr lang="en-US" sz="2800" dirty="0"/>
          </a:p>
        </p:txBody>
      </p:sp>
      <p:sp>
        <p:nvSpPr>
          <p:cNvPr id="148489" name="Oval 9"/>
          <p:cNvSpPr>
            <a:spLocks noChangeArrowheads="1"/>
          </p:cNvSpPr>
          <p:nvPr/>
        </p:nvSpPr>
        <p:spPr bwMode="auto">
          <a:xfrm>
            <a:off x="7164834" y="2548482"/>
            <a:ext cx="287486" cy="304454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491" name="Line 11"/>
          <p:cNvSpPr>
            <a:spLocks noChangeShapeType="1"/>
          </p:cNvSpPr>
          <p:nvPr/>
        </p:nvSpPr>
        <p:spPr bwMode="auto">
          <a:xfrm flipV="1">
            <a:off x="6660011" y="2277021"/>
            <a:ext cx="504825" cy="2702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8492" name="Line 12"/>
          <p:cNvSpPr>
            <a:spLocks noChangeShapeType="1"/>
          </p:cNvSpPr>
          <p:nvPr/>
        </p:nvSpPr>
        <p:spPr bwMode="auto">
          <a:xfrm flipV="1">
            <a:off x="7307709" y="2277021"/>
            <a:ext cx="0" cy="2702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8493" name="Line 13"/>
          <p:cNvSpPr>
            <a:spLocks noChangeShapeType="1"/>
          </p:cNvSpPr>
          <p:nvPr/>
        </p:nvSpPr>
        <p:spPr bwMode="auto">
          <a:xfrm flipH="1" flipV="1">
            <a:off x="7452174" y="2277021"/>
            <a:ext cx="504825" cy="2702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8494" name="Line 14"/>
          <p:cNvSpPr>
            <a:spLocks noChangeShapeType="1"/>
          </p:cNvSpPr>
          <p:nvPr/>
        </p:nvSpPr>
        <p:spPr bwMode="auto">
          <a:xfrm flipV="1">
            <a:off x="7307709" y="1844825"/>
            <a:ext cx="0" cy="1631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8496" name="Oval 16"/>
          <p:cNvSpPr>
            <a:spLocks noChangeArrowheads="1"/>
          </p:cNvSpPr>
          <p:nvPr/>
        </p:nvSpPr>
        <p:spPr bwMode="auto">
          <a:xfrm>
            <a:off x="6875911" y="2330599"/>
            <a:ext cx="142875" cy="10834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497" name="Oval 17"/>
          <p:cNvSpPr>
            <a:spLocks noChangeArrowheads="1"/>
          </p:cNvSpPr>
          <p:nvPr/>
        </p:nvSpPr>
        <p:spPr bwMode="auto">
          <a:xfrm>
            <a:off x="7237861" y="2385368"/>
            <a:ext cx="142875" cy="10834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8498" name="Oval 18"/>
          <p:cNvSpPr>
            <a:spLocks noChangeArrowheads="1"/>
          </p:cNvSpPr>
          <p:nvPr/>
        </p:nvSpPr>
        <p:spPr bwMode="auto">
          <a:xfrm>
            <a:off x="7596636" y="2330599"/>
            <a:ext cx="142875" cy="10834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Oval 9"/>
          <p:cNvSpPr>
            <a:spLocks noChangeArrowheads="1"/>
          </p:cNvSpPr>
          <p:nvPr/>
        </p:nvSpPr>
        <p:spPr bwMode="auto">
          <a:xfrm>
            <a:off x="7164288" y="1988840"/>
            <a:ext cx="287486" cy="304454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Oval 9"/>
          <p:cNvSpPr>
            <a:spLocks noChangeArrowheads="1"/>
          </p:cNvSpPr>
          <p:nvPr/>
        </p:nvSpPr>
        <p:spPr bwMode="auto">
          <a:xfrm>
            <a:off x="7812906" y="2564904"/>
            <a:ext cx="287486" cy="304454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Oval 9"/>
          <p:cNvSpPr>
            <a:spLocks noChangeArrowheads="1"/>
          </p:cNvSpPr>
          <p:nvPr/>
        </p:nvSpPr>
        <p:spPr bwMode="auto">
          <a:xfrm>
            <a:off x="6516216" y="2564904"/>
            <a:ext cx="287486" cy="304454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844" y="4509120"/>
            <a:ext cx="3697980" cy="1801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265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51520" y="274638"/>
            <a:ext cx="8892480" cy="706437"/>
          </a:xfrm>
        </p:spPr>
        <p:txBody>
          <a:bodyPr/>
          <a:lstStyle/>
          <a:p>
            <a:r>
              <a:rPr lang="zh-CN" altLang="en-US" sz="2800" dirty="0" smtClean="0"/>
              <a:t>二进制阈值神经元模型</a:t>
            </a:r>
            <a:r>
              <a:rPr lang="en-US" sz="2800" dirty="0"/>
              <a:t>Binary threshold </a:t>
            </a:r>
            <a:r>
              <a:rPr lang="en-US" sz="2800" dirty="0" smtClean="0"/>
              <a:t>neuron</a:t>
            </a:r>
            <a:endParaRPr 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10</a:t>
            </a:fld>
            <a:endParaRPr lang="en-US" altLang="ko-KR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844824"/>
            <a:ext cx="3082054" cy="320533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44" y="1988840"/>
            <a:ext cx="4143375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736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1295350"/>
          </a:xfrm>
        </p:spPr>
        <p:txBody>
          <a:bodyPr/>
          <a:lstStyle/>
          <a:p>
            <a:r>
              <a:rPr lang="zh-CN" altLang="en-US" dirty="0" smtClean="0"/>
              <a:t>也称作</a:t>
            </a:r>
            <a:r>
              <a:rPr lang="en-US" altLang="zh-CN" dirty="0" smtClean="0"/>
              <a:t>rectified threshold neuron</a:t>
            </a:r>
            <a:endParaRPr 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整流线性神经元</a:t>
            </a:r>
            <a:r>
              <a:rPr lang="en-US" altLang="zh-CN" dirty="0" smtClean="0"/>
              <a:t>Rectified linear Neuron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11</a:t>
            </a:fld>
            <a:endParaRPr lang="en-US" altLang="ko-KR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651252"/>
            <a:ext cx="4070243" cy="214937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741" y="2413992"/>
            <a:ext cx="4029075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076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Sigmoid neurons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12</a:t>
            </a:fld>
            <a:endParaRPr lang="en-US" altLang="ko-KR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1403217"/>
            <a:ext cx="5981700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687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ANN</a:t>
            </a:r>
            <a:r>
              <a:rPr lang="zh-CN" altLang="en-US" dirty="0" smtClean="0"/>
              <a:t>的组成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13</a:t>
            </a:fld>
            <a:endParaRPr lang="en-US" altLang="ko-KR" dirty="0"/>
          </a:p>
        </p:txBody>
      </p:sp>
      <p:sp>
        <p:nvSpPr>
          <p:cNvPr id="6" name="文本框 5"/>
          <p:cNvSpPr txBox="1"/>
          <p:nvPr/>
        </p:nvSpPr>
        <p:spPr>
          <a:xfrm>
            <a:off x="1945759" y="4979028"/>
            <a:ext cx="4411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x</a:t>
            </a:r>
            <a:endParaRPr lang="en-US" sz="4000" i="1" dirty="0"/>
          </a:p>
        </p:txBody>
      </p:sp>
      <p:sp>
        <p:nvSpPr>
          <p:cNvPr id="7" name="文本框 6"/>
          <p:cNvSpPr txBox="1"/>
          <p:nvPr/>
        </p:nvSpPr>
        <p:spPr>
          <a:xfrm>
            <a:off x="4211960" y="4979028"/>
            <a:ext cx="207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dirty="0" smtClean="0"/>
              <a:t>z</a:t>
            </a:r>
            <a:endParaRPr lang="en-US" sz="4000" i="1" dirty="0"/>
          </a:p>
        </p:txBody>
      </p:sp>
      <p:sp>
        <p:nvSpPr>
          <p:cNvPr id="8" name="文本框 7"/>
          <p:cNvSpPr txBox="1"/>
          <p:nvPr/>
        </p:nvSpPr>
        <p:spPr>
          <a:xfrm>
            <a:off x="7524328" y="4997892"/>
            <a:ext cx="4411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/>
              <a:t>y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268760"/>
            <a:ext cx="6656954" cy="333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233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前馈</a:t>
            </a:r>
            <a:r>
              <a:rPr lang="zh-CN" altLang="en-US" dirty="0" smtClean="0"/>
              <a:t>神经网络 </a:t>
            </a:r>
            <a:r>
              <a:rPr lang="en-US" altLang="zh-CN" dirty="0" smtClean="0"/>
              <a:t>vs. </a:t>
            </a:r>
            <a:r>
              <a:rPr lang="zh-CN" altLang="en-US" dirty="0" smtClean="0"/>
              <a:t>循环神经网络</a:t>
            </a:r>
            <a:endParaRPr lang="en-US" dirty="0"/>
          </a:p>
        </p:txBody>
      </p:sp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xfrm>
            <a:off x="457200" y="1125538"/>
            <a:ext cx="4038600" cy="2015430"/>
          </a:xfrm>
        </p:spPr>
        <p:txBody>
          <a:bodyPr/>
          <a:lstStyle/>
          <a:p>
            <a:r>
              <a:rPr lang="zh-CN" altLang="en-US" dirty="0"/>
              <a:t>前馈</a:t>
            </a:r>
            <a:r>
              <a:rPr lang="en-US" altLang="zh-CN" dirty="0" smtClean="0"/>
              <a:t>(feed-forward)</a:t>
            </a:r>
            <a:r>
              <a:rPr lang="zh-CN" altLang="en-US" dirty="0" smtClean="0"/>
              <a:t>神经网络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最基础的人工神经网络架构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如果隐藏层数量大于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，称作</a:t>
            </a:r>
            <a:r>
              <a:rPr lang="en-US" altLang="zh-CN" dirty="0" smtClean="0"/>
              <a:t>deep learning</a:t>
            </a:r>
          </a:p>
          <a:p>
            <a:pPr lvl="1"/>
            <a:endParaRPr lang="en-US" altLang="zh-CN" dirty="0" smtClean="0"/>
          </a:p>
        </p:txBody>
      </p:sp>
      <p:sp>
        <p:nvSpPr>
          <p:cNvPr id="33" name="内容占位符 3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 smtClean="0"/>
              <a:t>循环</a:t>
            </a:r>
            <a:r>
              <a:rPr lang="en-US" altLang="zh-CN" dirty="0" smtClean="0"/>
              <a:t>(recurrent</a:t>
            </a:r>
            <a:r>
              <a:rPr lang="en-US" altLang="zh-CN" dirty="0"/>
              <a:t>)</a:t>
            </a:r>
            <a:r>
              <a:rPr lang="zh-CN" altLang="en-US" dirty="0" smtClean="0"/>
              <a:t>神经网络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神经元连接中有环路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训练非常困难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更接近生物体实际情况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14</a:t>
            </a:fld>
            <a:endParaRPr lang="en-US" altLang="ko-KR" dirty="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081" y="3933056"/>
            <a:ext cx="3528392" cy="2288687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112" y="3789040"/>
            <a:ext cx="2819350" cy="2228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036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多层神经网络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15</a:t>
            </a:fld>
            <a:endParaRPr lang="en-US" altLang="ko-KR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628800"/>
            <a:ext cx="3041898" cy="356923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79512" y="5198034"/>
            <a:ext cx="4411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x</a:t>
            </a:r>
            <a:endParaRPr lang="en-US" sz="4000" i="1" dirty="0"/>
          </a:p>
        </p:txBody>
      </p:sp>
      <p:sp>
        <p:nvSpPr>
          <p:cNvPr id="7" name="文本框 6"/>
          <p:cNvSpPr txBox="1"/>
          <p:nvPr/>
        </p:nvSpPr>
        <p:spPr>
          <a:xfrm>
            <a:off x="2699792" y="5198034"/>
            <a:ext cx="521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dirty="0" smtClean="0"/>
              <a:t>z</a:t>
            </a:r>
            <a:endParaRPr lang="en-US" sz="4000" i="1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44" y="1939548"/>
            <a:ext cx="4827840" cy="3091754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283968" y="5198034"/>
            <a:ext cx="4411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 smtClean="0"/>
              <a:t>x</a:t>
            </a:r>
            <a:endParaRPr lang="en-US" sz="4000" i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8139539" y="5206148"/>
            <a:ext cx="521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dirty="0" smtClean="0"/>
              <a:t>z</a:t>
            </a:r>
            <a:endParaRPr lang="en-US" sz="4000" i="1" dirty="0"/>
          </a:p>
        </p:txBody>
      </p:sp>
    </p:spTree>
    <p:extLst>
      <p:ext uri="{BB962C8B-B14F-4D97-AF65-F5344CB8AC3E}">
        <p14:creationId xmlns:p14="http://schemas.microsoft.com/office/powerpoint/2010/main" val="1211030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损失</a:t>
            </a:r>
            <a:r>
              <a:rPr lang="en-US" altLang="zh-CN" dirty="0" smtClean="0"/>
              <a:t>(loss)</a:t>
            </a:r>
            <a:r>
              <a:rPr lang="zh-CN" altLang="en-US" dirty="0" smtClean="0"/>
              <a:t>：样本的预测值与真实值之间的偏差</a:t>
            </a:r>
            <a:endParaRPr lang="en-US" altLang="zh-CN" dirty="0" smtClean="0"/>
          </a:p>
          <a:p>
            <a:r>
              <a:rPr lang="zh-CN" altLang="en-US" dirty="0" smtClean="0"/>
              <a:t>根据任务选择合适的</a:t>
            </a:r>
            <a:r>
              <a:rPr lang="en-US" altLang="zh-CN" dirty="0" smtClean="0"/>
              <a:t>loss </a:t>
            </a:r>
            <a:r>
              <a:rPr lang="zh-CN" altLang="en-US" dirty="0" smtClean="0"/>
              <a:t>，比如</a:t>
            </a:r>
            <a:r>
              <a:rPr lang="en-US" altLang="zh-CN" dirty="0"/>
              <a:t>mean squared error (MSE) </a:t>
            </a:r>
            <a:r>
              <a:rPr lang="en-US" altLang="zh-CN" dirty="0" smtClean="0"/>
              <a:t>loss</a:t>
            </a:r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训练：寻找合适的网络参数值（权重值），使得</a:t>
            </a:r>
            <a:r>
              <a:rPr lang="en-US" altLang="zh-CN" dirty="0" smtClean="0"/>
              <a:t>test set</a:t>
            </a:r>
            <a:r>
              <a:rPr lang="zh-CN" altLang="en-US" dirty="0" smtClean="0"/>
              <a:t>中样本</a:t>
            </a:r>
            <a:r>
              <a:rPr lang="en-US" altLang="zh-CN" dirty="0" smtClean="0"/>
              <a:t>loss</a:t>
            </a:r>
            <a:r>
              <a:rPr lang="zh-CN" altLang="en-US" dirty="0" smtClean="0"/>
              <a:t>最小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最原始的方法：扰动</a:t>
            </a:r>
            <a:r>
              <a:rPr lang="en-US" altLang="zh-CN" dirty="0" smtClean="0"/>
              <a:t>perturbation</a:t>
            </a:r>
            <a:endParaRPr lang="en-US" altLang="zh-CN" dirty="0"/>
          </a:p>
          <a:p>
            <a:pPr lvl="1"/>
            <a:r>
              <a:rPr lang="zh-CN" altLang="en-US" dirty="0" smtClean="0"/>
              <a:t>常用方法：反向传输</a:t>
            </a:r>
            <a:r>
              <a:rPr lang="en-US" dirty="0" smtClean="0"/>
              <a:t>Back</a:t>
            </a:r>
            <a:r>
              <a:rPr lang="en-US" altLang="zh-CN" dirty="0" smtClean="0"/>
              <a:t>-</a:t>
            </a:r>
            <a:r>
              <a:rPr lang="en-US" dirty="0" smtClean="0"/>
              <a:t>propagating</a:t>
            </a:r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训练</a:t>
            </a:r>
            <a:r>
              <a:rPr lang="en-US" altLang="zh-CN" dirty="0" smtClean="0"/>
              <a:t>(training</a:t>
            </a:r>
            <a:r>
              <a:rPr lang="en-US" altLang="zh-CN" dirty="0"/>
              <a:t>)</a:t>
            </a:r>
            <a:r>
              <a:rPr lang="zh-CN" altLang="en-US" dirty="0" smtClean="0"/>
              <a:t>与损失</a:t>
            </a:r>
            <a:r>
              <a:rPr lang="en-US" altLang="zh-CN" dirty="0" smtClean="0"/>
              <a:t>(loss)</a:t>
            </a:r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FF835E-7ADA-46B7-8EFA-CE693C298C46}" type="slidenum">
              <a:rPr lang="ko-KR" altLang="en-US" smtClean="0"/>
              <a:pPr/>
              <a:t>16</a:t>
            </a:fld>
            <a:endParaRPr lang="en-US" altLang="ko-KR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784" y="2492897"/>
            <a:ext cx="4187174" cy="115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022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卷积</a:t>
            </a:r>
            <a:r>
              <a:rPr lang="zh-CN" altLang="en-US" dirty="0" smtClean="0"/>
              <a:t>神经网络：包含</a:t>
            </a:r>
            <a:r>
              <a:rPr lang="zh-CN" altLang="en-US" dirty="0"/>
              <a:t>卷积计算且具有深度结构的前馈</a:t>
            </a:r>
            <a:r>
              <a:rPr lang="zh-CN" altLang="en-US" dirty="0" smtClean="0"/>
              <a:t>神经网络</a:t>
            </a:r>
            <a:endParaRPr lang="en-US" altLang="zh-CN" dirty="0" smtClean="0"/>
          </a:p>
          <a:p>
            <a:r>
              <a:rPr lang="zh-CN" altLang="en-US" dirty="0"/>
              <a:t>第一</a:t>
            </a:r>
            <a:r>
              <a:rPr lang="zh-CN" altLang="en-US" dirty="0" smtClean="0"/>
              <a:t>个</a:t>
            </a:r>
            <a:r>
              <a:rPr lang="en-US" altLang="zh-CN" dirty="0" smtClean="0"/>
              <a:t>CNN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1987</a:t>
            </a:r>
            <a:r>
              <a:rPr lang="zh-CN" altLang="en-US" dirty="0"/>
              <a:t>，</a:t>
            </a:r>
            <a:r>
              <a:rPr lang="en-US" dirty="0" smtClean="0"/>
              <a:t>Alexander </a:t>
            </a:r>
            <a:r>
              <a:rPr lang="en-US" dirty="0" err="1"/>
              <a:t>Waibel</a:t>
            </a:r>
            <a:r>
              <a:rPr lang="zh-CN" altLang="en-US" dirty="0" smtClean="0"/>
              <a:t>等，</a:t>
            </a:r>
            <a:r>
              <a:rPr lang="en-US" dirty="0" smtClean="0"/>
              <a:t>Time </a:t>
            </a:r>
            <a:r>
              <a:rPr lang="en-US" dirty="0"/>
              <a:t>Delay Neural </a:t>
            </a:r>
            <a:r>
              <a:rPr lang="en-US" dirty="0" smtClean="0"/>
              <a:t>Network(TDNN)  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zh-CN" altLang="en-US" dirty="0" smtClean="0">
                <a:sym typeface="Wingdings" panose="05000000000000000000" pitchFamily="2" charset="2"/>
              </a:rPr>
              <a:t>语音识别</a:t>
            </a:r>
            <a:endParaRPr lang="en-US" dirty="0" smtClean="0"/>
          </a:p>
          <a:p>
            <a:r>
              <a:rPr lang="zh-CN" altLang="en-US" dirty="0"/>
              <a:t>第一个二维卷积</a:t>
            </a:r>
            <a:r>
              <a:rPr lang="zh-CN" altLang="en-US" dirty="0" smtClean="0"/>
              <a:t>神经</a:t>
            </a:r>
            <a:r>
              <a:rPr lang="zh-CN" altLang="en-US" dirty="0"/>
              <a:t>网络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1988</a:t>
            </a:r>
            <a:r>
              <a:rPr lang="zh-CN" altLang="en-US" dirty="0" smtClean="0"/>
              <a:t>，</a:t>
            </a:r>
            <a:r>
              <a:rPr lang="en-US" altLang="zh-CN" dirty="0" smtClean="0"/>
              <a:t>Wei Zhang</a:t>
            </a:r>
            <a:r>
              <a:rPr lang="zh-CN" altLang="en-US" dirty="0" smtClean="0"/>
              <a:t>，平移不变人工神经网络，用于检测</a:t>
            </a:r>
            <a:r>
              <a:rPr lang="zh-CN" altLang="en-US" dirty="0"/>
              <a:t>医学</a:t>
            </a:r>
            <a:r>
              <a:rPr lang="zh-CN" altLang="en-US" dirty="0" smtClean="0"/>
              <a:t>影像</a:t>
            </a:r>
            <a:endParaRPr lang="en-US" altLang="zh-CN" dirty="0" smtClean="0"/>
          </a:p>
          <a:p>
            <a:r>
              <a:rPr lang="en-US" altLang="zh-CN" dirty="0" smtClean="0"/>
              <a:t>1989</a:t>
            </a:r>
            <a:r>
              <a:rPr lang="zh-CN" altLang="en-US" dirty="0" smtClean="0"/>
              <a:t>，</a:t>
            </a:r>
            <a:r>
              <a:rPr lang="en-US" altLang="zh-CN" dirty="0" smtClean="0"/>
              <a:t>Yann </a:t>
            </a:r>
            <a:r>
              <a:rPr lang="en-US" altLang="zh-CN" dirty="0" err="1" smtClean="0"/>
              <a:t>LeCu</a:t>
            </a:r>
            <a:r>
              <a:rPr lang="en-US" altLang="zh-CN" dirty="0" smtClean="0"/>
              <a:t>,</a:t>
            </a:r>
            <a:r>
              <a:rPr lang="zh-CN" altLang="en-US" dirty="0" smtClean="0"/>
              <a:t>构建</a:t>
            </a:r>
            <a:r>
              <a:rPr lang="zh-CN" altLang="en-US" dirty="0"/>
              <a:t>了应用于图像分类的卷积神经网络，即</a:t>
            </a:r>
            <a:r>
              <a:rPr lang="en-US" altLang="zh-CN" dirty="0" err="1"/>
              <a:t>LeNet</a:t>
            </a:r>
            <a:r>
              <a:rPr lang="zh-CN" altLang="en-US" dirty="0"/>
              <a:t>的最初版本</a:t>
            </a:r>
            <a:endParaRPr 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卷积神经网络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dirty="0" smtClean="0"/>
              <a:t>Convolutional </a:t>
            </a:r>
            <a:r>
              <a:rPr lang="en-US" dirty="0"/>
              <a:t>neural </a:t>
            </a:r>
            <a:r>
              <a:rPr lang="en-US" dirty="0" smtClean="0"/>
              <a:t>network, CNN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17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929497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1439366"/>
          </a:xfrm>
        </p:spPr>
        <p:txBody>
          <a:bodyPr>
            <a:normAutofit fontScale="77500" lnSpcReduction="20000"/>
          </a:bodyPr>
          <a:lstStyle/>
          <a:p>
            <a:r>
              <a:rPr lang="zh-CN" altLang="en-US" dirty="0" smtClean="0"/>
              <a:t>卷积</a:t>
            </a:r>
            <a:r>
              <a:rPr lang="en-US" dirty="0" smtClean="0"/>
              <a:t>Convolution</a:t>
            </a:r>
            <a:endParaRPr lang="en-US" dirty="0"/>
          </a:p>
          <a:p>
            <a:r>
              <a:rPr lang="zh-CN" altLang="en-US" dirty="0" smtClean="0"/>
              <a:t>线性整流单元</a:t>
            </a:r>
            <a:r>
              <a:rPr lang="en-US" dirty="0" smtClean="0"/>
              <a:t>Rectified linear unit </a:t>
            </a:r>
            <a:r>
              <a:rPr lang="en-US" dirty="0"/>
              <a:t>(</a:t>
            </a:r>
            <a:r>
              <a:rPr lang="en-US" dirty="0" err="1" smtClean="0"/>
              <a:t>ReLu</a:t>
            </a:r>
            <a:r>
              <a:rPr lang="en-US" dirty="0" smtClean="0"/>
              <a:t>) </a:t>
            </a:r>
            <a:endParaRPr lang="en-US" dirty="0"/>
          </a:p>
          <a:p>
            <a:r>
              <a:rPr lang="zh-CN" altLang="en-US" dirty="0" smtClean="0"/>
              <a:t>池化</a:t>
            </a:r>
            <a:r>
              <a:rPr lang="en-US" altLang="zh-CN" dirty="0" smtClean="0"/>
              <a:t>(</a:t>
            </a:r>
            <a:r>
              <a:rPr lang="en-US" dirty="0" smtClean="0"/>
              <a:t>Pooling)</a:t>
            </a:r>
          </a:p>
          <a:p>
            <a:r>
              <a:rPr lang="zh-CN" altLang="en-US" dirty="0" smtClean="0"/>
              <a:t>全连接层</a:t>
            </a:r>
            <a:r>
              <a:rPr lang="en-US" dirty="0" smtClean="0"/>
              <a:t>Fully Connected Layer </a:t>
            </a:r>
            <a:endParaRPr 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典型</a:t>
            </a:r>
            <a:r>
              <a:rPr lang="en-US" altLang="zh-CN" dirty="0" smtClean="0"/>
              <a:t>CNN</a:t>
            </a:r>
            <a:r>
              <a:rPr lang="zh-CN" altLang="en-US" dirty="0" smtClean="0"/>
              <a:t>架构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18</a:t>
            </a:fld>
            <a:endParaRPr lang="en-US" altLang="ko-KR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162" y="2492896"/>
            <a:ext cx="7305675" cy="303847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403648" y="5733256"/>
            <a:ext cx="65897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https://www.edureka.co/blog/convolutional-neural-network/</a:t>
            </a:r>
          </a:p>
        </p:txBody>
      </p:sp>
    </p:spTree>
    <p:extLst>
      <p:ext uri="{BB962C8B-B14F-4D97-AF65-F5344CB8AC3E}">
        <p14:creationId xmlns:p14="http://schemas.microsoft.com/office/powerpoint/2010/main" val="1043700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本次实验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1. </a:t>
            </a:r>
            <a:r>
              <a:rPr lang="zh-CN" altLang="en-US" dirty="0" smtClean="0"/>
              <a:t>将拍摄的图片装入</a:t>
            </a:r>
            <a:r>
              <a:rPr lang="en-US" altLang="zh-CN" dirty="0" smtClean="0"/>
              <a:t>preprocess-&gt;</a:t>
            </a:r>
            <a:r>
              <a:rPr lang="en-US" altLang="zh-CN" dirty="0" err="1" smtClean="0"/>
              <a:t>folder_format</a:t>
            </a:r>
            <a:r>
              <a:rPr lang="en-US" altLang="zh-CN" dirty="0" smtClean="0"/>
              <a:t>-&gt;</a:t>
            </a:r>
            <a:r>
              <a:rPr lang="en-US" altLang="zh-CN" dirty="0" err="1" smtClean="0"/>
              <a:t>ori_folder</a:t>
            </a:r>
            <a:endParaRPr lang="en-US" altLang="zh-CN" dirty="0" smtClean="0"/>
          </a:p>
          <a:p>
            <a:r>
              <a:rPr lang="en-US" altLang="zh-CN" dirty="0" smtClean="0"/>
              <a:t>2. </a:t>
            </a:r>
            <a:r>
              <a:rPr lang="zh-CN" altLang="en-US" dirty="0" smtClean="0"/>
              <a:t>修改并依次运行脚本（前三个在</a:t>
            </a:r>
            <a:r>
              <a:rPr lang="en-US" altLang="zh-CN" dirty="0" smtClean="0"/>
              <a:t>preprocess</a:t>
            </a:r>
            <a:r>
              <a:rPr lang="zh-CN" altLang="en-US" dirty="0" smtClean="0"/>
              <a:t>目录里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234677" y="3283925"/>
            <a:ext cx="163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A_step1.py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123729" y="3799322"/>
            <a:ext cx="1947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B1_step2_1.py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123729" y="4314719"/>
            <a:ext cx="1947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B2_step2_2.py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2123729" y="4830116"/>
            <a:ext cx="1947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training.py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2123729" y="5345513"/>
            <a:ext cx="1947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infering</a:t>
            </a:r>
            <a:r>
              <a:rPr lang="en-US" altLang="zh-CN" dirty="0" smtClean="0"/>
              <a:t>.py</a:t>
            </a:r>
            <a:endParaRPr lang="zh-CN" altLang="en-US" dirty="0"/>
          </a:p>
        </p:txBody>
      </p:sp>
      <p:cxnSp>
        <p:nvCxnSpPr>
          <p:cNvPr id="10" name="直接箭头连接符 9"/>
          <p:cNvCxnSpPr/>
          <p:nvPr/>
        </p:nvCxnSpPr>
        <p:spPr>
          <a:xfrm>
            <a:off x="3200401" y="3560924"/>
            <a:ext cx="8792" cy="238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3191608" y="4090556"/>
            <a:ext cx="8792" cy="238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3191608" y="4642385"/>
            <a:ext cx="8792" cy="238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3182816" y="5107115"/>
            <a:ext cx="8792" cy="238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838" y="2722365"/>
            <a:ext cx="3207544" cy="1135856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6180992" y="3283925"/>
            <a:ext cx="606669" cy="21101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015024" y="3152991"/>
            <a:ext cx="1989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图片</a:t>
            </a:r>
            <a:r>
              <a:rPr lang="zh-CN" altLang="en-US" dirty="0" smtClean="0"/>
              <a:t>分辨率改成</a:t>
            </a:r>
            <a:r>
              <a:rPr lang="en-US" altLang="zh-CN" dirty="0" smtClean="0"/>
              <a:t>32×32</a:t>
            </a:r>
            <a:endParaRPr lang="zh-CN" altLang="en-US" dirty="0"/>
          </a:p>
        </p:txBody>
      </p:sp>
      <p:sp>
        <p:nvSpPr>
          <p:cNvPr id="25" name="文本框 24"/>
          <p:cNvSpPr txBox="1"/>
          <p:nvPr/>
        </p:nvSpPr>
        <p:spPr>
          <a:xfrm>
            <a:off x="67808" y="3272380"/>
            <a:ext cx="1989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裁剪和降分辨率</a:t>
            </a:r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155180" y="3703235"/>
            <a:ext cx="1989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生成</a:t>
            </a:r>
            <a:r>
              <a:rPr lang="en-US" altLang="zh-CN" dirty="0" smtClean="0"/>
              <a:t>training set</a:t>
            </a:r>
            <a:r>
              <a:rPr lang="zh-CN" altLang="en-US" dirty="0" smtClean="0"/>
              <a:t>和</a:t>
            </a:r>
            <a:r>
              <a:rPr lang="en-US" altLang="zh-CN" dirty="0" smtClean="0"/>
              <a:t>test set</a:t>
            </a:r>
            <a:endParaRPr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144853" y="4411089"/>
            <a:ext cx="1989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生成</a:t>
            </a:r>
            <a:r>
              <a:rPr lang="en-US" altLang="zh-CN" dirty="0" smtClean="0"/>
              <a:t>H5</a:t>
            </a:r>
            <a:r>
              <a:rPr lang="zh-CN" altLang="en-US" dirty="0" smtClean="0"/>
              <a:t>文件</a:t>
            </a:r>
            <a:endParaRPr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136080" y="4879811"/>
            <a:ext cx="835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训练</a:t>
            </a:r>
            <a:endParaRPr lang="zh-CN" altLang="en-US" dirty="0"/>
          </a:p>
        </p:txBody>
      </p:sp>
      <p:sp>
        <p:nvSpPr>
          <p:cNvPr id="29" name="文本框 28"/>
          <p:cNvSpPr txBox="1"/>
          <p:nvPr/>
        </p:nvSpPr>
        <p:spPr>
          <a:xfrm>
            <a:off x="155180" y="5338164"/>
            <a:ext cx="835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推理</a:t>
            </a:r>
            <a:endParaRPr lang="zh-CN" altLang="en-US" dirty="0"/>
          </a:p>
        </p:txBody>
      </p:sp>
      <p:sp>
        <p:nvSpPr>
          <p:cNvPr id="30" name="右箭头 29"/>
          <p:cNvSpPr/>
          <p:nvPr/>
        </p:nvSpPr>
        <p:spPr bwMode="auto">
          <a:xfrm>
            <a:off x="3683907" y="3306786"/>
            <a:ext cx="635149" cy="379582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349332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9B028A-D22A-493A-9229-E70FA774430F}" type="slidenum">
              <a:rPr lang="ko-KR" altLang="en-US" smtClean="0"/>
              <a:pPr/>
              <a:t>20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320141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504"/>
  <p:tag name="DEFAULTHEIGHT" val="315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默认设计模板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26014</TotalTime>
  <Words>1080</Words>
  <Application>Microsoft Office PowerPoint</Application>
  <PresentationFormat>全屏显示(4:3)</PresentationFormat>
  <Paragraphs>148</Paragraphs>
  <Slides>20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1" baseType="lpstr">
      <vt:lpstr>默认设计模板</vt:lpstr>
      <vt:lpstr>集成电路基础实验 机器学习与神经网络简介</vt:lpstr>
      <vt:lpstr>机器学习的定义</vt:lpstr>
      <vt:lpstr>任务Task</vt:lpstr>
      <vt:lpstr>性能度量 Performance Measure</vt:lpstr>
      <vt:lpstr>经验Experience</vt:lpstr>
      <vt:lpstr>人工神经网络(Artificial Neural Network, ANN)</vt:lpstr>
      <vt:lpstr>生物神经元(Neuron)</vt:lpstr>
      <vt:lpstr>突触Synapse</vt:lpstr>
      <vt:lpstr>神经元建模</vt:lpstr>
      <vt:lpstr>二进制阈值神经元模型Binary threshold neuron</vt:lpstr>
      <vt:lpstr>整流线性神经元Rectified linear Neuron</vt:lpstr>
      <vt:lpstr>Sigmoid neurons</vt:lpstr>
      <vt:lpstr>ANN的组成</vt:lpstr>
      <vt:lpstr>前馈神经网络 vs. 循环神经网络</vt:lpstr>
      <vt:lpstr>多层神经网络</vt:lpstr>
      <vt:lpstr>训练(training)与损失(loss)</vt:lpstr>
      <vt:lpstr>卷积神经网络 Convolutional neural network, CNN</vt:lpstr>
      <vt:lpstr>典型CNN架构</vt:lpstr>
      <vt:lpstr>本次实验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工作汇报</dc:title>
  <dc:creator>Zehua Lan</dc:creator>
  <cp:lastModifiedBy>HP</cp:lastModifiedBy>
  <cp:revision>1259</cp:revision>
  <dcterms:created xsi:type="dcterms:W3CDTF">2006-02-19T12:40:14Z</dcterms:created>
  <dcterms:modified xsi:type="dcterms:W3CDTF">2021-06-24T07:00:12Z</dcterms:modified>
</cp:coreProperties>
</file>