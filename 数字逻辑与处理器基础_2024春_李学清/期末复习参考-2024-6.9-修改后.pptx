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2.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72"/>
  </p:notesMasterIdLst>
  <p:handoutMasterIdLst>
    <p:handoutMasterId r:id="rId73"/>
  </p:handoutMasterIdLst>
  <p:sldIdLst>
    <p:sldId id="1564" r:id="rId3"/>
    <p:sldId id="257" r:id="rId4"/>
    <p:sldId id="1506" r:id="rId5"/>
    <p:sldId id="1467" r:id="rId6"/>
    <p:sldId id="458" r:id="rId7"/>
    <p:sldId id="1492" r:id="rId8"/>
    <p:sldId id="1505" r:id="rId9"/>
    <p:sldId id="1512" r:id="rId10"/>
    <p:sldId id="1513" r:id="rId11"/>
    <p:sldId id="433" r:id="rId12"/>
    <p:sldId id="1514" r:id="rId13"/>
    <p:sldId id="484" r:id="rId14"/>
    <p:sldId id="2057" r:id="rId15"/>
    <p:sldId id="2058" r:id="rId16"/>
    <p:sldId id="2059" r:id="rId17"/>
    <p:sldId id="2060" r:id="rId18"/>
    <p:sldId id="2061" r:id="rId19"/>
    <p:sldId id="2062" r:id="rId20"/>
    <p:sldId id="2063" r:id="rId21"/>
    <p:sldId id="2064" r:id="rId22"/>
    <p:sldId id="2065" r:id="rId23"/>
    <p:sldId id="2066" r:id="rId24"/>
    <p:sldId id="2067" r:id="rId25"/>
    <p:sldId id="2068" r:id="rId26"/>
    <p:sldId id="2069" r:id="rId27"/>
    <p:sldId id="1542" r:id="rId28"/>
    <p:sldId id="570" r:id="rId29"/>
    <p:sldId id="578" r:id="rId30"/>
    <p:sldId id="580" r:id="rId31"/>
    <p:sldId id="2042" r:id="rId32"/>
    <p:sldId id="1989" r:id="rId33"/>
    <p:sldId id="616" r:id="rId34"/>
    <p:sldId id="1990" r:id="rId35"/>
    <p:sldId id="1988" r:id="rId36"/>
    <p:sldId id="681" r:id="rId37"/>
    <p:sldId id="1986" r:id="rId38"/>
    <p:sldId id="1951" r:id="rId39"/>
    <p:sldId id="1272" r:id="rId40"/>
    <p:sldId id="1894" r:id="rId41"/>
    <p:sldId id="2045" r:id="rId42"/>
    <p:sldId id="2046" r:id="rId43"/>
    <p:sldId id="2047" r:id="rId44"/>
    <p:sldId id="2048" r:id="rId45"/>
    <p:sldId id="664" r:id="rId46"/>
    <p:sldId id="2049" r:id="rId47"/>
    <p:sldId id="2050" r:id="rId48"/>
    <p:sldId id="2051" r:id="rId49"/>
    <p:sldId id="1936" r:id="rId50"/>
    <p:sldId id="2052" r:id="rId51"/>
    <p:sldId id="1920" r:id="rId52"/>
    <p:sldId id="2053" r:id="rId53"/>
    <p:sldId id="1940" r:id="rId54"/>
    <p:sldId id="2054" r:id="rId55"/>
    <p:sldId id="2055" r:id="rId56"/>
    <p:sldId id="2056" r:id="rId57"/>
    <p:sldId id="2076" r:id="rId58"/>
    <p:sldId id="2075" r:id="rId59"/>
    <p:sldId id="2071" r:id="rId60"/>
    <p:sldId id="2072" r:id="rId61"/>
    <p:sldId id="2073" r:id="rId62"/>
    <p:sldId id="2074" r:id="rId63"/>
    <p:sldId id="2077" r:id="rId64"/>
    <p:sldId id="2078" r:id="rId65"/>
    <p:sldId id="2079" r:id="rId66"/>
    <p:sldId id="2080" r:id="rId67"/>
    <p:sldId id="2081" r:id="rId68"/>
    <p:sldId id="2082" r:id="rId69"/>
    <p:sldId id="2083" r:id="rId70"/>
    <p:sldId id="2044" r:id="rId7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3498"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A49EA"/>
    <a:srgbClr val="0A0099"/>
    <a:srgbClr val="CCFFCC"/>
    <a:srgbClr val="FF99CC"/>
    <a:srgbClr val="3333FF"/>
    <a:srgbClr val="009999"/>
    <a:srgbClr val="FFFF9A"/>
    <a:srgbClr val="FF9900"/>
    <a:srgbClr val="05FFFF"/>
    <a:srgbClr val="CD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68" autoAdjust="0"/>
    <p:restoredTop sz="85034" autoAdjust="0"/>
  </p:normalViewPr>
  <p:slideViewPr>
    <p:cSldViewPr snapToGrid="0">
      <p:cViewPr varScale="1">
        <p:scale>
          <a:sx n="86" d="100"/>
          <a:sy n="86" d="100"/>
        </p:scale>
        <p:origin x="663" y="54"/>
      </p:cViewPr>
      <p:guideLst>
        <p:guide orient="horz" pos="3498"/>
        <p:guide pos="2880"/>
      </p:guideLst>
    </p:cSldViewPr>
  </p:slideViewPr>
  <p:notesTextViewPr>
    <p:cViewPr>
      <p:scale>
        <a:sx n="100" d="100"/>
        <a:sy n="100" d="100"/>
      </p:scale>
      <p:origin x="0" y="0"/>
    </p:cViewPr>
  </p:notesTextViewPr>
  <p:sorterViewPr>
    <p:cViewPr>
      <p:scale>
        <a:sx n="166" d="100"/>
        <a:sy n="166" d="100"/>
      </p:scale>
      <p:origin x="0" y="2742"/>
    </p:cViewPr>
  </p:sorterViewPr>
  <p:notesViewPr>
    <p:cSldViewPr snapToGrid="0">
      <p:cViewPr varScale="1">
        <p:scale>
          <a:sx n="88" d="100"/>
          <a:sy n="88" d="100"/>
        </p:scale>
        <p:origin x="93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6395961-78AC-4172-A9D4-2880E5973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SimHei" panose="02010609060101010101" pitchFamily="49" charset="-122"/>
            </a:endParaRPr>
          </a:p>
        </p:txBody>
      </p:sp>
      <p:sp>
        <p:nvSpPr>
          <p:cNvPr id="3" name="日期占位符 2">
            <a:extLst>
              <a:ext uri="{FF2B5EF4-FFF2-40B4-BE49-F238E27FC236}">
                <a16:creationId xmlns:a16="http://schemas.microsoft.com/office/drawing/2014/main" id="{2E46C722-DFA8-4F89-A8FF-79F824E95D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33EEF7-398C-4CC9-B279-5CBBD10BBD98}" type="datetimeFigureOut">
              <a:rPr lang="zh-CN" altLang="en-US" smtClean="0">
                <a:ea typeface="SimHei" panose="02010609060101010101" pitchFamily="49" charset="-122"/>
              </a:rPr>
              <a:t>2024/6/10</a:t>
            </a:fld>
            <a:endParaRPr lang="zh-CN" altLang="en-US" dirty="0">
              <a:ea typeface="SimHei" panose="02010609060101010101" pitchFamily="49" charset="-122"/>
            </a:endParaRPr>
          </a:p>
        </p:txBody>
      </p:sp>
      <p:sp>
        <p:nvSpPr>
          <p:cNvPr id="4" name="页脚占位符 3">
            <a:extLst>
              <a:ext uri="{FF2B5EF4-FFF2-40B4-BE49-F238E27FC236}">
                <a16:creationId xmlns:a16="http://schemas.microsoft.com/office/drawing/2014/main" id="{EA0BD996-2C1A-4268-B94B-EE24D46C2D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SimHei" panose="02010609060101010101" pitchFamily="49" charset="-122"/>
            </a:endParaRPr>
          </a:p>
        </p:txBody>
      </p:sp>
      <p:sp>
        <p:nvSpPr>
          <p:cNvPr id="5" name="灯片编号占位符 4">
            <a:extLst>
              <a:ext uri="{FF2B5EF4-FFF2-40B4-BE49-F238E27FC236}">
                <a16:creationId xmlns:a16="http://schemas.microsoft.com/office/drawing/2014/main" id="{494D9BD0-2C1F-44BD-8ED2-98D8FEB2D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D0E1E4-72F4-4EC6-888F-6D0DE1EB4E5D}" type="slidenum">
              <a:rPr lang="zh-CN" altLang="en-US" smtClean="0">
                <a:ea typeface="SimHei" panose="02010609060101010101" pitchFamily="49" charset="-122"/>
              </a:r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18303099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10T03:44:45.682"/>
    </inkml:context>
    <inkml:brush xml:id="br0">
      <inkml:brushProperty name="width" value="0.05292" units="cm"/>
      <inkml:brushProperty name="height" value="0.05292" units="cm"/>
      <inkml:brushProperty name="color" value="#FF0000"/>
    </inkml:brush>
  </inkml:definitions>
  <inkml:trace contextRef="#ctx0" brushRef="#br0">23025 14774 653 0,'4'0'0'16,"-4"0"0"-16,7-3 0 0,-7 3 49 0,9-4 1 0,-9 4 0 0,15-7 0 0,-15 7 23 0,13-15 1 0,-13 15 0 0,11-20 1 0,-11 20-4 0,5-16 1 0,-5 16 0 16,-5-33 1-16,3 6-42 0,-2-4 1 0,-1 5-1 15,-8 3 1-15,0 8-13 0,-3 2 1 0,-3 1 0 16,-3-1 0-16,-7-2-2 0,-2-3 0 0,-2 2 0 16,-7 5 1-16,3 0 1 0,-5 0 1 0,0 2-1 15,0 0 0-15,0 0 6 0,-2 3 1 0,-2-1-1 0,-1 0 0 16,-1 1 4-16,-1 1-1 0,-6 1 0 0,5 4 1 15,-12 0-2-15,-4 0 2 0,-1 2-2 0,1 5 1 16,0-7-3-16,-2 2 1 0,-3 2-2 0,-2 1 2 16,1-1-7-16,-6 1 2 0,6 1-1 0,-6-3 0 15,10-1-9-15,0-2 0 0,-1 0 0 0,-3 0 1 16,-1 0-4-16,0 0 1 0,-2 0-1 0,2 2 1 0,-4 2-1 16,2 1 1-16,-2-1-1 0,-5 1 1 0,1-1-2 15,-1 1 0-15,-2-1 0 0,9 0 1 0,0 1-3 16,3-3 2-16,-1 0-1 0,2 1 1 0,-4 1-3 0,5-4 2 15,1 2 0-15,-1 0 0 0,-1 1-5 16,3-1 0-16,2 0 0 0,-5 0 1 0,1 1-3 0,1-1 1 16,-1 2 0-16,-1 1 0 0,3 1-1 0,-5 3 0 15,0 2 0-15,-2 0 0 0,0-2-1 0,-2 2 0 16,-7-2 0-16,9 5-1 0,0 1-1 0,0 1 0 16,0 1-1-16,2 3 1 0,5 0 1 0,-7 3 1 15,7 1-1-15,2-2 1 0,-1 0-1 0,3 1 0 16,5 1 0-16,2 1 0 0,1-1-1 0,1 0 1 0,0 3-2 15,0-5 2-15,7 3-2 0,1-3 0 0,-1 0 0 16,4 0 1-16,-1-2-2 0,1 0 2 0,7 0-1 16,-3 7 1-16,3 2-2 0,-1 2 2 0,3 4-1 15,0-4 0-15,2 3-1 0,-1 1 0 0,6-4 1 16,1 7-1-16,-4-2 0 0,5-1-1 0,6 1 0 16,0-1 1-16,5 1-1 0,4-1 0 0,-2 1 1 15,8-3-1-15,3-4 2 0,4-2-1 0,3-1 1 16,8-1-1-16,4 1 1 0,1-1 0 0,6-1 0 15,3-2 1-15,2-2-2 0,-1-2 2 0,7 0-1 0,7 0 1 16,5-3 2-16,3 1 1 0,1-3 0 0,0 0 0 16,4-1 0-16,5-4 0 0,3 1 0 0,-1-2 1 15,-2 0 1-15,2-1 0 0,1 3 1 0,6-7 0 0,1 1 3 16,3-3 0-16,4-3 1 0,1 1 0 0,-6-4 3 16,1-1 0-16,11 0 0 0,-7 1 1 0,9-1-2 15,5 0 2-15,-1 5-1 0,0-2 0 0,1 4 0 16,-3 4 1-16,-2 0 0 0,-2 5 0 0,-5 7-2 0,-2 2 0 15,1-1 0-15,-3 3 2 0,0 0-3 0,4 5 1 16,-4-1 0-16,-2 1 0 0,-3-1-1 0,-1 3 0 16,1 2 0-16,7-3 0 0,-2-1-1 0,7-1-1 15,0-2 1-15,-1-4 1 0,-1-5-2 0,1-2 0 16,3-2 0-16,4 0 1 0,-4 0-3 0,11-2 1 16,-7-1-1-16,5-1 2 0,1 2-3 0,-3-5 2 15,-3 2-2-15,-2 1 1 0,-4-1-1 0,-1-2 0 16,-1 3 0-16,-1-1 1 0,-4-2-2 0,4 1 0 0,-4-1 0 15,-6 0 2-15,-3-2-3 0,2-2 0 0,1 0 0 16,-1-3 1-16,5 1 0 0,-3-3-1 0,-3 0 0 16,-1-1 0-16,4-4 0 0,-1-1 0 0,-3-2 0 15,4-3 0-15,-1 0 1 0,-1-2 0 0,-4 0-1 16,-2 2 1-16,0 5-1 0,-5 0 2 0,2-3-2 16,-1 1 1-16,-3-3-1 0,-2 0 1 0,-2 3-1 15,-5-1 2-15,-4-2-2 0,2 0 0 0,-7 1 0 16,-4-1 1-16,-2 0-1 0,-6 3 0 0,-3-3 1 0,0-2-1 15,-2-2 0-15,-3-5 0 0,-4-2 0 0,1 0 1 16,-5-2-1-16,-3 0 1 0,-1-2-1 0,-3-5 1 16,-4-2-1-16,-1 2 0 0,-3-4 0 0,1 2 0 15,-6-2-1-15,0 0 2 0,-2 2-1 0,0 0 0 16,0 0-1-16,-5 4 1 0,5-6 0 0,-12 0 0 16,3 0-1-16,-2 0 1 0,0-5 0 0,-7 3 1 0,-2-1 0 15,-2 3 0-15,-5-2 0 0,-2-3 0 0,-2 0 2 16,-7 1-1-16,-4 1 1 0,0 3-1 0,-5 2 1 15,-1 5 1-15,-1-1-1 0,-6 0 2 0,1 1 0 16,-1-1-1-16,0 3 1 0,1 4 1 0,1-2 0 0,0 4 1 16,0-6 0-16,0 4 0 0,4 7 0 0,-4-5 1 15,0 1-1-15,0-3 1 0,4 0-3 0,0-4 2 16</inkml:trace>
</inkml:ink>
</file>

<file path=ppt/ink/ink2.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10T03:49:17.703"/>
    </inkml:context>
    <inkml:brush xml:id="br0">
      <inkml:brushProperty name="width" value="0.05292" units="cm"/>
      <inkml:brushProperty name="height" value="0.05292" units="cm"/>
      <inkml:brushProperty name="color" value="#FF0000"/>
    </inkml:brush>
  </inkml:definitions>
  <inkml:trace contextRef="#ctx0" brushRef="#br0">14444 7643 979 0,'6'0'0'0,"-6"0"0"0,16 0 0 0,-16 0 14 0,37 11-1 0,-37-11 1 0,38 0-1 0,-38 0 22 0,22-4 1 0,-22 4 0 0,7 4 0 0,-7-4-2 0,13 20 1 0,-11 3 0 16,-2 8 1-16,-4 7-8 0,-3 10 0 0,-2 3 0 15,3-2 0-15,-5 2-12 0,-5-6 1 0,1 6-2 16,6 2 2-16,-7 3-2 0,5-1-1 0,-4 10 1 16,-1 6 1-16,-1 4 13 0,1 10 0 0,-1 3 0 15,-3 1 0-15,-4 9 11 0,-3 2-1 0,-1 4 0 16,-1 12 0-16,-2 6 0 0,-2 2 0 0,0 5-1 16,0 2 1-16,0-4-7 0,-5-1-1 0,3-6 1 15,2 0 0-15,-2-5-5 0,-5-6 1 0,7-7-1 0,2-4 1 16,2-11-3-16,3-5-1 0,1-2 1 15,3-11 1-15,0-12-5 0,5-12 1 0,1-1-1 0,5-4 1 16,0-4-4-16,0-5 1 0,7-2-1 0,-5-1 1 16,7-8-3-16,0 3 1 0,2-10 0 0,0 0 0 15,0-8-3-15,0 1 2 0,0-6-1 0,2 5 0 16,0-5-1-16,0 2 0 0,7-2 1 0,11 0-1 0,11-2-2 16,4-3-1-16,2-1 0 0,3-8 0 15,4-3 1-15,-2-6 0 0,5 3-1 0,-3-4 1 0,4 2-3 16,3 0 2-16,0 2-2 0,4-5 1 0,-5 7 0 15,6-2 0-15,1 5 0 0,-4-1 1 0,2 3-3 0,-2 2 0 16,4 7 0-16,-6-8 0 0,6 8-3 0,1-5 1 16,-5 5-1-16,2 1 2 0,-7 3-2 0,1 0 0 15,-1 0 1-15,-8-4-1 0,-3 2 0 0,-1 0-1 16,-12-1 1-16,0-3 1 0,-6 1-4 0,-3 1 0 16</inkml:trace>
  <inkml:trace contextRef="#ctx0" brushRef="#br0" timeOffset="1483.87">16120 9227 1192 0,'0'0'0'0,"0"0"0"0,-18 0 0 0,18 0 45 0,-17 0 1 0,17 0-1 0,-20-9 1 0,20 9-4 0,-27-11-1 0,27 11 1 0,-15-16 0 0,15 16-39 0,-13-7 0 16,13 7-1-16,-16-6 2 0,16 6-20 0,-11-9 1 15,11 9 0-15,-15-9 0 0,15 9-67 0,-22-11 1 16,22 11-1-16,-25-13 2 0,25 13-25 0,-28-14 1 15,28 14-1-15,-22-4 2 0,22 4 30 0,-22 7 1 0,22-7 1 16,-18 6-1-16,18-6 52 0,-18 11 1 0,18-11-1 16,-19 25 1-16,19-25 26 0,-29 37 0 0,13-10 0 15,5-5 0-15,3 14 63 0,1 2 1 0,-2 6-2 16,0 7 2-16,-2 7 39 0,5 6 1 0,-1 1 0 16,3 6 0-16,-3 4-40 0,7 3 1 0,-2 6 0 15,0-4-1-15,-3 9-17 0,-1 7 1 0,1-8 0 16,1 3 0-16,-1-2-11 0,-1-2 0 0,1-5 0 15,1-7 0-15,0-3-11 0,4-8 0 0,0-6-1 0,4-5 1 16,0-9-4-16,1-4 0 0,6-6 0 0,4-3 1 16,1-5-4-16,-1-3 0 0,5-3 0 0,-2-5 0 15,4-2-4-15,0-4 1 0,-2-6-1 0,4-3 0 16,2-5-8-16,-4-8 1 0,3-5-1 0,-1-6 1 16,2-5-6-16,3-11 1 0,0-2-1 0,-3-3 1 0,-2-4-3 15,-6-2-1-15,2-2 1 0,0-9 0 0,-3-3-3 16,-1-8 1-16,-1 4-1 0,1-4 2 0,-1 9-3 15,-2-1 1-15,-2 5-1 0,0 5 1 0,0-1-1 16,0 7 0-16,-6 3 0 0,1 8 1 0,3 11-4 0,-4 1 1 16,1 6-1-16,-1 2 1 0,-3 5-1 0,0 1 0 15,3 6 0-15,1-3 1 0,-1-2-1 0,-5 2 0 16,2 0 0-16,2 0 0 0,-2-6-1 0,-2 4 1 16,7-1 0-16,-3-1 0 0,3 4-2 0,-3 3 1 15,-1-1-2-15,1 0 2 0,0 3 0 0,-1-5 1 16,-3 7 0-16,6-3 0 0,-1 3 0 0,-3-2 0 15,2-1 0-15,-1 1 0 0,1-3 0 0,0 3 0 0,1-5 0 16,-1 2 0-16,1 3 0 0,1 1 1 0,-1 1-1 16,-1 0 1-16,3-5-1 0,-1 3 0 0,3-5 0 15,-5 2 0-15,3 1 0 0,0-1 0 0,-3 0 0 16,-2 1 0-16,-2 1 0 0,3 5 0 0,-1 0 0 16,-2-6 2-16,6 3-2 0,-6 1 0 0,3 2 0 15,-1-4 0-15,-2 1 0 0,0 1 0 0,0 0 0 16,0 0 0-16,0 0 0 0,0 2 0 0,0-5 0 15,0 3 0-15,0 0 0 0,2-1 0 0,-2 3 0 16,0-4 0-16,0 4 0 0,0-7 0 0,0 5 0 16,0 0 0-16,0 2 0 0,0-5 1 0,0 3-1 0,0 0 1 15,0 0 0-15,0 0 1 0,0-1-1 0,0 3 2 16,0-4-1-16,0 2 1 0,0 2-1 0,0 0 2 16,0 0 1-16,0 0 1 0,0 0 0 0,0-2 0 0,0 2-1 15,0-3 0-15,0 3 1 0,-2 0 0 0,0 0 0 16,-1 0 2-16,3 0-1 0,-6 0 1 0,6 0 0 15,-2 0 0-15,-1 3-1 0,1 5 1 0,2-1 0 16,0 2 0-16,0 2 0 0,-4 9 1 0,1 7-4 0,-1 2 2 16,-3-1 0-16,7-1 0 0,-4 0-1 15,4-1 1-15,-7 1 0 0,7 4 1 0,-2 0-4 0,2 0 2 16,2 3-1-16,-2-1 1 0,7 0-3 0,-7 0 1 16,4 3-1-16,-4 0 2 0,7-3-3 0,0 5 1 15,2-5-1-15,2 2 2 0,2 1-3 0,2 4 1 16,1-2-1-16,-1-3 2 0,-2 1-1 0,3-7 0 15,6-1 0-15,0 1 0 0,2 0 1 0,3-2 0 16,1 0 0-16,-8-1 1 0,9 1-1 0,-1-1 1 0,-3-3-1 16,1 1 1-16,5 3 0 0,0-5 0 0,-5 2 0 15,3-1 0-15,0-1 1 0,-1-2 0 0,-3-2 0 16,1-1 0-16,1-1 0 0,-1-5 0 0,3 0 0 16,-5 0 1-16,2-9-2 0,-6 1 2 0,0-1-2 15,4 0 2-15,1-2-3 0,-1-2 2 0,-6-3-2 16,-1 3 1-16,-1-7 0 0,-1-2 0 0,-4 0 0 15,9-4 0-15,-5-3 0 0,5-2-1 0,-4-5 0 16,-5-1 1-16,-2-8-1 0,-3-1 1 0,1-5 1 0,2-2-1 16,-1-5 0-16,-1 0 0 0,-3-4 1 15,1-2-1-15,-3-5 1 0,7-2-1 0,-7-6 1 0,5 1-1 16,-1-3 1-16,-1-1 0 0,1 0 1 0,-1 0 0 0,-5 11-2 16,4-4 2-16,-4 4-1 0,2 1 1 0,-2-1-2 15,-2 0 2-15,2 5-2 0,0 0 2 0,0 4-1 16,0 2 0-16,-4-2 0 0,4 9 0 0,-5 7-1 15,3 6 0-15,-2-2 0 0,-1 5 0 0,-4-3-1 16,3 3 1-16,-3 4-1 0,2 2 0 0,-4 3 1 16,3-1-1-16,-1 5 1 0,0-2-1 0,2 4-2 0,1 4 0 15,-5-4 0-15,-5 3 0 0,7-5-1 0,-2 6 0 16</inkml:trace>
  <inkml:trace contextRef="#ctx0" brushRef="#br0" timeOffset="5233.92">8357 9280 12 0,'0'-2'0'0,"0"2"0"0,7 2 0 0,-7-2 64 0,17 9 0 0,-17-9 0 0,11 7 0 0,-11-7 100 0,7 0-1 0,-7 0 1 0,0 0 1 16,0 0-113-16,0 0 1 0,0 0-1 0,0-5 1 0,0 5 11 15,0-4 1-15,0 4 0 0,-13-11 0 16,13 11-28-16,-31-23 0 0,11 8 0 0,-4-1 2 16,0 1-13-16,-3 1 1 0,-4 5 0 0,-4 1 1 15,-3-1-7-15,-1 2 0 0,-3 5-1 16,7-3 1-16,-1 5 3 0,-1 0 1 0,2 5-2 0,1-3 2 0,-5 5 5 16,3 2 2-16,-1 4-1 0,-1-2 0 0,3 0-1 15,-5-2-1-15,5 2 0 0,2 0 1 0,-2 5-3 16,0-5 0-16,-1 4 0 0,5 3 0 0,1 7-6 15,3-3 1-15,-6 2-1 0,9-2 0 0,-1 1-6 0,-3-1 1 16,1 7-2-16,-1-3 2 0,3 8-7 0,6 1 0 16,-1-4 0-16,4-2 0 0,1 2-1 0,6-2 0 15,5 0-1-15,4-2 2 0,8-3-3 0,-1-2 0 16,6-2-1-16,7-6 2 0,4-1-3 0,9-6 1 16,3-3-1-16,3 0 1 0,14-4-3 0,-2-4 0 15,0 0 1-15,11-3-1 0,-3-2 0 0,14 2 0 16,-7-2 1-16,0 7-1 0,-6 2-1 0,-3 0 0 0,-6 0 0 15,6 7 1-15,-11 2-2 0,5 2 2 0,-5 4-1 16,-6 1 0-16,-2 6-1 0,-3-4 0 0,-11 6 0 16,7-4 1-16,-4 9-2 0,-8 2 0 0,-3 0 0 15,-5 0 1-15,-2 5-5 0,-3 2 2 0,-1 0-2 16,-5-5 2-16,-7-2-4 0,3-4 0 0,-10 4 1 16,3 4 0-16,-8-4-2 0,-3 3 1 0,-5-1 1 0,-2-2-1 15,-1-2 4-15,-10-3 0 0,2 1 0 16,-6 0 1-16,-2-1 1 0,-3-3 1 0,1-1-1 0,2-2 1 15,4 0 0-15,-5-5 0 0,-3-4 0 16,-1-6 0-16,-11-3 2 0,7-2 0 0,-2-2 0 0,6-3 2 16,5-6 1-16,2 0 1 0,6 0-1 0,3 2 1 0,2-6 0 15,4 4 0-15,5 0 1 0,4 2 0 0,9 4-4 16,-2 3 1-16</inkml:trace>
  <inkml:trace contextRef="#ctx0" brushRef="#br0" timeOffset="6005.1">9061 9315 1482 0,'-5'0'0'0,"5"0"0"0,5-4 0 0,-5 4 32 0,8 4 2 0,-8-4 0 0,11 0-1 0,-11 0 29 0,0-4 1 0,0 4 0 0,0-7 0 0,0 7-35 16,0 0 1-16,0 0 0 0,0 0 0 0,0 0-20 16,0 0 1-16,0 0 0 0,-4 11 1 0,4-11-8 15,-15 43 0-15,4-12 1 0,2 9-1 0,-2 11-2 16,2 7 0-16,0-1 0 0,3 5 2 0,1 10-3 15,3 1 1-15,-3 5 0 0,5 1 0 0,0 6-1 16,5 4 1-16,-3-7 0 0,9-13 0 0,2-12-1 16,-2-6 2-16,5-8-2 0,1-10 1 0,6-9 1 15,-6-6 1-15,5-7-1 0,5-4 2 0,-5-7 1 0,2-5 1 16,0-3 0-16,1-3 0 0,-1-5 1 0,0-4 1 16,0-4 0-16,-2-5 0 0,3-5 1 0,1-8 1 15,-6 0 0-15,0-5 0 0,-3-1-4 0,1-6-1 16,-3 3 1-16,-3-2-1 0,-8 4-2 0,3-2 0 0,-1 2 0 15,1-2 1-15,-1 0-2 0,-6 0 0 0,5 2 1 16,-3 5-1-16,2 1-2 0,1 3 1 0,-1 7 0 16,-2 6 0-16,-2 3-1 0,3 11 0 0,-1-3 0 15,2 7 0-15,-8 5-1 0,2 4 1 0,2 0 0 16,0-2 0-16,0 2-1 0,0 2 0 0,0 7 0 16,-3 6 0-16,1 7-3 0,-2 14 2 0,-3 0-1 15,5 4 0-15,0 6 2 0,2 5 0 0,-5 5 0 16,-1-1 0-16,4 1 1 0,-3-1 0 0,5-1 0 15,0-1 1-15,5 0 2 0,-1-2 2 0,5-4-2 16,2-5 2-16,0-9 5 0,4-6 1 0,3-3 0 0,0-1 0 16,-1-12 4-16,5 0 1 0,0-4-1 0,7-5 1 15,-5-4-4-15,5-5 2 0,0 0-2 0,1-6 2 16,1 0-9-16,9-3 2 0,-2-8-1 0,-8 1 0 16,6-3-6-16,-5-5 0 0</inkml:trace>
  <inkml:trace contextRef="#ctx0" brushRef="#br0" timeOffset="6662.77">10622 7968 1281 0,'0'4'0'0,"0"-4"0"0,11 20 0 0,-11-20 14 0,27 31-1 0,-16-9 0 0,2 9 1 0,-9 5 9 0,-4 13 2 0,2 0 0 16,1 4 0-16,-3 9-8 0,-3 7 3 0,1 9-2 0,-2 2 1 15,4 4-13-15,-5 5 1 0,5 9 0 16,-4-1 1-16,0 5-5 0,1 7 2 0,-1-4-1 0,0-3 0 16,-1 0 0-16,3-4-1 0,-5-7 1 0,5-7 0 15,0-6 2-15,0-14 0 0,-3-2 0 0,5-8 1 16,-2-8 2-16,2-4 0 0,-7-4 0 0,5 0 1 16,0-3 0-16,-9-1 1 0,9-5 0 0,0-5 1 15,-3-11 7-15,1-2 1 0,4-4-1 0,-5-2 1 0,3-5 7 16,2-7 0-16,-4-9 0 0,4-8 1 0,-5-14-2 15,5-15 0-15,0 0-1 0,5-10 2 0,1-5-8 16,3-1 2-16,0-11-2 0,6 0 1 0,3-5-3 16,2 1 1-16,4 6-1 0,7 5 0 0,0 15-3 15,4 9 1-15,3 10-2 0,1 5 2 0,-3 8-9 0,-1 6 2 16,-2 8 0-16,0 4 0 0,0 5-7 0,3 8 0 16,-1 6 0-16,0 0 1 0,0 9-2 0,1 2 2 15,-3 5-2-15,-5 0 1 0,-1 6-1 0,-1 2 0 0,-1 3 0 16,-6 2 0-16,3 4 0 0,-2 3 0 0,-6 0 0 15,-1-3 0-15,-4 3 0 0,-3-1 0 16,-4-3 0-16,-4 3 0 0,-4-4-1 0,-5 3 1 16,-7-3 0-16,0 5 0 0,-8 4 0 0,-3 2 0 0,-2-9 0 15,0-1 1-15,-4-3 2 0,4-7 0 0,-8-4 1 16,1-3 0-16,-4-3 9 0,-2-8 0 0,0-4-1 16,2-6 2-16,-4-3 11 0,-1-4 0 0,1-9 1 15,-2-7 0-15,3-9 0 0,4-4 1 0,1-9-1 16,-2-2 1-16,2-5-6 0,1-6 1 0</inkml:trace>
  <inkml:trace contextRef="#ctx0" brushRef="#br0" timeOffset="90527.14">10966 5330 12 0,'0'2'0'0,"0"-2"0"0,15 11 0 0,-15-11 0 0,38 11 0 0,-14-4 0 0,-6 2 0 0,-11-7 0 0,-3 2 0 0,-4 1 0 0,4-1 0 0,-4 0 29 0,3 3 0 16,-1-2 0-16,0-3 2 0,2 2 62 0,-4 1 0 15,5-1 0-15,1 3 1 0,3-1-47 0,0 6 1 0,2 3-1 16,0 3 1-16,0 0-4 0,2 2 1 0,-2 2-2 16,0 4 2-16,-6-1 5 0,-3 4-1 0,7 2 0 15,-5-7 1-15,3 3-9 0,2 0 2 0,-5-1 0 16,7 1-1-16,0 0-5 0,2-7 0 0,5 2 0 16,-3 0 0-16,1-2-11 0,-1-2 1 0,1-1-1 15,-1 1 1-15,3 2-8 0,-1 2 0 0,3-6 0 16,-4 4 0-16,4-2-5 0,-5 2-1 0,5 0 1 15,-5 2-1-15,1 5 5 0,-3 4 1 0,5-5-1 16,-3 1 1-16,-4 0 2 0,0 6 1 0,2-2-1 0,3-2 2 16,-1 0-1-16,-6-3 0 0,9 1 1 0,-3-3-1 15,-2-4 0-15,-2-2-1 0,5 2 0 0,-1-4 1 16,1-1 2-16,-1 3 2 0,-2-2-1 0,5-1 1 16,-5 1-6-16,3-5 1 0,-3 0-1 0,0 2 2 15,3-2-9-15,-5 3 1 0,2-1-1 0,2 2 1 16,1-3-3-16,-3 3 1 0,2-4-1 0,-1 0 2 0,-8-2-3 15,3-2 0-15,-5 2 0 0,8 2 1 0,-6 0-2 16,3 0 1-16,-5-2-1 0,-1 0 1 0,-1 0-3 16,4-3 1-16,-1 3-1 0,-5-4 0 0,0-1-2 0,0 3-1 15,0-7 1-15,0 2 1 0,0 0-4 0,0-2 0 16,0 2 0-16,0 3 1 0,0-5-2 0,0 4 0 16,-5-4 0-16,-3-4 0 0,1-1-1 0,-4 3 1 15,2-9-1-15,-2-9 1 0,-2-7-1 16,0-8 0-16</inkml:trace>
  <inkml:trace contextRef="#ctx0" brushRef="#br0" timeOffset="91249.98">11169 6720 1369 0,'4'2'0'0,"-4"-2"0"0,16 4 0 0,-16-4 16 0,20 0 1 0,-20 0 0 0,22 0 1 0,-22 0 13 0,4 0 1 0,-4 0-1 0,7 0 1 0,-7 0-12 0,13 0 1 15,-13 0-1-15,15 5 2 0,-15-5-14 0,27 4 1 16,-27-4 0-16,24 0 0 0,-24 0-5 0,27 7 2 0,-27-7-1 16,24 9 1-16,-24-9-2 0,26 11 2 0,-26-11 0 15,27 13-1-15,-3 0 2 0,-2-1 0 0,2-1-1 16,-4-2 1-16,-2 2 1 0,2 0 1 0,4 0-1 16,-4-2 1-16,2 2 8 0,2 0-1 0,-11-4 1 15,5 1 0-15,-3 4 3 0,-8-8 1 0,2 3-1 16,2-1 0-16,0 3 3 0,2-4 1 0,3 1 0 15,-8 3-1-15,10 2-7 0,-5 0 0 0,3-2-1 16,-3-2 1-16,0 0-5 0,-2-3 2 0,-2 1-2 0,2 1 1 16,-2 3-4-16,2-2 0 0,-2 2 0 0,2-7 1 15,0 2-3-15,0 1 1 0,0-1 0 0,2 3 0 16,-2-3-3-16,0 7 2 0,0-6-2 0,2-1 2 16,-8-2-2-16,6-2 1 0,-9-2-1 0,2 0 2 15,3 0-2-15,0-3 2 0,4-6 0 0,0-4-1 16,-5-10 1-16,12-1 1 0,-7-3-2 0,-4 0 2 0,1 0 2 15,-3-2 0-15,1-5 0 0,3 3 0 16,-4-5 2-16,-1-4 1 0,3 0 0 0,-7 0 0 0,-7-3 0 16,7 1 2-16,-4-3-2 0,-5-2 2 0,-2-4-3 15,-5-2 1-15,1-1 0 0,-3-2 1 0,5 1-3 0,0-1 0 16,2 2 0-16,-5 8 0 0,5 1-5 0,-2 5 0 16</inkml:trace>
  <inkml:trace contextRef="#ctx0" brushRef="#br0" timeOffset="93801.39">10929 5549 12 0,'0'0'0'0,"0"0"0"0,-5 0 0 0,5 0 55 0,0 5 0 0,0-5 0 0,0 6 1 0,0-6 11 0,0 0 1 0,0 0-1 0,0 0 0 0,0 0-14 16,-13 0 1-16,13 0-1 0,-7 7 0 0,7-7-9 16,-17 18 0-16,17-18 0 0,-25 27 1 0,25-27-18 15,-26 37 1-15,17-14 0 0,0-1 0 0,7 2-6 16,-2-2 1-16,4 5-1 0,4 4 2 0,-2 0-6 0,7 5 1 15,0-3 0-15,2 3 0 0,4-5-5 16,-4 2 1-16,0-2 0 0,3 0 0 0,-3-4-5 16,4 2 0-16,-4-3 1 0,2-1-1 0,-2-10-6 15,0 1 2-15,0-5-1 0,3-2 1 0,-8-3-4 0,-1-6 1 16,1 3-1-16,1-1 1 0,11 0 0 0,-7 3 1 16,2-5-1-16,2-7 1 0,1 2 0 0,4-1 2 0,-5-8-2 15,5-3 2-15,-2-8 1 0,1 3 0 0,-3-9 0 16,-1 4 1-16,1-6 2 0,-3 2 0 0,0-5 0 15,-4 1 1-15,0 2 6 0,0-5 1 0,-3 7 0 16,1 0 0-16,-7-5 2 0,4 3 1 0,-2 6-1 16,-4 0 0-16,-2 8 0 0,-9 1 0 0,4 2 1 15,-7 3-1-15,3 6-2 0,-2 3 0 0,-10 2 0 16,-1 2 0-16,-7 0 6 0,-5 0 1 0,1 2 0 16,-5 7-1-16,7-3 1 0,-1 5 1 0,1-2 0 15,4-2-1-15,5 2 0 0,2-5 0 0,2 3 0 0,4-3-1 16,5-4-4-16,2-4 1 0,8 4-1 0,3 0 1 15,-4 0-13-15,0-4 1 0</inkml:trace>
  <inkml:trace contextRef="#ctx0" brushRef="#br0" timeOffset="106696.69">6487 9735 12 0,'0'0'0'0,"0"0"0"0,11 0 0 0,-11 0 0 0,20 7 0 0,-20-7 0 0,18 7 0 0,-18-7 0 0,2 0 0 0,-2 0 0 0,0 0 0 0,0 0 0 16,0 0 0-16,0 0 0 0,0 0 1 0,0 0 0 16,0 0 1-16,0 0 1 0,-5 0-1 0,5 0 2 15,-8 0 2-15,8 0 0 0,-5-7-1 0,5 7 3 16,-2-5 0-16,2 5 0 0,-5-4 1 0,5 4 0 0,-6 0 0 15,6 0 0-15,-2-4 1 0,2 4-2 0,0 0 1 16,0 0-2-16,0-3 2 0,0 3-3 0,0 0 1 16,0 0-1-16,0 0 1 0,0 0-1 0,0 0-1 15,0 0 1-15,0 0 0 0,0 0-2 0,0 0 1 16,0 0-1-16,-7 0 1 0,7 0 19 0,-4 0 2 16,4 0-1-16,-7 0 1 0,7 0 11 0,-4 0 0 0,4 0 0 15,-5 0 0-15,5 0-1 0,-4 0 1 16,4 0-1-16,-2 0 1 0,2 0-13 0,0 0 2 15,0 0-1-15,0 0 1 0,0 0-8 0,0-2 1 0,0 2-1 16,0 0 1-16,0 0-6 0,0 0 2 0,0 0-1 16,0 0 1-16,0 0 10 0,0-2-1 0,0 2 1 15,0 0 0-15,0 0 3 0,0 0 0 0,0 0 0 16,0 0 0-16,0 0-2 0,0 0 1 0,0 0-2 16,0 0 2-16,0 0-2 0,0 0 1 0,0 0-1 15,-7 0 0-15,7 0-1 0,-2 0-1 0,2 0 1 16,-5 0 1-16,5 0-4 0,-2 0 0 0,2 0 1 0,-4 0-1 15,4 0 0-15,-5 0 1 0,5 0-1 0,-6 0 1 16,6 0 3-16,-5 11 1 0,5-11 0 0,-4 2 0 0,4-2-1 16,-5 5 1-16,5-5 0 0,-4 4 1 15,4-4-9-15,-11 9 0 0,11-9 0 0,-15 11 0 16,15-11-5-16,-11 7 1 0,11-7-1 0,-20 9 1 16,20-9-1-16,-11 11 2 0,11-11-2 0,-16 6 2 0,16-6-5 15,-11 9 1-15,11-9 0 0,-4 7 0 0,4-7 2 16,-9 7-1-16,9-7 1 0,-7 6 0 0,7-6-2 15,-8 7 2-15,8-7-2 0,-5 2 1 0,5-2-1 16,-2 9 2-16,2-9-1 0,-4 4 0 0,4-4 1 0,-5 5-1 16,5-5 0-16,-6 7 2 0,6-7-4 0,-5 2 0 15,5-2 0-15,0 4 1 0,0-4-2 0,0 5 1 16,0-5 1-16,0 4-1 0,0-4-4 0,0 5 2 16,0-5-1-16,0 6 1 0,0-6-6 0,0 5 0 15,0-5 1-15,0 2 0 0,0-2-3 0,5 4 1 16,-5-4 0-16,6 5 0 0,-6-5-1 0,5 4 0 0,-5-4 0 15,4 5 0-15,-4-5-1 0,0 6 1 0,0-6 0 16,2 2 0-16,-2-2-1 0,5 5 0 0,-5-5 0 16,4 4 0-16,-4-4 0 0,4 5-1 0,-4-5 1 15,7 2 1-15,-7-2 0 0,4 2 0 0,-4-2 0 16,5 0 0-16,-5 0 0 0,2 0 0 0,-2 0 0 16,4 0 0-16,-4 0 0 0,3 0 1 0,-3 0 1 15,11 0-1-15,-11 0 0 0,11 0 1 0,-11 0 0 16,13-2 1-16,-13 2-1 0,13 0 1 0,-13 0-1 15,5-2 2-15,-5 2-1 0,11-5 1 0,-11 5-1 0,13-4 0 16,-13 4 1-16,13 0-1 0,-13 0 0 0,9-2 2 16,-9 2-3-16,4 0 1 0,-4 0 1 15,11 0-1-15,-11 0-1 0,9 0 2 0,-9 0-2 0,0 0 1 16,0 0 0-16,2 0-1 0,-2 0 0 0,5 6 0 0,-5-6 1 16,2 5-1-16,-2-5 0 0,7 0 0 15,-7 0-1-15,6 0 2 0,-6 0-1 0,9 11 0 0,-9-11 0 16,7 2 1-16,-7-2-1 0,11 7 0 0,-11-7 0 15,13 9 2-15,-13-9-2 0,15 9 1 0,-15-9 2 16,11 8-1-16,-11-8 1 0,16 9-1 0,-16-9 1 0,4 9-1 16,-4-9 1-16,7 16 0 0,-7-16 2 0,9 18 0 15,-9-18 0-15,15 17-1 0,-15-17 1 0,20 25 1 16,-20-25 0-16,11 24 0 0,-11-24-4 0,20 22 2 16,-20-22-1-16,15 23 1 0,-15-23-3 0,16 28 2 15,-16-28-2-15,15 23 2 0,-15-23-2 0,13 22 2 16,-13-22-2-16,11 26 1 0,-11-26 0 0,14 29 0 15,-14-29 0-15,11 34 0 0,-11-34-2 0,22 35 2 16,-22-35-1-16,15 38 0 0,-10-16 0 0,1 3 0 0,5 1-1 16,-2 1 2-16,2 0-1 0,-2-1 0 0,0 7 1 15,2 1-1-15,0-5 1 0,2 2-1 0,5 15 0 16,-7-3 2-16,0-1-2 0,2 0 2 0,2 7-2 16,-4-3 1-16,5-1-1 0,-3 1-1 0,0 10 0 15,-2-3 0-15,3 3 0 0,-8-1 0 0,3 3-1 16,-2-5 1-16,-3 5-1 0,5-5 0 0,-9 5 1 15,6-5 0-15,-1 5-1 0,-1-7 0 0,-8 14 0 0,-1-5 0 16,-6 6 0-16,-4-1 1 0,4-8-1 0,-2 1 1 16,2-5-1-16,-7 1 0 0,5 1 0 0,-9 1 1 15,2-3 0-15,0-2 0 0,-9 0-1 0,1-2 1 16,3 0 0-16,-5 2 1 0,1-9-1 0,2 0 1 0,-6-4 0 16,9 4 0-16,-16 11 0 0,1-4 1 0,-3 0-1 15,0 0 0-15,-2-7 1 0,-3 0-1 0,1 1 0 16,-7-1 1-16,9-9-1 0,-2 3 2 0,0-3-3 15,-5 2 1-15,-7-1 1 0,-1-3-1 0,2-4 0 16,1-3 1-16,10-4-1 0,-11 2 1 0,2 0-2 16,-3 1 1-16,8 1-1 0,-1-8 2 0,-4 1-3 0,4-1 1 15,-20 4 0-15,14-5 1 0,-5-4-2 0,-4-2 0 16,24-2 0-16,3-3 1 0,-8-1-2 0,1-1 1 16,-14-2 0-16,7-5 1 0,3 1-2 0,-3-9 1 15,0-1-1-15,2-1 1 0,0-5-1 0,3 0 1 16,-1-2-1-16,8-1 1 0,-1-3-1 0,2-1 1 0,-2-4-1 15,2 0 1-15,-2-2-1 0,7-3 0 0,4 3 0 16,-4 0 1-16,0-1-1 0,4 1 0 0,0 2 0 16,4 0 2-16,3-5-2 0,2 3 0 0,2-3 0 15,5-1 1-15,-5-1-1 0,5 0 0 0,-1 3 0 16,5-3 0-16,-4 0 0 0,1 3 0 0,-3-34 0 16,4 11 0-16,-3 0-1 0,5-2 1 0,7 0 0 15,-3 0 0-15,3 3-2 0,4-12 2 0,4 27 0 16,-4-7 0-16,7-2 0 0,-3-3 0 0,7-19 0 15,-2 11 0-15,0 4 0 0,2 5 0 0,-5 31 0 16,-1-12 0-16,1 1 0 0,-1-2 0 0,4-8 0 16,2 1 0-16,4 0-1 0,1 0 1 0,-1 0 0 0,5-1 0 15,-2 1-1-15,1 0 0 0,6 2 0 0,-3-2 1 0,2 0-2 16,0-1-1-16,0 6 1 0,5-1 1 0,0 7-2 16,2-5 0-16,0 3 1 0,4 2 0 0,-2-2-1 15,2-1-1-15,0 5 1 0,1 3 1 0,3-1-2 16,-1 3 2-16,-3-3-1 0,5 5 0 0,2-5 1 15,-2 3 0-15,-10 6 0 0,1 3 1 0,0-1-1 16,-2 5 1-16,4-2 0 0,-2-1 1 0,-5-1 0 0,3-1 0 16,-3 1 0-16,5-1 0 15,-6 1 0-15,3-1 0 0,5 0 0 0,-2 1 0 16,0-1 0-16,4 1 0 0,-10 1 0 0,5 1 0 0,-3 0 0 0,-1-1 0 16,-6 3 0-16,-2 0 1 0,4 0-1 0,-7 0 0 15,-4 7 0-15,-4-1 1 0,2 1-1 0,0-1 2 16,-3 3-2-16,-1-5 1 0,6 5-1 0,-9 0 0 15,5 2 0-15,-3-4 1 0,3 4-1 0,-3-5 0 16,-2 3 0-16,3 0 0 0,-1-1-1 0,-2 3 0 0</inkml:trace>
  <inkml:trace contextRef="#ctx0" brushRef="#br0" timeOffset="107402.86">5221 10102 1507 0,'11'2'0'0,"-11"-2"0"0,16 4 0 0,-16-4 25 0,19 5 2 0,-19-5-1 0,36-9 1 0,-16 2 6 0,4-4-1 0,-2 4 1 0,0 3 0 16,2 4-17-16,3 0 1 0,-3 0 0 0,-2 0 0 16,2-2-14-16,3-1 0 0,-7 3 1 15,-3-4-1-15,5 2-3 0,0-3 0 0,-2 5 0 0,0 3 1 16,0 1-1-16,2 0 0 0,-4 1 0 0,4 2 0 16,0 1 0-16,-2-1 0 0,-1 0 0 0,-5-3 0 0,3 1 0 15,-1-5 0-15,-1 2 0 0,1 2 0 16,-5 5 1-16,2-2 0 0,-2 2 1 0,-2-3 0 15,2 1 2-15,0-2 1 0,-7 3-1 0,1 4 1 0,-1-4 4 16,3 4 1-16,-7 3-1 0,-7 7 1 0,5-2 4 16,-3 2 1-16,-1 5 0 0,-10 0-1 0,1-1 1 15,-9 5 1-15,2 1-2 0,-3-4 2 0,-6 1 2 0,1 0 0 16,-1 2 0-16,-2 5 0 0,4-3 3 0,-2 3 0 16,0-5 1-16,-2 2 0 0,7 3-1 0,-5-5 2 15,4 2-1-15,-1-2 1 0,-1-4-3 0,5-3 1 16</inkml:trace>
  <inkml:trace contextRef="#ctx0" brushRef="#br0" timeOffset="114939.37">1622 10515 12 0,'11'-5'0'0,"-11"5"0"0,24 5 0 0,-24-5 0 0,42 20 0 0,-42-20 0 0,38 15 0 0,-38-15 4 0,24 5 2 0,-24-5 0 0,24 11-1 0,-24-11 20 0,22 22 1 0,-22-22-1 15,36 31 1-15,-12-4-7 0,2-1 0 0,3 5 1 16,0 3 0-16,-1 6-3 0,3 2 1 0,-4 4-2 16,-10 3 2-16,5-4-1 0,-4 8 0 0,2 3 0 15,0 1 1-15,0-3-1 0,-1 3-1 0,-5-3 1 16,-1-1 0-16,-2 2 7 0,-7 1-1 0,3-1 1 16,2-1 0-16,0-1 17 0,-3-6-1 0,-1 6 1 15,-5 2-1-15,-5 3-2 0,1 2 1 0,-3 0 0 16,-2-11 0-16,3 4 1 0,-3-2 2 0,-2 3-2 0,-5 3 2 15,-6 6-6-15,9-6 0 0,-9 5-1 0,-2-2 3 0,-3-6-12 16,-4-1 3-16,-4-2-3 0,0-2 2 0,-9-7-5 16,0 0 1-16,-5-4-1 0,1 0 1 15,4-5-9-15,-7-2 1 0,-7-4 0 0,-1-5 1 0,-7-4-5 16,0-3 1-16,-1-1 1 0,4-3-1 0,-4-5 5 16,1-1 1-16,4-3-1 0,-4 0 1 0,7 1 2 15,-1-3-1-15,7 0 0 0,-2 0 0 0,2-3 2 16,7-1-1-16,0-3 0 0,-1-2 0 0,8-2-3 0,3-2 2 15,-3-5-1-15,6-2 0 0,-7-2-2 0,5-2-1 16,-1-1 1-16,5 1 0 0,0 1-7 0,1-3 0 16,3-1 0-16,3-2 2 0,4 0-7 0,0-2 2 15,3-6-2-15,1 1 2 0,3-2-2 0,2 1 0 16,-7-3 1-16,9-3 0 0,1-1-2 0,1-3 2 0,-2 5-1 16,3-7 1-16,1 3-2 0,1-1 1 0,-3 0-1 15,3 1 1-15,-1 1-1 0,-6-3 1 0,7 1-1 16,-3 0 1-16,7-2-3 0,0 3 0 0,2-5 1 15,3 2-1-15,1 0-1 0,3-2 0 0,2 0 0 16,3-2 1-16,-3-1-1 0,4 1 1 0,-2 2-1 16,9 6 0-16,-8-3 0 0,8 1 1 0,-5 3-1 15,1 4 2-15,-3 2 1 0,1 2 1 0,-1 3-1 16,3 2 1-16,2 4-2 0,-1-2 1 0,1 3 0 16,0-1 0-16,-4 5-1 0,6-2 0 0,2 6-1 0,-4-4 1 15,2 4 0-15,2 2-1 0,-4 3 0 0,-5 2 0 16,-6 2 0-16,4 0 0 0,-4 2-1 0,-2 5 1 15,-7 2-1-15,4 0 0 0,-4 0 1 0,2 0 0 16,-2 0-2-16,0 0 0 0</inkml:trace>
  <inkml:trace contextRef="#ctx0" brushRef="#br0" timeOffset="115297.64">323 10346 1105 0,'9'-2'0'0,"-9"2"0"0,35 0 0 0,-11 0 18 0,3 0 0 0,4 0 0 0,-5-3 0 0,3 1 7 0,-7-2 1 0,2-1 0 0,-2 3 1 0,7 2-17 0,-3 0 0 0,1 0 0 16,4 0 2-16,4 0-11 0,0 0 0 0,3 0 0 15,6 2 1-15,-9 3-2 0,3-1 0 0,-3 1 0 16,-4 1 0-16,-2-1 0 0,-7 6 0 16,-5-5 0-16,5 3 1 0,-11-4 2 0,-2 1-1 0,-2 3 0 15,2 0 0-15,-7 0 4 0,2 0-1 0,-8 9 1 16,2 6 1-16,-3 10 3 0,-4 3 0 0,-6 3 0 16,-3 0 0-16,-6 11 1 0,-2-2 2 0,-5 2-1 15,-7 0 0-15,3 3 0 0,2 1-1 0,-9-4 0 0,2-2 2 16,-2-2-1-16,7-5 0 0,0-7 1 0,-3 3-1 0,10-2-3 15,1-1 0-15</inkml:trace>
</inkml:ink>
</file>

<file path=ppt/ink/ink3.xml><?xml version="1.0" encoding="utf-8"?>
<inkml:ink xmlns:inkml="http://www.w3.org/2003/InkML">
  <inkml:definitions>
    <inkml:context xml:id="ctx0">
      <inkml:inkSource xml:id="inkSrc0">
        <inkml:traceFormat>
          <inkml:channel name="X" type="integer" min="-840" max="5160" units="cm"/>
          <inkml:channel name="Y" type="integer" min="-2189" max="2000" units="cm"/>
          <inkml:channel name="T" type="integer" max="2.14748E9" units="dev"/>
        </inkml:traceFormat>
        <inkml:channelProperties>
          <inkml:channelProperty channel="X" name="resolution" value="210.52632" units="1/cm"/>
          <inkml:channelProperty channel="Y" name="resolution" value="220.47368" units="1/cm"/>
          <inkml:channelProperty channel="T" name="resolution" value="1" units="1/dev"/>
        </inkml:channelProperties>
      </inkml:inkSource>
      <inkml:timestamp xml:id="ts0" timeString="2024-06-10T04:09:59.120"/>
    </inkml:context>
    <inkml:brush xml:id="br0">
      <inkml:brushProperty name="width" value="0.05292" units="cm"/>
      <inkml:brushProperty name="height" value="0.05292" units="cm"/>
      <inkml:brushProperty name="color" value="#FF0000"/>
    </inkml:brush>
    <inkml:context xml:id="ctx1">
      <inkml:inkSource xml:id="inkSrc2">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1" timeString="2024-06-10T04:10:50.533"/>
    </inkml:context>
  </inkml:definitions>
  <inkml:trace contextRef="#ctx0" brushRef="#br0">8132 1640 0</inkml:trace>
  <inkml:trace contextRef="#ctx0" brushRef="#br0" timeOffset="28150.95">8555 4419 0</inkml:trace>
  <inkml:trace contextRef="#ctx1" brushRef="#br0">3909 4153 1503 0,'-20'-14'4'0,"-15"-3"14"0,-7-1 0 0,-9-4-1 0,1 6 3 0,-10 3 0 0,-4-1 1 0,4 5 0 0,-1 5 1 0,-1 4-2 0,-2 4 0 0,4 8 0 0,1 3 1 0,-7 10-9 0,-5 1 1 0,3 1 1 0,8 6-1 0,7 5-5 0,3 2 0 0,-3 4 0 0,11 3 1 0,0 4 0 0,0 2 0 15,7 1 0-15,4-3 0 0,7 2 0 0,8 0 1 16,5 5-1-16,2 0 1 0,7-3 0 0,4 5 1 16,9 5-1-16,7-3 2 0,0 4-8 0,15 1 2 0,-2-7-1 15,6-2 1-15,7-3-2 0,2-6 1 0,3-7-1 16,11-4 2-16,6-7-5 0,4-6 1 0,7-8 1 15,5-6-1-15,4-6-2 0,-2-10 0 0,11-1 0 16,2-5 1-16,4-5-2 0,14-4 1 0,2 0-1 16,4-2 1-16,3 0-4 0,3-1 2 0,-3 4-1 15,2-4 0-15,-3 3-2 0,-2 0 0 0,-6-2 1 16,6 0-1-16,-2 2 0 0,1-7-1 0,-1 1 1 16,-9-3 0-16,5 0 1 0,-7-2-1 0,-2-5 1 15,-9 3-1-15,4-9 4 0,-4 2 0 0,-13-2 0 16,-3-3 1-16,-6-1 0 0,-8-1 0 0,-12-6 0 15,2-1 0-15,-15-10 0 0,-2 2 1 0,-14-7 0 0,-6 7 0 16,-13 2 2-16,-3 2 2 0,-11 0-2 0,-15 1 2 16,-2-6 2-16,-16 6 0 0,-6 1 0 0,-11 5 1 15,-7 2-1-15,-9-4 1 0,-9 9-2 0,-4 6 2 0,-2 11-1 16,-9 1 0-16,7 3-1 0,-7 8 2 16,0 6 2-16,-7 7 2 0,3 2-2 0,4 6 1 15,-1 5 5-15,-3 9-1 0,0-2 1 0,-3 7 1 0,2 1 6 16,1 8 2-16,4 1 0 0,-4-4-1 0,8 7 0 0,0 0 1 15,7-3-1-15,-2-1 1 0,9-6-3 0,6-1 1 16,0-5-1-16,7 0 1 0,2 3-4 0,11-3 0 16</inkml:trace>
</inkml:ink>
</file>

<file path=ppt/ink/ink4.xml><?xml version="1.0" encoding="utf-8"?>
<inkml:ink xmlns:inkml="http://www.w3.org/2003/InkML">
  <inkml:definitions>
    <inkml:context xml:id="ctx0">
      <inkml:inkSource xml:id="inkSrc0">
        <inkml:traceFormat>
          <inkml:channel name="X" type="integer" min="-840" max="5160" units="cm"/>
          <inkml:channel name="Y" type="integer" min="-2189" max="2000" units="cm"/>
          <inkml:channel name="T" type="integer" max="2.14748E9" units="dev"/>
        </inkml:traceFormat>
        <inkml:channelProperties>
          <inkml:channelProperty channel="X" name="resolution" value="210.52632" units="1/cm"/>
          <inkml:channelProperty channel="Y" name="resolution" value="220.47368" units="1/cm"/>
          <inkml:channelProperty channel="T" name="resolution" value="1" units="1/dev"/>
        </inkml:channelProperties>
      </inkml:inkSource>
      <inkml:timestamp xml:id="ts0" timeString="2024-06-10T04:12:45.558"/>
    </inkml:context>
    <inkml:brush xml:id="br0">
      <inkml:brushProperty name="width" value="0.05292" units="cm"/>
      <inkml:brushProperty name="height" value="0.05292" units="cm"/>
      <inkml:brushProperty name="color" value="#FF0000"/>
    </inkml:brush>
  </inkml:definitions>
  <inkml:trace contextRef="#ctx0" brushRef="#br0">4136 12074 0,'309'62'156,"432"-18"-125,-547-53-15,-18 9-16,195-27 16,-1-17-1,-79 27 1,-150 17-16,-26 0 15,291-44 1,-124 26 0,141 0 15,-291 1-15,18-1-1,-88 18 1,17 0-16,213-26 31,-187 26 0,142-18 1,-185 18-32,132 0 31,-106 9-31,0-9 15,9 17 1,-44-17 0,71 9 15,-71 0-15,0 9-1,-27-1-15,-3862-8 16,7901 44 15,-4038-53-15,-1 0-1,36 9 1,-18 8 0,36-8 15,-54-9-16,-17 0 1</inkml:trace>
</inkml:ink>
</file>

<file path=ppt/ink/ink5.xml><?xml version="1.0" encoding="utf-8"?>
<inkml:ink xmlns:inkml="http://www.w3.org/2003/InkML">
  <inkml:definitions>
    <inkml:context xml:id="ctx0">
      <inkml:inkSource xml:id="inkSrc0">
        <inkml:traceFormat>
          <inkml:channel name="X" type="integer" min="-840" max="5160" units="cm"/>
          <inkml:channel name="Y" type="integer" min="-2189" max="2000" units="cm"/>
          <inkml:channel name="T" type="integer" max="2.14748E9" units="dev"/>
        </inkml:traceFormat>
        <inkml:channelProperties>
          <inkml:channelProperty channel="X" name="resolution" value="210.52632" units="1/cm"/>
          <inkml:channelProperty channel="Y" name="resolution" value="220.47368" units="1/cm"/>
          <inkml:channelProperty channel="T" name="resolution" value="1" units="1/dev"/>
        </inkml:channelProperties>
      </inkml:inkSource>
      <inkml:timestamp xml:id="ts0" timeString="2024-06-10T04:16:02.025"/>
    </inkml:context>
    <inkml:brush xml:id="br0">
      <inkml:brushProperty name="width" value="0.05292" units="cm"/>
      <inkml:brushProperty name="height" value="0.05292" units="cm"/>
      <inkml:brushProperty name="color" value="#FF0000"/>
    </inkml:brush>
  </inkml:definitions>
  <inkml:trace contextRef="#ctx0" brushRef="#br0">24377 5098 0</inkml:trace>
</inkml:ink>
</file>

<file path=ppt/ink/ink6.xml><?xml version="1.0" encoding="utf-8"?>
<inkml:ink xmlns:inkml="http://www.w3.org/2003/InkML">
  <inkml:definitions>
    <inkml:context xml:id="ctx0">
      <inkml:inkSource xml:id="inkSrc0">
        <inkml:traceFormat>
          <inkml:channel name="X" type="integer" min="-840" max="5160" units="cm"/>
          <inkml:channel name="Y" type="integer" min="-2189" max="2000" units="cm"/>
          <inkml:channel name="T" type="integer" max="2.14748E9" units="dev"/>
        </inkml:traceFormat>
        <inkml:channelProperties>
          <inkml:channelProperty channel="X" name="resolution" value="210.52632" units="1/cm"/>
          <inkml:channelProperty channel="Y" name="resolution" value="220.47368" units="1/cm"/>
          <inkml:channelProperty channel="T" name="resolution" value="1" units="1/dev"/>
        </inkml:channelProperties>
      </inkml:inkSource>
      <inkml:timestamp xml:id="ts0" timeString="2024-06-10T04:21:05.584"/>
    </inkml:context>
    <inkml:brush xml:id="br0">
      <inkml:brushProperty name="width" value="0.05292" units="cm"/>
      <inkml:brushProperty name="height" value="0.05292" units="cm"/>
      <inkml:brushProperty name="color" value="#FF0000"/>
    </inkml:brush>
  </inkml:definitions>
  <inkml:trace contextRef="#ctx0" brushRef="#br0">21045 18115 0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a:ea typeface="SimHei" panose="02010609060101010101" pitchFamily="49" charset="-122"/>
              </a:defRPr>
            </a:lvl1pPr>
          </a:lstStyle>
          <a:p>
            <a:endParaRPr lang="en-US" altLang="zh-CN" dirty="0"/>
          </a:p>
        </p:txBody>
      </p:sp>
      <p:sp>
        <p:nvSpPr>
          <p:cNvPr id="71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a:ea typeface="SimHei" panose="02010609060101010101" pitchFamily="49" charset="-122"/>
              </a:defRPr>
            </a:lvl1pPr>
          </a:lstStyle>
          <a:p>
            <a:endParaRPr lang="en-US" altLang="zh-CN" dirty="0"/>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a:ea typeface="SimHei" panose="02010609060101010101" pitchFamily="49" charset="-122"/>
              </a:defRPr>
            </a:lvl1pPr>
          </a:lstStyle>
          <a:p>
            <a:endParaRPr lang="en-US" altLang="zh-CN" dirty="0"/>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a:ea typeface="SimHei" panose="02010609060101010101" pitchFamily="49" charset="-122"/>
              </a:defRPr>
            </a:lvl1pPr>
          </a:lstStyle>
          <a:p>
            <a:fld id="{AFADF04F-F2F9-486C-A752-12D4B1C511A4}" type="slidenum">
              <a:rPr lang="en-US" altLang="zh-CN" smtClean="0"/>
              <a:pPr/>
              <a:t>‹#›</a:t>
            </a:fld>
            <a:endParaRPr lang="en-US" altLang="zh-CN" dirty="0"/>
          </a:p>
        </p:txBody>
      </p:sp>
    </p:spTree>
    <p:extLst>
      <p:ext uri="{BB962C8B-B14F-4D97-AF65-F5344CB8AC3E}">
        <p14:creationId xmlns:p14="http://schemas.microsoft.com/office/powerpoint/2010/main" val="77188669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1pPr>
    <a:lvl2pPr marL="4572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2pPr>
    <a:lvl3pPr marL="9144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3pPr>
    <a:lvl4pPr marL="13716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4pPr>
    <a:lvl5pPr marL="18288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1</a:t>
            </a:fld>
            <a:endParaRPr lang="en-US" altLang="zh-CN"/>
          </a:p>
        </p:txBody>
      </p:sp>
    </p:spTree>
    <p:extLst>
      <p:ext uri="{BB962C8B-B14F-4D97-AF65-F5344CB8AC3E}">
        <p14:creationId xmlns:p14="http://schemas.microsoft.com/office/powerpoint/2010/main" val="168131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2</a:t>
            </a:fld>
            <a:endParaRPr lang="en-US" altLang="zh-CN"/>
          </a:p>
        </p:txBody>
      </p:sp>
    </p:spTree>
    <p:extLst>
      <p:ext uri="{BB962C8B-B14F-4D97-AF65-F5344CB8AC3E}">
        <p14:creationId xmlns:p14="http://schemas.microsoft.com/office/powerpoint/2010/main" val="38167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在</a:t>
            </a:r>
            <a:r>
              <a:rPr kumimoji="1" lang="en-US" altLang="zh-CN" dirty="0"/>
              <a:t>MIPS</a:t>
            </a:r>
            <a:r>
              <a:rPr kumimoji="1" lang="zh-CN" altLang="en-US" dirty="0"/>
              <a:t>当中，数据存在了两个地方：寄存器和存储器，会在后面解释</a:t>
            </a:r>
            <a:br>
              <a:rPr kumimoji="1" lang="en-US" altLang="zh-CN" dirty="0"/>
            </a:br>
            <a:r>
              <a:rPr kumimoji="1" lang="zh-CN" altLang="en-US" dirty="0"/>
              <a:t>区别是：</a:t>
            </a:r>
            <a:r>
              <a:rPr kumimoji="1" lang="en-US" altLang="zh-CN" dirty="0"/>
              <a:t>	</a:t>
            </a:r>
            <a:r>
              <a:rPr kumimoji="1" lang="zh-CN" altLang="en-US" dirty="0"/>
              <a:t>寄存器：</a:t>
            </a:r>
            <a:r>
              <a:rPr kumimoji="0" lang="zh-CN" altLang="en-US" sz="1200" u="none" strike="noStrike" cap="none" normalizeH="0" baseline="0" dirty="0">
                <a:ln>
                  <a:noFill/>
                </a:ln>
                <a:solidFill>
                  <a:schemeClr val="tx1"/>
                </a:solidFill>
                <a:effectLst/>
                <a:latin typeface="Arial" panose="020B0604020202020204" pitchFamily="34" charset="0"/>
              </a:rPr>
              <a:t>数据的快速定位，算术运算指令的操作数必须在寄存器中</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存储器：</a:t>
            </a:r>
            <a:r>
              <a:rPr kumimoji="0" lang="en-US" altLang="zh-CN" sz="1200" u="none" strike="noStrike" cap="none" normalizeH="0" baseline="0" dirty="0">
                <a:ln>
                  <a:noFill/>
                </a:ln>
                <a:solidFill>
                  <a:schemeClr val="tx1"/>
                </a:solidFill>
                <a:effectLst/>
                <a:latin typeface="Arial" panose="020B0604020202020204" pitchFamily="34" charset="0"/>
              </a:rPr>
              <a:t>MIPS</a:t>
            </a:r>
            <a:r>
              <a:rPr kumimoji="0" lang="zh-CN" altLang="en-US" sz="1200" u="none" strike="noStrike" cap="none" normalizeH="0" baseline="0" dirty="0">
                <a:ln>
                  <a:noFill/>
                </a:ln>
                <a:solidFill>
                  <a:schemeClr val="tx1"/>
                </a:solidFill>
                <a:effectLst/>
                <a:latin typeface="Arial" panose="020B0604020202020204" pitchFamily="34" charset="0"/>
              </a:rPr>
              <a:t>只能使用数据传送指令访问。</a:t>
            </a:r>
            <a:r>
              <a:rPr kumimoji="0" lang="en-US" altLang="zh-CN" sz="1200" u="none" strike="noStrike" cap="none" normalizeH="0" baseline="0" dirty="0">
                <a:ln>
                  <a:noFill/>
                </a:ln>
                <a:solidFill>
                  <a:schemeClr val="tx1"/>
                </a:solidFill>
                <a:effectLst/>
                <a:latin typeface="Arial" panose="020B0604020202020204" pitchFamily="34" charset="0"/>
              </a:rPr>
              <a:t>MIPS</a:t>
            </a:r>
            <a:r>
              <a:rPr kumimoji="0" lang="zh-CN" altLang="en-US" sz="1200" u="none" strike="noStrike" cap="none" normalizeH="0" baseline="0" dirty="0">
                <a:ln>
                  <a:noFill/>
                </a:ln>
                <a:solidFill>
                  <a:schemeClr val="tx1"/>
                </a:solidFill>
                <a:effectLst/>
                <a:latin typeface="Arial" panose="020B0604020202020204" pitchFamily="34" charset="0"/>
              </a:rPr>
              <a:t>中使用字寻址，相邻数据字的字地址相差</a:t>
            </a:r>
            <a:r>
              <a:rPr kumimoji="0" lang="en-US" altLang="zh-CN" sz="1200" u="none" strike="noStrike" cap="none" normalizeH="0" baseline="0" dirty="0">
                <a:ln>
                  <a:noFill/>
                </a:ln>
                <a:solidFill>
                  <a:srgbClr val="FF0000"/>
                </a:solidFill>
                <a:effectLst/>
                <a:latin typeface="Arial" panose="020B0604020202020204" pitchFamily="34" charset="0"/>
              </a:rPr>
              <a:t>4</a:t>
            </a:r>
            <a:r>
              <a:rPr kumimoji="0" lang="zh-CN" altLang="en-US" sz="1200" u="none" strike="noStrike" cap="none" normalizeH="0" baseline="0" dirty="0">
                <a:ln>
                  <a:noFill/>
                </a:ln>
                <a:solidFill>
                  <a:schemeClr val="tx1"/>
                </a:solidFill>
                <a:effectLst/>
                <a:latin typeface="Arial" panose="020B0604020202020204" pitchFamily="34" charset="0"/>
              </a:rPr>
              <a:t>。</a:t>
            </a:r>
            <a:endParaRPr kumimoji="0" lang="en-US" altLang="zh-CN" sz="120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altLang="zh-CN" sz="1200" u="none" strike="noStrike" cap="none" normalizeH="0" baseline="0" dirty="0">
              <a:ln>
                <a:noFill/>
              </a:ln>
              <a:solidFill>
                <a:schemeClr val="tx1"/>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4</a:t>
            </a:fld>
            <a:endParaRPr lang="en-US" altLang="zh-CN"/>
          </a:p>
        </p:txBody>
      </p:sp>
    </p:spTree>
    <p:extLst>
      <p:ext uri="{BB962C8B-B14F-4D97-AF65-F5344CB8AC3E}">
        <p14:creationId xmlns:p14="http://schemas.microsoft.com/office/powerpoint/2010/main" val="2960039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寄存器：</a:t>
            </a:r>
            <a:endParaRPr kumimoji="1" lang="en-US" altLang="zh-CN" dirty="0"/>
          </a:p>
          <a:p>
            <a:r>
              <a:rPr lang="zh-CN" altLang="en-US" dirty="0"/>
              <a:t>访问方式</a:t>
            </a:r>
            <a:endParaRPr lang="en-US" altLang="zh-CN" dirty="0"/>
          </a:p>
          <a:p>
            <a:pPr lvl="1"/>
            <a:r>
              <a:rPr lang="zh-CN" altLang="en-US" dirty="0"/>
              <a:t>以寄存器</a:t>
            </a:r>
            <a:r>
              <a:rPr lang="zh-CN" altLang="en-US" dirty="0">
                <a:solidFill>
                  <a:srgbClr val="FF0000"/>
                </a:solidFill>
              </a:rPr>
              <a:t>编号</a:t>
            </a:r>
            <a:r>
              <a:rPr lang="zh-CN" altLang="en-US" dirty="0"/>
              <a:t>进行访问，</a:t>
            </a:r>
            <a:r>
              <a:rPr lang="zh-CN" altLang="en-US" dirty="0">
                <a:solidFill>
                  <a:srgbClr val="FF0000"/>
                </a:solidFill>
              </a:rPr>
              <a:t>可同时访问</a:t>
            </a:r>
            <a:r>
              <a:rPr lang="zh-CN" altLang="en-US" dirty="0"/>
              <a:t>不同寄存器</a:t>
            </a:r>
            <a:endParaRPr lang="en-US" altLang="zh-CN" dirty="0"/>
          </a:p>
          <a:p>
            <a:r>
              <a:rPr lang="zh-CN" altLang="en-US" dirty="0"/>
              <a:t>规模与速度</a:t>
            </a:r>
            <a:endParaRPr lang="en-US" altLang="zh-CN" dirty="0"/>
          </a:p>
          <a:p>
            <a:pPr lvl="1"/>
            <a:r>
              <a:rPr lang="zh-CN" altLang="en-US" dirty="0"/>
              <a:t>一般</a:t>
            </a:r>
            <a:r>
              <a:rPr lang="zh-CN" altLang="en-US" dirty="0">
                <a:solidFill>
                  <a:srgbClr val="FF0000"/>
                </a:solidFill>
              </a:rPr>
              <a:t>个数少</a:t>
            </a:r>
            <a:r>
              <a:rPr lang="zh-CN" altLang="en-US" dirty="0"/>
              <a:t>，访问</a:t>
            </a:r>
            <a:r>
              <a:rPr lang="zh-CN" altLang="en-US" dirty="0">
                <a:solidFill>
                  <a:srgbClr val="FF0000"/>
                </a:solidFill>
              </a:rPr>
              <a:t>速度快</a:t>
            </a:r>
            <a:endParaRPr kumimoji="1" lang="en-US" altLang="zh-CN" dirty="0"/>
          </a:p>
          <a:p>
            <a:r>
              <a:rPr kumimoji="1" lang="zh-CN" altLang="en-US" dirty="0"/>
              <a:t>存储器：</a:t>
            </a:r>
            <a:endParaRPr kumimoji="1" lang="en-US" altLang="zh-CN" dirty="0"/>
          </a:p>
          <a:p>
            <a:r>
              <a:rPr lang="zh-CN" altLang="en-US" dirty="0"/>
              <a:t>访问方式</a:t>
            </a:r>
            <a:endParaRPr lang="en-US" altLang="zh-CN" dirty="0"/>
          </a:p>
          <a:p>
            <a:pPr lvl="1"/>
            <a:r>
              <a:rPr lang="zh-CN" altLang="en-US" dirty="0"/>
              <a:t>以存储器</a:t>
            </a:r>
            <a:r>
              <a:rPr lang="zh-CN" altLang="en-US" dirty="0">
                <a:solidFill>
                  <a:srgbClr val="FF0000"/>
                </a:solidFill>
              </a:rPr>
              <a:t>地址</a:t>
            </a:r>
            <a:r>
              <a:rPr lang="zh-CN" altLang="en-US" dirty="0"/>
              <a:t>进行访问，</a:t>
            </a:r>
            <a:r>
              <a:rPr lang="zh-CN" altLang="en-US" dirty="0">
                <a:solidFill>
                  <a:srgbClr val="FF0000"/>
                </a:solidFill>
              </a:rPr>
              <a:t>不可同时访问</a:t>
            </a:r>
            <a:r>
              <a:rPr lang="zh-CN" altLang="en-US" dirty="0"/>
              <a:t>不同地址</a:t>
            </a:r>
            <a:endParaRPr lang="en-US" altLang="zh-CN" dirty="0"/>
          </a:p>
          <a:p>
            <a:r>
              <a:rPr lang="zh-CN" altLang="en-US" dirty="0"/>
              <a:t>规模与速度</a:t>
            </a:r>
            <a:endParaRPr lang="en-US" altLang="zh-CN" dirty="0"/>
          </a:p>
          <a:p>
            <a:pPr lvl="1"/>
            <a:r>
              <a:rPr lang="zh-CN" altLang="en-US" dirty="0"/>
              <a:t>一般</a:t>
            </a:r>
            <a:r>
              <a:rPr lang="zh-CN" altLang="en-US" dirty="0">
                <a:solidFill>
                  <a:srgbClr val="FF0000"/>
                </a:solidFill>
              </a:rPr>
              <a:t>地址范围大</a:t>
            </a:r>
            <a:r>
              <a:rPr lang="zh-CN" altLang="en-US" dirty="0"/>
              <a:t>，访问</a:t>
            </a:r>
            <a:r>
              <a:rPr lang="zh-CN" altLang="en-US" dirty="0">
                <a:solidFill>
                  <a:srgbClr val="FF0000"/>
                </a:solidFill>
              </a:rPr>
              <a:t>速度慢</a:t>
            </a:r>
          </a:p>
          <a:p>
            <a:endParaRPr kumimoji="1" lang="zh-CN" altLang="en-US" dirty="0"/>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5</a:t>
            </a:fld>
            <a:endParaRPr lang="en-US" altLang="zh-CN"/>
          </a:p>
        </p:txBody>
      </p:sp>
    </p:spTree>
    <p:extLst>
      <p:ext uri="{BB962C8B-B14F-4D97-AF65-F5344CB8AC3E}">
        <p14:creationId xmlns:p14="http://schemas.microsoft.com/office/powerpoint/2010/main" val="2964203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需要大家判断类型的指令，包括指令系统中提到的所有指令</a:t>
            </a:r>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6</a:t>
            </a:fld>
            <a:endParaRPr lang="en-US" altLang="zh-CN"/>
          </a:p>
        </p:txBody>
      </p:sp>
    </p:spTree>
    <p:extLst>
      <p:ext uri="{BB962C8B-B14F-4D97-AF65-F5344CB8AC3E}">
        <p14:creationId xmlns:p14="http://schemas.microsoft.com/office/powerpoint/2010/main" val="2480867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7</a:t>
            </a:fld>
            <a:endParaRPr lang="en-US" altLang="zh-CN"/>
          </a:p>
        </p:txBody>
      </p:sp>
    </p:spTree>
    <p:extLst>
      <p:ext uri="{BB962C8B-B14F-4D97-AF65-F5344CB8AC3E}">
        <p14:creationId xmlns:p14="http://schemas.microsoft.com/office/powerpoint/2010/main" val="2616581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8</a:t>
            </a:fld>
            <a:endParaRPr lang="en-US" altLang="zh-CN"/>
          </a:p>
        </p:txBody>
      </p:sp>
    </p:spTree>
    <p:extLst>
      <p:ext uri="{BB962C8B-B14F-4D97-AF65-F5344CB8AC3E}">
        <p14:creationId xmlns:p14="http://schemas.microsoft.com/office/powerpoint/2010/main" val="700303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10</a:t>
            </a:fld>
            <a:endParaRPr lang="en-US" altLang="zh-CN"/>
          </a:p>
        </p:txBody>
      </p:sp>
    </p:spTree>
    <p:extLst>
      <p:ext uri="{BB962C8B-B14F-4D97-AF65-F5344CB8AC3E}">
        <p14:creationId xmlns:p14="http://schemas.microsoft.com/office/powerpoint/2010/main" val="3416608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这里我们列出了一些可能影响计算机性能的因素，请大家注意理解一下这张表。这张表从上往下是按照在一个计算机上实现一个算法会涉及到的层次从高级往低级排列的。</a:t>
            </a:r>
            <a:endParaRPr lang="en-US" altLang="zh-CN" dirty="0"/>
          </a:p>
          <a:p>
            <a:r>
              <a:rPr lang="zh-CN" altLang="en-US" dirty="0"/>
              <a:t>注意每一个层次可能会对指令数，</a:t>
            </a:r>
            <a:r>
              <a:rPr lang="en-US" altLang="zh-CN" dirty="0"/>
              <a:t>CPI</a:t>
            </a:r>
            <a:r>
              <a:rPr lang="zh-CN" altLang="en-US" dirty="0"/>
              <a:t>，时钟周期产生什么样的影响。</a:t>
            </a:r>
            <a:endParaRPr lang="en-US" altLang="zh-CN" dirty="0"/>
          </a:p>
          <a:p>
            <a:endParaRPr lang="en-US" altLang="zh-CN" dirty="0"/>
          </a:p>
          <a:p>
            <a:r>
              <a:rPr lang="zh-CN" altLang="en-US" dirty="0"/>
              <a:t>每一种影响因素具体是如何影响</a:t>
            </a:r>
            <a:r>
              <a:rPr lang="en-US" altLang="zh-CN" dirty="0" err="1"/>
              <a:t>cpu</a:t>
            </a:r>
            <a:r>
              <a:rPr lang="zh-CN" altLang="en-US" dirty="0"/>
              <a:t>执行时间的，大家可以参照教材第五章进行理解和复习</a:t>
            </a:r>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12</a:t>
            </a:fld>
            <a:endParaRPr lang="en-US" altLang="zh-CN"/>
          </a:p>
        </p:txBody>
      </p:sp>
    </p:spTree>
    <p:extLst>
      <p:ext uri="{BB962C8B-B14F-4D97-AF65-F5344CB8AC3E}">
        <p14:creationId xmlns:p14="http://schemas.microsoft.com/office/powerpoint/2010/main" val="1802338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14</a:t>
            </a:fld>
            <a:endParaRPr lang="en-US" altLang="zh-CN"/>
          </a:p>
        </p:txBody>
      </p:sp>
    </p:spTree>
    <p:extLst>
      <p:ext uri="{BB962C8B-B14F-4D97-AF65-F5344CB8AC3E}">
        <p14:creationId xmlns:p14="http://schemas.microsoft.com/office/powerpoint/2010/main" val="891503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16</a:t>
            </a:fld>
            <a:endParaRPr lang="en-US" altLang="zh-CN" dirty="0"/>
          </a:p>
        </p:txBody>
      </p:sp>
    </p:spTree>
    <p:extLst>
      <p:ext uri="{BB962C8B-B14F-4D97-AF65-F5344CB8AC3E}">
        <p14:creationId xmlns:p14="http://schemas.microsoft.com/office/powerpoint/2010/main" val="506515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body" idx="1"/>
          </p:nvPr>
        </p:nvSpPr>
        <p:spPr>
          <a:xfrm>
            <a:off x="514350" y="4462463"/>
            <a:ext cx="5900738" cy="4229100"/>
          </a:xfrm>
          <a:noFill/>
        </p:spPr>
        <p:txBody>
          <a:bodyPr lIns="92005" tIns="45195" rIns="92005" bIns="45195"/>
          <a:lstStyle/>
          <a:p>
            <a:pPr eaLnBrk="1" hangingPunct="1"/>
            <a:endParaRPr lang="en-US" altLang="en-US" dirty="0">
              <a:latin typeface="Arial" charset="0"/>
            </a:endParaRPr>
          </a:p>
        </p:txBody>
      </p:sp>
      <p:sp>
        <p:nvSpPr>
          <p:cNvPr id="176131" name="Rectangle 3"/>
          <p:cNvSpPr>
            <a:spLocks noGrp="1" noRot="1" noChangeAspect="1" noChangeArrowheads="1" noTextEdit="1"/>
          </p:cNvSpPr>
          <p:nvPr>
            <p:ph type="sldImg"/>
          </p:nvPr>
        </p:nvSpPr>
        <p:spPr>
          <a:xfrm>
            <a:off x="1073150" y="590550"/>
            <a:ext cx="4716463" cy="3536950"/>
          </a:xfrm>
        </p:spPr>
      </p:sp>
    </p:spTree>
    <p:extLst>
      <p:ext uri="{BB962C8B-B14F-4D97-AF65-F5344CB8AC3E}">
        <p14:creationId xmlns:p14="http://schemas.microsoft.com/office/powerpoint/2010/main" val="3076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body" idx="1"/>
          </p:nvPr>
        </p:nvSpPr>
        <p:spPr>
          <a:xfrm>
            <a:off x="514350" y="4462463"/>
            <a:ext cx="5900738" cy="4229100"/>
          </a:xfrm>
          <a:noFill/>
        </p:spPr>
        <p:txBody>
          <a:bodyPr lIns="92005" tIns="45195" rIns="92005" bIns="45195"/>
          <a:lstStyle/>
          <a:p>
            <a:pPr eaLnBrk="1" hangingPunct="1"/>
            <a:endParaRPr lang="en-US" altLang="en-US" dirty="0">
              <a:latin typeface="Arial" charset="0"/>
            </a:endParaRPr>
          </a:p>
        </p:txBody>
      </p:sp>
      <p:sp>
        <p:nvSpPr>
          <p:cNvPr id="176131" name="Rectangle 3"/>
          <p:cNvSpPr>
            <a:spLocks noGrp="1" noRot="1" noChangeAspect="1" noChangeArrowheads="1" noTextEdit="1"/>
          </p:cNvSpPr>
          <p:nvPr>
            <p:ph type="sldImg"/>
          </p:nvPr>
        </p:nvSpPr>
        <p:spPr>
          <a:xfrm>
            <a:off x="1073150" y="590550"/>
            <a:ext cx="4716463" cy="3536950"/>
          </a:xfrm>
        </p:spPr>
      </p:sp>
    </p:spTree>
    <p:extLst>
      <p:ext uri="{BB962C8B-B14F-4D97-AF65-F5344CB8AC3E}">
        <p14:creationId xmlns:p14="http://schemas.microsoft.com/office/powerpoint/2010/main" val="2439368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003954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21</a:t>
            </a:fld>
            <a:endParaRPr lang="en-US" altLang="zh-CN" dirty="0"/>
          </a:p>
        </p:txBody>
      </p:sp>
    </p:spTree>
    <p:extLst>
      <p:ext uri="{BB962C8B-B14F-4D97-AF65-F5344CB8AC3E}">
        <p14:creationId xmlns:p14="http://schemas.microsoft.com/office/powerpoint/2010/main" val="3539227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p221</a:t>
            </a:r>
            <a:endParaRPr lang="zh-CN" altLang="en-US"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25</a:t>
            </a:fld>
            <a:endParaRPr lang="en-US" altLang="zh-CN"/>
          </a:p>
        </p:txBody>
      </p:sp>
    </p:spTree>
    <p:extLst>
      <p:ext uri="{BB962C8B-B14F-4D97-AF65-F5344CB8AC3E}">
        <p14:creationId xmlns:p14="http://schemas.microsoft.com/office/powerpoint/2010/main" val="4182606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46F709-C76F-40B1-9739-9B95F5471B01}" type="slidenum">
              <a:rPr lang="zh-CN" altLang="en-US" smtClean="0"/>
              <a:t>27</a:t>
            </a:fld>
            <a:endParaRPr lang="zh-CN" altLang="en-US"/>
          </a:p>
        </p:txBody>
      </p:sp>
    </p:spTree>
    <p:extLst>
      <p:ext uri="{BB962C8B-B14F-4D97-AF65-F5344CB8AC3E}">
        <p14:creationId xmlns:p14="http://schemas.microsoft.com/office/powerpoint/2010/main" val="1805634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8B46F709-C76F-40B1-9739-9B95F5471B01}" type="slidenum">
              <a:rPr lang="zh-CN" altLang="en-US" smtClean="0"/>
              <a:t>29</a:t>
            </a:fld>
            <a:endParaRPr lang="zh-CN" altLang="en-US"/>
          </a:p>
        </p:txBody>
      </p:sp>
    </p:spTree>
    <p:extLst>
      <p:ext uri="{BB962C8B-B14F-4D97-AF65-F5344CB8AC3E}">
        <p14:creationId xmlns:p14="http://schemas.microsoft.com/office/powerpoint/2010/main" val="987373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CN" dirty="0"/>
              <a:t>问题</a:t>
            </a:r>
            <a:r>
              <a:rPr lang="zh-CN" altLang="en-US" dirty="0"/>
              <a:t>：</a:t>
            </a:r>
            <a:r>
              <a:rPr lang="zh-CN" altLang="en-US" sz="1200" kern="1200" dirty="0">
                <a:solidFill>
                  <a:schemeClr val="tx1"/>
                </a:solidFill>
                <a:effectLst/>
                <a:latin typeface="+mn-lt"/>
                <a:cs typeface="+mn-cs"/>
              </a:rPr>
              <a:t>为何流水线的</a:t>
            </a:r>
            <a:r>
              <a:rPr lang="en-US" sz="1200" kern="1200" dirty="0">
                <a:solidFill>
                  <a:schemeClr val="tx1"/>
                </a:solidFill>
                <a:effectLst/>
                <a:latin typeface="+mn-lt"/>
                <a:ea typeface="+mn-ea"/>
                <a:cs typeface="+mn-cs"/>
              </a:rPr>
              <a:t>CPI</a:t>
            </a:r>
            <a:r>
              <a:rPr lang="zh-CN" altLang="en-US" sz="1200" kern="1200" dirty="0">
                <a:solidFill>
                  <a:schemeClr val="tx1"/>
                </a:solidFill>
                <a:effectLst/>
                <a:latin typeface="+mn-lt"/>
                <a:cs typeface="+mn-cs"/>
              </a:rPr>
              <a:t>上限是</a:t>
            </a:r>
            <a:r>
              <a:rPr lang="en-US" sz="1200" kern="1200" dirty="0">
                <a:solidFill>
                  <a:schemeClr val="tx1"/>
                </a:solidFill>
                <a:effectLst/>
                <a:latin typeface="+mn-lt"/>
                <a:ea typeface="+mn-ea"/>
                <a:cs typeface="+mn-cs"/>
              </a:rPr>
              <a:t>1</a:t>
            </a:r>
            <a:r>
              <a:rPr lang="zh-CN" altLang="en-US" sz="1200" kern="1200" dirty="0">
                <a:solidFill>
                  <a:schemeClr val="tx1"/>
                </a:solidFill>
                <a:effectLst/>
                <a:latin typeface="+mn-lt"/>
                <a:cs typeface="+mn-cs"/>
              </a:rPr>
              <a:t>？</a:t>
            </a:r>
            <a:endParaRPr lang="en-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B46F709-C76F-40B1-9739-9B95F5471B01}" type="slidenum">
              <a:rPr lang="zh-CN" altLang="en-US" smtClean="0"/>
              <a:t>30</a:t>
            </a:fld>
            <a:endParaRPr lang="zh-CN" altLang="en-US"/>
          </a:p>
        </p:txBody>
      </p:sp>
    </p:spTree>
    <p:extLst>
      <p:ext uri="{BB962C8B-B14F-4D97-AF65-F5344CB8AC3E}">
        <p14:creationId xmlns:p14="http://schemas.microsoft.com/office/powerpoint/2010/main" val="4120657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latin typeface="Arial" pitchFamily="34" charset="0"/>
              </a:rPr>
              <a:t>找到最早能够得到结果的位置，那么之后的计算使用数据至少在它之后。</a:t>
            </a:r>
            <a:endParaRPr lang="en-US" altLang="zh-CN" dirty="0">
              <a:latin typeface="Arial" pitchFamily="34" charset="0"/>
            </a:endParaRPr>
          </a:p>
          <a:p>
            <a:pPr eaLnBrk="1" hangingPunct="1"/>
            <a:r>
              <a:rPr lang="zh-CN" altLang="en-US" dirty="0">
                <a:latin typeface="Arial" pitchFamily="34" charset="0"/>
              </a:rPr>
              <a:t>这里我们看到在</a:t>
            </a:r>
            <a:r>
              <a:rPr lang="en-US" altLang="zh-CN" dirty="0">
                <a:latin typeface="Arial" pitchFamily="34" charset="0"/>
              </a:rPr>
              <a:t>ALU</a:t>
            </a:r>
            <a:r>
              <a:rPr lang="zh-CN" altLang="en-US" dirty="0">
                <a:latin typeface="Arial" pitchFamily="34" charset="0"/>
              </a:rPr>
              <a:t>的输出和输入接入反向数据通路，可以保证不插入</a:t>
            </a:r>
            <a:r>
              <a:rPr lang="en-US" altLang="zh-CN" dirty="0">
                <a:latin typeface="Arial" pitchFamily="34" charset="0"/>
              </a:rPr>
              <a:t>stall</a:t>
            </a:r>
          </a:p>
          <a:p>
            <a:endParaRPr lang="zh-CN" altLang="en-US" dirty="0"/>
          </a:p>
        </p:txBody>
      </p:sp>
      <p:sp>
        <p:nvSpPr>
          <p:cNvPr id="4" name="灯片编号占位符 3"/>
          <p:cNvSpPr>
            <a:spLocks noGrp="1"/>
          </p:cNvSpPr>
          <p:nvPr>
            <p:ph type="sldNum" sz="quarter" idx="5"/>
          </p:nvPr>
        </p:nvSpPr>
        <p:spPr/>
        <p:txBody>
          <a:bodyPr/>
          <a:lstStyle/>
          <a:p>
            <a:fld id="{8B46F709-C76F-40B1-9739-9B95F5471B01}" type="slidenum">
              <a:rPr lang="zh-CN" altLang="en-US" smtClean="0"/>
              <a:t>34</a:t>
            </a:fld>
            <a:endParaRPr lang="zh-CN" altLang="en-US"/>
          </a:p>
        </p:txBody>
      </p:sp>
    </p:spTree>
    <p:extLst>
      <p:ext uri="{BB962C8B-B14F-4D97-AF65-F5344CB8AC3E}">
        <p14:creationId xmlns:p14="http://schemas.microsoft.com/office/powerpoint/2010/main" val="1251900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BC7509-23FA-40FA-8415-DBE86E406177}" type="slidenum">
              <a:rPr kumimoji="0" lang="zh-CN" altLang="en-US" sz="1200" b="0" i="0" u="none" strike="noStrike" kern="1200" cap="none" spc="0" normalizeH="0" baseline="0" noProof="0" smtClean="0">
                <a:ln>
                  <a:noFill/>
                </a:ln>
                <a:solidFill>
                  <a:prstClr val="black"/>
                </a:solidFill>
                <a:effectLst/>
                <a:uLnTx/>
                <a:uFillTx/>
                <a:latin typeface="Arial" charset="0"/>
                <a:ea typeface="SimHei" panose="020106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zh-CN" altLang="en-US" sz="1200" b="0" i="0" u="none" strike="noStrike" kern="1200" cap="none" spc="0" normalizeH="0" baseline="0" noProof="0" dirty="0">
              <a:ln>
                <a:noFill/>
              </a:ln>
              <a:solidFill>
                <a:prstClr val="black"/>
              </a:solidFill>
              <a:effectLst/>
              <a:uLnTx/>
              <a:uFillTx/>
              <a:latin typeface="Arial" charset="0"/>
              <a:ea typeface="SimHei" panose="02010609060101010101" pitchFamily="49" charset="-122"/>
              <a:cs typeface="+mn-cs"/>
            </a:endParaRPr>
          </a:p>
        </p:txBody>
      </p:sp>
    </p:spTree>
    <p:extLst>
      <p:ext uri="{BB962C8B-B14F-4D97-AF65-F5344CB8AC3E}">
        <p14:creationId xmlns:p14="http://schemas.microsoft.com/office/powerpoint/2010/main" val="2347284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BC7509-23FA-40FA-8415-DBE86E406177}" type="slidenum">
              <a:rPr kumimoji="0" lang="zh-CN" altLang="en-US" sz="1200" b="0" i="0" u="none" strike="noStrike" kern="1200" cap="none" spc="0" normalizeH="0" baseline="0" noProof="0" smtClean="0">
                <a:ln>
                  <a:noFill/>
                </a:ln>
                <a:solidFill>
                  <a:prstClr val="black"/>
                </a:solidFill>
                <a:effectLst/>
                <a:uLnTx/>
                <a:uFillTx/>
                <a:latin typeface="Arial" charset="0"/>
                <a:ea typeface="SimHei" panose="020106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Arial" charset="0"/>
              <a:ea typeface="SimHei" panose="02010609060101010101" pitchFamily="49" charset="-122"/>
              <a:cs typeface="+mn-cs"/>
            </a:endParaRPr>
          </a:p>
        </p:txBody>
      </p:sp>
    </p:spTree>
    <p:extLst>
      <p:ext uri="{BB962C8B-B14F-4D97-AF65-F5344CB8AC3E}">
        <p14:creationId xmlns:p14="http://schemas.microsoft.com/office/powerpoint/2010/main" val="3329850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AFADF04F-F2F9-486C-A752-12D4B1C511A4}" type="slidenum">
              <a:rPr lang="en-US" altLang="zh-CN" smtClean="0"/>
              <a:pPr/>
              <a:t>38</a:t>
            </a:fld>
            <a:endParaRPr lang="en-US" altLang="zh-CN" dirty="0"/>
          </a:p>
        </p:txBody>
      </p:sp>
    </p:spTree>
    <p:extLst>
      <p:ext uri="{BB962C8B-B14F-4D97-AF65-F5344CB8AC3E}">
        <p14:creationId xmlns:p14="http://schemas.microsoft.com/office/powerpoint/2010/main" val="3966865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42</a:t>
            </a:fld>
            <a:endParaRPr lang="en-US" altLang="zh-CN"/>
          </a:p>
        </p:txBody>
      </p:sp>
    </p:spTree>
    <p:extLst>
      <p:ext uri="{BB962C8B-B14F-4D97-AF65-F5344CB8AC3E}">
        <p14:creationId xmlns:p14="http://schemas.microsoft.com/office/powerpoint/2010/main" val="1407594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43</a:t>
            </a:fld>
            <a:endParaRPr lang="en-US" altLang="zh-CN"/>
          </a:p>
        </p:txBody>
      </p:sp>
    </p:spTree>
    <p:extLst>
      <p:ext uri="{BB962C8B-B14F-4D97-AF65-F5344CB8AC3E}">
        <p14:creationId xmlns:p14="http://schemas.microsoft.com/office/powerpoint/2010/main" val="3423439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cs typeface="+mn-cs"/>
              </a:rPr>
              <a:t>每次访问存储器时，如果数据正好在缓存里面，就称为命中；如果因为数据是非临近的，不在缓存里面，那么就称为缺失或者没命中。于是，命中率就成了描述缓存预存数据是否有效的一个重要指标，理想情况下是</a:t>
            </a:r>
            <a:r>
              <a:rPr lang="en-US" altLang="zh-CN" sz="1200" kern="1200" dirty="0">
                <a:solidFill>
                  <a:schemeClr val="tx1"/>
                </a:solidFill>
                <a:effectLst/>
                <a:latin typeface="+mn-lt"/>
                <a:cs typeface="+mn-cs"/>
              </a:rPr>
              <a:t>100%</a:t>
            </a:r>
            <a:r>
              <a:rPr lang="zh-CN" altLang="en-US" sz="1200" kern="1200" dirty="0">
                <a:solidFill>
                  <a:schemeClr val="tx1"/>
                </a:solidFill>
                <a:effectLst/>
                <a:latin typeface="+mn-lt"/>
                <a:cs typeface="+mn-cs"/>
              </a:rPr>
              <a:t>，实际数值取决于具体的程序和处理器优化方式。</a:t>
            </a:r>
          </a:p>
          <a:p>
            <a:endParaRPr lang="en-CN" dirty="0"/>
          </a:p>
        </p:txBody>
      </p:sp>
      <p:sp>
        <p:nvSpPr>
          <p:cNvPr id="4" name="Slide Number Placeholder 3"/>
          <p:cNvSpPr>
            <a:spLocks noGrp="1"/>
          </p:cNvSpPr>
          <p:nvPr>
            <p:ph type="sldNum" sz="quarter" idx="5"/>
          </p:nvPr>
        </p:nvSpPr>
        <p:spPr/>
        <p:txBody>
          <a:bodyPr/>
          <a:lstStyle/>
          <a:p>
            <a:fld id="{82BE11BB-E3AC-064B-928A-0E7C9EAAE83C}" type="slidenum">
              <a:rPr lang="en-US" smtClean="0"/>
              <a:t>44</a:t>
            </a:fld>
            <a:endParaRPr lang="en-US"/>
          </a:p>
        </p:txBody>
      </p:sp>
    </p:spTree>
    <p:extLst>
      <p:ext uri="{BB962C8B-B14F-4D97-AF65-F5344CB8AC3E}">
        <p14:creationId xmlns:p14="http://schemas.microsoft.com/office/powerpoint/2010/main" val="18042553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45</a:t>
            </a:fld>
            <a:endParaRPr lang="en-US" altLang="zh-CN"/>
          </a:p>
        </p:txBody>
      </p:sp>
    </p:spTree>
    <p:extLst>
      <p:ext uri="{BB962C8B-B14F-4D97-AF65-F5344CB8AC3E}">
        <p14:creationId xmlns:p14="http://schemas.microsoft.com/office/powerpoint/2010/main" val="3182977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cache</a:t>
            </a:r>
            <a:r>
              <a:rPr lang="zh-CN" altLang="en-US" dirty="0"/>
              <a:t>是以行为单位进行存储的，</a:t>
            </a:r>
            <a:r>
              <a:rPr lang="en-US" altLang="zh-CN" dirty="0"/>
              <a:t>N</a:t>
            </a:r>
            <a:r>
              <a:rPr lang="zh-CN" altLang="en-US" dirty="0"/>
              <a:t>行，每行</a:t>
            </a:r>
            <a:r>
              <a:rPr lang="en-US" altLang="zh-CN" dirty="0"/>
              <a:t>K</a:t>
            </a:r>
            <a:r>
              <a:rPr lang="zh-CN" altLang="en-US" dirty="0"/>
              <a:t>个字节，一共可以缓存</a:t>
            </a:r>
            <a:r>
              <a:rPr lang="en-US" altLang="zh-CN" dirty="0"/>
              <a:t>NK</a:t>
            </a:r>
            <a:r>
              <a:rPr lang="zh-CN" altLang="en-US" dirty="0"/>
              <a:t>字节的数据。对于主存来说，一个缓存行对应主存的一个数据块。</a:t>
            </a:r>
            <a:endParaRPr lang="en-US" altLang="zh-CN" dirty="0"/>
          </a:p>
          <a:p>
            <a:r>
              <a:rPr lang="zh-CN" altLang="en-US" dirty="0"/>
              <a:t>标签是用来标识</a:t>
            </a:r>
            <a:r>
              <a:rPr lang="en-US" altLang="zh-CN" dirty="0"/>
              <a:t>cache</a:t>
            </a:r>
            <a:r>
              <a:rPr lang="zh-CN" altLang="en-US" dirty="0"/>
              <a:t>中内容的，通过标签来知道这一行存的是内存中哪一段地址对应的数据。</a:t>
            </a:r>
            <a:endParaRPr lang="en-US" altLang="zh-CN" dirty="0"/>
          </a:p>
          <a:p>
            <a:pPr marL="0" marR="0" indent="0" algn="l" defTabSz="962025" rtl="0" eaLnBrk="0" fontAlgn="base" latinLnBrk="0" hangingPunct="0">
              <a:lnSpc>
                <a:spcPct val="90000"/>
              </a:lnSpc>
              <a:spcBef>
                <a:spcPct val="40000"/>
              </a:spcBef>
              <a:spcAft>
                <a:spcPct val="0"/>
              </a:spcAft>
              <a:buClrTx/>
              <a:buSzTx/>
              <a:buFontTx/>
              <a:buNone/>
              <a:tabLst/>
              <a:defRPr/>
            </a:pPr>
            <a:r>
              <a:rPr kumimoji="1" lang="zh-CN" altLang="en-US" sz="1200" dirty="0">
                <a:solidFill>
                  <a:srgbClr val="FF3300"/>
                </a:solidFill>
                <a:latin typeface="Arial" panose="020B0604020202020204" pitchFamily="34" charset="0"/>
              </a:rPr>
              <a:t>有效位：</a:t>
            </a:r>
            <a:r>
              <a:rPr kumimoji="1" lang="en-US" altLang="zh-CN" sz="1200" dirty="0">
                <a:latin typeface="Arial" panose="020B0604020202020204" pitchFamily="34" charset="0"/>
              </a:rPr>
              <a:t>Cache</a:t>
            </a:r>
            <a:r>
              <a:rPr kumimoji="1" lang="zh-CN" altLang="en-US" sz="1200" dirty="0">
                <a:latin typeface="Arial" panose="020B0604020202020204" pitchFamily="34" charset="0"/>
              </a:rPr>
              <a:t>行是否含有有效数据</a:t>
            </a:r>
          </a:p>
        </p:txBody>
      </p:sp>
      <p:sp>
        <p:nvSpPr>
          <p:cNvPr id="4" name="灯片编号占位符 3"/>
          <p:cNvSpPr>
            <a:spLocks noGrp="1"/>
          </p:cNvSpPr>
          <p:nvPr>
            <p:ph type="sldNum" sz="quarter" idx="10"/>
          </p:nvPr>
        </p:nvSpPr>
        <p:spPr/>
        <p:txBody>
          <a:bodyPr/>
          <a:lstStyle/>
          <a:p>
            <a:pPr>
              <a:defRPr/>
            </a:pPr>
            <a:fld id="{F2CB4D4E-02EC-42F7-BEAE-EEEA2D43D016}" type="slidenum">
              <a:rPr lang="zh-CN" altLang="en-US" smtClean="0"/>
              <a:pPr>
                <a:defRPr/>
              </a:pPr>
              <a:t>46</a:t>
            </a:fld>
            <a:endParaRPr lang="en-US" altLang="zh-CN"/>
          </a:p>
        </p:txBody>
      </p:sp>
    </p:spTree>
    <p:extLst>
      <p:ext uri="{BB962C8B-B14F-4D97-AF65-F5344CB8AC3E}">
        <p14:creationId xmlns:p14="http://schemas.microsoft.com/office/powerpoint/2010/main" val="21236260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Jump to p81</a:t>
            </a:r>
            <a:endParaRPr lang="zh-CN" altLang="en-US" dirty="0"/>
          </a:p>
        </p:txBody>
      </p:sp>
      <p:sp>
        <p:nvSpPr>
          <p:cNvPr id="4" name="灯片编号占位符 3"/>
          <p:cNvSpPr>
            <a:spLocks noGrp="1"/>
          </p:cNvSpPr>
          <p:nvPr>
            <p:ph type="sldNum" sz="quarter" idx="10"/>
          </p:nvPr>
        </p:nvSpPr>
        <p:spPr/>
        <p:txBody>
          <a:bodyPr/>
          <a:lstStyle/>
          <a:p>
            <a:pPr>
              <a:defRPr/>
            </a:pPr>
            <a:fld id="{F2CB4D4E-02EC-42F7-BEAE-EEEA2D43D016}" type="slidenum">
              <a:rPr lang="zh-CN" altLang="en-US" smtClean="0"/>
              <a:pPr>
                <a:defRPr/>
              </a:pPr>
              <a:t>47</a:t>
            </a:fld>
            <a:endParaRPr lang="en-US" altLang="zh-CN"/>
          </a:p>
        </p:txBody>
      </p:sp>
    </p:spTree>
    <p:extLst>
      <p:ext uri="{BB962C8B-B14F-4D97-AF65-F5344CB8AC3E}">
        <p14:creationId xmlns:p14="http://schemas.microsoft.com/office/powerpoint/2010/main" val="37941244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1898677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49</a:t>
            </a:fld>
            <a:endParaRPr lang="en-US" altLang="zh-CN"/>
          </a:p>
        </p:txBody>
      </p:sp>
    </p:spTree>
    <p:extLst>
      <p:ext uri="{BB962C8B-B14F-4D97-AF65-F5344CB8AC3E}">
        <p14:creationId xmlns:p14="http://schemas.microsoft.com/office/powerpoint/2010/main" val="976135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50</a:t>
            </a:fld>
            <a:endParaRPr lang="en-US" altLang="zh-CN"/>
          </a:p>
        </p:txBody>
      </p:sp>
    </p:spTree>
    <p:extLst>
      <p:ext uri="{BB962C8B-B14F-4D97-AF65-F5344CB8AC3E}">
        <p14:creationId xmlns:p14="http://schemas.microsoft.com/office/powerpoint/2010/main" val="34857682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Jump to p96</a:t>
            </a:r>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51</a:t>
            </a:fld>
            <a:endParaRPr lang="en-US" altLang="zh-CN"/>
          </a:p>
        </p:txBody>
      </p:sp>
    </p:spTree>
    <p:extLst>
      <p:ext uri="{BB962C8B-B14F-4D97-AF65-F5344CB8AC3E}">
        <p14:creationId xmlns:p14="http://schemas.microsoft.com/office/powerpoint/2010/main" val="36869737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50391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53</a:t>
            </a:fld>
            <a:endParaRPr lang="en-US" altLang="zh-CN"/>
          </a:p>
        </p:txBody>
      </p:sp>
    </p:spTree>
    <p:extLst>
      <p:ext uri="{BB962C8B-B14F-4D97-AF65-F5344CB8AC3E}">
        <p14:creationId xmlns:p14="http://schemas.microsoft.com/office/powerpoint/2010/main" val="24409466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54</a:t>
            </a:fld>
            <a:endParaRPr lang="en-US" altLang="zh-CN"/>
          </a:p>
        </p:txBody>
      </p:sp>
    </p:spTree>
    <p:extLst>
      <p:ext uri="{BB962C8B-B14F-4D97-AF65-F5344CB8AC3E}">
        <p14:creationId xmlns:p14="http://schemas.microsoft.com/office/powerpoint/2010/main" val="17834196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55</a:t>
            </a:fld>
            <a:endParaRPr lang="en-US" altLang="zh-CN"/>
          </a:p>
        </p:txBody>
      </p:sp>
    </p:spTree>
    <p:extLst>
      <p:ext uri="{BB962C8B-B14F-4D97-AF65-F5344CB8AC3E}">
        <p14:creationId xmlns:p14="http://schemas.microsoft.com/office/powerpoint/2010/main" val="18161428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0E919B8-A1B4-420E-AADF-E63307EE92DF}" type="slidenum">
              <a:rPr lang="en-US" altLang="zh-CN"/>
              <a:pPr/>
              <a:t>‹#›</a:t>
            </a:fld>
            <a:endParaRPr lang="en-US" altLang="zh-CN"/>
          </a:p>
        </p:txBody>
      </p:sp>
      <p:pic>
        <p:nvPicPr>
          <p:cNvPr id="9" name="图片 8">
            <a:extLst>
              <a:ext uri="{FF2B5EF4-FFF2-40B4-BE49-F238E27FC236}">
                <a16:creationId xmlns:a16="http://schemas.microsoft.com/office/drawing/2014/main" id="{6A66764C-7374-AC6B-4855-D080A3DF0660}"/>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10" name="图片 9">
            <a:extLst>
              <a:ext uri="{FF2B5EF4-FFF2-40B4-BE49-F238E27FC236}">
                <a16:creationId xmlns:a16="http://schemas.microsoft.com/office/drawing/2014/main" id="{4999543B-DA31-DA4A-AB34-A3C72D844A24}"/>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1868135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zh-CN" altLang="en-US"/>
              <a:t>单击此处编辑母版标题样式</a:t>
            </a:r>
          </a:p>
        </p:txBody>
      </p:sp>
      <p:sp>
        <p:nvSpPr>
          <p:cNvPr id="3" name="内容占位符 2"/>
          <p:cNvSpPr>
            <a:spLocks noGrp="1"/>
          </p:cNvSpPr>
          <p:nvPr>
            <p:ph idx="1"/>
          </p:nvPr>
        </p:nvSpPr>
        <p:spPr>
          <a:xfrm>
            <a:off x="457200" y="1551432"/>
            <a:ext cx="8229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4659731-6BD7-46E7-8D3C-2F3AC07E20B1}" type="slidenum">
              <a:rPr lang="en-US" altLang="zh-CN"/>
              <a:pPr/>
              <a:t>‹#›</a:t>
            </a:fld>
            <a:endParaRPr lang="en-US" altLang="zh-CN"/>
          </a:p>
        </p:txBody>
      </p:sp>
    </p:spTree>
    <p:extLst>
      <p:ext uri="{BB962C8B-B14F-4D97-AF65-F5344CB8AC3E}">
        <p14:creationId xmlns:p14="http://schemas.microsoft.com/office/powerpoint/2010/main" val="321090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F8AC4FE-4EB1-4196-830A-993FA99EEC9B}" type="slidenum">
              <a:rPr lang="en-US" altLang="zh-CN"/>
              <a:pPr/>
              <a:t>‹#›</a:t>
            </a:fld>
            <a:endParaRPr lang="en-US" altLang="zh-CN"/>
          </a:p>
        </p:txBody>
      </p:sp>
    </p:spTree>
    <p:extLst>
      <p:ext uri="{BB962C8B-B14F-4D97-AF65-F5344CB8AC3E}">
        <p14:creationId xmlns:p14="http://schemas.microsoft.com/office/powerpoint/2010/main" val="1086297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B93EBDF-DAB8-41D8-86B3-1BFF07A18FF9}" type="slidenum">
              <a:rPr lang="en-US" altLang="zh-CN"/>
              <a:pPr/>
              <a:t>‹#›</a:t>
            </a:fld>
            <a:endParaRPr lang="en-US" altLang="zh-CN"/>
          </a:p>
        </p:txBody>
      </p:sp>
    </p:spTree>
    <p:extLst>
      <p:ext uri="{BB962C8B-B14F-4D97-AF65-F5344CB8AC3E}">
        <p14:creationId xmlns:p14="http://schemas.microsoft.com/office/powerpoint/2010/main" val="450453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7C22BC1-7FC1-4B65-8DCC-88E2F449497B}" type="slidenum">
              <a:rPr lang="en-US" altLang="zh-CN"/>
              <a:pPr/>
              <a:t>‹#›</a:t>
            </a:fld>
            <a:endParaRPr lang="en-US" altLang="zh-CN"/>
          </a:p>
        </p:txBody>
      </p:sp>
    </p:spTree>
    <p:extLst>
      <p:ext uri="{BB962C8B-B14F-4D97-AF65-F5344CB8AC3E}">
        <p14:creationId xmlns:p14="http://schemas.microsoft.com/office/powerpoint/2010/main" val="789025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6C23D995-88A0-46FA-B356-FA459EF841CD}" type="slidenum">
              <a:rPr lang="en-US" altLang="zh-CN"/>
              <a:pPr/>
              <a:t>‹#›</a:t>
            </a:fld>
            <a:endParaRPr lang="en-US" altLang="zh-CN"/>
          </a:p>
        </p:txBody>
      </p:sp>
    </p:spTree>
    <p:extLst>
      <p:ext uri="{BB962C8B-B14F-4D97-AF65-F5344CB8AC3E}">
        <p14:creationId xmlns:p14="http://schemas.microsoft.com/office/powerpoint/2010/main" val="2782110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3F2AB43A-8F39-40F7-AB51-66BE5F0EDC88}" type="slidenum">
              <a:rPr lang="en-US" altLang="zh-CN"/>
              <a:pPr/>
              <a:t>‹#›</a:t>
            </a:fld>
            <a:endParaRPr lang="en-US" altLang="zh-CN"/>
          </a:p>
        </p:txBody>
      </p:sp>
    </p:spTree>
    <p:extLst>
      <p:ext uri="{BB962C8B-B14F-4D97-AF65-F5344CB8AC3E}">
        <p14:creationId xmlns:p14="http://schemas.microsoft.com/office/powerpoint/2010/main" val="4078140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2D2373F-9A07-4B83-AD01-C0E1FFF861AA}" type="slidenum">
              <a:rPr lang="en-US" altLang="zh-CN"/>
              <a:pPr/>
              <a:t>‹#›</a:t>
            </a:fld>
            <a:endParaRPr lang="en-US" altLang="zh-CN"/>
          </a:p>
        </p:txBody>
      </p:sp>
    </p:spTree>
    <p:extLst>
      <p:ext uri="{BB962C8B-B14F-4D97-AF65-F5344CB8AC3E}">
        <p14:creationId xmlns:p14="http://schemas.microsoft.com/office/powerpoint/2010/main" val="180500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FA0F13C-7485-4D41-9A6D-469650A33C06}" type="slidenum">
              <a:rPr lang="en-US" altLang="zh-CN"/>
              <a:pPr/>
              <a:t>‹#›</a:t>
            </a:fld>
            <a:endParaRPr lang="en-US" altLang="zh-CN"/>
          </a:p>
        </p:txBody>
      </p:sp>
    </p:spTree>
    <p:extLst>
      <p:ext uri="{BB962C8B-B14F-4D97-AF65-F5344CB8AC3E}">
        <p14:creationId xmlns:p14="http://schemas.microsoft.com/office/powerpoint/2010/main" val="98218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73C9E0C-B70F-4EE2-835C-E91EA4A4E95C}" type="slidenum">
              <a:rPr lang="en-US" altLang="zh-CN"/>
              <a:pPr/>
              <a:t>‹#›</a:t>
            </a:fld>
            <a:endParaRPr lang="en-US" altLang="zh-CN"/>
          </a:p>
        </p:txBody>
      </p:sp>
    </p:spTree>
    <p:extLst>
      <p:ext uri="{BB962C8B-B14F-4D97-AF65-F5344CB8AC3E}">
        <p14:creationId xmlns:p14="http://schemas.microsoft.com/office/powerpoint/2010/main" val="3444062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7AE7160-E460-44BC-A56A-E2A6D1A944F5}" type="slidenum">
              <a:rPr lang="en-US" altLang="zh-CN"/>
              <a:pPr/>
              <a:t>‹#›</a:t>
            </a:fld>
            <a:endParaRPr lang="en-US" altLang="zh-CN"/>
          </a:p>
        </p:txBody>
      </p:sp>
    </p:spTree>
    <p:extLst>
      <p:ext uri="{BB962C8B-B14F-4D97-AF65-F5344CB8AC3E}">
        <p14:creationId xmlns:p14="http://schemas.microsoft.com/office/powerpoint/2010/main" val="925459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9"/>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F7C79243-752F-DF47-B6D4-756C566A026A}" type="datetime1">
              <a:rPr lang="en-US" altLang="zh-CN" smtClean="0"/>
              <a:t>6/10/2024</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pic>
        <p:nvPicPr>
          <p:cNvPr id="9" name="图片 8">
            <a:extLst>
              <a:ext uri="{FF2B5EF4-FFF2-40B4-BE49-F238E27FC236}">
                <a16:creationId xmlns:a16="http://schemas.microsoft.com/office/drawing/2014/main" id="{5687F465-AE55-EA8B-75CD-4DAA1F38A873}"/>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10" name="图片 9">
            <a:extLst>
              <a:ext uri="{FF2B5EF4-FFF2-40B4-BE49-F238E27FC236}">
                <a16:creationId xmlns:a16="http://schemas.microsoft.com/office/drawing/2014/main" id="{A47F3E12-A9FF-F468-F13B-6AA2C0D26AE8}"/>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159495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a:t>单击此处编辑母版标题样式</a:t>
            </a:r>
          </a:p>
        </p:txBody>
      </p:sp>
      <p:sp>
        <p:nvSpPr>
          <p:cNvPr id="3" name="内容占位符 2"/>
          <p:cNvSpPr>
            <a:spLocks noGrp="1"/>
          </p:cNvSpPr>
          <p:nvPr>
            <p:ph idx="1"/>
          </p:nvPr>
        </p:nvSpPr>
        <p:spPr>
          <a:xfrm>
            <a:off x="457200" y="1166020"/>
            <a:ext cx="8229600" cy="4525963"/>
          </a:xfrm>
        </p:spPr>
        <p:txBody>
          <a:bodyPr/>
          <a:lstStyle>
            <a:lvl1pPr>
              <a:defRPr sz="2800"/>
            </a:lvl1pPr>
            <a:lvl2pPr>
              <a:defRPr sz="2400"/>
            </a:lvl2pPr>
            <a:lvl3pPr>
              <a:defRPr sz="2000"/>
            </a:lvl3pPr>
            <a:lvl4pPr>
              <a:defRPr sz="1600"/>
            </a:lvl4pPr>
            <a:lvl5pPr>
              <a:defRPr sz="16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4845AFC4-5D56-9E4D-960E-96CF80556026}" type="datetime1">
              <a:rPr lang="en-US" altLang="zh-CN" smtClean="0"/>
              <a:t>6/10/2024</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3282332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4"/>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1DBF26C3-45FA-7841-91B3-D1A1061DB1A2}" type="datetime1">
              <a:rPr lang="en-US" altLang="zh-CN" smtClean="0"/>
              <a:t>6/10/2024</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2075167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4"/>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4"/>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a:lvl1pPr>
          </a:lstStyle>
          <a:p>
            <a:fld id="{D98A5DE4-6B76-514B-9C85-46D3C195F145}" type="datetime1">
              <a:rPr lang="en-US" altLang="zh-CN" smtClean="0"/>
              <a:t>6/10/2024</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1158244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7"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a:lvl1pPr>
          </a:lstStyle>
          <a:p>
            <a:fld id="{5C6A05FC-335B-8C47-829B-195C5628D3E2}" type="datetime1">
              <a:rPr lang="en-US" altLang="zh-CN" smtClean="0"/>
              <a:t>6/10/2024</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726577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A09323FE-D334-C941-AFD5-A89894881CDB}" type="datetime1">
              <a:rPr lang="en-US" altLang="zh-CN" smtClean="0"/>
              <a:t>6/10/2024</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4009108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6AD4ABB2-ECCD-D243-95A1-B013631202D5}" type="datetime1">
              <a:rPr lang="en-US" altLang="zh-CN" smtClean="0"/>
              <a:t>6/10/2024</a:t>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16308606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4"/>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E715D010-23F8-7447-A50B-C42956F25B7A}" type="datetime1">
              <a:rPr lang="en-US" altLang="zh-CN" smtClean="0"/>
              <a:t>6/10/2024</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42727118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F676EB90-D37C-6C45-AA62-36B4DB0EB232}" type="datetime1">
              <a:rPr lang="en-US" altLang="zh-CN" smtClean="0"/>
              <a:t>6/10/2024</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18869586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fld id="{9C4D3958-10B6-8640-872C-5A3340696B79}" type="datetime1">
              <a:rPr lang="en-US" altLang="zh-CN" smtClean="0"/>
              <a:t>6/10/2024</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8294072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2"/>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2"/>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fld id="{4568A385-D8EF-7645-A81A-FF8377BC6CF1}" type="datetime1">
              <a:rPr lang="en-US" altLang="zh-CN" smtClean="0"/>
              <a:t>6/10/2024</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1806CE5-282B-4233-8654-09F35EA875E2}" type="slidenum">
              <a:rPr lang="zh-CN" altLang="en-US" smtClean="0"/>
              <a:t>‹#›</a:t>
            </a:fld>
            <a:endParaRPr lang="zh-CN" altLang="en-US"/>
          </a:p>
        </p:txBody>
      </p:sp>
    </p:spTree>
    <p:extLst>
      <p:ext uri="{BB962C8B-B14F-4D97-AF65-F5344CB8AC3E}">
        <p14:creationId xmlns:p14="http://schemas.microsoft.com/office/powerpoint/2010/main" val="2002075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i="0">
                <a:ea typeface="SimHei" panose="02010609060101010101" pitchFamily="49" charset="-122"/>
              </a:defRPr>
            </a:lvl1pPr>
          </a:lstStyle>
          <a:p>
            <a:endParaRPr lang="en-US" altLang="zh-CN"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i="0">
                <a:ea typeface="SimHei" panose="02010609060101010101" pitchFamily="49" charset="-122"/>
              </a:defRPr>
            </a:lvl1pPr>
          </a:lstStyle>
          <a:p>
            <a:endParaRPr lang="en-US" altLang="zh-CN"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i="0">
                <a:ea typeface="SimHei" panose="02010609060101010101" pitchFamily="49" charset="-122"/>
              </a:defRPr>
            </a:lvl1pPr>
          </a:lstStyle>
          <a:p>
            <a:fld id="{B36EB2BA-E18C-44D4-9F8D-4FCE250BF3FA}" type="slidenum">
              <a:rPr lang="en-US" altLang="zh-CN" smtClean="0"/>
              <a:pPr/>
              <a:t>‹#›</a:t>
            </a:fld>
            <a:endParaRPr lang="en-US" altLang="zh-CN" dirty="0"/>
          </a:p>
        </p:txBody>
      </p:sp>
      <p:grpSp>
        <p:nvGrpSpPr>
          <p:cNvPr id="1031" name="Group 7"/>
          <p:cNvGrpSpPr>
            <a:grpSpLocks/>
          </p:cNvGrpSpPr>
          <p:nvPr userDrawn="1"/>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b="0" i="0" dirty="0">
                <a:ea typeface="SimHei"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0" i="0" dirty="0">
                <a:solidFill>
                  <a:schemeClr val="accent2"/>
                </a:solidFill>
                <a:latin typeface="Arial" panose="020B0604020202020204" pitchFamily="34" charset="0"/>
                <a:ea typeface="SimHei" panose="02010609060101010101" pitchFamily="49"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000" b="1">
          <a:solidFill>
            <a:schemeClr val="tx2"/>
          </a:solidFill>
          <a:latin typeface="+mj-lt"/>
          <a:ea typeface="+mj-ea"/>
          <a:cs typeface="+mj-cs"/>
        </a:defRPr>
      </a:lvl1pPr>
      <a:lvl2pPr algn="ctr" rtl="0" fontAlgn="base">
        <a:spcBef>
          <a:spcPct val="0"/>
        </a:spcBef>
        <a:spcAft>
          <a:spcPct val="0"/>
        </a:spcAft>
        <a:defRPr sz="4400" b="1">
          <a:solidFill>
            <a:schemeClr val="tx2"/>
          </a:solidFill>
          <a:latin typeface="Arial" charset="0"/>
          <a:ea typeface="宋体" charset="-122"/>
        </a:defRPr>
      </a:lvl2pPr>
      <a:lvl3pPr algn="ctr" rtl="0" fontAlgn="base">
        <a:spcBef>
          <a:spcPct val="0"/>
        </a:spcBef>
        <a:spcAft>
          <a:spcPct val="0"/>
        </a:spcAft>
        <a:defRPr sz="4400" b="1">
          <a:solidFill>
            <a:schemeClr val="tx2"/>
          </a:solidFill>
          <a:latin typeface="Arial" charset="0"/>
          <a:ea typeface="宋体" charset="-122"/>
        </a:defRPr>
      </a:lvl3pPr>
      <a:lvl4pPr algn="ctr" rtl="0" fontAlgn="base">
        <a:spcBef>
          <a:spcPct val="0"/>
        </a:spcBef>
        <a:spcAft>
          <a:spcPct val="0"/>
        </a:spcAft>
        <a:defRPr sz="4400" b="1">
          <a:solidFill>
            <a:schemeClr val="tx2"/>
          </a:solidFill>
          <a:latin typeface="Arial" charset="0"/>
          <a:ea typeface="宋体" charset="-122"/>
        </a:defRPr>
      </a:lvl4pPr>
      <a:lvl5pPr algn="ctr" rtl="0" fontAlgn="base">
        <a:spcBef>
          <a:spcPct val="0"/>
        </a:spcBef>
        <a:spcAft>
          <a:spcPct val="0"/>
        </a:spcAft>
        <a:defRPr sz="4400" b="1">
          <a:solidFill>
            <a:schemeClr val="tx2"/>
          </a:solidFill>
          <a:latin typeface="Arial" charset="0"/>
          <a:ea typeface="宋体" charset="-122"/>
        </a:defRPr>
      </a:lvl5pPr>
      <a:lvl6pPr marL="457200" algn="ctr" rtl="0" fontAlgn="base">
        <a:spcBef>
          <a:spcPct val="0"/>
        </a:spcBef>
        <a:spcAft>
          <a:spcPct val="0"/>
        </a:spcAft>
        <a:defRPr sz="4400" b="1">
          <a:solidFill>
            <a:schemeClr val="tx2"/>
          </a:solidFill>
          <a:latin typeface="Arial" charset="0"/>
          <a:ea typeface="宋体" charset="-122"/>
        </a:defRPr>
      </a:lvl6pPr>
      <a:lvl7pPr marL="914400" algn="ctr" rtl="0" fontAlgn="base">
        <a:spcBef>
          <a:spcPct val="0"/>
        </a:spcBef>
        <a:spcAft>
          <a:spcPct val="0"/>
        </a:spcAft>
        <a:defRPr sz="4400" b="1">
          <a:solidFill>
            <a:schemeClr val="tx2"/>
          </a:solidFill>
          <a:latin typeface="Arial" charset="0"/>
          <a:ea typeface="宋体" charset="-122"/>
        </a:defRPr>
      </a:lvl7pPr>
      <a:lvl8pPr marL="1371600" algn="ctr" rtl="0" fontAlgn="base">
        <a:spcBef>
          <a:spcPct val="0"/>
        </a:spcBef>
        <a:spcAft>
          <a:spcPct val="0"/>
        </a:spcAft>
        <a:defRPr sz="4400" b="1">
          <a:solidFill>
            <a:schemeClr val="tx2"/>
          </a:solidFill>
          <a:latin typeface="Arial" charset="0"/>
          <a:ea typeface="宋体" charset="-122"/>
        </a:defRPr>
      </a:lvl8pPr>
      <a:lvl9pPr marL="1828800" algn="ctr" rtl="0" fontAlgn="base">
        <a:spcBef>
          <a:spcPct val="0"/>
        </a:spcBef>
        <a:spcAft>
          <a:spcPct val="0"/>
        </a:spcAft>
        <a:defRPr sz="4400" b="1">
          <a:solidFill>
            <a:schemeClr val="tx2"/>
          </a:solidFill>
          <a:latin typeface="Arial" charset="0"/>
          <a:ea typeface="宋体" charset="-122"/>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4000" y="136525"/>
            <a:ext cx="8648700" cy="8269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222968"/>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50" b="0" i="0">
                <a:ea typeface="SimHei" panose="02010609060101010101" pitchFamily="49" charset="-122"/>
              </a:defRPr>
            </a:lvl1pPr>
          </a:lstStyle>
          <a:p>
            <a:fld id="{ED937CD1-4ED1-F54D-9170-DAEC6AA9BB82}" type="datetime1">
              <a:rPr lang="en-US" altLang="zh-CN" smtClean="0"/>
              <a:pPr/>
              <a:t>6/10/2024</a:t>
            </a:fld>
            <a:endParaRPr lang="zh-CN" alt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50" b="0" i="0">
                <a:ea typeface="SimHei" panose="02010609060101010101" pitchFamily="49" charset="-122"/>
              </a:defRPr>
            </a:lvl1pPr>
          </a:lstStyle>
          <a:p>
            <a:endParaRPr lang="zh-CN" altLang="en-US"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i="0">
                <a:ea typeface="SimHei" panose="02010609060101010101" pitchFamily="49" charset="-122"/>
              </a:defRPr>
            </a:lvl1pPr>
          </a:lstStyle>
          <a:p>
            <a:fld id="{B1806CE5-282B-4233-8654-09F35EA875E2}" type="slidenum">
              <a:rPr lang="zh-CN" altLang="en-US" smtClean="0"/>
              <a:pPr/>
              <a:t>‹#›</a:t>
            </a:fld>
            <a:endParaRPr lang="zh-CN" altLang="en-US" dirty="0"/>
          </a:p>
        </p:txBody>
      </p:sp>
      <p:grpSp>
        <p:nvGrpSpPr>
          <p:cNvPr id="1031" name="Group 7"/>
          <p:cNvGrpSpPr>
            <a:grpSpLocks/>
          </p:cNvGrpSpPr>
          <p:nvPr/>
        </p:nvGrpSpPr>
        <p:grpSpPr bwMode="auto">
          <a:xfrm>
            <a:off x="684214" y="956460"/>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350" b="0" i="0" dirty="0">
                <a:ea typeface="SimHei"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kumimoji="1" lang="zh-CN" altLang="zh-CN" sz="1800" b="0" i="0" dirty="0">
                <a:solidFill>
                  <a:schemeClr val="accent2"/>
                </a:solidFill>
                <a:latin typeface="Times New Roman" pitchFamily="18" charset="0"/>
                <a:ea typeface="SimHei" panose="02010609060101010101" pitchFamily="49" charset="-122"/>
              </a:endParaRPr>
            </a:p>
          </p:txBody>
        </p:sp>
      </p:grpSp>
    </p:spTree>
    <p:extLst>
      <p:ext uri="{BB962C8B-B14F-4D97-AF65-F5344CB8AC3E}">
        <p14:creationId xmlns:p14="http://schemas.microsoft.com/office/powerpoint/2010/main" val="38539373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3600" b="1">
          <a:solidFill>
            <a:schemeClr val="tx2"/>
          </a:solidFill>
          <a:latin typeface="+mj-lt"/>
          <a:ea typeface="+mj-ea"/>
          <a:cs typeface="+mj-cs"/>
        </a:defRPr>
      </a:lvl1pPr>
      <a:lvl2pPr algn="ctr" rtl="0" eaLnBrk="1" fontAlgn="base" hangingPunct="1">
        <a:spcBef>
          <a:spcPct val="0"/>
        </a:spcBef>
        <a:spcAft>
          <a:spcPct val="0"/>
        </a:spcAft>
        <a:defRPr sz="3300" b="1">
          <a:solidFill>
            <a:schemeClr val="tx2"/>
          </a:solidFill>
          <a:latin typeface="Arial" charset="0"/>
          <a:ea typeface="宋体" charset="-122"/>
        </a:defRPr>
      </a:lvl2pPr>
      <a:lvl3pPr algn="ctr" rtl="0" eaLnBrk="1" fontAlgn="base" hangingPunct="1">
        <a:spcBef>
          <a:spcPct val="0"/>
        </a:spcBef>
        <a:spcAft>
          <a:spcPct val="0"/>
        </a:spcAft>
        <a:defRPr sz="3300" b="1">
          <a:solidFill>
            <a:schemeClr val="tx2"/>
          </a:solidFill>
          <a:latin typeface="Arial" charset="0"/>
          <a:ea typeface="宋体" charset="-122"/>
        </a:defRPr>
      </a:lvl3pPr>
      <a:lvl4pPr algn="ctr" rtl="0" eaLnBrk="1" fontAlgn="base" hangingPunct="1">
        <a:spcBef>
          <a:spcPct val="0"/>
        </a:spcBef>
        <a:spcAft>
          <a:spcPct val="0"/>
        </a:spcAft>
        <a:defRPr sz="3300" b="1">
          <a:solidFill>
            <a:schemeClr val="tx2"/>
          </a:solidFill>
          <a:latin typeface="Arial" charset="0"/>
          <a:ea typeface="宋体" charset="-122"/>
        </a:defRPr>
      </a:lvl4pPr>
      <a:lvl5pPr algn="ctr" rtl="0" eaLnBrk="1" fontAlgn="base" hangingPunct="1">
        <a:spcBef>
          <a:spcPct val="0"/>
        </a:spcBef>
        <a:spcAft>
          <a:spcPct val="0"/>
        </a:spcAft>
        <a:defRPr sz="3300" b="1">
          <a:solidFill>
            <a:schemeClr val="tx2"/>
          </a:solidFill>
          <a:latin typeface="Arial" charset="0"/>
          <a:ea typeface="宋体" charset="-122"/>
        </a:defRPr>
      </a:lvl5pPr>
      <a:lvl6pPr marL="342900" algn="ctr" rtl="0" eaLnBrk="1" fontAlgn="base" hangingPunct="1">
        <a:spcBef>
          <a:spcPct val="0"/>
        </a:spcBef>
        <a:spcAft>
          <a:spcPct val="0"/>
        </a:spcAft>
        <a:defRPr sz="3300" b="1">
          <a:solidFill>
            <a:schemeClr val="tx2"/>
          </a:solidFill>
          <a:latin typeface="Arial" charset="0"/>
          <a:ea typeface="宋体" charset="-122"/>
        </a:defRPr>
      </a:lvl6pPr>
      <a:lvl7pPr marL="685800" algn="ctr" rtl="0" eaLnBrk="1" fontAlgn="base" hangingPunct="1">
        <a:spcBef>
          <a:spcPct val="0"/>
        </a:spcBef>
        <a:spcAft>
          <a:spcPct val="0"/>
        </a:spcAft>
        <a:defRPr sz="3300" b="1">
          <a:solidFill>
            <a:schemeClr val="tx2"/>
          </a:solidFill>
          <a:latin typeface="Arial" charset="0"/>
          <a:ea typeface="宋体" charset="-122"/>
        </a:defRPr>
      </a:lvl7pPr>
      <a:lvl8pPr marL="1028700" algn="ctr" rtl="0" eaLnBrk="1" fontAlgn="base" hangingPunct="1">
        <a:spcBef>
          <a:spcPct val="0"/>
        </a:spcBef>
        <a:spcAft>
          <a:spcPct val="0"/>
        </a:spcAft>
        <a:defRPr sz="3300" b="1">
          <a:solidFill>
            <a:schemeClr val="tx2"/>
          </a:solidFill>
          <a:latin typeface="Arial" charset="0"/>
          <a:ea typeface="宋体" charset="-122"/>
        </a:defRPr>
      </a:lvl8pPr>
      <a:lvl9pPr marL="1371600" algn="ctr" rtl="0" eaLnBrk="1" fontAlgn="base" hangingPunct="1">
        <a:spcBef>
          <a:spcPct val="0"/>
        </a:spcBef>
        <a:spcAft>
          <a:spcPct val="0"/>
        </a:spcAft>
        <a:defRPr sz="3300" b="1">
          <a:solidFill>
            <a:schemeClr val="tx2"/>
          </a:solidFill>
          <a:latin typeface="Arial" charset="0"/>
          <a:ea typeface="宋体" charset="-122"/>
        </a:defRPr>
      </a:lvl9pPr>
    </p:titleStyle>
    <p:bodyStyle>
      <a:lvl1pPr marL="257175" indent="-257175" algn="l" rtl="0" eaLnBrk="1" fontAlgn="base" hangingPunct="1">
        <a:spcBef>
          <a:spcPct val="20000"/>
        </a:spcBef>
        <a:spcAft>
          <a:spcPct val="0"/>
        </a:spcAft>
        <a:buChar char="•"/>
        <a:defRPr sz="2400" b="1">
          <a:solidFill>
            <a:schemeClr val="tx1"/>
          </a:solidFill>
          <a:latin typeface="+mn-lt"/>
          <a:ea typeface="+mn-ea"/>
          <a:cs typeface="+mn-cs"/>
        </a:defRPr>
      </a:lvl1pPr>
      <a:lvl2pPr marL="557213" indent="-214313" algn="l" rtl="0" eaLnBrk="1" fontAlgn="base" hangingPunct="1">
        <a:spcBef>
          <a:spcPct val="20000"/>
        </a:spcBef>
        <a:spcAft>
          <a:spcPct val="0"/>
        </a:spcAft>
        <a:buChar char="–"/>
        <a:defRPr sz="2100" b="1">
          <a:solidFill>
            <a:schemeClr val="tx1"/>
          </a:solidFill>
          <a:latin typeface="+mn-lt"/>
          <a:ea typeface="+mn-ea"/>
        </a:defRPr>
      </a:lvl2pPr>
      <a:lvl3pPr marL="857250" indent="-171450" algn="l" rtl="0" eaLnBrk="1" fontAlgn="base" hangingPunct="1">
        <a:spcBef>
          <a:spcPct val="20000"/>
        </a:spcBef>
        <a:spcAft>
          <a:spcPct val="0"/>
        </a:spcAft>
        <a:buChar char="•"/>
        <a:defRPr sz="1800" b="1">
          <a:solidFill>
            <a:schemeClr val="tx1"/>
          </a:solidFill>
          <a:latin typeface="+mn-lt"/>
          <a:ea typeface="+mn-ea"/>
        </a:defRPr>
      </a:lvl3pPr>
      <a:lvl4pPr marL="1200150" indent="-171450" algn="l" rtl="0" eaLnBrk="1" fontAlgn="base" hangingPunct="1">
        <a:spcBef>
          <a:spcPct val="20000"/>
        </a:spcBef>
        <a:spcAft>
          <a:spcPct val="0"/>
        </a:spcAft>
        <a:buChar char="–"/>
        <a:defRPr sz="1500" b="1">
          <a:solidFill>
            <a:schemeClr val="tx1"/>
          </a:solidFill>
          <a:latin typeface="+mn-lt"/>
          <a:ea typeface="+mn-ea"/>
        </a:defRPr>
      </a:lvl4pPr>
      <a:lvl5pPr marL="1543050" indent="-171450" algn="l" rtl="0" eaLnBrk="1" fontAlgn="base" hangingPunct="1">
        <a:spcBef>
          <a:spcPct val="20000"/>
        </a:spcBef>
        <a:spcAft>
          <a:spcPct val="0"/>
        </a:spcAft>
        <a:buChar char="»"/>
        <a:defRPr sz="1500" b="1">
          <a:solidFill>
            <a:schemeClr val="tx1"/>
          </a:solidFill>
          <a:latin typeface="+mn-lt"/>
          <a:ea typeface="+mn-ea"/>
        </a:defRPr>
      </a:lvl5pPr>
      <a:lvl6pPr marL="1885950" indent="-171450" algn="l" rtl="0" eaLnBrk="1" fontAlgn="base" hangingPunct="1">
        <a:spcBef>
          <a:spcPct val="20000"/>
        </a:spcBef>
        <a:spcAft>
          <a:spcPct val="0"/>
        </a:spcAft>
        <a:buChar char="»"/>
        <a:defRPr sz="1500" b="1">
          <a:solidFill>
            <a:schemeClr val="tx1"/>
          </a:solidFill>
          <a:latin typeface="+mn-lt"/>
          <a:ea typeface="+mn-ea"/>
        </a:defRPr>
      </a:lvl6pPr>
      <a:lvl7pPr marL="2228850" indent="-171450" algn="l" rtl="0" eaLnBrk="1" fontAlgn="base" hangingPunct="1">
        <a:spcBef>
          <a:spcPct val="20000"/>
        </a:spcBef>
        <a:spcAft>
          <a:spcPct val="0"/>
        </a:spcAft>
        <a:buChar char="»"/>
        <a:defRPr sz="1500" b="1">
          <a:solidFill>
            <a:schemeClr val="tx1"/>
          </a:solidFill>
          <a:latin typeface="+mn-lt"/>
          <a:ea typeface="+mn-ea"/>
        </a:defRPr>
      </a:lvl7pPr>
      <a:lvl8pPr marL="2571750" indent="-171450" algn="l" rtl="0" eaLnBrk="1" fontAlgn="base" hangingPunct="1">
        <a:spcBef>
          <a:spcPct val="20000"/>
        </a:spcBef>
        <a:spcAft>
          <a:spcPct val="0"/>
        </a:spcAft>
        <a:buChar char="»"/>
        <a:defRPr sz="1500" b="1">
          <a:solidFill>
            <a:schemeClr val="tx1"/>
          </a:solidFill>
          <a:latin typeface="+mn-lt"/>
          <a:ea typeface="+mn-ea"/>
        </a:defRPr>
      </a:lvl8pPr>
      <a:lvl9pPr marL="2914650" indent="-171450" algn="l" rtl="0" eaLnBrk="1" fontAlgn="base" hangingPunct="1">
        <a:spcBef>
          <a:spcPct val="20000"/>
        </a:spcBef>
        <a:spcAft>
          <a:spcPct val="0"/>
        </a:spcAft>
        <a:buChar char="»"/>
        <a:defRPr sz="1500"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customXml" Target="../ink/ink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4" name="Rectangle 16"/>
          <p:cNvSpPr>
            <a:spLocks noChangeArrowheads="1"/>
          </p:cNvSpPr>
          <p:nvPr/>
        </p:nvSpPr>
        <p:spPr bwMode="auto">
          <a:xfrm>
            <a:off x="0" y="1581417"/>
            <a:ext cx="9144000" cy="21174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r>
              <a:rPr lang="zh-CN" altLang="en-US" sz="4800" dirty="0">
                <a:solidFill>
                  <a:schemeClr val="tx2"/>
                </a:solidFill>
                <a:latin typeface="SimHei" panose="02010609060101010101" pitchFamily="49" charset="-122"/>
                <a:ea typeface="SimHei" panose="02010609060101010101" pitchFamily="49" charset="-122"/>
              </a:rPr>
              <a:t>指令集、微处理器</a:t>
            </a:r>
            <a:endParaRPr lang="en-US" altLang="zh-CN" sz="4800" dirty="0">
              <a:solidFill>
                <a:schemeClr val="tx2"/>
              </a:solidFill>
              <a:latin typeface="SimHei" panose="02010609060101010101" pitchFamily="49" charset="-122"/>
              <a:ea typeface="SimHei" panose="02010609060101010101" pitchFamily="49" charset="-122"/>
            </a:endParaRPr>
          </a:p>
          <a:p>
            <a:pPr algn="ctr"/>
            <a:r>
              <a:rPr lang="zh-CN" altLang="en-US" sz="4800" dirty="0">
                <a:solidFill>
                  <a:schemeClr val="tx2"/>
                </a:solidFill>
                <a:latin typeface="SimHei" panose="02010609060101010101" pitchFamily="49" charset="-122"/>
                <a:ea typeface="SimHei" panose="02010609060101010101" pitchFamily="49" charset="-122"/>
              </a:rPr>
              <a:t>流水线、存储器复习建议</a:t>
            </a:r>
            <a:endParaRPr lang="en-US" altLang="zh-CN" sz="4800" dirty="0">
              <a:solidFill>
                <a:schemeClr val="tx2"/>
              </a:solidFill>
              <a:latin typeface="SimHei" panose="02010609060101010101" pitchFamily="49" charset="-122"/>
              <a:ea typeface="SimHei" panose="02010609060101010101" pitchFamily="49" charset="-122"/>
            </a:endParaRPr>
          </a:p>
        </p:txBody>
      </p:sp>
      <p:sp>
        <p:nvSpPr>
          <p:cNvPr id="5" name="Rectangle 16"/>
          <p:cNvSpPr>
            <a:spLocks noChangeArrowheads="1"/>
          </p:cNvSpPr>
          <p:nvPr/>
        </p:nvSpPr>
        <p:spPr bwMode="auto">
          <a:xfrm>
            <a:off x="0" y="12357"/>
            <a:ext cx="9144000" cy="13420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r>
              <a:rPr lang="zh-CN" altLang="en-US" sz="3600" dirty="0">
                <a:solidFill>
                  <a:schemeClr val="tx2"/>
                </a:solidFill>
                <a:latin typeface="SimHei" panose="02010609060101010101" pitchFamily="49" charset="-122"/>
                <a:ea typeface="SimHei" panose="02010609060101010101" pitchFamily="49" charset="-122"/>
              </a:rPr>
              <a:t>数字逻辑与处理器基础</a:t>
            </a:r>
            <a:endParaRPr lang="en-US" altLang="zh-CN" sz="3600" dirty="0">
              <a:solidFill>
                <a:schemeClr val="tx2"/>
              </a:solidFill>
              <a:latin typeface="SimHei" panose="02010609060101010101" pitchFamily="49" charset="-122"/>
              <a:ea typeface="SimHei" panose="02010609060101010101" pitchFamily="49" charset="-122"/>
            </a:endParaRPr>
          </a:p>
          <a:p>
            <a:pPr algn="ctr"/>
            <a:r>
              <a:rPr lang="en-US" altLang="zh-CN" sz="2000" dirty="0">
                <a:solidFill>
                  <a:schemeClr val="tx2"/>
                </a:solidFill>
                <a:latin typeface="Arial" panose="020B0604020202020204" pitchFamily="34" charset="0"/>
                <a:ea typeface="SimHei" panose="02010609060101010101" pitchFamily="49" charset="-122"/>
                <a:cs typeface="Arial" panose="020B0604020202020204" pitchFamily="34" charset="0"/>
              </a:rPr>
              <a:t>Fundamentals of Digital Logic and Processors</a:t>
            </a:r>
            <a:endParaRPr lang="zh-CN" altLang="en-US" sz="2000" dirty="0">
              <a:solidFill>
                <a:schemeClr val="tx2"/>
              </a:solidFill>
              <a:latin typeface="Arial" panose="020B0604020202020204" pitchFamily="34" charset="0"/>
              <a:ea typeface="SimHei" panose="02010609060101010101" pitchFamily="49" charset="-122"/>
              <a:cs typeface="Arial" panose="020B0604020202020204" pitchFamily="34" charset="0"/>
            </a:endParaRPr>
          </a:p>
        </p:txBody>
      </p:sp>
      <p:sp>
        <p:nvSpPr>
          <p:cNvPr id="7" name="矩形 6">
            <a:extLst>
              <a:ext uri="{FF2B5EF4-FFF2-40B4-BE49-F238E27FC236}">
                <a16:creationId xmlns:a16="http://schemas.microsoft.com/office/drawing/2014/main" id="{662DF035-C052-49E6-ACD9-DD56881C9AE6}"/>
              </a:ext>
            </a:extLst>
          </p:cNvPr>
          <p:cNvSpPr/>
          <p:nvPr/>
        </p:nvSpPr>
        <p:spPr>
          <a:xfrm>
            <a:off x="0" y="3908643"/>
            <a:ext cx="9144000" cy="1889748"/>
          </a:xfrm>
          <a:prstGeom prst="rect">
            <a:avLst/>
          </a:prstGeom>
        </p:spPr>
        <p:txBody>
          <a:bodyPr wrap="square">
            <a:spAutoFit/>
          </a:bodyPr>
          <a:lstStyle/>
          <a:p>
            <a:pPr algn="ctr">
              <a:spcBef>
                <a:spcPct val="20000"/>
              </a:spcBef>
              <a:buClr>
                <a:srgbClr val="000066"/>
              </a:buClr>
              <a:buFont typeface="Wingdings" pitchFamily="2" charset="2"/>
              <a:buNone/>
            </a:pPr>
            <a:r>
              <a:rPr lang="zh-CN" altLang="en-US" sz="4000" dirty="0">
                <a:latin typeface="+mn-lt"/>
                <a:ea typeface="+mn-ea"/>
              </a:rPr>
              <a:t>数逻课组</a:t>
            </a:r>
            <a:endParaRPr lang="en-US" altLang="zh-CN" sz="4000" dirty="0">
              <a:latin typeface="+mn-lt"/>
              <a:ea typeface="+mn-ea"/>
            </a:endParaRPr>
          </a:p>
          <a:p>
            <a:pPr algn="ctr">
              <a:spcBef>
                <a:spcPct val="20000"/>
              </a:spcBef>
              <a:buClr>
                <a:srgbClr val="000066"/>
              </a:buClr>
              <a:buFont typeface="Wingdings" pitchFamily="2" charset="2"/>
              <a:buNone/>
            </a:pPr>
            <a:r>
              <a:rPr lang="zh-CN" altLang="en-US" sz="3200" dirty="0">
                <a:latin typeface="+mn-lt"/>
                <a:ea typeface="+mn-ea"/>
              </a:rPr>
              <a:t>清华大学电子工程系</a:t>
            </a:r>
            <a:endParaRPr lang="en-US" altLang="zh-CN" sz="3200" dirty="0">
              <a:latin typeface="+mn-lt"/>
              <a:ea typeface="+mn-ea"/>
            </a:endParaRPr>
          </a:p>
          <a:p>
            <a:pPr algn="ctr">
              <a:spcBef>
                <a:spcPct val="20000"/>
              </a:spcBef>
              <a:buClr>
                <a:srgbClr val="000066"/>
              </a:buClr>
              <a:buFont typeface="Wingdings" pitchFamily="2" charset="2"/>
              <a:buNone/>
            </a:pPr>
            <a:r>
              <a:rPr lang="en-US" altLang="zh-CN" sz="3200" dirty="0">
                <a:latin typeface="+mn-lt"/>
                <a:ea typeface="+mn-ea"/>
              </a:rPr>
              <a:t>2024</a:t>
            </a:r>
            <a:r>
              <a:rPr lang="zh-CN" altLang="en-US" sz="3200" dirty="0">
                <a:latin typeface="+mn-lt"/>
                <a:ea typeface="+mn-ea"/>
              </a:rPr>
              <a:t>年</a:t>
            </a:r>
            <a:r>
              <a:rPr lang="en-US" altLang="zh-CN" sz="3200" dirty="0">
                <a:latin typeface="+mn-lt"/>
                <a:ea typeface="+mn-ea"/>
              </a:rPr>
              <a:t>6</a:t>
            </a:r>
            <a:r>
              <a:rPr lang="zh-CN" altLang="en-US" sz="3200" dirty="0">
                <a:latin typeface="+mn-lt"/>
                <a:ea typeface="+mn-ea"/>
              </a:rPr>
              <a:t>月</a:t>
            </a:r>
            <a:endParaRPr lang="en-US" altLang="zh-CN" sz="3200" dirty="0">
              <a:latin typeface="+mn-lt"/>
              <a:ea typeface="+mn-ea"/>
            </a:endParaRPr>
          </a:p>
        </p:txBody>
      </p:sp>
    </p:spTree>
    <p:extLst>
      <p:ext uri="{BB962C8B-B14F-4D97-AF65-F5344CB8AC3E}">
        <p14:creationId xmlns:p14="http://schemas.microsoft.com/office/powerpoint/2010/main" val="1330396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14659731-6BD7-46E7-8D3C-2F3AC07E20B1}" type="slidenum">
              <a:rPr lang="en-US" altLang="zh-CN" smtClean="0"/>
              <a:pPr/>
              <a:t>2</a:t>
            </a:fld>
            <a:endParaRPr lang="en-US" altLang="zh-CN"/>
          </a:p>
        </p:txBody>
      </p:sp>
      <p:sp>
        <p:nvSpPr>
          <p:cNvPr id="8" name="标题 7">
            <a:extLst>
              <a:ext uri="{FF2B5EF4-FFF2-40B4-BE49-F238E27FC236}">
                <a16:creationId xmlns:a16="http://schemas.microsoft.com/office/drawing/2014/main" id="{A4AFA0D0-3ABC-9E4B-A473-CF0D454A0F50}"/>
              </a:ext>
            </a:extLst>
          </p:cNvPr>
          <p:cNvSpPr>
            <a:spLocks noGrp="1"/>
          </p:cNvSpPr>
          <p:nvPr>
            <p:ph type="title"/>
          </p:nvPr>
        </p:nvSpPr>
        <p:spPr/>
        <p:txBody>
          <a:bodyPr/>
          <a:lstStyle/>
          <a:p>
            <a:r>
              <a:rPr lang="zh-CN" altLang="en-US" dirty="0"/>
              <a:t>指令集重点内容</a:t>
            </a:r>
          </a:p>
        </p:txBody>
      </p:sp>
      <p:sp>
        <p:nvSpPr>
          <p:cNvPr id="7" name="Content Placeholder 2">
            <a:extLst>
              <a:ext uri="{FF2B5EF4-FFF2-40B4-BE49-F238E27FC236}">
                <a16:creationId xmlns:a16="http://schemas.microsoft.com/office/drawing/2014/main" id="{931595DE-6A6A-E249-A7F9-C47C99E8E9BA}"/>
              </a:ext>
            </a:extLst>
          </p:cNvPr>
          <p:cNvSpPr txBox="1">
            <a:spLocks/>
          </p:cNvSpPr>
          <p:nvPr/>
        </p:nvSpPr>
        <p:spPr bwMode="auto">
          <a:xfrm>
            <a:off x="549797" y="1500593"/>
            <a:ext cx="8229600" cy="47446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0">
                <a:solidFill>
                  <a:schemeClr val="tx1"/>
                </a:solidFill>
                <a:latin typeface="+mn-lt"/>
                <a:ea typeface="+mn-ea"/>
                <a:cs typeface="+mn-cs"/>
              </a:defRPr>
            </a:lvl1pPr>
            <a:lvl2pPr marL="742950" indent="-285750" algn="l" rtl="0" fontAlgn="base">
              <a:spcBef>
                <a:spcPct val="20000"/>
              </a:spcBef>
              <a:spcAft>
                <a:spcPct val="0"/>
              </a:spcAft>
              <a:buChar char="–"/>
              <a:defRPr sz="2800" b="0">
                <a:solidFill>
                  <a:schemeClr val="tx1"/>
                </a:solidFill>
                <a:latin typeface="+mn-lt"/>
                <a:ea typeface="+mn-ea"/>
              </a:defRPr>
            </a:lvl2pPr>
            <a:lvl3pPr marL="1143000" indent="-228600" algn="l" rtl="0" fontAlgn="base">
              <a:spcBef>
                <a:spcPct val="20000"/>
              </a:spcBef>
              <a:spcAft>
                <a:spcPct val="0"/>
              </a:spcAft>
              <a:buChar char="•"/>
              <a:defRPr sz="2400" b="0">
                <a:solidFill>
                  <a:schemeClr val="tx1"/>
                </a:solidFill>
                <a:latin typeface="+mn-lt"/>
                <a:ea typeface="+mn-ea"/>
              </a:defRPr>
            </a:lvl3pPr>
            <a:lvl4pPr marL="1600200" indent="-228600" algn="l" rtl="0" fontAlgn="base">
              <a:spcBef>
                <a:spcPct val="20000"/>
              </a:spcBef>
              <a:spcAft>
                <a:spcPct val="0"/>
              </a:spcAft>
              <a:buChar char="–"/>
              <a:defRPr sz="2000" b="0">
                <a:solidFill>
                  <a:schemeClr val="tx1"/>
                </a:solidFill>
                <a:latin typeface="+mn-lt"/>
                <a:ea typeface="+mn-ea"/>
              </a:defRPr>
            </a:lvl4pPr>
            <a:lvl5pPr marL="2057400" indent="-228600" algn="l" rtl="0" fontAlgn="base">
              <a:spcBef>
                <a:spcPct val="20000"/>
              </a:spcBef>
              <a:spcAft>
                <a:spcPct val="0"/>
              </a:spcAft>
              <a:buChar char="»"/>
              <a:defRPr sz="2000" b="0">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r>
              <a:rPr lang="zh-CN" altLang="en-US" sz="2200" b="1" kern="0" dirty="0"/>
              <a:t>图灵机到通用计算机</a:t>
            </a:r>
            <a:endParaRPr lang="en-US" altLang="zh-CN" sz="2200" kern="0" dirty="0"/>
          </a:p>
          <a:p>
            <a:pPr lvl="1"/>
            <a:r>
              <a:rPr lang="zh-CN" altLang="en-US" sz="2200" kern="0" dirty="0"/>
              <a:t>通用计算机架构：冯诺依曼架构、哈佛架构</a:t>
            </a:r>
            <a:endParaRPr lang="en-US" altLang="zh-CN" sz="2200" kern="0" dirty="0"/>
          </a:p>
          <a:p>
            <a:pPr lvl="1"/>
            <a:r>
              <a:rPr lang="zh-CN" altLang="en-US" sz="2200" kern="0" dirty="0"/>
              <a:t>指令集架构：</a:t>
            </a:r>
            <a:r>
              <a:rPr lang="en-US" altLang="zh-CN" sz="2200" kern="0" dirty="0"/>
              <a:t>RISC</a:t>
            </a:r>
            <a:r>
              <a:rPr lang="zh-CN" altLang="en-US" sz="2200" kern="0" dirty="0"/>
              <a:t>、</a:t>
            </a:r>
            <a:r>
              <a:rPr lang="en-US" altLang="zh-CN" sz="2200" kern="0" dirty="0"/>
              <a:t>CISC</a:t>
            </a:r>
            <a:r>
              <a:rPr lang="zh-CN" altLang="en-US" sz="2200" kern="0" dirty="0"/>
              <a:t>、</a:t>
            </a:r>
            <a:r>
              <a:rPr lang="en-US" altLang="zh-CN" sz="2200" kern="0" dirty="0"/>
              <a:t>URISC</a:t>
            </a:r>
          </a:p>
          <a:p>
            <a:r>
              <a:rPr lang="en-US" altLang="zh-CN" sz="2200" b="1" dirty="0"/>
              <a:t>MIPS</a:t>
            </a:r>
            <a:r>
              <a:rPr lang="zh-CN" altLang="en-US" sz="2200" b="1" dirty="0"/>
              <a:t>指令集架构</a:t>
            </a:r>
            <a:endParaRPr lang="en-US" altLang="zh-CN" sz="2200" b="1" dirty="0"/>
          </a:p>
          <a:p>
            <a:pPr lvl="1"/>
            <a:r>
              <a:rPr lang="en-US" altLang="zh-CN" sz="2200" dirty="0"/>
              <a:t>MIPS</a:t>
            </a:r>
            <a:r>
              <a:rPr lang="zh-CN" altLang="en-US" sz="2200" dirty="0"/>
              <a:t>数据存储</a:t>
            </a:r>
            <a:endParaRPr lang="en-US" altLang="zh-CN" sz="2200" dirty="0"/>
          </a:p>
          <a:p>
            <a:pPr lvl="1"/>
            <a:r>
              <a:rPr lang="zh-CN" altLang="en-US" sz="2200" dirty="0"/>
              <a:t>指令集格式：</a:t>
            </a:r>
            <a:r>
              <a:rPr lang="en-US" altLang="zh-CN" sz="2200" dirty="0"/>
              <a:t>R</a:t>
            </a:r>
            <a:r>
              <a:rPr lang="zh-CN" altLang="en-US" sz="2200" dirty="0"/>
              <a:t>型、</a:t>
            </a:r>
            <a:r>
              <a:rPr lang="en-US" altLang="zh-CN" sz="2200" dirty="0"/>
              <a:t>I</a:t>
            </a:r>
            <a:r>
              <a:rPr lang="zh-CN" altLang="en-US" sz="2200" dirty="0"/>
              <a:t>型、</a:t>
            </a:r>
            <a:r>
              <a:rPr lang="en-US" altLang="zh-CN" sz="2200" dirty="0"/>
              <a:t>J</a:t>
            </a:r>
            <a:r>
              <a:rPr lang="zh-CN" altLang="en-US" sz="2200" dirty="0"/>
              <a:t>型</a:t>
            </a:r>
            <a:endParaRPr lang="en-US" altLang="zh-CN" sz="2200" dirty="0"/>
          </a:p>
          <a:p>
            <a:pPr lvl="1"/>
            <a:r>
              <a:rPr lang="zh-CN" altLang="en-US" sz="2200" dirty="0"/>
              <a:t>寻址方式：寄存器寻址、立即数寻址、基址或偏移寻址、</a:t>
            </a:r>
            <a:r>
              <a:rPr lang="en-US" altLang="zh-CN" sz="2200" dirty="0"/>
              <a:t>PC</a:t>
            </a:r>
            <a:r>
              <a:rPr lang="zh-CN" altLang="en-US" sz="2200" dirty="0"/>
              <a:t>相对寻址、伪直接寻址</a:t>
            </a:r>
            <a:endParaRPr lang="en-US" altLang="zh-CN" sz="2200" dirty="0"/>
          </a:p>
        </p:txBody>
      </p:sp>
    </p:spTree>
    <p:extLst>
      <p:ext uri="{BB962C8B-B14F-4D97-AF65-F5344CB8AC3E}">
        <p14:creationId xmlns:p14="http://schemas.microsoft.com/office/powerpoint/2010/main" val="42795576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4ED5CE-6F99-9E49-9D1F-55217DFC725E}"/>
              </a:ext>
            </a:extLst>
          </p:cNvPr>
          <p:cNvSpPr>
            <a:spLocks noGrp="1"/>
          </p:cNvSpPr>
          <p:nvPr>
            <p:ph type="title"/>
          </p:nvPr>
        </p:nvSpPr>
        <p:spPr/>
        <p:txBody>
          <a:bodyPr/>
          <a:lstStyle/>
          <a:p>
            <a:r>
              <a:rPr kumimoji="1" lang="zh-CN" altLang="en-US" dirty="0"/>
              <a:t>指令集重点内容</a:t>
            </a:r>
          </a:p>
        </p:txBody>
      </p:sp>
      <p:sp>
        <p:nvSpPr>
          <p:cNvPr id="3" name="内容占位符 2">
            <a:extLst>
              <a:ext uri="{FF2B5EF4-FFF2-40B4-BE49-F238E27FC236}">
                <a16:creationId xmlns:a16="http://schemas.microsoft.com/office/drawing/2014/main" id="{BCFE8B39-76CD-7E40-91E0-182F841C0AB2}"/>
              </a:ext>
            </a:extLst>
          </p:cNvPr>
          <p:cNvSpPr>
            <a:spLocks noGrp="1"/>
          </p:cNvSpPr>
          <p:nvPr>
            <p:ph idx="1"/>
          </p:nvPr>
        </p:nvSpPr>
        <p:spPr>
          <a:xfrm>
            <a:off x="457200" y="1507602"/>
            <a:ext cx="8229600" cy="4983162"/>
          </a:xfrm>
        </p:spPr>
        <p:txBody>
          <a:bodyPr/>
          <a:lstStyle/>
          <a:p>
            <a:r>
              <a:rPr lang="en-US" altLang="zh-CN" sz="2200" b="1" dirty="0"/>
              <a:t>MIPS</a:t>
            </a:r>
            <a:r>
              <a:rPr lang="zh-CN" altLang="en-US" sz="2200" b="1" dirty="0"/>
              <a:t>指令系统</a:t>
            </a:r>
            <a:endParaRPr lang="en-US" altLang="zh-CN" sz="2200" b="1" dirty="0"/>
          </a:p>
          <a:p>
            <a:pPr lvl="1">
              <a:defRPr/>
            </a:pPr>
            <a:r>
              <a:rPr lang="zh-CN" altLang="en-US" sz="2200" dirty="0"/>
              <a:t>数据处理指令</a:t>
            </a:r>
            <a:endParaRPr lang="en-US" altLang="zh-CN" sz="2200" dirty="0"/>
          </a:p>
          <a:p>
            <a:pPr lvl="1">
              <a:defRPr/>
            </a:pPr>
            <a:r>
              <a:rPr lang="zh-CN" altLang="en-US" sz="2200" dirty="0"/>
              <a:t>数据传送指令</a:t>
            </a:r>
            <a:endParaRPr lang="en-US" altLang="zh-CN" sz="2200" dirty="0"/>
          </a:p>
          <a:p>
            <a:pPr lvl="1">
              <a:defRPr/>
            </a:pPr>
            <a:r>
              <a:rPr lang="zh-CN" altLang="en-US" sz="2200" dirty="0"/>
              <a:t>分支与跳转指令</a:t>
            </a:r>
            <a:endParaRPr lang="en-US" altLang="zh-CN" sz="2200" b="1" dirty="0"/>
          </a:p>
          <a:p>
            <a:r>
              <a:rPr lang="zh-CN" altLang="en-US" sz="2200" b="1" dirty="0"/>
              <a:t>汇编程序设计</a:t>
            </a:r>
            <a:endParaRPr lang="en-US" altLang="zh-CN" sz="2200" b="1" dirty="0"/>
          </a:p>
          <a:p>
            <a:pPr lvl="1"/>
            <a:r>
              <a:rPr lang="zh-CN" altLang="en-US" sz="2200" dirty="0"/>
              <a:t>基本程序结构</a:t>
            </a:r>
            <a:endParaRPr lang="en-US" altLang="zh-CN" sz="2200" dirty="0"/>
          </a:p>
          <a:p>
            <a:pPr lvl="1"/>
            <a:r>
              <a:rPr lang="zh-CN" altLang="en-US" sz="2200" dirty="0"/>
              <a:t>变量与数组</a:t>
            </a:r>
            <a:endParaRPr lang="en-US" altLang="zh-CN" sz="2200" dirty="0"/>
          </a:p>
          <a:p>
            <a:pPr lvl="1"/>
            <a:r>
              <a:rPr lang="zh-CN" altLang="en-US" sz="2200" dirty="0"/>
              <a:t>过程调用</a:t>
            </a:r>
            <a:endParaRPr lang="en-US" altLang="zh-CN" sz="2200" dirty="0"/>
          </a:p>
          <a:p>
            <a:r>
              <a:rPr lang="en-US" altLang="zh-CN" sz="2200" b="1" dirty="0"/>
              <a:t>CPU</a:t>
            </a:r>
            <a:r>
              <a:rPr lang="zh-CN" altLang="en-US" sz="2200" b="1" dirty="0"/>
              <a:t>的性能评价</a:t>
            </a:r>
            <a:endParaRPr lang="en-US" altLang="zh-CN" sz="2200" b="1" dirty="0"/>
          </a:p>
          <a:p>
            <a:pPr lvl="1"/>
            <a:r>
              <a:rPr lang="zh-CN" altLang="en-US" sz="2200" dirty="0"/>
              <a:t>评价指标：延时、</a:t>
            </a:r>
            <a:r>
              <a:rPr lang="en-US" altLang="zh-CN" sz="2200" dirty="0"/>
              <a:t>CPI</a:t>
            </a:r>
          </a:p>
          <a:p>
            <a:pPr lvl="1"/>
            <a:r>
              <a:rPr lang="zh-CN" altLang="en-US" sz="2200" dirty="0"/>
              <a:t>影响</a:t>
            </a:r>
            <a:r>
              <a:rPr lang="en-US" altLang="zh-CN" sz="2200" dirty="0"/>
              <a:t>CPU</a:t>
            </a:r>
            <a:r>
              <a:rPr lang="zh-CN" altLang="en-US" sz="2200" dirty="0"/>
              <a:t>性能的因素</a:t>
            </a:r>
            <a:endParaRPr lang="en-US" altLang="zh-CN" sz="2200" dirty="0"/>
          </a:p>
          <a:p>
            <a:pPr lvl="1"/>
            <a:r>
              <a:rPr lang="en-US" altLang="zh-CN" sz="2200" dirty="0"/>
              <a:t>CPU</a:t>
            </a:r>
            <a:r>
              <a:rPr lang="zh-CN" altLang="en-US" sz="2200" dirty="0"/>
              <a:t>性能的优化</a:t>
            </a:r>
            <a:endParaRPr lang="en-US" altLang="zh-CN" sz="2200" dirty="0"/>
          </a:p>
        </p:txBody>
      </p:sp>
      <p:sp>
        <p:nvSpPr>
          <p:cNvPr id="4" name="灯片编号占位符 3">
            <a:extLst>
              <a:ext uri="{FF2B5EF4-FFF2-40B4-BE49-F238E27FC236}">
                <a16:creationId xmlns:a16="http://schemas.microsoft.com/office/drawing/2014/main" id="{A3654B5F-D9C9-364D-99ED-7CE35EFB3692}"/>
              </a:ext>
            </a:extLst>
          </p:cNvPr>
          <p:cNvSpPr>
            <a:spLocks noGrp="1"/>
          </p:cNvSpPr>
          <p:nvPr>
            <p:ph type="sldNum" sz="quarter" idx="12"/>
          </p:nvPr>
        </p:nvSpPr>
        <p:spPr/>
        <p:txBody>
          <a:bodyPr/>
          <a:lstStyle/>
          <a:p>
            <a:fld id="{14659731-6BD7-46E7-8D3C-2F3AC07E20B1}" type="slidenum">
              <a:rPr lang="en-US" altLang="zh-CN" smtClean="0"/>
              <a:pPr/>
              <a:t>3</a:t>
            </a:fld>
            <a:endParaRPr lang="en-US" altLang="zh-CN"/>
          </a:p>
        </p:txBody>
      </p:sp>
      <p:pic>
        <p:nvPicPr>
          <p:cNvPr id="5" name="图片 4">
            <a:extLst>
              <a:ext uri="{FF2B5EF4-FFF2-40B4-BE49-F238E27FC236}">
                <a16:creationId xmlns:a16="http://schemas.microsoft.com/office/drawing/2014/main" id="{D8503217-B0FA-58C8-FAFF-3D7DD1EB4F92}"/>
              </a:ext>
            </a:extLst>
          </p:cNvPr>
          <p:cNvPicPr>
            <a:picLocks noChangeAspect="1"/>
          </p:cNvPicPr>
          <p:nvPr/>
        </p:nvPicPr>
        <p:blipFill>
          <a:blip r:embed="rId2"/>
          <a:stretch>
            <a:fillRect/>
          </a:stretch>
        </p:blipFill>
        <p:spPr>
          <a:xfrm>
            <a:off x="4496443" y="1424296"/>
            <a:ext cx="4113513" cy="4820929"/>
          </a:xfrm>
          <a:prstGeom prst="rect">
            <a:avLst/>
          </a:prstGeom>
        </p:spPr>
      </p:pic>
    </p:spTree>
    <p:extLst>
      <p:ext uri="{BB962C8B-B14F-4D97-AF65-F5344CB8AC3E}">
        <p14:creationId xmlns:p14="http://schemas.microsoft.com/office/powerpoint/2010/main" val="977711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16287-5323-6A43-ABCB-F56575F7CBC0}"/>
              </a:ext>
            </a:extLst>
          </p:cNvPr>
          <p:cNvSpPr>
            <a:spLocks noGrp="1"/>
          </p:cNvSpPr>
          <p:nvPr>
            <p:ph type="title"/>
          </p:nvPr>
        </p:nvSpPr>
        <p:spPr/>
        <p:txBody>
          <a:bodyPr/>
          <a:lstStyle/>
          <a:p>
            <a:r>
              <a:rPr kumimoji="1" lang="en-US" altLang="zh-CN" dirty="0"/>
              <a:t>MIPS</a:t>
            </a:r>
            <a:r>
              <a:rPr kumimoji="1" lang="zh-CN" altLang="en-US" dirty="0"/>
              <a:t>架构中的数据存储</a:t>
            </a:r>
          </a:p>
        </p:txBody>
      </p:sp>
      <p:sp>
        <p:nvSpPr>
          <p:cNvPr id="3" name="内容占位符 2">
            <a:extLst>
              <a:ext uri="{FF2B5EF4-FFF2-40B4-BE49-F238E27FC236}">
                <a16:creationId xmlns:a16="http://schemas.microsoft.com/office/drawing/2014/main" id="{200B45FD-C456-4248-B454-58F7D08A02C8}"/>
              </a:ext>
            </a:extLst>
          </p:cNvPr>
          <p:cNvSpPr>
            <a:spLocks noGrp="1"/>
          </p:cNvSpPr>
          <p:nvPr>
            <p:ph idx="1"/>
          </p:nvPr>
        </p:nvSpPr>
        <p:spPr/>
        <p:txBody>
          <a:bodyPr/>
          <a:lstStyle/>
          <a:p>
            <a:r>
              <a:rPr kumimoji="1" lang="zh-CN" altLang="en-US" dirty="0"/>
              <a:t>指令集架构中数据应如何存储？</a:t>
            </a:r>
          </a:p>
        </p:txBody>
      </p:sp>
      <p:sp>
        <p:nvSpPr>
          <p:cNvPr id="4" name="灯片编号占位符 3">
            <a:extLst>
              <a:ext uri="{FF2B5EF4-FFF2-40B4-BE49-F238E27FC236}">
                <a16:creationId xmlns:a16="http://schemas.microsoft.com/office/drawing/2014/main" id="{AE4EDDB9-C804-6E4F-9A74-F0C23FAFDE62}"/>
              </a:ext>
            </a:extLst>
          </p:cNvPr>
          <p:cNvSpPr>
            <a:spLocks noGrp="1"/>
          </p:cNvSpPr>
          <p:nvPr>
            <p:ph type="sldNum" sz="quarter" idx="12"/>
          </p:nvPr>
        </p:nvSpPr>
        <p:spPr/>
        <p:txBody>
          <a:bodyPr/>
          <a:lstStyle/>
          <a:p>
            <a:fld id="{14659731-6BD7-46E7-8D3C-2F3AC07E20B1}" type="slidenum">
              <a:rPr lang="en-US" altLang="zh-CN" smtClean="0"/>
              <a:pPr/>
              <a:t>4</a:t>
            </a:fld>
            <a:endParaRPr lang="en-US" altLang="zh-CN" dirty="0"/>
          </a:p>
        </p:txBody>
      </p:sp>
      <p:graphicFrame>
        <p:nvGraphicFramePr>
          <p:cNvPr id="5" name="Group 28">
            <a:extLst>
              <a:ext uri="{FF2B5EF4-FFF2-40B4-BE49-F238E27FC236}">
                <a16:creationId xmlns:a16="http://schemas.microsoft.com/office/drawing/2014/main" id="{76477625-CA30-7440-ADCD-EFEF376FC537}"/>
              </a:ext>
            </a:extLst>
          </p:cNvPr>
          <p:cNvGraphicFramePr>
            <a:graphicFrameLocks/>
          </p:cNvGraphicFramePr>
          <p:nvPr>
            <p:extLst>
              <p:ext uri="{D42A27DB-BD31-4B8C-83A1-F6EECF244321}">
                <p14:modId xmlns:p14="http://schemas.microsoft.com/office/powerpoint/2010/main" val="2450475936"/>
              </p:ext>
            </p:extLst>
          </p:nvPr>
        </p:nvGraphicFramePr>
        <p:xfrm>
          <a:off x="555172" y="2235767"/>
          <a:ext cx="8425542" cy="2663763"/>
        </p:xfrm>
        <a:graphic>
          <a:graphicData uri="http://schemas.openxmlformats.org/drawingml/2006/table">
            <a:tbl>
              <a:tblPr/>
              <a:tblGrid>
                <a:gridCol w="1390624">
                  <a:extLst>
                    <a:ext uri="{9D8B030D-6E8A-4147-A177-3AD203B41FA5}">
                      <a16:colId xmlns:a16="http://schemas.microsoft.com/office/drawing/2014/main" val="20000"/>
                    </a:ext>
                  </a:extLst>
                </a:gridCol>
                <a:gridCol w="1875089">
                  <a:extLst>
                    <a:ext uri="{9D8B030D-6E8A-4147-A177-3AD203B41FA5}">
                      <a16:colId xmlns:a16="http://schemas.microsoft.com/office/drawing/2014/main" val="20001"/>
                    </a:ext>
                  </a:extLst>
                </a:gridCol>
                <a:gridCol w="5159829">
                  <a:extLst>
                    <a:ext uri="{9D8B030D-6E8A-4147-A177-3AD203B41FA5}">
                      <a16:colId xmlns:a16="http://schemas.microsoft.com/office/drawing/2014/main" val="20002"/>
                    </a:ext>
                  </a:extLst>
                </a:gridCol>
              </a:tblGrid>
              <a:tr h="45712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4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名称</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4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实例</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4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注释</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9595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32</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个寄存器</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$s0, …, $s7</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$t0,…, $t7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数据的快速定位，算术运算指令的操作数必须在寄存器中</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88512">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2</a:t>
                      </a:r>
                      <a:r>
                        <a:rPr kumimoji="0" lang="en-US" altLang="zh-CN" sz="2000" b="0" i="0" u="none" strike="noStrike" cap="none" normalizeH="0" baseline="30000" dirty="0">
                          <a:ln>
                            <a:noFill/>
                          </a:ln>
                          <a:solidFill>
                            <a:schemeClr val="tx1"/>
                          </a:solidFill>
                          <a:effectLst/>
                          <a:latin typeface="Arial" panose="020B0604020202020204" pitchFamily="34" charset="0"/>
                          <a:ea typeface="SimHei" panose="02010609060101010101" pitchFamily="49" charset="-122"/>
                        </a:rPr>
                        <a:t>30</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个存储字</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pP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存储器</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[1] </a:t>
                      </a:r>
                    </a:p>
                    <a:p>
                      <a:pPr marL="0" marR="0" lvl="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a:t>
                      </a:r>
                    </a:p>
                    <a:p>
                      <a:pPr marL="0" marR="0" lvl="0" indent="0" algn="l" defTabSz="914400" rtl="0" eaLnBrk="1" fontAlgn="base" latinLnBrk="0" hangingPunct="1">
                        <a:lnSpc>
                          <a:spcPct val="100000"/>
                        </a:lnSpc>
                        <a:spcBef>
                          <a:spcPct val="0"/>
                        </a:spcBef>
                        <a:spcAft>
                          <a:spcPct val="0"/>
                        </a:spcAft>
                        <a:buClr>
                          <a:schemeClr val="tx2"/>
                        </a:buClr>
                        <a:buSzPct val="70000"/>
                        <a:buFont typeface="Wingdings" pitchFamily="2" charset="2"/>
                        <a:buNone/>
                        <a:tabLst/>
                      </a:pP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存储器</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[2</a:t>
                      </a:r>
                      <a:r>
                        <a:rPr kumimoji="0" lang="en-US" altLang="zh-CN" sz="2000" b="0" i="0" u="none" strike="noStrike" cap="none" normalizeH="0" baseline="30000" dirty="0">
                          <a:ln>
                            <a:noFill/>
                          </a:ln>
                          <a:solidFill>
                            <a:schemeClr val="tx1"/>
                          </a:solidFill>
                          <a:effectLst/>
                          <a:latin typeface="Arial" panose="020B0604020202020204" pitchFamily="34" charset="0"/>
                          <a:ea typeface="SimHei" panose="02010609060101010101" pitchFamily="49" charset="-122"/>
                        </a:rPr>
                        <a:t>30</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MIPS</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只能使用数据传送指令访问。</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MIPS</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中可以使用字</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(word)</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、半字</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(half</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 </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word)</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、字节</a:t>
                      </a:r>
                      <a:r>
                        <a:rPr kumimoji="0" lang="en-US" altLang="zh-CN"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(byte)</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寻址，相邻</a:t>
                      </a:r>
                      <a:r>
                        <a:rPr kumimoji="0" lang="zh-CN" altLang="en-US" sz="2000" b="0"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数据字</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的地址相差</a:t>
                      </a:r>
                      <a:r>
                        <a:rPr kumimoji="0" lang="en-US" altLang="zh-CN" sz="2000" b="0" i="0" u="none" strike="noStrike" cap="none" normalizeH="0" baseline="0" dirty="0">
                          <a:ln>
                            <a:noFill/>
                          </a:ln>
                          <a:solidFill>
                            <a:srgbClr val="FF0000"/>
                          </a:solidFill>
                          <a:effectLst/>
                          <a:latin typeface="Arial" panose="020B0604020202020204" pitchFamily="34" charset="0"/>
                          <a:ea typeface="SimHei" panose="02010609060101010101" pitchFamily="49" charset="-122"/>
                        </a:rPr>
                        <a:t>4(</a:t>
                      </a:r>
                      <a:r>
                        <a:rPr kumimoji="0" lang="zh-CN" altLang="en-US" sz="2000" b="0" i="0" u="none" strike="noStrike" cap="none" normalizeH="0" baseline="0" dirty="0">
                          <a:ln>
                            <a:noFill/>
                          </a:ln>
                          <a:solidFill>
                            <a:srgbClr val="FF0000"/>
                          </a:solidFill>
                          <a:effectLst/>
                          <a:latin typeface="Arial" panose="020B0604020202020204" pitchFamily="34" charset="0"/>
                          <a:ea typeface="SimHei" panose="02010609060101010101" pitchFamily="49" charset="-122"/>
                        </a:rPr>
                        <a:t>如地址为字节地址</a:t>
                      </a:r>
                      <a:r>
                        <a:rPr kumimoji="0" lang="en-US" altLang="zh-CN" sz="2000" b="0" i="0" u="none" strike="noStrike" cap="none" normalizeH="0" baseline="0" dirty="0">
                          <a:ln>
                            <a:noFill/>
                          </a:ln>
                          <a:solidFill>
                            <a:srgbClr val="FF0000"/>
                          </a:solidFill>
                          <a:effectLst/>
                          <a:latin typeface="Arial" panose="020B0604020202020204" pitchFamily="34" charset="0"/>
                          <a:ea typeface="SimHei" panose="02010609060101010101" pitchFamily="49" charset="-122"/>
                        </a:rPr>
                        <a:t>)</a:t>
                      </a:r>
                      <a:r>
                        <a:rPr kumimoji="0" lang="zh-CN" altLang="en-US" sz="2000" b="0" i="0" u="none" strike="noStrike" cap="none" normalizeH="0" baseline="0" dirty="0">
                          <a:ln>
                            <a:noFill/>
                          </a:ln>
                          <a:solidFill>
                            <a:schemeClr val="tx1"/>
                          </a:solidFill>
                          <a:effectLst/>
                          <a:latin typeface="Arial" panose="020B0604020202020204" pitchFamily="34" charset="0"/>
                          <a:ea typeface="SimHei" panose="02010609060101010101" pitchFamily="49" charset="-122"/>
                        </a:rPr>
                        <a:t>。</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Text Box 24">
            <a:extLst>
              <a:ext uri="{FF2B5EF4-FFF2-40B4-BE49-F238E27FC236}">
                <a16:creationId xmlns:a16="http://schemas.microsoft.com/office/drawing/2014/main" id="{162B44AE-735D-2F4B-A34C-11A94CB18587}"/>
              </a:ext>
            </a:extLst>
          </p:cNvPr>
          <p:cNvSpPr txBox="1">
            <a:spLocks noChangeArrowheads="1"/>
          </p:cNvSpPr>
          <p:nvPr/>
        </p:nvSpPr>
        <p:spPr bwMode="auto">
          <a:xfrm>
            <a:off x="1066798" y="5143511"/>
            <a:ext cx="711797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r>
              <a:rPr lang="en-US" altLang="zh-CN" sz="2400" b="0" dirty="0">
                <a:ea typeface="SimHei" panose="02010609060101010101" pitchFamily="49" charset="-122"/>
              </a:rPr>
              <a:t>MIPS</a:t>
            </a:r>
            <a:r>
              <a:rPr lang="zh-CN" altLang="en-US" sz="2400" b="0" dirty="0">
                <a:ea typeface="SimHei" panose="02010609060101010101" pitchFamily="49" charset="-122"/>
              </a:rPr>
              <a:t>中</a:t>
            </a:r>
            <a:r>
              <a:rPr lang="en-US" altLang="zh-CN" sz="2400" b="0" dirty="0">
                <a:ea typeface="SimHei" panose="02010609060101010101" pitchFamily="49" charset="-122"/>
              </a:rPr>
              <a:t>1word=4Byte=32bit</a:t>
            </a:r>
            <a:endParaRPr lang="zh-CN" altLang="en-US" sz="2400" b="0" dirty="0">
              <a:ea typeface="SimHei" panose="02010609060101010101" pitchFamily="49" charset="-122"/>
            </a:endParaRPr>
          </a:p>
        </p:txBody>
      </p:sp>
    </p:spTree>
    <p:extLst>
      <p:ext uri="{BB962C8B-B14F-4D97-AF65-F5344CB8AC3E}">
        <p14:creationId xmlns:p14="http://schemas.microsoft.com/office/powerpoint/2010/main" val="3367245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5341703"/>
            <a:ext cx="3784862" cy="105809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tLang="zh-CN" sz="2000" b="1" dirty="0">
              <a:solidFill>
                <a:schemeClr val="tx1"/>
              </a:solidFill>
            </a:endParaRPr>
          </a:p>
          <a:p>
            <a:pPr algn="just"/>
            <a:endParaRPr lang="en-US" altLang="zh-CN" sz="2000" b="1" dirty="0">
              <a:solidFill>
                <a:schemeClr val="tx1"/>
              </a:solidFill>
            </a:endParaRPr>
          </a:p>
          <a:p>
            <a:pPr algn="r"/>
            <a:r>
              <a:rPr lang="zh-CN" altLang="en-US" sz="2000" b="1" dirty="0">
                <a:solidFill>
                  <a:schemeClr val="tx1"/>
                </a:solidFill>
              </a:rPr>
              <a:t>寄存器堆</a:t>
            </a:r>
          </a:p>
        </p:txBody>
      </p:sp>
      <p:sp>
        <p:nvSpPr>
          <p:cNvPr id="3" name="文本占位符 2"/>
          <p:cNvSpPr>
            <a:spLocks noGrp="1"/>
          </p:cNvSpPr>
          <p:nvPr>
            <p:ph type="body" idx="1"/>
          </p:nvPr>
        </p:nvSpPr>
        <p:spPr>
          <a:xfrm>
            <a:off x="457200" y="1355001"/>
            <a:ext cx="4040188" cy="639762"/>
          </a:xfrm>
        </p:spPr>
        <p:txBody>
          <a:bodyPr/>
          <a:lstStyle/>
          <a:p>
            <a:pPr algn="ctr"/>
            <a:r>
              <a:rPr lang="zh-CN" altLang="en-US" sz="3200" dirty="0"/>
              <a:t>寄存器</a:t>
            </a:r>
            <a:r>
              <a:rPr lang="en-US" altLang="zh-CN" sz="3200" dirty="0"/>
              <a:t>(ref:</a:t>
            </a:r>
            <a:r>
              <a:rPr lang="zh-CN" altLang="en-US" sz="3200" dirty="0"/>
              <a:t>时序逻辑</a:t>
            </a:r>
            <a:r>
              <a:rPr lang="en-US" altLang="zh-CN" sz="3200" dirty="0"/>
              <a:t>)</a:t>
            </a:r>
            <a:endParaRPr lang="zh-CN" altLang="en-US" sz="3200" dirty="0"/>
          </a:p>
        </p:txBody>
      </p:sp>
      <p:sp>
        <p:nvSpPr>
          <p:cNvPr id="4" name="内容占位符 3"/>
          <p:cNvSpPr>
            <a:spLocks noGrp="1"/>
          </p:cNvSpPr>
          <p:nvPr>
            <p:ph sz="half" idx="2"/>
          </p:nvPr>
        </p:nvSpPr>
        <p:spPr>
          <a:xfrm>
            <a:off x="457200" y="1994763"/>
            <a:ext cx="4040188" cy="3951288"/>
          </a:xfrm>
        </p:spPr>
        <p:txBody>
          <a:bodyPr/>
          <a:lstStyle/>
          <a:p>
            <a:r>
              <a:rPr lang="zh-CN" altLang="en-US" dirty="0"/>
              <a:t>访问方式</a:t>
            </a:r>
            <a:endParaRPr lang="en-US" altLang="zh-CN" dirty="0"/>
          </a:p>
          <a:p>
            <a:pPr lvl="1"/>
            <a:r>
              <a:rPr lang="zh-CN" altLang="en-US" dirty="0"/>
              <a:t>以寄存器</a:t>
            </a:r>
            <a:r>
              <a:rPr lang="zh-CN" altLang="en-US" dirty="0">
                <a:solidFill>
                  <a:srgbClr val="FF0000"/>
                </a:solidFill>
              </a:rPr>
              <a:t>编号</a:t>
            </a:r>
            <a:r>
              <a:rPr lang="zh-CN" altLang="en-US" dirty="0"/>
              <a:t>进行访问，</a:t>
            </a:r>
            <a:r>
              <a:rPr lang="zh-CN" altLang="en-US" dirty="0">
                <a:solidFill>
                  <a:srgbClr val="FF0000"/>
                </a:solidFill>
              </a:rPr>
              <a:t>可同时访问</a:t>
            </a:r>
            <a:r>
              <a:rPr lang="zh-CN" altLang="en-US" dirty="0"/>
              <a:t>不同寄存器</a:t>
            </a:r>
            <a:endParaRPr lang="en-US" altLang="zh-CN" dirty="0"/>
          </a:p>
          <a:p>
            <a:r>
              <a:rPr lang="zh-CN" altLang="en-US" dirty="0"/>
              <a:t>规模与速度</a:t>
            </a:r>
            <a:endParaRPr lang="en-US" altLang="zh-CN" dirty="0"/>
          </a:p>
          <a:p>
            <a:pPr lvl="1"/>
            <a:r>
              <a:rPr lang="zh-CN" altLang="en-US" dirty="0"/>
              <a:t>一般</a:t>
            </a:r>
            <a:r>
              <a:rPr lang="zh-CN" altLang="en-US" dirty="0">
                <a:solidFill>
                  <a:srgbClr val="FF0000"/>
                </a:solidFill>
              </a:rPr>
              <a:t>个数少</a:t>
            </a:r>
            <a:r>
              <a:rPr lang="zh-CN" altLang="en-US" dirty="0"/>
              <a:t>，访问</a:t>
            </a:r>
            <a:r>
              <a:rPr lang="zh-CN" altLang="en-US" dirty="0">
                <a:solidFill>
                  <a:srgbClr val="FF0000"/>
                </a:solidFill>
              </a:rPr>
              <a:t>速度快</a:t>
            </a:r>
          </a:p>
        </p:txBody>
      </p:sp>
      <p:sp>
        <p:nvSpPr>
          <p:cNvPr id="5" name="文本占位符 4"/>
          <p:cNvSpPr>
            <a:spLocks noGrp="1"/>
          </p:cNvSpPr>
          <p:nvPr>
            <p:ph type="body" sz="quarter" idx="3"/>
          </p:nvPr>
        </p:nvSpPr>
        <p:spPr>
          <a:xfrm>
            <a:off x="4515128" y="1355001"/>
            <a:ext cx="4445953" cy="639762"/>
          </a:xfrm>
        </p:spPr>
        <p:txBody>
          <a:bodyPr/>
          <a:lstStyle/>
          <a:p>
            <a:pPr algn="ctr"/>
            <a:r>
              <a:rPr lang="zh-CN" altLang="en-US" sz="3200" dirty="0"/>
              <a:t>存储器</a:t>
            </a:r>
            <a:r>
              <a:rPr lang="en-US" altLang="zh-CN" sz="3200" dirty="0"/>
              <a:t>(ref:</a:t>
            </a:r>
            <a:r>
              <a:rPr lang="zh-CN" altLang="en-US" sz="3200" dirty="0"/>
              <a:t>第八讲</a:t>
            </a:r>
            <a:r>
              <a:rPr lang="en-US" altLang="zh-CN" sz="3200" dirty="0"/>
              <a:t>)</a:t>
            </a:r>
            <a:endParaRPr lang="zh-CN" altLang="en-US" sz="3200" dirty="0"/>
          </a:p>
        </p:txBody>
      </p:sp>
      <p:sp>
        <p:nvSpPr>
          <p:cNvPr id="6" name="内容占位符 5"/>
          <p:cNvSpPr>
            <a:spLocks noGrp="1"/>
          </p:cNvSpPr>
          <p:nvPr>
            <p:ph sz="quarter" idx="4"/>
          </p:nvPr>
        </p:nvSpPr>
        <p:spPr>
          <a:xfrm>
            <a:off x="4645025" y="1994763"/>
            <a:ext cx="4310439" cy="3951288"/>
          </a:xfrm>
        </p:spPr>
        <p:txBody>
          <a:bodyPr/>
          <a:lstStyle/>
          <a:p>
            <a:r>
              <a:rPr lang="zh-CN" altLang="en-US" dirty="0"/>
              <a:t>访问方式</a:t>
            </a:r>
            <a:endParaRPr lang="en-US" altLang="zh-CN" dirty="0"/>
          </a:p>
          <a:p>
            <a:pPr lvl="1"/>
            <a:r>
              <a:rPr lang="zh-CN" altLang="en-US" dirty="0"/>
              <a:t>以存储器</a:t>
            </a:r>
            <a:r>
              <a:rPr lang="zh-CN" altLang="en-US" dirty="0">
                <a:solidFill>
                  <a:srgbClr val="FF0000"/>
                </a:solidFill>
              </a:rPr>
              <a:t>地址</a:t>
            </a:r>
            <a:r>
              <a:rPr lang="zh-CN" altLang="en-US" dirty="0"/>
              <a:t>进行访问，</a:t>
            </a:r>
            <a:r>
              <a:rPr lang="zh-CN" altLang="en-US" dirty="0">
                <a:solidFill>
                  <a:srgbClr val="FF0000"/>
                </a:solidFill>
              </a:rPr>
              <a:t>不可同时访问</a:t>
            </a:r>
            <a:r>
              <a:rPr lang="zh-CN" altLang="en-US" dirty="0"/>
              <a:t>不同地址</a:t>
            </a:r>
            <a:endParaRPr lang="en-US" altLang="zh-CN" dirty="0"/>
          </a:p>
          <a:p>
            <a:r>
              <a:rPr lang="zh-CN" altLang="en-US" dirty="0"/>
              <a:t>规模与速度</a:t>
            </a:r>
            <a:endParaRPr lang="en-US" altLang="zh-CN" dirty="0"/>
          </a:p>
          <a:p>
            <a:pPr lvl="1"/>
            <a:r>
              <a:rPr lang="zh-CN" altLang="en-US" dirty="0"/>
              <a:t>一般</a:t>
            </a:r>
            <a:r>
              <a:rPr lang="zh-CN" altLang="en-US" dirty="0">
                <a:solidFill>
                  <a:srgbClr val="FF0000"/>
                </a:solidFill>
              </a:rPr>
              <a:t>地址范围大</a:t>
            </a:r>
            <a:r>
              <a:rPr lang="zh-CN" altLang="en-US" dirty="0"/>
              <a:t>，访问</a:t>
            </a:r>
            <a:r>
              <a:rPr lang="zh-CN" altLang="en-US" dirty="0">
                <a:solidFill>
                  <a:srgbClr val="FF0000"/>
                </a:solidFill>
              </a:rPr>
              <a:t>速度慢</a:t>
            </a:r>
          </a:p>
          <a:p>
            <a:endParaRPr lang="zh-CN" altLang="en-US" dirty="0"/>
          </a:p>
        </p:txBody>
      </p:sp>
      <p:sp>
        <p:nvSpPr>
          <p:cNvPr id="8" name="矩形 7"/>
          <p:cNvSpPr/>
          <p:nvPr/>
        </p:nvSpPr>
        <p:spPr>
          <a:xfrm>
            <a:off x="537328" y="5465284"/>
            <a:ext cx="480767" cy="48076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R0</a:t>
            </a:r>
            <a:endParaRPr lang="zh-CN" altLang="en-US" dirty="0"/>
          </a:p>
        </p:txBody>
      </p:sp>
      <p:sp>
        <p:nvSpPr>
          <p:cNvPr id="9" name="矩形 8"/>
          <p:cNvSpPr/>
          <p:nvPr/>
        </p:nvSpPr>
        <p:spPr>
          <a:xfrm>
            <a:off x="1165732" y="5465283"/>
            <a:ext cx="480767" cy="48076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R1</a:t>
            </a:r>
            <a:endParaRPr lang="zh-CN" altLang="en-US" dirty="0"/>
          </a:p>
        </p:txBody>
      </p:sp>
      <p:sp>
        <p:nvSpPr>
          <p:cNvPr id="10" name="矩形 9"/>
          <p:cNvSpPr/>
          <p:nvPr/>
        </p:nvSpPr>
        <p:spPr>
          <a:xfrm>
            <a:off x="1794136" y="5465282"/>
            <a:ext cx="480767" cy="48076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t>R2</a:t>
            </a:r>
            <a:endParaRPr lang="zh-CN" altLang="en-US" dirty="0"/>
          </a:p>
        </p:txBody>
      </p:sp>
      <p:sp>
        <p:nvSpPr>
          <p:cNvPr id="11" name="矩形 10"/>
          <p:cNvSpPr/>
          <p:nvPr/>
        </p:nvSpPr>
        <p:spPr>
          <a:xfrm>
            <a:off x="3611839" y="5465281"/>
            <a:ext cx="480767" cy="48076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t>Rn</a:t>
            </a:r>
            <a:endParaRPr lang="zh-CN" altLang="en-US" dirty="0"/>
          </a:p>
        </p:txBody>
      </p:sp>
      <p:sp>
        <p:nvSpPr>
          <p:cNvPr id="13" name="文本框 12"/>
          <p:cNvSpPr txBox="1"/>
          <p:nvPr/>
        </p:nvSpPr>
        <p:spPr>
          <a:xfrm>
            <a:off x="2477294" y="5409084"/>
            <a:ext cx="895546" cy="461665"/>
          </a:xfrm>
          <a:prstGeom prst="rect">
            <a:avLst/>
          </a:prstGeom>
          <a:noFill/>
        </p:spPr>
        <p:txBody>
          <a:bodyPr wrap="square" rtlCol="0">
            <a:spAutoFit/>
          </a:bodyPr>
          <a:lstStyle/>
          <a:p>
            <a:pPr algn="ctr"/>
            <a:r>
              <a:rPr lang="en-US" altLang="zh-CN" sz="2400" dirty="0">
                <a:ea typeface="SimHei" panose="02010609060101010101" pitchFamily="49" charset="-122"/>
              </a:rPr>
              <a:t>……</a:t>
            </a:r>
            <a:endParaRPr lang="zh-CN" altLang="en-US" sz="2400" dirty="0">
              <a:ea typeface="SimHei" panose="02010609060101010101" pitchFamily="49" charset="-122"/>
            </a:endParaRPr>
          </a:p>
        </p:txBody>
      </p:sp>
      <p:cxnSp>
        <p:nvCxnSpPr>
          <p:cNvPr id="15" name="直接箭头连接符 14"/>
          <p:cNvCxnSpPr/>
          <p:nvPr/>
        </p:nvCxnSpPr>
        <p:spPr>
          <a:xfrm>
            <a:off x="657192" y="4610249"/>
            <a:ext cx="0" cy="855032"/>
          </a:xfrm>
          <a:prstGeom prst="straightConnector1">
            <a:avLst/>
          </a:prstGeom>
          <a:ln w="2857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885792" y="4610249"/>
            <a:ext cx="0" cy="855032"/>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285842" y="4610249"/>
            <a:ext cx="0" cy="855032"/>
          </a:xfrm>
          <a:prstGeom prst="straightConnector1">
            <a:avLst/>
          </a:prstGeom>
          <a:ln w="2857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1514442" y="4610249"/>
            <a:ext cx="0" cy="855032"/>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914492" y="4610249"/>
            <a:ext cx="0" cy="855032"/>
          </a:xfrm>
          <a:prstGeom prst="straightConnector1">
            <a:avLst/>
          </a:prstGeom>
          <a:ln w="2857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2143092" y="4610249"/>
            <a:ext cx="0" cy="855032"/>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3743292" y="4610249"/>
            <a:ext cx="0" cy="855032"/>
          </a:xfrm>
          <a:prstGeom prst="straightConnector1">
            <a:avLst/>
          </a:prstGeom>
          <a:ln w="2857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3971892" y="4610249"/>
            <a:ext cx="0" cy="855032"/>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584200" y="4088349"/>
            <a:ext cx="1387475" cy="3795"/>
          </a:xfrm>
          <a:prstGeom prst="straightConnector1">
            <a:avLst/>
          </a:prstGeom>
          <a:ln w="2857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563253" y="4358551"/>
            <a:ext cx="1408422" cy="3090"/>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文本占位符 2"/>
          <p:cNvSpPr txBox="1">
            <a:spLocks/>
          </p:cNvSpPr>
          <p:nvPr/>
        </p:nvSpPr>
        <p:spPr bwMode="auto">
          <a:xfrm>
            <a:off x="1971675" y="3906317"/>
            <a:ext cx="1842168" cy="3640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marL="0" indent="0" algn="l" rtl="0" fontAlgn="base">
              <a:spcBef>
                <a:spcPct val="20000"/>
              </a:spcBef>
              <a:spcAft>
                <a:spcPct val="0"/>
              </a:spcAft>
              <a:buNone/>
              <a:defRPr sz="2400" b="1">
                <a:solidFill>
                  <a:schemeClr val="tx1"/>
                </a:solidFill>
                <a:latin typeface="+mn-lt"/>
                <a:ea typeface="+mn-ea"/>
                <a:cs typeface="+mn-cs"/>
              </a:defRPr>
            </a:lvl1pPr>
            <a:lvl2pPr marL="457200" indent="0" algn="l" rtl="0" fontAlgn="base">
              <a:spcBef>
                <a:spcPct val="20000"/>
              </a:spcBef>
              <a:spcAft>
                <a:spcPct val="0"/>
              </a:spcAft>
              <a:buNone/>
              <a:defRPr sz="2000" b="1">
                <a:solidFill>
                  <a:schemeClr val="tx1"/>
                </a:solidFill>
                <a:latin typeface="+mn-lt"/>
                <a:ea typeface="+mn-ea"/>
              </a:defRPr>
            </a:lvl2pPr>
            <a:lvl3pPr marL="914400" indent="0" algn="l" rtl="0" fontAlgn="base">
              <a:spcBef>
                <a:spcPct val="20000"/>
              </a:spcBef>
              <a:spcAft>
                <a:spcPct val="0"/>
              </a:spcAft>
              <a:buNone/>
              <a:defRPr sz="1800" b="1">
                <a:solidFill>
                  <a:schemeClr val="tx1"/>
                </a:solidFill>
                <a:latin typeface="+mn-lt"/>
                <a:ea typeface="+mn-ea"/>
              </a:defRPr>
            </a:lvl3pPr>
            <a:lvl4pPr marL="1371600" indent="0" algn="l" rtl="0" fontAlgn="base">
              <a:spcBef>
                <a:spcPct val="20000"/>
              </a:spcBef>
              <a:spcAft>
                <a:spcPct val="0"/>
              </a:spcAft>
              <a:buNone/>
              <a:defRPr sz="1600" b="1">
                <a:solidFill>
                  <a:schemeClr val="tx1"/>
                </a:solidFill>
                <a:latin typeface="+mn-lt"/>
                <a:ea typeface="+mn-ea"/>
              </a:defRPr>
            </a:lvl4pPr>
            <a:lvl5pPr marL="1828800" indent="0" algn="l" rtl="0" fontAlgn="base">
              <a:spcBef>
                <a:spcPct val="20000"/>
              </a:spcBef>
              <a:spcAft>
                <a:spcPct val="0"/>
              </a:spcAft>
              <a:buNone/>
              <a:defRPr sz="1600" b="1">
                <a:solidFill>
                  <a:schemeClr val="tx1"/>
                </a:solidFill>
                <a:latin typeface="+mn-lt"/>
                <a:ea typeface="+mn-ea"/>
              </a:defRPr>
            </a:lvl5pPr>
            <a:lvl6pPr marL="2286000" indent="0" algn="l" rtl="0" fontAlgn="base">
              <a:spcBef>
                <a:spcPct val="20000"/>
              </a:spcBef>
              <a:spcAft>
                <a:spcPct val="0"/>
              </a:spcAft>
              <a:buNone/>
              <a:defRPr sz="1600" b="1">
                <a:solidFill>
                  <a:schemeClr val="tx1"/>
                </a:solidFill>
                <a:latin typeface="+mn-lt"/>
                <a:ea typeface="+mn-ea"/>
              </a:defRPr>
            </a:lvl6pPr>
            <a:lvl7pPr marL="2743200" indent="0" algn="l" rtl="0" fontAlgn="base">
              <a:spcBef>
                <a:spcPct val="20000"/>
              </a:spcBef>
              <a:spcAft>
                <a:spcPct val="0"/>
              </a:spcAft>
              <a:buNone/>
              <a:defRPr sz="1600" b="1">
                <a:solidFill>
                  <a:schemeClr val="tx1"/>
                </a:solidFill>
                <a:latin typeface="+mn-lt"/>
                <a:ea typeface="+mn-ea"/>
              </a:defRPr>
            </a:lvl7pPr>
            <a:lvl8pPr marL="3200400" indent="0" algn="l" rtl="0" fontAlgn="base">
              <a:spcBef>
                <a:spcPct val="20000"/>
              </a:spcBef>
              <a:spcAft>
                <a:spcPct val="0"/>
              </a:spcAft>
              <a:buNone/>
              <a:defRPr sz="1600" b="1">
                <a:solidFill>
                  <a:schemeClr val="tx1"/>
                </a:solidFill>
                <a:latin typeface="+mn-lt"/>
                <a:ea typeface="+mn-ea"/>
              </a:defRPr>
            </a:lvl8pPr>
            <a:lvl9pPr marL="3657600" indent="0" algn="l" rtl="0" fontAlgn="base">
              <a:spcBef>
                <a:spcPct val="20000"/>
              </a:spcBef>
              <a:spcAft>
                <a:spcPct val="0"/>
              </a:spcAft>
              <a:buNone/>
              <a:defRPr sz="1600" b="1">
                <a:solidFill>
                  <a:schemeClr val="tx1"/>
                </a:solidFill>
                <a:latin typeface="+mn-lt"/>
                <a:ea typeface="+mn-ea"/>
              </a:defRPr>
            </a:lvl9pPr>
          </a:lstStyle>
          <a:p>
            <a:r>
              <a:rPr lang="zh-CN" altLang="en-US" sz="1800" kern="0" dirty="0">
                <a:solidFill>
                  <a:srgbClr val="3333FF"/>
                </a:solidFill>
              </a:rPr>
              <a:t>指令（读、写）</a:t>
            </a:r>
          </a:p>
        </p:txBody>
      </p:sp>
      <p:sp>
        <p:nvSpPr>
          <p:cNvPr id="36" name="文本占位符 2"/>
          <p:cNvSpPr txBox="1">
            <a:spLocks/>
          </p:cNvSpPr>
          <p:nvPr/>
        </p:nvSpPr>
        <p:spPr bwMode="auto">
          <a:xfrm>
            <a:off x="1971675" y="4202552"/>
            <a:ext cx="1842168" cy="3640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marL="0" indent="0" algn="l" rtl="0" fontAlgn="base">
              <a:spcBef>
                <a:spcPct val="20000"/>
              </a:spcBef>
              <a:spcAft>
                <a:spcPct val="0"/>
              </a:spcAft>
              <a:buNone/>
              <a:defRPr sz="2400" b="1">
                <a:solidFill>
                  <a:schemeClr val="tx1"/>
                </a:solidFill>
                <a:latin typeface="+mn-lt"/>
                <a:ea typeface="+mn-ea"/>
                <a:cs typeface="+mn-cs"/>
              </a:defRPr>
            </a:lvl1pPr>
            <a:lvl2pPr marL="457200" indent="0" algn="l" rtl="0" fontAlgn="base">
              <a:spcBef>
                <a:spcPct val="20000"/>
              </a:spcBef>
              <a:spcAft>
                <a:spcPct val="0"/>
              </a:spcAft>
              <a:buNone/>
              <a:defRPr sz="2000" b="1">
                <a:solidFill>
                  <a:schemeClr val="tx1"/>
                </a:solidFill>
                <a:latin typeface="+mn-lt"/>
                <a:ea typeface="+mn-ea"/>
              </a:defRPr>
            </a:lvl2pPr>
            <a:lvl3pPr marL="914400" indent="0" algn="l" rtl="0" fontAlgn="base">
              <a:spcBef>
                <a:spcPct val="20000"/>
              </a:spcBef>
              <a:spcAft>
                <a:spcPct val="0"/>
              </a:spcAft>
              <a:buNone/>
              <a:defRPr sz="1800" b="1">
                <a:solidFill>
                  <a:schemeClr val="tx1"/>
                </a:solidFill>
                <a:latin typeface="+mn-lt"/>
                <a:ea typeface="+mn-ea"/>
              </a:defRPr>
            </a:lvl3pPr>
            <a:lvl4pPr marL="1371600" indent="0" algn="l" rtl="0" fontAlgn="base">
              <a:spcBef>
                <a:spcPct val="20000"/>
              </a:spcBef>
              <a:spcAft>
                <a:spcPct val="0"/>
              </a:spcAft>
              <a:buNone/>
              <a:defRPr sz="1600" b="1">
                <a:solidFill>
                  <a:schemeClr val="tx1"/>
                </a:solidFill>
                <a:latin typeface="+mn-lt"/>
                <a:ea typeface="+mn-ea"/>
              </a:defRPr>
            </a:lvl4pPr>
            <a:lvl5pPr marL="1828800" indent="0" algn="l" rtl="0" fontAlgn="base">
              <a:spcBef>
                <a:spcPct val="20000"/>
              </a:spcBef>
              <a:spcAft>
                <a:spcPct val="0"/>
              </a:spcAft>
              <a:buNone/>
              <a:defRPr sz="1600" b="1">
                <a:solidFill>
                  <a:schemeClr val="tx1"/>
                </a:solidFill>
                <a:latin typeface="+mn-lt"/>
                <a:ea typeface="+mn-ea"/>
              </a:defRPr>
            </a:lvl5pPr>
            <a:lvl6pPr marL="2286000" indent="0" algn="l" rtl="0" fontAlgn="base">
              <a:spcBef>
                <a:spcPct val="20000"/>
              </a:spcBef>
              <a:spcAft>
                <a:spcPct val="0"/>
              </a:spcAft>
              <a:buNone/>
              <a:defRPr sz="1600" b="1">
                <a:solidFill>
                  <a:schemeClr val="tx1"/>
                </a:solidFill>
                <a:latin typeface="+mn-lt"/>
                <a:ea typeface="+mn-ea"/>
              </a:defRPr>
            </a:lvl6pPr>
            <a:lvl7pPr marL="2743200" indent="0" algn="l" rtl="0" fontAlgn="base">
              <a:spcBef>
                <a:spcPct val="20000"/>
              </a:spcBef>
              <a:spcAft>
                <a:spcPct val="0"/>
              </a:spcAft>
              <a:buNone/>
              <a:defRPr sz="1600" b="1">
                <a:solidFill>
                  <a:schemeClr val="tx1"/>
                </a:solidFill>
                <a:latin typeface="+mn-lt"/>
                <a:ea typeface="+mn-ea"/>
              </a:defRPr>
            </a:lvl7pPr>
            <a:lvl8pPr marL="3200400" indent="0" algn="l" rtl="0" fontAlgn="base">
              <a:spcBef>
                <a:spcPct val="20000"/>
              </a:spcBef>
              <a:spcAft>
                <a:spcPct val="0"/>
              </a:spcAft>
              <a:buNone/>
              <a:defRPr sz="1600" b="1">
                <a:solidFill>
                  <a:schemeClr val="tx1"/>
                </a:solidFill>
                <a:latin typeface="+mn-lt"/>
                <a:ea typeface="+mn-ea"/>
              </a:defRPr>
            </a:lvl8pPr>
            <a:lvl9pPr marL="3657600" indent="0" algn="l" rtl="0" fontAlgn="base">
              <a:spcBef>
                <a:spcPct val="20000"/>
              </a:spcBef>
              <a:spcAft>
                <a:spcPct val="0"/>
              </a:spcAft>
              <a:buNone/>
              <a:defRPr sz="1600" b="1">
                <a:solidFill>
                  <a:schemeClr val="tx1"/>
                </a:solidFill>
                <a:latin typeface="+mn-lt"/>
                <a:ea typeface="+mn-ea"/>
              </a:defRPr>
            </a:lvl9pPr>
          </a:lstStyle>
          <a:p>
            <a:r>
              <a:rPr lang="zh-CN" altLang="en-US" sz="1800" kern="0" dirty="0">
                <a:solidFill>
                  <a:srgbClr val="FF0000"/>
                </a:solidFill>
              </a:rPr>
              <a:t>数据</a:t>
            </a:r>
          </a:p>
        </p:txBody>
      </p:sp>
      <p:sp>
        <p:nvSpPr>
          <p:cNvPr id="37" name="矩形 36"/>
          <p:cNvSpPr/>
          <p:nvPr/>
        </p:nvSpPr>
        <p:spPr>
          <a:xfrm>
            <a:off x="4973039" y="5341703"/>
            <a:ext cx="4004870" cy="88827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r"/>
            <a:endParaRPr lang="en-US" altLang="zh-CN" sz="2000" b="1" dirty="0">
              <a:solidFill>
                <a:srgbClr val="000000"/>
              </a:solidFill>
            </a:endParaRPr>
          </a:p>
          <a:p>
            <a:pPr lvl="0" algn="r"/>
            <a:r>
              <a:rPr lang="zh-CN" altLang="en-US" sz="2000" b="1" dirty="0">
                <a:solidFill>
                  <a:srgbClr val="000000"/>
                </a:solidFill>
              </a:rPr>
              <a:t>存储器</a:t>
            </a:r>
          </a:p>
        </p:txBody>
      </p:sp>
      <p:cxnSp>
        <p:nvCxnSpPr>
          <p:cNvPr id="38" name="直接箭头连接符 37"/>
          <p:cNvCxnSpPr/>
          <p:nvPr/>
        </p:nvCxnSpPr>
        <p:spPr>
          <a:xfrm>
            <a:off x="5579712" y="4780508"/>
            <a:ext cx="0" cy="561195"/>
          </a:xfrm>
          <a:prstGeom prst="straightConnector1">
            <a:avLst/>
          </a:prstGeom>
          <a:ln w="2857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8269572" y="4780508"/>
            <a:ext cx="0" cy="561195"/>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6957690" y="4780508"/>
            <a:ext cx="0" cy="56119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3" name="文本占位符 2"/>
          <p:cNvSpPr txBox="1">
            <a:spLocks/>
          </p:cNvSpPr>
          <p:nvPr/>
        </p:nvSpPr>
        <p:spPr bwMode="auto">
          <a:xfrm>
            <a:off x="4712444" y="4400514"/>
            <a:ext cx="1842168" cy="3640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marL="0" indent="0" algn="l" rtl="0" fontAlgn="base">
              <a:spcBef>
                <a:spcPct val="20000"/>
              </a:spcBef>
              <a:spcAft>
                <a:spcPct val="0"/>
              </a:spcAft>
              <a:buNone/>
              <a:defRPr sz="2400" b="1">
                <a:solidFill>
                  <a:schemeClr val="tx1"/>
                </a:solidFill>
                <a:latin typeface="+mn-lt"/>
                <a:ea typeface="+mn-ea"/>
                <a:cs typeface="+mn-cs"/>
              </a:defRPr>
            </a:lvl1pPr>
            <a:lvl2pPr marL="457200" indent="0" algn="l" rtl="0" fontAlgn="base">
              <a:spcBef>
                <a:spcPct val="20000"/>
              </a:spcBef>
              <a:spcAft>
                <a:spcPct val="0"/>
              </a:spcAft>
              <a:buNone/>
              <a:defRPr sz="2000" b="1">
                <a:solidFill>
                  <a:schemeClr val="tx1"/>
                </a:solidFill>
                <a:latin typeface="+mn-lt"/>
                <a:ea typeface="+mn-ea"/>
              </a:defRPr>
            </a:lvl2pPr>
            <a:lvl3pPr marL="914400" indent="0" algn="l" rtl="0" fontAlgn="base">
              <a:spcBef>
                <a:spcPct val="20000"/>
              </a:spcBef>
              <a:spcAft>
                <a:spcPct val="0"/>
              </a:spcAft>
              <a:buNone/>
              <a:defRPr sz="1800" b="1">
                <a:solidFill>
                  <a:schemeClr val="tx1"/>
                </a:solidFill>
                <a:latin typeface="+mn-lt"/>
                <a:ea typeface="+mn-ea"/>
              </a:defRPr>
            </a:lvl3pPr>
            <a:lvl4pPr marL="1371600" indent="0" algn="l" rtl="0" fontAlgn="base">
              <a:spcBef>
                <a:spcPct val="20000"/>
              </a:spcBef>
              <a:spcAft>
                <a:spcPct val="0"/>
              </a:spcAft>
              <a:buNone/>
              <a:defRPr sz="1600" b="1">
                <a:solidFill>
                  <a:schemeClr val="tx1"/>
                </a:solidFill>
                <a:latin typeface="+mn-lt"/>
                <a:ea typeface="+mn-ea"/>
              </a:defRPr>
            </a:lvl4pPr>
            <a:lvl5pPr marL="1828800" indent="0" algn="l" rtl="0" fontAlgn="base">
              <a:spcBef>
                <a:spcPct val="20000"/>
              </a:spcBef>
              <a:spcAft>
                <a:spcPct val="0"/>
              </a:spcAft>
              <a:buNone/>
              <a:defRPr sz="1600" b="1">
                <a:solidFill>
                  <a:schemeClr val="tx1"/>
                </a:solidFill>
                <a:latin typeface="+mn-lt"/>
                <a:ea typeface="+mn-ea"/>
              </a:defRPr>
            </a:lvl5pPr>
            <a:lvl6pPr marL="2286000" indent="0" algn="l" rtl="0" fontAlgn="base">
              <a:spcBef>
                <a:spcPct val="20000"/>
              </a:spcBef>
              <a:spcAft>
                <a:spcPct val="0"/>
              </a:spcAft>
              <a:buNone/>
              <a:defRPr sz="1600" b="1">
                <a:solidFill>
                  <a:schemeClr val="tx1"/>
                </a:solidFill>
                <a:latin typeface="+mn-lt"/>
                <a:ea typeface="+mn-ea"/>
              </a:defRPr>
            </a:lvl6pPr>
            <a:lvl7pPr marL="2743200" indent="0" algn="l" rtl="0" fontAlgn="base">
              <a:spcBef>
                <a:spcPct val="20000"/>
              </a:spcBef>
              <a:spcAft>
                <a:spcPct val="0"/>
              </a:spcAft>
              <a:buNone/>
              <a:defRPr sz="1600" b="1">
                <a:solidFill>
                  <a:schemeClr val="tx1"/>
                </a:solidFill>
                <a:latin typeface="+mn-lt"/>
                <a:ea typeface="+mn-ea"/>
              </a:defRPr>
            </a:lvl7pPr>
            <a:lvl8pPr marL="3200400" indent="0" algn="l" rtl="0" fontAlgn="base">
              <a:spcBef>
                <a:spcPct val="20000"/>
              </a:spcBef>
              <a:spcAft>
                <a:spcPct val="0"/>
              </a:spcAft>
              <a:buNone/>
              <a:defRPr sz="1600" b="1">
                <a:solidFill>
                  <a:schemeClr val="tx1"/>
                </a:solidFill>
                <a:latin typeface="+mn-lt"/>
                <a:ea typeface="+mn-ea"/>
              </a:defRPr>
            </a:lvl8pPr>
            <a:lvl9pPr marL="3657600" indent="0" algn="l" rtl="0" fontAlgn="base">
              <a:spcBef>
                <a:spcPct val="20000"/>
              </a:spcBef>
              <a:spcAft>
                <a:spcPct val="0"/>
              </a:spcAft>
              <a:buNone/>
              <a:defRPr sz="1600" b="1">
                <a:solidFill>
                  <a:schemeClr val="tx1"/>
                </a:solidFill>
                <a:latin typeface="+mn-lt"/>
                <a:ea typeface="+mn-ea"/>
              </a:defRPr>
            </a:lvl9pPr>
          </a:lstStyle>
          <a:p>
            <a:r>
              <a:rPr lang="zh-CN" altLang="en-US" sz="1800" kern="0" dirty="0">
                <a:solidFill>
                  <a:srgbClr val="3333FF"/>
                </a:solidFill>
              </a:rPr>
              <a:t>指令（读、写）</a:t>
            </a:r>
          </a:p>
        </p:txBody>
      </p:sp>
      <p:sp>
        <p:nvSpPr>
          <p:cNvPr id="44" name="文本占位符 2"/>
          <p:cNvSpPr txBox="1">
            <a:spLocks/>
          </p:cNvSpPr>
          <p:nvPr/>
        </p:nvSpPr>
        <p:spPr bwMode="auto">
          <a:xfrm>
            <a:off x="6527537" y="4384583"/>
            <a:ext cx="860305" cy="3640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a:r>
              <a:rPr lang="zh-CN" altLang="en-US" sz="1800" kern="0" dirty="0">
                <a:solidFill>
                  <a:srgbClr val="00B050"/>
                </a:solidFill>
                <a:ea typeface="SimHei" panose="02010609060101010101" pitchFamily="49" charset="-122"/>
              </a:rPr>
              <a:t>地址</a:t>
            </a:r>
          </a:p>
        </p:txBody>
      </p:sp>
      <p:sp>
        <p:nvSpPr>
          <p:cNvPr id="45" name="文本占位符 2"/>
          <p:cNvSpPr txBox="1">
            <a:spLocks/>
          </p:cNvSpPr>
          <p:nvPr/>
        </p:nvSpPr>
        <p:spPr bwMode="auto">
          <a:xfrm>
            <a:off x="7826495" y="4387538"/>
            <a:ext cx="860305" cy="3640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lgn="ctr"/>
            <a:r>
              <a:rPr lang="zh-CN" altLang="en-US" sz="1800" kern="0" dirty="0">
                <a:solidFill>
                  <a:srgbClr val="FF0000"/>
                </a:solidFill>
                <a:ea typeface="SimHei" panose="02010609060101010101" pitchFamily="49" charset="-122"/>
              </a:rPr>
              <a:t>数据</a:t>
            </a:r>
          </a:p>
        </p:txBody>
      </p:sp>
      <p:sp>
        <p:nvSpPr>
          <p:cNvPr id="26" name="标题 25">
            <a:extLst>
              <a:ext uri="{FF2B5EF4-FFF2-40B4-BE49-F238E27FC236}">
                <a16:creationId xmlns:a16="http://schemas.microsoft.com/office/drawing/2014/main" id="{44D8E264-36AC-864F-88EA-9606BA72A33E}"/>
              </a:ext>
            </a:extLst>
          </p:cNvPr>
          <p:cNvSpPr>
            <a:spLocks noGrp="1"/>
          </p:cNvSpPr>
          <p:nvPr>
            <p:ph type="title"/>
          </p:nvPr>
        </p:nvSpPr>
        <p:spPr/>
        <p:txBody>
          <a:bodyPr/>
          <a:lstStyle/>
          <a:p>
            <a:r>
              <a:rPr lang="zh-CN" altLang="en-US" dirty="0"/>
              <a:t>寄存器 </a:t>
            </a:r>
            <a:r>
              <a:rPr lang="en" altLang="zh-CN" dirty="0"/>
              <a:t>vs. </a:t>
            </a:r>
            <a:r>
              <a:rPr lang="zh-CN" altLang="en-US" dirty="0"/>
              <a:t>存储器</a:t>
            </a:r>
          </a:p>
        </p:txBody>
      </p:sp>
      <p:sp>
        <p:nvSpPr>
          <p:cNvPr id="2" name="灯片编号占位符 3">
            <a:extLst>
              <a:ext uri="{FF2B5EF4-FFF2-40B4-BE49-F238E27FC236}">
                <a16:creationId xmlns:a16="http://schemas.microsoft.com/office/drawing/2014/main" id="{7818820F-0F6F-DC51-AAD7-D353CBDFC73B}"/>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5</a:t>
            </a:fld>
            <a:endParaRPr lang="en-US" altLang="zh-CN" dirty="0"/>
          </a:p>
        </p:txBody>
      </p:sp>
    </p:spTree>
    <p:extLst>
      <p:ext uri="{BB962C8B-B14F-4D97-AF65-F5344CB8AC3E}">
        <p14:creationId xmlns:p14="http://schemas.microsoft.com/office/powerpoint/2010/main" val="20610356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242CD2-2A3D-BF44-845C-ECD9B64645B3}"/>
              </a:ext>
            </a:extLst>
          </p:cNvPr>
          <p:cNvSpPr>
            <a:spLocks noGrp="1"/>
          </p:cNvSpPr>
          <p:nvPr>
            <p:ph type="title"/>
          </p:nvPr>
        </p:nvSpPr>
        <p:spPr/>
        <p:txBody>
          <a:bodyPr/>
          <a:lstStyle/>
          <a:p>
            <a:r>
              <a:rPr kumimoji="1" lang="zh-CN" altLang="en-US" dirty="0"/>
              <a:t>指令格式总结</a:t>
            </a:r>
          </a:p>
        </p:txBody>
      </p:sp>
      <p:sp>
        <p:nvSpPr>
          <p:cNvPr id="3" name="内容占位符 2">
            <a:extLst>
              <a:ext uri="{FF2B5EF4-FFF2-40B4-BE49-F238E27FC236}">
                <a16:creationId xmlns:a16="http://schemas.microsoft.com/office/drawing/2014/main" id="{3AFC4F65-1FCA-804D-8269-063EA4B14306}"/>
              </a:ext>
            </a:extLst>
          </p:cNvPr>
          <p:cNvSpPr>
            <a:spLocks noGrp="1"/>
          </p:cNvSpPr>
          <p:nvPr>
            <p:ph idx="1"/>
          </p:nvPr>
        </p:nvSpPr>
        <p:spPr>
          <a:xfrm>
            <a:off x="457200" y="1392378"/>
            <a:ext cx="8392886" cy="4525963"/>
          </a:xfrm>
        </p:spPr>
        <p:txBody>
          <a:bodyPr/>
          <a:lstStyle/>
          <a:p>
            <a:r>
              <a:rPr kumimoji="1" lang="zh-CN" altLang="en-US" sz="2800" dirty="0"/>
              <a:t>常见指令含义需记住，</a:t>
            </a:r>
            <a:r>
              <a:rPr kumimoji="1" lang="en-US" altLang="zh-CN" sz="2800" dirty="0"/>
              <a:t>opcode/</a:t>
            </a:r>
            <a:r>
              <a:rPr kumimoji="1" lang="en-US" altLang="zh-CN" sz="2800" dirty="0" err="1"/>
              <a:t>funct</a:t>
            </a:r>
            <a:r>
              <a:rPr kumimoji="1" lang="zh-CN" altLang="en-US" sz="2800" dirty="0"/>
              <a:t>考试时会提供，无需记忆</a:t>
            </a:r>
            <a:endParaRPr kumimoji="1" lang="en-US" altLang="zh-CN" sz="2800" dirty="0"/>
          </a:p>
          <a:p>
            <a:r>
              <a:rPr kumimoji="1" lang="en-US" altLang="zh-CN" sz="2800" dirty="0"/>
              <a:t>I</a:t>
            </a:r>
            <a:r>
              <a:rPr kumimoji="1" lang="zh-CN" altLang="en-US" sz="2800" dirty="0"/>
              <a:t>型：用于有立即数的指令：</a:t>
            </a:r>
            <a:r>
              <a:rPr kumimoji="1" lang="en-US" altLang="zh-CN" sz="2800" dirty="0" err="1"/>
              <a:t>lw</a:t>
            </a:r>
            <a:r>
              <a:rPr kumimoji="1" lang="zh-CN" altLang="en-US" sz="2800" dirty="0"/>
              <a:t> </a:t>
            </a:r>
            <a:r>
              <a:rPr kumimoji="1" lang="en-US" altLang="zh-CN" sz="2800" dirty="0" err="1"/>
              <a:t>sw</a:t>
            </a:r>
            <a:r>
              <a:rPr kumimoji="1" lang="zh-CN" altLang="en-US" sz="2800" dirty="0"/>
              <a:t> </a:t>
            </a:r>
            <a:r>
              <a:rPr kumimoji="1" lang="en-US" altLang="zh-CN" sz="2800" dirty="0" err="1"/>
              <a:t>beq</a:t>
            </a:r>
            <a:r>
              <a:rPr kumimoji="1" lang="zh-CN" altLang="en-US" sz="2800" dirty="0"/>
              <a:t> </a:t>
            </a:r>
            <a:r>
              <a:rPr kumimoji="1" lang="en-US" altLang="zh-CN" sz="2800" dirty="0" err="1"/>
              <a:t>bne</a:t>
            </a:r>
            <a:endParaRPr kumimoji="1" lang="en-US" altLang="zh-CN" sz="2800" dirty="0"/>
          </a:p>
          <a:p>
            <a:pPr lvl="1"/>
            <a:r>
              <a:rPr kumimoji="1" lang="en-US" altLang="zh-CN" sz="2400" dirty="0" err="1"/>
              <a:t>lw</a:t>
            </a:r>
            <a:r>
              <a:rPr kumimoji="1" lang="en-US" altLang="zh-CN" sz="2400" dirty="0"/>
              <a:t>/</a:t>
            </a:r>
            <a:r>
              <a:rPr kumimoji="1" lang="en-US" altLang="zh-CN" sz="2400" dirty="0" err="1"/>
              <a:t>sw</a:t>
            </a:r>
            <a:r>
              <a:rPr kumimoji="1" lang="en-US" altLang="zh-CN" sz="2400" dirty="0"/>
              <a:t>:</a:t>
            </a:r>
            <a:r>
              <a:rPr kumimoji="1" lang="zh-CN" altLang="en-US" sz="2400" dirty="0"/>
              <a:t> </a:t>
            </a:r>
            <a:r>
              <a:rPr kumimoji="1" lang="en-US" altLang="zh-CN" sz="2400" dirty="0"/>
              <a:t>load</a:t>
            </a:r>
            <a:r>
              <a:rPr kumimoji="1" lang="zh-CN" altLang="en-US" sz="2400" dirty="0"/>
              <a:t> </a:t>
            </a:r>
            <a:r>
              <a:rPr kumimoji="1" lang="en-US" altLang="zh-CN" sz="2400" dirty="0"/>
              <a:t>word;</a:t>
            </a:r>
            <a:r>
              <a:rPr kumimoji="1" lang="zh-CN" altLang="en-US" sz="2400" dirty="0"/>
              <a:t> </a:t>
            </a:r>
            <a:r>
              <a:rPr kumimoji="1" lang="en-US" altLang="zh-CN" sz="2400" dirty="0"/>
              <a:t>store</a:t>
            </a:r>
            <a:r>
              <a:rPr kumimoji="1" lang="zh-CN" altLang="en-US" sz="2400" dirty="0"/>
              <a:t> </a:t>
            </a:r>
            <a:r>
              <a:rPr kumimoji="1" lang="en-US" altLang="zh-CN" sz="2400" dirty="0"/>
              <a:t>word</a:t>
            </a:r>
          </a:p>
          <a:p>
            <a:pPr lvl="1"/>
            <a:r>
              <a:rPr kumimoji="1" lang="en-US" altLang="zh-CN" sz="2400" dirty="0" err="1"/>
              <a:t>beq</a:t>
            </a:r>
            <a:r>
              <a:rPr kumimoji="1" lang="en-US" altLang="zh-CN" sz="2400" dirty="0"/>
              <a:t>/</a:t>
            </a:r>
            <a:r>
              <a:rPr kumimoji="1" lang="en-US" altLang="zh-CN" sz="2400" dirty="0" err="1"/>
              <a:t>bne</a:t>
            </a:r>
            <a:r>
              <a:rPr kumimoji="1" lang="en-US" altLang="zh-CN" sz="2400" dirty="0"/>
              <a:t>:</a:t>
            </a:r>
            <a:r>
              <a:rPr kumimoji="1" lang="zh-CN" altLang="en-US" sz="2400" dirty="0"/>
              <a:t> </a:t>
            </a:r>
            <a:r>
              <a:rPr kumimoji="1" lang="en-US" altLang="zh-CN" sz="2400" dirty="0"/>
              <a:t>branch</a:t>
            </a:r>
            <a:r>
              <a:rPr kumimoji="1" lang="zh-CN" altLang="en-US" sz="2400" dirty="0"/>
              <a:t> </a:t>
            </a:r>
            <a:r>
              <a:rPr kumimoji="1" lang="en-US" altLang="zh-CN" sz="2400" dirty="0"/>
              <a:t>on</a:t>
            </a:r>
            <a:r>
              <a:rPr kumimoji="1" lang="zh-CN" altLang="en-US" sz="2400" dirty="0"/>
              <a:t> </a:t>
            </a:r>
            <a:r>
              <a:rPr kumimoji="1" lang="en-US" altLang="zh-CN" sz="2400" dirty="0"/>
              <a:t>equal;</a:t>
            </a:r>
            <a:r>
              <a:rPr kumimoji="1" lang="zh-CN" altLang="en-US" sz="2400" dirty="0"/>
              <a:t> </a:t>
            </a:r>
            <a:r>
              <a:rPr kumimoji="1" lang="en-US" altLang="zh-CN" sz="2400" dirty="0"/>
              <a:t>branch</a:t>
            </a:r>
            <a:r>
              <a:rPr kumimoji="1" lang="zh-CN" altLang="en-US" sz="2400" dirty="0"/>
              <a:t> </a:t>
            </a:r>
            <a:r>
              <a:rPr kumimoji="1" lang="en-US" altLang="zh-CN" sz="2400" dirty="0"/>
              <a:t>on</a:t>
            </a:r>
            <a:r>
              <a:rPr kumimoji="1" lang="zh-CN" altLang="en-US" sz="2400" dirty="0"/>
              <a:t> </a:t>
            </a:r>
            <a:r>
              <a:rPr kumimoji="1" lang="en-US" altLang="zh-CN" sz="2400" dirty="0"/>
              <a:t>not</a:t>
            </a:r>
            <a:r>
              <a:rPr kumimoji="1" lang="zh-CN" altLang="en-US" sz="2400" dirty="0"/>
              <a:t> </a:t>
            </a:r>
            <a:r>
              <a:rPr kumimoji="1" lang="en-US" altLang="zh-CN" sz="2400" dirty="0"/>
              <a:t>equal</a:t>
            </a:r>
          </a:p>
          <a:p>
            <a:pPr lvl="1"/>
            <a:r>
              <a:rPr kumimoji="1" lang="en-US" altLang="zh-CN" sz="2400" dirty="0"/>
              <a:t>opcode:</a:t>
            </a:r>
            <a:r>
              <a:rPr kumimoji="1" lang="zh-CN" altLang="en-US" sz="2400" dirty="0"/>
              <a:t> 除</a:t>
            </a:r>
            <a:r>
              <a:rPr kumimoji="1" lang="en-US" altLang="zh-CN" sz="2400" dirty="0"/>
              <a:t>000000,</a:t>
            </a:r>
            <a:r>
              <a:rPr kumimoji="1" lang="zh-CN" altLang="en-US" sz="2400" dirty="0"/>
              <a:t> </a:t>
            </a:r>
            <a:r>
              <a:rPr kumimoji="1" lang="en-US" altLang="zh-CN" sz="2400" dirty="0"/>
              <a:t>00001x,</a:t>
            </a:r>
            <a:r>
              <a:rPr kumimoji="1" lang="zh-CN" altLang="en-US" sz="2400" dirty="0"/>
              <a:t> </a:t>
            </a:r>
            <a:r>
              <a:rPr kumimoji="1" lang="en-US" altLang="zh-CN" sz="2400" dirty="0"/>
              <a:t>0100xx</a:t>
            </a:r>
            <a:r>
              <a:rPr kumimoji="1" lang="zh-CN" altLang="en-US" sz="2400" dirty="0"/>
              <a:t>外</a:t>
            </a:r>
            <a:endParaRPr kumimoji="1" lang="en-US" altLang="zh-CN" sz="2400" dirty="0"/>
          </a:p>
          <a:p>
            <a:r>
              <a:rPr kumimoji="1" lang="en-US" altLang="zh-CN" sz="2800" dirty="0"/>
              <a:t>J</a:t>
            </a:r>
            <a:r>
              <a:rPr kumimoji="1" lang="zh-CN" altLang="en-US" sz="2800" dirty="0"/>
              <a:t>型：用于跳转，</a:t>
            </a:r>
            <a:r>
              <a:rPr kumimoji="1" lang="en-US" altLang="zh-CN" sz="2800" dirty="0"/>
              <a:t>j,</a:t>
            </a:r>
            <a:r>
              <a:rPr kumimoji="1" lang="zh-CN" altLang="en-US" sz="2800" dirty="0"/>
              <a:t> </a:t>
            </a:r>
            <a:r>
              <a:rPr kumimoji="1" lang="en-US" altLang="zh-CN" sz="2800" dirty="0" err="1"/>
              <a:t>jal</a:t>
            </a:r>
            <a:endParaRPr kumimoji="1" lang="en-US" altLang="zh-CN" sz="2800" dirty="0"/>
          </a:p>
          <a:p>
            <a:pPr lvl="1"/>
            <a:r>
              <a:rPr kumimoji="1" lang="en-US" altLang="zh-CN" sz="2400" dirty="0"/>
              <a:t>j:</a:t>
            </a:r>
            <a:r>
              <a:rPr kumimoji="1" lang="zh-CN" altLang="en-US" sz="2400" dirty="0"/>
              <a:t> </a:t>
            </a:r>
            <a:r>
              <a:rPr kumimoji="1" lang="en-US" altLang="zh-CN" sz="2400" dirty="0"/>
              <a:t>jump;</a:t>
            </a:r>
            <a:r>
              <a:rPr kumimoji="1" lang="zh-CN" altLang="en-US" sz="2400" dirty="0"/>
              <a:t> </a:t>
            </a:r>
            <a:r>
              <a:rPr kumimoji="1" lang="en-US" altLang="zh-CN" sz="2400" dirty="0" err="1"/>
              <a:t>jal</a:t>
            </a:r>
            <a:r>
              <a:rPr kumimoji="1" lang="en-US" altLang="zh-CN" sz="2400" dirty="0"/>
              <a:t>:</a:t>
            </a:r>
            <a:r>
              <a:rPr kumimoji="1" lang="zh-CN" altLang="en-US" sz="2400" dirty="0"/>
              <a:t> </a:t>
            </a:r>
            <a:r>
              <a:rPr kumimoji="1" lang="en-US" altLang="zh-CN" sz="2400" dirty="0"/>
              <a:t>jump</a:t>
            </a:r>
            <a:r>
              <a:rPr kumimoji="1" lang="zh-CN" altLang="en-US" sz="2400" dirty="0"/>
              <a:t> </a:t>
            </a:r>
            <a:r>
              <a:rPr kumimoji="1" lang="en-US" altLang="zh-CN" sz="2400" dirty="0"/>
              <a:t>and</a:t>
            </a:r>
            <a:r>
              <a:rPr kumimoji="1" lang="zh-CN" altLang="en-US" sz="2400" dirty="0"/>
              <a:t> </a:t>
            </a:r>
            <a:r>
              <a:rPr kumimoji="1" lang="en-US" altLang="zh-CN" sz="2400" dirty="0"/>
              <a:t>link;</a:t>
            </a:r>
          </a:p>
          <a:p>
            <a:pPr lvl="1"/>
            <a:r>
              <a:rPr kumimoji="1" lang="en-US" altLang="zh-CN" sz="2400" dirty="0"/>
              <a:t>opcode:</a:t>
            </a:r>
            <a:r>
              <a:rPr kumimoji="1" lang="zh-CN" altLang="en-US" sz="2400" dirty="0"/>
              <a:t> </a:t>
            </a:r>
            <a:r>
              <a:rPr kumimoji="1" lang="en-US" altLang="zh-CN" sz="2400" dirty="0"/>
              <a:t>000010,</a:t>
            </a:r>
            <a:r>
              <a:rPr kumimoji="1" lang="zh-CN" altLang="en-US" sz="2400" dirty="0"/>
              <a:t> </a:t>
            </a:r>
            <a:r>
              <a:rPr kumimoji="1" lang="en-US" altLang="zh-CN" sz="2400" dirty="0"/>
              <a:t>000011</a:t>
            </a:r>
          </a:p>
          <a:p>
            <a:r>
              <a:rPr kumimoji="1" lang="en-US" altLang="zh-CN" sz="2800" dirty="0"/>
              <a:t>R</a:t>
            </a:r>
            <a:r>
              <a:rPr kumimoji="1" lang="zh-CN" altLang="en-US" sz="2800" dirty="0"/>
              <a:t>型：所有其他指令</a:t>
            </a:r>
            <a:endParaRPr kumimoji="1" lang="en-US" altLang="zh-CN" sz="2800" dirty="0"/>
          </a:p>
          <a:p>
            <a:pPr lvl="1"/>
            <a:r>
              <a:rPr kumimoji="1" lang="en-US" altLang="zh-CN" sz="2400" dirty="0"/>
              <a:t>opcode:</a:t>
            </a:r>
            <a:r>
              <a:rPr kumimoji="1" lang="zh-CN" altLang="en-US" sz="2400" dirty="0"/>
              <a:t> </a:t>
            </a:r>
            <a:r>
              <a:rPr kumimoji="1" lang="en-US" altLang="zh-CN" sz="2400" dirty="0"/>
              <a:t>000000,</a:t>
            </a:r>
            <a:r>
              <a:rPr kumimoji="1" lang="zh-CN" altLang="en-US" sz="2400" dirty="0"/>
              <a:t> </a:t>
            </a:r>
            <a:r>
              <a:rPr kumimoji="1" lang="en-US" altLang="zh-CN" sz="2400" dirty="0" err="1">
                <a:solidFill>
                  <a:srgbClr val="FF0000"/>
                </a:solidFill>
              </a:rPr>
              <a:t>jr</a:t>
            </a:r>
            <a:r>
              <a:rPr kumimoji="1" lang="en-US" altLang="zh-CN" sz="2400" dirty="0">
                <a:solidFill>
                  <a:srgbClr val="FF0000"/>
                </a:solidFill>
              </a:rPr>
              <a:t>:</a:t>
            </a:r>
            <a:r>
              <a:rPr kumimoji="1" lang="zh-CN" altLang="en-US" sz="2400" dirty="0">
                <a:solidFill>
                  <a:srgbClr val="FF0000"/>
                </a:solidFill>
              </a:rPr>
              <a:t> </a:t>
            </a:r>
            <a:r>
              <a:rPr kumimoji="1" lang="en-US" altLang="zh-CN" sz="2400" dirty="0">
                <a:solidFill>
                  <a:srgbClr val="FF0000"/>
                </a:solidFill>
              </a:rPr>
              <a:t>jump</a:t>
            </a:r>
            <a:r>
              <a:rPr kumimoji="1" lang="zh-CN" altLang="en-US" sz="2400" dirty="0">
                <a:solidFill>
                  <a:srgbClr val="FF0000"/>
                </a:solidFill>
              </a:rPr>
              <a:t> </a:t>
            </a:r>
            <a:r>
              <a:rPr kumimoji="1" lang="en-US" altLang="zh-CN" sz="2400" dirty="0">
                <a:solidFill>
                  <a:srgbClr val="FF0000"/>
                </a:solidFill>
              </a:rPr>
              <a:t>register,</a:t>
            </a:r>
            <a:r>
              <a:rPr kumimoji="1" lang="zh-CN" altLang="en-US" sz="2400" dirty="0">
                <a:solidFill>
                  <a:srgbClr val="FF0000"/>
                </a:solidFill>
              </a:rPr>
              <a:t> </a:t>
            </a:r>
            <a:r>
              <a:rPr kumimoji="1" lang="en-US" altLang="zh-CN" sz="2400" dirty="0" err="1">
                <a:solidFill>
                  <a:srgbClr val="FF0000"/>
                </a:solidFill>
              </a:rPr>
              <a:t>srl</a:t>
            </a:r>
            <a:r>
              <a:rPr kumimoji="1" lang="en-US" altLang="zh-CN" sz="2400" dirty="0">
                <a:solidFill>
                  <a:srgbClr val="FF0000"/>
                </a:solidFill>
              </a:rPr>
              <a:t>,</a:t>
            </a:r>
            <a:r>
              <a:rPr kumimoji="1" lang="zh-CN" altLang="en-US" sz="2400" dirty="0">
                <a:solidFill>
                  <a:srgbClr val="FF0000"/>
                </a:solidFill>
              </a:rPr>
              <a:t> </a:t>
            </a:r>
            <a:r>
              <a:rPr kumimoji="1" lang="en-US" altLang="zh-CN" sz="2400" dirty="0" err="1">
                <a:solidFill>
                  <a:srgbClr val="FF0000"/>
                </a:solidFill>
              </a:rPr>
              <a:t>sll</a:t>
            </a:r>
            <a:r>
              <a:rPr kumimoji="1" lang="en-US" altLang="zh-CN" sz="2400" dirty="0">
                <a:solidFill>
                  <a:srgbClr val="FF0000"/>
                </a:solidFill>
              </a:rPr>
              <a:t>,</a:t>
            </a:r>
            <a:r>
              <a:rPr kumimoji="1" lang="zh-CN" altLang="en-US" sz="2400" dirty="0">
                <a:solidFill>
                  <a:srgbClr val="FF0000"/>
                </a:solidFill>
              </a:rPr>
              <a:t> </a:t>
            </a:r>
            <a:r>
              <a:rPr kumimoji="1" lang="en-US" altLang="zh-CN" sz="2400" dirty="0" err="1">
                <a:solidFill>
                  <a:srgbClr val="FF0000"/>
                </a:solidFill>
              </a:rPr>
              <a:t>sra</a:t>
            </a:r>
            <a:endParaRPr kumimoji="1" lang="en-US" altLang="zh-CN" sz="2400" dirty="0">
              <a:solidFill>
                <a:srgbClr val="FF0000"/>
              </a:solidFill>
            </a:endParaRPr>
          </a:p>
          <a:p>
            <a:endParaRPr kumimoji="1" lang="en-US" altLang="zh-CN" sz="2800" dirty="0"/>
          </a:p>
          <a:p>
            <a:endParaRPr kumimoji="1" lang="zh-CN" altLang="en-US" sz="2800" dirty="0"/>
          </a:p>
        </p:txBody>
      </p:sp>
      <p:sp>
        <p:nvSpPr>
          <p:cNvPr id="4" name="灯片编号占位符 3">
            <a:extLst>
              <a:ext uri="{FF2B5EF4-FFF2-40B4-BE49-F238E27FC236}">
                <a16:creationId xmlns:a16="http://schemas.microsoft.com/office/drawing/2014/main" id="{464390A9-4ED1-1445-A786-9ACE8FEE61B3}"/>
              </a:ext>
            </a:extLst>
          </p:cNvPr>
          <p:cNvSpPr>
            <a:spLocks noGrp="1"/>
          </p:cNvSpPr>
          <p:nvPr>
            <p:ph type="sldNum" sz="quarter" idx="12"/>
          </p:nvPr>
        </p:nvSpPr>
        <p:spPr/>
        <p:txBody>
          <a:bodyPr/>
          <a:lstStyle/>
          <a:p>
            <a:fld id="{14659731-6BD7-46E7-8D3C-2F3AC07E20B1}" type="slidenum">
              <a:rPr lang="en-US" altLang="zh-CN" smtClean="0"/>
              <a:pPr/>
              <a:t>6</a:t>
            </a:fld>
            <a:endParaRPr lang="en-US" altLang="zh-CN" dirty="0"/>
          </a:p>
        </p:txBody>
      </p:sp>
      <p:sp>
        <p:nvSpPr>
          <p:cNvPr id="5" name="圆角矩形 4">
            <a:extLst>
              <a:ext uri="{FF2B5EF4-FFF2-40B4-BE49-F238E27FC236}">
                <a16:creationId xmlns:a16="http://schemas.microsoft.com/office/drawing/2014/main" id="{9D887F10-519F-924C-8821-06A9A4836CFC}"/>
              </a:ext>
            </a:extLst>
          </p:cNvPr>
          <p:cNvSpPr/>
          <p:nvPr/>
        </p:nvSpPr>
        <p:spPr>
          <a:xfrm>
            <a:off x="5913830" y="5049978"/>
            <a:ext cx="2528586" cy="777217"/>
          </a:xfrm>
          <a:prstGeom prst="roundRect">
            <a:avLst/>
          </a:prstGeom>
        </p:spPr>
        <p:style>
          <a:lnRef idx="1">
            <a:schemeClr val="accent6"/>
          </a:lnRef>
          <a:fillRef idx="2">
            <a:schemeClr val="accent6"/>
          </a:fillRef>
          <a:effectRef idx="1">
            <a:schemeClr val="accent6"/>
          </a:effectRef>
          <a:fontRef idx="minor">
            <a:schemeClr val="dk1"/>
          </a:fontRef>
        </p:style>
        <p:txBody>
          <a:bodyPr lIns="0" rIns="0" rtlCol="0" anchor="ctr"/>
          <a:lstStyle/>
          <a:p>
            <a:pPr algn="ctr"/>
            <a:r>
              <a:rPr kumimoji="1" lang="en-US" altLang="zh-CN" sz="2400" dirty="0"/>
              <a:t>opcode:</a:t>
            </a:r>
            <a:r>
              <a:rPr kumimoji="1" lang="zh-CN" altLang="en-US" sz="2400" dirty="0"/>
              <a:t> 区分不同指令的关键</a:t>
            </a:r>
          </a:p>
        </p:txBody>
      </p:sp>
      <p:sp>
        <p:nvSpPr>
          <p:cNvPr id="6" name="文本框 5">
            <a:extLst>
              <a:ext uri="{FF2B5EF4-FFF2-40B4-BE49-F238E27FC236}">
                <a16:creationId xmlns:a16="http://schemas.microsoft.com/office/drawing/2014/main" id="{9CEA339D-1DF0-774E-968B-D0794FEB886E}"/>
              </a:ext>
            </a:extLst>
          </p:cNvPr>
          <p:cNvSpPr txBox="1"/>
          <p:nvPr/>
        </p:nvSpPr>
        <p:spPr>
          <a:xfrm>
            <a:off x="208344" y="299851"/>
            <a:ext cx="1828800" cy="646331"/>
          </a:xfrm>
          <a:prstGeom prst="rect">
            <a:avLst/>
          </a:prstGeom>
          <a:noFill/>
        </p:spPr>
        <p:txBody>
          <a:bodyPr wrap="square" rtlCol="0">
            <a:spAutoFit/>
          </a:bodyPr>
          <a:lstStyle/>
          <a:p>
            <a:r>
              <a:rPr kumimoji="1" lang="zh-CN" altLang="en-US" dirty="0">
                <a:solidFill>
                  <a:srgbClr val="FF0000"/>
                </a:solidFill>
                <a:ea typeface="SimHei" panose="02010609060101010101" pitchFamily="49" charset="-122"/>
              </a:rPr>
              <a:t>指令类型的判断需要掌握</a:t>
            </a:r>
          </a:p>
        </p:txBody>
      </p:sp>
    </p:spTree>
    <p:extLst>
      <p:ext uri="{BB962C8B-B14F-4D97-AF65-F5344CB8AC3E}">
        <p14:creationId xmlns:p14="http://schemas.microsoft.com/office/powerpoint/2010/main" val="1381891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6599B-1C99-704E-9E99-7BA4B8564F35}"/>
              </a:ext>
            </a:extLst>
          </p:cNvPr>
          <p:cNvSpPr>
            <a:spLocks noGrp="1"/>
          </p:cNvSpPr>
          <p:nvPr>
            <p:ph type="title"/>
          </p:nvPr>
        </p:nvSpPr>
        <p:spPr/>
        <p:txBody>
          <a:bodyPr/>
          <a:lstStyle/>
          <a:p>
            <a:r>
              <a:rPr kumimoji="1" lang="en-US" altLang="zh-CN" dirty="0"/>
              <a:t>MIPS</a:t>
            </a:r>
            <a:r>
              <a:rPr kumimoji="1" lang="zh-CN" altLang="en-US" dirty="0"/>
              <a:t>寻址方式总结</a:t>
            </a:r>
          </a:p>
        </p:txBody>
      </p:sp>
      <p:sp>
        <p:nvSpPr>
          <p:cNvPr id="3" name="内容占位符 2">
            <a:extLst>
              <a:ext uri="{FF2B5EF4-FFF2-40B4-BE49-F238E27FC236}">
                <a16:creationId xmlns:a16="http://schemas.microsoft.com/office/drawing/2014/main" id="{C1F4156F-38BD-264C-B7A9-FF57CBD0B236}"/>
              </a:ext>
            </a:extLst>
          </p:cNvPr>
          <p:cNvSpPr>
            <a:spLocks noGrp="1"/>
          </p:cNvSpPr>
          <p:nvPr>
            <p:ph idx="1"/>
          </p:nvPr>
        </p:nvSpPr>
        <p:spPr>
          <a:xfrm>
            <a:off x="548640" y="1525293"/>
            <a:ext cx="8229600" cy="4525963"/>
          </a:xfrm>
        </p:spPr>
        <p:txBody>
          <a:bodyPr/>
          <a:lstStyle/>
          <a:p>
            <a:r>
              <a:rPr kumimoji="1" lang="zh-CN" altLang="en-US" sz="2400" dirty="0"/>
              <a:t>寄存器寻址：找到对应的寄存器，从</a:t>
            </a:r>
            <a:r>
              <a:rPr kumimoji="1" lang="zh-CN" altLang="en-US" sz="2400" dirty="0">
                <a:solidFill>
                  <a:srgbClr val="C00000"/>
                </a:solidFill>
              </a:rPr>
              <a:t>寄存器</a:t>
            </a:r>
            <a:r>
              <a:rPr kumimoji="1" lang="zh-CN" altLang="en-US" sz="2400" dirty="0"/>
              <a:t>中取数</a:t>
            </a:r>
            <a:r>
              <a:rPr kumimoji="1" lang="en-US" altLang="zh-CN" sz="2400" dirty="0"/>
              <a:t>/</a:t>
            </a:r>
            <a:r>
              <a:rPr kumimoji="1" lang="zh-CN" altLang="en-US" sz="2400" dirty="0"/>
              <a:t>写数</a:t>
            </a:r>
            <a:endParaRPr kumimoji="1" lang="en-US" altLang="zh-CN" sz="2400" dirty="0"/>
          </a:p>
          <a:p>
            <a:endParaRPr kumimoji="1" lang="en-US" altLang="zh-CN" sz="2400" dirty="0"/>
          </a:p>
          <a:p>
            <a:r>
              <a:rPr kumimoji="1" lang="zh-CN" altLang="en-US" sz="2400" dirty="0"/>
              <a:t>立即数寻址：“访问”指令中的常数（</a:t>
            </a:r>
            <a:r>
              <a:rPr kumimoji="1" lang="zh-CN" altLang="en-US" sz="2400" dirty="0">
                <a:solidFill>
                  <a:srgbClr val="C00000"/>
                </a:solidFill>
              </a:rPr>
              <a:t>立即数</a:t>
            </a:r>
            <a:r>
              <a:rPr kumimoji="1" lang="zh-CN" altLang="en-US" sz="2400" dirty="0"/>
              <a:t>），无需访问存储器即可使用常数</a:t>
            </a:r>
            <a:endParaRPr kumimoji="1" lang="en-US" altLang="zh-CN" sz="2400" dirty="0"/>
          </a:p>
          <a:p>
            <a:endParaRPr kumimoji="1" lang="en-US" altLang="zh-CN" sz="2400" dirty="0"/>
          </a:p>
          <a:p>
            <a:r>
              <a:rPr kumimoji="1" lang="zh-CN" altLang="en-US" sz="2400" dirty="0"/>
              <a:t>基址或偏移寻址：指令中</a:t>
            </a:r>
            <a:r>
              <a:rPr kumimoji="1" lang="zh-CN" altLang="en-US" sz="2400" dirty="0">
                <a:solidFill>
                  <a:srgbClr val="C00000"/>
                </a:solidFill>
              </a:rPr>
              <a:t>基址寄存器</a:t>
            </a:r>
            <a:r>
              <a:rPr kumimoji="1" lang="zh-CN" altLang="en-US" sz="2400" dirty="0"/>
              <a:t>存储的基地址与指令中</a:t>
            </a:r>
            <a:r>
              <a:rPr kumimoji="1" lang="zh-CN" altLang="en-US" sz="2400" dirty="0">
                <a:solidFill>
                  <a:srgbClr val="C00000"/>
                </a:solidFill>
              </a:rPr>
              <a:t>立即数</a:t>
            </a:r>
            <a:r>
              <a:rPr kumimoji="1" lang="zh-CN" altLang="en-US" sz="2400" dirty="0"/>
              <a:t>的</a:t>
            </a:r>
            <a:r>
              <a:rPr kumimoji="1" lang="zh-CN" altLang="en-US" sz="2400" dirty="0">
                <a:solidFill>
                  <a:srgbClr val="C00000"/>
                </a:solidFill>
              </a:rPr>
              <a:t>和</a:t>
            </a:r>
            <a:r>
              <a:rPr kumimoji="1" lang="zh-CN" altLang="en-US" sz="2400" dirty="0"/>
              <a:t>是</a:t>
            </a:r>
            <a:r>
              <a:rPr kumimoji="1" lang="zh-CN" altLang="en-US" sz="2400" dirty="0">
                <a:solidFill>
                  <a:srgbClr val="C00000"/>
                </a:solidFill>
              </a:rPr>
              <a:t>存储器</a:t>
            </a:r>
            <a:r>
              <a:rPr kumimoji="1" lang="zh-CN" altLang="en-US" sz="2400" dirty="0"/>
              <a:t>中数据的地址</a:t>
            </a:r>
            <a:endParaRPr kumimoji="1" lang="en-US" altLang="zh-CN" sz="2400" dirty="0"/>
          </a:p>
          <a:p>
            <a:endParaRPr kumimoji="1" lang="en-US" altLang="zh-CN" sz="2400" dirty="0"/>
          </a:p>
          <a:p>
            <a:r>
              <a:rPr kumimoji="1" lang="en-US" altLang="zh-CN" sz="2400" dirty="0"/>
              <a:t>PC</a:t>
            </a:r>
            <a:r>
              <a:rPr kumimoji="1" lang="zh-CN" altLang="en-US" sz="2400" dirty="0"/>
              <a:t>相对寻址：</a:t>
            </a:r>
            <a:r>
              <a:rPr kumimoji="1" lang="en-US" altLang="zh-CN" sz="2400" dirty="0"/>
              <a:t> </a:t>
            </a:r>
            <a:r>
              <a:rPr kumimoji="1" lang="en-US" altLang="zh-CN" sz="2400" dirty="0" err="1"/>
              <a:t>PC_new</a:t>
            </a:r>
            <a:r>
              <a:rPr kumimoji="1" lang="zh-CN" altLang="en-US" sz="2400" dirty="0"/>
              <a:t> </a:t>
            </a:r>
            <a:r>
              <a:rPr kumimoji="1" lang="en-US" altLang="zh-CN" sz="2400" dirty="0"/>
              <a:t>=</a:t>
            </a:r>
            <a:r>
              <a:rPr kumimoji="1" lang="zh-CN" altLang="en-US" sz="2400" dirty="0"/>
              <a:t> </a:t>
            </a:r>
            <a:r>
              <a:rPr kumimoji="1" lang="en-US" altLang="zh-CN" sz="2400" dirty="0"/>
              <a:t>PC+4</a:t>
            </a:r>
            <a:r>
              <a:rPr kumimoji="1" lang="zh-CN" altLang="en-US" sz="2400" dirty="0"/>
              <a:t> </a:t>
            </a:r>
            <a:r>
              <a:rPr kumimoji="1" lang="en-US" altLang="zh-CN" sz="2400" dirty="0"/>
              <a:t>+</a:t>
            </a:r>
            <a:r>
              <a:rPr kumimoji="1" lang="zh-CN" altLang="en-US" sz="2400" dirty="0"/>
              <a:t> </a:t>
            </a:r>
            <a:r>
              <a:rPr kumimoji="1" lang="en-US" altLang="zh-CN" sz="2400" dirty="0"/>
              <a:t>(</a:t>
            </a:r>
            <a:r>
              <a:rPr kumimoji="1" lang="en-US" altLang="zh-CN" sz="2400" dirty="0" err="1"/>
              <a:t>Addr</a:t>
            </a:r>
            <a:r>
              <a:rPr kumimoji="1" lang="en-US" altLang="zh-CN" sz="2400" dirty="0"/>
              <a:t>&lt;&lt;2)</a:t>
            </a:r>
          </a:p>
          <a:p>
            <a:endParaRPr kumimoji="1" lang="en-US" altLang="zh-CN" sz="2400" dirty="0"/>
          </a:p>
          <a:p>
            <a:r>
              <a:rPr kumimoji="1" lang="zh-CN" altLang="en-US" sz="2400" dirty="0"/>
              <a:t>伪直接寻址：</a:t>
            </a:r>
            <a:r>
              <a:rPr kumimoji="1" lang="en-US" altLang="zh-CN" sz="2400" dirty="0"/>
              <a:t> </a:t>
            </a:r>
            <a:r>
              <a:rPr kumimoji="1" lang="en-US" altLang="zh-CN" sz="2400" dirty="0" err="1"/>
              <a:t>PC_new</a:t>
            </a:r>
            <a:r>
              <a:rPr kumimoji="1" lang="zh-CN" altLang="en-US" sz="2400" dirty="0"/>
              <a:t> </a:t>
            </a:r>
            <a:r>
              <a:rPr kumimoji="1" lang="en-US" altLang="zh-CN" sz="2400" dirty="0"/>
              <a:t>=</a:t>
            </a:r>
            <a:r>
              <a:rPr kumimoji="1" lang="zh-CN" altLang="en-US" sz="2400" dirty="0"/>
              <a:t> </a:t>
            </a:r>
            <a:r>
              <a:rPr kumimoji="1" lang="en-US" altLang="zh-CN" sz="2400" dirty="0"/>
              <a:t>{PC[31:28],</a:t>
            </a:r>
            <a:r>
              <a:rPr kumimoji="1" lang="zh-CN" altLang="en-US" sz="2400" dirty="0"/>
              <a:t> </a:t>
            </a:r>
            <a:r>
              <a:rPr kumimoji="1" lang="en-US" altLang="zh-CN" sz="2400" dirty="0" err="1"/>
              <a:t>target_addr</a:t>
            </a:r>
            <a:r>
              <a:rPr kumimoji="1" lang="en-US" altLang="zh-CN" sz="2400" dirty="0"/>
              <a:t>,</a:t>
            </a:r>
            <a:r>
              <a:rPr kumimoji="1" lang="zh-CN" altLang="en-US" sz="2400" dirty="0"/>
              <a:t> </a:t>
            </a:r>
            <a:r>
              <a:rPr kumimoji="1" lang="en-US" altLang="zh-CN" sz="2400" dirty="0"/>
              <a:t>00}</a:t>
            </a:r>
          </a:p>
          <a:p>
            <a:endParaRPr kumimoji="1" lang="zh-CN" altLang="en-US" sz="2400" dirty="0"/>
          </a:p>
        </p:txBody>
      </p:sp>
      <p:sp>
        <p:nvSpPr>
          <p:cNvPr id="4" name="灯片编号占位符 3">
            <a:extLst>
              <a:ext uri="{FF2B5EF4-FFF2-40B4-BE49-F238E27FC236}">
                <a16:creationId xmlns:a16="http://schemas.microsoft.com/office/drawing/2014/main" id="{6AAA9BB5-71EF-8B4F-BCB7-D1223617A1D4}"/>
              </a:ext>
            </a:extLst>
          </p:cNvPr>
          <p:cNvSpPr>
            <a:spLocks noGrp="1"/>
          </p:cNvSpPr>
          <p:nvPr>
            <p:ph type="sldNum" sz="quarter" idx="12"/>
          </p:nvPr>
        </p:nvSpPr>
        <p:spPr/>
        <p:txBody>
          <a:bodyPr/>
          <a:lstStyle/>
          <a:p>
            <a:fld id="{14659731-6BD7-46E7-8D3C-2F3AC07E20B1}" type="slidenum">
              <a:rPr lang="en-US" altLang="zh-CN" smtClean="0"/>
              <a:pPr/>
              <a:t>7</a:t>
            </a:fld>
            <a:endParaRPr lang="en-US" altLang="zh-CN"/>
          </a:p>
        </p:txBody>
      </p:sp>
      <p:sp>
        <p:nvSpPr>
          <p:cNvPr id="5" name="文本框 4">
            <a:extLst>
              <a:ext uri="{FF2B5EF4-FFF2-40B4-BE49-F238E27FC236}">
                <a16:creationId xmlns:a16="http://schemas.microsoft.com/office/drawing/2014/main" id="{16BA6FA0-CD02-BA4C-9B1C-5C57BC6447A3}"/>
              </a:ext>
            </a:extLst>
          </p:cNvPr>
          <p:cNvSpPr txBox="1"/>
          <p:nvPr/>
        </p:nvSpPr>
        <p:spPr>
          <a:xfrm>
            <a:off x="162045" y="270768"/>
            <a:ext cx="1828800" cy="646331"/>
          </a:xfrm>
          <a:prstGeom prst="rect">
            <a:avLst/>
          </a:prstGeom>
          <a:noFill/>
        </p:spPr>
        <p:txBody>
          <a:bodyPr wrap="square" rtlCol="0">
            <a:spAutoFit/>
          </a:bodyPr>
          <a:lstStyle/>
          <a:p>
            <a:r>
              <a:rPr kumimoji="1" lang="zh-CN" altLang="en-US" dirty="0">
                <a:solidFill>
                  <a:srgbClr val="FF0000"/>
                </a:solidFill>
                <a:ea typeface="SimHei" panose="02010609060101010101" pitchFamily="49" charset="-122"/>
              </a:rPr>
              <a:t>指令和寻址方式的对应自行复习！</a:t>
            </a:r>
          </a:p>
        </p:txBody>
      </p:sp>
    </p:spTree>
    <p:extLst>
      <p:ext uri="{BB962C8B-B14F-4D97-AF65-F5344CB8AC3E}">
        <p14:creationId xmlns:p14="http://schemas.microsoft.com/office/powerpoint/2010/main" val="3579983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body" idx="1"/>
          </p:nvPr>
        </p:nvSpPr>
        <p:spPr/>
        <p:txBody>
          <a:bodyPr/>
          <a:lstStyle/>
          <a:p>
            <a:pPr hangingPunct="1">
              <a:defRPr/>
            </a:pPr>
            <a:r>
              <a:rPr lang="en-US" altLang="zh-CN" dirty="0"/>
              <a:t>MIPS</a:t>
            </a:r>
            <a:r>
              <a:rPr lang="zh-CN" altLang="en-US" dirty="0"/>
              <a:t>指令系统</a:t>
            </a:r>
            <a:endParaRPr lang="en-US" altLang="zh-CN" dirty="0"/>
          </a:p>
          <a:p>
            <a:pPr lvl="1">
              <a:defRPr/>
            </a:pPr>
            <a:r>
              <a:rPr lang="zh-CN" altLang="en-US" dirty="0"/>
              <a:t>数据处理指令</a:t>
            </a:r>
            <a:endParaRPr lang="en-US" altLang="zh-CN" dirty="0"/>
          </a:p>
          <a:p>
            <a:pPr lvl="1">
              <a:defRPr/>
            </a:pPr>
            <a:r>
              <a:rPr lang="zh-CN" altLang="en-US" dirty="0"/>
              <a:t>数据传送指令</a:t>
            </a:r>
            <a:endParaRPr lang="en-US" altLang="zh-CN" dirty="0"/>
          </a:p>
          <a:p>
            <a:pPr lvl="1">
              <a:defRPr/>
            </a:pPr>
            <a:r>
              <a:rPr lang="zh-CN" altLang="en-US" dirty="0"/>
              <a:t>分支与跳转指令</a:t>
            </a:r>
            <a:endParaRPr lang="en-US" altLang="zh-CN" dirty="0"/>
          </a:p>
          <a:p>
            <a:pPr marL="457200" lvl="1" indent="0">
              <a:buNone/>
              <a:defRPr/>
            </a:pPr>
            <a:r>
              <a:rPr lang="zh-CN" altLang="en-US" b="1" dirty="0">
                <a:solidFill>
                  <a:srgbClr val="FF0000"/>
                </a:solidFill>
              </a:rPr>
              <a:t>掌握指令的功能，重点对照指令类型和寻址方式部分进行复习</a:t>
            </a:r>
            <a:endParaRPr lang="en-US" altLang="zh-CN" b="1" dirty="0">
              <a:solidFill>
                <a:srgbClr val="FF0000"/>
              </a:solidFill>
            </a:endParaRPr>
          </a:p>
          <a:p>
            <a:pPr marL="457200" lvl="1" indent="0">
              <a:buNone/>
              <a:defRPr/>
            </a:pPr>
            <a:r>
              <a:rPr lang="zh-CN" altLang="en-US" dirty="0">
                <a:solidFill>
                  <a:srgbClr val="FF0000"/>
                </a:solidFill>
              </a:rPr>
              <a:t>要能根据需求，自己写出机器码；反之亦然。</a:t>
            </a:r>
            <a:endParaRPr lang="en-US" altLang="zh-CN" b="1" dirty="0">
              <a:solidFill>
                <a:srgbClr val="FF0000"/>
              </a:solidFill>
            </a:endParaRPr>
          </a:p>
        </p:txBody>
      </p:sp>
      <p:sp>
        <p:nvSpPr>
          <p:cNvPr id="45059" name="Rectangle 4"/>
          <p:cNvSpPr>
            <a:spLocks noGrp="1" noChangeArrowheads="1"/>
          </p:cNvSpPr>
          <p:nvPr>
            <p:ph type="title"/>
          </p:nvPr>
        </p:nvSpPr>
        <p:spPr/>
        <p:txBody>
          <a:bodyPr/>
          <a:lstStyle/>
          <a:p>
            <a:pPr eaLnBrk="1" hangingPunct="1"/>
            <a:r>
              <a:rPr lang="zh-CN" altLang="en-US" kern="1200" dirty="0">
                <a:cs typeface="+mn-cs"/>
              </a:rPr>
              <a:t>计算机指令系统</a:t>
            </a:r>
          </a:p>
        </p:txBody>
      </p:sp>
      <p:sp>
        <p:nvSpPr>
          <p:cNvPr id="4" name="灯片编号占位符 3">
            <a:extLst>
              <a:ext uri="{FF2B5EF4-FFF2-40B4-BE49-F238E27FC236}">
                <a16:creationId xmlns:a16="http://schemas.microsoft.com/office/drawing/2014/main" id="{F11235C7-AFB7-7A41-8F4F-DFE2F5DD842D}"/>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8</a:t>
            </a:fld>
            <a:endParaRPr lang="en-US" altLang="zh-CN"/>
          </a:p>
        </p:txBody>
      </p:sp>
    </p:spTree>
    <p:extLst>
      <p:ext uri="{BB962C8B-B14F-4D97-AF65-F5344CB8AC3E}">
        <p14:creationId xmlns:p14="http://schemas.microsoft.com/office/powerpoint/2010/main" val="3235916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A434F0-1C63-3D4B-8463-3B3C532D48C9}"/>
              </a:ext>
            </a:extLst>
          </p:cNvPr>
          <p:cNvSpPr>
            <a:spLocks noGrp="1"/>
          </p:cNvSpPr>
          <p:nvPr>
            <p:ph type="title"/>
          </p:nvPr>
        </p:nvSpPr>
        <p:spPr/>
        <p:txBody>
          <a:bodyPr/>
          <a:lstStyle/>
          <a:p>
            <a:r>
              <a:rPr kumimoji="1" lang="zh-CN" altLang="en-US" dirty="0"/>
              <a:t>汇编程序设计</a:t>
            </a:r>
          </a:p>
        </p:txBody>
      </p:sp>
      <p:sp>
        <p:nvSpPr>
          <p:cNvPr id="3" name="内容占位符 2">
            <a:extLst>
              <a:ext uri="{FF2B5EF4-FFF2-40B4-BE49-F238E27FC236}">
                <a16:creationId xmlns:a16="http://schemas.microsoft.com/office/drawing/2014/main" id="{3417BA0F-5A62-694E-B10D-935F95C3CECE}"/>
              </a:ext>
            </a:extLst>
          </p:cNvPr>
          <p:cNvSpPr>
            <a:spLocks noGrp="1"/>
          </p:cNvSpPr>
          <p:nvPr>
            <p:ph idx="1"/>
          </p:nvPr>
        </p:nvSpPr>
        <p:spPr/>
        <p:txBody>
          <a:bodyPr/>
          <a:lstStyle/>
          <a:p>
            <a:r>
              <a:rPr lang="zh-CN" altLang="en-US" sz="2800" b="1" dirty="0"/>
              <a:t>汇编程序设计</a:t>
            </a:r>
            <a:endParaRPr lang="en-US" altLang="zh-CN" sz="2800" b="1" dirty="0"/>
          </a:p>
          <a:p>
            <a:pPr lvl="1"/>
            <a:r>
              <a:rPr lang="zh-CN" altLang="en-US" dirty="0"/>
              <a:t>基本程序结构</a:t>
            </a:r>
            <a:endParaRPr lang="en-US" altLang="zh-CN" dirty="0"/>
          </a:p>
          <a:p>
            <a:pPr lvl="1"/>
            <a:r>
              <a:rPr lang="zh-CN" altLang="en-US" dirty="0"/>
              <a:t>变量与数组</a:t>
            </a:r>
            <a:endParaRPr lang="en-US" altLang="zh-CN" dirty="0"/>
          </a:p>
          <a:p>
            <a:pPr marL="457200" lvl="1" indent="0">
              <a:buNone/>
            </a:pPr>
            <a:r>
              <a:rPr lang="zh-CN" altLang="en-US" b="1" dirty="0">
                <a:solidFill>
                  <a:srgbClr val="FF0000"/>
                </a:solidFill>
              </a:rPr>
              <a:t>根据代码判断功能，能够与</a:t>
            </a:r>
            <a:r>
              <a:rPr lang="en-US" altLang="zh-CN" b="1" dirty="0">
                <a:solidFill>
                  <a:srgbClr val="FF0000"/>
                </a:solidFill>
              </a:rPr>
              <a:t>C</a:t>
            </a:r>
            <a:r>
              <a:rPr lang="zh-CN" altLang="en-US" b="1" dirty="0">
                <a:solidFill>
                  <a:srgbClr val="FF0000"/>
                </a:solidFill>
              </a:rPr>
              <a:t>代码进行对应（能够补全、改正代码）</a:t>
            </a:r>
            <a:endParaRPr lang="en-US" altLang="zh-CN" b="1" dirty="0">
              <a:solidFill>
                <a:srgbClr val="FF0000"/>
              </a:solidFill>
            </a:endParaRPr>
          </a:p>
          <a:p>
            <a:pPr lvl="1"/>
            <a:r>
              <a:rPr lang="zh-CN" altLang="en-US" dirty="0"/>
              <a:t>过程调用</a:t>
            </a:r>
            <a:endParaRPr lang="en-US" altLang="zh-CN" dirty="0"/>
          </a:p>
          <a:p>
            <a:pPr marL="457200" lvl="1" indent="0">
              <a:buNone/>
            </a:pPr>
            <a:r>
              <a:rPr lang="zh-CN" altLang="en-US" b="1" dirty="0">
                <a:solidFill>
                  <a:srgbClr val="FF0000"/>
                </a:solidFill>
              </a:rPr>
              <a:t>定义，栈的构成，实现方式</a:t>
            </a:r>
            <a:endParaRPr kumimoji="1" lang="zh-CN" altLang="en-US" sz="2800" b="1" dirty="0">
              <a:solidFill>
                <a:srgbClr val="FF0000"/>
              </a:solidFill>
            </a:endParaRPr>
          </a:p>
        </p:txBody>
      </p:sp>
      <p:sp>
        <p:nvSpPr>
          <p:cNvPr id="4" name="灯片编号占位符 3">
            <a:extLst>
              <a:ext uri="{FF2B5EF4-FFF2-40B4-BE49-F238E27FC236}">
                <a16:creationId xmlns:a16="http://schemas.microsoft.com/office/drawing/2014/main" id="{FCE9EDDA-0EA2-444E-BF90-5531FD605306}"/>
              </a:ext>
            </a:extLst>
          </p:cNvPr>
          <p:cNvSpPr>
            <a:spLocks noGrp="1"/>
          </p:cNvSpPr>
          <p:nvPr>
            <p:ph type="sldNum" sz="quarter" idx="12"/>
          </p:nvPr>
        </p:nvSpPr>
        <p:spPr/>
        <p:txBody>
          <a:bodyPr/>
          <a:lstStyle/>
          <a:p>
            <a:fld id="{14659731-6BD7-46E7-8D3C-2F3AC07E20B1}" type="slidenum">
              <a:rPr lang="en-US" altLang="zh-CN" smtClean="0"/>
              <a:pPr/>
              <a:t>9</a:t>
            </a:fld>
            <a:endParaRPr lang="en-US" altLang="zh-CN"/>
          </a:p>
        </p:txBody>
      </p:sp>
    </p:spTree>
    <p:extLst>
      <p:ext uri="{BB962C8B-B14F-4D97-AF65-F5344CB8AC3E}">
        <p14:creationId xmlns:p14="http://schemas.microsoft.com/office/powerpoint/2010/main" val="332250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zh-CN" altLang="en-US" kern="1200" dirty="0">
                <a:cs typeface="+mn-cs"/>
              </a:rPr>
              <a:t>过程调用</a:t>
            </a:r>
          </a:p>
        </p:txBody>
      </p:sp>
      <p:sp>
        <p:nvSpPr>
          <p:cNvPr id="3" name="矩形 2"/>
          <p:cNvSpPr/>
          <p:nvPr/>
        </p:nvSpPr>
        <p:spPr>
          <a:xfrm>
            <a:off x="533400" y="4421695"/>
            <a:ext cx="1955800" cy="17811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rPr>
              <a:t>程序</a:t>
            </a:r>
            <a:r>
              <a:rPr lang="en-US" altLang="zh-CN" sz="2800" b="1" dirty="0">
                <a:solidFill>
                  <a:schemeClr val="tx1"/>
                </a:solidFill>
              </a:rPr>
              <a:t>A</a:t>
            </a:r>
          </a:p>
          <a:p>
            <a:r>
              <a:rPr lang="en-US" altLang="zh-CN" sz="2800" b="1" dirty="0">
                <a:solidFill>
                  <a:schemeClr val="tx1"/>
                </a:solidFill>
              </a:rPr>
              <a:t>      ……</a:t>
            </a:r>
          </a:p>
          <a:p>
            <a:r>
              <a:rPr lang="en-US" altLang="zh-CN" sz="2800" b="1" dirty="0">
                <a:solidFill>
                  <a:schemeClr val="tx1"/>
                </a:solidFill>
              </a:rPr>
              <a:t>      </a:t>
            </a:r>
            <a:r>
              <a:rPr lang="zh-CN" altLang="en-US" sz="2800" b="1" dirty="0">
                <a:solidFill>
                  <a:schemeClr val="tx1"/>
                </a:solidFill>
              </a:rPr>
              <a:t>程序</a:t>
            </a:r>
            <a:r>
              <a:rPr lang="en-US" altLang="zh-CN" sz="2800" b="1" dirty="0">
                <a:solidFill>
                  <a:schemeClr val="tx1"/>
                </a:solidFill>
              </a:rPr>
              <a:t>B</a:t>
            </a:r>
          </a:p>
          <a:p>
            <a:r>
              <a:rPr lang="en-US" altLang="zh-CN" sz="2800" b="1" dirty="0">
                <a:solidFill>
                  <a:schemeClr val="tx1"/>
                </a:solidFill>
              </a:rPr>
              <a:t>      ……</a:t>
            </a:r>
            <a:endParaRPr lang="zh-CN" altLang="en-US" sz="2800" b="1" dirty="0">
              <a:solidFill>
                <a:schemeClr val="tx1"/>
              </a:solidFill>
            </a:endParaRPr>
          </a:p>
        </p:txBody>
      </p:sp>
      <p:sp>
        <p:nvSpPr>
          <p:cNvPr id="6" name="矩形 5"/>
          <p:cNvSpPr/>
          <p:nvPr/>
        </p:nvSpPr>
        <p:spPr>
          <a:xfrm>
            <a:off x="3594100" y="4421694"/>
            <a:ext cx="1955800" cy="17811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rPr>
              <a:t>程序</a:t>
            </a:r>
            <a:r>
              <a:rPr lang="en-US" altLang="zh-CN" sz="2800" b="1" dirty="0">
                <a:solidFill>
                  <a:schemeClr val="tx1"/>
                </a:solidFill>
              </a:rPr>
              <a:t>B</a:t>
            </a:r>
          </a:p>
          <a:p>
            <a:r>
              <a:rPr lang="en-US" altLang="zh-CN" sz="2800" b="1" dirty="0">
                <a:solidFill>
                  <a:schemeClr val="tx1"/>
                </a:solidFill>
              </a:rPr>
              <a:t>      ……</a:t>
            </a:r>
          </a:p>
          <a:p>
            <a:r>
              <a:rPr lang="en-US" altLang="zh-CN" sz="2800" b="1" dirty="0">
                <a:solidFill>
                  <a:schemeClr val="tx1"/>
                </a:solidFill>
              </a:rPr>
              <a:t>      </a:t>
            </a:r>
            <a:r>
              <a:rPr lang="zh-CN" altLang="en-US" sz="2800" b="1" dirty="0">
                <a:solidFill>
                  <a:schemeClr val="tx1"/>
                </a:solidFill>
              </a:rPr>
              <a:t>程序</a:t>
            </a:r>
            <a:r>
              <a:rPr lang="en-US" altLang="zh-CN" sz="2800" b="1" dirty="0">
                <a:solidFill>
                  <a:schemeClr val="tx1"/>
                </a:solidFill>
              </a:rPr>
              <a:t>C</a:t>
            </a:r>
          </a:p>
          <a:p>
            <a:r>
              <a:rPr lang="en-US" altLang="zh-CN" sz="2800" b="1" dirty="0">
                <a:solidFill>
                  <a:schemeClr val="tx1"/>
                </a:solidFill>
              </a:rPr>
              <a:t>      ……</a:t>
            </a:r>
            <a:endParaRPr lang="zh-CN" altLang="en-US" sz="2800" b="1" dirty="0">
              <a:solidFill>
                <a:schemeClr val="tx1"/>
              </a:solidFill>
            </a:endParaRPr>
          </a:p>
        </p:txBody>
      </p:sp>
      <p:sp>
        <p:nvSpPr>
          <p:cNvPr id="7" name="矩形 6"/>
          <p:cNvSpPr/>
          <p:nvPr/>
        </p:nvSpPr>
        <p:spPr>
          <a:xfrm>
            <a:off x="6654800" y="4421693"/>
            <a:ext cx="1955800" cy="17811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rPr>
              <a:t>程序</a:t>
            </a:r>
            <a:r>
              <a:rPr lang="en-US" altLang="zh-CN" sz="2800" b="1" dirty="0">
                <a:solidFill>
                  <a:schemeClr val="tx1"/>
                </a:solidFill>
              </a:rPr>
              <a:t>C</a:t>
            </a:r>
          </a:p>
          <a:p>
            <a:r>
              <a:rPr lang="en-US" altLang="zh-CN" sz="2800" b="1" dirty="0">
                <a:solidFill>
                  <a:schemeClr val="tx1"/>
                </a:solidFill>
              </a:rPr>
              <a:t>      ……</a:t>
            </a:r>
          </a:p>
          <a:p>
            <a:r>
              <a:rPr lang="en-US" altLang="zh-CN" sz="2800" b="1" dirty="0">
                <a:solidFill>
                  <a:schemeClr val="tx1"/>
                </a:solidFill>
              </a:rPr>
              <a:t>      ……</a:t>
            </a:r>
          </a:p>
          <a:p>
            <a:r>
              <a:rPr lang="en-US" altLang="zh-CN" sz="2800" b="1" dirty="0">
                <a:solidFill>
                  <a:schemeClr val="tx1"/>
                </a:solidFill>
              </a:rPr>
              <a:t>      ……</a:t>
            </a:r>
            <a:endParaRPr lang="zh-CN" altLang="en-US" sz="2800" b="1" dirty="0">
              <a:solidFill>
                <a:schemeClr val="tx1"/>
              </a:solidFill>
            </a:endParaRPr>
          </a:p>
        </p:txBody>
      </p:sp>
      <p:sp>
        <p:nvSpPr>
          <p:cNvPr id="4" name="右箭头 3"/>
          <p:cNvSpPr/>
          <p:nvPr/>
        </p:nvSpPr>
        <p:spPr>
          <a:xfrm rot="19730721">
            <a:off x="2208667" y="4917055"/>
            <a:ext cx="1517973"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rot="19730721">
            <a:off x="5269367" y="4917054"/>
            <a:ext cx="1517973"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515382" y="5438680"/>
            <a:ext cx="1112671" cy="369332"/>
          </a:xfrm>
          <a:prstGeom prst="rect">
            <a:avLst/>
          </a:prstGeom>
          <a:noFill/>
        </p:spPr>
        <p:txBody>
          <a:bodyPr wrap="square" rtlCol="0">
            <a:spAutoFit/>
          </a:bodyPr>
          <a:lstStyle/>
          <a:p>
            <a:r>
              <a:rPr lang="zh-CN" altLang="en-US" dirty="0">
                <a:ea typeface="SimHei" panose="02010609060101010101" pitchFamily="49" charset="-122"/>
              </a:rPr>
              <a:t>过程调用</a:t>
            </a:r>
          </a:p>
        </p:txBody>
      </p:sp>
      <p:sp>
        <p:nvSpPr>
          <p:cNvPr id="11" name="文本框 10"/>
          <p:cNvSpPr txBox="1"/>
          <p:nvPr/>
        </p:nvSpPr>
        <p:spPr>
          <a:xfrm>
            <a:off x="5546015" y="5402625"/>
            <a:ext cx="1112671" cy="369332"/>
          </a:xfrm>
          <a:prstGeom prst="rect">
            <a:avLst/>
          </a:prstGeom>
          <a:noFill/>
        </p:spPr>
        <p:txBody>
          <a:bodyPr wrap="square" rtlCol="0">
            <a:spAutoFit/>
          </a:bodyPr>
          <a:lstStyle/>
          <a:p>
            <a:r>
              <a:rPr lang="zh-CN" altLang="en-US" dirty="0">
                <a:ea typeface="SimHei" panose="02010609060101010101" pitchFamily="49" charset="-122"/>
              </a:rPr>
              <a:t>过程调用</a:t>
            </a:r>
          </a:p>
        </p:txBody>
      </p:sp>
      <p:sp>
        <p:nvSpPr>
          <p:cNvPr id="2" name="矩形 1">
            <a:extLst>
              <a:ext uri="{FF2B5EF4-FFF2-40B4-BE49-F238E27FC236}">
                <a16:creationId xmlns:a16="http://schemas.microsoft.com/office/drawing/2014/main" id="{DC7C58A6-9247-A442-8419-8987B12EC904}"/>
              </a:ext>
            </a:extLst>
          </p:cNvPr>
          <p:cNvSpPr/>
          <p:nvPr/>
        </p:nvSpPr>
        <p:spPr>
          <a:xfrm>
            <a:off x="692425" y="1413361"/>
            <a:ext cx="7994375" cy="2857192"/>
          </a:xfrm>
          <a:prstGeom prst="rect">
            <a:avLst/>
          </a:prstGeom>
        </p:spPr>
        <p:txBody>
          <a:bodyPr wrap="square">
            <a:spAutoFit/>
          </a:bodyPr>
          <a:lstStyle/>
          <a:p>
            <a:pPr marL="342900" indent="-342900">
              <a:spcBef>
                <a:spcPts val="672"/>
              </a:spcBef>
              <a:buFont typeface="Arial" panose="020B0604020202020204" pitchFamily="34" charset="0"/>
              <a:buChar char="•"/>
            </a:pPr>
            <a:r>
              <a:rPr lang="zh-CN" altLang="en-US" sz="2800" b="1" dirty="0">
                <a:latin typeface="+mn-lt"/>
                <a:ea typeface="+mn-ea"/>
              </a:rPr>
              <a:t>一个过程包括入口，过程体和出口</a:t>
            </a:r>
            <a:endParaRPr lang="en-US" altLang="zh-CN" sz="2800" b="1" dirty="0">
              <a:latin typeface="+mn-lt"/>
              <a:ea typeface="+mn-ea"/>
            </a:endParaRPr>
          </a:p>
          <a:p>
            <a:pPr marL="342900" indent="-342900">
              <a:spcBef>
                <a:spcPts val="672"/>
              </a:spcBef>
              <a:buFont typeface="Arial" panose="020B0604020202020204" pitchFamily="34" charset="0"/>
              <a:buChar char="•"/>
            </a:pPr>
            <a:r>
              <a:rPr lang="zh-CN" altLang="en-US" sz="2800" b="1" dirty="0">
                <a:latin typeface="+mn-lt"/>
                <a:ea typeface="+mn-ea"/>
              </a:rPr>
              <a:t>调用过程时需要准备好</a:t>
            </a:r>
            <a:r>
              <a:rPr lang="zh-CN" altLang="en-US" sz="2800" b="1" dirty="0">
                <a:solidFill>
                  <a:schemeClr val="accent1"/>
                </a:solidFill>
                <a:latin typeface="+mn-lt"/>
                <a:ea typeface="+mn-ea"/>
              </a:rPr>
              <a:t>过程参数</a:t>
            </a:r>
            <a:r>
              <a:rPr lang="zh-CN" altLang="en-US" sz="2800" b="1" dirty="0">
                <a:latin typeface="+mn-lt"/>
                <a:ea typeface="+mn-ea"/>
              </a:rPr>
              <a:t>（如果有）并</a:t>
            </a:r>
            <a:r>
              <a:rPr lang="zh-CN" altLang="en-US" sz="2800" b="1" dirty="0">
                <a:solidFill>
                  <a:schemeClr val="accent1"/>
                </a:solidFill>
                <a:latin typeface="+mn-lt"/>
                <a:ea typeface="+mn-ea"/>
              </a:rPr>
              <a:t>跳转到过程入口</a:t>
            </a:r>
            <a:r>
              <a:rPr lang="zh-CN" altLang="en-US" sz="2800" b="1" dirty="0">
                <a:latin typeface="+mn-lt"/>
                <a:ea typeface="+mn-ea"/>
              </a:rPr>
              <a:t>，在执行完过程体中的代码后从出口离开并</a:t>
            </a:r>
            <a:r>
              <a:rPr lang="zh-CN" altLang="en-US" sz="2800" b="1" dirty="0">
                <a:solidFill>
                  <a:schemeClr val="accent1"/>
                </a:solidFill>
                <a:latin typeface="+mn-lt"/>
                <a:ea typeface="+mn-ea"/>
              </a:rPr>
              <a:t>回到主调过程的调用点的下一条语句</a:t>
            </a:r>
            <a:r>
              <a:rPr lang="zh-CN" altLang="en-US" sz="2800" b="1" dirty="0">
                <a:latin typeface="+mn-lt"/>
                <a:ea typeface="+mn-ea"/>
              </a:rPr>
              <a:t>，同时获得该过程的</a:t>
            </a:r>
            <a:r>
              <a:rPr lang="zh-CN" altLang="en-US" sz="2800" b="1" dirty="0">
                <a:solidFill>
                  <a:schemeClr val="accent1"/>
                </a:solidFill>
                <a:latin typeface="+mn-lt"/>
                <a:ea typeface="+mn-ea"/>
              </a:rPr>
              <a:t>返回值</a:t>
            </a:r>
            <a:r>
              <a:rPr lang="zh-CN" altLang="en-US" sz="2800" b="1" dirty="0">
                <a:latin typeface="+mn-lt"/>
                <a:ea typeface="+mn-ea"/>
              </a:rPr>
              <a:t>（如果有）</a:t>
            </a:r>
            <a:r>
              <a:rPr lang="en-US" altLang="zh-CN" sz="2800" b="1" dirty="0">
                <a:latin typeface="+mn-lt"/>
                <a:ea typeface="+mn-ea"/>
              </a:rPr>
              <a:t> </a:t>
            </a:r>
          </a:p>
          <a:p>
            <a:pPr marL="342900" indent="-342900">
              <a:spcBef>
                <a:spcPts val="672"/>
              </a:spcBef>
              <a:buFont typeface="Arial" panose="020B0604020202020204" pitchFamily="34" charset="0"/>
              <a:buChar char="•"/>
            </a:pPr>
            <a:r>
              <a:rPr lang="zh-CN" altLang="en-US" sz="2800" b="1" dirty="0">
                <a:solidFill>
                  <a:srgbClr val="FF0000"/>
                </a:solidFill>
                <a:latin typeface="+mn-lt"/>
                <a:ea typeface="+mn-ea"/>
              </a:rPr>
              <a:t>注意不同类型的寄存器的数据维护约定</a:t>
            </a:r>
          </a:p>
        </p:txBody>
      </p:sp>
      <p:sp>
        <p:nvSpPr>
          <p:cNvPr id="12" name="灯片编号占位符 3">
            <a:extLst>
              <a:ext uri="{FF2B5EF4-FFF2-40B4-BE49-F238E27FC236}">
                <a16:creationId xmlns:a16="http://schemas.microsoft.com/office/drawing/2014/main" id="{4317D4B4-D4E6-7C4D-9332-1BBDFC5686AF}"/>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10</a:t>
            </a:fld>
            <a:endParaRPr lang="en-US" altLang="zh-CN"/>
          </a:p>
        </p:txBody>
      </p:sp>
    </p:spTree>
    <p:extLst>
      <p:ext uri="{BB962C8B-B14F-4D97-AF65-F5344CB8AC3E}">
        <p14:creationId xmlns:p14="http://schemas.microsoft.com/office/powerpoint/2010/main" val="1346496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D126E4-0AF9-3342-94D1-2B4A1ADDEC7A}"/>
              </a:ext>
            </a:extLst>
          </p:cNvPr>
          <p:cNvSpPr>
            <a:spLocks noGrp="1"/>
          </p:cNvSpPr>
          <p:nvPr>
            <p:ph type="title"/>
          </p:nvPr>
        </p:nvSpPr>
        <p:spPr/>
        <p:txBody>
          <a:bodyPr/>
          <a:lstStyle/>
          <a:p>
            <a:r>
              <a:rPr kumimoji="1" lang="en-US" altLang="zh-CN" dirty="0"/>
              <a:t>CPU</a:t>
            </a:r>
            <a:r>
              <a:rPr kumimoji="1" lang="zh-CN" altLang="en-US" dirty="0"/>
              <a:t>性能评价</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123C8D-8452-5B49-9FA2-FE63220D54F5}"/>
                  </a:ext>
                </a:extLst>
              </p:cNvPr>
              <p:cNvSpPr>
                <a:spLocks noGrp="1"/>
              </p:cNvSpPr>
              <p:nvPr>
                <p:ph idx="1"/>
              </p:nvPr>
            </p:nvSpPr>
            <p:spPr/>
            <p:txBody>
              <a:bodyPr/>
              <a:lstStyle/>
              <a:p>
                <a:pPr lvl="1"/>
                <a:r>
                  <a:rPr lang="en-US" altLang="zh-CN" sz="2400" dirty="0"/>
                  <a:t>CPU</a:t>
                </a:r>
                <a:r>
                  <a:rPr lang="zh-CN" altLang="en-US" sz="2400" dirty="0"/>
                  <a:t>执行时间    </a:t>
                </a:r>
                <a:r>
                  <a:rPr lang="en-US" altLang="zh-CN" sz="2400" dirty="0"/>
                  <a:t>=   CPU</a:t>
                </a:r>
                <a:r>
                  <a:rPr lang="zh-CN" altLang="en-US" sz="2400" dirty="0"/>
                  <a:t>时钟周期数</a:t>
                </a:r>
                <a:r>
                  <a:rPr lang="zh-CN" altLang="en-US" sz="2400" dirty="0">
                    <a:sym typeface="Symbol" pitchFamily="18" charset="2"/>
                  </a:rPr>
                  <a:t>时钟周期</a:t>
                </a:r>
                <a:r>
                  <a:rPr lang="en-US" altLang="zh-CN" sz="2400" dirty="0">
                    <a:sym typeface="Symbol" pitchFamily="18" charset="2"/>
                  </a:rPr>
                  <a:t>				=   </a:t>
                </a:r>
                <a14:m>
                  <m:oMath xmlns:m="http://schemas.openxmlformats.org/officeDocument/2006/math">
                    <m:f>
                      <m:fPr>
                        <m:ctrlPr>
                          <a:rPr lang="en-US" altLang="zh-CN" sz="2400" i="1">
                            <a:latin typeface="Cambria Math" panose="02040503050406030204" pitchFamily="18" charset="0"/>
                            <a:sym typeface="Symbol" pitchFamily="18" charset="2"/>
                          </a:rPr>
                        </m:ctrlPr>
                      </m:fPr>
                      <m:num>
                        <m:r>
                          <m:rPr>
                            <m:nor/>
                          </m:rPr>
                          <a:rPr lang="en-US" altLang="zh-CN" sz="2400" dirty="0"/>
                          <m:t>CPU</m:t>
                        </m:r>
                        <m:r>
                          <m:rPr>
                            <m:nor/>
                          </m:rPr>
                          <a:rPr lang="zh-CN" altLang="en-US" sz="2400" dirty="0"/>
                          <m:t>时钟周期数 </m:t>
                        </m:r>
                      </m:num>
                      <m:den>
                        <m:r>
                          <m:rPr>
                            <m:nor/>
                          </m:rPr>
                          <a:rPr lang="zh-CN" altLang="en-US" sz="2400" dirty="0">
                            <a:sym typeface="Symbol" pitchFamily="18" charset="2"/>
                          </a:rPr>
                          <m:t>时钟频率</m:t>
                        </m:r>
                        <m:r>
                          <m:rPr>
                            <m:nor/>
                          </m:rPr>
                          <a:rPr lang="en-US" altLang="zh-CN" sz="2400" dirty="0">
                            <a:sym typeface="Symbol" pitchFamily="18" charset="2"/>
                          </a:rPr>
                          <m:t> </m:t>
                        </m:r>
                      </m:den>
                    </m:f>
                  </m:oMath>
                </a14:m>
                <a:endParaRPr lang="en-US" altLang="zh-CN" sz="2400" dirty="0">
                  <a:sym typeface="Symbol" pitchFamily="18" charset="2"/>
                </a:endParaRPr>
              </a:p>
              <a:p>
                <a:pPr lvl="1"/>
                <a:r>
                  <a:rPr lang="en-US" altLang="zh-CN" sz="2400" dirty="0"/>
                  <a:t>CPU</a:t>
                </a:r>
                <a:r>
                  <a:rPr lang="zh-CN" altLang="en-US" sz="2400" dirty="0"/>
                  <a:t>时钟周期数＝程序指令数</a:t>
                </a:r>
                <a:r>
                  <a:rPr lang="zh-CN" altLang="en-US" sz="2400" dirty="0">
                    <a:sym typeface="Symbol" pitchFamily="18" charset="2"/>
                  </a:rPr>
                  <a:t>每条指令平均时钟周期数</a:t>
                </a:r>
                <a:endParaRPr lang="en-US" altLang="zh-CN" sz="2400" dirty="0">
                  <a:sym typeface="Symbol" pitchFamily="18" charset="2"/>
                </a:endParaRPr>
              </a:p>
              <a:p>
                <a:pPr lvl="1"/>
                <a:r>
                  <a:rPr lang="zh-CN" altLang="en-US" sz="2400" dirty="0">
                    <a:sym typeface="Symbol" pitchFamily="18" charset="2"/>
                  </a:rPr>
                  <a:t>每条指令平均时钟周期数</a:t>
                </a:r>
                <a:r>
                  <a:rPr lang="en-US" altLang="zh-CN" sz="2400" dirty="0">
                    <a:sym typeface="Symbol" pitchFamily="18" charset="2"/>
                  </a:rPr>
                  <a:t>——</a:t>
                </a:r>
                <a:r>
                  <a:rPr lang="en-US" altLang="zh-CN" sz="2400" dirty="0">
                    <a:solidFill>
                      <a:schemeClr val="hlink"/>
                    </a:solidFill>
                    <a:sym typeface="Symbol" pitchFamily="18" charset="2"/>
                  </a:rPr>
                  <a:t>CPI</a:t>
                </a:r>
                <a:r>
                  <a:rPr lang="en-US" altLang="zh-CN" sz="2400" dirty="0">
                    <a:sym typeface="Symbol" pitchFamily="18" charset="2"/>
                  </a:rPr>
                  <a:t>(clock cycle per instruction)</a:t>
                </a:r>
              </a:p>
              <a:p>
                <a:endParaRPr kumimoji="1" lang="zh-CN" altLang="en-US" dirty="0"/>
              </a:p>
            </p:txBody>
          </p:sp>
        </mc:Choice>
        <mc:Fallback xmlns="">
          <p:sp>
            <p:nvSpPr>
              <p:cNvPr id="3" name="内容占位符 2">
                <a:extLst>
                  <a:ext uri="{FF2B5EF4-FFF2-40B4-BE49-F238E27FC236}">
                    <a16:creationId xmlns:a16="http://schemas.microsoft.com/office/drawing/2014/main" id="{7E123C8D-8452-5B49-9FA2-FE63220D54F5}"/>
                  </a:ext>
                </a:extLst>
              </p:cNvPr>
              <p:cNvSpPr>
                <a:spLocks noGrp="1" noRot="1" noChangeAspect="1" noMove="1" noResize="1" noEditPoints="1" noAdjustHandles="1" noChangeArrowheads="1" noChangeShapeType="1" noTextEdit="1"/>
              </p:cNvSpPr>
              <p:nvPr>
                <p:ph idx="1"/>
              </p:nvPr>
            </p:nvSpPr>
            <p:spPr>
              <a:blipFill>
                <a:blip r:embed="rId2"/>
                <a:stretch>
                  <a:fillRect t="-1401" r="-46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32689284-91D5-044C-8CBA-3DADC18218E0}"/>
              </a:ext>
            </a:extLst>
          </p:cNvPr>
          <p:cNvSpPr>
            <a:spLocks noGrp="1"/>
          </p:cNvSpPr>
          <p:nvPr>
            <p:ph type="sldNum" sz="quarter" idx="12"/>
          </p:nvPr>
        </p:nvSpPr>
        <p:spPr/>
        <p:txBody>
          <a:bodyPr/>
          <a:lstStyle/>
          <a:p>
            <a:fld id="{14659731-6BD7-46E7-8D3C-2F3AC07E20B1}" type="slidenum">
              <a:rPr lang="en-US" altLang="zh-CN" smtClean="0"/>
              <a:pPr/>
              <a:t>11</a:t>
            </a:fld>
            <a:endParaRPr lang="en-US" altLang="zh-CN"/>
          </a:p>
        </p:txBody>
      </p:sp>
      <p:sp>
        <p:nvSpPr>
          <p:cNvPr id="5" name="Rectangle 8">
            <a:extLst>
              <a:ext uri="{FF2B5EF4-FFF2-40B4-BE49-F238E27FC236}">
                <a16:creationId xmlns:a16="http://schemas.microsoft.com/office/drawing/2014/main" id="{688BB663-4821-9149-9CDA-93E30A28D541}"/>
              </a:ext>
            </a:extLst>
          </p:cNvPr>
          <p:cNvSpPr>
            <a:spLocks noChangeArrowheads="1"/>
          </p:cNvSpPr>
          <p:nvPr/>
        </p:nvSpPr>
        <p:spPr bwMode="auto">
          <a:xfrm>
            <a:off x="1072705" y="4641551"/>
            <a:ext cx="7188426" cy="523862"/>
          </a:xfrm>
          <a:prstGeom prst="rect">
            <a:avLst/>
          </a:prstGeom>
          <a:noFill/>
          <a:ln w="28575" algn="ctr">
            <a:solidFill>
              <a:schemeClr val="accent1"/>
            </a:solidFill>
            <a:miter lim="800000"/>
            <a:headEnd type="none" w="sm" len="sm"/>
            <a:tailEnd type="none" w="sm" len="sm"/>
          </a:ln>
          <a:effectLst/>
        </p:spPr>
        <p:txBody>
          <a:bodyPr wrap="square" lIns="92075" tIns="46038" rIns="92075" bIns="46038">
            <a:spAutoFit/>
          </a:bodyPr>
          <a:lstStyle/>
          <a:p>
            <a:pPr algn="ctr"/>
            <a:r>
              <a:rPr lang="en-US" altLang="zh-CN" sz="2800" dirty="0">
                <a:ea typeface="SimHei" panose="02010609060101010101" pitchFamily="49" charset="-122"/>
              </a:rPr>
              <a:t>CPU</a:t>
            </a:r>
            <a:r>
              <a:rPr lang="zh-CN" altLang="en-US" sz="2800" dirty="0">
                <a:ea typeface="SimHei" panose="02010609060101010101" pitchFamily="49" charset="-122"/>
              </a:rPr>
              <a:t>执行时间 ＝ 指令数 </a:t>
            </a:r>
            <a:r>
              <a:rPr lang="zh-CN" altLang="en-US" sz="2800" dirty="0">
                <a:ea typeface="SimHei" panose="02010609060101010101" pitchFamily="49" charset="-122"/>
                <a:sym typeface="Symbol" pitchFamily="18" charset="2"/>
              </a:rPr>
              <a:t></a:t>
            </a:r>
            <a:r>
              <a:rPr lang="zh-CN" altLang="en-US" sz="2800" dirty="0">
                <a:ea typeface="SimHei" panose="02010609060101010101" pitchFamily="49" charset="-122"/>
              </a:rPr>
              <a:t> </a:t>
            </a:r>
            <a:r>
              <a:rPr lang="en-US" altLang="zh-CN" sz="2800" dirty="0">
                <a:ea typeface="SimHei" panose="02010609060101010101" pitchFamily="49" charset="-122"/>
              </a:rPr>
              <a:t>CPI </a:t>
            </a:r>
            <a:r>
              <a:rPr lang="en-US" altLang="zh-CN" sz="2800" dirty="0">
                <a:ea typeface="SimHei" panose="02010609060101010101" pitchFamily="49" charset="-122"/>
                <a:sym typeface="Symbol" pitchFamily="18" charset="2"/>
              </a:rPr>
              <a:t> </a:t>
            </a:r>
            <a:r>
              <a:rPr lang="zh-CN" altLang="en-US" sz="2800" dirty="0">
                <a:ea typeface="SimHei" panose="02010609060101010101" pitchFamily="49" charset="-122"/>
                <a:sym typeface="Symbol" pitchFamily="18" charset="2"/>
              </a:rPr>
              <a:t>时钟周期</a:t>
            </a:r>
          </a:p>
        </p:txBody>
      </p:sp>
      <p:graphicFrame>
        <p:nvGraphicFramePr>
          <p:cNvPr id="6" name="Object 4">
            <a:extLst>
              <a:ext uri="{FF2B5EF4-FFF2-40B4-BE49-F238E27FC236}">
                <a16:creationId xmlns:a16="http://schemas.microsoft.com/office/drawing/2014/main" id="{B6B210DA-D8FD-AE47-B922-21D9B030B87C}"/>
              </a:ext>
            </a:extLst>
          </p:cNvPr>
          <p:cNvGraphicFramePr>
            <a:graphicFrameLocks noChangeAspect="1"/>
          </p:cNvGraphicFramePr>
          <p:nvPr/>
        </p:nvGraphicFramePr>
        <p:xfrm>
          <a:off x="2682031" y="5257800"/>
          <a:ext cx="3062288" cy="1157288"/>
        </p:xfrm>
        <a:graphic>
          <a:graphicData uri="http://schemas.openxmlformats.org/presentationml/2006/ole">
            <mc:AlternateContent xmlns:mc="http://schemas.openxmlformats.org/markup-compatibility/2006">
              <mc:Choice xmlns:v="urn:schemas-microsoft-com:vml" Requires="v">
                <p:oleObj name="公式" r:id="rId3" imgW="1085972" imgH="371429" progId="Equation.3">
                  <p:embed/>
                </p:oleObj>
              </mc:Choice>
              <mc:Fallback>
                <p:oleObj name="公式" r:id="rId3" imgW="1085972" imgH="371429" progId="Equation.3">
                  <p:embed/>
                  <p:pic>
                    <p:nvPicPr>
                      <p:cNvPr id="6" name="Object 4">
                        <a:extLst>
                          <a:ext uri="{FF2B5EF4-FFF2-40B4-BE49-F238E27FC236}">
                            <a16:creationId xmlns:a16="http://schemas.microsoft.com/office/drawing/2014/main" id="{B6B210DA-D8FD-AE47-B922-21D9B030B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031" y="5257800"/>
                        <a:ext cx="3062288" cy="11572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17259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p:txBody>
          <a:bodyPr/>
          <a:lstStyle/>
          <a:p>
            <a:r>
              <a:rPr lang="zh-CN" altLang="en-US" dirty="0"/>
              <a:t>影响计算机性能的因素</a:t>
            </a:r>
            <a:endParaRPr lang="en-US" altLang="zh-CN" dirty="0"/>
          </a:p>
        </p:txBody>
      </p:sp>
      <p:sp>
        <p:nvSpPr>
          <p:cNvPr id="5" name="Rectangle 4"/>
          <p:cNvSpPr>
            <a:spLocks noChangeArrowheads="1"/>
          </p:cNvSpPr>
          <p:nvPr/>
        </p:nvSpPr>
        <p:spPr bwMode="auto">
          <a:xfrm>
            <a:off x="1329531" y="2377301"/>
            <a:ext cx="6992938" cy="523862"/>
          </a:xfrm>
          <a:prstGeom prst="rect">
            <a:avLst/>
          </a:prstGeom>
          <a:noFill/>
          <a:ln w="28575" algn="ctr">
            <a:solidFill>
              <a:schemeClr val="accent1"/>
            </a:solidFill>
            <a:miter lim="800000"/>
            <a:headEnd type="none" w="sm" len="sm"/>
            <a:tailEnd type="none" w="sm" len="sm"/>
          </a:ln>
          <a:effectLst/>
        </p:spPr>
        <p:txBody>
          <a:bodyPr wrap="square" lIns="92075" tIns="46038" rIns="92075" bIns="46038">
            <a:spAutoFit/>
          </a:bodyPr>
          <a:lstStyle/>
          <a:p>
            <a:pPr algn="ctr"/>
            <a:r>
              <a:rPr lang="en-US" altLang="zh-CN" sz="2800" dirty="0">
                <a:ea typeface="SimHei" panose="02010609060101010101" pitchFamily="49" charset="-122"/>
              </a:rPr>
              <a:t>CPU</a:t>
            </a:r>
            <a:r>
              <a:rPr lang="zh-CN" altLang="en-US" sz="2800" dirty="0">
                <a:ea typeface="SimHei" panose="02010609060101010101" pitchFamily="49" charset="-122"/>
              </a:rPr>
              <a:t>执行时间 ＝ 指令数 </a:t>
            </a:r>
            <a:r>
              <a:rPr lang="zh-CN" altLang="en-US" sz="2800" dirty="0">
                <a:ea typeface="SimHei" panose="02010609060101010101" pitchFamily="49" charset="-122"/>
                <a:sym typeface="Symbol" pitchFamily="18" charset="2"/>
              </a:rPr>
              <a:t></a:t>
            </a:r>
            <a:r>
              <a:rPr lang="zh-CN" altLang="en-US" sz="2800" dirty="0">
                <a:ea typeface="SimHei" panose="02010609060101010101" pitchFamily="49" charset="-122"/>
              </a:rPr>
              <a:t> </a:t>
            </a:r>
            <a:r>
              <a:rPr lang="en-US" altLang="zh-CN" sz="2800" dirty="0">
                <a:ea typeface="SimHei" panose="02010609060101010101" pitchFamily="49" charset="-122"/>
              </a:rPr>
              <a:t>CPI </a:t>
            </a:r>
            <a:r>
              <a:rPr lang="en-US" altLang="zh-CN" sz="2800" dirty="0">
                <a:ea typeface="SimHei" panose="02010609060101010101" pitchFamily="49" charset="-122"/>
                <a:sym typeface="Symbol" pitchFamily="18" charset="2"/>
              </a:rPr>
              <a:t> </a:t>
            </a:r>
            <a:r>
              <a:rPr lang="zh-CN" altLang="en-US" sz="2800" dirty="0">
                <a:ea typeface="SimHei" panose="02010609060101010101" pitchFamily="49" charset="-122"/>
                <a:sym typeface="Symbol" pitchFamily="18" charset="2"/>
              </a:rPr>
              <a:t>时钟周期</a:t>
            </a:r>
          </a:p>
        </p:txBody>
      </p:sp>
      <p:graphicFrame>
        <p:nvGraphicFramePr>
          <p:cNvPr id="6" name="Group 35"/>
          <p:cNvGraphicFramePr>
            <a:graphicFrameLocks/>
          </p:cNvGraphicFramePr>
          <p:nvPr/>
        </p:nvGraphicFramePr>
        <p:xfrm>
          <a:off x="1455738" y="3254375"/>
          <a:ext cx="6740525" cy="2886074"/>
        </p:xfrm>
        <a:graphic>
          <a:graphicData uri="http://schemas.openxmlformats.org/drawingml/2006/table">
            <a:tbl>
              <a:tblPr/>
              <a:tblGrid>
                <a:gridCol w="2803746">
                  <a:extLst>
                    <a:ext uri="{9D8B030D-6E8A-4147-A177-3AD203B41FA5}">
                      <a16:colId xmlns:a16="http://schemas.microsoft.com/office/drawing/2014/main" val="20000"/>
                    </a:ext>
                  </a:extLst>
                </a:gridCol>
                <a:gridCol w="3936779">
                  <a:extLst>
                    <a:ext uri="{9D8B030D-6E8A-4147-A177-3AD203B41FA5}">
                      <a16:colId xmlns:a16="http://schemas.microsoft.com/office/drawing/2014/main" val="20001"/>
                    </a:ext>
                  </a:extLst>
                </a:gridCol>
              </a:tblGrid>
              <a:tr h="477756">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影响因素</a:t>
                      </a:r>
                    </a:p>
                  </a:txBody>
                  <a:tcPr marL="92075" marR="92075" marT="46031" marB="460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6600">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影响</a:t>
                      </a:r>
                    </a:p>
                  </a:txBody>
                  <a:tcPr marL="92075" marR="92075" marT="46031" marB="460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6600">
                        <a:alpha val="50000"/>
                      </a:srgbClr>
                    </a:solidFill>
                  </a:tcPr>
                </a:tc>
                <a:extLst>
                  <a:ext uri="{0D108BD9-81ED-4DB2-BD59-A6C34878D82A}">
                    <a16:rowId xmlns:a16="http://schemas.microsoft.com/office/drawing/2014/main" val="10000"/>
                  </a:ext>
                </a:extLst>
              </a:tr>
              <a:tr h="476169">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算法</a:t>
                      </a:r>
                    </a:p>
                  </a:txBody>
                  <a:tcPr marL="92075" marR="92075" marT="46031" marB="460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指令数、</a:t>
                      </a:r>
                      <a:r>
                        <a:rPr kumimoji="0" lang="en-US" altLang="zh-CN" sz="2400" b="0" i="0" u="none" strike="noStrike" cap="none" normalizeH="0" baseline="0" dirty="0">
                          <a:ln>
                            <a:noFill/>
                          </a:ln>
                          <a:solidFill>
                            <a:schemeClr val="tx1"/>
                          </a:solidFill>
                          <a:effectLst/>
                          <a:latin typeface="Arial" charset="0"/>
                          <a:ea typeface="SimHei" panose="02010609060101010101" pitchFamily="49" charset="-122"/>
                        </a:rPr>
                        <a:t>CPI</a:t>
                      </a:r>
                    </a:p>
                  </a:txBody>
                  <a:tcPr marL="92075" marR="92075" marT="46031" marB="460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0046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程序设计语言</a:t>
                      </a:r>
                    </a:p>
                  </a:txBody>
                  <a:tcPr marL="92075" marR="92075" marT="46031" marB="460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指令数、</a:t>
                      </a:r>
                      <a:r>
                        <a:rPr kumimoji="0" lang="en-US" altLang="zh-CN" sz="2400" b="0" i="0" u="none" strike="noStrike" cap="none" normalizeH="0" baseline="0" dirty="0">
                          <a:ln>
                            <a:noFill/>
                          </a:ln>
                          <a:solidFill>
                            <a:schemeClr val="tx1"/>
                          </a:solidFill>
                          <a:effectLst/>
                          <a:latin typeface="Arial" charset="0"/>
                          <a:ea typeface="SimHei" panose="02010609060101010101" pitchFamily="49" charset="-122"/>
                        </a:rPr>
                        <a:t>CPI</a:t>
                      </a:r>
                    </a:p>
                  </a:txBody>
                  <a:tcPr marL="92075" marR="92075" marT="46031" marB="460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77756">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编译器</a:t>
                      </a:r>
                    </a:p>
                  </a:txBody>
                  <a:tcPr marL="92075" marR="92075" marT="46031" marB="460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指令数、</a:t>
                      </a:r>
                      <a:r>
                        <a:rPr kumimoji="0" lang="en-US" altLang="zh-CN" sz="2400" b="0" i="0" u="none" strike="noStrike" cap="none" normalizeH="0" baseline="0" dirty="0">
                          <a:ln>
                            <a:noFill/>
                          </a:ln>
                          <a:solidFill>
                            <a:schemeClr val="tx1"/>
                          </a:solidFill>
                          <a:effectLst/>
                          <a:latin typeface="Arial" charset="0"/>
                          <a:ea typeface="SimHei" panose="02010609060101010101" pitchFamily="49" charset="-122"/>
                        </a:rPr>
                        <a:t>CPI</a:t>
                      </a:r>
                    </a:p>
                  </a:txBody>
                  <a:tcPr marL="92075" marR="92075" marT="46031" marB="460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76169">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zh-CN" sz="2400" b="0" i="0" u="none" strike="noStrike" kern="1200" cap="none" normalizeH="0" baseline="0" dirty="0">
                          <a:ln>
                            <a:noFill/>
                          </a:ln>
                          <a:solidFill>
                            <a:schemeClr val="tx1"/>
                          </a:solidFill>
                          <a:effectLst/>
                          <a:latin typeface="Arial" charset="0"/>
                          <a:ea typeface="SimHei" panose="02010609060101010101" pitchFamily="49" charset="-122"/>
                          <a:cs typeface="+mn-cs"/>
                        </a:rPr>
                        <a:t>指令集体系架构 </a:t>
                      </a:r>
                      <a:endParaRPr kumimoji="0" lang="en-US" altLang="zh-CN" sz="2400" b="0" i="0" u="none" strike="noStrike" kern="1200" cap="none" normalizeH="0" baseline="0" dirty="0">
                        <a:ln>
                          <a:noFill/>
                        </a:ln>
                        <a:solidFill>
                          <a:schemeClr val="tx1"/>
                        </a:solidFill>
                        <a:effectLst/>
                        <a:latin typeface="Arial" charset="0"/>
                        <a:ea typeface="SimHei" panose="02010609060101010101" pitchFamily="49" charset="-122"/>
                        <a:cs typeface="+mn-cs"/>
                      </a:endParaRPr>
                    </a:p>
                  </a:txBody>
                  <a:tcPr marL="92075" marR="92075" marT="46031" marB="460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指令数、</a:t>
                      </a:r>
                      <a:r>
                        <a:rPr kumimoji="0" lang="en-US" altLang="zh-CN" sz="2400" b="0" i="0" u="none" strike="noStrike" cap="none" normalizeH="0" baseline="0" dirty="0">
                          <a:ln>
                            <a:noFill/>
                          </a:ln>
                          <a:solidFill>
                            <a:schemeClr val="tx1"/>
                          </a:solidFill>
                          <a:effectLst/>
                          <a:latin typeface="Arial" charset="0"/>
                          <a:ea typeface="SimHei" panose="02010609060101010101" pitchFamily="49" charset="-122"/>
                        </a:rPr>
                        <a:t>CPI</a:t>
                      </a: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、时钟周期</a:t>
                      </a:r>
                    </a:p>
                  </a:txBody>
                  <a:tcPr marL="92075" marR="92075" marT="46031" marB="460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77756">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硬件实现</a:t>
                      </a:r>
                    </a:p>
                  </a:txBody>
                  <a:tcPr marL="92075" marR="92075" marT="46031" marB="460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SimHei" panose="02010609060101010101" pitchFamily="49" charset="-122"/>
                        </a:rPr>
                        <a:t>CPI</a:t>
                      </a:r>
                      <a:r>
                        <a:rPr kumimoji="0" lang="zh-CN" altLang="en-US" sz="2400" b="0" i="0" u="none" strike="noStrike" cap="none" normalizeH="0" baseline="0" dirty="0">
                          <a:ln>
                            <a:noFill/>
                          </a:ln>
                          <a:solidFill>
                            <a:schemeClr val="tx1"/>
                          </a:solidFill>
                          <a:effectLst/>
                          <a:latin typeface="Arial" charset="0"/>
                          <a:ea typeface="SimHei" panose="02010609060101010101" pitchFamily="49" charset="-122"/>
                        </a:rPr>
                        <a:t>、时钟周期</a:t>
                      </a:r>
                    </a:p>
                  </a:txBody>
                  <a:tcPr marL="92075" marR="92075" marT="46031" marB="460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标题 1"/>
          <p:cNvSpPr>
            <a:spLocks noGrp="1"/>
          </p:cNvSpPr>
          <p:nvPr>
            <p:ph type="title"/>
          </p:nvPr>
        </p:nvSpPr>
        <p:spPr/>
        <p:txBody>
          <a:bodyPr/>
          <a:lstStyle/>
          <a:p>
            <a:r>
              <a:rPr lang="zh-CN" altLang="en-US" kern="1200" dirty="0">
                <a:cs typeface="+mn-cs"/>
              </a:rPr>
              <a:t>影响性能的因素</a:t>
            </a:r>
          </a:p>
        </p:txBody>
      </p:sp>
      <p:sp>
        <p:nvSpPr>
          <p:cNvPr id="7" name="灯片编号占位符 3">
            <a:extLst>
              <a:ext uri="{FF2B5EF4-FFF2-40B4-BE49-F238E27FC236}">
                <a16:creationId xmlns:a16="http://schemas.microsoft.com/office/drawing/2014/main" id="{A92A5835-4627-B443-9535-A2A80118DF45}"/>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12</a:t>
            </a:fld>
            <a:endParaRPr lang="en-US" altLang="zh-CN"/>
          </a:p>
        </p:txBody>
      </p:sp>
    </p:spTree>
    <p:extLst>
      <p:ext uri="{BB962C8B-B14F-4D97-AF65-F5344CB8AC3E}">
        <p14:creationId xmlns:p14="http://schemas.microsoft.com/office/powerpoint/2010/main" val="11558781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14659731-6BD7-46E7-8D3C-2F3AC07E20B1}" type="slidenum">
              <a:rPr lang="en-US" altLang="zh-CN" smtClean="0"/>
              <a:pPr/>
              <a:t>13</a:t>
            </a:fld>
            <a:endParaRPr lang="en-US" altLang="zh-CN"/>
          </a:p>
        </p:txBody>
      </p:sp>
      <p:sp>
        <p:nvSpPr>
          <p:cNvPr id="8" name="标题 7">
            <a:extLst>
              <a:ext uri="{FF2B5EF4-FFF2-40B4-BE49-F238E27FC236}">
                <a16:creationId xmlns:a16="http://schemas.microsoft.com/office/drawing/2014/main" id="{A4AFA0D0-3ABC-9E4B-A473-CF0D454A0F50}"/>
              </a:ext>
            </a:extLst>
          </p:cNvPr>
          <p:cNvSpPr>
            <a:spLocks noGrp="1"/>
          </p:cNvSpPr>
          <p:nvPr>
            <p:ph type="title"/>
          </p:nvPr>
        </p:nvSpPr>
        <p:spPr/>
        <p:txBody>
          <a:bodyPr/>
          <a:lstStyle/>
          <a:p>
            <a:r>
              <a:rPr lang="zh-CN" altLang="en-US" dirty="0"/>
              <a:t>单周期处理器重点内容</a:t>
            </a:r>
          </a:p>
        </p:txBody>
      </p:sp>
      <p:sp>
        <p:nvSpPr>
          <p:cNvPr id="7" name="Content Placeholder 2">
            <a:extLst>
              <a:ext uri="{FF2B5EF4-FFF2-40B4-BE49-F238E27FC236}">
                <a16:creationId xmlns:a16="http://schemas.microsoft.com/office/drawing/2014/main" id="{931595DE-6A6A-E249-A7F9-C47C99E8E9BA}"/>
              </a:ext>
            </a:extLst>
          </p:cNvPr>
          <p:cNvSpPr txBox="1">
            <a:spLocks/>
          </p:cNvSpPr>
          <p:nvPr/>
        </p:nvSpPr>
        <p:spPr bwMode="auto">
          <a:xfrm>
            <a:off x="549797" y="1500593"/>
            <a:ext cx="8229600" cy="47446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0">
                <a:solidFill>
                  <a:schemeClr val="tx1"/>
                </a:solidFill>
                <a:latin typeface="+mn-lt"/>
                <a:ea typeface="+mn-ea"/>
                <a:cs typeface="+mn-cs"/>
              </a:defRPr>
            </a:lvl1pPr>
            <a:lvl2pPr marL="742950" indent="-285750" algn="l" rtl="0" fontAlgn="base">
              <a:spcBef>
                <a:spcPct val="20000"/>
              </a:spcBef>
              <a:spcAft>
                <a:spcPct val="0"/>
              </a:spcAft>
              <a:buChar char="–"/>
              <a:defRPr sz="2800" b="0">
                <a:solidFill>
                  <a:schemeClr val="tx1"/>
                </a:solidFill>
                <a:latin typeface="+mn-lt"/>
                <a:ea typeface="+mn-ea"/>
              </a:defRPr>
            </a:lvl2pPr>
            <a:lvl3pPr marL="1143000" indent="-228600" algn="l" rtl="0" fontAlgn="base">
              <a:spcBef>
                <a:spcPct val="20000"/>
              </a:spcBef>
              <a:spcAft>
                <a:spcPct val="0"/>
              </a:spcAft>
              <a:buChar char="•"/>
              <a:defRPr sz="2400" b="0">
                <a:solidFill>
                  <a:schemeClr val="tx1"/>
                </a:solidFill>
                <a:latin typeface="+mn-lt"/>
                <a:ea typeface="+mn-ea"/>
              </a:defRPr>
            </a:lvl3pPr>
            <a:lvl4pPr marL="1600200" indent="-228600" algn="l" rtl="0" fontAlgn="base">
              <a:spcBef>
                <a:spcPct val="20000"/>
              </a:spcBef>
              <a:spcAft>
                <a:spcPct val="0"/>
              </a:spcAft>
              <a:buChar char="–"/>
              <a:defRPr sz="2000" b="0">
                <a:solidFill>
                  <a:schemeClr val="tx1"/>
                </a:solidFill>
                <a:latin typeface="+mn-lt"/>
                <a:ea typeface="+mn-ea"/>
              </a:defRPr>
            </a:lvl4pPr>
            <a:lvl5pPr marL="2057400" indent="-228600" algn="l" rtl="0" fontAlgn="base">
              <a:spcBef>
                <a:spcPct val="20000"/>
              </a:spcBef>
              <a:spcAft>
                <a:spcPct val="0"/>
              </a:spcAft>
              <a:buChar char="»"/>
              <a:defRPr sz="2000" b="0">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r>
              <a:rPr lang="zh-CN" altLang="en-US" sz="2400" b="1" kern="0" dirty="0"/>
              <a:t>数据通路设计</a:t>
            </a:r>
            <a:endParaRPr lang="en-US" altLang="zh-CN" sz="2400" b="1" kern="0" dirty="0"/>
          </a:p>
          <a:p>
            <a:pPr lvl="1"/>
            <a:r>
              <a:rPr lang="zh-CN" altLang="en-US" sz="2400" kern="0" dirty="0"/>
              <a:t>计算单元：</a:t>
            </a:r>
            <a:r>
              <a:rPr lang="en-US" altLang="zh-CN" sz="2400" kern="0" dirty="0"/>
              <a:t>32</a:t>
            </a:r>
            <a:r>
              <a:rPr lang="zh-CN" altLang="en-US" sz="2400" kern="0" dirty="0"/>
              <a:t>位</a:t>
            </a:r>
            <a:r>
              <a:rPr lang="en-US" altLang="zh-CN" sz="2400" kern="0" dirty="0"/>
              <a:t>ALU</a:t>
            </a:r>
            <a:r>
              <a:rPr lang="zh-CN" altLang="en-US" sz="2400" kern="0" dirty="0"/>
              <a:t>设计、</a:t>
            </a:r>
            <a:r>
              <a:rPr lang="en-US" altLang="zh-CN" sz="2400" kern="0" dirty="0"/>
              <a:t>PC</a:t>
            </a:r>
            <a:r>
              <a:rPr lang="zh-CN" altLang="en-US" sz="2400" kern="0" dirty="0"/>
              <a:t>跳转逻辑</a:t>
            </a:r>
            <a:endParaRPr lang="en-US" altLang="zh-CN" sz="2400" kern="0" dirty="0"/>
          </a:p>
          <a:p>
            <a:pPr lvl="1"/>
            <a:r>
              <a:rPr lang="zh-CN" altLang="en-US" sz="2400" kern="0" dirty="0"/>
              <a:t>存储单元：</a:t>
            </a:r>
            <a:r>
              <a:rPr lang="en-US" altLang="zh-CN" sz="2400" kern="0" dirty="0"/>
              <a:t>PC</a:t>
            </a:r>
            <a:r>
              <a:rPr lang="zh-CN" altLang="en-US" sz="2400" kern="0" dirty="0"/>
              <a:t>寄存器、寄存器堆、指令和数据存储器</a:t>
            </a:r>
            <a:endParaRPr lang="en-US" altLang="zh-CN" sz="2400" kern="0" dirty="0"/>
          </a:p>
          <a:p>
            <a:pPr lvl="1"/>
            <a:r>
              <a:rPr lang="zh-CN" altLang="en-US" sz="2400" kern="0" dirty="0"/>
              <a:t>计算流程分析：</a:t>
            </a:r>
            <a:r>
              <a:rPr lang="en-US" altLang="zh-CN" sz="2400" dirty="0"/>
              <a:t>R</a:t>
            </a:r>
            <a:r>
              <a:rPr lang="zh-CN" altLang="en-US" sz="2400" dirty="0"/>
              <a:t>型、</a:t>
            </a:r>
            <a:r>
              <a:rPr lang="en-US" altLang="zh-CN" sz="2400" dirty="0"/>
              <a:t>I</a:t>
            </a:r>
            <a:r>
              <a:rPr lang="zh-CN" altLang="en-US" sz="2400" dirty="0"/>
              <a:t>型、</a:t>
            </a:r>
            <a:r>
              <a:rPr lang="en-US" altLang="zh-CN" sz="2400" dirty="0"/>
              <a:t>J</a:t>
            </a:r>
            <a:r>
              <a:rPr lang="zh-CN" altLang="en-US" sz="2400" dirty="0"/>
              <a:t>型</a:t>
            </a:r>
            <a:endParaRPr lang="en-US" altLang="zh-CN" sz="2400" dirty="0"/>
          </a:p>
          <a:p>
            <a:pPr lvl="1"/>
            <a:r>
              <a:rPr lang="zh-CN" altLang="en-US" sz="2400" kern="0" dirty="0"/>
              <a:t>控制信号分析：</a:t>
            </a:r>
            <a:r>
              <a:rPr lang="zh-CN" altLang="en-US" sz="2400" u="sng" kern="0" dirty="0"/>
              <a:t>正确的控制功能，恒</a:t>
            </a:r>
            <a:r>
              <a:rPr lang="en-US" altLang="zh-CN" sz="2400" u="sng" kern="0" dirty="0"/>
              <a:t>0/1</a:t>
            </a:r>
            <a:r>
              <a:rPr lang="zh-CN" altLang="en-US" sz="2400" u="sng" kern="0" dirty="0"/>
              <a:t>错误的影响</a:t>
            </a:r>
            <a:endParaRPr lang="en-US" altLang="zh-CN" sz="2400" u="sng" kern="0" dirty="0"/>
          </a:p>
          <a:p>
            <a:endParaRPr lang="en-US" altLang="zh-CN" sz="2400" b="1" dirty="0"/>
          </a:p>
          <a:p>
            <a:r>
              <a:rPr lang="zh-CN" altLang="en-US" sz="2400" b="1" dirty="0"/>
              <a:t>数据通路延时分析</a:t>
            </a:r>
            <a:endParaRPr lang="en-US" altLang="zh-CN" sz="2400" b="1" dirty="0"/>
          </a:p>
          <a:p>
            <a:pPr lvl="1"/>
            <a:r>
              <a:rPr lang="zh-CN" altLang="en-US" sz="2400" u="sng" dirty="0"/>
              <a:t>关键路径分析：</a:t>
            </a:r>
            <a:r>
              <a:rPr lang="en-US" altLang="zh-CN" sz="2400" u="sng" dirty="0"/>
              <a:t> R</a:t>
            </a:r>
            <a:r>
              <a:rPr lang="zh-CN" altLang="en-US" sz="2400" u="sng" dirty="0"/>
              <a:t>型、</a:t>
            </a:r>
            <a:r>
              <a:rPr lang="en-US" altLang="zh-CN" sz="2400" u="sng" dirty="0"/>
              <a:t>I</a:t>
            </a:r>
            <a:r>
              <a:rPr lang="zh-CN" altLang="en-US" sz="2400" u="sng" dirty="0"/>
              <a:t>型、</a:t>
            </a:r>
            <a:r>
              <a:rPr lang="en-US" altLang="zh-CN" sz="2400" u="sng" dirty="0"/>
              <a:t>J</a:t>
            </a:r>
            <a:r>
              <a:rPr lang="zh-CN" altLang="en-US" sz="2400" u="sng" dirty="0"/>
              <a:t>型</a:t>
            </a:r>
            <a:endParaRPr lang="en-US" altLang="zh-CN" sz="2400" u="sng" dirty="0"/>
          </a:p>
          <a:p>
            <a:pPr lvl="1"/>
            <a:r>
              <a:rPr lang="en-US" altLang="zh-CN" sz="2400" dirty="0"/>
              <a:t>CPI = 1</a:t>
            </a:r>
            <a:r>
              <a:rPr lang="zh-CN" altLang="en-US" sz="2400" dirty="0"/>
              <a:t>，时钟周期由关键路径最长的指令决定（</a:t>
            </a:r>
            <a:r>
              <a:rPr lang="en-US" altLang="zh-CN" sz="2400" dirty="0" err="1"/>
              <a:t>lw</a:t>
            </a:r>
            <a:r>
              <a:rPr lang="zh-CN" altLang="en-US" sz="2400" dirty="0"/>
              <a:t>）</a:t>
            </a:r>
            <a:endParaRPr lang="en-US" altLang="zh-CN" sz="2400" dirty="0"/>
          </a:p>
          <a:p>
            <a:pPr lvl="1"/>
            <a:r>
              <a:rPr lang="en-US" altLang="zh-CN" sz="2400" dirty="0"/>
              <a:t>CPU</a:t>
            </a:r>
            <a:r>
              <a:rPr lang="zh-CN" altLang="en-US" sz="2400" dirty="0"/>
              <a:t>执行时间 </a:t>
            </a:r>
            <a:r>
              <a:rPr lang="en-US" altLang="zh-CN" sz="2400" dirty="0"/>
              <a:t>=</a:t>
            </a:r>
            <a:r>
              <a:rPr lang="zh-CN" altLang="en-US" sz="2400" dirty="0"/>
              <a:t> 指令数 </a:t>
            </a:r>
            <a:r>
              <a:rPr lang="en-US" altLang="zh-CN" sz="2400" dirty="0"/>
              <a:t>×</a:t>
            </a:r>
            <a:r>
              <a:rPr lang="zh-CN" altLang="en-US" sz="2400" dirty="0"/>
              <a:t> </a:t>
            </a:r>
            <a:r>
              <a:rPr lang="en-US" altLang="zh-CN" sz="2400" dirty="0"/>
              <a:t>CPI</a:t>
            </a:r>
            <a:r>
              <a:rPr lang="zh-CN" altLang="en-US" sz="2400" dirty="0"/>
              <a:t> </a:t>
            </a:r>
            <a:r>
              <a:rPr lang="en-US" altLang="zh-CN" sz="2400" dirty="0"/>
              <a:t>×</a:t>
            </a:r>
            <a:r>
              <a:rPr lang="zh-CN" altLang="en-US" sz="2400" dirty="0"/>
              <a:t> 时钟周期</a:t>
            </a:r>
            <a:endParaRPr lang="en-US" altLang="zh-CN" sz="2400" dirty="0"/>
          </a:p>
        </p:txBody>
      </p:sp>
    </p:spTree>
    <p:extLst>
      <p:ext uri="{BB962C8B-B14F-4D97-AF65-F5344CB8AC3E}">
        <p14:creationId xmlns:p14="http://schemas.microsoft.com/office/powerpoint/2010/main" val="3111993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14659731-6BD7-46E7-8D3C-2F3AC07E20B1}" type="slidenum">
              <a:rPr lang="en-US" altLang="zh-CN" smtClean="0"/>
              <a:pPr/>
              <a:t>14</a:t>
            </a:fld>
            <a:endParaRPr lang="en-US" altLang="zh-CN"/>
          </a:p>
        </p:txBody>
      </p:sp>
      <p:sp>
        <p:nvSpPr>
          <p:cNvPr id="8" name="标题 7">
            <a:extLst>
              <a:ext uri="{FF2B5EF4-FFF2-40B4-BE49-F238E27FC236}">
                <a16:creationId xmlns:a16="http://schemas.microsoft.com/office/drawing/2014/main" id="{A4AFA0D0-3ABC-9E4B-A473-CF0D454A0F50}"/>
              </a:ext>
            </a:extLst>
          </p:cNvPr>
          <p:cNvSpPr>
            <a:spLocks noGrp="1"/>
          </p:cNvSpPr>
          <p:nvPr>
            <p:ph type="title"/>
          </p:nvPr>
        </p:nvSpPr>
        <p:spPr/>
        <p:txBody>
          <a:bodyPr/>
          <a:lstStyle/>
          <a:p>
            <a:r>
              <a:rPr lang="zh-CN" altLang="en-US" dirty="0"/>
              <a:t>多周期处理器重点内容</a:t>
            </a:r>
          </a:p>
        </p:txBody>
      </p:sp>
      <p:sp>
        <p:nvSpPr>
          <p:cNvPr id="7" name="Content Placeholder 2">
            <a:extLst>
              <a:ext uri="{FF2B5EF4-FFF2-40B4-BE49-F238E27FC236}">
                <a16:creationId xmlns:a16="http://schemas.microsoft.com/office/drawing/2014/main" id="{931595DE-6A6A-E249-A7F9-C47C99E8E9BA}"/>
              </a:ext>
            </a:extLst>
          </p:cNvPr>
          <p:cNvSpPr txBox="1">
            <a:spLocks/>
          </p:cNvSpPr>
          <p:nvPr/>
        </p:nvSpPr>
        <p:spPr bwMode="auto">
          <a:xfrm>
            <a:off x="549797" y="1500593"/>
            <a:ext cx="8229600" cy="52208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0">
                <a:solidFill>
                  <a:schemeClr val="tx1"/>
                </a:solidFill>
                <a:latin typeface="+mn-lt"/>
                <a:ea typeface="+mn-ea"/>
                <a:cs typeface="+mn-cs"/>
              </a:defRPr>
            </a:lvl1pPr>
            <a:lvl2pPr marL="742950" indent="-285750" algn="l" rtl="0" fontAlgn="base">
              <a:spcBef>
                <a:spcPct val="20000"/>
              </a:spcBef>
              <a:spcAft>
                <a:spcPct val="0"/>
              </a:spcAft>
              <a:buChar char="–"/>
              <a:defRPr sz="2800" b="0">
                <a:solidFill>
                  <a:schemeClr val="tx1"/>
                </a:solidFill>
                <a:latin typeface="+mn-lt"/>
                <a:ea typeface="+mn-ea"/>
              </a:defRPr>
            </a:lvl2pPr>
            <a:lvl3pPr marL="1143000" indent="-228600" algn="l" rtl="0" fontAlgn="base">
              <a:spcBef>
                <a:spcPct val="20000"/>
              </a:spcBef>
              <a:spcAft>
                <a:spcPct val="0"/>
              </a:spcAft>
              <a:buChar char="•"/>
              <a:defRPr sz="2400" b="0">
                <a:solidFill>
                  <a:schemeClr val="tx1"/>
                </a:solidFill>
                <a:latin typeface="+mn-lt"/>
                <a:ea typeface="+mn-ea"/>
              </a:defRPr>
            </a:lvl3pPr>
            <a:lvl4pPr marL="1600200" indent="-228600" algn="l" rtl="0" fontAlgn="base">
              <a:spcBef>
                <a:spcPct val="20000"/>
              </a:spcBef>
              <a:spcAft>
                <a:spcPct val="0"/>
              </a:spcAft>
              <a:buChar char="–"/>
              <a:defRPr sz="2000" b="0">
                <a:solidFill>
                  <a:schemeClr val="tx1"/>
                </a:solidFill>
                <a:latin typeface="+mn-lt"/>
                <a:ea typeface="+mn-ea"/>
              </a:defRPr>
            </a:lvl4pPr>
            <a:lvl5pPr marL="2057400" indent="-228600" algn="l" rtl="0" fontAlgn="base">
              <a:spcBef>
                <a:spcPct val="20000"/>
              </a:spcBef>
              <a:spcAft>
                <a:spcPct val="0"/>
              </a:spcAft>
              <a:buChar char="»"/>
              <a:defRPr sz="2000" b="0">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r>
              <a:rPr lang="zh-CN" altLang="en-US" sz="2000" b="1" kern="0" dirty="0"/>
              <a:t>数据通路差异：单周期</a:t>
            </a:r>
            <a:r>
              <a:rPr lang="en-US" altLang="zh-CN" sz="2000" b="1" kern="0" dirty="0"/>
              <a:t> vs. </a:t>
            </a:r>
            <a:r>
              <a:rPr lang="zh-CN" altLang="en-US" sz="2000" b="1" kern="0" dirty="0"/>
              <a:t>多周期</a:t>
            </a:r>
            <a:endParaRPr lang="en-US" altLang="zh-CN" sz="2000" b="1" kern="0" dirty="0"/>
          </a:p>
          <a:p>
            <a:pPr lvl="1"/>
            <a:r>
              <a:rPr lang="zh-CN" altLang="en-US" sz="2000" kern="0" dirty="0"/>
              <a:t>存储单元：一个存储器（指令</a:t>
            </a:r>
            <a:r>
              <a:rPr lang="en-US" altLang="zh-CN" sz="2000" kern="0" dirty="0"/>
              <a:t>+</a:t>
            </a:r>
            <a:r>
              <a:rPr lang="zh-CN" altLang="en-US" sz="2000" kern="0" dirty="0"/>
              <a:t>数据），额外的寄存器</a:t>
            </a:r>
            <a:endParaRPr lang="en-US" altLang="zh-CN" sz="2000" kern="0" dirty="0"/>
          </a:p>
          <a:p>
            <a:pPr lvl="1"/>
            <a:r>
              <a:rPr lang="zh-CN" altLang="en-US" sz="2000" kern="0" dirty="0"/>
              <a:t>计算单元：只有一个</a:t>
            </a:r>
            <a:r>
              <a:rPr lang="en-US" altLang="zh-CN" sz="2000" kern="0" dirty="0"/>
              <a:t>ALU</a:t>
            </a:r>
            <a:r>
              <a:rPr lang="zh-CN" altLang="en-US" sz="2000" kern="0" dirty="0"/>
              <a:t>，没有额外的加法器</a:t>
            </a:r>
            <a:endParaRPr lang="en-US" altLang="zh-CN" sz="2000" kern="0" dirty="0"/>
          </a:p>
          <a:p>
            <a:pPr lvl="1"/>
            <a:r>
              <a:rPr lang="zh-CN" altLang="en-US" sz="2000" kern="0" dirty="0"/>
              <a:t>数据通路：</a:t>
            </a:r>
            <a:r>
              <a:rPr lang="zh-CN" altLang="en-US" sz="2000" dirty="0"/>
              <a:t>额外的多路选择器和控制信号</a:t>
            </a:r>
            <a:endParaRPr lang="en-US" altLang="zh-CN" sz="2000" kern="0" dirty="0"/>
          </a:p>
          <a:p>
            <a:r>
              <a:rPr lang="zh-CN" altLang="en-US" sz="2000" b="1" kern="0" dirty="0"/>
              <a:t>控制信号分析</a:t>
            </a:r>
            <a:r>
              <a:rPr lang="zh-CN" altLang="en-US" sz="2000" kern="0" dirty="0"/>
              <a:t>：</a:t>
            </a:r>
            <a:endParaRPr lang="en-US" altLang="zh-CN" sz="2000" kern="0" dirty="0"/>
          </a:p>
          <a:p>
            <a:pPr lvl="1"/>
            <a:r>
              <a:rPr lang="zh-CN" altLang="en-US" sz="2000" kern="0" dirty="0"/>
              <a:t>五个步骤：取指令、译码</a:t>
            </a:r>
            <a:r>
              <a:rPr lang="en-US" altLang="zh-CN" sz="2000" kern="0" dirty="0"/>
              <a:t>&amp;</a:t>
            </a:r>
            <a:r>
              <a:rPr lang="zh-CN" altLang="en-US" sz="2000" kern="0" dirty="0"/>
              <a:t>寄存器堆读取、执行</a:t>
            </a:r>
            <a:r>
              <a:rPr lang="en-US" altLang="zh-CN" sz="2000" kern="0" dirty="0"/>
              <a:t>&amp;</a:t>
            </a:r>
            <a:r>
              <a:rPr lang="zh-CN" altLang="en-US" sz="2000" kern="0" dirty="0"/>
              <a:t>分支</a:t>
            </a:r>
            <a:r>
              <a:rPr lang="en-US" altLang="zh-CN" sz="2000" kern="0" dirty="0"/>
              <a:t>/</a:t>
            </a:r>
            <a:r>
              <a:rPr lang="zh-CN" altLang="en-US" sz="2000" kern="0" dirty="0"/>
              <a:t>跳转完成、内存访问</a:t>
            </a:r>
            <a:r>
              <a:rPr lang="en-US" altLang="zh-CN" sz="2000" kern="0" dirty="0"/>
              <a:t>&amp;R</a:t>
            </a:r>
            <a:r>
              <a:rPr lang="zh-CN" altLang="en-US" sz="2000" kern="0" dirty="0"/>
              <a:t>型指令完成、内存访问完成</a:t>
            </a:r>
            <a:endParaRPr lang="en-US" altLang="zh-CN" sz="2000" kern="0" dirty="0"/>
          </a:p>
          <a:p>
            <a:pPr lvl="1"/>
            <a:r>
              <a:rPr lang="zh-CN" altLang="en-US" sz="2000" u="sng" kern="0" dirty="0"/>
              <a:t>有限状态机：</a:t>
            </a:r>
            <a:r>
              <a:rPr lang="en-US" altLang="zh-CN" sz="2000" u="sng" kern="0" dirty="0"/>
              <a:t>R</a:t>
            </a:r>
            <a:r>
              <a:rPr lang="zh-CN" altLang="en-US" sz="2000" u="sng" kern="0" dirty="0"/>
              <a:t>型指令、分支指令、跳转指令、内存访问指令</a:t>
            </a:r>
            <a:endParaRPr lang="en-US" altLang="zh-CN" sz="2000" u="sng" kern="0" dirty="0"/>
          </a:p>
          <a:p>
            <a:pPr lvl="1"/>
            <a:r>
              <a:rPr lang="zh-CN" altLang="en-US" sz="2000" u="sng" kern="0" dirty="0"/>
              <a:t>控制信号分析和错误影响</a:t>
            </a:r>
            <a:endParaRPr lang="en-US" altLang="zh-CN" sz="2000" u="sng" kern="0" dirty="0"/>
          </a:p>
          <a:p>
            <a:r>
              <a:rPr lang="zh-CN" altLang="en-US" sz="2000" b="1" dirty="0"/>
              <a:t>异常和中断</a:t>
            </a:r>
            <a:endParaRPr lang="en-US" altLang="zh-CN" sz="2000" b="1" dirty="0"/>
          </a:p>
          <a:p>
            <a:pPr lvl="1"/>
            <a:r>
              <a:rPr lang="zh-CN" altLang="en-US" sz="2000" dirty="0"/>
              <a:t>定义与基本概念，异常的基本类型</a:t>
            </a:r>
            <a:endParaRPr lang="en-US" altLang="zh-CN" sz="2000" dirty="0"/>
          </a:p>
          <a:p>
            <a:pPr lvl="1"/>
            <a:r>
              <a:rPr lang="en-US" altLang="zh-CN" sz="2000" dirty="0"/>
              <a:t>MIPS</a:t>
            </a:r>
            <a:r>
              <a:rPr lang="zh-CN" altLang="en-US" sz="2000" dirty="0"/>
              <a:t>的异常处理方式</a:t>
            </a:r>
            <a:endParaRPr lang="en-US" altLang="zh-CN" sz="2000" dirty="0"/>
          </a:p>
        </p:txBody>
      </p:sp>
    </p:spTree>
    <p:extLst>
      <p:ext uri="{BB962C8B-B14F-4D97-AF65-F5344CB8AC3E}">
        <p14:creationId xmlns:p14="http://schemas.microsoft.com/office/powerpoint/2010/main" val="13912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9B5C6-33C6-4CF8-80A1-6DDB58160BCE}"/>
              </a:ext>
            </a:extLst>
          </p:cNvPr>
          <p:cNvSpPr>
            <a:spLocks noGrp="1"/>
          </p:cNvSpPr>
          <p:nvPr>
            <p:ph type="title"/>
          </p:nvPr>
        </p:nvSpPr>
        <p:spPr/>
        <p:txBody>
          <a:bodyPr/>
          <a:lstStyle/>
          <a:p>
            <a:r>
              <a:rPr lang="zh-CN" altLang="en-US" dirty="0">
                <a:solidFill>
                  <a:schemeClr val="tx1"/>
                </a:solidFill>
              </a:rPr>
              <a:t>精简</a:t>
            </a:r>
            <a:r>
              <a:rPr lang="en-US" altLang="zh-CN" dirty="0">
                <a:solidFill>
                  <a:schemeClr val="tx1"/>
                </a:solidFill>
              </a:rPr>
              <a:t>MIPS</a:t>
            </a:r>
            <a:r>
              <a:rPr lang="zh-CN" altLang="en-US" dirty="0">
                <a:solidFill>
                  <a:schemeClr val="tx1"/>
                </a:solidFill>
              </a:rPr>
              <a:t>子集的数据通路设计</a:t>
            </a:r>
          </a:p>
        </p:txBody>
      </p:sp>
      <p:sp>
        <p:nvSpPr>
          <p:cNvPr id="4" name="Slide Number Placeholder 3">
            <a:extLst>
              <a:ext uri="{FF2B5EF4-FFF2-40B4-BE49-F238E27FC236}">
                <a16:creationId xmlns:a16="http://schemas.microsoft.com/office/drawing/2014/main" id="{199F4B19-8434-44E4-A99E-5F7630BA665E}"/>
              </a:ext>
            </a:extLst>
          </p:cNvPr>
          <p:cNvSpPr>
            <a:spLocks noGrp="1"/>
          </p:cNvSpPr>
          <p:nvPr>
            <p:ph type="sldNum" sz="quarter" idx="12"/>
          </p:nvPr>
        </p:nvSpPr>
        <p:spPr/>
        <p:txBody>
          <a:bodyPr/>
          <a:lstStyle/>
          <a:p>
            <a:fld id="{14659731-6BD7-46E7-8D3C-2F3AC07E20B1}" type="slidenum">
              <a:rPr lang="en-US" altLang="zh-CN" smtClean="0"/>
              <a:pPr/>
              <a:t>15</a:t>
            </a:fld>
            <a:endParaRPr lang="en-US" altLang="zh-CN"/>
          </a:p>
        </p:txBody>
      </p:sp>
      <p:pic>
        <p:nvPicPr>
          <p:cNvPr id="6" name="图片 5">
            <a:extLst>
              <a:ext uri="{FF2B5EF4-FFF2-40B4-BE49-F238E27FC236}">
                <a16:creationId xmlns:a16="http://schemas.microsoft.com/office/drawing/2014/main" id="{6E8D705D-0004-4B6B-9673-CDF46CB1BFF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4916" y="1455738"/>
            <a:ext cx="8554167" cy="5343526"/>
          </a:xfrm>
          <a:prstGeom prst="rect">
            <a:avLst/>
          </a:prstGeom>
          <a:noFill/>
          <a:ln>
            <a:noFill/>
          </a:ln>
        </p:spPr>
      </p:pic>
    </p:spTree>
    <p:extLst>
      <p:ext uri="{BB962C8B-B14F-4D97-AF65-F5344CB8AC3E}">
        <p14:creationId xmlns:p14="http://schemas.microsoft.com/office/powerpoint/2010/main" val="2418987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9B5C6-33C6-4CF8-80A1-6DDB58160BCE}"/>
              </a:ext>
            </a:extLst>
          </p:cNvPr>
          <p:cNvSpPr>
            <a:spLocks noGrp="1"/>
          </p:cNvSpPr>
          <p:nvPr>
            <p:ph type="title"/>
          </p:nvPr>
        </p:nvSpPr>
        <p:spPr/>
        <p:txBody>
          <a:bodyPr/>
          <a:lstStyle/>
          <a:p>
            <a:r>
              <a:rPr lang="zh-CN" altLang="en-US" dirty="0">
                <a:solidFill>
                  <a:schemeClr val="tx1"/>
                </a:solidFill>
              </a:rPr>
              <a:t>精简</a:t>
            </a:r>
            <a:r>
              <a:rPr lang="en-US" altLang="zh-CN" dirty="0">
                <a:solidFill>
                  <a:schemeClr val="tx1"/>
                </a:solidFill>
              </a:rPr>
              <a:t>MIPS</a:t>
            </a:r>
            <a:r>
              <a:rPr lang="zh-CN" altLang="en-US" dirty="0">
                <a:solidFill>
                  <a:schemeClr val="tx1"/>
                </a:solidFill>
              </a:rPr>
              <a:t>子集的数据通路设计</a:t>
            </a:r>
          </a:p>
        </p:txBody>
      </p:sp>
      <p:sp>
        <p:nvSpPr>
          <p:cNvPr id="4" name="Slide Number Placeholder 3">
            <a:extLst>
              <a:ext uri="{FF2B5EF4-FFF2-40B4-BE49-F238E27FC236}">
                <a16:creationId xmlns:a16="http://schemas.microsoft.com/office/drawing/2014/main" id="{199F4B19-8434-44E4-A99E-5F7630BA665E}"/>
              </a:ext>
            </a:extLst>
          </p:cNvPr>
          <p:cNvSpPr>
            <a:spLocks noGrp="1"/>
          </p:cNvSpPr>
          <p:nvPr>
            <p:ph type="sldNum" sz="quarter" idx="12"/>
          </p:nvPr>
        </p:nvSpPr>
        <p:spPr/>
        <p:txBody>
          <a:bodyPr/>
          <a:lstStyle/>
          <a:p>
            <a:fld id="{14659731-6BD7-46E7-8D3C-2F3AC07E20B1}" type="slidenum">
              <a:rPr lang="en-US" altLang="zh-CN" smtClean="0"/>
              <a:pPr/>
              <a:t>16</a:t>
            </a:fld>
            <a:endParaRPr lang="en-US" altLang="zh-CN"/>
          </a:p>
        </p:txBody>
      </p:sp>
      <p:pic>
        <p:nvPicPr>
          <p:cNvPr id="6" name="图片 5">
            <a:extLst>
              <a:ext uri="{FF2B5EF4-FFF2-40B4-BE49-F238E27FC236}">
                <a16:creationId xmlns:a16="http://schemas.microsoft.com/office/drawing/2014/main" id="{6E8D705D-0004-4B6B-9673-CDF46CB1BFF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916" y="1455738"/>
            <a:ext cx="8554167" cy="5343526"/>
          </a:xfrm>
          <a:prstGeom prst="rect">
            <a:avLst/>
          </a:prstGeom>
          <a:noFill/>
          <a:ln>
            <a:noFill/>
          </a:ln>
        </p:spPr>
      </p:pic>
      <p:sp>
        <p:nvSpPr>
          <p:cNvPr id="5" name="文本框 4">
            <a:extLst>
              <a:ext uri="{FF2B5EF4-FFF2-40B4-BE49-F238E27FC236}">
                <a16:creationId xmlns:a16="http://schemas.microsoft.com/office/drawing/2014/main" id="{8C16483F-AF8C-1CEB-9C25-11B537A5A4E1}"/>
              </a:ext>
            </a:extLst>
          </p:cNvPr>
          <p:cNvSpPr txBox="1"/>
          <p:nvPr/>
        </p:nvSpPr>
        <p:spPr>
          <a:xfrm>
            <a:off x="5795159" y="2425148"/>
            <a:ext cx="3169938" cy="830997"/>
          </a:xfrm>
          <a:prstGeom prst="rect">
            <a:avLst/>
          </a:prstGeom>
          <a:solidFill>
            <a:schemeClr val="bg1">
              <a:lumMod val="85000"/>
            </a:schemeClr>
          </a:solidFill>
        </p:spPr>
        <p:txBody>
          <a:bodyPr wrap="square" rtlCol="0">
            <a:spAutoFit/>
          </a:bodyPr>
          <a:lstStyle/>
          <a:p>
            <a:pPr algn="ctr"/>
            <a:r>
              <a:rPr lang="zh-CN" altLang="en-US" sz="1600" dirty="0">
                <a:solidFill>
                  <a:srgbClr val="FF0000"/>
                </a:solidFill>
                <a:latin typeface="Arial" panose="020B0604020202020204" pitchFamily="34" charset="0"/>
                <a:ea typeface="+mj-ea"/>
                <a:cs typeface="Arial" panose="020B0604020202020204" pitchFamily="34" charset="0"/>
              </a:rPr>
              <a:t>掌握</a:t>
            </a:r>
            <a:r>
              <a:rPr lang="en-US" altLang="zh-CN" sz="1600" dirty="0">
                <a:solidFill>
                  <a:srgbClr val="FF0000"/>
                </a:solidFill>
                <a:latin typeface="Arial" panose="020B0604020202020204" pitchFamily="34" charset="0"/>
                <a:ea typeface="+mj-ea"/>
                <a:cs typeface="Arial" panose="020B0604020202020204" pitchFamily="34" charset="0"/>
              </a:rPr>
              <a:t>MIPS</a:t>
            </a:r>
            <a:r>
              <a:rPr lang="zh-CN" altLang="en-US" sz="1600" dirty="0">
                <a:solidFill>
                  <a:srgbClr val="FF0000"/>
                </a:solidFill>
                <a:latin typeface="Arial" panose="020B0604020202020204" pitchFamily="34" charset="0"/>
                <a:ea typeface="+mj-ea"/>
                <a:cs typeface="Arial" panose="020B0604020202020204" pitchFamily="34" charset="0"/>
              </a:rPr>
              <a:t>指令子集的</a:t>
            </a:r>
            <a:r>
              <a:rPr lang="zh-CN" altLang="en-US" sz="1600" u="sng" dirty="0">
                <a:solidFill>
                  <a:srgbClr val="FF0000"/>
                </a:solidFill>
                <a:latin typeface="Arial" panose="020B0604020202020204" pitchFamily="34" charset="0"/>
                <a:ea typeface="+mj-ea"/>
                <a:cs typeface="Arial" panose="020B0604020202020204" pitchFamily="34" charset="0"/>
              </a:rPr>
              <a:t>每条指令</a:t>
            </a:r>
            <a:r>
              <a:rPr lang="zh-CN" altLang="en-US" sz="1600" dirty="0">
                <a:solidFill>
                  <a:srgbClr val="FF0000"/>
                </a:solidFill>
                <a:latin typeface="Arial" panose="020B0604020202020204" pitchFamily="34" charset="0"/>
                <a:ea typeface="+mj-ea"/>
                <a:cs typeface="Arial" panose="020B0604020202020204" pitchFamily="34" charset="0"/>
              </a:rPr>
              <a:t>的执行流程和</a:t>
            </a:r>
            <a:r>
              <a:rPr lang="zh-CN" altLang="en-US" sz="1600" u="sng" dirty="0">
                <a:solidFill>
                  <a:srgbClr val="FF0000"/>
                </a:solidFill>
                <a:latin typeface="Arial" panose="020B0604020202020204" pitchFamily="34" charset="0"/>
                <a:ea typeface="+mj-ea"/>
                <a:cs typeface="Arial" panose="020B0604020202020204" pitchFamily="34" charset="0"/>
              </a:rPr>
              <a:t>关键路径延时分析</a:t>
            </a:r>
            <a:r>
              <a:rPr lang="zh-CN" altLang="en-US" sz="1600" dirty="0">
                <a:solidFill>
                  <a:srgbClr val="FF0000"/>
                </a:solidFill>
                <a:latin typeface="Arial" panose="020B0604020202020204" pitchFamily="34" charset="0"/>
                <a:ea typeface="+mj-ea"/>
                <a:cs typeface="Arial" panose="020B0604020202020204" pitchFamily="34" charset="0"/>
              </a:rPr>
              <a:t>，</a:t>
            </a:r>
            <a:r>
              <a:rPr lang="en-US" altLang="zh-CN" sz="1600" dirty="0">
                <a:solidFill>
                  <a:srgbClr val="FF0000"/>
                </a:solidFill>
                <a:latin typeface="Arial" panose="020B0604020202020204" pitchFamily="34" charset="0"/>
                <a:ea typeface="+mj-ea"/>
                <a:cs typeface="Arial" panose="020B0604020202020204" pitchFamily="34" charset="0"/>
              </a:rPr>
              <a:t>add, </a:t>
            </a:r>
            <a:r>
              <a:rPr lang="en-US" altLang="zh-CN" sz="1600" dirty="0" err="1">
                <a:solidFill>
                  <a:srgbClr val="FF0000"/>
                </a:solidFill>
                <a:latin typeface="Arial" panose="020B0604020202020204" pitchFamily="34" charset="0"/>
                <a:ea typeface="+mj-ea"/>
                <a:cs typeface="Arial" panose="020B0604020202020204" pitchFamily="34" charset="0"/>
              </a:rPr>
              <a:t>addi</a:t>
            </a:r>
            <a:r>
              <a:rPr lang="en-US" altLang="zh-CN" sz="1600" dirty="0">
                <a:solidFill>
                  <a:srgbClr val="FF0000"/>
                </a:solidFill>
                <a:latin typeface="Arial" panose="020B0604020202020204" pitchFamily="34" charset="0"/>
                <a:ea typeface="+mj-ea"/>
                <a:cs typeface="Arial" panose="020B0604020202020204" pitchFamily="34" charset="0"/>
              </a:rPr>
              <a:t>, </a:t>
            </a:r>
            <a:r>
              <a:rPr lang="en-US" altLang="zh-CN" sz="1600" dirty="0" err="1">
                <a:solidFill>
                  <a:srgbClr val="FF0000"/>
                </a:solidFill>
                <a:latin typeface="Arial" panose="020B0604020202020204" pitchFamily="34" charset="0"/>
                <a:ea typeface="+mj-ea"/>
                <a:cs typeface="Arial" panose="020B0604020202020204" pitchFamily="34" charset="0"/>
              </a:rPr>
              <a:t>lw</a:t>
            </a:r>
            <a:r>
              <a:rPr lang="en-US" altLang="zh-CN" sz="1600" dirty="0">
                <a:solidFill>
                  <a:srgbClr val="FF0000"/>
                </a:solidFill>
                <a:latin typeface="Arial" panose="020B0604020202020204" pitchFamily="34" charset="0"/>
                <a:ea typeface="+mj-ea"/>
                <a:cs typeface="Arial" panose="020B0604020202020204" pitchFamily="34" charset="0"/>
              </a:rPr>
              <a:t>, </a:t>
            </a:r>
            <a:r>
              <a:rPr lang="en-US" altLang="zh-CN" sz="1600" dirty="0" err="1">
                <a:solidFill>
                  <a:srgbClr val="FF0000"/>
                </a:solidFill>
                <a:latin typeface="Arial" panose="020B0604020202020204" pitchFamily="34" charset="0"/>
                <a:ea typeface="+mj-ea"/>
                <a:cs typeface="Arial" panose="020B0604020202020204" pitchFamily="34" charset="0"/>
              </a:rPr>
              <a:t>sw</a:t>
            </a:r>
            <a:r>
              <a:rPr lang="en-US" altLang="zh-CN" sz="1600" dirty="0">
                <a:solidFill>
                  <a:srgbClr val="FF0000"/>
                </a:solidFill>
                <a:latin typeface="Arial" panose="020B0604020202020204" pitchFamily="34" charset="0"/>
                <a:ea typeface="+mj-ea"/>
                <a:cs typeface="Arial" panose="020B0604020202020204" pitchFamily="34" charset="0"/>
              </a:rPr>
              <a:t>, </a:t>
            </a:r>
            <a:r>
              <a:rPr lang="en-US" altLang="zh-CN" sz="1600" dirty="0" err="1">
                <a:solidFill>
                  <a:srgbClr val="FF0000"/>
                </a:solidFill>
                <a:latin typeface="Arial" panose="020B0604020202020204" pitchFamily="34" charset="0"/>
                <a:ea typeface="+mj-ea"/>
                <a:cs typeface="Arial" panose="020B0604020202020204" pitchFamily="34" charset="0"/>
              </a:rPr>
              <a:t>beq</a:t>
            </a:r>
            <a:r>
              <a:rPr lang="en-US" altLang="zh-CN" sz="1600" dirty="0">
                <a:solidFill>
                  <a:srgbClr val="FF0000"/>
                </a:solidFill>
                <a:latin typeface="Arial" panose="020B0604020202020204" pitchFamily="34" charset="0"/>
                <a:ea typeface="+mj-ea"/>
                <a:cs typeface="Arial" panose="020B0604020202020204" pitchFamily="34" charset="0"/>
              </a:rPr>
              <a:t>, j</a:t>
            </a:r>
            <a:r>
              <a:rPr lang="zh-CN" altLang="en-US" sz="1600" dirty="0">
                <a:solidFill>
                  <a:srgbClr val="FF0000"/>
                </a:solidFill>
                <a:latin typeface="Arial" panose="020B0604020202020204" pitchFamily="34" charset="0"/>
                <a:ea typeface="+mj-ea"/>
                <a:cs typeface="Arial" panose="020B0604020202020204" pitchFamily="34" charset="0"/>
              </a:rPr>
              <a:t>等</a:t>
            </a:r>
          </a:p>
        </p:txBody>
      </p:sp>
    </p:spTree>
    <p:extLst>
      <p:ext uri="{BB962C8B-B14F-4D97-AF65-F5344CB8AC3E}">
        <p14:creationId xmlns:p14="http://schemas.microsoft.com/office/powerpoint/2010/main" val="2223403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9B5C6-33C6-4CF8-80A1-6DDB58160BCE}"/>
              </a:ext>
            </a:extLst>
          </p:cNvPr>
          <p:cNvSpPr>
            <a:spLocks noGrp="1"/>
          </p:cNvSpPr>
          <p:nvPr>
            <p:ph type="title"/>
          </p:nvPr>
        </p:nvSpPr>
        <p:spPr/>
        <p:txBody>
          <a:bodyPr/>
          <a:lstStyle/>
          <a:p>
            <a:r>
              <a:rPr lang="zh-CN" altLang="en-US" dirty="0">
                <a:solidFill>
                  <a:schemeClr val="tx1"/>
                </a:solidFill>
              </a:rPr>
              <a:t>控制信号分析</a:t>
            </a:r>
          </a:p>
        </p:txBody>
      </p:sp>
      <p:sp>
        <p:nvSpPr>
          <p:cNvPr id="4" name="Slide Number Placeholder 3">
            <a:extLst>
              <a:ext uri="{FF2B5EF4-FFF2-40B4-BE49-F238E27FC236}">
                <a16:creationId xmlns:a16="http://schemas.microsoft.com/office/drawing/2014/main" id="{199F4B19-8434-44E4-A99E-5F7630BA665E}"/>
              </a:ext>
            </a:extLst>
          </p:cNvPr>
          <p:cNvSpPr>
            <a:spLocks noGrp="1"/>
          </p:cNvSpPr>
          <p:nvPr>
            <p:ph type="sldNum" sz="quarter" idx="12"/>
          </p:nvPr>
        </p:nvSpPr>
        <p:spPr/>
        <p:txBody>
          <a:bodyPr/>
          <a:lstStyle/>
          <a:p>
            <a:fld id="{14659731-6BD7-46E7-8D3C-2F3AC07E20B1}" type="slidenum">
              <a:rPr lang="en-US" altLang="zh-CN" smtClean="0"/>
              <a:pPr/>
              <a:t>17</a:t>
            </a:fld>
            <a:endParaRPr lang="en-US" altLang="zh-CN"/>
          </a:p>
        </p:txBody>
      </p:sp>
      <p:sp>
        <p:nvSpPr>
          <p:cNvPr id="203" name="Rectangle 3">
            <a:extLst>
              <a:ext uri="{FF2B5EF4-FFF2-40B4-BE49-F238E27FC236}">
                <a16:creationId xmlns:a16="http://schemas.microsoft.com/office/drawing/2014/main" id="{4CADA954-7675-4B80-9307-A7A7CA493D7B}"/>
              </a:ext>
            </a:extLst>
          </p:cNvPr>
          <p:cNvSpPr txBox="1">
            <a:spLocks noChangeArrowheads="1"/>
          </p:cNvSpPr>
          <p:nvPr/>
        </p:nvSpPr>
        <p:spPr bwMode="auto">
          <a:xfrm>
            <a:off x="295614" y="1434077"/>
            <a:ext cx="4787900" cy="1467068"/>
          </a:xfrm>
          <a:prstGeom prst="rect">
            <a:avLst/>
          </a:prstGeom>
          <a:noFill/>
          <a:ln>
            <a:noFill/>
          </a:ln>
          <a:effectLst/>
          <a:extLst>
            <a:ext uri="{91240B29-F687-4f45-9708-019B960494DF}">
              <a14:hiddenLine xmlns="" xmlns:a14="http://schemas.microsoft.com/office/drawing/2010/main" w="12700">
                <a:solidFill>
                  <a:schemeClr val="tx1"/>
                </a:solidFill>
                <a:miter lim="800000"/>
                <a:headEnd/>
                <a:tailEnd/>
              </a14:hiddenLine>
            </a:ext>
          </a:extLst>
        </p:spPr>
        <p:txBody>
          <a:bodyPr vert="horz" wrap="square" lIns="63500" tIns="25400" rIns="63500" bIns="25400" numCol="1" anchor="t" anchorCtr="0" compatLnSpc="1">
            <a:prstTxWarp prst="textNoShape">
              <a:avLst/>
            </a:prstTxWarp>
            <a:spAutoFit/>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tabLst>
                <a:tab pos="1600200" algn="l"/>
              </a:tabLst>
            </a:pPr>
            <a:r>
              <a:rPr lang="en-US" altLang="zh-CN" sz="2000" b="0" u="sng" kern="0" dirty="0" err="1">
                <a:solidFill>
                  <a:schemeClr val="accent2"/>
                </a:solidFill>
              </a:rPr>
              <a:t>PCSrc</a:t>
            </a:r>
            <a:r>
              <a:rPr lang="zh-CN" altLang="en-US" sz="2000" b="0" kern="0" dirty="0">
                <a:solidFill>
                  <a:schemeClr val="accent2"/>
                </a:solidFill>
              </a:rPr>
              <a:t>：     </a:t>
            </a:r>
            <a:r>
              <a:rPr lang="en-US" altLang="zh-CN" sz="2000" b="0" kern="0" dirty="0"/>
              <a:t>0-</a:t>
            </a:r>
            <a:r>
              <a:rPr lang="zh-CN" altLang="en-US" sz="2000" b="0" kern="0" dirty="0"/>
              <a:t>顺序，</a:t>
            </a:r>
            <a:r>
              <a:rPr lang="en-US" altLang="zh-CN" sz="2000" b="0" u="sng" kern="0" dirty="0"/>
              <a:t>1-</a:t>
            </a:r>
            <a:r>
              <a:rPr lang="zh-CN" altLang="en-US" sz="2000" b="0" u="sng" kern="0" dirty="0"/>
              <a:t>分支跳转</a:t>
            </a:r>
            <a:endParaRPr lang="en-US" altLang="en-US" sz="2000" b="0" u="sng" kern="0" dirty="0"/>
          </a:p>
          <a:p>
            <a:pPr eaLnBrk="1" hangingPunct="1">
              <a:tabLst>
                <a:tab pos="1600200" algn="l"/>
              </a:tabLst>
            </a:pPr>
            <a:r>
              <a:rPr lang="en-US" altLang="en-US" sz="2000" b="0" kern="0" dirty="0" err="1">
                <a:solidFill>
                  <a:schemeClr val="accent2"/>
                </a:solidFill>
              </a:rPr>
              <a:t>ExtOp</a:t>
            </a:r>
            <a:r>
              <a:rPr lang="en-US" altLang="en-US" sz="2000" b="0" kern="0" dirty="0">
                <a:solidFill>
                  <a:schemeClr val="accent2"/>
                </a:solidFill>
              </a:rPr>
              <a:t>:</a:t>
            </a:r>
            <a:r>
              <a:rPr lang="en-US" altLang="en-US" sz="2000" b="0" kern="0" dirty="0"/>
              <a:t>	</a:t>
            </a:r>
            <a:r>
              <a:rPr lang="en-US" altLang="en-US" sz="2000" b="0" kern="0" dirty="0">
                <a:latin typeface="Arial" charset="0"/>
              </a:rPr>
              <a:t>“</a:t>
            </a:r>
            <a:r>
              <a:rPr lang="en-US" altLang="en-US" sz="2000" b="0" kern="0" dirty="0"/>
              <a:t>zero</a:t>
            </a:r>
            <a:r>
              <a:rPr lang="en-US" altLang="en-US" sz="2000" b="0" kern="0" dirty="0">
                <a:latin typeface="Arial" charset="0"/>
              </a:rPr>
              <a:t>”</a:t>
            </a:r>
            <a:r>
              <a:rPr lang="en-US" altLang="en-US" sz="2000" b="0" kern="0" dirty="0"/>
              <a:t>, </a:t>
            </a:r>
            <a:r>
              <a:rPr lang="en-US" altLang="en-US" sz="2000" b="0" kern="0" dirty="0">
                <a:latin typeface="Arial" charset="0"/>
              </a:rPr>
              <a:t>“</a:t>
            </a:r>
            <a:r>
              <a:rPr lang="en-US" altLang="en-US" sz="2000" b="0" kern="0" dirty="0"/>
              <a:t>sign</a:t>
            </a:r>
            <a:r>
              <a:rPr lang="en-US" altLang="en-US" sz="2000" b="0" kern="0" dirty="0">
                <a:latin typeface="Arial" charset="0"/>
              </a:rPr>
              <a:t>”</a:t>
            </a:r>
            <a:endParaRPr lang="en-US" altLang="en-US" sz="2000" b="0" kern="0" dirty="0"/>
          </a:p>
          <a:p>
            <a:pPr eaLnBrk="1" hangingPunct="1">
              <a:tabLst>
                <a:tab pos="1600200" algn="l"/>
              </a:tabLst>
            </a:pPr>
            <a:r>
              <a:rPr lang="en-US" altLang="en-US" sz="2000" u="sng" kern="0" dirty="0" err="1">
                <a:solidFill>
                  <a:schemeClr val="accent2"/>
                </a:solidFill>
              </a:rPr>
              <a:t>ALU</a:t>
            </a:r>
            <a:r>
              <a:rPr lang="en-US" altLang="zh-CN" sz="2000" u="sng" kern="0" dirty="0" err="1">
                <a:solidFill>
                  <a:schemeClr val="accent2"/>
                </a:solidFill>
              </a:rPr>
              <a:t>S</a:t>
            </a:r>
            <a:r>
              <a:rPr lang="en-US" altLang="en-US" sz="2000" u="sng" kern="0" dirty="0" err="1">
                <a:solidFill>
                  <a:schemeClr val="accent2"/>
                </a:solidFill>
              </a:rPr>
              <a:t>rc</a:t>
            </a:r>
            <a:r>
              <a:rPr lang="en-US" altLang="en-US" sz="2000" b="0" kern="0" dirty="0">
                <a:solidFill>
                  <a:schemeClr val="accent2"/>
                </a:solidFill>
              </a:rPr>
              <a:t>:</a:t>
            </a:r>
            <a:r>
              <a:rPr lang="en-US" altLang="en-US" sz="2000" b="0" kern="0" dirty="0"/>
              <a:t>	0 </a:t>
            </a:r>
            <a:r>
              <a:rPr lang="en-US" altLang="en-US" sz="2000" b="0" kern="0" dirty="0">
                <a:sym typeface="Symbol" pitchFamily="18" charset="2"/>
              </a:rPr>
              <a:t></a:t>
            </a:r>
            <a:r>
              <a:rPr lang="en-US" altLang="en-US" sz="2000" b="0" kern="0" dirty="0"/>
              <a:t> </a:t>
            </a:r>
            <a:r>
              <a:rPr lang="en-US" altLang="en-US" sz="2000" b="0" kern="0" dirty="0" err="1"/>
              <a:t>regB</a:t>
            </a:r>
            <a:r>
              <a:rPr lang="en-US" altLang="en-US" sz="2000" b="0" kern="0" dirty="0"/>
              <a:t>; 1 </a:t>
            </a:r>
            <a:r>
              <a:rPr lang="en-US" altLang="en-US" sz="2000" b="0" kern="0" dirty="0">
                <a:sym typeface="Symbol" pitchFamily="18" charset="2"/>
              </a:rPr>
              <a:t></a:t>
            </a:r>
            <a:r>
              <a:rPr lang="en-US" altLang="en-US" sz="2000" b="0" kern="0" dirty="0"/>
              <a:t> imm32</a:t>
            </a:r>
          </a:p>
          <a:p>
            <a:pPr eaLnBrk="1" hangingPunct="1">
              <a:tabLst>
                <a:tab pos="1600200" algn="l"/>
              </a:tabLst>
            </a:pPr>
            <a:r>
              <a:rPr lang="en-US" altLang="en-US" sz="2000" b="0" kern="0" dirty="0" err="1">
                <a:solidFill>
                  <a:schemeClr val="accent2"/>
                </a:solidFill>
              </a:rPr>
              <a:t>ALUConf</a:t>
            </a:r>
            <a:r>
              <a:rPr lang="en-US" altLang="en-US" sz="2000" b="0" kern="0" dirty="0">
                <a:solidFill>
                  <a:schemeClr val="accent2"/>
                </a:solidFill>
              </a:rPr>
              <a:t>:</a:t>
            </a:r>
            <a:r>
              <a:rPr lang="en-US" altLang="en-US" sz="2000" b="0" kern="0" dirty="0"/>
              <a:t>	</a:t>
            </a:r>
            <a:r>
              <a:rPr lang="en-US" altLang="en-US" sz="2000" b="0" kern="0" dirty="0">
                <a:latin typeface="Arial" charset="0"/>
              </a:rPr>
              <a:t>“</a:t>
            </a:r>
            <a:r>
              <a:rPr lang="en-US" altLang="en-US" sz="2000" b="0" kern="0" dirty="0"/>
              <a:t>add</a:t>
            </a:r>
            <a:r>
              <a:rPr lang="en-US" altLang="en-US" sz="2000" b="0" kern="0" dirty="0">
                <a:latin typeface="Arial" charset="0"/>
              </a:rPr>
              <a:t>”</a:t>
            </a:r>
            <a:r>
              <a:rPr lang="en-US" altLang="en-US" sz="2000" b="0" kern="0" dirty="0"/>
              <a:t>, </a:t>
            </a:r>
            <a:r>
              <a:rPr lang="en-US" altLang="en-US" sz="2000" b="0" kern="0" dirty="0">
                <a:latin typeface="Arial" charset="0"/>
              </a:rPr>
              <a:t>“</a:t>
            </a:r>
            <a:r>
              <a:rPr lang="en-US" altLang="en-US" sz="2000" b="0" kern="0" dirty="0"/>
              <a:t>sub</a:t>
            </a:r>
            <a:r>
              <a:rPr lang="en-US" altLang="en-US" sz="2000" b="0" kern="0" dirty="0">
                <a:latin typeface="Arial" charset="0"/>
              </a:rPr>
              <a:t>”</a:t>
            </a:r>
            <a:r>
              <a:rPr lang="en-US" altLang="en-US" sz="2000" b="0" kern="0" dirty="0"/>
              <a:t>, </a:t>
            </a:r>
            <a:r>
              <a:rPr lang="en-US" altLang="en-US" sz="2000" b="0" kern="0" dirty="0">
                <a:latin typeface="Arial" charset="0"/>
              </a:rPr>
              <a:t>“</a:t>
            </a:r>
            <a:r>
              <a:rPr lang="en-US" altLang="en-US" sz="2000" b="0" kern="0" dirty="0"/>
              <a:t>or</a:t>
            </a:r>
            <a:r>
              <a:rPr lang="en-US" altLang="en-US" sz="2000" b="0" kern="0" dirty="0">
                <a:latin typeface="Arial" charset="0"/>
              </a:rPr>
              <a:t>”</a:t>
            </a:r>
            <a:endParaRPr lang="en-US" altLang="en-US" sz="2000" b="0" kern="0" dirty="0"/>
          </a:p>
        </p:txBody>
      </p:sp>
      <p:sp>
        <p:nvSpPr>
          <p:cNvPr id="204" name="Rectangle 3">
            <a:extLst>
              <a:ext uri="{FF2B5EF4-FFF2-40B4-BE49-F238E27FC236}">
                <a16:creationId xmlns:a16="http://schemas.microsoft.com/office/drawing/2014/main" id="{CBC89FC5-AFBE-4678-B306-D27D98F9D31D}"/>
              </a:ext>
            </a:extLst>
          </p:cNvPr>
          <p:cNvSpPr txBox="1">
            <a:spLocks noChangeArrowheads="1"/>
          </p:cNvSpPr>
          <p:nvPr/>
        </p:nvSpPr>
        <p:spPr bwMode="auto">
          <a:xfrm>
            <a:off x="4787144" y="1436514"/>
            <a:ext cx="4787900" cy="1467068"/>
          </a:xfrm>
          <a:prstGeom prst="rect">
            <a:avLst/>
          </a:prstGeom>
          <a:noFill/>
          <a:ln>
            <a:noFill/>
          </a:ln>
          <a:effectLst/>
          <a:extLst>
            <a:ext uri="{91240B29-F687-4f45-9708-019B960494DF}">
              <a14:hiddenLine xmlns="" xmlns:a14="http://schemas.microsoft.com/office/drawing/2010/main" w="12700">
                <a:solidFill>
                  <a:schemeClr val="tx1"/>
                </a:solidFill>
                <a:miter lim="800000"/>
                <a:headEnd/>
                <a:tailEnd/>
              </a14:hiddenLine>
            </a:ext>
          </a:extLst>
        </p:spPr>
        <p:txBody>
          <a:bodyPr vert="horz" wrap="square" lIns="63500" tIns="25400" rIns="63500" bIns="25400" numCol="1" anchor="t" anchorCtr="0" compatLnSpc="1">
            <a:prstTxWarp prst="textNoShape">
              <a:avLst/>
            </a:prstTxWarp>
            <a:spAutoFit/>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tabLst>
                <a:tab pos="1600200" algn="l"/>
              </a:tabLst>
            </a:pPr>
            <a:r>
              <a:rPr lang="en-US" altLang="zh-CN" sz="2000" b="0" kern="0" dirty="0" err="1">
                <a:solidFill>
                  <a:schemeClr val="accent2"/>
                </a:solidFill>
              </a:rPr>
              <a:t>MemWr</a:t>
            </a:r>
            <a:r>
              <a:rPr lang="zh-CN" altLang="en-US" sz="2000" b="0" kern="0" dirty="0">
                <a:solidFill>
                  <a:schemeClr val="accent2"/>
                </a:solidFill>
              </a:rPr>
              <a:t>：</a:t>
            </a:r>
            <a:r>
              <a:rPr lang="en-US" altLang="zh-CN" sz="2000" b="0" kern="0" dirty="0">
                <a:solidFill>
                  <a:schemeClr val="accent2"/>
                </a:solidFill>
              </a:rPr>
              <a:t>		</a:t>
            </a:r>
            <a:r>
              <a:rPr lang="en-US" altLang="zh-CN" sz="2000" b="0" kern="0" dirty="0"/>
              <a:t>1</a:t>
            </a:r>
            <a:r>
              <a:rPr lang="en-US" altLang="en-US" sz="2000" b="0" dirty="0">
                <a:latin typeface="Times New Roman" pitchFamily="18" charset="0"/>
                <a:sym typeface="Symbol" pitchFamily="18" charset="2"/>
              </a:rPr>
              <a:t>   </a:t>
            </a:r>
            <a:r>
              <a:rPr lang="en-US" altLang="zh-CN" sz="2000" b="0" kern="0" dirty="0"/>
              <a:t>write memory</a:t>
            </a:r>
            <a:endParaRPr lang="en-US" altLang="en-US" sz="2000" b="0" kern="0" dirty="0"/>
          </a:p>
          <a:p>
            <a:pPr eaLnBrk="1" hangingPunct="1">
              <a:tabLst>
                <a:tab pos="1600200" algn="l"/>
              </a:tabLst>
            </a:pPr>
            <a:r>
              <a:rPr lang="en-US" altLang="en-US" sz="2000" b="0" kern="0" dirty="0" err="1">
                <a:solidFill>
                  <a:schemeClr val="accent2"/>
                </a:solidFill>
              </a:rPr>
              <a:t>MemtoReg</a:t>
            </a:r>
            <a:r>
              <a:rPr lang="en-US" altLang="en-US" sz="2000" b="0" kern="0" dirty="0">
                <a:solidFill>
                  <a:schemeClr val="accent2"/>
                </a:solidFill>
              </a:rPr>
              <a:t>:	</a:t>
            </a:r>
            <a:r>
              <a:rPr lang="en-US" altLang="en-US" sz="2000" b="0" kern="0" dirty="0"/>
              <a:t>0 </a:t>
            </a:r>
            <a:r>
              <a:rPr lang="en-US" altLang="en-US" sz="2000" b="0" kern="0" dirty="0">
                <a:sym typeface="Symbol" pitchFamily="18" charset="2"/>
              </a:rPr>
              <a:t></a:t>
            </a:r>
            <a:r>
              <a:rPr lang="en-US" altLang="en-US" sz="2000" b="0" kern="0" dirty="0"/>
              <a:t> ALU; 1 </a:t>
            </a:r>
            <a:r>
              <a:rPr lang="en-US" altLang="en-US" sz="2000" b="0" kern="0" dirty="0">
                <a:sym typeface="Symbol" pitchFamily="18" charset="2"/>
              </a:rPr>
              <a:t></a:t>
            </a:r>
            <a:r>
              <a:rPr lang="en-US" altLang="en-US" sz="2000" b="0" kern="0" dirty="0"/>
              <a:t> Mem</a:t>
            </a:r>
          </a:p>
          <a:p>
            <a:pPr eaLnBrk="1" hangingPunct="1">
              <a:tabLst>
                <a:tab pos="1600200" algn="l"/>
              </a:tabLst>
            </a:pPr>
            <a:r>
              <a:rPr lang="en-US" altLang="en-US" sz="2000" b="0" u="sng" kern="0" dirty="0" err="1">
                <a:solidFill>
                  <a:schemeClr val="accent2"/>
                </a:solidFill>
              </a:rPr>
              <a:t>RegDst</a:t>
            </a:r>
            <a:r>
              <a:rPr lang="en-US" altLang="en-US" sz="2000" b="0" kern="0" dirty="0">
                <a:solidFill>
                  <a:schemeClr val="accent2"/>
                </a:solidFill>
              </a:rPr>
              <a:t>:</a:t>
            </a:r>
            <a:r>
              <a:rPr lang="en-US" altLang="en-US" sz="2000" b="0" kern="0" dirty="0"/>
              <a:t>	  	0 </a:t>
            </a:r>
            <a:r>
              <a:rPr lang="en-US" altLang="en-US" sz="2000" b="0" kern="0" dirty="0">
                <a:sym typeface="Symbol" pitchFamily="18" charset="2"/>
              </a:rPr>
              <a:t></a:t>
            </a:r>
            <a:r>
              <a:rPr lang="en-US" altLang="en-US" sz="2000" b="0" kern="0" dirty="0"/>
              <a:t> “Rt”; 1 </a:t>
            </a:r>
            <a:r>
              <a:rPr lang="en-US" altLang="en-US" sz="2000" b="0" kern="0" dirty="0">
                <a:sym typeface="Symbol" pitchFamily="18" charset="2"/>
              </a:rPr>
              <a:t></a:t>
            </a:r>
            <a:r>
              <a:rPr lang="en-US" altLang="en-US" sz="2000" b="0" kern="0" dirty="0"/>
              <a:t> “Rd”</a:t>
            </a:r>
          </a:p>
          <a:p>
            <a:pPr eaLnBrk="1" hangingPunct="1">
              <a:tabLst>
                <a:tab pos="1600200" algn="l"/>
              </a:tabLst>
            </a:pPr>
            <a:r>
              <a:rPr lang="en-US" altLang="en-US" sz="2000" b="0" kern="0" dirty="0" err="1">
                <a:solidFill>
                  <a:schemeClr val="accent2"/>
                </a:solidFill>
              </a:rPr>
              <a:t>RegWr</a:t>
            </a:r>
            <a:r>
              <a:rPr lang="en-US" altLang="en-US" sz="2000" b="0" kern="0" dirty="0">
                <a:solidFill>
                  <a:schemeClr val="accent2"/>
                </a:solidFill>
              </a:rPr>
              <a:t>:</a:t>
            </a:r>
            <a:r>
              <a:rPr lang="en-US" altLang="en-US" sz="2000" b="0" kern="0" dirty="0"/>
              <a:t>	</a:t>
            </a:r>
            <a:r>
              <a:rPr lang="en-US" altLang="zh-CN" sz="2000" b="0" kern="0" dirty="0"/>
              <a:t>  	1</a:t>
            </a:r>
            <a:r>
              <a:rPr lang="en-US" altLang="en-US" sz="2000" b="0" kern="0" dirty="0">
                <a:sym typeface="Symbol" pitchFamily="18" charset="2"/>
              </a:rPr>
              <a:t>  </a:t>
            </a:r>
            <a:r>
              <a:rPr lang="en-US" altLang="zh-CN" sz="2000" b="0" kern="0" dirty="0"/>
              <a:t>write registers</a:t>
            </a:r>
            <a:endParaRPr lang="en-US" altLang="en-US" sz="2000" b="0" kern="0" dirty="0"/>
          </a:p>
        </p:txBody>
      </p:sp>
      <p:pic>
        <p:nvPicPr>
          <p:cNvPr id="3" name="图片 2">
            <a:extLst>
              <a:ext uri="{FF2B5EF4-FFF2-40B4-BE49-F238E27FC236}">
                <a16:creationId xmlns:a16="http://schemas.microsoft.com/office/drawing/2014/main" id="{64DF0FDC-33B4-4AD2-A9F5-04BDAA99CD7D}"/>
              </a:ext>
            </a:extLst>
          </p:cNvPr>
          <p:cNvPicPr>
            <a:picLocks noChangeAspect="1"/>
          </p:cNvPicPr>
          <p:nvPr/>
        </p:nvPicPr>
        <p:blipFill>
          <a:blip r:embed="rId2"/>
          <a:stretch>
            <a:fillRect/>
          </a:stretch>
        </p:blipFill>
        <p:spPr>
          <a:xfrm>
            <a:off x="1327033" y="2901145"/>
            <a:ext cx="6292967" cy="3927494"/>
          </a:xfrm>
          <a:prstGeom prst="rect">
            <a:avLst/>
          </a:prstGeom>
        </p:spPr>
      </p:pic>
      <p:sp>
        <p:nvSpPr>
          <p:cNvPr id="5" name="文本框 4">
            <a:extLst>
              <a:ext uri="{FF2B5EF4-FFF2-40B4-BE49-F238E27FC236}">
                <a16:creationId xmlns:a16="http://schemas.microsoft.com/office/drawing/2014/main" id="{812F7102-6188-B3E7-C05C-557B9A8683B1}"/>
              </a:ext>
            </a:extLst>
          </p:cNvPr>
          <p:cNvSpPr txBox="1"/>
          <p:nvPr/>
        </p:nvSpPr>
        <p:spPr>
          <a:xfrm>
            <a:off x="7421559" y="3673126"/>
            <a:ext cx="1463682" cy="646331"/>
          </a:xfrm>
          <a:prstGeom prst="rect">
            <a:avLst/>
          </a:prstGeom>
          <a:noFill/>
        </p:spPr>
        <p:txBody>
          <a:bodyPr wrap="square" rtlCol="0">
            <a:spAutoFit/>
          </a:bodyPr>
          <a:lstStyle/>
          <a:p>
            <a:pPr algn="ctr"/>
            <a:r>
              <a:rPr kumimoji="1" lang="en-US" altLang="zh-CN" dirty="0">
                <a:solidFill>
                  <a:srgbClr val="FF0000"/>
                </a:solidFill>
                <a:ea typeface="SimHei" panose="02010609060101010101" pitchFamily="49" charset="-122"/>
              </a:rPr>
              <a:t>0/1</a:t>
            </a:r>
            <a:r>
              <a:rPr kumimoji="1" lang="zh-CN" altLang="en-US" dirty="0">
                <a:solidFill>
                  <a:srgbClr val="FF0000"/>
                </a:solidFill>
                <a:ea typeface="SimHei" panose="02010609060101010101" pitchFamily="49" charset="-122"/>
              </a:rPr>
              <a:t>根据实际情况判断</a:t>
            </a:r>
          </a:p>
        </p:txBody>
      </p:sp>
    </p:spTree>
    <p:extLst>
      <p:ext uri="{BB962C8B-B14F-4D97-AF65-F5344CB8AC3E}">
        <p14:creationId xmlns:p14="http://schemas.microsoft.com/office/powerpoint/2010/main" val="2235580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7"/>
          <p:cNvSpPr>
            <a:spLocks noChangeArrowheads="1"/>
          </p:cNvSpPr>
          <p:nvPr/>
        </p:nvSpPr>
        <p:spPr bwMode="auto">
          <a:xfrm>
            <a:off x="304800" y="1597055"/>
            <a:ext cx="8610600" cy="304800"/>
          </a:xfrm>
          <a:prstGeom prst="rect">
            <a:avLst/>
          </a:prstGeom>
          <a:solidFill>
            <a:schemeClr val="folHlink"/>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66566" name="Rectangle 2"/>
          <p:cNvSpPr>
            <a:spLocks noGrp="1" noChangeArrowheads="1"/>
          </p:cNvSpPr>
          <p:nvPr>
            <p:ph type="title"/>
          </p:nvPr>
        </p:nvSpPr>
        <p:spPr>
          <a:xfrm>
            <a:off x="1752600" y="304800"/>
            <a:ext cx="5854700" cy="720725"/>
          </a:xfrm>
          <a:noFill/>
          <a:extLst>
            <a:ext uri="{91240B29-F687-4f45-9708-019B960494DF}">
              <a14:hiddenLine xmlns="" xmlns:a14="http://schemas.microsoft.com/office/drawing/2010/main" w="12700">
                <a:solidFill>
                  <a:schemeClr val="tx1"/>
                </a:solidFill>
                <a:miter lim="800000"/>
                <a:headEnd/>
                <a:tailEnd/>
              </a14:hiddenLine>
            </a:ext>
          </a:extLst>
        </p:spPr>
        <p:txBody>
          <a:bodyPr wrap="none" lIns="63500" tIns="25400" rIns="63500" bIns="25400" anchor="t">
            <a:spAutoFit/>
          </a:bodyPr>
          <a:lstStyle/>
          <a:p>
            <a:pPr eaLnBrk="1" hangingPunct="1"/>
            <a:r>
              <a:rPr lang="en-US" altLang="zh-CN" dirty="0"/>
              <a:t>MIPS</a:t>
            </a:r>
            <a:r>
              <a:rPr lang="zh-CN" altLang="en-US" dirty="0"/>
              <a:t>子集控制信号小结</a:t>
            </a:r>
          </a:p>
        </p:txBody>
      </p:sp>
      <p:sp>
        <p:nvSpPr>
          <p:cNvPr id="1664003" name="Rectangle 3"/>
          <p:cNvSpPr>
            <a:spLocks noChangeArrowheads="1"/>
          </p:cNvSpPr>
          <p:nvPr/>
        </p:nvSpPr>
        <p:spPr bwMode="auto">
          <a:xfrm>
            <a:off x="304800" y="1579593"/>
            <a:ext cx="8640763" cy="5014193"/>
          </a:xfrm>
          <a:prstGeom prst="rect">
            <a:avLst/>
          </a:prstGeom>
          <a:noFill/>
          <a:ln w="19050">
            <a:solidFill>
              <a:srgbClr val="3333CC"/>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tabLst>
                <a:tab pos="914400" algn="l"/>
                <a:tab pos="5092700" algn="l"/>
              </a:tabLst>
            </a:pPr>
            <a:r>
              <a:rPr lang="en-US" altLang="en-US" sz="1600" dirty="0" err="1">
                <a:solidFill>
                  <a:schemeClr val="bg1"/>
                </a:solidFill>
                <a:latin typeface="Times New Roman" pitchFamily="18" charset="0"/>
                <a:ea typeface="SimHei" panose="02010609060101010101" pitchFamily="49" charset="-122"/>
              </a:rPr>
              <a:t>inst</a:t>
            </a:r>
            <a:r>
              <a:rPr lang="en-US" altLang="en-US" sz="1600" dirty="0">
                <a:solidFill>
                  <a:schemeClr val="bg1"/>
                </a:solidFill>
                <a:latin typeface="Times New Roman" pitchFamily="18" charset="0"/>
                <a:ea typeface="SimHei" panose="02010609060101010101" pitchFamily="49" charset="-122"/>
              </a:rPr>
              <a:t> 	Register Transfer</a:t>
            </a:r>
            <a:r>
              <a:rPr lang="en-US" altLang="zh-CN" sz="1600" u="sng" dirty="0">
                <a:solidFill>
                  <a:srgbClr val="CC0066"/>
                </a:solidFill>
                <a:latin typeface="Times New Roman" pitchFamily="18" charset="0"/>
                <a:ea typeface="SimHei" panose="02010609060101010101" pitchFamily="49" charset="-122"/>
              </a:rPr>
              <a:t>    </a:t>
            </a:r>
            <a:endParaRPr lang="en-US" altLang="en-US" sz="1600" u="sng" dirty="0">
              <a:solidFill>
                <a:srgbClr val="CC0066"/>
              </a:solidFill>
              <a:latin typeface="Times New Roman" pitchFamily="18" charset="0"/>
              <a:ea typeface="SimHei" panose="02010609060101010101" pitchFamily="49" charset="-122"/>
            </a:endParaRP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ADD	R[</a:t>
            </a:r>
            <a:r>
              <a:rPr lang="en-US" altLang="en-US" sz="1600" dirty="0" err="1">
                <a:latin typeface="Times New Roman" pitchFamily="18" charset="0"/>
                <a:ea typeface="SimHei" panose="02010609060101010101" pitchFamily="49" charset="-122"/>
              </a:rPr>
              <a:t>rd</a:t>
            </a:r>
            <a:r>
              <a:rPr lang="en-US" altLang="en-US" sz="1600" dirty="0">
                <a:latin typeface="Times New Roman" pitchFamily="18" charset="0"/>
                <a:ea typeface="SimHei" panose="02010609060101010101" pitchFamily="49" charset="-122"/>
              </a:rPr>
              <a:t>]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PC &lt;= PC + 4</a:t>
            </a: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RegB</a:t>
            </a:r>
            <a:r>
              <a:rPr lang="en-US" altLang="en-US" sz="1600" dirty="0">
                <a:solidFill>
                  <a:schemeClr val="accent1"/>
                </a:solidFill>
                <a:latin typeface="Times New Roman" pitchFamily="18" charset="0"/>
                <a:ea typeface="SimHei" panose="02010609060101010101" pitchFamily="49" charset="-122"/>
              </a:rPr>
              <a:t>, ALUConf = “add”,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rd</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SUB	R[</a:t>
            </a:r>
            <a:r>
              <a:rPr lang="en-US" altLang="en-US" sz="1600" dirty="0" err="1">
                <a:latin typeface="Times New Roman" pitchFamily="18" charset="0"/>
                <a:ea typeface="SimHei" panose="02010609060101010101" pitchFamily="49" charset="-122"/>
              </a:rPr>
              <a:t>rd</a:t>
            </a:r>
            <a:r>
              <a:rPr lang="en-US" altLang="en-US" sz="1600" dirty="0">
                <a:latin typeface="Times New Roman" pitchFamily="18" charset="0"/>
                <a:ea typeface="SimHei" panose="02010609060101010101" pitchFamily="49" charset="-122"/>
              </a:rPr>
              <a:t>]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PC &lt;= PC + 4</a:t>
            </a: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RegB</a:t>
            </a:r>
            <a:r>
              <a:rPr lang="en-US" altLang="en-US" sz="1600" dirty="0">
                <a:solidFill>
                  <a:schemeClr val="accent1"/>
                </a:solidFill>
                <a:latin typeface="Times New Roman" pitchFamily="18" charset="0"/>
                <a:ea typeface="SimHei" panose="02010609060101010101" pitchFamily="49" charset="-122"/>
              </a:rPr>
              <a:t>, ALUConf = “sub”,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rd</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ct val="50000"/>
              </a:spcBef>
              <a:tabLst>
                <a:tab pos="914400" algn="l"/>
                <a:tab pos="5092700" algn="l"/>
              </a:tabLst>
            </a:pPr>
            <a:r>
              <a:rPr lang="en-US" altLang="en-US" sz="1600" dirty="0" err="1">
                <a:latin typeface="Times New Roman" pitchFamily="18" charset="0"/>
                <a:ea typeface="SimHei" panose="02010609060101010101" pitchFamily="49" charset="-122"/>
              </a:rPr>
              <a:t>ORi</a:t>
            </a:r>
            <a:r>
              <a:rPr lang="en-US" altLang="en-US" sz="1600" dirty="0">
                <a:latin typeface="Times New Roman" pitchFamily="18" charset="0"/>
                <a:ea typeface="SimHei" panose="02010609060101010101" pitchFamily="49" charset="-122"/>
              </a:rPr>
              <a:t>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a:t>
            </a:r>
            <a:r>
              <a:rPr lang="en-US" altLang="en-US" sz="1600" dirty="0" err="1">
                <a:latin typeface="Times New Roman" pitchFamily="18" charset="0"/>
                <a:ea typeface="SimHei" panose="02010609060101010101" pitchFamily="49" charset="-122"/>
              </a:rPr>
              <a:t>zero_ext</a:t>
            </a:r>
            <a:r>
              <a:rPr lang="en-US" altLang="en-US" sz="1600" dirty="0">
                <a:latin typeface="Times New Roman" pitchFamily="18" charset="0"/>
                <a:ea typeface="SimHei" panose="02010609060101010101" pitchFamily="49" charset="-122"/>
              </a:rPr>
              <a:t>(Imm16); 	PC &lt;= PC + 4</a:t>
            </a: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Im</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“Z”, </a:t>
            </a:r>
            <a:r>
              <a:rPr lang="en-US" altLang="en-US" sz="1600" dirty="0" err="1">
                <a:solidFill>
                  <a:schemeClr val="accent1"/>
                </a:solidFill>
                <a:latin typeface="Times New Roman" pitchFamily="18" charset="0"/>
                <a:ea typeface="SimHei" panose="02010609060101010101" pitchFamily="49" charset="-122"/>
              </a:rPr>
              <a:t>ALUConf</a:t>
            </a:r>
            <a:r>
              <a:rPr lang="en-US" altLang="en-US" sz="1600" dirty="0">
                <a:solidFill>
                  <a:schemeClr val="accent1"/>
                </a:solidFill>
                <a:latin typeface="Times New Roman" pitchFamily="18" charset="0"/>
                <a:ea typeface="SimHei" panose="02010609060101010101" pitchFamily="49" charset="-122"/>
              </a:rPr>
              <a:t> = “or”,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rt,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LOAD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&lt;= MEM[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a:t>
            </a:r>
            <a:r>
              <a:rPr lang="en-US" altLang="en-US" sz="1600" dirty="0" err="1">
                <a:latin typeface="Times New Roman" pitchFamily="18" charset="0"/>
                <a:ea typeface="SimHei" panose="02010609060101010101" pitchFamily="49" charset="-122"/>
              </a:rPr>
              <a:t>sign_ext</a:t>
            </a:r>
            <a:r>
              <a:rPr lang="en-US" altLang="en-US" sz="1600" dirty="0">
                <a:latin typeface="Times New Roman" pitchFamily="18" charset="0"/>
                <a:ea typeface="SimHei" panose="02010609060101010101" pitchFamily="49" charset="-122"/>
              </a:rPr>
              <a:t>(Imm16)];	PC &lt;= PC + 4</a:t>
            </a: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Im</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“Sn”, ALUConf = “add”, 						</a:t>
            </a:r>
            <a:r>
              <a:rPr lang="en-US" altLang="en-US" sz="1600" dirty="0" err="1">
                <a:solidFill>
                  <a:schemeClr val="accent1"/>
                </a:solidFill>
                <a:latin typeface="Times New Roman" pitchFamily="18" charset="0"/>
                <a:ea typeface="SimHei" panose="02010609060101010101" pitchFamily="49" charset="-122"/>
              </a:rPr>
              <a:t>MemtoReg</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rt,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STORE	MEM[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a:t>
            </a:r>
            <a:r>
              <a:rPr lang="en-US" altLang="en-US" sz="1600" dirty="0" err="1">
                <a:latin typeface="Times New Roman" pitchFamily="18" charset="0"/>
                <a:ea typeface="SimHei" panose="02010609060101010101" pitchFamily="49" charset="-122"/>
              </a:rPr>
              <a:t>sign_ext</a:t>
            </a:r>
            <a:r>
              <a:rPr lang="en-US" altLang="en-US" sz="1600" dirty="0">
                <a:latin typeface="Times New Roman" pitchFamily="18" charset="0"/>
                <a:ea typeface="SimHei" panose="02010609060101010101" pitchFamily="49" charset="-122"/>
              </a:rPr>
              <a:t>(Imm16)]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PC &lt;= PC + 4</a:t>
            </a: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Im</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“Sn”, ALUConf = “add”, </a:t>
            </a:r>
            <a:r>
              <a:rPr lang="en-US" altLang="en-US" sz="1600" dirty="0" err="1">
                <a:solidFill>
                  <a:schemeClr val="accent1"/>
                </a:solidFill>
                <a:latin typeface="Times New Roman" pitchFamily="18" charset="0"/>
                <a:ea typeface="SimHei" panose="02010609060101010101" pitchFamily="49" charset="-122"/>
              </a:rPr>
              <a:t>MemWr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BEQ	if (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 then PC &lt;= PC +4 + {</a:t>
            </a:r>
            <a:r>
              <a:rPr lang="en-US" altLang="en-US" sz="1600" dirty="0" err="1">
                <a:latin typeface="Times New Roman" pitchFamily="18" charset="0"/>
                <a:ea typeface="SimHei" panose="02010609060101010101" pitchFamily="49" charset="-122"/>
              </a:rPr>
              <a:t>sign_ext</a:t>
            </a:r>
            <a:r>
              <a:rPr lang="en-US" altLang="en-US" sz="1600" dirty="0">
                <a:latin typeface="Times New Roman" pitchFamily="18" charset="0"/>
                <a:ea typeface="SimHei" panose="02010609060101010101" pitchFamily="49" charset="-122"/>
              </a:rPr>
              <a:t>(Imm16)], 00’b2} else PC &lt;= PC + 4</a:t>
            </a:r>
          </a:p>
          <a:p>
            <a:pPr eaLnBrk="0" hangingPunct="0">
              <a:spcBef>
                <a:spcPct val="5000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“Br”,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“Sn”,  </a:t>
            </a:r>
            <a:r>
              <a:rPr lang="en-US" altLang="en-US" sz="1600" dirty="0" err="1">
                <a:solidFill>
                  <a:schemeClr val="accent1"/>
                </a:solidFill>
                <a:latin typeface="Times New Roman" pitchFamily="18" charset="0"/>
                <a:ea typeface="SimHei" panose="02010609060101010101" pitchFamily="49" charset="-122"/>
              </a:rPr>
              <a:t>ALUConf</a:t>
            </a:r>
            <a:r>
              <a:rPr lang="en-US" altLang="en-US" sz="1600" dirty="0">
                <a:solidFill>
                  <a:schemeClr val="accent1"/>
                </a:solidFill>
                <a:latin typeface="Times New Roman" pitchFamily="18" charset="0"/>
                <a:ea typeface="SimHei" panose="02010609060101010101" pitchFamily="49" charset="-122"/>
              </a:rPr>
              <a:t> = “sub”,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“Br” and “Zero”</a:t>
            </a:r>
            <a:endParaRPr lang="en-US" altLang="en-US" sz="1600" dirty="0">
              <a:latin typeface="Times New Roman" pitchFamily="18" charset="0"/>
              <a:ea typeface="SimHei" panose="02010609060101010101" pitchFamily="49" charset="-122"/>
            </a:endParaRPr>
          </a:p>
        </p:txBody>
      </p:sp>
      <p:sp>
        <p:nvSpPr>
          <p:cNvPr id="66568" name="Line 6"/>
          <p:cNvSpPr>
            <a:spLocks noChangeShapeType="1"/>
          </p:cNvSpPr>
          <p:nvPr/>
        </p:nvSpPr>
        <p:spPr bwMode="auto">
          <a:xfrm>
            <a:off x="304800" y="1901855"/>
            <a:ext cx="8610600" cy="1588"/>
          </a:xfrm>
          <a:prstGeom prst="line">
            <a:avLst/>
          </a:prstGeom>
          <a:noFill/>
          <a:ln w="12700">
            <a:solidFill>
              <a:srgbClr val="3333CC"/>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dirty="0">
              <a:ea typeface="SimHei" panose="02010609060101010101" pitchFamily="49" charset="-122"/>
            </a:endParaRPr>
          </a:p>
        </p:txBody>
      </p:sp>
      <p:sp>
        <p:nvSpPr>
          <p:cNvPr id="3" name="灯片编号占位符 2">
            <a:extLst>
              <a:ext uri="{FF2B5EF4-FFF2-40B4-BE49-F238E27FC236}">
                <a16:creationId xmlns:a16="http://schemas.microsoft.com/office/drawing/2014/main" id="{A49E2623-F209-4EB6-B9BB-971F4FCD6337}"/>
              </a:ext>
            </a:extLst>
          </p:cNvPr>
          <p:cNvSpPr>
            <a:spLocks noGrp="1"/>
          </p:cNvSpPr>
          <p:nvPr>
            <p:ph type="sldNum" sz="quarter" idx="12"/>
          </p:nvPr>
        </p:nvSpPr>
        <p:spPr/>
        <p:txBody>
          <a:bodyPr/>
          <a:lstStyle/>
          <a:p>
            <a:pPr>
              <a:defRPr/>
            </a:pPr>
            <a:fld id="{AE629E17-5129-400D-8A43-FFE07417D79B}" type="slidenum">
              <a:rPr lang="zh-CN" altLang="en-US" smtClean="0"/>
              <a:pPr>
                <a:defRPr/>
              </a:pPr>
              <a:t>18</a:t>
            </a:fld>
            <a:endParaRPr lang="en-US" altLang="zh-CN"/>
          </a:p>
        </p:txBody>
      </p:sp>
    </p:spTree>
    <p:extLst>
      <p:ext uri="{BB962C8B-B14F-4D97-AF65-F5344CB8AC3E}">
        <p14:creationId xmlns:p14="http://schemas.microsoft.com/office/powerpoint/2010/main" val="248698001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7"/>
          <p:cNvSpPr>
            <a:spLocks noChangeArrowheads="1"/>
          </p:cNvSpPr>
          <p:nvPr/>
        </p:nvSpPr>
        <p:spPr bwMode="auto">
          <a:xfrm>
            <a:off x="304800" y="1597055"/>
            <a:ext cx="8610600" cy="304800"/>
          </a:xfrm>
          <a:prstGeom prst="rect">
            <a:avLst/>
          </a:prstGeom>
          <a:solidFill>
            <a:schemeClr val="folHlink"/>
          </a:solidFill>
          <a:ln w="127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66566" name="Rectangle 2"/>
          <p:cNvSpPr>
            <a:spLocks noGrp="1" noChangeArrowheads="1"/>
          </p:cNvSpPr>
          <p:nvPr>
            <p:ph type="title"/>
          </p:nvPr>
        </p:nvSpPr>
        <p:spPr>
          <a:xfrm>
            <a:off x="1752600" y="304800"/>
            <a:ext cx="5854700" cy="720725"/>
          </a:xfrm>
          <a:noFill/>
          <a:extLst>
            <a:ext uri="{91240B29-F687-4f45-9708-019B960494DF}">
              <a14:hiddenLine xmlns="" xmlns:a14="http://schemas.microsoft.com/office/drawing/2010/main" w="12700">
                <a:solidFill>
                  <a:schemeClr val="tx1"/>
                </a:solidFill>
                <a:miter lim="800000"/>
                <a:headEnd/>
                <a:tailEnd/>
              </a14:hiddenLine>
            </a:ext>
          </a:extLst>
        </p:spPr>
        <p:txBody>
          <a:bodyPr wrap="none" lIns="63500" tIns="25400" rIns="63500" bIns="25400" anchor="t">
            <a:spAutoFit/>
          </a:bodyPr>
          <a:lstStyle/>
          <a:p>
            <a:pPr eaLnBrk="1" hangingPunct="1"/>
            <a:r>
              <a:rPr lang="en-US" altLang="zh-CN" dirty="0"/>
              <a:t>MIPS</a:t>
            </a:r>
            <a:r>
              <a:rPr lang="zh-CN" altLang="en-US" dirty="0"/>
              <a:t>子集控制信号小结</a:t>
            </a:r>
          </a:p>
        </p:txBody>
      </p:sp>
      <p:sp>
        <p:nvSpPr>
          <p:cNvPr id="1664003" name="Rectangle 3"/>
          <p:cNvSpPr>
            <a:spLocks noChangeArrowheads="1"/>
          </p:cNvSpPr>
          <p:nvPr/>
        </p:nvSpPr>
        <p:spPr bwMode="auto">
          <a:xfrm>
            <a:off x="304800" y="1579593"/>
            <a:ext cx="8640763" cy="3536866"/>
          </a:xfrm>
          <a:prstGeom prst="rect">
            <a:avLst/>
          </a:prstGeom>
          <a:noFill/>
          <a:ln w="19050">
            <a:solidFill>
              <a:srgbClr val="3333CC"/>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ts val="0"/>
              </a:spcBef>
              <a:tabLst>
                <a:tab pos="914400" algn="l"/>
                <a:tab pos="5092700" algn="l"/>
              </a:tabLst>
            </a:pPr>
            <a:r>
              <a:rPr lang="en-US" altLang="en-US" sz="1600" dirty="0" err="1">
                <a:solidFill>
                  <a:schemeClr val="bg1"/>
                </a:solidFill>
                <a:latin typeface="Times New Roman" pitchFamily="18" charset="0"/>
                <a:ea typeface="SimHei" panose="02010609060101010101" pitchFamily="49" charset="-122"/>
              </a:rPr>
              <a:t>inst</a:t>
            </a:r>
            <a:r>
              <a:rPr lang="en-US" altLang="en-US" sz="1600" dirty="0">
                <a:solidFill>
                  <a:schemeClr val="bg1"/>
                </a:solidFill>
                <a:latin typeface="Times New Roman" pitchFamily="18" charset="0"/>
                <a:ea typeface="SimHei" panose="02010609060101010101" pitchFamily="49" charset="-122"/>
              </a:rPr>
              <a:t> 	Register Transfer</a:t>
            </a:r>
            <a:r>
              <a:rPr lang="en-US" altLang="zh-CN" sz="1600" u="sng" dirty="0">
                <a:solidFill>
                  <a:srgbClr val="CC0066"/>
                </a:solidFill>
                <a:latin typeface="Times New Roman" pitchFamily="18" charset="0"/>
                <a:ea typeface="SimHei" panose="02010609060101010101" pitchFamily="49" charset="-122"/>
              </a:rPr>
              <a:t>    </a:t>
            </a:r>
            <a:endParaRPr lang="en-US" altLang="en-US" sz="1600" u="sng" dirty="0">
              <a:solidFill>
                <a:srgbClr val="CC0066"/>
              </a:solidFill>
              <a:latin typeface="Times New Roman" pitchFamily="18" charset="0"/>
              <a:ea typeface="SimHei" panose="02010609060101010101" pitchFamily="49" charset="-122"/>
            </a:endParaRP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ADD	R[</a:t>
            </a:r>
            <a:r>
              <a:rPr lang="en-US" altLang="en-US" sz="1600" dirty="0" err="1">
                <a:latin typeface="Times New Roman" pitchFamily="18" charset="0"/>
                <a:ea typeface="SimHei" panose="02010609060101010101" pitchFamily="49" charset="-122"/>
              </a:rPr>
              <a:t>rd</a:t>
            </a:r>
            <a:r>
              <a:rPr lang="en-US" altLang="en-US" sz="1600" dirty="0">
                <a:latin typeface="Times New Roman" pitchFamily="18" charset="0"/>
                <a:ea typeface="SimHei" panose="02010609060101010101" pitchFamily="49" charset="-122"/>
              </a:rPr>
              <a:t>]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PC &lt;= PC + 4</a:t>
            </a: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RegB</a:t>
            </a:r>
            <a:r>
              <a:rPr lang="en-US" altLang="en-US" sz="1600" dirty="0">
                <a:solidFill>
                  <a:schemeClr val="accent1"/>
                </a:solidFill>
                <a:latin typeface="Times New Roman" pitchFamily="18" charset="0"/>
                <a:ea typeface="SimHei" panose="02010609060101010101" pitchFamily="49" charset="-122"/>
              </a:rPr>
              <a:t>, ALUConf = “add”,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rd</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SUB	R[</a:t>
            </a:r>
            <a:r>
              <a:rPr lang="en-US" altLang="en-US" sz="1600" dirty="0" err="1">
                <a:latin typeface="Times New Roman" pitchFamily="18" charset="0"/>
                <a:ea typeface="SimHei" panose="02010609060101010101" pitchFamily="49" charset="-122"/>
              </a:rPr>
              <a:t>rd</a:t>
            </a:r>
            <a:r>
              <a:rPr lang="en-US" altLang="en-US" sz="1600" dirty="0">
                <a:latin typeface="Times New Roman" pitchFamily="18" charset="0"/>
                <a:ea typeface="SimHei" panose="02010609060101010101" pitchFamily="49" charset="-122"/>
              </a:rPr>
              <a:t>]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PC &lt;= PC + 4</a:t>
            </a: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RegB</a:t>
            </a:r>
            <a:r>
              <a:rPr lang="en-US" altLang="en-US" sz="1600" dirty="0">
                <a:solidFill>
                  <a:schemeClr val="accent1"/>
                </a:solidFill>
                <a:latin typeface="Times New Roman" pitchFamily="18" charset="0"/>
                <a:ea typeface="SimHei" panose="02010609060101010101" pitchFamily="49" charset="-122"/>
              </a:rPr>
              <a:t>, ALUConf = “sub”,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rd</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ts val="0"/>
              </a:spcBef>
              <a:tabLst>
                <a:tab pos="914400" algn="l"/>
                <a:tab pos="5092700" algn="l"/>
              </a:tabLst>
            </a:pPr>
            <a:r>
              <a:rPr lang="en-US" altLang="en-US" sz="1600" dirty="0" err="1">
                <a:latin typeface="Times New Roman" pitchFamily="18" charset="0"/>
                <a:ea typeface="SimHei" panose="02010609060101010101" pitchFamily="49" charset="-122"/>
              </a:rPr>
              <a:t>ORi</a:t>
            </a:r>
            <a:r>
              <a:rPr lang="en-US" altLang="en-US" sz="1600" dirty="0">
                <a:latin typeface="Times New Roman" pitchFamily="18" charset="0"/>
                <a:ea typeface="SimHei" panose="02010609060101010101" pitchFamily="49" charset="-122"/>
              </a:rPr>
              <a:t>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a:t>
            </a:r>
            <a:r>
              <a:rPr lang="en-US" altLang="en-US" sz="1600" dirty="0" err="1">
                <a:latin typeface="Times New Roman" pitchFamily="18" charset="0"/>
                <a:ea typeface="SimHei" panose="02010609060101010101" pitchFamily="49" charset="-122"/>
              </a:rPr>
              <a:t>zero_ext</a:t>
            </a:r>
            <a:r>
              <a:rPr lang="en-US" altLang="en-US" sz="1600" dirty="0">
                <a:latin typeface="Times New Roman" pitchFamily="18" charset="0"/>
                <a:ea typeface="SimHei" panose="02010609060101010101" pitchFamily="49" charset="-122"/>
              </a:rPr>
              <a:t>(Imm16); 	PC &lt;= PC + 4</a:t>
            </a: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Im</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“Z”, </a:t>
            </a:r>
            <a:r>
              <a:rPr lang="en-US" altLang="en-US" sz="1600" dirty="0" err="1">
                <a:solidFill>
                  <a:schemeClr val="accent1"/>
                </a:solidFill>
                <a:latin typeface="Times New Roman" pitchFamily="18" charset="0"/>
                <a:ea typeface="SimHei" panose="02010609060101010101" pitchFamily="49" charset="-122"/>
              </a:rPr>
              <a:t>ALUConf</a:t>
            </a:r>
            <a:r>
              <a:rPr lang="en-US" altLang="en-US" sz="1600" dirty="0">
                <a:solidFill>
                  <a:schemeClr val="accent1"/>
                </a:solidFill>
                <a:latin typeface="Times New Roman" pitchFamily="18" charset="0"/>
                <a:ea typeface="SimHei" panose="02010609060101010101" pitchFamily="49" charset="-122"/>
              </a:rPr>
              <a:t> = “or”,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rt,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LOAD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&lt;= MEM[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a:t>
            </a:r>
            <a:r>
              <a:rPr lang="en-US" altLang="en-US" sz="1600" dirty="0" err="1">
                <a:latin typeface="Times New Roman" pitchFamily="18" charset="0"/>
                <a:ea typeface="SimHei" panose="02010609060101010101" pitchFamily="49" charset="-122"/>
              </a:rPr>
              <a:t>sign_ext</a:t>
            </a:r>
            <a:r>
              <a:rPr lang="en-US" altLang="en-US" sz="1600" dirty="0">
                <a:latin typeface="Times New Roman" pitchFamily="18" charset="0"/>
                <a:ea typeface="SimHei" panose="02010609060101010101" pitchFamily="49" charset="-122"/>
              </a:rPr>
              <a:t>(Imm16)];	PC &lt;= PC + 4</a:t>
            </a: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Im</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“Sn”, ALUConf = “add”, 						</a:t>
            </a:r>
            <a:r>
              <a:rPr lang="en-US" altLang="en-US" sz="1600" dirty="0" err="1">
                <a:solidFill>
                  <a:schemeClr val="accent1"/>
                </a:solidFill>
                <a:latin typeface="Times New Roman" pitchFamily="18" charset="0"/>
                <a:ea typeface="SimHei" panose="02010609060101010101" pitchFamily="49" charset="-122"/>
              </a:rPr>
              <a:t>MemtoReg</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RegDst</a:t>
            </a:r>
            <a:r>
              <a:rPr lang="en-US" altLang="en-US" sz="1600" dirty="0">
                <a:solidFill>
                  <a:schemeClr val="accent1"/>
                </a:solidFill>
                <a:latin typeface="Times New Roman" pitchFamily="18" charset="0"/>
                <a:ea typeface="SimHei" panose="02010609060101010101" pitchFamily="49" charset="-122"/>
              </a:rPr>
              <a:t> = rt, </a:t>
            </a:r>
            <a:r>
              <a:rPr lang="en-US" altLang="en-US" sz="1600" dirty="0" err="1">
                <a:solidFill>
                  <a:schemeClr val="accent1"/>
                </a:solidFill>
                <a:latin typeface="Times New Roman" pitchFamily="18" charset="0"/>
                <a:ea typeface="SimHei" panose="02010609060101010101" pitchFamily="49" charset="-122"/>
              </a:rPr>
              <a:t>RegWr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STORE	MEM[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a:t>
            </a:r>
            <a:r>
              <a:rPr lang="en-US" altLang="en-US" sz="1600" dirty="0" err="1">
                <a:latin typeface="Times New Roman" pitchFamily="18" charset="0"/>
                <a:ea typeface="SimHei" panose="02010609060101010101" pitchFamily="49" charset="-122"/>
              </a:rPr>
              <a:t>sign_ext</a:t>
            </a:r>
            <a:r>
              <a:rPr lang="en-US" altLang="en-US" sz="1600" dirty="0">
                <a:latin typeface="Times New Roman" pitchFamily="18" charset="0"/>
                <a:ea typeface="SimHei" panose="02010609060101010101" pitchFamily="49" charset="-122"/>
              </a:rPr>
              <a:t>(Imm16)] &lt;=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PC &lt;= PC + 4</a:t>
            </a: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ALUsrc</a:t>
            </a:r>
            <a:r>
              <a:rPr lang="en-US" altLang="en-US" sz="1600" dirty="0">
                <a:solidFill>
                  <a:schemeClr val="accent1"/>
                </a:solidFill>
                <a:latin typeface="Times New Roman" pitchFamily="18" charset="0"/>
                <a:ea typeface="SimHei" panose="02010609060101010101" pitchFamily="49" charset="-122"/>
              </a:rPr>
              <a:t> = </a:t>
            </a:r>
            <a:r>
              <a:rPr lang="en-US" altLang="en-US" sz="1600" dirty="0" err="1">
                <a:solidFill>
                  <a:schemeClr val="accent1"/>
                </a:solidFill>
                <a:latin typeface="Times New Roman" pitchFamily="18" charset="0"/>
                <a:ea typeface="SimHei" panose="02010609060101010101" pitchFamily="49" charset="-122"/>
              </a:rPr>
              <a:t>Im</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“Sn”, ALUConf = “add”, </a:t>
            </a:r>
            <a:r>
              <a:rPr lang="en-US" altLang="en-US" sz="1600" dirty="0" err="1">
                <a:solidFill>
                  <a:schemeClr val="accent1"/>
                </a:solidFill>
                <a:latin typeface="Times New Roman" pitchFamily="18" charset="0"/>
                <a:ea typeface="SimHei" panose="02010609060101010101" pitchFamily="49" charset="-122"/>
              </a:rPr>
              <a:t>MemWr</a:t>
            </a:r>
            <a:r>
              <a:rPr lang="en-US" altLang="en-US" sz="1600" dirty="0">
                <a:solidFill>
                  <a:schemeClr val="accent1"/>
                </a:solidFill>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“+4”</a:t>
            </a:r>
            <a:endParaRPr lang="en-US" altLang="en-US" sz="1600" dirty="0">
              <a:latin typeface="Times New Roman" pitchFamily="18" charset="0"/>
              <a:ea typeface="SimHei" panose="02010609060101010101" pitchFamily="49" charset="-122"/>
            </a:endParaRP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BEQ	if ( R[</a:t>
            </a:r>
            <a:r>
              <a:rPr lang="en-US" altLang="en-US" sz="1600" dirty="0" err="1">
                <a:latin typeface="Times New Roman" pitchFamily="18" charset="0"/>
                <a:ea typeface="SimHei" panose="02010609060101010101" pitchFamily="49" charset="-122"/>
              </a:rPr>
              <a:t>rs</a:t>
            </a:r>
            <a:r>
              <a:rPr lang="en-US" altLang="en-US" sz="1600" dirty="0">
                <a:latin typeface="Times New Roman" pitchFamily="18" charset="0"/>
                <a:ea typeface="SimHei" panose="02010609060101010101" pitchFamily="49" charset="-122"/>
              </a:rPr>
              <a:t>] == R[</a:t>
            </a:r>
            <a:r>
              <a:rPr lang="en-US" altLang="en-US" sz="1600" dirty="0" err="1">
                <a:latin typeface="Times New Roman" pitchFamily="18" charset="0"/>
                <a:ea typeface="SimHei" panose="02010609060101010101" pitchFamily="49" charset="-122"/>
              </a:rPr>
              <a:t>rt</a:t>
            </a:r>
            <a:r>
              <a:rPr lang="en-US" altLang="en-US" sz="1600" dirty="0">
                <a:latin typeface="Times New Roman" pitchFamily="18" charset="0"/>
                <a:ea typeface="SimHei" panose="02010609060101010101" pitchFamily="49" charset="-122"/>
              </a:rPr>
              <a:t>] ) then PC &lt;= PC +4 + {</a:t>
            </a:r>
            <a:r>
              <a:rPr lang="en-US" altLang="en-US" sz="1600" dirty="0" err="1">
                <a:latin typeface="Times New Roman" pitchFamily="18" charset="0"/>
                <a:ea typeface="SimHei" panose="02010609060101010101" pitchFamily="49" charset="-122"/>
              </a:rPr>
              <a:t>sign_ext</a:t>
            </a:r>
            <a:r>
              <a:rPr lang="en-US" altLang="en-US" sz="1600" dirty="0">
                <a:latin typeface="Times New Roman" pitchFamily="18" charset="0"/>
                <a:ea typeface="SimHei" panose="02010609060101010101" pitchFamily="49" charset="-122"/>
              </a:rPr>
              <a:t>(Imm16)], 00’b2} else PC &lt;= PC + 4</a:t>
            </a:r>
          </a:p>
          <a:p>
            <a:pPr eaLnBrk="0" hangingPunct="0">
              <a:spcBef>
                <a:spcPts val="0"/>
              </a:spcBef>
              <a:tabLst>
                <a:tab pos="914400" algn="l"/>
                <a:tab pos="5092700" algn="l"/>
              </a:tabLst>
            </a:pPr>
            <a:r>
              <a:rPr lang="en-US" altLang="en-US" sz="1600" dirty="0">
                <a:latin typeface="Times New Roman" pitchFamily="18" charset="0"/>
                <a:ea typeface="SimHei" panose="02010609060101010101" pitchFamily="49" charset="-122"/>
              </a:rPr>
              <a:t>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“Br”, </a:t>
            </a:r>
            <a:r>
              <a:rPr lang="en-US" altLang="en-US" sz="1600" dirty="0" err="1">
                <a:solidFill>
                  <a:schemeClr val="accent1"/>
                </a:solidFill>
                <a:latin typeface="Times New Roman" pitchFamily="18" charset="0"/>
                <a:ea typeface="SimHei" panose="02010609060101010101" pitchFamily="49" charset="-122"/>
              </a:rPr>
              <a:t>Extop</a:t>
            </a:r>
            <a:r>
              <a:rPr lang="en-US" altLang="en-US" sz="1600" dirty="0">
                <a:solidFill>
                  <a:schemeClr val="accent1"/>
                </a:solidFill>
                <a:latin typeface="Times New Roman" pitchFamily="18" charset="0"/>
                <a:ea typeface="SimHei" panose="02010609060101010101" pitchFamily="49" charset="-122"/>
              </a:rPr>
              <a:t> = “Sn”,  </a:t>
            </a:r>
            <a:r>
              <a:rPr lang="en-US" altLang="en-US" sz="1600" dirty="0" err="1">
                <a:solidFill>
                  <a:schemeClr val="accent1"/>
                </a:solidFill>
                <a:latin typeface="Times New Roman" pitchFamily="18" charset="0"/>
                <a:ea typeface="SimHei" panose="02010609060101010101" pitchFamily="49" charset="-122"/>
              </a:rPr>
              <a:t>ALUConf</a:t>
            </a:r>
            <a:r>
              <a:rPr lang="en-US" altLang="en-US" sz="1600" dirty="0">
                <a:solidFill>
                  <a:schemeClr val="accent1"/>
                </a:solidFill>
                <a:latin typeface="Times New Roman" pitchFamily="18" charset="0"/>
                <a:ea typeface="SimHei" panose="02010609060101010101" pitchFamily="49" charset="-122"/>
              </a:rPr>
              <a:t> = “sub”, </a:t>
            </a:r>
            <a:r>
              <a:rPr lang="en-US" altLang="en-US" sz="1600" dirty="0" err="1">
                <a:solidFill>
                  <a:schemeClr val="accent1"/>
                </a:solidFill>
                <a:latin typeface="Times New Roman" pitchFamily="18" charset="0"/>
                <a:ea typeface="SimHei" panose="02010609060101010101" pitchFamily="49" charset="-122"/>
              </a:rPr>
              <a:t>PCSrc</a:t>
            </a:r>
            <a:r>
              <a:rPr lang="en-US" altLang="en-US" sz="1600" dirty="0">
                <a:solidFill>
                  <a:schemeClr val="accent1"/>
                </a:solidFill>
                <a:latin typeface="Times New Roman" pitchFamily="18" charset="0"/>
                <a:ea typeface="SimHei" panose="02010609060101010101" pitchFamily="49" charset="-122"/>
              </a:rPr>
              <a:t> = “Br” and “Zero”</a:t>
            </a:r>
            <a:endParaRPr lang="en-US" altLang="en-US" sz="1600" dirty="0">
              <a:latin typeface="Times New Roman" pitchFamily="18" charset="0"/>
              <a:ea typeface="SimHei" panose="02010609060101010101" pitchFamily="49" charset="-122"/>
            </a:endParaRPr>
          </a:p>
        </p:txBody>
      </p:sp>
      <p:sp>
        <p:nvSpPr>
          <p:cNvPr id="66568" name="Line 6"/>
          <p:cNvSpPr>
            <a:spLocks noChangeShapeType="1"/>
          </p:cNvSpPr>
          <p:nvPr/>
        </p:nvSpPr>
        <p:spPr bwMode="auto">
          <a:xfrm>
            <a:off x="304800" y="1901855"/>
            <a:ext cx="8610600" cy="1588"/>
          </a:xfrm>
          <a:prstGeom prst="line">
            <a:avLst/>
          </a:prstGeom>
          <a:noFill/>
          <a:ln w="12700">
            <a:solidFill>
              <a:srgbClr val="3333CC"/>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dirty="0">
              <a:ea typeface="SimHei" panose="02010609060101010101" pitchFamily="49" charset="-122"/>
            </a:endParaRPr>
          </a:p>
        </p:txBody>
      </p:sp>
      <p:sp>
        <p:nvSpPr>
          <p:cNvPr id="3" name="灯片编号占位符 2">
            <a:extLst>
              <a:ext uri="{FF2B5EF4-FFF2-40B4-BE49-F238E27FC236}">
                <a16:creationId xmlns:a16="http://schemas.microsoft.com/office/drawing/2014/main" id="{A49E2623-F209-4EB6-B9BB-971F4FCD6337}"/>
              </a:ext>
            </a:extLst>
          </p:cNvPr>
          <p:cNvSpPr>
            <a:spLocks noGrp="1"/>
          </p:cNvSpPr>
          <p:nvPr>
            <p:ph type="sldNum" sz="quarter" idx="12"/>
          </p:nvPr>
        </p:nvSpPr>
        <p:spPr/>
        <p:txBody>
          <a:bodyPr/>
          <a:lstStyle/>
          <a:p>
            <a:pPr>
              <a:defRPr/>
            </a:pPr>
            <a:fld id="{AE629E17-5129-400D-8A43-FFE07417D79B}" type="slidenum">
              <a:rPr lang="zh-CN" altLang="en-US" smtClean="0"/>
              <a:pPr>
                <a:defRPr/>
              </a:pPr>
              <a:t>19</a:t>
            </a:fld>
            <a:endParaRPr lang="en-US" altLang="zh-CN"/>
          </a:p>
        </p:txBody>
      </p:sp>
      <p:sp>
        <p:nvSpPr>
          <p:cNvPr id="2" name="文本框 1">
            <a:extLst>
              <a:ext uri="{FF2B5EF4-FFF2-40B4-BE49-F238E27FC236}">
                <a16:creationId xmlns:a16="http://schemas.microsoft.com/office/drawing/2014/main" id="{84824FF5-3E74-B292-C3A2-0FA59DCCD466}"/>
              </a:ext>
            </a:extLst>
          </p:cNvPr>
          <p:cNvSpPr txBox="1"/>
          <p:nvPr/>
        </p:nvSpPr>
        <p:spPr>
          <a:xfrm>
            <a:off x="1544849" y="5245735"/>
            <a:ext cx="5820047" cy="1477328"/>
          </a:xfrm>
          <a:prstGeom prst="rect">
            <a:avLst/>
          </a:prstGeom>
          <a:noFill/>
        </p:spPr>
        <p:txBody>
          <a:bodyPr wrap="square" rtlCol="0">
            <a:spAutoFit/>
          </a:bodyPr>
          <a:lstStyle/>
          <a:p>
            <a:pPr algn="ctr"/>
            <a:r>
              <a:rPr lang="zh-CN" altLang="en-US" sz="1800" dirty="0">
                <a:latin typeface="+mn-lt"/>
                <a:ea typeface="+mj-ea"/>
                <a:cs typeface="Arial" panose="020B0604020202020204" pitchFamily="34" charset="0"/>
              </a:rPr>
              <a:t>需要掌握根据功能确定控制信号</a:t>
            </a:r>
            <a:endParaRPr lang="en-US" altLang="zh-CN" sz="1800" dirty="0">
              <a:latin typeface="+mn-lt"/>
              <a:ea typeface="+mj-ea"/>
              <a:cs typeface="Arial" panose="020B0604020202020204" pitchFamily="34" charset="0"/>
            </a:endParaRPr>
          </a:p>
          <a:p>
            <a:pPr algn="ctr"/>
            <a:r>
              <a:rPr lang="zh-CN" altLang="en-US" sz="1800" dirty="0">
                <a:latin typeface="+mn-lt"/>
                <a:ea typeface="+mj-ea"/>
                <a:cs typeface="Arial" panose="020B0604020202020204" pitchFamily="34" charset="0"/>
              </a:rPr>
              <a:t>分析恒</a:t>
            </a:r>
            <a:r>
              <a:rPr lang="en-US" altLang="zh-CN" sz="1800" dirty="0">
                <a:latin typeface="+mn-lt"/>
                <a:ea typeface="+mj-ea"/>
                <a:cs typeface="Arial" panose="020B0604020202020204" pitchFamily="34" charset="0"/>
              </a:rPr>
              <a:t>0/1</a:t>
            </a:r>
            <a:r>
              <a:rPr lang="zh-CN" altLang="en-US" sz="1800" dirty="0">
                <a:latin typeface="+mn-lt"/>
                <a:ea typeface="+mj-ea"/>
                <a:cs typeface="Arial" panose="020B0604020202020204" pitchFamily="34" charset="0"/>
              </a:rPr>
              <a:t>错误的影响</a:t>
            </a:r>
            <a:endParaRPr lang="en-US" altLang="zh-CN" sz="1800" dirty="0">
              <a:latin typeface="+mn-lt"/>
              <a:ea typeface="+mj-ea"/>
              <a:cs typeface="Arial" panose="020B0604020202020204" pitchFamily="34" charset="0"/>
            </a:endParaRPr>
          </a:p>
          <a:p>
            <a:pPr algn="ctr"/>
            <a:r>
              <a:rPr lang="en-US" altLang="zh-CN" sz="1800" dirty="0">
                <a:latin typeface="+mn-lt"/>
                <a:ea typeface="+mj-ea"/>
                <a:cs typeface="Arial" panose="020B0604020202020204" pitchFamily="34" charset="0"/>
              </a:rPr>
              <a:t>1.</a:t>
            </a:r>
            <a:r>
              <a:rPr lang="zh-CN" altLang="en-US" sz="1800" dirty="0">
                <a:latin typeface="+mn-lt"/>
                <a:ea typeface="+mj-ea"/>
                <a:cs typeface="Arial" panose="020B0604020202020204" pitchFamily="34" charset="0"/>
              </a:rPr>
              <a:t>指令：功能是在做什么</a:t>
            </a:r>
            <a:endParaRPr lang="en-US" altLang="zh-CN" sz="1800" dirty="0">
              <a:latin typeface="+mn-lt"/>
              <a:ea typeface="+mj-ea"/>
              <a:cs typeface="Arial" panose="020B0604020202020204" pitchFamily="34" charset="0"/>
            </a:endParaRPr>
          </a:p>
          <a:p>
            <a:pPr algn="ctr"/>
            <a:r>
              <a:rPr lang="en-US" altLang="zh-CN" sz="1800" dirty="0">
                <a:latin typeface="+mn-lt"/>
                <a:ea typeface="+mj-ea"/>
                <a:cs typeface="Arial" panose="020B0604020202020204" pitchFamily="34" charset="0"/>
              </a:rPr>
              <a:t>2.</a:t>
            </a:r>
            <a:r>
              <a:rPr lang="zh-CN" altLang="en-US" sz="1800" dirty="0">
                <a:latin typeface="+mn-lt"/>
                <a:ea typeface="+mj-ea"/>
                <a:cs typeface="Arial" panose="020B0604020202020204" pitchFamily="34" charset="0"/>
              </a:rPr>
              <a:t>看图：数据通路</a:t>
            </a:r>
            <a:endParaRPr lang="en-US" altLang="zh-CN" sz="1800" dirty="0">
              <a:latin typeface="+mn-lt"/>
              <a:ea typeface="+mj-ea"/>
              <a:cs typeface="Arial" panose="020B0604020202020204" pitchFamily="34" charset="0"/>
            </a:endParaRPr>
          </a:p>
          <a:p>
            <a:pPr algn="ctr"/>
            <a:r>
              <a:rPr lang="en-US" altLang="zh-CN" sz="1800" dirty="0">
                <a:latin typeface="+mn-lt"/>
                <a:ea typeface="+mj-ea"/>
                <a:cs typeface="Arial" panose="020B0604020202020204" pitchFamily="34" charset="0"/>
              </a:rPr>
              <a:t>3.mux</a:t>
            </a:r>
            <a:r>
              <a:rPr lang="zh-CN" altLang="en-US" sz="1800" dirty="0">
                <a:latin typeface="+mn-lt"/>
                <a:ea typeface="+mj-ea"/>
                <a:cs typeface="Arial" panose="020B0604020202020204" pitchFamily="34" charset="0"/>
              </a:rPr>
              <a:t>：确定控制信号</a:t>
            </a:r>
            <a:endParaRPr kumimoji="1" lang="zh-CN" altLang="en-US" dirty="0">
              <a:latin typeface="+mn-lt"/>
              <a:ea typeface="SimHei" panose="02010609060101010101" pitchFamily="49" charset="-122"/>
              <a:cs typeface="Arial" panose="020B0604020202020204" pitchFamily="34" charset="0"/>
            </a:endParaRPr>
          </a:p>
        </p:txBody>
      </p:sp>
    </p:spTree>
    <p:extLst>
      <p:ext uri="{BB962C8B-B14F-4D97-AF65-F5344CB8AC3E}">
        <p14:creationId xmlns:p14="http://schemas.microsoft.com/office/powerpoint/2010/main" val="305284126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a:xfrm>
            <a:off x="457200" y="136525"/>
            <a:ext cx="8229600" cy="1143000"/>
          </a:xfrm>
        </p:spPr>
        <p:txBody>
          <a:bodyPr/>
          <a:lstStyle/>
          <a:p>
            <a:r>
              <a:rPr lang="zh-CN" altLang="en-US" dirty="0"/>
              <a:t>单周期处理器的关键路径</a:t>
            </a:r>
          </a:p>
        </p:txBody>
      </p:sp>
      <p:sp>
        <p:nvSpPr>
          <p:cNvPr id="2" name="Slide Number Placeholder 1">
            <a:extLst>
              <a:ext uri="{FF2B5EF4-FFF2-40B4-BE49-F238E27FC236}">
                <a16:creationId xmlns:a16="http://schemas.microsoft.com/office/drawing/2014/main" id="{43DBCCFD-00BC-684E-A0D8-E45BCEDBB980}"/>
              </a:ext>
            </a:extLst>
          </p:cNvPr>
          <p:cNvSpPr>
            <a:spLocks noGrp="1"/>
          </p:cNvSpPr>
          <p:nvPr>
            <p:ph type="sldNum" sz="quarter" idx="12"/>
          </p:nvPr>
        </p:nvSpPr>
        <p:spPr>
          <a:xfrm>
            <a:off x="6553200" y="6245225"/>
            <a:ext cx="2133600" cy="47625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176" name="Text Box 170">
            <a:extLst>
              <a:ext uri="{FF2B5EF4-FFF2-40B4-BE49-F238E27FC236}">
                <a16:creationId xmlns:a16="http://schemas.microsoft.com/office/drawing/2014/main" id="{472A7709-3E49-4D79-80A5-C68D83A991F8}"/>
              </a:ext>
            </a:extLst>
          </p:cNvPr>
          <p:cNvSpPr txBox="1">
            <a:spLocks noChangeArrowheads="1"/>
          </p:cNvSpPr>
          <p:nvPr/>
        </p:nvSpPr>
        <p:spPr bwMode="auto">
          <a:xfrm>
            <a:off x="3339421" y="1279525"/>
            <a:ext cx="5583773"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Tahoma" pitchFamily="34" charset="0"/>
                <a:ea typeface="宋体" charset="-122"/>
              </a:defRPr>
            </a:lvl1pPr>
            <a:lvl2pPr marL="742950" indent="-285750" eaLnBrk="0" hangingPunct="0">
              <a:defRPr b="1">
                <a:solidFill>
                  <a:schemeClr val="tx1"/>
                </a:solidFill>
                <a:latin typeface="Tahoma" pitchFamily="34" charset="0"/>
                <a:ea typeface="宋体" charset="-122"/>
              </a:defRPr>
            </a:lvl2pPr>
            <a:lvl3pPr marL="1143000" indent="-228600" eaLnBrk="0" hangingPunct="0">
              <a:defRPr b="1">
                <a:solidFill>
                  <a:schemeClr val="tx1"/>
                </a:solidFill>
                <a:latin typeface="Tahoma" pitchFamily="34" charset="0"/>
                <a:ea typeface="宋体" charset="-122"/>
              </a:defRPr>
            </a:lvl3pPr>
            <a:lvl4pPr marL="1600200" indent="-228600" eaLnBrk="0" hangingPunct="0">
              <a:defRPr b="1">
                <a:solidFill>
                  <a:schemeClr val="tx1"/>
                </a:solidFill>
                <a:latin typeface="Tahoma" pitchFamily="34" charset="0"/>
                <a:ea typeface="宋体" charset="-122"/>
              </a:defRPr>
            </a:lvl4pPr>
            <a:lvl5pPr marL="2057400" indent="-228600" eaLnBrk="0" hangingPunct="0">
              <a:defRPr b="1">
                <a:solidFill>
                  <a:schemeClr val="tx1"/>
                </a:solidFill>
                <a:latin typeface="Tahoma" pitchFamily="34" charset="0"/>
                <a:ea typeface="宋体" charset="-122"/>
              </a:defRPr>
            </a:lvl5pPr>
            <a:lvl6pPr marL="2514600" indent="-228600" eaLnBrk="0" fontAlgn="base" hangingPunct="0">
              <a:spcBef>
                <a:spcPct val="0"/>
              </a:spcBef>
              <a:spcAft>
                <a:spcPct val="0"/>
              </a:spcAft>
              <a:defRPr b="1">
                <a:solidFill>
                  <a:schemeClr val="tx1"/>
                </a:solidFill>
                <a:latin typeface="Tahoma" pitchFamily="34" charset="0"/>
                <a:ea typeface="宋体" charset="-122"/>
              </a:defRPr>
            </a:lvl6pPr>
            <a:lvl7pPr marL="2971800" indent="-228600" eaLnBrk="0" fontAlgn="base" hangingPunct="0">
              <a:spcBef>
                <a:spcPct val="0"/>
              </a:spcBef>
              <a:spcAft>
                <a:spcPct val="0"/>
              </a:spcAft>
              <a:defRPr b="1">
                <a:solidFill>
                  <a:schemeClr val="tx1"/>
                </a:solidFill>
                <a:latin typeface="Tahoma" pitchFamily="34" charset="0"/>
                <a:ea typeface="宋体" charset="-122"/>
              </a:defRPr>
            </a:lvl7pPr>
            <a:lvl8pPr marL="3429000" indent="-228600" eaLnBrk="0" fontAlgn="base" hangingPunct="0">
              <a:spcBef>
                <a:spcPct val="0"/>
              </a:spcBef>
              <a:spcAft>
                <a:spcPct val="0"/>
              </a:spcAft>
              <a:defRPr b="1">
                <a:solidFill>
                  <a:schemeClr val="tx1"/>
                </a:solidFill>
                <a:latin typeface="Tahoma" pitchFamily="34" charset="0"/>
                <a:ea typeface="宋体" charset="-122"/>
              </a:defRPr>
            </a:lvl8pPr>
            <a:lvl9pPr marL="3886200" indent="-228600" eaLnBrk="0" fontAlgn="base" hangingPunct="0">
              <a:spcBef>
                <a:spcPct val="0"/>
              </a:spcBef>
              <a:spcAft>
                <a:spcPct val="0"/>
              </a:spcAft>
              <a:defRPr b="1">
                <a:solidFill>
                  <a:schemeClr val="tx1"/>
                </a:solidFill>
                <a:latin typeface="Tahoma" pitchFamily="34"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0" u="none" strike="noStrike" kern="1200" cap="none" spc="0" normalizeH="0" baseline="0" noProof="0" dirty="0">
                <a:ln>
                  <a:noFill/>
                </a:ln>
                <a:solidFill>
                  <a:srgbClr val="00B0F0"/>
                </a:solidFill>
                <a:effectLst/>
                <a:uLnTx/>
                <a:uFillTx/>
                <a:latin typeface="Helvetica" pitchFamily="34" charset="0"/>
                <a:ea typeface="SimHei" panose="02010609060101010101" pitchFamily="49" charset="-122"/>
                <a:cs typeface="+mn-cs"/>
              </a:rPr>
              <a:t>关键路径：</a:t>
            </a:r>
            <a:r>
              <a:rPr kumimoji="0" lang="en-US" altLang="en-US" sz="1800" b="0" u="none" strike="noStrike" kern="1200" cap="none" spc="0" normalizeH="0" baseline="0" noProof="0" dirty="0">
                <a:ln>
                  <a:noFill/>
                </a:ln>
                <a:solidFill>
                  <a:srgbClr val="00B0F0"/>
                </a:solidFill>
                <a:effectLst/>
                <a:uLnTx/>
                <a:uFillTx/>
                <a:latin typeface="Helvetica" pitchFamily="34" charset="0"/>
                <a:ea typeface="SimHei" panose="02010609060101010101" pitchFamily="49" charset="-122"/>
                <a:cs typeface="+mn-cs"/>
              </a:rPr>
              <a:t>A – B – [C or (M – E – </a:t>
            </a:r>
            <a:r>
              <a:rPr kumimoji="0" lang="en-US" altLang="en-US" sz="1800" b="0" strike="noStrike" kern="1200" cap="none" spc="0" normalizeH="0" baseline="0" noProof="0" dirty="0">
                <a:ln>
                  <a:noFill/>
                </a:ln>
                <a:solidFill>
                  <a:srgbClr val="00B0F0"/>
                </a:solidFill>
                <a:effectLst/>
                <a:uLnTx/>
                <a:uFillTx/>
                <a:latin typeface="Helvetica" pitchFamily="34" charset="0"/>
                <a:ea typeface="SimHei" panose="02010609060101010101" pitchFamily="49" charset="-122"/>
                <a:cs typeface="+mn-cs"/>
              </a:rPr>
              <a:t>D</a:t>
            </a:r>
            <a:r>
              <a:rPr kumimoji="0" lang="en-US" altLang="en-US" sz="1800" b="0" u="none" strike="noStrike" kern="1200" cap="none" spc="0" normalizeH="0" baseline="0" noProof="0" dirty="0">
                <a:ln>
                  <a:noFill/>
                </a:ln>
                <a:solidFill>
                  <a:srgbClr val="00B0F0"/>
                </a:solidFill>
                <a:effectLst/>
                <a:uLnTx/>
                <a:uFillTx/>
                <a:latin typeface="Helvetica" pitchFamily="34" charset="0"/>
                <a:ea typeface="SimHei" panose="02010609060101010101" pitchFamily="49" charset="-122"/>
                <a:cs typeface="+mn-cs"/>
              </a:rPr>
              <a:t>)] – G – J – D – L</a:t>
            </a:r>
          </a:p>
        </p:txBody>
      </p:sp>
      <p:sp>
        <p:nvSpPr>
          <p:cNvPr id="7" name="Rectangle 172">
            <a:extLst>
              <a:ext uri="{FF2B5EF4-FFF2-40B4-BE49-F238E27FC236}">
                <a16:creationId xmlns:a16="http://schemas.microsoft.com/office/drawing/2014/main" id="{AE965A5C-89AE-4194-B367-D2F2CE153D0D}"/>
              </a:ext>
            </a:extLst>
          </p:cNvPr>
          <p:cNvSpPr>
            <a:spLocks noChangeArrowheads="1"/>
          </p:cNvSpPr>
          <p:nvPr/>
        </p:nvSpPr>
        <p:spPr bwMode="auto">
          <a:xfrm>
            <a:off x="0" y="1211151"/>
            <a:ext cx="3355974" cy="2890535"/>
          </a:xfrm>
          <a:prstGeom prst="rect">
            <a:avLst/>
          </a:prstGeom>
          <a:no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A. PC’s </a:t>
            </a:r>
            <a:r>
              <a:rPr kumimoji="0" lang="en-US" altLang="en-US" sz="1400" u="none" strike="noStrike" kern="1200" cap="none" spc="0" normalizeH="0" baseline="0" noProof="0" dirty="0" err="1">
                <a:ln>
                  <a:noFill/>
                </a:ln>
                <a:solidFill>
                  <a:srgbClr val="000000"/>
                </a:solidFill>
                <a:effectLst/>
                <a:uLnTx/>
                <a:uFillTx/>
                <a:latin typeface="Times" charset="0"/>
                <a:ea typeface="SimHei" panose="02010609060101010101" pitchFamily="49" charset="-122"/>
                <a:cs typeface="+mn-cs"/>
              </a:rPr>
              <a:t>Clk</a:t>
            </a: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-to-Q</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B. </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指令存储器的访问时间</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C. </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RF</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的访问时间</a:t>
            </a:r>
            <a:endPar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D. </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多路选择器</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Mux</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E</a:t>
            </a: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 </a:t>
            </a:r>
            <a:r>
              <a:rPr kumimoji="0" lang="en-US" altLang="en-US" sz="1400" u="none" strike="noStrike" kern="1200" cap="none" spc="0" normalizeH="0" baseline="0" noProof="0" dirty="0" err="1">
                <a:ln>
                  <a:noFill/>
                </a:ln>
                <a:solidFill>
                  <a:srgbClr val="000000"/>
                </a:solidFill>
                <a:effectLst/>
                <a:uLnTx/>
                <a:uFillTx/>
                <a:latin typeface="Times" charset="0"/>
                <a:ea typeface="SimHei" panose="02010609060101010101" pitchFamily="49" charset="-122"/>
                <a:cs typeface="+mn-cs"/>
              </a:rPr>
              <a:t>ImmExt</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对立即数进行符号位扩展</a:t>
            </a:r>
            <a:endPar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F. </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移位单元 </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(&lt;&lt;2)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G</a:t>
            </a: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 ALU</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进行</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32</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位运算的时间</a:t>
            </a:r>
            <a:endPar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H. PC Adder1 </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给</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PC+4</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I. PC Adder2 </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将立即数与偏移量相加</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J. </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数据存储器访问时间</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读写延迟一致</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K. </a:t>
            </a:r>
            <a:r>
              <a:rPr kumimoji="0" lang="en-US" altLang="en-US" sz="1400" u="none" strike="noStrike" kern="1200" cap="none" spc="0" normalizeH="0" baseline="0" noProof="0" dirty="0" err="1">
                <a:ln>
                  <a:noFill/>
                </a:ln>
                <a:solidFill>
                  <a:srgbClr val="000000"/>
                </a:solidFill>
                <a:effectLst/>
                <a:uLnTx/>
                <a:uFillTx/>
                <a:latin typeface="Times" charset="0"/>
                <a:ea typeface="SimHei" panose="02010609060101010101" pitchFamily="49" charset="-122"/>
                <a:cs typeface="+mn-cs"/>
              </a:rPr>
              <a:t>PC</a:t>
            </a:r>
            <a:r>
              <a:rPr kumimoji="0" lang="en-US" altLang="zh-CN" sz="1400" u="none" strike="noStrike" kern="1200" cap="none" spc="0" normalizeH="0" baseline="0" noProof="0" dirty="0" err="1">
                <a:ln>
                  <a:noFill/>
                </a:ln>
                <a:solidFill>
                  <a:srgbClr val="000000"/>
                </a:solidFill>
                <a:effectLst/>
                <a:uLnTx/>
                <a:uFillTx/>
                <a:latin typeface="Times" charset="0"/>
                <a:ea typeface="SimHei" panose="02010609060101010101" pitchFamily="49" charset="-122"/>
                <a:cs typeface="+mn-cs"/>
              </a:rPr>
              <a:t>建立</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时间</a:t>
            </a:r>
            <a:endPar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L. </a:t>
            </a:r>
            <a:r>
              <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RF</a:t>
            </a:r>
            <a:r>
              <a:rPr kumimoji="0" lang="zh-CN" altLang="en-US"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rPr>
              <a:t>写入的建立时间</a:t>
            </a:r>
            <a:endParaRPr kumimoji="0" lang="en-US" altLang="zh-CN" sz="1400" u="none" strike="noStrike" kern="1200" cap="none" spc="0" normalizeH="0" baseline="0" noProof="0" dirty="0">
              <a:ln>
                <a:noFill/>
              </a:ln>
              <a:solidFill>
                <a:srgbClr val="000000"/>
              </a:solidFill>
              <a:effectLst/>
              <a:uLnTx/>
              <a:uFillTx/>
              <a:latin typeface="Times" charset="0"/>
              <a:ea typeface="SimHei"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400" u="sng" dirty="0">
                <a:solidFill>
                  <a:srgbClr val="000000"/>
                </a:solidFill>
                <a:latin typeface="Times" charset="0"/>
                <a:ea typeface="SimHei" panose="02010609060101010101" pitchFamily="49" charset="-122"/>
              </a:rPr>
              <a:t>M.</a:t>
            </a:r>
            <a:r>
              <a:rPr lang="zh-CN" altLang="en-US" sz="1400" u="sng" dirty="0">
                <a:solidFill>
                  <a:srgbClr val="000000"/>
                </a:solidFill>
                <a:latin typeface="Times" charset="0"/>
                <a:ea typeface="SimHei" panose="02010609060101010101" pitchFamily="49" charset="-122"/>
              </a:rPr>
              <a:t> 控制信号生成延时</a:t>
            </a:r>
            <a:endParaRPr kumimoji="0" lang="zh-CN" altLang="en-US" sz="1400" u="sng" strike="noStrike" kern="1200" cap="none" spc="0" normalizeH="0" baseline="0" noProof="0" dirty="0">
              <a:ln>
                <a:noFill/>
              </a:ln>
              <a:solidFill>
                <a:srgbClr val="000000"/>
              </a:solidFill>
              <a:effectLst/>
              <a:uLnTx/>
              <a:uFillTx/>
              <a:latin typeface="Times" charset="0"/>
              <a:ea typeface="SimHei" panose="02010609060101010101" pitchFamily="49" charset="-122"/>
              <a:cs typeface="+mn-cs"/>
            </a:endParaRPr>
          </a:p>
        </p:txBody>
      </p:sp>
      <p:sp>
        <p:nvSpPr>
          <p:cNvPr id="4" name="文本框 3">
            <a:extLst>
              <a:ext uri="{FF2B5EF4-FFF2-40B4-BE49-F238E27FC236}">
                <a16:creationId xmlns:a16="http://schemas.microsoft.com/office/drawing/2014/main" id="{31BFB4A4-A711-4C9C-8487-9BC46662348C}"/>
              </a:ext>
            </a:extLst>
          </p:cNvPr>
          <p:cNvSpPr txBox="1"/>
          <p:nvPr/>
        </p:nvSpPr>
        <p:spPr>
          <a:xfrm>
            <a:off x="4413525" y="1658594"/>
            <a:ext cx="3452117"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取决于</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C</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和</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M+E+D</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延时谁更长</a:t>
            </a:r>
            <a:endPar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pic>
        <p:nvPicPr>
          <p:cNvPr id="6" name="图片 5">
            <a:extLst>
              <a:ext uri="{FF2B5EF4-FFF2-40B4-BE49-F238E27FC236}">
                <a16:creationId xmlns:a16="http://schemas.microsoft.com/office/drawing/2014/main" id="{A7FD7304-719D-41C8-AB87-C1675419A67C}"/>
              </a:ext>
            </a:extLst>
          </p:cNvPr>
          <p:cNvPicPr>
            <a:picLocks noChangeAspect="1"/>
          </p:cNvPicPr>
          <p:nvPr/>
        </p:nvPicPr>
        <p:blipFill>
          <a:blip r:embed="rId3"/>
          <a:stretch>
            <a:fillRect/>
          </a:stretch>
        </p:blipFill>
        <p:spPr>
          <a:xfrm>
            <a:off x="1983040" y="2178122"/>
            <a:ext cx="6985153" cy="4512532"/>
          </a:xfrm>
          <a:prstGeom prst="rect">
            <a:avLst/>
          </a:prstGeom>
        </p:spPr>
      </p:pic>
      <p:sp>
        <p:nvSpPr>
          <p:cNvPr id="8" name="Text Box 170">
            <a:extLst>
              <a:ext uri="{FF2B5EF4-FFF2-40B4-BE49-F238E27FC236}">
                <a16:creationId xmlns:a16="http://schemas.microsoft.com/office/drawing/2014/main" id="{707B329F-F5DF-4636-BDD3-CED6905BC3C7}"/>
              </a:ext>
            </a:extLst>
          </p:cNvPr>
          <p:cNvSpPr txBox="1">
            <a:spLocks noChangeArrowheads="1"/>
          </p:cNvSpPr>
          <p:nvPr/>
        </p:nvSpPr>
        <p:spPr bwMode="auto">
          <a:xfrm>
            <a:off x="24073" y="4459295"/>
            <a:ext cx="2165978" cy="2246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Tahoma" pitchFamily="34" charset="0"/>
                <a:ea typeface="宋体" charset="-122"/>
              </a:defRPr>
            </a:lvl1pPr>
            <a:lvl2pPr marL="742950" indent="-285750" eaLnBrk="0" hangingPunct="0">
              <a:defRPr b="1">
                <a:solidFill>
                  <a:schemeClr val="tx1"/>
                </a:solidFill>
                <a:latin typeface="Tahoma" pitchFamily="34" charset="0"/>
                <a:ea typeface="宋体" charset="-122"/>
              </a:defRPr>
            </a:lvl2pPr>
            <a:lvl3pPr marL="1143000" indent="-228600" eaLnBrk="0" hangingPunct="0">
              <a:defRPr b="1">
                <a:solidFill>
                  <a:schemeClr val="tx1"/>
                </a:solidFill>
                <a:latin typeface="Tahoma" pitchFamily="34" charset="0"/>
                <a:ea typeface="宋体" charset="-122"/>
              </a:defRPr>
            </a:lvl3pPr>
            <a:lvl4pPr marL="1600200" indent="-228600" eaLnBrk="0" hangingPunct="0">
              <a:defRPr b="1">
                <a:solidFill>
                  <a:schemeClr val="tx1"/>
                </a:solidFill>
                <a:latin typeface="Tahoma" pitchFamily="34" charset="0"/>
                <a:ea typeface="宋体" charset="-122"/>
              </a:defRPr>
            </a:lvl4pPr>
            <a:lvl5pPr marL="2057400" indent="-228600" eaLnBrk="0" hangingPunct="0">
              <a:defRPr b="1">
                <a:solidFill>
                  <a:schemeClr val="tx1"/>
                </a:solidFill>
                <a:latin typeface="Tahoma" pitchFamily="34" charset="0"/>
                <a:ea typeface="宋体" charset="-122"/>
              </a:defRPr>
            </a:lvl5pPr>
            <a:lvl6pPr marL="2514600" indent="-228600" eaLnBrk="0" fontAlgn="base" hangingPunct="0">
              <a:spcBef>
                <a:spcPct val="0"/>
              </a:spcBef>
              <a:spcAft>
                <a:spcPct val="0"/>
              </a:spcAft>
              <a:defRPr b="1">
                <a:solidFill>
                  <a:schemeClr val="tx1"/>
                </a:solidFill>
                <a:latin typeface="Tahoma" pitchFamily="34" charset="0"/>
                <a:ea typeface="宋体" charset="-122"/>
              </a:defRPr>
            </a:lvl6pPr>
            <a:lvl7pPr marL="2971800" indent="-228600" eaLnBrk="0" fontAlgn="base" hangingPunct="0">
              <a:spcBef>
                <a:spcPct val="0"/>
              </a:spcBef>
              <a:spcAft>
                <a:spcPct val="0"/>
              </a:spcAft>
              <a:defRPr b="1">
                <a:solidFill>
                  <a:schemeClr val="tx1"/>
                </a:solidFill>
                <a:latin typeface="Tahoma" pitchFamily="34" charset="0"/>
                <a:ea typeface="宋体" charset="-122"/>
              </a:defRPr>
            </a:lvl7pPr>
            <a:lvl8pPr marL="3429000" indent="-228600" eaLnBrk="0" fontAlgn="base" hangingPunct="0">
              <a:spcBef>
                <a:spcPct val="0"/>
              </a:spcBef>
              <a:spcAft>
                <a:spcPct val="0"/>
              </a:spcAft>
              <a:defRPr b="1">
                <a:solidFill>
                  <a:schemeClr val="tx1"/>
                </a:solidFill>
                <a:latin typeface="Tahoma" pitchFamily="34" charset="0"/>
                <a:ea typeface="宋体" charset="-122"/>
              </a:defRPr>
            </a:lvl8pPr>
            <a:lvl9pPr marL="3886200" indent="-228600" eaLnBrk="0" fontAlgn="base" hangingPunct="0">
              <a:spcBef>
                <a:spcPct val="0"/>
              </a:spcBef>
              <a:spcAft>
                <a:spcPct val="0"/>
              </a:spcAft>
              <a:defRPr b="1">
                <a:solidFill>
                  <a:schemeClr val="tx1"/>
                </a:solidFill>
                <a:latin typeface="Tahoma" pitchFamily="34"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rPr>
              <a:t>最长</a:t>
            </a:r>
            <a:r>
              <a:rPr kumimoji="0" lang="en-US" altLang="zh-CN"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rPr>
              <a:t>critical Path?</a:t>
            </a:r>
            <a:endParaRPr kumimoji="0" lang="en-US" altLang="en-US"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rPr>
              <a:t>1. ADDU</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rPr>
              <a:t>2. BEQ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u="none" strike="noStrike" kern="1200" cap="none" spc="0" normalizeH="0" baseline="0" noProof="0" dirty="0">
                <a:ln>
                  <a:noFill/>
                </a:ln>
                <a:solidFill>
                  <a:srgbClr val="00B0F0"/>
                </a:solidFill>
                <a:effectLst/>
                <a:uLnTx/>
                <a:uFillTx/>
                <a:latin typeface="Helvetica" pitchFamily="34" charset="0"/>
                <a:ea typeface="SimHei" panose="02010609060101010101" pitchFamily="49" charset="-122"/>
                <a:cs typeface="+mn-cs"/>
              </a:rPr>
              <a:t>3. LW</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rPr>
              <a:t>4. ORI</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rPr>
              <a:t>5. SUBU</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u="none" strike="noStrike" kern="1200" cap="none" spc="0" normalizeH="0" baseline="0" noProof="0" dirty="0">
                <a:ln>
                  <a:noFill/>
                </a:ln>
                <a:solidFill>
                  <a:srgbClr val="000000"/>
                </a:solidFill>
                <a:effectLst/>
                <a:uLnTx/>
                <a:uFillTx/>
                <a:latin typeface="Helvetica" pitchFamily="34" charset="0"/>
                <a:ea typeface="SimHei" panose="02010609060101010101" pitchFamily="49" charset="-122"/>
                <a:cs typeface="+mn-cs"/>
              </a:rPr>
              <a:t>6. SW</a:t>
            </a:r>
          </a:p>
        </p:txBody>
      </p:sp>
      <p:sp>
        <p:nvSpPr>
          <p:cNvPr id="9" name="椭圆 8"/>
          <p:cNvSpPr/>
          <p:nvPr/>
        </p:nvSpPr>
        <p:spPr>
          <a:xfrm>
            <a:off x="3907716" y="5010015"/>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A</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0" name="椭圆 9"/>
          <p:cNvSpPr/>
          <p:nvPr/>
        </p:nvSpPr>
        <p:spPr>
          <a:xfrm>
            <a:off x="4270618" y="1931927"/>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B</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1" name="椭圆 10"/>
          <p:cNvSpPr/>
          <p:nvPr/>
        </p:nvSpPr>
        <p:spPr>
          <a:xfrm>
            <a:off x="5969552" y="4341921"/>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C</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2" name="椭圆 11"/>
          <p:cNvSpPr/>
          <p:nvPr/>
        </p:nvSpPr>
        <p:spPr>
          <a:xfrm>
            <a:off x="3386454" y="4085355"/>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D</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3" name="椭圆 12"/>
          <p:cNvSpPr/>
          <p:nvPr/>
        </p:nvSpPr>
        <p:spPr>
          <a:xfrm>
            <a:off x="6693992" y="4801635"/>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D</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4" name="椭圆 13"/>
          <p:cNvSpPr/>
          <p:nvPr/>
        </p:nvSpPr>
        <p:spPr>
          <a:xfrm>
            <a:off x="8432700" y="5497945"/>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D</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5" name="椭圆 14"/>
          <p:cNvSpPr/>
          <p:nvPr/>
        </p:nvSpPr>
        <p:spPr>
          <a:xfrm>
            <a:off x="5055184" y="3356725"/>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D</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6" name="椭圆 15"/>
          <p:cNvSpPr/>
          <p:nvPr/>
        </p:nvSpPr>
        <p:spPr>
          <a:xfrm>
            <a:off x="5672454" y="5218256"/>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E</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7" name="椭圆 16"/>
          <p:cNvSpPr/>
          <p:nvPr/>
        </p:nvSpPr>
        <p:spPr>
          <a:xfrm>
            <a:off x="1993508" y="5110256"/>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F</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8" name="椭圆 17"/>
          <p:cNvSpPr/>
          <p:nvPr/>
        </p:nvSpPr>
        <p:spPr>
          <a:xfrm>
            <a:off x="7083668" y="4438626"/>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G</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9" name="椭圆 18"/>
          <p:cNvSpPr/>
          <p:nvPr/>
        </p:nvSpPr>
        <p:spPr>
          <a:xfrm>
            <a:off x="2360462" y="3869355"/>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H</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20" name="椭圆 19"/>
          <p:cNvSpPr/>
          <p:nvPr/>
        </p:nvSpPr>
        <p:spPr>
          <a:xfrm>
            <a:off x="2700482" y="4851030"/>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I</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21" name="椭圆 20"/>
          <p:cNvSpPr/>
          <p:nvPr/>
        </p:nvSpPr>
        <p:spPr>
          <a:xfrm>
            <a:off x="7627827" y="6297830"/>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J</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22" name="椭圆 21"/>
          <p:cNvSpPr/>
          <p:nvPr/>
        </p:nvSpPr>
        <p:spPr>
          <a:xfrm>
            <a:off x="4075685" y="4664016"/>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K</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23" name="椭圆 22"/>
          <p:cNvSpPr/>
          <p:nvPr/>
        </p:nvSpPr>
        <p:spPr>
          <a:xfrm>
            <a:off x="5118651" y="4606905"/>
            <a:ext cx="216000" cy="21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rPr>
              <a:t>L</a:t>
            </a: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3" name="圆角矩形 2">
            <a:extLst>
              <a:ext uri="{FF2B5EF4-FFF2-40B4-BE49-F238E27FC236}">
                <a16:creationId xmlns:a16="http://schemas.microsoft.com/office/drawing/2014/main" id="{31B2FB5E-6294-F349-E5AD-71AC2D33D214}"/>
              </a:ext>
            </a:extLst>
          </p:cNvPr>
          <p:cNvSpPr/>
          <p:nvPr/>
        </p:nvSpPr>
        <p:spPr>
          <a:xfrm>
            <a:off x="1170629" y="6513830"/>
            <a:ext cx="3401371" cy="298284"/>
          </a:xfrm>
          <a:prstGeom prst="roundRect">
            <a:avLst/>
          </a:prstGeom>
          <a:solidFill>
            <a:srgbClr val="333399"/>
          </a:solidFill>
          <a:ln>
            <a:solidFill>
              <a:srgbClr val="33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rPr>
              <a:t>各种指令的关键路径！</a:t>
            </a:r>
            <a:endParaRPr lang="en-US" altLang="zh-CN" sz="2400" dirty="0">
              <a:latin typeface="+mj-ea"/>
              <a:ea typeface="+mj-ea"/>
            </a:endParaRPr>
          </a:p>
        </p:txBody>
      </p:sp>
      <p:sp>
        <p:nvSpPr>
          <p:cNvPr id="25" name="矩形 24">
            <a:extLst>
              <a:ext uri="{FF2B5EF4-FFF2-40B4-BE49-F238E27FC236}">
                <a16:creationId xmlns:a16="http://schemas.microsoft.com/office/drawing/2014/main" id="{86B5E97E-5BE2-5074-5D51-9277DCAA437A}"/>
              </a:ext>
            </a:extLst>
          </p:cNvPr>
          <p:cNvSpPr/>
          <p:nvPr/>
        </p:nvSpPr>
        <p:spPr>
          <a:xfrm>
            <a:off x="5632450" y="6191250"/>
            <a:ext cx="553102" cy="1682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77AA752C-8ADF-0869-07A9-0A3416CE1861}"/>
              </a:ext>
            </a:extLst>
          </p:cNvPr>
          <p:cNvSpPr txBox="1"/>
          <p:nvPr/>
        </p:nvSpPr>
        <p:spPr>
          <a:xfrm>
            <a:off x="5581804" y="6106725"/>
            <a:ext cx="715260" cy="276999"/>
          </a:xfrm>
          <a:prstGeom prst="rect">
            <a:avLst/>
          </a:prstGeom>
          <a:noFill/>
        </p:spPr>
        <p:txBody>
          <a:bodyPr wrap="none" rtlCol="0">
            <a:spAutoFit/>
          </a:bodyPr>
          <a:lstStyle/>
          <a:p>
            <a:r>
              <a:rPr kumimoji="1" lang="en-US" altLang="zh-CN" sz="1200" dirty="0">
                <a:solidFill>
                  <a:srgbClr val="00B050"/>
                </a:solidFill>
                <a:latin typeface="Times New Roman" panose="02020603050405020304" pitchFamily="18" charset="0"/>
                <a:cs typeface="Times New Roman" panose="02020603050405020304" pitchFamily="18" charset="0"/>
              </a:rPr>
              <a:t>(Signed)</a:t>
            </a:r>
            <a:endParaRPr kumimoji="1" lang="zh-CN" altLang="en-US" sz="12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3032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1FD74818-A964-4CC8-933B-C801275E6415}"/>
              </a:ext>
            </a:extLst>
          </p:cNvPr>
          <p:cNvPicPr>
            <a:picLocks noChangeAspect="1"/>
          </p:cNvPicPr>
          <p:nvPr/>
        </p:nvPicPr>
        <p:blipFill rotWithShape="1">
          <a:blip r:embed="rId3"/>
          <a:srcRect b="1521"/>
          <a:stretch/>
        </p:blipFill>
        <p:spPr>
          <a:xfrm>
            <a:off x="556246" y="2540796"/>
            <a:ext cx="7203057" cy="4317204"/>
          </a:xfrm>
          <a:prstGeom prst="rect">
            <a:avLst/>
          </a:prstGeom>
        </p:spPr>
      </p:pic>
      <p:sp>
        <p:nvSpPr>
          <p:cNvPr id="2" name="标题 1">
            <a:extLst>
              <a:ext uri="{FF2B5EF4-FFF2-40B4-BE49-F238E27FC236}">
                <a16:creationId xmlns:a16="http://schemas.microsoft.com/office/drawing/2014/main" id="{91533672-E1FB-4E11-ADB6-B5CF00E42FDF}"/>
              </a:ext>
            </a:extLst>
          </p:cNvPr>
          <p:cNvSpPr>
            <a:spLocks noGrp="1"/>
          </p:cNvSpPr>
          <p:nvPr>
            <p:ph type="title"/>
          </p:nvPr>
        </p:nvSpPr>
        <p:spPr/>
        <p:txBody>
          <a:bodyPr/>
          <a:lstStyle/>
          <a:p>
            <a:r>
              <a:rPr lang="zh-CN" altLang="en-US" dirty="0"/>
              <a:t>多周期数据通路</a:t>
            </a:r>
          </a:p>
        </p:txBody>
      </p:sp>
      <p:sp>
        <p:nvSpPr>
          <p:cNvPr id="3" name="内容占位符 2">
            <a:extLst>
              <a:ext uri="{FF2B5EF4-FFF2-40B4-BE49-F238E27FC236}">
                <a16:creationId xmlns:a16="http://schemas.microsoft.com/office/drawing/2014/main" id="{565E0E4B-FA78-4D14-813E-99F9F0475E1B}"/>
              </a:ext>
            </a:extLst>
          </p:cNvPr>
          <p:cNvSpPr>
            <a:spLocks noGrp="1"/>
          </p:cNvSpPr>
          <p:nvPr>
            <p:ph idx="1"/>
          </p:nvPr>
        </p:nvSpPr>
        <p:spPr>
          <a:xfrm>
            <a:off x="457200" y="1370857"/>
            <a:ext cx="8394192" cy="4525963"/>
          </a:xfrm>
        </p:spPr>
        <p:txBody>
          <a:bodyPr/>
          <a:lstStyle/>
          <a:p>
            <a:r>
              <a:rPr lang="en-US" altLang="zh-CN" sz="2000" dirty="0"/>
              <a:t>PC</a:t>
            </a:r>
            <a:r>
              <a:rPr lang="zh-CN" altLang="en-US" sz="2000" dirty="0"/>
              <a:t>，存储器，寄存器，</a:t>
            </a:r>
            <a:r>
              <a:rPr lang="en-US" altLang="zh-CN" sz="2000" dirty="0"/>
              <a:t>IR</a:t>
            </a:r>
            <a:r>
              <a:rPr lang="zh-CN" altLang="en-US" sz="2000" dirty="0"/>
              <a:t>需要写控制信号；存储器还需要一个读信号</a:t>
            </a:r>
          </a:p>
          <a:p>
            <a:r>
              <a:rPr lang="zh-CN" altLang="en-US" sz="2000" dirty="0"/>
              <a:t> </a:t>
            </a:r>
            <a:r>
              <a:rPr lang="en-US" altLang="zh-CN" sz="2000" dirty="0"/>
              <a:t>ALU</a:t>
            </a:r>
            <a:r>
              <a:rPr lang="zh-CN" altLang="en-US" sz="2000" dirty="0"/>
              <a:t>控制器需要控制信号进行</a:t>
            </a:r>
            <a:r>
              <a:rPr lang="en-US" altLang="zh-CN" sz="2000" dirty="0"/>
              <a:t>ALU</a:t>
            </a:r>
            <a:r>
              <a:rPr lang="zh-CN" altLang="en-US" sz="2000" dirty="0"/>
              <a:t>操作类型控制</a:t>
            </a:r>
          </a:p>
          <a:p>
            <a:r>
              <a:rPr lang="zh-CN" altLang="en-US" sz="2000" dirty="0"/>
              <a:t> 每个</a:t>
            </a:r>
            <a:r>
              <a:rPr lang="en-US" altLang="zh-CN" sz="2000" dirty="0"/>
              <a:t>2</a:t>
            </a:r>
            <a:r>
              <a:rPr lang="zh-CN" altLang="en-US" sz="2000" dirty="0"/>
              <a:t>输入、</a:t>
            </a:r>
            <a:r>
              <a:rPr lang="en-US" altLang="zh-CN" sz="2000" dirty="0"/>
              <a:t>4</a:t>
            </a:r>
            <a:r>
              <a:rPr lang="zh-CN" altLang="en-US" sz="2000" dirty="0"/>
              <a:t>输入多路复用器分别需要</a:t>
            </a:r>
            <a:r>
              <a:rPr lang="en-US" altLang="zh-CN" sz="2000" dirty="0"/>
              <a:t>1</a:t>
            </a:r>
            <a:r>
              <a:rPr lang="zh-CN" altLang="en-US" sz="2000" dirty="0"/>
              <a:t>、</a:t>
            </a:r>
            <a:r>
              <a:rPr lang="en-US" altLang="zh-CN" sz="2000" dirty="0"/>
              <a:t>2</a:t>
            </a:r>
            <a:r>
              <a:rPr lang="zh-CN" altLang="en-US" sz="2000" dirty="0"/>
              <a:t>根控制线</a:t>
            </a:r>
            <a:endParaRPr lang="zh-CN" altLang="en-US" sz="2800" dirty="0"/>
          </a:p>
        </p:txBody>
      </p:sp>
      <p:grpSp>
        <p:nvGrpSpPr>
          <p:cNvPr id="8" name="Group 20">
            <a:extLst>
              <a:ext uri="{FF2B5EF4-FFF2-40B4-BE49-F238E27FC236}">
                <a16:creationId xmlns:a16="http://schemas.microsoft.com/office/drawing/2014/main" id="{0B910DD9-DBA8-4941-9866-4316655A03B0}"/>
              </a:ext>
            </a:extLst>
          </p:cNvPr>
          <p:cNvGrpSpPr>
            <a:grpSpLocks/>
          </p:cNvGrpSpPr>
          <p:nvPr/>
        </p:nvGrpSpPr>
        <p:grpSpPr bwMode="auto">
          <a:xfrm>
            <a:off x="2590516" y="2470433"/>
            <a:ext cx="1504951" cy="1397001"/>
            <a:chOff x="1899" y="1591"/>
            <a:chExt cx="948" cy="880"/>
          </a:xfrm>
        </p:grpSpPr>
        <p:sp>
          <p:nvSpPr>
            <p:cNvPr id="11" name="Oval 18">
              <a:extLst>
                <a:ext uri="{FF2B5EF4-FFF2-40B4-BE49-F238E27FC236}">
                  <a16:creationId xmlns:a16="http://schemas.microsoft.com/office/drawing/2014/main" id="{DA671534-EB49-42F1-BC00-28154F56D735}"/>
                </a:ext>
              </a:extLst>
            </p:cNvPr>
            <p:cNvSpPr>
              <a:spLocks noChangeArrowheads="1"/>
            </p:cNvSpPr>
            <p:nvPr/>
          </p:nvSpPr>
          <p:spPr bwMode="auto">
            <a:xfrm>
              <a:off x="1899" y="1948"/>
              <a:ext cx="359" cy="523"/>
            </a:xfrm>
            <a:prstGeom prst="ellipse">
              <a:avLst/>
            </a:prstGeom>
            <a:noFill/>
            <a:ln w="381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12" name="Text Box 19">
              <a:extLst>
                <a:ext uri="{FF2B5EF4-FFF2-40B4-BE49-F238E27FC236}">
                  <a16:creationId xmlns:a16="http://schemas.microsoft.com/office/drawing/2014/main" id="{1391DDCE-505E-49D5-BBB4-33F5DAE2FAC7}"/>
                </a:ext>
              </a:extLst>
            </p:cNvPr>
            <p:cNvSpPr txBox="1">
              <a:spLocks noChangeArrowheads="1"/>
            </p:cNvSpPr>
            <p:nvPr/>
          </p:nvSpPr>
          <p:spPr bwMode="auto">
            <a:xfrm>
              <a:off x="1935" y="1591"/>
              <a:ext cx="912" cy="4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ahoma" pitchFamily="34" charset="0"/>
                  <a:ea typeface="宋体" charset="-122"/>
                </a:defRPr>
              </a:lvl1pPr>
              <a:lvl2pPr marL="742950" indent="-285750" eaLnBrk="0" hangingPunct="0">
                <a:defRPr b="1">
                  <a:solidFill>
                    <a:schemeClr val="tx1"/>
                  </a:solidFill>
                  <a:latin typeface="Tahoma" pitchFamily="34" charset="0"/>
                  <a:ea typeface="宋体" charset="-122"/>
                </a:defRPr>
              </a:lvl2pPr>
              <a:lvl3pPr marL="1143000" indent="-228600" eaLnBrk="0" hangingPunct="0">
                <a:defRPr b="1">
                  <a:solidFill>
                    <a:schemeClr val="tx1"/>
                  </a:solidFill>
                  <a:latin typeface="Tahoma" pitchFamily="34" charset="0"/>
                  <a:ea typeface="宋体" charset="-122"/>
                </a:defRPr>
              </a:lvl3pPr>
              <a:lvl4pPr marL="1600200" indent="-228600" eaLnBrk="0" hangingPunct="0">
                <a:defRPr b="1">
                  <a:solidFill>
                    <a:schemeClr val="tx1"/>
                  </a:solidFill>
                  <a:latin typeface="Tahoma" pitchFamily="34" charset="0"/>
                  <a:ea typeface="宋体" charset="-122"/>
                </a:defRPr>
              </a:lvl4pPr>
              <a:lvl5pPr marL="2057400" indent="-228600" eaLnBrk="0" hangingPunct="0">
                <a:defRPr b="1">
                  <a:solidFill>
                    <a:schemeClr val="tx1"/>
                  </a:solidFill>
                  <a:latin typeface="Tahoma" pitchFamily="34" charset="0"/>
                  <a:ea typeface="宋体" charset="-122"/>
                </a:defRPr>
              </a:lvl5pPr>
              <a:lvl6pPr marL="2514600" indent="-228600" eaLnBrk="0" fontAlgn="base" hangingPunct="0">
                <a:spcBef>
                  <a:spcPct val="0"/>
                </a:spcBef>
                <a:spcAft>
                  <a:spcPct val="0"/>
                </a:spcAft>
                <a:defRPr b="1">
                  <a:solidFill>
                    <a:schemeClr val="tx1"/>
                  </a:solidFill>
                  <a:latin typeface="Tahoma" pitchFamily="34" charset="0"/>
                  <a:ea typeface="宋体" charset="-122"/>
                </a:defRPr>
              </a:lvl6pPr>
              <a:lvl7pPr marL="2971800" indent="-228600" eaLnBrk="0" fontAlgn="base" hangingPunct="0">
                <a:spcBef>
                  <a:spcPct val="0"/>
                </a:spcBef>
                <a:spcAft>
                  <a:spcPct val="0"/>
                </a:spcAft>
                <a:defRPr b="1">
                  <a:solidFill>
                    <a:schemeClr val="tx1"/>
                  </a:solidFill>
                  <a:latin typeface="Tahoma" pitchFamily="34" charset="0"/>
                  <a:ea typeface="宋体" charset="-122"/>
                </a:defRPr>
              </a:lvl7pPr>
              <a:lvl8pPr marL="3429000" indent="-228600" eaLnBrk="0" fontAlgn="base" hangingPunct="0">
                <a:spcBef>
                  <a:spcPct val="0"/>
                </a:spcBef>
                <a:spcAft>
                  <a:spcPct val="0"/>
                </a:spcAft>
                <a:defRPr b="1">
                  <a:solidFill>
                    <a:schemeClr val="tx1"/>
                  </a:solidFill>
                  <a:latin typeface="Tahoma" pitchFamily="34" charset="0"/>
                  <a:ea typeface="宋体" charset="-122"/>
                </a:defRPr>
              </a:lvl8pPr>
              <a:lvl9pPr marL="3886200" indent="-228600" eaLnBrk="0" fontAlgn="base" hangingPunct="0">
                <a:spcBef>
                  <a:spcPct val="0"/>
                </a:spcBef>
                <a:spcAft>
                  <a:spcPct val="0"/>
                </a:spcAft>
                <a:defRPr b="1">
                  <a:solidFill>
                    <a:schemeClr val="tx1"/>
                  </a:solidFill>
                  <a:latin typeface="Tahoma" pitchFamily="34" charset="0"/>
                  <a:ea typeface="宋体" charset="-122"/>
                </a:defRPr>
              </a:lvl9pPr>
            </a:lstStyle>
            <a:p>
              <a:pPr eaLnBrk="1" hangingPunct="1"/>
              <a:r>
                <a:rPr lang="zh-CN" altLang="en-US" b="0" dirty="0">
                  <a:solidFill>
                    <a:srgbClr val="FF0000"/>
                  </a:solidFill>
                  <a:latin typeface="Arial" charset="0"/>
                  <a:ea typeface="SimHei" panose="02010609060101010101" pitchFamily="49" charset="-122"/>
                </a:rPr>
                <a:t>为什么需要</a:t>
              </a:r>
            </a:p>
            <a:p>
              <a:pPr eaLnBrk="1" hangingPunct="1"/>
              <a:r>
                <a:rPr lang="zh-CN" altLang="en-US" b="0" dirty="0">
                  <a:solidFill>
                    <a:srgbClr val="FF0000"/>
                  </a:solidFill>
                  <a:latin typeface="Arial" charset="0"/>
                  <a:ea typeface="SimHei" panose="02010609060101010101" pitchFamily="49" charset="-122"/>
                </a:rPr>
                <a:t>写控制信号</a:t>
              </a:r>
            </a:p>
          </p:txBody>
        </p:sp>
      </p:grpSp>
      <p:grpSp>
        <p:nvGrpSpPr>
          <p:cNvPr id="13" name="组合 12">
            <a:extLst>
              <a:ext uri="{FF2B5EF4-FFF2-40B4-BE49-F238E27FC236}">
                <a16:creationId xmlns:a16="http://schemas.microsoft.com/office/drawing/2014/main" id="{59F608DF-E999-46D9-ADF7-CBD15178106B}"/>
              </a:ext>
            </a:extLst>
          </p:cNvPr>
          <p:cNvGrpSpPr/>
          <p:nvPr/>
        </p:nvGrpSpPr>
        <p:grpSpPr>
          <a:xfrm>
            <a:off x="5212107" y="4258291"/>
            <a:ext cx="2569329" cy="2017931"/>
            <a:chOff x="5779479" y="2971801"/>
            <a:chExt cx="2569329" cy="2017931"/>
          </a:xfrm>
        </p:grpSpPr>
        <p:sp>
          <p:nvSpPr>
            <p:cNvPr id="14" name="Oval 25">
              <a:extLst>
                <a:ext uri="{FF2B5EF4-FFF2-40B4-BE49-F238E27FC236}">
                  <a16:creationId xmlns:a16="http://schemas.microsoft.com/office/drawing/2014/main" id="{EBF0D208-2C67-4AEE-A9E8-E313AB70C609}"/>
                </a:ext>
              </a:extLst>
            </p:cNvPr>
            <p:cNvSpPr>
              <a:spLocks noChangeArrowheads="1"/>
            </p:cNvSpPr>
            <p:nvPr/>
          </p:nvSpPr>
          <p:spPr bwMode="auto">
            <a:xfrm>
              <a:off x="5779479" y="2971801"/>
              <a:ext cx="742306" cy="1371600"/>
            </a:xfrm>
            <a:prstGeom prst="ellipse">
              <a:avLst/>
            </a:prstGeom>
            <a:noFill/>
            <a:ln w="381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15" name="Oval 26">
              <a:extLst>
                <a:ext uri="{FF2B5EF4-FFF2-40B4-BE49-F238E27FC236}">
                  <a16:creationId xmlns:a16="http://schemas.microsoft.com/office/drawing/2014/main" id="{A95C8B4D-03A6-4565-ABD4-7037DA9C9EBC}"/>
                </a:ext>
              </a:extLst>
            </p:cNvPr>
            <p:cNvSpPr>
              <a:spLocks noChangeArrowheads="1"/>
            </p:cNvSpPr>
            <p:nvPr/>
          </p:nvSpPr>
          <p:spPr bwMode="auto">
            <a:xfrm>
              <a:off x="7606502" y="3779058"/>
              <a:ext cx="742306" cy="584776"/>
            </a:xfrm>
            <a:prstGeom prst="ellipse">
              <a:avLst/>
            </a:prstGeom>
            <a:noFill/>
            <a:ln w="381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16" name="Text Box 27">
              <a:extLst>
                <a:ext uri="{FF2B5EF4-FFF2-40B4-BE49-F238E27FC236}">
                  <a16:creationId xmlns:a16="http://schemas.microsoft.com/office/drawing/2014/main" id="{B31890B6-6FFF-4731-907D-508B27F431F5}"/>
                </a:ext>
              </a:extLst>
            </p:cNvPr>
            <p:cNvSpPr txBox="1">
              <a:spLocks noChangeArrowheads="1"/>
            </p:cNvSpPr>
            <p:nvPr/>
          </p:nvSpPr>
          <p:spPr bwMode="auto">
            <a:xfrm>
              <a:off x="6453655" y="4343401"/>
              <a:ext cx="1524000"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Tahoma" pitchFamily="34" charset="0"/>
                  <a:ea typeface="宋体" charset="-122"/>
                </a:defRPr>
              </a:lvl1pPr>
              <a:lvl2pPr marL="742950" indent="-285750" eaLnBrk="0" hangingPunct="0">
                <a:defRPr b="1">
                  <a:solidFill>
                    <a:schemeClr val="tx1"/>
                  </a:solidFill>
                  <a:latin typeface="Tahoma" pitchFamily="34" charset="0"/>
                  <a:ea typeface="宋体" charset="-122"/>
                </a:defRPr>
              </a:lvl2pPr>
              <a:lvl3pPr marL="1143000" indent="-228600" eaLnBrk="0" hangingPunct="0">
                <a:defRPr b="1">
                  <a:solidFill>
                    <a:schemeClr val="tx1"/>
                  </a:solidFill>
                  <a:latin typeface="Tahoma" pitchFamily="34" charset="0"/>
                  <a:ea typeface="宋体" charset="-122"/>
                </a:defRPr>
              </a:lvl3pPr>
              <a:lvl4pPr marL="1600200" indent="-228600" eaLnBrk="0" hangingPunct="0">
                <a:defRPr b="1">
                  <a:solidFill>
                    <a:schemeClr val="tx1"/>
                  </a:solidFill>
                  <a:latin typeface="Tahoma" pitchFamily="34" charset="0"/>
                  <a:ea typeface="宋体" charset="-122"/>
                </a:defRPr>
              </a:lvl4pPr>
              <a:lvl5pPr marL="2057400" indent="-228600" eaLnBrk="0" hangingPunct="0">
                <a:defRPr b="1">
                  <a:solidFill>
                    <a:schemeClr val="tx1"/>
                  </a:solidFill>
                  <a:latin typeface="Tahoma" pitchFamily="34" charset="0"/>
                  <a:ea typeface="宋体" charset="-122"/>
                </a:defRPr>
              </a:lvl5pPr>
              <a:lvl6pPr marL="2514600" indent="-228600" eaLnBrk="0" fontAlgn="base" hangingPunct="0">
                <a:spcBef>
                  <a:spcPct val="0"/>
                </a:spcBef>
                <a:spcAft>
                  <a:spcPct val="0"/>
                </a:spcAft>
                <a:defRPr b="1">
                  <a:solidFill>
                    <a:schemeClr val="tx1"/>
                  </a:solidFill>
                  <a:latin typeface="Tahoma" pitchFamily="34" charset="0"/>
                  <a:ea typeface="宋体" charset="-122"/>
                </a:defRPr>
              </a:lvl6pPr>
              <a:lvl7pPr marL="2971800" indent="-228600" eaLnBrk="0" fontAlgn="base" hangingPunct="0">
                <a:spcBef>
                  <a:spcPct val="0"/>
                </a:spcBef>
                <a:spcAft>
                  <a:spcPct val="0"/>
                </a:spcAft>
                <a:defRPr b="1">
                  <a:solidFill>
                    <a:schemeClr val="tx1"/>
                  </a:solidFill>
                  <a:latin typeface="Tahoma" pitchFamily="34" charset="0"/>
                  <a:ea typeface="宋体" charset="-122"/>
                </a:defRPr>
              </a:lvl7pPr>
              <a:lvl8pPr marL="3429000" indent="-228600" eaLnBrk="0" fontAlgn="base" hangingPunct="0">
                <a:spcBef>
                  <a:spcPct val="0"/>
                </a:spcBef>
                <a:spcAft>
                  <a:spcPct val="0"/>
                </a:spcAft>
                <a:defRPr b="1">
                  <a:solidFill>
                    <a:schemeClr val="tx1"/>
                  </a:solidFill>
                  <a:latin typeface="Tahoma" pitchFamily="34" charset="0"/>
                  <a:ea typeface="宋体" charset="-122"/>
                </a:defRPr>
              </a:lvl8pPr>
              <a:lvl9pPr marL="3886200" indent="-228600" eaLnBrk="0" fontAlgn="base" hangingPunct="0">
                <a:spcBef>
                  <a:spcPct val="0"/>
                </a:spcBef>
                <a:spcAft>
                  <a:spcPct val="0"/>
                </a:spcAft>
                <a:defRPr b="1">
                  <a:solidFill>
                    <a:schemeClr val="tx1"/>
                  </a:solidFill>
                  <a:latin typeface="Tahoma" pitchFamily="34" charset="0"/>
                  <a:ea typeface="宋体" charset="-122"/>
                </a:defRPr>
              </a:lvl9pPr>
            </a:lstStyle>
            <a:p>
              <a:pPr eaLnBrk="1" hangingPunct="1"/>
              <a:r>
                <a:rPr lang="zh-CN" altLang="en-US" b="0" dirty="0">
                  <a:solidFill>
                    <a:srgbClr val="FF0000"/>
                  </a:solidFill>
                  <a:latin typeface="Arial" charset="0"/>
                  <a:ea typeface="SimHei" panose="02010609060101010101" pitchFamily="49" charset="-122"/>
                </a:rPr>
                <a:t>为什么不要</a:t>
              </a:r>
              <a:endParaRPr lang="en-US" altLang="zh-CN" b="0" dirty="0">
                <a:solidFill>
                  <a:srgbClr val="FF0000"/>
                </a:solidFill>
                <a:latin typeface="Arial" charset="0"/>
                <a:ea typeface="SimHei" panose="02010609060101010101" pitchFamily="49" charset="-122"/>
              </a:endParaRPr>
            </a:p>
            <a:p>
              <a:pPr eaLnBrk="1" hangingPunct="1"/>
              <a:r>
                <a:rPr lang="zh-CN" altLang="en-US" b="0" dirty="0">
                  <a:solidFill>
                    <a:srgbClr val="FF0000"/>
                  </a:solidFill>
                  <a:latin typeface="Arial" charset="0"/>
                  <a:ea typeface="SimHei" panose="02010609060101010101" pitchFamily="49" charset="-122"/>
                </a:rPr>
                <a:t>控制信号？</a:t>
              </a:r>
            </a:p>
          </p:txBody>
        </p:sp>
      </p:grpSp>
      <p:sp>
        <p:nvSpPr>
          <p:cNvPr id="17" name="Text Box 29">
            <a:extLst>
              <a:ext uri="{FF2B5EF4-FFF2-40B4-BE49-F238E27FC236}">
                <a16:creationId xmlns:a16="http://schemas.microsoft.com/office/drawing/2014/main" id="{659B565C-D29F-46CB-ABA2-1E2B9FE0CF16}"/>
              </a:ext>
            </a:extLst>
          </p:cNvPr>
          <p:cNvSpPr txBox="1">
            <a:spLocks noChangeArrowheads="1"/>
          </p:cNvSpPr>
          <p:nvPr/>
        </p:nvSpPr>
        <p:spPr bwMode="auto">
          <a:xfrm>
            <a:off x="6261737" y="2489076"/>
            <a:ext cx="1331759"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Tahoma" pitchFamily="34" charset="0"/>
                <a:ea typeface="宋体" charset="-122"/>
              </a:defRPr>
            </a:lvl1pPr>
            <a:lvl2pPr marL="742950" indent="-285750" eaLnBrk="0" hangingPunct="0">
              <a:defRPr b="1">
                <a:solidFill>
                  <a:schemeClr val="tx1"/>
                </a:solidFill>
                <a:latin typeface="Tahoma" pitchFamily="34" charset="0"/>
                <a:ea typeface="宋体" charset="-122"/>
              </a:defRPr>
            </a:lvl2pPr>
            <a:lvl3pPr marL="1143000" indent="-228600" eaLnBrk="0" hangingPunct="0">
              <a:defRPr b="1">
                <a:solidFill>
                  <a:schemeClr val="tx1"/>
                </a:solidFill>
                <a:latin typeface="Tahoma" pitchFamily="34" charset="0"/>
                <a:ea typeface="宋体" charset="-122"/>
              </a:defRPr>
            </a:lvl3pPr>
            <a:lvl4pPr marL="1600200" indent="-228600" eaLnBrk="0" hangingPunct="0">
              <a:defRPr b="1">
                <a:solidFill>
                  <a:schemeClr val="tx1"/>
                </a:solidFill>
                <a:latin typeface="Tahoma" pitchFamily="34" charset="0"/>
                <a:ea typeface="宋体" charset="-122"/>
              </a:defRPr>
            </a:lvl4pPr>
            <a:lvl5pPr marL="2057400" indent="-228600" eaLnBrk="0" hangingPunct="0">
              <a:defRPr b="1">
                <a:solidFill>
                  <a:schemeClr val="tx1"/>
                </a:solidFill>
                <a:latin typeface="Tahoma" pitchFamily="34" charset="0"/>
                <a:ea typeface="宋体" charset="-122"/>
              </a:defRPr>
            </a:lvl5pPr>
            <a:lvl6pPr marL="2514600" indent="-228600" eaLnBrk="0" fontAlgn="base" hangingPunct="0">
              <a:spcBef>
                <a:spcPct val="0"/>
              </a:spcBef>
              <a:spcAft>
                <a:spcPct val="0"/>
              </a:spcAft>
              <a:defRPr b="1">
                <a:solidFill>
                  <a:schemeClr val="tx1"/>
                </a:solidFill>
                <a:latin typeface="Tahoma" pitchFamily="34" charset="0"/>
                <a:ea typeface="宋体" charset="-122"/>
              </a:defRPr>
            </a:lvl6pPr>
            <a:lvl7pPr marL="2971800" indent="-228600" eaLnBrk="0" fontAlgn="base" hangingPunct="0">
              <a:spcBef>
                <a:spcPct val="0"/>
              </a:spcBef>
              <a:spcAft>
                <a:spcPct val="0"/>
              </a:spcAft>
              <a:defRPr b="1">
                <a:solidFill>
                  <a:schemeClr val="tx1"/>
                </a:solidFill>
                <a:latin typeface="Tahoma" pitchFamily="34" charset="0"/>
                <a:ea typeface="宋体" charset="-122"/>
              </a:defRPr>
            </a:lvl7pPr>
            <a:lvl8pPr marL="3429000" indent="-228600" eaLnBrk="0" fontAlgn="base" hangingPunct="0">
              <a:spcBef>
                <a:spcPct val="0"/>
              </a:spcBef>
              <a:spcAft>
                <a:spcPct val="0"/>
              </a:spcAft>
              <a:defRPr b="1">
                <a:solidFill>
                  <a:schemeClr val="tx1"/>
                </a:solidFill>
                <a:latin typeface="Tahoma" pitchFamily="34" charset="0"/>
                <a:ea typeface="宋体" charset="-122"/>
              </a:defRPr>
            </a:lvl8pPr>
            <a:lvl9pPr marL="3886200" indent="-228600" eaLnBrk="0" fontAlgn="base" hangingPunct="0">
              <a:spcBef>
                <a:spcPct val="0"/>
              </a:spcBef>
              <a:spcAft>
                <a:spcPct val="0"/>
              </a:spcAft>
              <a:defRPr b="1">
                <a:solidFill>
                  <a:schemeClr val="tx1"/>
                </a:solidFill>
                <a:latin typeface="Tahoma" pitchFamily="34" charset="0"/>
                <a:ea typeface="宋体" charset="-122"/>
              </a:defRPr>
            </a:lvl9pPr>
          </a:lstStyle>
          <a:p>
            <a:pPr eaLnBrk="1" hangingPunct="1"/>
            <a:r>
              <a:rPr lang="en-US" altLang="zh-CN" sz="1600" b="0" dirty="0">
                <a:solidFill>
                  <a:srgbClr val="3333CC"/>
                </a:solidFill>
                <a:latin typeface="Arial" panose="020B0604020202020204" pitchFamily="34" charset="0"/>
                <a:ea typeface="SimHei" panose="02010609060101010101" pitchFamily="49" charset="-122"/>
              </a:rPr>
              <a:t>AB</a:t>
            </a:r>
            <a:r>
              <a:rPr lang="zh-CN" altLang="en-US" sz="1600" b="0" dirty="0">
                <a:solidFill>
                  <a:srgbClr val="3333CC"/>
                </a:solidFill>
                <a:latin typeface="Arial" panose="020B0604020202020204" pitchFamily="34" charset="0"/>
                <a:ea typeface="SimHei" panose="02010609060101010101" pitchFamily="49" charset="-122"/>
              </a:rPr>
              <a:t>内容什么时候读出？</a:t>
            </a:r>
          </a:p>
        </p:txBody>
      </p:sp>
      <p:sp>
        <p:nvSpPr>
          <p:cNvPr id="18" name="Text Box 23">
            <a:extLst>
              <a:ext uri="{FF2B5EF4-FFF2-40B4-BE49-F238E27FC236}">
                <a16:creationId xmlns:a16="http://schemas.microsoft.com/office/drawing/2014/main" id="{487099DD-C495-47C2-97D0-61E41A79B94F}"/>
              </a:ext>
            </a:extLst>
          </p:cNvPr>
          <p:cNvSpPr txBox="1">
            <a:spLocks noChangeArrowheads="1"/>
          </p:cNvSpPr>
          <p:nvPr/>
        </p:nvSpPr>
        <p:spPr bwMode="auto">
          <a:xfrm>
            <a:off x="3971481" y="2498560"/>
            <a:ext cx="209089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Tahoma" pitchFamily="34" charset="0"/>
                <a:ea typeface="宋体" charset="-122"/>
              </a:defRPr>
            </a:lvl1pPr>
            <a:lvl2pPr marL="742950" indent="-285750" eaLnBrk="0" hangingPunct="0">
              <a:defRPr b="1">
                <a:solidFill>
                  <a:schemeClr val="tx1"/>
                </a:solidFill>
                <a:latin typeface="Tahoma" pitchFamily="34" charset="0"/>
                <a:ea typeface="宋体" charset="-122"/>
              </a:defRPr>
            </a:lvl2pPr>
            <a:lvl3pPr marL="1143000" indent="-228600" eaLnBrk="0" hangingPunct="0">
              <a:defRPr b="1">
                <a:solidFill>
                  <a:schemeClr val="tx1"/>
                </a:solidFill>
                <a:latin typeface="Tahoma" pitchFamily="34" charset="0"/>
                <a:ea typeface="宋体" charset="-122"/>
              </a:defRPr>
            </a:lvl3pPr>
            <a:lvl4pPr marL="1600200" indent="-228600" eaLnBrk="0" hangingPunct="0">
              <a:defRPr b="1">
                <a:solidFill>
                  <a:schemeClr val="tx1"/>
                </a:solidFill>
                <a:latin typeface="Tahoma" pitchFamily="34" charset="0"/>
                <a:ea typeface="宋体" charset="-122"/>
              </a:defRPr>
            </a:lvl4pPr>
            <a:lvl5pPr marL="2057400" indent="-228600" eaLnBrk="0" hangingPunct="0">
              <a:defRPr b="1">
                <a:solidFill>
                  <a:schemeClr val="tx1"/>
                </a:solidFill>
                <a:latin typeface="Tahoma" pitchFamily="34" charset="0"/>
                <a:ea typeface="宋体" charset="-122"/>
              </a:defRPr>
            </a:lvl5pPr>
            <a:lvl6pPr marL="2514600" indent="-228600" eaLnBrk="0" fontAlgn="base" hangingPunct="0">
              <a:spcBef>
                <a:spcPct val="0"/>
              </a:spcBef>
              <a:spcAft>
                <a:spcPct val="0"/>
              </a:spcAft>
              <a:defRPr b="1">
                <a:solidFill>
                  <a:schemeClr val="tx1"/>
                </a:solidFill>
                <a:latin typeface="Tahoma" pitchFamily="34" charset="0"/>
                <a:ea typeface="宋体" charset="-122"/>
              </a:defRPr>
            </a:lvl6pPr>
            <a:lvl7pPr marL="2971800" indent="-228600" eaLnBrk="0" fontAlgn="base" hangingPunct="0">
              <a:spcBef>
                <a:spcPct val="0"/>
              </a:spcBef>
              <a:spcAft>
                <a:spcPct val="0"/>
              </a:spcAft>
              <a:defRPr b="1">
                <a:solidFill>
                  <a:schemeClr val="tx1"/>
                </a:solidFill>
                <a:latin typeface="Tahoma" pitchFamily="34" charset="0"/>
                <a:ea typeface="宋体" charset="-122"/>
              </a:defRPr>
            </a:lvl7pPr>
            <a:lvl8pPr marL="3429000" indent="-228600" eaLnBrk="0" fontAlgn="base" hangingPunct="0">
              <a:spcBef>
                <a:spcPct val="0"/>
              </a:spcBef>
              <a:spcAft>
                <a:spcPct val="0"/>
              </a:spcAft>
              <a:defRPr b="1">
                <a:solidFill>
                  <a:schemeClr val="tx1"/>
                </a:solidFill>
                <a:latin typeface="Tahoma" pitchFamily="34" charset="0"/>
                <a:ea typeface="宋体" charset="-122"/>
              </a:defRPr>
            </a:lvl8pPr>
            <a:lvl9pPr marL="3886200" indent="-228600" eaLnBrk="0" fontAlgn="base" hangingPunct="0">
              <a:spcBef>
                <a:spcPct val="0"/>
              </a:spcBef>
              <a:spcAft>
                <a:spcPct val="0"/>
              </a:spcAft>
              <a:defRPr b="1">
                <a:solidFill>
                  <a:schemeClr val="tx1"/>
                </a:solidFill>
                <a:latin typeface="Tahoma" pitchFamily="34" charset="0"/>
                <a:ea typeface="宋体" charset="-122"/>
              </a:defRPr>
            </a:lvl9pPr>
          </a:lstStyle>
          <a:p>
            <a:pPr eaLnBrk="1" hangingPunct="1"/>
            <a:r>
              <a:rPr lang="en-US" altLang="zh-CN" sz="1600" b="0" dirty="0">
                <a:solidFill>
                  <a:srgbClr val="3333CC"/>
                </a:solidFill>
                <a:latin typeface="Arial" panose="020B0604020202020204" pitchFamily="34" charset="0"/>
                <a:ea typeface="SimHei" panose="02010609060101010101" pitchFamily="49" charset="-122"/>
              </a:rPr>
              <a:t>IR</a:t>
            </a:r>
            <a:r>
              <a:rPr lang="zh-CN" altLang="en-US" sz="1600" b="0" dirty="0">
                <a:solidFill>
                  <a:srgbClr val="3333CC"/>
                </a:solidFill>
                <a:latin typeface="Arial" panose="020B0604020202020204" pitchFamily="34" charset="0"/>
                <a:ea typeface="SimHei" panose="02010609060101010101" pitchFamily="49" charset="-122"/>
              </a:rPr>
              <a:t>需保存指令至完全执行结束</a:t>
            </a:r>
            <a:endParaRPr lang="en-US" altLang="zh-CN" sz="1600" b="0" dirty="0">
              <a:solidFill>
                <a:srgbClr val="3333CC"/>
              </a:solidFill>
              <a:latin typeface="Arial" panose="020B0604020202020204" pitchFamily="34" charset="0"/>
              <a:ea typeface="SimHei" panose="02010609060101010101" pitchFamily="49" charset="-122"/>
            </a:endParaRPr>
          </a:p>
          <a:p>
            <a:pPr eaLnBrk="1" hangingPunct="1"/>
            <a:r>
              <a:rPr lang="en-US" altLang="zh-CN" sz="1600" b="0" dirty="0">
                <a:solidFill>
                  <a:srgbClr val="3333CC"/>
                </a:solidFill>
                <a:latin typeface="Arial" panose="020B0604020202020204" pitchFamily="34" charset="0"/>
                <a:ea typeface="SimHei" panose="02010609060101010101" pitchFamily="49" charset="-122"/>
              </a:rPr>
              <a:t>PC</a:t>
            </a:r>
            <a:r>
              <a:rPr lang="zh-CN" altLang="en-US" sz="1600" b="0" dirty="0">
                <a:solidFill>
                  <a:srgbClr val="3333CC"/>
                </a:solidFill>
                <a:latin typeface="Arial" panose="020B0604020202020204" pitchFamily="34" charset="0"/>
                <a:ea typeface="SimHei" panose="02010609060101010101" pitchFamily="49" charset="-122"/>
              </a:rPr>
              <a:t>有时需要保持不变</a:t>
            </a:r>
          </a:p>
        </p:txBody>
      </p:sp>
      <p:sp>
        <p:nvSpPr>
          <p:cNvPr id="19" name="Text Box 29">
            <a:extLst>
              <a:ext uri="{FF2B5EF4-FFF2-40B4-BE49-F238E27FC236}">
                <a16:creationId xmlns:a16="http://schemas.microsoft.com/office/drawing/2014/main" id="{F1CCF4B3-3940-42FD-AC61-81A708256C8B}"/>
              </a:ext>
            </a:extLst>
          </p:cNvPr>
          <p:cNvSpPr txBox="1">
            <a:spLocks noChangeArrowheads="1"/>
          </p:cNvSpPr>
          <p:nvPr/>
        </p:nvSpPr>
        <p:spPr bwMode="auto">
          <a:xfrm>
            <a:off x="7781436" y="4699398"/>
            <a:ext cx="116362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Tahoma" pitchFamily="34" charset="0"/>
                <a:ea typeface="宋体" charset="-122"/>
              </a:defRPr>
            </a:lvl1pPr>
            <a:lvl2pPr marL="742950" indent="-285750" eaLnBrk="0" hangingPunct="0">
              <a:defRPr b="1">
                <a:solidFill>
                  <a:schemeClr val="tx1"/>
                </a:solidFill>
                <a:latin typeface="Tahoma" pitchFamily="34" charset="0"/>
                <a:ea typeface="宋体" charset="-122"/>
              </a:defRPr>
            </a:lvl2pPr>
            <a:lvl3pPr marL="1143000" indent="-228600" eaLnBrk="0" hangingPunct="0">
              <a:defRPr b="1">
                <a:solidFill>
                  <a:schemeClr val="tx1"/>
                </a:solidFill>
                <a:latin typeface="Tahoma" pitchFamily="34" charset="0"/>
                <a:ea typeface="宋体" charset="-122"/>
              </a:defRPr>
            </a:lvl3pPr>
            <a:lvl4pPr marL="1600200" indent="-228600" eaLnBrk="0" hangingPunct="0">
              <a:defRPr b="1">
                <a:solidFill>
                  <a:schemeClr val="tx1"/>
                </a:solidFill>
                <a:latin typeface="Tahoma" pitchFamily="34" charset="0"/>
                <a:ea typeface="宋体" charset="-122"/>
              </a:defRPr>
            </a:lvl4pPr>
            <a:lvl5pPr marL="2057400" indent="-228600" eaLnBrk="0" hangingPunct="0">
              <a:defRPr b="1">
                <a:solidFill>
                  <a:schemeClr val="tx1"/>
                </a:solidFill>
                <a:latin typeface="Tahoma" pitchFamily="34" charset="0"/>
                <a:ea typeface="宋体" charset="-122"/>
              </a:defRPr>
            </a:lvl5pPr>
            <a:lvl6pPr marL="2514600" indent="-228600" eaLnBrk="0" fontAlgn="base" hangingPunct="0">
              <a:spcBef>
                <a:spcPct val="0"/>
              </a:spcBef>
              <a:spcAft>
                <a:spcPct val="0"/>
              </a:spcAft>
              <a:defRPr b="1">
                <a:solidFill>
                  <a:schemeClr val="tx1"/>
                </a:solidFill>
                <a:latin typeface="Tahoma" pitchFamily="34" charset="0"/>
                <a:ea typeface="宋体" charset="-122"/>
              </a:defRPr>
            </a:lvl6pPr>
            <a:lvl7pPr marL="2971800" indent="-228600" eaLnBrk="0" fontAlgn="base" hangingPunct="0">
              <a:spcBef>
                <a:spcPct val="0"/>
              </a:spcBef>
              <a:spcAft>
                <a:spcPct val="0"/>
              </a:spcAft>
              <a:defRPr b="1">
                <a:solidFill>
                  <a:schemeClr val="tx1"/>
                </a:solidFill>
                <a:latin typeface="Tahoma" pitchFamily="34" charset="0"/>
                <a:ea typeface="宋体" charset="-122"/>
              </a:defRPr>
            </a:lvl7pPr>
            <a:lvl8pPr marL="3429000" indent="-228600" eaLnBrk="0" fontAlgn="base" hangingPunct="0">
              <a:spcBef>
                <a:spcPct val="0"/>
              </a:spcBef>
              <a:spcAft>
                <a:spcPct val="0"/>
              </a:spcAft>
              <a:defRPr b="1">
                <a:solidFill>
                  <a:schemeClr val="tx1"/>
                </a:solidFill>
                <a:latin typeface="Tahoma" pitchFamily="34" charset="0"/>
                <a:ea typeface="宋体" charset="-122"/>
              </a:defRPr>
            </a:lvl8pPr>
            <a:lvl9pPr marL="3886200" indent="-228600" eaLnBrk="0" fontAlgn="base" hangingPunct="0">
              <a:spcBef>
                <a:spcPct val="0"/>
              </a:spcBef>
              <a:spcAft>
                <a:spcPct val="0"/>
              </a:spcAft>
              <a:defRPr b="1">
                <a:solidFill>
                  <a:schemeClr val="tx1"/>
                </a:solidFill>
                <a:latin typeface="Tahoma" pitchFamily="34" charset="0"/>
                <a:ea typeface="宋体" charset="-122"/>
              </a:defRPr>
            </a:lvl9pPr>
          </a:lstStyle>
          <a:p>
            <a:pPr eaLnBrk="1" hangingPunct="1"/>
            <a:r>
              <a:rPr lang="zh-CN" altLang="en-US" sz="1600" b="0" dirty="0">
                <a:solidFill>
                  <a:srgbClr val="3333CC"/>
                </a:solidFill>
                <a:latin typeface="Arial" panose="020B0604020202020204" pitchFamily="34" charset="0"/>
                <a:ea typeface="SimHei" panose="02010609060101010101" pitchFamily="49" charset="-122"/>
              </a:rPr>
              <a:t>在相邻两周期之间暂存数据</a:t>
            </a:r>
          </a:p>
        </p:txBody>
      </p:sp>
      <p:sp>
        <p:nvSpPr>
          <p:cNvPr id="5" name="Slide Number Placeholder 4">
            <a:extLst>
              <a:ext uri="{FF2B5EF4-FFF2-40B4-BE49-F238E27FC236}">
                <a16:creationId xmlns:a16="http://schemas.microsoft.com/office/drawing/2014/main" id="{F482717E-2C9E-0546-84CF-2FE283396C2E}"/>
              </a:ext>
            </a:extLst>
          </p:cNvPr>
          <p:cNvSpPr>
            <a:spLocks noGrp="1"/>
          </p:cNvSpPr>
          <p:nvPr>
            <p:ph type="sldNum" sz="quarter" idx="12"/>
          </p:nvPr>
        </p:nvSpPr>
        <p:spPr/>
        <p:txBody>
          <a:bodyPr/>
          <a:lstStyle/>
          <a:p>
            <a:fld id="{14659731-6BD7-46E7-8D3C-2F3AC07E20B1}" type="slidenum">
              <a:rPr lang="en-US" altLang="zh-CN" smtClean="0"/>
              <a:pPr/>
              <a:t>21</a:t>
            </a:fld>
            <a:endParaRPr lang="en-US" altLang="zh-CN"/>
          </a:p>
        </p:txBody>
      </p:sp>
      <p:sp>
        <p:nvSpPr>
          <p:cNvPr id="4" name="Oval 18">
            <a:extLst>
              <a:ext uri="{FF2B5EF4-FFF2-40B4-BE49-F238E27FC236}">
                <a16:creationId xmlns:a16="http://schemas.microsoft.com/office/drawing/2014/main" id="{F6135785-DF6E-CAA9-E542-EA7F8C1E23B8}"/>
              </a:ext>
            </a:extLst>
          </p:cNvPr>
          <p:cNvSpPr>
            <a:spLocks noChangeArrowheads="1"/>
          </p:cNvSpPr>
          <p:nvPr/>
        </p:nvSpPr>
        <p:spPr bwMode="auto">
          <a:xfrm>
            <a:off x="556246" y="3731741"/>
            <a:ext cx="668515" cy="654908"/>
          </a:xfrm>
          <a:prstGeom prst="ellipse">
            <a:avLst/>
          </a:prstGeom>
          <a:noFill/>
          <a:ln w="381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Tree>
    <p:extLst>
      <p:ext uri="{BB962C8B-B14F-4D97-AF65-F5344CB8AC3E}">
        <p14:creationId xmlns:p14="http://schemas.microsoft.com/office/powerpoint/2010/main" val="142513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BC7896-7177-4F72-BC9D-F896DDC1C952}"/>
              </a:ext>
            </a:extLst>
          </p:cNvPr>
          <p:cNvSpPr>
            <a:spLocks noGrp="1"/>
          </p:cNvSpPr>
          <p:nvPr>
            <p:ph type="title"/>
          </p:nvPr>
        </p:nvSpPr>
        <p:spPr/>
        <p:txBody>
          <a:bodyPr/>
          <a:lstStyle/>
          <a:p>
            <a:r>
              <a:rPr lang="zh-CN" altLang="en-US" dirty="0"/>
              <a:t>多周期功能描述和控制信号分析</a:t>
            </a:r>
          </a:p>
        </p:txBody>
      </p:sp>
      <p:sp>
        <p:nvSpPr>
          <p:cNvPr id="3" name="内容占位符 2">
            <a:extLst>
              <a:ext uri="{FF2B5EF4-FFF2-40B4-BE49-F238E27FC236}">
                <a16:creationId xmlns:a16="http://schemas.microsoft.com/office/drawing/2014/main" id="{398DC327-6903-439C-8D48-F7B2D2869249}"/>
              </a:ext>
            </a:extLst>
          </p:cNvPr>
          <p:cNvSpPr>
            <a:spLocks noGrp="1"/>
          </p:cNvSpPr>
          <p:nvPr>
            <p:ph idx="1"/>
          </p:nvPr>
        </p:nvSpPr>
        <p:spPr>
          <a:xfrm>
            <a:off x="457200" y="1400825"/>
            <a:ext cx="8229600" cy="4525963"/>
          </a:xfrm>
        </p:spPr>
        <p:txBody>
          <a:bodyPr/>
          <a:lstStyle/>
          <a:p>
            <a:r>
              <a:rPr lang="zh-CN" altLang="en-US" dirty="0"/>
              <a:t>有限状态机的视角</a:t>
            </a:r>
            <a:endParaRPr lang="en-US" altLang="zh-CN" dirty="0"/>
          </a:p>
        </p:txBody>
      </p:sp>
      <p:sp>
        <p:nvSpPr>
          <p:cNvPr id="6" name="Slide Number Placeholder 5">
            <a:extLst>
              <a:ext uri="{FF2B5EF4-FFF2-40B4-BE49-F238E27FC236}">
                <a16:creationId xmlns:a16="http://schemas.microsoft.com/office/drawing/2014/main" id="{10CD628E-49E5-BF4C-A487-52D180FE4B58}"/>
              </a:ext>
            </a:extLst>
          </p:cNvPr>
          <p:cNvSpPr>
            <a:spLocks noGrp="1"/>
          </p:cNvSpPr>
          <p:nvPr>
            <p:ph type="sldNum" sz="quarter" idx="12"/>
          </p:nvPr>
        </p:nvSpPr>
        <p:spPr/>
        <p:txBody>
          <a:bodyPr/>
          <a:lstStyle/>
          <a:p>
            <a:fld id="{14659731-6BD7-46E7-8D3C-2F3AC07E20B1}" type="slidenum">
              <a:rPr lang="en-US" altLang="zh-CN" smtClean="0"/>
              <a:pPr/>
              <a:t>22</a:t>
            </a:fld>
            <a:endParaRPr lang="en-US" altLang="zh-CN"/>
          </a:p>
        </p:txBody>
      </p:sp>
      <p:graphicFrame>
        <p:nvGraphicFramePr>
          <p:cNvPr id="9" name="表格 8">
            <a:extLst>
              <a:ext uri="{FF2B5EF4-FFF2-40B4-BE49-F238E27FC236}">
                <a16:creationId xmlns:a16="http://schemas.microsoft.com/office/drawing/2014/main" id="{9B13C0F6-6094-472E-A562-7262ABB958B2}"/>
              </a:ext>
            </a:extLst>
          </p:cNvPr>
          <p:cNvGraphicFramePr>
            <a:graphicFrameLocks noGrp="1"/>
          </p:cNvGraphicFramePr>
          <p:nvPr>
            <p:extLst>
              <p:ext uri="{D42A27DB-BD31-4B8C-83A1-F6EECF244321}">
                <p14:modId xmlns:p14="http://schemas.microsoft.com/office/powerpoint/2010/main" val="4023160223"/>
              </p:ext>
            </p:extLst>
          </p:nvPr>
        </p:nvGraphicFramePr>
        <p:xfrm>
          <a:off x="91962" y="2156505"/>
          <a:ext cx="8960075" cy="3014604"/>
        </p:xfrm>
        <a:graphic>
          <a:graphicData uri="http://schemas.openxmlformats.org/drawingml/2006/table">
            <a:tbl>
              <a:tblPr firstRow="1" firstCol="1" bandRow="1"/>
              <a:tblGrid>
                <a:gridCol w="1448457">
                  <a:extLst>
                    <a:ext uri="{9D8B030D-6E8A-4147-A177-3AD203B41FA5}">
                      <a16:colId xmlns:a16="http://schemas.microsoft.com/office/drawing/2014/main" val="2979746772"/>
                    </a:ext>
                  </a:extLst>
                </a:gridCol>
                <a:gridCol w="1805526">
                  <a:extLst>
                    <a:ext uri="{9D8B030D-6E8A-4147-A177-3AD203B41FA5}">
                      <a16:colId xmlns:a16="http://schemas.microsoft.com/office/drawing/2014/main" val="1786649136"/>
                    </a:ext>
                  </a:extLst>
                </a:gridCol>
                <a:gridCol w="2967098">
                  <a:extLst>
                    <a:ext uri="{9D8B030D-6E8A-4147-A177-3AD203B41FA5}">
                      <a16:colId xmlns:a16="http://schemas.microsoft.com/office/drawing/2014/main" val="4186342600"/>
                    </a:ext>
                  </a:extLst>
                </a:gridCol>
                <a:gridCol w="1365988">
                  <a:extLst>
                    <a:ext uri="{9D8B030D-6E8A-4147-A177-3AD203B41FA5}">
                      <a16:colId xmlns:a16="http://schemas.microsoft.com/office/drawing/2014/main" val="673298974"/>
                    </a:ext>
                  </a:extLst>
                </a:gridCol>
                <a:gridCol w="1373006">
                  <a:extLst>
                    <a:ext uri="{9D8B030D-6E8A-4147-A177-3AD203B41FA5}">
                      <a16:colId xmlns:a16="http://schemas.microsoft.com/office/drawing/2014/main" val="3125564423"/>
                    </a:ext>
                  </a:extLst>
                </a:gridCol>
              </a:tblGrid>
              <a:tr h="231613">
                <a:tc>
                  <a:txBody>
                    <a:bodyPr/>
                    <a:lstStyle/>
                    <a:p>
                      <a:pPr algn="ctr"/>
                      <a:r>
                        <a:rPr lang="zh-CN" sz="1500" b="0" i="0" kern="100" dirty="0">
                          <a:effectLst/>
                          <a:latin typeface="+mn-lt"/>
                          <a:ea typeface="SimHei" panose="02010609060101010101" pitchFamily="49" charset="-122"/>
                          <a:cs typeface="Times New Roman" panose="02020603050405020304" pitchFamily="18" charset="0"/>
                        </a:rPr>
                        <a:t>步骤</a:t>
                      </a:r>
                      <a:r>
                        <a:rPr lang="en-US" sz="1500" b="0" i="0" kern="100" dirty="0">
                          <a:solidFill>
                            <a:srgbClr val="000000"/>
                          </a:solidFill>
                          <a:effectLst/>
                          <a:latin typeface="+mn-lt"/>
                          <a:ea typeface="SimHei" panose="02010609060101010101" pitchFamily="49" charset="-122"/>
                          <a:cs typeface="宋体" panose="02010600030101010101" pitchFamily="2" charset="-122"/>
                        </a:rPr>
                        <a:t>\</a:t>
                      </a:r>
                      <a:r>
                        <a:rPr lang="zh-CN" sz="1500" b="0" i="0" kern="100" dirty="0">
                          <a:solidFill>
                            <a:srgbClr val="000000"/>
                          </a:solidFill>
                          <a:effectLst/>
                          <a:latin typeface="+mn-lt"/>
                          <a:ea typeface="SimHei" panose="02010609060101010101" pitchFamily="49" charset="-122"/>
                          <a:cs typeface="Times New Roman" panose="02020603050405020304" pitchFamily="18" charset="0"/>
                        </a:rPr>
                        <a:t>指令类型</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r>
                        <a:rPr lang="en-US" sz="1500" b="0" i="0" kern="100" dirty="0">
                          <a:solidFill>
                            <a:srgbClr val="000000"/>
                          </a:solidFill>
                          <a:effectLst/>
                          <a:latin typeface="+mn-lt"/>
                          <a:ea typeface="SimHei" panose="02010609060101010101" pitchFamily="49" charset="-122"/>
                          <a:cs typeface="宋体" panose="02010600030101010101" pitchFamily="2" charset="-122"/>
                        </a:rPr>
                        <a:t>R</a:t>
                      </a:r>
                      <a:r>
                        <a:rPr lang="zh-CN" sz="1500" b="0" i="0" kern="100" dirty="0">
                          <a:solidFill>
                            <a:srgbClr val="000000"/>
                          </a:solidFill>
                          <a:effectLst/>
                          <a:latin typeface="+mn-lt"/>
                          <a:ea typeface="SimHei" panose="02010609060101010101" pitchFamily="49" charset="-122"/>
                          <a:cs typeface="Times New Roman" panose="02020603050405020304" pitchFamily="18" charset="0"/>
                        </a:rPr>
                        <a:t>型指令</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r>
                        <a:rPr lang="zh-CN" sz="1500" b="0" i="0" kern="100" dirty="0">
                          <a:solidFill>
                            <a:srgbClr val="000000"/>
                          </a:solidFill>
                          <a:effectLst/>
                          <a:latin typeface="+mn-lt"/>
                          <a:ea typeface="SimHei" panose="02010609060101010101" pitchFamily="49" charset="-122"/>
                          <a:cs typeface="Times New Roman" panose="02020603050405020304" pitchFamily="18" charset="0"/>
                        </a:rPr>
                        <a:t>内存访问指令</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r>
                        <a:rPr lang="zh-CN" sz="1500" b="0" i="0" kern="100" dirty="0">
                          <a:solidFill>
                            <a:srgbClr val="000000"/>
                          </a:solidFill>
                          <a:effectLst/>
                          <a:latin typeface="+mn-lt"/>
                          <a:ea typeface="SimHei" panose="02010609060101010101" pitchFamily="49" charset="-122"/>
                          <a:cs typeface="Times New Roman" panose="02020603050405020304" pitchFamily="18" charset="0"/>
                        </a:rPr>
                        <a:t>分支指令</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r>
                        <a:rPr lang="zh-CN" sz="1500" b="0" i="0" kern="100" dirty="0">
                          <a:solidFill>
                            <a:srgbClr val="000000"/>
                          </a:solidFill>
                          <a:effectLst/>
                          <a:latin typeface="+mn-lt"/>
                          <a:ea typeface="SimHei" panose="02010609060101010101" pitchFamily="49" charset="-122"/>
                          <a:cs typeface="Times New Roman" panose="02020603050405020304" pitchFamily="18" charset="0"/>
                        </a:rPr>
                        <a:t>跳转指令</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828643040"/>
                  </a:ext>
                </a:extLst>
              </a:tr>
              <a:tr h="580851">
                <a:tc>
                  <a:txBody>
                    <a:bodyPr/>
                    <a:lstStyle/>
                    <a:p>
                      <a:pPr algn="ctr"/>
                      <a:r>
                        <a:rPr lang="zh-CN" sz="1500" b="0" i="0" kern="100" dirty="0">
                          <a:effectLst/>
                          <a:latin typeface="+mn-lt"/>
                          <a:ea typeface="SimHei" panose="02010609060101010101" pitchFamily="49" charset="-122"/>
                          <a:cs typeface="Times New Roman" panose="02020603050405020304" pitchFamily="18" charset="0"/>
                        </a:rPr>
                        <a:t>取指令</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a:r>
                        <a:rPr lang="en-US" sz="1500" b="0" i="0" kern="100" dirty="0">
                          <a:effectLst/>
                          <a:latin typeface="+mn-lt"/>
                          <a:ea typeface="Calibri" panose="020F0502020204030204" pitchFamily="34" charset="0"/>
                          <a:cs typeface="宋体" panose="02010600030101010101" pitchFamily="2" charset="-122"/>
                        </a:rPr>
                        <a:t>IR &lt;= Memory[PC]</a:t>
                      </a:r>
                      <a:endParaRPr lang="zh-CN" sz="1700" b="0" i="0" kern="100" dirty="0">
                        <a:effectLst/>
                        <a:latin typeface="+mn-lt"/>
                        <a:ea typeface="SimHei" panose="02010609060101010101" pitchFamily="49" charset="-122"/>
                        <a:cs typeface="宋体" panose="02010600030101010101" pitchFamily="2" charset="-122"/>
                      </a:endParaRPr>
                    </a:p>
                    <a:p>
                      <a:pPr algn="ctr"/>
                      <a:r>
                        <a:rPr lang="en-US" sz="1500" b="0" i="0" kern="100" dirty="0">
                          <a:solidFill>
                            <a:srgbClr val="FF0000"/>
                          </a:solidFill>
                          <a:effectLst/>
                          <a:latin typeface="+mn-lt"/>
                          <a:ea typeface="Calibri" panose="020F0502020204030204" pitchFamily="34" charset="0"/>
                          <a:cs typeface="宋体" panose="02010600030101010101" pitchFamily="2" charset="-122"/>
                        </a:rPr>
                        <a:t>PC &lt;= PC+4</a:t>
                      </a:r>
                      <a:endParaRPr lang="zh-CN" sz="1700" b="0" i="0" kern="100" dirty="0">
                        <a:solidFill>
                          <a:srgbClr val="FF0000"/>
                        </a:solidFill>
                        <a:effectLst/>
                        <a:latin typeface="+mn-lt"/>
                        <a:ea typeface="SimHei" panose="02010609060101010101" pitchFamily="49" charset="-122"/>
                        <a:cs typeface="宋体" panose="02010600030101010101" pitchFamily="2" charset="-122"/>
                      </a:endParaRPr>
                    </a:p>
                  </a:txBody>
                  <a:tcPr marL="97397" marR="97397" marT="48698" marB="486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40780958"/>
                  </a:ext>
                </a:extLst>
              </a:tr>
              <a:tr h="580851">
                <a:tc>
                  <a:txBody>
                    <a:bodyPr/>
                    <a:lstStyle/>
                    <a:p>
                      <a:pPr algn="ctr"/>
                      <a:r>
                        <a:rPr lang="zh-CN" sz="1500" b="0" i="0" kern="100" dirty="0">
                          <a:effectLst/>
                          <a:latin typeface="+mn-lt"/>
                          <a:ea typeface="SimHei" panose="02010609060101010101" pitchFamily="49" charset="-122"/>
                          <a:cs typeface="Times New Roman" panose="02020603050405020304" pitchFamily="18" charset="0"/>
                        </a:rPr>
                        <a:t>译码</a:t>
                      </a:r>
                      <a:r>
                        <a:rPr lang="en-US" sz="1500" b="0" i="0" kern="100" dirty="0">
                          <a:effectLst/>
                          <a:latin typeface="+mn-lt"/>
                          <a:ea typeface="SimHei" panose="02010609060101010101" pitchFamily="49" charset="-122"/>
                          <a:cs typeface="宋体" panose="02010600030101010101" pitchFamily="2" charset="-122"/>
                        </a:rPr>
                        <a:t> &amp; </a:t>
                      </a:r>
                      <a:r>
                        <a:rPr lang="zh-CN" sz="1500" b="0" i="0" kern="100" dirty="0">
                          <a:effectLst/>
                          <a:latin typeface="+mn-lt"/>
                          <a:ea typeface="SimHei" panose="02010609060101010101" pitchFamily="49" charset="-122"/>
                          <a:cs typeface="Times New Roman" panose="02020603050405020304" pitchFamily="18" charset="0"/>
                        </a:rPr>
                        <a:t>寄存器堆读取</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a:r>
                        <a:rPr lang="en-US" sz="1500" b="0" i="0" kern="100" dirty="0">
                          <a:effectLst/>
                          <a:latin typeface="+mn-lt"/>
                          <a:ea typeface="Calibri" panose="020F0502020204030204" pitchFamily="34" charset="0"/>
                          <a:cs typeface="宋体" panose="02010600030101010101" pitchFamily="2" charset="-122"/>
                        </a:rPr>
                        <a:t>A &lt;= Reg[IR[25:21]]; B &lt;= Reg[IR[20:16]]</a:t>
                      </a:r>
                      <a:endParaRPr lang="zh-CN" sz="1700" b="0" i="0" kern="100" dirty="0">
                        <a:effectLst/>
                        <a:latin typeface="+mn-lt"/>
                        <a:ea typeface="SimHei" panose="02010609060101010101" pitchFamily="49" charset="-122"/>
                        <a:cs typeface="宋体" panose="02010600030101010101" pitchFamily="2" charset="-122"/>
                      </a:endParaRPr>
                    </a:p>
                    <a:p>
                      <a:pPr algn="ctr"/>
                      <a:r>
                        <a:rPr lang="en-US" sz="1500" b="0" i="0" kern="100" dirty="0" err="1">
                          <a:solidFill>
                            <a:srgbClr val="FF0000"/>
                          </a:solidFill>
                          <a:effectLst/>
                          <a:latin typeface="+mn-lt"/>
                          <a:ea typeface="Calibri" panose="020F0502020204030204" pitchFamily="34" charset="0"/>
                          <a:cs typeface="宋体" panose="02010600030101010101" pitchFamily="2" charset="-122"/>
                        </a:rPr>
                        <a:t>ALUOut</a:t>
                      </a:r>
                      <a:r>
                        <a:rPr lang="en-US" sz="1500" b="0" i="0" kern="100" dirty="0">
                          <a:solidFill>
                            <a:srgbClr val="FF0000"/>
                          </a:solidFill>
                          <a:effectLst/>
                          <a:latin typeface="+mn-lt"/>
                          <a:ea typeface="Calibri" panose="020F0502020204030204" pitchFamily="34" charset="0"/>
                          <a:cs typeface="宋体" panose="02010600030101010101" pitchFamily="2" charset="-122"/>
                        </a:rPr>
                        <a:t> &lt;= PC + </a:t>
                      </a:r>
                      <a:r>
                        <a:rPr lang="en-US" sz="1500" b="0" i="0" kern="100" dirty="0" err="1">
                          <a:solidFill>
                            <a:srgbClr val="FF0000"/>
                          </a:solidFill>
                          <a:effectLst/>
                          <a:latin typeface="+mn-lt"/>
                          <a:ea typeface="Calibri" panose="020F0502020204030204" pitchFamily="34" charset="0"/>
                          <a:cs typeface="宋体" panose="02010600030101010101" pitchFamily="2" charset="-122"/>
                        </a:rPr>
                        <a:t>signext</a:t>
                      </a:r>
                      <a:r>
                        <a:rPr lang="en-US" sz="1500" b="0" i="0" kern="100" dirty="0">
                          <a:solidFill>
                            <a:srgbClr val="FF0000"/>
                          </a:solidFill>
                          <a:effectLst/>
                          <a:latin typeface="+mn-lt"/>
                          <a:ea typeface="Calibri" panose="020F0502020204030204" pitchFamily="34" charset="0"/>
                          <a:cs typeface="宋体" panose="02010600030101010101" pitchFamily="2" charset="-122"/>
                        </a:rPr>
                        <a:t>(IR[15:0] &lt;&lt; 2)</a:t>
                      </a:r>
                      <a:endParaRPr lang="zh-CN" sz="1700" b="0" i="0" kern="100" dirty="0">
                        <a:solidFill>
                          <a:srgbClr val="FF0000"/>
                        </a:solidFill>
                        <a:effectLst/>
                        <a:latin typeface="+mn-lt"/>
                        <a:ea typeface="SimHei" panose="02010609060101010101" pitchFamily="49" charset="-122"/>
                        <a:cs typeface="宋体" panose="02010600030101010101" pitchFamily="2" charset="-122"/>
                      </a:endParaRPr>
                    </a:p>
                  </a:txBody>
                  <a:tcPr marL="97397" marR="97397" marT="48698" marB="486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941439816"/>
                  </a:ext>
                </a:extLst>
              </a:tr>
              <a:tr h="926450">
                <a:tc>
                  <a:txBody>
                    <a:bodyPr/>
                    <a:lstStyle/>
                    <a:p>
                      <a:pPr algn="ctr"/>
                      <a:r>
                        <a:rPr lang="zh-CN" sz="1500" b="0" i="0" kern="100" dirty="0">
                          <a:effectLst/>
                          <a:latin typeface="+mn-lt"/>
                          <a:ea typeface="SimHei" panose="02010609060101010101" pitchFamily="49" charset="-122"/>
                          <a:cs typeface="Times New Roman" panose="02020603050405020304" pitchFamily="18" charset="0"/>
                        </a:rPr>
                        <a:t>执行</a:t>
                      </a:r>
                      <a:r>
                        <a:rPr lang="en-US" sz="1500" b="0" i="0" kern="100" dirty="0">
                          <a:effectLst/>
                          <a:latin typeface="+mn-lt"/>
                          <a:ea typeface="SimHei" panose="02010609060101010101" pitchFamily="49" charset="-122"/>
                          <a:cs typeface="宋体" panose="02010600030101010101" pitchFamily="2" charset="-122"/>
                        </a:rPr>
                        <a:t> &amp;</a:t>
                      </a:r>
                      <a:endParaRPr lang="zh-CN" sz="1700" b="0" i="0" kern="100" dirty="0">
                        <a:effectLst/>
                        <a:latin typeface="+mn-lt"/>
                        <a:ea typeface="SimHei" panose="02010609060101010101" pitchFamily="49" charset="-122"/>
                        <a:cs typeface="宋体" panose="02010600030101010101" pitchFamily="2" charset="-122"/>
                      </a:endParaRPr>
                    </a:p>
                    <a:p>
                      <a:pPr algn="ctr"/>
                      <a:r>
                        <a:rPr lang="en-US" sz="1500" b="0" i="0" kern="100" dirty="0">
                          <a:effectLst/>
                          <a:latin typeface="+mn-lt"/>
                          <a:ea typeface="SimHei" panose="02010609060101010101" pitchFamily="49" charset="-122"/>
                          <a:cs typeface="宋体" panose="02010600030101010101" pitchFamily="2" charset="-122"/>
                        </a:rPr>
                        <a:t> </a:t>
                      </a:r>
                      <a:r>
                        <a:rPr lang="zh-CN" sz="1500" b="0" i="0" kern="100" dirty="0">
                          <a:effectLst/>
                          <a:latin typeface="+mn-lt"/>
                          <a:ea typeface="SimHei" panose="02010609060101010101" pitchFamily="49" charset="-122"/>
                          <a:cs typeface="Times New Roman" panose="02020603050405020304" pitchFamily="18" charset="0"/>
                        </a:rPr>
                        <a:t>分支</a:t>
                      </a:r>
                      <a:r>
                        <a:rPr lang="en-US" sz="1500" b="0" i="0" kern="100" dirty="0">
                          <a:effectLst/>
                          <a:latin typeface="+mn-lt"/>
                          <a:ea typeface="SimHei" panose="02010609060101010101" pitchFamily="49" charset="-122"/>
                          <a:cs typeface="宋体" panose="02010600030101010101" pitchFamily="2" charset="-122"/>
                        </a:rPr>
                        <a:t>/</a:t>
                      </a:r>
                      <a:r>
                        <a:rPr lang="zh-CN" sz="1500" b="0" i="0" kern="100" dirty="0">
                          <a:effectLst/>
                          <a:latin typeface="+mn-lt"/>
                          <a:ea typeface="SimHei" panose="02010609060101010101" pitchFamily="49" charset="-122"/>
                          <a:cs typeface="Times New Roman" panose="02020603050405020304" pitchFamily="18" charset="0"/>
                        </a:rPr>
                        <a:t>跳转完成</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err="1">
                          <a:effectLst/>
                          <a:latin typeface="+mn-lt"/>
                          <a:ea typeface="SimHei" panose="02010609060101010101" pitchFamily="49" charset="-122"/>
                          <a:cs typeface="宋体" panose="02010600030101010101" pitchFamily="2" charset="-122"/>
                        </a:rPr>
                        <a:t>ALUOut</a:t>
                      </a:r>
                      <a:r>
                        <a:rPr lang="en-US" sz="1500" b="0" i="0" kern="100" dirty="0">
                          <a:effectLst/>
                          <a:latin typeface="+mn-lt"/>
                          <a:ea typeface="SimHei" panose="02010609060101010101" pitchFamily="49" charset="-122"/>
                          <a:cs typeface="宋体" panose="02010600030101010101" pitchFamily="2" charset="-122"/>
                        </a:rPr>
                        <a:t> = A op B</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err="1">
                          <a:effectLst/>
                          <a:latin typeface="+mn-lt"/>
                          <a:ea typeface="SimHei" panose="02010609060101010101" pitchFamily="49" charset="-122"/>
                          <a:cs typeface="宋体" panose="02010600030101010101" pitchFamily="2" charset="-122"/>
                        </a:rPr>
                        <a:t>ALUOut</a:t>
                      </a:r>
                      <a:r>
                        <a:rPr lang="en-US" sz="1500" b="0" i="0" kern="100" dirty="0">
                          <a:effectLst/>
                          <a:latin typeface="+mn-lt"/>
                          <a:ea typeface="SimHei" panose="02010609060101010101" pitchFamily="49" charset="-122"/>
                          <a:cs typeface="宋体" panose="02010600030101010101" pitchFamily="2" charset="-122"/>
                        </a:rPr>
                        <a:t> &lt;= </a:t>
                      </a:r>
                      <a:endParaRPr lang="zh-CN" sz="1700" b="0" i="0" kern="100" dirty="0">
                        <a:effectLst/>
                        <a:latin typeface="+mn-lt"/>
                        <a:ea typeface="SimHei" panose="02010609060101010101" pitchFamily="49" charset="-122"/>
                        <a:cs typeface="宋体" panose="02010600030101010101" pitchFamily="2" charset="-122"/>
                      </a:endParaRPr>
                    </a:p>
                    <a:p>
                      <a:pPr algn="ctr"/>
                      <a:r>
                        <a:rPr lang="en-US" sz="1500" b="0" i="0" kern="100" dirty="0">
                          <a:effectLst/>
                          <a:latin typeface="+mn-lt"/>
                          <a:ea typeface="SimHei" panose="02010609060101010101" pitchFamily="49" charset="-122"/>
                          <a:cs typeface="宋体" panose="02010600030101010101" pitchFamily="2" charset="-122"/>
                        </a:rPr>
                        <a:t>A + </a:t>
                      </a:r>
                      <a:r>
                        <a:rPr lang="en-US" sz="1500" b="0" i="0" kern="100" dirty="0" err="1">
                          <a:effectLst/>
                          <a:latin typeface="+mn-lt"/>
                          <a:ea typeface="SimHei" panose="02010609060101010101" pitchFamily="49" charset="-122"/>
                          <a:cs typeface="宋体" panose="02010600030101010101" pitchFamily="2" charset="-122"/>
                        </a:rPr>
                        <a:t>signext</a:t>
                      </a:r>
                      <a:r>
                        <a:rPr lang="en-US" sz="1500" b="0" i="0" kern="100" dirty="0">
                          <a:effectLst/>
                          <a:latin typeface="+mn-lt"/>
                          <a:ea typeface="SimHei" panose="02010609060101010101" pitchFamily="49" charset="-122"/>
                          <a:cs typeface="宋体" panose="02010600030101010101" pitchFamily="2" charset="-122"/>
                        </a:rPr>
                        <a:t>(IR[15:0])</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if (A==B) </a:t>
                      </a:r>
                      <a:r>
                        <a:rPr lang="en-US" sz="1500" b="0" i="0" kern="100" dirty="0">
                          <a:solidFill>
                            <a:srgbClr val="FF0000"/>
                          </a:solidFill>
                          <a:effectLst/>
                          <a:latin typeface="+mn-lt"/>
                          <a:ea typeface="SimHei" panose="02010609060101010101" pitchFamily="49" charset="-122"/>
                          <a:cs typeface="宋体" panose="02010600030101010101" pitchFamily="2" charset="-122"/>
                        </a:rPr>
                        <a:t>PC&lt;=</a:t>
                      </a:r>
                      <a:r>
                        <a:rPr lang="en-US" sz="1500" b="0" i="0" kern="100" dirty="0" err="1">
                          <a:solidFill>
                            <a:srgbClr val="FF0000"/>
                          </a:solidFill>
                          <a:effectLst/>
                          <a:latin typeface="+mn-lt"/>
                          <a:ea typeface="SimHei" panose="02010609060101010101" pitchFamily="49" charset="-122"/>
                          <a:cs typeface="宋体" panose="02010600030101010101" pitchFamily="2" charset="-122"/>
                        </a:rPr>
                        <a:t>ALUOut</a:t>
                      </a:r>
                      <a:endParaRPr lang="zh-CN" sz="1700" b="0" i="0" kern="100" dirty="0">
                        <a:solidFill>
                          <a:srgbClr val="FF0000"/>
                        </a:solidFill>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solidFill>
                            <a:srgbClr val="FF0000"/>
                          </a:solidFill>
                          <a:effectLst/>
                          <a:latin typeface="+mn-lt"/>
                          <a:ea typeface="SimHei" panose="02010609060101010101" pitchFamily="49" charset="-122"/>
                          <a:cs typeface="宋体" panose="02010600030101010101" pitchFamily="2" charset="-122"/>
                        </a:rPr>
                        <a:t>PC &lt;= {PC[31:28], IR[25:0], 2’b00}</a:t>
                      </a:r>
                      <a:endParaRPr lang="zh-CN" sz="1700" b="0" i="0" kern="100" dirty="0">
                        <a:solidFill>
                          <a:srgbClr val="FF0000"/>
                        </a:solidFill>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2878095"/>
                  </a:ext>
                </a:extLst>
              </a:tr>
              <a:tr h="463226">
                <a:tc>
                  <a:txBody>
                    <a:bodyPr/>
                    <a:lstStyle/>
                    <a:p>
                      <a:pPr algn="ctr"/>
                      <a:r>
                        <a:rPr lang="zh-CN" sz="1500" b="0" i="0" kern="100" dirty="0">
                          <a:effectLst/>
                          <a:latin typeface="+mn-lt"/>
                          <a:ea typeface="SimHei" panose="02010609060101010101" pitchFamily="49" charset="-122"/>
                          <a:cs typeface="Times New Roman" panose="02020603050405020304" pitchFamily="18" charset="0"/>
                        </a:rPr>
                        <a:t>内存访问</a:t>
                      </a:r>
                      <a:r>
                        <a:rPr lang="en-US" sz="1500" b="0" i="0" kern="100" dirty="0">
                          <a:effectLst/>
                          <a:latin typeface="+mn-lt"/>
                          <a:ea typeface="SimHei" panose="02010609060101010101" pitchFamily="49" charset="-122"/>
                          <a:cs typeface="宋体" panose="02010600030101010101" pitchFamily="2" charset="-122"/>
                        </a:rPr>
                        <a:t> &amp; </a:t>
                      </a:r>
                      <a:endParaRPr lang="zh-CN" sz="1700" b="0" i="0" kern="100" dirty="0">
                        <a:effectLst/>
                        <a:latin typeface="+mn-lt"/>
                        <a:ea typeface="SimHei" panose="02010609060101010101" pitchFamily="49" charset="-122"/>
                        <a:cs typeface="宋体" panose="02010600030101010101" pitchFamily="2" charset="-122"/>
                      </a:endParaRPr>
                    </a:p>
                    <a:p>
                      <a:pPr algn="ctr"/>
                      <a:r>
                        <a:rPr lang="en-US" sz="1500" b="0" i="0" kern="100" dirty="0">
                          <a:effectLst/>
                          <a:latin typeface="+mn-lt"/>
                          <a:ea typeface="SimHei" panose="02010609060101010101" pitchFamily="49" charset="-122"/>
                          <a:cs typeface="宋体" panose="02010600030101010101" pitchFamily="2" charset="-122"/>
                        </a:rPr>
                        <a:t>R</a:t>
                      </a:r>
                      <a:r>
                        <a:rPr lang="zh-CN" sz="1500" b="0" i="0" kern="100" dirty="0">
                          <a:effectLst/>
                          <a:latin typeface="+mn-lt"/>
                          <a:ea typeface="SimHei" panose="02010609060101010101" pitchFamily="49" charset="-122"/>
                          <a:cs typeface="Times New Roman" panose="02020603050405020304" pitchFamily="18" charset="0"/>
                        </a:rPr>
                        <a:t>型指令完成</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Reg[IR[15:11]] &lt;= </a:t>
                      </a:r>
                      <a:r>
                        <a:rPr lang="en-US" sz="1500" b="0" i="0" kern="100" dirty="0" err="1">
                          <a:effectLst/>
                          <a:latin typeface="+mn-lt"/>
                          <a:ea typeface="SimHei" panose="02010609060101010101" pitchFamily="49" charset="-122"/>
                          <a:cs typeface="宋体" panose="02010600030101010101" pitchFamily="2" charset="-122"/>
                        </a:rPr>
                        <a:t>ALUOut</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Load: </a:t>
                      </a:r>
                      <a:r>
                        <a:rPr lang="en-US" sz="1500" b="0" i="0" kern="100" dirty="0">
                          <a:solidFill>
                            <a:srgbClr val="FF0000"/>
                          </a:solidFill>
                          <a:effectLst/>
                          <a:latin typeface="+mn-lt"/>
                          <a:ea typeface="SimHei" panose="02010609060101010101" pitchFamily="49" charset="-122"/>
                          <a:cs typeface="宋体" panose="02010600030101010101" pitchFamily="2" charset="-122"/>
                        </a:rPr>
                        <a:t>MDR&lt;=Memory[</a:t>
                      </a:r>
                      <a:r>
                        <a:rPr lang="en-US" sz="1500" b="0" i="0" kern="100" dirty="0" err="1">
                          <a:solidFill>
                            <a:srgbClr val="FF0000"/>
                          </a:solidFill>
                          <a:effectLst/>
                          <a:latin typeface="+mn-lt"/>
                          <a:ea typeface="SimHei" panose="02010609060101010101" pitchFamily="49" charset="-122"/>
                          <a:cs typeface="宋体" panose="02010600030101010101" pitchFamily="2" charset="-122"/>
                        </a:rPr>
                        <a:t>ALUOut</a:t>
                      </a:r>
                      <a:r>
                        <a:rPr lang="en-US" sz="1500" b="0" i="0" kern="100" dirty="0">
                          <a:solidFill>
                            <a:srgbClr val="FF0000"/>
                          </a:solidFill>
                          <a:effectLst/>
                          <a:latin typeface="+mn-lt"/>
                          <a:ea typeface="SimHei" panose="02010609060101010101" pitchFamily="49" charset="-122"/>
                          <a:cs typeface="宋体" panose="02010600030101010101" pitchFamily="2" charset="-122"/>
                        </a:rPr>
                        <a:t>]</a:t>
                      </a:r>
                      <a:endParaRPr lang="zh-CN" sz="1700" b="0" i="0" kern="100" dirty="0">
                        <a:solidFill>
                          <a:srgbClr val="FF0000"/>
                        </a:solidFill>
                        <a:effectLst/>
                        <a:latin typeface="+mn-lt"/>
                        <a:ea typeface="SimHei" panose="02010609060101010101" pitchFamily="49" charset="-122"/>
                        <a:cs typeface="宋体" panose="02010600030101010101" pitchFamily="2" charset="-122"/>
                      </a:endParaRPr>
                    </a:p>
                    <a:p>
                      <a:pPr algn="ctr"/>
                      <a:r>
                        <a:rPr lang="en-US" sz="1500" b="0" i="0" kern="100" dirty="0">
                          <a:effectLst/>
                          <a:latin typeface="+mn-lt"/>
                          <a:ea typeface="SimHei" panose="02010609060101010101" pitchFamily="49" charset="-122"/>
                          <a:cs typeface="宋体" panose="02010600030101010101" pitchFamily="2" charset="-122"/>
                        </a:rPr>
                        <a:t>Store: Memory[</a:t>
                      </a:r>
                      <a:r>
                        <a:rPr lang="en-US" sz="1500" b="0" i="0" kern="100" dirty="0" err="1">
                          <a:effectLst/>
                          <a:latin typeface="+mn-lt"/>
                          <a:ea typeface="SimHei" panose="02010609060101010101" pitchFamily="49" charset="-122"/>
                          <a:cs typeface="宋体" panose="02010600030101010101" pitchFamily="2" charset="-122"/>
                        </a:rPr>
                        <a:t>ALUOut</a:t>
                      </a:r>
                      <a:r>
                        <a:rPr lang="en-US" sz="1500" b="0" i="0" kern="100" dirty="0">
                          <a:effectLst/>
                          <a:latin typeface="+mn-lt"/>
                          <a:ea typeface="SimHei" panose="02010609060101010101" pitchFamily="49" charset="-122"/>
                          <a:cs typeface="宋体" panose="02010600030101010101" pitchFamily="2" charset="-122"/>
                        </a:rPr>
                        <a:t>] &lt;= B</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 </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 </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0863689"/>
                  </a:ext>
                </a:extLst>
              </a:tr>
              <a:tr h="231613">
                <a:tc>
                  <a:txBody>
                    <a:bodyPr/>
                    <a:lstStyle/>
                    <a:p>
                      <a:pPr algn="ctr"/>
                      <a:r>
                        <a:rPr lang="zh-CN" altLang="en-US" sz="1500" b="0" i="0" kern="100" dirty="0">
                          <a:effectLst/>
                          <a:latin typeface="+mn-lt"/>
                          <a:ea typeface="SimHei" panose="02010609060101010101" pitchFamily="49" charset="-122"/>
                          <a:cs typeface="Times New Roman" panose="02020603050405020304" pitchFamily="18" charset="0"/>
                        </a:rPr>
                        <a:t>内存访问写回</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 </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Load: Reg[IR[20:16]]&lt;=MDR</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 </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500" b="0" i="0" kern="100" dirty="0">
                          <a:effectLst/>
                          <a:latin typeface="+mn-lt"/>
                          <a:ea typeface="SimHei" panose="02010609060101010101" pitchFamily="49" charset="-122"/>
                          <a:cs typeface="宋体" panose="02010600030101010101" pitchFamily="2" charset="-122"/>
                        </a:rPr>
                        <a:t> </a:t>
                      </a:r>
                      <a:endParaRPr lang="zh-CN" sz="1700" b="0" i="0" kern="100" dirty="0">
                        <a:effectLst/>
                        <a:latin typeface="+mn-lt"/>
                        <a:ea typeface="SimHei" panose="02010609060101010101" pitchFamily="49" charset="-122"/>
                        <a:cs typeface="宋体" panose="02010600030101010101" pitchFamily="2" charset="-122"/>
                      </a:endParaRPr>
                    </a:p>
                  </a:txBody>
                  <a:tcPr marL="94751" marR="947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5295903"/>
                  </a:ext>
                </a:extLst>
              </a:tr>
            </a:tbl>
          </a:graphicData>
        </a:graphic>
      </p:graphicFrame>
      <p:sp>
        <p:nvSpPr>
          <p:cNvPr id="4" name="TextBox 1">
            <a:extLst>
              <a:ext uri="{FF2B5EF4-FFF2-40B4-BE49-F238E27FC236}">
                <a16:creationId xmlns:a16="http://schemas.microsoft.com/office/drawing/2014/main" id="{D0930420-FB1B-2037-709E-C7051FDEF222}"/>
              </a:ext>
            </a:extLst>
          </p:cNvPr>
          <p:cNvSpPr txBox="1"/>
          <p:nvPr/>
        </p:nvSpPr>
        <p:spPr>
          <a:xfrm>
            <a:off x="1612133" y="5266890"/>
            <a:ext cx="6143791" cy="1477328"/>
          </a:xfrm>
          <a:prstGeom prst="rect">
            <a:avLst/>
          </a:prstGeom>
          <a:solidFill>
            <a:schemeClr val="tx1">
              <a:lumMod val="50000"/>
              <a:lumOff val="50000"/>
            </a:schemeClr>
          </a:solid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solidFill>
                  <a:schemeClr val="bg1"/>
                </a:solidFill>
              </a:rPr>
              <a:t>推导</a:t>
            </a:r>
            <a:r>
              <a:rPr lang="en-US" altLang="zh-CN" b="1" dirty="0">
                <a:solidFill>
                  <a:schemeClr val="bg1"/>
                </a:solidFill>
              </a:rPr>
              <a:t>MIPS</a:t>
            </a:r>
            <a:r>
              <a:rPr lang="zh-CN" altLang="en-US" b="1" dirty="0">
                <a:solidFill>
                  <a:schemeClr val="bg1"/>
                </a:solidFill>
              </a:rPr>
              <a:t>指令子集的每一条指令的执行过程（有限状态机视角下每一步做什么）和控制信号的变化</a:t>
            </a:r>
            <a:endParaRPr lang="en-US" altLang="zh-CN" b="1" dirty="0">
              <a:solidFill>
                <a:schemeClr val="bg1"/>
              </a:solidFill>
            </a:endParaRPr>
          </a:p>
          <a:p>
            <a:pPr marL="342900" indent="-342900">
              <a:buAutoNum type="arabicPeriod"/>
            </a:pPr>
            <a:r>
              <a:rPr lang="zh-CN" altLang="en-US" b="1" dirty="0">
                <a:solidFill>
                  <a:schemeClr val="bg1"/>
                </a:solidFill>
              </a:rPr>
              <a:t>指令：</a:t>
            </a:r>
            <a:r>
              <a:rPr lang="zh-CN" altLang="en-US" b="1" u="sng" dirty="0">
                <a:solidFill>
                  <a:schemeClr val="bg1"/>
                </a:solidFill>
              </a:rPr>
              <a:t>每个周期具体在做什么</a:t>
            </a:r>
            <a:endParaRPr lang="en-US" altLang="zh-CN" b="1" u="sng" dirty="0">
              <a:solidFill>
                <a:schemeClr val="bg1"/>
              </a:solidFill>
            </a:endParaRPr>
          </a:p>
          <a:p>
            <a:pPr marL="342900" indent="-342900">
              <a:buAutoNum type="arabicPeriod"/>
            </a:pPr>
            <a:r>
              <a:rPr lang="zh-CN" altLang="en-US" b="1" dirty="0">
                <a:solidFill>
                  <a:schemeClr val="bg1"/>
                </a:solidFill>
              </a:rPr>
              <a:t>看图：数据通路</a:t>
            </a:r>
            <a:endParaRPr lang="en-US" altLang="zh-CN" b="1" dirty="0">
              <a:solidFill>
                <a:schemeClr val="bg1"/>
              </a:solidFill>
            </a:endParaRPr>
          </a:p>
          <a:p>
            <a:pPr marL="342900" indent="-342900">
              <a:buAutoNum type="arabicPeriod"/>
            </a:pPr>
            <a:r>
              <a:rPr lang="en-US" altLang="zh-CN" b="1" dirty="0">
                <a:solidFill>
                  <a:schemeClr val="bg1"/>
                </a:solidFill>
              </a:rPr>
              <a:t>mux</a:t>
            </a:r>
            <a:r>
              <a:rPr lang="zh-CN" altLang="en-US" b="1" dirty="0">
                <a:solidFill>
                  <a:schemeClr val="bg1"/>
                </a:solidFill>
              </a:rPr>
              <a:t>：选择控制信号</a:t>
            </a:r>
          </a:p>
        </p:txBody>
      </p:sp>
    </p:spTree>
    <p:extLst>
      <p:ext uri="{BB962C8B-B14F-4D97-AF65-F5344CB8AC3E}">
        <p14:creationId xmlns:p14="http://schemas.microsoft.com/office/powerpoint/2010/main" val="2016844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6B810A-3FE0-4FE2-90C8-892F5814F977}"/>
              </a:ext>
            </a:extLst>
          </p:cNvPr>
          <p:cNvSpPr>
            <a:spLocks noGrp="1"/>
          </p:cNvSpPr>
          <p:nvPr>
            <p:ph type="title"/>
          </p:nvPr>
        </p:nvSpPr>
        <p:spPr>
          <a:xfrm>
            <a:off x="457200" y="136525"/>
            <a:ext cx="8229600" cy="1143000"/>
          </a:xfrm>
        </p:spPr>
        <p:txBody>
          <a:bodyPr/>
          <a:lstStyle/>
          <a:p>
            <a:r>
              <a:rPr lang="zh-CN" altLang="en-US" dirty="0"/>
              <a:t>多周期控制信号结果</a:t>
            </a:r>
          </a:p>
        </p:txBody>
      </p:sp>
      <p:sp>
        <p:nvSpPr>
          <p:cNvPr id="3" name="内容占位符 2">
            <a:extLst>
              <a:ext uri="{FF2B5EF4-FFF2-40B4-BE49-F238E27FC236}">
                <a16:creationId xmlns:a16="http://schemas.microsoft.com/office/drawing/2014/main" id="{396BE30D-DDF5-4D6E-9406-D2F550818A6F}"/>
              </a:ext>
            </a:extLst>
          </p:cNvPr>
          <p:cNvSpPr>
            <a:spLocks noGrp="1"/>
          </p:cNvSpPr>
          <p:nvPr>
            <p:ph idx="1"/>
          </p:nvPr>
        </p:nvSpPr>
        <p:spPr>
          <a:xfrm>
            <a:off x="-1" y="1279525"/>
            <a:ext cx="8924663" cy="4525962"/>
          </a:xfrm>
        </p:spPr>
        <p:txBody>
          <a:bodyPr/>
          <a:lstStyle/>
          <a:p>
            <a:r>
              <a:rPr lang="zh-CN" altLang="en-US" sz="2800" dirty="0"/>
              <a:t>状态转移图：这个图只是可能的一种结果，不要纠结</a:t>
            </a:r>
          </a:p>
        </p:txBody>
      </p:sp>
      <p:sp>
        <p:nvSpPr>
          <p:cNvPr id="5" name="Slide Number Placeholder 4">
            <a:extLst>
              <a:ext uri="{FF2B5EF4-FFF2-40B4-BE49-F238E27FC236}">
                <a16:creationId xmlns:a16="http://schemas.microsoft.com/office/drawing/2014/main" id="{B4F36EA2-ADE1-044F-B3A1-83ED6A5BEF69}"/>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23</a:t>
            </a:fld>
            <a:endParaRPr lang="en-US" altLang="zh-CN"/>
          </a:p>
        </p:txBody>
      </p:sp>
      <p:sp>
        <p:nvSpPr>
          <p:cNvPr id="6" name="TextBox 1">
            <a:extLst>
              <a:ext uri="{FF2B5EF4-FFF2-40B4-BE49-F238E27FC236}">
                <a16:creationId xmlns:a16="http://schemas.microsoft.com/office/drawing/2014/main" id="{BE15A2C5-972E-A64F-B3B8-0A612B82C2D9}"/>
              </a:ext>
            </a:extLst>
          </p:cNvPr>
          <p:cNvSpPr txBox="1"/>
          <p:nvPr/>
        </p:nvSpPr>
        <p:spPr>
          <a:xfrm>
            <a:off x="219337" y="2329032"/>
            <a:ext cx="2011945" cy="1938992"/>
          </a:xfrm>
          <a:prstGeom prst="rect">
            <a:avLst/>
          </a:prstGeom>
          <a:noFill/>
        </p:spPr>
        <p:txBody>
          <a:bodyPr wrap="square" rtlCol="0">
            <a:spAutoFit/>
          </a:bodyPr>
          <a:lstStyle/>
          <a:p>
            <a:r>
              <a:rPr lang="zh-CN" altLang="en-US" sz="2000" b="1" dirty="0">
                <a:ea typeface="黑体" panose="02010609060101010101" pitchFamily="49" charset="-122"/>
              </a:rPr>
              <a:t>状态中没有显式表示的控制信号都是</a:t>
            </a:r>
            <a:r>
              <a:rPr lang="zh-CN" altLang="en-US" sz="2000" b="1" dirty="0">
                <a:solidFill>
                  <a:srgbClr val="3333FF"/>
                </a:solidFill>
                <a:ea typeface="黑体" panose="02010609060101010101" pitchFamily="49" charset="-122"/>
              </a:rPr>
              <a:t>无效的</a:t>
            </a:r>
            <a:r>
              <a:rPr lang="zh-CN" altLang="en-US" sz="2000" b="1" dirty="0">
                <a:ea typeface="黑体" panose="02010609060101010101" pitchFamily="49" charset="-122"/>
              </a:rPr>
              <a:t>，对于多路选择没有显式表示的</a:t>
            </a:r>
            <a:r>
              <a:rPr lang="zh-CN" altLang="en-US" sz="2000" b="1" dirty="0">
                <a:solidFill>
                  <a:srgbClr val="3333FF"/>
                </a:solidFill>
                <a:ea typeface="黑体" panose="02010609060101010101" pitchFamily="49" charset="-122"/>
              </a:rPr>
              <a:t>都是无关的</a:t>
            </a:r>
          </a:p>
        </p:txBody>
      </p:sp>
      <p:grpSp>
        <p:nvGrpSpPr>
          <p:cNvPr id="12" name="组合 11">
            <a:extLst>
              <a:ext uri="{FF2B5EF4-FFF2-40B4-BE49-F238E27FC236}">
                <a16:creationId xmlns:a16="http://schemas.microsoft.com/office/drawing/2014/main" id="{4DC28B9E-9E40-FFF7-05A5-4AEF1C88E279}"/>
              </a:ext>
            </a:extLst>
          </p:cNvPr>
          <p:cNvGrpSpPr/>
          <p:nvPr/>
        </p:nvGrpSpPr>
        <p:grpSpPr>
          <a:xfrm>
            <a:off x="2267310" y="1692876"/>
            <a:ext cx="6657353" cy="5165124"/>
            <a:chOff x="2486647" y="1279525"/>
            <a:chExt cx="6657353" cy="5374435"/>
          </a:xfrm>
        </p:grpSpPr>
        <p:pic>
          <p:nvPicPr>
            <p:cNvPr id="4" name="图片 3">
              <a:extLst>
                <a:ext uri="{FF2B5EF4-FFF2-40B4-BE49-F238E27FC236}">
                  <a16:creationId xmlns:a16="http://schemas.microsoft.com/office/drawing/2014/main" id="{E68CB04D-1362-4748-AB18-B974D18231AA}"/>
                </a:ext>
              </a:extLst>
            </p:cNvPr>
            <p:cNvPicPr>
              <a:picLocks noChangeAspect="1"/>
            </p:cNvPicPr>
            <p:nvPr/>
          </p:nvPicPr>
          <p:blipFill>
            <a:blip r:embed="rId2"/>
            <a:stretch>
              <a:fillRect/>
            </a:stretch>
          </p:blipFill>
          <p:spPr>
            <a:xfrm>
              <a:off x="2486647" y="1279525"/>
              <a:ext cx="6657353" cy="5374435"/>
            </a:xfrm>
            <a:prstGeom prst="rect">
              <a:avLst/>
            </a:prstGeom>
          </p:spPr>
        </p:pic>
        <p:sp>
          <p:nvSpPr>
            <p:cNvPr id="8" name="矩形 7">
              <a:extLst>
                <a:ext uri="{FF2B5EF4-FFF2-40B4-BE49-F238E27FC236}">
                  <a16:creationId xmlns:a16="http://schemas.microsoft.com/office/drawing/2014/main" id="{11686FF8-CDDC-63B7-8684-A80AF8B7DBF5}"/>
                </a:ext>
              </a:extLst>
            </p:cNvPr>
            <p:cNvSpPr/>
            <p:nvPr/>
          </p:nvSpPr>
          <p:spPr>
            <a:xfrm>
              <a:off x="3771218" y="3620448"/>
              <a:ext cx="123013" cy="1107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7AABCDF3-553F-DB45-C6FE-99585342FFC2}"/>
                </a:ext>
              </a:extLst>
            </p:cNvPr>
            <p:cNvSpPr txBox="1"/>
            <p:nvPr/>
          </p:nvSpPr>
          <p:spPr>
            <a:xfrm>
              <a:off x="3676271" y="3576788"/>
              <a:ext cx="312906" cy="240186"/>
            </a:xfrm>
            <a:prstGeom prst="rect">
              <a:avLst/>
            </a:prstGeom>
            <a:noFill/>
          </p:spPr>
          <p:txBody>
            <a:bodyPr wrap="none" rtlCol="0">
              <a:spAutoFit/>
            </a:bodyPr>
            <a:lstStyle/>
            <a:p>
              <a:r>
                <a:rPr kumimoji="1" lang="en-US" altLang="zh-CN" sz="900" dirty="0">
                  <a:ea typeface="SimHei" panose="02010609060101010101" pitchFamily="49" charset="-122"/>
                </a:rPr>
                <a:t>10</a:t>
              </a:r>
              <a:endParaRPr kumimoji="1" lang="zh-CN" altLang="en-US" sz="900" dirty="0">
                <a:ea typeface="SimHei" panose="02010609060101010101" pitchFamily="49" charset="-122"/>
              </a:endParaRPr>
            </a:p>
          </p:txBody>
        </p:sp>
      </p:grpSp>
      <p:sp>
        <p:nvSpPr>
          <p:cNvPr id="9" name="矩形 8">
            <a:extLst>
              <a:ext uri="{FF2B5EF4-FFF2-40B4-BE49-F238E27FC236}">
                <a16:creationId xmlns:a16="http://schemas.microsoft.com/office/drawing/2014/main" id="{BC349AAB-DE05-09ED-B925-F8E35D60FEE7}"/>
              </a:ext>
            </a:extLst>
          </p:cNvPr>
          <p:cNvSpPr/>
          <p:nvPr/>
        </p:nvSpPr>
        <p:spPr>
          <a:xfrm>
            <a:off x="7968250" y="6201074"/>
            <a:ext cx="130134" cy="1744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5BEE33D6-499E-4BEA-397C-8C04B4652D10}"/>
              </a:ext>
            </a:extLst>
          </p:cNvPr>
          <p:cNvSpPr/>
          <p:nvPr/>
        </p:nvSpPr>
        <p:spPr>
          <a:xfrm>
            <a:off x="7885685" y="6066299"/>
            <a:ext cx="213756" cy="1483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41B84D9E-B78D-4369-9B1D-E07A406EED8E}"/>
              </a:ext>
            </a:extLst>
          </p:cNvPr>
          <p:cNvSpPr txBox="1"/>
          <p:nvPr/>
        </p:nvSpPr>
        <p:spPr>
          <a:xfrm>
            <a:off x="7663227" y="6011153"/>
            <a:ext cx="548244" cy="261610"/>
          </a:xfrm>
          <a:prstGeom prst="rect">
            <a:avLst/>
          </a:prstGeom>
          <a:noFill/>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100" b="1" i="0" u="none" strike="noStrike" kern="0" cap="none" spc="0" normalizeH="0" baseline="0" noProof="0" dirty="0">
                <a:ln>
                  <a:noFill/>
                </a:ln>
                <a:effectLst/>
                <a:uLnTx/>
                <a:uFillTx/>
                <a:latin typeface="Arial"/>
                <a:ea typeface="黑体" panose="02010609060101010101" pitchFamily="49" charset="-122"/>
                <a:cs typeface="+mn-cs"/>
              </a:rPr>
              <a:t>0</a:t>
            </a:r>
          </a:p>
        </p:txBody>
      </p:sp>
      <p:sp>
        <p:nvSpPr>
          <p:cNvPr id="13" name="文本框 12">
            <a:extLst>
              <a:ext uri="{FF2B5EF4-FFF2-40B4-BE49-F238E27FC236}">
                <a16:creationId xmlns:a16="http://schemas.microsoft.com/office/drawing/2014/main" id="{A55D5F8E-D6A0-1D33-1516-BA14F24E0B5A}"/>
              </a:ext>
            </a:extLst>
          </p:cNvPr>
          <p:cNvSpPr txBox="1"/>
          <p:nvPr/>
        </p:nvSpPr>
        <p:spPr>
          <a:xfrm>
            <a:off x="7736141" y="6140483"/>
            <a:ext cx="548244" cy="261610"/>
          </a:xfrm>
          <a:prstGeom prst="rect">
            <a:avLst/>
          </a:prstGeom>
          <a:noFill/>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100" b="1" i="0" u="none" strike="noStrike" kern="0" cap="none" spc="0" normalizeH="0" baseline="0" noProof="0" dirty="0">
                <a:ln>
                  <a:noFill/>
                </a:ln>
                <a:effectLst/>
                <a:uLnTx/>
                <a:uFillTx/>
                <a:latin typeface="Arial"/>
                <a:ea typeface="黑体" panose="02010609060101010101" pitchFamily="49" charset="-122"/>
                <a:cs typeface="+mn-cs"/>
              </a:rPr>
              <a:t>1</a:t>
            </a:r>
          </a:p>
        </p:txBody>
      </p:sp>
      <p:sp>
        <p:nvSpPr>
          <p:cNvPr id="14" name="TextBox 1">
            <a:extLst>
              <a:ext uri="{FF2B5EF4-FFF2-40B4-BE49-F238E27FC236}">
                <a16:creationId xmlns:a16="http://schemas.microsoft.com/office/drawing/2014/main" id="{3F562400-BC70-0B47-9134-EFC184DC5B6C}"/>
              </a:ext>
            </a:extLst>
          </p:cNvPr>
          <p:cNvSpPr txBox="1"/>
          <p:nvPr/>
        </p:nvSpPr>
        <p:spPr>
          <a:xfrm>
            <a:off x="219337" y="4819893"/>
            <a:ext cx="2542222" cy="1477328"/>
          </a:xfrm>
          <a:prstGeom prst="rect">
            <a:avLst/>
          </a:prstGeom>
          <a:solidFill>
            <a:schemeClr val="tx1">
              <a:lumMod val="50000"/>
              <a:lumOff val="50000"/>
            </a:schemeClr>
          </a:solid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solidFill>
                  <a:schemeClr val="bg1"/>
                </a:solidFill>
              </a:rPr>
              <a:t>请自行推导</a:t>
            </a:r>
            <a:r>
              <a:rPr lang="en-US" altLang="zh-CN" b="1" dirty="0">
                <a:solidFill>
                  <a:schemeClr val="bg1"/>
                </a:solidFill>
              </a:rPr>
              <a:t>MIPS</a:t>
            </a:r>
            <a:r>
              <a:rPr lang="zh-CN" altLang="en-US" b="1" dirty="0">
                <a:solidFill>
                  <a:schemeClr val="bg1"/>
                </a:solidFill>
              </a:rPr>
              <a:t>指令子集的每一条指令的执行过程（有限状态机视角下每一步做什么）和控制信号的变化</a:t>
            </a:r>
          </a:p>
        </p:txBody>
      </p:sp>
    </p:spTree>
    <p:extLst>
      <p:ext uri="{BB962C8B-B14F-4D97-AF65-F5344CB8AC3E}">
        <p14:creationId xmlns:p14="http://schemas.microsoft.com/office/powerpoint/2010/main" val="156679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3EB76F-45B4-4ADE-8657-1A3A4C25E5A4}"/>
              </a:ext>
            </a:extLst>
          </p:cNvPr>
          <p:cNvSpPr>
            <a:spLocks noGrp="1"/>
          </p:cNvSpPr>
          <p:nvPr>
            <p:ph type="title"/>
          </p:nvPr>
        </p:nvSpPr>
        <p:spPr/>
        <p:txBody>
          <a:bodyPr/>
          <a:lstStyle/>
          <a:p>
            <a:r>
              <a:rPr lang="zh-CN" altLang="en-US" dirty="0"/>
              <a:t>异常和中断</a:t>
            </a:r>
          </a:p>
        </p:txBody>
      </p:sp>
      <p:sp>
        <p:nvSpPr>
          <p:cNvPr id="3" name="内容占位符 2">
            <a:extLst>
              <a:ext uri="{FF2B5EF4-FFF2-40B4-BE49-F238E27FC236}">
                <a16:creationId xmlns:a16="http://schemas.microsoft.com/office/drawing/2014/main" id="{BF34EA37-0445-4FF3-8606-2C78D31254F3}"/>
              </a:ext>
            </a:extLst>
          </p:cNvPr>
          <p:cNvSpPr>
            <a:spLocks noGrp="1"/>
          </p:cNvSpPr>
          <p:nvPr>
            <p:ph idx="1"/>
          </p:nvPr>
        </p:nvSpPr>
        <p:spPr>
          <a:xfrm>
            <a:off x="457200" y="1499393"/>
            <a:ext cx="8229600" cy="4525963"/>
          </a:xfrm>
        </p:spPr>
        <p:txBody>
          <a:bodyPr/>
          <a:lstStyle/>
          <a:p>
            <a:r>
              <a:rPr lang="zh-CN" altLang="en-US" dirty="0"/>
              <a:t>异常和中断：</a:t>
            </a:r>
            <a:endParaRPr lang="en-US" altLang="zh-CN" dirty="0"/>
          </a:p>
          <a:p>
            <a:pPr lvl="1" eaLnBrk="1" hangingPunct="1"/>
            <a:r>
              <a:rPr kumimoji="1" lang="zh-CN" altLang="en-US" sz="2400" dirty="0"/>
              <a:t>中断是异步事件，可能随时发生，与处理器正在执行的指令无关。中断主要由</a:t>
            </a:r>
            <a:r>
              <a:rPr kumimoji="1" lang="en-US" altLang="zh-CN" sz="2400" dirty="0"/>
              <a:t>I/O</a:t>
            </a:r>
            <a:r>
              <a:rPr kumimoji="1" lang="zh-CN" altLang="en-US" sz="2400" dirty="0"/>
              <a:t>设备产生，可以被启用或禁止。可以当作一种特殊的异常。</a:t>
            </a:r>
          </a:p>
          <a:p>
            <a:pPr lvl="1" eaLnBrk="1" hangingPunct="1"/>
            <a:r>
              <a:rPr kumimoji="1" lang="zh-CN" altLang="en-US" sz="2400" dirty="0"/>
              <a:t>异常一般是同步事件，它是某一特定指令执行的结果。在相同条件下，异常可以重现。例如，内存访问错误、被零除等是典型的异常。</a:t>
            </a:r>
          </a:p>
          <a:p>
            <a:r>
              <a:rPr lang="zh-CN" altLang="en-US" sz="2800" dirty="0"/>
              <a:t>数据通路的修改：</a:t>
            </a:r>
          </a:p>
          <a:p>
            <a:pPr lvl="1"/>
            <a:r>
              <a:rPr lang="zh-CN" altLang="en-US" sz="2400" dirty="0"/>
              <a:t>增加</a:t>
            </a:r>
            <a:r>
              <a:rPr lang="en-US" altLang="zh-CN" sz="2400" dirty="0"/>
              <a:t>32</a:t>
            </a:r>
            <a:r>
              <a:rPr lang="zh-CN" altLang="en-US" sz="2400" dirty="0"/>
              <a:t>位的 </a:t>
            </a:r>
            <a:r>
              <a:rPr lang="en-US" altLang="zh-CN" sz="2400" dirty="0"/>
              <a:t>EPC</a:t>
            </a:r>
            <a:r>
              <a:rPr lang="zh-CN" altLang="en-US" sz="2400" dirty="0"/>
              <a:t>寄存器</a:t>
            </a:r>
            <a:r>
              <a:rPr lang="en-US" altLang="zh-CN" sz="2400" dirty="0"/>
              <a:t>——</a:t>
            </a:r>
            <a:r>
              <a:rPr lang="zh-CN" altLang="en-US" sz="2400" dirty="0"/>
              <a:t>保存受影响的指令的地址</a:t>
            </a:r>
          </a:p>
          <a:p>
            <a:pPr lvl="1"/>
            <a:r>
              <a:rPr lang="zh-CN" altLang="en-US" sz="2400" dirty="0"/>
              <a:t>增加</a:t>
            </a:r>
            <a:r>
              <a:rPr lang="en-US" altLang="zh-CN" sz="2400" dirty="0"/>
              <a:t>cause</a:t>
            </a:r>
            <a:r>
              <a:rPr lang="zh-CN" altLang="en-US" sz="2400" dirty="0"/>
              <a:t>寄存器</a:t>
            </a:r>
            <a:r>
              <a:rPr lang="en-US" altLang="zh-CN" sz="2400" dirty="0"/>
              <a:t>——</a:t>
            </a:r>
            <a:r>
              <a:rPr lang="zh-CN" altLang="en-US" sz="2400" dirty="0"/>
              <a:t>记录产生异常的原因 </a:t>
            </a:r>
            <a:endParaRPr lang="en-US" altLang="zh-CN" sz="2400" dirty="0"/>
          </a:p>
          <a:p>
            <a:pPr lvl="2"/>
            <a:r>
              <a:rPr lang="zh-CN" altLang="en-US" sz="2000" dirty="0"/>
              <a:t>假设：未定义指令</a:t>
            </a:r>
            <a:r>
              <a:rPr lang="en-US" altLang="zh-CN" sz="2000" dirty="0"/>
              <a:t>=0 </a:t>
            </a:r>
            <a:r>
              <a:rPr lang="zh-CN" altLang="en-US" sz="2000" dirty="0"/>
              <a:t>，算术溢出</a:t>
            </a:r>
            <a:r>
              <a:rPr lang="en-US" altLang="zh-CN" sz="2000" dirty="0"/>
              <a:t>=1</a:t>
            </a:r>
          </a:p>
          <a:p>
            <a:pPr marL="457200" lvl="1" indent="0">
              <a:buNone/>
            </a:pPr>
            <a:endParaRPr lang="zh-CN" altLang="en-US" dirty="0"/>
          </a:p>
        </p:txBody>
      </p:sp>
      <p:sp>
        <p:nvSpPr>
          <p:cNvPr id="5" name="Slide Number Placeholder 4">
            <a:extLst>
              <a:ext uri="{FF2B5EF4-FFF2-40B4-BE49-F238E27FC236}">
                <a16:creationId xmlns:a16="http://schemas.microsoft.com/office/drawing/2014/main" id="{076B5B18-D6F0-F54D-B813-12360CD05F12}"/>
              </a:ext>
            </a:extLst>
          </p:cNvPr>
          <p:cNvSpPr>
            <a:spLocks noGrp="1"/>
          </p:cNvSpPr>
          <p:nvPr>
            <p:ph type="sldNum" sz="quarter" idx="12"/>
          </p:nvPr>
        </p:nvSpPr>
        <p:spPr/>
        <p:txBody>
          <a:bodyPr/>
          <a:lstStyle/>
          <a:p>
            <a:fld id="{14659731-6BD7-46E7-8D3C-2F3AC07E20B1}" type="slidenum">
              <a:rPr lang="en-US" altLang="zh-CN" smtClean="0"/>
              <a:pPr/>
              <a:t>24</a:t>
            </a:fld>
            <a:endParaRPr lang="en-US" altLang="zh-CN"/>
          </a:p>
        </p:txBody>
      </p:sp>
    </p:spTree>
    <p:extLst>
      <p:ext uri="{BB962C8B-B14F-4D97-AF65-F5344CB8AC3E}">
        <p14:creationId xmlns:p14="http://schemas.microsoft.com/office/powerpoint/2010/main" val="3228611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6715F4C-5B49-4186-A4FA-887A2D11FF95}"/>
              </a:ext>
            </a:extLst>
          </p:cNvPr>
          <p:cNvPicPr>
            <a:picLocks noChangeAspect="1"/>
          </p:cNvPicPr>
          <p:nvPr/>
        </p:nvPicPr>
        <p:blipFill>
          <a:blip r:embed="rId3"/>
          <a:stretch>
            <a:fillRect/>
          </a:stretch>
        </p:blipFill>
        <p:spPr>
          <a:xfrm>
            <a:off x="469392" y="1329290"/>
            <a:ext cx="7721600" cy="5528710"/>
          </a:xfrm>
          <a:prstGeom prst="rect">
            <a:avLst/>
          </a:prstGeom>
        </p:spPr>
      </p:pic>
      <p:sp>
        <p:nvSpPr>
          <p:cNvPr id="2" name="标题 1">
            <a:extLst>
              <a:ext uri="{FF2B5EF4-FFF2-40B4-BE49-F238E27FC236}">
                <a16:creationId xmlns:a16="http://schemas.microsoft.com/office/drawing/2014/main" id="{A03EB76F-45B4-4ADE-8657-1A3A4C25E5A4}"/>
              </a:ext>
            </a:extLst>
          </p:cNvPr>
          <p:cNvSpPr>
            <a:spLocks noGrp="1"/>
          </p:cNvSpPr>
          <p:nvPr>
            <p:ph type="title"/>
          </p:nvPr>
        </p:nvSpPr>
        <p:spPr/>
        <p:txBody>
          <a:bodyPr/>
          <a:lstStyle/>
          <a:p>
            <a:r>
              <a:rPr lang="zh-CN" altLang="en-US" dirty="0"/>
              <a:t>实现简化</a:t>
            </a:r>
            <a:r>
              <a:rPr lang="en-US" altLang="zh-CN" dirty="0"/>
              <a:t>MIPS</a:t>
            </a:r>
            <a:r>
              <a:rPr lang="zh-CN" altLang="en-US" dirty="0"/>
              <a:t>的异常处理</a:t>
            </a:r>
          </a:p>
        </p:txBody>
      </p:sp>
      <p:sp>
        <p:nvSpPr>
          <p:cNvPr id="7" name="椭圆 3">
            <a:extLst>
              <a:ext uri="{FF2B5EF4-FFF2-40B4-BE49-F238E27FC236}">
                <a16:creationId xmlns:a16="http://schemas.microsoft.com/office/drawing/2014/main" id="{3F0F3E0D-C9BA-436F-B4AE-A61E077DACED}"/>
              </a:ext>
            </a:extLst>
          </p:cNvPr>
          <p:cNvSpPr>
            <a:spLocks noChangeArrowheads="1"/>
          </p:cNvSpPr>
          <p:nvPr/>
        </p:nvSpPr>
        <p:spPr bwMode="auto">
          <a:xfrm>
            <a:off x="6696170" y="3165985"/>
            <a:ext cx="1263460" cy="520254"/>
          </a:xfrm>
          <a:prstGeom prst="ellipse">
            <a:avLst/>
          </a:prstGeom>
          <a:noFill/>
          <a:ln w="38100" algn="ctr">
            <a:solidFill>
              <a:schemeClr val="accent1"/>
            </a:solidFill>
            <a:round/>
            <a:headEnd type="none" w="sm" len="sm"/>
            <a:tailEnd type="none" w="sm" len="sm"/>
          </a:ln>
        </p:spPr>
        <p:txBody>
          <a:bodyPr wrap="square" lIns="92075" tIns="46038" rIns="92075" bIns="46038" anchor="ctr">
            <a:spAutoFit/>
          </a:bodyPr>
          <a:lstStyle/>
          <a:p>
            <a:endParaRPr lang="zh-CN" altLang="en-US" dirty="0">
              <a:ea typeface="SimHei" panose="02010609060101010101" pitchFamily="49" charset="-122"/>
            </a:endParaRPr>
          </a:p>
        </p:txBody>
      </p:sp>
      <p:sp>
        <p:nvSpPr>
          <p:cNvPr id="8" name="椭圆 4">
            <a:extLst>
              <a:ext uri="{FF2B5EF4-FFF2-40B4-BE49-F238E27FC236}">
                <a16:creationId xmlns:a16="http://schemas.microsoft.com/office/drawing/2014/main" id="{B5AEA633-25B9-4D09-B3B7-7ED32BECDFAE}"/>
              </a:ext>
            </a:extLst>
          </p:cNvPr>
          <p:cNvSpPr>
            <a:spLocks noChangeArrowheads="1"/>
          </p:cNvSpPr>
          <p:nvPr/>
        </p:nvSpPr>
        <p:spPr bwMode="auto">
          <a:xfrm>
            <a:off x="7598535" y="4376199"/>
            <a:ext cx="361095" cy="520254"/>
          </a:xfrm>
          <a:prstGeom prst="ellipse">
            <a:avLst/>
          </a:prstGeom>
          <a:noFill/>
          <a:ln w="38100" algn="ctr">
            <a:solidFill>
              <a:schemeClr val="accent1"/>
            </a:solidFill>
            <a:round/>
            <a:headEnd type="none" w="sm" len="sm"/>
            <a:tailEnd type="none" w="sm" len="sm"/>
          </a:ln>
        </p:spPr>
        <p:txBody>
          <a:bodyPr wrap="square" lIns="92075" tIns="46038" rIns="92075" bIns="46038" anchor="ctr">
            <a:spAutoFit/>
          </a:bodyPr>
          <a:lstStyle/>
          <a:p>
            <a:endParaRPr lang="zh-CN" altLang="en-US" dirty="0">
              <a:ea typeface="SimHei" panose="02010609060101010101" pitchFamily="49" charset="-122"/>
            </a:endParaRPr>
          </a:p>
        </p:txBody>
      </p:sp>
      <p:sp>
        <p:nvSpPr>
          <p:cNvPr id="9" name="椭圆 7">
            <a:extLst>
              <a:ext uri="{FF2B5EF4-FFF2-40B4-BE49-F238E27FC236}">
                <a16:creationId xmlns:a16="http://schemas.microsoft.com/office/drawing/2014/main" id="{EDC64B10-09CE-4785-8019-374506A2E275}"/>
              </a:ext>
            </a:extLst>
          </p:cNvPr>
          <p:cNvSpPr>
            <a:spLocks noChangeArrowheads="1"/>
          </p:cNvSpPr>
          <p:nvPr/>
        </p:nvSpPr>
        <p:spPr bwMode="auto">
          <a:xfrm>
            <a:off x="6594285" y="5274978"/>
            <a:ext cx="1430337" cy="520254"/>
          </a:xfrm>
          <a:prstGeom prst="ellipse">
            <a:avLst/>
          </a:prstGeom>
          <a:noFill/>
          <a:ln w="38100" algn="ctr">
            <a:solidFill>
              <a:schemeClr val="accent1"/>
            </a:solidFill>
            <a:round/>
            <a:headEnd type="none" w="sm" len="sm"/>
            <a:tailEnd type="none" w="sm" len="sm"/>
          </a:ln>
        </p:spPr>
        <p:txBody>
          <a:bodyPr lIns="92075" tIns="46038" rIns="92075" bIns="46038" anchor="ctr">
            <a:spAutoFit/>
          </a:bodyPr>
          <a:lstStyle/>
          <a:p>
            <a:endParaRPr lang="zh-CN" altLang="en-US" dirty="0">
              <a:ea typeface="SimHei" panose="02010609060101010101" pitchFamily="49" charset="-122"/>
            </a:endParaRPr>
          </a:p>
        </p:txBody>
      </p:sp>
      <p:sp>
        <p:nvSpPr>
          <p:cNvPr id="3" name="Slide Number Placeholder 2">
            <a:extLst>
              <a:ext uri="{FF2B5EF4-FFF2-40B4-BE49-F238E27FC236}">
                <a16:creationId xmlns:a16="http://schemas.microsoft.com/office/drawing/2014/main" id="{182495CD-E4C9-D240-B711-31C6A2C7180C}"/>
              </a:ext>
            </a:extLst>
          </p:cNvPr>
          <p:cNvSpPr>
            <a:spLocks noGrp="1"/>
          </p:cNvSpPr>
          <p:nvPr>
            <p:ph type="sldNum" sz="quarter" idx="12"/>
          </p:nvPr>
        </p:nvSpPr>
        <p:spPr/>
        <p:txBody>
          <a:bodyPr/>
          <a:lstStyle/>
          <a:p>
            <a:fld id="{14659731-6BD7-46E7-8D3C-2F3AC07E20B1}" type="slidenum">
              <a:rPr lang="en-US" altLang="zh-CN" smtClean="0"/>
              <a:pPr/>
              <a:t>25</a:t>
            </a:fld>
            <a:endParaRPr lang="en-US" altLang="zh-CN"/>
          </a:p>
        </p:txBody>
      </p:sp>
    </p:spTree>
    <p:extLst>
      <p:ext uri="{BB962C8B-B14F-4D97-AF65-F5344CB8AC3E}">
        <p14:creationId xmlns:p14="http://schemas.microsoft.com/office/powerpoint/2010/main" val="106559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0D783A-F73E-4EC8-9D21-6A94B4878715}"/>
              </a:ext>
            </a:extLst>
          </p:cNvPr>
          <p:cNvSpPr>
            <a:spLocks noGrp="1"/>
          </p:cNvSpPr>
          <p:nvPr>
            <p:ph type="title"/>
          </p:nvPr>
        </p:nvSpPr>
        <p:spPr/>
        <p:txBody>
          <a:bodyPr/>
          <a:lstStyle/>
          <a:p>
            <a:r>
              <a:rPr lang="zh-CN" altLang="en-US" sz="4000" dirty="0"/>
              <a:t>流水线技术重点内容</a:t>
            </a:r>
          </a:p>
        </p:txBody>
      </p:sp>
      <p:sp>
        <p:nvSpPr>
          <p:cNvPr id="3" name="内容占位符 2">
            <a:extLst>
              <a:ext uri="{FF2B5EF4-FFF2-40B4-BE49-F238E27FC236}">
                <a16:creationId xmlns:a16="http://schemas.microsoft.com/office/drawing/2014/main" id="{113A1CB8-7F83-4444-9EFA-AF2B714BDEE9}"/>
              </a:ext>
            </a:extLst>
          </p:cNvPr>
          <p:cNvSpPr>
            <a:spLocks noGrp="1"/>
          </p:cNvSpPr>
          <p:nvPr>
            <p:ph idx="1"/>
          </p:nvPr>
        </p:nvSpPr>
        <p:spPr>
          <a:xfrm>
            <a:off x="457200" y="1267086"/>
            <a:ext cx="8472488" cy="5519473"/>
          </a:xfrm>
        </p:spPr>
        <p:txBody>
          <a:bodyPr>
            <a:normAutofit/>
          </a:bodyPr>
          <a:lstStyle/>
          <a:p>
            <a:r>
              <a:rPr lang="zh-CN" altLang="en-US" sz="2800" b="1" dirty="0"/>
              <a:t>流水线结构</a:t>
            </a:r>
            <a:endParaRPr lang="en-US" altLang="zh-CN" sz="2800" b="1" dirty="0"/>
          </a:p>
          <a:p>
            <a:pPr lvl="1"/>
            <a:r>
              <a:rPr lang="en-US" altLang="zh-CN" sz="2400" dirty="0"/>
              <a:t>5</a:t>
            </a:r>
            <a:r>
              <a:rPr lang="zh-CN" altLang="en-US" sz="2400" dirty="0"/>
              <a:t>级经典方式：</a:t>
            </a:r>
            <a:r>
              <a:rPr lang="en-US" altLang="zh-CN" sz="2400" dirty="0"/>
              <a:t>IF ID EXE MEM WB</a:t>
            </a:r>
          </a:p>
          <a:p>
            <a:pPr lvl="1"/>
            <a:r>
              <a:rPr lang="zh-CN" altLang="en-US" sz="2400" dirty="0"/>
              <a:t>流水线作用（理论与实际的吞吐率，提升潜力：级数）、代价（单条指令延迟）、</a:t>
            </a:r>
            <a:r>
              <a:rPr lang="zh-CN" altLang="en-CN" sz="2400" dirty="0"/>
              <a:t>时钟频率</a:t>
            </a:r>
            <a:r>
              <a:rPr lang="zh-CN" altLang="en-US" sz="2400" dirty="0"/>
              <a:t>瓶颈（最慢的一级）</a:t>
            </a:r>
            <a:endParaRPr lang="en-US" altLang="zh-CN" sz="2400" dirty="0"/>
          </a:p>
          <a:p>
            <a:r>
              <a:rPr lang="zh-CN" altLang="en-US" sz="2800" b="1" dirty="0"/>
              <a:t>冒险及应对策略</a:t>
            </a:r>
            <a:endParaRPr lang="en-US" altLang="zh-CN" sz="2800" b="1" dirty="0"/>
          </a:p>
          <a:p>
            <a:pPr lvl="1"/>
            <a:r>
              <a:rPr lang="zh-CN" altLang="en-US" sz="2400" dirty="0"/>
              <a:t>结构冒险：</a:t>
            </a:r>
            <a:r>
              <a:rPr lang="en-US" altLang="zh-CN" sz="2400" dirty="0"/>
              <a:t>REG</a:t>
            </a:r>
            <a:r>
              <a:rPr lang="zh-CN" altLang="en-US" sz="2400" dirty="0"/>
              <a:t> </a:t>
            </a:r>
            <a:r>
              <a:rPr lang="en-US" altLang="zh-CN" sz="2400" dirty="0"/>
              <a:t>W&amp;R</a:t>
            </a:r>
            <a:r>
              <a:rPr lang="zh-CN" altLang="en-US" sz="2400" dirty="0"/>
              <a:t>、</a:t>
            </a:r>
            <a:r>
              <a:rPr lang="en-US" altLang="zh-CN" sz="2400" dirty="0"/>
              <a:t>RF</a:t>
            </a:r>
            <a:r>
              <a:rPr lang="zh-CN" altLang="en-US" sz="2400" dirty="0"/>
              <a:t>多总线、</a:t>
            </a:r>
            <a:r>
              <a:rPr lang="en-US" altLang="zh-CN" sz="2400" dirty="0"/>
              <a:t>MEM</a:t>
            </a:r>
            <a:r>
              <a:rPr lang="zh-CN" altLang="en-US" sz="2400" dirty="0"/>
              <a:t>、</a:t>
            </a:r>
            <a:r>
              <a:rPr lang="en-US" altLang="zh-CN" sz="2400" dirty="0"/>
              <a:t>ALU</a:t>
            </a:r>
            <a:r>
              <a:rPr lang="zh-CN" altLang="en-US" sz="2400" dirty="0"/>
              <a:t>分离</a:t>
            </a:r>
            <a:endParaRPr lang="en-US" altLang="zh-CN" sz="2400" dirty="0"/>
          </a:p>
          <a:p>
            <a:pPr lvl="1"/>
            <a:r>
              <a:rPr lang="zh-CN" altLang="en-US" sz="2400" dirty="0"/>
              <a:t>数据冒险：</a:t>
            </a:r>
            <a:r>
              <a:rPr lang="en-US" altLang="zh-CN" sz="2400" dirty="0"/>
              <a:t>Forwarding</a:t>
            </a:r>
            <a:r>
              <a:rPr lang="zh-CN" altLang="en-US" sz="2400" dirty="0"/>
              <a:t>、</a:t>
            </a:r>
            <a:r>
              <a:rPr lang="en-US" altLang="zh-CN" sz="2400" dirty="0"/>
              <a:t>Stall</a:t>
            </a:r>
            <a:r>
              <a:rPr lang="zh-CN" altLang="en-US" sz="2400" dirty="0"/>
              <a:t>、编译调度</a:t>
            </a:r>
            <a:endParaRPr lang="en-US" altLang="zh-CN" sz="2400" dirty="0"/>
          </a:p>
          <a:p>
            <a:pPr lvl="1"/>
            <a:r>
              <a:rPr lang="zh-CN" altLang="en-US" sz="2400" dirty="0"/>
              <a:t>控制冒险：</a:t>
            </a:r>
            <a:r>
              <a:rPr lang="en-US" altLang="zh-CN" sz="2400" dirty="0"/>
              <a:t>Stall</a:t>
            </a:r>
            <a:r>
              <a:rPr lang="zh-CN" altLang="en-US" sz="2400" dirty="0"/>
              <a:t>、</a:t>
            </a:r>
            <a:r>
              <a:rPr lang="en-US" altLang="zh-CN" sz="2400" dirty="0"/>
              <a:t>Forwarding</a:t>
            </a:r>
            <a:r>
              <a:rPr lang="zh-CN" altLang="en-US" sz="2400" dirty="0"/>
              <a:t>、延迟槽、分支预测</a:t>
            </a:r>
            <a:endParaRPr lang="en-US" altLang="zh-CN" sz="2400" dirty="0"/>
          </a:p>
          <a:p>
            <a:r>
              <a:rPr lang="zh-CN" altLang="en-US" sz="2800" b="1" dirty="0"/>
              <a:t>要求</a:t>
            </a:r>
            <a:endParaRPr lang="en-US" altLang="zh-CN" sz="2800" b="1" dirty="0"/>
          </a:p>
          <a:p>
            <a:pPr lvl="1"/>
            <a:r>
              <a:rPr lang="zh-CN" altLang="en-US" sz="2400" dirty="0"/>
              <a:t>理解冒险来源（会检测与区分冒险，分析时空关联性）</a:t>
            </a:r>
            <a:endParaRPr lang="en-US" altLang="zh-CN" sz="2400" dirty="0"/>
          </a:p>
          <a:p>
            <a:pPr lvl="1"/>
            <a:r>
              <a:rPr lang="zh-CN" altLang="en-US" sz="2400" dirty="0"/>
              <a:t>掌握应对策略的思想（数据与结构的关联性）</a:t>
            </a:r>
            <a:endParaRPr lang="en-US" altLang="zh-CN" sz="2400" dirty="0"/>
          </a:p>
          <a:p>
            <a:pPr lvl="1"/>
            <a:r>
              <a:rPr lang="zh-CN" altLang="en-US" sz="2400" dirty="0"/>
              <a:t>熟悉数据通路的具体工作方式（理解数据流变动）</a:t>
            </a:r>
          </a:p>
        </p:txBody>
      </p:sp>
      <p:sp>
        <p:nvSpPr>
          <p:cNvPr id="4" name="灯片编号占位符 3">
            <a:extLst>
              <a:ext uri="{FF2B5EF4-FFF2-40B4-BE49-F238E27FC236}">
                <a16:creationId xmlns:a16="http://schemas.microsoft.com/office/drawing/2014/main" id="{F71AE928-7AE7-41C6-9535-7914BCA6BEC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1806CE5-282B-4233-8654-09F35EA875E2}" type="slidenum">
              <a:rPr kumimoji="0" lang="zh-CN" altLang="en-US"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zh-CN" altLang="en-US" sz="1400" u="none" strike="noStrike" kern="1200" cap="none" spc="0" normalizeH="0" baseline="0" noProof="0" dirty="0">
              <a:ln>
                <a:noFill/>
              </a:ln>
              <a:solidFill>
                <a:srgbClr val="000000"/>
              </a:solidFill>
              <a:effectLst/>
              <a:uLnTx/>
              <a:uFillTx/>
              <a:latin typeface="Arial" charset="0"/>
              <a:cs typeface="+mn-cs"/>
            </a:endParaRPr>
          </a:p>
        </p:txBody>
      </p:sp>
      <mc:AlternateContent xmlns:mc="http://schemas.openxmlformats.org/markup-compatibility/2006" xmlns:p14="http://schemas.microsoft.com/office/powerpoint/2010/main">
        <mc:Choice Requires="p14">
          <p:contentPart p14:bwMode="auto" r:id="rId2">
            <p14:nvContentPartPr>
              <p14:cNvPr id="5" name="墨迹 4">
                <a:extLst>
                  <a:ext uri="{FF2B5EF4-FFF2-40B4-BE49-F238E27FC236}">
                    <a16:creationId xmlns:a16="http://schemas.microsoft.com/office/drawing/2014/main" id="{2AB306D2-FCA9-51F7-726D-EED48E957205}"/>
                  </a:ext>
                </a:extLst>
              </p14:cNvPr>
              <p14:cNvContentPartPr/>
              <p14:nvPr/>
            </p14:nvContentPartPr>
            <p14:xfrm>
              <a:off x="6023880" y="5119560"/>
              <a:ext cx="2520360" cy="813240"/>
            </p14:xfrm>
          </p:contentPart>
        </mc:Choice>
        <mc:Fallback xmlns="">
          <p:pic>
            <p:nvPicPr>
              <p:cNvPr id="5" name="墨迹 4">
                <a:extLst>
                  <a:ext uri="{FF2B5EF4-FFF2-40B4-BE49-F238E27FC236}">
                    <a16:creationId xmlns:a16="http://schemas.microsoft.com/office/drawing/2014/main" id="{2AB306D2-FCA9-51F7-726D-EED48E957205}"/>
                  </a:ext>
                </a:extLst>
              </p:cNvPr>
              <p:cNvPicPr/>
              <p:nvPr/>
            </p:nvPicPr>
            <p:blipFill>
              <a:blip r:embed="rId3"/>
              <a:stretch>
                <a:fillRect/>
              </a:stretch>
            </p:blipFill>
            <p:spPr>
              <a:xfrm>
                <a:off x="6014520" y="5110200"/>
                <a:ext cx="2539080" cy="831960"/>
              </a:xfrm>
              <a:prstGeom prst="rect">
                <a:avLst/>
              </a:prstGeom>
            </p:spPr>
          </p:pic>
        </mc:Fallback>
      </mc:AlternateContent>
    </p:spTree>
    <p:extLst>
      <p:ext uri="{BB962C8B-B14F-4D97-AF65-F5344CB8AC3E}">
        <p14:creationId xmlns:p14="http://schemas.microsoft.com/office/powerpoint/2010/main" val="3575539622"/>
      </p:ext>
    </p:extLst>
  </p:cSld>
  <p:clrMapOvr>
    <a:masterClrMapping/>
  </p:clrMapOvr>
  <mc:AlternateContent xmlns:mc="http://schemas.openxmlformats.org/markup-compatibility/2006" xmlns:p14="http://schemas.microsoft.com/office/powerpoint/2010/main">
    <mc:Choice Requires="p14">
      <p:transition spd="slow" p14:dur="2000" advTm="59232"/>
    </mc:Choice>
    <mc:Fallback xmlns="">
      <p:transition spd="slow" advTm="59232"/>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19E25-C783-434F-9554-A771975B05D8}"/>
              </a:ext>
            </a:extLst>
          </p:cNvPr>
          <p:cNvSpPr>
            <a:spLocks noGrp="1"/>
          </p:cNvSpPr>
          <p:nvPr>
            <p:ph type="title"/>
          </p:nvPr>
        </p:nvSpPr>
        <p:spPr/>
        <p:txBody>
          <a:bodyPr/>
          <a:lstStyle/>
          <a:p>
            <a:r>
              <a:rPr lang="zh-CN" altLang="en-US" dirty="0"/>
              <a:t>流水线的基本概念</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4FF24B6-71C5-446A-8B4A-A26491DBBEFB}"/>
                  </a:ext>
                </a:extLst>
              </p:cNvPr>
              <p:cNvSpPr>
                <a:spLocks noGrp="1"/>
              </p:cNvSpPr>
              <p:nvPr>
                <p:ph idx="1"/>
              </p:nvPr>
            </p:nvSpPr>
            <p:spPr>
              <a:xfrm>
                <a:off x="457200" y="1494636"/>
                <a:ext cx="8229600" cy="5248428"/>
              </a:xfrm>
            </p:spPr>
            <p:txBody>
              <a:bodyPr/>
              <a:lstStyle/>
              <a:p>
                <a:r>
                  <a:rPr lang="zh-CN" altLang="en-US" sz="2800" dirty="0"/>
                  <a:t>提高处理器运算速度是处理器设计基本任务之一：</a:t>
                </a:r>
                <a:endParaRPr lang="en-US" altLang="zh-CN" sz="2800" dirty="0"/>
              </a:p>
              <a:p>
                <a:pPr marL="0" indent="0" algn="ctr">
                  <a:buNone/>
                </a:pPr>
                <a14:m>
                  <m:oMathPara xmlns:m="http://schemas.openxmlformats.org/officeDocument/2006/math">
                    <m:oMathParaPr>
                      <m:jc m:val="centerGroup"/>
                    </m:oMathParaPr>
                    <m:oMath xmlns:m="http://schemas.openxmlformats.org/officeDocument/2006/math">
                      <m:r>
                        <a:rPr lang="en-US" altLang="zh-CN" sz="2800" b="1" i="1" dirty="0" smtClean="0">
                          <a:solidFill>
                            <a:srgbClr val="1A49EA"/>
                          </a:solidFill>
                          <a:latin typeface="Cambria Math" panose="02040503050406030204" pitchFamily="18" charset="0"/>
                        </a:rPr>
                        <m:t>𝑪𝑷𝑼</m:t>
                      </m:r>
                      <m:r>
                        <a:rPr lang="zh-CN" altLang="en-US" sz="2800" b="1" i="0" dirty="0">
                          <a:solidFill>
                            <a:srgbClr val="1A49EA"/>
                          </a:solidFill>
                          <a:latin typeface="Cambria Math" panose="02040503050406030204" pitchFamily="18" charset="0"/>
                        </a:rPr>
                        <m:t>执行时间</m:t>
                      </m:r>
                      <m:r>
                        <a:rPr lang="zh-CN" altLang="en-US" sz="2800" b="1" i="0" dirty="0">
                          <a:solidFill>
                            <a:srgbClr val="1A49EA"/>
                          </a:solidFill>
                          <a:latin typeface="Cambria Math" panose="02040503050406030204" pitchFamily="18" charset="0"/>
                        </a:rPr>
                        <m:t> </m:t>
                      </m:r>
                      <m:r>
                        <a:rPr lang="zh-CN" altLang="en-US" sz="2800" b="1" i="1" dirty="0">
                          <a:solidFill>
                            <a:srgbClr val="1A49EA"/>
                          </a:solidFill>
                          <a:latin typeface="Cambria Math" panose="02040503050406030204" pitchFamily="18" charset="0"/>
                        </a:rPr>
                        <m:t>＝</m:t>
                      </m:r>
                      <m:r>
                        <a:rPr lang="zh-CN" altLang="en-US" sz="2800" b="1" i="1" dirty="0">
                          <a:solidFill>
                            <a:srgbClr val="1A49EA"/>
                          </a:solidFill>
                          <a:latin typeface="Cambria Math" panose="02040503050406030204" pitchFamily="18" charset="0"/>
                        </a:rPr>
                        <m:t> </m:t>
                      </m:r>
                      <m:r>
                        <a:rPr lang="zh-CN" altLang="en-US" sz="2800" b="1" i="1" dirty="0">
                          <a:solidFill>
                            <a:srgbClr val="1A49EA"/>
                          </a:solidFill>
                          <a:latin typeface="Cambria Math" panose="02040503050406030204" pitchFamily="18" charset="0"/>
                        </a:rPr>
                        <m:t>指令数</m:t>
                      </m:r>
                      <m:r>
                        <a:rPr lang="en-US" altLang="zh-CN" sz="2800" b="1" i="1" dirty="0" smtClean="0">
                          <a:solidFill>
                            <a:srgbClr val="1A49EA"/>
                          </a:solidFill>
                          <a:latin typeface="Cambria Math" panose="02040503050406030204" pitchFamily="18" charset="0"/>
                        </a:rPr>
                        <m:t>×</m:t>
                      </m:r>
                      <m:r>
                        <a:rPr lang="en-US" altLang="zh-CN" sz="2800" b="1" i="1" dirty="0">
                          <a:solidFill>
                            <a:srgbClr val="1A49EA"/>
                          </a:solidFill>
                          <a:latin typeface="Cambria Math" panose="02040503050406030204" pitchFamily="18" charset="0"/>
                        </a:rPr>
                        <m:t>𝑪𝑷𝑰</m:t>
                      </m:r>
                      <m:r>
                        <a:rPr lang="en-US" altLang="zh-CN" sz="2800" b="1" i="1" dirty="0" smtClean="0">
                          <a:solidFill>
                            <a:srgbClr val="1A49EA"/>
                          </a:solidFill>
                          <a:latin typeface="Cambria Math" panose="02040503050406030204" pitchFamily="18" charset="0"/>
                        </a:rPr>
                        <m:t>×</m:t>
                      </m:r>
                      <m:r>
                        <a:rPr lang="zh-CN" altLang="en-US" sz="2800" b="1" i="1" dirty="0">
                          <a:solidFill>
                            <a:srgbClr val="1A49EA"/>
                          </a:solidFill>
                          <a:latin typeface="Cambria Math" panose="02040503050406030204" pitchFamily="18" charset="0"/>
                          <a:sym typeface="Symbol" pitchFamily="18" charset="2"/>
                        </a:rPr>
                        <m:t>时钟周期</m:t>
                      </m:r>
                    </m:oMath>
                  </m:oMathPara>
                </a14:m>
                <a:endParaRPr lang="en-US" altLang="zh-CN" sz="2800" dirty="0">
                  <a:solidFill>
                    <a:srgbClr val="1A49EA"/>
                  </a:solidFill>
                  <a:sym typeface="Symbol" pitchFamily="18" charset="2"/>
                </a:endParaRPr>
              </a:p>
              <a:p>
                <a:r>
                  <a:rPr lang="zh-CN" altLang="en-US" sz="2800" dirty="0"/>
                  <a:t>主要手段：</a:t>
                </a:r>
                <a:endParaRPr lang="en-US" altLang="zh-CN" sz="2800" dirty="0"/>
              </a:p>
              <a:p>
                <a:pPr marL="995363" lvl="1" indent="-533400">
                  <a:defRPr/>
                </a:pPr>
                <a:r>
                  <a:rPr lang="zh-CN" altLang="en-US" sz="2400" dirty="0"/>
                  <a:t>减小指令数 </a:t>
                </a:r>
                <a:endParaRPr lang="en-US" altLang="zh-CN" sz="2400" dirty="0"/>
              </a:p>
              <a:p>
                <a:pPr marL="995363" lvl="1" indent="-533400">
                  <a:defRPr/>
                </a:pPr>
                <a:r>
                  <a:rPr lang="zh-CN" altLang="en-US" sz="2400" dirty="0"/>
                  <a:t>减小时钟周期</a:t>
                </a:r>
                <a:endParaRPr lang="en-US" altLang="zh-CN" sz="2400" dirty="0"/>
              </a:p>
              <a:p>
                <a:pPr marL="995363" lvl="1" indent="-533400">
                  <a:defRPr/>
                </a:pPr>
                <a:r>
                  <a:rPr lang="zh-CN" altLang="en-US" sz="2400" dirty="0"/>
                  <a:t>减小</a:t>
                </a:r>
                <a:r>
                  <a:rPr lang="en-US" altLang="zh-CN" sz="2400" dirty="0"/>
                  <a:t>CPI </a:t>
                </a:r>
                <a:r>
                  <a:rPr lang="en-US" altLang="zh-CN" sz="2400" dirty="0">
                    <a:sym typeface="Wingdings" panose="05000000000000000000" pitchFamily="2" charset="2"/>
                  </a:rPr>
                  <a:t> </a:t>
                </a:r>
                <a:r>
                  <a:rPr lang="zh-CN" altLang="en-US" sz="2400" dirty="0">
                    <a:sym typeface="Wingdings" panose="05000000000000000000" pitchFamily="2" charset="2"/>
                  </a:rPr>
                  <a:t>指令级并行处理（同时执行多条指令）</a:t>
                </a:r>
                <a:endParaRPr lang="en-US" altLang="zh-CN" sz="2400" dirty="0">
                  <a:sym typeface="Wingdings" panose="05000000000000000000" pitchFamily="2" charset="2"/>
                </a:endParaRPr>
              </a:p>
              <a:p>
                <a:r>
                  <a:rPr lang="zh-CN" altLang="en-US" sz="2800" dirty="0"/>
                  <a:t>流水线中各段的时间应尽量</a:t>
                </a:r>
                <a:r>
                  <a:rPr lang="zh-CN" altLang="en-US" sz="2800" dirty="0">
                    <a:solidFill>
                      <a:srgbClr val="1A49EA"/>
                    </a:solidFill>
                  </a:rPr>
                  <a:t>相等</a:t>
                </a:r>
                <a:r>
                  <a:rPr lang="zh-CN" altLang="en-US" sz="2800" dirty="0"/>
                  <a:t>，为什么？</a:t>
                </a:r>
                <a:endParaRPr lang="en-US" altLang="zh-CN" sz="2800" dirty="0">
                  <a:solidFill>
                    <a:schemeClr val="accent2"/>
                  </a:solidFill>
                </a:endParaRPr>
              </a:p>
              <a:p>
                <a:pPr lvl="1"/>
                <a:r>
                  <a:rPr lang="zh-CN" altLang="en-US" sz="2400" dirty="0"/>
                  <a:t>流水线处理时间受限于</a:t>
                </a:r>
                <a:r>
                  <a:rPr lang="zh-CN" altLang="en-US" sz="2400" dirty="0">
                    <a:solidFill>
                      <a:srgbClr val="1A49EA"/>
                    </a:solidFill>
                    <a:cs typeface="+mn-cs"/>
                  </a:rPr>
                  <a:t>最慢</a:t>
                </a:r>
                <a:r>
                  <a:rPr lang="zh-CN" altLang="en-US" sz="2400" dirty="0"/>
                  <a:t>的处理资源</a:t>
                </a:r>
                <a:endParaRPr lang="en-US" altLang="zh-CN" sz="2400" dirty="0"/>
              </a:p>
              <a:p>
                <a:pPr lvl="1"/>
                <a:endParaRPr lang="en-US" altLang="zh-CN" sz="2400" dirty="0"/>
              </a:p>
            </p:txBody>
          </p:sp>
        </mc:Choice>
        <mc:Fallback xmlns="">
          <p:sp>
            <p:nvSpPr>
              <p:cNvPr id="3" name="内容占位符 2">
                <a:extLst>
                  <a:ext uri="{FF2B5EF4-FFF2-40B4-BE49-F238E27FC236}">
                    <a16:creationId xmlns:a16="http://schemas.microsoft.com/office/drawing/2014/main" id="{24FF24B6-71C5-446A-8B4A-A26491DBBEFB}"/>
                  </a:ext>
                </a:extLst>
              </p:cNvPr>
              <p:cNvSpPr>
                <a:spLocks noGrp="1" noRot="1" noChangeAspect="1" noMove="1" noResize="1" noEditPoints="1" noAdjustHandles="1" noChangeArrowheads="1" noChangeShapeType="1" noTextEdit="1"/>
              </p:cNvSpPr>
              <p:nvPr>
                <p:ph idx="1"/>
              </p:nvPr>
            </p:nvSpPr>
            <p:spPr>
              <a:xfrm>
                <a:off x="457200" y="1494636"/>
                <a:ext cx="8229600" cy="5248428"/>
              </a:xfrm>
              <a:blipFill>
                <a:blip r:embed="rId3"/>
                <a:stretch>
                  <a:fillRect l="-1389" t="-1449" r="-478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1A5C22F-A1D5-4E01-90AB-8F9891779907}"/>
              </a:ext>
            </a:extLst>
          </p:cNvPr>
          <p:cNvSpPr>
            <a:spLocks noGrp="1"/>
          </p:cNvSpPr>
          <p:nvPr>
            <p:ph type="sldNum" sz="quarter" idx="12"/>
          </p:nvPr>
        </p:nvSpPr>
        <p:spPr/>
        <p:txBody>
          <a:bodyPr/>
          <a:lstStyle/>
          <a:p>
            <a:fld id="{0626FCE3-5FF9-430D-BA0B-DE80AAE71673}" type="slidenum">
              <a:rPr lang="zh-CN" altLang="en-US" smtClean="0"/>
              <a:t>27</a:t>
            </a:fld>
            <a:endParaRPr lang="zh-CN" altLang="en-US"/>
          </a:p>
        </p:txBody>
      </p:sp>
    </p:spTree>
    <p:extLst>
      <p:ext uri="{BB962C8B-B14F-4D97-AF65-F5344CB8AC3E}">
        <p14:creationId xmlns:p14="http://schemas.microsoft.com/office/powerpoint/2010/main" val="2191269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71E93-7966-44EB-9B8F-192C4CF07770}"/>
              </a:ext>
            </a:extLst>
          </p:cNvPr>
          <p:cNvSpPr>
            <a:spLocks noGrp="1"/>
          </p:cNvSpPr>
          <p:nvPr>
            <p:ph type="title"/>
          </p:nvPr>
        </p:nvSpPr>
        <p:spPr/>
        <p:txBody>
          <a:bodyPr/>
          <a:lstStyle/>
          <a:p>
            <a:r>
              <a:rPr lang="zh-CN" altLang="en-US" dirty="0"/>
              <a:t>流水线的性能</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6620BDD-5493-410A-BF4C-9BB20B744F54}"/>
                  </a:ext>
                </a:extLst>
              </p:cNvPr>
              <p:cNvSpPr>
                <a:spLocks noGrp="1"/>
              </p:cNvSpPr>
              <p:nvPr>
                <p:ph idx="1"/>
              </p:nvPr>
            </p:nvSpPr>
            <p:spPr>
              <a:xfrm>
                <a:off x="457200" y="1437486"/>
                <a:ext cx="8229600" cy="5079205"/>
              </a:xfrm>
            </p:spPr>
            <p:txBody>
              <a:bodyPr/>
              <a:lstStyle/>
              <a:p>
                <a:r>
                  <a:rPr lang="zh-CN" altLang="en-US" sz="2800" dirty="0"/>
                  <a:t>吞吐率（</a:t>
                </a:r>
                <a:r>
                  <a:rPr lang="en" altLang="zh-CN" sz="2800" dirty="0"/>
                  <a:t>Throughput, TP</a:t>
                </a:r>
                <a:r>
                  <a:rPr lang="zh-CN" altLang="en-US" sz="2800" dirty="0"/>
                  <a:t>）</a:t>
                </a:r>
                <a:endParaRPr lang="en-US" altLang="zh-CN" sz="2800" dirty="0"/>
              </a:p>
              <a:p>
                <a:pPr lvl="1"/>
                <a:r>
                  <a:rPr lang="zh-CN" altLang="en-US" sz="2400" dirty="0"/>
                  <a:t>单位时间内流水线处理的指令数</a:t>
                </a:r>
                <a:endParaRPr lang="en-US" altLang="zh-CN" sz="2400" dirty="0"/>
              </a:p>
              <a:p>
                <a:pPr lvl="2"/>
                <a:r>
                  <a:rPr lang="zh-CN" altLang="en-US" sz="2000" dirty="0"/>
                  <a:t>指令数为</a:t>
                </a:r>
                <a:r>
                  <a:rPr lang="en-US" altLang="zh-CN" sz="2000" dirty="0"/>
                  <a:t>n</a:t>
                </a:r>
                <a:r>
                  <a:rPr lang="zh-CN" altLang="en-US" sz="2000" dirty="0"/>
                  <a:t>，</a:t>
                </a:r>
                <a:r>
                  <a:rPr lang="en-US" altLang="zh-CN" sz="2000" dirty="0"/>
                  <a:t>T</a:t>
                </a:r>
                <a:r>
                  <a:rPr lang="en-US" altLang="zh-CN" sz="2000" baseline="-25000" dirty="0"/>
                  <a:t>k</a:t>
                </a:r>
                <a:r>
                  <a:rPr lang="zh-CN" altLang="en-US" sz="2000" dirty="0"/>
                  <a:t>为</a:t>
                </a:r>
                <a:r>
                  <a:rPr lang="en-US" altLang="zh-CN" sz="2000" dirty="0"/>
                  <a:t>k</a:t>
                </a:r>
                <a:r>
                  <a:rPr lang="zh-CN" altLang="en-US" sz="2000" dirty="0"/>
                  <a:t>级流水线处理</a:t>
                </a:r>
                <a:r>
                  <a:rPr lang="en-US" altLang="zh-CN" sz="2000" dirty="0"/>
                  <a:t>n</a:t>
                </a:r>
                <a:r>
                  <a:rPr lang="zh-CN" altLang="en-US" sz="2000" dirty="0"/>
                  <a:t>条指令所用的时间</a:t>
                </a:r>
                <a:endParaRPr lang="en-US" altLang="zh-CN" sz="2000" dirty="0"/>
              </a:p>
              <a:p>
                <a:pPr marL="342900" lvl="1" indent="0" algn="ctr">
                  <a:buNone/>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𝑻𝑷</m:t>
                      </m:r>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𝒏</m:t>
                          </m:r>
                        </m:num>
                        <m:den>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𝑻</m:t>
                              </m:r>
                            </m:e>
                            <m:sub>
                              <m:r>
                                <a:rPr lang="en-US" altLang="zh-CN" sz="2400" b="1" i="1" smtClean="0">
                                  <a:latin typeface="Cambria Math" panose="02040503050406030204" pitchFamily="18" charset="0"/>
                                </a:rPr>
                                <m:t>𝒌</m:t>
                              </m:r>
                            </m:sub>
                          </m:sSub>
                        </m:den>
                      </m:f>
                    </m:oMath>
                  </m:oMathPara>
                </a14:m>
                <a:endParaRPr lang="en-US" altLang="zh-CN" sz="2400" dirty="0"/>
              </a:p>
              <a:p>
                <a:r>
                  <a:rPr lang="zh-CN" altLang="en-US" sz="2800" dirty="0"/>
                  <a:t>最大吞吐率</a:t>
                </a:r>
              </a:p>
              <a:p>
                <a:pPr lvl="1"/>
                <a:r>
                  <a:rPr lang="zh-CN" altLang="en-US" sz="2400" dirty="0"/>
                  <a:t>在连续指令流输入下流水线达到稳态后的吞吐率</a:t>
                </a:r>
              </a:p>
              <a:p>
                <a:r>
                  <a:rPr lang="zh-CN" altLang="en-US" sz="2800" dirty="0"/>
                  <a:t>实际吞吐率</a:t>
                </a:r>
              </a:p>
              <a:p>
                <a:pPr lvl="1"/>
                <a:r>
                  <a:rPr lang="zh-CN" altLang="en-US" sz="2400" dirty="0"/>
                  <a:t>运行有限任务实际能达到的吞吐率</a:t>
                </a:r>
              </a:p>
              <a:p>
                <a:pPr lvl="1"/>
                <a:endParaRPr lang="en-US" altLang="zh-CN" sz="2400" dirty="0"/>
              </a:p>
            </p:txBody>
          </p:sp>
        </mc:Choice>
        <mc:Fallback xmlns="">
          <p:sp>
            <p:nvSpPr>
              <p:cNvPr id="3" name="内容占位符 2">
                <a:extLst>
                  <a:ext uri="{FF2B5EF4-FFF2-40B4-BE49-F238E27FC236}">
                    <a16:creationId xmlns:a16="http://schemas.microsoft.com/office/drawing/2014/main" id="{A6620BDD-5493-410A-BF4C-9BB20B744F54}"/>
                  </a:ext>
                </a:extLst>
              </p:cNvPr>
              <p:cNvSpPr>
                <a:spLocks noGrp="1" noRot="1" noChangeAspect="1" noMove="1" noResize="1" noEditPoints="1" noAdjustHandles="1" noChangeArrowheads="1" noChangeShapeType="1" noTextEdit="1"/>
              </p:cNvSpPr>
              <p:nvPr>
                <p:ph idx="1"/>
              </p:nvPr>
            </p:nvSpPr>
            <p:spPr>
              <a:xfrm>
                <a:off x="457200" y="1437486"/>
                <a:ext cx="8229600" cy="5079205"/>
              </a:xfrm>
              <a:blipFill>
                <a:blip r:embed="rId2"/>
                <a:stretch>
                  <a:fillRect l="-1389" t="-1496"/>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A3737203-B5E5-4181-95ED-0404AF9FFCB4}"/>
              </a:ext>
            </a:extLst>
          </p:cNvPr>
          <p:cNvSpPr>
            <a:spLocks noGrp="1"/>
          </p:cNvSpPr>
          <p:nvPr>
            <p:ph type="sldNum" sz="quarter" idx="12"/>
          </p:nvPr>
        </p:nvSpPr>
        <p:spPr/>
        <p:txBody>
          <a:bodyPr/>
          <a:lstStyle/>
          <a:p>
            <a:fld id="{0626FCE3-5FF9-430D-BA0B-DE80AAE71673}" type="slidenum">
              <a:rPr lang="zh-CN" altLang="en-US" smtClean="0"/>
              <a:t>28</a:t>
            </a:fld>
            <a:endParaRPr lang="zh-CN" altLang="en-US"/>
          </a:p>
        </p:txBody>
      </p:sp>
    </p:spTree>
    <p:extLst>
      <p:ext uri="{BB962C8B-B14F-4D97-AF65-F5344CB8AC3E}">
        <p14:creationId xmlns:p14="http://schemas.microsoft.com/office/powerpoint/2010/main" val="1861425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6F668-CB12-459D-A95F-078986473532}"/>
              </a:ext>
            </a:extLst>
          </p:cNvPr>
          <p:cNvSpPr>
            <a:spLocks noGrp="1"/>
          </p:cNvSpPr>
          <p:nvPr>
            <p:ph type="title"/>
          </p:nvPr>
        </p:nvSpPr>
        <p:spPr/>
        <p:txBody>
          <a:bodyPr/>
          <a:lstStyle/>
          <a:p>
            <a:r>
              <a:rPr lang="zh-CN" altLang="en-US" dirty="0"/>
              <a:t>流水线的性能</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5BF458A-3CDB-44FD-9CD0-01EF2E65CE3F}"/>
                  </a:ext>
                </a:extLst>
              </p:cNvPr>
              <p:cNvSpPr>
                <a:spLocks noGrp="1"/>
              </p:cNvSpPr>
              <p:nvPr>
                <p:ph idx="1"/>
              </p:nvPr>
            </p:nvSpPr>
            <p:spPr>
              <a:xfrm>
                <a:off x="457200" y="1351758"/>
                <a:ext cx="8458200" cy="5452785"/>
              </a:xfrm>
            </p:spPr>
            <p:txBody>
              <a:bodyPr/>
              <a:lstStyle/>
              <a:p>
                <a:r>
                  <a:rPr lang="zh-CN" altLang="en-US" sz="2800" dirty="0"/>
                  <a:t>加速比（</a:t>
                </a:r>
                <a:r>
                  <a:rPr lang="en-US" altLang="zh-CN" sz="2800" dirty="0"/>
                  <a:t>speedup</a:t>
                </a:r>
                <a:r>
                  <a:rPr lang="zh-CN" altLang="en-US" sz="2800" dirty="0"/>
                  <a:t>）</a:t>
                </a:r>
                <a:endParaRPr lang="en-US" altLang="zh-CN" sz="2800" dirty="0"/>
              </a:p>
              <a:p>
                <a:pPr lvl="1"/>
                <a:r>
                  <a:rPr lang="zh-CN" altLang="en-US" sz="2400" dirty="0"/>
                  <a:t>不使用流水线所用的</a:t>
                </a:r>
                <a:r>
                  <a:rPr lang="zh-CN" altLang="en-US" sz="2400" dirty="0">
                    <a:solidFill>
                      <a:srgbClr val="1A49EA"/>
                    </a:solidFill>
                  </a:rPr>
                  <a:t>时间</a:t>
                </a:r>
                <a:r>
                  <a:rPr lang="zh-CN" altLang="en-US" sz="2400" dirty="0"/>
                  <a:t>，与使用流水线所用的</a:t>
                </a:r>
                <a:r>
                  <a:rPr lang="zh-CN" altLang="en-US" sz="2400" dirty="0">
                    <a:solidFill>
                      <a:srgbClr val="1A49EA"/>
                    </a:solidFill>
                  </a:rPr>
                  <a:t>时间</a:t>
                </a:r>
                <a:r>
                  <a:rPr lang="zh-CN" altLang="en-US" sz="2400" dirty="0"/>
                  <a:t>的比值。处理</a:t>
                </a:r>
                <a:r>
                  <a:rPr lang="en-US" altLang="zh-CN" sz="2400" dirty="0"/>
                  <a:t>n</a:t>
                </a:r>
                <a:r>
                  <a:rPr lang="zh-CN" altLang="en-US" sz="2400" dirty="0"/>
                  <a:t>条指令，</a:t>
                </a:r>
                <a:r>
                  <a:rPr lang="en-US" altLang="zh-CN" sz="2400" dirty="0"/>
                  <a:t>T</a:t>
                </a:r>
                <a:r>
                  <a:rPr lang="en-US" altLang="zh-CN" sz="2400" baseline="-25000" dirty="0"/>
                  <a:t>0</a:t>
                </a:r>
                <a:r>
                  <a:rPr lang="zh-CN" altLang="en-US" sz="2400" dirty="0"/>
                  <a:t>为不使用流水线所用的时间，</a:t>
                </a:r>
                <a:r>
                  <a:rPr lang="en-US" altLang="zh-CN" sz="2400" dirty="0"/>
                  <a:t>T</a:t>
                </a:r>
                <a:r>
                  <a:rPr lang="en-US" altLang="zh-CN" sz="2400" baseline="-25000" dirty="0"/>
                  <a:t>k</a:t>
                </a:r>
                <a:r>
                  <a:rPr lang="zh-CN" altLang="en-US" sz="2400" dirty="0"/>
                  <a:t>为使用</a:t>
                </a:r>
                <a:r>
                  <a:rPr lang="en-US" altLang="zh-CN" sz="2400" dirty="0"/>
                  <a:t>k</a:t>
                </a:r>
                <a:r>
                  <a:rPr lang="zh-CN" altLang="en-US" sz="2400" dirty="0"/>
                  <a:t>级流水线所用的时间（假设每一段操作所用时间相同）</a:t>
                </a:r>
                <a:endParaRPr lang="en-US" altLang="zh-CN" sz="2400" dirty="0"/>
              </a:p>
              <a:p>
                <a:pPr marL="342900" lvl="1" indent="0" algn="ctr">
                  <a:buNone/>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𝑺</m:t>
                      </m:r>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𝑻</m:t>
                              </m:r>
                            </m:e>
                            <m:sub>
                              <m:r>
                                <a:rPr lang="en-US" altLang="zh-CN" sz="2400" b="1" i="1" smtClean="0">
                                  <a:latin typeface="Cambria Math" panose="02040503050406030204" pitchFamily="18" charset="0"/>
                                </a:rPr>
                                <m:t>𝟎</m:t>
                              </m:r>
                            </m:sub>
                          </m:sSub>
                        </m:num>
                        <m:den>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𝑻</m:t>
                              </m:r>
                            </m:e>
                            <m:sub>
                              <m:r>
                                <a:rPr lang="en-US" altLang="zh-CN" sz="2400" b="1" i="1" smtClean="0">
                                  <a:latin typeface="Cambria Math" panose="02040503050406030204" pitchFamily="18" charset="0"/>
                                </a:rPr>
                                <m:t>𝒌</m:t>
                              </m:r>
                            </m:sub>
                          </m:sSub>
                        </m:den>
                      </m:f>
                    </m:oMath>
                  </m:oMathPara>
                </a14:m>
                <a:endParaRPr lang="en-US" altLang="zh-CN" sz="2400" dirty="0"/>
              </a:p>
              <a:p>
                <a:pPr lvl="1"/>
                <a:r>
                  <a:rPr lang="zh-CN" altLang="en-US" sz="2400" dirty="0"/>
                  <a:t>实际加速比：</a:t>
                </a:r>
                <a:endParaRPr lang="en-US" altLang="zh-CN" sz="2400" dirty="0"/>
              </a:p>
              <a:p>
                <a:pPr marL="342900" lvl="1" indent="0" algn="ctr">
                  <a:buNone/>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𝑺</m:t>
                      </m:r>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solidFill>
                                <a:schemeClr val="tx1"/>
                              </a:solidFill>
                              <a:latin typeface="Cambria Math" panose="02040503050406030204" pitchFamily="18" charset="0"/>
                            </a:rPr>
                            <m:t>𝒏</m:t>
                          </m:r>
                          <m:r>
                            <a:rPr lang="en-US" altLang="zh-CN" sz="2400" i="1" smtClean="0">
                              <a:solidFill>
                                <a:schemeClr val="tx1"/>
                              </a:solidFill>
                              <a:latin typeface="Cambria Math" panose="02040503050406030204" pitchFamily="18" charset="0"/>
                            </a:rPr>
                            <m:t>𝒌</m:t>
                          </m:r>
                          <m:r>
                            <a:rPr lang="en-US" altLang="zh-CN" sz="2400" b="1" i="0" smtClean="0">
                              <a:solidFill>
                                <a:schemeClr val="tx1"/>
                              </a:solidFill>
                              <a:latin typeface="Cambria Math" panose="02040503050406030204" pitchFamily="18" charset="0"/>
                            </a:rPr>
                            <m:t>𝚫</m:t>
                          </m:r>
                          <m:r>
                            <a:rPr lang="en-US" altLang="zh-CN" sz="2400" b="1" i="0" smtClean="0">
                              <a:solidFill>
                                <a:schemeClr val="tx1"/>
                              </a:solidFill>
                              <a:latin typeface="Cambria Math" panose="02040503050406030204" pitchFamily="18" charset="0"/>
                            </a:rPr>
                            <m:t>𝐭</m:t>
                          </m:r>
                        </m:num>
                        <m:den>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𝒌</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e>
                          </m:d>
                          <m:r>
                            <a:rPr lang="en-US" altLang="zh-CN" sz="2400" b="1" i="0" smtClean="0">
                              <a:latin typeface="Cambria Math" panose="02040503050406030204" pitchFamily="18" charset="0"/>
                            </a:rPr>
                            <m:t>𝚫</m:t>
                          </m:r>
                          <m:r>
                            <a:rPr lang="en-US" altLang="zh-CN" sz="2400" b="1" i="0" smtClean="0">
                              <a:latin typeface="Cambria Math" panose="02040503050406030204" pitchFamily="18" charset="0"/>
                            </a:rPr>
                            <m:t>𝐭</m:t>
                          </m:r>
                        </m:den>
                      </m:f>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𝒌𝒏</m:t>
                          </m:r>
                        </m:num>
                        <m:den>
                          <m:r>
                            <a:rPr lang="en-US" altLang="zh-CN" sz="2400" b="1" i="1" smtClean="0">
                              <a:latin typeface="Cambria Math" panose="02040503050406030204" pitchFamily="18" charset="0"/>
                            </a:rPr>
                            <m:t>𝒌</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den>
                      </m:f>
                    </m:oMath>
                  </m:oMathPara>
                </a14:m>
                <a:endParaRPr lang="en-US" altLang="zh-CN" sz="2400" dirty="0"/>
              </a:p>
              <a:p>
                <a:pPr lvl="1"/>
                <a:r>
                  <a:rPr lang="zh-CN" altLang="en-US" sz="2400" dirty="0"/>
                  <a:t>最大加速比：</a:t>
                </a:r>
                <a:endParaRPr lang="en-US" altLang="zh-CN" sz="2400" dirty="0"/>
              </a:p>
              <a:p>
                <a:pPr marL="342900" lvl="1" indent="0" algn="ctr">
                  <a:buNone/>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𝑺</m:t>
                          </m:r>
                        </m:e>
                        <m:sub>
                          <m:r>
                            <a:rPr lang="en-US" altLang="zh-CN" sz="2400" b="1" i="1" smtClean="0">
                              <a:latin typeface="Cambria Math" panose="02040503050406030204" pitchFamily="18" charset="0"/>
                            </a:rPr>
                            <m:t>𝒎𝒂𝒙</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𝒍𝒊</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𝒎</m:t>
                          </m:r>
                        </m:e>
                        <m:sub>
                          <m:r>
                            <a:rPr lang="en-US" altLang="zh-CN" sz="2400" b="1" i="1" smtClean="0">
                              <a:latin typeface="Cambria Math" panose="02040503050406030204" pitchFamily="18" charset="0"/>
                            </a:rPr>
                            <m:t>𝒏</m:t>
                          </m:r>
                          <m:r>
                            <a:rPr lang="en-US" altLang="zh-CN" sz="2400" b="1" i="1" smtClean="0">
                              <a:latin typeface="Cambria Math" panose="02040503050406030204" pitchFamily="18" charset="0"/>
                            </a:rPr>
                            <m:t>→∞</m:t>
                          </m:r>
                        </m:sub>
                      </m:sSub>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𝒌𝒏</m:t>
                          </m:r>
                        </m:num>
                        <m:den>
                          <m:r>
                            <a:rPr lang="en-US" altLang="zh-CN" sz="2400" b="1" i="1" smtClean="0">
                              <a:latin typeface="Cambria Math" panose="02040503050406030204" pitchFamily="18" charset="0"/>
                            </a:rPr>
                            <m:t>𝒌</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den>
                      </m:f>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𝒌</m:t>
                      </m:r>
                    </m:oMath>
                  </m:oMathPara>
                </a14:m>
                <a:endParaRPr lang="en-US" altLang="zh-CN" sz="2400" dirty="0"/>
              </a:p>
            </p:txBody>
          </p:sp>
        </mc:Choice>
        <mc:Fallback xmlns="">
          <p:sp>
            <p:nvSpPr>
              <p:cNvPr id="3" name="内容占位符 2">
                <a:extLst>
                  <a:ext uri="{FF2B5EF4-FFF2-40B4-BE49-F238E27FC236}">
                    <a16:creationId xmlns:a16="http://schemas.microsoft.com/office/drawing/2014/main" id="{65BF458A-3CDB-44FD-9CD0-01EF2E65CE3F}"/>
                  </a:ext>
                </a:extLst>
              </p:cNvPr>
              <p:cNvSpPr>
                <a:spLocks noGrp="1" noRot="1" noChangeAspect="1" noMove="1" noResize="1" noEditPoints="1" noAdjustHandles="1" noChangeArrowheads="1" noChangeShapeType="1" noTextEdit="1"/>
              </p:cNvSpPr>
              <p:nvPr>
                <p:ph idx="1"/>
              </p:nvPr>
            </p:nvSpPr>
            <p:spPr>
              <a:xfrm>
                <a:off x="457200" y="1351758"/>
                <a:ext cx="8458200" cy="5452785"/>
              </a:xfrm>
              <a:blipFill>
                <a:blip r:embed="rId3"/>
                <a:stretch>
                  <a:fillRect l="-1349" t="-1395" r="-300"/>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9E7C7E06-D71E-423C-B051-D75EFA407B6F}"/>
              </a:ext>
            </a:extLst>
          </p:cNvPr>
          <p:cNvSpPr>
            <a:spLocks noGrp="1"/>
          </p:cNvSpPr>
          <p:nvPr>
            <p:ph type="sldNum" sz="quarter" idx="12"/>
          </p:nvPr>
        </p:nvSpPr>
        <p:spPr/>
        <p:txBody>
          <a:bodyPr/>
          <a:lstStyle/>
          <a:p>
            <a:fld id="{0626FCE3-5FF9-430D-BA0B-DE80AAE71673}" type="slidenum">
              <a:rPr lang="zh-CN" altLang="en-US" smtClean="0"/>
              <a:t>29</a:t>
            </a:fld>
            <a:endParaRPr lang="zh-CN" altLang="en-US"/>
          </a:p>
        </p:txBody>
      </p:sp>
    </p:spTree>
    <p:extLst>
      <p:ext uri="{BB962C8B-B14F-4D97-AF65-F5344CB8AC3E}">
        <p14:creationId xmlns:p14="http://schemas.microsoft.com/office/powerpoint/2010/main" val="643243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5E18D-C431-4818-AC25-F1722391DD8E}"/>
              </a:ext>
            </a:extLst>
          </p:cNvPr>
          <p:cNvSpPr>
            <a:spLocks noGrp="1"/>
          </p:cNvSpPr>
          <p:nvPr>
            <p:ph type="title"/>
          </p:nvPr>
        </p:nvSpPr>
        <p:spPr/>
        <p:txBody>
          <a:bodyPr/>
          <a:lstStyle/>
          <a:p>
            <a:r>
              <a:rPr lang="zh-CN" altLang="en-US" dirty="0"/>
              <a:t>流水线的数据通路</a:t>
            </a:r>
          </a:p>
        </p:txBody>
      </p:sp>
      <p:sp>
        <p:nvSpPr>
          <p:cNvPr id="3" name="内容占位符 2">
            <a:extLst>
              <a:ext uri="{FF2B5EF4-FFF2-40B4-BE49-F238E27FC236}">
                <a16:creationId xmlns:a16="http://schemas.microsoft.com/office/drawing/2014/main" id="{D2197611-8AB4-4206-94F2-660991C857D0}"/>
              </a:ext>
            </a:extLst>
          </p:cNvPr>
          <p:cNvSpPr>
            <a:spLocks noGrp="1"/>
          </p:cNvSpPr>
          <p:nvPr>
            <p:ph idx="1"/>
          </p:nvPr>
        </p:nvSpPr>
        <p:spPr>
          <a:xfrm>
            <a:off x="457200" y="1294610"/>
            <a:ext cx="8429622" cy="4525963"/>
          </a:xfrm>
        </p:spPr>
        <p:txBody>
          <a:bodyPr/>
          <a:lstStyle/>
          <a:p>
            <a:r>
              <a:rPr lang="zh-CN" altLang="en-US" sz="2400" dirty="0"/>
              <a:t>目标：流水线的</a:t>
            </a:r>
            <a:r>
              <a:rPr lang="en-US" altLang="zh-CN" sz="2400" dirty="0"/>
              <a:t>CPI</a:t>
            </a:r>
            <a:r>
              <a:rPr lang="zh-CN" altLang="en-US" sz="2400" dirty="0"/>
              <a:t>下限是</a:t>
            </a:r>
            <a:r>
              <a:rPr lang="en-US" altLang="zh-CN" sz="2400" dirty="0"/>
              <a:t>1</a:t>
            </a:r>
            <a:r>
              <a:rPr lang="zh-CN" altLang="en-US" sz="2400" dirty="0"/>
              <a:t>，希望能够达到“几乎”</a:t>
            </a:r>
            <a:r>
              <a:rPr lang="en-US" altLang="zh-CN" sz="2400" dirty="0"/>
              <a:t>1.0</a:t>
            </a:r>
            <a:r>
              <a:rPr lang="zh-CN" altLang="en-US" sz="2400" dirty="0"/>
              <a:t>的</a:t>
            </a:r>
            <a:r>
              <a:rPr lang="en-US" altLang="zh-CN" sz="2400" dirty="0"/>
              <a:t>CPI</a:t>
            </a:r>
            <a:r>
              <a:rPr lang="zh-CN" altLang="en-US" sz="2400" dirty="0"/>
              <a:t>和更高的时钟频率</a:t>
            </a:r>
            <a:endParaRPr lang="en-US" altLang="zh-CN" sz="2400" dirty="0"/>
          </a:p>
          <a:p>
            <a:r>
              <a:rPr lang="zh-CN" altLang="en-US" sz="2400" dirty="0"/>
              <a:t>方法：在多周期基础上，将处理器变为多级流水线</a:t>
            </a:r>
            <a:endParaRPr lang="en-US" altLang="zh-CN" sz="2400" dirty="0"/>
          </a:p>
          <a:p>
            <a:pPr lvl="1"/>
            <a:r>
              <a:rPr lang="en-US" altLang="zh-CN" sz="2000" dirty="0">
                <a:solidFill>
                  <a:srgbClr val="1A49EA"/>
                </a:solidFill>
              </a:rPr>
              <a:t>Instruction Fetch (IF)</a:t>
            </a:r>
            <a:r>
              <a:rPr kumimoji="1" lang="en-US" altLang="zh-CN" sz="2000" dirty="0"/>
              <a:t>——</a:t>
            </a:r>
            <a:r>
              <a:rPr kumimoji="1" lang="zh-CN" altLang="en-US" sz="2000" dirty="0"/>
              <a:t>计算</a:t>
            </a:r>
            <a:r>
              <a:rPr kumimoji="1" lang="en-US" altLang="zh-CN" sz="2000" dirty="0"/>
              <a:t>PC</a:t>
            </a:r>
            <a:r>
              <a:rPr kumimoji="1" lang="zh-CN" altLang="en-US" sz="2000" dirty="0"/>
              <a:t>，每周期取一条指令</a:t>
            </a:r>
            <a:endParaRPr kumimoji="1" lang="en-US" altLang="zh-CN" sz="2000" dirty="0"/>
          </a:p>
          <a:p>
            <a:pPr lvl="1"/>
            <a:r>
              <a:rPr lang="en-US" altLang="zh-CN" sz="2000" dirty="0">
                <a:solidFill>
                  <a:srgbClr val="1A49EA"/>
                </a:solidFill>
              </a:rPr>
              <a:t>Instruction Decode / Register File (ID/RF)</a:t>
            </a:r>
            <a:r>
              <a:rPr kumimoji="1" lang="en-US" altLang="zh-CN" sz="2000" dirty="0"/>
              <a:t>——</a:t>
            </a:r>
            <a:r>
              <a:rPr kumimoji="1" lang="zh-CN" altLang="en-US" sz="2000" dirty="0"/>
              <a:t>指令译码并从寄存器堆</a:t>
            </a:r>
            <a:r>
              <a:rPr kumimoji="1" lang="en-US" altLang="zh-CN" sz="2000" dirty="0"/>
              <a:t>RF</a:t>
            </a:r>
            <a:r>
              <a:rPr kumimoji="1" lang="zh-CN" altLang="en-US" sz="2000" dirty="0"/>
              <a:t>中读取操作数</a:t>
            </a:r>
            <a:endParaRPr kumimoji="1" lang="en-US" altLang="zh-CN" sz="2000" dirty="0"/>
          </a:p>
          <a:p>
            <a:pPr lvl="1"/>
            <a:r>
              <a:rPr lang="en-US" altLang="zh-CN" sz="2000" dirty="0">
                <a:solidFill>
                  <a:srgbClr val="1A49EA"/>
                </a:solidFill>
              </a:rPr>
              <a:t>ALU Execution (EX)</a:t>
            </a:r>
            <a:r>
              <a:rPr kumimoji="1" lang="en-US" altLang="zh-CN" sz="2000" dirty="0"/>
              <a:t>——</a:t>
            </a:r>
            <a:r>
              <a:rPr kumimoji="1" lang="zh-CN" altLang="en-US" sz="2000" dirty="0"/>
              <a:t>执行指定的运算</a:t>
            </a:r>
            <a:endParaRPr kumimoji="1" lang="en-US" altLang="zh-CN" sz="2000" dirty="0"/>
          </a:p>
          <a:p>
            <a:pPr lvl="1"/>
            <a:r>
              <a:rPr lang="en-US" altLang="zh-CN" sz="2000" dirty="0">
                <a:solidFill>
                  <a:srgbClr val="1A49EA"/>
                </a:solidFill>
              </a:rPr>
              <a:t>Memory Data Access (MEM)</a:t>
            </a:r>
            <a:r>
              <a:rPr kumimoji="1" lang="en-US" altLang="zh-CN" sz="2000" dirty="0"/>
              <a:t>——</a:t>
            </a:r>
            <a:r>
              <a:rPr kumimoji="1" lang="zh-CN" altLang="en-US" sz="2000" dirty="0"/>
              <a:t>访问存储器</a:t>
            </a:r>
            <a:r>
              <a:rPr kumimoji="1" lang="en-US" altLang="zh-CN" sz="2000" dirty="0"/>
              <a:t>(I-type load store</a:t>
            </a:r>
            <a:r>
              <a:rPr kumimoji="1" lang="zh-CN" altLang="en-US" sz="2000" dirty="0"/>
              <a:t>等</a:t>
            </a:r>
            <a:r>
              <a:rPr kumimoji="1" lang="en-US" altLang="zh-CN" sz="2000" dirty="0"/>
              <a:t>)</a:t>
            </a:r>
          </a:p>
          <a:p>
            <a:pPr lvl="1"/>
            <a:r>
              <a:rPr lang="en-US" altLang="zh-CN" sz="2000" dirty="0">
                <a:solidFill>
                  <a:srgbClr val="1A49EA"/>
                </a:solidFill>
              </a:rPr>
              <a:t>Register Write-Back (WB)</a:t>
            </a:r>
            <a:r>
              <a:rPr kumimoji="1" lang="en-US" altLang="zh-CN" sz="2000" dirty="0"/>
              <a:t>——</a:t>
            </a:r>
            <a:r>
              <a:rPr kumimoji="1" lang="zh-CN" altLang="en-US" sz="2000" dirty="0"/>
              <a:t>将结果写回寄存器中</a:t>
            </a:r>
            <a:endParaRPr lang="zh-CN" altLang="en-US" sz="2000" dirty="0"/>
          </a:p>
        </p:txBody>
      </p:sp>
      <p:sp>
        <p:nvSpPr>
          <p:cNvPr id="23" name="灯片编号占位符 22">
            <a:extLst>
              <a:ext uri="{FF2B5EF4-FFF2-40B4-BE49-F238E27FC236}">
                <a16:creationId xmlns:a16="http://schemas.microsoft.com/office/drawing/2014/main" id="{F894CB36-BF1A-4C56-AB56-428C89F22A5F}"/>
              </a:ext>
            </a:extLst>
          </p:cNvPr>
          <p:cNvSpPr>
            <a:spLocks noGrp="1"/>
          </p:cNvSpPr>
          <p:nvPr>
            <p:ph type="sldNum" sz="quarter" idx="12"/>
          </p:nvPr>
        </p:nvSpPr>
        <p:spPr/>
        <p:txBody>
          <a:bodyPr/>
          <a:lstStyle/>
          <a:p>
            <a:fld id="{0626FCE3-5FF9-430D-BA0B-DE80AAE71673}" type="slidenum">
              <a:rPr lang="zh-CN" altLang="en-US" smtClean="0"/>
              <a:t>30</a:t>
            </a:fld>
            <a:endParaRPr lang="zh-CN" altLang="en-US"/>
          </a:p>
        </p:txBody>
      </p:sp>
      <p:pic>
        <p:nvPicPr>
          <p:cNvPr id="4" name="图片 3">
            <a:extLst>
              <a:ext uri="{FF2B5EF4-FFF2-40B4-BE49-F238E27FC236}">
                <a16:creationId xmlns:a16="http://schemas.microsoft.com/office/drawing/2014/main" id="{9A326523-4F33-F8D6-01D3-037228AD26A2}"/>
              </a:ext>
            </a:extLst>
          </p:cNvPr>
          <p:cNvPicPr>
            <a:picLocks noChangeAspect="1"/>
          </p:cNvPicPr>
          <p:nvPr/>
        </p:nvPicPr>
        <p:blipFill>
          <a:blip r:embed="rId3"/>
          <a:stretch>
            <a:fillRect/>
          </a:stretch>
        </p:blipFill>
        <p:spPr>
          <a:xfrm>
            <a:off x="2424557" y="4675481"/>
            <a:ext cx="4380614" cy="1845970"/>
          </a:xfrm>
          <a:prstGeom prst="rect">
            <a:avLst/>
          </a:prstGeom>
        </p:spPr>
      </p:pic>
      <p:cxnSp>
        <p:nvCxnSpPr>
          <p:cNvPr id="5" name="直接连接符 4">
            <a:extLst>
              <a:ext uri="{FF2B5EF4-FFF2-40B4-BE49-F238E27FC236}">
                <a16:creationId xmlns:a16="http://schemas.microsoft.com/office/drawing/2014/main" id="{95942685-2143-E968-5462-124C81FB4A91}"/>
              </a:ext>
            </a:extLst>
          </p:cNvPr>
          <p:cNvCxnSpPr>
            <a:cxnSpLocks/>
          </p:cNvCxnSpPr>
          <p:nvPr/>
        </p:nvCxnSpPr>
        <p:spPr>
          <a:xfrm>
            <a:off x="3260587" y="5039070"/>
            <a:ext cx="0" cy="1332000"/>
          </a:xfrm>
          <a:prstGeom prst="line">
            <a:avLst/>
          </a:prstGeom>
          <a:ln w="57150">
            <a:solidFill>
              <a:srgbClr val="1A49EA"/>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EB68A018-6336-4BAC-2E9B-B89143C383CE}"/>
              </a:ext>
            </a:extLst>
          </p:cNvPr>
          <p:cNvCxnSpPr>
            <a:cxnSpLocks/>
          </p:cNvCxnSpPr>
          <p:nvPr/>
        </p:nvCxnSpPr>
        <p:spPr>
          <a:xfrm>
            <a:off x="4187783" y="5039070"/>
            <a:ext cx="0" cy="1332000"/>
          </a:xfrm>
          <a:prstGeom prst="line">
            <a:avLst/>
          </a:prstGeom>
          <a:ln w="57150">
            <a:solidFill>
              <a:srgbClr val="1A49EA"/>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21087BB6-E5E4-31B1-AF27-8C88CE9BEB34}"/>
              </a:ext>
            </a:extLst>
          </p:cNvPr>
          <p:cNvCxnSpPr>
            <a:cxnSpLocks/>
          </p:cNvCxnSpPr>
          <p:nvPr/>
        </p:nvCxnSpPr>
        <p:spPr>
          <a:xfrm>
            <a:off x="5002128" y="5039070"/>
            <a:ext cx="0" cy="1332000"/>
          </a:xfrm>
          <a:prstGeom prst="line">
            <a:avLst/>
          </a:prstGeom>
          <a:ln w="57150">
            <a:solidFill>
              <a:srgbClr val="1A49EA"/>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05DDF116-5515-B757-DC9C-245B65E08477}"/>
              </a:ext>
            </a:extLst>
          </p:cNvPr>
          <p:cNvCxnSpPr>
            <a:cxnSpLocks/>
          </p:cNvCxnSpPr>
          <p:nvPr/>
        </p:nvCxnSpPr>
        <p:spPr>
          <a:xfrm>
            <a:off x="5981488" y="5039070"/>
            <a:ext cx="0" cy="1332000"/>
          </a:xfrm>
          <a:prstGeom prst="line">
            <a:avLst/>
          </a:prstGeom>
          <a:ln w="57150">
            <a:solidFill>
              <a:srgbClr val="1A49E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8752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64971-87B9-4A39-8873-CD6A2E83B4D4}"/>
              </a:ext>
            </a:extLst>
          </p:cNvPr>
          <p:cNvSpPr>
            <a:spLocks noGrp="1"/>
          </p:cNvSpPr>
          <p:nvPr>
            <p:ph type="title"/>
          </p:nvPr>
        </p:nvSpPr>
        <p:spPr/>
        <p:txBody>
          <a:bodyPr/>
          <a:lstStyle/>
          <a:p>
            <a:r>
              <a:rPr lang="zh-CN" altLang="en-US" dirty="0"/>
              <a:t>流水线冒险</a:t>
            </a:r>
          </a:p>
        </p:txBody>
      </p:sp>
      <p:sp>
        <p:nvSpPr>
          <p:cNvPr id="3" name="内容占位符 2">
            <a:extLst>
              <a:ext uri="{FF2B5EF4-FFF2-40B4-BE49-F238E27FC236}">
                <a16:creationId xmlns:a16="http://schemas.microsoft.com/office/drawing/2014/main" id="{91D7AA9F-088E-432B-A70E-DD4D98DFA9FA}"/>
              </a:ext>
            </a:extLst>
          </p:cNvPr>
          <p:cNvSpPr>
            <a:spLocks noGrp="1"/>
          </p:cNvSpPr>
          <p:nvPr>
            <p:ph idx="1"/>
          </p:nvPr>
        </p:nvSpPr>
        <p:spPr/>
        <p:txBody>
          <a:bodyPr/>
          <a:lstStyle/>
          <a:p>
            <a:r>
              <a:rPr lang="zh-CN" altLang="en-US" sz="2800" dirty="0">
                <a:solidFill>
                  <a:srgbClr val="1A49EA"/>
                </a:solidFill>
              </a:rPr>
              <a:t>结构冒险：资源矛盾！</a:t>
            </a:r>
            <a:endParaRPr lang="en-US" altLang="zh-CN" sz="2800" dirty="0">
              <a:solidFill>
                <a:srgbClr val="1A49EA"/>
              </a:solidFill>
            </a:endParaRPr>
          </a:p>
          <a:p>
            <a:pPr lvl="1"/>
            <a:r>
              <a:rPr lang="zh-CN" altLang="en-US" sz="2400" dirty="0">
                <a:solidFill>
                  <a:srgbClr val="1A49EA"/>
                </a:solidFill>
              </a:rPr>
              <a:t>两条指令在同一周期需要使用同样的硬件</a:t>
            </a:r>
            <a:endParaRPr lang="en-US" altLang="zh-CN" sz="2400" dirty="0">
              <a:solidFill>
                <a:srgbClr val="1A49EA"/>
              </a:solidFill>
            </a:endParaRPr>
          </a:p>
          <a:p>
            <a:pPr lvl="1"/>
            <a:r>
              <a:rPr lang="zh-CN" altLang="en-US" sz="2400" dirty="0">
                <a:solidFill>
                  <a:srgbClr val="1A49EA"/>
                </a:solidFill>
              </a:rPr>
              <a:t>解决方法：增加硬件资源；调整指令占用资源的时间</a:t>
            </a:r>
            <a:endParaRPr lang="en-US" altLang="zh-CN" sz="2400" dirty="0">
              <a:solidFill>
                <a:srgbClr val="1A49EA"/>
              </a:solidFill>
            </a:endParaRPr>
          </a:p>
          <a:p>
            <a:r>
              <a:rPr lang="zh-CN" altLang="en-US" sz="2800" dirty="0"/>
              <a:t>数据关联冒险：操作数是否已经更新？</a:t>
            </a:r>
            <a:endParaRPr lang="en-US" altLang="zh-CN" sz="2800" dirty="0"/>
          </a:p>
          <a:p>
            <a:pPr lvl="1"/>
            <a:r>
              <a:rPr lang="zh-CN" altLang="en-US" sz="2400" dirty="0"/>
              <a:t>指令依赖于流水线中运行的其他指令结果</a:t>
            </a:r>
            <a:endParaRPr lang="en-US" altLang="zh-CN" sz="2400" dirty="0"/>
          </a:p>
          <a:p>
            <a:pPr lvl="1"/>
            <a:r>
              <a:rPr lang="zh-CN" altLang="en-US" sz="2400" dirty="0"/>
              <a:t>解决方法：</a:t>
            </a:r>
            <a:r>
              <a:rPr lang="en-US" altLang="zh-CN" sz="2400" dirty="0"/>
              <a:t>Stall</a:t>
            </a:r>
            <a:r>
              <a:rPr lang="zh-CN" altLang="en-US" sz="2400" dirty="0"/>
              <a:t>；</a:t>
            </a:r>
            <a:r>
              <a:rPr lang="en-US" altLang="zh-CN" sz="2400" dirty="0"/>
              <a:t>Forwarding</a:t>
            </a:r>
            <a:r>
              <a:rPr lang="zh-CN" altLang="en-US" sz="2400" dirty="0"/>
              <a:t>；编译器优化</a:t>
            </a:r>
            <a:endParaRPr lang="en-US" altLang="zh-CN" sz="2400" dirty="0"/>
          </a:p>
          <a:p>
            <a:r>
              <a:rPr lang="zh-CN" altLang="en-US" sz="2800" dirty="0"/>
              <a:t>控制冒险：</a:t>
            </a:r>
            <a:r>
              <a:rPr lang="en-US" altLang="zh-CN" sz="2800" dirty="0"/>
              <a:t>PC</a:t>
            </a:r>
            <a:r>
              <a:rPr lang="zh-CN" altLang="en-US" sz="2800" dirty="0"/>
              <a:t>是否已经更新？</a:t>
            </a:r>
            <a:endParaRPr lang="en-US" altLang="zh-CN" sz="2800" dirty="0"/>
          </a:p>
          <a:p>
            <a:pPr lvl="1"/>
            <a:r>
              <a:rPr lang="zh-CN" altLang="en-US" sz="2400" dirty="0"/>
              <a:t>取指令依赖于流水线中指令的结果</a:t>
            </a:r>
            <a:endParaRPr lang="en-US" altLang="zh-CN" sz="2400" dirty="0"/>
          </a:p>
          <a:p>
            <a:pPr lvl="1"/>
            <a:r>
              <a:rPr lang="zh-CN" altLang="en-US" sz="2400" dirty="0"/>
              <a:t>解决方法：</a:t>
            </a:r>
            <a:r>
              <a:rPr lang="en-US" altLang="zh-CN" sz="2400" dirty="0"/>
              <a:t>Stall</a:t>
            </a:r>
            <a:r>
              <a:rPr lang="zh-CN" altLang="en-US" sz="2400" dirty="0"/>
              <a:t>；</a:t>
            </a:r>
            <a:r>
              <a:rPr lang="en-US" altLang="zh-CN" sz="2400" dirty="0"/>
              <a:t>Forwarding</a:t>
            </a:r>
            <a:r>
              <a:rPr lang="zh-CN" altLang="en-US" sz="2400" dirty="0"/>
              <a:t>；延迟槽；分支预测</a:t>
            </a:r>
          </a:p>
        </p:txBody>
      </p:sp>
      <p:sp>
        <p:nvSpPr>
          <p:cNvPr id="4" name="灯片编号占位符 3">
            <a:extLst>
              <a:ext uri="{FF2B5EF4-FFF2-40B4-BE49-F238E27FC236}">
                <a16:creationId xmlns:a16="http://schemas.microsoft.com/office/drawing/2014/main" id="{BA5DA19B-33E5-4B74-AA32-DDBC3C23618E}"/>
              </a:ext>
            </a:extLst>
          </p:cNvPr>
          <p:cNvSpPr>
            <a:spLocks noGrp="1"/>
          </p:cNvSpPr>
          <p:nvPr>
            <p:ph type="sldNum" sz="quarter" idx="12"/>
          </p:nvPr>
        </p:nvSpPr>
        <p:spPr/>
        <p:txBody>
          <a:bodyPr/>
          <a:lstStyle/>
          <a:p>
            <a:fld id="{0626FCE3-5FF9-430D-BA0B-DE80AAE71673}" type="slidenum">
              <a:rPr lang="zh-CN" altLang="en-US" smtClean="0"/>
              <a:t>31</a:t>
            </a:fld>
            <a:endParaRPr lang="zh-CN" altLang="en-US"/>
          </a:p>
        </p:txBody>
      </p:sp>
    </p:spTree>
    <p:extLst>
      <p:ext uri="{BB962C8B-B14F-4D97-AF65-F5344CB8AC3E}">
        <p14:creationId xmlns:p14="http://schemas.microsoft.com/office/powerpoint/2010/main" val="3042142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A3F9B4-F6F8-426F-A970-97A2665AE595}"/>
              </a:ext>
            </a:extLst>
          </p:cNvPr>
          <p:cNvSpPr>
            <a:spLocks noGrp="1"/>
          </p:cNvSpPr>
          <p:nvPr>
            <p:ph type="title"/>
          </p:nvPr>
        </p:nvSpPr>
        <p:spPr/>
        <p:txBody>
          <a:bodyPr/>
          <a:lstStyle/>
          <a:p>
            <a:r>
              <a:rPr lang="zh-CN" altLang="en-US" dirty="0"/>
              <a:t>流水线：结构冒险</a:t>
            </a:r>
          </a:p>
        </p:txBody>
      </p:sp>
      <p:sp>
        <p:nvSpPr>
          <p:cNvPr id="3" name="内容占位符 2">
            <a:extLst>
              <a:ext uri="{FF2B5EF4-FFF2-40B4-BE49-F238E27FC236}">
                <a16:creationId xmlns:a16="http://schemas.microsoft.com/office/drawing/2014/main" id="{48139D6C-EDC7-4B33-9CA2-DEED61A572F6}"/>
              </a:ext>
            </a:extLst>
          </p:cNvPr>
          <p:cNvSpPr>
            <a:spLocks noGrp="1"/>
          </p:cNvSpPr>
          <p:nvPr>
            <p:ph idx="1"/>
          </p:nvPr>
        </p:nvSpPr>
        <p:spPr>
          <a:xfrm>
            <a:off x="457200" y="1408914"/>
            <a:ext cx="8321040" cy="4525963"/>
          </a:xfrm>
        </p:spPr>
        <p:txBody>
          <a:bodyPr/>
          <a:lstStyle/>
          <a:p>
            <a:r>
              <a:rPr lang="zh-CN" altLang="en-US" dirty="0"/>
              <a:t>产生的原因</a:t>
            </a:r>
            <a:endParaRPr lang="en-US" altLang="zh-CN" dirty="0"/>
          </a:p>
          <a:p>
            <a:pPr lvl="1"/>
            <a:r>
              <a:rPr lang="zh-CN" altLang="en-US" dirty="0"/>
              <a:t>流水执行的</a:t>
            </a:r>
            <a:r>
              <a:rPr lang="zh-CN" altLang="en-US" dirty="0">
                <a:solidFill>
                  <a:srgbClr val="1A49EA"/>
                </a:solidFill>
              </a:rPr>
              <a:t>多条</a:t>
            </a:r>
            <a:r>
              <a:rPr lang="zh-CN" altLang="en-US" dirty="0"/>
              <a:t>指令在</a:t>
            </a:r>
            <a:r>
              <a:rPr lang="zh-CN" altLang="en-US" dirty="0">
                <a:solidFill>
                  <a:srgbClr val="1A49EA"/>
                </a:solidFill>
              </a:rPr>
              <a:t>同一个周期</a:t>
            </a:r>
            <a:r>
              <a:rPr lang="zh-CN" altLang="en-US" dirty="0"/>
              <a:t>使用</a:t>
            </a:r>
            <a:r>
              <a:rPr lang="zh-CN" altLang="en-US" dirty="0">
                <a:solidFill>
                  <a:srgbClr val="1A49EA"/>
                </a:solidFill>
              </a:rPr>
              <a:t>同一个硬件资源</a:t>
            </a:r>
            <a:endParaRPr lang="en-US" altLang="zh-CN" dirty="0">
              <a:solidFill>
                <a:srgbClr val="1A49EA"/>
              </a:solidFill>
            </a:endParaRPr>
          </a:p>
          <a:p>
            <a:r>
              <a:rPr lang="zh-CN" altLang="en-US" dirty="0"/>
              <a:t>解决方法：</a:t>
            </a:r>
            <a:endParaRPr lang="en-US" altLang="zh-CN" dirty="0"/>
          </a:p>
          <a:p>
            <a:pPr lvl="1"/>
            <a:r>
              <a:rPr lang="zh-CN" altLang="en-US" dirty="0"/>
              <a:t>增加资源</a:t>
            </a:r>
            <a:endParaRPr lang="en-US" altLang="zh-CN" dirty="0"/>
          </a:p>
          <a:p>
            <a:pPr lvl="2"/>
            <a:r>
              <a:rPr lang="zh-CN" altLang="en-US" dirty="0"/>
              <a:t>增加运算单元：例如</a:t>
            </a:r>
            <a:r>
              <a:rPr lang="en-US" altLang="zh-CN" dirty="0"/>
              <a:t>PC+4</a:t>
            </a:r>
            <a:r>
              <a:rPr lang="zh-CN" altLang="en-US" dirty="0"/>
              <a:t>和</a:t>
            </a:r>
            <a:r>
              <a:rPr lang="en-US" altLang="zh-CN" dirty="0"/>
              <a:t>ALU</a:t>
            </a:r>
            <a:r>
              <a:rPr lang="zh-CN" altLang="en-US" dirty="0"/>
              <a:t>运算分离</a:t>
            </a:r>
            <a:endParaRPr lang="en-US" altLang="zh-CN" dirty="0"/>
          </a:p>
          <a:p>
            <a:pPr lvl="2"/>
            <a:r>
              <a:rPr lang="zh-CN" altLang="en-US" dirty="0"/>
              <a:t>采用指令存储器和数据存储器分离的哈佛体系结构</a:t>
            </a:r>
            <a:endParaRPr lang="en-US" altLang="zh-CN" dirty="0"/>
          </a:p>
          <a:p>
            <a:pPr lvl="1"/>
            <a:r>
              <a:rPr lang="zh-CN" altLang="en-US" dirty="0"/>
              <a:t>调整指令对资源占用的周期</a:t>
            </a:r>
          </a:p>
        </p:txBody>
      </p:sp>
      <p:sp>
        <p:nvSpPr>
          <p:cNvPr id="4" name="灯片编号占位符 3">
            <a:extLst>
              <a:ext uri="{FF2B5EF4-FFF2-40B4-BE49-F238E27FC236}">
                <a16:creationId xmlns:a16="http://schemas.microsoft.com/office/drawing/2014/main" id="{083DF553-A9D0-46E1-A561-995236D031CE}"/>
              </a:ext>
            </a:extLst>
          </p:cNvPr>
          <p:cNvSpPr>
            <a:spLocks noGrp="1"/>
          </p:cNvSpPr>
          <p:nvPr>
            <p:ph type="sldNum" sz="quarter" idx="12"/>
          </p:nvPr>
        </p:nvSpPr>
        <p:spPr/>
        <p:txBody>
          <a:bodyPr/>
          <a:lstStyle/>
          <a:p>
            <a:fld id="{0626FCE3-5FF9-430D-BA0B-DE80AAE71673}" type="slidenum">
              <a:rPr lang="zh-CN" altLang="en-US" smtClean="0"/>
              <a:t>32</a:t>
            </a:fld>
            <a:endParaRPr lang="zh-CN" altLang="en-US"/>
          </a:p>
        </p:txBody>
      </p:sp>
    </p:spTree>
    <p:extLst>
      <p:ext uri="{BB962C8B-B14F-4D97-AF65-F5344CB8AC3E}">
        <p14:creationId xmlns:p14="http://schemas.microsoft.com/office/powerpoint/2010/main" val="528684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64971-87B9-4A39-8873-CD6A2E83B4D4}"/>
              </a:ext>
            </a:extLst>
          </p:cNvPr>
          <p:cNvSpPr>
            <a:spLocks noGrp="1"/>
          </p:cNvSpPr>
          <p:nvPr>
            <p:ph type="title"/>
          </p:nvPr>
        </p:nvSpPr>
        <p:spPr/>
        <p:txBody>
          <a:bodyPr/>
          <a:lstStyle/>
          <a:p>
            <a:r>
              <a:rPr lang="zh-CN" altLang="en-US" dirty="0"/>
              <a:t>流水线冒险</a:t>
            </a:r>
          </a:p>
        </p:txBody>
      </p:sp>
      <p:sp>
        <p:nvSpPr>
          <p:cNvPr id="3" name="内容占位符 2">
            <a:extLst>
              <a:ext uri="{FF2B5EF4-FFF2-40B4-BE49-F238E27FC236}">
                <a16:creationId xmlns:a16="http://schemas.microsoft.com/office/drawing/2014/main" id="{91D7AA9F-088E-432B-A70E-DD4D98DFA9FA}"/>
              </a:ext>
            </a:extLst>
          </p:cNvPr>
          <p:cNvSpPr>
            <a:spLocks noGrp="1"/>
          </p:cNvSpPr>
          <p:nvPr>
            <p:ph idx="1"/>
          </p:nvPr>
        </p:nvSpPr>
        <p:spPr/>
        <p:txBody>
          <a:bodyPr/>
          <a:lstStyle/>
          <a:p>
            <a:r>
              <a:rPr lang="zh-CN" altLang="en-US" sz="2800" dirty="0"/>
              <a:t>结构冒险：资源矛盾！</a:t>
            </a:r>
            <a:endParaRPr lang="en-US" altLang="zh-CN" sz="2800" dirty="0"/>
          </a:p>
          <a:p>
            <a:pPr lvl="1"/>
            <a:r>
              <a:rPr lang="zh-CN" altLang="en-US" sz="2400" dirty="0"/>
              <a:t>两条指令在同一周期需要使用同样的硬件</a:t>
            </a:r>
            <a:endParaRPr lang="en-US" altLang="zh-CN" sz="2400" dirty="0"/>
          </a:p>
          <a:p>
            <a:pPr lvl="1"/>
            <a:r>
              <a:rPr lang="zh-CN" altLang="en-US" sz="2400" dirty="0"/>
              <a:t>解决方法：增加硬件资源；调整指令占用资源的时间</a:t>
            </a:r>
            <a:endParaRPr lang="en-US" altLang="zh-CN" sz="2400" dirty="0"/>
          </a:p>
          <a:p>
            <a:r>
              <a:rPr lang="zh-CN" altLang="en-US" sz="2800" dirty="0">
                <a:solidFill>
                  <a:srgbClr val="1A49EA"/>
                </a:solidFill>
              </a:rPr>
              <a:t>数据关联冒险：操作数是否已经更新？</a:t>
            </a:r>
            <a:endParaRPr lang="en-US" altLang="zh-CN" sz="2800" dirty="0">
              <a:solidFill>
                <a:srgbClr val="1A49EA"/>
              </a:solidFill>
            </a:endParaRPr>
          </a:p>
          <a:p>
            <a:pPr lvl="1"/>
            <a:r>
              <a:rPr lang="zh-CN" altLang="en-US" sz="2400" dirty="0">
                <a:solidFill>
                  <a:srgbClr val="1A49EA"/>
                </a:solidFill>
              </a:rPr>
              <a:t>指令依赖于流水线中运行的其他指令结果</a:t>
            </a:r>
            <a:endParaRPr lang="en-US" altLang="zh-CN" sz="2400" dirty="0">
              <a:solidFill>
                <a:srgbClr val="1A49EA"/>
              </a:solidFill>
            </a:endParaRPr>
          </a:p>
          <a:p>
            <a:pPr lvl="1"/>
            <a:r>
              <a:rPr lang="zh-CN" altLang="en-US" sz="2400" dirty="0">
                <a:solidFill>
                  <a:srgbClr val="1A49EA"/>
                </a:solidFill>
              </a:rPr>
              <a:t>解决方法：</a:t>
            </a:r>
            <a:r>
              <a:rPr lang="en-US" altLang="zh-CN" sz="2400" dirty="0">
                <a:solidFill>
                  <a:srgbClr val="1A49EA"/>
                </a:solidFill>
              </a:rPr>
              <a:t>Stall</a:t>
            </a:r>
            <a:r>
              <a:rPr lang="zh-CN" altLang="en-US" sz="2400" dirty="0">
                <a:solidFill>
                  <a:srgbClr val="1A49EA"/>
                </a:solidFill>
              </a:rPr>
              <a:t>；</a:t>
            </a:r>
            <a:r>
              <a:rPr lang="en-US" altLang="zh-CN" sz="2400" dirty="0">
                <a:solidFill>
                  <a:srgbClr val="1A49EA"/>
                </a:solidFill>
              </a:rPr>
              <a:t>Forwarding</a:t>
            </a:r>
            <a:r>
              <a:rPr lang="zh-CN" altLang="en-US" sz="2400" dirty="0">
                <a:solidFill>
                  <a:srgbClr val="1A49EA"/>
                </a:solidFill>
              </a:rPr>
              <a:t>；编译器优化</a:t>
            </a:r>
            <a:endParaRPr lang="en-US" altLang="zh-CN" sz="2400" dirty="0">
              <a:solidFill>
                <a:srgbClr val="1A49EA"/>
              </a:solidFill>
            </a:endParaRPr>
          </a:p>
          <a:p>
            <a:r>
              <a:rPr lang="zh-CN" altLang="en-US" sz="2800" dirty="0"/>
              <a:t>控制冒险：</a:t>
            </a:r>
            <a:r>
              <a:rPr lang="en-US" altLang="zh-CN" sz="2800" dirty="0"/>
              <a:t>PC</a:t>
            </a:r>
            <a:r>
              <a:rPr lang="zh-CN" altLang="en-US" sz="2800" dirty="0"/>
              <a:t>是否已经更新？</a:t>
            </a:r>
            <a:endParaRPr lang="en-US" altLang="zh-CN" sz="2800" dirty="0"/>
          </a:p>
          <a:p>
            <a:pPr lvl="1"/>
            <a:r>
              <a:rPr lang="zh-CN" altLang="en-US" sz="2400" dirty="0"/>
              <a:t>取指令依赖于流水线中指令的结果</a:t>
            </a:r>
            <a:endParaRPr lang="en-US" altLang="zh-CN" sz="2400" dirty="0"/>
          </a:p>
          <a:p>
            <a:pPr lvl="1"/>
            <a:r>
              <a:rPr lang="zh-CN" altLang="en-US" sz="2400" dirty="0"/>
              <a:t>解决方法：</a:t>
            </a:r>
            <a:r>
              <a:rPr lang="en-US" altLang="zh-CN" sz="2400" dirty="0"/>
              <a:t>Stall</a:t>
            </a:r>
            <a:r>
              <a:rPr lang="zh-CN" altLang="en-US" sz="2400" dirty="0"/>
              <a:t>；</a:t>
            </a:r>
            <a:r>
              <a:rPr lang="en-US" altLang="zh-CN" sz="2400" dirty="0"/>
              <a:t>Forwarding</a:t>
            </a:r>
            <a:r>
              <a:rPr lang="zh-CN" altLang="en-US" sz="2400" dirty="0"/>
              <a:t>；延迟槽；分支预测</a:t>
            </a:r>
          </a:p>
        </p:txBody>
      </p:sp>
      <p:sp>
        <p:nvSpPr>
          <p:cNvPr id="4" name="灯片编号占位符 3">
            <a:extLst>
              <a:ext uri="{FF2B5EF4-FFF2-40B4-BE49-F238E27FC236}">
                <a16:creationId xmlns:a16="http://schemas.microsoft.com/office/drawing/2014/main" id="{BA5DA19B-33E5-4B74-AA32-DDBC3C23618E}"/>
              </a:ext>
            </a:extLst>
          </p:cNvPr>
          <p:cNvSpPr>
            <a:spLocks noGrp="1"/>
          </p:cNvSpPr>
          <p:nvPr>
            <p:ph type="sldNum" sz="quarter" idx="12"/>
          </p:nvPr>
        </p:nvSpPr>
        <p:spPr/>
        <p:txBody>
          <a:bodyPr/>
          <a:lstStyle/>
          <a:p>
            <a:fld id="{0626FCE3-5FF9-430D-BA0B-DE80AAE71673}" type="slidenum">
              <a:rPr lang="zh-CN" altLang="en-US" smtClean="0"/>
              <a:t>33</a:t>
            </a:fld>
            <a:endParaRPr lang="zh-CN" altLang="en-US"/>
          </a:p>
        </p:txBody>
      </p:sp>
    </p:spTree>
    <p:extLst>
      <p:ext uri="{BB962C8B-B14F-4D97-AF65-F5344CB8AC3E}">
        <p14:creationId xmlns:p14="http://schemas.microsoft.com/office/powerpoint/2010/main" val="1430896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C6967-8B94-4D01-A391-022BA5503663}"/>
              </a:ext>
            </a:extLst>
          </p:cNvPr>
          <p:cNvSpPr>
            <a:spLocks noGrp="1"/>
          </p:cNvSpPr>
          <p:nvPr>
            <p:ph type="title"/>
          </p:nvPr>
        </p:nvSpPr>
        <p:spPr/>
        <p:txBody>
          <a:bodyPr/>
          <a:lstStyle/>
          <a:p>
            <a:r>
              <a:rPr lang="zh-CN" altLang="en-US" dirty="0"/>
              <a:t>数据转发</a:t>
            </a:r>
          </a:p>
        </p:txBody>
      </p:sp>
      <p:sp>
        <p:nvSpPr>
          <p:cNvPr id="3" name="内容占位符 2">
            <a:extLst>
              <a:ext uri="{FF2B5EF4-FFF2-40B4-BE49-F238E27FC236}">
                <a16:creationId xmlns:a16="http://schemas.microsoft.com/office/drawing/2014/main" id="{70A3A03D-A79D-4B31-857E-63ED06DAAF98}"/>
              </a:ext>
            </a:extLst>
          </p:cNvPr>
          <p:cNvSpPr>
            <a:spLocks noGrp="1"/>
          </p:cNvSpPr>
          <p:nvPr>
            <p:ph idx="1"/>
          </p:nvPr>
        </p:nvSpPr>
        <p:spPr>
          <a:xfrm>
            <a:off x="457200" y="1351404"/>
            <a:ext cx="8229600" cy="4525963"/>
          </a:xfrm>
        </p:spPr>
        <p:txBody>
          <a:bodyPr/>
          <a:lstStyle/>
          <a:p>
            <a:r>
              <a:rPr lang="zh-CN" altLang="en-US" dirty="0"/>
              <a:t>流水线旁路（</a:t>
            </a:r>
            <a:r>
              <a:rPr lang="en-US" altLang="zh-CN" dirty="0"/>
              <a:t>Forwarding or Bypassing</a:t>
            </a:r>
            <a:r>
              <a:rPr lang="zh-CN" altLang="en-US" dirty="0"/>
              <a:t>）</a:t>
            </a:r>
            <a:endParaRPr lang="en-US" altLang="zh-CN" dirty="0"/>
          </a:p>
        </p:txBody>
      </p:sp>
      <p:sp>
        <p:nvSpPr>
          <p:cNvPr id="4" name="灯片编号占位符 3">
            <a:extLst>
              <a:ext uri="{FF2B5EF4-FFF2-40B4-BE49-F238E27FC236}">
                <a16:creationId xmlns:a16="http://schemas.microsoft.com/office/drawing/2014/main" id="{A3AD980F-A6E0-4097-8E43-967228E7148F}"/>
              </a:ext>
            </a:extLst>
          </p:cNvPr>
          <p:cNvSpPr>
            <a:spLocks noGrp="1"/>
          </p:cNvSpPr>
          <p:nvPr>
            <p:ph type="sldNum" sz="quarter" idx="12"/>
          </p:nvPr>
        </p:nvSpPr>
        <p:spPr/>
        <p:txBody>
          <a:bodyPr/>
          <a:lstStyle/>
          <a:p>
            <a:fld id="{0626FCE3-5FF9-430D-BA0B-DE80AAE71673}" type="slidenum">
              <a:rPr lang="zh-CN" altLang="en-US" smtClean="0"/>
              <a:t>34</a:t>
            </a:fld>
            <a:endParaRPr lang="zh-CN" altLang="en-US"/>
          </a:p>
        </p:txBody>
      </p:sp>
      <p:sp>
        <p:nvSpPr>
          <p:cNvPr id="8" name="AutoShape 3">
            <a:extLst>
              <a:ext uri="{FF2B5EF4-FFF2-40B4-BE49-F238E27FC236}">
                <a16:creationId xmlns:a16="http://schemas.microsoft.com/office/drawing/2014/main" id="{30EE26AE-D7C1-4B2A-8053-644B1F87CF52}"/>
              </a:ext>
            </a:extLst>
          </p:cNvPr>
          <p:cNvSpPr>
            <a:spLocks noChangeAspect="1" noChangeArrowheads="1" noTextEdit="1"/>
          </p:cNvSpPr>
          <p:nvPr/>
        </p:nvSpPr>
        <p:spPr bwMode="auto">
          <a:xfrm>
            <a:off x="1021080" y="2479502"/>
            <a:ext cx="7233904" cy="437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grpSp>
        <p:nvGrpSpPr>
          <p:cNvPr id="11" name="组合 10">
            <a:extLst>
              <a:ext uri="{FF2B5EF4-FFF2-40B4-BE49-F238E27FC236}">
                <a16:creationId xmlns:a16="http://schemas.microsoft.com/office/drawing/2014/main" id="{1B643200-3A25-37E6-3EE1-5515EB679BCD}"/>
              </a:ext>
            </a:extLst>
          </p:cNvPr>
          <p:cNvGrpSpPr/>
          <p:nvPr/>
        </p:nvGrpSpPr>
        <p:grpSpPr>
          <a:xfrm>
            <a:off x="1255585" y="2315867"/>
            <a:ext cx="6764893" cy="4150978"/>
            <a:chOff x="512300" y="2253911"/>
            <a:chExt cx="6764893" cy="4150978"/>
          </a:xfrm>
        </p:grpSpPr>
        <p:sp>
          <p:nvSpPr>
            <p:cNvPr id="35" name="Freeform 31">
              <a:extLst>
                <a:ext uri="{FF2B5EF4-FFF2-40B4-BE49-F238E27FC236}">
                  <a16:creationId xmlns:a16="http://schemas.microsoft.com/office/drawing/2014/main" id="{C8AE8F3B-E6DF-4A21-82B8-2B1908636EB3}"/>
                </a:ext>
              </a:extLst>
            </p:cNvPr>
            <p:cNvSpPr>
              <a:spLocks/>
            </p:cNvSpPr>
            <p:nvPr/>
          </p:nvSpPr>
          <p:spPr bwMode="auto">
            <a:xfrm>
              <a:off x="5453613" y="5307879"/>
              <a:ext cx="289356" cy="640717"/>
            </a:xfrm>
            <a:custGeom>
              <a:avLst/>
              <a:gdLst>
                <a:gd name="T0" fmla="*/ 0 w 182"/>
                <a:gd name="T1" fmla="*/ 269 h 403"/>
                <a:gd name="T2" fmla="*/ 61 w 182"/>
                <a:gd name="T3" fmla="*/ 202 h 403"/>
                <a:gd name="T4" fmla="*/ 0 w 182"/>
                <a:gd name="T5" fmla="*/ 134 h 403"/>
                <a:gd name="T6" fmla="*/ 0 w 182"/>
                <a:gd name="T7" fmla="*/ 0 h 403"/>
                <a:gd name="T8" fmla="*/ 182 w 182"/>
                <a:gd name="T9" fmla="*/ 134 h 403"/>
                <a:gd name="T10" fmla="*/ 182 w 182"/>
                <a:gd name="T11" fmla="*/ 269 h 403"/>
                <a:gd name="T12" fmla="*/ 0 w 182"/>
                <a:gd name="T13" fmla="*/ 403 h 403"/>
                <a:gd name="T14" fmla="*/ 0 w 182"/>
                <a:gd name="T15" fmla="*/ 269 h 4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2" h="403">
                  <a:moveTo>
                    <a:pt x="0" y="269"/>
                  </a:moveTo>
                  <a:lnTo>
                    <a:pt x="61" y="202"/>
                  </a:lnTo>
                  <a:lnTo>
                    <a:pt x="0" y="134"/>
                  </a:lnTo>
                  <a:lnTo>
                    <a:pt x="0" y="0"/>
                  </a:lnTo>
                  <a:lnTo>
                    <a:pt x="182" y="134"/>
                  </a:lnTo>
                  <a:lnTo>
                    <a:pt x="182" y="269"/>
                  </a:lnTo>
                  <a:lnTo>
                    <a:pt x="0" y="403"/>
                  </a:lnTo>
                  <a:lnTo>
                    <a:pt x="0" y="269"/>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37" name="Rectangle 33">
              <a:extLst>
                <a:ext uri="{FF2B5EF4-FFF2-40B4-BE49-F238E27FC236}">
                  <a16:creationId xmlns:a16="http://schemas.microsoft.com/office/drawing/2014/main" id="{69D681BB-33F1-47AD-9CE5-15734F7735AB}"/>
                </a:ext>
              </a:extLst>
            </p:cNvPr>
            <p:cNvSpPr>
              <a:spLocks noChangeArrowheads="1"/>
            </p:cNvSpPr>
            <p:nvPr/>
          </p:nvSpPr>
          <p:spPr bwMode="auto">
            <a:xfrm>
              <a:off x="4289829" y="5484354"/>
              <a:ext cx="18594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IM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38" name="Freeform 34">
              <a:extLst>
                <a:ext uri="{FF2B5EF4-FFF2-40B4-BE49-F238E27FC236}">
                  <a16:creationId xmlns:a16="http://schemas.microsoft.com/office/drawing/2014/main" id="{3E20DA51-7D79-4225-B07E-9D059C1B0F3A}"/>
                </a:ext>
              </a:extLst>
            </p:cNvPr>
            <p:cNvSpPr>
              <a:spLocks/>
            </p:cNvSpPr>
            <p:nvPr/>
          </p:nvSpPr>
          <p:spPr bwMode="auto">
            <a:xfrm>
              <a:off x="4218285" y="5436658"/>
              <a:ext cx="222582" cy="384748"/>
            </a:xfrm>
            <a:custGeom>
              <a:avLst/>
              <a:gdLst>
                <a:gd name="T0" fmla="*/ 140 w 140"/>
                <a:gd name="T1" fmla="*/ 0 h 242"/>
                <a:gd name="T2" fmla="*/ 0 w 140"/>
                <a:gd name="T3" fmla="*/ 0 h 242"/>
                <a:gd name="T4" fmla="*/ 0 w 140"/>
                <a:gd name="T5" fmla="*/ 242 h 242"/>
                <a:gd name="T6" fmla="*/ 140 w 140"/>
                <a:gd name="T7" fmla="*/ 242 h 242"/>
              </a:gdLst>
              <a:ahLst/>
              <a:cxnLst>
                <a:cxn ang="0">
                  <a:pos x="T0" y="T1"/>
                </a:cxn>
                <a:cxn ang="0">
                  <a:pos x="T2" y="T3"/>
                </a:cxn>
                <a:cxn ang="0">
                  <a:pos x="T4" y="T5"/>
                </a:cxn>
                <a:cxn ang="0">
                  <a:pos x="T6" y="T7"/>
                </a:cxn>
              </a:cxnLst>
              <a:rect l="0" t="0" r="r" b="b"/>
              <a:pathLst>
                <a:path w="140" h="242">
                  <a:moveTo>
                    <a:pt x="140" y="0"/>
                  </a:moveTo>
                  <a:lnTo>
                    <a:pt x="0" y="0"/>
                  </a:lnTo>
                  <a:lnTo>
                    <a:pt x="0" y="242"/>
                  </a:lnTo>
                  <a:lnTo>
                    <a:pt x="14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39" name="Freeform 35">
              <a:extLst>
                <a:ext uri="{FF2B5EF4-FFF2-40B4-BE49-F238E27FC236}">
                  <a16:creationId xmlns:a16="http://schemas.microsoft.com/office/drawing/2014/main" id="{A736328E-628C-4CF9-873E-0E28DDAC34FF}"/>
                </a:ext>
              </a:extLst>
            </p:cNvPr>
            <p:cNvSpPr>
              <a:spLocks/>
            </p:cNvSpPr>
            <p:nvPr/>
          </p:nvSpPr>
          <p:spPr bwMode="auto">
            <a:xfrm>
              <a:off x="4442457" y="5436658"/>
              <a:ext cx="232121" cy="384748"/>
            </a:xfrm>
            <a:custGeom>
              <a:avLst/>
              <a:gdLst>
                <a:gd name="T0" fmla="*/ 0 w 146"/>
                <a:gd name="T1" fmla="*/ 0 h 242"/>
                <a:gd name="T2" fmla="*/ 146 w 146"/>
                <a:gd name="T3" fmla="*/ 0 h 242"/>
                <a:gd name="T4" fmla="*/ 146 w 146"/>
                <a:gd name="T5" fmla="*/ 242 h 242"/>
                <a:gd name="T6" fmla="*/ 0 w 146"/>
                <a:gd name="T7" fmla="*/ 242 h 242"/>
              </a:gdLst>
              <a:ahLst/>
              <a:cxnLst>
                <a:cxn ang="0">
                  <a:pos x="T0" y="T1"/>
                </a:cxn>
                <a:cxn ang="0">
                  <a:pos x="T2" y="T3"/>
                </a:cxn>
                <a:cxn ang="0">
                  <a:pos x="T4" y="T5"/>
                </a:cxn>
                <a:cxn ang="0">
                  <a:pos x="T6" y="T7"/>
                </a:cxn>
              </a:cxnLst>
              <a:rect l="0" t="0" r="r" b="b"/>
              <a:pathLst>
                <a:path w="146" h="242">
                  <a:moveTo>
                    <a:pt x="0" y="0"/>
                  </a:moveTo>
                  <a:lnTo>
                    <a:pt x="146" y="0"/>
                  </a:lnTo>
                  <a:lnTo>
                    <a:pt x="146"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0" name="Rectangle 36">
              <a:extLst>
                <a:ext uri="{FF2B5EF4-FFF2-40B4-BE49-F238E27FC236}">
                  <a16:creationId xmlns:a16="http://schemas.microsoft.com/office/drawing/2014/main" id="{50273335-DA5B-4010-90C6-F7BC697ED4F2}"/>
                </a:ext>
              </a:extLst>
            </p:cNvPr>
            <p:cNvSpPr>
              <a:spLocks noChangeArrowheads="1"/>
            </p:cNvSpPr>
            <p:nvPr/>
          </p:nvSpPr>
          <p:spPr bwMode="auto">
            <a:xfrm>
              <a:off x="4884440" y="5490714"/>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41" name="Freeform 37">
              <a:extLst>
                <a:ext uri="{FF2B5EF4-FFF2-40B4-BE49-F238E27FC236}">
                  <a16:creationId xmlns:a16="http://schemas.microsoft.com/office/drawing/2014/main" id="{36E46226-65A9-408E-AFEE-DC5D5E583D2B}"/>
                </a:ext>
              </a:extLst>
            </p:cNvPr>
            <p:cNvSpPr>
              <a:spLocks/>
            </p:cNvSpPr>
            <p:nvPr/>
          </p:nvSpPr>
          <p:spPr bwMode="auto">
            <a:xfrm>
              <a:off x="4836744" y="5436658"/>
              <a:ext cx="198734" cy="384748"/>
            </a:xfrm>
            <a:custGeom>
              <a:avLst/>
              <a:gdLst>
                <a:gd name="T0" fmla="*/ 125 w 125"/>
                <a:gd name="T1" fmla="*/ 0 h 242"/>
                <a:gd name="T2" fmla="*/ 0 w 125"/>
                <a:gd name="T3" fmla="*/ 0 h 242"/>
                <a:gd name="T4" fmla="*/ 0 w 125"/>
                <a:gd name="T5" fmla="*/ 242 h 242"/>
                <a:gd name="T6" fmla="*/ 125 w 125"/>
                <a:gd name="T7" fmla="*/ 242 h 242"/>
              </a:gdLst>
              <a:ahLst/>
              <a:cxnLst>
                <a:cxn ang="0">
                  <a:pos x="T0" y="T1"/>
                </a:cxn>
                <a:cxn ang="0">
                  <a:pos x="T2" y="T3"/>
                </a:cxn>
                <a:cxn ang="0">
                  <a:pos x="T4" y="T5"/>
                </a:cxn>
                <a:cxn ang="0">
                  <a:pos x="T6" y="T7"/>
                </a:cxn>
              </a:cxnLst>
              <a:rect l="0" t="0" r="r" b="b"/>
              <a:pathLst>
                <a:path w="125" h="242">
                  <a:moveTo>
                    <a:pt x="125" y="0"/>
                  </a:moveTo>
                  <a:lnTo>
                    <a:pt x="0" y="0"/>
                  </a:lnTo>
                  <a:lnTo>
                    <a:pt x="0" y="242"/>
                  </a:lnTo>
                  <a:lnTo>
                    <a:pt x="125"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2" name="Freeform 38">
              <a:extLst>
                <a:ext uri="{FF2B5EF4-FFF2-40B4-BE49-F238E27FC236}">
                  <a16:creationId xmlns:a16="http://schemas.microsoft.com/office/drawing/2014/main" id="{CB8C5A9B-4546-470D-AB23-CFCEC746E20F}"/>
                </a:ext>
              </a:extLst>
            </p:cNvPr>
            <p:cNvSpPr>
              <a:spLocks/>
            </p:cNvSpPr>
            <p:nvPr/>
          </p:nvSpPr>
          <p:spPr bwMode="auto">
            <a:xfrm>
              <a:off x="5029118" y="5436658"/>
              <a:ext cx="198734" cy="384748"/>
            </a:xfrm>
            <a:custGeom>
              <a:avLst/>
              <a:gdLst>
                <a:gd name="T0" fmla="*/ 0 w 125"/>
                <a:gd name="T1" fmla="*/ 0 h 242"/>
                <a:gd name="T2" fmla="*/ 125 w 125"/>
                <a:gd name="T3" fmla="*/ 0 h 242"/>
                <a:gd name="T4" fmla="*/ 125 w 125"/>
                <a:gd name="T5" fmla="*/ 242 h 242"/>
                <a:gd name="T6" fmla="*/ 0 w 125"/>
                <a:gd name="T7" fmla="*/ 242 h 242"/>
              </a:gdLst>
              <a:ahLst/>
              <a:cxnLst>
                <a:cxn ang="0">
                  <a:pos x="T0" y="T1"/>
                </a:cxn>
                <a:cxn ang="0">
                  <a:pos x="T2" y="T3"/>
                </a:cxn>
                <a:cxn ang="0">
                  <a:pos x="T4" y="T5"/>
                </a:cxn>
                <a:cxn ang="0">
                  <a:pos x="T6" y="T7"/>
                </a:cxn>
              </a:cxnLst>
              <a:rect l="0" t="0" r="r" b="b"/>
              <a:pathLst>
                <a:path w="125" h="242">
                  <a:moveTo>
                    <a:pt x="0" y="0"/>
                  </a:moveTo>
                  <a:lnTo>
                    <a:pt x="125" y="0"/>
                  </a:lnTo>
                  <a:lnTo>
                    <a:pt x="125"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3" name="Line 39">
              <a:extLst>
                <a:ext uri="{FF2B5EF4-FFF2-40B4-BE49-F238E27FC236}">
                  <a16:creationId xmlns:a16="http://schemas.microsoft.com/office/drawing/2014/main" id="{7E1D6035-A4B2-41BE-804F-A3BB53F93663}"/>
                </a:ext>
              </a:extLst>
            </p:cNvPr>
            <p:cNvSpPr>
              <a:spLocks noChangeShapeType="1"/>
            </p:cNvSpPr>
            <p:nvPr/>
          </p:nvSpPr>
          <p:spPr bwMode="auto">
            <a:xfrm>
              <a:off x="4684117" y="5629032"/>
              <a:ext cx="152627"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4" name="Freeform 40">
              <a:extLst>
                <a:ext uri="{FF2B5EF4-FFF2-40B4-BE49-F238E27FC236}">
                  <a16:creationId xmlns:a16="http://schemas.microsoft.com/office/drawing/2014/main" id="{A073465E-A1F9-4833-AFB6-4046E685B539}"/>
                </a:ext>
              </a:extLst>
            </p:cNvPr>
            <p:cNvSpPr>
              <a:spLocks/>
            </p:cNvSpPr>
            <p:nvPr/>
          </p:nvSpPr>
          <p:spPr bwMode="auto">
            <a:xfrm>
              <a:off x="4771559" y="5500253"/>
              <a:ext cx="63595" cy="127190"/>
            </a:xfrm>
            <a:custGeom>
              <a:avLst/>
              <a:gdLst>
                <a:gd name="T0" fmla="*/ 0 w 40"/>
                <a:gd name="T1" fmla="*/ 80 h 80"/>
                <a:gd name="T2" fmla="*/ 0 w 40"/>
                <a:gd name="T3" fmla="*/ 0 h 80"/>
                <a:gd name="T4" fmla="*/ 40 w 40"/>
                <a:gd name="T5" fmla="*/ 0 h 80"/>
              </a:gdLst>
              <a:ahLst/>
              <a:cxnLst>
                <a:cxn ang="0">
                  <a:pos x="T0" y="T1"/>
                </a:cxn>
                <a:cxn ang="0">
                  <a:pos x="T2" y="T3"/>
                </a:cxn>
                <a:cxn ang="0">
                  <a:pos x="T4" y="T5"/>
                </a:cxn>
              </a:cxnLst>
              <a:rect l="0" t="0" r="r" b="b"/>
              <a:pathLst>
                <a:path w="40" h="80">
                  <a:moveTo>
                    <a:pt x="0" y="80"/>
                  </a:moveTo>
                  <a:lnTo>
                    <a:pt x="0" y="0"/>
                  </a:lnTo>
                  <a:lnTo>
                    <a:pt x="40" y="0"/>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5" name="Line 41">
              <a:extLst>
                <a:ext uri="{FF2B5EF4-FFF2-40B4-BE49-F238E27FC236}">
                  <a16:creationId xmlns:a16="http://schemas.microsoft.com/office/drawing/2014/main" id="{07A91C83-EEBE-4421-A166-A78BCD82633E}"/>
                </a:ext>
              </a:extLst>
            </p:cNvPr>
            <p:cNvSpPr>
              <a:spLocks noChangeShapeType="1"/>
            </p:cNvSpPr>
            <p:nvPr/>
          </p:nvSpPr>
          <p:spPr bwMode="auto">
            <a:xfrm>
              <a:off x="5237391" y="5500253"/>
              <a:ext cx="20827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6" name="Rectangle 42">
              <a:extLst>
                <a:ext uri="{FF2B5EF4-FFF2-40B4-BE49-F238E27FC236}">
                  <a16:creationId xmlns:a16="http://schemas.microsoft.com/office/drawing/2014/main" id="{D5F3093F-7F66-449A-9A62-472FAFBEAC83}"/>
                </a:ext>
              </a:extLst>
            </p:cNvPr>
            <p:cNvSpPr>
              <a:spLocks noChangeArrowheads="1"/>
            </p:cNvSpPr>
            <p:nvPr/>
          </p:nvSpPr>
          <p:spPr bwMode="auto">
            <a:xfrm>
              <a:off x="5978270" y="5484354"/>
              <a:ext cx="25968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DM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47" name="Freeform 43">
              <a:extLst>
                <a:ext uri="{FF2B5EF4-FFF2-40B4-BE49-F238E27FC236}">
                  <a16:creationId xmlns:a16="http://schemas.microsoft.com/office/drawing/2014/main" id="{878FE3B6-BCAF-43DA-AD77-9F5BD90D7EA6}"/>
                </a:ext>
              </a:extLst>
            </p:cNvPr>
            <p:cNvSpPr>
              <a:spLocks/>
            </p:cNvSpPr>
            <p:nvPr/>
          </p:nvSpPr>
          <p:spPr bwMode="auto">
            <a:xfrm>
              <a:off x="5968731" y="5436658"/>
              <a:ext cx="214632" cy="384748"/>
            </a:xfrm>
            <a:custGeom>
              <a:avLst/>
              <a:gdLst>
                <a:gd name="T0" fmla="*/ 135 w 135"/>
                <a:gd name="T1" fmla="*/ 0 h 242"/>
                <a:gd name="T2" fmla="*/ 0 w 135"/>
                <a:gd name="T3" fmla="*/ 0 h 242"/>
                <a:gd name="T4" fmla="*/ 0 w 135"/>
                <a:gd name="T5" fmla="*/ 242 h 242"/>
                <a:gd name="T6" fmla="*/ 135 w 135"/>
                <a:gd name="T7" fmla="*/ 242 h 242"/>
              </a:gdLst>
              <a:ahLst/>
              <a:cxnLst>
                <a:cxn ang="0">
                  <a:pos x="T0" y="T1"/>
                </a:cxn>
                <a:cxn ang="0">
                  <a:pos x="T2" y="T3"/>
                </a:cxn>
                <a:cxn ang="0">
                  <a:pos x="T4" y="T5"/>
                </a:cxn>
                <a:cxn ang="0">
                  <a:pos x="T6" y="T7"/>
                </a:cxn>
              </a:cxnLst>
              <a:rect l="0" t="0" r="r" b="b"/>
              <a:pathLst>
                <a:path w="135" h="242">
                  <a:moveTo>
                    <a:pt x="135" y="0"/>
                  </a:moveTo>
                  <a:lnTo>
                    <a:pt x="0" y="0"/>
                  </a:lnTo>
                  <a:lnTo>
                    <a:pt x="0" y="242"/>
                  </a:lnTo>
                  <a:lnTo>
                    <a:pt x="135"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8" name="Freeform 44">
              <a:extLst>
                <a:ext uri="{FF2B5EF4-FFF2-40B4-BE49-F238E27FC236}">
                  <a16:creationId xmlns:a16="http://schemas.microsoft.com/office/drawing/2014/main" id="{B59AAA0D-365B-4D2F-81E4-AB5E57AACAC6}"/>
                </a:ext>
              </a:extLst>
            </p:cNvPr>
            <p:cNvSpPr>
              <a:spLocks/>
            </p:cNvSpPr>
            <p:nvPr/>
          </p:nvSpPr>
          <p:spPr bwMode="auto">
            <a:xfrm>
              <a:off x="6184953" y="5436658"/>
              <a:ext cx="216222" cy="384748"/>
            </a:xfrm>
            <a:custGeom>
              <a:avLst/>
              <a:gdLst>
                <a:gd name="T0" fmla="*/ 0 w 136"/>
                <a:gd name="T1" fmla="*/ 0 h 242"/>
                <a:gd name="T2" fmla="*/ 136 w 136"/>
                <a:gd name="T3" fmla="*/ 0 h 242"/>
                <a:gd name="T4" fmla="*/ 136 w 136"/>
                <a:gd name="T5" fmla="*/ 242 h 242"/>
                <a:gd name="T6" fmla="*/ 0 w 136"/>
                <a:gd name="T7" fmla="*/ 242 h 242"/>
              </a:gdLst>
              <a:ahLst/>
              <a:cxnLst>
                <a:cxn ang="0">
                  <a:pos x="T0" y="T1"/>
                </a:cxn>
                <a:cxn ang="0">
                  <a:pos x="T2" y="T3"/>
                </a:cxn>
                <a:cxn ang="0">
                  <a:pos x="T4" y="T5"/>
                </a:cxn>
                <a:cxn ang="0">
                  <a:pos x="T6" y="T7"/>
                </a:cxn>
              </a:cxnLst>
              <a:rect l="0" t="0" r="r" b="b"/>
              <a:pathLst>
                <a:path w="136" h="242">
                  <a:moveTo>
                    <a:pt x="0" y="0"/>
                  </a:moveTo>
                  <a:lnTo>
                    <a:pt x="136" y="0"/>
                  </a:lnTo>
                  <a:lnTo>
                    <a:pt x="136"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49" name="Rectangle 45">
              <a:extLst>
                <a:ext uri="{FF2B5EF4-FFF2-40B4-BE49-F238E27FC236}">
                  <a16:creationId xmlns:a16="http://schemas.microsoft.com/office/drawing/2014/main" id="{2BD03237-7E71-4EE3-A0AB-0A2FBA6DFABF}"/>
                </a:ext>
              </a:extLst>
            </p:cNvPr>
            <p:cNvSpPr>
              <a:spLocks noChangeArrowheads="1"/>
            </p:cNvSpPr>
            <p:nvPr/>
          </p:nvSpPr>
          <p:spPr bwMode="auto">
            <a:xfrm>
              <a:off x="6636476" y="5484354"/>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50" name="Freeform 46">
              <a:extLst>
                <a:ext uri="{FF2B5EF4-FFF2-40B4-BE49-F238E27FC236}">
                  <a16:creationId xmlns:a16="http://schemas.microsoft.com/office/drawing/2014/main" id="{1541A1BE-CC24-4433-B5A5-6B636ABF8507}"/>
                </a:ext>
              </a:extLst>
            </p:cNvPr>
            <p:cNvSpPr>
              <a:spLocks/>
            </p:cNvSpPr>
            <p:nvPr/>
          </p:nvSpPr>
          <p:spPr bwMode="auto">
            <a:xfrm>
              <a:off x="6593549" y="5436658"/>
              <a:ext cx="192374" cy="384748"/>
            </a:xfrm>
            <a:custGeom>
              <a:avLst/>
              <a:gdLst>
                <a:gd name="T0" fmla="*/ 121 w 121"/>
                <a:gd name="T1" fmla="*/ 0 h 242"/>
                <a:gd name="T2" fmla="*/ 0 w 121"/>
                <a:gd name="T3" fmla="*/ 0 h 242"/>
                <a:gd name="T4" fmla="*/ 0 w 121"/>
                <a:gd name="T5" fmla="*/ 242 h 242"/>
                <a:gd name="T6" fmla="*/ 121 w 121"/>
                <a:gd name="T7" fmla="*/ 242 h 242"/>
              </a:gdLst>
              <a:ahLst/>
              <a:cxnLst>
                <a:cxn ang="0">
                  <a:pos x="T0" y="T1"/>
                </a:cxn>
                <a:cxn ang="0">
                  <a:pos x="T2" y="T3"/>
                </a:cxn>
                <a:cxn ang="0">
                  <a:pos x="T4" y="T5"/>
                </a:cxn>
                <a:cxn ang="0">
                  <a:pos x="T6" y="T7"/>
                </a:cxn>
              </a:cxnLst>
              <a:rect l="0" t="0" r="r" b="b"/>
              <a:pathLst>
                <a:path w="121" h="242">
                  <a:moveTo>
                    <a:pt x="121" y="0"/>
                  </a:moveTo>
                  <a:lnTo>
                    <a:pt x="0" y="0"/>
                  </a:lnTo>
                  <a:lnTo>
                    <a:pt x="0" y="242"/>
                  </a:lnTo>
                  <a:lnTo>
                    <a:pt x="121"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1" name="Freeform 47">
              <a:extLst>
                <a:ext uri="{FF2B5EF4-FFF2-40B4-BE49-F238E27FC236}">
                  <a16:creationId xmlns:a16="http://schemas.microsoft.com/office/drawing/2014/main" id="{AE60B3D0-925A-4A11-A822-20EE82643052}"/>
                </a:ext>
              </a:extLst>
            </p:cNvPr>
            <p:cNvSpPr>
              <a:spLocks/>
            </p:cNvSpPr>
            <p:nvPr/>
          </p:nvSpPr>
          <p:spPr bwMode="auto">
            <a:xfrm>
              <a:off x="6787513" y="5436658"/>
              <a:ext cx="190784" cy="384748"/>
            </a:xfrm>
            <a:custGeom>
              <a:avLst/>
              <a:gdLst>
                <a:gd name="T0" fmla="*/ 0 w 120"/>
                <a:gd name="T1" fmla="*/ 0 h 242"/>
                <a:gd name="T2" fmla="*/ 120 w 120"/>
                <a:gd name="T3" fmla="*/ 0 h 242"/>
                <a:gd name="T4" fmla="*/ 120 w 120"/>
                <a:gd name="T5" fmla="*/ 242 h 242"/>
                <a:gd name="T6" fmla="*/ 0 w 120"/>
                <a:gd name="T7" fmla="*/ 242 h 242"/>
              </a:gdLst>
              <a:ahLst/>
              <a:cxnLst>
                <a:cxn ang="0">
                  <a:pos x="T0" y="T1"/>
                </a:cxn>
                <a:cxn ang="0">
                  <a:pos x="T2" y="T3"/>
                </a:cxn>
                <a:cxn ang="0">
                  <a:pos x="T4" y="T5"/>
                </a:cxn>
                <a:cxn ang="0">
                  <a:pos x="T6" y="T7"/>
                </a:cxn>
              </a:cxnLst>
              <a:rect l="0" t="0" r="r" b="b"/>
              <a:pathLst>
                <a:path w="120" h="242">
                  <a:moveTo>
                    <a:pt x="0" y="0"/>
                  </a:moveTo>
                  <a:lnTo>
                    <a:pt x="120" y="0"/>
                  </a:lnTo>
                  <a:lnTo>
                    <a:pt x="120"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2" name="Line 48">
              <a:extLst>
                <a:ext uri="{FF2B5EF4-FFF2-40B4-BE49-F238E27FC236}">
                  <a16:creationId xmlns:a16="http://schemas.microsoft.com/office/drawing/2014/main" id="{6760B371-955A-4B9F-8E31-DAD44B11F3BE}"/>
                </a:ext>
              </a:extLst>
            </p:cNvPr>
            <p:cNvSpPr>
              <a:spLocks noChangeShapeType="1"/>
            </p:cNvSpPr>
            <p:nvPr/>
          </p:nvSpPr>
          <p:spPr bwMode="auto">
            <a:xfrm>
              <a:off x="6401175" y="5629032"/>
              <a:ext cx="184425"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3" name="Line 49">
              <a:extLst>
                <a:ext uri="{FF2B5EF4-FFF2-40B4-BE49-F238E27FC236}">
                  <a16:creationId xmlns:a16="http://schemas.microsoft.com/office/drawing/2014/main" id="{9D0B9965-AB99-4CC6-A873-7DF696E24F47}"/>
                </a:ext>
              </a:extLst>
            </p:cNvPr>
            <p:cNvSpPr>
              <a:spLocks noChangeShapeType="1"/>
            </p:cNvSpPr>
            <p:nvPr/>
          </p:nvSpPr>
          <p:spPr bwMode="auto">
            <a:xfrm>
              <a:off x="5750919" y="5629032"/>
              <a:ext cx="20986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4" name="Line 50">
              <a:extLst>
                <a:ext uri="{FF2B5EF4-FFF2-40B4-BE49-F238E27FC236}">
                  <a16:creationId xmlns:a16="http://schemas.microsoft.com/office/drawing/2014/main" id="{F37C71E9-7DD6-4C48-9C28-AA5B60EBFBAF}"/>
                </a:ext>
              </a:extLst>
            </p:cNvPr>
            <p:cNvSpPr>
              <a:spLocks noChangeShapeType="1"/>
            </p:cNvSpPr>
            <p:nvPr/>
          </p:nvSpPr>
          <p:spPr bwMode="auto">
            <a:xfrm>
              <a:off x="5237391" y="5757812"/>
              <a:ext cx="20827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5" name="Line 51">
              <a:extLst>
                <a:ext uri="{FF2B5EF4-FFF2-40B4-BE49-F238E27FC236}">
                  <a16:creationId xmlns:a16="http://schemas.microsoft.com/office/drawing/2014/main" id="{AD489DC4-EAFD-4AA3-987B-7EC4F2B9D144}"/>
                </a:ext>
              </a:extLst>
            </p:cNvPr>
            <p:cNvSpPr>
              <a:spLocks noChangeShapeType="1"/>
            </p:cNvSpPr>
            <p:nvPr/>
          </p:nvSpPr>
          <p:spPr bwMode="auto">
            <a:xfrm>
              <a:off x="5350272" y="5757812"/>
              <a:ext cx="0" cy="255969"/>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7" name="Line 53">
              <a:extLst>
                <a:ext uri="{FF2B5EF4-FFF2-40B4-BE49-F238E27FC236}">
                  <a16:creationId xmlns:a16="http://schemas.microsoft.com/office/drawing/2014/main" id="{FE2C3653-4899-4153-8DEE-4E30770AE547}"/>
                </a:ext>
              </a:extLst>
            </p:cNvPr>
            <p:cNvSpPr>
              <a:spLocks noChangeShapeType="1"/>
            </p:cNvSpPr>
            <p:nvPr/>
          </p:nvSpPr>
          <p:spPr bwMode="auto">
            <a:xfrm>
              <a:off x="5800205" y="5629032"/>
              <a:ext cx="0" cy="384748"/>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8" name="Line 54">
              <a:extLst>
                <a:ext uri="{FF2B5EF4-FFF2-40B4-BE49-F238E27FC236}">
                  <a16:creationId xmlns:a16="http://schemas.microsoft.com/office/drawing/2014/main" id="{D14A6C5A-4AB0-4FF9-B382-C3B8CC13847B}"/>
                </a:ext>
              </a:extLst>
            </p:cNvPr>
            <p:cNvSpPr>
              <a:spLocks noChangeShapeType="1"/>
            </p:cNvSpPr>
            <p:nvPr/>
          </p:nvSpPr>
          <p:spPr bwMode="auto">
            <a:xfrm>
              <a:off x="5903546" y="5629032"/>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59" name="Line 55">
              <a:extLst>
                <a:ext uri="{FF2B5EF4-FFF2-40B4-BE49-F238E27FC236}">
                  <a16:creationId xmlns:a16="http://schemas.microsoft.com/office/drawing/2014/main" id="{F1475BFA-6797-4A8C-AEB4-31F5DC8EECBE}"/>
                </a:ext>
              </a:extLst>
            </p:cNvPr>
            <p:cNvSpPr>
              <a:spLocks noChangeShapeType="1"/>
            </p:cNvSpPr>
            <p:nvPr/>
          </p:nvSpPr>
          <p:spPr bwMode="auto">
            <a:xfrm>
              <a:off x="5903546" y="5950186"/>
              <a:ext cx="578712"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60" name="Line 56">
              <a:extLst>
                <a:ext uri="{FF2B5EF4-FFF2-40B4-BE49-F238E27FC236}">
                  <a16:creationId xmlns:a16="http://schemas.microsoft.com/office/drawing/2014/main" id="{03761C45-7755-4701-BCD4-DB5E6CB3BDC0}"/>
                </a:ext>
              </a:extLst>
            </p:cNvPr>
            <p:cNvSpPr>
              <a:spLocks noChangeShapeType="1"/>
            </p:cNvSpPr>
            <p:nvPr/>
          </p:nvSpPr>
          <p:spPr bwMode="auto">
            <a:xfrm>
              <a:off x="6482259" y="5629032"/>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71" name="Rectangle 67">
              <a:extLst>
                <a:ext uri="{FF2B5EF4-FFF2-40B4-BE49-F238E27FC236}">
                  <a16:creationId xmlns:a16="http://schemas.microsoft.com/office/drawing/2014/main" id="{F3FCCF79-FEF9-444E-9C6E-8D79E875EB6C}"/>
                </a:ext>
              </a:extLst>
            </p:cNvPr>
            <p:cNvSpPr>
              <a:spLocks noChangeArrowheads="1"/>
            </p:cNvSpPr>
            <p:nvPr/>
          </p:nvSpPr>
          <p:spPr bwMode="auto">
            <a:xfrm>
              <a:off x="561586" y="3105910"/>
              <a:ext cx="529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I</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2" name="Rectangle 68">
              <a:extLst>
                <a:ext uri="{FF2B5EF4-FFF2-40B4-BE49-F238E27FC236}">
                  <a16:creationId xmlns:a16="http://schemas.microsoft.com/office/drawing/2014/main" id="{234331A9-18E6-4BE4-8D70-F483042F3DC0}"/>
                </a:ext>
              </a:extLst>
            </p:cNvPr>
            <p:cNvSpPr>
              <a:spLocks noChangeArrowheads="1"/>
            </p:cNvSpPr>
            <p:nvPr/>
          </p:nvSpPr>
          <p:spPr bwMode="auto">
            <a:xfrm>
              <a:off x="536148" y="3338031"/>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n</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3" name="Rectangle 69">
              <a:extLst>
                <a:ext uri="{FF2B5EF4-FFF2-40B4-BE49-F238E27FC236}">
                  <a16:creationId xmlns:a16="http://schemas.microsoft.com/office/drawing/2014/main" id="{0A5482C1-DCB9-4A30-9C31-2B69077136EC}"/>
                </a:ext>
              </a:extLst>
            </p:cNvPr>
            <p:cNvSpPr>
              <a:spLocks noChangeArrowheads="1"/>
            </p:cNvSpPr>
            <p:nvPr/>
          </p:nvSpPr>
          <p:spPr bwMode="auto">
            <a:xfrm>
              <a:off x="536148" y="3571742"/>
              <a:ext cx="9618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s</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4" name="Rectangle 70">
              <a:extLst>
                <a:ext uri="{FF2B5EF4-FFF2-40B4-BE49-F238E27FC236}">
                  <a16:creationId xmlns:a16="http://schemas.microsoft.com/office/drawing/2014/main" id="{2CDDF2FD-93E3-4A3D-B722-3BBEF02CB6C1}"/>
                </a:ext>
              </a:extLst>
            </p:cNvPr>
            <p:cNvSpPr>
              <a:spLocks noChangeArrowheads="1"/>
            </p:cNvSpPr>
            <p:nvPr/>
          </p:nvSpPr>
          <p:spPr bwMode="auto">
            <a:xfrm>
              <a:off x="561586" y="3803863"/>
              <a:ext cx="529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t</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5" name="Rectangle 71">
              <a:extLst>
                <a:ext uri="{FF2B5EF4-FFF2-40B4-BE49-F238E27FC236}">
                  <a16:creationId xmlns:a16="http://schemas.microsoft.com/office/drawing/2014/main" id="{A1EDA2E0-47EA-40ED-BF92-DC9270A2F3B8}"/>
                </a:ext>
              </a:extLst>
            </p:cNvPr>
            <p:cNvSpPr>
              <a:spLocks noChangeArrowheads="1"/>
            </p:cNvSpPr>
            <p:nvPr/>
          </p:nvSpPr>
          <p:spPr bwMode="auto">
            <a:xfrm>
              <a:off x="528199" y="4037574"/>
              <a:ext cx="10637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r.</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6" name="Rectangle 72">
              <a:extLst>
                <a:ext uri="{FF2B5EF4-FFF2-40B4-BE49-F238E27FC236}">
                  <a16:creationId xmlns:a16="http://schemas.microsoft.com/office/drawing/2014/main" id="{3CB0D212-1010-4A83-B633-F2DAD9DF3B00}"/>
                </a:ext>
              </a:extLst>
            </p:cNvPr>
            <p:cNvSpPr>
              <a:spLocks noChangeArrowheads="1"/>
            </p:cNvSpPr>
            <p:nvPr/>
          </p:nvSpPr>
          <p:spPr bwMode="auto">
            <a:xfrm>
              <a:off x="512300" y="4495456"/>
              <a:ext cx="14908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O</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7" name="Rectangle 73">
              <a:extLst>
                <a:ext uri="{FF2B5EF4-FFF2-40B4-BE49-F238E27FC236}">
                  <a16:creationId xmlns:a16="http://schemas.microsoft.com/office/drawing/2014/main" id="{D4A907DB-12DB-4CF4-A440-8A9A60F46D76}"/>
                </a:ext>
              </a:extLst>
            </p:cNvPr>
            <p:cNvSpPr>
              <a:spLocks noChangeArrowheads="1"/>
            </p:cNvSpPr>
            <p:nvPr/>
          </p:nvSpPr>
          <p:spPr bwMode="auto">
            <a:xfrm>
              <a:off x="553637" y="4727577"/>
              <a:ext cx="641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r</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8" name="Rectangle 74">
              <a:extLst>
                <a:ext uri="{FF2B5EF4-FFF2-40B4-BE49-F238E27FC236}">
                  <a16:creationId xmlns:a16="http://schemas.microsoft.com/office/drawing/2014/main" id="{7E1B3446-B2E7-4233-899E-B1221971469F}"/>
                </a:ext>
              </a:extLst>
            </p:cNvPr>
            <p:cNvSpPr>
              <a:spLocks noChangeArrowheads="1"/>
            </p:cNvSpPr>
            <p:nvPr/>
          </p:nvSpPr>
          <p:spPr bwMode="auto">
            <a:xfrm>
              <a:off x="536148" y="4961287"/>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d</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79" name="Rectangle 75">
              <a:extLst>
                <a:ext uri="{FF2B5EF4-FFF2-40B4-BE49-F238E27FC236}">
                  <a16:creationId xmlns:a16="http://schemas.microsoft.com/office/drawing/2014/main" id="{DB50F413-9A6B-4F18-BC70-C313E63614C4}"/>
                </a:ext>
              </a:extLst>
            </p:cNvPr>
            <p:cNvSpPr>
              <a:spLocks noChangeArrowheads="1"/>
            </p:cNvSpPr>
            <p:nvPr/>
          </p:nvSpPr>
          <p:spPr bwMode="auto">
            <a:xfrm>
              <a:off x="536148" y="5193408"/>
              <a:ext cx="1074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e</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80" name="Rectangle 76">
              <a:extLst>
                <a:ext uri="{FF2B5EF4-FFF2-40B4-BE49-F238E27FC236}">
                  <a16:creationId xmlns:a16="http://schemas.microsoft.com/office/drawing/2014/main" id="{D4C864D3-D81C-42DB-A215-CB36A5DA5258}"/>
                </a:ext>
              </a:extLst>
            </p:cNvPr>
            <p:cNvSpPr>
              <a:spLocks noChangeArrowheads="1"/>
            </p:cNvSpPr>
            <p:nvPr/>
          </p:nvSpPr>
          <p:spPr bwMode="auto">
            <a:xfrm>
              <a:off x="553637" y="5419170"/>
              <a:ext cx="641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r</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81" name="Freeform 77">
              <a:extLst>
                <a:ext uri="{FF2B5EF4-FFF2-40B4-BE49-F238E27FC236}">
                  <a16:creationId xmlns:a16="http://schemas.microsoft.com/office/drawing/2014/main" id="{F345B094-A4F2-416E-9F08-353B1D2CCE2E}"/>
                </a:ext>
              </a:extLst>
            </p:cNvPr>
            <p:cNvSpPr>
              <a:spLocks noEditPoints="1"/>
            </p:cNvSpPr>
            <p:nvPr/>
          </p:nvSpPr>
          <p:spPr bwMode="auto">
            <a:xfrm>
              <a:off x="1962261" y="2519249"/>
              <a:ext cx="5314932" cy="65185"/>
            </a:xfrm>
            <a:custGeom>
              <a:avLst/>
              <a:gdLst>
                <a:gd name="T0" fmla="*/ 0 w 3343"/>
                <a:gd name="T1" fmla="*/ 14 h 41"/>
                <a:gd name="T2" fmla="*/ 3309 w 3343"/>
                <a:gd name="T3" fmla="*/ 14 h 41"/>
                <a:gd name="T4" fmla="*/ 3309 w 3343"/>
                <a:gd name="T5" fmla="*/ 27 h 41"/>
                <a:gd name="T6" fmla="*/ 0 w 3343"/>
                <a:gd name="T7" fmla="*/ 27 h 41"/>
                <a:gd name="T8" fmla="*/ 0 w 3343"/>
                <a:gd name="T9" fmla="*/ 14 h 41"/>
                <a:gd name="T10" fmla="*/ 3302 w 3343"/>
                <a:gd name="T11" fmla="*/ 0 h 41"/>
                <a:gd name="T12" fmla="*/ 3343 w 3343"/>
                <a:gd name="T13" fmla="*/ 20 h 41"/>
                <a:gd name="T14" fmla="*/ 3302 w 3343"/>
                <a:gd name="T15" fmla="*/ 41 h 41"/>
                <a:gd name="T16" fmla="*/ 3302 w 3343"/>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3" h="41">
                  <a:moveTo>
                    <a:pt x="0" y="14"/>
                  </a:moveTo>
                  <a:lnTo>
                    <a:pt x="3309" y="14"/>
                  </a:lnTo>
                  <a:lnTo>
                    <a:pt x="3309" y="27"/>
                  </a:lnTo>
                  <a:lnTo>
                    <a:pt x="0" y="27"/>
                  </a:lnTo>
                  <a:lnTo>
                    <a:pt x="0" y="14"/>
                  </a:lnTo>
                  <a:close/>
                  <a:moveTo>
                    <a:pt x="3302" y="0"/>
                  </a:moveTo>
                  <a:lnTo>
                    <a:pt x="3343" y="20"/>
                  </a:lnTo>
                  <a:lnTo>
                    <a:pt x="3302" y="41"/>
                  </a:lnTo>
                  <a:lnTo>
                    <a:pt x="3302"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82" name="Rectangle 78">
              <a:extLst>
                <a:ext uri="{FF2B5EF4-FFF2-40B4-BE49-F238E27FC236}">
                  <a16:creationId xmlns:a16="http://schemas.microsoft.com/office/drawing/2014/main" id="{416BFF0F-A6C1-4092-8839-CBF876890081}"/>
                </a:ext>
              </a:extLst>
            </p:cNvPr>
            <p:cNvSpPr>
              <a:spLocks noChangeArrowheads="1"/>
            </p:cNvSpPr>
            <p:nvPr/>
          </p:nvSpPr>
          <p:spPr bwMode="auto">
            <a:xfrm>
              <a:off x="879560" y="2973951"/>
              <a:ext cx="4280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effectLst/>
                  <a:latin typeface="Arial" panose="020B0604020202020204" pitchFamily="34" charset="0"/>
                  <a:ea typeface="SimHei" panose="02010609060101010101" pitchFamily="49" charset="-122"/>
                </a:rPr>
                <a:t>add</a:t>
              </a:r>
              <a:endParaRPr kumimoji="0" lang="zh-CN" altLang="zh-CN" sz="1800" u="none" strike="noStrike" cap="none" normalizeH="0" baseline="0" dirty="0">
                <a:ln>
                  <a:noFill/>
                </a:ln>
                <a:effectLst/>
                <a:latin typeface="Arial" panose="020B0604020202020204" pitchFamily="34" charset="0"/>
                <a:ea typeface="SimHei" panose="02010609060101010101" pitchFamily="49" charset="-122"/>
              </a:endParaRPr>
            </a:p>
          </p:txBody>
        </p:sp>
        <p:sp>
          <p:nvSpPr>
            <p:cNvPr id="83" name="Rectangle 79">
              <a:extLst>
                <a:ext uri="{FF2B5EF4-FFF2-40B4-BE49-F238E27FC236}">
                  <a16:creationId xmlns:a16="http://schemas.microsoft.com/office/drawing/2014/main" id="{51F70B3C-5BEB-445D-BE62-7A6ADCD46CE6}"/>
                </a:ext>
              </a:extLst>
            </p:cNvPr>
            <p:cNvSpPr>
              <a:spLocks noChangeArrowheads="1"/>
            </p:cNvSpPr>
            <p:nvPr/>
          </p:nvSpPr>
          <p:spPr bwMode="auto">
            <a:xfrm>
              <a:off x="1408987" y="2981901"/>
              <a:ext cx="2276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9900"/>
                  </a:solidFill>
                  <a:effectLst/>
                  <a:latin typeface="Arial" panose="020B0604020202020204" pitchFamily="34" charset="0"/>
                  <a:ea typeface="SimHei" panose="02010609060101010101" pitchFamily="49" charset="-122"/>
                </a:rPr>
                <a:t>r1</a:t>
              </a:r>
              <a:endParaRPr kumimoji="0" lang="zh-CN" altLang="zh-CN" sz="1800" u="none" strike="noStrike" cap="none" normalizeH="0" baseline="0" dirty="0">
                <a:ln>
                  <a:noFill/>
                </a:ln>
                <a:solidFill>
                  <a:srgbClr val="009900"/>
                </a:solidFill>
                <a:effectLst/>
                <a:latin typeface="Arial" panose="020B0604020202020204" pitchFamily="34" charset="0"/>
                <a:ea typeface="SimHei" panose="02010609060101010101" pitchFamily="49" charset="-122"/>
              </a:endParaRPr>
            </a:p>
          </p:txBody>
        </p:sp>
        <p:sp>
          <p:nvSpPr>
            <p:cNvPr id="84" name="Rectangle 80">
              <a:extLst>
                <a:ext uri="{FF2B5EF4-FFF2-40B4-BE49-F238E27FC236}">
                  <a16:creationId xmlns:a16="http://schemas.microsoft.com/office/drawing/2014/main" id="{470AA171-979E-47A2-8CC3-E182AC6AB9FB}"/>
                </a:ext>
              </a:extLst>
            </p:cNvPr>
            <p:cNvSpPr>
              <a:spLocks noChangeArrowheads="1"/>
            </p:cNvSpPr>
            <p:nvPr/>
          </p:nvSpPr>
          <p:spPr bwMode="auto">
            <a:xfrm>
              <a:off x="1642697" y="2981901"/>
              <a:ext cx="59631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,r2,r3</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85" name="Freeform 81">
              <a:extLst>
                <a:ext uri="{FF2B5EF4-FFF2-40B4-BE49-F238E27FC236}">
                  <a16:creationId xmlns:a16="http://schemas.microsoft.com/office/drawing/2014/main" id="{45DE676F-19C6-4081-9848-657143894180}"/>
                </a:ext>
              </a:extLst>
            </p:cNvPr>
            <p:cNvSpPr>
              <a:spLocks noEditPoints="1"/>
            </p:cNvSpPr>
            <p:nvPr/>
          </p:nvSpPr>
          <p:spPr bwMode="auto">
            <a:xfrm>
              <a:off x="2946390" y="2655977"/>
              <a:ext cx="22258" cy="3748911"/>
            </a:xfrm>
            <a:custGeom>
              <a:avLst/>
              <a:gdLst>
                <a:gd name="T0" fmla="*/ 14 w 14"/>
                <a:gd name="T1" fmla="*/ 41 h 2358"/>
                <a:gd name="T2" fmla="*/ 0 w 14"/>
                <a:gd name="T3" fmla="*/ 54 h 2358"/>
                <a:gd name="T4" fmla="*/ 14 w 14"/>
                <a:gd name="T5" fmla="*/ 108 h 2358"/>
                <a:gd name="T6" fmla="*/ 0 w 14"/>
                <a:gd name="T7" fmla="*/ 149 h 2358"/>
                <a:gd name="T8" fmla="*/ 14 w 14"/>
                <a:gd name="T9" fmla="*/ 162 h 2358"/>
                <a:gd name="T10" fmla="*/ 14 w 14"/>
                <a:gd name="T11" fmla="*/ 229 h 2358"/>
                <a:gd name="T12" fmla="*/ 0 w 14"/>
                <a:gd name="T13" fmla="*/ 243 h 2358"/>
                <a:gd name="T14" fmla="*/ 14 w 14"/>
                <a:gd name="T15" fmla="*/ 297 h 2358"/>
                <a:gd name="T16" fmla="*/ 0 w 14"/>
                <a:gd name="T17" fmla="*/ 337 h 2358"/>
                <a:gd name="T18" fmla="*/ 14 w 14"/>
                <a:gd name="T19" fmla="*/ 351 h 2358"/>
                <a:gd name="T20" fmla="*/ 14 w 14"/>
                <a:gd name="T21" fmla="*/ 418 h 2358"/>
                <a:gd name="T22" fmla="*/ 0 w 14"/>
                <a:gd name="T23" fmla="*/ 432 h 2358"/>
                <a:gd name="T24" fmla="*/ 14 w 14"/>
                <a:gd name="T25" fmla="*/ 485 h 2358"/>
                <a:gd name="T26" fmla="*/ 0 w 14"/>
                <a:gd name="T27" fmla="*/ 526 h 2358"/>
                <a:gd name="T28" fmla="*/ 14 w 14"/>
                <a:gd name="T29" fmla="*/ 539 h 2358"/>
                <a:gd name="T30" fmla="*/ 14 w 14"/>
                <a:gd name="T31" fmla="*/ 607 h 2358"/>
                <a:gd name="T32" fmla="*/ 0 w 14"/>
                <a:gd name="T33" fmla="*/ 620 h 2358"/>
                <a:gd name="T34" fmla="*/ 14 w 14"/>
                <a:gd name="T35" fmla="*/ 674 h 2358"/>
                <a:gd name="T36" fmla="*/ 0 w 14"/>
                <a:gd name="T37" fmla="*/ 715 h 2358"/>
                <a:gd name="T38" fmla="*/ 14 w 14"/>
                <a:gd name="T39" fmla="*/ 728 h 2358"/>
                <a:gd name="T40" fmla="*/ 14 w 14"/>
                <a:gd name="T41" fmla="*/ 795 h 2358"/>
                <a:gd name="T42" fmla="*/ 0 w 14"/>
                <a:gd name="T43" fmla="*/ 809 h 2358"/>
                <a:gd name="T44" fmla="*/ 14 w 14"/>
                <a:gd name="T45" fmla="*/ 863 h 2358"/>
                <a:gd name="T46" fmla="*/ 0 w 14"/>
                <a:gd name="T47" fmla="*/ 903 h 2358"/>
                <a:gd name="T48" fmla="*/ 14 w 14"/>
                <a:gd name="T49" fmla="*/ 917 h 2358"/>
                <a:gd name="T50" fmla="*/ 14 w 14"/>
                <a:gd name="T51" fmla="*/ 984 h 2358"/>
                <a:gd name="T52" fmla="*/ 0 w 14"/>
                <a:gd name="T53" fmla="*/ 998 h 2358"/>
                <a:gd name="T54" fmla="*/ 14 w 14"/>
                <a:gd name="T55" fmla="*/ 1051 h 2358"/>
                <a:gd name="T56" fmla="*/ 0 w 14"/>
                <a:gd name="T57" fmla="*/ 1092 h 2358"/>
                <a:gd name="T58" fmla="*/ 14 w 14"/>
                <a:gd name="T59" fmla="*/ 1105 h 2358"/>
                <a:gd name="T60" fmla="*/ 14 w 14"/>
                <a:gd name="T61" fmla="*/ 1173 h 2358"/>
                <a:gd name="T62" fmla="*/ 0 w 14"/>
                <a:gd name="T63" fmla="*/ 1186 h 2358"/>
                <a:gd name="T64" fmla="*/ 14 w 14"/>
                <a:gd name="T65" fmla="*/ 1240 h 2358"/>
                <a:gd name="T66" fmla="*/ 0 w 14"/>
                <a:gd name="T67" fmla="*/ 1281 h 2358"/>
                <a:gd name="T68" fmla="*/ 14 w 14"/>
                <a:gd name="T69" fmla="*/ 1294 h 2358"/>
                <a:gd name="T70" fmla="*/ 14 w 14"/>
                <a:gd name="T71" fmla="*/ 1361 h 2358"/>
                <a:gd name="T72" fmla="*/ 0 w 14"/>
                <a:gd name="T73" fmla="*/ 1375 h 2358"/>
                <a:gd name="T74" fmla="*/ 14 w 14"/>
                <a:gd name="T75" fmla="*/ 1429 h 2358"/>
                <a:gd name="T76" fmla="*/ 0 w 14"/>
                <a:gd name="T77" fmla="*/ 1469 h 2358"/>
                <a:gd name="T78" fmla="*/ 14 w 14"/>
                <a:gd name="T79" fmla="*/ 1483 h 2358"/>
                <a:gd name="T80" fmla="*/ 14 w 14"/>
                <a:gd name="T81" fmla="*/ 1550 h 2358"/>
                <a:gd name="T82" fmla="*/ 0 w 14"/>
                <a:gd name="T83" fmla="*/ 1564 h 2358"/>
                <a:gd name="T84" fmla="*/ 14 w 14"/>
                <a:gd name="T85" fmla="*/ 1617 h 2358"/>
                <a:gd name="T86" fmla="*/ 0 w 14"/>
                <a:gd name="T87" fmla="*/ 1658 h 2358"/>
                <a:gd name="T88" fmla="*/ 14 w 14"/>
                <a:gd name="T89" fmla="*/ 1671 h 2358"/>
                <a:gd name="T90" fmla="*/ 14 w 14"/>
                <a:gd name="T91" fmla="*/ 1738 h 2358"/>
                <a:gd name="T92" fmla="*/ 0 w 14"/>
                <a:gd name="T93" fmla="*/ 1752 h 2358"/>
                <a:gd name="T94" fmla="*/ 14 w 14"/>
                <a:gd name="T95" fmla="*/ 1806 h 2358"/>
                <a:gd name="T96" fmla="*/ 0 w 14"/>
                <a:gd name="T97" fmla="*/ 1846 h 2358"/>
                <a:gd name="T98" fmla="*/ 14 w 14"/>
                <a:gd name="T99" fmla="*/ 1860 h 2358"/>
                <a:gd name="T100" fmla="*/ 14 w 14"/>
                <a:gd name="T101" fmla="*/ 1927 h 2358"/>
                <a:gd name="T102" fmla="*/ 0 w 14"/>
                <a:gd name="T103" fmla="*/ 1941 h 2358"/>
                <a:gd name="T104" fmla="*/ 14 w 14"/>
                <a:gd name="T105" fmla="*/ 1995 h 2358"/>
                <a:gd name="T106" fmla="*/ 0 w 14"/>
                <a:gd name="T107" fmla="*/ 2035 h 2358"/>
                <a:gd name="T108" fmla="*/ 14 w 14"/>
                <a:gd name="T109" fmla="*/ 2049 h 2358"/>
                <a:gd name="T110" fmla="*/ 14 w 14"/>
                <a:gd name="T111" fmla="*/ 2116 h 2358"/>
                <a:gd name="T112" fmla="*/ 0 w 14"/>
                <a:gd name="T113" fmla="*/ 2129 h 2358"/>
                <a:gd name="T114" fmla="*/ 14 w 14"/>
                <a:gd name="T115" fmla="*/ 2183 h 2358"/>
                <a:gd name="T116" fmla="*/ 0 w 14"/>
                <a:gd name="T117" fmla="*/ 2224 h 2358"/>
                <a:gd name="T118" fmla="*/ 14 w 14"/>
                <a:gd name="T119" fmla="*/ 2237 h 2358"/>
                <a:gd name="T120" fmla="*/ 14 w 14"/>
                <a:gd name="T121" fmla="*/ 2304 h 2358"/>
                <a:gd name="T122" fmla="*/ 0 w 14"/>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 h="2358">
                  <a:moveTo>
                    <a:pt x="14" y="0"/>
                  </a:moveTo>
                  <a:lnTo>
                    <a:pt x="14" y="14"/>
                  </a:lnTo>
                  <a:lnTo>
                    <a:pt x="0" y="14"/>
                  </a:lnTo>
                  <a:lnTo>
                    <a:pt x="0" y="0"/>
                  </a:lnTo>
                  <a:lnTo>
                    <a:pt x="14" y="0"/>
                  </a:lnTo>
                  <a:close/>
                  <a:moveTo>
                    <a:pt x="14" y="27"/>
                  </a:moveTo>
                  <a:lnTo>
                    <a:pt x="14" y="41"/>
                  </a:lnTo>
                  <a:lnTo>
                    <a:pt x="0" y="41"/>
                  </a:lnTo>
                  <a:lnTo>
                    <a:pt x="0" y="27"/>
                  </a:lnTo>
                  <a:lnTo>
                    <a:pt x="14" y="27"/>
                  </a:lnTo>
                  <a:close/>
                  <a:moveTo>
                    <a:pt x="14" y="54"/>
                  </a:moveTo>
                  <a:lnTo>
                    <a:pt x="14" y="68"/>
                  </a:lnTo>
                  <a:lnTo>
                    <a:pt x="0" y="68"/>
                  </a:lnTo>
                  <a:lnTo>
                    <a:pt x="0" y="54"/>
                  </a:lnTo>
                  <a:lnTo>
                    <a:pt x="14" y="54"/>
                  </a:lnTo>
                  <a:close/>
                  <a:moveTo>
                    <a:pt x="14" y="81"/>
                  </a:moveTo>
                  <a:lnTo>
                    <a:pt x="14" y="95"/>
                  </a:lnTo>
                  <a:lnTo>
                    <a:pt x="0" y="95"/>
                  </a:lnTo>
                  <a:lnTo>
                    <a:pt x="0" y="81"/>
                  </a:lnTo>
                  <a:lnTo>
                    <a:pt x="14" y="81"/>
                  </a:lnTo>
                  <a:close/>
                  <a:moveTo>
                    <a:pt x="14" y="108"/>
                  </a:moveTo>
                  <a:lnTo>
                    <a:pt x="14" y="121"/>
                  </a:lnTo>
                  <a:lnTo>
                    <a:pt x="0" y="121"/>
                  </a:lnTo>
                  <a:lnTo>
                    <a:pt x="0" y="108"/>
                  </a:lnTo>
                  <a:lnTo>
                    <a:pt x="14" y="108"/>
                  </a:lnTo>
                  <a:close/>
                  <a:moveTo>
                    <a:pt x="14" y="135"/>
                  </a:moveTo>
                  <a:lnTo>
                    <a:pt x="14" y="149"/>
                  </a:lnTo>
                  <a:lnTo>
                    <a:pt x="0" y="149"/>
                  </a:lnTo>
                  <a:lnTo>
                    <a:pt x="0" y="135"/>
                  </a:lnTo>
                  <a:lnTo>
                    <a:pt x="14" y="135"/>
                  </a:lnTo>
                  <a:close/>
                  <a:moveTo>
                    <a:pt x="14" y="162"/>
                  </a:moveTo>
                  <a:lnTo>
                    <a:pt x="14" y="175"/>
                  </a:lnTo>
                  <a:lnTo>
                    <a:pt x="0" y="175"/>
                  </a:lnTo>
                  <a:lnTo>
                    <a:pt x="0" y="162"/>
                  </a:lnTo>
                  <a:lnTo>
                    <a:pt x="14" y="162"/>
                  </a:lnTo>
                  <a:close/>
                  <a:moveTo>
                    <a:pt x="14" y="189"/>
                  </a:moveTo>
                  <a:lnTo>
                    <a:pt x="14" y="202"/>
                  </a:lnTo>
                  <a:lnTo>
                    <a:pt x="0" y="202"/>
                  </a:lnTo>
                  <a:lnTo>
                    <a:pt x="0" y="189"/>
                  </a:lnTo>
                  <a:lnTo>
                    <a:pt x="14" y="189"/>
                  </a:lnTo>
                  <a:close/>
                  <a:moveTo>
                    <a:pt x="14" y="216"/>
                  </a:moveTo>
                  <a:lnTo>
                    <a:pt x="14" y="229"/>
                  </a:lnTo>
                  <a:lnTo>
                    <a:pt x="0" y="229"/>
                  </a:lnTo>
                  <a:lnTo>
                    <a:pt x="0" y="216"/>
                  </a:lnTo>
                  <a:lnTo>
                    <a:pt x="14" y="216"/>
                  </a:lnTo>
                  <a:close/>
                  <a:moveTo>
                    <a:pt x="14" y="243"/>
                  </a:moveTo>
                  <a:lnTo>
                    <a:pt x="14" y="256"/>
                  </a:lnTo>
                  <a:lnTo>
                    <a:pt x="0" y="256"/>
                  </a:lnTo>
                  <a:lnTo>
                    <a:pt x="0" y="243"/>
                  </a:lnTo>
                  <a:lnTo>
                    <a:pt x="14" y="243"/>
                  </a:lnTo>
                  <a:close/>
                  <a:moveTo>
                    <a:pt x="14" y="270"/>
                  </a:moveTo>
                  <a:lnTo>
                    <a:pt x="14" y="283"/>
                  </a:lnTo>
                  <a:lnTo>
                    <a:pt x="0" y="283"/>
                  </a:lnTo>
                  <a:lnTo>
                    <a:pt x="0" y="270"/>
                  </a:lnTo>
                  <a:lnTo>
                    <a:pt x="14" y="270"/>
                  </a:lnTo>
                  <a:close/>
                  <a:moveTo>
                    <a:pt x="14" y="297"/>
                  </a:moveTo>
                  <a:lnTo>
                    <a:pt x="14" y="310"/>
                  </a:lnTo>
                  <a:lnTo>
                    <a:pt x="0" y="310"/>
                  </a:lnTo>
                  <a:lnTo>
                    <a:pt x="0" y="297"/>
                  </a:lnTo>
                  <a:lnTo>
                    <a:pt x="14" y="297"/>
                  </a:lnTo>
                  <a:close/>
                  <a:moveTo>
                    <a:pt x="14" y="324"/>
                  </a:moveTo>
                  <a:lnTo>
                    <a:pt x="14" y="337"/>
                  </a:lnTo>
                  <a:lnTo>
                    <a:pt x="0" y="337"/>
                  </a:lnTo>
                  <a:lnTo>
                    <a:pt x="0" y="324"/>
                  </a:lnTo>
                  <a:lnTo>
                    <a:pt x="14" y="324"/>
                  </a:lnTo>
                  <a:close/>
                  <a:moveTo>
                    <a:pt x="14" y="351"/>
                  </a:moveTo>
                  <a:lnTo>
                    <a:pt x="14" y="364"/>
                  </a:lnTo>
                  <a:lnTo>
                    <a:pt x="0" y="364"/>
                  </a:lnTo>
                  <a:lnTo>
                    <a:pt x="0" y="351"/>
                  </a:lnTo>
                  <a:lnTo>
                    <a:pt x="14" y="351"/>
                  </a:lnTo>
                  <a:close/>
                  <a:moveTo>
                    <a:pt x="14" y="378"/>
                  </a:moveTo>
                  <a:lnTo>
                    <a:pt x="14" y="391"/>
                  </a:lnTo>
                  <a:lnTo>
                    <a:pt x="0" y="391"/>
                  </a:lnTo>
                  <a:lnTo>
                    <a:pt x="0" y="378"/>
                  </a:lnTo>
                  <a:lnTo>
                    <a:pt x="14" y="378"/>
                  </a:lnTo>
                  <a:close/>
                  <a:moveTo>
                    <a:pt x="14" y="404"/>
                  </a:moveTo>
                  <a:lnTo>
                    <a:pt x="14" y="418"/>
                  </a:lnTo>
                  <a:lnTo>
                    <a:pt x="0" y="418"/>
                  </a:lnTo>
                  <a:lnTo>
                    <a:pt x="0" y="404"/>
                  </a:lnTo>
                  <a:lnTo>
                    <a:pt x="14" y="404"/>
                  </a:lnTo>
                  <a:close/>
                  <a:moveTo>
                    <a:pt x="14" y="432"/>
                  </a:moveTo>
                  <a:lnTo>
                    <a:pt x="14" y="445"/>
                  </a:lnTo>
                  <a:lnTo>
                    <a:pt x="0" y="445"/>
                  </a:lnTo>
                  <a:lnTo>
                    <a:pt x="0" y="432"/>
                  </a:lnTo>
                  <a:lnTo>
                    <a:pt x="14" y="432"/>
                  </a:lnTo>
                  <a:close/>
                  <a:moveTo>
                    <a:pt x="14" y="458"/>
                  </a:moveTo>
                  <a:lnTo>
                    <a:pt x="14" y="472"/>
                  </a:lnTo>
                  <a:lnTo>
                    <a:pt x="0" y="472"/>
                  </a:lnTo>
                  <a:lnTo>
                    <a:pt x="0" y="458"/>
                  </a:lnTo>
                  <a:lnTo>
                    <a:pt x="14" y="458"/>
                  </a:lnTo>
                  <a:close/>
                  <a:moveTo>
                    <a:pt x="14" y="485"/>
                  </a:moveTo>
                  <a:lnTo>
                    <a:pt x="14" y="499"/>
                  </a:lnTo>
                  <a:lnTo>
                    <a:pt x="0" y="499"/>
                  </a:lnTo>
                  <a:lnTo>
                    <a:pt x="0" y="485"/>
                  </a:lnTo>
                  <a:lnTo>
                    <a:pt x="14" y="485"/>
                  </a:lnTo>
                  <a:close/>
                  <a:moveTo>
                    <a:pt x="14" y="512"/>
                  </a:moveTo>
                  <a:lnTo>
                    <a:pt x="14" y="526"/>
                  </a:lnTo>
                  <a:lnTo>
                    <a:pt x="0" y="526"/>
                  </a:lnTo>
                  <a:lnTo>
                    <a:pt x="0" y="512"/>
                  </a:lnTo>
                  <a:lnTo>
                    <a:pt x="14" y="512"/>
                  </a:lnTo>
                  <a:close/>
                  <a:moveTo>
                    <a:pt x="14" y="539"/>
                  </a:moveTo>
                  <a:lnTo>
                    <a:pt x="14" y="553"/>
                  </a:lnTo>
                  <a:lnTo>
                    <a:pt x="0" y="553"/>
                  </a:lnTo>
                  <a:lnTo>
                    <a:pt x="0" y="539"/>
                  </a:lnTo>
                  <a:lnTo>
                    <a:pt x="14" y="539"/>
                  </a:lnTo>
                  <a:close/>
                  <a:moveTo>
                    <a:pt x="14" y="566"/>
                  </a:moveTo>
                  <a:lnTo>
                    <a:pt x="14" y="580"/>
                  </a:lnTo>
                  <a:lnTo>
                    <a:pt x="0" y="580"/>
                  </a:lnTo>
                  <a:lnTo>
                    <a:pt x="0" y="566"/>
                  </a:lnTo>
                  <a:lnTo>
                    <a:pt x="14" y="566"/>
                  </a:lnTo>
                  <a:close/>
                  <a:moveTo>
                    <a:pt x="14" y="593"/>
                  </a:moveTo>
                  <a:lnTo>
                    <a:pt x="14" y="607"/>
                  </a:lnTo>
                  <a:lnTo>
                    <a:pt x="0" y="607"/>
                  </a:lnTo>
                  <a:lnTo>
                    <a:pt x="0" y="593"/>
                  </a:lnTo>
                  <a:lnTo>
                    <a:pt x="14" y="593"/>
                  </a:lnTo>
                  <a:close/>
                  <a:moveTo>
                    <a:pt x="14" y="620"/>
                  </a:moveTo>
                  <a:lnTo>
                    <a:pt x="14" y="634"/>
                  </a:lnTo>
                  <a:lnTo>
                    <a:pt x="0" y="634"/>
                  </a:lnTo>
                  <a:lnTo>
                    <a:pt x="0" y="620"/>
                  </a:lnTo>
                  <a:lnTo>
                    <a:pt x="14" y="620"/>
                  </a:lnTo>
                  <a:close/>
                  <a:moveTo>
                    <a:pt x="14" y="647"/>
                  </a:moveTo>
                  <a:lnTo>
                    <a:pt x="14" y="661"/>
                  </a:lnTo>
                  <a:lnTo>
                    <a:pt x="0" y="661"/>
                  </a:lnTo>
                  <a:lnTo>
                    <a:pt x="0" y="647"/>
                  </a:lnTo>
                  <a:lnTo>
                    <a:pt x="14" y="647"/>
                  </a:lnTo>
                  <a:close/>
                  <a:moveTo>
                    <a:pt x="14" y="674"/>
                  </a:moveTo>
                  <a:lnTo>
                    <a:pt x="14" y="687"/>
                  </a:lnTo>
                  <a:lnTo>
                    <a:pt x="0" y="687"/>
                  </a:lnTo>
                  <a:lnTo>
                    <a:pt x="0" y="674"/>
                  </a:lnTo>
                  <a:lnTo>
                    <a:pt x="14" y="674"/>
                  </a:lnTo>
                  <a:close/>
                  <a:moveTo>
                    <a:pt x="14" y="701"/>
                  </a:moveTo>
                  <a:lnTo>
                    <a:pt x="14" y="715"/>
                  </a:lnTo>
                  <a:lnTo>
                    <a:pt x="0" y="715"/>
                  </a:lnTo>
                  <a:lnTo>
                    <a:pt x="0" y="701"/>
                  </a:lnTo>
                  <a:lnTo>
                    <a:pt x="14" y="701"/>
                  </a:lnTo>
                  <a:close/>
                  <a:moveTo>
                    <a:pt x="14" y="728"/>
                  </a:moveTo>
                  <a:lnTo>
                    <a:pt x="14" y="741"/>
                  </a:lnTo>
                  <a:lnTo>
                    <a:pt x="0" y="741"/>
                  </a:lnTo>
                  <a:lnTo>
                    <a:pt x="0" y="728"/>
                  </a:lnTo>
                  <a:lnTo>
                    <a:pt x="14" y="728"/>
                  </a:lnTo>
                  <a:close/>
                  <a:moveTo>
                    <a:pt x="14" y="755"/>
                  </a:moveTo>
                  <a:lnTo>
                    <a:pt x="14" y="768"/>
                  </a:lnTo>
                  <a:lnTo>
                    <a:pt x="0" y="768"/>
                  </a:lnTo>
                  <a:lnTo>
                    <a:pt x="0" y="755"/>
                  </a:lnTo>
                  <a:lnTo>
                    <a:pt x="14" y="755"/>
                  </a:lnTo>
                  <a:close/>
                  <a:moveTo>
                    <a:pt x="14" y="782"/>
                  </a:moveTo>
                  <a:lnTo>
                    <a:pt x="14" y="795"/>
                  </a:lnTo>
                  <a:lnTo>
                    <a:pt x="0" y="795"/>
                  </a:lnTo>
                  <a:lnTo>
                    <a:pt x="0" y="782"/>
                  </a:lnTo>
                  <a:lnTo>
                    <a:pt x="14" y="782"/>
                  </a:lnTo>
                  <a:close/>
                  <a:moveTo>
                    <a:pt x="14" y="809"/>
                  </a:moveTo>
                  <a:lnTo>
                    <a:pt x="14" y="822"/>
                  </a:lnTo>
                  <a:lnTo>
                    <a:pt x="0" y="822"/>
                  </a:lnTo>
                  <a:lnTo>
                    <a:pt x="0" y="809"/>
                  </a:lnTo>
                  <a:lnTo>
                    <a:pt x="14" y="809"/>
                  </a:lnTo>
                  <a:close/>
                  <a:moveTo>
                    <a:pt x="14" y="836"/>
                  </a:moveTo>
                  <a:lnTo>
                    <a:pt x="14" y="849"/>
                  </a:lnTo>
                  <a:lnTo>
                    <a:pt x="0" y="849"/>
                  </a:lnTo>
                  <a:lnTo>
                    <a:pt x="0" y="836"/>
                  </a:lnTo>
                  <a:lnTo>
                    <a:pt x="14" y="836"/>
                  </a:lnTo>
                  <a:close/>
                  <a:moveTo>
                    <a:pt x="14" y="863"/>
                  </a:moveTo>
                  <a:lnTo>
                    <a:pt x="14" y="876"/>
                  </a:lnTo>
                  <a:lnTo>
                    <a:pt x="0" y="876"/>
                  </a:lnTo>
                  <a:lnTo>
                    <a:pt x="0" y="863"/>
                  </a:lnTo>
                  <a:lnTo>
                    <a:pt x="14" y="863"/>
                  </a:lnTo>
                  <a:close/>
                  <a:moveTo>
                    <a:pt x="14" y="890"/>
                  </a:moveTo>
                  <a:lnTo>
                    <a:pt x="14" y="903"/>
                  </a:lnTo>
                  <a:lnTo>
                    <a:pt x="0" y="903"/>
                  </a:lnTo>
                  <a:lnTo>
                    <a:pt x="0" y="890"/>
                  </a:lnTo>
                  <a:lnTo>
                    <a:pt x="14" y="890"/>
                  </a:lnTo>
                  <a:close/>
                  <a:moveTo>
                    <a:pt x="14" y="917"/>
                  </a:moveTo>
                  <a:lnTo>
                    <a:pt x="14" y="930"/>
                  </a:lnTo>
                  <a:lnTo>
                    <a:pt x="0" y="930"/>
                  </a:lnTo>
                  <a:lnTo>
                    <a:pt x="0" y="917"/>
                  </a:lnTo>
                  <a:lnTo>
                    <a:pt x="14" y="917"/>
                  </a:lnTo>
                  <a:close/>
                  <a:moveTo>
                    <a:pt x="14" y="944"/>
                  </a:moveTo>
                  <a:lnTo>
                    <a:pt x="14" y="957"/>
                  </a:lnTo>
                  <a:lnTo>
                    <a:pt x="0" y="957"/>
                  </a:lnTo>
                  <a:lnTo>
                    <a:pt x="0" y="944"/>
                  </a:lnTo>
                  <a:lnTo>
                    <a:pt x="14" y="944"/>
                  </a:lnTo>
                  <a:close/>
                  <a:moveTo>
                    <a:pt x="14" y="970"/>
                  </a:moveTo>
                  <a:lnTo>
                    <a:pt x="14" y="984"/>
                  </a:lnTo>
                  <a:lnTo>
                    <a:pt x="0" y="984"/>
                  </a:lnTo>
                  <a:lnTo>
                    <a:pt x="0" y="970"/>
                  </a:lnTo>
                  <a:lnTo>
                    <a:pt x="14" y="970"/>
                  </a:lnTo>
                  <a:close/>
                  <a:moveTo>
                    <a:pt x="14" y="998"/>
                  </a:moveTo>
                  <a:lnTo>
                    <a:pt x="14" y="1011"/>
                  </a:lnTo>
                  <a:lnTo>
                    <a:pt x="0" y="1011"/>
                  </a:lnTo>
                  <a:lnTo>
                    <a:pt x="0" y="998"/>
                  </a:lnTo>
                  <a:lnTo>
                    <a:pt x="14" y="998"/>
                  </a:lnTo>
                  <a:close/>
                  <a:moveTo>
                    <a:pt x="14" y="1024"/>
                  </a:moveTo>
                  <a:lnTo>
                    <a:pt x="14" y="1038"/>
                  </a:lnTo>
                  <a:lnTo>
                    <a:pt x="0" y="1038"/>
                  </a:lnTo>
                  <a:lnTo>
                    <a:pt x="0" y="1024"/>
                  </a:lnTo>
                  <a:lnTo>
                    <a:pt x="14" y="1024"/>
                  </a:lnTo>
                  <a:close/>
                  <a:moveTo>
                    <a:pt x="14" y="1051"/>
                  </a:moveTo>
                  <a:lnTo>
                    <a:pt x="14" y="1065"/>
                  </a:lnTo>
                  <a:lnTo>
                    <a:pt x="0" y="1065"/>
                  </a:lnTo>
                  <a:lnTo>
                    <a:pt x="0" y="1051"/>
                  </a:lnTo>
                  <a:lnTo>
                    <a:pt x="14" y="1051"/>
                  </a:lnTo>
                  <a:close/>
                  <a:moveTo>
                    <a:pt x="14" y="1078"/>
                  </a:moveTo>
                  <a:lnTo>
                    <a:pt x="14" y="1092"/>
                  </a:lnTo>
                  <a:lnTo>
                    <a:pt x="0" y="1092"/>
                  </a:lnTo>
                  <a:lnTo>
                    <a:pt x="0" y="1078"/>
                  </a:lnTo>
                  <a:lnTo>
                    <a:pt x="14" y="1078"/>
                  </a:lnTo>
                  <a:close/>
                  <a:moveTo>
                    <a:pt x="14" y="1105"/>
                  </a:moveTo>
                  <a:lnTo>
                    <a:pt x="14" y="1119"/>
                  </a:lnTo>
                  <a:lnTo>
                    <a:pt x="0" y="1119"/>
                  </a:lnTo>
                  <a:lnTo>
                    <a:pt x="0" y="1105"/>
                  </a:lnTo>
                  <a:lnTo>
                    <a:pt x="14" y="1105"/>
                  </a:lnTo>
                  <a:close/>
                  <a:moveTo>
                    <a:pt x="14" y="1132"/>
                  </a:moveTo>
                  <a:lnTo>
                    <a:pt x="14" y="1146"/>
                  </a:lnTo>
                  <a:lnTo>
                    <a:pt x="0" y="1146"/>
                  </a:lnTo>
                  <a:lnTo>
                    <a:pt x="0" y="1132"/>
                  </a:lnTo>
                  <a:lnTo>
                    <a:pt x="14" y="1132"/>
                  </a:lnTo>
                  <a:close/>
                  <a:moveTo>
                    <a:pt x="14" y="1159"/>
                  </a:moveTo>
                  <a:lnTo>
                    <a:pt x="14" y="1173"/>
                  </a:lnTo>
                  <a:lnTo>
                    <a:pt x="0" y="1173"/>
                  </a:lnTo>
                  <a:lnTo>
                    <a:pt x="0" y="1159"/>
                  </a:lnTo>
                  <a:lnTo>
                    <a:pt x="14" y="1159"/>
                  </a:lnTo>
                  <a:close/>
                  <a:moveTo>
                    <a:pt x="14" y="1186"/>
                  </a:moveTo>
                  <a:lnTo>
                    <a:pt x="14" y="1200"/>
                  </a:lnTo>
                  <a:lnTo>
                    <a:pt x="0" y="1200"/>
                  </a:lnTo>
                  <a:lnTo>
                    <a:pt x="0" y="1186"/>
                  </a:lnTo>
                  <a:lnTo>
                    <a:pt x="14" y="1186"/>
                  </a:lnTo>
                  <a:close/>
                  <a:moveTo>
                    <a:pt x="14" y="1213"/>
                  </a:moveTo>
                  <a:lnTo>
                    <a:pt x="14" y="1227"/>
                  </a:lnTo>
                  <a:lnTo>
                    <a:pt x="0" y="1227"/>
                  </a:lnTo>
                  <a:lnTo>
                    <a:pt x="0" y="1213"/>
                  </a:lnTo>
                  <a:lnTo>
                    <a:pt x="14" y="1213"/>
                  </a:lnTo>
                  <a:close/>
                  <a:moveTo>
                    <a:pt x="14" y="1240"/>
                  </a:moveTo>
                  <a:lnTo>
                    <a:pt x="14" y="1253"/>
                  </a:lnTo>
                  <a:lnTo>
                    <a:pt x="0" y="1253"/>
                  </a:lnTo>
                  <a:lnTo>
                    <a:pt x="0" y="1240"/>
                  </a:lnTo>
                  <a:lnTo>
                    <a:pt x="14" y="1240"/>
                  </a:lnTo>
                  <a:close/>
                  <a:moveTo>
                    <a:pt x="14" y="1267"/>
                  </a:moveTo>
                  <a:lnTo>
                    <a:pt x="14" y="1281"/>
                  </a:lnTo>
                  <a:lnTo>
                    <a:pt x="0" y="1281"/>
                  </a:lnTo>
                  <a:lnTo>
                    <a:pt x="0" y="1267"/>
                  </a:lnTo>
                  <a:lnTo>
                    <a:pt x="14" y="1267"/>
                  </a:lnTo>
                  <a:close/>
                  <a:moveTo>
                    <a:pt x="14" y="1294"/>
                  </a:moveTo>
                  <a:lnTo>
                    <a:pt x="14" y="1307"/>
                  </a:lnTo>
                  <a:lnTo>
                    <a:pt x="0" y="1307"/>
                  </a:lnTo>
                  <a:lnTo>
                    <a:pt x="0" y="1294"/>
                  </a:lnTo>
                  <a:lnTo>
                    <a:pt x="14" y="1294"/>
                  </a:lnTo>
                  <a:close/>
                  <a:moveTo>
                    <a:pt x="14" y="1321"/>
                  </a:moveTo>
                  <a:lnTo>
                    <a:pt x="14" y="1334"/>
                  </a:lnTo>
                  <a:lnTo>
                    <a:pt x="0" y="1334"/>
                  </a:lnTo>
                  <a:lnTo>
                    <a:pt x="0" y="1321"/>
                  </a:lnTo>
                  <a:lnTo>
                    <a:pt x="14" y="1321"/>
                  </a:lnTo>
                  <a:close/>
                  <a:moveTo>
                    <a:pt x="14" y="1348"/>
                  </a:moveTo>
                  <a:lnTo>
                    <a:pt x="14" y="1361"/>
                  </a:lnTo>
                  <a:lnTo>
                    <a:pt x="0" y="1361"/>
                  </a:lnTo>
                  <a:lnTo>
                    <a:pt x="0" y="1348"/>
                  </a:lnTo>
                  <a:lnTo>
                    <a:pt x="14" y="1348"/>
                  </a:lnTo>
                  <a:close/>
                  <a:moveTo>
                    <a:pt x="14" y="1375"/>
                  </a:moveTo>
                  <a:lnTo>
                    <a:pt x="14" y="1388"/>
                  </a:lnTo>
                  <a:lnTo>
                    <a:pt x="0" y="1388"/>
                  </a:lnTo>
                  <a:lnTo>
                    <a:pt x="0" y="1375"/>
                  </a:lnTo>
                  <a:lnTo>
                    <a:pt x="14" y="1375"/>
                  </a:lnTo>
                  <a:close/>
                  <a:moveTo>
                    <a:pt x="14" y="1402"/>
                  </a:moveTo>
                  <a:lnTo>
                    <a:pt x="14" y="1415"/>
                  </a:lnTo>
                  <a:lnTo>
                    <a:pt x="0" y="1415"/>
                  </a:lnTo>
                  <a:lnTo>
                    <a:pt x="0" y="1402"/>
                  </a:lnTo>
                  <a:lnTo>
                    <a:pt x="14" y="1402"/>
                  </a:lnTo>
                  <a:close/>
                  <a:moveTo>
                    <a:pt x="14" y="1429"/>
                  </a:moveTo>
                  <a:lnTo>
                    <a:pt x="14" y="1442"/>
                  </a:lnTo>
                  <a:lnTo>
                    <a:pt x="0" y="1442"/>
                  </a:lnTo>
                  <a:lnTo>
                    <a:pt x="0" y="1429"/>
                  </a:lnTo>
                  <a:lnTo>
                    <a:pt x="14" y="1429"/>
                  </a:lnTo>
                  <a:close/>
                  <a:moveTo>
                    <a:pt x="14" y="1455"/>
                  </a:moveTo>
                  <a:lnTo>
                    <a:pt x="14" y="1469"/>
                  </a:lnTo>
                  <a:lnTo>
                    <a:pt x="0" y="1469"/>
                  </a:lnTo>
                  <a:lnTo>
                    <a:pt x="0" y="1455"/>
                  </a:lnTo>
                  <a:lnTo>
                    <a:pt x="14" y="1455"/>
                  </a:lnTo>
                  <a:close/>
                  <a:moveTo>
                    <a:pt x="14" y="1483"/>
                  </a:moveTo>
                  <a:lnTo>
                    <a:pt x="14" y="1496"/>
                  </a:lnTo>
                  <a:lnTo>
                    <a:pt x="0" y="1496"/>
                  </a:lnTo>
                  <a:lnTo>
                    <a:pt x="0" y="1483"/>
                  </a:lnTo>
                  <a:lnTo>
                    <a:pt x="14" y="1483"/>
                  </a:lnTo>
                  <a:close/>
                  <a:moveTo>
                    <a:pt x="14" y="1510"/>
                  </a:moveTo>
                  <a:lnTo>
                    <a:pt x="14" y="1523"/>
                  </a:lnTo>
                  <a:lnTo>
                    <a:pt x="0" y="1523"/>
                  </a:lnTo>
                  <a:lnTo>
                    <a:pt x="0" y="1510"/>
                  </a:lnTo>
                  <a:lnTo>
                    <a:pt x="14" y="1510"/>
                  </a:lnTo>
                  <a:close/>
                  <a:moveTo>
                    <a:pt x="14" y="1536"/>
                  </a:moveTo>
                  <a:lnTo>
                    <a:pt x="14" y="1550"/>
                  </a:lnTo>
                  <a:lnTo>
                    <a:pt x="0" y="1550"/>
                  </a:lnTo>
                  <a:lnTo>
                    <a:pt x="0" y="1536"/>
                  </a:lnTo>
                  <a:lnTo>
                    <a:pt x="14" y="1536"/>
                  </a:lnTo>
                  <a:close/>
                  <a:moveTo>
                    <a:pt x="14" y="1564"/>
                  </a:moveTo>
                  <a:lnTo>
                    <a:pt x="14" y="1577"/>
                  </a:lnTo>
                  <a:lnTo>
                    <a:pt x="0" y="1577"/>
                  </a:lnTo>
                  <a:lnTo>
                    <a:pt x="0" y="1564"/>
                  </a:lnTo>
                  <a:lnTo>
                    <a:pt x="14" y="1564"/>
                  </a:lnTo>
                  <a:close/>
                  <a:moveTo>
                    <a:pt x="14" y="1590"/>
                  </a:moveTo>
                  <a:lnTo>
                    <a:pt x="14" y="1604"/>
                  </a:lnTo>
                  <a:lnTo>
                    <a:pt x="0" y="1604"/>
                  </a:lnTo>
                  <a:lnTo>
                    <a:pt x="0" y="1590"/>
                  </a:lnTo>
                  <a:lnTo>
                    <a:pt x="14" y="1590"/>
                  </a:lnTo>
                  <a:close/>
                  <a:moveTo>
                    <a:pt x="14" y="1617"/>
                  </a:moveTo>
                  <a:lnTo>
                    <a:pt x="14" y="1631"/>
                  </a:lnTo>
                  <a:lnTo>
                    <a:pt x="0" y="1631"/>
                  </a:lnTo>
                  <a:lnTo>
                    <a:pt x="0" y="1617"/>
                  </a:lnTo>
                  <a:lnTo>
                    <a:pt x="14" y="1617"/>
                  </a:lnTo>
                  <a:close/>
                  <a:moveTo>
                    <a:pt x="14" y="1644"/>
                  </a:moveTo>
                  <a:lnTo>
                    <a:pt x="14" y="1658"/>
                  </a:lnTo>
                  <a:lnTo>
                    <a:pt x="0" y="1658"/>
                  </a:lnTo>
                  <a:lnTo>
                    <a:pt x="0" y="1644"/>
                  </a:lnTo>
                  <a:lnTo>
                    <a:pt x="14" y="1644"/>
                  </a:lnTo>
                  <a:close/>
                  <a:moveTo>
                    <a:pt x="14" y="1671"/>
                  </a:moveTo>
                  <a:lnTo>
                    <a:pt x="14" y="1685"/>
                  </a:lnTo>
                  <a:lnTo>
                    <a:pt x="0" y="1685"/>
                  </a:lnTo>
                  <a:lnTo>
                    <a:pt x="0" y="1671"/>
                  </a:lnTo>
                  <a:lnTo>
                    <a:pt x="14" y="1671"/>
                  </a:lnTo>
                  <a:close/>
                  <a:moveTo>
                    <a:pt x="14" y="1698"/>
                  </a:moveTo>
                  <a:lnTo>
                    <a:pt x="14" y="1712"/>
                  </a:lnTo>
                  <a:lnTo>
                    <a:pt x="0" y="1712"/>
                  </a:lnTo>
                  <a:lnTo>
                    <a:pt x="0" y="1698"/>
                  </a:lnTo>
                  <a:lnTo>
                    <a:pt x="14" y="1698"/>
                  </a:lnTo>
                  <a:close/>
                  <a:moveTo>
                    <a:pt x="14" y="1725"/>
                  </a:moveTo>
                  <a:lnTo>
                    <a:pt x="14" y="1738"/>
                  </a:lnTo>
                  <a:lnTo>
                    <a:pt x="0" y="1738"/>
                  </a:lnTo>
                  <a:lnTo>
                    <a:pt x="0" y="1725"/>
                  </a:lnTo>
                  <a:lnTo>
                    <a:pt x="14" y="1725"/>
                  </a:lnTo>
                  <a:close/>
                  <a:moveTo>
                    <a:pt x="14" y="1752"/>
                  </a:moveTo>
                  <a:lnTo>
                    <a:pt x="14" y="1766"/>
                  </a:lnTo>
                  <a:lnTo>
                    <a:pt x="0" y="1766"/>
                  </a:lnTo>
                  <a:lnTo>
                    <a:pt x="0" y="1752"/>
                  </a:lnTo>
                  <a:lnTo>
                    <a:pt x="14" y="1752"/>
                  </a:lnTo>
                  <a:close/>
                  <a:moveTo>
                    <a:pt x="14" y="1779"/>
                  </a:moveTo>
                  <a:lnTo>
                    <a:pt x="14" y="1792"/>
                  </a:lnTo>
                  <a:lnTo>
                    <a:pt x="0" y="1792"/>
                  </a:lnTo>
                  <a:lnTo>
                    <a:pt x="0" y="1779"/>
                  </a:lnTo>
                  <a:lnTo>
                    <a:pt x="14" y="1779"/>
                  </a:lnTo>
                  <a:close/>
                  <a:moveTo>
                    <a:pt x="14" y="1806"/>
                  </a:moveTo>
                  <a:lnTo>
                    <a:pt x="14" y="1819"/>
                  </a:lnTo>
                  <a:lnTo>
                    <a:pt x="0" y="1819"/>
                  </a:lnTo>
                  <a:lnTo>
                    <a:pt x="0" y="1806"/>
                  </a:lnTo>
                  <a:lnTo>
                    <a:pt x="14" y="1806"/>
                  </a:lnTo>
                  <a:close/>
                  <a:moveTo>
                    <a:pt x="14" y="1833"/>
                  </a:moveTo>
                  <a:lnTo>
                    <a:pt x="14" y="1846"/>
                  </a:lnTo>
                  <a:lnTo>
                    <a:pt x="0" y="1846"/>
                  </a:lnTo>
                  <a:lnTo>
                    <a:pt x="0" y="1833"/>
                  </a:lnTo>
                  <a:lnTo>
                    <a:pt x="14" y="1833"/>
                  </a:lnTo>
                  <a:close/>
                  <a:moveTo>
                    <a:pt x="14" y="1860"/>
                  </a:moveTo>
                  <a:lnTo>
                    <a:pt x="14" y="1873"/>
                  </a:lnTo>
                  <a:lnTo>
                    <a:pt x="0" y="1873"/>
                  </a:lnTo>
                  <a:lnTo>
                    <a:pt x="0" y="1860"/>
                  </a:lnTo>
                  <a:lnTo>
                    <a:pt x="14" y="1860"/>
                  </a:lnTo>
                  <a:close/>
                  <a:moveTo>
                    <a:pt x="14" y="1887"/>
                  </a:moveTo>
                  <a:lnTo>
                    <a:pt x="14" y="1900"/>
                  </a:lnTo>
                  <a:lnTo>
                    <a:pt x="0" y="1900"/>
                  </a:lnTo>
                  <a:lnTo>
                    <a:pt x="0" y="1887"/>
                  </a:lnTo>
                  <a:lnTo>
                    <a:pt x="14" y="1887"/>
                  </a:lnTo>
                  <a:close/>
                  <a:moveTo>
                    <a:pt x="14" y="1914"/>
                  </a:moveTo>
                  <a:lnTo>
                    <a:pt x="14" y="1927"/>
                  </a:lnTo>
                  <a:lnTo>
                    <a:pt x="0" y="1927"/>
                  </a:lnTo>
                  <a:lnTo>
                    <a:pt x="0" y="1914"/>
                  </a:lnTo>
                  <a:lnTo>
                    <a:pt x="14" y="1914"/>
                  </a:lnTo>
                  <a:close/>
                  <a:moveTo>
                    <a:pt x="14" y="1941"/>
                  </a:moveTo>
                  <a:lnTo>
                    <a:pt x="14" y="1954"/>
                  </a:lnTo>
                  <a:lnTo>
                    <a:pt x="0" y="1954"/>
                  </a:lnTo>
                  <a:lnTo>
                    <a:pt x="0" y="1941"/>
                  </a:lnTo>
                  <a:lnTo>
                    <a:pt x="14" y="1941"/>
                  </a:lnTo>
                  <a:close/>
                  <a:moveTo>
                    <a:pt x="14" y="1968"/>
                  </a:moveTo>
                  <a:lnTo>
                    <a:pt x="14" y="1981"/>
                  </a:lnTo>
                  <a:lnTo>
                    <a:pt x="0" y="1981"/>
                  </a:lnTo>
                  <a:lnTo>
                    <a:pt x="0" y="1968"/>
                  </a:lnTo>
                  <a:lnTo>
                    <a:pt x="14" y="1968"/>
                  </a:lnTo>
                  <a:close/>
                  <a:moveTo>
                    <a:pt x="14" y="1995"/>
                  </a:moveTo>
                  <a:lnTo>
                    <a:pt x="14" y="2008"/>
                  </a:lnTo>
                  <a:lnTo>
                    <a:pt x="0" y="2008"/>
                  </a:lnTo>
                  <a:lnTo>
                    <a:pt x="0" y="1995"/>
                  </a:lnTo>
                  <a:lnTo>
                    <a:pt x="14" y="1995"/>
                  </a:lnTo>
                  <a:close/>
                  <a:moveTo>
                    <a:pt x="14" y="2021"/>
                  </a:moveTo>
                  <a:lnTo>
                    <a:pt x="14" y="2035"/>
                  </a:lnTo>
                  <a:lnTo>
                    <a:pt x="0" y="2035"/>
                  </a:lnTo>
                  <a:lnTo>
                    <a:pt x="0" y="2021"/>
                  </a:lnTo>
                  <a:lnTo>
                    <a:pt x="14" y="2021"/>
                  </a:lnTo>
                  <a:close/>
                  <a:moveTo>
                    <a:pt x="14" y="2049"/>
                  </a:moveTo>
                  <a:lnTo>
                    <a:pt x="14" y="2062"/>
                  </a:lnTo>
                  <a:lnTo>
                    <a:pt x="0" y="2062"/>
                  </a:lnTo>
                  <a:lnTo>
                    <a:pt x="0" y="2049"/>
                  </a:lnTo>
                  <a:lnTo>
                    <a:pt x="14" y="2049"/>
                  </a:lnTo>
                  <a:close/>
                  <a:moveTo>
                    <a:pt x="14" y="2075"/>
                  </a:moveTo>
                  <a:lnTo>
                    <a:pt x="14" y="2089"/>
                  </a:lnTo>
                  <a:lnTo>
                    <a:pt x="0" y="2089"/>
                  </a:lnTo>
                  <a:lnTo>
                    <a:pt x="0" y="2075"/>
                  </a:lnTo>
                  <a:lnTo>
                    <a:pt x="14" y="2075"/>
                  </a:lnTo>
                  <a:close/>
                  <a:moveTo>
                    <a:pt x="14" y="2102"/>
                  </a:moveTo>
                  <a:lnTo>
                    <a:pt x="14" y="2116"/>
                  </a:lnTo>
                  <a:lnTo>
                    <a:pt x="0" y="2116"/>
                  </a:lnTo>
                  <a:lnTo>
                    <a:pt x="0" y="2102"/>
                  </a:lnTo>
                  <a:lnTo>
                    <a:pt x="14" y="2102"/>
                  </a:lnTo>
                  <a:close/>
                  <a:moveTo>
                    <a:pt x="14" y="2129"/>
                  </a:moveTo>
                  <a:lnTo>
                    <a:pt x="14" y="2143"/>
                  </a:lnTo>
                  <a:lnTo>
                    <a:pt x="0" y="2143"/>
                  </a:lnTo>
                  <a:lnTo>
                    <a:pt x="0" y="2129"/>
                  </a:lnTo>
                  <a:lnTo>
                    <a:pt x="14" y="2129"/>
                  </a:lnTo>
                  <a:close/>
                  <a:moveTo>
                    <a:pt x="14" y="2156"/>
                  </a:moveTo>
                  <a:lnTo>
                    <a:pt x="14" y="2170"/>
                  </a:lnTo>
                  <a:lnTo>
                    <a:pt x="0" y="2170"/>
                  </a:lnTo>
                  <a:lnTo>
                    <a:pt x="0" y="2156"/>
                  </a:lnTo>
                  <a:lnTo>
                    <a:pt x="14" y="2156"/>
                  </a:lnTo>
                  <a:close/>
                  <a:moveTo>
                    <a:pt x="14" y="2183"/>
                  </a:moveTo>
                  <a:lnTo>
                    <a:pt x="14" y="2197"/>
                  </a:lnTo>
                  <a:lnTo>
                    <a:pt x="0" y="2197"/>
                  </a:lnTo>
                  <a:lnTo>
                    <a:pt x="0" y="2183"/>
                  </a:lnTo>
                  <a:lnTo>
                    <a:pt x="14" y="2183"/>
                  </a:lnTo>
                  <a:close/>
                  <a:moveTo>
                    <a:pt x="14" y="2210"/>
                  </a:moveTo>
                  <a:lnTo>
                    <a:pt x="14" y="2224"/>
                  </a:lnTo>
                  <a:lnTo>
                    <a:pt x="0" y="2224"/>
                  </a:lnTo>
                  <a:lnTo>
                    <a:pt x="0" y="2210"/>
                  </a:lnTo>
                  <a:lnTo>
                    <a:pt x="14" y="2210"/>
                  </a:lnTo>
                  <a:close/>
                  <a:moveTo>
                    <a:pt x="14" y="2237"/>
                  </a:moveTo>
                  <a:lnTo>
                    <a:pt x="14" y="2251"/>
                  </a:lnTo>
                  <a:lnTo>
                    <a:pt x="0" y="2251"/>
                  </a:lnTo>
                  <a:lnTo>
                    <a:pt x="0" y="2237"/>
                  </a:lnTo>
                  <a:lnTo>
                    <a:pt x="14" y="2237"/>
                  </a:lnTo>
                  <a:close/>
                  <a:moveTo>
                    <a:pt x="14" y="2264"/>
                  </a:moveTo>
                  <a:lnTo>
                    <a:pt x="14" y="2278"/>
                  </a:lnTo>
                  <a:lnTo>
                    <a:pt x="0" y="2278"/>
                  </a:lnTo>
                  <a:lnTo>
                    <a:pt x="0" y="2264"/>
                  </a:lnTo>
                  <a:lnTo>
                    <a:pt x="14" y="2264"/>
                  </a:lnTo>
                  <a:close/>
                  <a:moveTo>
                    <a:pt x="14" y="2291"/>
                  </a:moveTo>
                  <a:lnTo>
                    <a:pt x="14" y="2304"/>
                  </a:lnTo>
                  <a:lnTo>
                    <a:pt x="0" y="2304"/>
                  </a:lnTo>
                  <a:lnTo>
                    <a:pt x="0" y="2291"/>
                  </a:lnTo>
                  <a:lnTo>
                    <a:pt x="14" y="2291"/>
                  </a:lnTo>
                  <a:close/>
                  <a:moveTo>
                    <a:pt x="14" y="2318"/>
                  </a:moveTo>
                  <a:lnTo>
                    <a:pt x="14" y="2332"/>
                  </a:lnTo>
                  <a:lnTo>
                    <a:pt x="0" y="2332"/>
                  </a:lnTo>
                  <a:lnTo>
                    <a:pt x="0" y="2318"/>
                  </a:lnTo>
                  <a:lnTo>
                    <a:pt x="14" y="2318"/>
                  </a:lnTo>
                  <a:close/>
                  <a:moveTo>
                    <a:pt x="14" y="2345"/>
                  </a:moveTo>
                  <a:lnTo>
                    <a:pt x="14" y="2358"/>
                  </a:lnTo>
                  <a:lnTo>
                    <a:pt x="0" y="2358"/>
                  </a:lnTo>
                  <a:lnTo>
                    <a:pt x="0" y="2345"/>
                  </a:lnTo>
                  <a:lnTo>
                    <a:pt x="14"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86" name="Freeform 82">
              <a:extLst>
                <a:ext uri="{FF2B5EF4-FFF2-40B4-BE49-F238E27FC236}">
                  <a16:creationId xmlns:a16="http://schemas.microsoft.com/office/drawing/2014/main" id="{93BE9FA2-DA23-4157-8249-231966254215}"/>
                </a:ext>
              </a:extLst>
            </p:cNvPr>
            <p:cNvSpPr>
              <a:spLocks noEditPoints="1"/>
            </p:cNvSpPr>
            <p:nvPr/>
          </p:nvSpPr>
          <p:spPr bwMode="auto">
            <a:xfrm>
              <a:off x="3525102" y="2655977"/>
              <a:ext cx="20668" cy="3748911"/>
            </a:xfrm>
            <a:custGeom>
              <a:avLst/>
              <a:gdLst>
                <a:gd name="T0" fmla="*/ 13 w 13"/>
                <a:gd name="T1" fmla="*/ 41 h 2358"/>
                <a:gd name="T2" fmla="*/ 0 w 13"/>
                <a:gd name="T3" fmla="*/ 54 h 2358"/>
                <a:gd name="T4" fmla="*/ 13 w 13"/>
                <a:gd name="T5" fmla="*/ 108 h 2358"/>
                <a:gd name="T6" fmla="*/ 0 w 13"/>
                <a:gd name="T7" fmla="*/ 149 h 2358"/>
                <a:gd name="T8" fmla="*/ 13 w 13"/>
                <a:gd name="T9" fmla="*/ 162 h 2358"/>
                <a:gd name="T10" fmla="*/ 13 w 13"/>
                <a:gd name="T11" fmla="*/ 229 h 2358"/>
                <a:gd name="T12" fmla="*/ 0 w 13"/>
                <a:gd name="T13" fmla="*/ 243 h 2358"/>
                <a:gd name="T14" fmla="*/ 13 w 13"/>
                <a:gd name="T15" fmla="*/ 297 h 2358"/>
                <a:gd name="T16" fmla="*/ 0 w 13"/>
                <a:gd name="T17" fmla="*/ 337 h 2358"/>
                <a:gd name="T18" fmla="*/ 13 w 13"/>
                <a:gd name="T19" fmla="*/ 351 h 2358"/>
                <a:gd name="T20" fmla="*/ 13 w 13"/>
                <a:gd name="T21" fmla="*/ 418 h 2358"/>
                <a:gd name="T22" fmla="*/ 0 w 13"/>
                <a:gd name="T23" fmla="*/ 432 h 2358"/>
                <a:gd name="T24" fmla="*/ 13 w 13"/>
                <a:gd name="T25" fmla="*/ 485 h 2358"/>
                <a:gd name="T26" fmla="*/ 0 w 13"/>
                <a:gd name="T27" fmla="*/ 526 h 2358"/>
                <a:gd name="T28" fmla="*/ 13 w 13"/>
                <a:gd name="T29" fmla="*/ 539 h 2358"/>
                <a:gd name="T30" fmla="*/ 13 w 13"/>
                <a:gd name="T31" fmla="*/ 607 h 2358"/>
                <a:gd name="T32" fmla="*/ 0 w 13"/>
                <a:gd name="T33" fmla="*/ 620 h 2358"/>
                <a:gd name="T34" fmla="*/ 13 w 13"/>
                <a:gd name="T35" fmla="*/ 674 h 2358"/>
                <a:gd name="T36" fmla="*/ 0 w 13"/>
                <a:gd name="T37" fmla="*/ 715 h 2358"/>
                <a:gd name="T38" fmla="*/ 13 w 13"/>
                <a:gd name="T39" fmla="*/ 728 h 2358"/>
                <a:gd name="T40" fmla="*/ 13 w 13"/>
                <a:gd name="T41" fmla="*/ 795 h 2358"/>
                <a:gd name="T42" fmla="*/ 0 w 13"/>
                <a:gd name="T43" fmla="*/ 809 h 2358"/>
                <a:gd name="T44" fmla="*/ 13 w 13"/>
                <a:gd name="T45" fmla="*/ 863 h 2358"/>
                <a:gd name="T46" fmla="*/ 0 w 13"/>
                <a:gd name="T47" fmla="*/ 903 h 2358"/>
                <a:gd name="T48" fmla="*/ 13 w 13"/>
                <a:gd name="T49" fmla="*/ 917 h 2358"/>
                <a:gd name="T50" fmla="*/ 13 w 13"/>
                <a:gd name="T51" fmla="*/ 984 h 2358"/>
                <a:gd name="T52" fmla="*/ 0 w 13"/>
                <a:gd name="T53" fmla="*/ 998 h 2358"/>
                <a:gd name="T54" fmla="*/ 13 w 13"/>
                <a:gd name="T55" fmla="*/ 1051 h 2358"/>
                <a:gd name="T56" fmla="*/ 0 w 13"/>
                <a:gd name="T57" fmla="*/ 1092 h 2358"/>
                <a:gd name="T58" fmla="*/ 13 w 13"/>
                <a:gd name="T59" fmla="*/ 1105 h 2358"/>
                <a:gd name="T60" fmla="*/ 13 w 13"/>
                <a:gd name="T61" fmla="*/ 1173 h 2358"/>
                <a:gd name="T62" fmla="*/ 0 w 13"/>
                <a:gd name="T63" fmla="*/ 1186 h 2358"/>
                <a:gd name="T64" fmla="*/ 13 w 13"/>
                <a:gd name="T65" fmla="*/ 1240 h 2358"/>
                <a:gd name="T66" fmla="*/ 0 w 13"/>
                <a:gd name="T67" fmla="*/ 1281 h 2358"/>
                <a:gd name="T68" fmla="*/ 13 w 13"/>
                <a:gd name="T69" fmla="*/ 1294 h 2358"/>
                <a:gd name="T70" fmla="*/ 13 w 13"/>
                <a:gd name="T71" fmla="*/ 1361 h 2358"/>
                <a:gd name="T72" fmla="*/ 0 w 13"/>
                <a:gd name="T73" fmla="*/ 1375 h 2358"/>
                <a:gd name="T74" fmla="*/ 13 w 13"/>
                <a:gd name="T75" fmla="*/ 1429 h 2358"/>
                <a:gd name="T76" fmla="*/ 0 w 13"/>
                <a:gd name="T77" fmla="*/ 1469 h 2358"/>
                <a:gd name="T78" fmla="*/ 13 w 13"/>
                <a:gd name="T79" fmla="*/ 1483 h 2358"/>
                <a:gd name="T80" fmla="*/ 13 w 13"/>
                <a:gd name="T81" fmla="*/ 1550 h 2358"/>
                <a:gd name="T82" fmla="*/ 0 w 13"/>
                <a:gd name="T83" fmla="*/ 1564 h 2358"/>
                <a:gd name="T84" fmla="*/ 13 w 13"/>
                <a:gd name="T85" fmla="*/ 1617 h 2358"/>
                <a:gd name="T86" fmla="*/ 0 w 13"/>
                <a:gd name="T87" fmla="*/ 1658 h 2358"/>
                <a:gd name="T88" fmla="*/ 13 w 13"/>
                <a:gd name="T89" fmla="*/ 1671 h 2358"/>
                <a:gd name="T90" fmla="*/ 13 w 13"/>
                <a:gd name="T91" fmla="*/ 1738 h 2358"/>
                <a:gd name="T92" fmla="*/ 0 w 13"/>
                <a:gd name="T93" fmla="*/ 1752 h 2358"/>
                <a:gd name="T94" fmla="*/ 13 w 13"/>
                <a:gd name="T95" fmla="*/ 1806 h 2358"/>
                <a:gd name="T96" fmla="*/ 0 w 13"/>
                <a:gd name="T97" fmla="*/ 1846 h 2358"/>
                <a:gd name="T98" fmla="*/ 13 w 13"/>
                <a:gd name="T99" fmla="*/ 1860 h 2358"/>
                <a:gd name="T100" fmla="*/ 13 w 13"/>
                <a:gd name="T101" fmla="*/ 1927 h 2358"/>
                <a:gd name="T102" fmla="*/ 0 w 13"/>
                <a:gd name="T103" fmla="*/ 1941 h 2358"/>
                <a:gd name="T104" fmla="*/ 13 w 13"/>
                <a:gd name="T105" fmla="*/ 1995 h 2358"/>
                <a:gd name="T106" fmla="*/ 0 w 13"/>
                <a:gd name="T107" fmla="*/ 2035 h 2358"/>
                <a:gd name="T108" fmla="*/ 13 w 13"/>
                <a:gd name="T109" fmla="*/ 2049 h 2358"/>
                <a:gd name="T110" fmla="*/ 13 w 13"/>
                <a:gd name="T111" fmla="*/ 2116 h 2358"/>
                <a:gd name="T112" fmla="*/ 0 w 13"/>
                <a:gd name="T113" fmla="*/ 2129 h 2358"/>
                <a:gd name="T114" fmla="*/ 13 w 13"/>
                <a:gd name="T115" fmla="*/ 2183 h 2358"/>
                <a:gd name="T116" fmla="*/ 0 w 13"/>
                <a:gd name="T117" fmla="*/ 2224 h 2358"/>
                <a:gd name="T118" fmla="*/ 13 w 13"/>
                <a:gd name="T119" fmla="*/ 2237 h 2358"/>
                <a:gd name="T120" fmla="*/ 13 w 13"/>
                <a:gd name="T121" fmla="*/ 2304 h 2358"/>
                <a:gd name="T122" fmla="*/ 0 w 13"/>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 h="2358">
                  <a:moveTo>
                    <a:pt x="13" y="0"/>
                  </a:moveTo>
                  <a:lnTo>
                    <a:pt x="13" y="14"/>
                  </a:lnTo>
                  <a:lnTo>
                    <a:pt x="0" y="14"/>
                  </a:lnTo>
                  <a:lnTo>
                    <a:pt x="0" y="0"/>
                  </a:lnTo>
                  <a:lnTo>
                    <a:pt x="13" y="0"/>
                  </a:lnTo>
                  <a:close/>
                  <a:moveTo>
                    <a:pt x="13" y="27"/>
                  </a:moveTo>
                  <a:lnTo>
                    <a:pt x="13" y="41"/>
                  </a:lnTo>
                  <a:lnTo>
                    <a:pt x="0" y="41"/>
                  </a:lnTo>
                  <a:lnTo>
                    <a:pt x="0" y="27"/>
                  </a:lnTo>
                  <a:lnTo>
                    <a:pt x="13" y="27"/>
                  </a:lnTo>
                  <a:close/>
                  <a:moveTo>
                    <a:pt x="13" y="54"/>
                  </a:moveTo>
                  <a:lnTo>
                    <a:pt x="13" y="68"/>
                  </a:lnTo>
                  <a:lnTo>
                    <a:pt x="0" y="68"/>
                  </a:lnTo>
                  <a:lnTo>
                    <a:pt x="0" y="54"/>
                  </a:lnTo>
                  <a:lnTo>
                    <a:pt x="13" y="54"/>
                  </a:lnTo>
                  <a:close/>
                  <a:moveTo>
                    <a:pt x="13" y="81"/>
                  </a:moveTo>
                  <a:lnTo>
                    <a:pt x="13" y="95"/>
                  </a:lnTo>
                  <a:lnTo>
                    <a:pt x="0" y="95"/>
                  </a:lnTo>
                  <a:lnTo>
                    <a:pt x="0" y="81"/>
                  </a:lnTo>
                  <a:lnTo>
                    <a:pt x="13" y="81"/>
                  </a:lnTo>
                  <a:close/>
                  <a:moveTo>
                    <a:pt x="13" y="108"/>
                  </a:moveTo>
                  <a:lnTo>
                    <a:pt x="13" y="121"/>
                  </a:lnTo>
                  <a:lnTo>
                    <a:pt x="0" y="121"/>
                  </a:lnTo>
                  <a:lnTo>
                    <a:pt x="0" y="108"/>
                  </a:lnTo>
                  <a:lnTo>
                    <a:pt x="13" y="108"/>
                  </a:lnTo>
                  <a:close/>
                  <a:moveTo>
                    <a:pt x="13" y="135"/>
                  </a:moveTo>
                  <a:lnTo>
                    <a:pt x="13" y="149"/>
                  </a:lnTo>
                  <a:lnTo>
                    <a:pt x="0" y="149"/>
                  </a:lnTo>
                  <a:lnTo>
                    <a:pt x="0" y="135"/>
                  </a:lnTo>
                  <a:lnTo>
                    <a:pt x="13" y="135"/>
                  </a:lnTo>
                  <a:close/>
                  <a:moveTo>
                    <a:pt x="13" y="162"/>
                  </a:moveTo>
                  <a:lnTo>
                    <a:pt x="13" y="175"/>
                  </a:lnTo>
                  <a:lnTo>
                    <a:pt x="0" y="175"/>
                  </a:lnTo>
                  <a:lnTo>
                    <a:pt x="0" y="162"/>
                  </a:lnTo>
                  <a:lnTo>
                    <a:pt x="13" y="162"/>
                  </a:lnTo>
                  <a:close/>
                  <a:moveTo>
                    <a:pt x="13" y="189"/>
                  </a:moveTo>
                  <a:lnTo>
                    <a:pt x="13" y="202"/>
                  </a:lnTo>
                  <a:lnTo>
                    <a:pt x="0" y="202"/>
                  </a:lnTo>
                  <a:lnTo>
                    <a:pt x="0" y="189"/>
                  </a:lnTo>
                  <a:lnTo>
                    <a:pt x="13" y="189"/>
                  </a:lnTo>
                  <a:close/>
                  <a:moveTo>
                    <a:pt x="13" y="216"/>
                  </a:moveTo>
                  <a:lnTo>
                    <a:pt x="13" y="229"/>
                  </a:lnTo>
                  <a:lnTo>
                    <a:pt x="0" y="229"/>
                  </a:lnTo>
                  <a:lnTo>
                    <a:pt x="0" y="216"/>
                  </a:lnTo>
                  <a:lnTo>
                    <a:pt x="13" y="216"/>
                  </a:lnTo>
                  <a:close/>
                  <a:moveTo>
                    <a:pt x="13" y="243"/>
                  </a:moveTo>
                  <a:lnTo>
                    <a:pt x="13" y="256"/>
                  </a:lnTo>
                  <a:lnTo>
                    <a:pt x="0" y="256"/>
                  </a:lnTo>
                  <a:lnTo>
                    <a:pt x="0" y="243"/>
                  </a:lnTo>
                  <a:lnTo>
                    <a:pt x="13" y="243"/>
                  </a:lnTo>
                  <a:close/>
                  <a:moveTo>
                    <a:pt x="13" y="270"/>
                  </a:moveTo>
                  <a:lnTo>
                    <a:pt x="13" y="283"/>
                  </a:lnTo>
                  <a:lnTo>
                    <a:pt x="0" y="283"/>
                  </a:lnTo>
                  <a:lnTo>
                    <a:pt x="0" y="270"/>
                  </a:lnTo>
                  <a:lnTo>
                    <a:pt x="13" y="270"/>
                  </a:lnTo>
                  <a:close/>
                  <a:moveTo>
                    <a:pt x="13" y="297"/>
                  </a:moveTo>
                  <a:lnTo>
                    <a:pt x="13" y="310"/>
                  </a:lnTo>
                  <a:lnTo>
                    <a:pt x="0" y="310"/>
                  </a:lnTo>
                  <a:lnTo>
                    <a:pt x="0" y="297"/>
                  </a:lnTo>
                  <a:lnTo>
                    <a:pt x="13" y="297"/>
                  </a:lnTo>
                  <a:close/>
                  <a:moveTo>
                    <a:pt x="13" y="324"/>
                  </a:moveTo>
                  <a:lnTo>
                    <a:pt x="13" y="337"/>
                  </a:lnTo>
                  <a:lnTo>
                    <a:pt x="0" y="337"/>
                  </a:lnTo>
                  <a:lnTo>
                    <a:pt x="0" y="324"/>
                  </a:lnTo>
                  <a:lnTo>
                    <a:pt x="13" y="324"/>
                  </a:lnTo>
                  <a:close/>
                  <a:moveTo>
                    <a:pt x="13" y="351"/>
                  </a:moveTo>
                  <a:lnTo>
                    <a:pt x="13" y="364"/>
                  </a:lnTo>
                  <a:lnTo>
                    <a:pt x="0" y="364"/>
                  </a:lnTo>
                  <a:lnTo>
                    <a:pt x="0" y="351"/>
                  </a:lnTo>
                  <a:lnTo>
                    <a:pt x="13" y="351"/>
                  </a:lnTo>
                  <a:close/>
                  <a:moveTo>
                    <a:pt x="13" y="378"/>
                  </a:moveTo>
                  <a:lnTo>
                    <a:pt x="13" y="391"/>
                  </a:lnTo>
                  <a:lnTo>
                    <a:pt x="0" y="391"/>
                  </a:lnTo>
                  <a:lnTo>
                    <a:pt x="0" y="378"/>
                  </a:lnTo>
                  <a:lnTo>
                    <a:pt x="13" y="378"/>
                  </a:lnTo>
                  <a:close/>
                  <a:moveTo>
                    <a:pt x="13" y="404"/>
                  </a:moveTo>
                  <a:lnTo>
                    <a:pt x="13" y="418"/>
                  </a:lnTo>
                  <a:lnTo>
                    <a:pt x="0" y="418"/>
                  </a:lnTo>
                  <a:lnTo>
                    <a:pt x="0" y="404"/>
                  </a:lnTo>
                  <a:lnTo>
                    <a:pt x="13" y="404"/>
                  </a:lnTo>
                  <a:close/>
                  <a:moveTo>
                    <a:pt x="13" y="432"/>
                  </a:moveTo>
                  <a:lnTo>
                    <a:pt x="13" y="445"/>
                  </a:lnTo>
                  <a:lnTo>
                    <a:pt x="0" y="445"/>
                  </a:lnTo>
                  <a:lnTo>
                    <a:pt x="0" y="432"/>
                  </a:lnTo>
                  <a:lnTo>
                    <a:pt x="13" y="432"/>
                  </a:lnTo>
                  <a:close/>
                  <a:moveTo>
                    <a:pt x="13" y="458"/>
                  </a:moveTo>
                  <a:lnTo>
                    <a:pt x="13" y="472"/>
                  </a:lnTo>
                  <a:lnTo>
                    <a:pt x="0" y="472"/>
                  </a:lnTo>
                  <a:lnTo>
                    <a:pt x="0" y="458"/>
                  </a:lnTo>
                  <a:lnTo>
                    <a:pt x="13" y="458"/>
                  </a:lnTo>
                  <a:close/>
                  <a:moveTo>
                    <a:pt x="13" y="485"/>
                  </a:moveTo>
                  <a:lnTo>
                    <a:pt x="13" y="499"/>
                  </a:lnTo>
                  <a:lnTo>
                    <a:pt x="0" y="499"/>
                  </a:lnTo>
                  <a:lnTo>
                    <a:pt x="0" y="485"/>
                  </a:lnTo>
                  <a:lnTo>
                    <a:pt x="13" y="485"/>
                  </a:lnTo>
                  <a:close/>
                  <a:moveTo>
                    <a:pt x="13" y="512"/>
                  </a:moveTo>
                  <a:lnTo>
                    <a:pt x="13" y="526"/>
                  </a:lnTo>
                  <a:lnTo>
                    <a:pt x="0" y="526"/>
                  </a:lnTo>
                  <a:lnTo>
                    <a:pt x="0" y="512"/>
                  </a:lnTo>
                  <a:lnTo>
                    <a:pt x="13" y="512"/>
                  </a:lnTo>
                  <a:close/>
                  <a:moveTo>
                    <a:pt x="13" y="539"/>
                  </a:moveTo>
                  <a:lnTo>
                    <a:pt x="13" y="553"/>
                  </a:lnTo>
                  <a:lnTo>
                    <a:pt x="0" y="553"/>
                  </a:lnTo>
                  <a:lnTo>
                    <a:pt x="0" y="539"/>
                  </a:lnTo>
                  <a:lnTo>
                    <a:pt x="13" y="539"/>
                  </a:lnTo>
                  <a:close/>
                  <a:moveTo>
                    <a:pt x="13" y="566"/>
                  </a:moveTo>
                  <a:lnTo>
                    <a:pt x="13" y="580"/>
                  </a:lnTo>
                  <a:lnTo>
                    <a:pt x="0" y="580"/>
                  </a:lnTo>
                  <a:lnTo>
                    <a:pt x="0" y="566"/>
                  </a:lnTo>
                  <a:lnTo>
                    <a:pt x="13" y="566"/>
                  </a:lnTo>
                  <a:close/>
                  <a:moveTo>
                    <a:pt x="13" y="593"/>
                  </a:moveTo>
                  <a:lnTo>
                    <a:pt x="13" y="607"/>
                  </a:lnTo>
                  <a:lnTo>
                    <a:pt x="0" y="607"/>
                  </a:lnTo>
                  <a:lnTo>
                    <a:pt x="0" y="593"/>
                  </a:lnTo>
                  <a:lnTo>
                    <a:pt x="13" y="593"/>
                  </a:lnTo>
                  <a:close/>
                  <a:moveTo>
                    <a:pt x="13" y="620"/>
                  </a:moveTo>
                  <a:lnTo>
                    <a:pt x="13" y="634"/>
                  </a:lnTo>
                  <a:lnTo>
                    <a:pt x="0" y="634"/>
                  </a:lnTo>
                  <a:lnTo>
                    <a:pt x="0" y="620"/>
                  </a:lnTo>
                  <a:lnTo>
                    <a:pt x="13" y="620"/>
                  </a:lnTo>
                  <a:close/>
                  <a:moveTo>
                    <a:pt x="13" y="647"/>
                  </a:moveTo>
                  <a:lnTo>
                    <a:pt x="13" y="661"/>
                  </a:lnTo>
                  <a:lnTo>
                    <a:pt x="0" y="661"/>
                  </a:lnTo>
                  <a:lnTo>
                    <a:pt x="0" y="647"/>
                  </a:lnTo>
                  <a:lnTo>
                    <a:pt x="13" y="647"/>
                  </a:lnTo>
                  <a:close/>
                  <a:moveTo>
                    <a:pt x="13" y="674"/>
                  </a:moveTo>
                  <a:lnTo>
                    <a:pt x="13" y="687"/>
                  </a:lnTo>
                  <a:lnTo>
                    <a:pt x="0" y="687"/>
                  </a:lnTo>
                  <a:lnTo>
                    <a:pt x="0" y="674"/>
                  </a:lnTo>
                  <a:lnTo>
                    <a:pt x="13" y="674"/>
                  </a:lnTo>
                  <a:close/>
                  <a:moveTo>
                    <a:pt x="13" y="701"/>
                  </a:moveTo>
                  <a:lnTo>
                    <a:pt x="13" y="715"/>
                  </a:lnTo>
                  <a:lnTo>
                    <a:pt x="0" y="715"/>
                  </a:lnTo>
                  <a:lnTo>
                    <a:pt x="0" y="701"/>
                  </a:lnTo>
                  <a:lnTo>
                    <a:pt x="13" y="701"/>
                  </a:lnTo>
                  <a:close/>
                  <a:moveTo>
                    <a:pt x="13" y="728"/>
                  </a:moveTo>
                  <a:lnTo>
                    <a:pt x="13" y="741"/>
                  </a:lnTo>
                  <a:lnTo>
                    <a:pt x="0" y="741"/>
                  </a:lnTo>
                  <a:lnTo>
                    <a:pt x="0" y="728"/>
                  </a:lnTo>
                  <a:lnTo>
                    <a:pt x="13" y="728"/>
                  </a:lnTo>
                  <a:close/>
                  <a:moveTo>
                    <a:pt x="13" y="755"/>
                  </a:moveTo>
                  <a:lnTo>
                    <a:pt x="13" y="768"/>
                  </a:lnTo>
                  <a:lnTo>
                    <a:pt x="0" y="768"/>
                  </a:lnTo>
                  <a:lnTo>
                    <a:pt x="0" y="755"/>
                  </a:lnTo>
                  <a:lnTo>
                    <a:pt x="13" y="755"/>
                  </a:lnTo>
                  <a:close/>
                  <a:moveTo>
                    <a:pt x="13" y="782"/>
                  </a:moveTo>
                  <a:lnTo>
                    <a:pt x="13" y="795"/>
                  </a:lnTo>
                  <a:lnTo>
                    <a:pt x="0" y="795"/>
                  </a:lnTo>
                  <a:lnTo>
                    <a:pt x="0" y="782"/>
                  </a:lnTo>
                  <a:lnTo>
                    <a:pt x="13" y="782"/>
                  </a:lnTo>
                  <a:close/>
                  <a:moveTo>
                    <a:pt x="13" y="809"/>
                  </a:moveTo>
                  <a:lnTo>
                    <a:pt x="13" y="822"/>
                  </a:lnTo>
                  <a:lnTo>
                    <a:pt x="0" y="822"/>
                  </a:lnTo>
                  <a:lnTo>
                    <a:pt x="0" y="809"/>
                  </a:lnTo>
                  <a:lnTo>
                    <a:pt x="13" y="809"/>
                  </a:lnTo>
                  <a:close/>
                  <a:moveTo>
                    <a:pt x="13" y="836"/>
                  </a:moveTo>
                  <a:lnTo>
                    <a:pt x="13" y="849"/>
                  </a:lnTo>
                  <a:lnTo>
                    <a:pt x="0" y="849"/>
                  </a:lnTo>
                  <a:lnTo>
                    <a:pt x="0" y="836"/>
                  </a:lnTo>
                  <a:lnTo>
                    <a:pt x="13" y="836"/>
                  </a:lnTo>
                  <a:close/>
                  <a:moveTo>
                    <a:pt x="13" y="863"/>
                  </a:moveTo>
                  <a:lnTo>
                    <a:pt x="13" y="876"/>
                  </a:lnTo>
                  <a:lnTo>
                    <a:pt x="0" y="876"/>
                  </a:lnTo>
                  <a:lnTo>
                    <a:pt x="0" y="863"/>
                  </a:lnTo>
                  <a:lnTo>
                    <a:pt x="13" y="863"/>
                  </a:lnTo>
                  <a:close/>
                  <a:moveTo>
                    <a:pt x="13" y="890"/>
                  </a:moveTo>
                  <a:lnTo>
                    <a:pt x="13" y="903"/>
                  </a:lnTo>
                  <a:lnTo>
                    <a:pt x="0" y="903"/>
                  </a:lnTo>
                  <a:lnTo>
                    <a:pt x="0" y="890"/>
                  </a:lnTo>
                  <a:lnTo>
                    <a:pt x="13" y="890"/>
                  </a:lnTo>
                  <a:close/>
                  <a:moveTo>
                    <a:pt x="13" y="917"/>
                  </a:moveTo>
                  <a:lnTo>
                    <a:pt x="13" y="930"/>
                  </a:lnTo>
                  <a:lnTo>
                    <a:pt x="0" y="930"/>
                  </a:lnTo>
                  <a:lnTo>
                    <a:pt x="0" y="917"/>
                  </a:lnTo>
                  <a:lnTo>
                    <a:pt x="13" y="917"/>
                  </a:lnTo>
                  <a:close/>
                  <a:moveTo>
                    <a:pt x="13" y="944"/>
                  </a:moveTo>
                  <a:lnTo>
                    <a:pt x="13" y="957"/>
                  </a:lnTo>
                  <a:lnTo>
                    <a:pt x="0" y="957"/>
                  </a:lnTo>
                  <a:lnTo>
                    <a:pt x="0" y="944"/>
                  </a:lnTo>
                  <a:lnTo>
                    <a:pt x="13" y="944"/>
                  </a:lnTo>
                  <a:close/>
                  <a:moveTo>
                    <a:pt x="13" y="970"/>
                  </a:moveTo>
                  <a:lnTo>
                    <a:pt x="13" y="984"/>
                  </a:lnTo>
                  <a:lnTo>
                    <a:pt x="0" y="984"/>
                  </a:lnTo>
                  <a:lnTo>
                    <a:pt x="0" y="970"/>
                  </a:lnTo>
                  <a:lnTo>
                    <a:pt x="13" y="970"/>
                  </a:lnTo>
                  <a:close/>
                  <a:moveTo>
                    <a:pt x="13" y="998"/>
                  </a:moveTo>
                  <a:lnTo>
                    <a:pt x="13" y="1011"/>
                  </a:lnTo>
                  <a:lnTo>
                    <a:pt x="0" y="1011"/>
                  </a:lnTo>
                  <a:lnTo>
                    <a:pt x="0" y="998"/>
                  </a:lnTo>
                  <a:lnTo>
                    <a:pt x="13" y="998"/>
                  </a:lnTo>
                  <a:close/>
                  <a:moveTo>
                    <a:pt x="13" y="1024"/>
                  </a:moveTo>
                  <a:lnTo>
                    <a:pt x="13" y="1038"/>
                  </a:lnTo>
                  <a:lnTo>
                    <a:pt x="0" y="1038"/>
                  </a:lnTo>
                  <a:lnTo>
                    <a:pt x="0" y="1024"/>
                  </a:lnTo>
                  <a:lnTo>
                    <a:pt x="13" y="1024"/>
                  </a:lnTo>
                  <a:close/>
                  <a:moveTo>
                    <a:pt x="13" y="1051"/>
                  </a:moveTo>
                  <a:lnTo>
                    <a:pt x="13" y="1065"/>
                  </a:lnTo>
                  <a:lnTo>
                    <a:pt x="0" y="1065"/>
                  </a:lnTo>
                  <a:lnTo>
                    <a:pt x="0" y="1051"/>
                  </a:lnTo>
                  <a:lnTo>
                    <a:pt x="13" y="1051"/>
                  </a:lnTo>
                  <a:close/>
                  <a:moveTo>
                    <a:pt x="13" y="1078"/>
                  </a:moveTo>
                  <a:lnTo>
                    <a:pt x="13" y="1092"/>
                  </a:lnTo>
                  <a:lnTo>
                    <a:pt x="0" y="1092"/>
                  </a:lnTo>
                  <a:lnTo>
                    <a:pt x="0" y="1078"/>
                  </a:lnTo>
                  <a:lnTo>
                    <a:pt x="13" y="1078"/>
                  </a:lnTo>
                  <a:close/>
                  <a:moveTo>
                    <a:pt x="13" y="1105"/>
                  </a:moveTo>
                  <a:lnTo>
                    <a:pt x="13" y="1119"/>
                  </a:lnTo>
                  <a:lnTo>
                    <a:pt x="0" y="1119"/>
                  </a:lnTo>
                  <a:lnTo>
                    <a:pt x="0" y="1105"/>
                  </a:lnTo>
                  <a:lnTo>
                    <a:pt x="13" y="1105"/>
                  </a:lnTo>
                  <a:close/>
                  <a:moveTo>
                    <a:pt x="13" y="1132"/>
                  </a:moveTo>
                  <a:lnTo>
                    <a:pt x="13" y="1146"/>
                  </a:lnTo>
                  <a:lnTo>
                    <a:pt x="0" y="1146"/>
                  </a:lnTo>
                  <a:lnTo>
                    <a:pt x="0" y="1132"/>
                  </a:lnTo>
                  <a:lnTo>
                    <a:pt x="13" y="1132"/>
                  </a:lnTo>
                  <a:close/>
                  <a:moveTo>
                    <a:pt x="13" y="1159"/>
                  </a:moveTo>
                  <a:lnTo>
                    <a:pt x="13" y="1173"/>
                  </a:lnTo>
                  <a:lnTo>
                    <a:pt x="0" y="1173"/>
                  </a:lnTo>
                  <a:lnTo>
                    <a:pt x="0" y="1159"/>
                  </a:lnTo>
                  <a:lnTo>
                    <a:pt x="13" y="1159"/>
                  </a:lnTo>
                  <a:close/>
                  <a:moveTo>
                    <a:pt x="13" y="1186"/>
                  </a:moveTo>
                  <a:lnTo>
                    <a:pt x="13" y="1200"/>
                  </a:lnTo>
                  <a:lnTo>
                    <a:pt x="0" y="1200"/>
                  </a:lnTo>
                  <a:lnTo>
                    <a:pt x="0" y="1186"/>
                  </a:lnTo>
                  <a:lnTo>
                    <a:pt x="13" y="1186"/>
                  </a:lnTo>
                  <a:close/>
                  <a:moveTo>
                    <a:pt x="13" y="1213"/>
                  </a:moveTo>
                  <a:lnTo>
                    <a:pt x="13" y="1227"/>
                  </a:lnTo>
                  <a:lnTo>
                    <a:pt x="0" y="1227"/>
                  </a:lnTo>
                  <a:lnTo>
                    <a:pt x="0" y="1213"/>
                  </a:lnTo>
                  <a:lnTo>
                    <a:pt x="13" y="1213"/>
                  </a:lnTo>
                  <a:close/>
                  <a:moveTo>
                    <a:pt x="13" y="1240"/>
                  </a:moveTo>
                  <a:lnTo>
                    <a:pt x="13" y="1253"/>
                  </a:lnTo>
                  <a:lnTo>
                    <a:pt x="0" y="1253"/>
                  </a:lnTo>
                  <a:lnTo>
                    <a:pt x="0" y="1240"/>
                  </a:lnTo>
                  <a:lnTo>
                    <a:pt x="13" y="1240"/>
                  </a:lnTo>
                  <a:close/>
                  <a:moveTo>
                    <a:pt x="13" y="1267"/>
                  </a:moveTo>
                  <a:lnTo>
                    <a:pt x="13" y="1281"/>
                  </a:lnTo>
                  <a:lnTo>
                    <a:pt x="0" y="1281"/>
                  </a:lnTo>
                  <a:lnTo>
                    <a:pt x="0" y="1267"/>
                  </a:lnTo>
                  <a:lnTo>
                    <a:pt x="13" y="1267"/>
                  </a:lnTo>
                  <a:close/>
                  <a:moveTo>
                    <a:pt x="13" y="1294"/>
                  </a:moveTo>
                  <a:lnTo>
                    <a:pt x="13" y="1307"/>
                  </a:lnTo>
                  <a:lnTo>
                    <a:pt x="0" y="1307"/>
                  </a:lnTo>
                  <a:lnTo>
                    <a:pt x="0" y="1294"/>
                  </a:lnTo>
                  <a:lnTo>
                    <a:pt x="13" y="1294"/>
                  </a:lnTo>
                  <a:close/>
                  <a:moveTo>
                    <a:pt x="13" y="1321"/>
                  </a:moveTo>
                  <a:lnTo>
                    <a:pt x="13" y="1334"/>
                  </a:lnTo>
                  <a:lnTo>
                    <a:pt x="0" y="1334"/>
                  </a:lnTo>
                  <a:lnTo>
                    <a:pt x="0" y="1321"/>
                  </a:lnTo>
                  <a:lnTo>
                    <a:pt x="13" y="1321"/>
                  </a:lnTo>
                  <a:close/>
                  <a:moveTo>
                    <a:pt x="13" y="1348"/>
                  </a:moveTo>
                  <a:lnTo>
                    <a:pt x="13" y="1361"/>
                  </a:lnTo>
                  <a:lnTo>
                    <a:pt x="0" y="1361"/>
                  </a:lnTo>
                  <a:lnTo>
                    <a:pt x="0" y="1348"/>
                  </a:lnTo>
                  <a:lnTo>
                    <a:pt x="13" y="1348"/>
                  </a:lnTo>
                  <a:close/>
                  <a:moveTo>
                    <a:pt x="13" y="1375"/>
                  </a:moveTo>
                  <a:lnTo>
                    <a:pt x="13" y="1388"/>
                  </a:lnTo>
                  <a:lnTo>
                    <a:pt x="0" y="1388"/>
                  </a:lnTo>
                  <a:lnTo>
                    <a:pt x="0" y="1375"/>
                  </a:lnTo>
                  <a:lnTo>
                    <a:pt x="13" y="1375"/>
                  </a:lnTo>
                  <a:close/>
                  <a:moveTo>
                    <a:pt x="13" y="1402"/>
                  </a:moveTo>
                  <a:lnTo>
                    <a:pt x="13" y="1415"/>
                  </a:lnTo>
                  <a:lnTo>
                    <a:pt x="0" y="1415"/>
                  </a:lnTo>
                  <a:lnTo>
                    <a:pt x="0" y="1402"/>
                  </a:lnTo>
                  <a:lnTo>
                    <a:pt x="13" y="1402"/>
                  </a:lnTo>
                  <a:close/>
                  <a:moveTo>
                    <a:pt x="13" y="1429"/>
                  </a:moveTo>
                  <a:lnTo>
                    <a:pt x="13" y="1442"/>
                  </a:lnTo>
                  <a:lnTo>
                    <a:pt x="0" y="1442"/>
                  </a:lnTo>
                  <a:lnTo>
                    <a:pt x="0" y="1429"/>
                  </a:lnTo>
                  <a:lnTo>
                    <a:pt x="13" y="1429"/>
                  </a:lnTo>
                  <a:close/>
                  <a:moveTo>
                    <a:pt x="13" y="1455"/>
                  </a:moveTo>
                  <a:lnTo>
                    <a:pt x="13" y="1469"/>
                  </a:lnTo>
                  <a:lnTo>
                    <a:pt x="0" y="1469"/>
                  </a:lnTo>
                  <a:lnTo>
                    <a:pt x="0" y="1455"/>
                  </a:lnTo>
                  <a:lnTo>
                    <a:pt x="13" y="1455"/>
                  </a:lnTo>
                  <a:close/>
                  <a:moveTo>
                    <a:pt x="13" y="1483"/>
                  </a:moveTo>
                  <a:lnTo>
                    <a:pt x="13" y="1496"/>
                  </a:lnTo>
                  <a:lnTo>
                    <a:pt x="0" y="1496"/>
                  </a:lnTo>
                  <a:lnTo>
                    <a:pt x="0" y="1483"/>
                  </a:lnTo>
                  <a:lnTo>
                    <a:pt x="13" y="1483"/>
                  </a:lnTo>
                  <a:close/>
                  <a:moveTo>
                    <a:pt x="13" y="1510"/>
                  </a:moveTo>
                  <a:lnTo>
                    <a:pt x="13" y="1523"/>
                  </a:lnTo>
                  <a:lnTo>
                    <a:pt x="0" y="1523"/>
                  </a:lnTo>
                  <a:lnTo>
                    <a:pt x="0" y="1510"/>
                  </a:lnTo>
                  <a:lnTo>
                    <a:pt x="13" y="1510"/>
                  </a:lnTo>
                  <a:close/>
                  <a:moveTo>
                    <a:pt x="13" y="1536"/>
                  </a:moveTo>
                  <a:lnTo>
                    <a:pt x="13" y="1550"/>
                  </a:lnTo>
                  <a:lnTo>
                    <a:pt x="0" y="1550"/>
                  </a:lnTo>
                  <a:lnTo>
                    <a:pt x="0" y="1536"/>
                  </a:lnTo>
                  <a:lnTo>
                    <a:pt x="13" y="1536"/>
                  </a:lnTo>
                  <a:close/>
                  <a:moveTo>
                    <a:pt x="13" y="1564"/>
                  </a:moveTo>
                  <a:lnTo>
                    <a:pt x="13" y="1577"/>
                  </a:lnTo>
                  <a:lnTo>
                    <a:pt x="0" y="1577"/>
                  </a:lnTo>
                  <a:lnTo>
                    <a:pt x="0" y="1564"/>
                  </a:lnTo>
                  <a:lnTo>
                    <a:pt x="13" y="1564"/>
                  </a:lnTo>
                  <a:close/>
                  <a:moveTo>
                    <a:pt x="13" y="1590"/>
                  </a:moveTo>
                  <a:lnTo>
                    <a:pt x="13" y="1604"/>
                  </a:lnTo>
                  <a:lnTo>
                    <a:pt x="0" y="1604"/>
                  </a:lnTo>
                  <a:lnTo>
                    <a:pt x="0" y="1590"/>
                  </a:lnTo>
                  <a:lnTo>
                    <a:pt x="13" y="1590"/>
                  </a:lnTo>
                  <a:close/>
                  <a:moveTo>
                    <a:pt x="13" y="1617"/>
                  </a:moveTo>
                  <a:lnTo>
                    <a:pt x="13" y="1631"/>
                  </a:lnTo>
                  <a:lnTo>
                    <a:pt x="0" y="1631"/>
                  </a:lnTo>
                  <a:lnTo>
                    <a:pt x="0" y="1617"/>
                  </a:lnTo>
                  <a:lnTo>
                    <a:pt x="13" y="1617"/>
                  </a:lnTo>
                  <a:close/>
                  <a:moveTo>
                    <a:pt x="13" y="1644"/>
                  </a:moveTo>
                  <a:lnTo>
                    <a:pt x="13" y="1658"/>
                  </a:lnTo>
                  <a:lnTo>
                    <a:pt x="0" y="1658"/>
                  </a:lnTo>
                  <a:lnTo>
                    <a:pt x="0" y="1644"/>
                  </a:lnTo>
                  <a:lnTo>
                    <a:pt x="13" y="1644"/>
                  </a:lnTo>
                  <a:close/>
                  <a:moveTo>
                    <a:pt x="13" y="1671"/>
                  </a:moveTo>
                  <a:lnTo>
                    <a:pt x="13" y="1685"/>
                  </a:lnTo>
                  <a:lnTo>
                    <a:pt x="0" y="1685"/>
                  </a:lnTo>
                  <a:lnTo>
                    <a:pt x="0" y="1671"/>
                  </a:lnTo>
                  <a:lnTo>
                    <a:pt x="13" y="1671"/>
                  </a:lnTo>
                  <a:close/>
                  <a:moveTo>
                    <a:pt x="13" y="1698"/>
                  </a:moveTo>
                  <a:lnTo>
                    <a:pt x="13" y="1712"/>
                  </a:lnTo>
                  <a:lnTo>
                    <a:pt x="0" y="1712"/>
                  </a:lnTo>
                  <a:lnTo>
                    <a:pt x="0" y="1698"/>
                  </a:lnTo>
                  <a:lnTo>
                    <a:pt x="13" y="1698"/>
                  </a:lnTo>
                  <a:close/>
                  <a:moveTo>
                    <a:pt x="13" y="1725"/>
                  </a:moveTo>
                  <a:lnTo>
                    <a:pt x="13" y="1738"/>
                  </a:lnTo>
                  <a:lnTo>
                    <a:pt x="0" y="1738"/>
                  </a:lnTo>
                  <a:lnTo>
                    <a:pt x="0" y="1725"/>
                  </a:lnTo>
                  <a:lnTo>
                    <a:pt x="13" y="1725"/>
                  </a:lnTo>
                  <a:close/>
                  <a:moveTo>
                    <a:pt x="13" y="1752"/>
                  </a:moveTo>
                  <a:lnTo>
                    <a:pt x="13" y="1766"/>
                  </a:lnTo>
                  <a:lnTo>
                    <a:pt x="0" y="1766"/>
                  </a:lnTo>
                  <a:lnTo>
                    <a:pt x="0" y="1752"/>
                  </a:lnTo>
                  <a:lnTo>
                    <a:pt x="13" y="1752"/>
                  </a:lnTo>
                  <a:close/>
                  <a:moveTo>
                    <a:pt x="13" y="1779"/>
                  </a:moveTo>
                  <a:lnTo>
                    <a:pt x="13" y="1792"/>
                  </a:lnTo>
                  <a:lnTo>
                    <a:pt x="0" y="1792"/>
                  </a:lnTo>
                  <a:lnTo>
                    <a:pt x="0" y="1779"/>
                  </a:lnTo>
                  <a:lnTo>
                    <a:pt x="13" y="1779"/>
                  </a:lnTo>
                  <a:close/>
                  <a:moveTo>
                    <a:pt x="13" y="1806"/>
                  </a:moveTo>
                  <a:lnTo>
                    <a:pt x="13" y="1819"/>
                  </a:lnTo>
                  <a:lnTo>
                    <a:pt x="0" y="1819"/>
                  </a:lnTo>
                  <a:lnTo>
                    <a:pt x="0" y="1806"/>
                  </a:lnTo>
                  <a:lnTo>
                    <a:pt x="13" y="1806"/>
                  </a:lnTo>
                  <a:close/>
                  <a:moveTo>
                    <a:pt x="13" y="1833"/>
                  </a:moveTo>
                  <a:lnTo>
                    <a:pt x="13" y="1846"/>
                  </a:lnTo>
                  <a:lnTo>
                    <a:pt x="0" y="1846"/>
                  </a:lnTo>
                  <a:lnTo>
                    <a:pt x="0" y="1833"/>
                  </a:lnTo>
                  <a:lnTo>
                    <a:pt x="13" y="1833"/>
                  </a:lnTo>
                  <a:close/>
                  <a:moveTo>
                    <a:pt x="13" y="1860"/>
                  </a:moveTo>
                  <a:lnTo>
                    <a:pt x="13" y="1873"/>
                  </a:lnTo>
                  <a:lnTo>
                    <a:pt x="0" y="1873"/>
                  </a:lnTo>
                  <a:lnTo>
                    <a:pt x="0" y="1860"/>
                  </a:lnTo>
                  <a:lnTo>
                    <a:pt x="13" y="1860"/>
                  </a:lnTo>
                  <a:close/>
                  <a:moveTo>
                    <a:pt x="13" y="1887"/>
                  </a:moveTo>
                  <a:lnTo>
                    <a:pt x="13" y="1900"/>
                  </a:lnTo>
                  <a:lnTo>
                    <a:pt x="0" y="1900"/>
                  </a:lnTo>
                  <a:lnTo>
                    <a:pt x="0" y="1887"/>
                  </a:lnTo>
                  <a:lnTo>
                    <a:pt x="13" y="1887"/>
                  </a:lnTo>
                  <a:close/>
                  <a:moveTo>
                    <a:pt x="13" y="1914"/>
                  </a:moveTo>
                  <a:lnTo>
                    <a:pt x="13" y="1927"/>
                  </a:lnTo>
                  <a:lnTo>
                    <a:pt x="0" y="1927"/>
                  </a:lnTo>
                  <a:lnTo>
                    <a:pt x="0" y="1914"/>
                  </a:lnTo>
                  <a:lnTo>
                    <a:pt x="13" y="1914"/>
                  </a:lnTo>
                  <a:close/>
                  <a:moveTo>
                    <a:pt x="13" y="1941"/>
                  </a:moveTo>
                  <a:lnTo>
                    <a:pt x="13" y="1954"/>
                  </a:lnTo>
                  <a:lnTo>
                    <a:pt x="0" y="1954"/>
                  </a:lnTo>
                  <a:lnTo>
                    <a:pt x="0" y="1941"/>
                  </a:lnTo>
                  <a:lnTo>
                    <a:pt x="13" y="1941"/>
                  </a:lnTo>
                  <a:close/>
                  <a:moveTo>
                    <a:pt x="13" y="1968"/>
                  </a:moveTo>
                  <a:lnTo>
                    <a:pt x="13" y="1981"/>
                  </a:lnTo>
                  <a:lnTo>
                    <a:pt x="0" y="1981"/>
                  </a:lnTo>
                  <a:lnTo>
                    <a:pt x="0" y="1968"/>
                  </a:lnTo>
                  <a:lnTo>
                    <a:pt x="13" y="1968"/>
                  </a:lnTo>
                  <a:close/>
                  <a:moveTo>
                    <a:pt x="13" y="1995"/>
                  </a:moveTo>
                  <a:lnTo>
                    <a:pt x="13" y="2008"/>
                  </a:lnTo>
                  <a:lnTo>
                    <a:pt x="0" y="2008"/>
                  </a:lnTo>
                  <a:lnTo>
                    <a:pt x="0" y="1995"/>
                  </a:lnTo>
                  <a:lnTo>
                    <a:pt x="13" y="1995"/>
                  </a:lnTo>
                  <a:close/>
                  <a:moveTo>
                    <a:pt x="13" y="2021"/>
                  </a:moveTo>
                  <a:lnTo>
                    <a:pt x="13" y="2035"/>
                  </a:lnTo>
                  <a:lnTo>
                    <a:pt x="0" y="2035"/>
                  </a:lnTo>
                  <a:lnTo>
                    <a:pt x="0" y="2021"/>
                  </a:lnTo>
                  <a:lnTo>
                    <a:pt x="13" y="2021"/>
                  </a:lnTo>
                  <a:close/>
                  <a:moveTo>
                    <a:pt x="13" y="2049"/>
                  </a:moveTo>
                  <a:lnTo>
                    <a:pt x="13" y="2062"/>
                  </a:lnTo>
                  <a:lnTo>
                    <a:pt x="0" y="2062"/>
                  </a:lnTo>
                  <a:lnTo>
                    <a:pt x="0" y="2049"/>
                  </a:lnTo>
                  <a:lnTo>
                    <a:pt x="13" y="2049"/>
                  </a:lnTo>
                  <a:close/>
                  <a:moveTo>
                    <a:pt x="13" y="2075"/>
                  </a:moveTo>
                  <a:lnTo>
                    <a:pt x="13" y="2089"/>
                  </a:lnTo>
                  <a:lnTo>
                    <a:pt x="0" y="2089"/>
                  </a:lnTo>
                  <a:lnTo>
                    <a:pt x="0" y="2075"/>
                  </a:lnTo>
                  <a:lnTo>
                    <a:pt x="13" y="2075"/>
                  </a:lnTo>
                  <a:close/>
                  <a:moveTo>
                    <a:pt x="13" y="2102"/>
                  </a:moveTo>
                  <a:lnTo>
                    <a:pt x="13" y="2116"/>
                  </a:lnTo>
                  <a:lnTo>
                    <a:pt x="0" y="2116"/>
                  </a:lnTo>
                  <a:lnTo>
                    <a:pt x="0" y="2102"/>
                  </a:lnTo>
                  <a:lnTo>
                    <a:pt x="13" y="2102"/>
                  </a:lnTo>
                  <a:close/>
                  <a:moveTo>
                    <a:pt x="13" y="2129"/>
                  </a:moveTo>
                  <a:lnTo>
                    <a:pt x="13" y="2143"/>
                  </a:lnTo>
                  <a:lnTo>
                    <a:pt x="0" y="2143"/>
                  </a:lnTo>
                  <a:lnTo>
                    <a:pt x="0" y="2129"/>
                  </a:lnTo>
                  <a:lnTo>
                    <a:pt x="13" y="2129"/>
                  </a:lnTo>
                  <a:close/>
                  <a:moveTo>
                    <a:pt x="13" y="2156"/>
                  </a:moveTo>
                  <a:lnTo>
                    <a:pt x="13" y="2170"/>
                  </a:lnTo>
                  <a:lnTo>
                    <a:pt x="0" y="2170"/>
                  </a:lnTo>
                  <a:lnTo>
                    <a:pt x="0" y="2156"/>
                  </a:lnTo>
                  <a:lnTo>
                    <a:pt x="13" y="2156"/>
                  </a:lnTo>
                  <a:close/>
                  <a:moveTo>
                    <a:pt x="13" y="2183"/>
                  </a:moveTo>
                  <a:lnTo>
                    <a:pt x="13" y="2197"/>
                  </a:lnTo>
                  <a:lnTo>
                    <a:pt x="0" y="2197"/>
                  </a:lnTo>
                  <a:lnTo>
                    <a:pt x="0" y="2183"/>
                  </a:lnTo>
                  <a:lnTo>
                    <a:pt x="13" y="2183"/>
                  </a:lnTo>
                  <a:close/>
                  <a:moveTo>
                    <a:pt x="13" y="2210"/>
                  </a:moveTo>
                  <a:lnTo>
                    <a:pt x="13" y="2224"/>
                  </a:lnTo>
                  <a:lnTo>
                    <a:pt x="0" y="2224"/>
                  </a:lnTo>
                  <a:lnTo>
                    <a:pt x="0" y="2210"/>
                  </a:lnTo>
                  <a:lnTo>
                    <a:pt x="13" y="2210"/>
                  </a:lnTo>
                  <a:close/>
                  <a:moveTo>
                    <a:pt x="13" y="2237"/>
                  </a:moveTo>
                  <a:lnTo>
                    <a:pt x="13" y="2251"/>
                  </a:lnTo>
                  <a:lnTo>
                    <a:pt x="0" y="2251"/>
                  </a:lnTo>
                  <a:lnTo>
                    <a:pt x="0" y="2237"/>
                  </a:lnTo>
                  <a:lnTo>
                    <a:pt x="13" y="2237"/>
                  </a:lnTo>
                  <a:close/>
                  <a:moveTo>
                    <a:pt x="13" y="2264"/>
                  </a:moveTo>
                  <a:lnTo>
                    <a:pt x="13" y="2278"/>
                  </a:lnTo>
                  <a:lnTo>
                    <a:pt x="0" y="2278"/>
                  </a:lnTo>
                  <a:lnTo>
                    <a:pt x="0" y="2264"/>
                  </a:lnTo>
                  <a:lnTo>
                    <a:pt x="13" y="2264"/>
                  </a:lnTo>
                  <a:close/>
                  <a:moveTo>
                    <a:pt x="13" y="2291"/>
                  </a:moveTo>
                  <a:lnTo>
                    <a:pt x="13" y="2304"/>
                  </a:lnTo>
                  <a:lnTo>
                    <a:pt x="0" y="2304"/>
                  </a:lnTo>
                  <a:lnTo>
                    <a:pt x="0" y="2291"/>
                  </a:lnTo>
                  <a:lnTo>
                    <a:pt x="13" y="2291"/>
                  </a:lnTo>
                  <a:close/>
                  <a:moveTo>
                    <a:pt x="13" y="2318"/>
                  </a:moveTo>
                  <a:lnTo>
                    <a:pt x="13" y="2332"/>
                  </a:lnTo>
                  <a:lnTo>
                    <a:pt x="0" y="2332"/>
                  </a:lnTo>
                  <a:lnTo>
                    <a:pt x="0" y="2318"/>
                  </a:lnTo>
                  <a:lnTo>
                    <a:pt x="13" y="2318"/>
                  </a:lnTo>
                  <a:close/>
                  <a:moveTo>
                    <a:pt x="13" y="2345"/>
                  </a:moveTo>
                  <a:lnTo>
                    <a:pt x="13" y="2358"/>
                  </a:lnTo>
                  <a:lnTo>
                    <a:pt x="0" y="2358"/>
                  </a:lnTo>
                  <a:lnTo>
                    <a:pt x="0" y="2345"/>
                  </a:lnTo>
                  <a:lnTo>
                    <a:pt x="13"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87" name="Freeform 83">
              <a:extLst>
                <a:ext uri="{FF2B5EF4-FFF2-40B4-BE49-F238E27FC236}">
                  <a16:creationId xmlns:a16="http://schemas.microsoft.com/office/drawing/2014/main" id="{53378ADD-C1B4-4DFE-905A-E10381E1C8E2}"/>
                </a:ext>
              </a:extLst>
            </p:cNvPr>
            <p:cNvSpPr>
              <a:spLocks noEditPoints="1"/>
            </p:cNvSpPr>
            <p:nvPr/>
          </p:nvSpPr>
          <p:spPr bwMode="auto">
            <a:xfrm>
              <a:off x="4102225" y="2655977"/>
              <a:ext cx="22258" cy="3748911"/>
            </a:xfrm>
            <a:custGeom>
              <a:avLst/>
              <a:gdLst>
                <a:gd name="T0" fmla="*/ 14 w 14"/>
                <a:gd name="T1" fmla="*/ 41 h 2358"/>
                <a:gd name="T2" fmla="*/ 0 w 14"/>
                <a:gd name="T3" fmla="*/ 54 h 2358"/>
                <a:gd name="T4" fmla="*/ 14 w 14"/>
                <a:gd name="T5" fmla="*/ 108 h 2358"/>
                <a:gd name="T6" fmla="*/ 0 w 14"/>
                <a:gd name="T7" fmla="*/ 149 h 2358"/>
                <a:gd name="T8" fmla="*/ 14 w 14"/>
                <a:gd name="T9" fmla="*/ 162 h 2358"/>
                <a:gd name="T10" fmla="*/ 14 w 14"/>
                <a:gd name="T11" fmla="*/ 229 h 2358"/>
                <a:gd name="T12" fmla="*/ 0 w 14"/>
                <a:gd name="T13" fmla="*/ 243 h 2358"/>
                <a:gd name="T14" fmla="*/ 14 w 14"/>
                <a:gd name="T15" fmla="*/ 297 h 2358"/>
                <a:gd name="T16" fmla="*/ 0 w 14"/>
                <a:gd name="T17" fmla="*/ 337 h 2358"/>
                <a:gd name="T18" fmla="*/ 14 w 14"/>
                <a:gd name="T19" fmla="*/ 351 h 2358"/>
                <a:gd name="T20" fmla="*/ 14 w 14"/>
                <a:gd name="T21" fmla="*/ 418 h 2358"/>
                <a:gd name="T22" fmla="*/ 0 w 14"/>
                <a:gd name="T23" fmla="*/ 432 h 2358"/>
                <a:gd name="T24" fmla="*/ 14 w 14"/>
                <a:gd name="T25" fmla="*/ 485 h 2358"/>
                <a:gd name="T26" fmla="*/ 0 w 14"/>
                <a:gd name="T27" fmla="*/ 526 h 2358"/>
                <a:gd name="T28" fmla="*/ 14 w 14"/>
                <a:gd name="T29" fmla="*/ 539 h 2358"/>
                <a:gd name="T30" fmla="*/ 14 w 14"/>
                <a:gd name="T31" fmla="*/ 607 h 2358"/>
                <a:gd name="T32" fmla="*/ 0 w 14"/>
                <a:gd name="T33" fmla="*/ 620 h 2358"/>
                <a:gd name="T34" fmla="*/ 14 w 14"/>
                <a:gd name="T35" fmla="*/ 674 h 2358"/>
                <a:gd name="T36" fmla="*/ 0 w 14"/>
                <a:gd name="T37" fmla="*/ 715 h 2358"/>
                <a:gd name="T38" fmla="*/ 14 w 14"/>
                <a:gd name="T39" fmla="*/ 728 h 2358"/>
                <a:gd name="T40" fmla="*/ 14 w 14"/>
                <a:gd name="T41" fmla="*/ 795 h 2358"/>
                <a:gd name="T42" fmla="*/ 0 w 14"/>
                <a:gd name="T43" fmla="*/ 809 h 2358"/>
                <a:gd name="T44" fmla="*/ 14 w 14"/>
                <a:gd name="T45" fmla="*/ 863 h 2358"/>
                <a:gd name="T46" fmla="*/ 0 w 14"/>
                <a:gd name="T47" fmla="*/ 903 h 2358"/>
                <a:gd name="T48" fmla="*/ 14 w 14"/>
                <a:gd name="T49" fmla="*/ 917 h 2358"/>
                <a:gd name="T50" fmla="*/ 14 w 14"/>
                <a:gd name="T51" fmla="*/ 984 h 2358"/>
                <a:gd name="T52" fmla="*/ 0 w 14"/>
                <a:gd name="T53" fmla="*/ 998 h 2358"/>
                <a:gd name="T54" fmla="*/ 14 w 14"/>
                <a:gd name="T55" fmla="*/ 1051 h 2358"/>
                <a:gd name="T56" fmla="*/ 0 w 14"/>
                <a:gd name="T57" fmla="*/ 1092 h 2358"/>
                <a:gd name="T58" fmla="*/ 14 w 14"/>
                <a:gd name="T59" fmla="*/ 1105 h 2358"/>
                <a:gd name="T60" fmla="*/ 14 w 14"/>
                <a:gd name="T61" fmla="*/ 1173 h 2358"/>
                <a:gd name="T62" fmla="*/ 0 w 14"/>
                <a:gd name="T63" fmla="*/ 1186 h 2358"/>
                <a:gd name="T64" fmla="*/ 14 w 14"/>
                <a:gd name="T65" fmla="*/ 1240 h 2358"/>
                <a:gd name="T66" fmla="*/ 0 w 14"/>
                <a:gd name="T67" fmla="*/ 1281 h 2358"/>
                <a:gd name="T68" fmla="*/ 14 w 14"/>
                <a:gd name="T69" fmla="*/ 1294 h 2358"/>
                <a:gd name="T70" fmla="*/ 14 w 14"/>
                <a:gd name="T71" fmla="*/ 1361 h 2358"/>
                <a:gd name="T72" fmla="*/ 0 w 14"/>
                <a:gd name="T73" fmla="*/ 1375 h 2358"/>
                <a:gd name="T74" fmla="*/ 14 w 14"/>
                <a:gd name="T75" fmla="*/ 1429 h 2358"/>
                <a:gd name="T76" fmla="*/ 0 w 14"/>
                <a:gd name="T77" fmla="*/ 1469 h 2358"/>
                <a:gd name="T78" fmla="*/ 14 w 14"/>
                <a:gd name="T79" fmla="*/ 1483 h 2358"/>
                <a:gd name="T80" fmla="*/ 14 w 14"/>
                <a:gd name="T81" fmla="*/ 1550 h 2358"/>
                <a:gd name="T82" fmla="*/ 0 w 14"/>
                <a:gd name="T83" fmla="*/ 1564 h 2358"/>
                <a:gd name="T84" fmla="*/ 14 w 14"/>
                <a:gd name="T85" fmla="*/ 1617 h 2358"/>
                <a:gd name="T86" fmla="*/ 0 w 14"/>
                <a:gd name="T87" fmla="*/ 1658 h 2358"/>
                <a:gd name="T88" fmla="*/ 14 w 14"/>
                <a:gd name="T89" fmla="*/ 1671 h 2358"/>
                <a:gd name="T90" fmla="*/ 14 w 14"/>
                <a:gd name="T91" fmla="*/ 1738 h 2358"/>
                <a:gd name="T92" fmla="*/ 0 w 14"/>
                <a:gd name="T93" fmla="*/ 1752 h 2358"/>
                <a:gd name="T94" fmla="*/ 14 w 14"/>
                <a:gd name="T95" fmla="*/ 1806 h 2358"/>
                <a:gd name="T96" fmla="*/ 0 w 14"/>
                <a:gd name="T97" fmla="*/ 1846 h 2358"/>
                <a:gd name="T98" fmla="*/ 14 w 14"/>
                <a:gd name="T99" fmla="*/ 1860 h 2358"/>
                <a:gd name="T100" fmla="*/ 14 w 14"/>
                <a:gd name="T101" fmla="*/ 1927 h 2358"/>
                <a:gd name="T102" fmla="*/ 0 w 14"/>
                <a:gd name="T103" fmla="*/ 1941 h 2358"/>
                <a:gd name="T104" fmla="*/ 14 w 14"/>
                <a:gd name="T105" fmla="*/ 1995 h 2358"/>
                <a:gd name="T106" fmla="*/ 0 w 14"/>
                <a:gd name="T107" fmla="*/ 2035 h 2358"/>
                <a:gd name="T108" fmla="*/ 14 w 14"/>
                <a:gd name="T109" fmla="*/ 2049 h 2358"/>
                <a:gd name="T110" fmla="*/ 14 w 14"/>
                <a:gd name="T111" fmla="*/ 2116 h 2358"/>
                <a:gd name="T112" fmla="*/ 0 w 14"/>
                <a:gd name="T113" fmla="*/ 2129 h 2358"/>
                <a:gd name="T114" fmla="*/ 14 w 14"/>
                <a:gd name="T115" fmla="*/ 2183 h 2358"/>
                <a:gd name="T116" fmla="*/ 0 w 14"/>
                <a:gd name="T117" fmla="*/ 2224 h 2358"/>
                <a:gd name="T118" fmla="*/ 14 w 14"/>
                <a:gd name="T119" fmla="*/ 2237 h 2358"/>
                <a:gd name="T120" fmla="*/ 14 w 14"/>
                <a:gd name="T121" fmla="*/ 2304 h 2358"/>
                <a:gd name="T122" fmla="*/ 0 w 14"/>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 h="2358">
                  <a:moveTo>
                    <a:pt x="14" y="0"/>
                  </a:moveTo>
                  <a:lnTo>
                    <a:pt x="14" y="14"/>
                  </a:lnTo>
                  <a:lnTo>
                    <a:pt x="0" y="14"/>
                  </a:lnTo>
                  <a:lnTo>
                    <a:pt x="0" y="0"/>
                  </a:lnTo>
                  <a:lnTo>
                    <a:pt x="14" y="0"/>
                  </a:lnTo>
                  <a:close/>
                  <a:moveTo>
                    <a:pt x="14" y="27"/>
                  </a:moveTo>
                  <a:lnTo>
                    <a:pt x="14" y="41"/>
                  </a:lnTo>
                  <a:lnTo>
                    <a:pt x="0" y="41"/>
                  </a:lnTo>
                  <a:lnTo>
                    <a:pt x="0" y="27"/>
                  </a:lnTo>
                  <a:lnTo>
                    <a:pt x="14" y="27"/>
                  </a:lnTo>
                  <a:close/>
                  <a:moveTo>
                    <a:pt x="14" y="54"/>
                  </a:moveTo>
                  <a:lnTo>
                    <a:pt x="14" y="68"/>
                  </a:lnTo>
                  <a:lnTo>
                    <a:pt x="0" y="68"/>
                  </a:lnTo>
                  <a:lnTo>
                    <a:pt x="0" y="54"/>
                  </a:lnTo>
                  <a:lnTo>
                    <a:pt x="14" y="54"/>
                  </a:lnTo>
                  <a:close/>
                  <a:moveTo>
                    <a:pt x="14" y="81"/>
                  </a:moveTo>
                  <a:lnTo>
                    <a:pt x="14" y="95"/>
                  </a:lnTo>
                  <a:lnTo>
                    <a:pt x="0" y="95"/>
                  </a:lnTo>
                  <a:lnTo>
                    <a:pt x="0" y="81"/>
                  </a:lnTo>
                  <a:lnTo>
                    <a:pt x="14" y="81"/>
                  </a:lnTo>
                  <a:close/>
                  <a:moveTo>
                    <a:pt x="14" y="108"/>
                  </a:moveTo>
                  <a:lnTo>
                    <a:pt x="14" y="121"/>
                  </a:lnTo>
                  <a:lnTo>
                    <a:pt x="0" y="121"/>
                  </a:lnTo>
                  <a:lnTo>
                    <a:pt x="0" y="108"/>
                  </a:lnTo>
                  <a:lnTo>
                    <a:pt x="14" y="108"/>
                  </a:lnTo>
                  <a:close/>
                  <a:moveTo>
                    <a:pt x="14" y="135"/>
                  </a:moveTo>
                  <a:lnTo>
                    <a:pt x="14" y="149"/>
                  </a:lnTo>
                  <a:lnTo>
                    <a:pt x="0" y="149"/>
                  </a:lnTo>
                  <a:lnTo>
                    <a:pt x="0" y="135"/>
                  </a:lnTo>
                  <a:lnTo>
                    <a:pt x="14" y="135"/>
                  </a:lnTo>
                  <a:close/>
                  <a:moveTo>
                    <a:pt x="14" y="162"/>
                  </a:moveTo>
                  <a:lnTo>
                    <a:pt x="14" y="175"/>
                  </a:lnTo>
                  <a:lnTo>
                    <a:pt x="0" y="175"/>
                  </a:lnTo>
                  <a:lnTo>
                    <a:pt x="0" y="162"/>
                  </a:lnTo>
                  <a:lnTo>
                    <a:pt x="14" y="162"/>
                  </a:lnTo>
                  <a:close/>
                  <a:moveTo>
                    <a:pt x="14" y="189"/>
                  </a:moveTo>
                  <a:lnTo>
                    <a:pt x="14" y="202"/>
                  </a:lnTo>
                  <a:lnTo>
                    <a:pt x="0" y="202"/>
                  </a:lnTo>
                  <a:lnTo>
                    <a:pt x="0" y="189"/>
                  </a:lnTo>
                  <a:lnTo>
                    <a:pt x="14" y="189"/>
                  </a:lnTo>
                  <a:close/>
                  <a:moveTo>
                    <a:pt x="14" y="216"/>
                  </a:moveTo>
                  <a:lnTo>
                    <a:pt x="14" y="229"/>
                  </a:lnTo>
                  <a:lnTo>
                    <a:pt x="0" y="229"/>
                  </a:lnTo>
                  <a:lnTo>
                    <a:pt x="0" y="216"/>
                  </a:lnTo>
                  <a:lnTo>
                    <a:pt x="14" y="216"/>
                  </a:lnTo>
                  <a:close/>
                  <a:moveTo>
                    <a:pt x="14" y="243"/>
                  </a:moveTo>
                  <a:lnTo>
                    <a:pt x="14" y="256"/>
                  </a:lnTo>
                  <a:lnTo>
                    <a:pt x="0" y="256"/>
                  </a:lnTo>
                  <a:lnTo>
                    <a:pt x="0" y="243"/>
                  </a:lnTo>
                  <a:lnTo>
                    <a:pt x="14" y="243"/>
                  </a:lnTo>
                  <a:close/>
                  <a:moveTo>
                    <a:pt x="14" y="270"/>
                  </a:moveTo>
                  <a:lnTo>
                    <a:pt x="14" y="283"/>
                  </a:lnTo>
                  <a:lnTo>
                    <a:pt x="0" y="283"/>
                  </a:lnTo>
                  <a:lnTo>
                    <a:pt x="0" y="270"/>
                  </a:lnTo>
                  <a:lnTo>
                    <a:pt x="14" y="270"/>
                  </a:lnTo>
                  <a:close/>
                  <a:moveTo>
                    <a:pt x="14" y="297"/>
                  </a:moveTo>
                  <a:lnTo>
                    <a:pt x="14" y="310"/>
                  </a:lnTo>
                  <a:lnTo>
                    <a:pt x="0" y="310"/>
                  </a:lnTo>
                  <a:lnTo>
                    <a:pt x="0" y="297"/>
                  </a:lnTo>
                  <a:lnTo>
                    <a:pt x="14" y="297"/>
                  </a:lnTo>
                  <a:close/>
                  <a:moveTo>
                    <a:pt x="14" y="324"/>
                  </a:moveTo>
                  <a:lnTo>
                    <a:pt x="14" y="337"/>
                  </a:lnTo>
                  <a:lnTo>
                    <a:pt x="0" y="337"/>
                  </a:lnTo>
                  <a:lnTo>
                    <a:pt x="0" y="324"/>
                  </a:lnTo>
                  <a:lnTo>
                    <a:pt x="14" y="324"/>
                  </a:lnTo>
                  <a:close/>
                  <a:moveTo>
                    <a:pt x="14" y="351"/>
                  </a:moveTo>
                  <a:lnTo>
                    <a:pt x="14" y="364"/>
                  </a:lnTo>
                  <a:lnTo>
                    <a:pt x="0" y="364"/>
                  </a:lnTo>
                  <a:lnTo>
                    <a:pt x="0" y="351"/>
                  </a:lnTo>
                  <a:lnTo>
                    <a:pt x="14" y="351"/>
                  </a:lnTo>
                  <a:close/>
                  <a:moveTo>
                    <a:pt x="14" y="378"/>
                  </a:moveTo>
                  <a:lnTo>
                    <a:pt x="14" y="391"/>
                  </a:lnTo>
                  <a:lnTo>
                    <a:pt x="0" y="391"/>
                  </a:lnTo>
                  <a:lnTo>
                    <a:pt x="0" y="378"/>
                  </a:lnTo>
                  <a:lnTo>
                    <a:pt x="14" y="378"/>
                  </a:lnTo>
                  <a:close/>
                  <a:moveTo>
                    <a:pt x="14" y="404"/>
                  </a:moveTo>
                  <a:lnTo>
                    <a:pt x="14" y="418"/>
                  </a:lnTo>
                  <a:lnTo>
                    <a:pt x="0" y="418"/>
                  </a:lnTo>
                  <a:lnTo>
                    <a:pt x="0" y="404"/>
                  </a:lnTo>
                  <a:lnTo>
                    <a:pt x="14" y="404"/>
                  </a:lnTo>
                  <a:close/>
                  <a:moveTo>
                    <a:pt x="14" y="432"/>
                  </a:moveTo>
                  <a:lnTo>
                    <a:pt x="14" y="445"/>
                  </a:lnTo>
                  <a:lnTo>
                    <a:pt x="0" y="445"/>
                  </a:lnTo>
                  <a:lnTo>
                    <a:pt x="0" y="432"/>
                  </a:lnTo>
                  <a:lnTo>
                    <a:pt x="14" y="432"/>
                  </a:lnTo>
                  <a:close/>
                  <a:moveTo>
                    <a:pt x="14" y="458"/>
                  </a:moveTo>
                  <a:lnTo>
                    <a:pt x="14" y="472"/>
                  </a:lnTo>
                  <a:lnTo>
                    <a:pt x="0" y="472"/>
                  </a:lnTo>
                  <a:lnTo>
                    <a:pt x="0" y="458"/>
                  </a:lnTo>
                  <a:lnTo>
                    <a:pt x="14" y="458"/>
                  </a:lnTo>
                  <a:close/>
                  <a:moveTo>
                    <a:pt x="14" y="485"/>
                  </a:moveTo>
                  <a:lnTo>
                    <a:pt x="14" y="499"/>
                  </a:lnTo>
                  <a:lnTo>
                    <a:pt x="0" y="499"/>
                  </a:lnTo>
                  <a:lnTo>
                    <a:pt x="0" y="485"/>
                  </a:lnTo>
                  <a:lnTo>
                    <a:pt x="14" y="485"/>
                  </a:lnTo>
                  <a:close/>
                  <a:moveTo>
                    <a:pt x="14" y="512"/>
                  </a:moveTo>
                  <a:lnTo>
                    <a:pt x="14" y="526"/>
                  </a:lnTo>
                  <a:lnTo>
                    <a:pt x="0" y="526"/>
                  </a:lnTo>
                  <a:lnTo>
                    <a:pt x="0" y="512"/>
                  </a:lnTo>
                  <a:lnTo>
                    <a:pt x="14" y="512"/>
                  </a:lnTo>
                  <a:close/>
                  <a:moveTo>
                    <a:pt x="14" y="539"/>
                  </a:moveTo>
                  <a:lnTo>
                    <a:pt x="14" y="553"/>
                  </a:lnTo>
                  <a:lnTo>
                    <a:pt x="0" y="553"/>
                  </a:lnTo>
                  <a:lnTo>
                    <a:pt x="0" y="539"/>
                  </a:lnTo>
                  <a:lnTo>
                    <a:pt x="14" y="539"/>
                  </a:lnTo>
                  <a:close/>
                  <a:moveTo>
                    <a:pt x="14" y="566"/>
                  </a:moveTo>
                  <a:lnTo>
                    <a:pt x="14" y="580"/>
                  </a:lnTo>
                  <a:lnTo>
                    <a:pt x="0" y="580"/>
                  </a:lnTo>
                  <a:lnTo>
                    <a:pt x="0" y="566"/>
                  </a:lnTo>
                  <a:lnTo>
                    <a:pt x="14" y="566"/>
                  </a:lnTo>
                  <a:close/>
                  <a:moveTo>
                    <a:pt x="14" y="593"/>
                  </a:moveTo>
                  <a:lnTo>
                    <a:pt x="14" y="607"/>
                  </a:lnTo>
                  <a:lnTo>
                    <a:pt x="0" y="607"/>
                  </a:lnTo>
                  <a:lnTo>
                    <a:pt x="0" y="593"/>
                  </a:lnTo>
                  <a:lnTo>
                    <a:pt x="14" y="593"/>
                  </a:lnTo>
                  <a:close/>
                  <a:moveTo>
                    <a:pt x="14" y="620"/>
                  </a:moveTo>
                  <a:lnTo>
                    <a:pt x="14" y="634"/>
                  </a:lnTo>
                  <a:lnTo>
                    <a:pt x="0" y="634"/>
                  </a:lnTo>
                  <a:lnTo>
                    <a:pt x="0" y="620"/>
                  </a:lnTo>
                  <a:lnTo>
                    <a:pt x="14" y="620"/>
                  </a:lnTo>
                  <a:close/>
                  <a:moveTo>
                    <a:pt x="14" y="647"/>
                  </a:moveTo>
                  <a:lnTo>
                    <a:pt x="14" y="661"/>
                  </a:lnTo>
                  <a:lnTo>
                    <a:pt x="0" y="661"/>
                  </a:lnTo>
                  <a:lnTo>
                    <a:pt x="0" y="647"/>
                  </a:lnTo>
                  <a:lnTo>
                    <a:pt x="14" y="647"/>
                  </a:lnTo>
                  <a:close/>
                  <a:moveTo>
                    <a:pt x="14" y="674"/>
                  </a:moveTo>
                  <a:lnTo>
                    <a:pt x="14" y="687"/>
                  </a:lnTo>
                  <a:lnTo>
                    <a:pt x="0" y="687"/>
                  </a:lnTo>
                  <a:lnTo>
                    <a:pt x="0" y="674"/>
                  </a:lnTo>
                  <a:lnTo>
                    <a:pt x="14" y="674"/>
                  </a:lnTo>
                  <a:close/>
                  <a:moveTo>
                    <a:pt x="14" y="701"/>
                  </a:moveTo>
                  <a:lnTo>
                    <a:pt x="14" y="715"/>
                  </a:lnTo>
                  <a:lnTo>
                    <a:pt x="0" y="715"/>
                  </a:lnTo>
                  <a:lnTo>
                    <a:pt x="0" y="701"/>
                  </a:lnTo>
                  <a:lnTo>
                    <a:pt x="14" y="701"/>
                  </a:lnTo>
                  <a:close/>
                  <a:moveTo>
                    <a:pt x="14" y="728"/>
                  </a:moveTo>
                  <a:lnTo>
                    <a:pt x="14" y="741"/>
                  </a:lnTo>
                  <a:lnTo>
                    <a:pt x="0" y="741"/>
                  </a:lnTo>
                  <a:lnTo>
                    <a:pt x="0" y="728"/>
                  </a:lnTo>
                  <a:lnTo>
                    <a:pt x="14" y="728"/>
                  </a:lnTo>
                  <a:close/>
                  <a:moveTo>
                    <a:pt x="14" y="755"/>
                  </a:moveTo>
                  <a:lnTo>
                    <a:pt x="14" y="768"/>
                  </a:lnTo>
                  <a:lnTo>
                    <a:pt x="0" y="768"/>
                  </a:lnTo>
                  <a:lnTo>
                    <a:pt x="0" y="755"/>
                  </a:lnTo>
                  <a:lnTo>
                    <a:pt x="14" y="755"/>
                  </a:lnTo>
                  <a:close/>
                  <a:moveTo>
                    <a:pt x="14" y="782"/>
                  </a:moveTo>
                  <a:lnTo>
                    <a:pt x="14" y="795"/>
                  </a:lnTo>
                  <a:lnTo>
                    <a:pt x="0" y="795"/>
                  </a:lnTo>
                  <a:lnTo>
                    <a:pt x="0" y="782"/>
                  </a:lnTo>
                  <a:lnTo>
                    <a:pt x="14" y="782"/>
                  </a:lnTo>
                  <a:close/>
                  <a:moveTo>
                    <a:pt x="14" y="809"/>
                  </a:moveTo>
                  <a:lnTo>
                    <a:pt x="14" y="822"/>
                  </a:lnTo>
                  <a:lnTo>
                    <a:pt x="0" y="822"/>
                  </a:lnTo>
                  <a:lnTo>
                    <a:pt x="0" y="809"/>
                  </a:lnTo>
                  <a:lnTo>
                    <a:pt x="14" y="809"/>
                  </a:lnTo>
                  <a:close/>
                  <a:moveTo>
                    <a:pt x="14" y="836"/>
                  </a:moveTo>
                  <a:lnTo>
                    <a:pt x="14" y="849"/>
                  </a:lnTo>
                  <a:lnTo>
                    <a:pt x="0" y="849"/>
                  </a:lnTo>
                  <a:lnTo>
                    <a:pt x="0" y="836"/>
                  </a:lnTo>
                  <a:lnTo>
                    <a:pt x="14" y="836"/>
                  </a:lnTo>
                  <a:close/>
                  <a:moveTo>
                    <a:pt x="14" y="863"/>
                  </a:moveTo>
                  <a:lnTo>
                    <a:pt x="14" y="876"/>
                  </a:lnTo>
                  <a:lnTo>
                    <a:pt x="0" y="876"/>
                  </a:lnTo>
                  <a:lnTo>
                    <a:pt x="0" y="863"/>
                  </a:lnTo>
                  <a:lnTo>
                    <a:pt x="14" y="863"/>
                  </a:lnTo>
                  <a:close/>
                  <a:moveTo>
                    <a:pt x="14" y="890"/>
                  </a:moveTo>
                  <a:lnTo>
                    <a:pt x="14" y="903"/>
                  </a:lnTo>
                  <a:lnTo>
                    <a:pt x="0" y="903"/>
                  </a:lnTo>
                  <a:lnTo>
                    <a:pt x="0" y="890"/>
                  </a:lnTo>
                  <a:lnTo>
                    <a:pt x="14" y="890"/>
                  </a:lnTo>
                  <a:close/>
                  <a:moveTo>
                    <a:pt x="14" y="917"/>
                  </a:moveTo>
                  <a:lnTo>
                    <a:pt x="14" y="930"/>
                  </a:lnTo>
                  <a:lnTo>
                    <a:pt x="0" y="930"/>
                  </a:lnTo>
                  <a:lnTo>
                    <a:pt x="0" y="917"/>
                  </a:lnTo>
                  <a:lnTo>
                    <a:pt x="14" y="917"/>
                  </a:lnTo>
                  <a:close/>
                  <a:moveTo>
                    <a:pt x="14" y="944"/>
                  </a:moveTo>
                  <a:lnTo>
                    <a:pt x="14" y="957"/>
                  </a:lnTo>
                  <a:lnTo>
                    <a:pt x="0" y="957"/>
                  </a:lnTo>
                  <a:lnTo>
                    <a:pt x="0" y="944"/>
                  </a:lnTo>
                  <a:lnTo>
                    <a:pt x="14" y="944"/>
                  </a:lnTo>
                  <a:close/>
                  <a:moveTo>
                    <a:pt x="14" y="970"/>
                  </a:moveTo>
                  <a:lnTo>
                    <a:pt x="14" y="984"/>
                  </a:lnTo>
                  <a:lnTo>
                    <a:pt x="0" y="984"/>
                  </a:lnTo>
                  <a:lnTo>
                    <a:pt x="0" y="970"/>
                  </a:lnTo>
                  <a:lnTo>
                    <a:pt x="14" y="970"/>
                  </a:lnTo>
                  <a:close/>
                  <a:moveTo>
                    <a:pt x="14" y="998"/>
                  </a:moveTo>
                  <a:lnTo>
                    <a:pt x="14" y="1011"/>
                  </a:lnTo>
                  <a:lnTo>
                    <a:pt x="0" y="1011"/>
                  </a:lnTo>
                  <a:lnTo>
                    <a:pt x="0" y="998"/>
                  </a:lnTo>
                  <a:lnTo>
                    <a:pt x="14" y="998"/>
                  </a:lnTo>
                  <a:close/>
                  <a:moveTo>
                    <a:pt x="14" y="1024"/>
                  </a:moveTo>
                  <a:lnTo>
                    <a:pt x="14" y="1038"/>
                  </a:lnTo>
                  <a:lnTo>
                    <a:pt x="0" y="1038"/>
                  </a:lnTo>
                  <a:lnTo>
                    <a:pt x="0" y="1024"/>
                  </a:lnTo>
                  <a:lnTo>
                    <a:pt x="14" y="1024"/>
                  </a:lnTo>
                  <a:close/>
                  <a:moveTo>
                    <a:pt x="14" y="1051"/>
                  </a:moveTo>
                  <a:lnTo>
                    <a:pt x="14" y="1065"/>
                  </a:lnTo>
                  <a:lnTo>
                    <a:pt x="0" y="1065"/>
                  </a:lnTo>
                  <a:lnTo>
                    <a:pt x="0" y="1051"/>
                  </a:lnTo>
                  <a:lnTo>
                    <a:pt x="14" y="1051"/>
                  </a:lnTo>
                  <a:close/>
                  <a:moveTo>
                    <a:pt x="14" y="1078"/>
                  </a:moveTo>
                  <a:lnTo>
                    <a:pt x="14" y="1092"/>
                  </a:lnTo>
                  <a:lnTo>
                    <a:pt x="0" y="1092"/>
                  </a:lnTo>
                  <a:lnTo>
                    <a:pt x="0" y="1078"/>
                  </a:lnTo>
                  <a:lnTo>
                    <a:pt x="14" y="1078"/>
                  </a:lnTo>
                  <a:close/>
                  <a:moveTo>
                    <a:pt x="14" y="1105"/>
                  </a:moveTo>
                  <a:lnTo>
                    <a:pt x="14" y="1119"/>
                  </a:lnTo>
                  <a:lnTo>
                    <a:pt x="0" y="1119"/>
                  </a:lnTo>
                  <a:lnTo>
                    <a:pt x="0" y="1105"/>
                  </a:lnTo>
                  <a:lnTo>
                    <a:pt x="14" y="1105"/>
                  </a:lnTo>
                  <a:close/>
                  <a:moveTo>
                    <a:pt x="14" y="1132"/>
                  </a:moveTo>
                  <a:lnTo>
                    <a:pt x="14" y="1146"/>
                  </a:lnTo>
                  <a:lnTo>
                    <a:pt x="0" y="1146"/>
                  </a:lnTo>
                  <a:lnTo>
                    <a:pt x="0" y="1132"/>
                  </a:lnTo>
                  <a:lnTo>
                    <a:pt x="14" y="1132"/>
                  </a:lnTo>
                  <a:close/>
                  <a:moveTo>
                    <a:pt x="14" y="1159"/>
                  </a:moveTo>
                  <a:lnTo>
                    <a:pt x="14" y="1173"/>
                  </a:lnTo>
                  <a:lnTo>
                    <a:pt x="0" y="1173"/>
                  </a:lnTo>
                  <a:lnTo>
                    <a:pt x="0" y="1159"/>
                  </a:lnTo>
                  <a:lnTo>
                    <a:pt x="14" y="1159"/>
                  </a:lnTo>
                  <a:close/>
                  <a:moveTo>
                    <a:pt x="14" y="1186"/>
                  </a:moveTo>
                  <a:lnTo>
                    <a:pt x="14" y="1200"/>
                  </a:lnTo>
                  <a:lnTo>
                    <a:pt x="0" y="1200"/>
                  </a:lnTo>
                  <a:lnTo>
                    <a:pt x="0" y="1186"/>
                  </a:lnTo>
                  <a:lnTo>
                    <a:pt x="14" y="1186"/>
                  </a:lnTo>
                  <a:close/>
                  <a:moveTo>
                    <a:pt x="14" y="1213"/>
                  </a:moveTo>
                  <a:lnTo>
                    <a:pt x="14" y="1227"/>
                  </a:lnTo>
                  <a:lnTo>
                    <a:pt x="0" y="1227"/>
                  </a:lnTo>
                  <a:lnTo>
                    <a:pt x="0" y="1213"/>
                  </a:lnTo>
                  <a:lnTo>
                    <a:pt x="14" y="1213"/>
                  </a:lnTo>
                  <a:close/>
                  <a:moveTo>
                    <a:pt x="14" y="1240"/>
                  </a:moveTo>
                  <a:lnTo>
                    <a:pt x="14" y="1253"/>
                  </a:lnTo>
                  <a:lnTo>
                    <a:pt x="0" y="1253"/>
                  </a:lnTo>
                  <a:lnTo>
                    <a:pt x="0" y="1240"/>
                  </a:lnTo>
                  <a:lnTo>
                    <a:pt x="14" y="1240"/>
                  </a:lnTo>
                  <a:close/>
                  <a:moveTo>
                    <a:pt x="14" y="1267"/>
                  </a:moveTo>
                  <a:lnTo>
                    <a:pt x="14" y="1281"/>
                  </a:lnTo>
                  <a:lnTo>
                    <a:pt x="0" y="1281"/>
                  </a:lnTo>
                  <a:lnTo>
                    <a:pt x="0" y="1267"/>
                  </a:lnTo>
                  <a:lnTo>
                    <a:pt x="14" y="1267"/>
                  </a:lnTo>
                  <a:close/>
                  <a:moveTo>
                    <a:pt x="14" y="1294"/>
                  </a:moveTo>
                  <a:lnTo>
                    <a:pt x="14" y="1307"/>
                  </a:lnTo>
                  <a:lnTo>
                    <a:pt x="0" y="1307"/>
                  </a:lnTo>
                  <a:lnTo>
                    <a:pt x="0" y="1294"/>
                  </a:lnTo>
                  <a:lnTo>
                    <a:pt x="14" y="1294"/>
                  </a:lnTo>
                  <a:close/>
                  <a:moveTo>
                    <a:pt x="14" y="1321"/>
                  </a:moveTo>
                  <a:lnTo>
                    <a:pt x="14" y="1334"/>
                  </a:lnTo>
                  <a:lnTo>
                    <a:pt x="0" y="1334"/>
                  </a:lnTo>
                  <a:lnTo>
                    <a:pt x="0" y="1321"/>
                  </a:lnTo>
                  <a:lnTo>
                    <a:pt x="14" y="1321"/>
                  </a:lnTo>
                  <a:close/>
                  <a:moveTo>
                    <a:pt x="14" y="1348"/>
                  </a:moveTo>
                  <a:lnTo>
                    <a:pt x="14" y="1361"/>
                  </a:lnTo>
                  <a:lnTo>
                    <a:pt x="0" y="1361"/>
                  </a:lnTo>
                  <a:lnTo>
                    <a:pt x="0" y="1348"/>
                  </a:lnTo>
                  <a:lnTo>
                    <a:pt x="14" y="1348"/>
                  </a:lnTo>
                  <a:close/>
                  <a:moveTo>
                    <a:pt x="14" y="1375"/>
                  </a:moveTo>
                  <a:lnTo>
                    <a:pt x="14" y="1388"/>
                  </a:lnTo>
                  <a:lnTo>
                    <a:pt x="0" y="1388"/>
                  </a:lnTo>
                  <a:lnTo>
                    <a:pt x="0" y="1375"/>
                  </a:lnTo>
                  <a:lnTo>
                    <a:pt x="14" y="1375"/>
                  </a:lnTo>
                  <a:close/>
                  <a:moveTo>
                    <a:pt x="14" y="1402"/>
                  </a:moveTo>
                  <a:lnTo>
                    <a:pt x="14" y="1415"/>
                  </a:lnTo>
                  <a:lnTo>
                    <a:pt x="0" y="1415"/>
                  </a:lnTo>
                  <a:lnTo>
                    <a:pt x="0" y="1402"/>
                  </a:lnTo>
                  <a:lnTo>
                    <a:pt x="14" y="1402"/>
                  </a:lnTo>
                  <a:close/>
                  <a:moveTo>
                    <a:pt x="14" y="1429"/>
                  </a:moveTo>
                  <a:lnTo>
                    <a:pt x="14" y="1442"/>
                  </a:lnTo>
                  <a:lnTo>
                    <a:pt x="0" y="1442"/>
                  </a:lnTo>
                  <a:lnTo>
                    <a:pt x="0" y="1429"/>
                  </a:lnTo>
                  <a:lnTo>
                    <a:pt x="14" y="1429"/>
                  </a:lnTo>
                  <a:close/>
                  <a:moveTo>
                    <a:pt x="14" y="1455"/>
                  </a:moveTo>
                  <a:lnTo>
                    <a:pt x="14" y="1469"/>
                  </a:lnTo>
                  <a:lnTo>
                    <a:pt x="0" y="1469"/>
                  </a:lnTo>
                  <a:lnTo>
                    <a:pt x="0" y="1455"/>
                  </a:lnTo>
                  <a:lnTo>
                    <a:pt x="14" y="1455"/>
                  </a:lnTo>
                  <a:close/>
                  <a:moveTo>
                    <a:pt x="14" y="1483"/>
                  </a:moveTo>
                  <a:lnTo>
                    <a:pt x="14" y="1496"/>
                  </a:lnTo>
                  <a:lnTo>
                    <a:pt x="0" y="1496"/>
                  </a:lnTo>
                  <a:lnTo>
                    <a:pt x="0" y="1483"/>
                  </a:lnTo>
                  <a:lnTo>
                    <a:pt x="14" y="1483"/>
                  </a:lnTo>
                  <a:close/>
                  <a:moveTo>
                    <a:pt x="14" y="1510"/>
                  </a:moveTo>
                  <a:lnTo>
                    <a:pt x="14" y="1523"/>
                  </a:lnTo>
                  <a:lnTo>
                    <a:pt x="0" y="1523"/>
                  </a:lnTo>
                  <a:lnTo>
                    <a:pt x="0" y="1510"/>
                  </a:lnTo>
                  <a:lnTo>
                    <a:pt x="14" y="1510"/>
                  </a:lnTo>
                  <a:close/>
                  <a:moveTo>
                    <a:pt x="14" y="1536"/>
                  </a:moveTo>
                  <a:lnTo>
                    <a:pt x="14" y="1550"/>
                  </a:lnTo>
                  <a:lnTo>
                    <a:pt x="0" y="1550"/>
                  </a:lnTo>
                  <a:lnTo>
                    <a:pt x="0" y="1536"/>
                  </a:lnTo>
                  <a:lnTo>
                    <a:pt x="14" y="1536"/>
                  </a:lnTo>
                  <a:close/>
                  <a:moveTo>
                    <a:pt x="14" y="1564"/>
                  </a:moveTo>
                  <a:lnTo>
                    <a:pt x="14" y="1577"/>
                  </a:lnTo>
                  <a:lnTo>
                    <a:pt x="0" y="1577"/>
                  </a:lnTo>
                  <a:lnTo>
                    <a:pt x="0" y="1564"/>
                  </a:lnTo>
                  <a:lnTo>
                    <a:pt x="14" y="1564"/>
                  </a:lnTo>
                  <a:close/>
                  <a:moveTo>
                    <a:pt x="14" y="1590"/>
                  </a:moveTo>
                  <a:lnTo>
                    <a:pt x="14" y="1604"/>
                  </a:lnTo>
                  <a:lnTo>
                    <a:pt x="0" y="1604"/>
                  </a:lnTo>
                  <a:lnTo>
                    <a:pt x="0" y="1590"/>
                  </a:lnTo>
                  <a:lnTo>
                    <a:pt x="14" y="1590"/>
                  </a:lnTo>
                  <a:close/>
                  <a:moveTo>
                    <a:pt x="14" y="1617"/>
                  </a:moveTo>
                  <a:lnTo>
                    <a:pt x="14" y="1631"/>
                  </a:lnTo>
                  <a:lnTo>
                    <a:pt x="0" y="1631"/>
                  </a:lnTo>
                  <a:lnTo>
                    <a:pt x="0" y="1617"/>
                  </a:lnTo>
                  <a:lnTo>
                    <a:pt x="14" y="1617"/>
                  </a:lnTo>
                  <a:close/>
                  <a:moveTo>
                    <a:pt x="14" y="1644"/>
                  </a:moveTo>
                  <a:lnTo>
                    <a:pt x="14" y="1658"/>
                  </a:lnTo>
                  <a:lnTo>
                    <a:pt x="0" y="1658"/>
                  </a:lnTo>
                  <a:lnTo>
                    <a:pt x="0" y="1644"/>
                  </a:lnTo>
                  <a:lnTo>
                    <a:pt x="14" y="1644"/>
                  </a:lnTo>
                  <a:close/>
                  <a:moveTo>
                    <a:pt x="14" y="1671"/>
                  </a:moveTo>
                  <a:lnTo>
                    <a:pt x="14" y="1685"/>
                  </a:lnTo>
                  <a:lnTo>
                    <a:pt x="0" y="1685"/>
                  </a:lnTo>
                  <a:lnTo>
                    <a:pt x="0" y="1671"/>
                  </a:lnTo>
                  <a:lnTo>
                    <a:pt x="14" y="1671"/>
                  </a:lnTo>
                  <a:close/>
                  <a:moveTo>
                    <a:pt x="14" y="1698"/>
                  </a:moveTo>
                  <a:lnTo>
                    <a:pt x="14" y="1712"/>
                  </a:lnTo>
                  <a:lnTo>
                    <a:pt x="0" y="1712"/>
                  </a:lnTo>
                  <a:lnTo>
                    <a:pt x="0" y="1698"/>
                  </a:lnTo>
                  <a:lnTo>
                    <a:pt x="14" y="1698"/>
                  </a:lnTo>
                  <a:close/>
                  <a:moveTo>
                    <a:pt x="14" y="1725"/>
                  </a:moveTo>
                  <a:lnTo>
                    <a:pt x="14" y="1738"/>
                  </a:lnTo>
                  <a:lnTo>
                    <a:pt x="0" y="1738"/>
                  </a:lnTo>
                  <a:lnTo>
                    <a:pt x="0" y="1725"/>
                  </a:lnTo>
                  <a:lnTo>
                    <a:pt x="14" y="1725"/>
                  </a:lnTo>
                  <a:close/>
                  <a:moveTo>
                    <a:pt x="14" y="1752"/>
                  </a:moveTo>
                  <a:lnTo>
                    <a:pt x="14" y="1766"/>
                  </a:lnTo>
                  <a:lnTo>
                    <a:pt x="0" y="1766"/>
                  </a:lnTo>
                  <a:lnTo>
                    <a:pt x="0" y="1752"/>
                  </a:lnTo>
                  <a:lnTo>
                    <a:pt x="14" y="1752"/>
                  </a:lnTo>
                  <a:close/>
                  <a:moveTo>
                    <a:pt x="14" y="1779"/>
                  </a:moveTo>
                  <a:lnTo>
                    <a:pt x="14" y="1792"/>
                  </a:lnTo>
                  <a:lnTo>
                    <a:pt x="0" y="1792"/>
                  </a:lnTo>
                  <a:lnTo>
                    <a:pt x="0" y="1779"/>
                  </a:lnTo>
                  <a:lnTo>
                    <a:pt x="14" y="1779"/>
                  </a:lnTo>
                  <a:close/>
                  <a:moveTo>
                    <a:pt x="14" y="1806"/>
                  </a:moveTo>
                  <a:lnTo>
                    <a:pt x="14" y="1819"/>
                  </a:lnTo>
                  <a:lnTo>
                    <a:pt x="0" y="1819"/>
                  </a:lnTo>
                  <a:lnTo>
                    <a:pt x="0" y="1806"/>
                  </a:lnTo>
                  <a:lnTo>
                    <a:pt x="14" y="1806"/>
                  </a:lnTo>
                  <a:close/>
                  <a:moveTo>
                    <a:pt x="14" y="1833"/>
                  </a:moveTo>
                  <a:lnTo>
                    <a:pt x="14" y="1846"/>
                  </a:lnTo>
                  <a:lnTo>
                    <a:pt x="0" y="1846"/>
                  </a:lnTo>
                  <a:lnTo>
                    <a:pt x="0" y="1833"/>
                  </a:lnTo>
                  <a:lnTo>
                    <a:pt x="14" y="1833"/>
                  </a:lnTo>
                  <a:close/>
                  <a:moveTo>
                    <a:pt x="14" y="1860"/>
                  </a:moveTo>
                  <a:lnTo>
                    <a:pt x="14" y="1873"/>
                  </a:lnTo>
                  <a:lnTo>
                    <a:pt x="0" y="1873"/>
                  </a:lnTo>
                  <a:lnTo>
                    <a:pt x="0" y="1860"/>
                  </a:lnTo>
                  <a:lnTo>
                    <a:pt x="14" y="1860"/>
                  </a:lnTo>
                  <a:close/>
                  <a:moveTo>
                    <a:pt x="14" y="1887"/>
                  </a:moveTo>
                  <a:lnTo>
                    <a:pt x="14" y="1900"/>
                  </a:lnTo>
                  <a:lnTo>
                    <a:pt x="0" y="1900"/>
                  </a:lnTo>
                  <a:lnTo>
                    <a:pt x="0" y="1887"/>
                  </a:lnTo>
                  <a:lnTo>
                    <a:pt x="14" y="1887"/>
                  </a:lnTo>
                  <a:close/>
                  <a:moveTo>
                    <a:pt x="14" y="1914"/>
                  </a:moveTo>
                  <a:lnTo>
                    <a:pt x="14" y="1927"/>
                  </a:lnTo>
                  <a:lnTo>
                    <a:pt x="0" y="1927"/>
                  </a:lnTo>
                  <a:lnTo>
                    <a:pt x="0" y="1914"/>
                  </a:lnTo>
                  <a:lnTo>
                    <a:pt x="14" y="1914"/>
                  </a:lnTo>
                  <a:close/>
                  <a:moveTo>
                    <a:pt x="14" y="1941"/>
                  </a:moveTo>
                  <a:lnTo>
                    <a:pt x="14" y="1954"/>
                  </a:lnTo>
                  <a:lnTo>
                    <a:pt x="0" y="1954"/>
                  </a:lnTo>
                  <a:lnTo>
                    <a:pt x="0" y="1941"/>
                  </a:lnTo>
                  <a:lnTo>
                    <a:pt x="14" y="1941"/>
                  </a:lnTo>
                  <a:close/>
                  <a:moveTo>
                    <a:pt x="14" y="1968"/>
                  </a:moveTo>
                  <a:lnTo>
                    <a:pt x="14" y="1981"/>
                  </a:lnTo>
                  <a:lnTo>
                    <a:pt x="0" y="1981"/>
                  </a:lnTo>
                  <a:lnTo>
                    <a:pt x="0" y="1968"/>
                  </a:lnTo>
                  <a:lnTo>
                    <a:pt x="14" y="1968"/>
                  </a:lnTo>
                  <a:close/>
                  <a:moveTo>
                    <a:pt x="14" y="1995"/>
                  </a:moveTo>
                  <a:lnTo>
                    <a:pt x="14" y="2008"/>
                  </a:lnTo>
                  <a:lnTo>
                    <a:pt x="0" y="2008"/>
                  </a:lnTo>
                  <a:lnTo>
                    <a:pt x="0" y="1995"/>
                  </a:lnTo>
                  <a:lnTo>
                    <a:pt x="14" y="1995"/>
                  </a:lnTo>
                  <a:close/>
                  <a:moveTo>
                    <a:pt x="14" y="2021"/>
                  </a:moveTo>
                  <a:lnTo>
                    <a:pt x="14" y="2035"/>
                  </a:lnTo>
                  <a:lnTo>
                    <a:pt x="0" y="2035"/>
                  </a:lnTo>
                  <a:lnTo>
                    <a:pt x="0" y="2021"/>
                  </a:lnTo>
                  <a:lnTo>
                    <a:pt x="14" y="2021"/>
                  </a:lnTo>
                  <a:close/>
                  <a:moveTo>
                    <a:pt x="14" y="2049"/>
                  </a:moveTo>
                  <a:lnTo>
                    <a:pt x="14" y="2062"/>
                  </a:lnTo>
                  <a:lnTo>
                    <a:pt x="0" y="2062"/>
                  </a:lnTo>
                  <a:lnTo>
                    <a:pt x="0" y="2049"/>
                  </a:lnTo>
                  <a:lnTo>
                    <a:pt x="14" y="2049"/>
                  </a:lnTo>
                  <a:close/>
                  <a:moveTo>
                    <a:pt x="14" y="2075"/>
                  </a:moveTo>
                  <a:lnTo>
                    <a:pt x="14" y="2089"/>
                  </a:lnTo>
                  <a:lnTo>
                    <a:pt x="0" y="2089"/>
                  </a:lnTo>
                  <a:lnTo>
                    <a:pt x="0" y="2075"/>
                  </a:lnTo>
                  <a:lnTo>
                    <a:pt x="14" y="2075"/>
                  </a:lnTo>
                  <a:close/>
                  <a:moveTo>
                    <a:pt x="14" y="2102"/>
                  </a:moveTo>
                  <a:lnTo>
                    <a:pt x="14" y="2116"/>
                  </a:lnTo>
                  <a:lnTo>
                    <a:pt x="0" y="2116"/>
                  </a:lnTo>
                  <a:lnTo>
                    <a:pt x="0" y="2102"/>
                  </a:lnTo>
                  <a:lnTo>
                    <a:pt x="14" y="2102"/>
                  </a:lnTo>
                  <a:close/>
                  <a:moveTo>
                    <a:pt x="14" y="2129"/>
                  </a:moveTo>
                  <a:lnTo>
                    <a:pt x="14" y="2143"/>
                  </a:lnTo>
                  <a:lnTo>
                    <a:pt x="0" y="2143"/>
                  </a:lnTo>
                  <a:lnTo>
                    <a:pt x="0" y="2129"/>
                  </a:lnTo>
                  <a:lnTo>
                    <a:pt x="14" y="2129"/>
                  </a:lnTo>
                  <a:close/>
                  <a:moveTo>
                    <a:pt x="14" y="2156"/>
                  </a:moveTo>
                  <a:lnTo>
                    <a:pt x="14" y="2170"/>
                  </a:lnTo>
                  <a:lnTo>
                    <a:pt x="0" y="2170"/>
                  </a:lnTo>
                  <a:lnTo>
                    <a:pt x="0" y="2156"/>
                  </a:lnTo>
                  <a:lnTo>
                    <a:pt x="14" y="2156"/>
                  </a:lnTo>
                  <a:close/>
                  <a:moveTo>
                    <a:pt x="14" y="2183"/>
                  </a:moveTo>
                  <a:lnTo>
                    <a:pt x="14" y="2197"/>
                  </a:lnTo>
                  <a:lnTo>
                    <a:pt x="0" y="2197"/>
                  </a:lnTo>
                  <a:lnTo>
                    <a:pt x="0" y="2183"/>
                  </a:lnTo>
                  <a:lnTo>
                    <a:pt x="14" y="2183"/>
                  </a:lnTo>
                  <a:close/>
                  <a:moveTo>
                    <a:pt x="14" y="2210"/>
                  </a:moveTo>
                  <a:lnTo>
                    <a:pt x="14" y="2224"/>
                  </a:lnTo>
                  <a:lnTo>
                    <a:pt x="0" y="2224"/>
                  </a:lnTo>
                  <a:lnTo>
                    <a:pt x="0" y="2210"/>
                  </a:lnTo>
                  <a:lnTo>
                    <a:pt x="14" y="2210"/>
                  </a:lnTo>
                  <a:close/>
                  <a:moveTo>
                    <a:pt x="14" y="2237"/>
                  </a:moveTo>
                  <a:lnTo>
                    <a:pt x="14" y="2251"/>
                  </a:lnTo>
                  <a:lnTo>
                    <a:pt x="0" y="2251"/>
                  </a:lnTo>
                  <a:lnTo>
                    <a:pt x="0" y="2237"/>
                  </a:lnTo>
                  <a:lnTo>
                    <a:pt x="14" y="2237"/>
                  </a:lnTo>
                  <a:close/>
                  <a:moveTo>
                    <a:pt x="14" y="2264"/>
                  </a:moveTo>
                  <a:lnTo>
                    <a:pt x="14" y="2278"/>
                  </a:lnTo>
                  <a:lnTo>
                    <a:pt x="0" y="2278"/>
                  </a:lnTo>
                  <a:lnTo>
                    <a:pt x="0" y="2264"/>
                  </a:lnTo>
                  <a:lnTo>
                    <a:pt x="14" y="2264"/>
                  </a:lnTo>
                  <a:close/>
                  <a:moveTo>
                    <a:pt x="14" y="2291"/>
                  </a:moveTo>
                  <a:lnTo>
                    <a:pt x="14" y="2304"/>
                  </a:lnTo>
                  <a:lnTo>
                    <a:pt x="0" y="2304"/>
                  </a:lnTo>
                  <a:lnTo>
                    <a:pt x="0" y="2291"/>
                  </a:lnTo>
                  <a:lnTo>
                    <a:pt x="14" y="2291"/>
                  </a:lnTo>
                  <a:close/>
                  <a:moveTo>
                    <a:pt x="14" y="2318"/>
                  </a:moveTo>
                  <a:lnTo>
                    <a:pt x="14" y="2332"/>
                  </a:lnTo>
                  <a:lnTo>
                    <a:pt x="0" y="2332"/>
                  </a:lnTo>
                  <a:lnTo>
                    <a:pt x="0" y="2318"/>
                  </a:lnTo>
                  <a:lnTo>
                    <a:pt x="14" y="2318"/>
                  </a:lnTo>
                  <a:close/>
                  <a:moveTo>
                    <a:pt x="14" y="2345"/>
                  </a:moveTo>
                  <a:lnTo>
                    <a:pt x="14" y="2358"/>
                  </a:lnTo>
                  <a:lnTo>
                    <a:pt x="0" y="2358"/>
                  </a:lnTo>
                  <a:lnTo>
                    <a:pt x="0" y="2345"/>
                  </a:lnTo>
                  <a:lnTo>
                    <a:pt x="14"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88" name="Freeform 84">
              <a:extLst>
                <a:ext uri="{FF2B5EF4-FFF2-40B4-BE49-F238E27FC236}">
                  <a16:creationId xmlns:a16="http://schemas.microsoft.com/office/drawing/2014/main" id="{484ECA26-3C8F-43E6-88BC-76021EC60566}"/>
                </a:ext>
              </a:extLst>
            </p:cNvPr>
            <p:cNvSpPr>
              <a:spLocks noEditPoints="1"/>
            </p:cNvSpPr>
            <p:nvPr/>
          </p:nvSpPr>
          <p:spPr bwMode="auto">
            <a:xfrm>
              <a:off x="4680937" y="2655977"/>
              <a:ext cx="22258" cy="3748911"/>
            </a:xfrm>
            <a:custGeom>
              <a:avLst/>
              <a:gdLst>
                <a:gd name="T0" fmla="*/ 14 w 14"/>
                <a:gd name="T1" fmla="*/ 41 h 2358"/>
                <a:gd name="T2" fmla="*/ 0 w 14"/>
                <a:gd name="T3" fmla="*/ 54 h 2358"/>
                <a:gd name="T4" fmla="*/ 14 w 14"/>
                <a:gd name="T5" fmla="*/ 108 h 2358"/>
                <a:gd name="T6" fmla="*/ 0 w 14"/>
                <a:gd name="T7" fmla="*/ 149 h 2358"/>
                <a:gd name="T8" fmla="*/ 14 w 14"/>
                <a:gd name="T9" fmla="*/ 162 h 2358"/>
                <a:gd name="T10" fmla="*/ 14 w 14"/>
                <a:gd name="T11" fmla="*/ 229 h 2358"/>
                <a:gd name="T12" fmla="*/ 0 w 14"/>
                <a:gd name="T13" fmla="*/ 243 h 2358"/>
                <a:gd name="T14" fmla="*/ 14 w 14"/>
                <a:gd name="T15" fmla="*/ 297 h 2358"/>
                <a:gd name="T16" fmla="*/ 0 w 14"/>
                <a:gd name="T17" fmla="*/ 337 h 2358"/>
                <a:gd name="T18" fmla="*/ 14 w 14"/>
                <a:gd name="T19" fmla="*/ 351 h 2358"/>
                <a:gd name="T20" fmla="*/ 14 w 14"/>
                <a:gd name="T21" fmla="*/ 418 h 2358"/>
                <a:gd name="T22" fmla="*/ 0 w 14"/>
                <a:gd name="T23" fmla="*/ 432 h 2358"/>
                <a:gd name="T24" fmla="*/ 14 w 14"/>
                <a:gd name="T25" fmla="*/ 485 h 2358"/>
                <a:gd name="T26" fmla="*/ 0 w 14"/>
                <a:gd name="T27" fmla="*/ 526 h 2358"/>
                <a:gd name="T28" fmla="*/ 14 w 14"/>
                <a:gd name="T29" fmla="*/ 539 h 2358"/>
                <a:gd name="T30" fmla="*/ 14 w 14"/>
                <a:gd name="T31" fmla="*/ 607 h 2358"/>
                <a:gd name="T32" fmla="*/ 0 w 14"/>
                <a:gd name="T33" fmla="*/ 620 h 2358"/>
                <a:gd name="T34" fmla="*/ 14 w 14"/>
                <a:gd name="T35" fmla="*/ 674 h 2358"/>
                <a:gd name="T36" fmla="*/ 0 w 14"/>
                <a:gd name="T37" fmla="*/ 715 h 2358"/>
                <a:gd name="T38" fmla="*/ 14 w 14"/>
                <a:gd name="T39" fmla="*/ 728 h 2358"/>
                <a:gd name="T40" fmla="*/ 14 w 14"/>
                <a:gd name="T41" fmla="*/ 795 h 2358"/>
                <a:gd name="T42" fmla="*/ 0 w 14"/>
                <a:gd name="T43" fmla="*/ 809 h 2358"/>
                <a:gd name="T44" fmla="*/ 14 w 14"/>
                <a:gd name="T45" fmla="*/ 863 h 2358"/>
                <a:gd name="T46" fmla="*/ 0 w 14"/>
                <a:gd name="T47" fmla="*/ 903 h 2358"/>
                <a:gd name="T48" fmla="*/ 14 w 14"/>
                <a:gd name="T49" fmla="*/ 917 h 2358"/>
                <a:gd name="T50" fmla="*/ 14 w 14"/>
                <a:gd name="T51" fmla="*/ 984 h 2358"/>
                <a:gd name="T52" fmla="*/ 0 w 14"/>
                <a:gd name="T53" fmla="*/ 998 h 2358"/>
                <a:gd name="T54" fmla="*/ 14 w 14"/>
                <a:gd name="T55" fmla="*/ 1051 h 2358"/>
                <a:gd name="T56" fmla="*/ 0 w 14"/>
                <a:gd name="T57" fmla="*/ 1092 h 2358"/>
                <a:gd name="T58" fmla="*/ 14 w 14"/>
                <a:gd name="T59" fmla="*/ 1105 h 2358"/>
                <a:gd name="T60" fmla="*/ 14 w 14"/>
                <a:gd name="T61" fmla="*/ 1173 h 2358"/>
                <a:gd name="T62" fmla="*/ 0 w 14"/>
                <a:gd name="T63" fmla="*/ 1186 h 2358"/>
                <a:gd name="T64" fmla="*/ 14 w 14"/>
                <a:gd name="T65" fmla="*/ 1240 h 2358"/>
                <a:gd name="T66" fmla="*/ 0 w 14"/>
                <a:gd name="T67" fmla="*/ 1281 h 2358"/>
                <a:gd name="T68" fmla="*/ 14 w 14"/>
                <a:gd name="T69" fmla="*/ 1294 h 2358"/>
                <a:gd name="T70" fmla="*/ 14 w 14"/>
                <a:gd name="T71" fmla="*/ 1361 h 2358"/>
                <a:gd name="T72" fmla="*/ 0 w 14"/>
                <a:gd name="T73" fmla="*/ 1375 h 2358"/>
                <a:gd name="T74" fmla="*/ 14 w 14"/>
                <a:gd name="T75" fmla="*/ 1429 h 2358"/>
                <a:gd name="T76" fmla="*/ 0 w 14"/>
                <a:gd name="T77" fmla="*/ 1469 h 2358"/>
                <a:gd name="T78" fmla="*/ 14 w 14"/>
                <a:gd name="T79" fmla="*/ 1483 h 2358"/>
                <a:gd name="T80" fmla="*/ 14 w 14"/>
                <a:gd name="T81" fmla="*/ 1550 h 2358"/>
                <a:gd name="T82" fmla="*/ 0 w 14"/>
                <a:gd name="T83" fmla="*/ 1564 h 2358"/>
                <a:gd name="T84" fmla="*/ 14 w 14"/>
                <a:gd name="T85" fmla="*/ 1617 h 2358"/>
                <a:gd name="T86" fmla="*/ 0 w 14"/>
                <a:gd name="T87" fmla="*/ 1658 h 2358"/>
                <a:gd name="T88" fmla="*/ 14 w 14"/>
                <a:gd name="T89" fmla="*/ 1671 h 2358"/>
                <a:gd name="T90" fmla="*/ 14 w 14"/>
                <a:gd name="T91" fmla="*/ 1738 h 2358"/>
                <a:gd name="T92" fmla="*/ 0 w 14"/>
                <a:gd name="T93" fmla="*/ 1752 h 2358"/>
                <a:gd name="T94" fmla="*/ 14 w 14"/>
                <a:gd name="T95" fmla="*/ 1806 h 2358"/>
                <a:gd name="T96" fmla="*/ 0 w 14"/>
                <a:gd name="T97" fmla="*/ 1846 h 2358"/>
                <a:gd name="T98" fmla="*/ 14 w 14"/>
                <a:gd name="T99" fmla="*/ 1860 h 2358"/>
                <a:gd name="T100" fmla="*/ 14 w 14"/>
                <a:gd name="T101" fmla="*/ 1927 h 2358"/>
                <a:gd name="T102" fmla="*/ 0 w 14"/>
                <a:gd name="T103" fmla="*/ 1941 h 2358"/>
                <a:gd name="T104" fmla="*/ 14 w 14"/>
                <a:gd name="T105" fmla="*/ 1995 h 2358"/>
                <a:gd name="T106" fmla="*/ 0 w 14"/>
                <a:gd name="T107" fmla="*/ 2035 h 2358"/>
                <a:gd name="T108" fmla="*/ 14 w 14"/>
                <a:gd name="T109" fmla="*/ 2049 h 2358"/>
                <a:gd name="T110" fmla="*/ 14 w 14"/>
                <a:gd name="T111" fmla="*/ 2116 h 2358"/>
                <a:gd name="T112" fmla="*/ 0 w 14"/>
                <a:gd name="T113" fmla="*/ 2129 h 2358"/>
                <a:gd name="T114" fmla="*/ 14 w 14"/>
                <a:gd name="T115" fmla="*/ 2183 h 2358"/>
                <a:gd name="T116" fmla="*/ 0 w 14"/>
                <a:gd name="T117" fmla="*/ 2224 h 2358"/>
                <a:gd name="T118" fmla="*/ 14 w 14"/>
                <a:gd name="T119" fmla="*/ 2237 h 2358"/>
                <a:gd name="T120" fmla="*/ 14 w 14"/>
                <a:gd name="T121" fmla="*/ 2304 h 2358"/>
                <a:gd name="T122" fmla="*/ 0 w 14"/>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 h="2358">
                  <a:moveTo>
                    <a:pt x="14" y="0"/>
                  </a:moveTo>
                  <a:lnTo>
                    <a:pt x="14" y="14"/>
                  </a:lnTo>
                  <a:lnTo>
                    <a:pt x="0" y="14"/>
                  </a:lnTo>
                  <a:lnTo>
                    <a:pt x="0" y="0"/>
                  </a:lnTo>
                  <a:lnTo>
                    <a:pt x="14" y="0"/>
                  </a:lnTo>
                  <a:close/>
                  <a:moveTo>
                    <a:pt x="14" y="27"/>
                  </a:moveTo>
                  <a:lnTo>
                    <a:pt x="14" y="41"/>
                  </a:lnTo>
                  <a:lnTo>
                    <a:pt x="0" y="41"/>
                  </a:lnTo>
                  <a:lnTo>
                    <a:pt x="0" y="27"/>
                  </a:lnTo>
                  <a:lnTo>
                    <a:pt x="14" y="27"/>
                  </a:lnTo>
                  <a:close/>
                  <a:moveTo>
                    <a:pt x="14" y="54"/>
                  </a:moveTo>
                  <a:lnTo>
                    <a:pt x="14" y="68"/>
                  </a:lnTo>
                  <a:lnTo>
                    <a:pt x="0" y="68"/>
                  </a:lnTo>
                  <a:lnTo>
                    <a:pt x="0" y="54"/>
                  </a:lnTo>
                  <a:lnTo>
                    <a:pt x="14" y="54"/>
                  </a:lnTo>
                  <a:close/>
                  <a:moveTo>
                    <a:pt x="14" y="81"/>
                  </a:moveTo>
                  <a:lnTo>
                    <a:pt x="14" y="95"/>
                  </a:lnTo>
                  <a:lnTo>
                    <a:pt x="0" y="95"/>
                  </a:lnTo>
                  <a:lnTo>
                    <a:pt x="0" y="81"/>
                  </a:lnTo>
                  <a:lnTo>
                    <a:pt x="14" y="81"/>
                  </a:lnTo>
                  <a:close/>
                  <a:moveTo>
                    <a:pt x="14" y="108"/>
                  </a:moveTo>
                  <a:lnTo>
                    <a:pt x="14" y="121"/>
                  </a:lnTo>
                  <a:lnTo>
                    <a:pt x="0" y="121"/>
                  </a:lnTo>
                  <a:lnTo>
                    <a:pt x="0" y="108"/>
                  </a:lnTo>
                  <a:lnTo>
                    <a:pt x="14" y="108"/>
                  </a:lnTo>
                  <a:close/>
                  <a:moveTo>
                    <a:pt x="14" y="135"/>
                  </a:moveTo>
                  <a:lnTo>
                    <a:pt x="14" y="149"/>
                  </a:lnTo>
                  <a:lnTo>
                    <a:pt x="0" y="149"/>
                  </a:lnTo>
                  <a:lnTo>
                    <a:pt x="0" y="135"/>
                  </a:lnTo>
                  <a:lnTo>
                    <a:pt x="14" y="135"/>
                  </a:lnTo>
                  <a:close/>
                  <a:moveTo>
                    <a:pt x="14" y="162"/>
                  </a:moveTo>
                  <a:lnTo>
                    <a:pt x="14" y="175"/>
                  </a:lnTo>
                  <a:lnTo>
                    <a:pt x="0" y="175"/>
                  </a:lnTo>
                  <a:lnTo>
                    <a:pt x="0" y="162"/>
                  </a:lnTo>
                  <a:lnTo>
                    <a:pt x="14" y="162"/>
                  </a:lnTo>
                  <a:close/>
                  <a:moveTo>
                    <a:pt x="14" y="189"/>
                  </a:moveTo>
                  <a:lnTo>
                    <a:pt x="14" y="202"/>
                  </a:lnTo>
                  <a:lnTo>
                    <a:pt x="0" y="202"/>
                  </a:lnTo>
                  <a:lnTo>
                    <a:pt x="0" y="189"/>
                  </a:lnTo>
                  <a:lnTo>
                    <a:pt x="14" y="189"/>
                  </a:lnTo>
                  <a:close/>
                  <a:moveTo>
                    <a:pt x="14" y="216"/>
                  </a:moveTo>
                  <a:lnTo>
                    <a:pt x="14" y="229"/>
                  </a:lnTo>
                  <a:lnTo>
                    <a:pt x="0" y="229"/>
                  </a:lnTo>
                  <a:lnTo>
                    <a:pt x="0" y="216"/>
                  </a:lnTo>
                  <a:lnTo>
                    <a:pt x="14" y="216"/>
                  </a:lnTo>
                  <a:close/>
                  <a:moveTo>
                    <a:pt x="14" y="243"/>
                  </a:moveTo>
                  <a:lnTo>
                    <a:pt x="14" y="256"/>
                  </a:lnTo>
                  <a:lnTo>
                    <a:pt x="0" y="256"/>
                  </a:lnTo>
                  <a:lnTo>
                    <a:pt x="0" y="243"/>
                  </a:lnTo>
                  <a:lnTo>
                    <a:pt x="14" y="243"/>
                  </a:lnTo>
                  <a:close/>
                  <a:moveTo>
                    <a:pt x="14" y="270"/>
                  </a:moveTo>
                  <a:lnTo>
                    <a:pt x="14" y="283"/>
                  </a:lnTo>
                  <a:lnTo>
                    <a:pt x="0" y="283"/>
                  </a:lnTo>
                  <a:lnTo>
                    <a:pt x="0" y="270"/>
                  </a:lnTo>
                  <a:lnTo>
                    <a:pt x="14" y="270"/>
                  </a:lnTo>
                  <a:close/>
                  <a:moveTo>
                    <a:pt x="14" y="297"/>
                  </a:moveTo>
                  <a:lnTo>
                    <a:pt x="14" y="310"/>
                  </a:lnTo>
                  <a:lnTo>
                    <a:pt x="0" y="310"/>
                  </a:lnTo>
                  <a:lnTo>
                    <a:pt x="0" y="297"/>
                  </a:lnTo>
                  <a:lnTo>
                    <a:pt x="14" y="297"/>
                  </a:lnTo>
                  <a:close/>
                  <a:moveTo>
                    <a:pt x="14" y="324"/>
                  </a:moveTo>
                  <a:lnTo>
                    <a:pt x="14" y="337"/>
                  </a:lnTo>
                  <a:lnTo>
                    <a:pt x="0" y="337"/>
                  </a:lnTo>
                  <a:lnTo>
                    <a:pt x="0" y="324"/>
                  </a:lnTo>
                  <a:lnTo>
                    <a:pt x="14" y="324"/>
                  </a:lnTo>
                  <a:close/>
                  <a:moveTo>
                    <a:pt x="14" y="351"/>
                  </a:moveTo>
                  <a:lnTo>
                    <a:pt x="14" y="364"/>
                  </a:lnTo>
                  <a:lnTo>
                    <a:pt x="0" y="364"/>
                  </a:lnTo>
                  <a:lnTo>
                    <a:pt x="0" y="351"/>
                  </a:lnTo>
                  <a:lnTo>
                    <a:pt x="14" y="351"/>
                  </a:lnTo>
                  <a:close/>
                  <a:moveTo>
                    <a:pt x="14" y="378"/>
                  </a:moveTo>
                  <a:lnTo>
                    <a:pt x="14" y="391"/>
                  </a:lnTo>
                  <a:lnTo>
                    <a:pt x="0" y="391"/>
                  </a:lnTo>
                  <a:lnTo>
                    <a:pt x="0" y="378"/>
                  </a:lnTo>
                  <a:lnTo>
                    <a:pt x="14" y="378"/>
                  </a:lnTo>
                  <a:close/>
                  <a:moveTo>
                    <a:pt x="14" y="404"/>
                  </a:moveTo>
                  <a:lnTo>
                    <a:pt x="14" y="418"/>
                  </a:lnTo>
                  <a:lnTo>
                    <a:pt x="0" y="418"/>
                  </a:lnTo>
                  <a:lnTo>
                    <a:pt x="0" y="404"/>
                  </a:lnTo>
                  <a:lnTo>
                    <a:pt x="14" y="404"/>
                  </a:lnTo>
                  <a:close/>
                  <a:moveTo>
                    <a:pt x="14" y="432"/>
                  </a:moveTo>
                  <a:lnTo>
                    <a:pt x="14" y="445"/>
                  </a:lnTo>
                  <a:lnTo>
                    <a:pt x="0" y="445"/>
                  </a:lnTo>
                  <a:lnTo>
                    <a:pt x="0" y="432"/>
                  </a:lnTo>
                  <a:lnTo>
                    <a:pt x="14" y="432"/>
                  </a:lnTo>
                  <a:close/>
                  <a:moveTo>
                    <a:pt x="14" y="458"/>
                  </a:moveTo>
                  <a:lnTo>
                    <a:pt x="14" y="472"/>
                  </a:lnTo>
                  <a:lnTo>
                    <a:pt x="0" y="472"/>
                  </a:lnTo>
                  <a:lnTo>
                    <a:pt x="0" y="458"/>
                  </a:lnTo>
                  <a:lnTo>
                    <a:pt x="14" y="458"/>
                  </a:lnTo>
                  <a:close/>
                  <a:moveTo>
                    <a:pt x="14" y="485"/>
                  </a:moveTo>
                  <a:lnTo>
                    <a:pt x="14" y="499"/>
                  </a:lnTo>
                  <a:lnTo>
                    <a:pt x="0" y="499"/>
                  </a:lnTo>
                  <a:lnTo>
                    <a:pt x="0" y="485"/>
                  </a:lnTo>
                  <a:lnTo>
                    <a:pt x="14" y="485"/>
                  </a:lnTo>
                  <a:close/>
                  <a:moveTo>
                    <a:pt x="14" y="512"/>
                  </a:moveTo>
                  <a:lnTo>
                    <a:pt x="14" y="526"/>
                  </a:lnTo>
                  <a:lnTo>
                    <a:pt x="0" y="526"/>
                  </a:lnTo>
                  <a:lnTo>
                    <a:pt x="0" y="512"/>
                  </a:lnTo>
                  <a:lnTo>
                    <a:pt x="14" y="512"/>
                  </a:lnTo>
                  <a:close/>
                  <a:moveTo>
                    <a:pt x="14" y="539"/>
                  </a:moveTo>
                  <a:lnTo>
                    <a:pt x="14" y="553"/>
                  </a:lnTo>
                  <a:lnTo>
                    <a:pt x="0" y="553"/>
                  </a:lnTo>
                  <a:lnTo>
                    <a:pt x="0" y="539"/>
                  </a:lnTo>
                  <a:lnTo>
                    <a:pt x="14" y="539"/>
                  </a:lnTo>
                  <a:close/>
                  <a:moveTo>
                    <a:pt x="14" y="566"/>
                  </a:moveTo>
                  <a:lnTo>
                    <a:pt x="14" y="580"/>
                  </a:lnTo>
                  <a:lnTo>
                    <a:pt x="0" y="580"/>
                  </a:lnTo>
                  <a:lnTo>
                    <a:pt x="0" y="566"/>
                  </a:lnTo>
                  <a:lnTo>
                    <a:pt x="14" y="566"/>
                  </a:lnTo>
                  <a:close/>
                  <a:moveTo>
                    <a:pt x="14" y="593"/>
                  </a:moveTo>
                  <a:lnTo>
                    <a:pt x="14" y="607"/>
                  </a:lnTo>
                  <a:lnTo>
                    <a:pt x="0" y="607"/>
                  </a:lnTo>
                  <a:lnTo>
                    <a:pt x="0" y="593"/>
                  </a:lnTo>
                  <a:lnTo>
                    <a:pt x="14" y="593"/>
                  </a:lnTo>
                  <a:close/>
                  <a:moveTo>
                    <a:pt x="14" y="620"/>
                  </a:moveTo>
                  <a:lnTo>
                    <a:pt x="14" y="634"/>
                  </a:lnTo>
                  <a:lnTo>
                    <a:pt x="0" y="634"/>
                  </a:lnTo>
                  <a:lnTo>
                    <a:pt x="0" y="620"/>
                  </a:lnTo>
                  <a:lnTo>
                    <a:pt x="14" y="620"/>
                  </a:lnTo>
                  <a:close/>
                  <a:moveTo>
                    <a:pt x="14" y="647"/>
                  </a:moveTo>
                  <a:lnTo>
                    <a:pt x="14" y="661"/>
                  </a:lnTo>
                  <a:lnTo>
                    <a:pt x="0" y="661"/>
                  </a:lnTo>
                  <a:lnTo>
                    <a:pt x="0" y="647"/>
                  </a:lnTo>
                  <a:lnTo>
                    <a:pt x="14" y="647"/>
                  </a:lnTo>
                  <a:close/>
                  <a:moveTo>
                    <a:pt x="14" y="674"/>
                  </a:moveTo>
                  <a:lnTo>
                    <a:pt x="14" y="687"/>
                  </a:lnTo>
                  <a:lnTo>
                    <a:pt x="0" y="687"/>
                  </a:lnTo>
                  <a:lnTo>
                    <a:pt x="0" y="674"/>
                  </a:lnTo>
                  <a:lnTo>
                    <a:pt x="14" y="674"/>
                  </a:lnTo>
                  <a:close/>
                  <a:moveTo>
                    <a:pt x="14" y="701"/>
                  </a:moveTo>
                  <a:lnTo>
                    <a:pt x="14" y="715"/>
                  </a:lnTo>
                  <a:lnTo>
                    <a:pt x="0" y="715"/>
                  </a:lnTo>
                  <a:lnTo>
                    <a:pt x="0" y="701"/>
                  </a:lnTo>
                  <a:lnTo>
                    <a:pt x="14" y="701"/>
                  </a:lnTo>
                  <a:close/>
                  <a:moveTo>
                    <a:pt x="14" y="728"/>
                  </a:moveTo>
                  <a:lnTo>
                    <a:pt x="14" y="741"/>
                  </a:lnTo>
                  <a:lnTo>
                    <a:pt x="0" y="741"/>
                  </a:lnTo>
                  <a:lnTo>
                    <a:pt x="0" y="728"/>
                  </a:lnTo>
                  <a:lnTo>
                    <a:pt x="14" y="728"/>
                  </a:lnTo>
                  <a:close/>
                  <a:moveTo>
                    <a:pt x="14" y="755"/>
                  </a:moveTo>
                  <a:lnTo>
                    <a:pt x="14" y="768"/>
                  </a:lnTo>
                  <a:lnTo>
                    <a:pt x="0" y="768"/>
                  </a:lnTo>
                  <a:lnTo>
                    <a:pt x="0" y="755"/>
                  </a:lnTo>
                  <a:lnTo>
                    <a:pt x="14" y="755"/>
                  </a:lnTo>
                  <a:close/>
                  <a:moveTo>
                    <a:pt x="14" y="782"/>
                  </a:moveTo>
                  <a:lnTo>
                    <a:pt x="14" y="795"/>
                  </a:lnTo>
                  <a:lnTo>
                    <a:pt x="0" y="795"/>
                  </a:lnTo>
                  <a:lnTo>
                    <a:pt x="0" y="782"/>
                  </a:lnTo>
                  <a:lnTo>
                    <a:pt x="14" y="782"/>
                  </a:lnTo>
                  <a:close/>
                  <a:moveTo>
                    <a:pt x="14" y="809"/>
                  </a:moveTo>
                  <a:lnTo>
                    <a:pt x="14" y="822"/>
                  </a:lnTo>
                  <a:lnTo>
                    <a:pt x="0" y="822"/>
                  </a:lnTo>
                  <a:lnTo>
                    <a:pt x="0" y="809"/>
                  </a:lnTo>
                  <a:lnTo>
                    <a:pt x="14" y="809"/>
                  </a:lnTo>
                  <a:close/>
                  <a:moveTo>
                    <a:pt x="14" y="836"/>
                  </a:moveTo>
                  <a:lnTo>
                    <a:pt x="14" y="849"/>
                  </a:lnTo>
                  <a:lnTo>
                    <a:pt x="0" y="849"/>
                  </a:lnTo>
                  <a:lnTo>
                    <a:pt x="0" y="836"/>
                  </a:lnTo>
                  <a:lnTo>
                    <a:pt x="14" y="836"/>
                  </a:lnTo>
                  <a:close/>
                  <a:moveTo>
                    <a:pt x="14" y="863"/>
                  </a:moveTo>
                  <a:lnTo>
                    <a:pt x="14" y="876"/>
                  </a:lnTo>
                  <a:lnTo>
                    <a:pt x="0" y="876"/>
                  </a:lnTo>
                  <a:lnTo>
                    <a:pt x="0" y="863"/>
                  </a:lnTo>
                  <a:lnTo>
                    <a:pt x="14" y="863"/>
                  </a:lnTo>
                  <a:close/>
                  <a:moveTo>
                    <a:pt x="14" y="890"/>
                  </a:moveTo>
                  <a:lnTo>
                    <a:pt x="14" y="903"/>
                  </a:lnTo>
                  <a:lnTo>
                    <a:pt x="0" y="903"/>
                  </a:lnTo>
                  <a:lnTo>
                    <a:pt x="0" y="890"/>
                  </a:lnTo>
                  <a:lnTo>
                    <a:pt x="14" y="890"/>
                  </a:lnTo>
                  <a:close/>
                  <a:moveTo>
                    <a:pt x="14" y="917"/>
                  </a:moveTo>
                  <a:lnTo>
                    <a:pt x="14" y="930"/>
                  </a:lnTo>
                  <a:lnTo>
                    <a:pt x="0" y="930"/>
                  </a:lnTo>
                  <a:lnTo>
                    <a:pt x="0" y="917"/>
                  </a:lnTo>
                  <a:lnTo>
                    <a:pt x="14" y="917"/>
                  </a:lnTo>
                  <a:close/>
                  <a:moveTo>
                    <a:pt x="14" y="944"/>
                  </a:moveTo>
                  <a:lnTo>
                    <a:pt x="14" y="957"/>
                  </a:lnTo>
                  <a:lnTo>
                    <a:pt x="0" y="957"/>
                  </a:lnTo>
                  <a:lnTo>
                    <a:pt x="0" y="944"/>
                  </a:lnTo>
                  <a:lnTo>
                    <a:pt x="14" y="944"/>
                  </a:lnTo>
                  <a:close/>
                  <a:moveTo>
                    <a:pt x="14" y="970"/>
                  </a:moveTo>
                  <a:lnTo>
                    <a:pt x="14" y="984"/>
                  </a:lnTo>
                  <a:lnTo>
                    <a:pt x="0" y="984"/>
                  </a:lnTo>
                  <a:lnTo>
                    <a:pt x="0" y="970"/>
                  </a:lnTo>
                  <a:lnTo>
                    <a:pt x="14" y="970"/>
                  </a:lnTo>
                  <a:close/>
                  <a:moveTo>
                    <a:pt x="14" y="998"/>
                  </a:moveTo>
                  <a:lnTo>
                    <a:pt x="14" y="1011"/>
                  </a:lnTo>
                  <a:lnTo>
                    <a:pt x="0" y="1011"/>
                  </a:lnTo>
                  <a:lnTo>
                    <a:pt x="0" y="998"/>
                  </a:lnTo>
                  <a:lnTo>
                    <a:pt x="14" y="998"/>
                  </a:lnTo>
                  <a:close/>
                  <a:moveTo>
                    <a:pt x="14" y="1024"/>
                  </a:moveTo>
                  <a:lnTo>
                    <a:pt x="14" y="1038"/>
                  </a:lnTo>
                  <a:lnTo>
                    <a:pt x="0" y="1038"/>
                  </a:lnTo>
                  <a:lnTo>
                    <a:pt x="0" y="1024"/>
                  </a:lnTo>
                  <a:lnTo>
                    <a:pt x="14" y="1024"/>
                  </a:lnTo>
                  <a:close/>
                  <a:moveTo>
                    <a:pt x="14" y="1051"/>
                  </a:moveTo>
                  <a:lnTo>
                    <a:pt x="14" y="1065"/>
                  </a:lnTo>
                  <a:lnTo>
                    <a:pt x="0" y="1065"/>
                  </a:lnTo>
                  <a:lnTo>
                    <a:pt x="0" y="1051"/>
                  </a:lnTo>
                  <a:lnTo>
                    <a:pt x="14" y="1051"/>
                  </a:lnTo>
                  <a:close/>
                  <a:moveTo>
                    <a:pt x="14" y="1078"/>
                  </a:moveTo>
                  <a:lnTo>
                    <a:pt x="14" y="1092"/>
                  </a:lnTo>
                  <a:lnTo>
                    <a:pt x="0" y="1092"/>
                  </a:lnTo>
                  <a:lnTo>
                    <a:pt x="0" y="1078"/>
                  </a:lnTo>
                  <a:lnTo>
                    <a:pt x="14" y="1078"/>
                  </a:lnTo>
                  <a:close/>
                  <a:moveTo>
                    <a:pt x="14" y="1105"/>
                  </a:moveTo>
                  <a:lnTo>
                    <a:pt x="14" y="1119"/>
                  </a:lnTo>
                  <a:lnTo>
                    <a:pt x="0" y="1119"/>
                  </a:lnTo>
                  <a:lnTo>
                    <a:pt x="0" y="1105"/>
                  </a:lnTo>
                  <a:lnTo>
                    <a:pt x="14" y="1105"/>
                  </a:lnTo>
                  <a:close/>
                  <a:moveTo>
                    <a:pt x="14" y="1132"/>
                  </a:moveTo>
                  <a:lnTo>
                    <a:pt x="14" y="1146"/>
                  </a:lnTo>
                  <a:lnTo>
                    <a:pt x="0" y="1146"/>
                  </a:lnTo>
                  <a:lnTo>
                    <a:pt x="0" y="1132"/>
                  </a:lnTo>
                  <a:lnTo>
                    <a:pt x="14" y="1132"/>
                  </a:lnTo>
                  <a:close/>
                  <a:moveTo>
                    <a:pt x="14" y="1159"/>
                  </a:moveTo>
                  <a:lnTo>
                    <a:pt x="14" y="1173"/>
                  </a:lnTo>
                  <a:lnTo>
                    <a:pt x="0" y="1173"/>
                  </a:lnTo>
                  <a:lnTo>
                    <a:pt x="0" y="1159"/>
                  </a:lnTo>
                  <a:lnTo>
                    <a:pt x="14" y="1159"/>
                  </a:lnTo>
                  <a:close/>
                  <a:moveTo>
                    <a:pt x="14" y="1186"/>
                  </a:moveTo>
                  <a:lnTo>
                    <a:pt x="14" y="1200"/>
                  </a:lnTo>
                  <a:lnTo>
                    <a:pt x="0" y="1200"/>
                  </a:lnTo>
                  <a:lnTo>
                    <a:pt x="0" y="1186"/>
                  </a:lnTo>
                  <a:lnTo>
                    <a:pt x="14" y="1186"/>
                  </a:lnTo>
                  <a:close/>
                  <a:moveTo>
                    <a:pt x="14" y="1213"/>
                  </a:moveTo>
                  <a:lnTo>
                    <a:pt x="14" y="1227"/>
                  </a:lnTo>
                  <a:lnTo>
                    <a:pt x="0" y="1227"/>
                  </a:lnTo>
                  <a:lnTo>
                    <a:pt x="0" y="1213"/>
                  </a:lnTo>
                  <a:lnTo>
                    <a:pt x="14" y="1213"/>
                  </a:lnTo>
                  <a:close/>
                  <a:moveTo>
                    <a:pt x="14" y="1240"/>
                  </a:moveTo>
                  <a:lnTo>
                    <a:pt x="14" y="1253"/>
                  </a:lnTo>
                  <a:lnTo>
                    <a:pt x="0" y="1253"/>
                  </a:lnTo>
                  <a:lnTo>
                    <a:pt x="0" y="1240"/>
                  </a:lnTo>
                  <a:lnTo>
                    <a:pt x="14" y="1240"/>
                  </a:lnTo>
                  <a:close/>
                  <a:moveTo>
                    <a:pt x="14" y="1267"/>
                  </a:moveTo>
                  <a:lnTo>
                    <a:pt x="14" y="1281"/>
                  </a:lnTo>
                  <a:lnTo>
                    <a:pt x="0" y="1281"/>
                  </a:lnTo>
                  <a:lnTo>
                    <a:pt x="0" y="1267"/>
                  </a:lnTo>
                  <a:lnTo>
                    <a:pt x="14" y="1267"/>
                  </a:lnTo>
                  <a:close/>
                  <a:moveTo>
                    <a:pt x="14" y="1294"/>
                  </a:moveTo>
                  <a:lnTo>
                    <a:pt x="14" y="1307"/>
                  </a:lnTo>
                  <a:lnTo>
                    <a:pt x="0" y="1307"/>
                  </a:lnTo>
                  <a:lnTo>
                    <a:pt x="0" y="1294"/>
                  </a:lnTo>
                  <a:lnTo>
                    <a:pt x="14" y="1294"/>
                  </a:lnTo>
                  <a:close/>
                  <a:moveTo>
                    <a:pt x="14" y="1321"/>
                  </a:moveTo>
                  <a:lnTo>
                    <a:pt x="14" y="1334"/>
                  </a:lnTo>
                  <a:lnTo>
                    <a:pt x="0" y="1334"/>
                  </a:lnTo>
                  <a:lnTo>
                    <a:pt x="0" y="1321"/>
                  </a:lnTo>
                  <a:lnTo>
                    <a:pt x="14" y="1321"/>
                  </a:lnTo>
                  <a:close/>
                  <a:moveTo>
                    <a:pt x="14" y="1348"/>
                  </a:moveTo>
                  <a:lnTo>
                    <a:pt x="14" y="1361"/>
                  </a:lnTo>
                  <a:lnTo>
                    <a:pt x="0" y="1361"/>
                  </a:lnTo>
                  <a:lnTo>
                    <a:pt x="0" y="1348"/>
                  </a:lnTo>
                  <a:lnTo>
                    <a:pt x="14" y="1348"/>
                  </a:lnTo>
                  <a:close/>
                  <a:moveTo>
                    <a:pt x="14" y="1375"/>
                  </a:moveTo>
                  <a:lnTo>
                    <a:pt x="14" y="1388"/>
                  </a:lnTo>
                  <a:lnTo>
                    <a:pt x="0" y="1388"/>
                  </a:lnTo>
                  <a:lnTo>
                    <a:pt x="0" y="1375"/>
                  </a:lnTo>
                  <a:lnTo>
                    <a:pt x="14" y="1375"/>
                  </a:lnTo>
                  <a:close/>
                  <a:moveTo>
                    <a:pt x="14" y="1402"/>
                  </a:moveTo>
                  <a:lnTo>
                    <a:pt x="14" y="1415"/>
                  </a:lnTo>
                  <a:lnTo>
                    <a:pt x="0" y="1415"/>
                  </a:lnTo>
                  <a:lnTo>
                    <a:pt x="0" y="1402"/>
                  </a:lnTo>
                  <a:lnTo>
                    <a:pt x="14" y="1402"/>
                  </a:lnTo>
                  <a:close/>
                  <a:moveTo>
                    <a:pt x="14" y="1429"/>
                  </a:moveTo>
                  <a:lnTo>
                    <a:pt x="14" y="1442"/>
                  </a:lnTo>
                  <a:lnTo>
                    <a:pt x="0" y="1442"/>
                  </a:lnTo>
                  <a:lnTo>
                    <a:pt x="0" y="1429"/>
                  </a:lnTo>
                  <a:lnTo>
                    <a:pt x="14" y="1429"/>
                  </a:lnTo>
                  <a:close/>
                  <a:moveTo>
                    <a:pt x="14" y="1455"/>
                  </a:moveTo>
                  <a:lnTo>
                    <a:pt x="14" y="1469"/>
                  </a:lnTo>
                  <a:lnTo>
                    <a:pt x="0" y="1469"/>
                  </a:lnTo>
                  <a:lnTo>
                    <a:pt x="0" y="1455"/>
                  </a:lnTo>
                  <a:lnTo>
                    <a:pt x="14" y="1455"/>
                  </a:lnTo>
                  <a:close/>
                  <a:moveTo>
                    <a:pt x="14" y="1483"/>
                  </a:moveTo>
                  <a:lnTo>
                    <a:pt x="14" y="1496"/>
                  </a:lnTo>
                  <a:lnTo>
                    <a:pt x="0" y="1496"/>
                  </a:lnTo>
                  <a:lnTo>
                    <a:pt x="0" y="1483"/>
                  </a:lnTo>
                  <a:lnTo>
                    <a:pt x="14" y="1483"/>
                  </a:lnTo>
                  <a:close/>
                  <a:moveTo>
                    <a:pt x="14" y="1510"/>
                  </a:moveTo>
                  <a:lnTo>
                    <a:pt x="14" y="1523"/>
                  </a:lnTo>
                  <a:lnTo>
                    <a:pt x="0" y="1523"/>
                  </a:lnTo>
                  <a:lnTo>
                    <a:pt x="0" y="1510"/>
                  </a:lnTo>
                  <a:lnTo>
                    <a:pt x="14" y="1510"/>
                  </a:lnTo>
                  <a:close/>
                  <a:moveTo>
                    <a:pt x="14" y="1536"/>
                  </a:moveTo>
                  <a:lnTo>
                    <a:pt x="14" y="1550"/>
                  </a:lnTo>
                  <a:lnTo>
                    <a:pt x="0" y="1550"/>
                  </a:lnTo>
                  <a:lnTo>
                    <a:pt x="0" y="1536"/>
                  </a:lnTo>
                  <a:lnTo>
                    <a:pt x="14" y="1536"/>
                  </a:lnTo>
                  <a:close/>
                  <a:moveTo>
                    <a:pt x="14" y="1564"/>
                  </a:moveTo>
                  <a:lnTo>
                    <a:pt x="14" y="1577"/>
                  </a:lnTo>
                  <a:lnTo>
                    <a:pt x="0" y="1577"/>
                  </a:lnTo>
                  <a:lnTo>
                    <a:pt x="0" y="1564"/>
                  </a:lnTo>
                  <a:lnTo>
                    <a:pt x="14" y="1564"/>
                  </a:lnTo>
                  <a:close/>
                  <a:moveTo>
                    <a:pt x="14" y="1590"/>
                  </a:moveTo>
                  <a:lnTo>
                    <a:pt x="14" y="1604"/>
                  </a:lnTo>
                  <a:lnTo>
                    <a:pt x="0" y="1604"/>
                  </a:lnTo>
                  <a:lnTo>
                    <a:pt x="0" y="1590"/>
                  </a:lnTo>
                  <a:lnTo>
                    <a:pt x="14" y="1590"/>
                  </a:lnTo>
                  <a:close/>
                  <a:moveTo>
                    <a:pt x="14" y="1617"/>
                  </a:moveTo>
                  <a:lnTo>
                    <a:pt x="14" y="1631"/>
                  </a:lnTo>
                  <a:lnTo>
                    <a:pt x="0" y="1631"/>
                  </a:lnTo>
                  <a:lnTo>
                    <a:pt x="0" y="1617"/>
                  </a:lnTo>
                  <a:lnTo>
                    <a:pt x="14" y="1617"/>
                  </a:lnTo>
                  <a:close/>
                  <a:moveTo>
                    <a:pt x="14" y="1644"/>
                  </a:moveTo>
                  <a:lnTo>
                    <a:pt x="14" y="1658"/>
                  </a:lnTo>
                  <a:lnTo>
                    <a:pt x="0" y="1658"/>
                  </a:lnTo>
                  <a:lnTo>
                    <a:pt x="0" y="1644"/>
                  </a:lnTo>
                  <a:lnTo>
                    <a:pt x="14" y="1644"/>
                  </a:lnTo>
                  <a:close/>
                  <a:moveTo>
                    <a:pt x="14" y="1671"/>
                  </a:moveTo>
                  <a:lnTo>
                    <a:pt x="14" y="1685"/>
                  </a:lnTo>
                  <a:lnTo>
                    <a:pt x="0" y="1685"/>
                  </a:lnTo>
                  <a:lnTo>
                    <a:pt x="0" y="1671"/>
                  </a:lnTo>
                  <a:lnTo>
                    <a:pt x="14" y="1671"/>
                  </a:lnTo>
                  <a:close/>
                  <a:moveTo>
                    <a:pt x="14" y="1698"/>
                  </a:moveTo>
                  <a:lnTo>
                    <a:pt x="14" y="1712"/>
                  </a:lnTo>
                  <a:lnTo>
                    <a:pt x="0" y="1712"/>
                  </a:lnTo>
                  <a:lnTo>
                    <a:pt x="0" y="1698"/>
                  </a:lnTo>
                  <a:lnTo>
                    <a:pt x="14" y="1698"/>
                  </a:lnTo>
                  <a:close/>
                  <a:moveTo>
                    <a:pt x="14" y="1725"/>
                  </a:moveTo>
                  <a:lnTo>
                    <a:pt x="14" y="1738"/>
                  </a:lnTo>
                  <a:lnTo>
                    <a:pt x="0" y="1738"/>
                  </a:lnTo>
                  <a:lnTo>
                    <a:pt x="0" y="1725"/>
                  </a:lnTo>
                  <a:lnTo>
                    <a:pt x="14" y="1725"/>
                  </a:lnTo>
                  <a:close/>
                  <a:moveTo>
                    <a:pt x="14" y="1752"/>
                  </a:moveTo>
                  <a:lnTo>
                    <a:pt x="14" y="1766"/>
                  </a:lnTo>
                  <a:lnTo>
                    <a:pt x="0" y="1766"/>
                  </a:lnTo>
                  <a:lnTo>
                    <a:pt x="0" y="1752"/>
                  </a:lnTo>
                  <a:lnTo>
                    <a:pt x="14" y="1752"/>
                  </a:lnTo>
                  <a:close/>
                  <a:moveTo>
                    <a:pt x="14" y="1779"/>
                  </a:moveTo>
                  <a:lnTo>
                    <a:pt x="14" y="1792"/>
                  </a:lnTo>
                  <a:lnTo>
                    <a:pt x="0" y="1792"/>
                  </a:lnTo>
                  <a:lnTo>
                    <a:pt x="0" y="1779"/>
                  </a:lnTo>
                  <a:lnTo>
                    <a:pt x="14" y="1779"/>
                  </a:lnTo>
                  <a:close/>
                  <a:moveTo>
                    <a:pt x="14" y="1806"/>
                  </a:moveTo>
                  <a:lnTo>
                    <a:pt x="14" y="1819"/>
                  </a:lnTo>
                  <a:lnTo>
                    <a:pt x="0" y="1819"/>
                  </a:lnTo>
                  <a:lnTo>
                    <a:pt x="0" y="1806"/>
                  </a:lnTo>
                  <a:lnTo>
                    <a:pt x="14" y="1806"/>
                  </a:lnTo>
                  <a:close/>
                  <a:moveTo>
                    <a:pt x="14" y="1833"/>
                  </a:moveTo>
                  <a:lnTo>
                    <a:pt x="14" y="1846"/>
                  </a:lnTo>
                  <a:lnTo>
                    <a:pt x="0" y="1846"/>
                  </a:lnTo>
                  <a:lnTo>
                    <a:pt x="0" y="1833"/>
                  </a:lnTo>
                  <a:lnTo>
                    <a:pt x="14" y="1833"/>
                  </a:lnTo>
                  <a:close/>
                  <a:moveTo>
                    <a:pt x="14" y="1860"/>
                  </a:moveTo>
                  <a:lnTo>
                    <a:pt x="14" y="1873"/>
                  </a:lnTo>
                  <a:lnTo>
                    <a:pt x="0" y="1873"/>
                  </a:lnTo>
                  <a:lnTo>
                    <a:pt x="0" y="1860"/>
                  </a:lnTo>
                  <a:lnTo>
                    <a:pt x="14" y="1860"/>
                  </a:lnTo>
                  <a:close/>
                  <a:moveTo>
                    <a:pt x="14" y="1887"/>
                  </a:moveTo>
                  <a:lnTo>
                    <a:pt x="14" y="1900"/>
                  </a:lnTo>
                  <a:lnTo>
                    <a:pt x="0" y="1900"/>
                  </a:lnTo>
                  <a:lnTo>
                    <a:pt x="0" y="1887"/>
                  </a:lnTo>
                  <a:lnTo>
                    <a:pt x="14" y="1887"/>
                  </a:lnTo>
                  <a:close/>
                  <a:moveTo>
                    <a:pt x="14" y="1914"/>
                  </a:moveTo>
                  <a:lnTo>
                    <a:pt x="14" y="1927"/>
                  </a:lnTo>
                  <a:lnTo>
                    <a:pt x="0" y="1927"/>
                  </a:lnTo>
                  <a:lnTo>
                    <a:pt x="0" y="1914"/>
                  </a:lnTo>
                  <a:lnTo>
                    <a:pt x="14" y="1914"/>
                  </a:lnTo>
                  <a:close/>
                  <a:moveTo>
                    <a:pt x="14" y="1941"/>
                  </a:moveTo>
                  <a:lnTo>
                    <a:pt x="14" y="1954"/>
                  </a:lnTo>
                  <a:lnTo>
                    <a:pt x="0" y="1954"/>
                  </a:lnTo>
                  <a:lnTo>
                    <a:pt x="0" y="1941"/>
                  </a:lnTo>
                  <a:lnTo>
                    <a:pt x="14" y="1941"/>
                  </a:lnTo>
                  <a:close/>
                  <a:moveTo>
                    <a:pt x="14" y="1968"/>
                  </a:moveTo>
                  <a:lnTo>
                    <a:pt x="14" y="1981"/>
                  </a:lnTo>
                  <a:lnTo>
                    <a:pt x="0" y="1981"/>
                  </a:lnTo>
                  <a:lnTo>
                    <a:pt x="0" y="1968"/>
                  </a:lnTo>
                  <a:lnTo>
                    <a:pt x="14" y="1968"/>
                  </a:lnTo>
                  <a:close/>
                  <a:moveTo>
                    <a:pt x="14" y="1995"/>
                  </a:moveTo>
                  <a:lnTo>
                    <a:pt x="14" y="2008"/>
                  </a:lnTo>
                  <a:lnTo>
                    <a:pt x="0" y="2008"/>
                  </a:lnTo>
                  <a:lnTo>
                    <a:pt x="0" y="1995"/>
                  </a:lnTo>
                  <a:lnTo>
                    <a:pt x="14" y="1995"/>
                  </a:lnTo>
                  <a:close/>
                  <a:moveTo>
                    <a:pt x="14" y="2021"/>
                  </a:moveTo>
                  <a:lnTo>
                    <a:pt x="14" y="2035"/>
                  </a:lnTo>
                  <a:lnTo>
                    <a:pt x="0" y="2035"/>
                  </a:lnTo>
                  <a:lnTo>
                    <a:pt x="0" y="2021"/>
                  </a:lnTo>
                  <a:lnTo>
                    <a:pt x="14" y="2021"/>
                  </a:lnTo>
                  <a:close/>
                  <a:moveTo>
                    <a:pt x="14" y="2049"/>
                  </a:moveTo>
                  <a:lnTo>
                    <a:pt x="14" y="2062"/>
                  </a:lnTo>
                  <a:lnTo>
                    <a:pt x="0" y="2062"/>
                  </a:lnTo>
                  <a:lnTo>
                    <a:pt x="0" y="2049"/>
                  </a:lnTo>
                  <a:lnTo>
                    <a:pt x="14" y="2049"/>
                  </a:lnTo>
                  <a:close/>
                  <a:moveTo>
                    <a:pt x="14" y="2075"/>
                  </a:moveTo>
                  <a:lnTo>
                    <a:pt x="14" y="2089"/>
                  </a:lnTo>
                  <a:lnTo>
                    <a:pt x="0" y="2089"/>
                  </a:lnTo>
                  <a:lnTo>
                    <a:pt x="0" y="2075"/>
                  </a:lnTo>
                  <a:lnTo>
                    <a:pt x="14" y="2075"/>
                  </a:lnTo>
                  <a:close/>
                  <a:moveTo>
                    <a:pt x="14" y="2102"/>
                  </a:moveTo>
                  <a:lnTo>
                    <a:pt x="14" y="2116"/>
                  </a:lnTo>
                  <a:lnTo>
                    <a:pt x="0" y="2116"/>
                  </a:lnTo>
                  <a:lnTo>
                    <a:pt x="0" y="2102"/>
                  </a:lnTo>
                  <a:lnTo>
                    <a:pt x="14" y="2102"/>
                  </a:lnTo>
                  <a:close/>
                  <a:moveTo>
                    <a:pt x="14" y="2129"/>
                  </a:moveTo>
                  <a:lnTo>
                    <a:pt x="14" y="2143"/>
                  </a:lnTo>
                  <a:lnTo>
                    <a:pt x="0" y="2143"/>
                  </a:lnTo>
                  <a:lnTo>
                    <a:pt x="0" y="2129"/>
                  </a:lnTo>
                  <a:lnTo>
                    <a:pt x="14" y="2129"/>
                  </a:lnTo>
                  <a:close/>
                  <a:moveTo>
                    <a:pt x="14" y="2156"/>
                  </a:moveTo>
                  <a:lnTo>
                    <a:pt x="14" y="2170"/>
                  </a:lnTo>
                  <a:lnTo>
                    <a:pt x="0" y="2170"/>
                  </a:lnTo>
                  <a:lnTo>
                    <a:pt x="0" y="2156"/>
                  </a:lnTo>
                  <a:lnTo>
                    <a:pt x="14" y="2156"/>
                  </a:lnTo>
                  <a:close/>
                  <a:moveTo>
                    <a:pt x="14" y="2183"/>
                  </a:moveTo>
                  <a:lnTo>
                    <a:pt x="14" y="2197"/>
                  </a:lnTo>
                  <a:lnTo>
                    <a:pt x="0" y="2197"/>
                  </a:lnTo>
                  <a:lnTo>
                    <a:pt x="0" y="2183"/>
                  </a:lnTo>
                  <a:lnTo>
                    <a:pt x="14" y="2183"/>
                  </a:lnTo>
                  <a:close/>
                  <a:moveTo>
                    <a:pt x="14" y="2210"/>
                  </a:moveTo>
                  <a:lnTo>
                    <a:pt x="14" y="2224"/>
                  </a:lnTo>
                  <a:lnTo>
                    <a:pt x="0" y="2224"/>
                  </a:lnTo>
                  <a:lnTo>
                    <a:pt x="0" y="2210"/>
                  </a:lnTo>
                  <a:lnTo>
                    <a:pt x="14" y="2210"/>
                  </a:lnTo>
                  <a:close/>
                  <a:moveTo>
                    <a:pt x="14" y="2237"/>
                  </a:moveTo>
                  <a:lnTo>
                    <a:pt x="14" y="2251"/>
                  </a:lnTo>
                  <a:lnTo>
                    <a:pt x="0" y="2251"/>
                  </a:lnTo>
                  <a:lnTo>
                    <a:pt x="0" y="2237"/>
                  </a:lnTo>
                  <a:lnTo>
                    <a:pt x="14" y="2237"/>
                  </a:lnTo>
                  <a:close/>
                  <a:moveTo>
                    <a:pt x="14" y="2264"/>
                  </a:moveTo>
                  <a:lnTo>
                    <a:pt x="14" y="2278"/>
                  </a:lnTo>
                  <a:lnTo>
                    <a:pt x="0" y="2278"/>
                  </a:lnTo>
                  <a:lnTo>
                    <a:pt x="0" y="2264"/>
                  </a:lnTo>
                  <a:lnTo>
                    <a:pt x="14" y="2264"/>
                  </a:lnTo>
                  <a:close/>
                  <a:moveTo>
                    <a:pt x="14" y="2291"/>
                  </a:moveTo>
                  <a:lnTo>
                    <a:pt x="14" y="2304"/>
                  </a:lnTo>
                  <a:lnTo>
                    <a:pt x="0" y="2304"/>
                  </a:lnTo>
                  <a:lnTo>
                    <a:pt x="0" y="2291"/>
                  </a:lnTo>
                  <a:lnTo>
                    <a:pt x="14" y="2291"/>
                  </a:lnTo>
                  <a:close/>
                  <a:moveTo>
                    <a:pt x="14" y="2318"/>
                  </a:moveTo>
                  <a:lnTo>
                    <a:pt x="14" y="2332"/>
                  </a:lnTo>
                  <a:lnTo>
                    <a:pt x="0" y="2332"/>
                  </a:lnTo>
                  <a:lnTo>
                    <a:pt x="0" y="2318"/>
                  </a:lnTo>
                  <a:lnTo>
                    <a:pt x="14" y="2318"/>
                  </a:lnTo>
                  <a:close/>
                  <a:moveTo>
                    <a:pt x="14" y="2345"/>
                  </a:moveTo>
                  <a:lnTo>
                    <a:pt x="14" y="2358"/>
                  </a:lnTo>
                  <a:lnTo>
                    <a:pt x="0" y="2358"/>
                  </a:lnTo>
                  <a:lnTo>
                    <a:pt x="0" y="2345"/>
                  </a:lnTo>
                  <a:lnTo>
                    <a:pt x="14"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95" name="Freeform 91">
              <a:extLst>
                <a:ext uri="{FF2B5EF4-FFF2-40B4-BE49-F238E27FC236}">
                  <a16:creationId xmlns:a16="http://schemas.microsoft.com/office/drawing/2014/main" id="{91317D4E-0DA6-46B1-952D-4D51EBB2C8B2}"/>
                </a:ext>
              </a:extLst>
            </p:cNvPr>
            <p:cNvSpPr>
              <a:spLocks noEditPoints="1"/>
            </p:cNvSpPr>
            <p:nvPr/>
          </p:nvSpPr>
          <p:spPr bwMode="auto">
            <a:xfrm>
              <a:off x="5259649" y="2655977"/>
              <a:ext cx="20668" cy="3748911"/>
            </a:xfrm>
            <a:custGeom>
              <a:avLst/>
              <a:gdLst>
                <a:gd name="T0" fmla="*/ 13 w 13"/>
                <a:gd name="T1" fmla="*/ 41 h 2358"/>
                <a:gd name="T2" fmla="*/ 0 w 13"/>
                <a:gd name="T3" fmla="*/ 54 h 2358"/>
                <a:gd name="T4" fmla="*/ 13 w 13"/>
                <a:gd name="T5" fmla="*/ 108 h 2358"/>
                <a:gd name="T6" fmla="*/ 0 w 13"/>
                <a:gd name="T7" fmla="*/ 149 h 2358"/>
                <a:gd name="T8" fmla="*/ 13 w 13"/>
                <a:gd name="T9" fmla="*/ 162 h 2358"/>
                <a:gd name="T10" fmla="*/ 13 w 13"/>
                <a:gd name="T11" fmla="*/ 229 h 2358"/>
                <a:gd name="T12" fmla="*/ 0 w 13"/>
                <a:gd name="T13" fmla="*/ 243 h 2358"/>
                <a:gd name="T14" fmla="*/ 13 w 13"/>
                <a:gd name="T15" fmla="*/ 297 h 2358"/>
                <a:gd name="T16" fmla="*/ 0 w 13"/>
                <a:gd name="T17" fmla="*/ 337 h 2358"/>
                <a:gd name="T18" fmla="*/ 13 w 13"/>
                <a:gd name="T19" fmla="*/ 351 h 2358"/>
                <a:gd name="T20" fmla="*/ 13 w 13"/>
                <a:gd name="T21" fmla="*/ 418 h 2358"/>
                <a:gd name="T22" fmla="*/ 0 w 13"/>
                <a:gd name="T23" fmla="*/ 432 h 2358"/>
                <a:gd name="T24" fmla="*/ 13 w 13"/>
                <a:gd name="T25" fmla="*/ 485 h 2358"/>
                <a:gd name="T26" fmla="*/ 0 w 13"/>
                <a:gd name="T27" fmla="*/ 526 h 2358"/>
                <a:gd name="T28" fmla="*/ 13 w 13"/>
                <a:gd name="T29" fmla="*/ 539 h 2358"/>
                <a:gd name="T30" fmla="*/ 13 w 13"/>
                <a:gd name="T31" fmla="*/ 607 h 2358"/>
                <a:gd name="T32" fmla="*/ 0 w 13"/>
                <a:gd name="T33" fmla="*/ 620 h 2358"/>
                <a:gd name="T34" fmla="*/ 13 w 13"/>
                <a:gd name="T35" fmla="*/ 674 h 2358"/>
                <a:gd name="T36" fmla="*/ 0 w 13"/>
                <a:gd name="T37" fmla="*/ 715 h 2358"/>
                <a:gd name="T38" fmla="*/ 13 w 13"/>
                <a:gd name="T39" fmla="*/ 728 h 2358"/>
                <a:gd name="T40" fmla="*/ 13 w 13"/>
                <a:gd name="T41" fmla="*/ 795 h 2358"/>
                <a:gd name="T42" fmla="*/ 0 w 13"/>
                <a:gd name="T43" fmla="*/ 809 h 2358"/>
                <a:gd name="T44" fmla="*/ 13 w 13"/>
                <a:gd name="T45" fmla="*/ 863 h 2358"/>
                <a:gd name="T46" fmla="*/ 0 w 13"/>
                <a:gd name="T47" fmla="*/ 903 h 2358"/>
                <a:gd name="T48" fmla="*/ 13 w 13"/>
                <a:gd name="T49" fmla="*/ 917 h 2358"/>
                <a:gd name="T50" fmla="*/ 13 w 13"/>
                <a:gd name="T51" fmla="*/ 984 h 2358"/>
                <a:gd name="T52" fmla="*/ 0 w 13"/>
                <a:gd name="T53" fmla="*/ 998 h 2358"/>
                <a:gd name="T54" fmla="*/ 13 w 13"/>
                <a:gd name="T55" fmla="*/ 1051 h 2358"/>
                <a:gd name="T56" fmla="*/ 0 w 13"/>
                <a:gd name="T57" fmla="*/ 1092 h 2358"/>
                <a:gd name="T58" fmla="*/ 13 w 13"/>
                <a:gd name="T59" fmla="*/ 1105 h 2358"/>
                <a:gd name="T60" fmla="*/ 13 w 13"/>
                <a:gd name="T61" fmla="*/ 1173 h 2358"/>
                <a:gd name="T62" fmla="*/ 0 w 13"/>
                <a:gd name="T63" fmla="*/ 1186 h 2358"/>
                <a:gd name="T64" fmla="*/ 13 w 13"/>
                <a:gd name="T65" fmla="*/ 1240 h 2358"/>
                <a:gd name="T66" fmla="*/ 0 w 13"/>
                <a:gd name="T67" fmla="*/ 1281 h 2358"/>
                <a:gd name="T68" fmla="*/ 13 w 13"/>
                <a:gd name="T69" fmla="*/ 1294 h 2358"/>
                <a:gd name="T70" fmla="*/ 13 w 13"/>
                <a:gd name="T71" fmla="*/ 1361 h 2358"/>
                <a:gd name="T72" fmla="*/ 0 w 13"/>
                <a:gd name="T73" fmla="*/ 1375 h 2358"/>
                <a:gd name="T74" fmla="*/ 13 w 13"/>
                <a:gd name="T75" fmla="*/ 1429 h 2358"/>
                <a:gd name="T76" fmla="*/ 0 w 13"/>
                <a:gd name="T77" fmla="*/ 1469 h 2358"/>
                <a:gd name="T78" fmla="*/ 13 w 13"/>
                <a:gd name="T79" fmla="*/ 1483 h 2358"/>
                <a:gd name="T80" fmla="*/ 13 w 13"/>
                <a:gd name="T81" fmla="*/ 1550 h 2358"/>
                <a:gd name="T82" fmla="*/ 0 w 13"/>
                <a:gd name="T83" fmla="*/ 1564 h 2358"/>
                <a:gd name="T84" fmla="*/ 13 w 13"/>
                <a:gd name="T85" fmla="*/ 1617 h 2358"/>
                <a:gd name="T86" fmla="*/ 0 w 13"/>
                <a:gd name="T87" fmla="*/ 1658 h 2358"/>
                <a:gd name="T88" fmla="*/ 13 w 13"/>
                <a:gd name="T89" fmla="*/ 1671 h 2358"/>
                <a:gd name="T90" fmla="*/ 13 w 13"/>
                <a:gd name="T91" fmla="*/ 1738 h 2358"/>
                <a:gd name="T92" fmla="*/ 0 w 13"/>
                <a:gd name="T93" fmla="*/ 1752 h 2358"/>
                <a:gd name="T94" fmla="*/ 13 w 13"/>
                <a:gd name="T95" fmla="*/ 1806 h 2358"/>
                <a:gd name="T96" fmla="*/ 0 w 13"/>
                <a:gd name="T97" fmla="*/ 1846 h 2358"/>
                <a:gd name="T98" fmla="*/ 13 w 13"/>
                <a:gd name="T99" fmla="*/ 1860 h 2358"/>
                <a:gd name="T100" fmla="*/ 13 w 13"/>
                <a:gd name="T101" fmla="*/ 1927 h 2358"/>
                <a:gd name="T102" fmla="*/ 0 w 13"/>
                <a:gd name="T103" fmla="*/ 1941 h 2358"/>
                <a:gd name="T104" fmla="*/ 13 w 13"/>
                <a:gd name="T105" fmla="*/ 1995 h 2358"/>
                <a:gd name="T106" fmla="*/ 0 w 13"/>
                <a:gd name="T107" fmla="*/ 2035 h 2358"/>
                <a:gd name="T108" fmla="*/ 13 w 13"/>
                <a:gd name="T109" fmla="*/ 2049 h 2358"/>
                <a:gd name="T110" fmla="*/ 13 w 13"/>
                <a:gd name="T111" fmla="*/ 2116 h 2358"/>
                <a:gd name="T112" fmla="*/ 0 w 13"/>
                <a:gd name="T113" fmla="*/ 2129 h 2358"/>
                <a:gd name="T114" fmla="*/ 13 w 13"/>
                <a:gd name="T115" fmla="*/ 2183 h 2358"/>
                <a:gd name="T116" fmla="*/ 0 w 13"/>
                <a:gd name="T117" fmla="*/ 2224 h 2358"/>
                <a:gd name="T118" fmla="*/ 13 w 13"/>
                <a:gd name="T119" fmla="*/ 2237 h 2358"/>
                <a:gd name="T120" fmla="*/ 13 w 13"/>
                <a:gd name="T121" fmla="*/ 2304 h 2358"/>
                <a:gd name="T122" fmla="*/ 0 w 13"/>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 h="2358">
                  <a:moveTo>
                    <a:pt x="13" y="0"/>
                  </a:moveTo>
                  <a:lnTo>
                    <a:pt x="13" y="14"/>
                  </a:lnTo>
                  <a:lnTo>
                    <a:pt x="0" y="14"/>
                  </a:lnTo>
                  <a:lnTo>
                    <a:pt x="0" y="0"/>
                  </a:lnTo>
                  <a:lnTo>
                    <a:pt x="13" y="0"/>
                  </a:lnTo>
                  <a:close/>
                  <a:moveTo>
                    <a:pt x="13" y="27"/>
                  </a:moveTo>
                  <a:lnTo>
                    <a:pt x="13" y="41"/>
                  </a:lnTo>
                  <a:lnTo>
                    <a:pt x="0" y="41"/>
                  </a:lnTo>
                  <a:lnTo>
                    <a:pt x="0" y="27"/>
                  </a:lnTo>
                  <a:lnTo>
                    <a:pt x="13" y="27"/>
                  </a:lnTo>
                  <a:close/>
                  <a:moveTo>
                    <a:pt x="13" y="54"/>
                  </a:moveTo>
                  <a:lnTo>
                    <a:pt x="13" y="68"/>
                  </a:lnTo>
                  <a:lnTo>
                    <a:pt x="0" y="68"/>
                  </a:lnTo>
                  <a:lnTo>
                    <a:pt x="0" y="54"/>
                  </a:lnTo>
                  <a:lnTo>
                    <a:pt x="13" y="54"/>
                  </a:lnTo>
                  <a:close/>
                  <a:moveTo>
                    <a:pt x="13" y="81"/>
                  </a:moveTo>
                  <a:lnTo>
                    <a:pt x="13" y="95"/>
                  </a:lnTo>
                  <a:lnTo>
                    <a:pt x="0" y="95"/>
                  </a:lnTo>
                  <a:lnTo>
                    <a:pt x="0" y="81"/>
                  </a:lnTo>
                  <a:lnTo>
                    <a:pt x="13" y="81"/>
                  </a:lnTo>
                  <a:close/>
                  <a:moveTo>
                    <a:pt x="13" y="108"/>
                  </a:moveTo>
                  <a:lnTo>
                    <a:pt x="13" y="121"/>
                  </a:lnTo>
                  <a:lnTo>
                    <a:pt x="0" y="121"/>
                  </a:lnTo>
                  <a:lnTo>
                    <a:pt x="0" y="108"/>
                  </a:lnTo>
                  <a:lnTo>
                    <a:pt x="13" y="108"/>
                  </a:lnTo>
                  <a:close/>
                  <a:moveTo>
                    <a:pt x="13" y="135"/>
                  </a:moveTo>
                  <a:lnTo>
                    <a:pt x="13" y="149"/>
                  </a:lnTo>
                  <a:lnTo>
                    <a:pt x="0" y="149"/>
                  </a:lnTo>
                  <a:lnTo>
                    <a:pt x="0" y="135"/>
                  </a:lnTo>
                  <a:lnTo>
                    <a:pt x="13" y="135"/>
                  </a:lnTo>
                  <a:close/>
                  <a:moveTo>
                    <a:pt x="13" y="162"/>
                  </a:moveTo>
                  <a:lnTo>
                    <a:pt x="13" y="175"/>
                  </a:lnTo>
                  <a:lnTo>
                    <a:pt x="0" y="175"/>
                  </a:lnTo>
                  <a:lnTo>
                    <a:pt x="0" y="162"/>
                  </a:lnTo>
                  <a:lnTo>
                    <a:pt x="13" y="162"/>
                  </a:lnTo>
                  <a:close/>
                  <a:moveTo>
                    <a:pt x="13" y="189"/>
                  </a:moveTo>
                  <a:lnTo>
                    <a:pt x="13" y="202"/>
                  </a:lnTo>
                  <a:lnTo>
                    <a:pt x="0" y="202"/>
                  </a:lnTo>
                  <a:lnTo>
                    <a:pt x="0" y="189"/>
                  </a:lnTo>
                  <a:lnTo>
                    <a:pt x="13" y="189"/>
                  </a:lnTo>
                  <a:close/>
                  <a:moveTo>
                    <a:pt x="13" y="216"/>
                  </a:moveTo>
                  <a:lnTo>
                    <a:pt x="13" y="229"/>
                  </a:lnTo>
                  <a:lnTo>
                    <a:pt x="0" y="229"/>
                  </a:lnTo>
                  <a:lnTo>
                    <a:pt x="0" y="216"/>
                  </a:lnTo>
                  <a:lnTo>
                    <a:pt x="13" y="216"/>
                  </a:lnTo>
                  <a:close/>
                  <a:moveTo>
                    <a:pt x="13" y="243"/>
                  </a:moveTo>
                  <a:lnTo>
                    <a:pt x="13" y="256"/>
                  </a:lnTo>
                  <a:lnTo>
                    <a:pt x="0" y="256"/>
                  </a:lnTo>
                  <a:lnTo>
                    <a:pt x="0" y="243"/>
                  </a:lnTo>
                  <a:lnTo>
                    <a:pt x="13" y="243"/>
                  </a:lnTo>
                  <a:close/>
                  <a:moveTo>
                    <a:pt x="13" y="270"/>
                  </a:moveTo>
                  <a:lnTo>
                    <a:pt x="13" y="283"/>
                  </a:lnTo>
                  <a:lnTo>
                    <a:pt x="0" y="283"/>
                  </a:lnTo>
                  <a:lnTo>
                    <a:pt x="0" y="270"/>
                  </a:lnTo>
                  <a:lnTo>
                    <a:pt x="13" y="270"/>
                  </a:lnTo>
                  <a:close/>
                  <a:moveTo>
                    <a:pt x="13" y="297"/>
                  </a:moveTo>
                  <a:lnTo>
                    <a:pt x="13" y="310"/>
                  </a:lnTo>
                  <a:lnTo>
                    <a:pt x="0" y="310"/>
                  </a:lnTo>
                  <a:lnTo>
                    <a:pt x="0" y="297"/>
                  </a:lnTo>
                  <a:lnTo>
                    <a:pt x="13" y="297"/>
                  </a:lnTo>
                  <a:close/>
                  <a:moveTo>
                    <a:pt x="13" y="324"/>
                  </a:moveTo>
                  <a:lnTo>
                    <a:pt x="13" y="337"/>
                  </a:lnTo>
                  <a:lnTo>
                    <a:pt x="0" y="337"/>
                  </a:lnTo>
                  <a:lnTo>
                    <a:pt x="0" y="324"/>
                  </a:lnTo>
                  <a:lnTo>
                    <a:pt x="13" y="324"/>
                  </a:lnTo>
                  <a:close/>
                  <a:moveTo>
                    <a:pt x="13" y="351"/>
                  </a:moveTo>
                  <a:lnTo>
                    <a:pt x="13" y="364"/>
                  </a:lnTo>
                  <a:lnTo>
                    <a:pt x="0" y="364"/>
                  </a:lnTo>
                  <a:lnTo>
                    <a:pt x="0" y="351"/>
                  </a:lnTo>
                  <a:lnTo>
                    <a:pt x="13" y="351"/>
                  </a:lnTo>
                  <a:close/>
                  <a:moveTo>
                    <a:pt x="13" y="378"/>
                  </a:moveTo>
                  <a:lnTo>
                    <a:pt x="13" y="391"/>
                  </a:lnTo>
                  <a:lnTo>
                    <a:pt x="0" y="391"/>
                  </a:lnTo>
                  <a:lnTo>
                    <a:pt x="0" y="378"/>
                  </a:lnTo>
                  <a:lnTo>
                    <a:pt x="13" y="378"/>
                  </a:lnTo>
                  <a:close/>
                  <a:moveTo>
                    <a:pt x="13" y="404"/>
                  </a:moveTo>
                  <a:lnTo>
                    <a:pt x="13" y="418"/>
                  </a:lnTo>
                  <a:lnTo>
                    <a:pt x="0" y="418"/>
                  </a:lnTo>
                  <a:lnTo>
                    <a:pt x="0" y="404"/>
                  </a:lnTo>
                  <a:lnTo>
                    <a:pt x="13" y="404"/>
                  </a:lnTo>
                  <a:close/>
                  <a:moveTo>
                    <a:pt x="13" y="432"/>
                  </a:moveTo>
                  <a:lnTo>
                    <a:pt x="13" y="445"/>
                  </a:lnTo>
                  <a:lnTo>
                    <a:pt x="0" y="445"/>
                  </a:lnTo>
                  <a:lnTo>
                    <a:pt x="0" y="432"/>
                  </a:lnTo>
                  <a:lnTo>
                    <a:pt x="13" y="432"/>
                  </a:lnTo>
                  <a:close/>
                  <a:moveTo>
                    <a:pt x="13" y="458"/>
                  </a:moveTo>
                  <a:lnTo>
                    <a:pt x="13" y="472"/>
                  </a:lnTo>
                  <a:lnTo>
                    <a:pt x="0" y="472"/>
                  </a:lnTo>
                  <a:lnTo>
                    <a:pt x="0" y="458"/>
                  </a:lnTo>
                  <a:lnTo>
                    <a:pt x="13" y="458"/>
                  </a:lnTo>
                  <a:close/>
                  <a:moveTo>
                    <a:pt x="13" y="485"/>
                  </a:moveTo>
                  <a:lnTo>
                    <a:pt x="13" y="499"/>
                  </a:lnTo>
                  <a:lnTo>
                    <a:pt x="0" y="499"/>
                  </a:lnTo>
                  <a:lnTo>
                    <a:pt x="0" y="485"/>
                  </a:lnTo>
                  <a:lnTo>
                    <a:pt x="13" y="485"/>
                  </a:lnTo>
                  <a:close/>
                  <a:moveTo>
                    <a:pt x="13" y="512"/>
                  </a:moveTo>
                  <a:lnTo>
                    <a:pt x="13" y="526"/>
                  </a:lnTo>
                  <a:lnTo>
                    <a:pt x="0" y="526"/>
                  </a:lnTo>
                  <a:lnTo>
                    <a:pt x="0" y="512"/>
                  </a:lnTo>
                  <a:lnTo>
                    <a:pt x="13" y="512"/>
                  </a:lnTo>
                  <a:close/>
                  <a:moveTo>
                    <a:pt x="13" y="539"/>
                  </a:moveTo>
                  <a:lnTo>
                    <a:pt x="13" y="553"/>
                  </a:lnTo>
                  <a:lnTo>
                    <a:pt x="0" y="553"/>
                  </a:lnTo>
                  <a:lnTo>
                    <a:pt x="0" y="539"/>
                  </a:lnTo>
                  <a:lnTo>
                    <a:pt x="13" y="539"/>
                  </a:lnTo>
                  <a:close/>
                  <a:moveTo>
                    <a:pt x="13" y="566"/>
                  </a:moveTo>
                  <a:lnTo>
                    <a:pt x="13" y="580"/>
                  </a:lnTo>
                  <a:lnTo>
                    <a:pt x="0" y="580"/>
                  </a:lnTo>
                  <a:lnTo>
                    <a:pt x="0" y="566"/>
                  </a:lnTo>
                  <a:lnTo>
                    <a:pt x="13" y="566"/>
                  </a:lnTo>
                  <a:close/>
                  <a:moveTo>
                    <a:pt x="13" y="593"/>
                  </a:moveTo>
                  <a:lnTo>
                    <a:pt x="13" y="607"/>
                  </a:lnTo>
                  <a:lnTo>
                    <a:pt x="0" y="607"/>
                  </a:lnTo>
                  <a:lnTo>
                    <a:pt x="0" y="593"/>
                  </a:lnTo>
                  <a:lnTo>
                    <a:pt x="13" y="593"/>
                  </a:lnTo>
                  <a:close/>
                  <a:moveTo>
                    <a:pt x="13" y="620"/>
                  </a:moveTo>
                  <a:lnTo>
                    <a:pt x="13" y="634"/>
                  </a:lnTo>
                  <a:lnTo>
                    <a:pt x="0" y="634"/>
                  </a:lnTo>
                  <a:lnTo>
                    <a:pt x="0" y="620"/>
                  </a:lnTo>
                  <a:lnTo>
                    <a:pt x="13" y="620"/>
                  </a:lnTo>
                  <a:close/>
                  <a:moveTo>
                    <a:pt x="13" y="647"/>
                  </a:moveTo>
                  <a:lnTo>
                    <a:pt x="13" y="661"/>
                  </a:lnTo>
                  <a:lnTo>
                    <a:pt x="0" y="661"/>
                  </a:lnTo>
                  <a:lnTo>
                    <a:pt x="0" y="647"/>
                  </a:lnTo>
                  <a:lnTo>
                    <a:pt x="13" y="647"/>
                  </a:lnTo>
                  <a:close/>
                  <a:moveTo>
                    <a:pt x="13" y="674"/>
                  </a:moveTo>
                  <a:lnTo>
                    <a:pt x="13" y="687"/>
                  </a:lnTo>
                  <a:lnTo>
                    <a:pt x="0" y="687"/>
                  </a:lnTo>
                  <a:lnTo>
                    <a:pt x="0" y="674"/>
                  </a:lnTo>
                  <a:lnTo>
                    <a:pt x="13" y="674"/>
                  </a:lnTo>
                  <a:close/>
                  <a:moveTo>
                    <a:pt x="13" y="701"/>
                  </a:moveTo>
                  <a:lnTo>
                    <a:pt x="13" y="715"/>
                  </a:lnTo>
                  <a:lnTo>
                    <a:pt x="0" y="715"/>
                  </a:lnTo>
                  <a:lnTo>
                    <a:pt x="0" y="701"/>
                  </a:lnTo>
                  <a:lnTo>
                    <a:pt x="13" y="701"/>
                  </a:lnTo>
                  <a:close/>
                  <a:moveTo>
                    <a:pt x="13" y="728"/>
                  </a:moveTo>
                  <a:lnTo>
                    <a:pt x="13" y="741"/>
                  </a:lnTo>
                  <a:lnTo>
                    <a:pt x="0" y="741"/>
                  </a:lnTo>
                  <a:lnTo>
                    <a:pt x="0" y="728"/>
                  </a:lnTo>
                  <a:lnTo>
                    <a:pt x="13" y="728"/>
                  </a:lnTo>
                  <a:close/>
                  <a:moveTo>
                    <a:pt x="13" y="755"/>
                  </a:moveTo>
                  <a:lnTo>
                    <a:pt x="13" y="768"/>
                  </a:lnTo>
                  <a:lnTo>
                    <a:pt x="0" y="768"/>
                  </a:lnTo>
                  <a:lnTo>
                    <a:pt x="0" y="755"/>
                  </a:lnTo>
                  <a:lnTo>
                    <a:pt x="13" y="755"/>
                  </a:lnTo>
                  <a:close/>
                  <a:moveTo>
                    <a:pt x="13" y="782"/>
                  </a:moveTo>
                  <a:lnTo>
                    <a:pt x="13" y="795"/>
                  </a:lnTo>
                  <a:lnTo>
                    <a:pt x="0" y="795"/>
                  </a:lnTo>
                  <a:lnTo>
                    <a:pt x="0" y="782"/>
                  </a:lnTo>
                  <a:lnTo>
                    <a:pt x="13" y="782"/>
                  </a:lnTo>
                  <a:close/>
                  <a:moveTo>
                    <a:pt x="13" y="809"/>
                  </a:moveTo>
                  <a:lnTo>
                    <a:pt x="13" y="822"/>
                  </a:lnTo>
                  <a:lnTo>
                    <a:pt x="0" y="822"/>
                  </a:lnTo>
                  <a:lnTo>
                    <a:pt x="0" y="809"/>
                  </a:lnTo>
                  <a:lnTo>
                    <a:pt x="13" y="809"/>
                  </a:lnTo>
                  <a:close/>
                  <a:moveTo>
                    <a:pt x="13" y="836"/>
                  </a:moveTo>
                  <a:lnTo>
                    <a:pt x="13" y="849"/>
                  </a:lnTo>
                  <a:lnTo>
                    <a:pt x="0" y="849"/>
                  </a:lnTo>
                  <a:lnTo>
                    <a:pt x="0" y="836"/>
                  </a:lnTo>
                  <a:lnTo>
                    <a:pt x="13" y="836"/>
                  </a:lnTo>
                  <a:close/>
                  <a:moveTo>
                    <a:pt x="13" y="863"/>
                  </a:moveTo>
                  <a:lnTo>
                    <a:pt x="13" y="876"/>
                  </a:lnTo>
                  <a:lnTo>
                    <a:pt x="0" y="876"/>
                  </a:lnTo>
                  <a:lnTo>
                    <a:pt x="0" y="863"/>
                  </a:lnTo>
                  <a:lnTo>
                    <a:pt x="13" y="863"/>
                  </a:lnTo>
                  <a:close/>
                  <a:moveTo>
                    <a:pt x="13" y="890"/>
                  </a:moveTo>
                  <a:lnTo>
                    <a:pt x="13" y="903"/>
                  </a:lnTo>
                  <a:lnTo>
                    <a:pt x="0" y="903"/>
                  </a:lnTo>
                  <a:lnTo>
                    <a:pt x="0" y="890"/>
                  </a:lnTo>
                  <a:lnTo>
                    <a:pt x="13" y="890"/>
                  </a:lnTo>
                  <a:close/>
                  <a:moveTo>
                    <a:pt x="13" y="917"/>
                  </a:moveTo>
                  <a:lnTo>
                    <a:pt x="13" y="930"/>
                  </a:lnTo>
                  <a:lnTo>
                    <a:pt x="0" y="930"/>
                  </a:lnTo>
                  <a:lnTo>
                    <a:pt x="0" y="917"/>
                  </a:lnTo>
                  <a:lnTo>
                    <a:pt x="13" y="917"/>
                  </a:lnTo>
                  <a:close/>
                  <a:moveTo>
                    <a:pt x="13" y="944"/>
                  </a:moveTo>
                  <a:lnTo>
                    <a:pt x="13" y="957"/>
                  </a:lnTo>
                  <a:lnTo>
                    <a:pt x="0" y="957"/>
                  </a:lnTo>
                  <a:lnTo>
                    <a:pt x="0" y="944"/>
                  </a:lnTo>
                  <a:lnTo>
                    <a:pt x="13" y="944"/>
                  </a:lnTo>
                  <a:close/>
                  <a:moveTo>
                    <a:pt x="13" y="970"/>
                  </a:moveTo>
                  <a:lnTo>
                    <a:pt x="13" y="984"/>
                  </a:lnTo>
                  <a:lnTo>
                    <a:pt x="0" y="984"/>
                  </a:lnTo>
                  <a:lnTo>
                    <a:pt x="0" y="970"/>
                  </a:lnTo>
                  <a:lnTo>
                    <a:pt x="13" y="970"/>
                  </a:lnTo>
                  <a:close/>
                  <a:moveTo>
                    <a:pt x="13" y="998"/>
                  </a:moveTo>
                  <a:lnTo>
                    <a:pt x="13" y="1011"/>
                  </a:lnTo>
                  <a:lnTo>
                    <a:pt x="0" y="1011"/>
                  </a:lnTo>
                  <a:lnTo>
                    <a:pt x="0" y="998"/>
                  </a:lnTo>
                  <a:lnTo>
                    <a:pt x="13" y="998"/>
                  </a:lnTo>
                  <a:close/>
                  <a:moveTo>
                    <a:pt x="13" y="1024"/>
                  </a:moveTo>
                  <a:lnTo>
                    <a:pt x="13" y="1038"/>
                  </a:lnTo>
                  <a:lnTo>
                    <a:pt x="0" y="1038"/>
                  </a:lnTo>
                  <a:lnTo>
                    <a:pt x="0" y="1024"/>
                  </a:lnTo>
                  <a:lnTo>
                    <a:pt x="13" y="1024"/>
                  </a:lnTo>
                  <a:close/>
                  <a:moveTo>
                    <a:pt x="13" y="1051"/>
                  </a:moveTo>
                  <a:lnTo>
                    <a:pt x="13" y="1065"/>
                  </a:lnTo>
                  <a:lnTo>
                    <a:pt x="0" y="1065"/>
                  </a:lnTo>
                  <a:lnTo>
                    <a:pt x="0" y="1051"/>
                  </a:lnTo>
                  <a:lnTo>
                    <a:pt x="13" y="1051"/>
                  </a:lnTo>
                  <a:close/>
                  <a:moveTo>
                    <a:pt x="13" y="1078"/>
                  </a:moveTo>
                  <a:lnTo>
                    <a:pt x="13" y="1092"/>
                  </a:lnTo>
                  <a:lnTo>
                    <a:pt x="0" y="1092"/>
                  </a:lnTo>
                  <a:lnTo>
                    <a:pt x="0" y="1078"/>
                  </a:lnTo>
                  <a:lnTo>
                    <a:pt x="13" y="1078"/>
                  </a:lnTo>
                  <a:close/>
                  <a:moveTo>
                    <a:pt x="13" y="1105"/>
                  </a:moveTo>
                  <a:lnTo>
                    <a:pt x="13" y="1119"/>
                  </a:lnTo>
                  <a:lnTo>
                    <a:pt x="0" y="1119"/>
                  </a:lnTo>
                  <a:lnTo>
                    <a:pt x="0" y="1105"/>
                  </a:lnTo>
                  <a:lnTo>
                    <a:pt x="13" y="1105"/>
                  </a:lnTo>
                  <a:close/>
                  <a:moveTo>
                    <a:pt x="13" y="1132"/>
                  </a:moveTo>
                  <a:lnTo>
                    <a:pt x="13" y="1146"/>
                  </a:lnTo>
                  <a:lnTo>
                    <a:pt x="0" y="1146"/>
                  </a:lnTo>
                  <a:lnTo>
                    <a:pt x="0" y="1132"/>
                  </a:lnTo>
                  <a:lnTo>
                    <a:pt x="13" y="1132"/>
                  </a:lnTo>
                  <a:close/>
                  <a:moveTo>
                    <a:pt x="13" y="1159"/>
                  </a:moveTo>
                  <a:lnTo>
                    <a:pt x="13" y="1173"/>
                  </a:lnTo>
                  <a:lnTo>
                    <a:pt x="0" y="1173"/>
                  </a:lnTo>
                  <a:lnTo>
                    <a:pt x="0" y="1159"/>
                  </a:lnTo>
                  <a:lnTo>
                    <a:pt x="13" y="1159"/>
                  </a:lnTo>
                  <a:close/>
                  <a:moveTo>
                    <a:pt x="13" y="1186"/>
                  </a:moveTo>
                  <a:lnTo>
                    <a:pt x="13" y="1200"/>
                  </a:lnTo>
                  <a:lnTo>
                    <a:pt x="0" y="1200"/>
                  </a:lnTo>
                  <a:lnTo>
                    <a:pt x="0" y="1186"/>
                  </a:lnTo>
                  <a:lnTo>
                    <a:pt x="13" y="1186"/>
                  </a:lnTo>
                  <a:close/>
                  <a:moveTo>
                    <a:pt x="13" y="1213"/>
                  </a:moveTo>
                  <a:lnTo>
                    <a:pt x="13" y="1227"/>
                  </a:lnTo>
                  <a:lnTo>
                    <a:pt x="0" y="1227"/>
                  </a:lnTo>
                  <a:lnTo>
                    <a:pt x="0" y="1213"/>
                  </a:lnTo>
                  <a:lnTo>
                    <a:pt x="13" y="1213"/>
                  </a:lnTo>
                  <a:close/>
                  <a:moveTo>
                    <a:pt x="13" y="1240"/>
                  </a:moveTo>
                  <a:lnTo>
                    <a:pt x="13" y="1253"/>
                  </a:lnTo>
                  <a:lnTo>
                    <a:pt x="0" y="1253"/>
                  </a:lnTo>
                  <a:lnTo>
                    <a:pt x="0" y="1240"/>
                  </a:lnTo>
                  <a:lnTo>
                    <a:pt x="13" y="1240"/>
                  </a:lnTo>
                  <a:close/>
                  <a:moveTo>
                    <a:pt x="13" y="1267"/>
                  </a:moveTo>
                  <a:lnTo>
                    <a:pt x="13" y="1281"/>
                  </a:lnTo>
                  <a:lnTo>
                    <a:pt x="0" y="1281"/>
                  </a:lnTo>
                  <a:lnTo>
                    <a:pt x="0" y="1267"/>
                  </a:lnTo>
                  <a:lnTo>
                    <a:pt x="13" y="1267"/>
                  </a:lnTo>
                  <a:close/>
                  <a:moveTo>
                    <a:pt x="13" y="1294"/>
                  </a:moveTo>
                  <a:lnTo>
                    <a:pt x="13" y="1307"/>
                  </a:lnTo>
                  <a:lnTo>
                    <a:pt x="0" y="1307"/>
                  </a:lnTo>
                  <a:lnTo>
                    <a:pt x="0" y="1294"/>
                  </a:lnTo>
                  <a:lnTo>
                    <a:pt x="13" y="1294"/>
                  </a:lnTo>
                  <a:close/>
                  <a:moveTo>
                    <a:pt x="13" y="1321"/>
                  </a:moveTo>
                  <a:lnTo>
                    <a:pt x="13" y="1334"/>
                  </a:lnTo>
                  <a:lnTo>
                    <a:pt x="0" y="1334"/>
                  </a:lnTo>
                  <a:lnTo>
                    <a:pt x="0" y="1321"/>
                  </a:lnTo>
                  <a:lnTo>
                    <a:pt x="13" y="1321"/>
                  </a:lnTo>
                  <a:close/>
                  <a:moveTo>
                    <a:pt x="13" y="1348"/>
                  </a:moveTo>
                  <a:lnTo>
                    <a:pt x="13" y="1361"/>
                  </a:lnTo>
                  <a:lnTo>
                    <a:pt x="0" y="1361"/>
                  </a:lnTo>
                  <a:lnTo>
                    <a:pt x="0" y="1348"/>
                  </a:lnTo>
                  <a:lnTo>
                    <a:pt x="13" y="1348"/>
                  </a:lnTo>
                  <a:close/>
                  <a:moveTo>
                    <a:pt x="13" y="1375"/>
                  </a:moveTo>
                  <a:lnTo>
                    <a:pt x="13" y="1388"/>
                  </a:lnTo>
                  <a:lnTo>
                    <a:pt x="0" y="1388"/>
                  </a:lnTo>
                  <a:lnTo>
                    <a:pt x="0" y="1375"/>
                  </a:lnTo>
                  <a:lnTo>
                    <a:pt x="13" y="1375"/>
                  </a:lnTo>
                  <a:close/>
                  <a:moveTo>
                    <a:pt x="13" y="1402"/>
                  </a:moveTo>
                  <a:lnTo>
                    <a:pt x="13" y="1415"/>
                  </a:lnTo>
                  <a:lnTo>
                    <a:pt x="0" y="1415"/>
                  </a:lnTo>
                  <a:lnTo>
                    <a:pt x="0" y="1402"/>
                  </a:lnTo>
                  <a:lnTo>
                    <a:pt x="13" y="1402"/>
                  </a:lnTo>
                  <a:close/>
                  <a:moveTo>
                    <a:pt x="13" y="1429"/>
                  </a:moveTo>
                  <a:lnTo>
                    <a:pt x="13" y="1442"/>
                  </a:lnTo>
                  <a:lnTo>
                    <a:pt x="0" y="1442"/>
                  </a:lnTo>
                  <a:lnTo>
                    <a:pt x="0" y="1429"/>
                  </a:lnTo>
                  <a:lnTo>
                    <a:pt x="13" y="1429"/>
                  </a:lnTo>
                  <a:close/>
                  <a:moveTo>
                    <a:pt x="13" y="1455"/>
                  </a:moveTo>
                  <a:lnTo>
                    <a:pt x="13" y="1469"/>
                  </a:lnTo>
                  <a:lnTo>
                    <a:pt x="0" y="1469"/>
                  </a:lnTo>
                  <a:lnTo>
                    <a:pt x="0" y="1455"/>
                  </a:lnTo>
                  <a:lnTo>
                    <a:pt x="13" y="1455"/>
                  </a:lnTo>
                  <a:close/>
                  <a:moveTo>
                    <a:pt x="13" y="1483"/>
                  </a:moveTo>
                  <a:lnTo>
                    <a:pt x="13" y="1496"/>
                  </a:lnTo>
                  <a:lnTo>
                    <a:pt x="0" y="1496"/>
                  </a:lnTo>
                  <a:lnTo>
                    <a:pt x="0" y="1483"/>
                  </a:lnTo>
                  <a:lnTo>
                    <a:pt x="13" y="1483"/>
                  </a:lnTo>
                  <a:close/>
                  <a:moveTo>
                    <a:pt x="13" y="1510"/>
                  </a:moveTo>
                  <a:lnTo>
                    <a:pt x="13" y="1523"/>
                  </a:lnTo>
                  <a:lnTo>
                    <a:pt x="0" y="1523"/>
                  </a:lnTo>
                  <a:lnTo>
                    <a:pt x="0" y="1510"/>
                  </a:lnTo>
                  <a:lnTo>
                    <a:pt x="13" y="1510"/>
                  </a:lnTo>
                  <a:close/>
                  <a:moveTo>
                    <a:pt x="13" y="1536"/>
                  </a:moveTo>
                  <a:lnTo>
                    <a:pt x="13" y="1550"/>
                  </a:lnTo>
                  <a:lnTo>
                    <a:pt x="0" y="1550"/>
                  </a:lnTo>
                  <a:lnTo>
                    <a:pt x="0" y="1536"/>
                  </a:lnTo>
                  <a:lnTo>
                    <a:pt x="13" y="1536"/>
                  </a:lnTo>
                  <a:close/>
                  <a:moveTo>
                    <a:pt x="13" y="1564"/>
                  </a:moveTo>
                  <a:lnTo>
                    <a:pt x="13" y="1577"/>
                  </a:lnTo>
                  <a:lnTo>
                    <a:pt x="0" y="1577"/>
                  </a:lnTo>
                  <a:lnTo>
                    <a:pt x="0" y="1564"/>
                  </a:lnTo>
                  <a:lnTo>
                    <a:pt x="13" y="1564"/>
                  </a:lnTo>
                  <a:close/>
                  <a:moveTo>
                    <a:pt x="13" y="1590"/>
                  </a:moveTo>
                  <a:lnTo>
                    <a:pt x="13" y="1604"/>
                  </a:lnTo>
                  <a:lnTo>
                    <a:pt x="0" y="1604"/>
                  </a:lnTo>
                  <a:lnTo>
                    <a:pt x="0" y="1590"/>
                  </a:lnTo>
                  <a:lnTo>
                    <a:pt x="13" y="1590"/>
                  </a:lnTo>
                  <a:close/>
                  <a:moveTo>
                    <a:pt x="13" y="1617"/>
                  </a:moveTo>
                  <a:lnTo>
                    <a:pt x="13" y="1631"/>
                  </a:lnTo>
                  <a:lnTo>
                    <a:pt x="0" y="1631"/>
                  </a:lnTo>
                  <a:lnTo>
                    <a:pt x="0" y="1617"/>
                  </a:lnTo>
                  <a:lnTo>
                    <a:pt x="13" y="1617"/>
                  </a:lnTo>
                  <a:close/>
                  <a:moveTo>
                    <a:pt x="13" y="1644"/>
                  </a:moveTo>
                  <a:lnTo>
                    <a:pt x="13" y="1658"/>
                  </a:lnTo>
                  <a:lnTo>
                    <a:pt x="0" y="1658"/>
                  </a:lnTo>
                  <a:lnTo>
                    <a:pt x="0" y="1644"/>
                  </a:lnTo>
                  <a:lnTo>
                    <a:pt x="13" y="1644"/>
                  </a:lnTo>
                  <a:close/>
                  <a:moveTo>
                    <a:pt x="13" y="1671"/>
                  </a:moveTo>
                  <a:lnTo>
                    <a:pt x="13" y="1685"/>
                  </a:lnTo>
                  <a:lnTo>
                    <a:pt x="0" y="1685"/>
                  </a:lnTo>
                  <a:lnTo>
                    <a:pt x="0" y="1671"/>
                  </a:lnTo>
                  <a:lnTo>
                    <a:pt x="13" y="1671"/>
                  </a:lnTo>
                  <a:close/>
                  <a:moveTo>
                    <a:pt x="13" y="1698"/>
                  </a:moveTo>
                  <a:lnTo>
                    <a:pt x="13" y="1712"/>
                  </a:lnTo>
                  <a:lnTo>
                    <a:pt x="0" y="1712"/>
                  </a:lnTo>
                  <a:lnTo>
                    <a:pt x="0" y="1698"/>
                  </a:lnTo>
                  <a:lnTo>
                    <a:pt x="13" y="1698"/>
                  </a:lnTo>
                  <a:close/>
                  <a:moveTo>
                    <a:pt x="13" y="1725"/>
                  </a:moveTo>
                  <a:lnTo>
                    <a:pt x="13" y="1738"/>
                  </a:lnTo>
                  <a:lnTo>
                    <a:pt x="0" y="1738"/>
                  </a:lnTo>
                  <a:lnTo>
                    <a:pt x="0" y="1725"/>
                  </a:lnTo>
                  <a:lnTo>
                    <a:pt x="13" y="1725"/>
                  </a:lnTo>
                  <a:close/>
                  <a:moveTo>
                    <a:pt x="13" y="1752"/>
                  </a:moveTo>
                  <a:lnTo>
                    <a:pt x="13" y="1766"/>
                  </a:lnTo>
                  <a:lnTo>
                    <a:pt x="0" y="1766"/>
                  </a:lnTo>
                  <a:lnTo>
                    <a:pt x="0" y="1752"/>
                  </a:lnTo>
                  <a:lnTo>
                    <a:pt x="13" y="1752"/>
                  </a:lnTo>
                  <a:close/>
                  <a:moveTo>
                    <a:pt x="13" y="1779"/>
                  </a:moveTo>
                  <a:lnTo>
                    <a:pt x="13" y="1792"/>
                  </a:lnTo>
                  <a:lnTo>
                    <a:pt x="0" y="1792"/>
                  </a:lnTo>
                  <a:lnTo>
                    <a:pt x="0" y="1779"/>
                  </a:lnTo>
                  <a:lnTo>
                    <a:pt x="13" y="1779"/>
                  </a:lnTo>
                  <a:close/>
                  <a:moveTo>
                    <a:pt x="13" y="1806"/>
                  </a:moveTo>
                  <a:lnTo>
                    <a:pt x="13" y="1819"/>
                  </a:lnTo>
                  <a:lnTo>
                    <a:pt x="0" y="1819"/>
                  </a:lnTo>
                  <a:lnTo>
                    <a:pt x="0" y="1806"/>
                  </a:lnTo>
                  <a:lnTo>
                    <a:pt x="13" y="1806"/>
                  </a:lnTo>
                  <a:close/>
                  <a:moveTo>
                    <a:pt x="13" y="1833"/>
                  </a:moveTo>
                  <a:lnTo>
                    <a:pt x="13" y="1846"/>
                  </a:lnTo>
                  <a:lnTo>
                    <a:pt x="0" y="1846"/>
                  </a:lnTo>
                  <a:lnTo>
                    <a:pt x="0" y="1833"/>
                  </a:lnTo>
                  <a:lnTo>
                    <a:pt x="13" y="1833"/>
                  </a:lnTo>
                  <a:close/>
                  <a:moveTo>
                    <a:pt x="13" y="1860"/>
                  </a:moveTo>
                  <a:lnTo>
                    <a:pt x="13" y="1873"/>
                  </a:lnTo>
                  <a:lnTo>
                    <a:pt x="0" y="1873"/>
                  </a:lnTo>
                  <a:lnTo>
                    <a:pt x="0" y="1860"/>
                  </a:lnTo>
                  <a:lnTo>
                    <a:pt x="13" y="1860"/>
                  </a:lnTo>
                  <a:close/>
                  <a:moveTo>
                    <a:pt x="13" y="1887"/>
                  </a:moveTo>
                  <a:lnTo>
                    <a:pt x="13" y="1900"/>
                  </a:lnTo>
                  <a:lnTo>
                    <a:pt x="0" y="1900"/>
                  </a:lnTo>
                  <a:lnTo>
                    <a:pt x="0" y="1887"/>
                  </a:lnTo>
                  <a:lnTo>
                    <a:pt x="13" y="1887"/>
                  </a:lnTo>
                  <a:close/>
                  <a:moveTo>
                    <a:pt x="13" y="1914"/>
                  </a:moveTo>
                  <a:lnTo>
                    <a:pt x="13" y="1927"/>
                  </a:lnTo>
                  <a:lnTo>
                    <a:pt x="0" y="1927"/>
                  </a:lnTo>
                  <a:lnTo>
                    <a:pt x="0" y="1914"/>
                  </a:lnTo>
                  <a:lnTo>
                    <a:pt x="13" y="1914"/>
                  </a:lnTo>
                  <a:close/>
                  <a:moveTo>
                    <a:pt x="13" y="1941"/>
                  </a:moveTo>
                  <a:lnTo>
                    <a:pt x="13" y="1954"/>
                  </a:lnTo>
                  <a:lnTo>
                    <a:pt x="0" y="1954"/>
                  </a:lnTo>
                  <a:lnTo>
                    <a:pt x="0" y="1941"/>
                  </a:lnTo>
                  <a:lnTo>
                    <a:pt x="13" y="1941"/>
                  </a:lnTo>
                  <a:close/>
                  <a:moveTo>
                    <a:pt x="13" y="1968"/>
                  </a:moveTo>
                  <a:lnTo>
                    <a:pt x="13" y="1981"/>
                  </a:lnTo>
                  <a:lnTo>
                    <a:pt x="0" y="1981"/>
                  </a:lnTo>
                  <a:lnTo>
                    <a:pt x="0" y="1968"/>
                  </a:lnTo>
                  <a:lnTo>
                    <a:pt x="13" y="1968"/>
                  </a:lnTo>
                  <a:close/>
                  <a:moveTo>
                    <a:pt x="13" y="1995"/>
                  </a:moveTo>
                  <a:lnTo>
                    <a:pt x="13" y="2008"/>
                  </a:lnTo>
                  <a:lnTo>
                    <a:pt x="0" y="2008"/>
                  </a:lnTo>
                  <a:lnTo>
                    <a:pt x="0" y="1995"/>
                  </a:lnTo>
                  <a:lnTo>
                    <a:pt x="13" y="1995"/>
                  </a:lnTo>
                  <a:close/>
                  <a:moveTo>
                    <a:pt x="13" y="2021"/>
                  </a:moveTo>
                  <a:lnTo>
                    <a:pt x="13" y="2035"/>
                  </a:lnTo>
                  <a:lnTo>
                    <a:pt x="0" y="2035"/>
                  </a:lnTo>
                  <a:lnTo>
                    <a:pt x="0" y="2021"/>
                  </a:lnTo>
                  <a:lnTo>
                    <a:pt x="13" y="2021"/>
                  </a:lnTo>
                  <a:close/>
                  <a:moveTo>
                    <a:pt x="13" y="2049"/>
                  </a:moveTo>
                  <a:lnTo>
                    <a:pt x="13" y="2062"/>
                  </a:lnTo>
                  <a:lnTo>
                    <a:pt x="0" y="2062"/>
                  </a:lnTo>
                  <a:lnTo>
                    <a:pt x="0" y="2049"/>
                  </a:lnTo>
                  <a:lnTo>
                    <a:pt x="13" y="2049"/>
                  </a:lnTo>
                  <a:close/>
                  <a:moveTo>
                    <a:pt x="13" y="2075"/>
                  </a:moveTo>
                  <a:lnTo>
                    <a:pt x="13" y="2089"/>
                  </a:lnTo>
                  <a:lnTo>
                    <a:pt x="0" y="2089"/>
                  </a:lnTo>
                  <a:lnTo>
                    <a:pt x="0" y="2075"/>
                  </a:lnTo>
                  <a:lnTo>
                    <a:pt x="13" y="2075"/>
                  </a:lnTo>
                  <a:close/>
                  <a:moveTo>
                    <a:pt x="13" y="2102"/>
                  </a:moveTo>
                  <a:lnTo>
                    <a:pt x="13" y="2116"/>
                  </a:lnTo>
                  <a:lnTo>
                    <a:pt x="0" y="2116"/>
                  </a:lnTo>
                  <a:lnTo>
                    <a:pt x="0" y="2102"/>
                  </a:lnTo>
                  <a:lnTo>
                    <a:pt x="13" y="2102"/>
                  </a:lnTo>
                  <a:close/>
                  <a:moveTo>
                    <a:pt x="13" y="2129"/>
                  </a:moveTo>
                  <a:lnTo>
                    <a:pt x="13" y="2143"/>
                  </a:lnTo>
                  <a:lnTo>
                    <a:pt x="0" y="2143"/>
                  </a:lnTo>
                  <a:lnTo>
                    <a:pt x="0" y="2129"/>
                  </a:lnTo>
                  <a:lnTo>
                    <a:pt x="13" y="2129"/>
                  </a:lnTo>
                  <a:close/>
                  <a:moveTo>
                    <a:pt x="13" y="2156"/>
                  </a:moveTo>
                  <a:lnTo>
                    <a:pt x="13" y="2170"/>
                  </a:lnTo>
                  <a:lnTo>
                    <a:pt x="0" y="2170"/>
                  </a:lnTo>
                  <a:lnTo>
                    <a:pt x="0" y="2156"/>
                  </a:lnTo>
                  <a:lnTo>
                    <a:pt x="13" y="2156"/>
                  </a:lnTo>
                  <a:close/>
                  <a:moveTo>
                    <a:pt x="13" y="2183"/>
                  </a:moveTo>
                  <a:lnTo>
                    <a:pt x="13" y="2197"/>
                  </a:lnTo>
                  <a:lnTo>
                    <a:pt x="0" y="2197"/>
                  </a:lnTo>
                  <a:lnTo>
                    <a:pt x="0" y="2183"/>
                  </a:lnTo>
                  <a:lnTo>
                    <a:pt x="13" y="2183"/>
                  </a:lnTo>
                  <a:close/>
                  <a:moveTo>
                    <a:pt x="13" y="2210"/>
                  </a:moveTo>
                  <a:lnTo>
                    <a:pt x="13" y="2224"/>
                  </a:lnTo>
                  <a:lnTo>
                    <a:pt x="0" y="2224"/>
                  </a:lnTo>
                  <a:lnTo>
                    <a:pt x="0" y="2210"/>
                  </a:lnTo>
                  <a:lnTo>
                    <a:pt x="13" y="2210"/>
                  </a:lnTo>
                  <a:close/>
                  <a:moveTo>
                    <a:pt x="13" y="2237"/>
                  </a:moveTo>
                  <a:lnTo>
                    <a:pt x="13" y="2251"/>
                  </a:lnTo>
                  <a:lnTo>
                    <a:pt x="0" y="2251"/>
                  </a:lnTo>
                  <a:lnTo>
                    <a:pt x="0" y="2237"/>
                  </a:lnTo>
                  <a:lnTo>
                    <a:pt x="13" y="2237"/>
                  </a:lnTo>
                  <a:close/>
                  <a:moveTo>
                    <a:pt x="13" y="2264"/>
                  </a:moveTo>
                  <a:lnTo>
                    <a:pt x="13" y="2278"/>
                  </a:lnTo>
                  <a:lnTo>
                    <a:pt x="0" y="2278"/>
                  </a:lnTo>
                  <a:lnTo>
                    <a:pt x="0" y="2264"/>
                  </a:lnTo>
                  <a:lnTo>
                    <a:pt x="13" y="2264"/>
                  </a:lnTo>
                  <a:close/>
                  <a:moveTo>
                    <a:pt x="13" y="2291"/>
                  </a:moveTo>
                  <a:lnTo>
                    <a:pt x="13" y="2304"/>
                  </a:lnTo>
                  <a:lnTo>
                    <a:pt x="0" y="2304"/>
                  </a:lnTo>
                  <a:lnTo>
                    <a:pt x="0" y="2291"/>
                  </a:lnTo>
                  <a:lnTo>
                    <a:pt x="13" y="2291"/>
                  </a:lnTo>
                  <a:close/>
                  <a:moveTo>
                    <a:pt x="13" y="2318"/>
                  </a:moveTo>
                  <a:lnTo>
                    <a:pt x="13" y="2332"/>
                  </a:lnTo>
                  <a:lnTo>
                    <a:pt x="0" y="2332"/>
                  </a:lnTo>
                  <a:lnTo>
                    <a:pt x="0" y="2318"/>
                  </a:lnTo>
                  <a:lnTo>
                    <a:pt x="13" y="2318"/>
                  </a:lnTo>
                  <a:close/>
                  <a:moveTo>
                    <a:pt x="13" y="2345"/>
                  </a:moveTo>
                  <a:lnTo>
                    <a:pt x="13" y="2358"/>
                  </a:lnTo>
                  <a:lnTo>
                    <a:pt x="0" y="2358"/>
                  </a:lnTo>
                  <a:lnTo>
                    <a:pt x="0" y="2345"/>
                  </a:lnTo>
                  <a:lnTo>
                    <a:pt x="13"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96" name="Freeform 92">
              <a:extLst>
                <a:ext uri="{FF2B5EF4-FFF2-40B4-BE49-F238E27FC236}">
                  <a16:creationId xmlns:a16="http://schemas.microsoft.com/office/drawing/2014/main" id="{C2E7FF81-E005-4275-AA46-F657E989E2CC}"/>
                </a:ext>
              </a:extLst>
            </p:cNvPr>
            <p:cNvSpPr>
              <a:spLocks noEditPoints="1"/>
            </p:cNvSpPr>
            <p:nvPr/>
          </p:nvSpPr>
          <p:spPr bwMode="auto">
            <a:xfrm>
              <a:off x="5836772" y="2655977"/>
              <a:ext cx="22258" cy="3748911"/>
            </a:xfrm>
            <a:custGeom>
              <a:avLst/>
              <a:gdLst>
                <a:gd name="T0" fmla="*/ 14 w 14"/>
                <a:gd name="T1" fmla="*/ 41 h 2358"/>
                <a:gd name="T2" fmla="*/ 0 w 14"/>
                <a:gd name="T3" fmla="*/ 54 h 2358"/>
                <a:gd name="T4" fmla="*/ 14 w 14"/>
                <a:gd name="T5" fmla="*/ 108 h 2358"/>
                <a:gd name="T6" fmla="*/ 0 w 14"/>
                <a:gd name="T7" fmla="*/ 149 h 2358"/>
                <a:gd name="T8" fmla="*/ 14 w 14"/>
                <a:gd name="T9" fmla="*/ 162 h 2358"/>
                <a:gd name="T10" fmla="*/ 14 w 14"/>
                <a:gd name="T11" fmla="*/ 229 h 2358"/>
                <a:gd name="T12" fmla="*/ 0 w 14"/>
                <a:gd name="T13" fmla="*/ 243 h 2358"/>
                <a:gd name="T14" fmla="*/ 14 w 14"/>
                <a:gd name="T15" fmla="*/ 297 h 2358"/>
                <a:gd name="T16" fmla="*/ 0 w 14"/>
                <a:gd name="T17" fmla="*/ 337 h 2358"/>
                <a:gd name="T18" fmla="*/ 14 w 14"/>
                <a:gd name="T19" fmla="*/ 351 h 2358"/>
                <a:gd name="T20" fmla="*/ 14 w 14"/>
                <a:gd name="T21" fmla="*/ 418 h 2358"/>
                <a:gd name="T22" fmla="*/ 0 w 14"/>
                <a:gd name="T23" fmla="*/ 432 h 2358"/>
                <a:gd name="T24" fmla="*/ 14 w 14"/>
                <a:gd name="T25" fmla="*/ 485 h 2358"/>
                <a:gd name="T26" fmla="*/ 0 w 14"/>
                <a:gd name="T27" fmla="*/ 526 h 2358"/>
                <a:gd name="T28" fmla="*/ 14 w 14"/>
                <a:gd name="T29" fmla="*/ 539 h 2358"/>
                <a:gd name="T30" fmla="*/ 14 w 14"/>
                <a:gd name="T31" fmla="*/ 607 h 2358"/>
                <a:gd name="T32" fmla="*/ 0 w 14"/>
                <a:gd name="T33" fmla="*/ 620 h 2358"/>
                <a:gd name="T34" fmla="*/ 14 w 14"/>
                <a:gd name="T35" fmla="*/ 674 h 2358"/>
                <a:gd name="T36" fmla="*/ 0 w 14"/>
                <a:gd name="T37" fmla="*/ 715 h 2358"/>
                <a:gd name="T38" fmla="*/ 14 w 14"/>
                <a:gd name="T39" fmla="*/ 728 h 2358"/>
                <a:gd name="T40" fmla="*/ 14 w 14"/>
                <a:gd name="T41" fmla="*/ 795 h 2358"/>
                <a:gd name="T42" fmla="*/ 0 w 14"/>
                <a:gd name="T43" fmla="*/ 809 h 2358"/>
                <a:gd name="T44" fmla="*/ 14 w 14"/>
                <a:gd name="T45" fmla="*/ 863 h 2358"/>
                <a:gd name="T46" fmla="*/ 0 w 14"/>
                <a:gd name="T47" fmla="*/ 903 h 2358"/>
                <a:gd name="T48" fmla="*/ 14 w 14"/>
                <a:gd name="T49" fmla="*/ 917 h 2358"/>
                <a:gd name="T50" fmla="*/ 14 w 14"/>
                <a:gd name="T51" fmla="*/ 984 h 2358"/>
                <a:gd name="T52" fmla="*/ 0 w 14"/>
                <a:gd name="T53" fmla="*/ 998 h 2358"/>
                <a:gd name="T54" fmla="*/ 14 w 14"/>
                <a:gd name="T55" fmla="*/ 1051 h 2358"/>
                <a:gd name="T56" fmla="*/ 0 w 14"/>
                <a:gd name="T57" fmla="*/ 1092 h 2358"/>
                <a:gd name="T58" fmla="*/ 14 w 14"/>
                <a:gd name="T59" fmla="*/ 1105 h 2358"/>
                <a:gd name="T60" fmla="*/ 14 w 14"/>
                <a:gd name="T61" fmla="*/ 1173 h 2358"/>
                <a:gd name="T62" fmla="*/ 0 w 14"/>
                <a:gd name="T63" fmla="*/ 1186 h 2358"/>
                <a:gd name="T64" fmla="*/ 14 w 14"/>
                <a:gd name="T65" fmla="*/ 1240 h 2358"/>
                <a:gd name="T66" fmla="*/ 0 w 14"/>
                <a:gd name="T67" fmla="*/ 1281 h 2358"/>
                <a:gd name="T68" fmla="*/ 14 w 14"/>
                <a:gd name="T69" fmla="*/ 1294 h 2358"/>
                <a:gd name="T70" fmla="*/ 14 w 14"/>
                <a:gd name="T71" fmla="*/ 1361 h 2358"/>
                <a:gd name="T72" fmla="*/ 0 w 14"/>
                <a:gd name="T73" fmla="*/ 1375 h 2358"/>
                <a:gd name="T74" fmla="*/ 14 w 14"/>
                <a:gd name="T75" fmla="*/ 1429 h 2358"/>
                <a:gd name="T76" fmla="*/ 0 w 14"/>
                <a:gd name="T77" fmla="*/ 1469 h 2358"/>
                <a:gd name="T78" fmla="*/ 14 w 14"/>
                <a:gd name="T79" fmla="*/ 1483 h 2358"/>
                <a:gd name="T80" fmla="*/ 14 w 14"/>
                <a:gd name="T81" fmla="*/ 1550 h 2358"/>
                <a:gd name="T82" fmla="*/ 0 w 14"/>
                <a:gd name="T83" fmla="*/ 1564 h 2358"/>
                <a:gd name="T84" fmla="*/ 14 w 14"/>
                <a:gd name="T85" fmla="*/ 1617 h 2358"/>
                <a:gd name="T86" fmla="*/ 0 w 14"/>
                <a:gd name="T87" fmla="*/ 1658 h 2358"/>
                <a:gd name="T88" fmla="*/ 14 w 14"/>
                <a:gd name="T89" fmla="*/ 1671 h 2358"/>
                <a:gd name="T90" fmla="*/ 14 w 14"/>
                <a:gd name="T91" fmla="*/ 1738 h 2358"/>
                <a:gd name="T92" fmla="*/ 0 w 14"/>
                <a:gd name="T93" fmla="*/ 1752 h 2358"/>
                <a:gd name="T94" fmla="*/ 14 w 14"/>
                <a:gd name="T95" fmla="*/ 1806 h 2358"/>
                <a:gd name="T96" fmla="*/ 0 w 14"/>
                <a:gd name="T97" fmla="*/ 1846 h 2358"/>
                <a:gd name="T98" fmla="*/ 14 w 14"/>
                <a:gd name="T99" fmla="*/ 1860 h 2358"/>
                <a:gd name="T100" fmla="*/ 14 w 14"/>
                <a:gd name="T101" fmla="*/ 1927 h 2358"/>
                <a:gd name="T102" fmla="*/ 0 w 14"/>
                <a:gd name="T103" fmla="*/ 1941 h 2358"/>
                <a:gd name="T104" fmla="*/ 14 w 14"/>
                <a:gd name="T105" fmla="*/ 1995 h 2358"/>
                <a:gd name="T106" fmla="*/ 0 w 14"/>
                <a:gd name="T107" fmla="*/ 2035 h 2358"/>
                <a:gd name="T108" fmla="*/ 14 w 14"/>
                <a:gd name="T109" fmla="*/ 2049 h 2358"/>
                <a:gd name="T110" fmla="*/ 14 w 14"/>
                <a:gd name="T111" fmla="*/ 2116 h 2358"/>
                <a:gd name="T112" fmla="*/ 0 w 14"/>
                <a:gd name="T113" fmla="*/ 2129 h 2358"/>
                <a:gd name="T114" fmla="*/ 14 w 14"/>
                <a:gd name="T115" fmla="*/ 2183 h 2358"/>
                <a:gd name="T116" fmla="*/ 0 w 14"/>
                <a:gd name="T117" fmla="*/ 2224 h 2358"/>
                <a:gd name="T118" fmla="*/ 14 w 14"/>
                <a:gd name="T119" fmla="*/ 2237 h 2358"/>
                <a:gd name="T120" fmla="*/ 14 w 14"/>
                <a:gd name="T121" fmla="*/ 2304 h 2358"/>
                <a:gd name="T122" fmla="*/ 0 w 14"/>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 h="2358">
                  <a:moveTo>
                    <a:pt x="14" y="0"/>
                  </a:moveTo>
                  <a:lnTo>
                    <a:pt x="14" y="14"/>
                  </a:lnTo>
                  <a:lnTo>
                    <a:pt x="0" y="14"/>
                  </a:lnTo>
                  <a:lnTo>
                    <a:pt x="0" y="0"/>
                  </a:lnTo>
                  <a:lnTo>
                    <a:pt x="14" y="0"/>
                  </a:lnTo>
                  <a:close/>
                  <a:moveTo>
                    <a:pt x="14" y="27"/>
                  </a:moveTo>
                  <a:lnTo>
                    <a:pt x="14" y="41"/>
                  </a:lnTo>
                  <a:lnTo>
                    <a:pt x="0" y="41"/>
                  </a:lnTo>
                  <a:lnTo>
                    <a:pt x="0" y="27"/>
                  </a:lnTo>
                  <a:lnTo>
                    <a:pt x="14" y="27"/>
                  </a:lnTo>
                  <a:close/>
                  <a:moveTo>
                    <a:pt x="14" y="54"/>
                  </a:moveTo>
                  <a:lnTo>
                    <a:pt x="14" y="68"/>
                  </a:lnTo>
                  <a:lnTo>
                    <a:pt x="0" y="68"/>
                  </a:lnTo>
                  <a:lnTo>
                    <a:pt x="0" y="54"/>
                  </a:lnTo>
                  <a:lnTo>
                    <a:pt x="14" y="54"/>
                  </a:lnTo>
                  <a:close/>
                  <a:moveTo>
                    <a:pt x="14" y="81"/>
                  </a:moveTo>
                  <a:lnTo>
                    <a:pt x="14" y="95"/>
                  </a:lnTo>
                  <a:lnTo>
                    <a:pt x="0" y="95"/>
                  </a:lnTo>
                  <a:lnTo>
                    <a:pt x="0" y="81"/>
                  </a:lnTo>
                  <a:lnTo>
                    <a:pt x="14" y="81"/>
                  </a:lnTo>
                  <a:close/>
                  <a:moveTo>
                    <a:pt x="14" y="108"/>
                  </a:moveTo>
                  <a:lnTo>
                    <a:pt x="14" y="121"/>
                  </a:lnTo>
                  <a:lnTo>
                    <a:pt x="0" y="121"/>
                  </a:lnTo>
                  <a:lnTo>
                    <a:pt x="0" y="108"/>
                  </a:lnTo>
                  <a:lnTo>
                    <a:pt x="14" y="108"/>
                  </a:lnTo>
                  <a:close/>
                  <a:moveTo>
                    <a:pt x="14" y="135"/>
                  </a:moveTo>
                  <a:lnTo>
                    <a:pt x="14" y="149"/>
                  </a:lnTo>
                  <a:lnTo>
                    <a:pt x="0" y="149"/>
                  </a:lnTo>
                  <a:lnTo>
                    <a:pt x="0" y="135"/>
                  </a:lnTo>
                  <a:lnTo>
                    <a:pt x="14" y="135"/>
                  </a:lnTo>
                  <a:close/>
                  <a:moveTo>
                    <a:pt x="14" y="162"/>
                  </a:moveTo>
                  <a:lnTo>
                    <a:pt x="14" y="175"/>
                  </a:lnTo>
                  <a:lnTo>
                    <a:pt x="0" y="175"/>
                  </a:lnTo>
                  <a:lnTo>
                    <a:pt x="0" y="162"/>
                  </a:lnTo>
                  <a:lnTo>
                    <a:pt x="14" y="162"/>
                  </a:lnTo>
                  <a:close/>
                  <a:moveTo>
                    <a:pt x="14" y="189"/>
                  </a:moveTo>
                  <a:lnTo>
                    <a:pt x="14" y="202"/>
                  </a:lnTo>
                  <a:lnTo>
                    <a:pt x="0" y="202"/>
                  </a:lnTo>
                  <a:lnTo>
                    <a:pt x="0" y="189"/>
                  </a:lnTo>
                  <a:lnTo>
                    <a:pt x="14" y="189"/>
                  </a:lnTo>
                  <a:close/>
                  <a:moveTo>
                    <a:pt x="14" y="216"/>
                  </a:moveTo>
                  <a:lnTo>
                    <a:pt x="14" y="229"/>
                  </a:lnTo>
                  <a:lnTo>
                    <a:pt x="0" y="229"/>
                  </a:lnTo>
                  <a:lnTo>
                    <a:pt x="0" y="216"/>
                  </a:lnTo>
                  <a:lnTo>
                    <a:pt x="14" y="216"/>
                  </a:lnTo>
                  <a:close/>
                  <a:moveTo>
                    <a:pt x="14" y="243"/>
                  </a:moveTo>
                  <a:lnTo>
                    <a:pt x="14" y="256"/>
                  </a:lnTo>
                  <a:lnTo>
                    <a:pt x="0" y="256"/>
                  </a:lnTo>
                  <a:lnTo>
                    <a:pt x="0" y="243"/>
                  </a:lnTo>
                  <a:lnTo>
                    <a:pt x="14" y="243"/>
                  </a:lnTo>
                  <a:close/>
                  <a:moveTo>
                    <a:pt x="14" y="270"/>
                  </a:moveTo>
                  <a:lnTo>
                    <a:pt x="14" y="283"/>
                  </a:lnTo>
                  <a:lnTo>
                    <a:pt x="0" y="283"/>
                  </a:lnTo>
                  <a:lnTo>
                    <a:pt x="0" y="270"/>
                  </a:lnTo>
                  <a:lnTo>
                    <a:pt x="14" y="270"/>
                  </a:lnTo>
                  <a:close/>
                  <a:moveTo>
                    <a:pt x="14" y="297"/>
                  </a:moveTo>
                  <a:lnTo>
                    <a:pt x="14" y="310"/>
                  </a:lnTo>
                  <a:lnTo>
                    <a:pt x="0" y="310"/>
                  </a:lnTo>
                  <a:lnTo>
                    <a:pt x="0" y="297"/>
                  </a:lnTo>
                  <a:lnTo>
                    <a:pt x="14" y="297"/>
                  </a:lnTo>
                  <a:close/>
                  <a:moveTo>
                    <a:pt x="14" y="324"/>
                  </a:moveTo>
                  <a:lnTo>
                    <a:pt x="14" y="337"/>
                  </a:lnTo>
                  <a:lnTo>
                    <a:pt x="0" y="337"/>
                  </a:lnTo>
                  <a:lnTo>
                    <a:pt x="0" y="324"/>
                  </a:lnTo>
                  <a:lnTo>
                    <a:pt x="14" y="324"/>
                  </a:lnTo>
                  <a:close/>
                  <a:moveTo>
                    <a:pt x="14" y="351"/>
                  </a:moveTo>
                  <a:lnTo>
                    <a:pt x="14" y="364"/>
                  </a:lnTo>
                  <a:lnTo>
                    <a:pt x="0" y="364"/>
                  </a:lnTo>
                  <a:lnTo>
                    <a:pt x="0" y="351"/>
                  </a:lnTo>
                  <a:lnTo>
                    <a:pt x="14" y="351"/>
                  </a:lnTo>
                  <a:close/>
                  <a:moveTo>
                    <a:pt x="14" y="378"/>
                  </a:moveTo>
                  <a:lnTo>
                    <a:pt x="14" y="391"/>
                  </a:lnTo>
                  <a:lnTo>
                    <a:pt x="0" y="391"/>
                  </a:lnTo>
                  <a:lnTo>
                    <a:pt x="0" y="378"/>
                  </a:lnTo>
                  <a:lnTo>
                    <a:pt x="14" y="378"/>
                  </a:lnTo>
                  <a:close/>
                  <a:moveTo>
                    <a:pt x="14" y="404"/>
                  </a:moveTo>
                  <a:lnTo>
                    <a:pt x="14" y="418"/>
                  </a:lnTo>
                  <a:lnTo>
                    <a:pt x="0" y="418"/>
                  </a:lnTo>
                  <a:lnTo>
                    <a:pt x="0" y="404"/>
                  </a:lnTo>
                  <a:lnTo>
                    <a:pt x="14" y="404"/>
                  </a:lnTo>
                  <a:close/>
                  <a:moveTo>
                    <a:pt x="14" y="432"/>
                  </a:moveTo>
                  <a:lnTo>
                    <a:pt x="14" y="445"/>
                  </a:lnTo>
                  <a:lnTo>
                    <a:pt x="0" y="445"/>
                  </a:lnTo>
                  <a:lnTo>
                    <a:pt x="0" y="432"/>
                  </a:lnTo>
                  <a:lnTo>
                    <a:pt x="14" y="432"/>
                  </a:lnTo>
                  <a:close/>
                  <a:moveTo>
                    <a:pt x="14" y="458"/>
                  </a:moveTo>
                  <a:lnTo>
                    <a:pt x="14" y="472"/>
                  </a:lnTo>
                  <a:lnTo>
                    <a:pt x="0" y="472"/>
                  </a:lnTo>
                  <a:lnTo>
                    <a:pt x="0" y="458"/>
                  </a:lnTo>
                  <a:lnTo>
                    <a:pt x="14" y="458"/>
                  </a:lnTo>
                  <a:close/>
                  <a:moveTo>
                    <a:pt x="14" y="485"/>
                  </a:moveTo>
                  <a:lnTo>
                    <a:pt x="14" y="499"/>
                  </a:lnTo>
                  <a:lnTo>
                    <a:pt x="0" y="499"/>
                  </a:lnTo>
                  <a:lnTo>
                    <a:pt x="0" y="485"/>
                  </a:lnTo>
                  <a:lnTo>
                    <a:pt x="14" y="485"/>
                  </a:lnTo>
                  <a:close/>
                  <a:moveTo>
                    <a:pt x="14" y="512"/>
                  </a:moveTo>
                  <a:lnTo>
                    <a:pt x="14" y="526"/>
                  </a:lnTo>
                  <a:lnTo>
                    <a:pt x="0" y="526"/>
                  </a:lnTo>
                  <a:lnTo>
                    <a:pt x="0" y="512"/>
                  </a:lnTo>
                  <a:lnTo>
                    <a:pt x="14" y="512"/>
                  </a:lnTo>
                  <a:close/>
                  <a:moveTo>
                    <a:pt x="14" y="539"/>
                  </a:moveTo>
                  <a:lnTo>
                    <a:pt x="14" y="553"/>
                  </a:lnTo>
                  <a:lnTo>
                    <a:pt x="0" y="553"/>
                  </a:lnTo>
                  <a:lnTo>
                    <a:pt x="0" y="539"/>
                  </a:lnTo>
                  <a:lnTo>
                    <a:pt x="14" y="539"/>
                  </a:lnTo>
                  <a:close/>
                  <a:moveTo>
                    <a:pt x="14" y="566"/>
                  </a:moveTo>
                  <a:lnTo>
                    <a:pt x="14" y="580"/>
                  </a:lnTo>
                  <a:lnTo>
                    <a:pt x="0" y="580"/>
                  </a:lnTo>
                  <a:lnTo>
                    <a:pt x="0" y="566"/>
                  </a:lnTo>
                  <a:lnTo>
                    <a:pt x="14" y="566"/>
                  </a:lnTo>
                  <a:close/>
                  <a:moveTo>
                    <a:pt x="14" y="593"/>
                  </a:moveTo>
                  <a:lnTo>
                    <a:pt x="14" y="607"/>
                  </a:lnTo>
                  <a:lnTo>
                    <a:pt x="0" y="607"/>
                  </a:lnTo>
                  <a:lnTo>
                    <a:pt x="0" y="593"/>
                  </a:lnTo>
                  <a:lnTo>
                    <a:pt x="14" y="593"/>
                  </a:lnTo>
                  <a:close/>
                  <a:moveTo>
                    <a:pt x="14" y="620"/>
                  </a:moveTo>
                  <a:lnTo>
                    <a:pt x="14" y="634"/>
                  </a:lnTo>
                  <a:lnTo>
                    <a:pt x="0" y="634"/>
                  </a:lnTo>
                  <a:lnTo>
                    <a:pt x="0" y="620"/>
                  </a:lnTo>
                  <a:lnTo>
                    <a:pt x="14" y="620"/>
                  </a:lnTo>
                  <a:close/>
                  <a:moveTo>
                    <a:pt x="14" y="647"/>
                  </a:moveTo>
                  <a:lnTo>
                    <a:pt x="14" y="661"/>
                  </a:lnTo>
                  <a:lnTo>
                    <a:pt x="0" y="661"/>
                  </a:lnTo>
                  <a:lnTo>
                    <a:pt x="0" y="647"/>
                  </a:lnTo>
                  <a:lnTo>
                    <a:pt x="14" y="647"/>
                  </a:lnTo>
                  <a:close/>
                  <a:moveTo>
                    <a:pt x="14" y="674"/>
                  </a:moveTo>
                  <a:lnTo>
                    <a:pt x="14" y="687"/>
                  </a:lnTo>
                  <a:lnTo>
                    <a:pt x="0" y="687"/>
                  </a:lnTo>
                  <a:lnTo>
                    <a:pt x="0" y="674"/>
                  </a:lnTo>
                  <a:lnTo>
                    <a:pt x="14" y="674"/>
                  </a:lnTo>
                  <a:close/>
                  <a:moveTo>
                    <a:pt x="14" y="701"/>
                  </a:moveTo>
                  <a:lnTo>
                    <a:pt x="14" y="715"/>
                  </a:lnTo>
                  <a:lnTo>
                    <a:pt x="0" y="715"/>
                  </a:lnTo>
                  <a:lnTo>
                    <a:pt x="0" y="701"/>
                  </a:lnTo>
                  <a:lnTo>
                    <a:pt x="14" y="701"/>
                  </a:lnTo>
                  <a:close/>
                  <a:moveTo>
                    <a:pt x="14" y="728"/>
                  </a:moveTo>
                  <a:lnTo>
                    <a:pt x="14" y="741"/>
                  </a:lnTo>
                  <a:lnTo>
                    <a:pt x="0" y="741"/>
                  </a:lnTo>
                  <a:lnTo>
                    <a:pt x="0" y="728"/>
                  </a:lnTo>
                  <a:lnTo>
                    <a:pt x="14" y="728"/>
                  </a:lnTo>
                  <a:close/>
                  <a:moveTo>
                    <a:pt x="14" y="755"/>
                  </a:moveTo>
                  <a:lnTo>
                    <a:pt x="14" y="768"/>
                  </a:lnTo>
                  <a:lnTo>
                    <a:pt x="0" y="768"/>
                  </a:lnTo>
                  <a:lnTo>
                    <a:pt x="0" y="755"/>
                  </a:lnTo>
                  <a:lnTo>
                    <a:pt x="14" y="755"/>
                  </a:lnTo>
                  <a:close/>
                  <a:moveTo>
                    <a:pt x="14" y="782"/>
                  </a:moveTo>
                  <a:lnTo>
                    <a:pt x="14" y="795"/>
                  </a:lnTo>
                  <a:lnTo>
                    <a:pt x="0" y="795"/>
                  </a:lnTo>
                  <a:lnTo>
                    <a:pt x="0" y="782"/>
                  </a:lnTo>
                  <a:lnTo>
                    <a:pt x="14" y="782"/>
                  </a:lnTo>
                  <a:close/>
                  <a:moveTo>
                    <a:pt x="14" y="809"/>
                  </a:moveTo>
                  <a:lnTo>
                    <a:pt x="14" y="822"/>
                  </a:lnTo>
                  <a:lnTo>
                    <a:pt x="0" y="822"/>
                  </a:lnTo>
                  <a:lnTo>
                    <a:pt x="0" y="809"/>
                  </a:lnTo>
                  <a:lnTo>
                    <a:pt x="14" y="809"/>
                  </a:lnTo>
                  <a:close/>
                  <a:moveTo>
                    <a:pt x="14" y="836"/>
                  </a:moveTo>
                  <a:lnTo>
                    <a:pt x="14" y="849"/>
                  </a:lnTo>
                  <a:lnTo>
                    <a:pt x="0" y="849"/>
                  </a:lnTo>
                  <a:lnTo>
                    <a:pt x="0" y="836"/>
                  </a:lnTo>
                  <a:lnTo>
                    <a:pt x="14" y="836"/>
                  </a:lnTo>
                  <a:close/>
                  <a:moveTo>
                    <a:pt x="14" y="863"/>
                  </a:moveTo>
                  <a:lnTo>
                    <a:pt x="14" y="876"/>
                  </a:lnTo>
                  <a:lnTo>
                    <a:pt x="0" y="876"/>
                  </a:lnTo>
                  <a:lnTo>
                    <a:pt x="0" y="863"/>
                  </a:lnTo>
                  <a:lnTo>
                    <a:pt x="14" y="863"/>
                  </a:lnTo>
                  <a:close/>
                  <a:moveTo>
                    <a:pt x="14" y="890"/>
                  </a:moveTo>
                  <a:lnTo>
                    <a:pt x="14" y="903"/>
                  </a:lnTo>
                  <a:lnTo>
                    <a:pt x="0" y="903"/>
                  </a:lnTo>
                  <a:lnTo>
                    <a:pt x="0" y="890"/>
                  </a:lnTo>
                  <a:lnTo>
                    <a:pt x="14" y="890"/>
                  </a:lnTo>
                  <a:close/>
                  <a:moveTo>
                    <a:pt x="14" y="917"/>
                  </a:moveTo>
                  <a:lnTo>
                    <a:pt x="14" y="930"/>
                  </a:lnTo>
                  <a:lnTo>
                    <a:pt x="0" y="930"/>
                  </a:lnTo>
                  <a:lnTo>
                    <a:pt x="0" y="917"/>
                  </a:lnTo>
                  <a:lnTo>
                    <a:pt x="14" y="917"/>
                  </a:lnTo>
                  <a:close/>
                  <a:moveTo>
                    <a:pt x="14" y="944"/>
                  </a:moveTo>
                  <a:lnTo>
                    <a:pt x="14" y="957"/>
                  </a:lnTo>
                  <a:lnTo>
                    <a:pt x="0" y="957"/>
                  </a:lnTo>
                  <a:lnTo>
                    <a:pt x="0" y="944"/>
                  </a:lnTo>
                  <a:lnTo>
                    <a:pt x="14" y="944"/>
                  </a:lnTo>
                  <a:close/>
                  <a:moveTo>
                    <a:pt x="14" y="970"/>
                  </a:moveTo>
                  <a:lnTo>
                    <a:pt x="14" y="984"/>
                  </a:lnTo>
                  <a:lnTo>
                    <a:pt x="0" y="984"/>
                  </a:lnTo>
                  <a:lnTo>
                    <a:pt x="0" y="970"/>
                  </a:lnTo>
                  <a:lnTo>
                    <a:pt x="14" y="970"/>
                  </a:lnTo>
                  <a:close/>
                  <a:moveTo>
                    <a:pt x="14" y="998"/>
                  </a:moveTo>
                  <a:lnTo>
                    <a:pt x="14" y="1011"/>
                  </a:lnTo>
                  <a:lnTo>
                    <a:pt x="0" y="1011"/>
                  </a:lnTo>
                  <a:lnTo>
                    <a:pt x="0" y="998"/>
                  </a:lnTo>
                  <a:lnTo>
                    <a:pt x="14" y="998"/>
                  </a:lnTo>
                  <a:close/>
                  <a:moveTo>
                    <a:pt x="14" y="1024"/>
                  </a:moveTo>
                  <a:lnTo>
                    <a:pt x="14" y="1038"/>
                  </a:lnTo>
                  <a:lnTo>
                    <a:pt x="0" y="1038"/>
                  </a:lnTo>
                  <a:lnTo>
                    <a:pt x="0" y="1024"/>
                  </a:lnTo>
                  <a:lnTo>
                    <a:pt x="14" y="1024"/>
                  </a:lnTo>
                  <a:close/>
                  <a:moveTo>
                    <a:pt x="14" y="1051"/>
                  </a:moveTo>
                  <a:lnTo>
                    <a:pt x="14" y="1065"/>
                  </a:lnTo>
                  <a:lnTo>
                    <a:pt x="0" y="1065"/>
                  </a:lnTo>
                  <a:lnTo>
                    <a:pt x="0" y="1051"/>
                  </a:lnTo>
                  <a:lnTo>
                    <a:pt x="14" y="1051"/>
                  </a:lnTo>
                  <a:close/>
                  <a:moveTo>
                    <a:pt x="14" y="1078"/>
                  </a:moveTo>
                  <a:lnTo>
                    <a:pt x="14" y="1092"/>
                  </a:lnTo>
                  <a:lnTo>
                    <a:pt x="0" y="1092"/>
                  </a:lnTo>
                  <a:lnTo>
                    <a:pt x="0" y="1078"/>
                  </a:lnTo>
                  <a:lnTo>
                    <a:pt x="14" y="1078"/>
                  </a:lnTo>
                  <a:close/>
                  <a:moveTo>
                    <a:pt x="14" y="1105"/>
                  </a:moveTo>
                  <a:lnTo>
                    <a:pt x="14" y="1119"/>
                  </a:lnTo>
                  <a:lnTo>
                    <a:pt x="0" y="1119"/>
                  </a:lnTo>
                  <a:lnTo>
                    <a:pt x="0" y="1105"/>
                  </a:lnTo>
                  <a:lnTo>
                    <a:pt x="14" y="1105"/>
                  </a:lnTo>
                  <a:close/>
                  <a:moveTo>
                    <a:pt x="14" y="1132"/>
                  </a:moveTo>
                  <a:lnTo>
                    <a:pt x="14" y="1146"/>
                  </a:lnTo>
                  <a:lnTo>
                    <a:pt x="0" y="1146"/>
                  </a:lnTo>
                  <a:lnTo>
                    <a:pt x="0" y="1132"/>
                  </a:lnTo>
                  <a:lnTo>
                    <a:pt x="14" y="1132"/>
                  </a:lnTo>
                  <a:close/>
                  <a:moveTo>
                    <a:pt x="14" y="1159"/>
                  </a:moveTo>
                  <a:lnTo>
                    <a:pt x="14" y="1173"/>
                  </a:lnTo>
                  <a:lnTo>
                    <a:pt x="0" y="1173"/>
                  </a:lnTo>
                  <a:lnTo>
                    <a:pt x="0" y="1159"/>
                  </a:lnTo>
                  <a:lnTo>
                    <a:pt x="14" y="1159"/>
                  </a:lnTo>
                  <a:close/>
                  <a:moveTo>
                    <a:pt x="14" y="1186"/>
                  </a:moveTo>
                  <a:lnTo>
                    <a:pt x="14" y="1200"/>
                  </a:lnTo>
                  <a:lnTo>
                    <a:pt x="0" y="1200"/>
                  </a:lnTo>
                  <a:lnTo>
                    <a:pt x="0" y="1186"/>
                  </a:lnTo>
                  <a:lnTo>
                    <a:pt x="14" y="1186"/>
                  </a:lnTo>
                  <a:close/>
                  <a:moveTo>
                    <a:pt x="14" y="1213"/>
                  </a:moveTo>
                  <a:lnTo>
                    <a:pt x="14" y="1227"/>
                  </a:lnTo>
                  <a:lnTo>
                    <a:pt x="0" y="1227"/>
                  </a:lnTo>
                  <a:lnTo>
                    <a:pt x="0" y="1213"/>
                  </a:lnTo>
                  <a:lnTo>
                    <a:pt x="14" y="1213"/>
                  </a:lnTo>
                  <a:close/>
                  <a:moveTo>
                    <a:pt x="14" y="1240"/>
                  </a:moveTo>
                  <a:lnTo>
                    <a:pt x="14" y="1253"/>
                  </a:lnTo>
                  <a:lnTo>
                    <a:pt x="0" y="1253"/>
                  </a:lnTo>
                  <a:lnTo>
                    <a:pt x="0" y="1240"/>
                  </a:lnTo>
                  <a:lnTo>
                    <a:pt x="14" y="1240"/>
                  </a:lnTo>
                  <a:close/>
                  <a:moveTo>
                    <a:pt x="14" y="1267"/>
                  </a:moveTo>
                  <a:lnTo>
                    <a:pt x="14" y="1281"/>
                  </a:lnTo>
                  <a:lnTo>
                    <a:pt x="0" y="1281"/>
                  </a:lnTo>
                  <a:lnTo>
                    <a:pt x="0" y="1267"/>
                  </a:lnTo>
                  <a:lnTo>
                    <a:pt x="14" y="1267"/>
                  </a:lnTo>
                  <a:close/>
                  <a:moveTo>
                    <a:pt x="14" y="1294"/>
                  </a:moveTo>
                  <a:lnTo>
                    <a:pt x="14" y="1307"/>
                  </a:lnTo>
                  <a:lnTo>
                    <a:pt x="0" y="1307"/>
                  </a:lnTo>
                  <a:lnTo>
                    <a:pt x="0" y="1294"/>
                  </a:lnTo>
                  <a:lnTo>
                    <a:pt x="14" y="1294"/>
                  </a:lnTo>
                  <a:close/>
                  <a:moveTo>
                    <a:pt x="14" y="1321"/>
                  </a:moveTo>
                  <a:lnTo>
                    <a:pt x="14" y="1334"/>
                  </a:lnTo>
                  <a:lnTo>
                    <a:pt x="0" y="1334"/>
                  </a:lnTo>
                  <a:lnTo>
                    <a:pt x="0" y="1321"/>
                  </a:lnTo>
                  <a:lnTo>
                    <a:pt x="14" y="1321"/>
                  </a:lnTo>
                  <a:close/>
                  <a:moveTo>
                    <a:pt x="14" y="1348"/>
                  </a:moveTo>
                  <a:lnTo>
                    <a:pt x="14" y="1361"/>
                  </a:lnTo>
                  <a:lnTo>
                    <a:pt x="0" y="1361"/>
                  </a:lnTo>
                  <a:lnTo>
                    <a:pt x="0" y="1348"/>
                  </a:lnTo>
                  <a:lnTo>
                    <a:pt x="14" y="1348"/>
                  </a:lnTo>
                  <a:close/>
                  <a:moveTo>
                    <a:pt x="14" y="1375"/>
                  </a:moveTo>
                  <a:lnTo>
                    <a:pt x="14" y="1388"/>
                  </a:lnTo>
                  <a:lnTo>
                    <a:pt x="0" y="1388"/>
                  </a:lnTo>
                  <a:lnTo>
                    <a:pt x="0" y="1375"/>
                  </a:lnTo>
                  <a:lnTo>
                    <a:pt x="14" y="1375"/>
                  </a:lnTo>
                  <a:close/>
                  <a:moveTo>
                    <a:pt x="14" y="1402"/>
                  </a:moveTo>
                  <a:lnTo>
                    <a:pt x="14" y="1415"/>
                  </a:lnTo>
                  <a:lnTo>
                    <a:pt x="0" y="1415"/>
                  </a:lnTo>
                  <a:lnTo>
                    <a:pt x="0" y="1402"/>
                  </a:lnTo>
                  <a:lnTo>
                    <a:pt x="14" y="1402"/>
                  </a:lnTo>
                  <a:close/>
                  <a:moveTo>
                    <a:pt x="14" y="1429"/>
                  </a:moveTo>
                  <a:lnTo>
                    <a:pt x="14" y="1442"/>
                  </a:lnTo>
                  <a:lnTo>
                    <a:pt x="0" y="1442"/>
                  </a:lnTo>
                  <a:lnTo>
                    <a:pt x="0" y="1429"/>
                  </a:lnTo>
                  <a:lnTo>
                    <a:pt x="14" y="1429"/>
                  </a:lnTo>
                  <a:close/>
                  <a:moveTo>
                    <a:pt x="14" y="1455"/>
                  </a:moveTo>
                  <a:lnTo>
                    <a:pt x="14" y="1469"/>
                  </a:lnTo>
                  <a:lnTo>
                    <a:pt x="0" y="1469"/>
                  </a:lnTo>
                  <a:lnTo>
                    <a:pt x="0" y="1455"/>
                  </a:lnTo>
                  <a:lnTo>
                    <a:pt x="14" y="1455"/>
                  </a:lnTo>
                  <a:close/>
                  <a:moveTo>
                    <a:pt x="14" y="1483"/>
                  </a:moveTo>
                  <a:lnTo>
                    <a:pt x="14" y="1496"/>
                  </a:lnTo>
                  <a:lnTo>
                    <a:pt x="0" y="1496"/>
                  </a:lnTo>
                  <a:lnTo>
                    <a:pt x="0" y="1483"/>
                  </a:lnTo>
                  <a:lnTo>
                    <a:pt x="14" y="1483"/>
                  </a:lnTo>
                  <a:close/>
                  <a:moveTo>
                    <a:pt x="14" y="1510"/>
                  </a:moveTo>
                  <a:lnTo>
                    <a:pt x="14" y="1523"/>
                  </a:lnTo>
                  <a:lnTo>
                    <a:pt x="0" y="1523"/>
                  </a:lnTo>
                  <a:lnTo>
                    <a:pt x="0" y="1510"/>
                  </a:lnTo>
                  <a:lnTo>
                    <a:pt x="14" y="1510"/>
                  </a:lnTo>
                  <a:close/>
                  <a:moveTo>
                    <a:pt x="14" y="1536"/>
                  </a:moveTo>
                  <a:lnTo>
                    <a:pt x="14" y="1550"/>
                  </a:lnTo>
                  <a:lnTo>
                    <a:pt x="0" y="1550"/>
                  </a:lnTo>
                  <a:lnTo>
                    <a:pt x="0" y="1536"/>
                  </a:lnTo>
                  <a:lnTo>
                    <a:pt x="14" y="1536"/>
                  </a:lnTo>
                  <a:close/>
                  <a:moveTo>
                    <a:pt x="14" y="1564"/>
                  </a:moveTo>
                  <a:lnTo>
                    <a:pt x="14" y="1577"/>
                  </a:lnTo>
                  <a:lnTo>
                    <a:pt x="0" y="1577"/>
                  </a:lnTo>
                  <a:lnTo>
                    <a:pt x="0" y="1564"/>
                  </a:lnTo>
                  <a:lnTo>
                    <a:pt x="14" y="1564"/>
                  </a:lnTo>
                  <a:close/>
                  <a:moveTo>
                    <a:pt x="14" y="1590"/>
                  </a:moveTo>
                  <a:lnTo>
                    <a:pt x="14" y="1604"/>
                  </a:lnTo>
                  <a:lnTo>
                    <a:pt x="0" y="1604"/>
                  </a:lnTo>
                  <a:lnTo>
                    <a:pt x="0" y="1590"/>
                  </a:lnTo>
                  <a:lnTo>
                    <a:pt x="14" y="1590"/>
                  </a:lnTo>
                  <a:close/>
                  <a:moveTo>
                    <a:pt x="14" y="1617"/>
                  </a:moveTo>
                  <a:lnTo>
                    <a:pt x="14" y="1631"/>
                  </a:lnTo>
                  <a:lnTo>
                    <a:pt x="0" y="1631"/>
                  </a:lnTo>
                  <a:lnTo>
                    <a:pt x="0" y="1617"/>
                  </a:lnTo>
                  <a:lnTo>
                    <a:pt x="14" y="1617"/>
                  </a:lnTo>
                  <a:close/>
                  <a:moveTo>
                    <a:pt x="14" y="1644"/>
                  </a:moveTo>
                  <a:lnTo>
                    <a:pt x="14" y="1658"/>
                  </a:lnTo>
                  <a:lnTo>
                    <a:pt x="0" y="1658"/>
                  </a:lnTo>
                  <a:lnTo>
                    <a:pt x="0" y="1644"/>
                  </a:lnTo>
                  <a:lnTo>
                    <a:pt x="14" y="1644"/>
                  </a:lnTo>
                  <a:close/>
                  <a:moveTo>
                    <a:pt x="14" y="1671"/>
                  </a:moveTo>
                  <a:lnTo>
                    <a:pt x="14" y="1685"/>
                  </a:lnTo>
                  <a:lnTo>
                    <a:pt x="0" y="1685"/>
                  </a:lnTo>
                  <a:lnTo>
                    <a:pt x="0" y="1671"/>
                  </a:lnTo>
                  <a:lnTo>
                    <a:pt x="14" y="1671"/>
                  </a:lnTo>
                  <a:close/>
                  <a:moveTo>
                    <a:pt x="14" y="1698"/>
                  </a:moveTo>
                  <a:lnTo>
                    <a:pt x="14" y="1712"/>
                  </a:lnTo>
                  <a:lnTo>
                    <a:pt x="0" y="1712"/>
                  </a:lnTo>
                  <a:lnTo>
                    <a:pt x="0" y="1698"/>
                  </a:lnTo>
                  <a:lnTo>
                    <a:pt x="14" y="1698"/>
                  </a:lnTo>
                  <a:close/>
                  <a:moveTo>
                    <a:pt x="14" y="1725"/>
                  </a:moveTo>
                  <a:lnTo>
                    <a:pt x="14" y="1738"/>
                  </a:lnTo>
                  <a:lnTo>
                    <a:pt x="0" y="1738"/>
                  </a:lnTo>
                  <a:lnTo>
                    <a:pt x="0" y="1725"/>
                  </a:lnTo>
                  <a:lnTo>
                    <a:pt x="14" y="1725"/>
                  </a:lnTo>
                  <a:close/>
                  <a:moveTo>
                    <a:pt x="14" y="1752"/>
                  </a:moveTo>
                  <a:lnTo>
                    <a:pt x="14" y="1766"/>
                  </a:lnTo>
                  <a:lnTo>
                    <a:pt x="0" y="1766"/>
                  </a:lnTo>
                  <a:lnTo>
                    <a:pt x="0" y="1752"/>
                  </a:lnTo>
                  <a:lnTo>
                    <a:pt x="14" y="1752"/>
                  </a:lnTo>
                  <a:close/>
                  <a:moveTo>
                    <a:pt x="14" y="1779"/>
                  </a:moveTo>
                  <a:lnTo>
                    <a:pt x="14" y="1792"/>
                  </a:lnTo>
                  <a:lnTo>
                    <a:pt x="0" y="1792"/>
                  </a:lnTo>
                  <a:lnTo>
                    <a:pt x="0" y="1779"/>
                  </a:lnTo>
                  <a:lnTo>
                    <a:pt x="14" y="1779"/>
                  </a:lnTo>
                  <a:close/>
                  <a:moveTo>
                    <a:pt x="14" y="1806"/>
                  </a:moveTo>
                  <a:lnTo>
                    <a:pt x="14" y="1819"/>
                  </a:lnTo>
                  <a:lnTo>
                    <a:pt x="0" y="1819"/>
                  </a:lnTo>
                  <a:lnTo>
                    <a:pt x="0" y="1806"/>
                  </a:lnTo>
                  <a:lnTo>
                    <a:pt x="14" y="1806"/>
                  </a:lnTo>
                  <a:close/>
                  <a:moveTo>
                    <a:pt x="14" y="1833"/>
                  </a:moveTo>
                  <a:lnTo>
                    <a:pt x="14" y="1846"/>
                  </a:lnTo>
                  <a:lnTo>
                    <a:pt x="0" y="1846"/>
                  </a:lnTo>
                  <a:lnTo>
                    <a:pt x="0" y="1833"/>
                  </a:lnTo>
                  <a:lnTo>
                    <a:pt x="14" y="1833"/>
                  </a:lnTo>
                  <a:close/>
                  <a:moveTo>
                    <a:pt x="14" y="1860"/>
                  </a:moveTo>
                  <a:lnTo>
                    <a:pt x="14" y="1873"/>
                  </a:lnTo>
                  <a:lnTo>
                    <a:pt x="0" y="1873"/>
                  </a:lnTo>
                  <a:lnTo>
                    <a:pt x="0" y="1860"/>
                  </a:lnTo>
                  <a:lnTo>
                    <a:pt x="14" y="1860"/>
                  </a:lnTo>
                  <a:close/>
                  <a:moveTo>
                    <a:pt x="14" y="1887"/>
                  </a:moveTo>
                  <a:lnTo>
                    <a:pt x="14" y="1900"/>
                  </a:lnTo>
                  <a:lnTo>
                    <a:pt x="0" y="1900"/>
                  </a:lnTo>
                  <a:lnTo>
                    <a:pt x="0" y="1887"/>
                  </a:lnTo>
                  <a:lnTo>
                    <a:pt x="14" y="1887"/>
                  </a:lnTo>
                  <a:close/>
                  <a:moveTo>
                    <a:pt x="14" y="1914"/>
                  </a:moveTo>
                  <a:lnTo>
                    <a:pt x="14" y="1927"/>
                  </a:lnTo>
                  <a:lnTo>
                    <a:pt x="0" y="1927"/>
                  </a:lnTo>
                  <a:lnTo>
                    <a:pt x="0" y="1914"/>
                  </a:lnTo>
                  <a:lnTo>
                    <a:pt x="14" y="1914"/>
                  </a:lnTo>
                  <a:close/>
                  <a:moveTo>
                    <a:pt x="14" y="1941"/>
                  </a:moveTo>
                  <a:lnTo>
                    <a:pt x="14" y="1954"/>
                  </a:lnTo>
                  <a:lnTo>
                    <a:pt x="0" y="1954"/>
                  </a:lnTo>
                  <a:lnTo>
                    <a:pt x="0" y="1941"/>
                  </a:lnTo>
                  <a:lnTo>
                    <a:pt x="14" y="1941"/>
                  </a:lnTo>
                  <a:close/>
                  <a:moveTo>
                    <a:pt x="14" y="1968"/>
                  </a:moveTo>
                  <a:lnTo>
                    <a:pt x="14" y="1981"/>
                  </a:lnTo>
                  <a:lnTo>
                    <a:pt x="0" y="1981"/>
                  </a:lnTo>
                  <a:lnTo>
                    <a:pt x="0" y="1968"/>
                  </a:lnTo>
                  <a:lnTo>
                    <a:pt x="14" y="1968"/>
                  </a:lnTo>
                  <a:close/>
                  <a:moveTo>
                    <a:pt x="14" y="1995"/>
                  </a:moveTo>
                  <a:lnTo>
                    <a:pt x="14" y="2008"/>
                  </a:lnTo>
                  <a:lnTo>
                    <a:pt x="0" y="2008"/>
                  </a:lnTo>
                  <a:lnTo>
                    <a:pt x="0" y="1995"/>
                  </a:lnTo>
                  <a:lnTo>
                    <a:pt x="14" y="1995"/>
                  </a:lnTo>
                  <a:close/>
                  <a:moveTo>
                    <a:pt x="14" y="2021"/>
                  </a:moveTo>
                  <a:lnTo>
                    <a:pt x="14" y="2035"/>
                  </a:lnTo>
                  <a:lnTo>
                    <a:pt x="0" y="2035"/>
                  </a:lnTo>
                  <a:lnTo>
                    <a:pt x="0" y="2021"/>
                  </a:lnTo>
                  <a:lnTo>
                    <a:pt x="14" y="2021"/>
                  </a:lnTo>
                  <a:close/>
                  <a:moveTo>
                    <a:pt x="14" y="2049"/>
                  </a:moveTo>
                  <a:lnTo>
                    <a:pt x="14" y="2062"/>
                  </a:lnTo>
                  <a:lnTo>
                    <a:pt x="0" y="2062"/>
                  </a:lnTo>
                  <a:lnTo>
                    <a:pt x="0" y="2049"/>
                  </a:lnTo>
                  <a:lnTo>
                    <a:pt x="14" y="2049"/>
                  </a:lnTo>
                  <a:close/>
                  <a:moveTo>
                    <a:pt x="14" y="2075"/>
                  </a:moveTo>
                  <a:lnTo>
                    <a:pt x="14" y="2089"/>
                  </a:lnTo>
                  <a:lnTo>
                    <a:pt x="0" y="2089"/>
                  </a:lnTo>
                  <a:lnTo>
                    <a:pt x="0" y="2075"/>
                  </a:lnTo>
                  <a:lnTo>
                    <a:pt x="14" y="2075"/>
                  </a:lnTo>
                  <a:close/>
                  <a:moveTo>
                    <a:pt x="14" y="2102"/>
                  </a:moveTo>
                  <a:lnTo>
                    <a:pt x="14" y="2116"/>
                  </a:lnTo>
                  <a:lnTo>
                    <a:pt x="0" y="2116"/>
                  </a:lnTo>
                  <a:lnTo>
                    <a:pt x="0" y="2102"/>
                  </a:lnTo>
                  <a:lnTo>
                    <a:pt x="14" y="2102"/>
                  </a:lnTo>
                  <a:close/>
                  <a:moveTo>
                    <a:pt x="14" y="2129"/>
                  </a:moveTo>
                  <a:lnTo>
                    <a:pt x="14" y="2143"/>
                  </a:lnTo>
                  <a:lnTo>
                    <a:pt x="0" y="2143"/>
                  </a:lnTo>
                  <a:lnTo>
                    <a:pt x="0" y="2129"/>
                  </a:lnTo>
                  <a:lnTo>
                    <a:pt x="14" y="2129"/>
                  </a:lnTo>
                  <a:close/>
                  <a:moveTo>
                    <a:pt x="14" y="2156"/>
                  </a:moveTo>
                  <a:lnTo>
                    <a:pt x="14" y="2170"/>
                  </a:lnTo>
                  <a:lnTo>
                    <a:pt x="0" y="2170"/>
                  </a:lnTo>
                  <a:lnTo>
                    <a:pt x="0" y="2156"/>
                  </a:lnTo>
                  <a:lnTo>
                    <a:pt x="14" y="2156"/>
                  </a:lnTo>
                  <a:close/>
                  <a:moveTo>
                    <a:pt x="14" y="2183"/>
                  </a:moveTo>
                  <a:lnTo>
                    <a:pt x="14" y="2197"/>
                  </a:lnTo>
                  <a:lnTo>
                    <a:pt x="0" y="2197"/>
                  </a:lnTo>
                  <a:lnTo>
                    <a:pt x="0" y="2183"/>
                  </a:lnTo>
                  <a:lnTo>
                    <a:pt x="14" y="2183"/>
                  </a:lnTo>
                  <a:close/>
                  <a:moveTo>
                    <a:pt x="14" y="2210"/>
                  </a:moveTo>
                  <a:lnTo>
                    <a:pt x="14" y="2224"/>
                  </a:lnTo>
                  <a:lnTo>
                    <a:pt x="0" y="2224"/>
                  </a:lnTo>
                  <a:lnTo>
                    <a:pt x="0" y="2210"/>
                  </a:lnTo>
                  <a:lnTo>
                    <a:pt x="14" y="2210"/>
                  </a:lnTo>
                  <a:close/>
                  <a:moveTo>
                    <a:pt x="14" y="2237"/>
                  </a:moveTo>
                  <a:lnTo>
                    <a:pt x="14" y="2251"/>
                  </a:lnTo>
                  <a:lnTo>
                    <a:pt x="0" y="2251"/>
                  </a:lnTo>
                  <a:lnTo>
                    <a:pt x="0" y="2237"/>
                  </a:lnTo>
                  <a:lnTo>
                    <a:pt x="14" y="2237"/>
                  </a:lnTo>
                  <a:close/>
                  <a:moveTo>
                    <a:pt x="14" y="2264"/>
                  </a:moveTo>
                  <a:lnTo>
                    <a:pt x="14" y="2278"/>
                  </a:lnTo>
                  <a:lnTo>
                    <a:pt x="0" y="2278"/>
                  </a:lnTo>
                  <a:lnTo>
                    <a:pt x="0" y="2264"/>
                  </a:lnTo>
                  <a:lnTo>
                    <a:pt x="14" y="2264"/>
                  </a:lnTo>
                  <a:close/>
                  <a:moveTo>
                    <a:pt x="14" y="2291"/>
                  </a:moveTo>
                  <a:lnTo>
                    <a:pt x="14" y="2304"/>
                  </a:lnTo>
                  <a:lnTo>
                    <a:pt x="0" y="2304"/>
                  </a:lnTo>
                  <a:lnTo>
                    <a:pt x="0" y="2291"/>
                  </a:lnTo>
                  <a:lnTo>
                    <a:pt x="14" y="2291"/>
                  </a:lnTo>
                  <a:close/>
                  <a:moveTo>
                    <a:pt x="14" y="2318"/>
                  </a:moveTo>
                  <a:lnTo>
                    <a:pt x="14" y="2332"/>
                  </a:lnTo>
                  <a:lnTo>
                    <a:pt x="0" y="2332"/>
                  </a:lnTo>
                  <a:lnTo>
                    <a:pt x="0" y="2318"/>
                  </a:lnTo>
                  <a:lnTo>
                    <a:pt x="14" y="2318"/>
                  </a:lnTo>
                  <a:close/>
                  <a:moveTo>
                    <a:pt x="14" y="2345"/>
                  </a:moveTo>
                  <a:lnTo>
                    <a:pt x="14" y="2358"/>
                  </a:lnTo>
                  <a:lnTo>
                    <a:pt x="0" y="2358"/>
                  </a:lnTo>
                  <a:lnTo>
                    <a:pt x="0" y="2345"/>
                  </a:lnTo>
                  <a:lnTo>
                    <a:pt x="14"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97" name="Freeform 93">
              <a:extLst>
                <a:ext uri="{FF2B5EF4-FFF2-40B4-BE49-F238E27FC236}">
                  <a16:creationId xmlns:a16="http://schemas.microsoft.com/office/drawing/2014/main" id="{4D960EE1-FFDD-4BF6-BD2D-2D1DCE82F52E}"/>
                </a:ext>
              </a:extLst>
            </p:cNvPr>
            <p:cNvSpPr>
              <a:spLocks noEditPoints="1"/>
            </p:cNvSpPr>
            <p:nvPr/>
          </p:nvSpPr>
          <p:spPr bwMode="auto">
            <a:xfrm>
              <a:off x="6415484" y="2655977"/>
              <a:ext cx="20668" cy="3748911"/>
            </a:xfrm>
            <a:custGeom>
              <a:avLst/>
              <a:gdLst>
                <a:gd name="T0" fmla="*/ 13 w 13"/>
                <a:gd name="T1" fmla="*/ 41 h 2358"/>
                <a:gd name="T2" fmla="*/ 0 w 13"/>
                <a:gd name="T3" fmla="*/ 54 h 2358"/>
                <a:gd name="T4" fmla="*/ 13 w 13"/>
                <a:gd name="T5" fmla="*/ 108 h 2358"/>
                <a:gd name="T6" fmla="*/ 0 w 13"/>
                <a:gd name="T7" fmla="*/ 149 h 2358"/>
                <a:gd name="T8" fmla="*/ 13 w 13"/>
                <a:gd name="T9" fmla="*/ 162 h 2358"/>
                <a:gd name="T10" fmla="*/ 13 w 13"/>
                <a:gd name="T11" fmla="*/ 229 h 2358"/>
                <a:gd name="T12" fmla="*/ 0 w 13"/>
                <a:gd name="T13" fmla="*/ 243 h 2358"/>
                <a:gd name="T14" fmla="*/ 13 w 13"/>
                <a:gd name="T15" fmla="*/ 297 h 2358"/>
                <a:gd name="T16" fmla="*/ 0 w 13"/>
                <a:gd name="T17" fmla="*/ 337 h 2358"/>
                <a:gd name="T18" fmla="*/ 13 w 13"/>
                <a:gd name="T19" fmla="*/ 351 h 2358"/>
                <a:gd name="T20" fmla="*/ 13 w 13"/>
                <a:gd name="T21" fmla="*/ 418 h 2358"/>
                <a:gd name="T22" fmla="*/ 0 w 13"/>
                <a:gd name="T23" fmla="*/ 432 h 2358"/>
                <a:gd name="T24" fmla="*/ 13 w 13"/>
                <a:gd name="T25" fmla="*/ 485 h 2358"/>
                <a:gd name="T26" fmla="*/ 0 w 13"/>
                <a:gd name="T27" fmla="*/ 526 h 2358"/>
                <a:gd name="T28" fmla="*/ 13 w 13"/>
                <a:gd name="T29" fmla="*/ 539 h 2358"/>
                <a:gd name="T30" fmla="*/ 13 w 13"/>
                <a:gd name="T31" fmla="*/ 607 h 2358"/>
                <a:gd name="T32" fmla="*/ 0 w 13"/>
                <a:gd name="T33" fmla="*/ 620 h 2358"/>
                <a:gd name="T34" fmla="*/ 13 w 13"/>
                <a:gd name="T35" fmla="*/ 674 h 2358"/>
                <a:gd name="T36" fmla="*/ 0 w 13"/>
                <a:gd name="T37" fmla="*/ 715 h 2358"/>
                <a:gd name="T38" fmla="*/ 13 w 13"/>
                <a:gd name="T39" fmla="*/ 728 h 2358"/>
                <a:gd name="T40" fmla="*/ 13 w 13"/>
                <a:gd name="T41" fmla="*/ 795 h 2358"/>
                <a:gd name="T42" fmla="*/ 0 w 13"/>
                <a:gd name="T43" fmla="*/ 809 h 2358"/>
                <a:gd name="T44" fmla="*/ 13 w 13"/>
                <a:gd name="T45" fmla="*/ 863 h 2358"/>
                <a:gd name="T46" fmla="*/ 0 w 13"/>
                <a:gd name="T47" fmla="*/ 903 h 2358"/>
                <a:gd name="T48" fmla="*/ 13 w 13"/>
                <a:gd name="T49" fmla="*/ 917 h 2358"/>
                <a:gd name="T50" fmla="*/ 13 w 13"/>
                <a:gd name="T51" fmla="*/ 984 h 2358"/>
                <a:gd name="T52" fmla="*/ 0 w 13"/>
                <a:gd name="T53" fmla="*/ 998 h 2358"/>
                <a:gd name="T54" fmla="*/ 13 w 13"/>
                <a:gd name="T55" fmla="*/ 1051 h 2358"/>
                <a:gd name="T56" fmla="*/ 0 w 13"/>
                <a:gd name="T57" fmla="*/ 1092 h 2358"/>
                <a:gd name="T58" fmla="*/ 13 w 13"/>
                <a:gd name="T59" fmla="*/ 1105 h 2358"/>
                <a:gd name="T60" fmla="*/ 13 w 13"/>
                <a:gd name="T61" fmla="*/ 1173 h 2358"/>
                <a:gd name="T62" fmla="*/ 0 w 13"/>
                <a:gd name="T63" fmla="*/ 1186 h 2358"/>
                <a:gd name="T64" fmla="*/ 13 w 13"/>
                <a:gd name="T65" fmla="*/ 1240 h 2358"/>
                <a:gd name="T66" fmla="*/ 0 w 13"/>
                <a:gd name="T67" fmla="*/ 1281 h 2358"/>
                <a:gd name="T68" fmla="*/ 13 w 13"/>
                <a:gd name="T69" fmla="*/ 1294 h 2358"/>
                <a:gd name="T70" fmla="*/ 13 w 13"/>
                <a:gd name="T71" fmla="*/ 1361 h 2358"/>
                <a:gd name="T72" fmla="*/ 0 w 13"/>
                <a:gd name="T73" fmla="*/ 1375 h 2358"/>
                <a:gd name="T74" fmla="*/ 13 w 13"/>
                <a:gd name="T75" fmla="*/ 1429 h 2358"/>
                <a:gd name="T76" fmla="*/ 0 w 13"/>
                <a:gd name="T77" fmla="*/ 1469 h 2358"/>
                <a:gd name="T78" fmla="*/ 13 w 13"/>
                <a:gd name="T79" fmla="*/ 1483 h 2358"/>
                <a:gd name="T80" fmla="*/ 13 w 13"/>
                <a:gd name="T81" fmla="*/ 1550 h 2358"/>
                <a:gd name="T82" fmla="*/ 0 w 13"/>
                <a:gd name="T83" fmla="*/ 1564 h 2358"/>
                <a:gd name="T84" fmla="*/ 13 w 13"/>
                <a:gd name="T85" fmla="*/ 1617 h 2358"/>
                <a:gd name="T86" fmla="*/ 0 w 13"/>
                <a:gd name="T87" fmla="*/ 1658 h 2358"/>
                <a:gd name="T88" fmla="*/ 13 w 13"/>
                <a:gd name="T89" fmla="*/ 1671 h 2358"/>
                <a:gd name="T90" fmla="*/ 13 w 13"/>
                <a:gd name="T91" fmla="*/ 1738 h 2358"/>
                <a:gd name="T92" fmla="*/ 0 w 13"/>
                <a:gd name="T93" fmla="*/ 1752 h 2358"/>
                <a:gd name="T94" fmla="*/ 13 w 13"/>
                <a:gd name="T95" fmla="*/ 1806 h 2358"/>
                <a:gd name="T96" fmla="*/ 0 w 13"/>
                <a:gd name="T97" fmla="*/ 1846 h 2358"/>
                <a:gd name="T98" fmla="*/ 13 w 13"/>
                <a:gd name="T99" fmla="*/ 1860 h 2358"/>
                <a:gd name="T100" fmla="*/ 13 w 13"/>
                <a:gd name="T101" fmla="*/ 1927 h 2358"/>
                <a:gd name="T102" fmla="*/ 0 w 13"/>
                <a:gd name="T103" fmla="*/ 1941 h 2358"/>
                <a:gd name="T104" fmla="*/ 13 w 13"/>
                <a:gd name="T105" fmla="*/ 1995 h 2358"/>
                <a:gd name="T106" fmla="*/ 0 w 13"/>
                <a:gd name="T107" fmla="*/ 2035 h 2358"/>
                <a:gd name="T108" fmla="*/ 13 w 13"/>
                <a:gd name="T109" fmla="*/ 2049 h 2358"/>
                <a:gd name="T110" fmla="*/ 13 w 13"/>
                <a:gd name="T111" fmla="*/ 2116 h 2358"/>
                <a:gd name="T112" fmla="*/ 0 w 13"/>
                <a:gd name="T113" fmla="*/ 2129 h 2358"/>
                <a:gd name="T114" fmla="*/ 13 w 13"/>
                <a:gd name="T115" fmla="*/ 2183 h 2358"/>
                <a:gd name="T116" fmla="*/ 0 w 13"/>
                <a:gd name="T117" fmla="*/ 2224 h 2358"/>
                <a:gd name="T118" fmla="*/ 13 w 13"/>
                <a:gd name="T119" fmla="*/ 2237 h 2358"/>
                <a:gd name="T120" fmla="*/ 13 w 13"/>
                <a:gd name="T121" fmla="*/ 2304 h 2358"/>
                <a:gd name="T122" fmla="*/ 0 w 13"/>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 h="2358">
                  <a:moveTo>
                    <a:pt x="13" y="0"/>
                  </a:moveTo>
                  <a:lnTo>
                    <a:pt x="13" y="14"/>
                  </a:lnTo>
                  <a:lnTo>
                    <a:pt x="0" y="14"/>
                  </a:lnTo>
                  <a:lnTo>
                    <a:pt x="0" y="0"/>
                  </a:lnTo>
                  <a:lnTo>
                    <a:pt x="13" y="0"/>
                  </a:lnTo>
                  <a:close/>
                  <a:moveTo>
                    <a:pt x="13" y="27"/>
                  </a:moveTo>
                  <a:lnTo>
                    <a:pt x="13" y="41"/>
                  </a:lnTo>
                  <a:lnTo>
                    <a:pt x="0" y="41"/>
                  </a:lnTo>
                  <a:lnTo>
                    <a:pt x="0" y="27"/>
                  </a:lnTo>
                  <a:lnTo>
                    <a:pt x="13" y="27"/>
                  </a:lnTo>
                  <a:close/>
                  <a:moveTo>
                    <a:pt x="13" y="54"/>
                  </a:moveTo>
                  <a:lnTo>
                    <a:pt x="13" y="68"/>
                  </a:lnTo>
                  <a:lnTo>
                    <a:pt x="0" y="68"/>
                  </a:lnTo>
                  <a:lnTo>
                    <a:pt x="0" y="54"/>
                  </a:lnTo>
                  <a:lnTo>
                    <a:pt x="13" y="54"/>
                  </a:lnTo>
                  <a:close/>
                  <a:moveTo>
                    <a:pt x="13" y="81"/>
                  </a:moveTo>
                  <a:lnTo>
                    <a:pt x="13" y="95"/>
                  </a:lnTo>
                  <a:lnTo>
                    <a:pt x="0" y="95"/>
                  </a:lnTo>
                  <a:lnTo>
                    <a:pt x="0" y="81"/>
                  </a:lnTo>
                  <a:lnTo>
                    <a:pt x="13" y="81"/>
                  </a:lnTo>
                  <a:close/>
                  <a:moveTo>
                    <a:pt x="13" y="108"/>
                  </a:moveTo>
                  <a:lnTo>
                    <a:pt x="13" y="121"/>
                  </a:lnTo>
                  <a:lnTo>
                    <a:pt x="0" y="121"/>
                  </a:lnTo>
                  <a:lnTo>
                    <a:pt x="0" y="108"/>
                  </a:lnTo>
                  <a:lnTo>
                    <a:pt x="13" y="108"/>
                  </a:lnTo>
                  <a:close/>
                  <a:moveTo>
                    <a:pt x="13" y="135"/>
                  </a:moveTo>
                  <a:lnTo>
                    <a:pt x="13" y="149"/>
                  </a:lnTo>
                  <a:lnTo>
                    <a:pt x="0" y="149"/>
                  </a:lnTo>
                  <a:lnTo>
                    <a:pt x="0" y="135"/>
                  </a:lnTo>
                  <a:lnTo>
                    <a:pt x="13" y="135"/>
                  </a:lnTo>
                  <a:close/>
                  <a:moveTo>
                    <a:pt x="13" y="162"/>
                  </a:moveTo>
                  <a:lnTo>
                    <a:pt x="13" y="175"/>
                  </a:lnTo>
                  <a:lnTo>
                    <a:pt x="0" y="175"/>
                  </a:lnTo>
                  <a:lnTo>
                    <a:pt x="0" y="162"/>
                  </a:lnTo>
                  <a:lnTo>
                    <a:pt x="13" y="162"/>
                  </a:lnTo>
                  <a:close/>
                  <a:moveTo>
                    <a:pt x="13" y="189"/>
                  </a:moveTo>
                  <a:lnTo>
                    <a:pt x="13" y="202"/>
                  </a:lnTo>
                  <a:lnTo>
                    <a:pt x="0" y="202"/>
                  </a:lnTo>
                  <a:lnTo>
                    <a:pt x="0" y="189"/>
                  </a:lnTo>
                  <a:lnTo>
                    <a:pt x="13" y="189"/>
                  </a:lnTo>
                  <a:close/>
                  <a:moveTo>
                    <a:pt x="13" y="216"/>
                  </a:moveTo>
                  <a:lnTo>
                    <a:pt x="13" y="229"/>
                  </a:lnTo>
                  <a:lnTo>
                    <a:pt x="0" y="229"/>
                  </a:lnTo>
                  <a:lnTo>
                    <a:pt x="0" y="216"/>
                  </a:lnTo>
                  <a:lnTo>
                    <a:pt x="13" y="216"/>
                  </a:lnTo>
                  <a:close/>
                  <a:moveTo>
                    <a:pt x="13" y="243"/>
                  </a:moveTo>
                  <a:lnTo>
                    <a:pt x="13" y="256"/>
                  </a:lnTo>
                  <a:lnTo>
                    <a:pt x="0" y="256"/>
                  </a:lnTo>
                  <a:lnTo>
                    <a:pt x="0" y="243"/>
                  </a:lnTo>
                  <a:lnTo>
                    <a:pt x="13" y="243"/>
                  </a:lnTo>
                  <a:close/>
                  <a:moveTo>
                    <a:pt x="13" y="270"/>
                  </a:moveTo>
                  <a:lnTo>
                    <a:pt x="13" y="283"/>
                  </a:lnTo>
                  <a:lnTo>
                    <a:pt x="0" y="283"/>
                  </a:lnTo>
                  <a:lnTo>
                    <a:pt x="0" y="270"/>
                  </a:lnTo>
                  <a:lnTo>
                    <a:pt x="13" y="270"/>
                  </a:lnTo>
                  <a:close/>
                  <a:moveTo>
                    <a:pt x="13" y="297"/>
                  </a:moveTo>
                  <a:lnTo>
                    <a:pt x="13" y="310"/>
                  </a:lnTo>
                  <a:lnTo>
                    <a:pt x="0" y="310"/>
                  </a:lnTo>
                  <a:lnTo>
                    <a:pt x="0" y="297"/>
                  </a:lnTo>
                  <a:lnTo>
                    <a:pt x="13" y="297"/>
                  </a:lnTo>
                  <a:close/>
                  <a:moveTo>
                    <a:pt x="13" y="324"/>
                  </a:moveTo>
                  <a:lnTo>
                    <a:pt x="13" y="337"/>
                  </a:lnTo>
                  <a:lnTo>
                    <a:pt x="0" y="337"/>
                  </a:lnTo>
                  <a:lnTo>
                    <a:pt x="0" y="324"/>
                  </a:lnTo>
                  <a:lnTo>
                    <a:pt x="13" y="324"/>
                  </a:lnTo>
                  <a:close/>
                  <a:moveTo>
                    <a:pt x="13" y="351"/>
                  </a:moveTo>
                  <a:lnTo>
                    <a:pt x="13" y="364"/>
                  </a:lnTo>
                  <a:lnTo>
                    <a:pt x="0" y="364"/>
                  </a:lnTo>
                  <a:lnTo>
                    <a:pt x="0" y="351"/>
                  </a:lnTo>
                  <a:lnTo>
                    <a:pt x="13" y="351"/>
                  </a:lnTo>
                  <a:close/>
                  <a:moveTo>
                    <a:pt x="13" y="378"/>
                  </a:moveTo>
                  <a:lnTo>
                    <a:pt x="13" y="391"/>
                  </a:lnTo>
                  <a:lnTo>
                    <a:pt x="0" y="391"/>
                  </a:lnTo>
                  <a:lnTo>
                    <a:pt x="0" y="378"/>
                  </a:lnTo>
                  <a:lnTo>
                    <a:pt x="13" y="378"/>
                  </a:lnTo>
                  <a:close/>
                  <a:moveTo>
                    <a:pt x="13" y="404"/>
                  </a:moveTo>
                  <a:lnTo>
                    <a:pt x="13" y="418"/>
                  </a:lnTo>
                  <a:lnTo>
                    <a:pt x="0" y="418"/>
                  </a:lnTo>
                  <a:lnTo>
                    <a:pt x="0" y="404"/>
                  </a:lnTo>
                  <a:lnTo>
                    <a:pt x="13" y="404"/>
                  </a:lnTo>
                  <a:close/>
                  <a:moveTo>
                    <a:pt x="13" y="432"/>
                  </a:moveTo>
                  <a:lnTo>
                    <a:pt x="13" y="445"/>
                  </a:lnTo>
                  <a:lnTo>
                    <a:pt x="0" y="445"/>
                  </a:lnTo>
                  <a:lnTo>
                    <a:pt x="0" y="432"/>
                  </a:lnTo>
                  <a:lnTo>
                    <a:pt x="13" y="432"/>
                  </a:lnTo>
                  <a:close/>
                  <a:moveTo>
                    <a:pt x="13" y="458"/>
                  </a:moveTo>
                  <a:lnTo>
                    <a:pt x="13" y="472"/>
                  </a:lnTo>
                  <a:lnTo>
                    <a:pt x="0" y="472"/>
                  </a:lnTo>
                  <a:lnTo>
                    <a:pt x="0" y="458"/>
                  </a:lnTo>
                  <a:lnTo>
                    <a:pt x="13" y="458"/>
                  </a:lnTo>
                  <a:close/>
                  <a:moveTo>
                    <a:pt x="13" y="485"/>
                  </a:moveTo>
                  <a:lnTo>
                    <a:pt x="13" y="499"/>
                  </a:lnTo>
                  <a:lnTo>
                    <a:pt x="0" y="499"/>
                  </a:lnTo>
                  <a:lnTo>
                    <a:pt x="0" y="485"/>
                  </a:lnTo>
                  <a:lnTo>
                    <a:pt x="13" y="485"/>
                  </a:lnTo>
                  <a:close/>
                  <a:moveTo>
                    <a:pt x="13" y="512"/>
                  </a:moveTo>
                  <a:lnTo>
                    <a:pt x="13" y="526"/>
                  </a:lnTo>
                  <a:lnTo>
                    <a:pt x="0" y="526"/>
                  </a:lnTo>
                  <a:lnTo>
                    <a:pt x="0" y="512"/>
                  </a:lnTo>
                  <a:lnTo>
                    <a:pt x="13" y="512"/>
                  </a:lnTo>
                  <a:close/>
                  <a:moveTo>
                    <a:pt x="13" y="539"/>
                  </a:moveTo>
                  <a:lnTo>
                    <a:pt x="13" y="553"/>
                  </a:lnTo>
                  <a:lnTo>
                    <a:pt x="0" y="553"/>
                  </a:lnTo>
                  <a:lnTo>
                    <a:pt x="0" y="539"/>
                  </a:lnTo>
                  <a:lnTo>
                    <a:pt x="13" y="539"/>
                  </a:lnTo>
                  <a:close/>
                  <a:moveTo>
                    <a:pt x="13" y="566"/>
                  </a:moveTo>
                  <a:lnTo>
                    <a:pt x="13" y="580"/>
                  </a:lnTo>
                  <a:lnTo>
                    <a:pt x="0" y="580"/>
                  </a:lnTo>
                  <a:lnTo>
                    <a:pt x="0" y="566"/>
                  </a:lnTo>
                  <a:lnTo>
                    <a:pt x="13" y="566"/>
                  </a:lnTo>
                  <a:close/>
                  <a:moveTo>
                    <a:pt x="13" y="593"/>
                  </a:moveTo>
                  <a:lnTo>
                    <a:pt x="13" y="607"/>
                  </a:lnTo>
                  <a:lnTo>
                    <a:pt x="0" y="607"/>
                  </a:lnTo>
                  <a:lnTo>
                    <a:pt x="0" y="593"/>
                  </a:lnTo>
                  <a:lnTo>
                    <a:pt x="13" y="593"/>
                  </a:lnTo>
                  <a:close/>
                  <a:moveTo>
                    <a:pt x="13" y="620"/>
                  </a:moveTo>
                  <a:lnTo>
                    <a:pt x="13" y="634"/>
                  </a:lnTo>
                  <a:lnTo>
                    <a:pt x="0" y="634"/>
                  </a:lnTo>
                  <a:lnTo>
                    <a:pt x="0" y="620"/>
                  </a:lnTo>
                  <a:lnTo>
                    <a:pt x="13" y="620"/>
                  </a:lnTo>
                  <a:close/>
                  <a:moveTo>
                    <a:pt x="13" y="647"/>
                  </a:moveTo>
                  <a:lnTo>
                    <a:pt x="13" y="661"/>
                  </a:lnTo>
                  <a:lnTo>
                    <a:pt x="0" y="661"/>
                  </a:lnTo>
                  <a:lnTo>
                    <a:pt x="0" y="647"/>
                  </a:lnTo>
                  <a:lnTo>
                    <a:pt x="13" y="647"/>
                  </a:lnTo>
                  <a:close/>
                  <a:moveTo>
                    <a:pt x="13" y="674"/>
                  </a:moveTo>
                  <a:lnTo>
                    <a:pt x="13" y="687"/>
                  </a:lnTo>
                  <a:lnTo>
                    <a:pt x="0" y="687"/>
                  </a:lnTo>
                  <a:lnTo>
                    <a:pt x="0" y="674"/>
                  </a:lnTo>
                  <a:lnTo>
                    <a:pt x="13" y="674"/>
                  </a:lnTo>
                  <a:close/>
                  <a:moveTo>
                    <a:pt x="13" y="701"/>
                  </a:moveTo>
                  <a:lnTo>
                    <a:pt x="13" y="715"/>
                  </a:lnTo>
                  <a:lnTo>
                    <a:pt x="0" y="715"/>
                  </a:lnTo>
                  <a:lnTo>
                    <a:pt x="0" y="701"/>
                  </a:lnTo>
                  <a:lnTo>
                    <a:pt x="13" y="701"/>
                  </a:lnTo>
                  <a:close/>
                  <a:moveTo>
                    <a:pt x="13" y="728"/>
                  </a:moveTo>
                  <a:lnTo>
                    <a:pt x="13" y="741"/>
                  </a:lnTo>
                  <a:lnTo>
                    <a:pt x="0" y="741"/>
                  </a:lnTo>
                  <a:lnTo>
                    <a:pt x="0" y="728"/>
                  </a:lnTo>
                  <a:lnTo>
                    <a:pt x="13" y="728"/>
                  </a:lnTo>
                  <a:close/>
                  <a:moveTo>
                    <a:pt x="13" y="755"/>
                  </a:moveTo>
                  <a:lnTo>
                    <a:pt x="13" y="768"/>
                  </a:lnTo>
                  <a:lnTo>
                    <a:pt x="0" y="768"/>
                  </a:lnTo>
                  <a:lnTo>
                    <a:pt x="0" y="755"/>
                  </a:lnTo>
                  <a:lnTo>
                    <a:pt x="13" y="755"/>
                  </a:lnTo>
                  <a:close/>
                  <a:moveTo>
                    <a:pt x="13" y="782"/>
                  </a:moveTo>
                  <a:lnTo>
                    <a:pt x="13" y="795"/>
                  </a:lnTo>
                  <a:lnTo>
                    <a:pt x="0" y="795"/>
                  </a:lnTo>
                  <a:lnTo>
                    <a:pt x="0" y="782"/>
                  </a:lnTo>
                  <a:lnTo>
                    <a:pt x="13" y="782"/>
                  </a:lnTo>
                  <a:close/>
                  <a:moveTo>
                    <a:pt x="13" y="809"/>
                  </a:moveTo>
                  <a:lnTo>
                    <a:pt x="13" y="822"/>
                  </a:lnTo>
                  <a:lnTo>
                    <a:pt x="0" y="822"/>
                  </a:lnTo>
                  <a:lnTo>
                    <a:pt x="0" y="809"/>
                  </a:lnTo>
                  <a:lnTo>
                    <a:pt x="13" y="809"/>
                  </a:lnTo>
                  <a:close/>
                  <a:moveTo>
                    <a:pt x="13" y="836"/>
                  </a:moveTo>
                  <a:lnTo>
                    <a:pt x="13" y="849"/>
                  </a:lnTo>
                  <a:lnTo>
                    <a:pt x="0" y="849"/>
                  </a:lnTo>
                  <a:lnTo>
                    <a:pt x="0" y="836"/>
                  </a:lnTo>
                  <a:lnTo>
                    <a:pt x="13" y="836"/>
                  </a:lnTo>
                  <a:close/>
                  <a:moveTo>
                    <a:pt x="13" y="863"/>
                  </a:moveTo>
                  <a:lnTo>
                    <a:pt x="13" y="876"/>
                  </a:lnTo>
                  <a:lnTo>
                    <a:pt x="0" y="876"/>
                  </a:lnTo>
                  <a:lnTo>
                    <a:pt x="0" y="863"/>
                  </a:lnTo>
                  <a:lnTo>
                    <a:pt x="13" y="863"/>
                  </a:lnTo>
                  <a:close/>
                  <a:moveTo>
                    <a:pt x="13" y="890"/>
                  </a:moveTo>
                  <a:lnTo>
                    <a:pt x="13" y="903"/>
                  </a:lnTo>
                  <a:lnTo>
                    <a:pt x="0" y="903"/>
                  </a:lnTo>
                  <a:lnTo>
                    <a:pt x="0" y="890"/>
                  </a:lnTo>
                  <a:lnTo>
                    <a:pt x="13" y="890"/>
                  </a:lnTo>
                  <a:close/>
                  <a:moveTo>
                    <a:pt x="13" y="917"/>
                  </a:moveTo>
                  <a:lnTo>
                    <a:pt x="13" y="930"/>
                  </a:lnTo>
                  <a:lnTo>
                    <a:pt x="0" y="930"/>
                  </a:lnTo>
                  <a:lnTo>
                    <a:pt x="0" y="917"/>
                  </a:lnTo>
                  <a:lnTo>
                    <a:pt x="13" y="917"/>
                  </a:lnTo>
                  <a:close/>
                  <a:moveTo>
                    <a:pt x="13" y="944"/>
                  </a:moveTo>
                  <a:lnTo>
                    <a:pt x="13" y="957"/>
                  </a:lnTo>
                  <a:lnTo>
                    <a:pt x="0" y="957"/>
                  </a:lnTo>
                  <a:lnTo>
                    <a:pt x="0" y="944"/>
                  </a:lnTo>
                  <a:lnTo>
                    <a:pt x="13" y="944"/>
                  </a:lnTo>
                  <a:close/>
                  <a:moveTo>
                    <a:pt x="13" y="970"/>
                  </a:moveTo>
                  <a:lnTo>
                    <a:pt x="13" y="984"/>
                  </a:lnTo>
                  <a:lnTo>
                    <a:pt x="0" y="984"/>
                  </a:lnTo>
                  <a:lnTo>
                    <a:pt x="0" y="970"/>
                  </a:lnTo>
                  <a:lnTo>
                    <a:pt x="13" y="970"/>
                  </a:lnTo>
                  <a:close/>
                  <a:moveTo>
                    <a:pt x="13" y="998"/>
                  </a:moveTo>
                  <a:lnTo>
                    <a:pt x="13" y="1011"/>
                  </a:lnTo>
                  <a:lnTo>
                    <a:pt x="0" y="1011"/>
                  </a:lnTo>
                  <a:lnTo>
                    <a:pt x="0" y="998"/>
                  </a:lnTo>
                  <a:lnTo>
                    <a:pt x="13" y="998"/>
                  </a:lnTo>
                  <a:close/>
                  <a:moveTo>
                    <a:pt x="13" y="1024"/>
                  </a:moveTo>
                  <a:lnTo>
                    <a:pt x="13" y="1038"/>
                  </a:lnTo>
                  <a:lnTo>
                    <a:pt x="0" y="1038"/>
                  </a:lnTo>
                  <a:lnTo>
                    <a:pt x="0" y="1024"/>
                  </a:lnTo>
                  <a:lnTo>
                    <a:pt x="13" y="1024"/>
                  </a:lnTo>
                  <a:close/>
                  <a:moveTo>
                    <a:pt x="13" y="1051"/>
                  </a:moveTo>
                  <a:lnTo>
                    <a:pt x="13" y="1065"/>
                  </a:lnTo>
                  <a:lnTo>
                    <a:pt x="0" y="1065"/>
                  </a:lnTo>
                  <a:lnTo>
                    <a:pt x="0" y="1051"/>
                  </a:lnTo>
                  <a:lnTo>
                    <a:pt x="13" y="1051"/>
                  </a:lnTo>
                  <a:close/>
                  <a:moveTo>
                    <a:pt x="13" y="1078"/>
                  </a:moveTo>
                  <a:lnTo>
                    <a:pt x="13" y="1092"/>
                  </a:lnTo>
                  <a:lnTo>
                    <a:pt x="0" y="1092"/>
                  </a:lnTo>
                  <a:lnTo>
                    <a:pt x="0" y="1078"/>
                  </a:lnTo>
                  <a:lnTo>
                    <a:pt x="13" y="1078"/>
                  </a:lnTo>
                  <a:close/>
                  <a:moveTo>
                    <a:pt x="13" y="1105"/>
                  </a:moveTo>
                  <a:lnTo>
                    <a:pt x="13" y="1119"/>
                  </a:lnTo>
                  <a:lnTo>
                    <a:pt x="0" y="1119"/>
                  </a:lnTo>
                  <a:lnTo>
                    <a:pt x="0" y="1105"/>
                  </a:lnTo>
                  <a:lnTo>
                    <a:pt x="13" y="1105"/>
                  </a:lnTo>
                  <a:close/>
                  <a:moveTo>
                    <a:pt x="13" y="1132"/>
                  </a:moveTo>
                  <a:lnTo>
                    <a:pt x="13" y="1146"/>
                  </a:lnTo>
                  <a:lnTo>
                    <a:pt x="0" y="1146"/>
                  </a:lnTo>
                  <a:lnTo>
                    <a:pt x="0" y="1132"/>
                  </a:lnTo>
                  <a:lnTo>
                    <a:pt x="13" y="1132"/>
                  </a:lnTo>
                  <a:close/>
                  <a:moveTo>
                    <a:pt x="13" y="1159"/>
                  </a:moveTo>
                  <a:lnTo>
                    <a:pt x="13" y="1173"/>
                  </a:lnTo>
                  <a:lnTo>
                    <a:pt x="0" y="1173"/>
                  </a:lnTo>
                  <a:lnTo>
                    <a:pt x="0" y="1159"/>
                  </a:lnTo>
                  <a:lnTo>
                    <a:pt x="13" y="1159"/>
                  </a:lnTo>
                  <a:close/>
                  <a:moveTo>
                    <a:pt x="13" y="1186"/>
                  </a:moveTo>
                  <a:lnTo>
                    <a:pt x="13" y="1200"/>
                  </a:lnTo>
                  <a:lnTo>
                    <a:pt x="0" y="1200"/>
                  </a:lnTo>
                  <a:lnTo>
                    <a:pt x="0" y="1186"/>
                  </a:lnTo>
                  <a:lnTo>
                    <a:pt x="13" y="1186"/>
                  </a:lnTo>
                  <a:close/>
                  <a:moveTo>
                    <a:pt x="13" y="1213"/>
                  </a:moveTo>
                  <a:lnTo>
                    <a:pt x="13" y="1227"/>
                  </a:lnTo>
                  <a:lnTo>
                    <a:pt x="0" y="1227"/>
                  </a:lnTo>
                  <a:lnTo>
                    <a:pt x="0" y="1213"/>
                  </a:lnTo>
                  <a:lnTo>
                    <a:pt x="13" y="1213"/>
                  </a:lnTo>
                  <a:close/>
                  <a:moveTo>
                    <a:pt x="13" y="1240"/>
                  </a:moveTo>
                  <a:lnTo>
                    <a:pt x="13" y="1253"/>
                  </a:lnTo>
                  <a:lnTo>
                    <a:pt x="0" y="1253"/>
                  </a:lnTo>
                  <a:lnTo>
                    <a:pt x="0" y="1240"/>
                  </a:lnTo>
                  <a:lnTo>
                    <a:pt x="13" y="1240"/>
                  </a:lnTo>
                  <a:close/>
                  <a:moveTo>
                    <a:pt x="13" y="1267"/>
                  </a:moveTo>
                  <a:lnTo>
                    <a:pt x="13" y="1281"/>
                  </a:lnTo>
                  <a:lnTo>
                    <a:pt x="0" y="1281"/>
                  </a:lnTo>
                  <a:lnTo>
                    <a:pt x="0" y="1267"/>
                  </a:lnTo>
                  <a:lnTo>
                    <a:pt x="13" y="1267"/>
                  </a:lnTo>
                  <a:close/>
                  <a:moveTo>
                    <a:pt x="13" y="1294"/>
                  </a:moveTo>
                  <a:lnTo>
                    <a:pt x="13" y="1307"/>
                  </a:lnTo>
                  <a:lnTo>
                    <a:pt x="0" y="1307"/>
                  </a:lnTo>
                  <a:lnTo>
                    <a:pt x="0" y="1294"/>
                  </a:lnTo>
                  <a:lnTo>
                    <a:pt x="13" y="1294"/>
                  </a:lnTo>
                  <a:close/>
                  <a:moveTo>
                    <a:pt x="13" y="1321"/>
                  </a:moveTo>
                  <a:lnTo>
                    <a:pt x="13" y="1334"/>
                  </a:lnTo>
                  <a:lnTo>
                    <a:pt x="0" y="1334"/>
                  </a:lnTo>
                  <a:lnTo>
                    <a:pt x="0" y="1321"/>
                  </a:lnTo>
                  <a:lnTo>
                    <a:pt x="13" y="1321"/>
                  </a:lnTo>
                  <a:close/>
                  <a:moveTo>
                    <a:pt x="13" y="1348"/>
                  </a:moveTo>
                  <a:lnTo>
                    <a:pt x="13" y="1361"/>
                  </a:lnTo>
                  <a:lnTo>
                    <a:pt x="0" y="1361"/>
                  </a:lnTo>
                  <a:lnTo>
                    <a:pt x="0" y="1348"/>
                  </a:lnTo>
                  <a:lnTo>
                    <a:pt x="13" y="1348"/>
                  </a:lnTo>
                  <a:close/>
                  <a:moveTo>
                    <a:pt x="13" y="1375"/>
                  </a:moveTo>
                  <a:lnTo>
                    <a:pt x="13" y="1388"/>
                  </a:lnTo>
                  <a:lnTo>
                    <a:pt x="0" y="1388"/>
                  </a:lnTo>
                  <a:lnTo>
                    <a:pt x="0" y="1375"/>
                  </a:lnTo>
                  <a:lnTo>
                    <a:pt x="13" y="1375"/>
                  </a:lnTo>
                  <a:close/>
                  <a:moveTo>
                    <a:pt x="13" y="1402"/>
                  </a:moveTo>
                  <a:lnTo>
                    <a:pt x="13" y="1415"/>
                  </a:lnTo>
                  <a:lnTo>
                    <a:pt x="0" y="1415"/>
                  </a:lnTo>
                  <a:lnTo>
                    <a:pt x="0" y="1402"/>
                  </a:lnTo>
                  <a:lnTo>
                    <a:pt x="13" y="1402"/>
                  </a:lnTo>
                  <a:close/>
                  <a:moveTo>
                    <a:pt x="13" y="1429"/>
                  </a:moveTo>
                  <a:lnTo>
                    <a:pt x="13" y="1442"/>
                  </a:lnTo>
                  <a:lnTo>
                    <a:pt x="0" y="1442"/>
                  </a:lnTo>
                  <a:lnTo>
                    <a:pt x="0" y="1429"/>
                  </a:lnTo>
                  <a:lnTo>
                    <a:pt x="13" y="1429"/>
                  </a:lnTo>
                  <a:close/>
                  <a:moveTo>
                    <a:pt x="13" y="1455"/>
                  </a:moveTo>
                  <a:lnTo>
                    <a:pt x="13" y="1469"/>
                  </a:lnTo>
                  <a:lnTo>
                    <a:pt x="0" y="1469"/>
                  </a:lnTo>
                  <a:lnTo>
                    <a:pt x="0" y="1455"/>
                  </a:lnTo>
                  <a:lnTo>
                    <a:pt x="13" y="1455"/>
                  </a:lnTo>
                  <a:close/>
                  <a:moveTo>
                    <a:pt x="13" y="1483"/>
                  </a:moveTo>
                  <a:lnTo>
                    <a:pt x="13" y="1496"/>
                  </a:lnTo>
                  <a:lnTo>
                    <a:pt x="0" y="1496"/>
                  </a:lnTo>
                  <a:lnTo>
                    <a:pt x="0" y="1483"/>
                  </a:lnTo>
                  <a:lnTo>
                    <a:pt x="13" y="1483"/>
                  </a:lnTo>
                  <a:close/>
                  <a:moveTo>
                    <a:pt x="13" y="1510"/>
                  </a:moveTo>
                  <a:lnTo>
                    <a:pt x="13" y="1523"/>
                  </a:lnTo>
                  <a:lnTo>
                    <a:pt x="0" y="1523"/>
                  </a:lnTo>
                  <a:lnTo>
                    <a:pt x="0" y="1510"/>
                  </a:lnTo>
                  <a:lnTo>
                    <a:pt x="13" y="1510"/>
                  </a:lnTo>
                  <a:close/>
                  <a:moveTo>
                    <a:pt x="13" y="1536"/>
                  </a:moveTo>
                  <a:lnTo>
                    <a:pt x="13" y="1550"/>
                  </a:lnTo>
                  <a:lnTo>
                    <a:pt x="0" y="1550"/>
                  </a:lnTo>
                  <a:lnTo>
                    <a:pt x="0" y="1536"/>
                  </a:lnTo>
                  <a:lnTo>
                    <a:pt x="13" y="1536"/>
                  </a:lnTo>
                  <a:close/>
                  <a:moveTo>
                    <a:pt x="13" y="1564"/>
                  </a:moveTo>
                  <a:lnTo>
                    <a:pt x="13" y="1577"/>
                  </a:lnTo>
                  <a:lnTo>
                    <a:pt x="0" y="1577"/>
                  </a:lnTo>
                  <a:lnTo>
                    <a:pt x="0" y="1564"/>
                  </a:lnTo>
                  <a:lnTo>
                    <a:pt x="13" y="1564"/>
                  </a:lnTo>
                  <a:close/>
                  <a:moveTo>
                    <a:pt x="13" y="1590"/>
                  </a:moveTo>
                  <a:lnTo>
                    <a:pt x="13" y="1604"/>
                  </a:lnTo>
                  <a:lnTo>
                    <a:pt x="0" y="1604"/>
                  </a:lnTo>
                  <a:lnTo>
                    <a:pt x="0" y="1590"/>
                  </a:lnTo>
                  <a:lnTo>
                    <a:pt x="13" y="1590"/>
                  </a:lnTo>
                  <a:close/>
                  <a:moveTo>
                    <a:pt x="13" y="1617"/>
                  </a:moveTo>
                  <a:lnTo>
                    <a:pt x="13" y="1631"/>
                  </a:lnTo>
                  <a:lnTo>
                    <a:pt x="0" y="1631"/>
                  </a:lnTo>
                  <a:lnTo>
                    <a:pt x="0" y="1617"/>
                  </a:lnTo>
                  <a:lnTo>
                    <a:pt x="13" y="1617"/>
                  </a:lnTo>
                  <a:close/>
                  <a:moveTo>
                    <a:pt x="13" y="1644"/>
                  </a:moveTo>
                  <a:lnTo>
                    <a:pt x="13" y="1658"/>
                  </a:lnTo>
                  <a:lnTo>
                    <a:pt x="0" y="1658"/>
                  </a:lnTo>
                  <a:lnTo>
                    <a:pt x="0" y="1644"/>
                  </a:lnTo>
                  <a:lnTo>
                    <a:pt x="13" y="1644"/>
                  </a:lnTo>
                  <a:close/>
                  <a:moveTo>
                    <a:pt x="13" y="1671"/>
                  </a:moveTo>
                  <a:lnTo>
                    <a:pt x="13" y="1685"/>
                  </a:lnTo>
                  <a:lnTo>
                    <a:pt x="0" y="1685"/>
                  </a:lnTo>
                  <a:lnTo>
                    <a:pt x="0" y="1671"/>
                  </a:lnTo>
                  <a:lnTo>
                    <a:pt x="13" y="1671"/>
                  </a:lnTo>
                  <a:close/>
                  <a:moveTo>
                    <a:pt x="13" y="1698"/>
                  </a:moveTo>
                  <a:lnTo>
                    <a:pt x="13" y="1712"/>
                  </a:lnTo>
                  <a:lnTo>
                    <a:pt x="0" y="1712"/>
                  </a:lnTo>
                  <a:lnTo>
                    <a:pt x="0" y="1698"/>
                  </a:lnTo>
                  <a:lnTo>
                    <a:pt x="13" y="1698"/>
                  </a:lnTo>
                  <a:close/>
                  <a:moveTo>
                    <a:pt x="13" y="1725"/>
                  </a:moveTo>
                  <a:lnTo>
                    <a:pt x="13" y="1738"/>
                  </a:lnTo>
                  <a:lnTo>
                    <a:pt x="0" y="1738"/>
                  </a:lnTo>
                  <a:lnTo>
                    <a:pt x="0" y="1725"/>
                  </a:lnTo>
                  <a:lnTo>
                    <a:pt x="13" y="1725"/>
                  </a:lnTo>
                  <a:close/>
                  <a:moveTo>
                    <a:pt x="13" y="1752"/>
                  </a:moveTo>
                  <a:lnTo>
                    <a:pt x="13" y="1766"/>
                  </a:lnTo>
                  <a:lnTo>
                    <a:pt x="0" y="1766"/>
                  </a:lnTo>
                  <a:lnTo>
                    <a:pt x="0" y="1752"/>
                  </a:lnTo>
                  <a:lnTo>
                    <a:pt x="13" y="1752"/>
                  </a:lnTo>
                  <a:close/>
                  <a:moveTo>
                    <a:pt x="13" y="1779"/>
                  </a:moveTo>
                  <a:lnTo>
                    <a:pt x="13" y="1792"/>
                  </a:lnTo>
                  <a:lnTo>
                    <a:pt x="0" y="1792"/>
                  </a:lnTo>
                  <a:lnTo>
                    <a:pt x="0" y="1779"/>
                  </a:lnTo>
                  <a:lnTo>
                    <a:pt x="13" y="1779"/>
                  </a:lnTo>
                  <a:close/>
                  <a:moveTo>
                    <a:pt x="13" y="1806"/>
                  </a:moveTo>
                  <a:lnTo>
                    <a:pt x="13" y="1819"/>
                  </a:lnTo>
                  <a:lnTo>
                    <a:pt x="0" y="1819"/>
                  </a:lnTo>
                  <a:lnTo>
                    <a:pt x="0" y="1806"/>
                  </a:lnTo>
                  <a:lnTo>
                    <a:pt x="13" y="1806"/>
                  </a:lnTo>
                  <a:close/>
                  <a:moveTo>
                    <a:pt x="13" y="1833"/>
                  </a:moveTo>
                  <a:lnTo>
                    <a:pt x="13" y="1846"/>
                  </a:lnTo>
                  <a:lnTo>
                    <a:pt x="0" y="1846"/>
                  </a:lnTo>
                  <a:lnTo>
                    <a:pt x="0" y="1833"/>
                  </a:lnTo>
                  <a:lnTo>
                    <a:pt x="13" y="1833"/>
                  </a:lnTo>
                  <a:close/>
                  <a:moveTo>
                    <a:pt x="13" y="1860"/>
                  </a:moveTo>
                  <a:lnTo>
                    <a:pt x="13" y="1873"/>
                  </a:lnTo>
                  <a:lnTo>
                    <a:pt x="0" y="1873"/>
                  </a:lnTo>
                  <a:lnTo>
                    <a:pt x="0" y="1860"/>
                  </a:lnTo>
                  <a:lnTo>
                    <a:pt x="13" y="1860"/>
                  </a:lnTo>
                  <a:close/>
                  <a:moveTo>
                    <a:pt x="13" y="1887"/>
                  </a:moveTo>
                  <a:lnTo>
                    <a:pt x="13" y="1900"/>
                  </a:lnTo>
                  <a:lnTo>
                    <a:pt x="0" y="1900"/>
                  </a:lnTo>
                  <a:lnTo>
                    <a:pt x="0" y="1887"/>
                  </a:lnTo>
                  <a:lnTo>
                    <a:pt x="13" y="1887"/>
                  </a:lnTo>
                  <a:close/>
                  <a:moveTo>
                    <a:pt x="13" y="1914"/>
                  </a:moveTo>
                  <a:lnTo>
                    <a:pt x="13" y="1927"/>
                  </a:lnTo>
                  <a:lnTo>
                    <a:pt x="0" y="1927"/>
                  </a:lnTo>
                  <a:lnTo>
                    <a:pt x="0" y="1914"/>
                  </a:lnTo>
                  <a:lnTo>
                    <a:pt x="13" y="1914"/>
                  </a:lnTo>
                  <a:close/>
                  <a:moveTo>
                    <a:pt x="13" y="1941"/>
                  </a:moveTo>
                  <a:lnTo>
                    <a:pt x="13" y="1954"/>
                  </a:lnTo>
                  <a:lnTo>
                    <a:pt x="0" y="1954"/>
                  </a:lnTo>
                  <a:lnTo>
                    <a:pt x="0" y="1941"/>
                  </a:lnTo>
                  <a:lnTo>
                    <a:pt x="13" y="1941"/>
                  </a:lnTo>
                  <a:close/>
                  <a:moveTo>
                    <a:pt x="13" y="1968"/>
                  </a:moveTo>
                  <a:lnTo>
                    <a:pt x="13" y="1981"/>
                  </a:lnTo>
                  <a:lnTo>
                    <a:pt x="0" y="1981"/>
                  </a:lnTo>
                  <a:lnTo>
                    <a:pt x="0" y="1968"/>
                  </a:lnTo>
                  <a:lnTo>
                    <a:pt x="13" y="1968"/>
                  </a:lnTo>
                  <a:close/>
                  <a:moveTo>
                    <a:pt x="13" y="1995"/>
                  </a:moveTo>
                  <a:lnTo>
                    <a:pt x="13" y="2008"/>
                  </a:lnTo>
                  <a:lnTo>
                    <a:pt x="0" y="2008"/>
                  </a:lnTo>
                  <a:lnTo>
                    <a:pt x="0" y="1995"/>
                  </a:lnTo>
                  <a:lnTo>
                    <a:pt x="13" y="1995"/>
                  </a:lnTo>
                  <a:close/>
                  <a:moveTo>
                    <a:pt x="13" y="2021"/>
                  </a:moveTo>
                  <a:lnTo>
                    <a:pt x="13" y="2035"/>
                  </a:lnTo>
                  <a:lnTo>
                    <a:pt x="0" y="2035"/>
                  </a:lnTo>
                  <a:lnTo>
                    <a:pt x="0" y="2021"/>
                  </a:lnTo>
                  <a:lnTo>
                    <a:pt x="13" y="2021"/>
                  </a:lnTo>
                  <a:close/>
                  <a:moveTo>
                    <a:pt x="13" y="2049"/>
                  </a:moveTo>
                  <a:lnTo>
                    <a:pt x="13" y="2062"/>
                  </a:lnTo>
                  <a:lnTo>
                    <a:pt x="0" y="2062"/>
                  </a:lnTo>
                  <a:lnTo>
                    <a:pt x="0" y="2049"/>
                  </a:lnTo>
                  <a:lnTo>
                    <a:pt x="13" y="2049"/>
                  </a:lnTo>
                  <a:close/>
                  <a:moveTo>
                    <a:pt x="13" y="2075"/>
                  </a:moveTo>
                  <a:lnTo>
                    <a:pt x="13" y="2089"/>
                  </a:lnTo>
                  <a:lnTo>
                    <a:pt x="0" y="2089"/>
                  </a:lnTo>
                  <a:lnTo>
                    <a:pt x="0" y="2075"/>
                  </a:lnTo>
                  <a:lnTo>
                    <a:pt x="13" y="2075"/>
                  </a:lnTo>
                  <a:close/>
                  <a:moveTo>
                    <a:pt x="13" y="2102"/>
                  </a:moveTo>
                  <a:lnTo>
                    <a:pt x="13" y="2116"/>
                  </a:lnTo>
                  <a:lnTo>
                    <a:pt x="0" y="2116"/>
                  </a:lnTo>
                  <a:lnTo>
                    <a:pt x="0" y="2102"/>
                  </a:lnTo>
                  <a:lnTo>
                    <a:pt x="13" y="2102"/>
                  </a:lnTo>
                  <a:close/>
                  <a:moveTo>
                    <a:pt x="13" y="2129"/>
                  </a:moveTo>
                  <a:lnTo>
                    <a:pt x="13" y="2143"/>
                  </a:lnTo>
                  <a:lnTo>
                    <a:pt x="0" y="2143"/>
                  </a:lnTo>
                  <a:lnTo>
                    <a:pt x="0" y="2129"/>
                  </a:lnTo>
                  <a:lnTo>
                    <a:pt x="13" y="2129"/>
                  </a:lnTo>
                  <a:close/>
                  <a:moveTo>
                    <a:pt x="13" y="2156"/>
                  </a:moveTo>
                  <a:lnTo>
                    <a:pt x="13" y="2170"/>
                  </a:lnTo>
                  <a:lnTo>
                    <a:pt x="0" y="2170"/>
                  </a:lnTo>
                  <a:lnTo>
                    <a:pt x="0" y="2156"/>
                  </a:lnTo>
                  <a:lnTo>
                    <a:pt x="13" y="2156"/>
                  </a:lnTo>
                  <a:close/>
                  <a:moveTo>
                    <a:pt x="13" y="2183"/>
                  </a:moveTo>
                  <a:lnTo>
                    <a:pt x="13" y="2197"/>
                  </a:lnTo>
                  <a:lnTo>
                    <a:pt x="0" y="2197"/>
                  </a:lnTo>
                  <a:lnTo>
                    <a:pt x="0" y="2183"/>
                  </a:lnTo>
                  <a:lnTo>
                    <a:pt x="13" y="2183"/>
                  </a:lnTo>
                  <a:close/>
                  <a:moveTo>
                    <a:pt x="13" y="2210"/>
                  </a:moveTo>
                  <a:lnTo>
                    <a:pt x="13" y="2224"/>
                  </a:lnTo>
                  <a:lnTo>
                    <a:pt x="0" y="2224"/>
                  </a:lnTo>
                  <a:lnTo>
                    <a:pt x="0" y="2210"/>
                  </a:lnTo>
                  <a:lnTo>
                    <a:pt x="13" y="2210"/>
                  </a:lnTo>
                  <a:close/>
                  <a:moveTo>
                    <a:pt x="13" y="2237"/>
                  </a:moveTo>
                  <a:lnTo>
                    <a:pt x="13" y="2251"/>
                  </a:lnTo>
                  <a:lnTo>
                    <a:pt x="0" y="2251"/>
                  </a:lnTo>
                  <a:lnTo>
                    <a:pt x="0" y="2237"/>
                  </a:lnTo>
                  <a:lnTo>
                    <a:pt x="13" y="2237"/>
                  </a:lnTo>
                  <a:close/>
                  <a:moveTo>
                    <a:pt x="13" y="2264"/>
                  </a:moveTo>
                  <a:lnTo>
                    <a:pt x="13" y="2278"/>
                  </a:lnTo>
                  <a:lnTo>
                    <a:pt x="0" y="2278"/>
                  </a:lnTo>
                  <a:lnTo>
                    <a:pt x="0" y="2264"/>
                  </a:lnTo>
                  <a:lnTo>
                    <a:pt x="13" y="2264"/>
                  </a:lnTo>
                  <a:close/>
                  <a:moveTo>
                    <a:pt x="13" y="2291"/>
                  </a:moveTo>
                  <a:lnTo>
                    <a:pt x="13" y="2304"/>
                  </a:lnTo>
                  <a:lnTo>
                    <a:pt x="0" y="2304"/>
                  </a:lnTo>
                  <a:lnTo>
                    <a:pt x="0" y="2291"/>
                  </a:lnTo>
                  <a:lnTo>
                    <a:pt x="13" y="2291"/>
                  </a:lnTo>
                  <a:close/>
                  <a:moveTo>
                    <a:pt x="13" y="2318"/>
                  </a:moveTo>
                  <a:lnTo>
                    <a:pt x="13" y="2332"/>
                  </a:lnTo>
                  <a:lnTo>
                    <a:pt x="0" y="2332"/>
                  </a:lnTo>
                  <a:lnTo>
                    <a:pt x="0" y="2318"/>
                  </a:lnTo>
                  <a:lnTo>
                    <a:pt x="13" y="2318"/>
                  </a:lnTo>
                  <a:close/>
                  <a:moveTo>
                    <a:pt x="13" y="2345"/>
                  </a:moveTo>
                  <a:lnTo>
                    <a:pt x="13" y="2358"/>
                  </a:lnTo>
                  <a:lnTo>
                    <a:pt x="0" y="2358"/>
                  </a:lnTo>
                  <a:lnTo>
                    <a:pt x="0" y="2345"/>
                  </a:lnTo>
                  <a:lnTo>
                    <a:pt x="13"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98" name="Freeform 94">
              <a:extLst>
                <a:ext uri="{FF2B5EF4-FFF2-40B4-BE49-F238E27FC236}">
                  <a16:creationId xmlns:a16="http://schemas.microsoft.com/office/drawing/2014/main" id="{BC9EB0D1-3C2A-4B1B-9F12-7A91FC818EC1}"/>
                </a:ext>
              </a:extLst>
            </p:cNvPr>
            <p:cNvSpPr>
              <a:spLocks noEditPoints="1"/>
            </p:cNvSpPr>
            <p:nvPr/>
          </p:nvSpPr>
          <p:spPr bwMode="auto">
            <a:xfrm>
              <a:off x="6992606" y="2655977"/>
              <a:ext cx="22258" cy="3748911"/>
            </a:xfrm>
            <a:custGeom>
              <a:avLst/>
              <a:gdLst>
                <a:gd name="T0" fmla="*/ 14 w 14"/>
                <a:gd name="T1" fmla="*/ 41 h 2358"/>
                <a:gd name="T2" fmla="*/ 0 w 14"/>
                <a:gd name="T3" fmla="*/ 54 h 2358"/>
                <a:gd name="T4" fmla="*/ 14 w 14"/>
                <a:gd name="T5" fmla="*/ 108 h 2358"/>
                <a:gd name="T6" fmla="*/ 0 w 14"/>
                <a:gd name="T7" fmla="*/ 149 h 2358"/>
                <a:gd name="T8" fmla="*/ 14 w 14"/>
                <a:gd name="T9" fmla="*/ 162 h 2358"/>
                <a:gd name="T10" fmla="*/ 14 w 14"/>
                <a:gd name="T11" fmla="*/ 229 h 2358"/>
                <a:gd name="T12" fmla="*/ 0 w 14"/>
                <a:gd name="T13" fmla="*/ 243 h 2358"/>
                <a:gd name="T14" fmla="*/ 14 w 14"/>
                <a:gd name="T15" fmla="*/ 297 h 2358"/>
                <a:gd name="T16" fmla="*/ 0 w 14"/>
                <a:gd name="T17" fmla="*/ 337 h 2358"/>
                <a:gd name="T18" fmla="*/ 14 w 14"/>
                <a:gd name="T19" fmla="*/ 351 h 2358"/>
                <a:gd name="T20" fmla="*/ 14 w 14"/>
                <a:gd name="T21" fmla="*/ 418 h 2358"/>
                <a:gd name="T22" fmla="*/ 0 w 14"/>
                <a:gd name="T23" fmla="*/ 432 h 2358"/>
                <a:gd name="T24" fmla="*/ 14 w 14"/>
                <a:gd name="T25" fmla="*/ 485 h 2358"/>
                <a:gd name="T26" fmla="*/ 0 w 14"/>
                <a:gd name="T27" fmla="*/ 526 h 2358"/>
                <a:gd name="T28" fmla="*/ 14 w 14"/>
                <a:gd name="T29" fmla="*/ 539 h 2358"/>
                <a:gd name="T30" fmla="*/ 14 w 14"/>
                <a:gd name="T31" fmla="*/ 607 h 2358"/>
                <a:gd name="T32" fmla="*/ 0 w 14"/>
                <a:gd name="T33" fmla="*/ 620 h 2358"/>
                <a:gd name="T34" fmla="*/ 14 w 14"/>
                <a:gd name="T35" fmla="*/ 674 h 2358"/>
                <a:gd name="T36" fmla="*/ 0 w 14"/>
                <a:gd name="T37" fmla="*/ 715 h 2358"/>
                <a:gd name="T38" fmla="*/ 14 w 14"/>
                <a:gd name="T39" fmla="*/ 728 h 2358"/>
                <a:gd name="T40" fmla="*/ 14 w 14"/>
                <a:gd name="T41" fmla="*/ 795 h 2358"/>
                <a:gd name="T42" fmla="*/ 0 w 14"/>
                <a:gd name="T43" fmla="*/ 809 h 2358"/>
                <a:gd name="T44" fmla="*/ 14 w 14"/>
                <a:gd name="T45" fmla="*/ 863 h 2358"/>
                <a:gd name="T46" fmla="*/ 0 w 14"/>
                <a:gd name="T47" fmla="*/ 903 h 2358"/>
                <a:gd name="T48" fmla="*/ 14 w 14"/>
                <a:gd name="T49" fmla="*/ 917 h 2358"/>
                <a:gd name="T50" fmla="*/ 14 w 14"/>
                <a:gd name="T51" fmla="*/ 984 h 2358"/>
                <a:gd name="T52" fmla="*/ 0 w 14"/>
                <a:gd name="T53" fmla="*/ 998 h 2358"/>
                <a:gd name="T54" fmla="*/ 14 w 14"/>
                <a:gd name="T55" fmla="*/ 1051 h 2358"/>
                <a:gd name="T56" fmla="*/ 0 w 14"/>
                <a:gd name="T57" fmla="*/ 1092 h 2358"/>
                <a:gd name="T58" fmla="*/ 14 w 14"/>
                <a:gd name="T59" fmla="*/ 1105 h 2358"/>
                <a:gd name="T60" fmla="*/ 14 w 14"/>
                <a:gd name="T61" fmla="*/ 1173 h 2358"/>
                <a:gd name="T62" fmla="*/ 0 w 14"/>
                <a:gd name="T63" fmla="*/ 1186 h 2358"/>
                <a:gd name="T64" fmla="*/ 14 w 14"/>
                <a:gd name="T65" fmla="*/ 1240 h 2358"/>
                <a:gd name="T66" fmla="*/ 0 w 14"/>
                <a:gd name="T67" fmla="*/ 1281 h 2358"/>
                <a:gd name="T68" fmla="*/ 14 w 14"/>
                <a:gd name="T69" fmla="*/ 1294 h 2358"/>
                <a:gd name="T70" fmla="*/ 14 w 14"/>
                <a:gd name="T71" fmla="*/ 1361 h 2358"/>
                <a:gd name="T72" fmla="*/ 0 w 14"/>
                <a:gd name="T73" fmla="*/ 1375 h 2358"/>
                <a:gd name="T74" fmla="*/ 14 w 14"/>
                <a:gd name="T75" fmla="*/ 1429 h 2358"/>
                <a:gd name="T76" fmla="*/ 0 w 14"/>
                <a:gd name="T77" fmla="*/ 1469 h 2358"/>
                <a:gd name="T78" fmla="*/ 14 w 14"/>
                <a:gd name="T79" fmla="*/ 1483 h 2358"/>
                <a:gd name="T80" fmla="*/ 14 w 14"/>
                <a:gd name="T81" fmla="*/ 1550 h 2358"/>
                <a:gd name="T82" fmla="*/ 0 w 14"/>
                <a:gd name="T83" fmla="*/ 1564 h 2358"/>
                <a:gd name="T84" fmla="*/ 14 w 14"/>
                <a:gd name="T85" fmla="*/ 1617 h 2358"/>
                <a:gd name="T86" fmla="*/ 0 w 14"/>
                <a:gd name="T87" fmla="*/ 1658 h 2358"/>
                <a:gd name="T88" fmla="*/ 14 w 14"/>
                <a:gd name="T89" fmla="*/ 1671 h 2358"/>
                <a:gd name="T90" fmla="*/ 14 w 14"/>
                <a:gd name="T91" fmla="*/ 1738 h 2358"/>
                <a:gd name="T92" fmla="*/ 0 w 14"/>
                <a:gd name="T93" fmla="*/ 1752 h 2358"/>
                <a:gd name="T94" fmla="*/ 14 w 14"/>
                <a:gd name="T95" fmla="*/ 1806 h 2358"/>
                <a:gd name="T96" fmla="*/ 0 w 14"/>
                <a:gd name="T97" fmla="*/ 1846 h 2358"/>
                <a:gd name="T98" fmla="*/ 14 w 14"/>
                <a:gd name="T99" fmla="*/ 1860 h 2358"/>
                <a:gd name="T100" fmla="*/ 14 w 14"/>
                <a:gd name="T101" fmla="*/ 1927 h 2358"/>
                <a:gd name="T102" fmla="*/ 0 w 14"/>
                <a:gd name="T103" fmla="*/ 1941 h 2358"/>
                <a:gd name="T104" fmla="*/ 14 w 14"/>
                <a:gd name="T105" fmla="*/ 1995 h 2358"/>
                <a:gd name="T106" fmla="*/ 0 w 14"/>
                <a:gd name="T107" fmla="*/ 2035 h 2358"/>
                <a:gd name="T108" fmla="*/ 14 w 14"/>
                <a:gd name="T109" fmla="*/ 2049 h 2358"/>
                <a:gd name="T110" fmla="*/ 14 w 14"/>
                <a:gd name="T111" fmla="*/ 2116 h 2358"/>
                <a:gd name="T112" fmla="*/ 0 w 14"/>
                <a:gd name="T113" fmla="*/ 2129 h 2358"/>
                <a:gd name="T114" fmla="*/ 14 w 14"/>
                <a:gd name="T115" fmla="*/ 2183 h 2358"/>
                <a:gd name="T116" fmla="*/ 0 w 14"/>
                <a:gd name="T117" fmla="*/ 2224 h 2358"/>
                <a:gd name="T118" fmla="*/ 14 w 14"/>
                <a:gd name="T119" fmla="*/ 2237 h 2358"/>
                <a:gd name="T120" fmla="*/ 14 w 14"/>
                <a:gd name="T121" fmla="*/ 2304 h 2358"/>
                <a:gd name="T122" fmla="*/ 0 w 14"/>
                <a:gd name="T123" fmla="*/ 2318 h 2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 h="2358">
                  <a:moveTo>
                    <a:pt x="14" y="0"/>
                  </a:moveTo>
                  <a:lnTo>
                    <a:pt x="14" y="14"/>
                  </a:lnTo>
                  <a:lnTo>
                    <a:pt x="0" y="14"/>
                  </a:lnTo>
                  <a:lnTo>
                    <a:pt x="0" y="0"/>
                  </a:lnTo>
                  <a:lnTo>
                    <a:pt x="14" y="0"/>
                  </a:lnTo>
                  <a:close/>
                  <a:moveTo>
                    <a:pt x="14" y="27"/>
                  </a:moveTo>
                  <a:lnTo>
                    <a:pt x="14" y="41"/>
                  </a:lnTo>
                  <a:lnTo>
                    <a:pt x="0" y="41"/>
                  </a:lnTo>
                  <a:lnTo>
                    <a:pt x="0" y="27"/>
                  </a:lnTo>
                  <a:lnTo>
                    <a:pt x="14" y="27"/>
                  </a:lnTo>
                  <a:close/>
                  <a:moveTo>
                    <a:pt x="14" y="54"/>
                  </a:moveTo>
                  <a:lnTo>
                    <a:pt x="14" y="68"/>
                  </a:lnTo>
                  <a:lnTo>
                    <a:pt x="0" y="68"/>
                  </a:lnTo>
                  <a:lnTo>
                    <a:pt x="0" y="54"/>
                  </a:lnTo>
                  <a:lnTo>
                    <a:pt x="14" y="54"/>
                  </a:lnTo>
                  <a:close/>
                  <a:moveTo>
                    <a:pt x="14" y="81"/>
                  </a:moveTo>
                  <a:lnTo>
                    <a:pt x="14" y="95"/>
                  </a:lnTo>
                  <a:lnTo>
                    <a:pt x="0" y="95"/>
                  </a:lnTo>
                  <a:lnTo>
                    <a:pt x="0" y="81"/>
                  </a:lnTo>
                  <a:lnTo>
                    <a:pt x="14" y="81"/>
                  </a:lnTo>
                  <a:close/>
                  <a:moveTo>
                    <a:pt x="14" y="108"/>
                  </a:moveTo>
                  <a:lnTo>
                    <a:pt x="14" y="121"/>
                  </a:lnTo>
                  <a:lnTo>
                    <a:pt x="0" y="121"/>
                  </a:lnTo>
                  <a:lnTo>
                    <a:pt x="0" y="108"/>
                  </a:lnTo>
                  <a:lnTo>
                    <a:pt x="14" y="108"/>
                  </a:lnTo>
                  <a:close/>
                  <a:moveTo>
                    <a:pt x="14" y="135"/>
                  </a:moveTo>
                  <a:lnTo>
                    <a:pt x="14" y="149"/>
                  </a:lnTo>
                  <a:lnTo>
                    <a:pt x="0" y="149"/>
                  </a:lnTo>
                  <a:lnTo>
                    <a:pt x="0" y="135"/>
                  </a:lnTo>
                  <a:lnTo>
                    <a:pt x="14" y="135"/>
                  </a:lnTo>
                  <a:close/>
                  <a:moveTo>
                    <a:pt x="14" y="162"/>
                  </a:moveTo>
                  <a:lnTo>
                    <a:pt x="14" y="175"/>
                  </a:lnTo>
                  <a:lnTo>
                    <a:pt x="0" y="175"/>
                  </a:lnTo>
                  <a:lnTo>
                    <a:pt x="0" y="162"/>
                  </a:lnTo>
                  <a:lnTo>
                    <a:pt x="14" y="162"/>
                  </a:lnTo>
                  <a:close/>
                  <a:moveTo>
                    <a:pt x="14" y="189"/>
                  </a:moveTo>
                  <a:lnTo>
                    <a:pt x="14" y="202"/>
                  </a:lnTo>
                  <a:lnTo>
                    <a:pt x="0" y="202"/>
                  </a:lnTo>
                  <a:lnTo>
                    <a:pt x="0" y="189"/>
                  </a:lnTo>
                  <a:lnTo>
                    <a:pt x="14" y="189"/>
                  </a:lnTo>
                  <a:close/>
                  <a:moveTo>
                    <a:pt x="14" y="216"/>
                  </a:moveTo>
                  <a:lnTo>
                    <a:pt x="14" y="229"/>
                  </a:lnTo>
                  <a:lnTo>
                    <a:pt x="0" y="229"/>
                  </a:lnTo>
                  <a:lnTo>
                    <a:pt x="0" y="216"/>
                  </a:lnTo>
                  <a:lnTo>
                    <a:pt x="14" y="216"/>
                  </a:lnTo>
                  <a:close/>
                  <a:moveTo>
                    <a:pt x="14" y="243"/>
                  </a:moveTo>
                  <a:lnTo>
                    <a:pt x="14" y="256"/>
                  </a:lnTo>
                  <a:lnTo>
                    <a:pt x="0" y="256"/>
                  </a:lnTo>
                  <a:lnTo>
                    <a:pt x="0" y="243"/>
                  </a:lnTo>
                  <a:lnTo>
                    <a:pt x="14" y="243"/>
                  </a:lnTo>
                  <a:close/>
                  <a:moveTo>
                    <a:pt x="14" y="270"/>
                  </a:moveTo>
                  <a:lnTo>
                    <a:pt x="14" y="283"/>
                  </a:lnTo>
                  <a:lnTo>
                    <a:pt x="0" y="283"/>
                  </a:lnTo>
                  <a:lnTo>
                    <a:pt x="0" y="270"/>
                  </a:lnTo>
                  <a:lnTo>
                    <a:pt x="14" y="270"/>
                  </a:lnTo>
                  <a:close/>
                  <a:moveTo>
                    <a:pt x="14" y="297"/>
                  </a:moveTo>
                  <a:lnTo>
                    <a:pt x="14" y="310"/>
                  </a:lnTo>
                  <a:lnTo>
                    <a:pt x="0" y="310"/>
                  </a:lnTo>
                  <a:lnTo>
                    <a:pt x="0" y="297"/>
                  </a:lnTo>
                  <a:lnTo>
                    <a:pt x="14" y="297"/>
                  </a:lnTo>
                  <a:close/>
                  <a:moveTo>
                    <a:pt x="14" y="324"/>
                  </a:moveTo>
                  <a:lnTo>
                    <a:pt x="14" y="337"/>
                  </a:lnTo>
                  <a:lnTo>
                    <a:pt x="0" y="337"/>
                  </a:lnTo>
                  <a:lnTo>
                    <a:pt x="0" y="324"/>
                  </a:lnTo>
                  <a:lnTo>
                    <a:pt x="14" y="324"/>
                  </a:lnTo>
                  <a:close/>
                  <a:moveTo>
                    <a:pt x="14" y="351"/>
                  </a:moveTo>
                  <a:lnTo>
                    <a:pt x="14" y="364"/>
                  </a:lnTo>
                  <a:lnTo>
                    <a:pt x="0" y="364"/>
                  </a:lnTo>
                  <a:lnTo>
                    <a:pt x="0" y="351"/>
                  </a:lnTo>
                  <a:lnTo>
                    <a:pt x="14" y="351"/>
                  </a:lnTo>
                  <a:close/>
                  <a:moveTo>
                    <a:pt x="14" y="378"/>
                  </a:moveTo>
                  <a:lnTo>
                    <a:pt x="14" y="391"/>
                  </a:lnTo>
                  <a:lnTo>
                    <a:pt x="0" y="391"/>
                  </a:lnTo>
                  <a:lnTo>
                    <a:pt x="0" y="378"/>
                  </a:lnTo>
                  <a:lnTo>
                    <a:pt x="14" y="378"/>
                  </a:lnTo>
                  <a:close/>
                  <a:moveTo>
                    <a:pt x="14" y="404"/>
                  </a:moveTo>
                  <a:lnTo>
                    <a:pt x="14" y="418"/>
                  </a:lnTo>
                  <a:lnTo>
                    <a:pt x="0" y="418"/>
                  </a:lnTo>
                  <a:lnTo>
                    <a:pt x="0" y="404"/>
                  </a:lnTo>
                  <a:lnTo>
                    <a:pt x="14" y="404"/>
                  </a:lnTo>
                  <a:close/>
                  <a:moveTo>
                    <a:pt x="14" y="432"/>
                  </a:moveTo>
                  <a:lnTo>
                    <a:pt x="14" y="445"/>
                  </a:lnTo>
                  <a:lnTo>
                    <a:pt x="0" y="445"/>
                  </a:lnTo>
                  <a:lnTo>
                    <a:pt x="0" y="432"/>
                  </a:lnTo>
                  <a:lnTo>
                    <a:pt x="14" y="432"/>
                  </a:lnTo>
                  <a:close/>
                  <a:moveTo>
                    <a:pt x="14" y="458"/>
                  </a:moveTo>
                  <a:lnTo>
                    <a:pt x="14" y="472"/>
                  </a:lnTo>
                  <a:lnTo>
                    <a:pt x="0" y="472"/>
                  </a:lnTo>
                  <a:lnTo>
                    <a:pt x="0" y="458"/>
                  </a:lnTo>
                  <a:lnTo>
                    <a:pt x="14" y="458"/>
                  </a:lnTo>
                  <a:close/>
                  <a:moveTo>
                    <a:pt x="14" y="485"/>
                  </a:moveTo>
                  <a:lnTo>
                    <a:pt x="14" y="499"/>
                  </a:lnTo>
                  <a:lnTo>
                    <a:pt x="0" y="499"/>
                  </a:lnTo>
                  <a:lnTo>
                    <a:pt x="0" y="485"/>
                  </a:lnTo>
                  <a:lnTo>
                    <a:pt x="14" y="485"/>
                  </a:lnTo>
                  <a:close/>
                  <a:moveTo>
                    <a:pt x="14" y="512"/>
                  </a:moveTo>
                  <a:lnTo>
                    <a:pt x="14" y="526"/>
                  </a:lnTo>
                  <a:lnTo>
                    <a:pt x="0" y="526"/>
                  </a:lnTo>
                  <a:lnTo>
                    <a:pt x="0" y="512"/>
                  </a:lnTo>
                  <a:lnTo>
                    <a:pt x="14" y="512"/>
                  </a:lnTo>
                  <a:close/>
                  <a:moveTo>
                    <a:pt x="14" y="539"/>
                  </a:moveTo>
                  <a:lnTo>
                    <a:pt x="14" y="553"/>
                  </a:lnTo>
                  <a:lnTo>
                    <a:pt x="0" y="553"/>
                  </a:lnTo>
                  <a:lnTo>
                    <a:pt x="0" y="539"/>
                  </a:lnTo>
                  <a:lnTo>
                    <a:pt x="14" y="539"/>
                  </a:lnTo>
                  <a:close/>
                  <a:moveTo>
                    <a:pt x="14" y="566"/>
                  </a:moveTo>
                  <a:lnTo>
                    <a:pt x="14" y="580"/>
                  </a:lnTo>
                  <a:lnTo>
                    <a:pt x="0" y="580"/>
                  </a:lnTo>
                  <a:lnTo>
                    <a:pt x="0" y="566"/>
                  </a:lnTo>
                  <a:lnTo>
                    <a:pt x="14" y="566"/>
                  </a:lnTo>
                  <a:close/>
                  <a:moveTo>
                    <a:pt x="14" y="593"/>
                  </a:moveTo>
                  <a:lnTo>
                    <a:pt x="14" y="607"/>
                  </a:lnTo>
                  <a:lnTo>
                    <a:pt x="0" y="607"/>
                  </a:lnTo>
                  <a:lnTo>
                    <a:pt x="0" y="593"/>
                  </a:lnTo>
                  <a:lnTo>
                    <a:pt x="14" y="593"/>
                  </a:lnTo>
                  <a:close/>
                  <a:moveTo>
                    <a:pt x="14" y="620"/>
                  </a:moveTo>
                  <a:lnTo>
                    <a:pt x="14" y="634"/>
                  </a:lnTo>
                  <a:lnTo>
                    <a:pt x="0" y="634"/>
                  </a:lnTo>
                  <a:lnTo>
                    <a:pt x="0" y="620"/>
                  </a:lnTo>
                  <a:lnTo>
                    <a:pt x="14" y="620"/>
                  </a:lnTo>
                  <a:close/>
                  <a:moveTo>
                    <a:pt x="14" y="647"/>
                  </a:moveTo>
                  <a:lnTo>
                    <a:pt x="14" y="661"/>
                  </a:lnTo>
                  <a:lnTo>
                    <a:pt x="0" y="661"/>
                  </a:lnTo>
                  <a:lnTo>
                    <a:pt x="0" y="647"/>
                  </a:lnTo>
                  <a:lnTo>
                    <a:pt x="14" y="647"/>
                  </a:lnTo>
                  <a:close/>
                  <a:moveTo>
                    <a:pt x="14" y="674"/>
                  </a:moveTo>
                  <a:lnTo>
                    <a:pt x="14" y="687"/>
                  </a:lnTo>
                  <a:lnTo>
                    <a:pt x="0" y="687"/>
                  </a:lnTo>
                  <a:lnTo>
                    <a:pt x="0" y="674"/>
                  </a:lnTo>
                  <a:lnTo>
                    <a:pt x="14" y="674"/>
                  </a:lnTo>
                  <a:close/>
                  <a:moveTo>
                    <a:pt x="14" y="701"/>
                  </a:moveTo>
                  <a:lnTo>
                    <a:pt x="14" y="715"/>
                  </a:lnTo>
                  <a:lnTo>
                    <a:pt x="0" y="715"/>
                  </a:lnTo>
                  <a:lnTo>
                    <a:pt x="0" y="701"/>
                  </a:lnTo>
                  <a:lnTo>
                    <a:pt x="14" y="701"/>
                  </a:lnTo>
                  <a:close/>
                  <a:moveTo>
                    <a:pt x="14" y="728"/>
                  </a:moveTo>
                  <a:lnTo>
                    <a:pt x="14" y="741"/>
                  </a:lnTo>
                  <a:lnTo>
                    <a:pt x="0" y="741"/>
                  </a:lnTo>
                  <a:lnTo>
                    <a:pt x="0" y="728"/>
                  </a:lnTo>
                  <a:lnTo>
                    <a:pt x="14" y="728"/>
                  </a:lnTo>
                  <a:close/>
                  <a:moveTo>
                    <a:pt x="14" y="755"/>
                  </a:moveTo>
                  <a:lnTo>
                    <a:pt x="14" y="768"/>
                  </a:lnTo>
                  <a:lnTo>
                    <a:pt x="0" y="768"/>
                  </a:lnTo>
                  <a:lnTo>
                    <a:pt x="0" y="755"/>
                  </a:lnTo>
                  <a:lnTo>
                    <a:pt x="14" y="755"/>
                  </a:lnTo>
                  <a:close/>
                  <a:moveTo>
                    <a:pt x="14" y="782"/>
                  </a:moveTo>
                  <a:lnTo>
                    <a:pt x="14" y="795"/>
                  </a:lnTo>
                  <a:lnTo>
                    <a:pt x="0" y="795"/>
                  </a:lnTo>
                  <a:lnTo>
                    <a:pt x="0" y="782"/>
                  </a:lnTo>
                  <a:lnTo>
                    <a:pt x="14" y="782"/>
                  </a:lnTo>
                  <a:close/>
                  <a:moveTo>
                    <a:pt x="14" y="809"/>
                  </a:moveTo>
                  <a:lnTo>
                    <a:pt x="14" y="822"/>
                  </a:lnTo>
                  <a:lnTo>
                    <a:pt x="0" y="822"/>
                  </a:lnTo>
                  <a:lnTo>
                    <a:pt x="0" y="809"/>
                  </a:lnTo>
                  <a:lnTo>
                    <a:pt x="14" y="809"/>
                  </a:lnTo>
                  <a:close/>
                  <a:moveTo>
                    <a:pt x="14" y="836"/>
                  </a:moveTo>
                  <a:lnTo>
                    <a:pt x="14" y="849"/>
                  </a:lnTo>
                  <a:lnTo>
                    <a:pt x="0" y="849"/>
                  </a:lnTo>
                  <a:lnTo>
                    <a:pt x="0" y="836"/>
                  </a:lnTo>
                  <a:lnTo>
                    <a:pt x="14" y="836"/>
                  </a:lnTo>
                  <a:close/>
                  <a:moveTo>
                    <a:pt x="14" y="863"/>
                  </a:moveTo>
                  <a:lnTo>
                    <a:pt x="14" y="876"/>
                  </a:lnTo>
                  <a:lnTo>
                    <a:pt x="0" y="876"/>
                  </a:lnTo>
                  <a:lnTo>
                    <a:pt x="0" y="863"/>
                  </a:lnTo>
                  <a:lnTo>
                    <a:pt x="14" y="863"/>
                  </a:lnTo>
                  <a:close/>
                  <a:moveTo>
                    <a:pt x="14" y="890"/>
                  </a:moveTo>
                  <a:lnTo>
                    <a:pt x="14" y="903"/>
                  </a:lnTo>
                  <a:lnTo>
                    <a:pt x="0" y="903"/>
                  </a:lnTo>
                  <a:lnTo>
                    <a:pt x="0" y="890"/>
                  </a:lnTo>
                  <a:lnTo>
                    <a:pt x="14" y="890"/>
                  </a:lnTo>
                  <a:close/>
                  <a:moveTo>
                    <a:pt x="14" y="917"/>
                  </a:moveTo>
                  <a:lnTo>
                    <a:pt x="14" y="930"/>
                  </a:lnTo>
                  <a:lnTo>
                    <a:pt x="0" y="930"/>
                  </a:lnTo>
                  <a:lnTo>
                    <a:pt x="0" y="917"/>
                  </a:lnTo>
                  <a:lnTo>
                    <a:pt x="14" y="917"/>
                  </a:lnTo>
                  <a:close/>
                  <a:moveTo>
                    <a:pt x="14" y="944"/>
                  </a:moveTo>
                  <a:lnTo>
                    <a:pt x="14" y="957"/>
                  </a:lnTo>
                  <a:lnTo>
                    <a:pt x="0" y="957"/>
                  </a:lnTo>
                  <a:lnTo>
                    <a:pt x="0" y="944"/>
                  </a:lnTo>
                  <a:lnTo>
                    <a:pt x="14" y="944"/>
                  </a:lnTo>
                  <a:close/>
                  <a:moveTo>
                    <a:pt x="14" y="970"/>
                  </a:moveTo>
                  <a:lnTo>
                    <a:pt x="14" y="984"/>
                  </a:lnTo>
                  <a:lnTo>
                    <a:pt x="0" y="984"/>
                  </a:lnTo>
                  <a:lnTo>
                    <a:pt x="0" y="970"/>
                  </a:lnTo>
                  <a:lnTo>
                    <a:pt x="14" y="970"/>
                  </a:lnTo>
                  <a:close/>
                  <a:moveTo>
                    <a:pt x="14" y="998"/>
                  </a:moveTo>
                  <a:lnTo>
                    <a:pt x="14" y="1011"/>
                  </a:lnTo>
                  <a:lnTo>
                    <a:pt x="0" y="1011"/>
                  </a:lnTo>
                  <a:lnTo>
                    <a:pt x="0" y="998"/>
                  </a:lnTo>
                  <a:lnTo>
                    <a:pt x="14" y="998"/>
                  </a:lnTo>
                  <a:close/>
                  <a:moveTo>
                    <a:pt x="14" y="1024"/>
                  </a:moveTo>
                  <a:lnTo>
                    <a:pt x="14" y="1038"/>
                  </a:lnTo>
                  <a:lnTo>
                    <a:pt x="0" y="1038"/>
                  </a:lnTo>
                  <a:lnTo>
                    <a:pt x="0" y="1024"/>
                  </a:lnTo>
                  <a:lnTo>
                    <a:pt x="14" y="1024"/>
                  </a:lnTo>
                  <a:close/>
                  <a:moveTo>
                    <a:pt x="14" y="1051"/>
                  </a:moveTo>
                  <a:lnTo>
                    <a:pt x="14" y="1065"/>
                  </a:lnTo>
                  <a:lnTo>
                    <a:pt x="0" y="1065"/>
                  </a:lnTo>
                  <a:lnTo>
                    <a:pt x="0" y="1051"/>
                  </a:lnTo>
                  <a:lnTo>
                    <a:pt x="14" y="1051"/>
                  </a:lnTo>
                  <a:close/>
                  <a:moveTo>
                    <a:pt x="14" y="1078"/>
                  </a:moveTo>
                  <a:lnTo>
                    <a:pt x="14" y="1092"/>
                  </a:lnTo>
                  <a:lnTo>
                    <a:pt x="0" y="1092"/>
                  </a:lnTo>
                  <a:lnTo>
                    <a:pt x="0" y="1078"/>
                  </a:lnTo>
                  <a:lnTo>
                    <a:pt x="14" y="1078"/>
                  </a:lnTo>
                  <a:close/>
                  <a:moveTo>
                    <a:pt x="14" y="1105"/>
                  </a:moveTo>
                  <a:lnTo>
                    <a:pt x="14" y="1119"/>
                  </a:lnTo>
                  <a:lnTo>
                    <a:pt x="0" y="1119"/>
                  </a:lnTo>
                  <a:lnTo>
                    <a:pt x="0" y="1105"/>
                  </a:lnTo>
                  <a:lnTo>
                    <a:pt x="14" y="1105"/>
                  </a:lnTo>
                  <a:close/>
                  <a:moveTo>
                    <a:pt x="14" y="1132"/>
                  </a:moveTo>
                  <a:lnTo>
                    <a:pt x="14" y="1146"/>
                  </a:lnTo>
                  <a:lnTo>
                    <a:pt x="0" y="1146"/>
                  </a:lnTo>
                  <a:lnTo>
                    <a:pt x="0" y="1132"/>
                  </a:lnTo>
                  <a:lnTo>
                    <a:pt x="14" y="1132"/>
                  </a:lnTo>
                  <a:close/>
                  <a:moveTo>
                    <a:pt x="14" y="1159"/>
                  </a:moveTo>
                  <a:lnTo>
                    <a:pt x="14" y="1173"/>
                  </a:lnTo>
                  <a:lnTo>
                    <a:pt x="0" y="1173"/>
                  </a:lnTo>
                  <a:lnTo>
                    <a:pt x="0" y="1159"/>
                  </a:lnTo>
                  <a:lnTo>
                    <a:pt x="14" y="1159"/>
                  </a:lnTo>
                  <a:close/>
                  <a:moveTo>
                    <a:pt x="14" y="1186"/>
                  </a:moveTo>
                  <a:lnTo>
                    <a:pt x="14" y="1200"/>
                  </a:lnTo>
                  <a:lnTo>
                    <a:pt x="0" y="1200"/>
                  </a:lnTo>
                  <a:lnTo>
                    <a:pt x="0" y="1186"/>
                  </a:lnTo>
                  <a:lnTo>
                    <a:pt x="14" y="1186"/>
                  </a:lnTo>
                  <a:close/>
                  <a:moveTo>
                    <a:pt x="14" y="1213"/>
                  </a:moveTo>
                  <a:lnTo>
                    <a:pt x="14" y="1227"/>
                  </a:lnTo>
                  <a:lnTo>
                    <a:pt x="0" y="1227"/>
                  </a:lnTo>
                  <a:lnTo>
                    <a:pt x="0" y="1213"/>
                  </a:lnTo>
                  <a:lnTo>
                    <a:pt x="14" y="1213"/>
                  </a:lnTo>
                  <a:close/>
                  <a:moveTo>
                    <a:pt x="14" y="1240"/>
                  </a:moveTo>
                  <a:lnTo>
                    <a:pt x="14" y="1253"/>
                  </a:lnTo>
                  <a:lnTo>
                    <a:pt x="0" y="1253"/>
                  </a:lnTo>
                  <a:lnTo>
                    <a:pt x="0" y="1240"/>
                  </a:lnTo>
                  <a:lnTo>
                    <a:pt x="14" y="1240"/>
                  </a:lnTo>
                  <a:close/>
                  <a:moveTo>
                    <a:pt x="14" y="1267"/>
                  </a:moveTo>
                  <a:lnTo>
                    <a:pt x="14" y="1281"/>
                  </a:lnTo>
                  <a:lnTo>
                    <a:pt x="0" y="1281"/>
                  </a:lnTo>
                  <a:lnTo>
                    <a:pt x="0" y="1267"/>
                  </a:lnTo>
                  <a:lnTo>
                    <a:pt x="14" y="1267"/>
                  </a:lnTo>
                  <a:close/>
                  <a:moveTo>
                    <a:pt x="14" y="1294"/>
                  </a:moveTo>
                  <a:lnTo>
                    <a:pt x="14" y="1307"/>
                  </a:lnTo>
                  <a:lnTo>
                    <a:pt x="0" y="1307"/>
                  </a:lnTo>
                  <a:lnTo>
                    <a:pt x="0" y="1294"/>
                  </a:lnTo>
                  <a:lnTo>
                    <a:pt x="14" y="1294"/>
                  </a:lnTo>
                  <a:close/>
                  <a:moveTo>
                    <a:pt x="14" y="1321"/>
                  </a:moveTo>
                  <a:lnTo>
                    <a:pt x="14" y="1334"/>
                  </a:lnTo>
                  <a:lnTo>
                    <a:pt x="0" y="1334"/>
                  </a:lnTo>
                  <a:lnTo>
                    <a:pt x="0" y="1321"/>
                  </a:lnTo>
                  <a:lnTo>
                    <a:pt x="14" y="1321"/>
                  </a:lnTo>
                  <a:close/>
                  <a:moveTo>
                    <a:pt x="14" y="1348"/>
                  </a:moveTo>
                  <a:lnTo>
                    <a:pt x="14" y="1361"/>
                  </a:lnTo>
                  <a:lnTo>
                    <a:pt x="0" y="1361"/>
                  </a:lnTo>
                  <a:lnTo>
                    <a:pt x="0" y="1348"/>
                  </a:lnTo>
                  <a:lnTo>
                    <a:pt x="14" y="1348"/>
                  </a:lnTo>
                  <a:close/>
                  <a:moveTo>
                    <a:pt x="14" y="1375"/>
                  </a:moveTo>
                  <a:lnTo>
                    <a:pt x="14" y="1388"/>
                  </a:lnTo>
                  <a:lnTo>
                    <a:pt x="0" y="1388"/>
                  </a:lnTo>
                  <a:lnTo>
                    <a:pt x="0" y="1375"/>
                  </a:lnTo>
                  <a:lnTo>
                    <a:pt x="14" y="1375"/>
                  </a:lnTo>
                  <a:close/>
                  <a:moveTo>
                    <a:pt x="14" y="1402"/>
                  </a:moveTo>
                  <a:lnTo>
                    <a:pt x="14" y="1415"/>
                  </a:lnTo>
                  <a:lnTo>
                    <a:pt x="0" y="1415"/>
                  </a:lnTo>
                  <a:lnTo>
                    <a:pt x="0" y="1402"/>
                  </a:lnTo>
                  <a:lnTo>
                    <a:pt x="14" y="1402"/>
                  </a:lnTo>
                  <a:close/>
                  <a:moveTo>
                    <a:pt x="14" y="1429"/>
                  </a:moveTo>
                  <a:lnTo>
                    <a:pt x="14" y="1442"/>
                  </a:lnTo>
                  <a:lnTo>
                    <a:pt x="0" y="1442"/>
                  </a:lnTo>
                  <a:lnTo>
                    <a:pt x="0" y="1429"/>
                  </a:lnTo>
                  <a:lnTo>
                    <a:pt x="14" y="1429"/>
                  </a:lnTo>
                  <a:close/>
                  <a:moveTo>
                    <a:pt x="14" y="1455"/>
                  </a:moveTo>
                  <a:lnTo>
                    <a:pt x="14" y="1469"/>
                  </a:lnTo>
                  <a:lnTo>
                    <a:pt x="0" y="1469"/>
                  </a:lnTo>
                  <a:lnTo>
                    <a:pt x="0" y="1455"/>
                  </a:lnTo>
                  <a:lnTo>
                    <a:pt x="14" y="1455"/>
                  </a:lnTo>
                  <a:close/>
                  <a:moveTo>
                    <a:pt x="14" y="1483"/>
                  </a:moveTo>
                  <a:lnTo>
                    <a:pt x="14" y="1496"/>
                  </a:lnTo>
                  <a:lnTo>
                    <a:pt x="0" y="1496"/>
                  </a:lnTo>
                  <a:lnTo>
                    <a:pt x="0" y="1483"/>
                  </a:lnTo>
                  <a:lnTo>
                    <a:pt x="14" y="1483"/>
                  </a:lnTo>
                  <a:close/>
                  <a:moveTo>
                    <a:pt x="14" y="1510"/>
                  </a:moveTo>
                  <a:lnTo>
                    <a:pt x="14" y="1523"/>
                  </a:lnTo>
                  <a:lnTo>
                    <a:pt x="0" y="1523"/>
                  </a:lnTo>
                  <a:lnTo>
                    <a:pt x="0" y="1510"/>
                  </a:lnTo>
                  <a:lnTo>
                    <a:pt x="14" y="1510"/>
                  </a:lnTo>
                  <a:close/>
                  <a:moveTo>
                    <a:pt x="14" y="1536"/>
                  </a:moveTo>
                  <a:lnTo>
                    <a:pt x="14" y="1550"/>
                  </a:lnTo>
                  <a:lnTo>
                    <a:pt x="0" y="1550"/>
                  </a:lnTo>
                  <a:lnTo>
                    <a:pt x="0" y="1536"/>
                  </a:lnTo>
                  <a:lnTo>
                    <a:pt x="14" y="1536"/>
                  </a:lnTo>
                  <a:close/>
                  <a:moveTo>
                    <a:pt x="14" y="1564"/>
                  </a:moveTo>
                  <a:lnTo>
                    <a:pt x="14" y="1577"/>
                  </a:lnTo>
                  <a:lnTo>
                    <a:pt x="0" y="1577"/>
                  </a:lnTo>
                  <a:lnTo>
                    <a:pt x="0" y="1564"/>
                  </a:lnTo>
                  <a:lnTo>
                    <a:pt x="14" y="1564"/>
                  </a:lnTo>
                  <a:close/>
                  <a:moveTo>
                    <a:pt x="14" y="1590"/>
                  </a:moveTo>
                  <a:lnTo>
                    <a:pt x="14" y="1604"/>
                  </a:lnTo>
                  <a:lnTo>
                    <a:pt x="0" y="1604"/>
                  </a:lnTo>
                  <a:lnTo>
                    <a:pt x="0" y="1590"/>
                  </a:lnTo>
                  <a:lnTo>
                    <a:pt x="14" y="1590"/>
                  </a:lnTo>
                  <a:close/>
                  <a:moveTo>
                    <a:pt x="14" y="1617"/>
                  </a:moveTo>
                  <a:lnTo>
                    <a:pt x="14" y="1631"/>
                  </a:lnTo>
                  <a:lnTo>
                    <a:pt x="0" y="1631"/>
                  </a:lnTo>
                  <a:lnTo>
                    <a:pt x="0" y="1617"/>
                  </a:lnTo>
                  <a:lnTo>
                    <a:pt x="14" y="1617"/>
                  </a:lnTo>
                  <a:close/>
                  <a:moveTo>
                    <a:pt x="14" y="1644"/>
                  </a:moveTo>
                  <a:lnTo>
                    <a:pt x="14" y="1658"/>
                  </a:lnTo>
                  <a:lnTo>
                    <a:pt x="0" y="1658"/>
                  </a:lnTo>
                  <a:lnTo>
                    <a:pt x="0" y="1644"/>
                  </a:lnTo>
                  <a:lnTo>
                    <a:pt x="14" y="1644"/>
                  </a:lnTo>
                  <a:close/>
                  <a:moveTo>
                    <a:pt x="14" y="1671"/>
                  </a:moveTo>
                  <a:lnTo>
                    <a:pt x="14" y="1685"/>
                  </a:lnTo>
                  <a:lnTo>
                    <a:pt x="0" y="1685"/>
                  </a:lnTo>
                  <a:lnTo>
                    <a:pt x="0" y="1671"/>
                  </a:lnTo>
                  <a:lnTo>
                    <a:pt x="14" y="1671"/>
                  </a:lnTo>
                  <a:close/>
                  <a:moveTo>
                    <a:pt x="14" y="1698"/>
                  </a:moveTo>
                  <a:lnTo>
                    <a:pt x="14" y="1712"/>
                  </a:lnTo>
                  <a:lnTo>
                    <a:pt x="0" y="1712"/>
                  </a:lnTo>
                  <a:lnTo>
                    <a:pt x="0" y="1698"/>
                  </a:lnTo>
                  <a:lnTo>
                    <a:pt x="14" y="1698"/>
                  </a:lnTo>
                  <a:close/>
                  <a:moveTo>
                    <a:pt x="14" y="1725"/>
                  </a:moveTo>
                  <a:lnTo>
                    <a:pt x="14" y="1738"/>
                  </a:lnTo>
                  <a:lnTo>
                    <a:pt x="0" y="1738"/>
                  </a:lnTo>
                  <a:lnTo>
                    <a:pt x="0" y="1725"/>
                  </a:lnTo>
                  <a:lnTo>
                    <a:pt x="14" y="1725"/>
                  </a:lnTo>
                  <a:close/>
                  <a:moveTo>
                    <a:pt x="14" y="1752"/>
                  </a:moveTo>
                  <a:lnTo>
                    <a:pt x="14" y="1766"/>
                  </a:lnTo>
                  <a:lnTo>
                    <a:pt x="0" y="1766"/>
                  </a:lnTo>
                  <a:lnTo>
                    <a:pt x="0" y="1752"/>
                  </a:lnTo>
                  <a:lnTo>
                    <a:pt x="14" y="1752"/>
                  </a:lnTo>
                  <a:close/>
                  <a:moveTo>
                    <a:pt x="14" y="1779"/>
                  </a:moveTo>
                  <a:lnTo>
                    <a:pt x="14" y="1792"/>
                  </a:lnTo>
                  <a:lnTo>
                    <a:pt x="0" y="1792"/>
                  </a:lnTo>
                  <a:lnTo>
                    <a:pt x="0" y="1779"/>
                  </a:lnTo>
                  <a:lnTo>
                    <a:pt x="14" y="1779"/>
                  </a:lnTo>
                  <a:close/>
                  <a:moveTo>
                    <a:pt x="14" y="1806"/>
                  </a:moveTo>
                  <a:lnTo>
                    <a:pt x="14" y="1819"/>
                  </a:lnTo>
                  <a:lnTo>
                    <a:pt x="0" y="1819"/>
                  </a:lnTo>
                  <a:lnTo>
                    <a:pt x="0" y="1806"/>
                  </a:lnTo>
                  <a:lnTo>
                    <a:pt x="14" y="1806"/>
                  </a:lnTo>
                  <a:close/>
                  <a:moveTo>
                    <a:pt x="14" y="1833"/>
                  </a:moveTo>
                  <a:lnTo>
                    <a:pt x="14" y="1846"/>
                  </a:lnTo>
                  <a:lnTo>
                    <a:pt x="0" y="1846"/>
                  </a:lnTo>
                  <a:lnTo>
                    <a:pt x="0" y="1833"/>
                  </a:lnTo>
                  <a:lnTo>
                    <a:pt x="14" y="1833"/>
                  </a:lnTo>
                  <a:close/>
                  <a:moveTo>
                    <a:pt x="14" y="1860"/>
                  </a:moveTo>
                  <a:lnTo>
                    <a:pt x="14" y="1873"/>
                  </a:lnTo>
                  <a:lnTo>
                    <a:pt x="0" y="1873"/>
                  </a:lnTo>
                  <a:lnTo>
                    <a:pt x="0" y="1860"/>
                  </a:lnTo>
                  <a:lnTo>
                    <a:pt x="14" y="1860"/>
                  </a:lnTo>
                  <a:close/>
                  <a:moveTo>
                    <a:pt x="14" y="1887"/>
                  </a:moveTo>
                  <a:lnTo>
                    <a:pt x="14" y="1900"/>
                  </a:lnTo>
                  <a:lnTo>
                    <a:pt x="0" y="1900"/>
                  </a:lnTo>
                  <a:lnTo>
                    <a:pt x="0" y="1887"/>
                  </a:lnTo>
                  <a:lnTo>
                    <a:pt x="14" y="1887"/>
                  </a:lnTo>
                  <a:close/>
                  <a:moveTo>
                    <a:pt x="14" y="1914"/>
                  </a:moveTo>
                  <a:lnTo>
                    <a:pt x="14" y="1927"/>
                  </a:lnTo>
                  <a:lnTo>
                    <a:pt x="0" y="1927"/>
                  </a:lnTo>
                  <a:lnTo>
                    <a:pt x="0" y="1914"/>
                  </a:lnTo>
                  <a:lnTo>
                    <a:pt x="14" y="1914"/>
                  </a:lnTo>
                  <a:close/>
                  <a:moveTo>
                    <a:pt x="14" y="1941"/>
                  </a:moveTo>
                  <a:lnTo>
                    <a:pt x="14" y="1954"/>
                  </a:lnTo>
                  <a:lnTo>
                    <a:pt x="0" y="1954"/>
                  </a:lnTo>
                  <a:lnTo>
                    <a:pt x="0" y="1941"/>
                  </a:lnTo>
                  <a:lnTo>
                    <a:pt x="14" y="1941"/>
                  </a:lnTo>
                  <a:close/>
                  <a:moveTo>
                    <a:pt x="14" y="1968"/>
                  </a:moveTo>
                  <a:lnTo>
                    <a:pt x="14" y="1981"/>
                  </a:lnTo>
                  <a:lnTo>
                    <a:pt x="0" y="1981"/>
                  </a:lnTo>
                  <a:lnTo>
                    <a:pt x="0" y="1968"/>
                  </a:lnTo>
                  <a:lnTo>
                    <a:pt x="14" y="1968"/>
                  </a:lnTo>
                  <a:close/>
                  <a:moveTo>
                    <a:pt x="14" y="1995"/>
                  </a:moveTo>
                  <a:lnTo>
                    <a:pt x="14" y="2008"/>
                  </a:lnTo>
                  <a:lnTo>
                    <a:pt x="0" y="2008"/>
                  </a:lnTo>
                  <a:lnTo>
                    <a:pt x="0" y="1995"/>
                  </a:lnTo>
                  <a:lnTo>
                    <a:pt x="14" y="1995"/>
                  </a:lnTo>
                  <a:close/>
                  <a:moveTo>
                    <a:pt x="14" y="2021"/>
                  </a:moveTo>
                  <a:lnTo>
                    <a:pt x="14" y="2035"/>
                  </a:lnTo>
                  <a:lnTo>
                    <a:pt x="0" y="2035"/>
                  </a:lnTo>
                  <a:lnTo>
                    <a:pt x="0" y="2021"/>
                  </a:lnTo>
                  <a:lnTo>
                    <a:pt x="14" y="2021"/>
                  </a:lnTo>
                  <a:close/>
                  <a:moveTo>
                    <a:pt x="14" y="2049"/>
                  </a:moveTo>
                  <a:lnTo>
                    <a:pt x="14" y="2062"/>
                  </a:lnTo>
                  <a:lnTo>
                    <a:pt x="0" y="2062"/>
                  </a:lnTo>
                  <a:lnTo>
                    <a:pt x="0" y="2049"/>
                  </a:lnTo>
                  <a:lnTo>
                    <a:pt x="14" y="2049"/>
                  </a:lnTo>
                  <a:close/>
                  <a:moveTo>
                    <a:pt x="14" y="2075"/>
                  </a:moveTo>
                  <a:lnTo>
                    <a:pt x="14" y="2089"/>
                  </a:lnTo>
                  <a:lnTo>
                    <a:pt x="0" y="2089"/>
                  </a:lnTo>
                  <a:lnTo>
                    <a:pt x="0" y="2075"/>
                  </a:lnTo>
                  <a:lnTo>
                    <a:pt x="14" y="2075"/>
                  </a:lnTo>
                  <a:close/>
                  <a:moveTo>
                    <a:pt x="14" y="2102"/>
                  </a:moveTo>
                  <a:lnTo>
                    <a:pt x="14" y="2116"/>
                  </a:lnTo>
                  <a:lnTo>
                    <a:pt x="0" y="2116"/>
                  </a:lnTo>
                  <a:lnTo>
                    <a:pt x="0" y="2102"/>
                  </a:lnTo>
                  <a:lnTo>
                    <a:pt x="14" y="2102"/>
                  </a:lnTo>
                  <a:close/>
                  <a:moveTo>
                    <a:pt x="14" y="2129"/>
                  </a:moveTo>
                  <a:lnTo>
                    <a:pt x="14" y="2143"/>
                  </a:lnTo>
                  <a:lnTo>
                    <a:pt x="0" y="2143"/>
                  </a:lnTo>
                  <a:lnTo>
                    <a:pt x="0" y="2129"/>
                  </a:lnTo>
                  <a:lnTo>
                    <a:pt x="14" y="2129"/>
                  </a:lnTo>
                  <a:close/>
                  <a:moveTo>
                    <a:pt x="14" y="2156"/>
                  </a:moveTo>
                  <a:lnTo>
                    <a:pt x="14" y="2170"/>
                  </a:lnTo>
                  <a:lnTo>
                    <a:pt x="0" y="2170"/>
                  </a:lnTo>
                  <a:lnTo>
                    <a:pt x="0" y="2156"/>
                  </a:lnTo>
                  <a:lnTo>
                    <a:pt x="14" y="2156"/>
                  </a:lnTo>
                  <a:close/>
                  <a:moveTo>
                    <a:pt x="14" y="2183"/>
                  </a:moveTo>
                  <a:lnTo>
                    <a:pt x="14" y="2197"/>
                  </a:lnTo>
                  <a:lnTo>
                    <a:pt x="0" y="2197"/>
                  </a:lnTo>
                  <a:lnTo>
                    <a:pt x="0" y="2183"/>
                  </a:lnTo>
                  <a:lnTo>
                    <a:pt x="14" y="2183"/>
                  </a:lnTo>
                  <a:close/>
                  <a:moveTo>
                    <a:pt x="14" y="2210"/>
                  </a:moveTo>
                  <a:lnTo>
                    <a:pt x="14" y="2224"/>
                  </a:lnTo>
                  <a:lnTo>
                    <a:pt x="0" y="2224"/>
                  </a:lnTo>
                  <a:lnTo>
                    <a:pt x="0" y="2210"/>
                  </a:lnTo>
                  <a:lnTo>
                    <a:pt x="14" y="2210"/>
                  </a:lnTo>
                  <a:close/>
                  <a:moveTo>
                    <a:pt x="14" y="2237"/>
                  </a:moveTo>
                  <a:lnTo>
                    <a:pt x="14" y="2251"/>
                  </a:lnTo>
                  <a:lnTo>
                    <a:pt x="0" y="2251"/>
                  </a:lnTo>
                  <a:lnTo>
                    <a:pt x="0" y="2237"/>
                  </a:lnTo>
                  <a:lnTo>
                    <a:pt x="14" y="2237"/>
                  </a:lnTo>
                  <a:close/>
                  <a:moveTo>
                    <a:pt x="14" y="2264"/>
                  </a:moveTo>
                  <a:lnTo>
                    <a:pt x="14" y="2278"/>
                  </a:lnTo>
                  <a:lnTo>
                    <a:pt x="0" y="2278"/>
                  </a:lnTo>
                  <a:lnTo>
                    <a:pt x="0" y="2264"/>
                  </a:lnTo>
                  <a:lnTo>
                    <a:pt x="14" y="2264"/>
                  </a:lnTo>
                  <a:close/>
                  <a:moveTo>
                    <a:pt x="14" y="2291"/>
                  </a:moveTo>
                  <a:lnTo>
                    <a:pt x="14" y="2304"/>
                  </a:lnTo>
                  <a:lnTo>
                    <a:pt x="0" y="2304"/>
                  </a:lnTo>
                  <a:lnTo>
                    <a:pt x="0" y="2291"/>
                  </a:lnTo>
                  <a:lnTo>
                    <a:pt x="14" y="2291"/>
                  </a:lnTo>
                  <a:close/>
                  <a:moveTo>
                    <a:pt x="14" y="2318"/>
                  </a:moveTo>
                  <a:lnTo>
                    <a:pt x="14" y="2332"/>
                  </a:lnTo>
                  <a:lnTo>
                    <a:pt x="0" y="2332"/>
                  </a:lnTo>
                  <a:lnTo>
                    <a:pt x="0" y="2318"/>
                  </a:lnTo>
                  <a:lnTo>
                    <a:pt x="14" y="2318"/>
                  </a:lnTo>
                  <a:close/>
                  <a:moveTo>
                    <a:pt x="14" y="2345"/>
                  </a:moveTo>
                  <a:lnTo>
                    <a:pt x="14" y="2358"/>
                  </a:lnTo>
                  <a:lnTo>
                    <a:pt x="0" y="2358"/>
                  </a:lnTo>
                  <a:lnTo>
                    <a:pt x="0" y="2345"/>
                  </a:lnTo>
                  <a:lnTo>
                    <a:pt x="14" y="234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99" name="Freeform 95">
              <a:extLst>
                <a:ext uri="{FF2B5EF4-FFF2-40B4-BE49-F238E27FC236}">
                  <a16:creationId xmlns:a16="http://schemas.microsoft.com/office/drawing/2014/main" id="{C0E62672-D2D3-4CB8-BDC5-80CE95A3A67C}"/>
                </a:ext>
              </a:extLst>
            </p:cNvPr>
            <p:cNvSpPr>
              <a:spLocks noEditPoints="1"/>
            </p:cNvSpPr>
            <p:nvPr/>
          </p:nvSpPr>
          <p:spPr bwMode="auto">
            <a:xfrm>
              <a:off x="704675" y="2993031"/>
              <a:ext cx="76312" cy="3411858"/>
            </a:xfrm>
            <a:custGeom>
              <a:avLst/>
              <a:gdLst>
                <a:gd name="T0" fmla="*/ 31 w 46"/>
                <a:gd name="T1" fmla="*/ 0 h 2386"/>
                <a:gd name="T2" fmla="*/ 31 w 46"/>
                <a:gd name="T3" fmla="*/ 2348 h 2386"/>
                <a:gd name="T4" fmla="*/ 16 w 46"/>
                <a:gd name="T5" fmla="*/ 2348 h 2386"/>
                <a:gd name="T6" fmla="*/ 16 w 46"/>
                <a:gd name="T7" fmla="*/ 0 h 2386"/>
                <a:gd name="T8" fmla="*/ 31 w 46"/>
                <a:gd name="T9" fmla="*/ 0 h 2386"/>
                <a:gd name="T10" fmla="*/ 46 w 46"/>
                <a:gd name="T11" fmla="*/ 2340 h 2386"/>
                <a:gd name="T12" fmla="*/ 23 w 46"/>
                <a:gd name="T13" fmla="*/ 2386 h 2386"/>
                <a:gd name="T14" fmla="*/ 0 w 46"/>
                <a:gd name="T15" fmla="*/ 2340 h 2386"/>
                <a:gd name="T16" fmla="*/ 46 w 46"/>
                <a:gd name="T17" fmla="*/ 2340 h 2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2386">
                  <a:moveTo>
                    <a:pt x="31" y="0"/>
                  </a:moveTo>
                  <a:lnTo>
                    <a:pt x="31" y="2348"/>
                  </a:lnTo>
                  <a:lnTo>
                    <a:pt x="16" y="2348"/>
                  </a:lnTo>
                  <a:lnTo>
                    <a:pt x="16" y="0"/>
                  </a:lnTo>
                  <a:lnTo>
                    <a:pt x="31" y="0"/>
                  </a:lnTo>
                  <a:close/>
                  <a:moveTo>
                    <a:pt x="46" y="2340"/>
                  </a:moveTo>
                  <a:lnTo>
                    <a:pt x="23" y="2386"/>
                  </a:lnTo>
                  <a:lnTo>
                    <a:pt x="0" y="2340"/>
                  </a:lnTo>
                  <a:lnTo>
                    <a:pt x="46" y="234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00" name="Freeform 96">
              <a:extLst>
                <a:ext uri="{FF2B5EF4-FFF2-40B4-BE49-F238E27FC236}">
                  <a16:creationId xmlns:a16="http://schemas.microsoft.com/office/drawing/2014/main" id="{22AA39B6-2135-456D-A3F6-7205BF8DF802}"/>
                </a:ext>
              </a:extLst>
            </p:cNvPr>
            <p:cNvSpPr>
              <a:spLocks/>
            </p:cNvSpPr>
            <p:nvPr/>
          </p:nvSpPr>
          <p:spPr bwMode="auto">
            <a:xfrm>
              <a:off x="3678746" y="2865840"/>
              <a:ext cx="287766" cy="640717"/>
            </a:xfrm>
            <a:custGeom>
              <a:avLst/>
              <a:gdLst>
                <a:gd name="T0" fmla="*/ 0 w 181"/>
                <a:gd name="T1" fmla="*/ 269 h 403"/>
                <a:gd name="T2" fmla="*/ 60 w 181"/>
                <a:gd name="T3" fmla="*/ 201 h 403"/>
                <a:gd name="T4" fmla="*/ 0 w 181"/>
                <a:gd name="T5" fmla="*/ 134 h 403"/>
                <a:gd name="T6" fmla="*/ 0 w 181"/>
                <a:gd name="T7" fmla="*/ 0 h 403"/>
                <a:gd name="T8" fmla="*/ 181 w 181"/>
                <a:gd name="T9" fmla="*/ 134 h 403"/>
                <a:gd name="T10" fmla="*/ 181 w 181"/>
                <a:gd name="T11" fmla="*/ 269 h 403"/>
                <a:gd name="T12" fmla="*/ 0 w 181"/>
                <a:gd name="T13" fmla="*/ 403 h 403"/>
                <a:gd name="T14" fmla="*/ 0 w 181"/>
                <a:gd name="T15" fmla="*/ 269 h 4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1" h="403">
                  <a:moveTo>
                    <a:pt x="0" y="269"/>
                  </a:moveTo>
                  <a:lnTo>
                    <a:pt x="60" y="201"/>
                  </a:lnTo>
                  <a:lnTo>
                    <a:pt x="0" y="134"/>
                  </a:lnTo>
                  <a:lnTo>
                    <a:pt x="0" y="0"/>
                  </a:lnTo>
                  <a:lnTo>
                    <a:pt x="181" y="134"/>
                  </a:lnTo>
                  <a:lnTo>
                    <a:pt x="181" y="269"/>
                  </a:lnTo>
                  <a:lnTo>
                    <a:pt x="0" y="403"/>
                  </a:lnTo>
                  <a:lnTo>
                    <a:pt x="0" y="269"/>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01" name="Rectangle 97">
              <a:extLst>
                <a:ext uri="{FF2B5EF4-FFF2-40B4-BE49-F238E27FC236}">
                  <a16:creationId xmlns:a16="http://schemas.microsoft.com/office/drawing/2014/main" id="{27D29FD4-8B69-41A1-A953-4BC80AA97D91}"/>
                </a:ext>
              </a:extLst>
            </p:cNvPr>
            <p:cNvSpPr>
              <a:spLocks noChangeArrowheads="1"/>
            </p:cNvSpPr>
            <p:nvPr/>
          </p:nvSpPr>
          <p:spPr bwMode="auto">
            <a:xfrm rot="5400000">
              <a:off x="3510220" y="3083652"/>
              <a:ext cx="685234" cy="20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ALU</a:t>
              </a:r>
              <a:endParaRPr kumimoji="0" lang="zh-CN" altLang="zh-CN" sz="13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02" name="Rectangle 98">
              <a:extLst>
                <a:ext uri="{FF2B5EF4-FFF2-40B4-BE49-F238E27FC236}">
                  <a16:creationId xmlns:a16="http://schemas.microsoft.com/office/drawing/2014/main" id="{BD462009-4DC6-498C-8D0C-6E2894EF5864}"/>
                </a:ext>
              </a:extLst>
            </p:cNvPr>
            <p:cNvSpPr>
              <a:spLocks noChangeArrowheads="1"/>
            </p:cNvSpPr>
            <p:nvPr/>
          </p:nvSpPr>
          <p:spPr bwMode="auto">
            <a:xfrm>
              <a:off x="2513372" y="3042316"/>
              <a:ext cx="18594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IM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03" name="Freeform 99">
              <a:extLst>
                <a:ext uri="{FF2B5EF4-FFF2-40B4-BE49-F238E27FC236}">
                  <a16:creationId xmlns:a16="http://schemas.microsoft.com/office/drawing/2014/main" id="{73FB23AF-EAE8-4ECE-948E-299DC7363582}"/>
                </a:ext>
              </a:extLst>
            </p:cNvPr>
            <p:cNvSpPr>
              <a:spLocks/>
            </p:cNvSpPr>
            <p:nvPr/>
          </p:nvSpPr>
          <p:spPr bwMode="auto">
            <a:xfrm>
              <a:off x="2441828" y="2993030"/>
              <a:ext cx="224172" cy="384748"/>
            </a:xfrm>
            <a:custGeom>
              <a:avLst/>
              <a:gdLst>
                <a:gd name="T0" fmla="*/ 141 w 141"/>
                <a:gd name="T1" fmla="*/ 0 h 242"/>
                <a:gd name="T2" fmla="*/ 0 w 141"/>
                <a:gd name="T3" fmla="*/ 0 h 242"/>
                <a:gd name="T4" fmla="*/ 0 w 141"/>
                <a:gd name="T5" fmla="*/ 242 h 242"/>
                <a:gd name="T6" fmla="*/ 141 w 141"/>
                <a:gd name="T7" fmla="*/ 242 h 242"/>
              </a:gdLst>
              <a:ahLst/>
              <a:cxnLst>
                <a:cxn ang="0">
                  <a:pos x="T0" y="T1"/>
                </a:cxn>
                <a:cxn ang="0">
                  <a:pos x="T2" y="T3"/>
                </a:cxn>
                <a:cxn ang="0">
                  <a:pos x="T4" y="T5"/>
                </a:cxn>
                <a:cxn ang="0">
                  <a:pos x="T6" y="T7"/>
                </a:cxn>
              </a:cxnLst>
              <a:rect l="0" t="0" r="r" b="b"/>
              <a:pathLst>
                <a:path w="141" h="242">
                  <a:moveTo>
                    <a:pt x="141" y="0"/>
                  </a:moveTo>
                  <a:lnTo>
                    <a:pt x="0" y="0"/>
                  </a:lnTo>
                  <a:lnTo>
                    <a:pt x="0" y="242"/>
                  </a:lnTo>
                  <a:lnTo>
                    <a:pt x="141"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04" name="Freeform 100">
              <a:extLst>
                <a:ext uri="{FF2B5EF4-FFF2-40B4-BE49-F238E27FC236}">
                  <a16:creationId xmlns:a16="http://schemas.microsoft.com/office/drawing/2014/main" id="{38AB309C-4270-4715-A208-A2DE944FAED6}"/>
                </a:ext>
              </a:extLst>
            </p:cNvPr>
            <p:cNvSpPr>
              <a:spLocks/>
            </p:cNvSpPr>
            <p:nvPr/>
          </p:nvSpPr>
          <p:spPr bwMode="auto">
            <a:xfrm>
              <a:off x="2666000" y="2993030"/>
              <a:ext cx="232121" cy="384748"/>
            </a:xfrm>
            <a:custGeom>
              <a:avLst/>
              <a:gdLst>
                <a:gd name="T0" fmla="*/ 0 w 146"/>
                <a:gd name="T1" fmla="*/ 0 h 242"/>
                <a:gd name="T2" fmla="*/ 146 w 146"/>
                <a:gd name="T3" fmla="*/ 0 h 242"/>
                <a:gd name="T4" fmla="*/ 146 w 146"/>
                <a:gd name="T5" fmla="*/ 242 h 242"/>
                <a:gd name="T6" fmla="*/ 0 w 146"/>
                <a:gd name="T7" fmla="*/ 242 h 242"/>
              </a:gdLst>
              <a:ahLst/>
              <a:cxnLst>
                <a:cxn ang="0">
                  <a:pos x="T0" y="T1"/>
                </a:cxn>
                <a:cxn ang="0">
                  <a:pos x="T2" y="T3"/>
                </a:cxn>
                <a:cxn ang="0">
                  <a:pos x="T4" y="T5"/>
                </a:cxn>
                <a:cxn ang="0">
                  <a:pos x="T6" y="T7"/>
                </a:cxn>
              </a:cxnLst>
              <a:rect l="0" t="0" r="r" b="b"/>
              <a:pathLst>
                <a:path w="146" h="242">
                  <a:moveTo>
                    <a:pt x="0" y="0"/>
                  </a:moveTo>
                  <a:lnTo>
                    <a:pt x="146" y="0"/>
                  </a:lnTo>
                  <a:lnTo>
                    <a:pt x="146"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05" name="Rectangle 101">
              <a:extLst>
                <a:ext uri="{FF2B5EF4-FFF2-40B4-BE49-F238E27FC236}">
                  <a16:creationId xmlns:a16="http://schemas.microsoft.com/office/drawing/2014/main" id="{870EBF86-DD73-48ED-8406-2AF419F9B6CE}"/>
                </a:ext>
              </a:extLst>
            </p:cNvPr>
            <p:cNvSpPr>
              <a:spLocks noChangeArrowheads="1"/>
            </p:cNvSpPr>
            <p:nvPr/>
          </p:nvSpPr>
          <p:spPr bwMode="auto">
            <a:xfrm>
              <a:off x="3107983" y="3048675"/>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06" name="Freeform 102">
              <a:extLst>
                <a:ext uri="{FF2B5EF4-FFF2-40B4-BE49-F238E27FC236}">
                  <a16:creationId xmlns:a16="http://schemas.microsoft.com/office/drawing/2014/main" id="{0FD69378-42E7-4263-93AC-A83A49B29A3B}"/>
                </a:ext>
              </a:extLst>
            </p:cNvPr>
            <p:cNvSpPr>
              <a:spLocks/>
            </p:cNvSpPr>
            <p:nvPr/>
          </p:nvSpPr>
          <p:spPr bwMode="auto">
            <a:xfrm>
              <a:off x="3060287" y="2993030"/>
              <a:ext cx="198734" cy="384748"/>
            </a:xfrm>
            <a:custGeom>
              <a:avLst/>
              <a:gdLst>
                <a:gd name="T0" fmla="*/ 125 w 125"/>
                <a:gd name="T1" fmla="*/ 0 h 242"/>
                <a:gd name="T2" fmla="*/ 0 w 125"/>
                <a:gd name="T3" fmla="*/ 0 h 242"/>
                <a:gd name="T4" fmla="*/ 0 w 125"/>
                <a:gd name="T5" fmla="*/ 242 h 242"/>
                <a:gd name="T6" fmla="*/ 125 w 125"/>
                <a:gd name="T7" fmla="*/ 242 h 242"/>
              </a:gdLst>
              <a:ahLst/>
              <a:cxnLst>
                <a:cxn ang="0">
                  <a:pos x="T0" y="T1"/>
                </a:cxn>
                <a:cxn ang="0">
                  <a:pos x="T2" y="T3"/>
                </a:cxn>
                <a:cxn ang="0">
                  <a:pos x="T4" y="T5"/>
                </a:cxn>
                <a:cxn ang="0">
                  <a:pos x="T6" y="T7"/>
                </a:cxn>
              </a:cxnLst>
              <a:rect l="0" t="0" r="r" b="b"/>
              <a:pathLst>
                <a:path w="125" h="242">
                  <a:moveTo>
                    <a:pt x="125" y="0"/>
                  </a:moveTo>
                  <a:lnTo>
                    <a:pt x="0" y="0"/>
                  </a:lnTo>
                  <a:lnTo>
                    <a:pt x="0" y="242"/>
                  </a:lnTo>
                  <a:lnTo>
                    <a:pt x="125"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07" name="Freeform 103">
              <a:extLst>
                <a:ext uri="{FF2B5EF4-FFF2-40B4-BE49-F238E27FC236}">
                  <a16:creationId xmlns:a16="http://schemas.microsoft.com/office/drawing/2014/main" id="{2097C185-E6CA-4297-A00D-EED3FA1C7698}"/>
                </a:ext>
              </a:extLst>
            </p:cNvPr>
            <p:cNvSpPr>
              <a:spLocks/>
            </p:cNvSpPr>
            <p:nvPr/>
          </p:nvSpPr>
          <p:spPr bwMode="auto">
            <a:xfrm>
              <a:off x="3252661" y="2993030"/>
              <a:ext cx="200323" cy="384748"/>
            </a:xfrm>
            <a:custGeom>
              <a:avLst/>
              <a:gdLst>
                <a:gd name="T0" fmla="*/ 0 w 126"/>
                <a:gd name="T1" fmla="*/ 0 h 242"/>
                <a:gd name="T2" fmla="*/ 126 w 126"/>
                <a:gd name="T3" fmla="*/ 0 h 242"/>
                <a:gd name="T4" fmla="*/ 126 w 126"/>
                <a:gd name="T5" fmla="*/ 242 h 242"/>
                <a:gd name="T6" fmla="*/ 0 w 126"/>
                <a:gd name="T7" fmla="*/ 242 h 242"/>
              </a:gdLst>
              <a:ahLst/>
              <a:cxnLst>
                <a:cxn ang="0">
                  <a:pos x="T0" y="T1"/>
                </a:cxn>
                <a:cxn ang="0">
                  <a:pos x="T2" y="T3"/>
                </a:cxn>
                <a:cxn ang="0">
                  <a:pos x="T4" y="T5"/>
                </a:cxn>
                <a:cxn ang="0">
                  <a:pos x="T6" y="T7"/>
                </a:cxn>
              </a:cxnLst>
              <a:rect l="0" t="0" r="r" b="b"/>
              <a:pathLst>
                <a:path w="126" h="242">
                  <a:moveTo>
                    <a:pt x="0" y="0"/>
                  </a:moveTo>
                  <a:lnTo>
                    <a:pt x="126" y="0"/>
                  </a:lnTo>
                  <a:lnTo>
                    <a:pt x="126"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08" name="Line 104">
              <a:extLst>
                <a:ext uri="{FF2B5EF4-FFF2-40B4-BE49-F238E27FC236}">
                  <a16:creationId xmlns:a16="http://schemas.microsoft.com/office/drawing/2014/main" id="{7B361365-615A-4951-9217-0059379E954D}"/>
                </a:ext>
              </a:extLst>
            </p:cNvPr>
            <p:cNvSpPr>
              <a:spLocks noChangeShapeType="1"/>
            </p:cNvSpPr>
            <p:nvPr/>
          </p:nvSpPr>
          <p:spPr bwMode="auto">
            <a:xfrm>
              <a:off x="2907660" y="3186994"/>
              <a:ext cx="152627"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09" name="Freeform 105">
              <a:extLst>
                <a:ext uri="{FF2B5EF4-FFF2-40B4-BE49-F238E27FC236}">
                  <a16:creationId xmlns:a16="http://schemas.microsoft.com/office/drawing/2014/main" id="{BB1129DD-4363-4D9A-84D9-E3819CBE7E44}"/>
                </a:ext>
              </a:extLst>
            </p:cNvPr>
            <p:cNvSpPr>
              <a:spLocks/>
            </p:cNvSpPr>
            <p:nvPr/>
          </p:nvSpPr>
          <p:spPr bwMode="auto">
            <a:xfrm>
              <a:off x="2995102" y="3058214"/>
              <a:ext cx="63595" cy="127190"/>
            </a:xfrm>
            <a:custGeom>
              <a:avLst/>
              <a:gdLst>
                <a:gd name="T0" fmla="*/ 0 w 40"/>
                <a:gd name="T1" fmla="*/ 80 h 80"/>
                <a:gd name="T2" fmla="*/ 0 w 40"/>
                <a:gd name="T3" fmla="*/ 0 h 80"/>
                <a:gd name="T4" fmla="*/ 40 w 40"/>
                <a:gd name="T5" fmla="*/ 0 h 80"/>
              </a:gdLst>
              <a:ahLst/>
              <a:cxnLst>
                <a:cxn ang="0">
                  <a:pos x="T0" y="T1"/>
                </a:cxn>
                <a:cxn ang="0">
                  <a:pos x="T2" y="T3"/>
                </a:cxn>
                <a:cxn ang="0">
                  <a:pos x="T4" y="T5"/>
                </a:cxn>
              </a:cxnLst>
              <a:rect l="0" t="0" r="r" b="b"/>
              <a:pathLst>
                <a:path w="40" h="80">
                  <a:moveTo>
                    <a:pt x="0" y="80"/>
                  </a:moveTo>
                  <a:lnTo>
                    <a:pt x="0" y="0"/>
                  </a:lnTo>
                  <a:lnTo>
                    <a:pt x="40" y="0"/>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0" name="Line 106">
              <a:extLst>
                <a:ext uri="{FF2B5EF4-FFF2-40B4-BE49-F238E27FC236}">
                  <a16:creationId xmlns:a16="http://schemas.microsoft.com/office/drawing/2014/main" id="{E666D77B-612D-4CC8-8B54-053C10D98C04}"/>
                </a:ext>
              </a:extLst>
            </p:cNvPr>
            <p:cNvSpPr>
              <a:spLocks noChangeShapeType="1"/>
            </p:cNvSpPr>
            <p:nvPr/>
          </p:nvSpPr>
          <p:spPr bwMode="auto">
            <a:xfrm>
              <a:off x="3460934" y="3058214"/>
              <a:ext cx="20986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1" name="Rectangle 107">
              <a:extLst>
                <a:ext uri="{FF2B5EF4-FFF2-40B4-BE49-F238E27FC236}">
                  <a16:creationId xmlns:a16="http://schemas.microsoft.com/office/drawing/2014/main" id="{3980D9D0-9181-4213-910B-062142B5238E}"/>
                </a:ext>
              </a:extLst>
            </p:cNvPr>
            <p:cNvSpPr>
              <a:spLocks noChangeArrowheads="1"/>
            </p:cNvSpPr>
            <p:nvPr/>
          </p:nvSpPr>
          <p:spPr bwMode="auto">
            <a:xfrm>
              <a:off x="4201813" y="3042316"/>
              <a:ext cx="25968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DM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12" name="Freeform 108">
              <a:extLst>
                <a:ext uri="{FF2B5EF4-FFF2-40B4-BE49-F238E27FC236}">
                  <a16:creationId xmlns:a16="http://schemas.microsoft.com/office/drawing/2014/main" id="{DBA77EB4-55D6-43A0-95AB-6F792BE721EF}"/>
                </a:ext>
              </a:extLst>
            </p:cNvPr>
            <p:cNvSpPr>
              <a:spLocks/>
            </p:cNvSpPr>
            <p:nvPr/>
          </p:nvSpPr>
          <p:spPr bwMode="auto">
            <a:xfrm>
              <a:off x="4192274" y="2993030"/>
              <a:ext cx="216222" cy="384748"/>
            </a:xfrm>
            <a:custGeom>
              <a:avLst/>
              <a:gdLst>
                <a:gd name="T0" fmla="*/ 136 w 136"/>
                <a:gd name="T1" fmla="*/ 0 h 242"/>
                <a:gd name="T2" fmla="*/ 0 w 136"/>
                <a:gd name="T3" fmla="*/ 0 h 242"/>
                <a:gd name="T4" fmla="*/ 0 w 136"/>
                <a:gd name="T5" fmla="*/ 242 h 242"/>
                <a:gd name="T6" fmla="*/ 136 w 136"/>
                <a:gd name="T7" fmla="*/ 242 h 242"/>
              </a:gdLst>
              <a:ahLst/>
              <a:cxnLst>
                <a:cxn ang="0">
                  <a:pos x="T0" y="T1"/>
                </a:cxn>
                <a:cxn ang="0">
                  <a:pos x="T2" y="T3"/>
                </a:cxn>
                <a:cxn ang="0">
                  <a:pos x="T4" y="T5"/>
                </a:cxn>
                <a:cxn ang="0">
                  <a:pos x="T6" y="T7"/>
                </a:cxn>
              </a:cxnLst>
              <a:rect l="0" t="0" r="r" b="b"/>
              <a:pathLst>
                <a:path w="136" h="242">
                  <a:moveTo>
                    <a:pt x="136" y="0"/>
                  </a:moveTo>
                  <a:lnTo>
                    <a:pt x="0" y="0"/>
                  </a:lnTo>
                  <a:lnTo>
                    <a:pt x="0" y="242"/>
                  </a:lnTo>
                  <a:lnTo>
                    <a:pt x="136"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3" name="Freeform 109">
              <a:extLst>
                <a:ext uri="{FF2B5EF4-FFF2-40B4-BE49-F238E27FC236}">
                  <a16:creationId xmlns:a16="http://schemas.microsoft.com/office/drawing/2014/main" id="{B6B813D3-B15B-4EBF-9C4B-26AF57988569}"/>
                </a:ext>
              </a:extLst>
            </p:cNvPr>
            <p:cNvSpPr>
              <a:spLocks/>
            </p:cNvSpPr>
            <p:nvPr/>
          </p:nvSpPr>
          <p:spPr bwMode="auto">
            <a:xfrm>
              <a:off x="4408496" y="2993030"/>
              <a:ext cx="216222" cy="384748"/>
            </a:xfrm>
            <a:custGeom>
              <a:avLst/>
              <a:gdLst>
                <a:gd name="T0" fmla="*/ 0 w 136"/>
                <a:gd name="T1" fmla="*/ 0 h 242"/>
                <a:gd name="T2" fmla="*/ 136 w 136"/>
                <a:gd name="T3" fmla="*/ 0 h 242"/>
                <a:gd name="T4" fmla="*/ 136 w 136"/>
                <a:gd name="T5" fmla="*/ 242 h 242"/>
                <a:gd name="T6" fmla="*/ 0 w 136"/>
                <a:gd name="T7" fmla="*/ 242 h 242"/>
              </a:gdLst>
              <a:ahLst/>
              <a:cxnLst>
                <a:cxn ang="0">
                  <a:pos x="T0" y="T1"/>
                </a:cxn>
                <a:cxn ang="0">
                  <a:pos x="T2" y="T3"/>
                </a:cxn>
                <a:cxn ang="0">
                  <a:pos x="T4" y="T5"/>
                </a:cxn>
                <a:cxn ang="0">
                  <a:pos x="T6" y="T7"/>
                </a:cxn>
              </a:cxnLst>
              <a:rect l="0" t="0" r="r" b="b"/>
              <a:pathLst>
                <a:path w="136" h="242">
                  <a:moveTo>
                    <a:pt x="0" y="0"/>
                  </a:moveTo>
                  <a:lnTo>
                    <a:pt x="136" y="0"/>
                  </a:lnTo>
                  <a:lnTo>
                    <a:pt x="136"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4" name="Rectangle 110">
              <a:extLst>
                <a:ext uri="{FF2B5EF4-FFF2-40B4-BE49-F238E27FC236}">
                  <a16:creationId xmlns:a16="http://schemas.microsoft.com/office/drawing/2014/main" id="{9B0A1F30-7B43-49AA-AAB9-2BE94DF37634}"/>
                </a:ext>
              </a:extLst>
            </p:cNvPr>
            <p:cNvSpPr>
              <a:spLocks noChangeArrowheads="1"/>
            </p:cNvSpPr>
            <p:nvPr/>
          </p:nvSpPr>
          <p:spPr bwMode="auto">
            <a:xfrm>
              <a:off x="4861609" y="3042316"/>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15" name="Freeform 111">
              <a:extLst>
                <a:ext uri="{FF2B5EF4-FFF2-40B4-BE49-F238E27FC236}">
                  <a16:creationId xmlns:a16="http://schemas.microsoft.com/office/drawing/2014/main" id="{7422F700-51CD-4D07-A371-3A11CBA1153C}"/>
                </a:ext>
              </a:extLst>
            </p:cNvPr>
            <p:cNvSpPr>
              <a:spLocks/>
            </p:cNvSpPr>
            <p:nvPr/>
          </p:nvSpPr>
          <p:spPr bwMode="auto">
            <a:xfrm>
              <a:off x="4818682" y="2993030"/>
              <a:ext cx="190784" cy="384748"/>
            </a:xfrm>
            <a:custGeom>
              <a:avLst/>
              <a:gdLst>
                <a:gd name="T0" fmla="*/ 120 w 120"/>
                <a:gd name="T1" fmla="*/ 0 h 242"/>
                <a:gd name="T2" fmla="*/ 0 w 120"/>
                <a:gd name="T3" fmla="*/ 0 h 242"/>
                <a:gd name="T4" fmla="*/ 0 w 120"/>
                <a:gd name="T5" fmla="*/ 242 h 242"/>
                <a:gd name="T6" fmla="*/ 120 w 120"/>
                <a:gd name="T7" fmla="*/ 242 h 242"/>
              </a:gdLst>
              <a:ahLst/>
              <a:cxnLst>
                <a:cxn ang="0">
                  <a:pos x="T0" y="T1"/>
                </a:cxn>
                <a:cxn ang="0">
                  <a:pos x="T2" y="T3"/>
                </a:cxn>
                <a:cxn ang="0">
                  <a:pos x="T4" y="T5"/>
                </a:cxn>
                <a:cxn ang="0">
                  <a:pos x="T6" y="T7"/>
                </a:cxn>
              </a:cxnLst>
              <a:rect l="0" t="0" r="r" b="b"/>
              <a:pathLst>
                <a:path w="120" h="242">
                  <a:moveTo>
                    <a:pt x="120" y="0"/>
                  </a:moveTo>
                  <a:lnTo>
                    <a:pt x="0" y="0"/>
                  </a:lnTo>
                  <a:lnTo>
                    <a:pt x="0" y="242"/>
                  </a:lnTo>
                  <a:lnTo>
                    <a:pt x="12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6" name="Freeform 112">
              <a:extLst>
                <a:ext uri="{FF2B5EF4-FFF2-40B4-BE49-F238E27FC236}">
                  <a16:creationId xmlns:a16="http://schemas.microsoft.com/office/drawing/2014/main" id="{5449E963-3371-4DE3-8754-E31BEEA5D11F}"/>
                </a:ext>
              </a:extLst>
            </p:cNvPr>
            <p:cNvSpPr>
              <a:spLocks/>
            </p:cNvSpPr>
            <p:nvPr/>
          </p:nvSpPr>
          <p:spPr bwMode="auto">
            <a:xfrm>
              <a:off x="5011056" y="2993030"/>
              <a:ext cx="190784" cy="384748"/>
            </a:xfrm>
            <a:custGeom>
              <a:avLst/>
              <a:gdLst>
                <a:gd name="T0" fmla="*/ 0 w 120"/>
                <a:gd name="T1" fmla="*/ 0 h 242"/>
                <a:gd name="T2" fmla="*/ 120 w 120"/>
                <a:gd name="T3" fmla="*/ 0 h 242"/>
                <a:gd name="T4" fmla="*/ 120 w 120"/>
                <a:gd name="T5" fmla="*/ 242 h 242"/>
                <a:gd name="T6" fmla="*/ 0 w 120"/>
                <a:gd name="T7" fmla="*/ 242 h 242"/>
              </a:gdLst>
              <a:ahLst/>
              <a:cxnLst>
                <a:cxn ang="0">
                  <a:pos x="T0" y="T1"/>
                </a:cxn>
                <a:cxn ang="0">
                  <a:pos x="T2" y="T3"/>
                </a:cxn>
                <a:cxn ang="0">
                  <a:pos x="T4" y="T5"/>
                </a:cxn>
                <a:cxn ang="0">
                  <a:pos x="T6" y="T7"/>
                </a:cxn>
              </a:cxnLst>
              <a:rect l="0" t="0" r="r" b="b"/>
              <a:pathLst>
                <a:path w="120" h="242">
                  <a:moveTo>
                    <a:pt x="0" y="0"/>
                  </a:moveTo>
                  <a:lnTo>
                    <a:pt x="120" y="0"/>
                  </a:lnTo>
                  <a:lnTo>
                    <a:pt x="120"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7" name="Line 113">
              <a:extLst>
                <a:ext uri="{FF2B5EF4-FFF2-40B4-BE49-F238E27FC236}">
                  <a16:creationId xmlns:a16="http://schemas.microsoft.com/office/drawing/2014/main" id="{E2E4A511-F4E1-4C9C-8A12-0F67EF17A50E}"/>
                </a:ext>
              </a:extLst>
            </p:cNvPr>
            <p:cNvSpPr>
              <a:spLocks noChangeShapeType="1"/>
            </p:cNvSpPr>
            <p:nvPr/>
          </p:nvSpPr>
          <p:spPr bwMode="auto">
            <a:xfrm>
              <a:off x="4626308" y="3186994"/>
              <a:ext cx="184425"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8" name="Line 114">
              <a:extLst>
                <a:ext uri="{FF2B5EF4-FFF2-40B4-BE49-F238E27FC236}">
                  <a16:creationId xmlns:a16="http://schemas.microsoft.com/office/drawing/2014/main" id="{C4679A25-F9DB-40DA-B46F-13F92E74FD5D}"/>
                </a:ext>
              </a:extLst>
            </p:cNvPr>
            <p:cNvSpPr>
              <a:spLocks noChangeShapeType="1"/>
            </p:cNvSpPr>
            <p:nvPr/>
          </p:nvSpPr>
          <p:spPr bwMode="auto">
            <a:xfrm>
              <a:off x="3974462" y="3186994"/>
              <a:ext cx="20986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19" name="Line 115">
              <a:extLst>
                <a:ext uri="{FF2B5EF4-FFF2-40B4-BE49-F238E27FC236}">
                  <a16:creationId xmlns:a16="http://schemas.microsoft.com/office/drawing/2014/main" id="{DF57C29D-9F06-4D67-B0EC-A38473BF8512}"/>
                </a:ext>
              </a:extLst>
            </p:cNvPr>
            <p:cNvSpPr>
              <a:spLocks noChangeShapeType="1"/>
            </p:cNvSpPr>
            <p:nvPr/>
          </p:nvSpPr>
          <p:spPr bwMode="auto">
            <a:xfrm>
              <a:off x="3460934" y="3315773"/>
              <a:ext cx="20986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20" name="Line 116">
              <a:extLst>
                <a:ext uri="{FF2B5EF4-FFF2-40B4-BE49-F238E27FC236}">
                  <a16:creationId xmlns:a16="http://schemas.microsoft.com/office/drawing/2014/main" id="{9BF67FE8-16B5-4820-AD33-2D29AAF5A6C2}"/>
                </a:ext>
              </a:extLst>
            </p:cNvPr>
            <p:cNvSpPr>
              <a:spLocks noChangeShapeType="1"/>
            </p:cNvSpPr>
            <p:nvPr/>
          </p:nvSpPr>
          <p:spPr bwMode="auto">
            <a:xfrm>
              <a:off x="3573815" y="3315773"/>
              <a:ext cx="0" cy="255969"/>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21" name="Line 117">
              <a:extLst>
                <a:ext uri="{FF2B5EF4-FFF2-40B4-BE49-F238E27FC236}">
                  <a16:creationId xmlns:a16="http://schemas.microsoft.com/office/drawing/2014/main" id="{21F18942-C172-4131-B42A-D9166E815109}"/>
                </a:ext>
              </a:extLst>
            </p:cNvPr>
            <p:cNvSpPr>
              <a:spLocks noChangeShapeType="1"/>
            </p:cNvSpPr>
            <p:nvPr/>
          </p:nvSpPr>
          <p:spPr bwMode="auto">
            <a:xfrm>
              <a:off x="3573815" y="3571742"/>
              <a:ext cx="449933"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22" name="Line 118">
              <a:extLst>
                <a:ext uri="{FF2B5EF4-FFF2-40B4-BE49-F238E27FC236}">
                  <a16:creationId xmlns:a16="http://schemas.microsoft.com/office/drawing/2014/main" id="{7C2600B8-3CB9-41D4-83B6-C31F921E87C6}"/>
                </a:ext>
              </a:extLst>
            </p:cNvPr>
            <p:cNvSpPr>
              <a:spLocks noChangeShapeType="1"/>
            </p:cNvSpPr>
            <p:nvPr/>
          </p:nvSpPr>
          <p:spPr bwMode="auto">
            <a:xfrm>
              <a:off x="4023748" y="3186994"/>
              <a:ext cx="0" cy="384748"/>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23" name="Line 119">
              <a:extLst>
                <a:ext uri="{FF2B5EF4-FFF2-40B4-BE49-F238E27FC236}">
                  <a16:creationId xmlns:a16="http://schemas.microsoft.com/office/drawing/2014/main" id="{9FC6EDDF-91EB-4DEC-A2F2-D24DF0D1C306}"/>
                </a:ext>
              </a:extLst>
            </p:cNvPr>
            <p:cNvSpPr>
              <a:spLocks noChangeShapeType="1"/>
            </p:cNvSpPr>
            <p:nvPr/>
          </p:nvSpPr>
          <p:spPr bwMode="auto">
            <a:xfrm>
              <a:off x="4127089" y="3186994"/>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24" name="Line 120">
              <a:extLst>
                <a:ext uri="{FF2B5EF4-FFF2-40B4-BE49-F238E27FC236}">
                  <a16:creationId xmlns:a16="http://schemas.microsoft.com/office/drawing/2014/main" id="{0D760DD3-6A8F-484D-93C3-C528C31C98C8}"/>
                </a:ext>
              </a:extLst>
            </p:cNvPr>
            <p:cNvSpPr>
              <a:spLocks noChangeShapeType="1"/>
            </p:cNvSpPr>
            <p:nvPr/>
          </p:nvSpPr>
          <p:spPr bwMode="auto">
            <a:xfrm>
              <a:off x="4127089" y="3508147"/>
              <a:ext cx="578712"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25" name="Line 121">
              <a:extLst>
                <a:ext uri="{FF2B5EF4-FFF2-40B4-BE49-F238E27FC236}">
                  <a16:creationId xmlns:a16="http://schemas.microsoft.com/office/drawing/2014/main" id="{8EA70FBC-08A4-451C-A069-44475AB6A70C}"/>
                </a:ext>
              </a:extLst>
            </p:cNvPr>
            <p:cNvSpPr>
              <a:spLocks noChangeShapeType="1"/>
            </p:cNvSpPr>
            <p:nvPr/>
          </p:nvSpPr>
          <p:spPr bwMode="auto">
            <a:xfrm>
              <a:off x="4705801" y="3186994"/>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26" name="Rectangle 122">
              <a:extLst>
                <a:ext uri="{FF2B5EF4-FFF2-40B4-BE49-F238E27FC236}">
                  <a16:creationId xmlns:a16="http://schemas.microsoft.com/office/drawing/2014/main" id="{C7151EC3-A7D7-45DB-9696-CDBD7B85E766}"/>
                </a:ext>
              </a:extLst>
            </p:cNvPr>
            <p:cNvSpPr>
              <a:spLocks noChangeArrowheads="1"/>
            </p:cNvSpPr>
            <p:nvPr/>
          </p:nvSpPr>
          <p:spPr bwMode="auto">
            <a:xfrm>
              <a:off x="879560" y="3819761"/>
              <a:ext cx="7822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sub </a:t>
              </a:r>
              <a:r>
                <a:rPr kumimoji="0" lang="zh-CN" altLang="zh-CN" sz="2000" u="none" strike="noStrike" cap="none" normalizeH="0" baseline="0" dirty="0">
                  <a:ln>
                    <a:noFill/>
                  </a:ln>
                  <a:solidFill>
                    <a:srgbClr val="0432FF"/>
                  </a:solidFill>
                  <a:effectLst/>
                  <a:latin typeface="Arial" panose="020B0604020202020204" pitchFamily="34" charset="0"/>
                  <a:ea typeface="SimHei" panose="02010609060101010101" pitchFamily="49" charset="-122"/>
                </a:rPr>
                <a:t>r</a:t>
              </a:r>
              <a:r>
                <a:rPr lang="en-US" altLang="zh-CN" sz="2000" dirty="0">
                  <a:solidFill>
                    <a:srgbClr val="0432FF"/>
                  </a:solidFill>
                  <a:ea typeface="SimHei" panose="02010609060101010101" pitchFamily="49" charset="-122"/>
                </a:rPr>
                <a:t>2</a:t>
              </a: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27" name="Rectangle 123">
              <a:extLst>
                <a:ext uri="{FF2B5EF4-FFF2-40B4-BE49-F238E27FC236}">
                  <a16:creationId xmlns:a16="http://schemas.microsoft.com/office/drawing/2014/main" id="{B7F74DB3-E841-45FB-9CA8-DE43465074D1}"/>
                </a:ext>
              </a:extLst>
            </p:cNvPr>
            <p:cNvSpPr>
              <a:spLocks noChangeArrowheads="1"/>
            </p:cNvSpPr>
            <p:nvPr/>
          </p:nvSpPr>
          <p:spPr bwMode="auto">
            <a:xfrm>
              <a:off x="1666545" y="3819761"/>
              <a:ext cx="2276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9900"/>
                  </a:solidFill>
                  <a:effectLst/>
                  <a:latin typeface="Arial" panose="020B0604020202020204" pitchFamily="34" charset="0"/>
                  <a:ea typeface="SimHei" panose="02010609060101010101" pitchFamily="49" charset="-122"/>
                </a:rPr>
                <a:t>r1</a:t>
              </a:r>
              <a:endParaRPr kumimoji="0" lang="zh-CN" altLang="zh-CN" sz="1800" u="none" strike="noStrike" cap="none" normalizeH="0" baseline="0" dirty="0">
                <a:ln>
                  <a:noFill/>
                </a:ln>
                <a:solidFill>
                  <a:srgbClr val="009900"/>
                </a:solidFill>
                <a:effectLst/>
                <a:latin typeface="Arial" panose="020B0604020202020204" pitchFamily="34" charset="0"/>
                <a:ea typeface="SimHei" panose="02010609060101010101" pitchFamily="49" charset="-122"/>
              </a:endParaRPr>
            </a:p>
          </p:txBody>
        </p:sp>
        <p:sp>
          <p:nvSpPr>
            <p:cNvPr id="128" name="Rectangle 124">
              <a:extLst>
                <a:ext uri="{FF2B5EF4-FFF2-40B4-BE49-F238E27FC236}">
                  <a16:creationId xmlns:a16="http://schemas.microsoft.com/office/drawing/2014/main" id="{AADCAAFC-9905-4F19-9AB3-778633F5C84C}"/>
                </a:ext>
              </a:extLst>
            </p:cNvPr>
            <p:cNvSpPr>
              <a:spLocks noChangeArrowheads="1"/>
            </p:cNvSpPr>
            <p:nvPr/>
          </p:nvSpPr>
          <p:spPr bwMode="auto">
            <a:xfrm>
              <a:off x="1898666" y="3819761"/>
              <a:ext cx="2981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,r5</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29" name="Rectangle 125">
              <a:extLst>
                <a:ext uri="{FF2B5EF4-FFF2-40B4-BE49-F238E27FC236}">
                  <a16:creationId xmlns:a16="http://schemas.microsoft.com/office/drawing/2014/main" id="{D8DF3189-DC91-45CD-B5D0-A24180071DF9}"/>
                </a:ext>
              </a:extLst>
            </p:cNvPr>
            <p:cNvSpPr>
              <a:spLocks noChangeArrowheads="1"/>
            </p:cNvSpPr>
            <p:nvPr/>
          </p:nvSpPr>
          <p:spPr bwMode="auto">
            <a:xfrm>
              <a:off x="879560" y="4719627"/>
              <a:ext cx="7261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and r6</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30" name="Rectangle 126">
              <a:extLst>
                <a:ext uri="{FF2B5EF4-FFF2-40B4-BE49-F238E27FC236}">
                  <a16:creationId xmlns:a16="http://schemas.microsoft.com/office/drawing/2014/main" id="{4B76FB8C-8DA0-4EC4-869A-AAAE38DE080A}"/>
                </a:ext>
              </a:extLst>
            </p:cNvPr>
            <p:cNvSpPr>
              <a:spLocks noChangeArrowheads="1"/>
            </p:cNvSpPr>
            <p:nvPr/>
          </p:nvSpPr>
          <p:spPr bwMode="auto">
            <a:xfrm>
              <a:off x="1609310" y="4719627"/>
              <a:ext cx="2981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effectLst/>
                  <a:latin typeface="Arial" panose="020B0604020202020204" pitchFamily="34" charset="0"/>
                  <a:ea typeface="SimHei" panose="02010609060101010101" pitchFamily="49" charset="-122"/>
                </a:rPr>
                <a:t>,</a:t>
              </a:r>
              <a:r>
                <a:rPr kumimoji="0" lang="zh-CN" altLang="zh-CN" sz="2000" u="none" strike="noStrike" cap="none" normalizeH="0" baseline="0" dirty="0">
                  <a:ln>
                    <a:noFill/>
                  </a:ln>
                  <a:solidFill>
                    <a:srgbClr val="009900"/>
                  </a:solidFill>
                  <a:effectLst/>
                  <a:latin typeface="Arial" panose="020B0604020202020204" pitchFamily="34" charset="0"/>
                  <a:ea typeface="SimHei" panose="02010609060101010101" pitchFamily="49" charset="-122"/>
                </a:rPr>
                <a:t>r</a:t>
              </a:r>
              <a:r>
                <a:rPr kumimoji="0" lang="en-US" altLang="zh-CN" sz="2000" u="none" strike="noStrike" cap="none" normalizeH="0" baseline="0" dirty="0">
                  <a:ln>
                    <a:noFill/>
                  </a:ln>
                  <a:solidFill>
                    <a:srgbClr val="009900"/>
                  </a:solidFill>
                  <a:effectLst/>
                  <a:latin typeface="Arial" panose="020B0604020202020204" pitchFamily="34" charset="0"/>
                  <a:ea typeface="SimHei" panose="02010609060101010101" pitchFamily="49" charset="-122"/>
                </a:rPr>
                <a:t>1</a:t>
              </a:r>
              <a:endParaRPr kumimoji="0" lang="zh-CN" altLang="zh-CN" sz="1800" u="none" strike="noStrike" cap="none" normalizeH="0" baseline="0" dirty="0">
                <a:ln>
                  <a:noFill/>
                </a:ln>
                <a:solidFill>
                  <a:srgbClr val="009900"/>
                </a:solidFill>
                <a:effectLst/>
                <a:latin typeface="Arial" panose="020B0604020202020204" pitchFamily="34" charset="0"/>
                <a:ea typeface="SimHei" panose="02010609060101010101" pitchFamily="49" charset="-122"/>
              </a:endParaRPr>
            </a:p>
          </p:txBody>
        </p:sp>
        <p:sp>
          <p:nvSpPr>
            <p:cNvPr id="131" name="Rectangle 127">
              <a:extLst>
                <a:ext uri="{FF2B5EF4-FFF2-40B4-BE49-F238E27FC236}">
                  <a16:creationId xmlns:a16="http://schemas.microsoft.com/office/drawing/2014/main" id="{27810670-93B8-4B68-97D3-99A1A1F28069}"/>
                </a:ext>
              </a:extLst>
            </p:cNvPr>
            <p:cNvSpPr>
              <a:spLocks noChangeArrowheads="1"/>
            </p:cNvSpPr>
            <p:nvPr/>
          </p:nvSpPr>
          <p:spPr bwMode="auto">
            <a:xfrm>
              <a:off x="1914565" y="4719627"/>
              <a:ext cx="2981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a:t>
              </a:r>
              <a:r>
                <a:rPr kumimoji="0" lang="zh-CN" altLang="zh-CN" sz="2000" u="none" strike="noStrike" cap="none" normalizeH="0" baseline="0" dirty="0">
                  <a:ln>
                    <a:noFill/>
                  </a:ln>
                  <a:solidFill>
                    <a:srgbClr val="0432FF"/>
                  </a:solidFill>
                  <a:effectLst/>
                  <a:latin typeface="Arial" panose="020B0604020202020204" pitchFamily="34" charset="0"/>
                  <a:ea typeface="SimHei" panose="02010609060101010101" pitchFamily="49" charset="-122"/>
                </a:rPr>
                <a:t>r</a:t>
              </a:r>
              <a:r>
                <a:rPr kumimoji="0" lang="en-US" altLang="zh-CN" sz="2000" u="none" strike="noStrike" cap="none" normalizeH="0" baseline="0" dirty="0">
                  <a:ln>
                    <a:noFill/>
                  </a:ln>
                  <a:solidFill>
                    <a:srgbClr val="0432FF"/>
                  </a:solidFill>
                  <a:effectLst/>
                  <a:latin typeface="Arial" panose="020B0604020202020204" pitchFamily="34" charset="0"/>
                  <a:ea typeface="SimHei" panose="02010609060101010101" pitchFamily="49" charset="-122"/>
                </a:rPr>
                <a:t>2</a:t>
              </a:r>
              <a:endParaRPr kumimoji="0" lang="zh-CN" altLang="zh-CN" sz="1800" u="none" strike="noStrike" cap="none" normalizeH="0" baseline="0" dirty="0">
                <a:ln>
                  <a:noFill/>
                </a:ln>
                <a:solidFill>
                  <a:srgbClr val="0432FF"/>
                </a:solidFill>
                <a:effectLst/>
                <a:latin typeface="Arial" panose="020B0604020202020204" pitchFamily="34" charset="0"/>
                <a:ea typeface="SimHei" panose="02010609060101010101" pitchFamily="49" charset="-122"/>
              </a:endParaRPr>
            </a:p>
          </p:txBody>
        </p:sp>
        <p:sp>
          <p:nvSpPr>
            <p:cNvPr id="132" name="Freeform 128">
              <a:extLst>
                <a:ext uri="{FF2B5EF4-FFF2-40B4-BE49-F238E27FC236}">
                  <a16:creationId xmlns:a16="http://schemas.microsoft.com/office/drawing/2014/main" id="{97F02662-A29D-42A0-AD13-D186619E64A6}"/>
                </a:ext>
              </a:extLst>
            </p:cNvPr>
            <p:cNvSpPr>
              <a:spLocks/>
            </p:cNvSpPr>
            <p:nvPr/>
          </p:nvSpPr>
          <p:spPr bwMode="auto">
            <a:xfrm>
              <a:off x="4305728" y="3636927"/>
              <a:ext cx="279817" cy="640717"/>
            </a:xfrm>
            <a:custGeom>
              <a:avLst/>
              <a:gdLst>
                <a:gd name="T0" fmla="*/ 0 w 176"/>
                <a:gd name="T1" fmla="*/ 269 h 403"/>
                <a:gd name="T2" fmla="*/ 59 w 176"/>
                <a:gd name="T3" fmla="*/ 201 h 403"/>
                <a:gd name="T4" fmla="*/ 0 w 176"/>
                <a:gd name="T5" fmla="*/ 134 h 403"/>
                <a:gd name="T6" fmla="*/ 0 w 176"/>
                <a:gd name="T7" fmla="*/ 0 h 403"/>
                <a:gd name="T8" fmla="*/ 176 w 176"/>
                <a:gd name="T9" fmla="*/ 134 h 403"/>
                <a:gd name="T10" fmla="*/ 176 w 176"/>
                <a:gd name="T11" fmla="*/ 269 h 403"/>
                <a:gd name="T12" fmla="*/ 0 w 176"/>
                <a:gd name="T13" fmla="*/ 403 h 403"/>
                <a:gd name="T14" fmla="*/ 0 w 176"/>
                <a:gd name="T15" fmla="*/ 269 h 4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6" h="403">
                  <a:moveTo>
                    <a:pt x="0" y="269"/>
                  </a:moveTo>
                  <a:lnTo>
                    <a:pt x="59" y="201"/>
                  </a:lnTo>
                  <a:lnTo>
                    <a:pt x="0" y="134"/>
                  </a:lnTo>
                  <a:lnTo>
                    <a:pt x="0" y="0"/>
                  </a:lnTo>
                  <a:lnTo>
                    <a:pt x="176" y="134"/>
                  </a:lnTo>
                  <a:lnTo>
                    <a:pt x="176" y="269"/>
                  </a:lnTo>
                  <a:lnTo>
                    <a:pt x="0" y="403"/>
                  </a:lnTo>
                  <a:lnTo>
                    <a:pt x="0" y="269"/>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34" name="Rectangle 130">
              <a:extLst>
                <a:ext uri="{FF2B5EF4-FFF2-40B4-BE49-F238E27FC236}">
                  <a16:creationId xmlns:a16="http://schemas.microsoft.com/office/drawing/2014/main" id="{1651756C-C4B4-4335-93E8-1ECDC4338037}"/>
                </a:ext>
              </a:extLst>
            </p:cNvPr>
            <p:cNvSpPr>
              <a:spLocks noChangeArrowheads="1"/>
            </p:cNvSpPr>
            <p:nvPr/>
          </p:nvSpPr>
          <p:spPr bwMode="auto">
            <a:xfrm>
              <a:off x="3135584" y="3813402"/>
              <a:ext cx="18594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IM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35" name="Freeform 131">
              <a:extLst>
                <a:ext uri="{FF2B5EF4-FFF2-40B4-BE49-F238E27FC236}">
                  <a16:creationId xmlns:a16="http://schemas.microsoft.com/office/drawing/2014/main" id="{64DCE468-FFD7-4E54-B27D-9ABDBBA20420}"/>
                </a:ext>
              </a:extLst>
            </p:cNvPr>
            <p:cNvSpPr>
              <a:spLocks/>
            </p:cNvSpPr>
            <p:nvPr/>
          </p:nvSpPr>
          <p:spPr bwMode="auto">
            <a:xfrm>
              <a:off x="3062450" y="3765706"/>
              <a:ext cx="230531" cy="383158"/>
            </a:xfrm>
            <a:custGeom>
              <a:avLst/>
              <a:gdLst>
                <a:gd name="T0" fmla="*/ 145 w 145"/>
                <a:gd name="T1" fmla="*/ 0 h 241"/>
                <a:gd name="T2" fmla="*/ 0 w 145"/>
                <a:gd name="T3" fmla="*/ 0 h 241"/>
                <a:gd name="T4" fmla="*/ 0 w 145"/>
                <a:gd name="T5" fmla="*/ 241 h 241"/>
                <a:gd name="T6" fmla="*/ 145 w 145"/>
                <a:gd name="T7" fmla="*/ 241 h 241"/>
              </a:gdLst>
              <a:ahLst/>
              <a:cxnLst>
                <a:cxn ang="0">
                  <a:pos x="T0" y="T1"/>
                </a:cxn>
                <a:cxn ang="0">
                  <a:pos x="T2" y="T3"/>
                </a:cxn>
                <a:cxn ang="0">
                  <a:pos x="T4" y="T5"/>
                </a:cxn>
                <a:cxn ang="0">
                  <a:pos x="T6" y="T7"/>
                </a:cxn>
              </a:cxnLst>
              <a:rect l="0" t="0" r="r" b="b"/>
              <a:pathLst>
                <a:path w="145" h="241">
                  <a:moveTo>
                    <a:pt x="145" y="0"/>
                  </a:moveTo>
                  <a:lnTo>
                    <a:pt x="0" y="0"/>
                  </a:lnTo>
                  <a:lnTo>
                    <a:pt x="0" y="241"/>
                  </a:lnTo>
                  <a:lnTo>
                    <a:pt x="145"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36" name="Freeform 132">
              <a:extLst>
                <a:ext uri="{FF2B5EF4-FFF2-40B4-BE49-F238E27FC236}">
                  <a16:creationId xmlns:a16="http://schemas.microsoft.com/office/drawing/2014/main" id="{1E432C8E-2016-4372-91C1-6818662EF3E3}"/>
                </a:ext>
              </a:extLst>
            </p:cNvPr>
            <p:cNvSpPr>
              <a:spLocks/>
            </p:cNvSpPr>
            <p:nvPr/>
          </p:nvSpPr>
          <p:spPr bwMode="auto">
            <a:xfrm>
              <a:off x="3286622" y="3765706"/>
              <a:ext cx="232121" cy="383158"/>
            </a:xfrm>
            <a:custGeom>
              <a:avLst/>
              <a:gdLst>
                <a:gd name="T0" fmla="*/ 0 w 146"/>
                <a:gd name="T1" fmla="*/ 0 h 241"/>
                <a:gd name="T2" fmla="*/ 146 w 146"/>
                <a:gd name="T3" fmla="*/ 0 h 241"/>
                <a:gd name="T4" fmla="*/ 146 w 146"/>
                <a:gd name="T5" fmla="*/ 241 h 241"/>
                <a:gd name="T6" fmla="*/ 0 w 146"/>
                <a:gd name="T7" fmla="*/ 241 h 241"/>
              </a:gdLst>
              <a:ahLst/>
              <a:cxnLst>
                <a:cxn ang="0">
                  <a:pos x="T0" y="T1"/>
                </a:cxn>
                <a:cxn ang="0">
                  <a:pos x="T2" y="T3"/>
                </a:cxn>
                <a:cxn ang="0">
                  <a:pos x="T4" y="T5"/>
                </a:cxn>
                <a:cxn ang="0">
                  <a:pos x="T6" y="T7"/>
                </a:cxn>
              </a:cxnLst>
              <a:rect l="0" t="0" r="r" b="b"/>
              <a:pathLst>
                <a:path w="146" h="241">
                  <a:moveTo>
                    <a:pt x="0" y="0"/>
                  </a:moveTo>
                  <a:lnTo>
                    <a:pt x="146" y="0"/>
                  </a:lnTo>
                  <a:lnTo>
                    <a:pt x="146" y="241"/>
                  </a:lnTo>
                  <a:lnTo>
                    <a:pt x="0"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37" name="Rectangle 133">
              <a:extLst>
                <a:ext uri="{FF2B5EF4-FFF2-40B4-BE49-F238E27FC236}">
                  <a16:creationId xmlns:a16="http://schemas.microsoft.com/office/drawing/2014/main" id="{4201A395-9725-48B7-B2FE-60808731AF9A}"/>
                </a:ext>
              </a:extLst>
            </p:cNvPr>
            <p:cNvSpPr>
              <a:spLocks noChangeArrowheads="1"/>
            </p:cNvSpPr>
            <p:nvPr/>
          </p:nvSpPr>
          <p:spPr bwMode="auto">
            <a:xfrm>
              <a:off x="3730195" y="3819761"/>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38" name="Freeform 134">
              <a:extLst>
                <a:ext uri="{FF2B5EF4-FFF2-40B4-BE49-F238E27FC236}">
                  <a16:creationId xmlns:a16="http://schemas.microsoft.com/office/drawing/2014/main" id="{0D12BA16-527A-41ED-BD90-8F5C11AB0EA1}"/>
                </a:ext>
              </a:extLst>
            </p:cNvPr>
            <p:cNvSpPr>
              <a:spLocks/>
            </p:cNvSpPr>
            <p:nvPr/>
          </p:nvSpPr>
          <p:spPr bwMode="auto">
            <a:xfrm>
              <a:off x="3679319" y="3765706"/>
              <a:ext cx="200323" cy="383158"/>
            </a:xfrm>
            <a:custGeom>
              <a:avLst/>
              <a:gdLst>
                <a:gd name="T0" fmla="*/ 126 w 126"/>
                <a:gd name="T1" fmla="*/ 0 h 241"/>
                <a:gd name="T2" fmla="*/ 0 w 126"/>
                <a:gd name="T3" fmla="*/ 0 h 241"/>
                <a:gd name="T4" fmla="*/ 0 w 126"/>
                <a:gd name="T5" fmla="*/ 241 h 241"/>
                <a:gd name="T6" fmla="*/ 126 w 126"/>
                <a:gd name="T7" fmla="*/ 241 h 241"/>
              </a:gdLst>
              <a:ahLst/>
              <a:cxnLst>
                <a:cxn ang="0">
                  <a:pos x="T0" y="T1"/>
                </a:cxn>
                <a:cxn ang="0">
                  <a:pos x="T2" y="T3"/>
                </a:cxn>
                <a:cxn ang="0">
                  <a:pos x="T4" y="T5"/>
                </a:cxn>
                <a:cxn ang="0">
                  <a:pos x="T6" y="T7"/>
                </a:cxn>
              </a:cxnLst>
              <a:rect l="0" t="0" r="r" b="b"/>
              <a:pathLst>
                <a:path w="126" h="241">
                  <a:moveTo>
                    <a:pt x="126" y="0"/>
                  </a:moveTo>
                  <a:lnTo>
                    <a:pt x="0" y="0"/>
                  </a:lnTo>
                  <a:lnTo>
                    <a:pt x="0" y="241"/>
                  </a:lnTo>
                  <a:lnTo>
                    <a:pt x="126"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39" name="Freeform 135">
              <a:extLst>
                <a:ext uri="{FF2B5EF4-FFF2-40B4-BE49-F238E27FC236}">
                  <a16:creationId xmlns:a16="http://schemas.microsoft.com/office/drawing/2014/main" id="{82294400-6852-419E-B9F9-5FC6277463BE}"/>
                </a:ext>
              </a:extLst>
            </p:cNvPr>
            <p:cNvSpPr>
              <a:spLocks/>
            </p:cNvSpPr>
            <p:nvPr/>
          </p:nvSpPr>
          <p:spPr bwMode="auto">
            <a:xfrm>
              <a:off x="3881233" y="3765706"/>
              <a:ext cx="190784" cy="383158"/>
            </a:xfrm>
            <a:custGeom>
              <a:avLst/>
              <a:gdLst>
                <a:gd name="T0" fmla="*/ 0 w 120"/>
                <a:gd name="T1" fmla="*/ 0 h 241"/>
                <a:gd name="T2" fmla="*/ 120 w 120"/>
                <a:gd name="T3" fmla="*/ 0 h 241"/>
                <a:gd name="T4" fmla="*/ 120 w 120"/>
                <a:gd name="T5" fmla="*/ 241 h 241"/>
                <a:gd name="T6" fmla="*/ 0 w 120"/>
                <a:gd name="T7" fmla="*/ 241 h 241"/>
              </a:gdLst>
              <a:ahLst/>
              <a:cxnLst>
                <a:cxn ang="0">
                  <a:pos x="T0" y="T1"/>
                </a:cxn>
                <a:cxn ang="0">
                  <a:pos x="T2" y="T3"/>
                </a:cxn>
                <a:cxn ang="0">
                  <a:pos x="T4" y="T5"/>
                </a:cxn>
                <a:cxn ang="0">
                  <a:pos x="T6" y="T7"/>
                </a:cxn>
              </a:cxnLst>
              <a:rect l="0" t="0" r="r" b="b"/>
              <a:pathLst>
                <a:path w="120" h="241">
                  <a:moveTo>
                    <a:pt x="0" y="0"/>
                  </a:moveTo>
                  <a:lnTo>
                    <a:pt x="120" y="0"/>
                  </a:lnTo>
                  <a:lnTo>
                    <a:pt x="120" y="241"/>
                  </a:lnTo>
                  <a:lnTo>
                    <a:pt x="0"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0" name="Line 136">
              <a:extLst>
                <a:ext uri="{FF2B5EF4-FFF2-40B4-BE49-F238E27FC236}">
                  <a16:creationId xmlns:a16="http://schemas.microsoft.com/office/drawing/2014/main" id="{67D9FDD3-4032-467A-A59B-DF39F9F82507}"/>
                </a:ext>
              </a:extLst>
            </p:cNvPr>
            <p:cNvSpPr>
              <a:spLocks noChangeShapeType="1"/>
            </p:cNvSpPr>
            <p:nvPr/>
          </p:nvSpPr>
          <p:spPr bwMode="auto">
            <a:xfrm>
              <a:off x="3526692" y="3958080"/>
              <a:ext cx="152627"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1" name="Freeform 137">
              <a:extLst>
                <a:ext uri="{FF2B5EF4-FFF2-40B4-BE49-F238E27FC236}">
                  <a16:creationId xmlns:a16="http://schemas.microsoft.com/office/drawing/2014/main" id="{56572EFE-9D16-44E9-82FF-B69D37774058}"/>
                </a:ext>
              </a:extLst>
            </p:cNvPr>
            <p:cNvSpPr>
              <a:spLocks/>
            </p:cNvSpPr>
            <p:nvPr/>
          </p:nvSpPr>
          <p:spPr bwMode="auto">
            <a:xfrm>
              <a:off x="3615725" y="3829301"/>
              <a:ext cx="63595" cy="127190"/>
            </a:xfrm>
            <a:custGeom>
              <a:avLst/>
              <a:gdLst>
                <a:gd name="T0" fmla="*/ 0 w 40"/>
                <a:gd name="T1" fmla="*/ 80 h 80"/>
                <a:gd name="T2" fmla="*/ 0 w 40"/>
                <a:gd name="T3" fmla="*/ 0 h 80"/>
                <a:gd name="T4" fmla="*/ 40 w 40"/>
                <a:gd name="T5" fmla="*/ 0 h 80"/>
              </a:gdLst>
              <a:ahLst/>
              <a:cxnLst>
                <a:cxn ang="0">
                  <a:pos x="T0" y="T1"/>
                </a:cxn>
                <a:cxn ang="0">
                  <a:pos x="T2" y="T3"/>
                </a:cxn>
                <a:cxn ang="0">
                  <a:pos x="T4" y="T5"/>
                </a:cxn>
              </a:cxnLst>
              <a:rect l="0" t="0" r="r" b="b"/>
              <a:pathLst>
                <a:path w="40" h="80">
                  <a:moveTo>
                    <a:pt x="0" y="80"/>
                  </a:moveTo>
                  <a:lnTo>
                    <a:pt x="0" y="0"/>
                  </a:lnTo>
                  <a:lnTo>
                    <a:pt x="40" y="0"/>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2" name="Line 138">
              <a:extLst>
                <a:ext uri="{FF2B5EF4-FFF2-40B4-BE49-F238E27FC236}">
                  <a16:creationId xmlns:a16="http://schemas.microsoft.com/office/drawing/2014/main" id="{AE23D33D-FB33-4CD6-8066-836B83D7ED1C}"/>
                </a:ext>
              </a:extLst>
            </p:cNvPr>
            <p:cNvSpPr>
              <a:spLocks noChangeShapeType="1"/>
            </p:cNvSpPr>
            <p:nvPr/>
          </p:nvSpPr>
          <p:spPr bwMode="auto">
            <a:xfrm>
              <a:off x="4081556" y="3829301"/>
              <a:ext cx="20827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3" name="Rectangle 139">
              <a:extLst>
                <a:ext uri="{FF2B5EF4-FFF2-40B4-BE49-F238E27FC236}">
                  <a16:creationId xmlns:a16="http://schemas.microsoft.com/office/drawing/2014/main" id="{9CC98E47-60C4-47E7-9D75-BBE04451A61D}"/>
                </a:ext>
              </a:extLst>
            </p:cNvPr>
            <p:cNvSpPr>
              <a:spLocks noChangeArrowheads="1"/>
            </p:cNvSpPr>
            <p:nvPr/>
          </p:nvSpPr>
          <p:spPr bwMode="auto">
            <a:xfrm>
              <a:off x="4822435" y="3813402"/>
              <a:ext cx="25968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DM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44" name="Freeform 140">
              <a:extLst>
                <a:ext uri="{FF2B5EF4-FFF2-40B4-BE49-F238E27FC236}">
                  <a16:creationId xmlns:a16="http://schemas.microsoft.com/office/drawing/2014/main" id="{9873794D-FE59-400D-ABFB-2729EA8B56E1}"/>
                </a:ext>
              </a:extLst>
            </p:cNvPr>
            <p:cNvSpPr>
              <a:spLocks/>
            </p:cNvSpPr>
            <p:nvPr/>
          </p:nvSpPr>
          <p:spPr bwMode="auto">
            <a:xfrm>
              <a:off x="4811306" y="3765706"/>
              <a:ext cx="216222" cy="383158"/>
            </a:xfrm>
            <a:custGeom>
              <a:avLst/>
              <a:gdLst>
                <a:gd name="T0" fmla="*/ 136 w 136"/>
                <a:gd name="T1" fmla="*/ 0 h 241"/>
                <a:gd name="T2" fmla="*/ 0 w 136"/>
                <a:gd name="T3" fmla="*/ 0 h 241"/>
                <a:gd name="T4" fmla="*/ 0 w 136"/>
                <a:gd name="T5" fmla="*/ 241 h 241"/>
                <a:gd name="T6" fmla="*/ 136 w 136"/>
                <a:gd name="T7" fmla="*/ 241 h 241"/>
              </a:gdLst>
              <a:ahLst/>
              <a:cxnLst>
                <a:cxn ang="0">
                  <a:pos x="T0" y="T1"/>
                </a:cxn>
                <a:cxn ang="0">
                  <a:pos x="T2" y="T3"/>
                </a:cxn>
                <a:cxn ang="0">
                  <a:pos x="T4" y="T5"/>
                </a:cxn>
                <a:cxn ang="0">
                  <a:pos x="T6" y="T7"/>
                </a:cxn>
              </a:cxnLst>
              <a:rect l="0" t="0" r="r" b="b"/>
              <a:pathLst>
                <a:path w="136" h="241">
                  <a:moveTo>
                    <a:pt x="136" y="0"/>
                  </a:moveTo>
                  <a:lnTo>
                    <a:pt x="0" y="0"/>
                  </a:lnTo>
                  <a:lnTo>
                    <a:pt x="0" y="241"/>
                  </a:lnTo>
                  <a:lnTo>
                    <a:pt x="136"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5" name="Freeform 141">
              <a:extLst>
                <a:ext uri="{FF2B5EF4-FFF2-40B4-BE49-F238E27FC236}">
                  <a16:creationId xmlns:a16="http://schemas.microsoft.com/office/drawing/2014/main" id="{EC79A5FD-5557-414D-8682-91D21A532CF9}"/>
                </a:ext>
              </a:extLst>
            </p:cNvPr>
            <p:cNvSpPr>
              <a:spLocks/>
            </p:cNvSpPr>
            <p:nvPr/>
          </p:nvSpPr>
          <p:spPr bwMode="auto">
            <a:xfrm>
              <a:off x="5029118" y="3765706"/>
              <a:ext cx="224172" cy="383158"/>
            </a:xfrm>
            <a:custGeom>
              <a:avLst/>
              <a:gdLst>
                <a:gd name="T0" fmla="*/ 0 w 141"/>
                <a:gd name="T1" fmla="*/ 0 h 241"/>
                <a:gd name="T2" fmla="*/ 141 w 141"/>
                <a:gd name="T3" fmla="*/ 0 h 241"/>
                <a:gd name="T4" fmla="*/ 141 w 141"/>
                <a:gd name="T5" fmla="*/ 241 h 241"/>
                <a:gd name="T6" fmla="*/ 0 w 141"/>
                <a:gd name="T7" fmla="*/ 241 h 241"/>
              </a:gdLst>
              <a:ahLst/>
              <a:cxnLst>
                <a:cxn ang="0">
                  <a:pos x="T0" y="T1"/>
                </a:cxn>
                <a:cxn ang="0">
                  <a:pos x="T2" y="T3"/>
                </a:cxn>
                <a:cxn ang="0">
                  <a:pos x="T4" y="T5"/>
                </a:cxn>
                <a:cxn ang="0">
                  <a:pos x="T6" y="T7"/>
                </a:cxn>
              </a:cxnLst>
              <a:rect l="0" t="0" r="r" b="b"/>
              <a:pathLst>
                <a:path w="141" h="241">
                  <a:moveTo>
                    <a:pt x="0" y="0"/>
                  </a:moveTo>
                  <a:lnTo>
                    <a:pt x="141" y="0"/>
                  </a:lnTo>
                  <a:lnTo>
                    <a:pt x="141" y="241"/>
                  </a:lnTo>
                  <a:lnTo>
                    <a:pt x="0"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6" name="Rectangle 142">
              <a:extLst>
                <a:ext uri="{FF2B5EF4-FFF2-40B4-BE49-F238E27FC236}">
                  <a16:creationId xmlns:a16="http://schemas.microsoft.com/office/drawing/2014/main" id="{813F3DC3-A0A0-4D2D-A1F0-D64DE94D6123}"/>
                </a:ext>
              </a:extLst>
            </p:cNvPr>
            <p:cNvSpPr>
              <a:spLocks noChangeArrowheads="1"/>
            </p:cNvSpPr>
            <p:nvPr/>
          </p:nvSpPr>
          <p:spPr bwMode="auto">
            <a:xfrm>
              <a:off x="5480641" y="3813402"/>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47" name="Freeform 143">
              <a:extLst>
                <a:ext uri="{FF2B5EF4-FFF2-40B4-BE49-F238E27FC236}">
                  <a16:creationId xmlns:a16="http://schemas.microsoft.com/office/drawing/2014/main" id="{7404F166-82B7-4664-BAD3-FC15CB519010}"/>
                </a:ext>
              </a:extLst>
            </p:cNvPr>
            <p:cNvSpPr>
              <a:spLocks/>
            </p:cNvSpPr>
            <p:nvPr/>
          </p:nvSpPr>
          <p:spPr bwMode="auto">
            <a:xfrm>
              <a:off x="5437715" y="3765706"/>
              <a:ext cx="192374" cy="383158"/>
            </a:xfrm>
            <a:custGeom>
              <a:avLst/>
              <a:gdLst>
                <a:gd name="T0" fmla="*/ 121 w 121"/>
                <a:gd name="T1" fmla="*/ 0 h 241"/>
                <a:gd name="T2" fmla="*/ 0 w 121"/>
                <a:gd name="T3" fmla="*/ 0 h 241"/>
                <a:gd name="T4" fmla="*/ 0 w 121"/>
                <a:gd name="T5" fmla="*/ 241 h 241"/>
                <a:gd name="T6" fmla="*/ 121 w 121"/>
                <a:gd name="T7" fmla="*/ 241 h 241"/>
              </a:gdLst>
              <a:ahLst/>
              <a:cxnLst>
                <a:cxn ang="0">
                  <a:pos x="T0" y="T1"/>
                </a:cxn>
                <a:cxn ang="0">
                  <a:pos x="T2" y="T3"/>
                </a:cxn>
                <a:cxn ang="0">
                  <a:pos x="T4" y="T5"/>
                </a:cxn>
                <a:cxn ang="0">
                  <a:pos x="T6" y="T7"/>
                </a:cxn>
              </a:cxnLst>
              <a:rect l="0" t="0" r="r" b="b"/>
              <a:pathLst>
                <a:path w="121" h="241">
                  <a:moveTo>
                    <a:pt x="121" y="0"/>
                  </a:moveTo>
                  <a:lnTo>
                    <a:pt x="0" y="0"/>
                  </a:lnTo>
                  <a:lnTo>
                    <a:pt x="0" y="241"/>
                  </a:lnTo>
                  <a:lnTo>
                    <a:pt x="121"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8" name="Freeform 144">
              <a:extLst>
                <a:ext uri="{FF2B5EF4-FFF2-40B4-BE49-F238E27FC236}">
                  <a16:creationId xmlns:a16="http://schemas.microsoft.com/office/drawing/2014/main" id="{0B3C287A-F6A8-4F78-A273-904AD10DB3E2}"/>
                </a:ext>
              </a:extLst>
            </p:cNvPr>
            <p:cNvSpPr>
              <a:spLocks/>
            </p:cNvSpPr>
            <p:nvPr/>
          </p:nvSpPr>
          <p:spPr bwMode="auto">
            <a:xfrm>
              <a:off x="5631679" y="3765706"/>
              <a:ext cx="190784" cy="383158"/>
            </a:xfrm>
            <a:custGeom>
              <a:avLst/>
              <a:gdLst>
                <a:gd name="T0" fmla="*/ 0 w 120"/>
                <a:gd name="T1" fmla="*/ 0 h 241"/>
                <a:gd name="T2" fmla="*/ 120 w 120"/>
                <a:gd name="T3" fmla="*/ 0 h 241"/>
                <a:gd name="T4" fmla="*/ 120 w 120"/>
                <a:gd name="T5" fmla="*/ 241 h 241"/>
                <a:gd name="T6" fmla="*/ 0 w 120"/>
                <a:gd name="T7" fmla="*/ 241 h 241"/>
              </a:gdLst>
              <a:ahLst/>
              <a:cxnLst>
                <a:cxn ang="0">
                  <a:pos x="T0" y="T1"/>
                </a:cxn>
                <a:cxn ang="0">
                  <a:pos x="T2" y="T3"/>
                </a:cxn>
                <a:cxn ang="0">
                  <a:pos x="T4" y="T5"/>
                </a:cxn>
                <a:cxn ang="0">
                  <a:pos x="T6" y="T7"/>
                </a:cxn>
              </a:cxnLst>
              <a:rect l="0" t="0" r="r" b="b"/>
              <a:pathLst>
                <a:path w="120" h="241">
                  <a:moveTo>
                    <a:pt x="0" y="0"/>
                  </a:moveTo>
                  <a:lnTo>
                    <a:pt x="120" y="0"/>
                  </a:lnTo>
                  <a:lnTo>
                    <a:pt x="120" y="241"/>
                  </a:lnTo>
                  <a:lnTo>
                    <a:pt x="0" y="241"/>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49" name="Line 145">
              <a:extLst>
                <a:ext uri="{FF2B5EF4-FFF2-40B4-BE49-F238E27FC236}">
                  <a16:creationId xmlns:a16="http://schemas.microsoft.com/office/drawing/2014/main" id="{39544338-F1A8-422E-97DB-F6CC8AC08BF4}"/>
                </a:ext>
              </a:extLst>
            </p:cNvPr>
            <p:cNvSpPr>
              <a:spLocks noChangeShapeType="1"/>
            </p:cNvSpPr>
            <p:nvPr/>
          </p:nvSpPr>
          <p:spPr bwMode="auto">
            <a:xfrm>
              <a:off x="5245340" y="3958080"/>
              <a:ext cx="184425"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0" name="Line 146">
              <a:extLst>
                <a:ext uri="{FF2B5EF4-FFF2-40B4-BE49-F238E27FC236}">
                  <a16:creationId xmlns:a16="http://schemas.microsoft.com/office/drawing/2014/main" id="{4B62CDFE-FB7A-484A-8BD0-979463CEBADE}"/>
                </a:ext>
              </a:extLst>
            </p:cNvPr>
            <p:cNvSpPr>
              <a:spLocks noChangeShapeType="1"/>
            </p:cNvSpPr>
            <p:nvPr/>
          </p:nvSpPr>
          <p:spPr bwMode="auto">
            <a:xfrm>
              <a:off x="4595084" y="3958080"/>
              <a:ext cx="20827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1" name="Line 147">
              <a:extLst>
                <a:ext uri="{FF2B5EF4-FFF2-40B4-BE49-F238E27FC236}">
                  <a16:creationId xmlns:a16="http://schemas.microsoft.com/office/drawing/2014/main" id="{75D313B2-CD62-4B4E-AF2C-21115311F710}"/>
                </a:ext>
              </a:extLst>
            </p:cNvPr>
            <p:cNvSpPr>
              <a:spLocks noChangeShapeType="1"/>
            </p:cNvSpPr>
            <p:nvPr/>
          </p:nvSpPr>
          <p:spPr bwMode="auto">
            <a:xfrm>
              <a:off x="4081556" y="4086859"/>
              <a:ext cx="20827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2" name="Line 148">
              <a:extLst>
                <a:ext uri="{FF2B5EF4-FFF2-40B4-BE49-F238E27FC236}">
                  <a16:creationId xmlns:a16="http://schemas.microsoft.com/office/drawing/2014/main" id="{A25C880C-466B-4EC2-BDCB-30DC197E371F}"/>
                </a:ext>
              </a:extLst>
            </p:cNvPr>
            <p:cNvSpPr>
              <a:spLocks noChangeShapeType="1"/>
            </p:cNvSpPr>
            <p:nvPr/>
          </p:nvSpPr>
          <p:spPr bwMode="auto">
            <a:xfrm>
              <a:off x="4194437" y="4086859"/>
              <a:ext cx="0" cy="255969"/>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3" name="Line 149">
              <a:extLst>
                <a:ext uri="{FF2B5EF4-FFF2-40B4-BE49-F238E27FC236}">
                  <a16:creationId xmlns:a16="http://schemas.microsoft.com/office/drawing/2014/main" id="{53D1D57C-C2AF-4B4C-9B02-781EA4907323}"/>
                </a:ext>
              </a:extLst>
            </p:cNvPr>
            <p:cNvSpPr>
              <a:spLocks noChangeShapeType="1"/>
            </p:cNvSpPr>
            <p:nvPr/>
          </p:nvSpPr>
          <p:spPr bwMode="auto">
            <a:xfrm>
              <a:off x="4194437" y="4342828"/>
              <a:ext cx="448343"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4" name="Line 150">
              <a:extLst>
                <a:ext uri="{FF2B5EF4-FFF2-40B4-BE49-F238E27FC236}">
                  <a16:creationId xmlns:a16="http://schemas.microsoft.com/office/drawing/2014/main" id="{3C62E5E6-1AFA-43E7-9AE3-9B3AA40B8FBB}"/>
                </a:ext>
              </a:extLst>
            </p:cNvPr>
            <p:cNvSpPr>
              <a:spLocks noChangeShapeType="1"/>
            </p:cNvSpPr>
            <p:nvPr/>
          </p:nvSpPr>
          <p:spPr bwMode="auto">
            <a:xfrm>
              <a:off x="4642780" y="3958080"/>
              <a:ext cx="0" cy="384748"/>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5" name="Line 151">
              <a:extLst>
                <a:ext uri="{FF2B5EF4-FFF2-40B4-BE49-F238E27FC236}">
                  <a16:creationId xmlns:a16="http://schemas.microsoft.com/office/drawing/2014/main" id="{B494A1B2-793B-4194-8586-C3E310903D09}"/>
                </a:ext>
              </a:extLst>
            </p:cNvPr>
            <p:cNvSpPr>
              <a:spLocks noChangeShapeType="1"/>
            </p:cNvSpPr>
            <p:nvPr/>
          </p:nvSpPr>
          <p:spPr bwMode="auto">
            <a:xfrm>
              <a:off x="4747711" y="3958080"/>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6" name="Line 152">
              <a:extLst>
                <a:ext uri="{FF2B5EF4-FFF2-40B4-BE49-F238E27FC236}">
                  <a16:creationId xmlns:a16="http://schemas.microsoft.com/office/drawing/2014/main" id="{0DC215A6-8AF5-4735-AF14-FDEEE69C3A22}"/>
                </a:ext>
              </a:extLst>
            </p:cNvPr>
            <p:cNvSpPr>
              <a:spLocks noChangeShapeType="1"/>
            </p:cNvSpPr>
            <p:nvPr/>
          </p:nvSpPr>
          <p:spPr bwMode="auto">
            <a:xfrm>
              <a:off x="4747711" y="4279234"/>
              <a:ext cx="578712"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7" name="Line 153">
              <a:extLst>
                <a:ext uri="{FF2B5EF4-FFF2-40B4-BE49-F238E27FC236}">
                  <a16:creationId xmlns:a16="http://schemas.microsoft.com/office/drawing/2014/main" id="{F947DCCD-425D-451F-BF7B-DD01875A2138}"/>
                </a:ext>
              </a:extLst>
            </p:cNvPr>
            <p:cNvSpPr>
              <a:spLocks noChangeShapeType="1"/>
            </p:cNvSpPr>
            <p:nvPr/>
          </p:nvSpPr>
          <p:spPr bwMode="auto">
            <a:xfrm>
              <a:off x="5326424" y="3958080"/>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58" name="Freeform 154">
              <a:extLst>
                <a:ext uri="{FF2B5EF4-FFF2-40B4-BE49-F238E27FC236}">
                  <a16:creationId xmlns:a16="http://schemas.microsoft.com/office/drawing/2014/main" id="{90F76EB4-6ADE-47AE-B5A9-E3EB1BD026D7}"/>
                </a:ext>
              </a:extLst>
            </p:cNvPr>
            <p:cNvSpPr>
              <a:spLocks/>
            </p:cNvSpPr>
            <p:nvPr/>
          </p:nvSpPr>
          <p:spPr bwMode="auto">
            <a:xfrm>
              <a:off x="4876491" y="4471608"/>
              <a:ext cx="287766" cy="642307"/>
            </a:xfrm>
            <a:custGeom>
              <a:avLst/>
              <a:gdLst>
                <a:gd name="T0" fmla="*/ 0 w 181"/>
                <a:gd name="T1" fmla="*/ 269 h 404"/>
                <a:gd name="T2" fmla="*/ 60 w 181"/>
                <a:gd name="T3" fmla="*/ 202 h 404"/>
                <a:gd name="T4" fmla="*/ 0 w 181"/>
                <a:gd name="T5" fmla="*/ 135 h 404"/>
                <a:gd name="T6" fmla="*/ 0 w 181"/>
                <a:gd name="T7" fmla="*/ 0 h 404"/>
                <a:gd name="T8" fmla="*/ 181 w 181"/>
                <a:gd name="T9" fmla="*/ 135 h 404"/>
                <a:gd name="T10" fmla="*/ 181 w 181"/>
                <a:gd name="T11" fmla="*/ 269 h 404"/>
                <a:gd name="T12" fmla="*/ 0 w 181"/>
                <a:gd name="T13" fmla="*/ 404 h 404"/>
                <a:gd name="T14" fmla="*/ 0 w 181"/>
                <a:gd name="T15" fmla="*/ 269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1" h="404">
                  <a:moveTo>
                    <a:pt x="0" y="269"/>
                  </a:moveTo>
                  <a:lnTo>
                    <a:pt x="60" y="202"/>
                  </a:lnTo>
                  <a:lnTo>
                    <a:pt x="0" y="135"/>
                  </a:lnTo>
                  <a:lnTo>
                    <a:pt x="0" y="0"/>
                  </a:lnTo>
                  <a:lnTo>
                    <a:pt x="181" y="135"/>
                  </a:lnTo>
                  <a:lnTo>
                    <a:pt x="181" y="269"/>
                  </a:lnTo>
                  <a:lnTo>
                    <a:pt x="0" y="404"/>
                  </a:lnTo>
                  <a:lnTo>
                    <a:pt x="0" y="269"/>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0" name="Rectangle 156">
              <a:extLst>
                <a:ext uri="{FF2B5EF4-FFF2-40B4-BE49-F238E27FC236}">
                  <a16:creationId xmlns:a16="http://schemas.microsoft.com/office/drawing/2014/main" id="{DAA7D609-79FC-4BB7-B8A1-68BDD05B87E6}"/>
                </a:ext>
              </a:extLst>
            </p:cNvPr>
            <p:cNvSpPr>
              <a:spLocks noChangeArrowheads="1"/>
            </p:cNvSpPr>
            <p:nvPr/>
          </p:nvSpPr>
          <p:spPr bwMode="auto">
            <a:xfrm>
              <a:off x="3714297" y="4646493"/>
              <a:ext cx="18594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IM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61" name="Freeform 157">
              <a:extLst>
                <a:ext uri="{FF2B5EF4-FFF2-40B4-BE49-F238E27FC236}">
                  <a16:creationId xmlns:a16="http://schemas.microsoft.com/office/drawing/2014/main" id="{2F08D291-B920-45B1-8282-D0D9D2B86D7A}"/>
                </a:ext>
              </a:extLst>
            </p:cNvPr>
            <p:cNvSpPr>
              <a:spLocks/>
            </p:cNvSpPr>
            <p:nvPr/>
          </p:nvSpPr>
          <p:spPr bwMode="auto">
            <a:xfrm>
              <a:off x="3639573" y="4600387"/>
              <a:ext cx="224172" cy="384748"/>
            </a:xfrm>
            <a:custGeom>
              <a:avLst/>
              <a:gdLst>
                <a:gd name="T0" fmla="*/ 141 w 141"/>
                <a:gd name="T1" fmla="*/ 0 h 242"/>
                <a:gd name="T2" fmla="*/ 0 w 141"/>
                <a:gd name="T3" fmla="*/ 0 h 242"/>
                <a:gd name="T4" fmla="*/ 0 w 141"/>
                <a:gd name="T5" fmla="*/ 242 h 242"/>
                <a:gd name="T6" fmla="*/ 141 w 141"/>
                <a:gd name="T7" fmla="*/ 242 h 242"/>
              </a:gdLst>
              <a:ahLst/>
              <a:cxnLst>
                <a:cxn ang="0">
                  <a:pos x="T0" y="T1"/>
                </a:cxn>
                <a:cxn ang="0">
                  <a:pos x="T2" y="T3"/>
                </a:cxn>
                <a:cxn ang="0">
                  <a:pos x="T4" y="T5"/>
                </a:cxn>
                <a:cxn ang="0">
                  <a:pos x="T6" y="T7"/>
                </a:cxn>
              </a:cxnLst>
              <a:rect l="0" t="0" r="r" b="b"/>
              <a:pathLst>
                <a:path w="141" h="242">
                  <a:moveTo>
                    <a:pt x="141" y="0"/>
                  </a:moveTo>
                  <a:lnTo>
                    <a:pt x="0" y="0"/>
                  </a:lnTo>
                  <a:lnTo>
                    <a:pt x="0" y="242"/>
                  </a:lnTo>
                  <a:lnTo>
                    <a:pt x="141"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2" name="Freeform 158">
              <a:extLst>
                <a:ext uri="{FF2B5EF4-FFF2-40B4-BE49-F238E27FC236}">
                  <a16:creationId xmlns:a16="http://schemas.microsoft.com/office/drawing/2014/main" id="{35C76208-2B48-40CA-949F-654D07A15CD1}"/>
                </a:ext>
              </a:extLst>
            </p:cNvPr>
            <p:cNvSpPr>
              <a:spLocks/>
            </p:cNvSpPr>
            <p:nvPr/>
          </p:nvSpPr>
          <p:spPr bwMode="auto">
            <a:xfrm>
              <a:off x="3865334" y="4600387"/>
              <a:ext cx="230531" cy="384748"/>
            </a:xfrm>
            <a:custGeom>
              <a:avLst/>
              <a:gdLst>
                <a:gd name="T0" fmla="*/ 0 w 145"/>
                <a:gd name="T1" fmla="*/ 0 h 242"/>
                <a:gd name="T2" fmla="*/ 145 w 145"/>
                <a:gd name="T3" fmla="*/ 0 h 242"/>
                <a:gd name="T4" fmla="*/ 145 w 145"/>
                <a:gd name="T5" fmla="*/ 242 h 242"/>
                <a:gd name="T6" fmla="*/ 0 w 145"/>
                <a:gd name="T7" fmla="*/ 242 h 242"/>
              </a:gdLst>
              <a:ahLst/>
              <a:cxnLst>
                <a:cxn ang="0">
                  <a:pos x="T0" y="T1"/>
                </a:cxn>
                <a:cxn ang="0">
                  <a:pos x="T2" y="T3"/>
                </a:cxn>
                <a:cxn ang="0">
                  <a:pos x="T4" y="T5"/>
                </a:cxn>
                <a:cxn ang="0">
                  <a:pos x="T6" y="T7"/>
                </a:cxn>
              </a:cxnLst>
              <a:rect l="0" t="0" r="r" b="b"/>
              <a:pathLst>
                <a:path w="145" h="242">
                  <a:moveTo>
                    <a:pt x="0" y="0"/>
                  </a:moveTo>
                  <a:lnTo>
                    <a:pt x="145" y="0"/>
                  </a:lnTo>
                  <a:lnTo>
                    <a:pt x="145"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3" name="Rectangle 159">
              <a:extLst>
                <a:ext uri="{FF2B5EF4-FFF2-40B4-BE49-F238E27FC236}">
                  <a16:creationId xmlns:a16="http://schemas.microsoft.com/office/drawing/2014/main" id="{9AD4E76D-F310-4759-8CC4-A64A88B95CC9}"/>
                </a:ext>
              </a:extLst>
            </p:cNvPr>
            <p:cNvSpPr>
              <a:spLocks noChangeArrowheads="1"/>
            </p:cNvSpPr>
            <p:nvPr/>
          </p:nvSpPr>
          <p:spPr bwMode="auto">
            <a:xfrm>
              <a:off x="4307318" y="4656033"/>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64" name="Freeform 160">
              <a:extLst>
                <a:ext uri="{FF2B5EF4-FFF2-40B4-BE49-F238E27FC236}">
                  <a16:creationId xmlns:a16="http://schemas.microsoft.com/office/drawing/2014/main" id="{9DB2C9CC-9D01-4024-9859-1B89D6563E96}"/>
                </a:ext>
              </a:extLst>
            </p:cNvPr>
            <p:cNvSpPr>
              <a:spLocks/>
            </p:cNvSpPr>
            <p:nvPr/>
          </p:nvSpPr>
          <p:spPr bwMode="auto">
            <a:xfrm>
              <a:off x="4258032" y="4600387"/>
              <a:ext cx="200323" cy="384748"/>
            </a:xfrm>
            <a:custGeom>
              <a:avLst/>
              <a:gdLst>
                <a:gd name="T0" fmla="*/ 126 w 126"/>
                <a:gd name="T1" fmla="*/ 0 h 242"/>
                <a:gd name="T2" fmla="*/ 0 w 126"/>
                <a:gd name="T3" fmla="*/ 0 h 242"/>
                <a:gd name="T4" fmla="*/ 0 w 126"/>
                <a:gd name="T5" fmla="*/ 242 h 242"/>
                <a:gd name="T6" fmla="*/ 126 w 126"/>
                <a:gd name="T7" fmla="*/ 242 h 242"/>
              </a:gdLst>
              <a:ahLst/>
              <a:cxnLst>
                <a:cxn ang="0">
                  <a:pos x="T0" y="T1"/>
                </a:cxn>
                <a:cxn ang="0">
                  <a:pos x="T2" y="T3"/>
                </a:cxn>
                <a:cxn ang="0">
                  <a:pos x="T4" y="T5"/>
                </a:cxn>
                <a:cxn ang="0">
                  <a:pos x="T6" y="T7"/>
                </a:cxn>
              </a:cxnLst>
              <a:rect l="0" t="0" r="r" b="b"/>
              <a:pathLst>
                <a:path w="126" h="242">
                  <a:moveTo>
                    <a:pt x="126" y="0"/>
                  </a:moveTo>
                  <a:lnTo>
                    <a:pt x="0" y="0"/>
                  </a:lnTo>
                  <a:lnTo>
                    <a:pt x="0" y="242"/>
                  </a:lnTo>
                  <a:lnTo>
                    <a:pt x="126"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5" name="Freeform 161">
              <a:extLst>
                <a:ext uri="{FF2B5EF4-FFF2-40B4-BE49-F238E27FC236}">
                  <a16:creationId xmlns:a16="http://schemas.microsoft.com/office/drawing/2014/main" id="{C2AED59C-5D99-4A48-AD89-AC7CBE9F8204}"/>
                </a:ext>
              </a:extLst>
            </p:cNvPr>
            <p:cNvSpPr>
              <a:spLocks/>
            </p:cNvSpPr>
            <p:nvPr/>
          </p:nvSpPr>
          <p:spPr bwMode="auto">
            <a:xfrm>
              <a:off x="4450406" y="4600387"/>
              <a:ext cx="200323" cy="384748"/>
            </a:xfrm>
            <a:custGeom>
              <a:avLst/>
              <a:gdLst>
                <a:gd name="T0" fmla="*/ 0 w 126"/>
                <a:gd name="T1" fmla="*/ 0 h 242"/>
                <a:gd name="T2" fmla="*/ 126 w 126"/>
                <a:gd name="T3" fmla="*/ 0 h 242"/>
                <a:gd name="T4" fmla="*/ 126 w 126"/>
                <a:gd name="T5" fmla="*/ 242 h 242"/>
                <a:gd name="T6" fmla="*/ 0 w 126"/>
                <a:gd name="T7" fmla="*/ 242 h 242"/>
              </a:gdLst>
              <a:ahLst/>
              <a:cxnLst>
                <a:cxn ang="0">
                  <a:pos x="T0" y="T1"/>
                </a:cxn>
                <a:cxn ang="0">
                  <a:pos x="T2" y="T3"/>
                </a:cxn>
                <a:cxn ang="0">
                  <a:pos x="T4" y="T5"/>
                </a:cxn>
                <a:cxn ang="0">
                  <a:pos x="T6" y="T7"/>
                </a:cxn>
              </a:cxnLst>
              <a:rect l="0" t="0" r="r" b="b"/>
              <a:pathLst>
                <a:path w="126" h="242">
                  <a:moveTo>
                    <a:pt x="0" y="0"/>
                  </a:moveTo>
                  <a:lnTo>
                    <a:pt x="126" y="0"/>
                  </a:lnTo>
                  <a:lnTo>
                    <a:pt x="126"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6" name="Line 162">
              <a:extLst>
                <a:ext uri="{FF2B5EF4-FFF2-40B4-BE49-F238E27FC236}">
                  <a16:creationId xmlns:a16="http://schemas.microsoft.com/office/drawing/2014/main" id="{E738A99F-28BB-46C1-A3EB-62BCC296AA7D}"/>
                </a:ext>
              </a:extLst>
            </p:cNvPr>
            <p:cNvSpPr>
              <a:spLocks noChangeShapeType="1"/>
            </p:cNvSpPr>
            <p:nvPr/>
          </p:nvSpPr>
          <p:spPr bwMode="auto">
            <a:xfrm>
              <a:off x="4105404" y="4792761"/>
              <a:ext cx="152627"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7" name="Freeform 163">
              <a:extLst>
                <a:ext uri="{FF2B5EF4-FFF2-40B4-BE49-F238E27FC236}">
                  <a16:creationId xmlns:a16="http://schemas.microsoft.com/office/drawing/2014/main" id="{EBD890B8-E273-403F-809E-37754ED0803D}"/>
                </a:ext>
              </a:extLst>
            </p:cNvPr>
            <p:cNvSpPr>
              <a:spLocks/>
            </p:cNvSpPr>
            <p:nvPr/>
          </p:nvSpPr>
          <p:spPr bwMode="auto">
            <a:xfrm>
              <a:off x="4194437" y="4663982"/>
              <a:ext cx="62005" cy="128779"/>
            </a:xfrm>
            <a:custGeom>
              <a:avLst/>
              <a:gdLst>
                <a:gd name="T0" fmla="*/ 0 w 39"/>
                <a:gd name="T1" fmla="*/ 81 h 81"/>
                <a:gd name="T2" fmla="*/ 0 w 39"/>
                <a:gd name="T3" fmla="*/ 0 h 81"/>
                <a:gd name="T4" fmla="*/ 39 w 39"/>
                <a:gd name="T5" fmla="*/ 0 h 81"/>
              </a:gdLst>
              <a:ahLst/>
              <a:cxnLst>
                <a:cxn ang="0">
                  <a:pos x="T0" y="T1"/>
                </a:cxn>
                <a:cxn ang="0">
                  <a:pos x="T2" y="T3"/>
                </a:cxn>
                <a:cxn ang="0">
                  <a:pos x="T4" y="T5"/>
                </a:cxn>
              </a:cxnLst>
              <a:rect l="0" t="0" r="r" b="b"/>
              <a:pathLst>
                <a:path w="39" h="81">
                  <a:moveTo>
                    <a:pt x="0" y="81"/>
                  </a:moveTo>
                  <a:lnTo>
                    <a:pt x="0" y="0"/>
                  </a:lnTo>
                  <a:lnTo>
                    <a:pt x="39" y="0"/>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8" name="Line 164">
              <a:extLst>
                <a:ext uri="{FF2B5EF4-FFF2-40B4-BE49-F238E27FC236}">
                  <a16:creationId xmlns:a16="http://schemas.microsoft.com/office/drawing/2014/main" id="{FA4226AE-D28A-44C3-BADD-D6D268A1A2CD}"/>
                </a:ext>
              </a:extLst>
            </p:cNvPr>
            <p:cNvSpPr>
              <a:spLocks noChangeShapeType="1"/>
            </p:cNvSpPr>
            <p:nvPr/>
          </p:nvSpPr>
          <p:spPr bwMode="auto">
            <a:xfrm>
              <a:off x="4658679" y="4663982"/>
              <a:ext cx="20986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69" name="Rectangle 165">
              <a:extLst>
                <a:ext uri="{FF2B5EF4-FFF2-40B4-BE49-F238E27FC236}">
                  <a16:creationId xmlns:a16="http://schemas.microsoft.com/office/drawing/2014/main" id="{980C09E0-55D2-4FFB-90B7-CAD28BB1A100}"/>
                </a:ext>
              </a:extLst>
            </p:cNvPr>
            <p:cNvSpPr>
              <a:spLocks noChangeArrowheads="1"/>
            </p:cNvSpPr>
            <p:nvPr/>
          </p:nvSpPr>
          <p:spPr bwMode="auto">
            <a:xfrm>
              <a:off x="5399558" y="4646493"/>
              <a:ext cx="25968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DM</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70" name="Freeform 166">
              <a:extLst>
                <a:ext uri="{FF2B5EF4-FFF2-40B4-BE49-F238E27FC236}">
                  <a16:creationId xmlns:a16="http://schemas.microsoft.com/office/drawing/2014/main" id="{2301E547-1BB8-4D96-B47B-1D77D11C867D}"/>
                </a:ext>
              </a:extLst>
            </p:cNvPr>
            <p:cNvSpPr>
              <a:spLocks/>
            </p:cNvSpPr>
            <p:nvPr/>
          </p:nvSpPr>
          <p:spPr bwMode="auto">
            <a:xfrm>
              <a:off x="5390019" y="4600387"/>
              <a:ext cx="216222" cy="384748"/>
            </a:xfrm>
            <a:custGeom>
              <a:avLst/>
              <a:gdLst>
                <a:gd name="T0" fmla="*/ 136 w 136"/>
                <a:gd name="T1" fmla="*/ 0 h 242"/>
                <a:gd name="T2" fmla="*/ 0 w 136"/>
                <a:gd name="T3" fmla="*/ 0 h 242"/>
                <a:gd name="T4" fmla="*/ 0 w 136"/>
                <a:gd name="T5" fmla="*/ 242 h 242"/>
                <a:gd name="T6" fmla="*/ 136 w 136"/>
                <a:gd name="T7" fmla="*/ 242 h 242"/>
              </a:gdLst>
              <a:ahLst/>
              <a:cxnLst>
                <a:cxn ang="0">
                  <a:pos x="T0" y="T1"/>
                </a:cxn>
                <a:cxn ang="0">
                  <a:pos x="T2" y="T3"/>
                </a:cxn>
                <a:cxn ang="0">
                  <a:pos x="T4" y="T5"/>
                </a:cxn>
                <a:cxn ang="0">
                  <a:pos x="T6" y="T7"/>
                </a:cxn>
              </a:cxnLst>
              <a:rect l="0" t="0" r="r" b="b"/>
              <a:pathLst>
                <a:path w="136" h="242">
                  <a:moveTo>
                    <a:pt x="136" y="0"/>
                  </a:moveTo>
                  <a:lnTo>
                    <a:pt x="0" y="0"/>
                  </a:lnTo>
                  <a:lnTo>
                    <a:pt x="0" y="242"/>
                  </a:lnTo>
                  <a:lnTo>
                    <a:pt x="136"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1" name="Freeform 167">
              <a:extLst>
                <a:ext uri="{FF2B5EF4-FFF2-40B4-BE49-F238E27FC236}">
                  <a16:creationId xmlns:a16="http://schemas.microsoft.com/office/drawing/2014/main" id="{D3C8ED34-20FA-47D5-A761-AA3F9A6AF0EA}"/>
                </a:ext>
              </a:extLst>
            </p:cNvPr>
            <p:cNvSpPr>
              <a:spLocks/>
            </p:cNvSpPr>
            <p:nvPr/>
          </p:nvSpPr>
          <p:spPr bwMode="auto">
            <a:xfrm>
              <a:off x="5606241" y="4600387"/>
              <a:ext cx="216222" cy="384748"/>
            </a:xfrm>
            <a:custGeom>
              <a:avLst/>
              <a:gdLst>
                <a:gd name="T0" fmla="*/ 0 w 136"/>
                <a:gd name="T1" fmla="*/ 0 h 242"/>
                <a:gd name="T2" fmla="*/ 136 w 136"/>
                <a:gd name="T3" fmla="*/ 0 h 242"/>
                <a:gd name="T4" fmla="*/ 136 w 136"/>
                <a:gd name="T5" fmla="*/ 242 h 242"/>
                <a:gd name="T6" fmla="*/ 0 w 136"/>
                <a:gd name="T7" fmla="*/ 242 h 242"/>
              </a:gdLst>
              <a:ahLst/>
              <a:cxnLst>
                <a:cxn ang="0">
                  <a:pos x="T0" y="T1"/>
                </a:cxn>
                <a:cxn ang="0">
                  <a:pos x="T2" y="T3"/>
                </a:cxn>
                <a:cxn ang="0">
                  <a:pos x="T4" y="T5"/>
                </a:cxn>
                <a:cxn ang="0">
                  <a:pos x="T6" y="T7"/>
                </a:cxn>
              </a:cxnLst>
              <a:rect l="0" t="0" r="r" b="b"/>
              <a:pathLst>
                <a:path w="136" h="242">
                  <a:moveTo>
                    <a:pt x="0" y="0"/>
                  </a:moveTo>
                  <a:lnTo>
                    <a:pt x="136" y="0"/>
                  </a:lnTo>
                  <a:lnTo>
                    <a:pt x="136"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2" name="Rectangle 168">
              <a:extLst>
                <a:ext uri="{FF2B5EF4-FFF2-40B4-BE49-F238E27FC236}">
                  <a16:creationId xmlns:a16="http://schemas.microsoft.com/office/drawing/2014/main" id="{B6F52E46-B7B4-490F-9449-7D9E5F2BDD66}"/>
                </a:ext>
              </a:extLst>
            </p:cNvPr>
            <p:cNvSpPr>
              <a:spLocks noChangeArrowheads="1"/>
            </p:cNvSpPr>
            <p:nvPr/>
          </p:nvSpPr>
          <p:spPr bwMode="auto">
            <a:xfrm>
              <a:off x="6057763" y="4646493"/>
              <a:ext cx="30617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Reg</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73" name="Freeform 169">
              <a:extLst>
                <a:ext uri="{FF2B5EF4-FFF2-40B4-BE49-F238E27FC236}">
                  <a16:creationId xmlns:a16="http://schemas.microsoft.com/office/drawing/2014/main" id="{D299A12D-AD99-4629-937B-85B26E288E85}"/>
                </a:ext>
              </a:extLst>
            </p:cNvPr>
            <p:cNvSpPr>
              <a:spLocks/>
            </p:cNvSpPr>
            <p:nvPr/>
          </p:nvSpPr>
          <p:spPr bwMode="auto">
            <a:xfrm>
              <a:off x="6016427" y="4600387"/>
              <a:ext cx="190784" cy="384748"/>
            </a:xfrm>
            <a:custGeom>
              <a:avLst/>
              <a:gdLst>
                <a:gd name="T0" fmla="*/ 120 w 120"/>
                <a:gd name="T1" fmla="*/ 0 h 242"/>
                <a:gd name="T2" fmla="*/ 0 w 120"/>
                <a:gd name="T3" fmla="*/ 0 h 242"/>
                <a:gd name="T4" fmla="*/ 0 w 120"/>
                <a:gd name="T5" fmla="*/ 242 h 242"/>
                <a:gd name="T6" fmla="*/ 120 w 120"/>
                <a:gd name="T7" fmla="*/ 242 h 242"/>
              </a:gdLst>
              <a:ahLst/>
              <a:cxnLst>
                <a:cxn ang="0">
                  <a:pos x="T0" y="T1"/>
                </a:cxn>
                <a:cxn ang="0">
                  <a:pos x="T2" y="T3"/>
                </a:cxn>
                <a:cxn ang="0">
                  <a:pos x="T4" y="T5"/>
                </a:cxn>
                <a:cxn ang="0">
                  <a:pos x="T6" y="T7"/>
                </a:cxn>
              </a:cxnLst>
              <a:rect l="0" t="0" r="r" b="b"/>
              <a:pathLst>
                <a:path w="120" h="242">
                  <a:moveTo>
                    <a:pt x="120" y="0"/>
                  </a:moveTo>
                  <a:lnTo>
                    <a:pt x="0" y="0"/>
                  </a:lnTo>
                  <a:lnTo>
                    <a:pt x="0" y="242"/>
                  </a:lnTo>
                  <a:lnTo>
                    <a:pt x="12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4" name="Freeform 170">
              <a:extLst>
                <a:ext uri="{FF2B5EF4-FFF2-40B4-BE49-F238E27FC236}">
                  <a16:creationId xmlns:a16="http://schemas.microsoft.com/office/drawing/2014/main" id="{FAE9CA56-6BD8-4622-8EEA-4FF6576A45A8}"/>
                </a:ext>
              </a:extLst>
            </p:cNvPr>
            <p:cNvSpPr>
              <a:spLocks/>
            </p:cNvSpPr>
            <p:nvPr/>
          </p:nvSpPr>
          <p:spPr bwMode="auto">
            <a:xfrm>
              <a:off x="6208801" y="4600387"/>
              <a:ext cx="192374" cy="384748"/>
            </a:xfrm>
            <a:custGeom>
              <a:avLst/>
              <a:gdLst>
                <a:gd name="T0" fmla="*/ 0 w 121"/>
                <a:gd name="T1" fmla="*/ 0 h 242"/>
                <a:gd name="T2" fmla="*/ 121 w 121"/>
                <a:gd name="T3" fmla="*/ 0 h 242"/>
                <a:gd name="T4" fmla="*/ 121 w 121"/>
                <a:gd name="T5" fmla="*/ 242 h 242"/>
                <a:gd name="T6" fmla="*/ 0 w 121"/>
                <a:gd name="T7" fmla="*/ 242 h 242"/>
              </a:gdLst>
              <a:ahLst/>
              <a:cxnLst>
                <a:cxn ang="0">
                  <a:pos x="T0" y="T1"/>
                </a:cxn>
                <a:cxn ang="0">
                  <a:pos x="T2" y="T3"/>
                </a:cxn>
                <a:cxn ang="0">
                  <a:pos x="T4" y="T5"/>
                </a:cxn>
                <a:cxn ang="0">
                  <a:pos x="T6" y="T7"/>
                </a:cxn>
              </a:cxnLst>
              <a:rect l="0" t="0" r="r" b="b"/>
              <a:pathLst>
                <a:path w="121" h="242">
                  <a:moveTo>
                    <a:pt x="0" y="0"/>
                  </a:moveTo>
                  <a:lnTo>
                    <a:pt x="121" y="0"/>
                  </a:lnTo>
                  <a:lnTo>
                    <a:pt x="121" y="242"/>
                  </a:lnTo>
                  <a:lnTo>
                    <a:pt x="0" y="242"/>
                  </a:lnTo>
                </a:path>
              </a:pathLst>
            </a:custGeom>
            <a:noFill/>
            <a:ln w="222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5" name="Line 171">
              <a:extLst>
                <a:ext uri="{FF2B5EF4-FFF2-40B4-BE49-F238E27FC236}">
                  <a16:creationId xmlns:a16="http://schemas.microsoft.com/office/drawing/2014/main" id="{878304E1-A156-49C4-B739-F89DFA4A0DB5}"/>
                </a:ext>
              </a:extLst>
            </p:cNvPr>
            <p:cNvSpPr>
              <a:spLocks noChangeShapeType="1"/>
            </p:cNvSpPr>
            <p:nvPr/>
          </p:nvSpPr>
          <p:spPr bwMode="auto">
            <a:xfrm>
              <a:off x="5824053" y="4792761"/>
              <a:ext cx="184425"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6" name="Line 172">
              <a:extLst>
                <a:ext uri="{FF2B5EF4-FFF2-40B4-BE49-F238E27FC236}">
                  <a16:creationId xmlns:a16="http://schemas.microsoft.com/office/drawing/2014/main" id="{4636D761-DE92-43E3-82ED-2C2407B4CC5F}"/>
                </a:ext>
              </a:extLst>
            </p:cNvPr>
            <p:cNvSpPr>
              <a:spLocks noChangeShapeType="1"/>
            </p:cNvSpPr>
            <p:nvPr/>
          </p:nvSpPr>
          <p:spPr bwMode="auto">
            <a:xfrm>
              <a:off x="5173796" y="4792761"/>
              <a:ext cx="20827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7" name="Line 173">
              <a:extLst>
                <a:ext uri="{FF2B5EF4-FFF2-40B4-BE49-F238E27FC236}">
                  <a16:creationId xmlns:a16="http://schemas.microsoft.com/office/drawing/2014/main" id="{7215B06F-1DD5-4C7E-8F09-AFC40963FFB5}"/>
                </a:ext>
              </a:extLst>
            </p:cNvPr>
            <p:cNvSpPr>
              <a:spLocks noChangeShapeType="1"/>
            </p:cNvSpPr>
            <p:nvPr/>
          </p:nvSpPr>
          <p:spPr bwMode="auto">
            <a:xfrm>
              <a:off x="4658679" y="4921541"/>
              <a:ext cx="209863" cy="0"/>
            </a:xfrm>
            <a:prstGeom prst="line">
              <a:avLst/>
            </a:prstGeom>
            <a:noFill/>
            <a:ln w="22225"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8" name="Line 174">
              <a:extLst>
                <a:ext uri="{FF2B5EF4-FFF2-40B4-BE49-F238E27FC236}">
                  <a16:creationId xmlns:a16="http://schemas.microsoft.com/office/drawing/2014/main" id="{326C07FB-63F7-4EC9-BDBF-2EB39BF7BEF9}"/>
                </a:ext>
              </a:extLst>
            </p:cNvPr>
            <p:cNvSpPr>
              <a:spLocks noChangeShapeType="1"/>
            </p:cNvSpPr>
            <p:nvPr/>
          </p:nvSpPr>
          <p:spPr bwMode="auto">
            <a:xfrm>
              <a:off x="4771559" y="4921541"/>
              <a:ext cx="0" cy="257559"/>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79" name="Line 175">
              <a:extLst>
                <a:ext uri="{FF2B5EF4-FFF2-40B4-BE49-F238E27FC236}">
                  <a16:creationId xmlns:a16="http://schemas.microsoft.com/office/drawing/2014/main" id="{1A469005-1B77-40E9-A2BA-5930B963A699}"/>
                </a:ext>
              </a:extLst>
            </p:cNvPr>
            <p:cNvSpPr>
              <a:spLocks noChangeShapeType="1"/>
            </p:cNvSpPr>
            <p:nvPr/>
          </p:nvSpPr>
          <p:spPr bwMode="auto">
            <a:xfrm>
              <a:off x="4771559" y="5179099"/>
              <a:ext cx="449933"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80" name="Line 176">
              <a:extLst>
                <a:ext uri="{FF2B5EF4-FFF2-40B4-BE49-F238E27FC236}">
                  <a16:creationId xmlns:a16="http://schemas.microsoft.com/office/drawing/2014/main" id="{7987C501-137A-4D90-A68B-66B18EDE4EC9}"/>
                </a:ext>
              </a:extLst>
            </p:cNvPr>
            <p:cNvSpPr>
              <a:spLocks noChangeShapeType="1"/>
            </p:cNvSpPr>
            <p:nvPr/>
          </p:nvSpPr>
          <p:spPr bwMode="auto">
            <a:xfrm>
              <a:off x="5221492" y="4792761"/>
              <a:ext cx="0" cy="386338"/>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81" name="Line 177">
              <a:extLst>
                <a:ext uri="{FF2B5EF4-FFF2-40B4-BE49-F238E27FC236}">
                  <a16:creationId xmlns:a16="http://schemas.microsoft.com/office/drawing/2014/main" id="{203C5AAD-97F1-408A-8144-BA60398D6C2A}"/>
                </a:ext>
              </a:extLst>
            </p:cNvPr>
            <p:cNvSpPr>
              <a:spLocks noChangeShapeType="1"/>
            </p:cNvSpPr>
            <p:nvPr/>
          </p:nvSpPr>
          <p:spPr bwMode="auto">
            <a:xfrm>
              <a:off x="5326424" y="4792761"/>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82" name="Line 178">
              <a:extLst>
                <a:ext uri="{FF2B5EF4-FFF2-40B4-BE49-F238E27FC236}">
                  <a16:creationId xmlns:a16="http://schemas.microsoft.com/office/drawing/2014/main" id="{B08ECE67-996F-43FB-B008-F9983D725EAC}"/>
                </a:ext>
              </a:extLst>
            </p:cNvPr>
            <p:cNvSpPr>
              <a:spLocks noChangeShapeType="1"/>
            </p:cNvSpPr>
            <p:nvPr/>
          </p:nvSpPr>
          <p:spPr bwMode="auto">
            <a:xfrm>
              <a:off x="5326424" y="5113915"/>
              <a:ext cx="577122"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83" name="Line 179">
              <a:extLst>
                <a:ext uri="{FF2B5EF4-FFF2-40B4-BE49-F238E27FC236}">
                  <a16:creationId xmlns:a16="http://schemas.microsoft.com/office/drawing/2014/main" id="{7418353F-A497-498C-BD91-0463821A6CB6}"/>
                </a:ext>
              </a:extLst>
            </p:cNvPr>
            <p:cNvSpPr>
              <a:spLocks noChangeShapeType="1"/>
            </p:cNvSpPr>
            <p:nvPr/>
          </p:nvSpPr>
          <p:spPr bwMode="auto">
            <a:xfrm>
              <a:off x="5903546" y="4792761"/>
              <a:ext cx="0" cy="321154"/>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sp>
          <p:nvSpPr>
            <p:cNvPr id="187" name="Rectangle 183">
              <a:extLst>
                <a:ext uri="{FF2B5EF4-FFF2-40B4-BE49-F238E27FC236}">
                  <a16:creationId xmlns:a16="http://schemas.microsoft.com/office/drawing/2014/main" id="{3EB35709-49F3-4507-B800-D8BDC09D81FB}"/>
                </a:ext>
              </a:extLst>
            </p:cNvPr>
            <p:cNvSpPr>
              <a:spLocks noChangeArrowheads="1"/>
            </p:cNvSpPr>
            <p:nvPr/>
          </p:nvSpPr>
          <p:spPr bwMode="auto">
            <a:xfrm>
              <a:off x="879560" y="5460506"/>
              <a:ext cx="8784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or  </a:t>
              </a:r>
              <a:r>
                <a:rPr kumimoji="0" lang="en-US"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  </a:t>
              </a: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r8, </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88" name="Rectangle 184">
              <a:extLst>
                <a:ext uri="{FF2B5EF4-FFF2-40B4-BE49-F238E27FC236}">
                  <a16:creationId xmlns:a16="http://schemas.microsoft.com/office/drawing/2014/main" id="{03F6A719-BB34-4CF7-AFA1-F0E50C788E7D}"/>
                </a:ext>
              </a:extLst>
            </p:cNvPr>
            <p:cNvSpPr>
              <a:spLocks noChangeArrowheads="1"/>
            </p:cNvSpPr>
            <p:nvPr/>
          </p:nvSpPr>
          <p:spPr bwMode="auto">
            <a:xfrm>
              <a:off x="1699341" y="5460506"/>
              <a:ext cx="2276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effectLst/>
                  <a:latin typeface="Arial" panose="020B0604020202020204" pitchFamily="34" charset="0"/>
                  <a:ea typeface="SimHei" panose="02010609060101010101" pitchFamily="49" charset="-122"/>
                </a:rPr>
                <a:t>r</a:t>
              </a:r>
              <a:r>
                <a:rPr kumimoji="0" lang="en-US" altLang="zh-CN" sz="2000" u="none" strike="noStrike" cap="none" normalizeH="0" baseline="0" dirty="0">
                  <a:ln>
                    <a:noFill/>
                  </a:ln>
                  <a:effectLst/>
                  <a:latin typeface="Arial" panose="020B0604020202020204" pitchFamily="34" charset="0"/>
                  <a:ea typeface="SimHei" panose="02010609060101010101" pitchFamily="49" charset="-122"/>
                </a:rPr>
                <a:t>9</a:t>
              </a:r>
              <a:endParaRPr kumimoji="0" lang="zh-CN" altLang="zh-CN" sz="1800" u="none" strike="noStrike" cap="none" normalizeH="0" baseline="0" dirty="0">
                <a:ln>
                  <a:noFill/>
                </a:ln>
                <a:effectLst/>
                <a:latin typeface="Arial" panose="020B0604020202020204" pitchFamily="34" charset="0"/>
                <a:ea typeface="SimHei" panose="02010609060101010101" pitchFamily="49" charset="-122"/>
              </a:endParaRPr>
            </a:p>
          </p:txBody>
        </p:sp>
        <p:sp>
          <p:nvSpPr>
            <p:cNvPr id="189" name="Rectangle 185">
              <a:extLst>
                <a:ext uri="{FF2B5EF4-FFF2-40B4-BE49-F238E27FC236}">
                  <a16:creationId xmlns:a16="http://schemas.microsoft.com/office/drawing/2014/main" id="{971FF72E-B8AA-4B26-8B63-F0FFE842EC60}"/>
                </a:ext>
              </a:extLst>
            </p:cNvPr>
            <p:cNvSpPr>
              <a:spLocks noChangeArrowheads="1"/>
            </p:cNvSpPr>
            <p:nvPr/>
          </p:nvSpPr>
          <p:spPr bwMode="auto">
            <a:xfrm>
              <a:off x="1885355" y="5460506"/>
              <a:ext cx="3686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baseline="0" dirty="0">
                  <a:ln>
                    <a:noFill/>
                  </a:ln>
                  <a:solidFill>
                    <a:srgbClr val="000000"/>
                  </a:solidFill>
                  <a:effectLst/>
                  <a:latin typeface="Arial" panose="020B0604020202020204" pitchFamily="34" charset="0"/>
                  <a:ea typeface="SimHei" panose="02010609060101010101" pitchFamily="49" charset="-122"/>
                </a:rPr>
                <a:t>, </a:t>
              </a:r>
              <a:r>
                <a:rPr kumimoji="0" lang="zh-CN" altLang="zh-CN" sz="2000" u="none" strike="noStrike" cap="none" normalizeH="0" baseline="0" dirty="0">
                  <a:ln>
                    <a:noFill/>
                  </a:ln>
                  <a:solidFill>
                    <a:srgbClr val="009900"/>
                  </a:solidFill>
                  <a:effectLst/>
                  <a:latin typeface="Arial" panose="020B0604020202020204" pitchFamily="34" charset="0"/>
                  <a:ea typeface="SimHei" panose="02010609060101010101" pitchFamily="49" charset="-122"/>
                </a:rPr>
                <a:t>r</a:t>
              </a:r>
              <a:r>
                <a:rPr kumimoji="0" lang="en-US" altLang="zh-CN" sz="2000" u="none" strike="noStrike" cap="none" normalizeH="0" baseline="0" dirty="0">
                  <a:ln>
                    <a:noFill/>
                  </a:ln>
                  <a:solidFill>
                    <a:srgbClr val="009900"/>
                  </a:solidFill>
                  <a:effectLst/>
                  <a:latin typeface="Arial" panose="020B0604020202020204" pitchFamily="34" charset="0"/>
                  <a:ea typeface="SimHei" panose="02010609060101010101" pitchFamily="49" charset="-122"/>
                </a:rPr>
                <a:t>1</a:t>
              </a:r>
              <a:endParaRPr kumimoji="0" lang="zh-CN" altLang="zh-CN" sz="1800" u="none" strike="noStrike" cap="none" normalizeH="0" baseline="0" dirty="0">
                <a:ln>
                  <a:noFill/>
                </a:ln>
                <a:solidFill>
                  <a:srgbClr val="009900"/>
                </a:solidFill>
                <a:effectLst/>
                <a:latin typeface="Arial" panose="020B0604020202020204" pitchFamily="34" charset="0"/>
                <a:ea typeface="SimHei" panose="02010609060101010101" pitchFamily="49" charset="-122"/>
              </a:endParaRPr>
            </a:p>
          </p:txBody>
        </p:sp>
        <p:sp>
          <p:nvSpPr>
            <p:cNvPr id="190" name="Rectangle 97">
              <a:extLst>
                <a:ext uri="{FF2B5EF4-FFF2-40B4-BE49-F238E27FC236}">
                  <a16:creationId xmlns:a16="http://schemas.microsoft.com/office/drawing/2014/main" id="{5E7B3E28-BFC0-8950-7655-E56708742174}"/>
                </a:ext>
              </a:extLst>
            </p:cNvPr>
            <p:cNvSpPr>
              <a:spLocks noChangeArrowheads="1"/>
            </p:cNvSpPr>
            <p:nvPr/>
          </p:nvSpPr>
          <p:spPr bwMode="auto">
            <a:xfrm rot="5400000">
              <a:off x="4133691" y="3858579"/>
              <a:ext cx="68421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ALU</a:t>
              </a:r>
              <a:endParaRPr kumimoji="0" lang="zh-CN" altLang="zh-CN" sz="13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91" name="Rectangle 97">
              <a:extLst>
                <a:ext uri="{FF2B5EF4-FFF2-40B4-BE49-F238E27FC236}">
                  <a16:creationId xmlns:a16="http://schemas.microsoft.com/office/drawing/2014/main" id="{B2B0E58A-4073-B85D-ACD2-1313661A7F4E}"/>
                </a:ext>
              </a:extLst>
            </p:cNvPr>
            <p:cNvSpPr>
              <a:spLocks noChangeArrowheads="1"/>
            </p:cNvSpPr>
            <p:nvPr/>
          </p:nvSpPr>
          <p:spPr bwMode="auto">
            <a:xfrm rot="5400000">
              <a:off x="4709954" y="4695032"/>
              <a:ext cx="68421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ALU</a:t>
              </a:r>
              <a:endParaRPr kumimoji="0" lang="zh-CN" altLang="zh-CN" sz="13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sp>
          <p:nvSpPr>
            <p:cNvPr id="192" name="Rectangle 97">
              <a:extLst>
                <a:ext uri="{FF2B5EF4-FFF2-40B4-BE49-F238E27FC236}">
                  <a16:creationId xmlns:a16="http://schemas.microsoft.com/office/drawing/2014/main" id="{1B809C3B-865B-9E33-DF08-BB4D34B6B51B}"/>
                </a:ext>
              </a:extLst>
            </p:cNvPr>
            <p:cNvSpPr>
              <a:spLocks noChangeArrowheads="1"/>
            </p:cNvSpPr>
            <p:nvPr/>
          </p:nvSpPr>
          <p:spPr bwMode="auto">
            <a:xfrm rot="5400000">
              <a:off x="5291774" y="5522913"/>
              <a:ext cx="68421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300" u="none" strike="noStrike" cap="none" normalizeH="0" baseline="0" dirty="0">
                  <a:ln>
                    <a:noFill/>
                  </a:ln>
                  <a:solidFill>
                    <a:srgbClr val="000000"/>
                  </a:solidFill>
                  <a:effectLst/>
                  <a:latin typeface="Arial" panose="020B0604020202020204" pitchFamily="34" charset="0"/>
                  <a:ea typeface="SimHei" panose="02010609060101010101" pitchFamily="49" charset="-122"/>
                </a:rPr>
                <a:t>ALU</a:t>
              </a:r>
              <a:endParaRPr kumimoji="0" lang="zh-CN" altLang="zh-CN" sz="13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cxnSp>
          <p:nvCxnSpPr>
            <p:cNvPr id="10" name="直接箭头连接符 9">
              <a:extLst>
                <a:ext uri="{FF2B5EF4-FFF2-40B4-BE49-F238E27FC236}">
                  <a16:creationId xmlns:a16="http://schemas.microsoft.com/office/drawing/2014/main" id="{241DBD40-6D7D-17D2-6F41-97FC11E75AEA}"/>
                </a:ext>
              </a:extLst>
            </p:cNvPr>
            <p:cNvCxnSpPr>
              <a:cxnSpLocks/>
              <a:stCxn id="118" idx="0"/>
              <a:endCxn id="142" idx="1"/>
            </p:cNvCxnSpPr>
            <p:nvPr/>
          </p:nvCxnSpPr>
          <p:spPr>
            <a:xfrm>
              <a:off x="3974462" y="3186994"/>
              <a:ext cx="315367" cy="642308"/>
            </a:xfrm>
            <a:prstGeom prst="straightConnector1">
              <a:avLst/>
            </a:prstGeom>
            <a:ln w="38100">
              <a:solidFill>
                <a:srgbClr val="009900"/>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直接箭头连接符 198">
              <a:extLst>
                <a:ext uri="{FF2B5EF4-FFF2-40B4-BE49-F238E27FC236}">
                  <a16:creationId xmlns:a16="http://schemas.microsoft.com/office/drawing/2014/main" id="{43150BBA-92C0-4504-CDF5-00E54027D27F}"/>
                </a:ext>
              </a:extLst>
            </p:cNvPr>
            <p:cNvCxnSpPr>
              <a:cxnSpLocks/>
            </p:cNvCxnSpPr>
            <p:nvPr/>
          </p:nvCxnSpPr>
          <p:spPr>
            <a:xfrm>
              <a:off x="4967764" y="3277315"/>
              <a:ext cx="148146" cy="2248870"/>
            </a:xfrm>
            <a:prstGeom prst="straightConnector1">
              <a:avLst/>
            </a:prstGeom>
            <a:ln w="38100">
              <a:solidFill>
                <a:srgbClr val="009900"/>
              </a:solidFill>
              <a:tailEnd type="triangle"/>
            </a:ln>
          </p:spPr>
          <p:style>
            <a:lnRef idx="1">
              <a:schemeClr val="accent1"/>
            </a:lnRef>
            <a:fillRef idx="0">
              <a:schemeClr val="accent1"/>
            </a:fillRef>
            <a:effectRef idx="0">
              <a:schemeClr val="accent1"/>
            </a:effectRef>
            <a:fontRef idx="minor">
              <a:schemeClr val="tx1"/>
            </a:fontRef>
          </p:style>
        </p:cxnSp>
        <p:sp>
          <p:nvSpPr>
            <p:cNvPr id="204" name="Rectangle 21">
              <a:extLst>
                <a:ext uri="{FF2B5EF4-FFF2-40B4-BE49-F238E27FC236}">
                  <a16:creationId xmlns:a16="http://schemas.microsoft.com/office/drawing/2014/main" id="{266F0D37-A811-4453-5314-4232025E0B91}"/>
                </a:ext>
              </a:extLst>
            </p:cNvPr>
            <p:cNvSpPr>
              <a:spLocks noChangeArrowheads="1"/>
            </p:cNvSpPr>
            <p:nvPr/>
          </p:nvSpPr>
          <p:spPr bwMode="auto">
            <a:xfrm>
              <a:off x="5562996" y="2253911"/>
              <a:ext cx="162954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500" u="none" strike="noStrike" cap="none" normalizeH="0" baseline="0" dirty="0">
                  <a:ln>
                    <a:noFill/>
                  </a:ln>
                  <a:solidFill>
                    <a:srgbClr val="000000"/>
                  </a:solidFill>
                  <a:effectLst/>
                  <a:latin typeface="Arial" panose="020B0604020202020204" pitchFamily="34" charset="0"/>
                  <a:ea typeface="SimHei" panose="02010609060101010101" pitchFamily="49" charset="-122"/>
                </a:rPr>
                <a:t>Time (clock cycles)</a:t>
              </a:r>
              <a:endParaRPr kumimoji="0" lang="zh-CN" altLang="zh-CN" sz="1800" u="none" strike="noStrike" cap="none" normalizeH="0" baseline="0" dirty="0">
                <a:ln>
                  <a:noFill/>
                </a:ln>
                <a:solidFill>
                  <a:schemeClr val="tx1"/>
                </a:solidFill>
                <a:effectLst/>
                <a:latin typeface="Arial" panose="020B0604020202020204" pitchFamily="34" charset="0"/>
                <a:ea typeface="SimHei" panose="02010609060101010101" pitchFamily="49" charset="-122"/>
              </a:endParaRPr>
            </a:p>
          </p:txBody>
        </p:sp>
        <p:cxnSp>
          <p:nvCxnSpPr>
            <p:cNvPr id="205" name="直接箭头连接符 204">
              <a:extLst>
                <a:ext uri="{FF2B5EF4-FFF2-40B4-BE49-F238E27FC236}">
                  <a16:creationId xmlns:a16="http://schemas.microsoft.com/office/drawing/2014/main" id="{1BC46453-8195-F4E2-A0ED-8BA445DE5875}"/>
                </a:ext>
              </a:extLst>
            </p:cNvPr>
            <p:cNvCxnSpPr>
              <a:cxnSpLocks/>
              <a:endCxn id="168" idx="1"/>
            </p:cNvCxnSpPr>
            <p:nvPr/>
          </p:nvCxnSpPr>
          <p:spPr>
            <a:xfrm>
              <a:off x="4628807" y="3176263"/>
              <a:ext cx="239735" cy="1487720"/>
            </a:xfrm>
            <a:prstGeom prst="straightConnector1">
              <a:avLst/>
            </a:prstGeom>
            <a:ln w="38100">
              <a:solidFill>
                <a:srgbClr val="00990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直接箭头连接符 206">
              <a:extLst>
                <a:ext uri="{FF2B5EF4-FFF2-40B4-BE49-F238E27FC236}">
                  <a16:creationId xmlns:a16="http://schemas.microsoft.com/office/drawing/2014/main" id="{AF0E20E8-BADC-88C5-B69E-0966A240DBBF}"/>
                </a:ext>
              </a:extLst>
            </p:cNvPr>
            <p:cNvCxnSpPr>
              <a:cxnSpLocks/>
              <a:endCxn id="177" idx="1"/>
            </p:cNvCxnSpPr>
            <p:nvPr/>
          </p:nvCxnSpPr>
          <p:spPr>
            <a:xfrm>
              <a:off x="4608764" y="3938494"/>
              <a:ext cx="259778" cy="983048"/>
            </a:xfrm>
            <a:prstGeom prst="straightConnector1">
              <a:avLst/>
            </a:prstGeom>
            <a:ln w="38100">
              <a:solidFill>
                <a:srgbClr val="0432FF"/>
              </a:solidFill>
              <a:tailEnd type="triangle"/>
            </a:ln>
          </p:spPr>
          <p:style>
            <a:lnRef idx="1">
              <a:schemeClr val="accent1"/>
            </a:lnRef>
            <a:fillRef idx="0">
              <a:schemeClr val="accent1"/>
            </a:fillRef>
            <a:effectRef idx="0">
              <a:schemeClr val="accent1"/>
            </a:effectRef>
            <a:fontRef idx="minor">
              <a:schemeClr val="tx1"/>
            </a:fontRef>
          </p:style>
        </p:cxnSp>
        <p:sp>
          <p:nvSpPr>
            <p:cNvPr id="5" name="Line 175">
              <a:extLst>
                <a:ext uri="{FF2B5EF4-FFF2-40B4-BE49-F238E27FC236}">
                  <a16:creationId xmlns:a16="http://schemas.microsoft.com/office/drawing/2014/main" id="{868E0B95-4CE3-D330-3586-8217AF4B39FE}"/>
                </a:ext>
              </a:extLst>
            </p:cNvPr>
            <p:cNvSpPr>
              <a:spLocks noChangeShapeType="1"/>
            </p:cNvSpPr>
            <p:nvPr/>
          </p:nvSpPr>
          <p:spPr bwMode="auto">
            <a:xfrm>
              <a:off x="5360160" y="6011299"/>
              <a:ext cx="449933" cy="0"/>
            </a:xfrm>
            <a:prstGeom prst="line">
              <a:avLst/>
            </a:prstGeom>
            <a:noFill/>
            <a:ln w="2381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dirty="0">
                <a:ea typeface="SimHei" panose="02010609060101010101" pitchFamily="49" charset="-122"/>
              </a:endParaRPr>
            </a:p>
          </p:txBody>
        </p:sp>
      </p:grpSp>
      <p:sp>
        <p:nvSpPr>
          <p:cNvPr id="6" name="文本框 5">
            <a:extLst>
              <a:ext uri="{FF2B5EF4-FFF2-40B4-BE49-F238E27FC236}">
                <a16:creationId xmlns:a16="http://schemas.microsoft.com/office/drawing/2014/main" id="{F8E4B22B-780D-AC42-2097-F05C3FC1FC0A}"/>
              </a:ext>
            </a:extLst>
          </p:cNvPr>
          <p:cNvSpPr txBox="1"/>
          <p:nvPr/>
        </p:nvSpPr>
        <p:spPr>
          <a:xfrm>
            <a:off x="190258" y="1952593"/>
            <a:ext cx="8893913" cy="369332"/>
          </a:xfrm>
          <a:prstGeom prst="rect">
            <a:avLst/>
          </a:prstGeom>
          <a:noFill/>
        </p:spPr>
        <p:txBody>
          <a:bodyPr wrap="square" rtlCol="0">
            <a:spAutoFit/>
          </a:bodyPr>
          <a:lstStyle/>
          <a:p>
            <a:pPr algn="ctr"/>
            <a:r>
              <a:rPr lang="en-US" altLang="zh-CN" dirty="0">
                <a:solidFill>
                  <a:srgbClr val="FF0000"/>
                </a:solidFill>
                <a:ea typeface="SimHei" panose="02010609060101010101" pitchFamily="49" charset="-122"/>
              </a:rPr>
              <a:t>EX/MEM</a:t>
            </a:r>
            <a:r>
              <a:rPr lang="zh-CN" altLang="en-US" dirty="0">
                <a:solidFill>
                  <a:srgbClr val="FF0000"/>
                </a:solidFill>
                <a:ea typeface="SimHei" panose="02010609060101010101" pitchFamily="49" charset="-122"/>
              </a:rPr>
              <a:t>→</a:t>
            </a:r>
            <a:r>
              <a:rPr lang="en-US" altLang="zh-CN" dirty="0">
                <a:solidFill>
                  <a:srgbClr val="FF0000"/>
                </a:solidFill>
                <a:ea typeface="SimHei" panose="02010609060101010101" pitchFamily="49" charset="-122"/>
              </a:rPr>
              <a:t>EX</a:t>
            </a:r>
            <a:r>
              <a:rPr lang="zh-CN" altLang="en-US" dirty="0">
                <a:solidFill>
                  <a:srgbClr val="FF0000"/>
                </a:solidFill>
                <a:ea typeface="SimHei" panose="02010609060101010101" pitchFamily="49" charset="-122"/>
              </a:rPr>
              <a:t>（上条指令），</a:t>
            </a:r>
            <a:r>
              <a:rPr lang="en-US" altLang="zh-CN" dirty="0">
                <a:solidFill>
                  <a:srgbClr val="FF0000"/>
                </a:solidFill>
                <a:ea typeface="SimHei" panose="02010609060101010101" pitchFamily="49" charset="-122"/>
              </a:rPr>
              <a:t>MEM/WB</a:t>
            </a:r>
            <a:r>
              <a:rPr lang="zh-CN" altLang="en-US" dirty="0">
                <a:solidFill>
                  <a:srgbClr val="FF0000"/>
                </a:solidFill>
                <a:ea typeface="SimHei" panose="02010609060101010101" pitchFamily="49" charset="-122"/>
              </a:rPr>
              <a:t>→</a:t>
            </a:r>
            <a:r>
              <a:rPr lang="en-US" altLang="zh-CN" dirty="0">
                <a:solidFill>
                  <a:srgbClr val="FF0000"/>
                </a:solidFill>
                <a:ea typeface="SimHei" panose="02010609060101010101" pitchFamily="49" charset="-122"/>
              </a:rPr>
              <a:t>EX</a:t>
            </a:r>
            <a:r>
              <a:rPr lang="zh-CN" altLang="en-US" dirty="0">
                <a:solidFill>
                  <a:srgbClr val="FF0000"/>
                </a:solidFill>
                <a:ea typeface="SimHei" panose="02010609060101010101" pitchFamily="49" charset="-122"/>
              </a:rPr>
              <a:t>（上上条指令），寄存器硬件先写后读</a:t>
            </a:r>
          </a:p>
        </p:txBody>
      </p:sp>
      <p:sp>
        <p:nvSpPr>
          <p:cNvPr id="7" name="文本框 6">
            <a:extLst>
              <a:ext uri="{FF2B5EF4-FFF2-40B4-BE49-F238E27FC236}">
                <a16:creationId xmlns:a16="http://schemas.microsoft.com/office/drawing/2014/main" id="{E491FF9D-398B-E6C0-5F79-27C965B592DF}"/>
              </a:ext>
            </a:extLst>
          </p:cNvPr>
          <p:cNvSpPr txBox="1"/>
          <p:nvPr/>
        </p:nvSpPr>
        <p:spPr>
          <a:xfrm>
            <a:off x="782279" y="6507144"/>
            <a:ext cx="7855035" cy="369332"/>
          </a:xfrm>
          <a:prstGeom prst="rect">
            <a:avLst/>
          </a:prstGeom>
          <a:solidFill>
            <a:schemeClr val="tx1">
              <a:lumMod val="50000"/>
              <a:lumOff val="50000"/>
            </a:schemeClr>
          </a:solidFill>
          <a:ln>
            <a:noFill/>
          </a:ln>
        </p:spPr>
        <p:txBody>
          <a:bodyPr wrap="none" rtlCol="0">
            <a:spAutoFit/>
          </a:bodyPr>
          <a:lstStyle/>
          <a:p>
            <a:r>
              <a:rPr kumimoji="1" lang="zh-CN" altLang="en-US" dirty="0">
                <a:solidFill>
                  <a:schemeClr val="bg1"/>
                </a:solidFill>
                <a:ea typeface="SimHei" panose="02010609060101010101" pitchFamily="49" charset="-122"/>
              </a:rPr>
              <a:t>这个图到底怎么读？？箭头到底表示什么意思？数据旁路能够跨越时空吗？</a:t>
            </a:r>
          </a:p>
        </p:txBody>
      </p:sp>
    </p:spTree>
    <p:extLst>
      <p:ext uri="{BB962C8B-B14F-4D97-AF65-F5344CB8AC3E}">
        <p14:creationId xmlns:p14="http://schemas.microsoft.com/office/powerpoint/2010/main" val="2787298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56C81-1FBC-4282-95F2-AB3AEFD2AA70}"/>
              </a:ext>
            </a:extLst>
          </p:cNvPr>
          <p:cNvSpPr>
            <a:spLocks noGrp="1"/>
          </p:cNvSpPr>
          <p:nvPr>
            <p:ph type="title"/>
          </p:nvPr>
        </p:nvSpPr>
        <p:spPr/>
        <p:txBody>
          <a:bodyPr/>
          <a:lstStyle/>
          <a:p>
            <a:r>
              <a:rPr lang="en-US" altLang="zh-CN" dirty="0"/>
              <a:t>Load-use Hazard </a:t>
            </a:r>
            <a:r>
              <a:rPr lang="zh-CN" altLang="en-US" dirty="0"/>
              <a:t>检测</a:t>
            </a:r>
          </a:p>
        </p:txBody>
      </p:sp>
      <p:sp>
        <p:nvSpPr>
          <p:cNvPr id="3" name="内容占位符 2">
            <a:extLst>
              <a:ext uri="{FF2B5EF4-FFF2-40B4-BE49-F238E27FC236}">
                <a16:creationId xmlns:a16="http://schemas.microsoft.com/office/drawing/2014/main" id="{BEC7C633-D4A0-439F-BBF7-A06C57BD71DA}"/>
              </a:ext>
            </a:extLst>
          </p:cNvPr>
          <p:cNvSpPr>
            <a:spLocks noGrp="1"/>
          </p:cNvSpPr>
          <p:nvPr>
            <p:ph idx="1"/>
          </p:nvPr>
        </p:nvSpPr>
        <p:spPr>
          <a:xfrm>
            <a:off x="457199" y="1166020"/>
            <a:ext cx="8648693" cy="4525963"/>
          </a:xfrm>
        </p:spPr>
        <p:txBody>
          <a:bodyPr/>
          <a:lstStyle/>
          <a:p>
            <a:r>
              <a:rPr lang="zh-CN" altLang="en-US" sz="2400" dirty="0"/>
              <a:t>因为</a:t>
            </a:r>
            <a:r>
              <a:rPr lang="en-US" altLang="zh-CN" sz="2400" dirty="0"/>
              <a:t>load-use hazard</a:t>
            </a:r>
            <a:r>
              <a:rPr lang="zh-CN" altLang="en-US" sz="2400" dirty="0"/>
              <a:t>无法通过</a:t>
            </a:r>
            <a:r>
              <a:rPr lang="en-US" altLang="zh-CN" sz="2400" dirty="0"/>
              <a:t>forward</a:t>
            </a:r>
            <a:r>
              <a:rPr lang="zh-CN" altLang="en-US" sz="2400" dirty="0"/>
              <a:t>完全解决，即便加了</a:t>
            </a:r>
            <a:r>
              <a:rPr lang="en-US" altLang="zh-CN" sz="2400" dirty="0"/>
              <a:t>forward</a:t>
            </a:r>
            <a:r>
              <a:rPr lang="zh-CN" altLang="en-US" sz="2400" dirty="0"/>
              <a:t>电路仍然存在</a:t>
            </a:r>
            <a:r>
              <a:rPr lang="en-US" altLang="zh-CN" sz="2400" dirty="0"/>
              <a:t>hazard, </a:t>
            </a:r>
            <a:r>
              <a:rPr lang="zh-CN" altLang="en-US" sz="2400" dirty="0"/>
              <a:t>必须加一个阻塞周期</a:t>
            </a:r>
          </a:p>
          <a:p>
            <a:pPr lvl="1"/>
            <a:r>
              <a:rPr lang="en-US" altLang="zh-CN" sz="2000" dirty="0"/>
              <a:t>ID</a:t>
            </a:r>
            <a:r>
              <a:rPr lang="zh-CN" altLang="en-US" sz="2000" dirty="0"/>
              <a:t>阶段，要检查前一条指令（</a:t>
            </a:r>
            <a:r>
              <a:rPr lang="en-US" altLang="zh-CN" sz="2000" dirty="0"/>
              <a:t>EX</a:t>
            </a:r>
            <a:r>
              <a:rPr lang="zh-CN" altLang="en-US" sz="2000" dirty="0"/>
              <a:t>级）是否是</a:t>
            </a:r>
            <a:r>
              <a:rPr lang="en-US" altLang="zh-CN" sz="2000" dirty="0"/>
              <a:t>load</a:t>
            </a:r>
            <a:r>
              <a:rPr lang="zh-CN" altLang="en-US" sz="2000" dirty="0"/>
              <a:t>指令</a:t>
            </a:r>
            <a:r>
              <a:rPr lang="en-US" altLang="zh-CN" sz="2000" dirty="0"/>
              <a:t>; </a:t>
            </a:r>
          </a:p>
          <a:p>
            <a:pPr lvl="1"/>
            <a:r>
              <a:rPr lang="zh-CN" altLang="en-US" sz="2000" dirty="0"/>
              <a:t>再检查前一条指令</a:t>
            </a:r>
            <a:r>
              <a:rPr lang="en-US" altLang="zh-CN" sz="2000" dirty="0"/>
              <a:t>EX</a:t>
            </a:r>
            <a:r>
              <a:rPr lang="zh-CN" altLang="en-US" sz="2000" dirty="0"/>
              <a:t>级的</a:t>
            </a:r>
            <a:r>
              <a:rPr lang="en-US" altLang="zh-CN" sz="2000" dirty="0"/>
              <a:t>rt</a:t>
            </a:r>
            <a:r>
              <a:rPr lang="zh-CN" altLang="en-US" sz="2000" dirty="0"/>
              <a:t>是否与本指令</a:t>
            </a:r>
            <a:r>
              <a:rPr lang="en-US" altLang="zh-CN" sz="2000" dirty="0"/>
              <a:t>ID</a:t>
            </a:r>
            <a:r>
              <a:rPr lang="zh-CN" altLang="en-US" sz="2000" dirty="0"/>
              <a:t>阶段的</a:t>
            </a:r>
            <a:r>
              <a:rPr lang="en-US" altLang="zh-CN" sz="2000" dirty="0" err="1"/>
              <a:t>rs</a:t>
            </a:r>
            <a:r>
              <a:rPr lang="en-US" altLang="zh-CN" sz="2000" dirty="0"/>
              <a:t>/rt reg index</a:t>
            </a:r>
            <a:r>
              <a:rPr lang="zh-CN" altLang="en-US" sz="2000" dirty="0"/>
              <a:t>一样</a:t>
            </a:r>
          </a:p>
          <a:p>
            <a:pPr lvl="1"/>
            <a:r>
              <a:rPr lang="zh-CN" altLang="en-US" sz="2000" dirty="0"/>
              <a:t>经检测导致的阻塞</a:t>
            </a:r>
            <a:r>
              <a:rPr lang="en-US" altLang="zh-CN" sz="2000" dirty="0"/>
              <a:t>, </a:t>
            </a:r>
            <a:r>
              <a:rPr lang="zh-CN" altLang="en-US" sz="2000" dirty="0"/>
              <a:t>之后</a:t>
            </a:r>
            <a:r>
              <a:rPr lang="en-US" altLang="zh-CN" sz="2000" dirty="0"/>
              <a:t>forward</a:t>
            </a:r>
            <a:r>
              <a:rPr lang="zh-CN" altLang="en-US" sz="2000" dirty="0"/>
              <a:t>逻辑就可以处理剩下的冒险问题了</a:t>
            </a:r>
          </a:p>
        </p:txBody>
      </p:sp>
      <p:sp>
        <p:nvSpPr>
          <p:cNvPr id="4" name="灯片编号占位符 3">
            <a:extLst>
              <a:ext uri="{FF2B5EF4-FFF2-40B4-BE49-F238E27FC236}">
                <a16:creationId xmlns:a16="http://schemas.microsoft.com/office/drawing/2014/main" id="{AE2ED71E-84E6-4E7C-97C6-45D203CAABA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1806CE5-282B-4233-8654-09F35EA875E2}" type="slidenum">
              <a:rPr kumimoji="0" lang="zh-CN" altLang="en-US" sz="1400" b="0" i="0" u="none" strike="noStrike" kern="1200" cap="none" spc="0" normalizeH="0" baseline="0" noProof="0" smtClean="0">
                <a:ln>
                  <a:noFill/>
                </a:ln>
                <a:solidFill>
                  <a:srgbClr val="000000"/>
                </a:solidFill>
                <a:effectLst/>
                <a:uLnTx/>
                <a:uFillTx/>
                <a:latin typeface="Arial" charset="0"/>
                <a:ea typeface="SimHei" panose="020106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zh-CN" altLang="en-US" sz="14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 name="Rectangle 4">
            <a:extLst>
              <a:ext uri="{FF2B5EF4-FFF2-40B4-BE49-F238E27FC236}">
                <a16:creationId xmlns:a16="http://schemas.microsoft.com/office/drawing/2014/main" id="{DF3DB1B0-9A38-46C8-A52D-4F229B1B6201}"/>
              </a:ext>
            </a:extLst>
          </p:cNvPr>
          <p:cNvSpPr>
            <a:spLocks noChangeArrowheads="1"/>
          </p:cNvSpPr>
          <p:nvPr/>
        </p:nvSpPr>
        <p:spPr bwMode="auto">
          <a:xfrm>
            <a:off x="819533" y="3045937"/>
            <a:ext cx="8083168" cy="974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489" tIns="25396" rIns="63489" bIns="25396">
            <a:spAutoFit/>
          </a:bodyPr>
          <a:lstStyle/>
          <a:p>
            <a:pPr marL="504825" marR="0" lvl="0" indent="-504825" algn="l" defTabSz="1009650" rtl="0" eaLnBrk="1" fontAlgn="base" latinLnBrk="0" hangingPunct="1">
              <a:lnSpc>
                <a:spcPct val="100000"/>
              </a:lnSpc>
              <a:spcBef>
                <a:spcPct val="20000"/>
              </a:spcBef>
              <a:spcAft>
                <a:spcPct val="0"/>
              </a:spcAft>
              <a:buClr>
                <a:srgbClr val="99CC00"/>
              </a:buClr>
              <a:buSzPct val="60000"/>
              <a:buFont typeface="Wingdings" pitchFamily="2" charset="2"/>
              <a:buNone/>
              <a:tabLst/>
              <a:defRPr/>
            </a:pPr>
            <a:r>
              <a:rPr kumimoji="0" lang="en-US" altLang="zh-CN" sz="2000" b="1" i="0" u="none" strike="noStrike" kern="1200" cap="none" spc="0" normalizeH="0" baseline="0" noProof="0" dirty="0">
                <a:ln>
                  <a:noFill/>
                </a:ln>
                <a:solidFill>
                  <a:srgbClr val="3333CC"/>
                </a:solidFill>
                <a:effectLst/>
                <a:uLnTx/>
                <a:uFillTx/>
                <a:latin typeface="Arial"/>
                <a:ea typeface="SimHei" panose="02010609060101010101" pitchFamily="49" charset="-122"/>
                <a:cs typeface="+mn-cs"/>
              </a:rPr>
              <a:t>3.  ID Hazard Detection</a:t>
            </a:r>
          </a:p>
          <a:p>
            <a:pPr marL="504825" marR="0" lvl="0" indent="-504825" algn="l" defTabSz="1009650" rtl="0" eaLnBrk="1" fontAlgn="base" latinLnBrk="0" hangingPunct="1">
              <a:lnSpc>
                <a:spcPct val="100000"/>
              </a:lnSpc>
              <a:spcBef>
                <a:spcPct val="0"/>
              </a:spcBef>
              <a:spcAft>
                <a:spcPct val="0"/>
              </a:spcAft>
              <a:buClr>
                <a:srgbClr val="99CC00"/>
              </a:buClr>
              <a:buSzPct val="60000"/>
              <a:buFont typeface="Wingdings" pitchFamily="2" charset="2"/>
              <a:buNone/>
              <a:tabLst/>
              <a:defRPr/>
            </a:pPr>
            <a:r>
              <a:rPr kumimoji="0" lang="en-US" altLang="zh-CN" sz="2000" b="1"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if </a:t>
            </a:r>
            <a:r>
              <a:rPr kumimoji="0" lang="en-US" altLang="zh-CN" sz="2000" b="1" i="0" u="none" strike="noStrike" kern="1200" cap="none" spc="0" normalizeH="0" baseline="0" noProof="0" dirty="0">
                <a:ln>
                  <a:noFill/>
                </a:ln>
                <a:solidFill>
                  <a:srgbClr val="C00000"/>
                </a:solidFill>
                <a:effectLst/>
                <a:uLnTx/>
                <a:uFillTx/>
                <a:latin typeface="Arial"/>
                <a:ea typeface="SimHei" panose="02010609060101010101" pitchFamily="49" charset="-122"/>
                <a:cs typeface="+mn-cs"/>
              </a:rPr>
              <a:t>(</a:t>
            </a:r>
            <a:r>
              <a:rPr kumimoji="0" lang="en-US" altLang="zh-CN" sz="2000" b="1"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ID/</a:t>
            </a:r>
            <a:r>
              <a:rPr kumimoji="0" lang="en-US" altLang="zh-CN" sz="2000" b="1" i="0" u="none" strike="noStrike" kern="1200" cap="none" spc="0" normalizeH="0" baseline="0" noProof="0" dirty="0" err="1">
                <a:ln>
                  <a:noFill/>
                </a:ln>
                <a:solidFill>
                  <a:srgbClr val="000000"/>
                </a:solidFill>
                <a:effectLst/>
                <a:uLnTx/>
                <a:uFillTx/>
                <a:latin typeface="Arial"/>
                <a:ea typeface="SimHei" panose="02010609060101010101" pitchFamily="49" charset="-122"/>
                <a:cs typeface="+mn-cs"/>
              </a:rPr>
              <a:t>EX.MemRead</a:t>
            </a:r>
            <a:r>
              <a:rPr kumimoji="0" lang="en-US" altLang="zh-CN" sz="2000" b="1"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 and </a:t>
            </a:r>
            <a:r>
              <a:rPr kumimoji="0" lang="en-US" altLang="zh-CN" sz="2000" b="1" i="0" u="none" strike="noStrike" kern="1200" cap="none" spc="0" normalizeH="0" baseline="0" noProof="0" dirty="0">
                <a:ln>
                  <a:noFill/>
                </a:ln>
                <a:solidFill>
                  <a:srgbClr val="0432FF"/>
                </a:solidFill>
                <a:effectLst/>
                <a:uLnTx/>
                <a:uFillTx/>
                <a:latin typeface="Arial"/>
                <a:ea typeface="SimHei" panose="02010609060101010101" pitchFamily="49" charset="-122"/>
                <a:cs typeface="+mn-cs"/>
              </a:rPr>
              <a:t>(</a:t>
            </a:r>
            <a:r>
              <a:rPr kumimoji="0" lang="en-US" altLang="zh-CN" sz="2000" b="1" i="0" u="none" strike="noStrike" kern="1200" cap="none" spc="0" normalizeH="0" baseline="0" noProof="0" dirty="0">
                <a:ln>
                  <a:noFill/>
                </a:ln>
                <a:solidFill>
                  <a:srgbClr val="7030A0"/>
                </a:solidFill>
                <a:effectLst/>
                <a:uLnTx/>
                <a:uFillTx/>
                <a:latin typeface="Arial"/>
                <a:ea typeface="SimHei" panose="02010609060101010101" pitchFamily="49" charset="-122"/>
                <a:cs typeface="+mn-cs"/>
              </a:rPr>
              <a:t>(ID/</a:t>
            </a:r>
            <a:r>
              <a:rPr kumimoji="0" lang="en-US" altLang="zh-CN" sz="2000" b="1" i="0" u="none" strike="noStrike" kern="1200" cap="none" spc="0" normalizeH="0" baseline="0" noProof="0" dirty="0" err="1">
                <a:ln>
                  <a:noFill/>
                </a:ln>
                <a:solidFill>
                  <a:srgbClr val="7030A0"/>
                </a:solidFill>
                <a:effectLst/>
                <a:uLnTx/>
                <a:uFillTx/>
                <a:latin typeface="Arial"/>
                <a:ea typeface="SimHei" panose="02010609060101010101" pitchFamily="49" charset="-122"/>
                <a:cs typeface="+mn-cs"/>
              </a:rPr>
              <a:t>EX.RegisterRt</a:t>
            </a:r>
            <a:r>
              <a:rPr kumimoji="0" lang="en-US" altLang="zh-CN" sz="2000" b="1" i="0" u="none" strike="noStrike" kern="1200" cap="none" spc="0" normalizeH="0" baseline="0" noProof="0" dirty="0">
                <a:ln>
                  <a:noFill/>
                </a:ln>
                <a:solidFill>
                  <a:srgbClr val="7030A0"/>
                </a:solidFill>
                <a:effectLst/>
                <a:uLnTx/>
                <a:uFillTx/>
                <a:latin typeface="Arial"/>
                <a:ea typeface="SimHei" panose="02010609060101010101" pitchFamily="49" charset="-122"/>
                <a:cs typeface="+mn-cs"/>
              </a:rPr>
              <a:t> </a:t>
            </a:r>
            <a:r>
              <a:rPr kumimoji="0" lang="en-US" altLang="zh-CN" sz="2000" b="1"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 </a:t>
            </a:r>
            <a:r>
              <a:rPr kumimoji="0" lang="en-US" altLang="zh-CN" sz="2000" b="1" i="0" u="none" strike="noStrike" kern="1200" cap="none" spc="0" normalizeH="0" baseline="0" noProof="0" dirty="0">
                <a:ln>
                  <a:noFill/>
                </a:ln>
                <a:solidFill>
                  <a:srgbClr val="00B050"/>
                </a:solidFill>
                <a:effectLst/>
                <a:uLnTx/>
                <a:uFillTx/>
                <a:latin typeface="Arial"/>
                <a:ea typeface="SimHei" panose="02010609060101010101" pitchFamily="49" charset="-122"/>
                <a:cs typeface="+mn-cs"/>
              </a:rPr>
              <a:t>IF/</a:t>
            </a:r>
            <a:r>
              <a:rPr kumimoji="0" lang="en-US" altLang="zh-CN" sz="2000" b="1" i="0" u="none" strike="noStrike" kern="1200" cap="none" spc="0" normalizeH="0" baseline="0" noProof="0" dirty="0" err="1">
                <a:ln>
                  <a:noFill/>
                </a:ln>
                <a:solidFill>
                  <a:srgbClr val="00B050"/>
                </a:solidFill>
                <a:effectLst/>
                <a:uLnTx/>
                <a:uFillTx/>
                <a:latin typeface="Arial"/>
                <a:ea typeface="SimHei" panose="02010609060101010101" pitchFamily="49" charset="-122"/>
                <a:cs typeface="+mn-cs"/>
              </a:rPr>
              <a:t>ID.RegisterRs</a:t>
            </a:r>
            <a:r>
              <a:rPr kumimoji="0" lang="en-US" altLang="zh-CN" sz="2000" b="1" i="0" u="none" strike="noStrike" kern="1200" cap="none" spc="0" normalizeH="0" baseline="0" noProof="0" dirty="0">
                <a:ln>
                  <a:noFill/>
                </a:ln>
                <a:solidFill>
                  <a:srgbClr val="7030A0"/>
                </a:solidFill>
                <a:effectLst/>
                <a:uLnTx/>
                <a:uFillTx/>
                <a:latin typeface="Arial"/>
                <a:ea typeface="SimHei" panose="02010609060101010101" pitchFamily="49" charset="-122"/>
                <a:cs typeface="+mn-cs"/>
              </a:rPr>
              <a:t>)</a:t>
            </a:r>
          </a:p>
          <a:p>
            <a:pPr marL="504825" marR="0" lvl="0" indent="-504825" algn="l" defTabSz="1009650" rtl="0" eaLnBrk="1" fontAlgn="base" latinLnBrk="0" hangingPunct="1">
              <a:lnSpc>
                <a:spcPct val="100000"/>
              </a:lnSpc>
              <a:spcBef>
                <a:spcPct val="0"/>
              </a:spcBef>
              <a:spcAft>
                <a:spcPct val="0"/>
              </a:spcAft>
              <a:buClr>
                <a:srgbClr val="99CC00"/>
              </a:buClr>
              <a:buSzPct val="60000"/>
              <a:buFont typeface="Wingdings" pitchFamily="2" charset="2"/>
              <a:buNone/>
              <a:tabLst/>
              <a:defRPr/>
            </a:pPr>
            <a:r>
              <a:rPr kumimoji="0" lang="en-US" altLang="zh-CN" sz="2000" b="1"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or  </a:t>
            </a:r>
            <a:r>
              <a:rPr kumimoji="0" lang="en-US" altLang="zh-CN" sz="2000" b="1" i="0" u="none" strike="noStrike" kern="1200" cap="none" spc="0" normalizeH="0" baseline="0" noProof="0" dirty="0">
                <a:ln>
                  <a:noFill/>
                </a:ln>
                <a:solidFill>
                  <a:srgbClr val="7030A0"/>
                </a:solidFill>
                <a:effectLst/>
                <a:uLnTx/>
                <a:uFillTx/>
                <a:latin typeface="Arial"/>
                <a:ea typeface="SimHei" panose="02010609060101010101" pitchFamily="49" charset="-122"/>
                <a:cs typeface="+mn-cs"/>
              </a:rPr>
              <a:t>(ID/</a:t>
            </a:r>
            <a:r>
              <a:rPr kumimoji="0" lang="en-US" altLang="zh-CN" sz="2000" b="1" i="0" u="none" strike="noStrike" kern="1200" cap="none" spc="0" normalizeH="0" baseline="0" noProof="0" dirty="0" err="1">
                <a:ln>
                  <a:noFill/>
                </a:ln>
                <a:solidFill>
                  <a:srgbClr val="7030A0"/>
                </a:solidFill>
                <a:effectLst/>
                <a:uLnTx/>
                <a:uFillTx/>
                <a:latin typeface="Arial"/>
                <a:ea typeface="SimHei" panose="02010609060101010101" pitchFamily="49" charset="-122"/>
                <a:cs typeface="+mn-cs"/>
              </a:rPr>
              <a:t>EX.RegisterRt</a:t>
            </a:r>
            <a:r>
              <a:rPr kumimoji="0" lang="en-US" altLang="zh-CN" sz="2000" b="1" i="0" u="none" strike="noStrike" kern="1200" cap="none" spc="0" normalizeH="0" baseline="0" noProof="0" dirty="0">
                <a:ln>
                  <a:noFill/>
                </a:ln>
                <a:solidFill>
                  <a:srgbClr val="7030A0"/>
                </a:solidFill>
                <a:effectLst/>
                <a:uLnTx/>
                <a:uFillTx/>
                <a:latin typeface="Arial"/>
                <a:ea typeface="SimHei" panose="02010609060101010101" pitchFamily="49" charset="-122"/>
                <a:cs typeface="+mn-cs"/>
              </a:rPr>
              <a:t> </a:t>
            </a:r>
            <a:r>
              <a:rPr kumimoji="0" lang="en-US" altLang="zh-CN" sz="2000" b="1"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 </a:t>
            </a:r>
            <a:r>
              <a:rPr kumimoji="0" lang="en-US" altLang="zh-CN" sz="2000" b="1" i="0" u="none" strike="noStrike" kern="1200" cap="none" spc="0" normalizeH="0" baseline="0" noProof="0" dirty="0">
                <a:ln>
                  <a:noFill/>
                </a:ln>
                <a:solidFill>
                  <a:srgbClr val="00B050"/>
                </a:solidFill>
                <a:effectLst/>
                <a:uLnTx/>
                <a:uFillTx/>
                <a:latin typeface="Arial"/>
                <a:ea typeface="SimHei" panose="02010609060101010101" pitchFamily="49" charset="-122"/>
                <a:cs typeface="+mn-cs"/>
              </a:rPr>
              <a:t>IF/</a:t>
            </a:r>
            <a:r>
              <a:rPr kumimoji="0" lang="en-US" altLang="zh-CN" sz="2000" b="1" i="0" u="none" strike="noStrike" kern="1200" cap="none" spc="0" normalizeH="0" baseline="0" noProof="0" dirty="0" err="1">
                <a:ln>
                  <a:noFill/>
                </a:ln>
                <a:solidFill>
                  <a:srgbClr val="00B050"/>
                </a:solidFill>
                <a:effectLst/>
                <a:uLnTx/>
                <a:uFillTx/>
                <a:latin typeface="Arial"/>
                <a:ea typeface="SimHei" panose="02010609060101010101" pitchFamily="49" charset="-122"/>
                <a:cs typeface="+mn-cs"/>
              </a:rPr>
              <a:t>ID.RegisterRt</a:t>
            </a:r>
            <a:r>
              <a:rPr kumimoji="0" lang="en-US" altLang="zh-CN" sz="2000" b="1" i="0" u="none" strike="noStrike" kern="1200" cap="none" spc="0" normalizeH="0" baseline="0" noProof="0" dirty="0">
                <a:ln>
                  <a:noFill/>
                </a:ln>
                <a:solidFill>
                  <a:srgbClr val="7030A0"/>
                </a:solidFill>
                <a:effectLst/>
                <a:uLnTx/>
                <a:uFillTx/>
                <a:latin typeface="Arial"/>
                <a:ea typeface="SimHei" panose="02010609060101010101" pitchFamily="49" charset="-122"/>
                <a:cs typeface="+mn-cs"/>
              </a:rPr>
              <a:t>)</a:t>
            </a:r>
            <a:r>
              <a:rPr kumimoji="0" lang="en-US" altLang="zh-CN" sz="2000" b="1" i="0" u="none" strike="noStrike" kern="1200" cap="none" spc="0" normalizeH="0" baseline="0" noProof="0" dirty="0">
                <a:ln>
                  <a:noFill/>
                </a:ln>
                <a:solidFill>
                  <a:srgbClr val="0432FF"/>
                </a:solidFill>
                <a:effectLst/>
                <a:uLnTx/>
                <a:uFillTx/>
                <a:latin typeface="Arial"/>
                <a:ea typeface="SimHei" panose="02010609060101010101" pitchFamily="49" charset="-122"/>
                <a:cs typeface="+mn-cs"/>
              </a:rPr>
              <a:t>)</a:t>
            </a:r>
            <a:r>
              <a:rPr kumimoji="0" lang="en-US" altLang="zh-CN" sz="2000" b="1" i="0" u="none" strike="noStrike" kern="1200" cap="none" spc="0" normalizeH="0" baseline="0" noProof="0" dirty="0">
                <a:ln>
                  <a:noFill/>
                </a:ln>
                <a:solidFill>
                  <a:srgbClr val="C00000"/>
                </a:solidFill>
                <a:effectLst/>
                <a:uLnTx/>
                <a:uFillTx/>
                <a:latin typeface="Arial"/>
                <a:ea typeface="SimHei" panose="02010609060101010101" pitchFamily="49" charset="-122"/>
                <a:cs typeface="+mn-cs"/>
              </a:rPr>
              <a:t>)  </a:t>
            </a:r>
            <a:r>
              <a:rPr kumimoji="0" lang="en-US" altLang="zh-CN" sz="2000" b="1"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Stall the pipeline</a:t>
            </a:r>
          </a:p>
        </p:txBody>
      </p:sp>
      <p:sp>
        <p:nvSpPr>
          <p:cNvPr id="12" name="Rectangle 4">
            <a:extLst>
              <a:ext uri="{FF2B5EF4-FFF2-40B4-BE49-F238E27FC236}">
                <a16:creationId xmlns:a16="http://schemas.microsoft.com/office/drawing/2014/main" id="{82F63775-F9D9-1CC9-1BDC-939FFF371CCE}"/>
              </a:ext>
            </a:extLst>
          </p:cNvPr>
          <p:cNvSpPr>
            <a:spLocks noChangeArrowheads="1"/>
          </p:cNvSpPr>
          <p:nvPr/>
        </p:nvSpPr>
        <p:spPr bwMode="auto">
          <a:xfrm>
            <a:off x="6214338" y="5196977"/>
            <a:ext cx="2929662" cy="728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489" tIns="25396" rIns="63489" bIns="25396">
            <a:spAutoFit/>
          </a:bodyPr>
          <a:lstStyle/>
          <a:p>
            <a:pPr marL="504825" marR="0" lvl="0" indent="-504825" algn="ctr" defTabSz="1009650" rtl="0" eaLnBrk="1" fontAlgn="base" latinLnBrk="0" hangingPunct="1">
              <a:lnSpc>
                <a:spcPct val="100000"/>
              </a:lnSpc>
              <a:spcBef>
                <a:spcPct val="20000"/>
              </a:spcBef>
              <a:spcAft>
                <a:spcPct val="0"/>
              </a:spcAft>
              <a:buClr>
                <a:srgbClr val="99CC00"/>
              </a:buClr>
              <a:buSzPct val="60000"/>
              <a:buFont typeface="Wingdings" pitchFamily="2" charset="2"/>
              <a:buNone/>
              <a:tabLst/>
              <a:defRPr/>
            </a:pPr>
            <a:r>
              <a:rPr kumimoji="0" lang="en-US" altLang="zh-CN" sz="2000" b="0" i="0" u="none" strike="noStrike" kern="1200" cap="none" spc="0" normalizeH="0" baseline="0" noProof="0" dirty="0">
                <a:ln>
                  <a:noFill/>
                </a:ln>
                <a:solidFill>
                  <a:srgbClr val="C00000"/>
                </a:solidFill>
                <a:effectLst/>
                <a:uLnTx/>
                <a:uFillTx/>
                <a:latin typeface="Arial"/>
                <a:ea typeface="SimHei" panose="02010609060101010101" pitchFamily="49" charset="-122"/>
                <a:cs typeface="+mn-cs"/>
              </a:rPr>
              <a:t>Stall the pipeline</a:t>
            </a:r>
            <a:r>
              <a:rPr kumimoji="0" lang="zh-CN" altLang="en-US" sz="2000" b="0" i="0" u="none" strike="noStrike" kern="1200" cap="none" spc="0" normalizeH="0" baseline="0" noProof="0" dirty="0">
                <a:ln>
                  <a:noFill/>
                </a:ln>
                <a:solidFill>
                  <a:srgbClr val="C00000"/>
                </a:solidFill>
                <a:effectLst/>
                <a:uLnTx/>
                <a:uFillTx/>
                <a:latin typeface="Arial"/>
                <a:ea typeface="SimHei" panose="02010609060101010101" pitchFamily="49" charset="-122"/>
                <a:cs typeface="+mn-cs"/>
              </a:rPr>
              <a:t>的</a:t>
            </a:r>
            <a:endParaRPr kumimoji="0" lang="en-US" altLang="zh-CN" sz="2000" b="0" i="0" u="none" strike="noStrike" kern="1200" cap="none" spc="0" normalizeH="0" baseline="0" noProof="0" dirty="0">
              <a:ln>
                <a:noFill/>
              </a:ln>
              <a:solidFill>
                <a:srgbClr val="C00000"/>
              </a:solidFill>
              <a:effectLst/>
              <a:uLnTx/>
              <a:uFillTx/>
              <a:latin typeface="Arial"/>
              <a:ea typeface="SimHei" panose="02010609060101010101" pitchFamily="49" charset="-122"/>
              <a:cs typeface="+mn-cs"/>
            </a:endParaRPr>
          </a:p>
          <a:p>
            <a:pPr marL="504825" marR="0" lvl="0" indent="-504825" algn="ctr" defTabSz="1009650" rtl="0" eaLnBrk="1" fontAlgn="base" latinLnBrk="0" hangingPunct="1">
              <a:lnSpc>
                <a:spcPct val="100000"/>
              </a:lnSpc>
              <a:spcBef>
                <a:spcPct val="20000"/>
              </a:spcBef>
              <a:spcAft>
                <a:spcPct val="0"/>
              </a:spcAft>
              <a:buClr>
                <a:srgbClr val="99CC00"/>
              </a:buClr>
              <a:buSzPct val="60000"/>
              <a:buFont typeface="Wingdings" pitchFamily="2" charset="2"/>
              <a:buNone/>
              <a:tabLst/>
              <a:defRPr/>
            </a:pPr>
            <a:r>
              <a:rPr kumimoji="0" lang="zh-CN" altLang="en-US" sz="2000" b="0" i="0" u="none" strike="noStrike" kern="1200" cap="none" spc="0" normalizeH="0" baseline="0" noProof="0" dirty="0">
                <a:ln>
                  <a:noFill/>
                </a:ln>
                <a:solidFill>
                  <a:srgbClr val="C00000"/>
                </a:solidFill>
                <a:effectLst/>
                <a:uLnTx/>
                <a:uFillTx/>
                <a:latin typeface="Arial"/>
                <a:ea typeface="SimHei" panose="02010609060101010101" pitchFamily="49" charset="-122"/>
                <a:cs typeface="+mn-cs"/>
              </a:rPr>
              <a:t>具体操作是什么？</a:t>
            </a:r>
            <a:endParaRPr kumimoji="0" lang="en-US" altLang="zh-CN" sz="2000" b="0" i="0" u="none" strike="noStrike" kern="1200" cap="none" spc="0" normalizeH="0" baseline="0" noProof="0" dirty="0">
              <a:ln>
                <a:noFill/>
              </a:ln>
              <a:solidFill>
                <a:srgbClr val="C00000"/>
              </a:solidFill>
              <a:effectLst/>
              <a:uLnTx/>
              <a:uFillTx/>
              <a:latin typeface="Arial"/>
              <a:ea typeface="SimHei" panose="02010609060101010101" pitchFamily="49" charset="-122"/>
              <a:cs typeface="+mn-cs"/>
            </a:endParaRPr>
          </a:p>
        </p:txBody>
      </p:sp>
      <p:grpSp>
        <p:nvGrpSpPr>
          <p:cNvPr id="140" name="组合 139">
            <a:extLst>
              <a:ext uri="{FF2B5EF4-FFF2-40B4-BE49-F238E27FC236}">
                <a16:creationId xmlns:a16="http://schemas.microsoft.com/office/drawing/2014/main" id="{3CEAAB26-3A2A-6D2E-61BE-28FF54B24145}"/>
              </a:ext>
            </a:extLst>
          </p:cNvPr>
          <p:cNvGrpSpPr/>
          <p:nvPr/>
        </p:nvGrpSpPr>
        <p:grpSpPr>
          <a:xfrm>
            <a:off x="486298" y="4098628"/>
            <a:ext cx="6054642" cy="2499561"/>
            <a:chOff x="353778" y="4310663"/>
            <a:chExt cx="6054642" cy="2499561"/>
          </a:xfrm>
        </p:grpSpPr>
        <p:sp>
          <p:nvSpPr>
            <p:cNvPr id="11" name="Rectangle 3">
              <a:extLst>
                <a:ext uri="{FF2B5EF4-FFF2-40B4-BE49-F238E27FC236}">
                  <a16:creationId xmlns:a16="http://schemas.microsoft.com/office/drawing/2014/main" id="{29F69B9A-6FE7-18EC-920D-C5C2623051BA}"/>
                </a:ext>
              </a:extLst>
            </p:cNvPr>
            <p:cNvSpPr>
              <a:spLocks noChangeArrowheads="1"/>
            </p:cNvSpPr>
            <p:nvPr/>
          </p:nvSpPr>
          <p:spPr bwMode="auto">
            <a:xfrm>
              <a:off x="682527" y="5493474"/>
              <a:ext cx="670026" cy="366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flush</a:t>
              </a:r>
            </a:p>
          </p:txBody>
        </p:sp>
        <p:sp>
          <p:nvSpPr>
            <p:cNvPr id="14" name="AutoShape 5" descr="Shingle">
              <a:extLst>
                <a:ext uri="{FF2B5EF4-FFF2-40B4-BE49-F238E27FC236}">
                  <a16:creationId xmlns:a16="http://schemas.microsoft.com/office/drawing/2014/main" id="{B6867539-91CF-94B1-996D-8BF2200FC6BA}"/>
                </a:ext>
              </a:extLst>
            </p:cNvPr>
            <p:cNvSpPr>
              <a:spLocks noChangeArrowheads="1"/>
            </p:cNvSpPr>
            <p:nvPr/>
          </p:nvSpPr>
          <p:spPr bwMode="auto">
            <a:xfrm>
              <a:off x="3270854" y="5448077"/>
              <a:ext cx="594561" cy="469303"/>
            </a:xfrm>
            <a:prstGeom prst="irregularSeal2">
              <a:avLst/>
            </a:prstGeom>
            <a:pattFill prst="shingle">
              <a:fgClr>
                <a:schemeClr val="accent2"/>
              </a:fgClr>
              <a:bgClr>
                <a:srgbClr val="FFFFFF"/>
              </a:bgClr>
            </a:patt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5" name="AutoShape 6" descr="Shingle">
              <a:extLst>
                <a:ext uri="{FF2B5EF4-FFF2-40B4-BE49-F238E27FC236}">
                  <a16:creationId xmlns:a16="http://schemas.microsoft.com/office/drawing/2014/main" id="{A4EDD28D-8B4B-BBAD-AC7F-E8B786000E36}"/>
                </a:ext>
              </a:extLst>
            </p:cNvPr>
            <p:cNvSpPr>
              <a:spLocks noChangeArrowheads="1"/>
            </p:cNvSpPr>
            <p:nvPr/>
          </p:nvSpPr>
          <p:spPr bwMode="auto">
            <a:xfrm>
              <a:off x="3865416" y="5448077"/>
              <a:ext cx="594561" cy="469303"/>
            </a:xfrm>
            <a:prstGeom prst="irregularSeal2">
              <a:avLst/>
            </a:prstGeom>
            <a:pattFill prst="shingle">
              <a:fgClr>
                <a:schemeClr val="accent2"/>
              </a:fgClr>
              <a:bgClr>
                <a:srgbClr val="FFFFFF"/>
              </a:bgClr>
            </a:patt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6" name="AutoShape 7" descr="Shingle">
              <a:extLst>
                <a:ext uri="{FF2B5EF4-FFF2-40B4-BE49-F238E27FC236}">
                  <a16:creationId xmlns:a16="http://schemas.microsoft.com/office/drawing/2014/main" id="{4E5BE904-F12D-E7F2-DCE4-24B5027A077F}"/>
                </a:ext>
              </a:extLst>
            </p:cNvPr>
            <p:cNvSpPr>
              <a:spLocks noChangeArrowheads="1"/>
            </p:cNvSpPr>
            <p:nvPr/>
          </p:nvSpPr>
          <p:spPr bwMode="auto">
            <a:xfrm>
              <a:off x="4459976" y="5448077"/>
              <a:ext cx="594561" cy="469303"/>
            </a:xfrm>
            <a:prstGeom prst="irregularSeal2">
              <a:avLst/>
            </a:prstGeom>
            <a:pattFill prst="shingle">
              <a:fgClr>
                <a:schemeClr val="accent2"/>
              </a:fgClr>
              <a:bgClr>
                <a:srgbClr val="FFFFFF"/>
              </a:bgClr>
            </a:patt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7" name="AutoShape 8" descr="Shingle">
              <a:extLst>
                <a:ext uri="{FF2B5EF4-FFF2-40B4-BE49-F238E27FC236}">
                  <a16:creationId xmlns:a16="http://schemas.microsoft.com/office/drawing/2014/main" id="{00EEBAC6-8936-1239-1A38-976E848B6FC5}"/>
                </a:ext>
              </a:extLst>
            </p:cNvPr>
            <p:cNvSpPr>
              <a:spLocks noChangeArrowheads="1"/>
            </p:cNvSpPr>
            <p:nvPr/>
          </p:nvSpPr>
          <p:spPr bwMode="auto">
            <a:xfrm>
              <a:off x="5054537" y="5389413"/>
              <a:ext cx="594561" cy="469303"/>
            </a:xfrm>
            <a:prstGeom prst="irregularSeal2">
              <a:avLst/>
            </a:prstGeom>
            <a:pattFill prst="shingle">
              <a:fgClr>
                <a:schemeClr val="accent2"/>
              </a:fgClr>
              <a:bgClr>
                <a:srgbClr val="FFFFFF"/>
              </a:bgClr>
            </a:patt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nvGrpSpPr>
            <p:cNvPr id="18" name="Group 9" descr=" 1701897">
              <a:extLst>
                <a:ext uri="{FF2B5EF4-FFF2-40B4-BE49-F238E27FC236}">
                  <a16:creationId xmlns:a16="http://schemas.microsoft.com/office/drawing/2014/main" id="{8C06EFE2-3037-3979-A968-F3C38F17977E}"/>
                </a:ext>
              </a:extLst>
            </p:cNvPr>
            <p:cNvGrpSpPr>
              <a:grpSpLocks/>
            </p:cNvGrpSpPr>
            <p:nvPr/>
          </p:nvGrpSpPr>
          <p:grpSpPr bwMode="auto">
            <a:xfrm>
              <a:off x="4270053" y="4857169"/>
              <a:ext cx="342699" cy="1569359"/>
              <a:chOff x="3312" y="784"/>
              <a:chExt cx="249" cy="1252"/>
            </a:xfrm>
          </p:grpSpPr>
          <p:sp>
            <p:nvSpPr>
              <p:cNvPr id="19" name="Rectangle 10">
                <a:extLst>
                  <a:ext uri="{FF2B5EF4-FFF2-40B4-BE49-F238E27FC236}">
                    <a16:creationId xmlns:a16="http://schemas.microsoft.com/office/drawing/2014/main" id="{0113BDEE-ABF4-0637-DCDC-9250200A5947}"/>
                  </a:ext>
                </a:extLst>
              </p:cNvPr>
              <p:cNvSpPr>
                <a:spLocks noChangeArrowheads="1"/>
              </p:cNvSpPr>
              <p:nvPr/>
            </p:nvSpPr>
            <p:spPr bwMode="auto">
              <a:xfrm>
                <a:off x="3465" y="1748"/>
                <a:ext cx="96" cy="288"/>
              </a:xfrm>
              <a:prstGeom prst="rect">
                <a:avLst/>
              </a:prstGeom>
              <a:solidFill>
                <a:srgbClr val="009900"/>
              </a:solid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20" name="Rectangle 11">
                <a:extLst>
                  <a:ext uri="{FF2B5EF4-FFF2-40B4-BE49-F238E27FC236}">
                    <a16:creationId xmlns:a16="http://schemas.microsoft.com/office/drawing/2014/main" id="{6E0C795C-F5B5-357A-4207-38CF5FBB3897}"/>
                  </a:ext>
                </a:extLst>
              </p:cNvPr>
              <p:cNvSpPr>
                <a:spLocks noChangeArrowheads="1"/>
              </p:cNvSpPr>
              <p:nvPr/>
            </p:nvSpPr>
            <p:spPr bwMode="auto">
              <a:xfrm>
                <a:off x="3312" y="784"/>
                <a:ext cx="96" cy="28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21" name="Line 12">
                <a:extLst>
                  <a:ext uri="{FF2B5EF4-FFF2-40B4-BE49-F238E27FC236}">
                    <a16:creationId xmlns:a16="http://schemas.microsoft.com/office/drawing/2014/main" id="{923CB957-2D95-47C9-73FC-7831D0DC7692}"/>
                  </a:ext>
                </a:extLst>
              </p:cNvPr>
              <p:cNvSpPr>
                <a:spLocks noChangeShapeType="1"/>
              </p:cNvSpPr>
              <p:nvPr/>
            </p:nvSpPr>
            <p:spPr bwMode="auto">
              <a:xfrm>
                <a:off x="3360" y="1072"/>
                <a:ext cx="102" cy="676"/>
              </a:xfrm>
              <a:prstGeom prst="line">
                <a:avLst/>
              </a:prstGeom>
              <a:noFill/>
              <a:ln w="2857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22" name="Line 23" descr=" 87050">
              <a:extLst>
                <a:ext uri="{FF2B5EF4-FFF2-40B4-BE49-F238E27FC236}">
                  <a16:creationId xmlns:a16="http://schemas.microsoft.com/office/drawing/2014/main" id="{49C78DAF-67A5-532B-990B-7CB829F06494}"/>
                </a:ext>
              </a:extLst>
            </p:cNvPr>
            <p:cNvSpPr>
              <a:spLocks noChangeShapeType="1"/>
            </p:cNvSpPr>
            <p:nvPr/>
          </p:nvSpPr>
          <p:spPr bwMode="auto">
            <a:xfrm>
              <a:off x="2047796" y="4607241"/>
              <a:ext cx="4360624"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23" name="Rectangle 24" descr=" 87051">
              <a:extLst>
                <a:ext uri="{FF2B5EF4-FFF2-40B4-BE49-F238E27FC236}">
                  <a16:creationId xmlns:a16="http://schemas.microsoft.com/office/drawing/2014/main" id="{4705055C-F641-0FA7-757E-4AD546908C6B}"/>
                </a:ext>
              </a:extLst>
            </p:cNvPr>
            <p:cNvSpPr>
              <a:spLocks noChangeArrowheads="1"/>
            </p:cNvSpPr>
            <p:nvPr/>
          </p:nvSpPr>
          <p:spPr bwMode="auto">
            <a:xfrm>
              <a:off x="682527" y="4861125"/>
              <a:ext cx="1477939" cy="366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srgbClr val="000000"/>
                  </a:solidFill>
                  <a:effectLst/>
                  <a:uLnTx/>
                  <a:uFillTx/>
                  <a:latin typeface="Arial" pitchFamily="34" charset="0"/>
                  <a:ea typeface="SimHei" panose="02010609060101010101" pitchFamily="49" charset="-122"/>
                  <a:cs typeface="+mn-cs"/>
                </a:rPr>
                <a:t>lw</a:t>
              </a:r>
              <a:r>
                <a:rPr kumimoji="0" lang="en-US" altLang="zh-CN" sz="18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 </a:t>
              </a:r>
              <a:r>
                <a:rPr kumimoji="0" lang="en-US" altLang="zh-CN" sz="1800" b="0" i="0" u="none" strike="noStrike" kern="1200" cap="none" spc="0" normalizeH="0" baseline="0" noProof="0" dirty="0">
                  <a:ln>
                    <a:noFill/>
                  </a:ln>
                  <a:solidFill>
                    <a:srgbClr val="E70303"/>
                  </a:solidFill>
                  <a:effectLst/>
                  <a:uLnTx/>
                  <a:uFillTx/>
                  <a:latin typeface="Arial" pitchFamily="34" charset="0"/>
                  <a:ea typeface="SimHei" panose="02010609060101010101" pitchFamily="49" charset="-122"/>
                  <a:cs typeface="+mn-cs"/>
                </a:rPr>
                <a:t>r1</a:t>
              </a:r>
              <a:r>
                <a:rPr kumimoji="0" lang="en-US" altLang="zh-CN" sz="18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,100(r2)</a:t>
              </a:r>
            </a:p>
          </p:txBody>
        </p:sp>
        <p:sp>
          <p:nvSpPr>
            <p:cNvPr id="24" name="Rectangle 25" descr=" 1701913">
              <a:extLst>
                <a:ext uri="{FF2B5EF4-FFF2-40B4-BE49-F238E27FC236}">
                  <a16:creationId xmlns:a16="http://schemas.microsoft.com/office/drawing/2014/main" id="{9956B85F-89A6-6861-F679-9CAB9E37A6FC}"/>
                </a:ext>
              </a:extLst>
            </p:cNvPr>
            <p:cNvSpPr>
              <a:spLocks noChangeArrowheads="1"/>
            </p:cNvSpPr>
            <p:nvPr/>
          </p:nvSpPr>
          <p:spPr bwMode="auto">
            <a:xfrm>
              <a:off x="682527" y="6071475"/>
              <a:ext cx="1362523" cy="366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sub r4,</a:t>
              </a:r>
              <a:r>
                <a:rPr kumimoji="0" lang="en-US" altLang="zh-CN" sz="1800" b="0" i="0" u="none" strike="noStrike" kern="1200" cap="none" spc="0" normalizeH="0" baseline="0" noProof="0" dirty="0">
                  <a:ln>
                    <a:noFill/>
                  </a:ln>
                  <a:solidFill>
                    <a:srgbClr val="E70303"/>
                  </a:solidFill>
                  <a:effectLst/>
                  <a:uLnTx/>
                  <a:uFillTx/>
                  <a:latin typeface="Arial" pitchFamily="34" charset="0"/>
                  <a:ea typeface="SimHei" panose="02010609060101010101" pitchFamily="49" charset="-122"/>
                  <a:cs typeface="+mn-cs"/>
                </a:rPr>
                <a:t>r1</a:t>
              </a:r>
              <a:r>
                <a:rPr kumimoji="0" lang="en-US" altLang="zh-CN" sz="18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,r5</a:t>
              </a:r>
            </a:p>
          </p:txBody>
        </p:sp>
        <p:grpSp>
          <p:nvGrpSpPr>
            <p:cNvPr id="25" name="Group 26" descr=" 87053">
              <a:extLst>
                <a:ext uri="{FF2B5EF4-FFF2-40B4-BE49-F238E27FC236}">
                  <a16:creationId xmlns:a16="http://schemas.microsoft.com/office/drawing/2014/main" id="{69C01890-C7B4-2B79-9017-BA07C7C1D9E0}"/>
                </a:ext>
              </a:extLst>
            </p:cNvPr>
            <p:cNvGrpSpPr>
              <a:grpSpLocks/>
            </p:cNvGrpSpPr>
            <p:nvPr/>
          </p:nvGrpSpPr>
          <p:grpSpPr bwMode="auto">
            <a:xfrm>
              <a:off x="2681362" y="4607241"/>
              <a:ext cx="3567365" cy="2134335"/>
              <a:chOff x="2088" y="656"/>
              <a:chExt cx="2592" cy="2816"/>
            </a:xfrm>
          </p:grpSpPr>
          <p:sp>
            <p:nvSpPr>
              <p:cNvPr id="26" name="Line 27">
                <a:extLst>
                  <a:ext uri="{FF2B5EF4-FFF2-40B4-BE49-F238E27FC236}">
                    <a16:creationId xmlns:a16="http://schemas.microsoft.com/office/drawing/2014/main" id="{50B85CC0-FAD1-6679-B109-C8DAED697F17}"/>
                  </a:ext>
                </a:extLst>
              </p:cNvPr>
              <p:cNvSpPr>
                <a:spLocks noChangeShapeType="1"/>
              </p:cNvSpPr>
              <p:nvPr/>
            </p:nvSpPr>
            <p:spPr bwMode="auto">
              <a:xfrm>
                <a:off x="2088" y="656"/>
                <a:ext cx="0" cy="2816"/>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27" name="Line 28">
                <a:extLst>
                  <a:ext uri="{FF2B5EF4-FFF2-40B4-BE49-F238E27FC236}">
                    <a16:creationId xmlns:a16="http://schemas.microsoft.com/office/drawing/2014/main" id="{F06C3C1F-F94B-1008-79B9-28C2B20B8604}"/>
                  </a:ext>
                </a:extLst>
              </p:cNvPr>
              <p:cNvSpPr>
                <a:spLocks noChangeShapeType="1"/>
              </p:cNvSpPr>
              <p:nvPr/>
            </p:nvSpPr>
            <p:spPr bwMode="auto">
              <a:xfrm>
                <a:off x="2520" y="656"/>
                <a:ext cx="0" cy="2816"/>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28" name="Line 29">
                <a:extLst>
                  <a:ext uri="{FF2B5EF4-FFF2-40B4-BE49-F238E27FC236}">
                    <a16:creationId xmlns:a16="http://schemas.microsoft.com/office/drawing/2014/main" id="{20899DC2-B040-4D42-798A-0DABC9DD0F87}"/>
                  </a:ext>
                </a:extLst>
              </p:cNvPr>
              <p:cNvSpPr>
                <a:spLocks noChangeShapeType="1"/>
              </p:cNvSpPr>
              <p:nvPr/>
            </p:nvSpPr>
            <p:spPr bwMode="auto">
              <a:xfrm>
                <a:off x="2952" y="656"/>
                <a:ext cx="0" cy="2816"/>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29" name="Line 30">
                <a:extLst>
                  <a:ext uri="{FF2B5EF4-FFF2-40B4-BE49-F238E27FC236}">
                    <a16:creationId xmlns:a16="http://schemas.microsoft.com/office/drawing/2014/main" id="{6388B7EE-2383-824C-748E-BDB218D60D62}"/>
                  </a:ext>
                </a:extLst>
              </p:cNvPr>
              <p:cNvSpPr>
                <a:spLocks noChangeShapeType="1"/>
              </p:cNvSpPr>
              <p:nvPr/>
            </p:nvSpPr>
            <p:spPr bwMode="auto">
              <a:xfrm>
                <a:off x="3384" y="656"/>
                <a:ext cx="0" cy="2816"/>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30" name="Line 31">
                <a:extLst>
                  <a:ext uri="{FF2B5EF4-FFF2-40B4-BE49-F238E27FC236}">
                    <a16:creationId xmlns:a16="http://schemas.microsoft.com/office/drawing/2014/main" id="{A15FF850-ED8A-9645-0922-6A7602134551}"/>
                  </a:ext>
                </a:extLst>
              </p:cNvPr>
              <p:cNvSpPr>
                <a:spLocks noChangeShapeType="1"/>
              </p:cNvSpPr>
              <p:nvPr/>
            </p:nvSpPr>
            <p:spPr bwMode="auto">
              <a:xfrm>
                <a:off x="3816" y="656"/>
                <a:ext cx="0" cy="2816"/>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31" name="Line 32">
                <a:extLst>
                  <a:ext uri="{FF2B5EF4-FFF2-40B4-BE49-F238E27FC236}">
                    <a16:creationId xmlns:a16="http://schemas.microsoft.com/office/drawing/2014/main" id="{FA6926CD-893F-2B64-CD57-7AAED8045279}"/>
                  </a:ext>
                </a:extLst>
              </p:cNvPr>
              <p:cNvSpPr>
                <a:spLocks noChangeShapeType="1"/>
              </p:cNvSpPr>
              <p:nvPr/>
            </p:nvSpPr>
            <p:spPr bwMode="auto">
              <a:xfrm>
                <a:off x="4248" y="656"/>
                <a:ext cx="0" cy="2816"/>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32" name="Line 33">
                <a:extLst>
                  <a:ext uri="{FF2B5EF4-FFF2-40B4-BE49-F238E27FC236}">
                    <a16:creationId xmlns:a16="http://schemas.microsoft.com/office/drawing/2014/main" id="{D9F910A9-F3BB-FC01-3222-071969249AC6}"/>
                  </a:ext>
                </a:extLst>
              </p:cNvPr>
              <p:cNvSpPr>
                <a:spLocks noChangeShapeType="1"/>
              </p:cNvSpPr>
              <p:nvPr/>
            </p:nvSpPr>
            <p:spPr bwMode="auto">
              <a:xfrm>
                <a:off x="4680" y="656"/>
                <a:ext cx="0" cy="2816"/>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grpSp>
          <p:nvGrpSpPr>
            <p:cNvPr id="34" name="Group 40" descr=" 87056">
              <a:extLst>
                <a:ext uri="{FF2B5EF4-FFF2-40B4-BE49-F238E27FC236}">
                  <a16:creationId xmlns:a16="http://schemas.microsoft.com/office/drawing/2014/main" id="{1B10DC40-C94A-07EA-F5B2-03AEFBF46154}"/>
                </a:ext>
              </a:extLst>
            </p:cNvPr>
            <p:cNvGrpSpPr>
              <a:grpSpLocks/>
            </p:cNvGrpSpPr>
            <p:nvPr/>
          </p:nvGrpSpPr>
          <p:grpSpPr bwMode="auto">
            <a:xfrm>
              <a:off x="2131273" y="4744121"/>
              <a:ext cx="2934279" cy="645293"/>
              <a:chOff x="1551" y="1152"/>
              <a:chExt cx="2131" cy="528"/>
            </a:xfrm>
          </p:grpSpPr>
          <p:grpSp>
            <p:nvGrpSpPr>
              <p:cNvPr id="35" name="Group 41">
                <a:extLst>
                  <a:ext uri="{FF2B5EF4-FFF2-40B4-BE49-F238E27FC236}">
                    <a16:creationId xmlns:a16="http://schemas.microsoft.com/office/drawing/2014/main" id="{9C886984-02FD-0DBA-CACF-DACAF894FA41}"/>
                  </a:ext>
                </a:extLst>
              </p:cNvPr>
              <p:cNvGrpSpPr>
                <a:grpSpLocks/>
              </p:cNvGrpSpPr>
              <p:nvPr/>
            </p:nvGrpSpPr>
            <p:grpSpPr bwMode="auto">
              <a:xfrm>
                <a:off x="2497" y="1152"/>
                <a:ext cx="233" cy="481"/>
                <a:chOff x="2217" y="1413"/>
                <a:chExt cx="233" cy="481"/>
              </a:xfrm>
            </p:grpSpPr>
            <p:sp>
              <p:nvSpPr>
                <p:cNvPr id="65" name="Freeform 42">
                  <a:extLst>
                    <a:ext uri="{FF2B5EF4-FFF2-40B4-BE49-F238E27FC236}">
                      <a16:creationId xmlns:a16="http://schemas.microsoft.com/office/drawing/2014/main" id="{7BA1BD57-7B1B-9A31-E5B9-907EB81DB63B}"/>
                    </a:ext>
                  </a:extLst>
                </p:cNvPr>
                <p:cNvSpPr>
                  <a:spLocks/>
                </p:cNvSpPr>
                <p:nvPr/>
              </p:nvSpPr>
              <p:spPr bwMode="auto">
                <a:xfrm>
                  <a:off x="2217" y="1413"/>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66" name="Rectangle 43">
                  <a:extLst>
                    <a:ext uri="{FF2B5EF4-FFF2-40B4-BE49-F238E27FC236}">
                      <a16:creationId xmlns:a16="http://schemas.microsoft.com/office/drawing/2014/main" id="{B866914E-A441-BE84-10B2-D975F400A2A7}"/>
                    </a:ext>
                  </a:extLst>
                </p:cNvPr>
                <p:cNvSpPr>
                  <a:spLocks noChangeArrowheads="1"/>
                </p:cNvSpPr>
                <p:nvPr/>
              </p:nvSpPr>
              <p:spPr bwMode="auto">
                <a:xfrm rot="5400000">
                  <a:off x="2121" y="1537"/>
                  <a:ext cx="435"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ALU</a:t>
                  </a:r>
                </a:p>
              </p:txBody>
            </p:sp>
          </p:grpSp>
          <p:grpSp>
            <p:nvGrpSpPr>
              <p:cNvPr id="36" name="Group 44">
                <a:extLst>
                  <a:ext uri="{FF2B5EF4-FFF2-40B4-BE49-F238E27FC236}">
                    <a16:creationId xmlns:a16="http://schemas.microsoft.com/office/drawing/2014/main" id="{D7C2C2B8-48FF-B808-73B2-7803D24FC61C}"/>
                  </a:ext>
                </a:extLst>
              </p:cNvPr>
              <p:cNvGrpSpPr>
                <a:grpSpLocks/>
              </p:cNvGrpSpPr>
              <p:nvPr/>
            </p:nvGrpSpPr>
            <p:grpSpPr bwMode="auto">
              <a:xfrm>
                <a:off x="1551" y="1248"/>
                <a:ext cx="360" cy="289"/>
                <a:chOff x="1271" y="1509"/>
                <a:chExt cx="360" cy="289"/>
              </a:xfrm>
            </p:grpSpPr>
            <p:sp>
              <p:nvSpPr>
                <p:cNvPr id="61" name="Rectangle 45">
                  <a:extLst>
                    <a:ext uri="{FF2B5EF4-FFF2-40B4-BE49-F238E27FC236}">
                      <a16:creationId xmlns:a16="http://schemas.microsoft.com/office/drawing/2014/main" id="{2B3E622A-A136-87BC-ED4B-B2B33BCA4065}"/>
                    </a:ext>
                  </a:extLst>
                </p:cNvPr>
                <p:cNvSpPr>
                  <a:spLocks noChangeArrowheads="1"/>
                </p:cNvSpPr>
                <p:nvPr/>
              </p:nvSpPr>
              <p:spPr bwMode="auto">
                <a:xfrm>
                  <a:off x="1271" y="1546"/>
                  <a:ext cx="2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IM</a:t>
                  </a:r>
                </a:p>
              </p:txBody>
            </p:sp>
            <p:grpSp>
              <p:nvGrpSpPr>
                <p:cNvPr id="62" name="Group 46">
                  <a:extLst>
                    <a:ext uri="{FF2B5EF4-FFF2-40B4-BE49-F238E27FC236}">
                      <a16:creationId xmlns:a16="http://schemas.microsoft.com/office/drawing/2014/main" id="{8295DC0B-C6CD-3AA6-5240-F22C7B98045E}"/>
                    </a:ext>
                  </a:extLst>
                </p:cNvPr>
                <p:cNvGrpSpPr>
                  <a:grpSpLocks/>
                </p:cNvGrpSpPr>
                <p:nvPr/>
              </p:nvGrpSpPr>
              <p:grpSpPr bwMode="auto">
                <a:xfrm>
                  <a:off x="1291" y="1509"/>
                  <a:ext cx="340" cy="289"/>
                  <a:chOff x="1291" y="1509"/>
                  <a:chExt cx="340" cy="289"/>
                </a:xfrm>
              </p:grpSpPr>
              <p:sp>
                <p:nvSpPr>
                  <p:cNvPr id="63" name="Freeform 47">
                    <a:extLst>
                      <a:ext uri="{FF2B5EF4-FFF2-40B4-BE49-F238E27FC236}">
                        <a16:creationId xmlns:a16="http://schemas.microsoft.com/office/drawing/2014/main" id="{97CBF29D-7AD3-985E-B3DD-80D6C04AB68C}"/>
                      </a:ext>
                    </a:extLst>
                  </p:cNvPr>
                  <p:cNvSpPr>
                    <a:spLocks/>
                  </p:cNvSpPr>
                  <p:nvPr/>
                </p:nvSpPr>
                <p:spPr bwMode="auto">
                  <a:xfrm>
                    <a:off x="1291" y="1509"/>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64" name="Freeform 48">
                    <a:extLst>
                      <a:ext uri="{FF2B5EF4-FFF2-40B4-BE49-F238E27FC236}">
                        <a16:creationId xmlns:a16="http://schemas.microsoft.com/office/drawing/2014/main" id="{33FB5DFA-5611-478D-CD93-5728DEBA3227}"/>
                      </a:ext>
                    </a:extLst>
                  </p:cNvPr>
                  <p:cNvSpPr>
                    <a:spLocks/>
                  </p:cNvSpPr>
                  <p:nvPr/>
                </p:nvSpPr>
                <p:spPr bwMode="auto">
                  <a:xfrm>
                    <a:off x="1460" y="1509"/>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grpSp>
          <p:sp>
            <p:nvSpPr>
              <p:cNvPr id="37" name="Rectangle 49">
                <a:extLst>
                  <a:ext uri="{FF2B5EF4-FFF2-40B4-BE49-F238E27FC236}">
                    <a16:creationId xmlns:a16="http://schemas.microsoft.com/office/drawing/2014/main" id="{8BEF6648-E0A4-950E-D59F-967E2DF90A17}"/>
                  </a:ext>
                </a:extLst>
              </p:cNvPr>
              <p:cNvSpPr>
                <a:spLocks noChangeArrowheads="1"/>
              </p:cNvSpPr>
              <p:nvPr/>
            </p:nvSpPr>
            <p:spPr bwMode="auto">
              <a:xfrm>
                <a:off x="2002" y="1285"/>
                <a:ext cx="3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Reg</a:t>
                </a:r>
              </a:p>
            </p:txBody>
          </p:sp>
          <p:grpSp>
            <p:nvGrpSpPr>
              <p:cNvPr id="38" name="Group 50">
                <a:extLst>
                  <a:ext uri="{FF2B5EF4-FFF2-40B4-BE49-F238E27FC236}">
                    <a16:creationId xmlns:a16="http://schemas.microsoft.com/office/drawing/2014/main" id="{D4447FA7-A3B0-EF53-6231-73B84DDC69AF}"/>
                  </a:ext>
                </a:extLst>
              </p:cNvPr>
              <p:cNvGrpSpPr>
                <a:grpSpLocks/>
              </p:cNvGrpSpPr>
              <p:nvPr/>
            </p:nvGrpSpPr>
            <p:grpSpPr bwMode="auto">
              <a:xfrm>
                <a:off x="2031" y="1248"/>
                <a:ext cx="296" cy="289"/>
                <a:chOff x="1751" y="1509"/>
                <a:chExt cx="296" cy="289"/>
              </a:xfrm>
            </p:grpSpPr>
            <p:sp>
              <p:nvSpPr>
                <p:cNvPr id="59" name="Freeform 51">
                  <a:extLst>
                    <a:ext uri="{FF2B5EF4-FFF2-40B4-BE49-F238E27FC236}">
                      <a16:creationId xmlns:a16="http://schemas.microsoft.com/office/drawing/2014/main" id="{24D38A0E-794C-0CEB-9408-A640273EE3DA}"/>
                    </a:ext>
                  </a:extLst>
                </p:cNvPr>
                <p:cNvSpPr>
                  <a:spLocks/>
                </p:cNvSpPr>
                <p:nvPr/>
              </p:nvSpPr>
              <p:spPr bwMode="auto">
                <a:xfrm>
                  <a:off x="1751" y="1509"/>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60" name="Freeform 52">
                  <a:extLst>
                    <a:ext uri="{FF2B5EF4-FFF2-40B4-BE49-F238E27FC236}">
                      <a16:creationId xmlns:a16="http://schemas.microsoft.com/office/drawing/2014/main" id="{B75096DD-588F-2AA7-23D7-EC6F65ABABB9}"/>
                    </a:ext>
                  </a:extLst>
                </p:cNvPr>
                <p:cNvSpPr>
                  <a:spLocks/>
                </p:cNvSpPr>
                <p:nvPr/>
              </p:nvSpPr>
              <p:spPr bwMode="auto">
                <a:xfrm>
                  <a:off x="1899" y="1509"/>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39" name="Line 53">
                <a:extLst>
                  <a:ext uri="{FF2B5EF4-FFF2-40B4-BE49-F238E27FC236}">
                    <a16:creationId xmlns:a16="http://schemas.microsoft.com/office/drawing/2014/main" id="{FB0AA5A8-B814-EA77-A25B-ED1B29A4FDAD}"/>
                  </a:ext>
                </a:extLst>
              </p:cNvPr>
              <p:cNvSpPr>
                <a:spLocks noChangeShapeType="1"/>
              </p:cNvSpPr>
              <p:nvPr/>
            </p:nvSpPr>
            <p:spPr bwMode="auto">
              <a:xfrm>
                <a:off x="1916" y="1392"/>
                <a:ext cx="1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0" name="Freeform 54">
                <a:extLst>
                  <a:ext uri="{FF2B5EF4-FFF2-40B4-BE49-F238E27FC236}">
                    <a16:creationId xmlns:a16="http://schemas.microsoft.com/office/drawing/2014/main" id="{D7B790D8-778C-7951-7955-4BBAC36E6CC8}"/>
                  </a:ext>
                </a:extLst>
              </p:cNvPr>
              <p:cNvSpPr>
                <a:spLocks/>
              </p:cNvSpPr>
              <p:nvPr/>
            </p:nvSpPr>
            <p:spPr bwMode="auto">
              <a:xfrm>
                <a:off x="1984" y="1296"/>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97">
                    <a:moveTo>
                      <a:pt x="0" y="96"/>
                    </a:moveTo>
                    <a:lnTo>
                      <a:pt x="0" y="0"/>
                    </a:lnTo>
                    <a:lnTo>
                      <a:pt x="47"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1" name="Line 55">
                <a:extLst>
                  <a:ext uri="{FF2B5EF4-FFF2-40B4-BE49-F238E27FC236}">
                    <a16:creationId xmlns:a16="http://schemas.microsoft.com/office/drawing/2014/main" id="{E06B5001-1DB1-314A-4625-7B23EC9A5DB2}"/>
                  </a:ext>
                </a:extLst>
              </p:cNvPr>
              <p:cNvSpPr>
                <a:spLocks noChangeShapeType="1"/>
              </p:cNvSpPr>
              <p:nvPr/>
            </p:nvSpPr>
            <p:spPr bwMode="auto">
              <a:xfrm>
                <a:off x="2332" y="1296"/>
                <a:ext cx="15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2" name="Rectangle 56">
                <a:extLst>
                  <a:ext uri="{FF2B5EF4-FFF2-40B4-BE49-F238E27FC236}">
                    <a16:creationId xmlns:a16="http://schemas.microsoft.com/office/drawing/2014/main" id="{7D22A5AF-0A52-9CC5-A5D2-1A3CBCD16E99}"/>
                  </a:ext>
                </a:extLst>
              </p:cNvPr>
              <p:cNvSpPr>
                <a:spLocks noChangeArrowheads="1"/>
              </p:cNvSpPr>
              <p:nvPr/>
            </p:nvSpPr>
            <p:spPr bwMode="auto">
              <a:xfrm>
                <a:off x="2829" y="1285"/>
                <a:ext cx="3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DM</a:t>
                </a:r>
              </a:p>
            </p:txBody>
          </p:sp>
          <p:grpSp>
            <p:nvGrpSpPr>
              <p:cNvPr id="43" name="Group 57">
                <a:extLst>
                  <a:ext uri="{FF2B5EF4-FFF2-40B4-BE49-F238E27FC236}">
                    <a16:creationId xmlns:a16="http://schemas.microsoft.com/office/drawing/2014/main" id="{12AAF43B-A366-9018-6AA3-90BF27B84765}"/>
                  </a:ext>
                </a:extLst>
              </p:cNvPr>
              <p:cNvGrpSpPr>
                <a:grpSpLocks/>
              </p:cNvGrpSpPr>
              <p:nvPr/>
            </p:nvGrpSpPr>
            <p:grpSpPr bwMode="auto">
              <a:xfrm>
                <a:off x="2880" y="1248"/>
                <a:ext cx="325" cy="289"/>
                <a:chOff x="2600" y="1509"/>
                <a:chExt cx="325" cy="289"/>
              </a:xfrm>
            </p:grpSpPr>
            <p:sp>
              <p:nvSpPr>
                <p:cNvPr id="57" name="Freeform 58">
                  <a:extLst>
                    <a:ext uri="{FF2B5EF4-FFF2-40B4-BE49-F238E27FC236}">
                      <a16:creationId xmlns:a16="http://schemas.microsoft.com/office/drawing/2014/main" id="{6E9FC0F3-AA46-6E2B-731A-2166357865B2}"/>
                    </a:ext>
                  </a:extLst>
                </p:cNvPr>
                <p:cNvSpPr>
                  <a:spLocks/>
                </p:cNvSpPr>
                <p:nvPr/>
              </p:nvSpPr>
              <p:spPr bwMode="auto">
                <a:xfrm>
                  <a:off x="2600" y="1509"/>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8" name="Freeform 59">
                  <a:extLst>
                    <a:ext uri="{FF2B5EF4-FFF2-40B4-BE49-F238E27FC236}">
                      <a16:creationId xmlns:a16="http://schemas.microsoft.com/office/drawing/2014/main" id="{827B5250-2AA3-902E-2606-40362A391E48}"/>
                    </a:ext>
                  </a:extLst>
                </p:cNvPr>
                <p:cNvSpPr>
                  <a:spLocks/>
                </p:cNvSpPr>
                <p:nvPr/>
              </p:nvSpPr>
              <p:spPr bwMode="auto">
                <a:xfrm>
                  <a:off x="2761" y="1509"/>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44" name="Rectangle 60">
                <a:extLst>
                  <a:ext uri="{FF2B5EF4-FFF2-40B4-BE49-F238E27FC236}">
                    <a16:creationId xmlns:a16="http://schemas.microsoft.com/office/drawing/2014/main" id="{C3C7C72C-8338-DDC5-EE44-BD6E2F49CFBD}"/>
                  </a:ext>
                </a:extLst>
              </p:cNvPr>
              <p:cNvSpPr>
                <a:spLocks noChangeArrowheads="1"/>
              </p:cNvSpPr>
              <p:nvPr/>
            </p:nvSpPr>
            <p:spPr bwMode="auto">
              <a:xfrm>
                <a:off x="3311" y="1280"/>
                <a:ext cx="3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Reg</a:t>
                </a:r>
              </a:p>
            </p:txBody>
          </p:sp>
          <p:grpSp>
            <p:nvGrpSpPr>
              <p:cNvPr id="45" name="Group 61">
                <a:extLst>
                  <a:ext uri="{FF2B5EF4-FFF2-40B4-BE49-F238E27FC236}">
                    <a16:creationId xmlns:a16="http://schemas.microsoft.com/office/drawing/2014/main" id="{A35065E0-AB30-4366-2C62-8A0EFC6D0E53}"/>
                  </a:ext>
                </a:extLst>
              </p:cNvPr>
              <p:cNvGrpSpPr>
                <a:grpSpLocks/>
              </p:cNvGrpSpPr>
              <p:nvPr/>
            </p:nvGrpSpPr>
            <p:grpSpPr bwMode="auto">
              <a:xfrm>
                <a:off x="3348" y="1248"/>
                <a:ext cx="284" cy="289"/>
                <a:chOff x="3068" y="1509"/>
                <a:chExt cx="284" cy="289"/>
              </a:xfrm>
            </p:grpSpPr>
            <p:sp>
              <p:nvSpPr>
                <p:cNvPr id="55" name="Freeform 62">
                  <a:extLst>
                    <a:ext uri="{FF2B5EF4-FFF2-40B4-BE49-F238E27FC236}">
                      <a16:creationId xmlns:a16="http://schemas.microsoft.com/office/drawing/2014/main" id="{298712B7-4C1F-FC28-735C-DFF878276D61}"/>
                    </a:ext>
                  </a:extLst>
                </p:cNvPr>
                <p:cNvSpPr>
                  <a:spLocks/>
                </p:cNvSpPr>
                <p:nvPr/>
              </p:nvSpPr>
              <p:spPr bwMode="auto">
                <a:xfrm>
                  <a:off x="3068" y="1509"/>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6" name="Freeform 63">
                  <a:extLst>
                    <a:ext uri="{FF2B5EF4-FFF2-40B4-BE49-F238E27FC236}">
                      <a16:creationId xmlns:a16="http://schemas.microsoft.com/office/drawing/2014/main" id="{DC851622-DECD-4EEC-0846-12EE124A0FCD}"/>
                    </a:ext>
                  </a:extLst>
                </p:cNvPr>
                <p:cNvSpPr>
                  <a:spLocks/>
                </p:cNvSpPr>
                <p:nvPr/>
              </p:nvSpPr>
              <p:spPr bwMode="auto">
                <a:xfrm>
                  <a:off x="3209" y="1509"/>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46" name="Line 64">
                <a:extLst>
                  <a:ext uri="{FF2B5EF4-FFF2-40B4-BE49-F238E27FC236}">
                    <a16:creationId xmlns:a16="http://schemas.microsoft.com/office/drawing/2014/main" id="{76347510-061D-ED07-CD1F-2A0806526E43}"/>
                  </a:ext>
                </a:extLst>
              </p:cNvPr>
              <p:cNvSpPr>
                <a:spLocks noChangeShapeType="1"/>
              </p:cNvSpPr>
              <p:nvPr/>
            </p:nvSpPr>
            <p:spPr bwMode="auto">
              <a:xfrm>
                <a:off x="3201" y="1392"/>
                <a:ext cx="139"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7" name="Line 65">
                <a:extLst>
                  <a:ext uri="{FF2B5EF4-FFF2-40B4-BE49-F238E27FC236}">
                    <a16:creationId xmlns:a16="http://schemas.microsoft.com/office/drawing/2014/main" id="{E16BEC6E-5D6E-711A-E720-4B50A1E32861}"/>
                  </a:ext>
                </a:extLst>
              </p:cNvPr>
              <p:cNvSpPr>
                <a:spLocks noChangeShapeType="1"/>
              </p:cNvSpPr>
              <p:nvPr/>
            </p:nvSpPr>
            <p:spPr bwMode="auto">
              <a:xfrm>
                <a:off x="2717" y="1392"/>
                <a:ext cx="15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8" name="Line 66">
                <a:extLst>
                  <a:ext uri="{FF2B5EF4-FFF2-40B4-BE49-F238E27FC236}">
                    <a16:creationId xmlns:a16="http://schemas.microsoft.com/office/drawing/2014/main" id="{61586182-2828-8A24-978F-D33525085DE3}"/>
                  </a:ext>
                </a:extLst>
              </p:cNvPr>
              <p:cNvSpPr>
                <a:spLocks noChangeShapeType="1"/>
              </p:cNvSpPr>
              <p:nvPr/>
            </p:nvSpPr>
            <p:spPr bwMode="auto">
              <a:xfrm>
                <a:off x="2332" y="1488"/>
                <a:ext cx="15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9" name="Line 67">
                <a:extLst>
                  <a:ext uri="{FF2B5EF4-FFF2-40B4-BE49-F238E27FC236}">
                    <a16:creationId xmlns:a16="http://schemas.microsoft.com/office/drawing/2014/main" id="{3263F690-9DAD-07FE-87C8-3788448EFDFA}"/>
                  </a:ext>
                </a:extLst>
              </p:cNvPr>
              <p:cNvSpPr>
                <a:spLocks noChangeShapeType="1"/>
              </p:cNvSpPr>
              <p:nvPr/>
            </p:nvSpPr>
            <p:spPr bwMode="auto">
              <a:xfrm>
                <a:off x="2416" y="148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0" name="Line 68">
                <a:extLst>
                  <a:ext uri="{FF2B5EF4-FFF2-40B4-BE49-F238E27FC236}">
                    <a16:creationId xmlns:a16="http://schemas.microsoft.com/office/drawing/2014/main" id="{BEED9BD8-AB6E-9B04-C7EA-5A63D082283E}"/>
                  </a:ext>
                </a:extLst>
              </p:cNvPr>
              <p:cNvSpPr>
                <a:spLocks noChangeShapeType="1"/>
              </p:cNvSpPr>
              <p:nvPr/>
            </p:nvSpPr>
            <p:spPr bwMode="auto">
              <a:xfrm>
                <a:off x="2416" y="1680"/>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1" name="Line 69">
                <a:extLst>
                  <a:ext uri="{FF2B5EF4-FFF2-40B4-BE49-F238E27FC236}">
                    <a16:creationId xmlns:a16="http://schemas.microsoft.com/office/drawing/2014/main" id="{B9183AA5-5001-FFB9-0150-08AC6444BDB1}"/>
                  </a:ext>
                </a:extLst>
              </p:cNvPr>
              <p:cNvSpPr>
                <a:spLocks noChangeShapeType="1"/>
              </p:cNvSpPr>
              <p:nvPr/>
            </p:nvSpPr>
            <p:spPr bwMode="auto">
              <a:xfrm>
                <a:off x="2752" y="1392"/>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2" name="Line 70">
                <a:extLst>
                  <a:ext uri="{FF2B5EF4-FFF2-40B4-BE49-F238E27FC236}">
                    <a16:creationId xmlns:a16="http://schemas.microsoft.com/office/drawing/2014/main" id="{4912A5F2-573A-E931-D19E-064CF435492C}"/>
                  </a:ext>
                </a:extLst>
              </p:cNvPr>
              <p:cNvSpPr>
                <a:spLocks noChangeShapeType="1"/>
              </p:cNvSpPr>
              <p:nvPr/>
            </p:nvSpPr>
            <p:spPr bwMode="auto">
              <a:xfrm flipH="1">
                <a:off x="2832" y="13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3" name="Line 71">
                <a:extLst>
                  <a:ext uri="{FF2B5EF4-FFF2-40B4-BE49-F238E27FC236}">
                    <a16:creationId xmlns:a16="http://schemas.microsoft.com/office/drawing/2014/main" id="{89B17FE9-7DD9-FAC4-31DE-59B874DB1AC5}"/>
                  </a:ext>
                </a:extLst>
              </p:cNvPr>
              <p:cNvSpPr>
                <a:spLocks noChangeShapeType="1"/>
              </p:cNvSpPr>
              <p:nvPr/>
            </p:nvSpPr>
            <p:spPr bwMode="auto">
              <a:xfrm>
                <a:off x="2832" y="1632"/>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4" name="Line 72">
                <a:extLst>
                  <a:ext uri="{FF2B5EF4-FFF2-40B4-BE49-F238E27FC236}">
                    <a16:creationId xmlns:a16="http://schemas.microsoft.com/office/drawing/2014/main" id="{A2D0512F-C090-0A20-048D-8511954A1157}"/>
                  </a:ext>
                </a:extLst>
              </p:cNvPr>
              <p:cNvSpPr>
                <a:spLocks noChangeShapeType="1"/>
              </p:cNvSpPr>
              <p:nvPr/>
            </p:nvSpPr>
            <p:spPr bwMode="auto">
              <a:xfrm>
                <a:off x="3264" y="13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grpSp>
          <p:nvGrpSpPr>
            <p:cNvPr id="67" name="Group 102" descr=" 87058">
              <a:extLst>
                <a:ext uri="{FF2B5EF4-FFF2-40B4-BE49-F238E27FC236}">
                  <a16:creationId xmlns:a16="http://schemas.microsoft.com/office/drawing/2014/main" id="{F09AF076-C1F7-C15B-898C-C5CD68467D7E}"/>
                </a:ext>
              </a:extLst>
            </p:cNvPr>
            <p:cNvGrpSpPr>
              <a:grpSpLocks/>
            </p:cNvGrpSpPr>
            <p:nvPr/>
          </p:nvGrpSpPr>
          <p:grpSpPr bwMode="auto">
            <a:xfrm>
              <a:off x="3321784" y="5956488"/>
              <a:ext cx="2932880" cy="645293"/>
              <a:chOff x="1551" y="1152"/>
              <a:chExt cx="2132" cy="528"/>
            </a:xfrm>
          </p:grpSpPr>
          <p:grpSp>
            <p:nvGrpSpPr>
              <p:cNvPr id="68" name="Group 103">
                <a:extLst>
                  <a:ext uri="{FF2B5EF4-FFF2-40B4-BE49-F238E27FC236}">
                    <a16:creationId xmlns:a16="http://schemas.microsoft.com/office/drawing/2014/main" id="{04910EB1-2B44-964F-D52C-5AF3A9CFA191}"/>
                  </a:ext>
                </a:extLst>
              </p:cNvPr>
              <p:cNvGrpSpPr>
                <a:grpSpLocks/>
              </p:cNvGrpSpPr>
              <p:nvPr/>
            </p:nvGrpSpPr>
            <p:grpSpPr bwMode="auto">
              <a:xfrm>
                <a:off x="2497" y="1152"/>
                <a:ext cx="232" cy="481"/>
                <a:chOff x="2217" y="1413"/>
                <a:chExt cx="232" cy="481"/>
              </a:xfrm>
            </p:grpSpPr>
            <p:sp>
              <p:nvSpPr>
                <p:cNvPr id="98" name="Freeform 104">
                  <a:extLst>
                    <a:ext uri="{FF2B5EF4-FFF2-40B4-BE49-F238E27FC236}">
                      <a16:creationId xmlns:a16="http://schemas.microsoft.com/office/drawing/2014/main" id="{BAF14F9F-B056-606D-5A7E-A244CB632F6F}"/>
                    </a:ext>
                  </a:extLst>
                </p:cNvPr>
                <p:cNvSpPr>
                  <a:spLocks/>
                </p:cNvSpPr>
                <p:nvPr/>
              </p:nvSpPr>
              <p:spPr bwMode="auto">
                <a:xfrm>
                  <a:off x="2217" y="1413"/>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99" name="Rectangle 105">
                  <a:extLst>
                    <a:ext uri="{FF2B5EF4-FFF2-40B4-BE49-F238E27FC236}">
                      <a16:creationId xmlns:a16="http://schemas.microsoft.com/office/drawing/2014/main" id="{AECE5BF1-9CBD-5AFF-5166-BB459CF293BE}"/>
                    </a:ext>
                  </a:extLst>
                </p:cNvPr>
                <p:cNvSpPr>
                  <a:spLocks noChangeArrowheads="1"/>
                </p:cNvSpPr>
                <p:nvPr/>
              </p:nvSpPr>
              <p:spPr bwMode="auto">
                <a:xfrm rot="5400000">
                  <a:off x="2120" y="1536"/>
                  <a:ext cx="435"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ALU</a:t>
                  </a:r>
                </a:p>
              </p:txBody>
            </p:sp>
          </p:grpSp>
          <p:grpSp>
            <p:nvGrpSpPr>
              <p:cNvPr id="69" name="Group 106">
                <a:extLst>
                  <a:ext uri="{FF2B5EF4-FFF2-40B4-BE49-F238E27FC236}">
                    <a16:creationId xmlns:a16="http://schemas.microsoft.com/office/drawing/2014/main" id="{1EE43D38-F5E0-D164-7D57-56D34BB8656E}"/>
                  </a:ext>
                </a:extLst>
              </p:cNvPr>
              <p:cNvGrpSpPr>
                <a:grpSpLocks/>
              </p:cNvGrpSpPr>
              <p:nvPr/>
            </p:nvGrpSpPr>
            <p:grpSpPr bwMode="auto">
              <a:xfrm>
                <a:off x="1551" y="1248"/>
                <a:ext cx="360" cy="289"/>
                <a:chOff x="1271" y="1509"/>
                <a:chExt cx="360" cy="289"/>
              </a:xfrm>
            </p:grpSpPr>
            <p:sp>
              <p:nvSpPr>
                <p:cNvPr id="94" name="Rectangle 107">
                  <a:extLst>
                    <a:ext uri="{FF2B5EF4-FFF2-40B4-BE49-F238E27FC236}">
                      <a16:creationId xmlns:a16="http://schemas.microsoft.com/office/drawing/2014/main" id="{F797BAAD-B412-FA72-C662-70165F84537F}"/>
                    </a:ext>
                  </a:extLst>
                </p:cNvPr>
                <p:cNvSpPr>
                  <a:spLocks noChangeArrowheads="1"/>
                </p:cNvSpPr>
                <p:nvPr/>
              </p:nvSpPr>
              <p:spPr bwMode="auto">
                <a:xfrm>
                  <a:off x="1271" y="1546"/>
                  <a:ext cx="2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IM</a:t>
                  </a:r>
                </a:p>
              </p:txBody>
            </p:sp>
            <p:grpSp>
              <p:nvGrpSpPr>
                <p:cNvPr id="95" name="Group 108">
                  <a:extLst>
                    <a:ext uri="{FF2B5EF4-FFF2-40B4-BE49-F238E27FC236}">
                      <a16:creationId xmlns:a16="http://schemas.microsoft.com/office/drawing/2014/main" id="{D2765F0A-0FAB-F6CF-9A3B-626F9E3C815E}"/>
                    </a:ext>
                  </a:extLst>
                </p:cNvPr>
                <p:cNvGrpSpPr>
                  <a:grpSpLocks/>
                </p:cNvGrpSpPr>
                <p:nvPr/>
              </p:nvGrpSpPr>
              <p:grpSpPr bwMode="auto">
                <a:xfrm>
                  <a:off x="1291" y="1509"/>
                  <a:ext cx="340" cy="289"/>
                  <a:chOff x="1291" y="1509"/>
                  <a:chExt cx="340" cy="289"/>
                </a:xfrm>
              </p:grpSpPr>
              <p:sp>
                <p:nvSpPr>
                  <p:cNvPr id="96" name="Freeform 109">
                    <a:extLst>
                      <a:ext uri="{FF2B5EF4-FFF2-40B4-BE49-F238E27FC236}">
                        <a16:creationId xmlns:a16="http://schemas.microsoft.com/office/drawing/2014/main" id="{EB76785B-AA4F-EE5E-4771-D9A59DA82E33}"/>
                      </a:ext>
                    </a:extLst>
                  </p:cNvPr>
                  <p:cNvSpPr>
                    <a:spLocks/>
                  </p:cNvSpPr>
                  <p:nvPr/>
                </p:nvSpPr>
                <p:spPr bwMode="auto">
                  <a:xfrm>
                    <a:off x="1291" y="1509"/>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97" name="Freeform 110">
                    <a:extLst>
                      <a:ext uri="{FF2B5EF4-FFF2-40B4-BE49-F238E27FC236}">
                        <a16:creationId xmlns:a16="http://schemas.microsoft.com/office/drawing/2014/main" id="{4FB15613-7EB1-34CE-AD2C-62E64D020BD9}"/>
                      </a:ext>
                    </a:extLst>
                  </p:cNvPr>
                  <p:cNvSpPr>
                    <a:spLocks/>
                  </p:cNvSpPr>
                  <p:nvPr/>
                </p:nvSpPr>
                <p:spPr bwMode="auto">
                  <a:xfrm>
                    <a:off x="1460" y="1509"/>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grpSp>
          <p:sp>
            <p:nvSpPr>
              <p:cNvPr id="70" name="Rectangle 111">
                <a:extLst>
                  <a:ext uri="{FF2B5EF4-FFF2-40B4-BE49-F238E27FC236}">
                    <a16:creationId xmlns:a16="http://schemas.microsoft.com/office/drawing/2014/main" id="{DB320F1E-40ED-A8CC-C1CB-B5AFB2F8DDF8}"/>
                  </a:ext>
                </a:extLst>
              </p:cNvPr>
              <p:cNvSpPr>
                <a:spLocks noChangeArrowheads="1"/>
              </p:cNvSpPr>
              <p:nvPr/>
            </p:nvSpPr>
            <p:spPr bwMode="auto">
              <a:xfrm>
                <a:off x="2002" y="1285"/>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Reg</a:t>
                </a:r>
              </a:p>
            </p:txBody>
          </p:sp>
          <p:grpSp>
            <p:nvGrpSpPr>
              <p:cNvPr id="71" name="Group 112">
                <a:extLst>
                  <a:ext uri="{FF2B5EF4-FFF2-40B4-BE49-F238E27FC236}">
                    <a16:creationId xmlns:a16="http://schemas.microsoft.com/office/drawing/2014/main" id="{3C030E68-58D4-406D-7F85-7E4D215A9308}"/>
                  </a:ext>
                </a:extLst>
              </p:cNvPr>
              <p:cNvGrpSpPr>
                <a:grpSpLocks/>
              </p:cNvGrpSpPr>
              <p:nvPr/>
            </p:nvGrpSpPr>
            <p:grpSpPr bwMode="auto">
              <a:xfrm>
                <a:off x="2031" y="1248"/>
                <a:ext cx="296" cy="289"/>
                <a:chOff x="1751" y="1509"/>
                <a:chExt cx="296" cy="289"/>
              </a:xfrm>
            </p:grpSpPr>
            <p:sp>
              <p:nvSpPr>
                <p:cNvPr id="92" name="Freeform 113">
                  <a:extLst>
                    <a:ext uri="{FF2B5EF4-FFF2-40B4-BE49-F238E27FC236}">
                      <a16:creationId xmlns:a16="http://schemas.microsoft.com/office/drawing/2014/main" id="{BE1BC373-8E5E-536A-00D3-3F4CFDAD1531}"/>
                    </a:ext>
                  </a:extLst>
                </p:cNvPr>
                <p:cNvSpPr>
                  <a:spLocks/>
                </p:cNvSpPr>
                <p:nvPr/>
              </p:nvSpPr>
              <p:spPr bwMode="auto">
                <a:xfrm>
                  <a:off x="1751" y="1509"/>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93" name="Freeform 114">
                  <a:extLst>
                    <a:ext uri="{FF2B5EF4-FFF2-40B4-BE49-F238E27FC236}">
                      <a16:creationId xmlns:a16="http://schemas.microsoft.com/office/drawing/2014/main" id="{41F2B79E-9559-6620-8405-D58C2ABA8B49}"/>
                    </a:ext>
                  </a:extLst>
                </p:cNvPr>
                <p:cNvSpPr>
                  <a:spLocks/>
                </p:cNvSpPr>
                <p:nvPr/>
              </p:nvSpPr>
              <p:spPr bwMode="auto">
                <a:xfrm>
                  <a:off x="1899" y="1509"/>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72" name="Line 115">
                <a:extLst>
                  <a:ext uri="{FF2B5EF4-FFF2-40B4-BE49-F238E27FC236}">
                    <a16:creationId xmlns:a16="http://schemas.microsoft.com/office/drawing/2014/main" id="{18DAFEA8-5CB3-3B5D-7C43-FBABDEAF5061}"/>
                  </a:ext>
                </a:extLst>
              </p:cNvPr>
              <p:cNvSpPr>
                <a:spLocks noChangeShapeType="1"/>
              </p:cNvSpPr>
              <p:nvPr/>
            </p:nvSpPr>
            <p:spPr bwMode="auto">
              <a:xfrm>
                <a:off x="1916" y="1392"/>
                <a:ext cx="1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73" name="Freeform 116">
                <a:extLst>
                  <a:ext uri="{FF2B5EF4-FFF2-40B4-BE49-F238E27FC236}">
                    <a16:creationId xmlns:a16="http://schemas.microsoft.com/office/drawing/2014/main" id="{12801C40-A2C4-9553-F703-5E8251185AFC}"/>
                  </a:ext>
                </a:extLst>
              </p:cNvPr>
              <p:cNvSpPr>
                <a:spLocks/>
              </p:cNvSpPr>
              <p:nvPr/>
            </p:nvSpPr>
            <p:spPr bwMode="auto">
              <a:xfrm>
                <a:off x="1984" y="1296"/>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97">
                    <a:moveTo>
                      <a:pt x="0" y="96"/>
                    </a:moveTo>
                    <a:lnTo>
                      <a:pt x="0" y="0"/>
                    </a:lnTo>
                    <a:lnTo>
                      <a:pt x="47"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74" name="Line 117">
                <a:extLst>
                  <a:ext uri="{FF2B5EF4-FFF2-40B4-BE49-F238E27FC236}">
                    <a16:creationId xmlns:a16="http://schemas.microsoft.com/office/drawing/2014/main" id="{2115CC0A-9040-A2C8-2EA9-220A51D47800}"/>
                  </a:ext>
                </a:extLst>
              </p:cNvPr>
              <p:cNvSpPr>
                <a:spLocks noChangeShapeType="1"/>
              </p:cNvSpPr>
              <p:nvPr/>
            </p:nvSpPr>
            <p:spPr bwMode="auto">
              <a:xfrm>
                <a:off x="2332" y="1296"/>
                <a:ext cx="15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75" name="Rectangle 118">
                <a:extLst>
                  <a:ext uri="{FF2B5EF4-FFF2-40B4-BE49-F238E27FC236}">
                    <a16:creationId xmlns:a16="http://schemas.microsoft.com/office/drawing/2014/main" id="{E3EF15F7-3E15-9F23-549D-EA48005EDCED}"/>
                  </a:ext>
                </a:extLst>
              </p:cNvPr>
              <p:cNvSpPr>
                <a:spLocks noChangeArrowheads="1"/>
              </p:cNvSpPr>
              <p:nvPr/>
            </p:nvSpPr>
            <p:spPr bwMode="auto">
              <a:xfrm>
                <a:off x="2829" y="1285"/>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DM</a:t>
                </a:r>
              </a:p>
            </p:txBody>
          </p:sp>
          <p:grpSp>
            <p:nvGrpSpPr>
              <p:cNvPr id="76" name="Group 119">
                <a:extLst>
                  <a:ext uri="{FF2B5EF4-FFF2-40B4-BE49-F238E27FC236}">
                    <a16:creationId xmlns:a16="http://schemas.microsoft.com/office/drawing/2014/main" id="{240342D5-ED3B-4A57-8B22-1211225A1333}"/>
                  </a:ext>
                </a:extLst>
              </p:cNvPr>
              <p:cNvGrpSpPr>
                <a:grpSpLocks/>
              </p:cNvGrpSpPr>
              <p:nvPr/>
            </p:nvGrpSpPr>
            <p:grpSpPr bwMode="auto">
              <a:xfrm>
                <a:off x="2880" y="1248"/>
                <a:ext cx="325" cy="289"/>
                <a:chOff x="2600" y="1509"/>
                <a:chExt cx="325" cy="289"/>
              </a:xfrm>
            </p:grpSpPr>
            <p:sp>
              <p:nvSpPr>
                <p:cNvPr id="90" name="Freeform 120">
                  <a:extLst>
                    <a:ext uri="{FF2B5EF4-FFF2-40B4-BE49-F238E27FC236}">
                      <a16:creationId xmlns:a16="http://schemas.microsoft.com/office/drawing/2014/main" id="{0A4AD24D-F295-68A6-1BF1-F3E080BFDD30}"/>
                    </a:ext>
                  </a:extLst>
                </p:cNvPr>
                <p:cNvSpPr>
                  <a:spLocks/>
                </p:cNvSpPr>
                <p:nvPr/>
              </p:nvSpPr>
              <p:spPr bwMode="auto">
                <a:xfrm>
                  <a:off x="2600" y="1509"/>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91" name="Freeform 121">
                  <a:extLst>
                    <a:ext uri="{FF2B5EF4-FFF2-40B4-BE49-F238E27FC236}">
                      <a16:creationId xmlns:a16="http://schemas.microsoft.com/office/drawing/2014/main" id="{D2E99BE1-F153-CE3A-AB64-BF6411A1ACE1}"/>
                    </a:ext>
                  </a:extLst>
                </p:cNvPr>
                <p:cNvSpPr>
                  <a:spLocks/>
                </p:cNvSpPr>
                <p:nvPr/>
              </p:nvSpPr>
              <p:spPr bwMode="auto">
                <a:xfrm>
                  <a:off x="2761" y="1509"/>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77" name="Rectangle 122">
                <a:extLst>
                  <a:ext uri="{FF2B5EF4-FFF2-40B4-BE49-F238E27FC236}">
                    <a16:creationId xmlns:a16="http://schemas.microsoft.com/office/drawing/2014/main" id="{785ECD1A-C93F-0242-C6BC-053BD5A455D2}"/>
                  </a:ext>
                </a:extLst>
              </p:cNvPr>
              <p:cNvSpPr>
                <a:spLocks noChangeArrowheads="1"/>
              </p:cNvSpPr>
              <p:nvPr/>
            </p:nvSpPr>
            <p:spPr bwMode="auto">
              <a:xfrm>
                <a:off x="3311" y="1280"/>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Reg</a:t>
                </a:r>
              </a:p>
            </p:txBody>
          </p:sp>
          <p:grpSp>
            <p:nvGrpSpPr>
              <p:cNvPr id="78" name="Group 123">
                <a:extLst>
                  <a:ext uri="{FF2B5EF4-FFF2-40B4-BE49-F238E27FC236}">
                    <a16:creationId xmlns:a16="http://schemas.microsoft.com/office/drawing/2014/main" id="{10EBAA01-9C5D-784C-D247-35DA877C4BC0}"/>
                  </a:ext>
                </a:extLst>
              </p:cNvPr>
              <p:cNvGrpSpPr>
                <a:grpSpLocks/>
              </p:cNvGrpSpPr>
              <p:nvPr/>
            </p:nvGrpSpPr>
            <p:grpSpPr bwMode="auto">
              <a:xfrm>
                <a:off x="3348" y="1248"/>
                <a:ext cx="284" cy="289"/>
                <a:chOff x="3068" y="1509"/>
                <a:chExt cx="284" cy="289"/>
              </a:xfrm>
            </p:grpSpPr>
            <p:sp>
              <p:nvSpPr>
                <p:cNvPr id="88" name="Freeform 124">
                  <a:extLst>
                    <a:ext uri="{FF2B5EF4-FFF2-40B4-BE49-F238E27FC236}">
                      <a16:creationId xmlns:a16="http://schemas.microsoft.com/office/drawing/2014/main" id="{9A9142E6-CB20-364E-5684-47FE8629D6CF}"/>
                    </a:ext>
                  </a:extLst>
                </p:cNvPr>
                <p:cNvSpPr>
                  <a:spLocks/>
                </p:cNvSpPr>
                <p:nvPr/>
              </p:nvSpPr>
              <p:spPr bwMode="auto">
                <a:xfrm>
                  <a:off x="3068" y="1509"/>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9" name="Freeform 125">
                  <a:extLst>
                    <a:ext uri="{FF2B5EF4-FFF2-40B4-BE49-F238E27FC236}">
                      <a16:creationId xmlns:a16="http://schemas.microsoft.com/office/drawing/2014/main" id="{2E840CF4-BAA6-6B58-7894-11E08E18166F}"/>
                    </a:ext>
                  </a:extLst>
                </p:cNvPr>
                <p:cNvSpPr>
                  <a:spLocks/>
                </p:cNvSpPr>
                <p:nvPr/>
              </p:nvSpPr>
              <p:spPr bwMode="auto">
                <a:xfrm>
                  <a:off x="3209" y="1509"/>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79" name="Line 126">
                <a:extLst>
                  <a:ext uri="{FF2B5EF4-FFF2-40B4-BE49-F238E27FC236}">
                    <a16:creationId xmlns:a16="http://schemas.microsoft.com/office/drawing/2014/main" id="{09C1FA5B-E9E0-3F37-4E56-374FF7F4F3F4}"/>
                  </a:ext>
                </a:extLst>
              </p:cNvPr>
              <p:cNvSpPr>
                <a:spLocks noChangeShapeType="1"/>
              </p:cNvSpPr>
              <p:nvPr/>
            </p:nvSpPr>
            <p:spPr bwMode="auto">
              <a:xfrm>
                <a:off x="3201" y="1392"/>
                <a:ext cx="139"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0" name="Line 127">
                <a:extLst>
                  <a:ext uri="{FF2B5EF4-FFF2-40B4-BE49-F238E27FC236}">
                    <a16:creationId xmlns:a16="http://schemas.microsoft.com/office/drawing/2014/main" id="{C12799DD-322D-CBC7-223A-0A5DE99F9766}"/>
                  </a:ext>
                </a:extLst>
              </p:cNvPr>
              <p:cNvSpPr>
                <a:spLocks noChangeShapeType="1"/>
              </p:cNvSpPr>
              <p:nvPr/>
            </p:nvSpPr>
            <p:spPr bwMode="auto">
              <a:xfrm>
                <a:off x="2717" y="1392"/>
                <a:ext cx="15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1" name="Line 128">
                <a:extLst>
                  <a:ext uri="{FF2B5EF4-FFF2-40B4-BE49-F238E27FC236}">
                    <a16:creationId xmlns:a16="http://schemas.microsoft.com/office/drawing/2014/main" id="{2ED6C026-D8FF-3AAB-7738-9083F3E7CBB6}"/>
                  </a:ext>
                </a:extLst>
              </p:cNvPr>
              <p:cNvSpPr>
                <a:spLocks noChangeShapeType="1"/>
              </p:cNvSpPr>
              <p:nvPr/>
            </p:nvSpPr>
            <p:spPr bwMode="auto">
              <a:xfrm>
                <a:off x="2332" y="1488"/>
                <a:ext cx="15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2" name="Line 129">
                <a:extLst>
                  <a:ext uri="{FF2B5EF4-FFF2-40B4-BE49-F238E27FC236}">
                    <a16:creationId xmlns:a16="http://schemas.microsoft.com/office/drawing/2014/main" id="{591D97FD-0FAA-C6B2-4465-0A74F34A92D9}"/>
                  </a:ext>
                </a:extLst>
              </p:cNvPr>
              <p:cNvSpPr>
                <a:spLocks noChangeShapeType="1"/>
              </p:cNvSpPr>
              <p:nvPr/>
            </p:nvSpPr>
            <p:spPr bwMode="auto">
              <a:xfrm>
                <a:off x="2416" y="148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3" name="Line 130">
                <a:extLst>
                  <a:ext uri="{FF2B5EF4-FFF2-40B4-BE49-F238E27FC236}">
                    <a16:creationId xmlns:a16="http://schemas.microsoft.com/office/drawing/2014/main" id="{67D81558-5118-3CAE-DB4C-CCCA11BD9323}"/>
                  </a:ext>
                </a:extLst>
              </p:cNvPr>
              <p:cNvSpPr>
                <a:spLocks noChangeShapeType="1"/>
              </p:cNvSpPr>
              <p:nvPr/>
            </p:nvSpPr>
            <p:spPr bwMode="auto">
              <a:xfrm>
                <a:off x="2416" y="1680"/>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4" name="Line 131">
                <a:extLst>
                  <a:ext uri="{FF2B5EF4-FFF2-40B4-BE49-F238E27FC236}">
                    <a16:creationId xmlns:a16="http://schemas.microsoft.com/office/drawing/2014/main" id="{2083FF13-BD5A-2E7A-CD95-6F86BAA73D36}"/>
                  </a:ext>
                </a:extLst>
              </p:cNvPr>
              <p:cNvSpPr>
                <a:spLocks noChangeShapeType="1"/>
              </p:cNvSpPr>
              <p:nvPr/>
            </p:nvSpPr>
            <p:spPr bwMode="auto">
              <a:xfrm>
                <a:off x="2752" y="1392"/>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5" name="Line 132">
                <a:extLst>
                  <a:ext uri="{FF2B5EF4-FFF2-40B4-BE49-F238E27FC236}">
                    <a16:creationId xmlns:a16="http://schemas.microsoft.com/office/drawing/2014/main" id="{043CCF12-0BEA-5E61-B5AF-4AA6052B4A68}"/>
                  </a:ext>
                </a:extLst>
              </p:cNvPr>
              <p:cNvSpPr>
                <a:spLocks noChangeShapeType="1"/>
              </p:cNvSpPr>
              <p:nvPr/>
            </p:nvSpPr>
            <p:spPr bwMode="auto">
              <a:xfrm flipH="1">
                <a:off x="2832" y="13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6" name="Line 133">
                <a:extLst>
                  <a:ext uri="{FF2B5EF4-FFF2-40B4-BE49-F238E27FC236}">
                    <a16:creationId xmlns:a16="http://schemas.microsoft.com/office/drawing/2014/main" id="{E0DF48BA-C9C7-DD4A-44C5-98A1A34028E4}"/>
                  </a:ext>
                </a:extLst>
              </p:cNvPr>
              <p:cNvSpPr>
                <a:spLocks noChangeShapeType="1"/>
              </p:cNvSpPr>
              <p:nvPr/>
            </p:nvSpPr>
            <p:spPr bwMode="auto">
              <a:xfrm>
                <a:off x="2832" y="1632"/>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87" name="Line 134">
                <a:extLst>
                  <a:ext uri="{FF2B5EF4-FFF2-40B4-BE49-F238E27FC236}">
                    <a16:creationId xmlns:a16="http://schemas.microsoft.com/office/drawing/2014/main" id="{F10BD912-8D04-F175-2A45-BC59CFEB6A83}"/>
                  </a:ext>
                </a:extLst>
              </p:cNvPr>
              <p:cNvSpPr>
                <a:spLocks noChangeShapeType="1"/>
              </p:cNvSpPr>
              <p:nvPr/>
            </p:nvSpPr>
            <p:spPr bwMode="auto">
              <a:xfrm>
                <a:off x="3264" y="13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grpSp>
          <p:nvGrpSpPr>
            <p:cNvPr id="100" name="Group 201" descr=" 87061">
              <a:extLst>
                <a:ext uri="{FF2B5EF4-FFF2-40B4-BE49-F238E27FC236}">
                  <a16:creationId xmlns:a16="http://schemas.microsoft.com/office/drawing/2014/main" id="{70E8A877-3739-B678-6292-7396E2004EF9}"/>
                </a:ext>
              </a:extLst>
            </p:cNvPr>
            <p:cNvGrpSpPr>
              <a:grpSpLocks/>
            </p:cNvGrpSpPr>
            <p:nvPr/>
          </p:nvGrpSpPr>
          <p:grpSpPr bwMode="auto">
            <a:xfrm>
              <a:off x="2727217" y="5369859"/>
              <a:ext cx="2934269" cy="645293"/>
              <a:chOff x="1551" y="1152"/>
              <a:chExt cx="2132" cy="528"/>
            </a:xfrm>
          </p:grpSpPr>
          <p:grpSp>
            <p:nvGrpSpPr>
              <p:cNvPr id="101" name="Group 202">
                <a:extLst>
                  <a:ext uri="{FF2B5EF4-FFF2-40B4-BE49-F238E27FC236}">
                    <a16:creationId xmlns:a16="http://schemas.microsoft.com/office/drawing/2014/main" id="{B07A918D-BD04-3639-D653-A3DA7CE1AB9E}"/>
                  </a:ext>
                </a:extLst>
              </p:cNvPr>
              <p:cNvGrpSpPr>
                <a:grpSpLocks/>
              </p:cNvGrpSpPr>
              <p:nvPr/>
            </p:nvGrpSpPr>
            <p:grpSpPr bwMode="auto">
              <a:xfrm>
                <a:off x="2497" y="1152"/>
                <a:ext cx="232" cy="481"/>
                <a:chOff x="2217" y="1413"/>
                <a:chExt cx="232" cy="481"/>
              </a:xfrm>
            </p:grpSpPr>
            <p:sp>
              <p:nvSpPr>
                <p:cNvPr id="131" name="Freeform 203">
                  <a:extLst>
                    <a:ext uri="{FF2B5EF4-FFF2-40B4-BE49-F238E27FC236}">
                      <a16:creationId xmlns:a16="http://schemas.microsoft.com/office/drawing/2014/main" id="{78BE197B-486D-FBEA-D4E0-9C3DED6CC31D}"/>
                    </a:ext>
                  </a:extLst>
                </p:cNvPr>
                <p:cNvSpPr>
                  <a:spLocks/>
                </p:cNvSpPr>
                <p:nvPr/>
              </p:nvSpPr>
              <p:spPr bwMode="auto">
                <a:xfrm>
                  <a:off x="2217" y="1413"/>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32" name="Rectangle 204">
                  <a:extLst>
                    <a:ext uri="{FF2B5EF4-FFF2-40B4-BE49-F238E27FC236}">
                      <a16:creationId xmlns:a16="http://schemas.microsoft.com/office/drawing/2014/main" id="{7BB12EEC-FF1C-6CBE-A650-7CEDA3BC33EC}"/>
                    </a:ext>
                  </a:extLst>
                </p:cNvPr>
                <p:cNvSpPr>
                  <a:spLocks noChangeArrowheads="1"/>
                </p:cNvSpPr>
                <p:nvPr/>
              </p:nvSpPr>
              <p:spPr bwMode="auto">
                <a:xfrm rot="5400000">
                  <a:off x="2120" y="1537"/>
                  <a:ext cx="435"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ALU</a:t>
                  </a:r>
                </a:p>
              </p:txBody>
            </p:sp>
          </p:grpSp>
          <p:grpSp>
            <p:nvGrpSpPr>
              <p:cNvPr id="102" name="Group 205">
                <a:extLst>
                  <a:ext uri="{FF2B5EF4-FFF2-40B4-BE49-F238E27FC236}">
                    <a16:creationId xmlns:a16="http://schemas.microsoft.com/office/drawing/2014/main" id="{EB61C62C-F6BE-9E95-3D85-18D89E0783E5}"/>
                  </a:ext>
                </a:extLst>
              </p:cNvPr>
              <p:cNvGrpSpPr>
                <a:grpSpLocks/>
              </p:cNvGrpSpPr>
              <p:nvPr/>
            </p:nvGrpSpPr>
            <p:grpSpPr bwMode="auto">
              <a:xfrm>
                <a:off x="1551" y="1248"/>
                <a:ext cx="360" cy="289"/>
                <a:chOff x="1271" y="1509"/>
                <a:chExt cx="360" cy="289"/>
              </a:xfrm>
            </p:grpSpPr>
            <p:sp>
              <p:nvSpPr>
                <p:cNvPr id="127" name="Rectangle 206">
                  <a:extLst>
                    <a:ext uri="{FF2B5EF4-FFF2-40B4-BE49-F238E27FC236}">
                      <a16:creationId xmlns:a16="http://schemas.microsoft.com/office/drawing/2014/main" id="{0CA46DB9-2438-D6A0-BC4D-D15721D8B48C}"/>
                    </a:ext>
                  </a:extLst>
                </p:cNvPr>
                <p:cNvSpPr>
                  <a:spLocks noChangeArrowheads="1"/>
                </p:cNvSpPr>
                <p:nvPr/>
              </p:nvSpPr>
              <p:spPr bwMode="auto">
                <a:xfrm>
                  <a:off x="1271" y="1546"/>
                  <a:ext cx="2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IM</a:t>
                  </a:r>
                </a:p>
              </p:txBody>
            </p:sp>
            <p:grpSp>
              <p:nvGrpSpPr>
                <p:cNvPr id="128" name="Group 207">
                  <a:extLst>
                    <a:ext uri="{FF2B5EF4-FFF2-40B4-BE49-F238E27FC236}">
                      <a16:creationId xmlns:a16="http://schemas.microsoft.com/office/drawing/2014/main" id="{72D69504-E0EC-3B4E-6122-07579A04EF0D}"/>
                    </a:ext>
                  </a:extLst>
                </p:cNvPr>
                <p:cNvGrpSpPr>
                  <a:grpSpLocks/>
                </p:cNvGrpSpPr>
                <p:nvPr/>
              </p:nvGrpSpPr>
              <p:grpSpPr bwMode="auto">
                <a:xfrm>
                  <a:off x="1291" y="1509"/>
                  <a:ext cx="340" cy="289"/>
                  <a:chOff x="1291" y="1509"/>
                  <a:chExt cx="340" cy="289"/>
                </a:xfrm>
              </p:grpSpPr>
              <p:sp>
                <p:nvSpPr>
                  <p:cNvPr id="129" name="Freeform 208">
                    <a:extLst>
                      <a:ext uri="{FF2B5EF4-FFF2-40B4-BE49-F238E27FC236}">
                        <a16:creationId xmlns:a16="http://schemas.microsoft.com/office/drawing/2014/main" id="{3950D68B-7513-E4AA-D443-18426007F4B7}"/>
                      </a:ext>
                    </a:extLst>
                  </p:cNvPr>
                  <p:cNvSpPr>
                    <a:spLocks/>
                  </p:cNvSpPr>
                  <p:nvPr/>
                </p:nvSpPr>
                <p:spPr bwMode="auto">
                  <a:xfrm>
                    <a:off x="1291" y="1509"/>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30" name="Freeform 209">
                    <a:extLst>
                      <a:ext uri="{FF2B5EF4-FFF2-40B4-BE49-F238E27FC236}">
                        <a16:creationId xmlns:a16="http://schemas.microsoft.com/office/drawing/2014/main" id="{A6453033-D03B-8775-9E39-BC5C40169FC0}"/>
                      </a:ext>
                    </a:extLst>
                  </p:cNvPr>
                  <p:cNvSpPr>
                    <a:spLocks/>
                  </p:cNvSpPr>
                  <p:nvPr/>
                </p:nvSpPr>
                <p:spPr bwMode="auto">
                  <a:xfrm>
                    <a:off x="1460" y="1509"/>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grpSp>
          <p:sp>
            <p:nvSpPr>
              <p:cNvPr id="103" name="Rectangle 210">
                <a:extLst>
                  <a:ext uri="{FF2B5EF4-FFF2-40B4-BE49-F238E27FC236}">
                    <a16:creationId xmlns:a16="http://schemas.microsoft.com/office/drawing/2014/main" id="{FA54983F-5B83-F20A-EBA5-C65E454BBE6B}"/>
                  </a:ext>
                </a:extLst>
              </p:cNvPr>
              <p:cNvSpPr>
                <a:spLocks noChangeArrowheads="1"/>
              </p:cNvSpPr>
              <p:nvPr/>
            </p:nvSpPr>
            <p:spPr bwMode="auto">
              <a:xfrm>
                <a:off x="2002" y="1285"/>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Reg</a:t>
                </a:r>
              </a:p>
            </p:txBody>
          </p:sp>
          <p:grpSp>
            <p:nvGrpSpPr>
              <p:cNvPr id="104" name="Group 211">
                <a:extLst>
                  <a:ext uri="{FF2B5EF4-FFF2-40B4-BE49-F238E27FC236}">
                    <a16:creationId xmlns:a16="http://schemas.microsoft.com/office/drawing/2014/main" id="{3E3A26E2-B933-20A6-98C6-A5C465664C69}"/>
                  </a:ext>
                </a:extLst>
              </p:cNvPr>
              <p:cNvGrpSpPr>
                <a:grpSpLocks/>
              </p:cNvGrpSpPr>
              <p:nvPr/>
            </p:nvGrpSpPr>
            <p:grpSpPr bwMode="auto">
              <a:xfrm>
                <a:off x="2031" y="1248"/>
                <a:ext cx="296" cy="289"/>
                <a:chOff x="1751" y="1509"/>
                <a:chExt cx="296" cy="289"/>
              </a:xfrm>
            </p:grpSpPr>
            <p:sp>
              <p:nvSpPr>
                <p:cNvPr id="125" name="Freeform 212">
                  <a:extLst>
                    <a:ext uri="{FF2B5EF4-FFF2-40B4-BE49-F238E27FC236}">
                      <a16:creationId xmlns:a16="http://schemas.microsoft.com/office/drawing/2014/main" id="{18521F39-6A05-337C-AA84-E1AAE7961263}"/>
                    </a:ext>
                  </a:extLst>
                </p:cNvPr>
                <p:cNvSpPr>
                  <a:spLocks/>
                </p:cNvSpPr>
                <p:nvPr/>
              </p:nvSpPr>
              <p:spPr bwMode="auto">
                <a:xfrm>
                  <a:off x="1751" y="1509"/>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289">
                      <a:moveTo>
                        <a:pt x="148" y="0"/>
                      </a:moveTo>
                      <a:lnTo>
                        <a:pt x="0" y="0"/>
                      </a:lnTo>
                      <a:lnTo>
                        <a:pt x="0" y="288"/>
                      </a:lnTo>
                      <a:lnTo>
                        <a:pt x="148"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26" name="Freeform 213">
                  <a:extLst>
                    <a:ext uri="{FF2B5EF4-FFF2-40B4-BE49-F238E27FC236}">
                      <a16:creationId xmlns:a16="http://schemas.microsoft.com/office/drawing/2014/main" id="{D47F4CCC-9A5C-DFC6-87C7-7F0663A8DB55}"/>
                    </a:ext>
                  </a:extLst>
                </p:cNvPr>
                <p:cNvSpPr>
                  <a:spLocks/>
                </p:cNvSpPr>
                <p:nvPr/>
              </p:nvSpPr>
              <p:spPr bwMode="auto">
                <a:xfrm>
                  <a:off x="1899" y="1509"/>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 h="289">
                      <a:moveTo>
                        <a:pt x="0" y="0"/>
                      </a:moveTo>
                      <a:lnTo>
                        <a:pt x="147" y="0"/>
                      </a:lnTo>
                      <a:lnTo>
                        <a:pt x="147"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105" name="Line 214">
                <a:extLst>
                  <a:ext uri="{FF2B5EF4-FFF2-40B4-BE49-F238E27FC236}">
                    <a16:creationId xmlns:a16="http://schemas.microsoft.com/office/drawing/2014/main" id="{D5A02F7B-5A84-D3EC-E6CB-16FBD59CA5F1}"/>
                  </a:ext>
                </a:extLst>
              </p:cNvPr>
              <p:cNvSpPr>
                <a:spLocks noChangeShapeType="1"/>
              </p:cNvSpPr>
              <p:nvPr/>
            </p:nvSpPr>
            <p:spPr bwMode="auto">
              <a:xfrm>
                <a:off x="1916" y="1392"/>
                <a:ext cx="1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06" name="Freeform 215">
                <a:extLst>
                  <a:ext uri="{FF2B5EF4-FFF2-40B4-BE49-F238E27FC236}">
                    <a16:creationId xmlns:a16="http://schemas.microsoft.com/office/drawing/2014/main" id="{46EFF7D9-DE9F-9A6D-BA6E-0445F0F78F28}"/>
                  </a:ext>
                </a:extLst>
              </p:cNvPr>
              <p:cNvSpPr>
                <a:spLocks/>
              </p:cNvSpPr>
              <p:nvPr/>
            </p:nvSpPr>
            <p:spPr bwMode="auto">
              <a:xfrm>
                <a:off x="1984" y="1296"/>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97">
                    <a:moveTo>
                      <a:pt x="0" y="96"/>
                    </a:moveTo>
                    <a:lnTo>
                      <a:pt x="0" y="0"/>
                    </a:lnTo>
                    <a:lnTo>
                      <a:pt x="47"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07" name="Line 216">
                <a:extLst>
                  <a:ext uri="{FF2B5EF4-FFF2-40B4-BE49-F238E27FC236}">
                    <a16:creationId xmlns:a16="http://schemas.microsoft.com/office/drawing/2014/main" id="{C2FDECD7-AE31-6640-1B58-AAB7F67D53A7}"/>
                  </a:ext>
                </a:extLst>
              </p:cNvPr>
              <p:cNvSpPr>
                <a:spLocks noChangeShapeType="1"/>
              </p:cNvSpPr>
              <p:nvPr/>
            </p:nvSpPr>
            <p:spPr bwMode="auto">
              <a:xfrm>
                <a:off x="2332" y="1296"/>
                <a:ext cx="15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08" name="Rectangle 217">
                <a:extLst>
                  <a:ext uri="{FF2B5EF4-FFF2-40B4-BE49-F238E27FC236}">
                    <a16:creationId xmlns:a16="http://schemas.microsoft.com/office/drawing/2014/main" id="{D783790E-DB69-6E83-9F12-CD4E3F44756A}"/>
                  </a:ext>
                </a:extLst>
              </p:cNvPr>
              <p:cNvSpPr>
                <a:spLocks noChangeArrowheads="1"/>
              </p:cNvSpPr>
              <p:nvPr/>
            </p:nvSpPr>
            <p:spPr bwMode="auto">
              <a:xfrm>
                <a:off x="2829" y="1285"/>
                <a:ext cx="3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DM</a:t>
                </a:r>
              </a:p>
            </p:txBody>
          </p:sp>
          <p:grpSp>
            <p:nvGrpSpPr>
              <p:cNvPr id="109" name="Group 218">
                <a:extLst>
                  <a:ext uri="{FF2B5EF4-FFF2-40B4-BE49-F238E27FC236}">
                    <a16:creationId xmlns:a16="http://schemas.microsoft.com/office/drawing/2014/main" id="{E04FF38B-DF7E-357A-CE61-8AA9CF08DCB7}"/>
                  </a:ext>
                </a:extLst>
              </p:cNvPr>
              <p:cNvGrpSpPr>
                <a:grpSpLocks/>
              </p:cNvGrpSpPr>
              <p:nvPr/>
            </p:nvGrpSpPr>
            <p:grpSpPr bwMode="auto">
              <a:xfrm>
                <a:off x="2880" y="1248"/>
                <a:ext cx="325" cy="289"/>
                <a:chOff x="2600" y="1509"/>
                <a:chExt cx="325" cy="289"/>
              </a:xfrm>
            </p:grpSpPr>
            <p:sp>
              <p:nvSpPr>
                <p:cNvPr id="123" name="Freeform 219">
                  <a:extLst>
                    <a:ext uri="{FF2B5EF4-FFF2-40B4-BE49-F238E27FC236}">
                      <a16:creationId xmlns:a16="http://schemas.microsoft.com/office/drawing/2014/main" id="{BBCAD1F7-4ECA-C7FB-899B-96599B04CA22}"/>
                    </a:ext>
                  </a:extLst>
                </p:cNvPr>
                <p:cNvSpPr>
                  <a:spLocks/>
                </p:cNvSpPr>
                <p:nvPr/>
              </p:nvSpPr>
              <p:spPr bwMode="auto">
                <a:xfrm>
                  <a:off x="2600" y="1509"/>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289">
                      <a:moveTo>
                        <a:pt x="161" y="0"/>
                      </a:moveTo>
                      <a:lnTo>
                        <a:pt x="0" y="0"/>
                      </a:lnTo>
                      <a:lnTo>
                        <a:pt x="0" y="288"/>
                      </a:lnTo>
                      <a:lnTo>
                        <a:pt x="161"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24" name="Freeform 220">
                  <a:extLst>
                    <a:ext uri="{FF2B5EF4-FFF2-40B4-BE49-F238E27FC236}">
                      <a16:creationId xmlns:a16="http://schemas.microsoft.com/office/drawing/2014/main" id="{4B1B4D0C-002F-C4AC-2DC5-C14627A87AD0}"/>
                    </a:ext>
                  </a:extLst>
                </p:cNvPr>
                <p:cNvSpPr>
                  <a:spLocks/>
                </p:cNvSpPr>
                <p:nvPr/>
              </p:nvSpPr>
              <p:spPr bwMode="auto">
                <a:xfrm>
                  <a:off x="2761" y="1509"/>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 h="289">
                      <a:moveTo>
                        <a:pt x="0" y="0"/>
                      </a:moveTo>
                      <a:lnTo>
                        <a:pt x="163" y="0"/>
                      </a:lnTo>
                      <a:lnTo>
                        <a:pt x="163"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110" name="Rectangle 221">
                <a:extLst>
                  <a:ext uri="{FF2B5EF4-FFF2-40B4-BE49-F238E27FC236}">
                    <a16:creationId xmlns:a16="http://schemas.microsoft.com/office/drawing/2014/main" id="{DC8B9D59-D2EF-AC56-BA4E-62C1647A31DD}"/>
                  </a:ext>
                </a:extLst>
              </p:cNvPr>
              <p:cNvSpPr>
                <a:spLocks noChangeArrowheads="1"/>
              </p:cNvSpPr>
              <p:nvPr/>
            </p:nvSpPr>
            <p:spPr bwMode="auto">
              <a:xfrm>
                <a:off x="3311" y="1280"/>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Reg</a:t>
                </a:r>
              </a:p>
            </p:txBody>
          </p:sp>
          <p:grpSp>
            <p:nvGrpSpPr>
              <p:cNvPr id="111" name="Group 222">
                <a:extLst>
                  <a:ext uri="{FF2B5EF4-FFF2-40B4-BE49-F238E27FC236}">
                    <a16:creationId xmlns:a16="http://schemas.microsoft.com/office/drawing/2014/main" id="{6BCB230F-B6CD-7752-5D6A-F94E1FE9E901}"/>
                  </a:ext>
                </a:extLst>
              </p:cNvPr>
              <p:cNvGrpSpPr>
                <a:grpSpLocks/>
              </p:cNvGrpSpPr>
              <p:nvPr/>
            </p:nvGrpSpPr>
            <p:grpSpPr bwMode="auto">
              <a:xfrm>
                <a:off x="3348" y="1248"/>
                <a:ext cx="284" cy="289"/>
                <a:chOff x="3068" y="1509"/>
                <a:chExt cx="284" cy="289"/>
              </a:xfrm>
            </p:grpSpPr>
            <p:sp>
              <p:nvSpPr>
                <p:cNvPr id="121" name="Freeform 223">
                  <a:extLst>
                    <a:ext uri="{FF2B5EF4-FFF2-40B4-BE49-F238E27FC236}">
                      <a16:creationId xmlns:a16="http://schemas.microsoft.com/office/drawing/2014/main" id="{5E0480B3-BD55-FFCC-5A88-E59F5B29D950}"/>
                    </a:ext>
                  </a:extLst>
                </p:cNvPr>
                <p:cNvSpPr>
                  <a:spLocks/>
                </p:cNvSpPr>
                <p:nvPr/>
              </p:nvSpPr>
              <p:spPr bwMode="auto">
                <a:xfrm>
                  <a:off x="3068" y="1509"/>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2" h="289">
                      <a:moveTo>
                        <a:pt x="141" y="0"/>
                      </a:moveTo>
                      <a:lnTo>
                        <a:pt x="0" y="0"/>
                      </a:lnTo>
                      <a:lnTo>
                        <a:pt x="0" y="288"/>
                      </a:lnTo>
                      <a:lnTo>
                        <a:pt x="141"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22" name="Freeform 224">
                  <a:extLst>
                    <a:ext uri="{FF2B5EF4-FFF2-40B4-BE49-F238E27FC236}">
                      <a16:creationId xmlns:a16="http://schemas.microsoft.com/office/drawing/2014/main" id="{734FC951-1079-BE18-4CAD-B681671EED89}"/>
                    </a:ext>
                  </a:extLst>
                </p:cNvPr>
                <p:cNvSpPr>
                  <a:spLocks/>
                </p:cNvSpPr>
                <p:nvPr/>
              </p:nvSpPr>
              <p:spPr bwMode="auto">
                <a:xfrm>
                  <a:off x="3209" y="1509"/>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289">
                      <a:moveTo>
                        <a:pt x="0" y="0"/>
                      </a:moveTo>
                      <a:lnTo>
                        <a:pt x="142" y="0"/>
                      </a:lnTo>
                      <a:lnTo>
                        <a:pt x="142" y="288"/>
                      </a:lnTo>
                      <a:lnTo>
                        <a:pt x="0" y="28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112" name="Line 225">
                <a:extLst>
                  <a:ext uri="{FF2B5EF4-FFF2-40B4-BE49-F238E27FC236}">
                    <a16:creationId xmlns:a16="http://schemas.microsoft.com/office/drawing/2014/main" id="{53603EDD-352C-98EE-533F-FE857FFD670D}"/>
                  </a:ext>
                </a:extLst>
              </p:cNvPr>
              <p:cNvSpPr>
                <a:spLocks noChangeShapeType="1"/>
              </p:cNvSpPr>
              <p:nvPr/>
            </p:nvSpPr>
            <p:spPr bwMode="auto">
              <a:xfrm>
                <a:off x="3201" y="1392"/>
                <a:ext cx="139"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13" name="Line 226">
                <a:extLst>
                  <a:ext uri="{FF2B5EF4-FFF2-40B4-BE49-F238E27FC236}">
                    <a16:creationId xmlns:a16="http://schemas.microsoft.com/office/drawing/2014/main" id="{2BB8A709-6671-7D0B-4693-1118D1DF7ADD}"/>
                  </a:ext>
                </a:extLst>
              </p:cNvPr>
              <p:cNvSpPr>
                <a:spLocks noChangeShapeType="1"/>
              </p:cNvSpPr>
              <p:nvPr/>
            </p:nvSpPr>
            <p:spPr bwMode="auto">
              <a:xfrm>
                <a:off x="2717" y="1392"/>
                <a:ext cx="15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14" name="Line 227">
                <a:extLst>
                  <a:ext uri="{FF2B5EF4-FFF2-40B4-BE49-F238E27FC236}">
                    <a16:creationId xmlns:a16="http://schemas.microsoft.com/office/drawing/2014/main" id="{C3BEEEB9-0052-7291-841D-163AD9909F80}"/>
                  </a:ext>
                </a:extLst>
              </p:cNvPr>
              <p:cNvSpPr>
                <a:spLocks noChangeShapeType="1"/>
              </p:cNvSpPr>
              <p:nvPr/>
            </p:nvSpPr>
            <p:spPr bwMode="auto">
              <a:xfrm>
                <a:off x="2332" y="1488"/>
                <a:ext cx="15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15" name="Line 228">
                <a:extLst>
                  <a:ext uri="{FF2B5EF4-FFF2-40B4-BE49-F238E27FC236}">
                    <a16:creationId xmlns:a16="http://schemas.microsoft.com/office/drawing/2014/main" id="{B0D3F029-3B7E-8515-2A2E-F3E54AD9FFBB}"/>
                  </a:ext>
                </a:extLst>
              </p:cNvPr>
              <p:cNvSpPr>
                <a:spLocks noChangeShapeType="1"/>
              </p:cNvSpPr>
              <p:nvPr/>
            </p:nvSpPr>
            <p:spPr bwMode="auto">
              <a:xfrm>
                <a:off x="2416" y="1488"/>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16" name="Line 229">
                <a:extLst>
                  <a:ext uri="{FF2B5EF4-FFF2-40B4-BE49-F238E27FC236}">
                    <a16:creationId xmlns:a16="http://schemas.microsoft.com/office/drawing/2014/main" id="{044A0B9C-15EA-744C-F099-C7B33509A7EC}"/>
                  </a:ext>
                </a:extLst>
              </p:cNvPr>
              <p:cNvSpPr>
                <a:spLocks noChangeShapeType="1"/>
              </p:cNvSpPr>
              <p:nvPr/>
            </p:nvSpPr>
            <p:spPr bwMode="auto">
              <a:xfrm>
                <a:off x="2416" y="1680"/>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17" name="Line 230">
                <a:extLst>
                  <a:ext uri="{FF2B5EF4-FFF2-40B4-BE49-F238E27FC236}">
                    <a16:creationId xmlns:a16="http://schemas.microsoft.com/office/drawing/2014/main" id="{054A7D33-812E-DCEF-0319-7E5CDDC4F21C}"/>
                  </a:ext>
                </a:extLst>
              </p:cNvPr>
              <p:cNvSpPr>
                <a:spLocks noChangeShapeType="1"/>
              </p:cNvSpPr>
              <p:nvPr/>
            </p:nvSpPr>
            <p:spPr bwMode="auto">
              <a:xfrm>
                <a:off x="2752" y="1392"/>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18" name="Line 231">
                <a:extLst>
                  <a:ext uri="{FF2B5EF4-FFF2-40B4-BE49-F238E27FC236}">
                    <a16:creationId xmlns:a16="http://schemas.microsoft.com/office/drawing/2014/main" id="{D45D34F1-6962-4D3E-43E2-88C7A6C37F4D}"/>
                  </a:ext>
                </a:extLst>
              </p:cNvPr>
              <p:cNvSpPr>
                <a:spLocks noChangeShapeType="1"/>
              </p:cNvSpPr>
              <p:nvPr/>
            </p:nvSpPr>
            <p:spPr bwMode="auto">
              <a:xfrm flipH="1">
                <a:off x="2832" y="13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19" name="Line 232">
                <a:extLst>
                  <a:ext uri="{FF2B5EF4-FFF2-40B4-BE49-F238E27FC236}">
                    <a16:creationId xmlns:a16="http://schemas.microsoft.com/office/drawing/2014/main" id="{1A520BAB-3905-94A0-8607-40C5B1E2DB59}"/>
                  </a:ext>
                </a:extLst>
              </p:cNvPr>
              <p:cNvSpPr>
                <a:spLocks noChangeShapeType="1"/>
              </p:cNvSpPr>
              <p:nvPr/>
            </p:nvSpPr>
            <p:spPr bwMode="auto">
              <a:xfrm>
                <a:off x="2832" y="1632"/>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20" name="Line 233">
                <a:extLst>
                  <a:ext uri="{FF2B5EF4-FFF2-40B4-BE49-F238E27FC236}">
                    <a16:creationId xmlns:a16="http://schemas.microsoft.com/office/drawing/2014/main" id="{1357D71E-DF50-7C64-1486-BB86D3E6E147}"/>
                  </a:ext>
                </a:extLst>
              </p:cNvPr>
              <p:cNvSpPr>
                <a:spLocks noChangeShapeType="1"/>
              </p:cNvSpPr>
              <p:nvPr/>
            </p:nvSpPr>
            <p:spPr bwMode="auto">
              <a:xfrm>
                <a:off x="3264" y="13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134" name="Rectangle 22" descr=" 87049">
              <a:extLst>
                <a:ext uri="{FF2B5EF4-FFF2-40B4-BE49-F238E27FC236}">
                  <a16:creationId xmlns:a16="http://schemas.microsoft.com/office/drawing/2014/main" id="{150A1F77-ECD0-FDC8-C01D-33BFE1EF9702}"/>
                </a:ext>
              </a:extLst>
            </p:cNvPr>
            <p:cNvSpPr>
              <a:spLocks noChangeArrowheads="1"/>
            </p:cNvSpPr>
            <p:nvPr/>
          </p:nvSpPr>
          <p:spPr bwMode="auto">
            <a:xfrm>
              <a:off x="353778" y="4350592"/>
              <a:ext cx="322174" cy="2459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O</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r</a:t>
              </a:r>
            </a:p>
          </p:txBody>
        </p:sp>
        <p:sp>
          <p:nvSpPr>
            <p:cNvPr id="135" name="Line 39" descr=" 87055">
              <a:extLst>
                <a:ext uri="{FF2B5EF4-FFF2-40B4-BE49-F238E27FC236}">
                  <a16:creationId xmlns:a16="http://schemas.microsoft.com/office/drawing/2014/main" id="{5D49E6AC-AA44-D72F-CFC4-C4770C7295E5}"/>
                </a:ext>
              </a:extLst>
            </p:cNvPr>
            <p:cNvSpPr>
              <a:spLocks noChangeShapeType="1"/>
            </p:cNvSpPr>
            <p:nvPr/>
          </p:nvSpPr>
          <p:spPr bwMode="auto">
            <a:xfrm>
              <a:off x="675940" y="4468409"/>
              <a:ext cx="0" cy="225306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b="0" i="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137" name="Rectangle 24" descr=" 87051">
              <a:extLst>
                <a:ext uri="{FF2B5EF4-FFF2-40B4-BE49-F238E27FC236}">
                  <a16:creationId xmlns:a16="http://schemas.microsoft.com/office/drawing/2014/main" id="{87CF4B97-6CE3-307B-66B7-14C405F6F37A}"/>
                </a:ext>
              </a:extLst>
            </p:cNvPr>
            <p:cNvSpPr>
              <a:spLocks noChangeArrowheads="1"/>
            </p:cNvSpPr>
            <p:nvPr/>
          </p:nvSpPr>
          <p:spPr bwMode="auto">
            <a:xfrm>
              <a:off x="2378706" y="4310663"/>
              <a:ext cx="628348" cy="335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IF/ID</a:t>
              </a:r>
            </a:p>
          </p:txBody>
        </p:sp>
        <p:sp>
          <p:nvSpPr>
            <p:cNvPr id="138" name="Rectangle 24" descr=" 87051">
              <a:extLst>
                <a:ext uri="{FF2B5EF4-FFF2-40B4-BE49-F238E27FC236}">
                  <a16:creationId xmlns:a16="http://schemas.microsoft.com/office/drawing/2014/main" id="{D84620AE-FA64-8CA0-1016-785C0EEED036}"/>
                </a:ext>
              </a:extLst>
            </p:cNvPr>
            <p:cNvSpPr>
              <a:spLocks noChangeArrowheads="1"/>
            </p:cNvSpPr>
            <p:nvPr/>
          </p:nvSpPr>
          <p:spPr bwMode="auto">
            <a:xfrm>
              <a:off x="2945486" y="4310663"/>
              <a:ext cx="718116" cy="335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3" tIns="44442" rIns="90473" bIns="44442">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itchFamily="34" charset="0"/>
                  <a:ea typeface="SimHei" panose="02010609060101010101" pitchFamily="49" charset="-122"/>
                  <a:cs typeface="+mn-cs"/>
                </a:rPr>
                <a:t>ID/EX</a:t>
              </a:r>
            </a:p>
          </p:txBody>
        </p:sp>
      </p:grpSp>
    </p:spTree>
    <p:extLst>
      <p:ext uri="{BB962C8B-B14F-4D97-AF65-F5344CB8AC3E}">
        <p14:creationId xmlns:p14="http://schemas.microsoft.com/office/powerpoint/2010/main" val="3726781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EDDCD7-511C-4FF9-B1C9-89EE63B84151}"/>
              </a:ext>
            </a:extLst>
          </p:cNvPr>
          <p:cNvSpPr>
            <a:spLocks noGrp="1"/>
          </p:cNvSpPr>
          <p:nvPr>
            <p:ph type="title"/>
          </p:nvPr>
        </p:nvSpPr>
        <p:spPr/>
        <p:txBody>
          <a:bodyPr/>
          <a:lstStyle/>
          <a:p>
            <a:r>
              <a:rPr lang="zh-CN" altLang="en-US" dirty="0"/>
              <a:t>添加</a:t>
            </a:r>
            <a:r>
              <a:rPr lang="en-US" altLang="zh-CN" dirty="0"/>
              <a:t>Hazard</a:t>
            </a:r>
            <a:r>
              <a:rPr lang="zh-CN" altLang="en-US" dirty="0"/>
              <a:t>控制单元</a:t>
            </a:r>
          </a:p>
        </p:txBody>
      </p:sp>
      <p:sp>
        <p:nvSpPr>
          <p:cNvPr id="4" name="灯片编号占位符 3">
            <a:extLst>
              <a:ext uri="{FF2B5EF4-FFF2-40B4-BE49-F238E27FC236}">
                <a16:creationId xmlns:a16="http://schemas.microsoft.com/office/drawing/2014/main" id="{C0D26FFB-7678-4711-90E5-38019972C07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1806CE5-282B-4233-8654-09F35EA875E2}" type="slidenum">
              <a:rPr kumimoji="0" lang="zh-CN" altLang="en-US" sz="1400" b="0" i="0" u="none" strike="noStrike" kern="1200" cap="none" spc="0" normalizeH="0" baseline="0" noProof="0" smtClean="0">
                <a:ln>
                  <a:noFill/>
                </a:ln>
                <a:solidFill>
                  <a:srgbClr val="000000"/>
                </a:solidFill>
                <a:effectLst/>
                <a:uLnTx/>
                <a:uFillTx/>
                <a:latin typeface="Arial" charset="0"/>
                <a:ea typeface="SimHei" panose="020106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400" b="0" i="0" u="none" strike="noStrike" kern="1200" cap="none" spc="0" normalizeH="0" baseline="0" noProof="0">
              <a:ln>
                <a:noFill/>
              </a:ln>
              <a:solidFill>
                <a:srgbClr val="000000"/>
              </a:solidFill>
              <a:effectLst/>
              <a:uLnTx/>
              <a:uFillTx/>
              <a:latin typeface="Arial" charset="0"/>
              <a:ea typeface="SimHei" panose="02010609060101010101" pitchFamily="49" charset="-122"/>
              <a:cs typeface="+mn-cs"/>
            </a:endParaRPr>
          </a:p>
        </p:txBody>
      </p:sp>
      <p:sp>
        <p:nvSpPr>
          <p:cNvPr id="6" name="Line 8">
            <a:extLst>
              <a:ext uri="{FF2B5EF4-FFF2-40B4-BE49-F238E27FC236}">
                <a16:creationId xmlns:a16="http://schemas.microsoft.com/office/drawing/2014/main" id="{196EF197-A2BC-B107-C0D9-E3F1AC30F3BA}"/>
              </a:ext>
            </a:extLst>
          </p:cNvPr>
          <p:cNvSpPr>
            <a:spLocks noChangeShapeType="1"/>
          </p:cNvSpPr>
          <p:nvPr/>
        </p:nvSpPr>
        <p:spPr bwMode="auto">
          <a:xfrm>
            <a:off x="2729584" y="5055123"/>
            <a:ext cx="1585470"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 name="Line 9">
            <a:extLst>
              <a:ext uri="{FF2B5EF4-FFF2-40B4-BE49-F238E27FC236}">
                <a16:creationId xmlns:a16="http://schemas.microsoft.com/office/drawing/2014/main" id="{9B1B4877-BAAA-3DC1-10A6-63DE6956BC1A}"/>
              </a:ext>
            </a:extLst>
          </p:cNvPr>
          <p:cNvSpPr>
            <a:spLocks noChangeShapeType="1"/>
          </p:cNvSpPr>
          <p:nvPr/>
        </p:nvSpPr>
        <p:spPr bwMode="auto">
          <a:xfrm>
            <a:off x="4452921" y="5055123"/>
            <a:ext cx="1556414"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 name="Line 10">
            <a:extLst>
              <a:ext uri="{FF2B5EF4-FFF2-40B4-BE49-F238E27FC236}">
                <a16:creationId xmlns:a16="http://schemas.microsoft.com/office/drawing/2014/main" id="{A1B29E7D-35EC-2A1A-6A2B-75D3452DD65A}"/>
              </a:ext>
            </a:extLst>
          </p:cNvPr>
          <p:cNvSpPr>
            <a:spLocks noChangeShapeType="1"/>
          </p:cNvSpPr>
          <p:nvPr/>
        </p:nvSpPr>
        <p:spPr bwMode="auto">
          <a:xfrm>
            <a:off x="6574372" y="5055123"/>
            <a:ext cx="1516536"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Line 11">
            <a:extLst>
              <a:ext uri="{FF2B5EF4-FFF2-40B4-BE49-F238E27FC236}">
                <a16:creationId xmlns:a16="http://schemas.microsoft.com/office/drawing/2014/main" id="{CA4542EA-4608-CE9E-89D1-A37E1E71D77E}"/>
              </a:ext>
            </a:extLst>
          </p:cNvPr>
          <p:cNvSpPr>
            <a:spLocks noChangeShapeType="1"/>
          </p:cNvSpPr>
          <p:nvPr/>
        </p:nvSpPr>
        <p:spPr bwMode="auto">
          <a:xfrm>
            <a:off x="2729584" y="4803123"/>
            <a:ext cx="0" cy="251999"/>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 name="Line 12">
            <a:extLst>
              <a:ext uri="{FF2B5EF4-FFF2-40B4-BE49-F238E27FC236}">
                <a16:creationId xmlns:a16="http://schemas.microsoft.com/office/drawing/2014/main" id="{17484D14-2EF3-2E36-6583-14A0F90123DD}"/>
              </a:ext>
            </a:extLst>
          </p:cNvPr>
          <p:cNvSpPr>
            <a:spLocks noChangeShapeType="1"/>
          </p:cNvSpPr>
          <p:nvPr/>
        </p:nvSpPr>
        <p:spPr bwMode="auto">
          <a:xfrm>
            <a:off x="2660650" y="5696644"/>
            <a:ext cx="5705992"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 name="Line 13">
            <a:extLst>
              <a:ext uri="{FF2B5EF4-FFF2-40B4-BE49-F238E27FC236}">
                <a16:creationId xmlns:a16="http://schemas.microsoft.com/office/drawing/2014/main" id="{5793683A-592E-47B6-E90F-61493530A56F}"/>
              </a:ext>
            </a:extLst>
          </p:cNvPr>
          <p:cNvSpPr>
            <a:spLocks noChangeShapeType="1"/>
          </p:cNvSpPr>
          <p:nvPr/>
        </p:nvSpPr>
        <p:spPr bwMode="auto">
          <a:xfrm>
            <a:off x="8228776" y="5055123"/>
            <a:ext cx="137867"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Line 14">
            <a:extLst>
              <a:ext uri="{FF2B5EF4-FFF2-40B4-BE49-F238E27FC236}">
                <a16:creationId xmlns:a16="http://schemas.microsoft.com/office/drawing/2014/main" id="{261362AE-AE8E-7F5E-2C6A-362700E7D2AA}"/>
              </a:ext>
            </a:extLst>
          </p:cNvPr>
          <p:cNvSpPr>
            <a:spLocks noChangeShapeType="1"/>
          </p:cNvSpPr>
          <p:nvPr/>
        </p:nvSpPr>
        <p:spPr bwMode="auto">
          <a:xfrm>
            <a:off x="8366642" y="5055123"/>
            <a:ext cx="0" cy="641521"/>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Line 15">
            <a:extLst>
              <a:ext uri="{FF2B5EF4-FFF2-40B4-BE49-F238E27FC236}">
                <a16:creationId xmlns:a16="http://schemas.microsoft.com/office/drawing/2014/main" id="{4415F2C6-6692-F641-43B7-AF5375A9BEBC}"/>
              </a:ext>
            </a:extLst>
          </p:cNvPr>
          <p:cNvSpPr>
            <a:spLocks noChangeShapeType="1"/>
          </p:cNvSpPr>
          <p:nvPr/>
        </p:nvSpPr>
        <p:spPr bwMode="auto">
          <a:xfrm flipV="1">
            <a:off x="2660650" y="3971652"/>
            <a:ext cx="0" cy="1724991"/>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Line 16">
            <a:extLst>
              <a:ext uri="{FF2B5EF4-FFF2-40B4-BE49-F238E27FC236}">
                <a16:creationId xmlns:a16="http://schemas.microsoft.com/office/drawing/2014/main" id="{4CF8A4BF-A217-FBC9-9F47-E46377FA0F14}"/>
              </a:ext>
            </a:extLst>
          </p:cNvPr>
          <p:cNvSpPr>
            <a:spLocks noChangeShapeType="1"/>
          </p:cNvSpPr>
          <p:nvPr/>
        </p:nvSpPr>
        <p:spPr bwMode="auto">
          <a:xfrm>
            <a:off x="2660650" y="3976609"/>
            <a:ext cx="344668"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nvGrpSpPr>
          <p:cNvPr id="16" name="Group 17">
            <a:extLst>
              <a:ext uri="{FF2B5EF4-FFF2-40B4-BE49-F238E27FC236}">
                <a16:creationId xmlns:a16="http://schemas.microsoft.com/office/drawing/2014/main" id="{F480AA0E-EE13-BE02-6B5D-EE9B831484B9}"/>
              </a:ext>
            </a:extLst>
          </p:cNvPr>
          <p:cNvGrpSpPr>
            <a:grpSpLocks/>
          </p:cNvGrpSpPr>
          <p:nvPr/>
        </p:nvGrpSpPr>
        <p:grpSpPr bwMode="auto">
          <a:xfrm>
            <a:off x="1453416" y="2346127"/>
            <a:ext cx="344668" cy="755999"/>
            <a:chOff x="1392" y="2880"/>
            <a:chExt cx="288" cy="480"/>
          </a:xfrm>
        </p:grpSpPr>
        <p:sp>
          <p:nvSpPr>
            <p:cNvPr id="252" name="Line 18">
              <a:extLst>
                <a:ext uri="{FF2B5EF4-FFF2-40B4-BE49-F238E27FC236}">
                  <a16:creationId xmlns:a16="http://schemas.microsoft.com/office/drawing/2014/main" id="{96CCC587-D986-A43A-18C3-613A3C2B3D8D}"/>
                </a:ext>
              </a:extLst>
            </p:cNvPr>
            <p:cNvSpPr>
              <a:spLocks noChangeShapeType="1"/>
            </p:cNvSpPr>
            <p:nvPr/>
          </p:nvSpPr>
          <p:spPr bwMode="auto">
            <a:xfrm>
              <a:off x="1392" y="3072"/>
              <a:ext cx="48" cy="4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3" name="Line 19">
              <a:extLst>
                <a:ext uri="{FF2B5EF4-FFF2-40B4-BE49-F238E27FC236}">
                  <a16:creationId xmlns:a16="http://schemas.microsoft.com/office/drawing/2014/main" id="{BC947309-6A1E-9243-E43C-CD15E5FC05D9}"/>
                </a:ext>
              </a:extLst>
            </p:cNvPr>
            <p:cNvSpPr>
              <a:spLocks noChangeShapeType="1"/>
            </p:cNvSpPr>
            <p:nvPr/>
          </p:nvSpPr>
          <p:spPr bwMode="auto">
            <a:xfrm flipH="1">
              <a:off x="1392" y="3120"/>
              <a:ext cx="48" cy="4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4" name="Line 20">
              <a:extLst>
                <a:ext uri="{FF2B5EF4-FFF2-40B4-BE49-F238E27FC236}">
                  <a16:creationId xmlns:a16="http://schemas.microsoft.com/office/drawing/2014/main" id="{7F6EFEEA-4B42-7122-9D44-9DD54C8D5F5B}"/>
                </a:ext>
              </a:extLst>
            </p:cNvPr>
            <p:cNvSpPr>
              <a:spLocks noChangeShapeType="1"/>
            </p:cNvSpPr>
            <p:nvPr/>
          </p:nvSpPr>
          <p:spPr bwMode="auto">
            <a:xfrm flipV="1">
              <a:off x="1392" y="2880"/>
              <a:ext cx="0" cy="192"/>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5" name="Line 21">
              <a:extLst>
                <a:ext uri="{FF2B5EF4-FFF2-40B4-BE49-F238E27FC236}">
                  <a16:creationId xmlns:a16="http://schemas.microsoft.com/office/drawing/2014/main" id="{4DC53914-C445-0E4F-F065-0D097D136E40}"/>
                </a:ext>
              </a:extLst>
            </p:cNvPr>
            <p:cNvSpPr>
              <a:spLocks noChangeShapeType="1"/>
            </p:cNvSpPr>
            <p:nvPr/>
          </p:nvSpPr>
          <p:spPr bwMode="auto">
            <a:xfrm flipV="1">
              <a:off x="1392" y="3168"/>
              <a:ext cx="0" cy="192"/>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6" name="Line 22">
              <a:extLst>
                <a:ext uri="{FF2B5EF4-FFF2-40B4-BE49-F238E27FC236}">
                  <a16:creationId xmlns:a16="http://schemas.microsoft.com/office/drawing/2014/main" id="{D2855A32-6509-5D2E-284F-1C39FDE02E8A}"/>
                </a:ext>
              </a:extLst>
            </p:cNvPr>
            <p:cNvSpPr>
              <a:spLocks noChangeShapeType="1"/>
            </p:cNvSpPr>
            <p:nvPr/>
          </p:nvSpPr>
          <p:spPr bwMode="auto">
            <a:xfrm flipV="1">
              <a:off x="1392" y="3216"/>
              <a:ext cx="288" cy="144"/>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7" name="Line 23">
              <a:extLst>
                <a:ext uri="{FF2B5EF4-FFF2-40B4-BE49-F238E27FC236}">
                  <a16:creationId xmlns:a16="http://schemas.microsoft.com/office/drawing/2014/main" id="{F2613EF5-0F20-0781-614A-63A8500BD858}"/>
                </a:ext>
              </a:extLst>
            </p:cNvPr>
            <p:cNvSpPr>
              <a:spLocks noChangeShapeType="1"/>
            </p:cNvSpPr>
            <p:nvPr/>
          </p:nvSpPr>
          <p:spPr bwMode="auto">
            <a:xfrm flipV="1">
              <a:off x="1680" y="3024"/>
              <a:ext cx="0" cy="192"/>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8" name="Line 24">
              <a:extLst>
                <a:ext uri="{FF2B5EF4-FFF2-40B4-BE49-F238E27FC236}">
                  <a16:creationId xmlns:a16="http://schemas.microsoft.com/office/drawing/2014/main" id="{4FCFC423-7689-2964-0CC7-8504F5F68550}"/>
                </a:ext>
              </a:extLst>
            </p:cNvPr>
            <p:cNvSpPr>
              <a:spLocks noChangeShapeType="1"/>
            </p:cNvSpPr>
            <p:nvPr/>
          </p:nvSpPr>
          <p:spPr bwMode="auto">
            <a:xfrm>
              <a:off x="1392" y="2880"/>
              <a:ext cx="288" cy="144"/>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17" name="Rectangle 25">
            <a:extLst>
              <a:ext uri="{FF2B5EF4-FFF2-40B4-BE49-F238E27FC236}">
                <a16:creationId xmlns:a16="http://schemas.microsoft.com/office/drawing/2014/main" id="{C176507F-8F32-D01E-FBFC-2924B0B88E5A}"/>
              </a:ext>
            </a:extLst>
          </p:cNvPr>
          <p:cNvSpPr>
            <a:spLocks noChangeArrowheads="1"/>
          </p:cNvSpPr>
          <p:nvPr/>
        </p:nvSpPr>
        <p:spPr bwMode="auto">
          <a:xfrm>
            <a:off x="833014" y="3165126"/>
            <a:ext cx="1171869" cy="1196999"/>
          </a:xfrm>
          <a:prstGeom prst="rect">
            <a:avLst/>
          </a:pr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Rectangle 26">
            <a:extLst>
              <a:ext uri="{FF2B5EF4-FFF2-40B4-BE49-F238E27FC236}">
                <a16:creationId xmlns:a16="http://schemas.microsoft.com/office/drawing/2014/main" id="{E5D10025-6B82-F96B-8758-11F055761EA1}"/>
              </a:ext>
            </a:extLst>
          </p:cNvPr>
          <p:cNvSpPr>
            <a:spLocks noChangeArrowheads="1"/>
          </p:cNvSpPr>
          <p:nvPr/>
        </p:nvSpPr>
        <p:spPr bwMode="auto">
          <a:xfrm>
            <a:off x="419414" y="3480125"/>
            <a:ext cx="137867" cy="692999"/>
          </a:xfrm>
          <a:prstGeom prst="rect">
            <a:avLst/>
          </a:pr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Line 27">
            <a:extLst>
              <a:ext uri="{FF2B5EF4-FFF2-40B4-BE49-F238E27FC236}">
                <a16:creationId xmlns:a16="http://schemas.microsoft.com/office/drawing/2014/main" id="{4DC949CC-69BA-C89B-0D01-46A345210BED}"/>
              </a:ext>
            </a:extLst>
          </p:cNvPr>
          <p:cNvSpPr>
            <a:spLocks noChangeShapeType="1"/>
          </p:cNvSpPr>
          <p:nvPr/>
        </p:nvSpPr>
        <p:spPr bwMode="auto">
          <a:xfrm>
            <a:off x="557281" y="3795124"/>
            <a:ext cx="275734"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 name="Line 28">
            <a:extLst>
              <a:ext uri="{FF2B5EF4-FFF2-40B4-BE49-F238E27FC236}">
                <a16:creationId xmlns:a16="http://schemas.microsoft.com/office/drawing/2014/main" id="{45878EED-14DA-8150-0985-729C0A3D1995}"/>
              </a:ext>
            </a:extLst>
          </p:cNvPr>
          <p:cNvSpPr>
            <a:spLocks noChangeShapeType="1"/>
          </p:cNvSpPr>
          <p:nvPr/>
        </p:nvSpPr>
        <p:spPr bwMode="auto">
          <a:xfrm>
            <a:off x="626215" y="2472127"/>
            <a:ext cx="827202"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 name="Line 29">
            <a:extLst>
              <a:ext uri="{FF2B5EF4-FFF2-40B4-BE49-F238E27FC236}">
                <a16:creationId xmlns:a16="http://schemas.microsoft.com/office/drawing/2014/main" id="{1616C67A-B9E5-EDB4-450D-6AB7E79F8579}"/>
              </a:ext>
            </a:extLst>
          </p:cNvPr>
          <p:cNvSpPr>
            <a:spLocks noChangeShapeType="1"/>
          </p:cNvSpPr>
          <p:nvPr/>
        </p:nvSpPr>
        <p:spPr bwMode="auto">
          <a:xfrm>
            <a:off x="1108749" y="2976125"/>
            <a:ext cx="344668"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Text Box 30">
            <a:extLst>
              <a:ext uri="{FF2B5EF4-FFF2-40B4-BE49-F238E27FC236}">
                <a16:creationId xmlns:a16="http://schemas.microsoft.com/office/drawing/2014/main" id="{B733089D-810A-DE82-43FA-44EC57045C1C}"/>
              </a:ext>
            </a:extLst>
          </p:cNvPr>
          <p:cNvSpPr txBox="1">
            <a:spLocks noChangeArrowheads="1"/>
          </p:cNvSpPr>
          <p:nvPr/>
        </p:nvSpPr>
        <p:spPr bwMode="auto">
          <a:xfrm>
            <a:off x="764081" y="3606125"/>
            <a:ext cx="747290" cy="46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Read</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Address</a:t>
            </a:r>
          </a:p>
        </p:txBody>
      </p:sp>
      <p:sp>
        <p:nvSpPr>
          <p:cNvPr id="23" name="Text Box 31">
            <a:extLst>
              <a:ext uri="{FF2B5EF4-FFF2-40B4-BE49-F238E27FC236}">
                <a16:creationId xmlns:a16="http://schemas.microsoft.com/office/drawing/2014/main" id="{0473D044-E960-13F3-EDAB-A3D3B24F657E}"/>
              </a:ext>
            </a:extLst>
          </p:cNvPr>
          <p:cNvSpPr txBox="1">
            <a:spLocks noChangeArrowheads="1"/>
          </p:cNvSpPr>
          <p:nvPr/>
        </p:nvSpPr>
        <p:spPr bwMode="auto">
          <a:xfrm>
            <a:off x="997152" y="3176050"/>
            <a:ext cx="1010183" cy="523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Instruction</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Memory</a:t>
            </a:r>
          </a:p>
        </p:txBody>
      </p:sp>
      <p:sp>
        <p:nvSpPr>
          <p:cNvPr id="24" name="Text Box 32">
            <a:extLst>
              <a:ext uri="{FF2B5EF4-FFF2-40B4-BE49-F238E27FC236}">
                <a16:creationId xmlns:a16="http://schemas.microsoft.com/office/drawing/2014/main" id="{A45CD9F4-01B5-F91B-59FF-3D220E058D13}"/>
              </a:ext>
            </a:extLst>
          </p:cNvPr>
          <p:cNvSpPr txBox="1">
            <a:spLocks noChangeArrowheads="1"/>
          </p:cNvSpPr>
          <p:nvPr/>
        </p:nvSpPr>
        <p:spPr bwMode="auto">
          <a:xfrm>
            <a:off x="1430439" y="2597994"/>
            <a:ext cx="457146"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Add</a:t>
            </a:r>
          </a:p>
        </p:txBody>
      </p:sp>
      <p:sp>
        <p:nvSpPr>
          <p:cNvPr id="25" name="Text Box 33">
            <a:extLst>
              <a:ext uri="{FF2B5EF4-FFF2-40B4-BE49-F238E27FC236}">
                <a16:creationId xmlns:a16="http://schemas.microsoft.com/office/drawing/2014/main" id="{966ECE6C-218A-F351-4625-40F4DD73E7A6}"/>
              </a:ext>
            </a:extLst>
          </p:cNvPr>
          <p:cNvSpPr txBox="1">
            <a:spLocks noChangeArrowheads="1"/>
          </p:cNvSpPr>
          <p:nvPr/>
        </p:nvSpPr>
        <p:spPr bwMode="auto">
          <a:xfrm rot="16200000">
            <a:off x="277937" y="3707162"/>
            <a:ext cx="397836"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PC</a:t>
            </a:r>
          </a:p>
        </p:txBody>
      </p:sp>
      <p:sp>
        <p:nvSpPr>
          <p:cNvPr id="26" name="Line 34">
            <a:extLst>
              <a:ext uri="{FF2B5EF4-FFF2-40B4-BE49-F238E27FC236}">
                <a16:creationId xmlns:a16="http://schemas.microsoft.com/office/drawing/2014/main" id="{AADC34A1-D8DE-5E91-EF27-492802C47843}"/>
              </a:ext>
            </a:extLst>
          </p:cNvPr>
          <p:cNvSpPr>
            <a:spLocks noChangeShapeType="1"/>
          </p:cNvSpPr>
          <p:nvPr/>
        </p:nvSpPr>
        <p:spPr bwMode="auto">
          <a:xfrm>
            <a:off x="143680" y="3795124"/>
            <a:ext cx="275734"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 name="Text Box 35">
            <a:extLst>
              <a:ext uri="{FF2B5EF4-FFF2-40B4-BE49-F238E27FC236}">
                <a16:creationId xmlns:a16="http://schemas.microsoft.com/office/drawing/2014/main" id="{19B1E2A0-CE64-0556-21E0-266A258BE19F}"/>
              </a:ext>
            </a:extLst>
          </p:cNvPr>
          <p:cNvSpPr txBox="1">
            <a:spLocks noChangeArrowheads="1"/>
          </p:cNvSpPr>
          <p:nvPr/>
        </p:nvSpPr>
        <p:spPr bwMode="auto">
          <a:xfrm>
            <a:off x="901948" y="2850126"/>
            <a:ext cx="269595"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4</a:t>
            </a:r>
          </a:p>
        </p:txBody>
      </p:sp>
      <p:sp>
        <p:nvSpPr>
          <p:cNvPr id="28" name="Line 36">
            <a:extLst>
              <a:ext uri="{FF2B5EF4-FFF2-40B4-BE49-F238E27FC236}">
                <a16:creationId xmlns:a16="http://schemas.microsoft.com/office/drawing/2014/main" id="{161028A7-8EC6-18A7-357A-F9C479E6F2FC}"/>
              </a:ext>
            </a:extLst>
          </p:cNvPr>
          <p:cNvSpPr>
            <a:spLocks noChangeShapeType="1"/>
          </p:cNvSpPr>
          <p:nvPr/>
        </p:nvSpPr>
        <p:spPr bwMode="auto">
          <a:xfrm>
            <a:off x="143680" y="1779127"/>
            <a:ext cx="0" cy="201599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 name="AutoShape 37">
            <a:extLst>
              <a:ext uri="{FF2B5EF4-FFF2-40B4-BE49-F238E27FC236}">
                <a16:creationId xmlns:a16="http://schemas.microsoft.com/office/drawing/2014/main" id="{C880E08A-5482-A5FC-EA70-E33F80457C65}"/>
              </a:ext>
            </a:extLst>
          </p:cNvPr>
          <p:cNvSpPr>
            <a:spLocks noChangeArrowheads="1"/>
          </p:cNvSpPr>
          <p:nvPr/>
        </p:nvSpPr>
        <p:spPr bwMode="auto">
          <a:xfrm rot="5400000" flipH="1">
            <a:off x="721849" y="1707227"/>
            <a:ext cx="567000" cy="206801"/>
          </a:xfrm>
          <a:custGeom>
            <a:avLst/>
            <a:gdLst>
              <a:gd name="T0" fmla="*/ 8 w 21600"/>
              <a:gd name="T1" fmla="*/ 0 h 21600"/>
              <a:gd name="T2" fmla="*/ 4 w 21600"/>
              <a:gd name="T3" fmla="*/ 1 h 21600"/>
              <a:gd name="T4" fmla="*/ 1 w 21600"/>
              <a:gd name="T5" fmla="*/ 0 h 21600"/>
              <a:gd name="T6" fmla="*/ 4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 name="Line 38">
            <a:extLst>
              <a:ext uri="{FF2B5EF4-FFF2-40B4-BE49-F238E27FC236}">
                <a16:creationId xmlns:a16="http://schemas.microsoft.com/office/drawing/2014/main" id="{EED63FC4-DBB3-424C-D291-BCB67DFAB1E1}"/>
              </a:ext>
            </a:extLst>
          </p:cNvPr>
          <p:cNvSpPr>
            <a:spLocks noChangeShapeType="1"/>
          </p:cNvSpPr>
          <p:nvPr/>
        </p:nvSpPr>
        <p:spPr bwMode="auto">
          <a:xfrm flipH="1">
            <a:off x="143679" y="1779127"/>
            <a:ext cx="758268"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 name="Rectangle 40">
            <a:extLst>
              <a:ext uri="{FF2B5EF4-FFF2-40B4-BE49-F238E27FC236}">
                <a16:creationId xmlns:a16="http://schemas.microsoft.com/office/drawing/2014/main" id="{FE9091B2-898F-6A11-8310-3438488C6850}"/>
              </a:ext>
            </a:extLst>
          </p:cNvPr>
          <p:cNvSpPr>
            <a:spLocks noChangeArrowheads="1"/>
          </p:cNvSpPr>
          <p:nvPr/>
        </p:nvSpPr>
        <p:spPr bwMode="auto">
          <a:xfrm flipH="1">
            <a:off x="995516" y="1550545"/>
            <a:ext cx="144327" cy="556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l" defTabSz="914400" rtl="0" eaLnBrk="0" fontAlgn="auto" latinLnBrk="0" hangingPunct="0">
              <a:lnSpc>
                <a:spcPct val="9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1</a:t>
            </a:r>
          </a:p>
          <a:p>
            <a:pPr marL="0" marR="0" lvl="0" indent="0" algn="l" defTabSz="914400" rtl="0" eaLnBrk="0" fontAlgn="auto" latinLnBrk="0" hangingPunct="0">
              <a:lnSpc>
                <a:spcPct val="9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0</a:t>
            </a:r>
          </a:p>
        </p:txBody>
      </p:sp>
      <p:sp>
        <p:nvSpPr>
          <p:cNvPr id="32" name="Line 41">
            <a:extLst>
              <a:ext uri="{FF2B5EF4-FFF2-40B4-BE49-F238E27FC236}">
                <a16:creationId xmlns:a16="http://schemas.microsoft.com/office/drawing/2014/main" id="{4CE893D6-5B89-A89B-B261-4B50A8B7C885}"/>
              </a:ext>
            </a:extLst>
          </p:cNvPr>
          <p:cNvSpPr>
            <a:spLocks noChangeShapeType="1"/>
          </p:cNvSpPr>
          <p:nvPr/>
        </p:nvSpPr>
        <p:spPr bwMode="auto">
          <a:xfrm flipH="1">
            <a:off x="1108748" y="1653128"/>
            <a:ext cx="5672422"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 name="Line 42">
            <a:extLst>
              <a:ext uri="{FF2B5EF4-FFF2-40B4-BE49-F238E27FC236}">
                <a16:creationId xmlns:a16="http://schemas.microsoft.com/office/drawing/2014/main" id="{E7BD6189-86AE-F3ED-A7D1-3EA3BA6A914C}"/>
              </a:ext>
            </a:extLst>
          </p:cNvPr>
          <p:cNvSpPr>
            <a:spLocks noChangeShapeType="1"/>
          </p:cNvSpPr>
          <p:nvPr/>
        </p:nvSpPr>
        <p:spPr bwMode="auto">
          <a:xfrm flipH="1">
            <a:off x="2798518" y="5493062"/>
            <a:ext cx="5981726"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 name="Rectangle 43">
            <a:extLst>
              <a:ext uri="{FF2B5EF4-FFF2-40B4-BE49-F238E27FC236}">
                <a16:creationId xmlns:a16="http://schemas.microsoft.com/office/drawing/2014/main" id="{B099BE30-281C-D62A-A8AE-31A1F9220CE0}"/>
              </a:ext>
            </a:extLst>
          </p:cNvPr>
          <p:cNvSpPr>
            <a:spLocks noChangeArrowheads="1"/>
          </p:cNvSpPr>
          <p:nvPr/>
        </p:nvSpPr>
        <p:spPr bwMode="auto">
          <a:xfrm>
            <a:off x="3005317" y="3165126"/>
            <a:ext cx="1171869" cy="1196999"/>
          </a:xfrm>
          <a:prstGeom prst="rect">
            <a:avLst/>
          </a:pr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 name="Line 44">
            <a:extLst>
              <a:ext uri="{FF2B5EF4-FFF2-40B4-BE49-F238E27FC236}">
                <a16:creationId xmlns:a16="http://schemas.microsoft.com/office/drawing/2014/main" id="{93E35A13-2985-0834-01ED-5C3108D02276}"/>
              </a:ext>
            </a:extLst>
          </p:cNvPr>
          <p:cNvSpPr>
            <a:spLocks noChangeShapeType="1"/>
          </p:cNvSpPr>
          <p:nvPr/>
        </p:nvSpPr>
        <p:spPr bwMode="auto">
          <a:xfrm>
            <a:off x="2004884" y="3795124"/>
            <a:ext cx="137867"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 name="Line 45">
            <a:extLst>
              <a:ext uri="{FF2B5EF4-FFF2-40B4-BE49-F238E27FC236}">
                <a16:creationId xmlns:a16="http://schemas.microsoft.com/office/drawing/2014/main" id="{49F6FE96-C7BF-EE2D-E5AC-CCAB7FCA2844}"/>
              </a:ext>
            </a:extLst>
          </p:cNvPr>
          <p:cNvSpPr>
            <a:spLocks noChangeShapeType="1"/>
          </p:cNvSpPr>
          <p:nvPr/>
        </p:nvSpPr>
        <p:spPr bwMode="auto">
          <a:xfrm>
            <a:off x="2729584" y="3606125"/>
            <a:ext cx="275734"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 name="Text Box 46">
            <a:extLst>
              <a:ext uri="{FF2B5EF4-FFF2-40B4-BE49-F238E27FC236}">
                <a16:creationId xmlns:a16="http://schemas.microsoft.com/office/drawing/2014/main" id="{2B1A36DD-6267-13FE-E3E6-2B12AB83A178}"/>
              </a:ext>
            </a:extLst>
          </p:cNvPr>
          <p:cNvSpPr txBox="1">
            <a:spLocks noChangeArrowheads="1"/>
          </p:cNvSpPr>
          <p:nvPr/>
        </p:nvSpPr>
        <p:spPr bwMode="auto">
          <a:xfrm>
            <a:off x="2937059" y="4110124"/>
            <a:ext cx="908039"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Write Data</a:t>
            </a:r>
          </a:p>
        </p:txBody>
      </p:sp>
      <p:sp>
        <p:nvSpPr>
          <p:cNvPr id="38" name="Text Box 47">
            <a:extLst>
              <a:ext uri="{FF2B5EF4-FFF2-40B4-BE49-F238E27FC236}">
                <a16:creationId xmlns:a16="http://schemas.microsoft.com/office/drawing/2014/main" id="{83AEA54B-F66C-2F8A-0A45-5EF3BDBA686A}"/>
              </a:ext>
            </a:extLst>
          </p:cNvPr>
          <p:cNvSpPr txBox="1">
            <a:spLocks noChangeArrowheads="1"/>
          </p:cNvSpPr>
          <p:nvPr/>
        </p:nvSpPr>
        <p:spPr bwMode="auto">
          <a:xfrm>
            <a:off x="2949310" y="3161706"/>
            <a:ext cx="636682" cy="369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Read </a:t>
            </a:r>
          </a:p>
          <a:p>
            <a:pPr marL="0" marR="0" lvl="0" indent="0" algn="l"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prstClr val="black"/>
                </a:solidFill>
                <a:effectLst/>
                <a:uLnTx/>
                <a:uFillTx/>
                <a:latin typeface="Arial" pitchFamily="34" charset="0"/>
                <a:ea typeface="SimHei" panose="02010609060101010101" pitchFamily="49" charset="-122"/>
                <a:cs typeface="+mn-cs"/>
              </a:rPr>
              <a:t>Addr</a:t>
            </a: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 1</a:t>
            </a:r>
          </a:p>
        </p:txBody>
      </p:sp>
      <p:sp>
        <p:nvSpPr>
          <p:cNvPr id="39" name="Text Box 48">
            <a:extLst>
              <a:ext uri="{FF2B5EF4-FFF2-40B4-BE49-F238E27FC236}">
                <a16:creationId xmlns:a16="http://schemas.microsoft.com/office/drawing/2014/main" id="{486E6014-DCE5-A3FB-9ED2-C5001F8DDFCF}"/>
              </a:ext>
            </a:extLst>
          </p:cNvPr>
          <p:cNvSpPr txBox="1">
            <a:spLocks noChangeArrowheads="1"/>
          </p:cNvSpPr>
          <p:nvPr/>
        </p:nvSpPr>
        <p:spPr bwMode="auto">
          <a:xfrm>
            <a:off x="2945001" y="3446000"/>
            <a:ext cx="636682" cy="369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Read </a:t>
            </a:r>
          </a:p>
          <a:p>
            <a:pPr marL="0" marR="0" lvl="0" indent="0" algn="l"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prstClr val="black"/>
                </a:solidFill>
                <a:effectLst/>
                <a:uLnTx/>
                <a:uFillTx/>
                <a:latin typeface="Arial" pitchFamily="34" charset="0"/>
                <a:ea typeface="SimHei" panose="02010609060101010101" pitchFamily="49" charset="-122"/>
                <a:cs typeface="+mn-cs"/>
              </a:rPr>
              <a:t>Addr</a:t>
            </a: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 2</a:t>
            </a:r>
          </a:p>
        </p:txBody>
      </p:sp>
      <p:sp>
        <p:nvSpPr>
          <p:cNvPr id="40" name="Text Box 49">
            <a:extLst>
              <a:ext uri="{FF2B5EF4-FFF2-40B4-BE49-F238E27FC236}">
                <a16:creationId xmlns:a16="http://schemas.microsoft.com/office/drawing/2014/main" id="{AF7738DC-A297-5776-0685-907F9C4EF6C4}"/>
              </a:ext>
            </a:extLst>
          </p:cNvPr>
          <p:cNvSpPr txBox="1">
            <a:spLocks noChangeArrowheads="1"/>
          </p:cNvSpPr>
          <p:nvPr/>
        </p:nvSpPr>
        <p:spPr bwMode="auto">
          <a:xfrm>
            <a:off x="2937059" y="3858124"/>
            <a:ext cx="899575"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Write </a:t>
            </a:r>
            <a:r>
              <a:rPr kumimoji="0" lang="en-US" altLang="zh-CN" sz="1200" b="0" i="0" u="none" strike="noStrike" kern="1200" cap="none" spc="0" normalizeH="0" baseline="0" noProof="0" dirty="0" err="1">
                <a:ln>
                  <a:noFill/>
                </a:ln>
                <a:solidFill>
                  <a:prstClr val="black"/>
                </a:solidFill>
                <a:effectLst/>
                <a:uLnTx/>
                <a:uFillTx/>
                <a:latin typeface="Arial" pitchFamily="34" charset="0"/>
                <a:ea typeface="SimHei" panose="02010609060101010101" pitchFamily="49" charset="-122"/>
                <a:cs typeface="+mn-cs"/>
              </a:rPr>
              <a:t>Addr</a:t>
            </a:r>
            <a:endPar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endParaRPr>
          </a:p>
        </p:txBody>
      </p:sp>
      <p:sp>
        <p:nvSpPr>
          <p:cNvPr id="41" name="Text Box 50">
            <a:extLst>
              <a:ext uri="{FF2B5EF4-FFF2-40B4-BE49-F238E27FC236}">
                <a16:creationId xmlns:a16="http://schemas.microsoft.com/office/drawing/2014/main" id="{052E4963-2EDF-30D0-BB27-3ECB40A9F805}"/>
              </a:ext>
            </a:extLst>
          </p:cNvPr>
          <p:cNvSpPr txBox="1">
            <a:spLocks noChangeArrowheads="1"/>
          </p:cNvSpPr>
          <p:nvPr/>
        </p:nvSpPr>
        <p:spPr bwMode="auto">
          <a:xfrm>
            <a:off x="3460260" y="3582333"/>
            <a:ext cx="603020" cy="30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Regs</a:t>
            </a:r>
          </a:p>
        </p:txBody>
      </p:sp>
      <p:sp>
        <p:nvSpPr>
          <p:cNvPr id="42" name="Text Box 51">
            <a:extLst>
              <a:ext uri="{FF2B5EF4-FFF2-40B4-BE49-F238E27FC236}">
                <a16:creationId xmlns:a16="http://schemas.microsoft.com/office/drawing/2014/main" id="{A33B6DC5-09E9-7EB9-7FAF-3B9F71D44E09}"/>
              </a:ext>
            </a:extLst>
          </p:cNvPr>
          <p:cNvSpPr txBox="1">
            <a:spLocks noChangeArrowheads="1"/>
          </p:cNvSpPr>
          <p:nvPr/>
        </p:nvSpPr>
        <p:spPr bwMode="auto">
          <a:xfrm>
            <a:off x="3567915" y="3200711"/>
            <a:ext cx="679964" cy="369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r"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Read</a:t>
            </a:r>
          </a:p>
          <a:p>
            <a:pPr marL="0" marR="0" lvl="0" indent="0" algn="r"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 Data 1</a:t>
            </a:r>
          </a:p>
        </p:txBody>
      </p:sp>
      <p:sp>
        <p:nvSpPr>
          <p:cNvPr id="43" name="Text Box 52">
            <a:extLst>
              <a:ext uri="{FF2B5EF4-FFF2-40B4-BE49-F238E27FC236}">
                <a16:creationId xmlns:a16="http://schemas.microsoft.com/office/drawing/2014/main" id="{9DBE7F9B-089F-1D8A-651C-5C40D5EAA149}"/>
              </a:ext>
            </a:extLst>
          </p:cNvPr>
          <p:cNvSpPr txBox="1">
            <a:spLocks noChangeArrowheads="1"/>
          </p:cNvSpPr>
          <p:nvPr/>
        </p:nvSpPr>
        <p:spPr bwMode="auto">
          <a:xfrm>
            <a:off x="3556104" y="3905892"/>
            <a:ext cx="679964" cy="369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r"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Read</a:t>
            </a:r>
          </a:p>
          <a:p>
            <a:pPr marL="0" marR="0" lvl="0" indent="0" algn="r" defTabSz="914400" rtl="0" eaLnBrk="0" fontAlgn="auto" latinLnBrk="0" hangingPunct="0">
              <a:lnSpc>
                <a:spcPct val="75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 Data 2</a:t>
            </a:r>
          </a:p>
        </p:txBody>
      </p:sp>
      <p:sp>
        <p:nvSpPr>
          <p:cNvPr id="44" name="Line 53">
            <a:extLst>
              <a:ext uri="{FF2B5EF4-FFF2-40B4-BE49-F238E27FC236}">
                <a16:creationId xmlns:a16="http://schemas.microsoft.com/office/drawing/2014/main" id="{7A91A7EF-7799-AF64-7867-76CA1FFE4C8A}"/>
              </a:ext>
            </a:extLst>
          </p:cNvPr>
          <p:cNvSpPr>
            <a:spLocks noChangeShapeType="1"/>
          </p:cNvSpPr>
          <p:nvPr/>
        </p:nvSpPr>
        <p:spPr bwMode="auto">
          <a:xfrm>
            <a:off x="2729584" y="4803123"/>
            <a:ext cx="344668"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Line 54">
            <a:extLst>
              <a:ext uri="{FF2B5EF4-FFF2-40B4-BE49-F238E27FC236}">
                <a16:creationId xmlns:a16="http://schemas.microsoft.com/office/drawing/2014/main" id="{CD03A729-3109-005A-FAEB-41D845BF81DE}"/>
              </a:ext>
            </a:extLst>
          </p:cNvPr>
          <p:cNvSpPr>
            <a:spLocks noChangeShapeType="1"/>
          </p:cNvSpPr>
          <p:nvPr/>
        </p:nvSpPr>
        <p:spPr bwMode="auto">
          <a:xfrm>
            <a:off x="2897607" y="4743015"/>
            <a:ext cx="68934" cy="12600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 name="Line 55">
            <a:extLst>
              <a:ext uri="{FF2B5EF4-FFF2-40B4-BE49-F238E27FC236}">
                <a16:creationId xmlns:a16="http://schemas.microsoft.com/office/drawing/2014/main" id="{A81CEE6E-21BF-F4EA-FD1D-226DB69DDEE7}"/>
              </a:ext>
            </a:extLst>
          </p:cNvPr>
          <p:cNvSpPr>
            <a:spLocks noChangeShapeType="1"/>
          </p:cNvSpPr>
          <p:nvPr/>
        </p:nvSpPr>
        <p:spPr bwMode="auto">
          <a:xfrm>
            <a:off x="3997668" y="4728797"/>
            <a:ext cx="68934" cy="12600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 name="Text Box 56">
            <a:extLst>
              <a:ext uri="{FF2B5EF4-FFF2-40B4-BE49-F238E27FC236}">
                <a16:creationId xmlns:a16="http://schemas.microsoft.com/office/drawing/2014/main" id="{60E0ECD7-CF7E-1720-97A2-D39F43D9320E}"/>
              </a:ext>
            </a:extLst>
          </p:cNvPr>
          <p:cNvSpPr txBox="1">
            <a:spLocks noChangeArrowheads="1"/>
          </p:cNvSpPr>
          <p:nvPr/>
        </p:nvSpPr>
        <p:spPr bwMode="auto">
          <a:xfrm>
            <a:off x="2789905" y="4823513"/>
            <a:ext cx="344658" cy="46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16</a:t>
            </a:r>
          </a:p>
        </p:txBody>
      </p:sp>
      <p:sp>
        <p:nvSpPr>
          <p:cNvPr id="48" name="Text Box 57">
            <a:extLst>
              <a:ext uri="{FF2B5EF4-FFF2-40B4-BE49-F238E27FC236}">
                <a16:creationId xmlns:a16="http://schemas.microsoft.com/office/drawing/2014/main" id="{456FAB27-C05E-644D-A4BB-FB831EB5C9A8}"/>
              </a:ext>
            </a:extLst>
          </p:cNvPr>
          <p:cNvSpPr txBox="1">
            <a:spLocks noChangeArrowheads="1"/>
          </p:cNvSpPr>
          <p:nvPr/>
        </p:nvSpPr>
        <p:spPr bwMode="auto">
          <a:xfrm>
            <a:off x="3901452" y="4803123"/>
            <a:ext cx="354554"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32</a:t>
            </a:r>
          </a:p>
        </p:txBody>
      </p:sp>
      <p:sp>
        <p:nvSpPr>
          <p:cNvPr id="49" name="Line 58">
            <a:extLst>
              <a:ext uri="{FF2B5EF4-FFF2-40B4-BE49-F238E27FC236}">
                <a16:creationId xmlns:a16="http://schemas.microsoft.com/office/drawing/2014/main" id="{AA1CBAAE-28ED-68A8-82C6-34828AFB5276}"/>
              </a:ext>
            </a:extLst>
          </p:cNvPr>
          <p:cNvSpPr>
            <a:spLocks noChangeShapeType="1"/>
          </p:cNvSpPr>
          <p:nvPr/>
        </p:nvSpPr>
        <p:spPr bwMode="auto">
          <a:xfrm>
            <a:off x="2798518" y="4236124"/>
            <a:ext cx="206800"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 name="Line 59">
            <a:extLst>
              <a:ext uri="{FF2B5EF4-FFF2-40B4-BE49-F238E27FC236}">
                <a16:creationId xmlns:a16="http://schemas.microsoft.com/office/drawing/2014/main" id="{92B8BAA8-19C4-341B-6E67-AD9BC2EE10E2}"/>
              </a:ext>
            </a:extLst>
          </p:cNvPr>
          <p:cNvSpPr>
            <a:spLocks noChangeShapeType="1"/>
          </p:cNvSpPr>
          <p:nvPr/>
        </p:nvSpPr>
        <p:spPr bwMode="auto">
          <a:xfrm>
            <a:off x="4550460" y="4362124"/>
            <a:ext cx="0" cy="44100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Line 60">
            <a:extLst>
              <a:ext uri="{FF2B5EF4-FFF2-40B4-BE49-F238E27FC236}">
                <a16:creationId xmlns:a16="http://schemas.microsoft.com/office/drawing/2014/main" id="{429444C5-EA12-3BB3-3E91-B54B0EB9A4A5}"/>
              </a:ext>
            </a:extLst>
          </p:cNvPr>
          <p:cNvSpPr>
            <a:spLocks noChangeShapeType="1"/>
          </p:cNvSpPr>
          <p:nvPr/>
        </p:nvSpPr>
        <p:spPr bwMode="auto">
          <a:xfrm>
            <a:off x="4177187" y="4047124"/>
            <a:ext cx="137867"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2" name="Line 61">
            <a:extLst>
              <a:ext uri="{FF2B5EF4-FFF2-40B4-BE49-F238E27FC236}">
                <a16:creationId xmlns:a16="http://schemas.microsoft.com/office/drawing/2014/main" id="{7292F890-1F6D-8BC6-037C-29471DF62630}"/>
              </a:ext>
            </a:extLst>
          </p:cNvPr>
          <p:cNvSpPr>
            <a:spLocks noChangeShapeType="1"/>
          </p:cNvSpPr>
          <p:nvPr/>
        </p:nvSpPr>
        <p:spPr bwMode="auto">
          <a:xfrm>
            <a:off x="2729584" y="3291125"/>
            <a:ext cx="0" cy="151199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3" name="Line 62">
            <a:extLst>
              <a:ext uri="{FF2B5EF4-FFF2-40B4-BE49-F238E27FC236}">
                <a16:creationId xmlns:a16="http://schemas.microsoft.com/office/drawing/2014/main" id="{E37CCDE4-3C5D-E0DE-0E08-662A34DE8A2D}"/>
              </a:ext>
            </a:extLst>
          </p:cNvPr>
          <p:cNvSpPr>
            <a:spLocks noChangeShapeType="1"/>
          </p:cNvSpPr>
          <p:nvPr/>
        </p:nvSpPr>
        <p:spPr bwMode="auto">
          <a:xfrm>
            <a:off x="2729584" y="3291125"/>
            <a:ext cx="275734"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4" name="Line 63">
            <a:extLst>
              <a:ext uri="{FF2B5EF4-FFF2-40B4-BE49-F238E27FC236}">
                <a16:creationId xmlns:a16="http://schemas.microsoft.com/office/drawing/2014/main" id="{A69C2857-7631-E6D9-9DE1-45991902247E}"/>
              </a:ext>
            </a:extLst>
          </p:cNvPr>
          <p:cNvSpPr>
            <a:spLocks noChangeShapeType="1"/>
          </p:cNvSpPr>
          <p:nvPr/>
        </p:nvSpPr>
        <p:spPr bwMode="auto">
          <a:xfrm>
            <a:off x="4452921" y="4047124"/>
            <a:ext cx="598825"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 name="Line 64">
            <a:extLst>
              <a:ext uri="{FF2B5EF4-FFF2-40B4-BE49-F238E27FC236}">
                <a16:creationId xmlns:a16="http://schemas.microsoft.com/office/drawing/2014/main" id="{4E87D5FD-F823-FD9C-271D-77DB9C7A0304}"/>
              </a:ext>
            </a:extLst>
          </p:cNvPr>
          <p:cNvSpPr>
            <a:spLocks noChangeShapeType="1"/>
          </p:cNvSpPr>
          <p:nvPr/>
        </p:nvSpPr>
        <p:spPr bwMode="auto">
          <a:xfrm>
            <a:off x="6298639" y="3858124"/>
            <a:ext cx="137462"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6" name="Freeform 65">
            <a:extLst>
              <a:ext uri="{FF2B5EF4-FFF2-40B4-BE49-F238E27FC236}">
                <a16:creationId xmlns:a16="http://schemas.microsoft.com/office/drawing/2014/main" id="{0945D2FB-83B7-E73F-F45D-63C243070CBD}"/>
              </a:ext>
            </a:extLst>
          </p:cNvPr>
          <p:cNvSpPr>
            <a:spLocks/>
          </p:cNvSpPr>
          <p:nvPr/>
        </p:nvSpPr>
        <p:spPr bwMode="auto">
          <a:xfrm>
            <a:off x="5816104" y="3291125"/>
            <a:ext cx="482535" cy="1070998"/>
          </a:xfrm>
          <a:custGeom>
            <a:avLst/>
            <a:gdLst>
              <a:gd name="T0" fmla="*/ 0 w 388"/>
              <a:gd name="T1" fmla="*/ 0 h 1099"/>
              <a:gd name="T2" fmla="*/ 0 w 388"/>
              <a:gd name="T3" fmla="*/ 235 h 1099"/>
              <a:gd name="T4" fmla="*/ 83 w 388"/>
              <a:gd name="T5" fmla="*/ 305 h 1099"/>
              <a:gd name="T6" fmla="*/ 0 w 388"/>
              <a:gd name="T7" fmla="*/ 370 h 1099"/>
              <a:gd name="T8" fmla="*/ 0 w 388"/>
              <a:gd name="T9" fmla="*/ 605 h 1099"/>
              <a:gd name="T10" fmla="*/ 290 w 388"/>
              <a:gd name="T11" fmla="*/ 436 h 1099"/>
              <a:gd name="T12" fmla="*/ 290 w 388"/>
              <a:gd name="T13" fmla="*/ 170 h 1099"/>
              <a:gd name="T14" fmla="*/ 0 w 388"/>
              <a:gd name="T15" fmla="*/ 0 h 109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8" h="1099">
                <a:moveTo>
                  <a:pt x="0" y="0"/>
                </a:moveTo>
                <a:lnTo>
                  <a:pt x="0" y="427"/>
                </a:lnTo>
                <a:lnTo>
                  <a:pt x="111" y="553"/>
                </a:lnTo>
                <a:lnTo>
                  <a:pt x="0" y="671"/>
                </a:lnTo>
                <a:lnTo>
                  <a:pt x="0" y="1098"/>
                </a:lnTo>
                <a:lnTo>
                  <a:pt x="387" y="790"/>
                </a:lnTo>
                <a:lnTo>
                  <a:pt x="387" y="308"/>
                </a:lnTo>
                <a:lnTo>
                  <a:pt x="0" y="0"/>
                </a:lnTo>
              </a:path>
            </a:pathLst>
          </a:custGeom>
          <a:noFill/>
          <a:ln w="1905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7" name="Rectangle 66">
            <a:extLst>
              <a:ext uri="{FF2B5EF4-FFF2-40B4-BE49-F238E27FC236}">
                <a16:creationId xmlns:a16="http://schemas.microsoft.com/office/drawing/2014/main" id="{B060F6F8-B8EE-48BA-50FE-D342A911ED81}"/>
              </a:ext>
            </a:extLst>
          </p:cNvPr>
          <p:cNvSpPr>
            <a:spLocks noChangeArrowheads="1"/>
          </p:cNvSpPr>
          <p:nvPr/>
        </p:nvSpPr>
        <p:spPr bwMode="auto">
          <a:xfrm>
            <a:off x="5903707" y="3724499"/>
            <a:ext cx="429398" cy="18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ctr" defTabSz="903288" rtl="0" eaLnBrk="0" fontAlgn="auto" latinLnBrk="0" hangingPunct="0">
              <a:lnSpc>
                <a:spcPts val="1600"/>
              </a:lnSpc>
              <a:spcBef>
                <a:spcPts val="0"/>
              </a:spcBef>
              <a:spcAft>
                <a:spcPts val="0"/>
              </a:spcAft>
              <a:buClrTx/>
              <a:buSzTx/>
              <a:buFontTx/>
              <a:buNone/>
              <a:tabLst>
                <a:tab pos="452438" algn="l"/>
                <a:tab pos="903288" algn="l"/>
                <a:tab pos="1357313" algn="l"/>
              </a:tabLst>
              <a:defRPr/>
            </a:pPr>
            <a:r>
              <a:rPr kumimoji="0" lang="en-US" altLang="zh-CN" sz="1400" b="1" i="0" u="none" strike="noStrike" kern="1200" cap="none" spc="0" normalizeH="0" baseline="0" noProof="0" dirty="0">
                <a:ln>
                  <a:noFill/>
                </a:ln>
                <a:solidFill>
                  <a:srgbClr val="000000"/>
                </a:solidFill>
                <a:effectLst/>
                <a:uLnTx/>
                <a:uFillTx/>
                <a:latin typeface="Arial" pitchFamily="34" charset="0"/>
                <a:ea typeface="等线" panose="02010600030101010101" pitchFamily="2" charset="-122"/>
                <a:cs typeface="+mn-cs"/>
              </a:rPr>
              <a:t>ALU</a:t>
            </a:r>
          </a:p>
        </p:txBody>
      </p:sp>
      <p:sp>
        <p:nvSpPr>
          <p:cNvPr id="58" name="AutoShape 67">
            <a:extLst>
              <a:ext uri="{FF2B5EF4-FFF2-40B4-BE49-F238E27FC236}">
                <a16:creationId xmlns:a16="http://schemas.microsoft.com/office/drawing/2014/main" id="{26FD2C8C-8430-A95C-9679-24136A235777}"/>
              </a:ext>
            </a:extLst>
          </p:cNvPr>
          <p:cNvSpPr>
            <a:spLocks noChangeArrowheads="1"/>
          </p:cNvSpPr>
          <p:nvPr/>
        </p:nvSpPr>
        <p:spPr bwMode="auto">
          <a:xfrm rot="16200000">
            <a:off x="5283113" y="4107303"/>
            <a:ext cx="629999" cy="206801"/>
          </a:xfrm>
          <a:custGeom>
            <a:avLst/>
            <a:gdLst>
              <a:gd name="T0" fmla="*/ 9 w 21600"/>
              <a:gd name="T1" fmla="*/ 0 h 21600"/>
              <a:gd name="T2" fmla="*/ 5 w 21600"/>
              <a:gd name="T3" fmla="*/ 1 h 21600"/>
              <a:gd name="T4" fmla="*/ 1 w 21600"/>
              <a:gd name="T5" fmla="*/ 0 h 21600"/>
              <a:gd name="T6" fmla="*/ 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9" name="Line 68">
            <a:extLst>
              <a:ext uri="{FF2B5EF4-FFF2-40B4-BE49-F238E27FC236}">
                <a16:creationId xmlns:a16="http://schemas.microsoft.com/office/drawing/2014/main" id="{EFDEDAD8-6711-2AED-4441-9170D20CF310}"/>
              </a:ext>
            </a:extLst>
          </p:cNvPr>
          <p:cNvSpPr>
            <a:spLocks noChangeShapeType="1"/>
          </p:cNvSpPr>
          <p:nvPr/>
        </p:nvSpPr>
        <p:spPr bwMode="auto">
          <a:xfrm>
            <a:off x="5706078" y="4173124"/>
            <a:ext cx="118678"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0" name="Rectangle 70">
            <a:extLst>
              <a:ext uri="{FF2B5EF4-FFF2-40B4-BE49-F238E27FC236}">
                <a16:creationId xmlns:a16="http://schemas.microsoft.com/office/drawing/2014/main" id="{A369CEEC-D6E7-1BCB-9069-122833B2D020}"/>
              </a:ext>
            </a:extLst>
          </p:cNvPr>
          <p:cNvSpPr>
            <a:spLocks noChangeArrowheads="1"/>
          </p:cNvSpPr>
          <p:nvPr/>
        </p:nvSpPr>
        <p:spPr bwMode="auto">
          <a:xfrm>
            <a:off x="5519128" y="3942178"/>
            <a:ext cx="109143" cy="618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l" defTabSz="914400" rtl="0" eaLnBrk="0" fontAlgn="auto" latinLnBrk="0" hangingPunct="0">
              <a:lnSpc>
                <a:spcPct val="10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1</a:t>
            </a:r>
          </a:p>
          <a:p>
            <a:pPr marL="0" marR="0" lvl="0" indent="0" algn="l" defTabSz="914400" rtl="0" eaLnBrk="0" fontAlgn="auto" latinLnBrk="0" hangingPunct="0">
              <a:lnSpc>
                <a:spcPct val="10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0</a:t>
            </a:r>
          </a:p>
        </p:txBody>
      </p:sp>
      <p:sp>
        <p:nvSpPr>
          <p:cNvPr id="61" name="Line 71">
            <a:extLst>
              <a:ext uri="{FF2B5EF4-FFF2-40B4-BE49-F238E27FC236}">
                <a16:creationId xmlns:a16="http://schemas.microsoft.com/office/drawing/2014/main" id="{4EA9372C-497E-4CF4-D220-3970BD6F2EEC}"/>
              </a:ext>
            </a:extLst>
          </p:cNvPr>
          <p:cNvSpPr>
            <a:spLocks noChangeShapeType="1"/>
          </p:cNvSpPr>
          <p:nvPr/>
        </p:nvSpPr>
        <p:spPr bwMode="auto">
          <a:xfrm>
            <a:off x="5382005" y="4430364"/>
            <a:ext cx="112706"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2" name="Line 72">
            <a:extLst>
              <a:ext uri="{FF2B5EF4-FFF2-40B4-BE49-F238E27FC236}">
                <a16:creationId xmlns:a16="http://schemas.microsoft.com/office/drawing/2014/main" id="{8EDFD9D3-36C5-2E42-8061-3468EC47ED1C}"/>
              </a:ext>
            </a:extLst>
          </p:cNvPr>
          <p:cNvSpPr>
            <a:spLocks noChangeShapeType="1"/>
          </p:cNvSpPr>
          <p:nvPr/>
        </p:nvSpPr>
        <p:spPr bwMode="auto">
          <a:xfrm>
            <a:off x="4452921" y="3359142"/>
            <a:ext cx="598823"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3" name="Oval 73">
            <a:extLst>
              <a:ext uri="{FF2B5EF4-FFF2-40B4-BE49-F238E27FC236}">
                <a16:creationId xmlns:a16="http://schemas.microsoft.com/office/drawing/2014/main" id="{28B4D4CF-28AB-8077-693C-8D6B1595C6CE}"/>
              </a:ext>
            </a:extLst>
          </p:cNvPr>
          <p:cNvSpPr>
            <a:spLocks noChangeArrowheads="1"/>
          </p:cNvSpPr>
          <p:nvPr/>
        </p:nvSpPr>
        <p:spPr bwMode="auto">
          <a:xfrm>
            <a:off x="4831685" y="2797082"/>
            <a:ext cx="365673" cy="389896"/>
          </a:xfrm>
          <a:prstGeom prst="ellipse">
            <a:avLst/>
          </a:prstGeom>
          <a:noFill/>
          <a:ln w="19050">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4" name="Rectangle 74">
            <a:extLst>
              <a:ext uri="{FF2B5EF4-FFF2-40B4-BE49-F238E27FC236}">
                <a16:creationId xmlns:a16="http://schemas.microsoft.com/office/drawing/2014/main" id="{23DA1D1C-53B8-CA7A-BAAD-1F9CA537E91B}"/>
              </a:ext>
            </a:extLst>
          </p:cNvPr>
          <p:cNvSpPr>
            <a:spLocks noChangeArrowheads="1"/>
          </p:cNvSpPr>
          <p:nvPr/>
        </p:nvSpPr>
        <p:spPr bwMode="auto">
          <a:xfrm>
            <a:off x="4804206" y="2881161"/>
            <a:ext cx="400950" cy="21733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ctr" defTabSz="903288" rtl="0" eaLnBrk="0" fontAlgn="auto" latinLnBrk="0" hangingPunct="0">
              <a:lnSpc>
                <a:spcPts val="1600"/>
              </a:lnSpc>
              <a:spcBef>
                <a:spcPts val="0"/>
              </a:spcBef>
              <a:spcAft>
                <a:spcPts val="0"/>
              </a:spcAft>
              <a:buClrTx/>
              <a:buSzTx/>
              <a:buFontTx/>
              <a:buNone/>
              <a:tabLst>
                <a:tab pos="452438" algn="l"/>
                <a:tab pos="903288" algn="l"/>
                <a:tab pos="1357313" algn="l"/>
              </a:tabLst>
              <a:defRPr/>
            </a:pPr>
            <a:r>
              <a:rPr kumimoji="0" lang="en-US" altLang="zh-CN" sz="1400" b="0" i="0" u="none" strike="noStrike" kern="1200" cap="none" spc="0" normalizeH="0" baseline="0" noProof="0" dirty="0">
                <a:ln>
                  <a:noFill/>
                </a:ln>
                <a:solidFill>
                  <a:srgbClr val="000000"/>
                </a:solidFill>
                <a:effectLst/>
                <a:uLnTx/>
                <a:uFillTx/>
                <a:latin typeface="Arial" pitchFamily="34" charset="0"/>
                <a:ea typeface="等线" panose="02010600030101010101" pitchFamily="2" charset="-122"/>
                <a:cs typeface="+mn-cs"/>
              </a:rPr>
              <a:t>&lt;&lt;2</a:t>
            </a:r>
          </a:p>
        </p:txBody>
      </p:sp>
      <p:sp>
        <p:nvSpPr>
          <p:cNvPr id="65" name="Line 75">
            <a:extLst>
              <a:ext uri="{FF2B5EF4-FFF2-40B4-BE49-F238E27FC236}">
                <a16:creationId xmlns:a16="http://schemas.microsoft.com/office/drawing/2014/main" id="{ACF0E8E3-2DA9-FC86-16A3-E576D9610FAB}"/>
              </a:ext>
            </a:extLst>
          </p:cNvPr>
          <p:cNvSpPr>
            <a:spLocks noChangeShapeType="1"/>
          </p:cNvSpPr>
          <p:nvPr/>
        </p:nvSpPr>
        <p:spPr bwMode="auto">
          <a:xfrm>
            <a:off x="4550460" y="3028459"/>
            <a:ext cx="279632"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nvGrpSpPr>
          <p:cNvPr id="66" name="Group 76">
            <a:extLst>
              <a:ext uri="{FF2B5EF4-FFF2-40B4-BE49-F238E27FC236}">
                <a16:creationId xmlns:a16="http://schemas.microsoft.com/office/drawing/2014/main" id="{658004E0-E7EE-6660-AB69-29F0A8597B34}"/>
              </a:ext>
            </a:extLst>
          </p:cNvPr>
          <p:cNvGrpSpPr>
            <a:grpSpLocks/>
          </p:cNvGrpSpPr>
          <p:nvPr/>
        </p:nvGrpSpPr>
        <p:grpSpPr bwMode="auto">
          <a:xfrm>
            <a:off x="6019344" y="2479451"/>
            <a:ext cx="323126" cy="755999"/>
            <a:chOff x="1392" y="2880"/>
            <a:chExt cx="288" cy="480"/>
          </a:xfrm>
        </p:grpSpPr>
        <p:sp>
          <p:nvSpPr>
            <p:cNvPr id="245" name="Line 77">
              <a:extLst>
                <a:ext uri="{FF2B5EF4-FFF2-40B4-BE49-F238E27FC236}">
                  <a16:creationId xmlns:a16="http://schemas.microsoft.com/office/drawing/2014/main" id="{B8D7F3F1-0954-1CA0-7EDD-A232948128BD}"/>
                </a:ext>
              </a:extLst>
            </p:cNvPr>
            <p:cNvSpPr>
              <a:spLocks noChangeShapeType="1"/>
            </p:cNvSpPr>
            <p:nvPr/>
          </p:nvSpPr>
          <p:spPr bwMode="auto">
            <a:xfrm>
              <a:off x="1392" y="3072"/>
              <a:ext cx="48" cy="4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6" name="Line 78">
              <a:extLst>
                <a:ext uri="{FF2B5EF4-FFF2-40B4-BE49-F238E27FC236}">
                  <a16:creationId xmlns:a16="http://schemas.microsoft.com/office/drawing/2014/main" id="{574E896C-A41D-3B8E-B8D9-C2759004218A}"/>
                </a:ext>
              </a:extLst>
            </p:cNvPr>
            <p:cNvSpPr>
              <a:spLocks noChangeShapeType="1"/>
            </p:cNvSpPr>
            <p:nvPr/>
          </p:nvSpPr>
          <p:spPr bwMode="auto">
            <a:xfrm flipH="1">
              <a:off x="1392" y="3120"/>
              <a:ext cx="48" cy="4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7" name="Line 79">
              <a:extLst>
                <a:ext uri="{FF2B5EF4-FFF2-40B4-BE49-F238E27FC236}">
                  <a16:creationId xmlns:a16="http://schemas.microsoft.com/office/drawing/2014/main" id="{9CCA3F6C-3C0C-112B-08B2-FD768874A8B3}"/>
                </a:ext>
              </a:extLst>
            </p:cNvPr>
            <p:cNvSpPr>
              <a:spLocks noChangeShapeType="1"/>
            </p:cNvSpPr>
            <p:nvPr/>
          </p:nvSpPr>
          <p:spPr bwMode="auto">
            <a:xfrm flipV="1">
              <a:off x="1392" y="2880"/>
              <a:ext cx="0" cy="192"/>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8" name="Line 80">
              <a:extLst>
                <a:ext uri="{FF2B5EF4-FFF2-40B4-BE49-F238E27FC236}">
                  <a16:creationId xmlns:a16="http://schemas.microsoft.com/office/drawing/2014/main" id="{626F89E8-25E7-A2EA-E891-84443FF6A944}"/>
                </a:ext>
              </a:extLst>
            </p:cNvPr>
            <p:cNvSpPr>
              <a:spLocks noChangeShapeType="1"/>
            </p:cNvSpPr>
            <p:nvPr/>
          </p:nvSpPr>
          <p:spPr bwMode="auto">
            <a:xfrm flipV="1">
              <a:off x="1392" y="3168"/>
              <a:ext cx="0" cy="192"/>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9" name="Line 81">
              <a:extLst>
                <a:ext uri="{FF2B5EF4-FFF2-40B4-BE49-F238E27FC236}">
                  <a16:creationId xmlns:a16="http://schemas.microsoft.com/office/drawing/2014/main" id="{2399069B-C19A-6077-12B9-3B4EC187CF42}"/>
                </a:ext>
              </a:extLst>
            </p:cNvPr>
            <p:cNvSpPr>
              <a:spLocks noChangeShapeType="1"/>
            </p:cNvSpPr>
            <p:nvPr/>
          </p:nvSpPr>
          <p:spPr bwMode="auto">
            <a:xfrm flipV="1">
              <a:off x="1392" y="3216"/>
              <a:ext cx="288" cy="144"/>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0" name="Line 82">
              <a:extLst>
                <a:ext uri="{FF2B5EF4-FFF2-40B4-BE49-F238E27FC236}">
                  <a16:creationId xmlns:a16="http://schemas.microsoft.com/office/drawing/2014/main" id="{4C949AE5-DEB0-DDD8-00EE-16AF192D5779}"/>
                </a:ext>
              </a:extLst>
            </p:cNvPr>
            <p:cNvSpPr>
              <a:spLocks noChangeShapeType="1"/>
            </p:cNvSpPr>
            <p:nvPr/>
          </p:nvSpPr>
          <p:spPr bwMode="auto">
            <a:xfrm flipV="1">
              <a:off x="1680" y="3024"/>
              <a:ext cx="0" cy="192"/>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1" name="Line 83">
              <a:extLst>
                <a:ext uri="{FF2B5EF4-FFF2-40B4-BE49-F238E27FC236}">
                  <a16:creationId xmlns:a16="http://schemas.microsoft.com/office/drawing/2014/main" id="{AE69A924-3A5D-06CC-4EDB-CA22020D3738}"/>
                </a:ext>
              </a:extLst>
            </p:cNvPr>
            <p:cNvSpPr>
              <a:spLocks noChangeShapeType="1"/>
            </p:cNvSpPr>
            <p:nvPr/>
          </p:nvSpPr>
          <p:spPr bwMode="auto">
            <a:xfrm>
              <a:off x="1392" y="2880"/>
              <a:ext cx="288" cy="144"/>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67" name="Text Box 84">
            <a:extLst>
              <a:ext uri="{FF2B5EF4-FFF2-40B4-BE49-F238E27FC236}">
                <a16:creationId xmlns:a16="http://schemas.microsoft.com/office/drawing/2014/main" id="{1EB7F764-FA71-DF46-38A5-60C443789B96}"/>
              </a:ext>
            </a:extLst>
          </p:cNvPr>
          <p:cNvSpPr txBox="1">
            <a:spLocks noChangeArrowheads="1"/>
          </p:cNvSpPr>
          <p:nvPr/>
        </p:nvSpPr>
        <p:spPr bwMode="auto">
          <a:xfrm>
            <a:off x="5965874" y="2736409"/>
            <a:ext cx="457146"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Add</a:t>
            </a:r>
          </a:p>
        </p:txBody>
      </p:sp>
      <p:sp>
        <p:nvSpPr>
          <p:cNvPr id="68" name="Line 85">
            <a:extLst>
              <a:ext uri="{FF2B5EF4-FFF2-40B4-BE49-F238E27FC236}">
                <a16:creationId xmlns:a16="http://schemas.microsoft.com/office/drawing/2014/main" id="{E896B726-2B13-4369-1243-E18EA8CD5F71}"/>
              </a:ext>
            </a:extLst>
          </p:cNvPr>
          <p:cNvSpPr>
            <a:spLocks noChangeShapeType="1"/>
          </p:cNvSpPr>
          <p:nvPr/>
        </p:nvSpPr>
        <p:spPr bwMode="auto">
          <a:xfrm>
            <a:off x="5201712" y="3028667"/>
            <a:ext cx="827804"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9" name="Rectangle 86">
            <a:extLst>
              <a:ext uri="{FF2B5EF4-FFF2-40B4-BE49-F238E27FC236}">
                <a16:creationId xmlns:a16="http://schemas.microsoft.com/office/drawing/2014/main" id="{6815E01E-CE72-0896-7DA9-FCF22D7230B7}"/>
              </a:ext>
            </a:extLst>
          </p:cNvPr>
          <p:cNvSpPr>
            <a:spLocks noChangeArrowheads="1"/>
          </p:cNvSpPr>
          <p:nvPr/>
        </p:nvSpPr>
        <p:spPr bwMode="auto">
          <a:xfrm>
            <a:off x="6781172" y="3323590"/>
            <a:ext cx="1171869" cy="1013596"/>
          </a:xfrm>
          <a:prstGeom prst="rect">
            <a:avLst/>
          </a:pr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0" name="Line 87">
            <a:extLst>
              <a:ext uri="{FF2B5EF4-FFF2-40B4-BE49-F238E27FC236}">
                <a16:creationId xmlns:a16="http://schemas.microsoft.com/office/drawing/2014/main" id="{337D2729-D19F-CE53-2B55-BE3C12ED27F3}"/>
              </a:ext>
            </a:extLst>
          </p:cNvPr>
          <p:cNvSpPr>
            <a:spLocks noChangeShapeType="1"/>
          </p:cNvSpPr>
          <p:nvPr/>
        </p:nvSpPr>
        <p:spPr bwMode="auto">
          <a:xfrm>
            <a:off x="6574373" y="3858124"/>
            <a:ext cx="206801"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1" name="Text Box 88">
            <a:extLst>
              <a:ext uri="{FF2B5EF4-FFF2-40B4-BE49-F238E27FC236}">
                <a16:creationId xmlns:a16="http://schemas.microsoft.com/office/drawing/2014/main" id="{5DC0FCF1-962A-F8A3-5BAB-1B8B5F970D90}"/>
              </a:ext>
            </a:extLst>
          </p:cNvPr>
          <p:cNvSpPr txBox="1">
            <a:spLocks noChangeArrowheads="1"/>
          </p:cNvSpPr>
          <p:nvPr/>
        </p:nvSpPr>
        <p:spPr bwMode="auto">
          <a:xfrm>
            <a:off x="6766525" y="3323591"/>
            <a:ext cx="830645" cy="523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Data</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Memory</a:t>
            </a:r>
          </a:p>
        </p:txBody>
      </p:sp>
      <p:sp>
        <p:nvSpPr>
          <p:cNvPr id="72" name="Text Box 89">
            <a:extLst>
              <a:ext uri="{FF2B5EF4-FFF2-40B4-BE49-F238E27FC236}">
                <a16:creationId xmlns:a16="http://schemas.microsoft.com/office/drawing/2014/main" id="{46CAD9C3-A59F-F58B-0441-115004D011D6}"/>
              </a:ext>
            </a:extLst>
          </p:cNvPr>
          <p:cNvSpPr txBox="1">
            <a:spLocks noChangeArrowheads="1"/>
          </p:cNvSpPr>
          <p:nvPr/>
        </p:nvSpPr>
        <p:spPr bwMode="auto">
          <a:xfrm>
            <a:off x="6712239" y="3732124"/>
            <a:ext cx="747290"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Address</a:t>
            </a:r>
          </a:p>
        </p:txBody>
      </p:sp>
      <p:sp>
        <p:nvSpPr>
          <p:cNvPr id="73" name="Text Box 90">
            <a:extLst>
              <a:ext uri="{FF2B5EF4-FFF2-40B4-BE49-F238E27FC236}">
                <a16:creationId xmlns:a16="http://schemas.microsoft.com/office/drawing/2014/main" id="{446D3B41-EF0E-990A-5DEA-920996499C54}"/>
              </a:ext>
            </a:extLst>
          </p:cNvPr>
          <p:cNvSpPr txBox="1">
            <a:spLocks noChangeArrowheads="1"/>
          </p:cNvSpPr>
          <p:nvPr/>
        </p:nvSpPr>
        <p:spPr bwMode="auto">
          <a:xfrm>
            <a:off x="6712239" y="4047124"/>
            <a:ext cx="908039"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Write Data</a:t>
            </a:r>
          </a:p>
        </p:txBody>
      </p:sp>
      <p:sp>
        <p:nvSpPr>
          <p:cNvPr id="74" name="Text Box 91">
            <a:extLst>
              <a:ext uri="{FF2B5EF4-FFF2-40B4-BE49-F238E27FC236}">
                <a16:creationId xmlns:a16="http://schemas.microsoft.com/office/drawing/2014/main" id="{7224D270-7855-D080-6708-14AB6F9DED37}"/>
              </a:ext>
            </a:extLst>
          </p:cNvPr>
          <p:cNvSpPr txBox="1">
            <a:spLocks noChangeArrowheads="1"/>
          </p:cNvSpPr>
          <p:nvPr/>
        </p:nvSpPr>
        <p:spPr bwMode="auto">
          <a:xfrm>
            <a:off x="7470507" y="3669124"/>
            <a:ext cx="550120" cy="46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Read</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Data</a:t>
            </a:r>
          </a:p>
        </p:txBody>
      </p:sp>
      <p:sp>
        <p:nvSpPr>
          <p:cNvPr id="75" name="Line 92">
            <a:extLst>
              <a:ext uri="{FF2B5EF4-FFF2-40B4-BE49-F238E27FC236}">
                <a16:creationId xmlns:a16="http://schemas.microsoft.com/office/drawing/2014/main" id="{61A164CF-CB61-613C-8598-6029A569D828}"/>
              </a:ext>
            </a:extLst>
          </p:cNvPr>
          <p:cNvSpPr>
            <a:spLocks noChangeShapeType="1"/>
          </p:cNvSpPr>
          <p:nvPr/>
        </p:nvSpPr>
        <p:spPr bwMode="auto">
          <a:xfrm>
            <a:off x="6571152" y="4173124"/>
            <a:ext cx="210020"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6" name="Line 93">
            <a:extLst>
              <a:ext uri="{FF2B5EF4-FFF2-40B4-BE49-F238E27FC236}">
                <a16:creationId xmlns:a16="http://schemas.microsoft.com/office/drawing/2014/main" id="{9CF6050B-EB84-CB98-1254-28DB45E350F8}"/>
              </a:ext>
            </a:extLst>
          </p:cNvPr>
          <p:cNvSpPr>
            <a:spLocks noChangeShapeType="1"/>
          </p:cNvSpPr>
          <p:nvPr/>
        </p:nvSpPr>
        <p:spPr bwMode="auto">
          <a:xfrm>
            <a:off x="8228776" y="4173124"/>
            <a:ext cx="206801" cy="1313"/>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7" name="AutoShape 94">
            <a:extLst>
              <a:ext uri="{FF2B5EF4-FFF2-40B4-BE49-F238E27FC236}">
                <a16:creationId xmlns:a16="http://schemas.microsoft.com/office/drawing/2014/main" id="{2336F41F-2BB0-F499-771C-81752988C3E1}"/>
              </a:ext>
            </a:extLst>
          </p:cNvPr>
          <p:cNvSpPr>
            <a:spLocks noChangeArrowheads="1"/>
          </p:cNvSpPr>
          <p:nvPr/>
        </p:nvSpPr>
        <p:spPr bwMode="auto">
          <a:xfrm rot="16200000">
            <a:off x="8255476" y="3912224"/>
            <a:ext cx="567000" cy="206801"/>
          </a:xfrm>
          <a:custGeom>
            <a:avLst/>
            <a:gdLst>
              <a:gd name="T0" fmla="*/ 8 w 21600"/>
              <a:gd name="T1" fmla="*/ 0 h 21600"/>
              <a:gd name="T2" fmla="*/ 4 w 21600"/>
              <a:gd name="T3" fmla="*/ 1 h 21600"/>
              <a:gd name="T4" fmla="*/ 1 w 21600"/>
              <a:gd name="T5" fmla="*/ 0 h 21600"/>
              <a:gd name="T6" fmla="*/ 4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8" name="Line 98">
            <a:extLst>
              <a:ext uri="{FF2B5EF4-FFF2-40B4-BE49-F238E27FC236}">
                <a16:creationId xmlns:a16="http://schemas.microsoft.com/office/drawing/2014/main" id="{715FD382-1CA7-FA3C-B301-51156576CD84}"/>
              </a:ext>
            </a:extLst>
          </p:cNvPr>
          <p:cNvSpPr>
            <a:spLocks noChangeShapeType="1"/>
          </p:cNvSpPr>
          <p:nvPr/>
        </p:nvSpPr>
        <p:spPr bwMode="auto">
          <a:xfrm>
            <a:off x="4177187" y="3359142"/>
            <a:ext cx="137867"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9" name="Line 99">
            <a:extLst>
              <a:ext uri="{FF2B5EF4-FFF2-40B4-BE49-F238E27FC236}">
                <a16:creationId xmlns:a16="http://schemas.microsoft.com/office/drawing/2014/main" id="{C42170F4-FF6E-63E6-5D8E-23A7FA367704}"/>
              </a:ext>
            </a:extLst>
          </p:cNvPr>
          <p:cNvSpPr>
            <a:spLocks noChangeShapeType="1"/>
          </p:cNvSpPr>
          <p:nvPr/>
        </p:nvSpPr>
        <p:spPr bwMode="auto">
          <a:xfrm>
            <a:off x="2798518" y="4236125"/>
            <a:ext cx="0" cy="125693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0" name="Line 100">
            <a:extLst>
              <a:ext uri="{FF2B5EF4-FFF2-40B4-BE49-F238E27FC236}">
                <a16:creationId xmlns:a16="http://schemas.microsoft.com/office/drawing/2014/main" id="{8F2DB15C-0218-038B-3753-BECDAFC1BD32}"/>
              </a:ext>
            </a:extLst>
          </p:cNvPr>
          <p:cNvSpPr>
            <a:spLocks noChangeShapeType="1"/>
          </p:cNvSpPr>
          <p:nvPr/>
        </p:nvSpPr>
        <p:spPr bwMode="auto">
          <a:xfrm>
            <a:off x="1798083" y="2724126"/>
            <a:ext cx="206801"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1" name="Line 101">
            <a:extLst>
              <a:ext uri="{FF2B5EF4-FFF2-40B4-BE49-F238E27FC236}">
                <a16:creationId xmlns:a16="http://schemas.microsoft.com/office/drawing/2014/main" id="{FD54DE4A-57FF-EA37-152E-8C2D93444079}"/>
              </a:ext>
            </a:extLst>
          </p:cNvPr>
          <p:cNvSpPr>
            <a:spLocks noChangeShapeType="1"/>
          </p:cNvSpPr>
          <p:nvPr/>
        </p:nvSpPr>
        <p:spPr bwMode="auto">
          <a:xfrm>
            <a:off x="1108749" y="1905127"/>
            <a:ext cx="827202" cy="0"/>
          </a:xfrm>
          <a:prstGeom prst="line">
            <a:avLst/>
          </a:prstGeom>
          <a:noFill/>
          <a:ln w="19050">
            <a:solidFill>
              <a:sysClr val="windowText" lastClr="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2" name="Line 102">
            <a:extLst>
              <a:ext uri="{FF2B5EF4-FFF2-40B4-BE49-F238E27FC236}">
                <a16:creationId xmlns:a16="http://schemas.microsoft.com/office/drawing/2014/main" id="{03D706F4-F497-AD33-BCCE-C8406390933B}"/>
              </a:ext>
            </a:extLst>
          </p:cNvPr>
          <p:cNvSpPr>
            <a:spLocks noChangeShapeType="1"/>
          </p:cNvSpPr>
          <p:nvPr/>
        </p:nvSpPr>
        <p:spPr bwMode="auto">
          <a:xfrm>
            <a:off x="2280618" y="3795124"/>
            <a:ext cx="448966"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3" name="Line 103">
            <a:extLst>
              <a:ext uri="{FF2B5EF4-FFF2-40B4-BE49-F238E27FC236}">
                <a16:creationId xmlns:a16="http://schemas.microsoft.com/office/drawing/2014/main" id="{EFF68B2F-066F-7098-D211-A441C0F2CBB5}"/>
              </a:ext>
            </a:extLst>
          </p:cNvPr>
          <p:cNvSpPr>
            <a:spLocks noChangeShapeType="1"/>
          </p:cNvSpPr>
          <p:nvPr/>
        </p:nvSpPr>
        <p:spPr bwMode="auto">
          <a:xfrm>
            <a:off x="7953042" y="3858124"/>
            <a:ext cx="137549"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4" name="Rectangle 104">
            <a:extLst>
              <a:ext uri="{FF2B5EF4-FFF2-40B4-BE49-F238E27FC236}">
                <a16:creationId xmlns:a16="http://schemas.microsoft.com/office/drawing/2014/main" id="{5D3752B1-0D35-ADFE-AD4E-0DF3FA2517AF}"/>
              </a:ext>
            </a:extLst>
          </p:cNvPr>
          <p:cNvSpPr>
            <a:spLocks noChangeArrowheads="1"/>
          </p:cNvSpPr>
          <p:nvPr/>
        </p:nvSpPr>
        <p:spPr bwMode="auto">
          <a:xfrm>
            <a:off x="2142751" y="2535126"/>
            <a:ext cx="137867" cy="1826997"/>
          </a:xfrm>
          <a:prstGeom prst="rect">
            <a:avLst/>
          </a:prstGeom>
          <a:pattFill prst="wdUpDiag">
            <a:fgClr>
              <a:sysClr val="window" lastClr="FFFFFF">
                <a:lumMod val="75000"/>
              </a:sysClr>
            </a:fgClr>
            <a:bgClr>
              <a:sysClr val="window" lastClr="FFFFFF"/>
            </a:bgClr>
          </a:pattFill>
          <a:ln w="19050">
            <a:solidFill>
              <a:sysClr val="windowText" lastClr="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5" name="Rectangle 105">
            <a:extLst>
              <a:ext uri="{FF2B5EF4-FFF2-40B4-BE49-F238E27FC236}">
                <a16:creationId xmlns:a16="http://schemas.microsoft.com/office/drawing/2014/main" id="{88EAB0AC-1C19-F4E7-5580-C06300BC151C}"/>
              </a:ext>
            </a:extLst>
          </p:cNvPr>
          <p:cNvSpPr>
            <a:spLocks noChangeArrowheads="1"/>
          </p:cNvSpPr>
          <p:nvPr/>
        </p:nvSpPr>
        <p:spPr bwMode="auto">
          <a:xfrm>
            <a:off x="4315053" y="2535125"/>
            <a:ext cx="143636" cy="2904496"/>
          </a:xfrm>
          <a:prstGeom prst="rect">
            <a:avLst/>
          </a:prstGeom>
          <a:pattFill prst="wdUpDiag">
            <a:fgClr>
              <a:sysClr val="window" lastClr="FFFFFF">
                <a:lumMod val="75000"/>
              </a:sysClr>
            </a:fgClr>
            <a:bgClr>
              <a:sysClr val="window" lastClr="FFFFFF"/>
            </a:bgClr>
          </a:pattFill>
          <a:ln w="19050">
            <a:solidFill>
              <a:sysClr val="windowText" lastClr="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6" name="Line 106">
            <a:extLst>
              <a:ext uri="{FF2B5EF4-FFF2-40B4-BE49-F238E27FC236}">
                <a16:creationId xmlns:a16="http://schemas.microsoft.com/office/drawing/2014/main" id="{78AB7EAC-5166-DB5A-459B-08BEE2E25CA6}"/>
              </a:ext>
            </a:extLst>
          </p:cNvPr>
          <p:cNvSpPr>
            <a:spLocks noChangeShapeType="1"/>
          </p:cNvSpPr>
          <p:nvPr/>
        </p:nvSpPr>
        <p:spPr bwMode="auto">
          <a:xfrm>
            <a:off x="1935950" y="2724126"/>
            <a:ext cx="206801"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7" name="Line 107">
            <a:extLst>
              <a:ext uri="{FF2B5EF4-FFF2-40B4-BE49-F238E27FC236}">
                <a16:creationId xmlns:a16="http://schemas.microsoft.com/office/drawing/2014/main" id="{F4086829-34CD-12F8-6FB6-DBDD48CE2900}"/>
              </a:ext>
            </a:extLst>
          </p:cNvPr>
          <p:cNvSpPr>
            <a:spLocks noChangeShapeType="1"/>
          </p:cNvSpPr>
          <p:nvPr/>
        </p:nvSpPr>
        <p:spPr bwMode="auto">
          <a:xfrm>
            <a:off x="2280618" y="2724126"/>
            <a:ext cx="2034436"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8" name="Line 108">
            <a:extLst>
              <a:ext uri="{FF2B5EF4-FFF2-40B4-BE49-F238E27FC236}">
                <a16:creationId xmlns:a16="http://schemas.microsoft.com/office/drawing/2014/main" id="{7F6CAB02-1B84-62FF-20EB-65CA619D2087}"/>
              </a:ext>
            </a:extLst>
          </p:cNvPr>
          <p:cNvSpPr>
            <a:spLocks noChangeShapeType="1"/>
          </p:cNvSpPr>
          <p:nvPr/>
        </p:nvSpPr>
        <p:spPr bwMode="auto">
          <a:xfrm>
            <a:off x="6346030" y="2874234"/>
            <a:ext cx="90475"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9" name="Line 109">
            <a:extLst>
              <a:ext uri="{FF2B5EF4-FFF2-40B4-BE49-F238E27FC236}">
                <a16:creationId xmlns:a16="http://schemas.microsoft.com/office/drawing/2014/main" id="{80191217-2A95-813A-0030-3718899F5C35}"/>
              </a:ext>
            </a:extLst>
          </p:cNvPr>
          <p:cNvSpPr>
            <a:spLocks noChangeShapeType="1"/>
          </p:cNvSpPr>
          <p:nvPr/>
        </p:nvSpPr>
        <p:spPr bwMode="auto">
          <a:xfrm>
            <a:off x="4452921" y="4803123"/>
            <a:ext cx="97539"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0" name="Line 110">
            <a:extLst>
              <a:ext uri="{FF2B5EF4-FFF2-40B4-BE49-F238E27FC236}">
                <a16:creationId xmlns:a16="http://schemas.microsoft.com/office/drawing/2014/main" id="{C6A65543-F0C4-9B7B-2568-2D11749D5FEE}"/>
              </a:ext>
            </a:extLst>
          </p:cNvPr>
          <p:cNvSpPr>
            <a:spLocks noChangeShapeType="1"/>
          </p:cNvSpPr>
          <p:nvPr/>
        </p:nvSpPr>
        <p:spPr bwMode="auto">
          <a:xfrm>
            <a:off x="4861694" y="4045965"/>
            <a:ext cx="0" cy="647762"/>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1" name="Line 111">
            <a:extLst>
              <a:ext uri="{FF2B5EF4-FFF2-40B4-BE49-F238E27FC236}">
                <a16:creationId xmlns:a16="http://schemas.microsoft.com/office/drawing/2014/main" id="{566C1920-828B-074D-0589-39AF4DF9BFD6}"/>
              </a:ext>
            </a:extLst>
          </p:cNvPr>
          <p:cNvSpPr>
            <a:spLocks noChangeShapeType="1"/>
          </p:cNvSpPr>
          <p:nvPr/>
        </p:nvSpPr>
        <p:spPr bwMode="auto">
          <a:xfrm>
            <a:off x="4861693" y="4693727"/>
            <a:ext cx="1574407"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2" name="Rectangle 112">
            <a:extLst>
              <a:ext uri="{FF2B5EF4-FFF2-40B4-BE49-F238E27FC236}">
                <a16:creationId xmlns:a16="http://schemas.microsoft.com/office/drawing/2014/main" id="{02384809-C9C1-38D9-DC30-A29A494088E7}"/>
              </a:ext>
            </a:extLst>
          </p:cNvPr>
          <p:cNvSpPr>
            <a:spLocks noChangeArrowheads="1"/>
          </p:cNvSpPr>
          <p:nvPr/>
        </p:nvSpPr>
        <p:spPr bwMode="auto">
          <a:xfrm>
            <a:off x="8090909" y="3039125"/>
            <a:ext cx="137867" cy="2141997"/>
          </a:xfrm>
          <a:prstGeom prst="rect">
            <a:avLst/>
          </a:prstGeom>
          <a:pattFill prst="wdUpDiag">
            <a:fgClr>
              <a:sysClr val="window" lastClr="FFFFFF">
                <a:lumMod val="75000"/>
              </a:sysClr>
            </a:fgClr>
            <a:bgClr>
              <a:sysClr val="window" lastClr="FFFFFF"/>
            </a:bgClr>
          </a:pattFill>
          <a:ln w="19050">
            <a:solidFill>
              <a:sysClr val="windowText" lastClr="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3" name="Line 113">
            <a:extLst>
              <a:ext uri="{FF2B5EF4-FFF2-40B4-BE49-F238E27FC236}">
                <a16:creationId xmlns:a16="http://schemas.microsoft.com/office/drawing/2014/main" id="{E0F3F3F7-747D-7964-B504-8B49EEF44764}"/>
              </a:ext>
            </a:extLst>
          </p:cNvPr>
          <p:cNvSpPr>
            <a:spLocks noChangeShapeType="1"/>
          </p:cNvSpPr>
          <p:nvPr/>
        </p:nvSpPr>
        <p:spPr bwMode="auto">
          <a:xfrm>
            <a:off x="6643305" y="4803123"/>
            <a:ext cx="1447603"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4" name="Line 114">
            <a:extLst>
              <a:ext uri="{FF2B5EF4-FFF2-40B4-BE49-F238E27FC236}">
                <a16:creationId xmlns:a16="http://schemas.microsoft.com/office/drawing/2014/main" id="{B1DA3EC8-0535-38AD-3690-81AE2F3844D3}"/>
              </a:ext>
            </a:extLst>
          </p:cNvPr>
          <p:cNvSpPr>
            <a:spLocks noChangeShapeType="1"/>
          </p:cNvSpPr>
          <p:nvPr/>
        </p:nvSpPr>
        <p:spPr bwMode="auto">
          <a:xfrm>
            <a:off x="8228776" y="3858124"/>
            <a:ext cx="206801" cy="1313"/>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5" name="Line 115">
            <a:extLst>
              <a:ext uri="{FF2B5EF4-FFF2-40B4-BE49-F238E27FC236}">
                <a16:creationId xmlns:a16="http://schemas.microsoft.com/office/drawing/2014/main" id="{75CABABF-5805-660C-7959-6923022BEFA0}"/>
              </a:ext>
            </a:extLst>
          </p:cNvPr>
          <p:cNvSpPr>
            <a:spLocks noChangeShapeType="1"/>
          </p:cNvSpPr>
          <p:nvPr/>
        </p:nvSpPr>
        <p:spPr bwMode="auto">
          <a:xfrm>
            <a:off x="8780243" y="3984125"/>
            <a:ext cx="0" cy="1508939"/>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6" name="Line 116">
            <a:extLst>
              <a:ext uri="{FF2B5EF4-FFF2-40B4-BE49-F238E27FC236}">
                <a16:creationId xmlns:a16="http://schemas.microsoft.com/office/drawing/2014/main" id="{4E57BE26-8BDB-96EB-9819-AF3FED5F3AE8}"/>
              </a:ext>
            </a:extLst>
          </p:cNvPr>
          <p:cNvSpPr>
            <a:spLocks noChangeShapeType="1"/>
          </p:cNvSpPr>
          <p:nvPr/>
        </p:nvSpPr>
        <p:spPr bwMode="auto">
          <a:xfrm>
            <a:off x="6781172" y="1653129"/>
            <a:ext cx="0" cy="1230176"/>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7" name="Line 117">
            <a:extLst>
              <a:ext uri="{FF2B5EF4-FFF2-40B4-BE49-F238E27FC236}">
                <a16:creationId xmlns:a16="http://schemas.microsoft.com/office/drawing/2014/main" id="{5F225632-CE59-C22D-6460-DBB834045486}"/>
              </a:ext>
            </a:extLst>
          </p:cNvPr>
          <p:cNvSpPr>
            <a:spLocks noChangeShapeType="1"/>
          </p:cNvSpPr>
          <p:nvPr/>
        </p:nvSpPr>
        <p:spPr bwMode="auto">
          <a:xfrm flipH="1">
            <a:off x="6436505" y="4173124"/>
            <a:ext cx="137867" cy="629999"/>
          </a:xfrm>
          <a:prstGeom prst="line">
            <a:avLst/>
          </a:prstGeom>
          <a:noFill/>
          <a:ln w="28575" cap="rnd">
            <a:solidFill>
              <a:srgbClr val="ED7D3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8" name="Line 118">
            <a:extLst>
              <a:ext uri="{FF2B5EF4-FFF2-40B4-BE49-F238E27FC236}">
                <a16:creationId xmlns:a16="http://schemas.microsoft.com/office/drawing/2014/main" id="{0AB0AA97-6142-FC44-6848-CA4DC414F290}"/>
              </a:ext>
            </a:extLst>
          </p:cNvPr>
          <p:cNvSpPr>
            <a:spLocks noChangeShapeType="1"/>
          </p:cNvSpPr>
          <p:nvPr/>
        </p:nvSpPr>
        <p:spPr bwMode="auto">
          <a:xfrm flipH="1">
            <a:off x="8090909" y="4173124"/>
            <a:ext cx="137867" cy="629999"/>
          </a:xfrm>
          <a:prstGeom prst="line">
            <a:avLst/>
          </a:prstGeom>
          <a:noFill/>
          <a:ln w="28575" cap="rnd">
            <a:solidFill>
              <a:sysClr val="windowText" lastClr="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9" name="Text Box 119">
            <a:extLst>
              <a:ext uri="{FF2B5EF4-FFF2-40B4-BE49-F238E27FC236}">
                <a16:creationId xmlns:a16="http://schemas.microsoft.com/office/drawing/2014/main" id="{9EAA4E64-4BB1-D48F-0434-97B699EB461D}"/>
              </a:ext>
            </a:extLst>
          </p:cNvPr>
          <p:cNvSpPr txBox="1">
            <a:spLocks noChangeArrowheads="1"/>
          </p:cNvSpPr>
          <p:nvPr/>
        </p:nvSpPr>
        <p:spPr bwMode="auto">
          <a:xfrm>
            <a:off x="1973049" y="2291631"/>
            <a:ext cx="519664"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IF/ID</a:t>
            </a:r>
          </a:p>
        </p:txBody>
      </p:sp>
      <p:sp>
        <p:nvSpPr>
          <p:cNvPr id="100" name="Line 120">
            <a:extLst>
              <a:ext uri="{FF2B5EF4-FFF2-40B4-BE49-F238E27FC236}">
                <a16:creationId xmlns:a16="http://schemas.microsoft.com/office/drawing/2014/main" id="{F07C35B8-A15A-3277-2918-B1D6BD960041}"/>
              </a:ext>
            </a:extLst>
          </p:cNvPr>
          <p:cNvSpPr>
            <a:spLocks noChangeShapeType="1"/>
          </p:cNvSpPr>
          <p:nvPr/>
        </p:nvSpPr>
        <p:spPr bwMode="auto">
          <a:xfrm flipV="1">
            <a:off x="4550460" y="3032122"/>
            <a:ext cx="0" cy="1330001"/>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1" name="Line 121">
            <a:extLst>
              <a:ext uri="{FF2B5EF4-FFF2-40B4-BE49-F238E27FC236}">
                <a16:creationId xmlns:a16="http://schemas.microsoft.com/office/drawing/2014/main" id="{A9C65B71-0F37-1B7C-EBCC-80E6E863FC36}"/>
              </a:ext>
            </a:extLst>
          </p:cNvPr>
          <p:cNvSpPr>
            <a:spLocks noChangeShapeType="1"/>
          </p:cNvSpPr>
          <p:nvPr/>
        </p:nvSpPr>
        <p:spPr bwMode="auto">
          <a:xfrm>
            <a:off x="3797544" y="4803123"/>
            <a:ext cx="517511"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2" name="Line 122">
            <a:extLst>
              <a:ext uri="{FF2B5EF4-FFF2-40B4-BE49-F238E27FC236}">
                <a16:creationId xmlns:a16="http://schemas.microsoft.com/office/drawing/2014/main" id="{65888F9E-FFFE-E68C-4735-E2722EE6D156}"/>
              </a:ext>
            </a:extLst>
          </p:cNvPr>
          <p:cNvSpPr>
            <a:spLocks noChangeShapeType="1"/>
          </p:cNvSpPr>
          <p:nvPr/>
        </p:nvSpPr>
        <p:spPr bwMode="auto">
          <a:xfrm>
            <a:off x="4452921" y="2724126"/>
            <a:ext cx="1565700"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3" name="Line 123">
            <a:extLst>
              <a:ext uri="{FF2B5EF4-FFF2-40B4-BE49-F238E27FC236}">
                <a16:creationId xmlns:a16="http://schemas.microsoft.com/office/drawing/2014/main" id="{22B46037-3C2C-47A2-E556-D356E0C43B4F}"/>
              </a:ext>
            </a:extLst>
          </p:cNvPr>
          <p:cNvSpPr>
            <a:spLocks noChangeShapeType="1"/>
          </p:cNvSpPr>
          <p:nvPr/>
        </p:nvSpPr>
        <p:spPr bwMode="auto">
          <a:xfrm>
            <a:off x="1935950" y="1905127"/>
            <a:ext cx="0" cy="818999"/>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4" name="Line 124">
            <a:extLst>
              <a:ext uri="{FF2B5EF4-FFF2-40B4-BE49-F238E27FC236}">
                <a16:creationId xmlns:a16="http://schemas.microsoft.com/office/drawing/2014/main" id="{B5F41C1D-07EF-0E26-0C96-0F177ED400D3}"/>
              </a:ext>
            </a:extLst>
          </p:cNvPr>
          <p:cNvSpPr>
            <a:spLocks noChangeShapeType="1"/>
          </p:cNvSpPr>
          <p:nvPr/>
        </p:nvSpPr>
        <p:spPr bwMode="auto">
          <a:xfrm flipV="1">
            <a:off x="6229705" y="3189448"/>
            <a:ext cx="0" cy="353676"/>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5" name="Line 125">
            <a:extLst>
              <a:ext uri="{FF2B5EF4-FFF2-40B4-BE49-F238E27FC236}">
                <a16:creationId xmlns:a16="http://schemas.microsoft.com/office/drawing/2014/main" id="{A9EC38FF-F797-8231-B694-711E3765002D}"/>
              </a:ext>
            </a:extLst>
          </p:cNvPr>
          <p:cNvSpPr>
            <a:spLocks noChangeShapeType="1"/>
          </p:cNvSpPr>
          <p:nvPr/>
        </p:nvSpPr>
        <p:spPr bwMode="auto">
          <a:xfrm>
            <a:off x="626215" y="2472127"/>
            <a:ext cx="0" cy="1322999"/>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6" name="Rectangle 126">
            <a:extLst>
              <a:ext uri="{FF2B5EF4-FFF2-40B4-BE49-F238E27FC236}">
                <a16:creationId xmlns:a16="http://schemas.microsoft.com/office/drawing/2014/main" id="{1C7BE89F-7AFA-2E4C-F532-EE9890AE273D}"/>
              </a:ext>
            </a:extLst>
          </p:cNvPr>
          <p:cNvSpPr>
            <a:spLocks noChangeArrowheads="1"/>
          </p:cNvSpPr>
          <p:nvPr/>
        </p:nvSpPr>
        <p:spPr bwMode="auto">
          <a:xfrm>
            <a:off x="6436505" y="2535126"/>
            <a:ext cx="137867" cy="2645996"/>
          </a:xfrm>
          <a:prstGeom prst="rect">
            <a:avLst/>
          </a:prstGeom>
          <a:pattFill prst="wdUpDiag">
            <a:fgClr>
              <a:sysClr val="window" lastClr="FFFFFF">
                <a:lumMod val="75000"/>
              </a:sysClr>
            </a:fgClr>
            <a:bgClr>
              <a:sysClr val="window" lastClr="FFFFFF"/>
            </a:bgClr>
          </a:pattFill>
          <a:ln w="19050">
            <a:solidFill>
              <a:sysClr val="windowText" lastClr="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7" name="Oval 127">
            <a:extLst>
              <a:ext uri="{FF2B5EF4-FFF2-40B4-BE49-F238E27FC236}">
                <a16:creationId xmlns:a16="http://schemas.microsoft.com/office/drawing/2014/main" id="{F043367C-FAEE-2A92-2D58-8CF3795CDBEB}"/>
              </a:ext>
            </a:extLst>
          </p:cNvPr>
          <p:cNvSpPr>
            <a:spLocks noChangeArrowheads="1"/>
          </p:cNvSpPr>
          <p:nvPr/>
        </p:nvSpPr>
        <p:spPr bwMode="auto">
          <a:xfrm>
            <a:off x="3074251" y="4614123"/>
            <a:ext cx="735291" cy="377999"/>
          </a:xfrm>
          <a:prstGeom prst="ellipse">
            <a:avLst/>
          </a:prstGeom>
          <a:solidFill>
            <a:sysClr val="window" lastClr="FFFFFF"/>
          </a:solidFill>
          <a:ln w="19050">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8" name="Rectangle 128">
            <a:extLst>
              <a:ext uri="{FF2B5EF4-FFF2-40B4-BE49-F238E27FC236}">
                <a16:creationId xmlns:a16="http://schemas.microsoft.com/office/drawing/2014/main" id="{3338D9A2-FBCB-F761-87B8-DD109ED0B12F}"/>
              </a:ext>
            </a:extLst>
          </p:cNvPr>
          <p:cNvSpPr>
            <a:spLocks noChangeArrowheads="1"/>
          </p:cNvSpPr>
          <p:nvPr/>
        </p:nvSpPr>
        <p:spPr bwMode="auto">
          <a:xfrm>
            <a:off x="3212118" y="4614123"/>
            <a:ext cx="482535" cy="37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0000"/>
                </a:solidFill>
                <a:effectLst/>
                <a:uLnTx/>
                <a:uFillTx/>
                <a:latin typeface="Arial" pitchFamily="34" charset="0"/>
                <a:ea typeface="等线" panose="02010600030101010101" pitchFamily="2" charset="-122"/>
                <a:cs typeface="+mn-cs"/>
              </a:rPr>
              <a:t>Imm</a:t>
            </a:r>
            <a:endParaRPr kumimoji="0" lang="en-US" altLang="zh-CN" sz="1200" b="0" i="0" u="none" strike="noStrike" kern="1200" cap="none" spc="0" normalizeH="0" baseline="0" noProof="0" dirty="0">
              <a:ln>
                <a:noFill/>
              </a:ln>
              <a:solidFill>
                <a:srgbClr val="000000"/>
              </a:solidFill>
              <a:effectLst/>
              <a:uLnTx/>
              <a:uFillTx/>
              <a:latin typeface="Arial" pitchFamily="34" charset="0"/>
              <a:ea typeface="等线" panose="02010600030101010101" pitchFamily="2" charset="-122"/>
              <a:cs typeface="+mn-cs"/>
            </a:endParaRP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itchFamily="34" charset="0"/>
                <a:ea typeface="等线" panose="02010600030101010101" pitchFamily="2" charset="-122"/>
                <a:cs typeface="+mn-cs"/>
              </a:rPr>
              <a:t>Extend</a:t>
            </a:r>
          </a:p>
        </p:txBody>
      </p:sp>
      <p:sp>
        <p:nvSpPr>
          <p:cNvPr id="109" name="Line 129">
            <a:extLst>
              <a:ext uri="{FF2B5EF4-FFF2-40B4-BE49-F238E27FC236}">
                <a16:creationId xmlns:a16="http://schemas.microsoft.com/office/drawing/2014/main" id="{9E16F27B-FB2F-B89E-6CEC-FAD8B98C0279}"/>
              </a:ext>
            </a:extLst>
          </p:cNvPr>
          <p:cNvSpPr>
            <a:spLocks noChangeShapeType="1"/>
          </p:cNvSpPr>
          <p:nvPr/>
        </p:nvSpPr>
        <p:spPr bwMode="auto">
          <a:xfrm>
            <a:off x="6574372" y="2874234"/>
            <a:ext cx="206801"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0" name="Line 130">
            <a:extLst>
              <a:ext uri="{FF2B5EF4-FFF2-40B4-BE49-F238E27FC236}">
                <a16:creationId xmlns:a16="http://schemas.microsoft.com/office/drawing/2014/main" id="{996CB6BE-F00A-B5E1-4366-5393BBF80177}"/>
              </a:ext>
            </a:extLst>
          </p:cNvPr>
          <p:cNvSpPr>
            <a:spLocks noChangeShapeType="1"/>
          </p:cNvSpPr>
          <p:nvPr/>
        </p:nvSpPr>
        <p:spPr bwMode="auto">
          <a:xfrm>
            <a:off x="6229705" y="3189449"/>
            <a:ext cx="206801"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1" name="Line 131">
            <a:extLst>
              <a:ext uri="{FF2B5EF4-FFF2-40B4-BE49-F238E27FC236}">
                <a16:creationId xmlns:a16="http://schemas.microsoft.com/office/drawing/2014/main" id="{E861996C-D92C-EF8C-DAE9-4DFD220F3D8C}"/>
              </a:ext>
            </a:extLst>
          </p:cNvPr>
          <p:cNvSpPr>
            <a:spLocks noChangeShapeType="1"/>
          </p:cNvSpPr>
          <p:nvPr/>
        </p:nvSpPr>
        <p:spPr bwMode="auto">
          <a:xfrm>
            <a:off x="6574371" y="3189449"/>
            <a:ext cx="646897" cy="0"/>
          </a:xfrm>
          <a:prstGeom prst="line">
            <a:avLst/>
          </a:prstGeom>
          <a:noFill/>
          <a:ln w="19050">
            <a:solidFill>
              <a:sysClr val="windowText" lastClr="000000"/>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2" name="Line 132">
            <a:extLst>
              <a:ext uri="{FF2B5EF4-FFF2-40B4-BE49-F238E27FC236}">
                <a16:creationId xmlns:a16="http://schemas.microsoft.com/office/drawing/2014/main" id="{AD2BC99C-F364-2AD4-4948-2C3796071D63}"/>
              </a:ext>
            </a:extLst>
          </p:cNvPr>
          <p:cNvSpPr>
            <a:spLocks noChangeShapeType="1"/>
          </p:cNvSpPr>
          <p:nvPr/>
        </p:nvSpPr>
        <p:spPr bwMode="auto">
          <a:xfrm>
            <a:off x="6643305" y="3858124"/>
            <a:ext cx="0" cy="944999"/>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3" name="Text Box 133">
            <a:extLst>
              <a:ext uri="{FF2B5EF4-FFF2-40B4-BE49-F238E27FC236}">
                <a16:creationId xmlns:a16="http://schemas.microsoft.com/office/drawing/2014/main" id="{889E243A-4C00-56FC-06E1-2817AEB31851}"/>
              </a:ext>
            </a:extLst>
          </p:cNvPr>
          <p:cNvSpPr txBox="1">
            <a:spLocks noChangeArrowheads="1"/>
          </p:cNvSpPr>
          <p:nvPr/>
        </p:nvSpPr>
        <p:spPr bwMode="auto">
          <a:xfrm>
            <a:off x="4108253" y="1751831"/>
            <a:ext cx="586990"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ID/EX</a:t>
            </a:r>
          </a:p>
        </p:txBody>
      </p:sp>
      <p:sp>
        <p:nvSpPr>
          <p:cNvPr id="114" name="Text Box 134">
            <a:extLst>
              <a:ext uri="{FF2B5EF4-FFF2-40B4-BE49-F238E27FC236}">
                <a16:creationId xmlns:a16="http://schemas.microsoft.com/office/drawing/2014/main" id="{413857CA-77AB-8B13-1DD3-77ADEEC7B690}"/>
              </a:ext>
            </a:extLst>
          </p:cNvPr>
          <p:cNvSpPr txBox="1">
            <a:spLocks noChangeArrowheads="1"/>
          </p:cNvSpPr>
          <p:nvPr/>
        </p:nvSpPr>
        <p:spPr bwMode="auto">
          <a:xfrm>
            <a:off x="6091838" y="1930065"/>
            <a:ext cx="792174"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EX/MEM</a:t>
            </a:r>
          </a:p>
        </p:txBody>
      </p:sp>
      <p:sp>
        <p:nvSpPr>
          <p:cNvPr id="115" name="Text Box 135">
            <a:extLst>
              <a:ext uri="{FF2B5EF4-FFF2-40B4-BE49-F238E27FC236}">
                <a16:creationId xmlns:a16="http://schemas.microsoft.com/office/drawing/2014/main" id="{F92B35E1-337D-0496-A9B5-1C2C801590E1}"/>
              </a:ext>
            </a:extLst>
          </p:cNvPr>
          <p:cNvSpPr txBox="1">
            <a:spLocks noChangeArrowheads="1"/>
          </p:cNvSpPr>
          <p:nvPr/>
        </p:nvSpPr>
        <p:spPr bwMode="auto">
          <a:xfrm>
            <a:off x="7815175" y="2606001"/>
            <a:ext cx="835455"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MEM/WB</a:t>
            </a:r>
          </a:p>
        </p:txBody>
      </p:sp>
      <p:sp>
        <p:nvSpPr>
          <p:cNvPr id="116" name="Rectangle 137">
            <a:extLst>
              <a:ext uri="{FF2B5EF4-FFF2-40B4-BE49-F238E27FC236}">
                <a16:creationId xmlns:a16="http://schemas.microsoft.com/office/drawing/2014/main" id="{880DF296-C01B-E6FA-DC24-B178B259EFB9}"/>
              </a:ext>
            </a:extLst>
          </p:cNvPr>
          <p:cNvSpPr>
            <a:spLocks noChangeArrowheads="1"/>
          </p:cNvSpPr>
          <p:nvPr/>
        </p:nvSpPr>
        <p:spPr bwMode="auto">
          <a:xfrm>
            <a:off x="4317882" y="2343073"/>
            <a:ext cx="137874" cy="189011"/>
          </a:xfrm>
          <a:prstGeom prst="rect">
            <a:avLst/>
          </a:prstGeom>
          <a:pattFill prst="wdUpDiag">
            <a:fgClr>
              <a:srgbClr val="70AD47">
                <a:lumMod val="40000"/>
                <a:lumOff val="60000"/>
              </a:srgbClr>
            </a:fgClr>
            <a:bgClr>
              <a:sysClr val="window" lastClr="FFFFFF"/>
            </a:bgClr>
          </a:pattFill>
          <a:ln w="19050">
            <a:solidFill>
              <a:srgbClr val="00B05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7" name="Rectangle 138">
            <a:extLst>
              <a:ext uri="{FF2B5EF4-FFF2-40B4-BE49-F238E27FC236}">
                <a16:creationId xmlns:a16="http://schemas.microsoft.com/office/drawing/2014/main" id="{F1B716B7-FC35-4C11-4BEA-4EA95D6C1363}"/>
              </a:ext>
            </a:extLst>
          </p:cNvPr>
          <p:cNvSpPr>
            <a:spLocks noChangeArrowheads="1"/>
          </p:cNvSpPr>
          <p:nvPr/>
        </p:nvSpPr>
        <p:spPr bwMode="auto">
          <a:xfrm>
            <a:off x="4317882" y="2154061"/>
            <a:ext cx="137874" cy="189011"/>
          </a:xfrm>
          <a:prstGeom prst="rect">
            <a:avLst/>
          </a:prstGeom>
          <a:pattFill prst="wdUpDiag">
            <a:fgClr>
              <a:srgbClr val="70AD47">
                <a:lumMod val="40000"/>
                <a:lumOff val="60000"/>
              </a:srgbClr>
            </a:fgClr>
            <a:bgClr>
              <a:sysClr val="window" lastClr="FFFFFF"/>
            </a:bgClr>
          </a:pattFill>
          <a:ln w="19050">
            <a:solidFill>
              <a:srgbClr val="00B05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8" name="Rectangle 139">
            <a:extLst>
              <a:ext uri="{FF2B5EF4-FFF2-40B4-BE49-F238E27FC236}">
                <a16:creationId xmlns:a16="http://schemas.microsoft.com/office/drawing/2014/main" id="{4EF31413-B717-EC34-ACDD-567A20362720}"/>
              </a:ext>
            </a:extLst>
          </p:cNvPr>
          <p:cNvSpPr>
            <a:spLocks noChangeArrowheads="1"/>
          </p:cNvSpPr>
          <p:nvPr/>
        </p:nvSpPr>
        <p:spPr bwMode="auto">
          <a:xfrm>
            <a:off x="4317882" y="1965050"/>
            <a:ext cx="137874" cy="189011"/>
          </a:xfrm>
          <a:prstGeom prst="rect">
            <a:avLst/>
          </a:prstGeom>
          <a:pattFill prst="wdUpDiag">
            <a:fgClr>
              <a:srgbClr val="70AD47">
                <a:lumMod val="40000"/>
                <a:lumOff val="60000"/>
              </a:srgbClr>
            </a:fgClr>
            <a:bgClr>
              <a:sysClr val="window" lastClr="FFFFFF"/>
            </a:bgClr>
          </a:pattFill>
          <a:ln w="19050">
            <a:solidFill>
              <a:srgbClr val="00B05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9" name="Rectangle 140">
            <a:extLst>
              <a:ext uri="{FF2B5EF4-FFF2-40B4-BE49-F238E27FC236}">
                <a16:creationId xmlns:a16="http://schemas.microsoft.com/office/drawing/2014/main" id="{15CCF9E1-6DC3-0A04-1D98-29A02DDBDA9F}"/>
              </a:ext>
            </a:extLst>
          </p:cNvPr>
          <p:cNvSpPr>
            <a:spLocks noChangeArrowheads="1"/>
          </p:cNvSpPr>
          <p:nvPr/>
        </p:nvSpPr>
        <p:spPr bwMode="auto">
          <a:xfrm>
            <a:off x="6436101" y="2338897"/>
            <a:ext cx="137874" cy="189011"/>
          </a:xfrm>
          <a:prstGeom prst="rect">
            <a:avLst/>
          </a:prstGeom>
          <a:pattFill prst="wdUpDiag">
            <a:fgClr>
              <a:srgbClr val="70AD47">
                <a:lumMod val="40000"/>
                <a:lumOff val="60000"/>
              </a:srgbClr>
            </a:fgClr>
            <a:bgClr>
              <a:sysClr val="window" lastClr="FFFFFF"/>
            </a:bgClr>
          </a:pattFill>
          <a:ln w="19050">
            <a:solidFill>
              <a:srgbClr val="00B05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0" name="Rectangle 141">
            <a:extLst>
              <a:ext uri="{FF2B5EF4-FFF2-40B4-BE49-F238E27FC236}">
                <a16:creationId xmlns:a16="http://schemas.microsoft.com/office/drawing/2014/main" id="{70BBE4F7-E189-4C05-F4B0-7ECC5A388386}"/>
              </a:ext>
            </a:extLst>
          </p:cNvPr>
          <p:cNvSpPr>
            <a:spLocks noChangeArrowheads="1"/>
          </p:cNvSpPr>
          <p:nvPr/>
        </p:nvSpPr>
        <p:spPr bwMode="auto">
          <a:xfrm>
            <a:off x="6436101" y="2149885"/>
            <a:ext cx="137874" cy="189011"/>
          </a:xfrm>
          <a:prstGeom prst="rect">
            <a:avLst/>
          </a:prstGeom>
          <a:pattFill prst="wdUpDiag">
            <a:fgClr>
              <a:srgbClr val="70AD47">
                <a:lumMod val="40000"/>
                <a:lumOff val="60000"/>
              </a:srgbClr>
            </a:fgClr>
            <a:bgClr>
              <a:sysClr val="window" lastClr="FFFFFF"/>
            </a:bgClr>
          </a:pattFill>
          <a:ln w="19050">
            <a:solidFill>
              <a:srgbClr val="00B05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1" name="Rectangle 142">
            <a:extLst>
              <a:ext uri="{FF2B5EF4-FFF2-40B4-BE49-F238E27FC236}">
                <a16:creationId xmlns:a16="http://schemas.microsoft.com/office/drawing/2014/main" id="{6150D17A-6251-967D-CA53-46977121FBE1}"/>
              </a:ext>
            </a:extLst>
          </p:cNvPr>
          <p:cNvSpPr>
            <a:spLocks noChangeArrowheads="1"/>
          </p:cNvSpPr>
          <p:nvPr/>
        </p:nvSpPr>
        <p:spPr bwMode="auto">
          <a:xfrm>
            <a:off x="8090590" y="2843112"/>
            <a:ext cx="137874" cy="189011"/>
          </a:xfrm>
          <a:prstGeom prst="rect">
            <a:avLst/>
          </a:prstGeom>
          <a:pattFill prst="wdUpDiag">
            <a:fgClr>
              <a:srgbClr val="70AD47">
                <a:lumMod val="40000"/>
                <a:lumOff val="60000"/>
              </a:srgbClr>
            </a:fgClr>
            <a:bgClr>
              <a:sysClr val="window" lastClr="FFFFFF"/>
            </a:bgClr>
          </a:pattFill>
          <a:ln w="19050">
            <a:solidFill>
              <a:srgbClr val="00B05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2" name="Rectangle 143">
            <a:extLst>
              <a:ext uri="{FF2B5EF4-FFF2-40B4-BE49-F238E27FC236}">
                <a16:creationId xmlns:a16="http://schemas.microsoft.com/office/drawing/2014/main" id="{ECF69E5B-1BF6-88F0-E86C-AF97D916025A}"/>
              </a:ext>
            </a:extLst>
          </p:cNvPr>
          <p:cNvSpPr>
            <a:spLocks noChangeArrowheads="1"/>
          </p:cNvSpPr>
          <p:nvPr/>
        </p:nvSpPr>
        <p:spPr bwMode="auto">
          <a:xfrm>
            <a:off x="3366296" y="2165624"/>
            <a:ext cx="482559" cy="252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B050"/>
                </a:solidFill>
                <a:effectLst/>
                <a:uLnTx/>
                <a:uFillTx/>
                <a:latin typeface="Arial" pitchFamily="34" charset="0"/>
                <a:ea typeface="等线" panose="02010600030101010101" pitchFamily="2" charset="-122"/>
                <a:cs typeface="+mn-cs"/>
              </a:rPr>
              <a:t>Control</a:t>
            </a:r>
          </a:p>
        </p:txBody>
      </p:sp>
      <p:sp>
        <p:nvSpPr>
          <p:cNvPr id="123" name="Oval 144">
            <a:extLst>
              <a:ext uri="{FF2B5EF4-FFF2-40B4-BE49-F238E27FC236}">
                <a16:creationId xmlns:a16="http://schemas.microsoft.com/office/drawing/2014/main" id="{7C04025A-DAD9-C41A-05FB-9349779376C7}"/>
              </a:ext>
            </a:extLst>
          </p:cNvPr>
          <p:cNvSpPr>
            <a:spLocks noChangeArrowheads="1"/>
          </p:cNvSpPr>
          <p:nvPr/>
        </p:nvSpPr>
        <p:spPr bwMode="auto">
          <a:xfrm>
            <a:off x="3331160" y="2011371"/>
            <a:ext cx="568374" cy="572120"/>
          </a:xfrm>
          <a:prstGeom prst="ellipse">
            <a:avLst/>
          </a:prstGeom>
          <a:noFill/>
          <a:ln w="19050">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4" name="Line 145">
            <a:extLst>
              <a:ext uri="{FF2B5EF4-FFF2-40B4-BE49-F238E27FC236}">
                <a16:creationId xmlns:a16="http://schemas.microsoft.com/office/drawing/2014/main" id="{B16B580C-F189-C79D-6A26-DFC0E4AA2A60}"/>
              </a:ext>
            </a:extLst>
          </p:cNvPr>
          <p:cNvSpPr>
            <a:spLocks noChangeShapeType="1"/>
          </p:cNvSpPr>
          <p:nvPr/>
        </p:nvSpPr>
        <p:spPr bwMode="auto">
          <a:xfrm>
            <a:off x="2729020" y="2481797"/>
            <a:ext cx="0" cy="819049"/>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5" name="Line 146">
            <a:extLst>
              <a:ext uri="{FF2B5EF4-FFF2-40B4-BE49-F238E27FC236}">
                <a16:creationId xmlns:a16="http://schemas.microsoft.com/office/drawing/2014/main" id="{EA1FE24B-2D96-C948-6483-7529BF0C6823}"/>
              </a:ext>
            </a:extLst>
          </p:cNvPr>
          <p:cNvSpPr>
            <a:spLocks noChangeShapeType="1"/>
          </p:cNvSpPr>
          <p:nvPr/>
        </p:nvSpPr>
        <p:spPr bwMode="auto">
          <a:xfrm>
            <a:off x="2729020" y="2481797"/>
            <a:ext cx="669730"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7" name="Line 148">
            <a:extLst>
              <a:ext uri="{FF2B5EF4-FFF2-40B4-BE49-F238E27FC236}">
                <a16:creationId xmlns:a16="http://schemas.microsoft.com/office/drawing/2014/main" id="{26C27A3F-1E24-389F-B9E3-332A4E32FC39}"/>
              </a:ext>
            </a:extLst>
          </p:cNvPr>
          <p:cNvSpPr>
            <a:spLocks noChangeShapeType="1"/>
          </p:cNvSpPr>
          <p:nvPr/>
        </p:nvSpPr>
        <p:spPr bwMode="auto">
          <a:xfrm>
            <a:off x="3900950" y="2244392"/>
            <a:ext cx="413622" cy="0"/>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8" name="Line 149">
            <a:extLst>
              <a:ext uri="{FF2B5EF4-FFF2-40B4-BE49-F238E27FC236}">
                <a16:creationId xmlns:a16="http://schemas.microsoft.com/office/drawing/2014/main" id="{C2034AF2-57DB-8647-A8E3-D54008AC1F49}"/>
              </a:ext>
            </a:extLst>
          </p:cNvPr>
          <p:cNvSpPr>
            <a:spLocks noChangeShapeType="1"/>
          </p:cNvSpPr>
          <p:nvPr/>
        </p:nvSpPr>
        <p:spPr bwMode="auto">
          <a:xfrm>
            <a:off x="3866481" y="2433404"/>
            <a:ext cx="448091" cy="0"/>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9" name="Line 150">
            <a:extLst>
              <a:ext uri="{FF2B5EF4-FFF2-40B4-BE49-F238E27FC236}">
                <a16:creationId xmlns:a16="http://schemas.microsoft.com/office/drawing/2014/main" id="{40A49E22-6A2B-E006-C699-0A3D6DC8A7C3}"/>
              </a:ext>
            </a:extLst>
          </p:cNvPr>
          <p:cNvSpPr>
            <a:spLocks noChangeShapeType="1"/>
          </p:cNvSpPr>
          <p:nvPr/>
        </p:nvSpPr>
        <p:spPr bwMode="auto">
          <a:xfrm>
            <a:off x="6573975" y="2433404"/>
            <a:ext cx="1516615" cy="441027"/>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0" name="Line 151">
            <a:extLst>
              <a:ext uri="{FF2B5EF4-FFF2-40B4-BE49-F238E27FC236}">
                <a16:creationId xmlns:a16="http://schemas.microsoft.com/office/drawing/2014/main" id="{F9205433-068B-EB7D-E951-6F7C37AD494A}"/>
              </a:ext>
            </a:extLst>
          </p:cNvPr>
          <p:cNvSpPr>
            <a:spLocks noChangeShapeType="1"/>
          </p:cNvSpPr>
          <p:nvPr/>
        </p:nvSpPr>
        <p:spPr bwMode="auto">
          <a:xfrm>
            <a:off x="4452445" y="2433404"/>
            <a:ext cx="1995516" cy="0"/>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1" name="Line 152">
            <a:extLst>
              <a:ext uri="{FF2B5EF4-FFF2-40B4-BE49-F238E27FC236}">
                <a16:creationId xmlns:a16="http://schemas.microsoft.com/office/drawing/2014/main" id="{DF1DA2CB-4345-22A6-E62F-D6839F65F1BE}"/>
              </a:ext>
            </a:extLst>
          </p:cNvPr>
          <p:cNvSpPr>
            <a:spLocks noChangeShapeType="1"/>
          </p:cNvSpPr>
          <p:nvPr/>
        </p:nvSpPr>
        <p:spPr bwMode="auto">
          <a:xfrm>
            <a:off x="4452445" y="2244392"/>
            <a:ext cx="1983656" cy="0"/>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2" name="Line 154">
            <a:extLst>
              <a:ext uri="{FF2B5EF4-FFF2-40B4-BE49-F238E27FC236}">
                <a16:creationId xmlns:a16="http://schemas.microsoft.com/office/drawing/2014/main" id="{5BAACD47-A9DA-30D3-22A2-404EBA4B6F5D}"/>
              </a:ext>
            </a:extLst>
          </p:cNvPr>
          <p:cNvSpPr>
            <a:spLocks noChangeShapeType="1"/>
          </p:cNvSpPr>
          <p:nvPr/>
        </p:nvSpPr>
        <p:spPr bwMode="auto">
          <a:xfrm>
            <a:off x="8573150" y="2937434"/>
            <a:ext cx="0" cy="252015"/>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3" name="Line 155">
            <a:extLst>
              <a:ext uri="{FF2B5EF4-FFF2-40B4-BE49-F238E27FC236}">
                <a16:creationId xmlns:a16="http://schemas.microsoft.com/office/drawing/2014/main" id="{CF2D97FF-EAA1-D2EA-ADF1-DDCC4875EE45}"/>
              </a:ext>
            </a:extLst>
          </p:cNvPr>
          <p:cNvSpPr>
            <a:spLocks noChangeShapeType="1"/>
          </p:cNvSpPr>
          <p:nvPr/>
        </p:nvSpPr>
        <p:spPr bwMode="auto">
          <a:xfrm>
            <a:off x="6573976" y="2244392"/>
            <a:ext cx="314793" cy="0"/>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4" name="Line 156">
            <a:extLst>
              <a:ext uri="{FF2B5EF4-FFF2-40B4-BE49-F238E27FC236}">
                <a16:creationId xmlns:a16="http://schemas.microsoft.com/office/drawing/2014/main" id="{84F606AB-3797-9F80-3065-4033FDCBB6AB}"/>
              </a:ext>
            </a:extLst>
          </p:cNvPr>
          <p:cNvSpPr>
            <a:spLocks noChangeShapeType="1"/>
          </p:cNvSpPr>
          <p:nvPr/>
        </p:nvSpPr>
        <p:spPr bwMode="auto">
          <a:xfrm>
            <a:off x="8228465" y="2937434"/>
            <a:ext cx="344685" cy="0"/>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5" name="Line 157">
            <a:extLst>
              <a:ext uri="{FF2B5EF4-FFF2-40B4-BE49-F238E27FC236}">
                <a16:creationId xmlns:a16="http://schemas.microsoft.com/office/drawing/2014/main" id="{2F055A94-958A-59AC-DB6C-BFAA47E34A8F}"/>
              </a:ext>
            </a:extLst>
          </p:cNvPr>
          <p:cNvSpPr>
            <a:spLocks noChangeShapeType="1"/>
          </p:cNvSpPr>
          <p:nvPr/>
        </p:nvSpPr>
        <p:spPr bwMode="auto">
          <a:xfrm>
            <a:off x="6888769" y="2244391"/>
            <a:ext cx="0" cy="126007"/>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6" name="Rectangle 40">
            <a:extLst>
              <a:ext uri="{FF2B5EF4-FFF2-40B4-BE49-F238E27FC236}">
                <a16:creationId xmlns:a16="http://schemas.microsoft.com/office/drawing/2014/main" id="{A2821835-3DB8-4A18-29B7-CE4E5ED43768}"/>
              </a:ext>
            </a:extLst>
          </p:cNvPr>
          <p:cNvSpPr>
            <a:spLocks noChangeArrowheads="1"/>
          </p:cNvSpPr>
          <p:nvPr/>
        </p:nvSpPr>
        <p:spPr bwMode="auto">
          <a:xfrm flipH="1">
            <a:off x="8448520" y="3763624"/>
            <a:ext cx="144327" cy="556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l" defTabSz="914400" rtl="0" eaLnBrk="0" fontAlgn="auto" latinLnBrk="0" hangingPunct="0">
              <a:lnSpc>
                <a:spcPct val="9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1</a:t>
            </a:r>
          </a:p>
          <a:p>
            <a:pPr marL="0" marR="0" lvl="0" indent="0" algn="l" defTabSz="914400" rtl="0" eaLnBrk="0" fontAlgn="auto" latinLnBrk="0" hangingPunct="0">
              <a:lnSpc>
                <a:spcPct val="9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0</a:t>
            </a:r>
          </a:p>
        </p:txBody>
      </p:sp>
      <p:sp>
        <p:nvSpPr>
          <p:cNvPr id="137" name="Line 118">
            <a:extLst>
              <a:ext uri="{FF2B5EF4-FFF2-40B4-BE49-F238E27FC236}">
                <a16:creationId xmlns:a16="http://schemas.microsoft.com/office/drawing/2014/main" id="{4F358BCF-FE4E-ACB1-AB91-0503B8E96748}"/>
              </a:ext>
            </a:extLst>
          </p:cNvPr>
          <p:cNvSpPr>
            <a:spLocks noChangeShapeType="1"/>
          </p:cNvSpPr>
          <p:nvPr/>
        </p:nvSpPr>
        <p:spPr bwMode="auto">
          <a:xfrm flipH="1">
            <a:off x="6442616" y="4193514"/>
            <a:ext cx="112567" cy="512032"/>
          </a:xfrm>
          <a:prstGeom prst="line">
            <a:avLst/>
          </a:prstGeom>
          <a:noFill/>
          <a:ln w="28575" cap="rnd">
            <a:solidFill>
              <a:sysClr val="windowText" lastClr="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8" name="Line 13">
            <a:extLst>
              <a:ext uri="{FF2B5EF4-FFF2-40B4-BE49-F238E27FC236}">
                <a16:creationId xmlns:a16="http://schemas.microsoft.com/office/drawing/2014/main" id="{A3B1DB9F-154D-FD1B-4828-4D0369ACBB5F}"/>
              </a:ext>
            </a:extLst>
          </p:cNvPr>
          <p:cNvSpPr>
            <a:spLocks noChangeShapeType="1"/>
          </p:cNvSpPr>
          <p:nvPr/>
        </p:nvSpPr>
        <p:spPr bwMode="auto">
          <a:xfrm>
            <a:off x="8642376" y="3984125"/>
            <a:ext cx="137867"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9" name="Line 110">
            <a:extLst>
              <a:ext uri="{FF2B5EF4-FFF2-40B4-BE49-F238E27FC236}">
                <a16:creationId xmlns:a16="http://schemas.microsoft.com/office/drawing/2014/main" id="{5221FA05-617B-976E-E081-6C48C0047263}"/>
              </a:ext>
            </a:extLst>
          </p:cNvPr>
          <p:cNvSpPr>
            <a:spLocks noChangeShapeType="1"/>
          </p:cNvSpPr>
          <p:nvPr/>
        </p:nvSpPr>
        <p:spPr bwMode="auto">
          <a:xfrm>
            <a:off x="2729020" y="5055122"/>
            <a:ext cx="0" cy="214905"/>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0" name="Line 8">
            <a:extLst>
              <a:ext uri="{FF2B5EF4-FFF2-40B4-BE49-F238E27FC236}">
                <a16:creationId xmlns:a16="http://schemas.microsoft.com/office/drawing/2014/main" id="{12383947-6A57-66AA-DA92-25169BC50E7A}"/>
              </a:ext>
            </a:extLst>
          </p:cNvPr>
          <p:cNvSpPr>
            <a:spLocks noChangeShapeType="1"/>
          </p:cNvSpPr>
          <p:nvPr/>
        </p:nvSpPr>
        <p:spPr bwMode="auto">
          <a:xfrm>
            <a:off x="2729020" y="5266843"/>
            <a:ext cx="1585470"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1" name="Line 9">
            <a:extLst>
              <a:ext uri="{FF2B5EF4-FFF2-40B4-BE49-F238E27FC236}">
                <a16:creationId xmlns:a16="http://schemas.microsoft.com/office/drawing/2014/main" id="{B36DCBB8-FD09-AB0B-BB51-81F051903CE6}"/>
              </a:ext>
            </a:extLst>
          </p:cNvPr>
          <p:cNvSpPr>
            <a:spLocks noChangeShapeType="1"/>
          </p:cNvSpPr>
          <p:nvPr/>
        </p:nvSpPr>
        <p:spPr bwMode="auto">
          <a:xfrm>
            <a:off x="4458689" y="5266843"/>
            <a:ext cx="1559932"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2" name="AutoShape 67">
            <a:extLst>
              <a:ext uri="{FF2B5EF4-FFF2-40B4-BE49-F238E27FC236}">
                <a16:creationId xmlns:a16="http://schemas.microsoft.com/office/drawing/2014/main" id="{1BCC7EC7-4902-726C-8E35-BB3277C7EAFB}"/>
              </a:ext>
            </a:extLst>
          </p:cNvPr>
          <p:cNvSpPr>
            <a:spLocks noChangeArrowheads="1"/>
          </p:cNvSpPr>
          <p:nvPr/>
        </p:nvSpPr>
        <p:spPr bwMode="auto">
          <a:xfrm rot="16200000">
            <a:off x="5865026" y="5009543"/>
            <a:ext cx="513139" cy="214814"/>
          </a:xfrm>
          <a:custGeom>
            <a:avLst/>
            <a:gdLst>
              <a:gd name="T0" fmla="*/ 9 w 21600"/>
              <a:gd name="T1" fmla="*/ 0 h 21600"/>
              <a:gd name="T2" fmla="*/ 5 w 21600"/>
              <a:gd name="T3" fmla="*/ 1 h 21600"/>
              <a:gd name="T4" fmla="*/ 1 w 21600"/>
              <a:gd name="T5" fmla="*/ 0 h 21600"/>
              <a:gd name="T6" fmla="*/ 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3" name="Rectangle 70">
            <a:extLst>
              <a:ext uri="{FF2B5EF4-FFF2-40B4-BE49-F238E27FC236}">
                <a16:creationId xmlns:a16="http://schemas.microsoft.com/office/drawing/2014/main" id="{EFA06E6B-F15E-A930-F63A-F7E69C5C85E1}"/>
              </a:ext>
            </a:extLst>
          </p:cNvPr>
          <p:cNvSpPr>
            <a:spLocks noChangeArrowheads="1"/>
          </p:cNvSpPr>
          <p:nvPr/>
        </p:nvSpPr>
        <p:spPr bwMode="auto">
          <a:xfrm>
            <a:off x="6008834" y="4940582"/>
            <a:ext cx="107664" cy="54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7" tIns="26984" rIns="19047" bIns="26984"/>
          <a:lstStyle/>
          <a:p>
            <a:pPr marL="0" marR="0" lvl="0" indent="0" algn="l" defTabSz="914400" rtl="0" eaLnBrk="0" fontAlgn="auto" latinLnBrk="0" hangingPunct="0">
              <a:lnSpc>
                <a:spcPct val="6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0</a:t>
            </a:r>
          </a:p>
          <a:p>
            <a:pPr marL="0" marR="0" lvl="0" indent="0" algn="l" defTabSz="914400" rtl="0" eaLnBrk="0" fontAlgn="auto" latinLnBrk="0" hangingPunct="0">
              <a:lnSpc>
                <a:spcPct val="60000"/>
              </a:lnSpc>
              <a:spcBef>
                <a:spcPts val="600"/>
              </a:spcBef>
              <a:spcAft>
                <a:spcPts val="60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等线" panose="02010600030101010101" pitchFamily="2" charset="-122"/>
                <a:cs typeface="+mn-cs"/>
              </a:rPr>
              <a:t>1</a:t>
            </a:r>
          </a:p>
        </p:txBody>
      </p:sp>
      <p:sp>
        <p:nvSpPr>
          <p:cNvPr id="144" name="Line 10">
            <a:extLst>
              <a:ext uri="{FF2B5EF4-FFF2-40B4-BE49-F238E27FC236}">
                <a16:creationId xmlns:a16="http://schemas.microsoft.com/office/drawing/2014/main" id="{884A0BB5-410D-9362-464D-8FCEE9D23AF5}"/>
              </a:ext>
            </a:extLst>
          </p:cNvPr>
          <p:cNvSpPr>
            <a:spLocks noChangeShapeType="1"/>
          </p:cNvSpPr>
          <p:nvPr/>
        </p:nvSpPr>
        <p:spPr bwMode="auto">
          <a:xfrm>
            <a:off x="6235433" y="5055122"/>
            <a:ext cx="195344"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5" name="Line 153">
            <a:extLst>
              <a:ext uri="{FF2B5EF4-FFF2-40B4-BE49-F238E27FC236}">
                <a16:creationId xmlns:a16="http://schemas.microsoft.com/office/drawing/2014/main" id="{1F33C654-82CD-4F06-2668-86AD1BAF3E17}"/>
              </a:ext>
            </a:extLst>
          </p:cNvPr>
          <p:cNvSpPr>
            <a:spLocks noChangeShapeType="1"/>
          </p:cNvSpPr>
          <p:nvPr/>
        </p:nvSpPr>
        <p:spPr bwMode="auto">
          <a:xfrm>
            <a:off x="3764334" y="2534424"/>
            <a:ext cx="304535" cy="0"/>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 name="Line 158">
            <a:extLst>
              <a:ext uri="{FF2B5EF4-FFF2-40B4-BE49-F238E27FC236}">
                <a16:creationId xmlns:a16="http://schemas.microsoft.com/office/drawing/2014/main" id="{091DE7E1-15D2-ED52-B2DC-D73C9FC342EE}"/>
              </a:ext>
            </a:extLst>
          </p:cNvPr>
          <p:cNvSpPr>
            <a:spLocks noChangeShapeType="1"/>
          </p:cNvSpPr>
          <p:nvPr/>
        </p:nvSpPr>
        <p:spPr bwMode="auto">
          <a:xfrm>
            <a:off x="4065238" y="2533047"/>
            <a:ext cx="0" cy="106836"/>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 name="Text Box 30">
            <a:extLst>
              <a:ext uri="{FF2B5EF4-FFF2-40B4-BE49-F238E27FC236}">
                <a16:creationId xmlns:a16="http://schemas.microsoft.com/office/drawing/2014/main" id="{29CD52B0-070D-3488-36A3-73F84F727F5F}"/>
              </a:ext>
            </a:extLst>
          </p:cNvPr>
          <p:cNvSpPr txBox="1">
            <a:spLocks noChangeArrowheads="1"/>
          </p:cNvSpPr>
          <p:nvPr/>
        </p:nvSpPr>
        <p:spPr bwMode="auto">
          <a:xfrm>
            <a:off x="6592661" y="2988725"/>
            <a:ext cx="500428"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Zero</a:t>
            </a:r>
          </a:p>
        </p:txBody>
      </p:sp>
      <p:sp>
        <p:nvSpPr>
          <p:cNvPr id="148" name="流程图: 延期 410">
            <a:extLst>
              <a:ext uri="{FF2B5EF4-FFF2-40B4-BE49-F238E27FC236}">
                <a16:creationId xmlns:a16="http://schemas.microsoft.com/office/drawing/2014/main" id="{BB0C9826-D6C7-E457-CD53-6E122AC5F6DF}"/>
              </a:ext>
            </a:extLst>
          </p:cNvPr>
          <p:cNvSpPr/>
          <p:nvPr/>
        </p:nvSpPr>
        <p:spPr>
          <a:xfrm rot="16200000">
            <a:off x="7129230" y="1703728"/>
            <a:ext cx="374703" cy="346353"/>
          </a:xfrm>
          <a:prstGeom prst="flowChartDelay">
            <a:avLst/>
          </a:prstGeom>
          <a:noFill/>
          <a:ln w="19050" cap="flat" cmpd="sng" algn="ctr">
            <a:solidFill>
              <a:srgbClr val="00B05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9" name="Line 124">
            <a:extLst>
              <a:ext uri="{FF2B5EF4-FFF2-40B4-BE49-F238E27FC236}">
                <a16:creationId xmlns:a16="http://schemas.microsoft.com/office/drawing/2014/main" id="{24A72254-F9B9-CC74-C936-7114066CD91B}"/>
              </a:ext>
            </a:extLst>
          </p:cNvPr>
          <p:cNvSpPr>
            <a:spLocks noChangeShapeType="1"/>
          </p:cNvSpPr>
          <p:nvPr/>
        </p:nvSpPr>
        <p:spPr bwMode="auto">
          <a:xfrm flipV="1">
            <a:off x="7221268" y="2067552"/>
            <a:ext cx="0" cy="1121896"/>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 name="Line 124">
            <a:extLst>
              <a:ext uri="{FF2B5EF4-FFF2-40B4-BE49-F238E27FC236}">
                <a16:creationId xmlns:a16="http://schemas.microsoft.com/office/drawing/2014/main" id="{7E1C55F2-54B0-EEE8-5E83-D3CEFC10C332}"/>
              </a:ext>
            </a:extLst>
          </p:cNvPr>
          <p:cNvSpPr>
            <a:spLocks noChangeShapeType="1"/>
          </p:cNvSpPr>
          <p:nvPr/>
        </p:nvSpPr>
        <p:spPr bwMode="auto">
          <a:xfrm flipV="1">
            <a:off x="7390138" y="2063609"/>
            <a:ext cx="0" cy="243785"/>
          </a:xfrm>
          <a:prstGeom prst="line">
            <a:avLst/>
          </a:prstGeom>
          <a:noFill/>
          <a:ln w="12700">
            <a:solidFill>
              <a:srgbClr val="00B05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 name="Text Box 30">
            <a:extLst>
              <a:ext uri="{FF2B5EF4-FFF2-40B4-BE49-F238E27FC236}">
                <a16:creationId xmlns:a16="http://schemas.microsoft.com/office/drawing/2014/main" id="{0938DEC6-A840-DF9F-2258-1DDE606414A3}"/>
              </a:ext>
            </a:extLst>
          </p:cNvPr>
          <p:cNvSpPr txBox="1">
            <a:spLocks noChangeArrowheads="1"/>
          </p:cNvSpPr>
          <p:nvPr/>
        </p:nvSpPr>
        <p:spPr bwMode="auto">
          <a:xfrm>
            <a:off x="7214515" y="2243245"/>
            <a:ext cx="670346"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rPr>
              <a:t>Branch</a:t>
            </a:r>
          </a:p>
        </p:txBody>
      </p:sp>
      <p:sp>
        <p:nvSpPr>
          <p:cNvPr id="152" name="Line 153">
            <a:extLst>
              <a:ext uri="{FF2B5EF4-FFF2-40B4-BE49-F238E27FC236}">
                <a16:creationId xmlns:a16="http://schemas.microsoft.com/office/drawing/2014/main" id="{4F06A2D5-4BE4-556F-008E-5B53572637E8}"/>
              </a:ext>
            </a:extLst>
          </p:cNvPr>
          <p:cNvSpPr>
            <a:spLocks noChangeShapeType="1"/>
          </p:cNvSpPr>
          <p:nvPr/>
        </p:nvSpPr>
        <p:spPr bwMode="auto">
          <a:xfrm flipV="1">
            <a:off x="3574641" y="2937434"/>
            <a:ext cx="0" cy="225267"/>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 name="Text Box 30">
            <a:extLst>
              <a:ext uri="{FF2B5EF4-FFF2-40B4-BE49-F238E27FC236}">
                <a16:creationId xmlns:a16="http://schemas.microsoft.com/office/drawing/2014/main" id="{CACE835B-3E74-6FDE-A08E-16E894DE5C12}"/>
              </a:ext>
            </a:extLst>
          </p:cNvPr>
          <p:cNvSpPr txBox="1">
            <a:spLocks noChangeArrowheads="1"/>
          </p:cNvSpPr>
          <p:nvPr/>
        </p:nvSpPr>
        <p:spPr bwMode="auto">
          <a:xfrm>
            <a:off x="3005317" y="2760378"/>
            <a:ext cx="659574"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B050"/>
                </a:solidFill>
                <a:effectLst/>
                <a:uLnTx/>
                <a:uFillTx/>
                <a:latin typeface="Arial" pitchFamily="34" charset="0"/>
                <a:ea typeface="SimHei" panose="02010609060101010101" pitchFamily="49" charset="-122"/>
                <a:cs typeface="+mn-cs"/>
              </a:rPr>
              <a:t>RegWr</a:t>
            </a:r>
            <a:endPar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endParaRPr>
          </a:p>
        </p:txBody>
      </p:sp>
      <p:sp>
        <p:nvSpPr>
          <p:cNvPr id="154" name="Line 153">
            <a:extLst>
              <a:ext uri="{FF2B5EF4-FFF2-40B4-BE49-F238E27FC236}">
                <a16:creationId xmlns:a16="http://schemas.microsoft.com/office/drawing/2014/main" id="{29C6D512-D24E-9D57-F808-28BB1CDC633A}"/>
              </a:ext>
            </a:extLst>
          </p:cNvPr>
          <p:cNvSpPr>
            <a:spLocks noChangeShapeType="1"/>
          </p:cNvSpPr>
          <p:nvPr/>
        </p:nvSpPr>
        <p:spPr bwMode="auto">
          <a:xfrm flipV="1">
            <a:off x="7318257" y="1459062"/>
            <a:ext cx="0" cy="230490"/>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 name="Line 153">
            <a:extLst>
              <a:ext uri="{FF2B5EF4-FFF2-40B4-BE49-F238E27FC236}">
                <a16:creationId xmlns:a16="http://schemas.microsoft.com/office/drawing/2014/main" id="{61035C13-A358-E442-CAB5-559947D18C4F}"/>
              </a:ext>
            </a:extLst>
          </p:cNvPr>
          <p:cNvSpPr>
            <a:spLocks noChangeShapeType="1"/>
          </p:cNvSpPr>
          <p:nvPr/>
        </p:nvSpPr>
        <p:spPr bwMode="auto">
          <a:xfrm flipV="1">
            <a:off x="972995" y="1459060"/>
            <a:ext cx="6343586" cy="0"/>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 name="Line 153">
            <a:extLst>
              <a:ext uri="{FF2B5EF4-FFF2-40B4-BE49-F238E27FC236}">
                <a16:creationId xmlns:a16="http://schemas.microsoft.com/office/drawing/2014/main" id="{2C1DFAFA-1A73-3704-C7C5-B9F894FE11DC}"/>
              </a:ext>
            </a:extLst>
          </p:cNvPr>
          <p:cNvSpPr>
            <a:spLocks noChangeShapeType="1"/>
          </p:cNvSpPr>
          <p:nvPr/>
        </p:nvSpPr>
        <p:spPr bwMode="auto">
          <a:xfrm flipV="1">
            <a:off x="972995" y="1459059"/>
            <a:ext cx="0" cy="157760"/>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 name="Text Box 30">
            <a:extLst>
              <a:ext uri="{FF2B5EF4-FFF2-40B4-BE49-F238E27FC236}">
                <a16:creationId xmlns:a16="http://schemas.microsoft.com/office/drawing/2014/main" id="{2D5BA84B-97D6-AB10-44EE-CCF06294258F}"/>
              </a:ext>
            </a:extLst>
          </p:cNvPr>
          <p:cNvSpPr txBox="1">
            <a:spLocks noChangeArrowheads="1"/>
          </p:cNvSpPr>
          <p:nvPr/>
        </p:nvSpPr>
        <p:spPr bwMode="auto">
          <a:xfrm>
            <a:off x="6685712" y="1246476"/>
            <a:ext cx="628668"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B050"/>
                </a:solidFill>
                <a:effectLst/>
                <a:uLnTx/>
                <a:uFillTx/>
                <a:latin typeface="Arial" pitchFamily="34" charset="0"/>
                <a:ea typeface="SimHei" panose="02010609060101010101" pitchFamily="49" charset="-122"/>
                <a:cs typeface="+mn-cs"/>
              </a:rPr>
              <a:t>PCSrc</a:t>
            </a:r>
            <a:endPar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endParaRPr>
          </a:p>
        </p:txBody>
      </p:sp>
      <p:sp>
        <p:nvSpPr>
          <p:cNvPr id="158" name="Line 153">
            <a:extLst>
              <a:ext uri="{FF2B5EF4-FFF2-40B4-BE49-F238E27FC236}">
                <a16:creationId xmlns:a16="http://schemas.microsoft.com/office/drawing/2014/main" id="{43233286-61FD-783A-5383-A9E5DD99A67F}"/>
              </a:ext>
            </a:extLst>
          </p:cNvPr>
          <p:cNvSpPr>
            <a:spLocks noChangeShapeType="1"/>
          </p:cNvSpPr>
          <p:nvPr/>
        </p:nvSpPr>
        <p:spPr bwMode="auto">
          <a:xfrm flipV="1">
            <a:off x="6136796" y="4851632"/>
            <a:ext cx="0" cy="82234"/>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 name="Text Box 30">
            <a:extLst>
              <a:ext uri="{FF2B5EF4-FFF2-40B4-BE49-F238E27FC236}">
                <a16:creationId xmlns:a16="http://schemas.microsoft.com/office/drawing/2014/main" id="{1DB57F93-8F25-84C4-C602-796BB984A875}"/>
              </a:ext>
            </a:extLst>
          </p:cNvPr>
          <p:cNvSpPr txBox="1">
            <a:spLocks noChangeArrowheads="1"/>
          </p:cNvSpPr>
          <p:nvPr/>
        </p:nvSpPr>
        <p:spPr bwMode="auto">
          <a:xfrm>
            <a:off x="5794696" y="4631840"/>
            <a:ext cx="695994"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B050"/>
                </a:solidFill>
                <a:effectLst/>
                <a:uLnTx/>
                <a:uFillTx/>
                <a:latin typeface="Arial" pitchFamily="34" charset="0"/>
                <a:ea typeface="SimHei" panose="02010609060101010101" pitchFamily="49" charset="-122"/>
                <a:cs typeface="+mn-cs"/>
              </a:rPr>
              <a:t>RegDst</a:t>
            </a:r>
            <a:endPar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endParaRPr>
          </a:p>
        </p:txBody>
      </p:sp>
      <p:sp>
        <p:nvSpPr>
          <p:cNvPr id="160" name="Line 153">
            <a:extLst>
              <a:ext uri="{FF2B5EF4-FFF2-40B4-BE49-F238E27FC236}">
                <a16:creationId xmlns:a16="http://schemas.microsoft.com/office/drawing/2014/main" id="{808AEA55-1B86-EF02-7430-7A5DCA907E3D}"/>
              </a:ext>
            </a:extLst>
          </p:cNvPr>
          <p:cNvSpPr>
            <a:spLocks noChangeShapeType="1"/>
          </p:cNvSpPr>
          <p:nvPr/>
        </p:nvSpPr>
        <p:spPr bwMode="auto">
          <a:xfrm flipV="1">
            <a:off x="6969265" y="4333039"/>
            <a:ext cx="0" cy="281084"/>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 name="Line 153">
            <a:extLst>
              <a:ext uri="{FF2B5EF4-FFF2-40B4-BE49-F238E27FC236}">
                <a16:creationId xmlns:a16="http://schemas.microsoft.com/office/drawing/2014/main" id="{453F72BA-7D14-2C2E-BE9A-6B30D5D9E544}"/>
              </a:ext>
            </a:extLst>
          </p:cNvPr>
          <p:cNvSpPr>
            <a:spLocks noChangeShapeType="1"/>
          </p:cNvSpPr>
          <p:nvPr/>
        </p:nvSpPr>
        <p:spPr bwMode="auto">
          <a:xfrm flipV="1">
            <a:off x="7800850" y="4346269"/>
            <a:ext cx="0" cy="281084"/>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 name="Text Box 30">
            <a:extLst>
              <a:ext uri="{FF2B5EF4-FFF2-40B4-BE49-F238E27FC236}">
                <a16:creationId xmlns:a16="http://schemas.microsoft.com/office/drawing/2014/main" id="{4D65B571-B10E-F0B1-1C67-CB590A5048C8}"/>
              </a:ext>
            </a:extLst>
          </p:cNvPr>
          <p:cNvSpPr txBox="1">
            <a:spLocks noChangeArrowheads="1"/>
          </p:cNvSpPr>
          <p:nvPr/>
        </p:nvSpPr>
        <p:spPr bwMode="auto">
          <a:xfrm>
            <a:off x="6592661" y="4535049"/>
            <a:ext cx="891560"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B050"/>
                </a:solidFill>
                <a:effectLst/>
                <a:uLnTx/>
                <a:uFillTx/>
                <a:latin typeface="Arial" pitchFamily="34" charset="0"/>
                <a:ea typeface="SimHei" panose="02010609060101010101" pitchFamily="49" charset="-122"/>
                <a:cs typeface="+mn-cs"/>
              </a:rPr>
              <a:t>MemRead</a:t>
            </a:r>
            <a:endPar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endParaRPr>
          </a:p>
        </p:txBody>
      </p:sp>
      <p:sp>
        <p:nvSpPr>
          <p:cNvPr id="163" name="Text Box 30">
            <a:extLst>
              <a:ext uri="{FF2B5EF4-FFF2-40B4-BE49-F238E27FC236}">
                <a16:creationId xmlns:a16="http://schemas.microsoft.com/office/drawing/2014/main" id="{DF5E6AF3-ABA4-4620-E37B-EFDF5041D2FD}"/>
              </a:ext>
            </a:extLst>
          </p:cNvPr>
          <p:cNvSpPr txBox="1">
            <a:spLocks noChangeArrowheads="1"/>
          </p:cNvSpPr>
          <p:nvPr/>
        </p:nvSpPr>
        <p:spPr bwMode="auto">
          <a:xfrm>
            <a:off x="7436921" y="4536612"/>
            <a:ext cx="720488"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B050"/>
                </a:solidFill>
                <a:effectLst/>
                <a:uLnTx/>
                <a:uFillTx/>
                <a:latin typeface="Arial" pitchFamily="34" charset="0"/>
                <a:ea typeface="SimHei" panose="02010609060101010101" pitchFamily="49" charset="-122"/>
                <a:cs typeface="+mn-cs"/>
              </a:rPr>
              <a:t>MemWr</a:t>
            </a:r>
            <a:endPar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endParaRPr>
          </a:p>
        </p:txBody>
      </p:sp>
      <p:sp>
        <p:nvSpPr>
          <p:cNvPr id="164" name="Line 153">
            <a:extLst>
              <a:ext uri="{FF2B5EF4-FFF2-40B4-BE49-F238E27FC236}">
                <a16:creationId xmlns:a16="http://schemas.microsoft.com/office/drawing/2014/main" id="{359F1A88-3259-5CAF-FFB5-1AE53CFC2036}"/>
              </a:ext>
            </a:extLst>
          </p:cNvPr>
          <p:cNvSpPr>
            <a:spLocks noChangeShapeType="1"/>
          </p:cNvSpPr>
          <p:nvPr/>
        </p:nvSpPr>
        <p:spPr bwMode="auto">
          <a:xfrm flipV="1">
            <a:off x="8538976" y="3517554"/>
            <a:ext cx="0" cy="281084"/>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 name="Text Box 30">
            <a:extLst>
              <a:ext uri="{FF2B5EF4-FFF2-40B4-BE49-F238E27FC236}">
                <a16:creationId xmlns:a16="http://schemas.microsoft.com/office/drawing/2014/main" id="{9B1F26DF-3598-6129-CBB5-B6284327768B}"/>
              </a:ext>
            </a:extLst>
          </p:cNvPr>
          <p:cNvSpPr txBox="1">
            <a:spLocks noChangeArrowheads="1"/>
          </p:cNvSpPr>
          <p:nvPr/>
        </p:nvSpPr>
        <p:spPr bwMode="auto">
          <a:xfrm>
            <a:off x="8247116" y="3299978"/>
            <a:ext cx="934841"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B050"/>
                </a:solidFill>
                <a:effectLst/>
                <a:uLnTx/>
                <a:uFillTx/>
                <a:latin typeface="Arial" pitchFamily="34" charset="0"/>
                <a:ea typeface="SimHei" panose="02010609060101010101" pitchFamily="49" charset="-122"/>
                <a:cs typeface="+mn-cs"/>
              </a:rPr>
              <a:t>MemtoReg</a:t>
            </a:r>
            <a:endPar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endParaRPr>
          </a:p>
        </p:txBody>
      </p:sp>
      <p:sp>
        <p:nvSpPr>
          <p:cNvPr id="166" name="Line 153">
            <a:extLst>
              <a:ext uri="{FF2B5EF4-FFF2-40B4-BE49-F238E27FC236}">
                <a16:creationId xmlns:a16="http://schemas.microsoft.com/office/drawing/2014/main" id="{A8A9A64A-40FA-F167-4A00-D64D67DB3549}"/>
              </a:ext>
            </a:extLst>
          </p:cNvPr>
          <p:cNvSpPr>
            <a:spLocks noChangeShapeType="1"/>
          </p:cNvSpPr>
          <p:nvPr/>
        </p:nvSpPr>
        <p:spPr bwMode="auto">
          <a:xfrm flipV="1">
            <a:off x="6089405" y="4182893"/>
            <a:ext cx="0" cy="163375"/>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 name="Text Box 30">
            <a:extLst>
              <a:ext uri="{FF2B5EF4-FFF2-40B4-BE49-F238E27FC236}">
                <a16:creationId xmlns:a16="http://schemas.microsoft.com/office/drawing/2014/main" id="{3D765E0A-10E9-2CAC-56D7-2A928447C46A}"/>
              </a:ext>
            </a:extLst>
          </p:cNvPr>
          <p:cNvSpPr txBox="1">
            <a:spLocks noChangeArrowheads="1"/>
          </p:cNvSpPr>
          <p:nvPr/>
        </p:nvSpPr>
        <p:spPr bwMode="auto">
          <a:xfrm>
            <a:off x="5793541" y="4296708"/>
            <a:ext cx="687979"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00B050"/>
                </a:solidFill>
                <a:effectLst/>
                <a:uLnTx/>
                <a:uFillTx/>
                <a:latin typeface="Arial" pitchFamily="34" charset="0"/>
                <a:ea typeface="SimHei" panose="02010609060101010101" pitchFamily="49" charset="-122"/>
                <a:cs typeface="+mn-cs"/>
              </a:rPr>
              <a:t>ALUOp</a:t>
            </a:r>
            <a:endParaRPr kumimoji="0" lang="en-US" altLang="zh-CN" sz="1200" b="0" i="0" u="none" strike="noStrike" kern="1200" cap="none" spc="0" normalizeH="0" baseline="0" noProof="0" dirty="0">
              <a:ln>
                <a:noFill/>
              </a:ln>
              <a:solidFill>
                <a:srgbClr val="00B050"/>
              </a:solidFill>
              <a:effectLst/>
              <a:uLnTx/>
              <a:uFillTx/>
              <a:latin typeface="Arial" pitchFamily="34" charset="0"/>
              <a:ea typeface="SimHei" panose="02010609060101010101" pitchFamily="49" charset="-122"/>
              <a:cs typeface="+mn-cs"/>
            </a:endParaRPr>
          </a:p>
        </p:txBody>
      </p:sp>
      <p:sp>
        <p:nvSpPr>
          <p:cNvPr id="168" name="Line 153">
            <a:extLst>
              <a:ext uri="{FF2B5EF4-FFF2-40B4-BE49-F238E27FC236}">
                <a16:creationId xmlns:a16="http://schemas.microsoft.com/office/drawing/2014/main" id="{5046F7C7-76F1-2570-C90A-46A732BB17C7}"/>
              </a:ext>
            </a:extLst>
          </p:cNvPr>
          <p:cNvSpPr>
            <a:spLocks noChangeShapeType="1"/>
          </p:cNvSpPr>
          <p:nvPr/>
        </p:nvSpPr>
        <p:spPr bwMode="auto">
          <a:xfrm>
            <a:off x="4452445" y="2049988"/>
            <a:ext cx="551496" cy="0"/>
          </a:xfrm>
          <a:prstGeom prst="line">
            <a:avLst/>
          </a:prstGeom>
          <a:noFill/>
          <a:ln w="127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 name="Line 158">
            <a:extLst>
              <a:ext uri="{FF2B5EF4-FFF2-40B4-BE49-F238E27FC236}">
                <a16:creationId xmlns:a16="http://schemas.microsoft.com/office/drawing/2014/main" id="{249E43F1-FF44-29FC-9D05-5EA82B9A5497}"/>
              </a:ext>
            </a:extLst>
          </p:cNvPr>
          <p:cNvSpPr>
            <a:spLocks noChangeShapeType="1"/>
          </p:cNvSpPr>
          <p:nvPr/>
        </p:nvSpPr>
        <p:spPr bwMode="auto">
          <a:xfrm>
            <a:off x="5003942" y="2049988"/>
            <a:ext cx="0" cy="99897"/>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 name="AutoShape 67">
            <a:extLst>
              <a:ext uri="{FF2B5EF4-FFF2-40B4-BE49-F238E27FC236}">
                <a16:creationId xmlns:a16="http://schemas.microsoft.com/office/drawing/2014/main" id="{864701BA-0082-B0A1-AC96-3C0EFAE203BD}"/>
              </a:ext>
            </a:extLst>
          </p:cNvPr>
          <p:cNvSpPr>
            <a:spLocks noChangeArrowheads="1"/>
          </p:cNvSpPr>
          <p:nvPr/>
        </p:nvSpPr>
        <p:spPr bwMode="auto">
          <a:xfrm rot="16200000">
            <a:off x="4842676" y="3443153"/>
            <a:ext cx="629999" cy="206801"/>
          </a:xfrm>
          <a:custGeom>
            <a:avLst/>
            <a:gdLst>
              <a:gd name="T0" fmla="*/ 9 w 21600"/>
              <a:gd name="T1" fmla="*/ 0 h 21600"/>
              <a:gd name="T2" fmla="*/ 5 w 21600"/>
              <a:gd name="T3" fmla="*/ 1 h 21600"/>
              <a:gd name="T4" fmla="*/ 1 w 21600"/>
              <a:gd name="T5" fmla="*/ 0 h 21600"/>
              <a:gd name="T6" fmla="*/ 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1" name="Line 109">
            <a:extLst>
              <a:ext uri="{FF2B5EF4-FFF2-40B4-BE49-F238E27FC236}">
                <a16:creationId xmlns:a16="http://schemas.microsoft.com/office/drawing/2014/main" id="{E7AD109F-AF7D-D49D-68D2-2DFAEEC938B3}"/>
              </a:ext>
            </a:extLst>
          </p:cNvPr>
          <p:cNvSpPr>
            <a:spLocks noChangeShapeType="1"/>
          </p:cNvSpPr>
          <p:nvPr/>
        </p:nvSpPr>
        <p:spPr bwMode="auto">
          <a:xfrm>
            <a:off x="4550460" y="4803123"/>
            <a:ext cx="831545"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 name="Line 110">
            <a:extLst>
              <a:ext uri="{FF2B5EF4-FFF2-40B4-BE49-F238E27FC236}">
                <a16:creationId xmlns:a16="http://schemas.microsoft.com/office/drawing/2014/main" id="{3C33FFE6-08C6-BC24-D7FF-AD1AF66300FE}"/>
              </a:ext>
            </a:extLst>
          </p:cNvPr>
          <p:cNvSpPr>
            <a:spLocks noChangeShapeType="1"/>
          </p:cNvSpPr>
          <p:nvPr/>
        </p:nvSpPr>
        <p:spPr bwMode="auto">
          <a:xfrm>
            <a:off x="5382005" y="4430364"/>
            <a:ext cx="0" cy="380327"/>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 name="AutoShape 67">
            <a:extLst>
              <a:ext uri="{FF2B5EF4-FFF2-40B4-BE49-F238E27FC236}">
                <a16:creationId xmlns:a16="http://schemas.microsoft.com/office/drawing/2014/main" id="{4D955134-E0F5-3DC1-2B26-8DFFC9F0D6BE}"/>
              </a:ext>
            </a:extLst>
          </p:cNvPr>
          <p:cNvSpPr>
            <a:spLocks noChangeArrowheads="1"/>
          </p:cNvSpPr>
          <p:nvPr/>
        </p:nvSpPr>
        <p:spPr bwMode="auto">
          <a:xfrm rot="16200000">
            <a:off x="4844934" y="4134216"/>
            <a:ext cx="629999" cy="206801"/>
          </a:xfrm>
          <a:custGeom>
            <a:avLst/>
            <a:gdLst>
              <a:gd name="T0" fmla="*/ 9 w 21600"/>
              <a:gd name="T1" fmla="*/ 0 h 21600"/>
              <a:gd name="T2" fmla="*/ 5 w 21600"/>
              <a:gd name="T3" fmla="*/ 1 h 21600"/>
              <a:gd name="T4" fmla="*/ 1 w 21600"/>
              <a:gd name="T5" fmla="*/ 0 h 21600"/>
              <a:gd name="T6" fmla="*/ 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 name="Line 115">
            <a:extLst>
              <a:ext uri="{FF2B5EF4-FFF2-40B4-BE49-F238E27FC236}">
                <a16:creationId xmlns:a16="http://schemas.microsoft.com/office/drawing/2014/main" id="{60930EBC-35AD-BB0D-D13E-E243EB577FF0}"/>
              </a:ext>
            </a:extLst>
          </p:cNvPr>
          <p:cNvSpPr>
            <a:spLocks noChangeShapeType="1"/>
          </p:cNvSpPr>
          <p:nvPr/>
        </p:nvSpPr>
        <p:spPr bwMode="auto">
          <a:xfrm>
            <a:off x="6643305" y="4754677"/>
            <a:ext cx="0" cy="833756"/>
          </a:xfrm>
          <a:prstGeom prst="line">
            <a:avLst/>
          </a:prstGeom>
          <a:noFill/>
          <a:ln w="1905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5" name="Line 113">
            <a:extLst>
              <a:ext uri="{FF2B5EF4-FFF2-40B4-BE49-F238E27FC236}">
                <a16:creationId xmlns:a16="http://schemas.microsoft.com/office/drawing/2014/main" id="{ABBCDCF7-A29E-E5B0-B730-2DA49906F61B}"/>
              </a:ext>
            </a:extLst>
          </p:cNvPr>
          <p:cNvSpPr>
            <a:spLocks noChangeShapeType="1"/>
          </p:cNvSpPr>
          <p:nvPr/>
        </p:nvSpPr>
        <p:spPr bwMode="auto">
          <a:xfrm>
            <a:off x="4628706" y="5588432"/>
            <a:ext cx="2018314" cy="0"/>
          </a:xfrm>
          <a:prstGeom prst="line">
            <a:avLst/>
          </a:prstGeom>
          <a:noFill/>
          <a:ln w="1905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 name="Line 115">
            <a:extLst>
              <a:ext uri="{FF2B5EF4-FFF2-40B4-BE49-F238E27FC236}">
                <a16:creationId xmlns:a16="http://schemas.microsoft.com/office/drawing/2014/main" id="{7E63AD89-7464-81E0-AE01-3F2A1B7883A4}"/>
              </a:ext>
            </a:extLst>
          </p:cNvPr>
          <p:cNvSpPr>
            <a:spLocks noChangeShapeType="1"/>
          </p:cNvSpPr>
          <p:nvPr/>
        </p:nvSpPr>
        <p:spPr bwMode="auto">
          <a:xfrm>
            <a:off x="4634446" y="3517554"/>
            <a:ext cx="0" cy="2070879"/>
          </a:xfrm>
          <a:prstGeom prst="line">
            <a:avLst/>
          </a:prstGeom>
          <a:noFill/>
          <a:ln w="1905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7" name="Line 115">
            <a:extLst>
              <a:ext uri="{FF2B5EF4-FFF2-40B4-BE49-F238E27FC236}">
                <a16:creationId xmlns:a16="http://schemas.microsoft.com/office/drawing/2014/main" id="{C713F7E9-4F47-95F8-13CC-0DB20ACA66B5}"/>
              </a:ext>
            </a:extLst>
          </p:cNvPr>
          <p:cNvSpPr>
            <a:spLocks noChangeShapeType="1"/>
          </p:cNvSpPr>
          <p:nvPr/>
        </p:nvSpPr>
        <p:spPr bwMode="auto">
          <a:xfrm>
            <a:off x="4796371" y="3726263"/>
            <a:ext cx="0" cy="1766799"/>
          </a:xfrm>
          <a:prstGeom prst="line">
            <a:avLst/>
          </a:prstGeom>
          <a:noFill/>
          <a:ln w="1905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8" name="Line 113">
            <a:extLst>
              <a:ext uri="{FF2B5EF4-FFF2-40B4-BE49-F238E27FC236}">
                <a16:creationId xmlns:a16="http://schemas.microsoft.com/office/drawing/2014/main" id="{27B2B20B-7358-3B77-3FDC-CB89869D3F9B}"/>
              </a:ext>
            </a:extLst>
          </p:cNvPr>
          <p:cNvSpPr>
            <a:spLocks noChangeShapeType="1"/>
          </p:cNvSpPr>
          <p:nvPr/>
        </p:nvSpPr>
        <p:spPr bwMode="auto">
          <a:xfrm>
            <a:off x="4633014" y="3517630"/>
            <a:ext cx="418729" cy="0"/>
          </a:xfrm>
          <a:prstGeom prst="line">
            <a:avLst/>
          </a:prstGeom>
          <a:noFill/>
          <a:ln w="19050">
            <a:solidFill>
              <a:srgbClr val="00B0F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 name="Line 113">
            <a:extLst>
              <a:ext uri="{FF2B5EF4-FFF2-40B4-BE49-F238E27FC236}">
                <a16:creationId xmlns:a16="http://schemas.microsoft.com/office/drawing/2014/main" id="{DAC6FD4A-F27E-0609-B4AD-0954231C00D7}"/>
              </a:ext>
            </a:extLst>
          </p:cNvPr>
          <p:cNvSpPr>
            <a:spLocks noChangeShapeType="1"/>
          </p:cNvSpPr>
          <p:nvPr/>
        </p:nvSpPr>
        <p:spPr bwMode="auto">
          <a:xfrm>
            <a:off x="4790680" y="3732124"/>
            <a:ext cx="261063" cy="0"/>
          </a:xfrm>
          <a:prstGeom prst="line">
            <a:avLst/>
          </a:prstGeom>
          <a:noFill/>
          <a:ln w="19050">
            <a:solidFill>
              <a:srgbClr val="00B0F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 name="Line 113">
            <a:extLst>
              <a:ext uri="{FF2B5EF4-FFF2-40B4-BE49-F238E27FC236}">
                <a16:creationId xmlns:a16="http://schemas.microsoft.com/office/drawing/2014/main" id="{B85CF65F-CABD-EC60-AB89-B121058AACC1}"/>
              </a:ext>
            </a:extLst>
          </p:cNvPr>
          <p:cNvSpPr>
            <a:spLocks noChangeShapeType="1"/>
          </p:cNvSpPr>
          <p:nvPr/>
        </p:nvSpPr>
        <p:spPr bwMode="auto">
          <a:xfrm>
            <a:off x="4640805" y="4263716"/>
            <a:ext cx="410940" cy="0"/>
          </a:xfrm>
          <a:prstGeom prst="line">
            <a:avLst/>
          </a:prstGeom>
          <a:noFill/>
          <a:ln w="19050">
            <a:solidFill>
              <a:srgbClr val="00B0F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 name="Line 113">
            <a:extLst>
              <a:ext uri="{FF2B5EF4-FFF2-40B4-BE49-F238E27FC236}">
                <a16:creationId xmlns:a16="http://schemas.microsoft.com/office/drawing/2014/main" id="{51C970B5-FAC4-59AA-75A1-2DE1835B7E8E}"/>
              </a:ext>
            </a:extLst>
          </p:cNvPr>
          <p:cNvSpPr>
            <a:spLocks noChangeShapeType="1"/>
          </p:cNvSpPr>
          <p:nvPr/>
        </p:nvSpPr>
        <p:spPr bwMode="auto">
          <a:xfrm>
            <a:off x="4804205" y="4478211"/>
            <a:ext cx="247539" cy="0"/>
          </a:xfrm>
          <a:prstGeom prst="line">
            <a:avLst/>
          </a:prstGeom>
          <a:noFill/>
          <a:ln w="19050">
            <a:solidFill>
              <a:srgbClr val="00B0F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 name="Line 113">
            <a:extLst>
              <a:ext uri="{FF2B5EF4-FFF2-40B4-BE49-F238E27FC236}">
                <a16:creationId xmlns:a16="http://schemas.microsoft.com/office/drawing/2014/main" id="{5D17E887-2E20-8674-6820-E504AC69F255}"/>
              </a:ext>
            </a:extLst>
          </p:cNvPr>
          <p:cNvSpPr>
            <a:spLocks noChangeShapeType="1"/>
          </p:cNvSpPr>
          <p:nvPr/>
        </p:nvSpPr>
        <p:spPr bwMode="auto">
          <a:xfrm>
            <a:off x="5263333" y="4160654"/>
            <a:ext cx="224600" cy="0"/>
          </a:xfrm>
          <a:prstGeom prst="line">
            <a:avLst/>
          </a:prstGeom>
          <a:noFill/>
          <a:ln w="19050">
            <a:solidFill>
              <a:srgbClr val="00B0F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 name="Line 113">
            <a:extLst>
              <a:ext uri="{FF2B5EF4-FFF2-40B4-BE49-F238E27FC236}">
                <a16:creationId xmlns:a16="http://schemas.microsoft.com/office/drawing/2014/main" id="{51960DE4-FCA9-FDC4-396B-91480155EFE9}"/>
              </a:ext>
            </a:extLst>
          </p:cNvPr>
          <p:cNvSpPr>
            <a:spLocks noChangeShapeType="1"/>
          </p:cNvSpPr>
          <p:nvPr/>
        </p:nvSpPr>
        <p:spPr bwMode="auto">
          <a:xfrm>
            <a:off x="5261076" y="3524198"/>
            <a:ext cx="551268" cy="0"/>
          </a:xfrm>
          <a:prstGeom prst="line">
            <a:avLst/>
          </a:prstGeom>
          <a:noFill/>
          <a:ln w="19050">
            <a:solidFill>
              <a:srgbClr val="00B0F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 name="椭圆 183">
            <a:extLst>
              <a:ext uri="{FF2B5EF4-FFF2-40B4-BE49-F238E27FC236}">
                <a16:creationId xmlns:a16="http://schemas.microsoft.com/office/drawing/2014/main" id="{3EFF1BE0-8D0F-551B-B5C1-105E3C51E813}"/>
              </a:ext>
            </a:extLst>
          </p:cNvPr>
          <p:cNvSpPr/>
          <p:nvPr/>
        </p:nvSpPr>
        <p:spPr>
          <a:xfrm>
            <a:off x="6612034" y="4769900"/>
            <a:ext cx="64128" cy="64128"/>
          </a:xfrm>
          <a:prstGeom prst="ellipse">
            <a:avLst/>
          </a:prstGeom>
          <a:solidFill>
            <a:srgbClr val="00B0F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85" name="椭圆 184">
            <a:extLst>
              <a:ext uri="{FF2B5EF4-FFF2-40B4-BE49-F238E27FC236}">
                <a16:creationId xmlns:a16="http://schemas.microsoft.com/office/drawing/2014/main" id="{335A4DDD-715E-B0EE-2849-642D22AD42A6}"/>
              </a:ext>
            </a:extLst>
          </p:cNvPr>
          <p:cNvSpPr/>
          <p:nvPr/>
        </p:nvSpPr>
        <p:spPr>
          <a:xfrm>
            <a:off x="4768047" y="5466859"/>
            <a:ext cx="64128" cy="64128"/>
          </a:xfrm>
          <a:prstGeom prst="ellipse">
            <a:avLst/>
          </a:prstGeom>
          <a:solidFill>
            <a:srgbClr val="00B0F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86" name="椭圆 185">
            <a:extLst>
              <a:ext uri="{FF2B5EF4-FFF2-40B4-BE49-F238E27FC236}">
                <a16:creationId xmlns:a16="http://schemas.microsoft.com/office/drawing/2014/main" id="{C331FECA-21E4-F891-CD9A-E5D56FF6B7E8}"/>
              </a:ext>
            </a:extLst>
          </p:cNvPr>
          <p:cNvSpPr/>
          <p:nvPr/>
        </p:nvSpPr>
        <p:spPr>
          <a:xfrm>
            <a:off x="4517024" y="4769900"/>
            <a:ext cx="64128" cy="64128"/>
          </a:xfrm>
          <a:prstGeom prst="ellipse">
            <a:avLst/>
          </a:prstGeom>
          <a:solidFill>
            <a:sysClr val="windowText" lastClr="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87" name="椭圆 186">
            <a:extLst>
              <a:ext uri="{FF2B5EF4-FFF2-40B4-BE49-F238E27FC236}">
                <a16:creationId xmlns:a16="http://schemas.microsoft.com/office/drawing/2014/main" id="{C77FBEC1-7CD8-8D9B-9AF2-1D3B820C4865}"/>
              </a:ext>
            </a:extLst>
          </p:cNvPr>
          <p:cNvSpPr/>
          <p:nvPr/>
        </p:nvSpPr>
        <p:spPr>
          <a:xfrm>
            <a:off x="1903037" y="2692061"/>
            <a:ext cx="64128" cy="64128"/>
          </a:xfrm>
          <a:prstGeom prst="ellipse">
            <a:avLst/>
          </a:prstGeom>
          <a:solidFill>
            <a:sysClr val="windowText" lastClr="000000"/>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88" name="椭圆 187">
            <a:extLst>
              <a:ext uri="{FF2B5EF4-FFF2-40B4-BE49-F238E27FC236}">
                <a16:creationId xmlns:a16="http://schemas.microsoft.com/office/drawing/2014/main" id="{9901A62E-18CA-D386-0E3C-871D5B0E5C50}"/>
              </a:ext>
            </a:extLst>
          </p:cNvPr>
          <p:cNvSpPr/>
          <p:nvPr/>
        </p:nvSpPr>
        <p:spPr>
          <a:xfrm>
            <a:off x="595310" y="3763062"/>
            <a:ext cx="64128" cy="64128"/>
          </a:xfrm>
          <a:prstGeom prst="ellipse">
            <a:avLst/>
          </a:prstGeom>
          <a:solidFill>
            <a:sysClr val="windowText" lastClr="000000"/>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89" name="Oval 144">
            <a:extLst>
              <a:ext uri="{FF2B5EF4-FFF2-40B4-BE49-F238E27FC236}">
                <a16:creationId xmlns:a16="http://schemas.microsoft.com/office/drawing/2014/main" id="{2A39B745-A99A-264B-CB36-CBF6D1BADAB2}"/>
              </a:ext>
            </a:extLst>
          </p:cNvPr>
          <p:cNvSpPr>
            <a:spLocks noChangeArrowheads="1"/>
          </p:cNvSpPr>
          <p:nvPr/>
        </p:nvSpPr>
        <p:spPr bwMode="auto">
          <a:xfrm>
            <a:off x="5732200" y="5763002"/>
            <a:ext cx="832825" cy="572120"/>
          </a:xfrm>
          <a:prstGeom prst="ellipse">
            <a:avLst/>
          </a:prstGeom>
          <a:noFill/>
          <a:ln w="1905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Forwarding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 Unit</a:t>
            </a:r>
            <a:endParaRPr kumimoji="0" lang="zh-CN" altLang="en-US" sz="1200" b="0" i="0" u="none" strike="noStrike" kern="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90" name="Line 115">
            <a:extLst>
              <a:ext uri="{FF2B5EF4-FFF2-40B4-BE49-F238E27FC236}">
                <a16:creationId xmlns:a16="http://schemas.microsoft.com/office/drawing/2014/main" id="{28E07A72-AC83-623E-3F03-367C2E8BD4E9}"/>
              </a:ext>
            </a:extLst>
          </p:cNvPr>
          <p:cNvSpPr>
            <a:spLocks noChangeShapeType="1"/>
          </p:cNvSpPr>
          <p:nvPr/>
        </p:nvSpPr>
        <p:spPr bwMode="auto">
          <a:xfrm>
            <a:off x="7926665" y="5055123"/>
            <a:ext cx="0" cy="842968"/>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91" name="Line 113">
            <a:extLst>
              <a:ext uri="{FF2B5EF4-FFF2-40B4-BE49-F238E27FC236}">
                <a16:creationId xmlns:a16="http://schemas.microsoft.com/office/drawing/2014/main" id="{49D3F997-6304-57BE-B3BB-8EA7598AC740}"/>
              </a:ext>
            </a:extLst>
          </p:cNvPr>
          <p:cNvSpPr>
            <a:spLocks noChangeShapeType="1"/>
          </p:cNvSpPr>
          <p:nvPr/>
        </p:nvSpPr>
        <p:spPr bwMode="auto">
          <a:xfrm>
            <a:off x="6497496" y="5898091"/>
            <a:ext cx="1429168" cy="0"/>
          </a:xfrm>
          <a:prstGeom prst="line">
            <a:avLst/>
          </a:prstGeom>
          <a:noFill/>
          <a:ln w="19050">
            <a:solidFill>
              <a:srgbClr val="C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 name="Line 115">
            <a:extLst>
              <a:ext uri="{FF2B5EF4-FFF2-40B4-BE49-F238E27FC236}">
                <a16:creationId xmlns:a16="http://schemas.microsoft.com/office/drawing/2014/main" id="{711C1A97-7AA4-27B1-5FA8-734173BFABC1}"/>
              </a:ext>
            </a:extLst>
          </p:cNvPr>
          <p:cNvSpPr>
            <a:spLocks noChangeShapeType="1"/>
          </p:cNvSpPr>
          <p:nvPr/>
        </p:nvSpPr>
        <p:spPr bwMode="auto">
          <a:xfrm>
            <a:off x="8366642" y="5696642"/>
            <a:ext cx="0" cy="432778"/>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93" name="Line 113">
            <a:extLst>
              <a:ext uri="{FF2B5EF4-FFF2-40B4-BE49-F238E27FC236}">
                <a16:creationId xmlns:a16="http://schemas.microsoft.com/office/drawing/2014/main" id="{E6B83F5E-BA61-E60F-E5BE-3FAF7C9CA532}"/>
              </a:ext>
            </a:extLst>
          </p:cNvPr>
          <p:cNvSpPr>
            <a:spLocks noChangeShapeType="1"/>
          </p:cNvSpPr>
          <p:nvPr/>
        </p:nvSpPr>
        <p:spPr bwMode="auto">
          <a:xfrm>
            <a:off x="6555184" y="6129421"/>
            <a:ext cx="1811459" cy="0"/>
          </a:xfrm>
          <a:prstGeom prst="line">
            <a:avLst/>
          </a:prstGeom>
          <a:noFill/>
          <a:ln w="19050">
            <a:solidFill>
              <a:srgbClr val="C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 name="椭圆 193">
            <a:extLst>
              <a:ext uri="{FF2B5EF4-FFF2-40B4-BE49-F238E27FC236}">
                <a16:creationId xmlns:a16="http://schemas.microsoft.com/office/drawing/2014/main" id="{72840C17-CCDE-5806-150F-14277EE4E1AE}"/>
              </a:ext>
            </a:extLst>
          </p:cNvPr>
          <p:cNvSpPr/>
          <p:nvPr/>
        </p:nvSpPr>
        <p:spPr>
          <a:xfrm>
            <a:off x="8335077" y="5663513"/>
            <a:ext cx="64128" cy="64128"/>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95" name="椭圆 194">
            <a:extLst>
              <a:ext uri="{FF2B5EF4-FFF2-40B4-BE49-F238E27FC236}">
                <a16:creationId xmlns:a16="http://schemas.microsoft.com/office/drawing/2014/main" id="{3121AA53-D3C6-5FE7-1822-643C3522B479}"/>
              </a:ext>
            </a:extLst>
          </p:cNvPr>
          <p:cNvSpPr/>
          <p:nvPr/>
        </p:nvSpPr>
        <p:spPr>
          <a:xfrm>
            <a:off x="7894953" y="5023058"/>
            <a:ext cx="64128" cy="64128"/>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96" name="椭圆 195">
            <a:extLst>
              <a:ext uri="{FF2B5EF4-FFF2-40B4-BE49-F238E27FC236}">
                <a16:creationId xmlns:a16="http://schemas.microsoft.com/office/drawing/2014/main" id="{837C4016-85FF-DB1C-CB95-D135928F52B7}"/>
              </a:ext>
            </a:extLst>
          </p:cNvPr>
          <p:cNvSpPr/>
          <p:nvPr/>
        </p:nvSpPr>
        <p:spPr>
          <a:xfrm>
            <a:off x="4600925" y="4234996"/>
            <a:ext cx="64128" cy="64128"/>
          </a:xfrm>
          <a:prstGeom prst="ellipse">
            <a:avLst/>
          </a:prstGeom>
          <a:solidFill>
            <a:srgbClr val="00B0F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97" name="椭圆 196">
            <a:extLst>
              <a:ext uri="{FF2B5EF4-FFF2-40B4-BE49-F238E27FC236}">
                <a16:creationId xmlns:a16="http://schemas.microsoft.com/office/drawing/2014/main" id="{DCFF9ED3-C3D6-78FA-87E5-9EE0AB29478F}"/>
              </a:ext>
            </a:extLst>
          </p:cNvPr>
          <p:cNvSpPr/>
          <p:nvPr/>
        </p:nvSpPr>
        <p:spPr>
          <a:xfrm>
            <a:off x="4764879" y="4451589"/>
            <a:ext cx="64128" cy="64128"/>
          </a:xfrm>
          <a:prstGeom prst="ellipse">
            <a:avLst/>
          </a:prstGeom>
          <a:solidFill>
            <a:srgbClr val="00B0F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198" name="文本框 197">
            <a:extLst>
              <a:ext uri="{FF2B5EF4-FFF2-40B4-BE49-F238E27FC236}">
                <a16:creationId xmlns:a16="http://schemas.microsoft.com/office/drawing/2014/main" id="{166930B6-1EC9-4A87-0B87-8C3B3276A34A}"/>
              </a:ext>
            </a:extLst>
          </p:cNvPr>
          <p:cNvSpPr txBox="1"/>
          <p:nvPr/>
        </p:nvSpPr>
        <p:spPr>
          <a:xfrm>
            <a:off x="6488932" y="5728571"/>
            <a:ext cx="1356414"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EX/</a:t>
            </a:r>
            <a:r>
              <a:rPr kumimoji="0" lang="en-US" altLang="zh-CN" sz="1100" b="0" i="0" u="none" strike="noStrike" kern="1200" cap="none" spc="0" normalizeH="0" baseline="0" noProof="0" dirty="0" err="1">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MEM.RegWrAddr</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199" name="文本框 198">
            <a:extLst>
              <a:ext uri="{FF2B5EF4-FFF2-40B4-BE49-F238E27FC236}">
                <a16:creationId xmlns:a16="http://schemas.microsoft.com/office/drawing/2014/main" id="{78922625-C0F0-B4C2-0B38-DF9E488CDAB8}"/>
              </a:ext>
            </a:extLst>
          </p:cNvPr>
          <p:cNvSpPr txBox="1"/>
          <p:nvPr/>
        </p:nvSpPr>
        <p:spPr>
          <a:xfrm>
            <a:off x="6897819" y="5962841"/>
            <a:ext cx="1468821"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MEM/</a:t>
            </a:r>
            <a:r>
              <a:rPr kumimoji="0" lang="en-US" altLang="zh-CN" sz="1100" b="0" i="0" u="none" strike="noStrike" kern="1200" cap="none" spc="0" normalizeH="0" baseline="0" noProof="0" dirty="0" err="1">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WB.RegWrAddr</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200" name="Line 8">
            <a:extLst>
              <a:ext uri="{FF2B5EF4-FFF2-40B4-BE49-F238E27FC236}">
                <a16:creationId xmlns:a16="http://schemas.microsoft.com/office/drawing/2014/main" id="{FC445C4B-EA2F-29B3-78BB-E8AF7D87D4DA}"/>
              </a:ext>
            </a:extLst>
          </p:cNvPr>
          <p:cNvSpPr>
            <a:spLocks noChangeShapeType="1"/>
          </p:cNvSpPr>
          <p:nvPr/>
        </p:nvSpPr>
        <p:spPr bwMode="auto">
          <a:xfrm>
            <a:off x="2719733" y="5385867"/>
            <a:ext cx="1594756" cy="0"/>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1" name="Line 9">
            <a:extLst>
              <a:ext uri="{FF2B5EF4-FFF2-40B4-BE49-F238E27FC236}">
                <a16:creationId xmlns:a16="http://schemas.microsoft.com/office/drawing/2014/main" id="{CEDC29A3-D220-4BE8-EE7D-1AADBED41493}"/>
              </a:ext>
            </a:extLst>
          </p:cNvPr>
          <p:cNvSpPr>
            <a:spLocks noChangeShapeType="1"/>
          </p:cNvSpPr>
          <p:nvPr/>
        </p:nvSpPr>
        <p:spPr bwMode="auto">
          <a:xfrm>
            <a:off x="4449402" y="5385867"/>
            <a:ext cx="554539" cy="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2" name="Line 110">
            <a:extLst>
              <a:ext uri="{FF2B5EF4-FFF2-40B4-BE49-F238E27FC236}">
                <a16:creationId xmlns:a16="http://schemas.microsoft.com/office/drawing/2014/main" id="{64C2B512-2E6F-67C1-DA85-3D60623E2830}"/>
              </a:ext>
            </a:extLst>
          </p:cNvPr>
          <p:cNvSpPr>
            <a:spLocks noChangeShapeType="1"/>
          </p:cNvSpPr>
          <p:nvPr/>
        </p:nvSpPr>
        <p:spPr bwMode="auto">
          <a:xfrm>
            <a:off x="2729020" y="5266843"/>
            <a:ext cx="0" cy="119024"/>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3" name="Line 115">
            <a:extLst>
              <a:ext uri="{FF2B5EF4-FFF2-40B4-BE49-F238E27FC236}">
                <a16:creationId xmlns:a16="http://schemas.microsoft.com/office/drawing/2014/main" id="{5A4F9729-6972-464B-B7A3-2C4A3D3654C9}"/>
              </a:ext>
            </a:extLst>
          </p:cNvPr>
          <p:cNvSpPr>
            <a:spLocks noChangeShapeType="1"/>
          </p:cNvSpPr>
          <p:nvPr/>
        </p:nvSpPr>
        <p:spPr bwMode="auto">
          <a:xfrm>
            <a:off x="5003942" y="5385867"/>
            <a:ext cx="0" cy="830621"/>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4" name="Line 113">
            <a:extLst>
              <a:ext uri="{FF2B5EF4-FFF2-40B4-BE49-F238E27FC236}">
                <a16:creationId xmlns:a16="http://schemas.microsoft.com/office/drawing/2014/main" id="{EF94BAAE-5559-1901-A50B-B9628CF4C981}"/>
              </a:ext>
            </a:extLst>
          </p:cNvPr>
          <p:cNvSpPr>
            <a:spLocks noChangeShapeType="1"/>
          </p:cNvSpPr>
          <p:nvPr/>
        </p:nvSpPr>
        <p:spPr bwMode="auto">
          <a:xfrm>
            <a:off x="4997104" y="6216488"/>
            <a:ext cx="815240" cy="0"/>
          </a:xfrm>
          <a:prstGeom prst="line">
            <a:avLst/>
          </a:prstGeom>
          <a:noFill/>
          <a:ln w="19050">
            <a:solidFill>
              <a:srgbClr val="C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5" name="文本框 204">
            <a:extLst>
              <a:ext uri="{FF2B5EF4-FFF2-40B4-BE49-F238E27FC236}">
                <a16:creationId xmlns:a16="http://schemas.microsoft.com/office/drawing/2014/main" id="{F23A20C0-7E51-64EC-731B-2B7220E18E07}"/>
              </a:ext>
            </a:extLst>
          </p:cNvPr>
          <p:cNvSpPr txBox="1"/>
          <p:nvPr/>
        </p:nvSpPr>
        <p:spPr>
          <a:xfrm>
            <a:off x="5095507" y="6056893"/>
            <a:ext cx="643532"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ID/EX.Rs</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206" name="Line 115">
            <a:extLst>
              <a:ext uri="{FF2B5EF4-FFF2-40B4-BE49-F238E27FC236}">
                <a16:creationId xmlns:a16="http://schemas.microsoft.com/office/drawing/2014/main" id="{96A571B4-51A7-3CFE-4B9E-1EDC1AEDC79E}"/>
              </a:ext>
            </a:extLst>
          </p:cNvPr>
          <p:cNvSpPr>
            <a:spLocks noChangeShapeType="1"/>
          </p:cNvSpPr>
          <p:nvPr/>
        </p:nvSpPr>
        <p:spPr bwMode="auto">
          <a:xfrm>
            <a:off x="5076955" y="5051548"/>
            <a:ext cx="0" cy="830621"/>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7" name="Line 113">
            <a:extLst>
              <a:ext uri="{FF2B5EF4-FFF2-40B4-BE49-F238E27FC236}">
                <a16:creationId xmlns:a16="http://schemas.microsoft.com/office/drawing/2014/main" id="{134BF4CF-97E8-1DA5-DCFC-B5C450BE35DB}"/>
              </a:ext>
            </a:extLst>
          </p:cNvPr>
          <p:cNvSpPr>
            <a:spLocks noChangeShapeType="1"/>
          </p:cNvSpPr>
          <p:nvPr/>
        </p:nvSpPr>
        <p:spPr bwMode="auto">
          <a:xfrm>
            <a:off x="5068681" y="5879856"/>
            <a:ext cx="743664" cy="0"/>
          </a:xfrm>
          <a:prstGeom prst="line">
            <a:avLst/>
          </a:prstGeom>
          <a:noFill/>
          <a:ln w="19050">
            <a:solidFill>
              <a:srgbClr val="C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8" name="文本框 207">
            <a:extLst>
              <a:ext uri="{FF2B5EF4-FFF2-40B4-BE49-F238E27FC236}">
                <a16:creationId xmlns:a16="http://schemas.microsoft.com/office/drawing/2014/main" id="{9972111E-2A4E-FC79-7F61-49DE792A2206}"/>
              </a:ext>
            </a:extLst>
          </p:cNvPr>
          <p:cNvSpPr txBox="1"/>
          <p:nvPr/>
        </p:nvSpPr>
        <p:spPr>
          <a:xfrm>
            <a:off x="5088668" y="5728571"/>
            <a:ext cx="643532"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ID/</a:t>
            </a:r>
            <a:r>
              <a:rPr kumimoji="0" lang="en-US" altLang="zh-CN" sz="1100" b="0" i="0" u="none" strike="noStrike" kern="1200" cap="none" spc="0" normalizeH="0" baseline="0" noProof="0" dirty="0" err="1">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EX.Rt</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209" name="椭圆 208">
            <a:extLst>
              <a:ext uri="{FF2B5EF4-FFF2-40B4-BE49-F238E27FC236}">
                <a16:creationId xmlns:a16="http://schemas.microsoft.com/office/drawing/2014/main" id="{679D7951-6390-8948-96CE-E91A06AF83CC}"/>
              </a:ext>
            </a:extLst>
          </p:cNvPr>
          <p:cNvSpPr/>
          <p:nvPr/>
        </p:nvSpPr>
        <p:spPr>
          <a:xfrm>
            <a:off x="5048040" y="5025290"/>
            <a:ext cx="64128" cy="64128"/>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p:sp>
        <p:nvSpPr>
          <p:cNvPr id="210" name="Line 113">
            <a:extLst>
              <a:ext uri="{FF2B5EF4-FFF2-40B4-BE49-F238E27FC236}">
                <a16:creationId xmlns:a16="http://schemas.microsoft.com/office/drawing/2014/main" id="{085E91BD-CD1E-FC79-50E4-FA50B749CB15}"/>
              </a:ext>
            </a:extLst>
          </p:cNvPr>
          <p:cNvSpPr>
            <a:spLocks noChangeShapeType="1"/>
          </p:cNvSpPr>
          <p:nvPr/>
        </p:nvSpPr>
        <p:spPr bwMode="auto">
          <a:xfrm flipH="1" flipV="1">
            <a:off x="5154488" y="4475938"/>
            <a:ext cx="780358" cy="1335850"/>
          </a:xfrm>
          <a:prstGeom prst="line">
            <a:avLst/>
          </a:prstGeom>
          <a:noFill/>
          <a:ln w="19050">
            <a:solidFill>
              <a:srgbClr val="C00000"/>
            </a:solidFill>
            <a:prstDash val="dashDot"/>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1" name="Line 113">
            <a:extLst>
              <a:ext uri="{FF2B5EF4-FFF2-40B4-BE49-F238E27FC236}">
                <a16:creationId xmlns:a16="http://schemas.microsoft.com/office/drawing/2014/main" id="{A88E444E-E57D-F766-9354-B549019C66D1}"/>
              </a:ext>
            </a:extLst>
          </p:cNvPr>
          <p:cNvSpPr>
            <a:spLocks noChangeShapeType="1"/>
          </p:cNvSpPr>
          <p:nvPr/>
        </p:nvSpPr>
        <p:spPr bwMode="auto">
          <a:xfrm flipH="1" flipV="1">
            <a:off x="5173677" y="3769209"/>
            <a:ext cx="945515" cy="1999998"/>
          </a:xfrm>
          <a:prstGeom prst="line">
            <a:avLst/>
          </a:prstGeom>
          <a:noFill/>
          <a:ln w="19050">
            <a:solidFill>
              <a:srgbClr val="C00000"/>
            </a:solidFill>
            <a:prstDash val="dashDot"/>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2" name="Text Box 119">
            <a:extLst>
              <a:ext uri="{FF2B5EF4-FFF2-40B4-BE49-F238E27FC236}">
                <a16:creationId xmlns:a16="http://schemas.microsoft.com/office/drawing/2014/main" id="{2BC5B7F4-EBE9-2168-F385-38ECDBC3B961}"/>
              </a:ext>
            </a:extLst>
          </p:cNvPr>
          <p:cNvSpPr txBox="1">
            <a:spLocks noChangeArrowheads="1"/>
          </p:cNvSpPr>
          <p:nvPr/>
        </p:nvSpPr>
        <p:spPr bwMode="auto">
          <a:xfrm>
            <a:off x="5021436" y="3397842"/>
            <a:ext cx="287228"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B0F0"/>
                </a:solidFill>
                <a:effectLst/>
                <a:uLnTx/>
                <a:uFillTx/>
                <a:latin typeface="Arial" pitchFamily="34" charset="0"/>
                <a:ea typeface="SimHei" panose="02010609060101010101" pitchFamily="49" charset="-122"/>
                <a:cs typeface="+mn-cs"/>
              </a:rPr>
              <a:t>A</a:t>
            </a:r>
          </a:p>
        </p:txBody>
      </p:sp>
      <p:sp>
        <p:nvSpPr>
          <p:cNvPr id="213" name="Text Box 119">
            <a:extLst>
              <a:ext uri="{FF2B5EF4-FFF2-40B4-BE49-F238E27FC236}">
                <a16:creationId xmlns:a16="http://schemas.microsoft.com/office/drawing/2014/main" id="{E20EE764-D260-085E-72DC-101639A86E5B}"/>
              </a:ext>
            </a:extLst>
          </p:cNvPr>
          <p:cNvSpPr txBox="1">
            <a:spLocks noChangeArrowheads="1"/>
          </p:cNvSpPr>
          <p:nvPr/>
        </p:nvSpPr>
        <p:spPr bwMode="auto">
          <a:xfrm>
            <a:off x="5020607" y="4106359"/>
            <a:ext cx="287228" cy="27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B0F0"/>
                </a:solidFill>
                <a:effectLst/>
                <a:uLnTx/>
                <a:uFillTx/>
                <a:latin typeface="Arial" pitchFamily="34" charset="0"/>
                <a:ea typeface="SimHei" panose="02010609060101010101" pitchFamily="49" charset="-122"/>
                <a:cs typeface="+mn-cs"/>
              </a:rPr>
              <a:t>B</a:t>
            </a:r>
          </a:p>
        </p:txBody>
      </p:sp>
      <p:sp>
        <p:nvSpPr>
          <p:cNvPr id="214" name="Oval 144">
            <a:extLst>
              <a:ext uri="{FF2B5EF4-FFF2-40B4-BE49-F238E27FC236}">
                <a16:creationId xmlns:a16="http://schemas.microsoft.com/office/drawing/2014/main" id="{A7E4DF78-7141-D7A1-CB31-356A1A958189}"/>
              </a:ext>
            </a:extLst>
          </p:cNvPr>
          <p:cNvSpPr>
            <a:spLocks noChangeArrowheads="1"/>
          </p:cNvSpPr>
          <p:nvPr/>
        </p:nvSpPr>
        <p:spPr bwMode="auto">
          <a:xfrm>
            <a:off x="2520134" y="1701389"/>
            <a:ext cx="678751" cy="624051"/>
          </a:xfrm>
          <a:prstGeom prst="ellipse">
            <a:avLst/>
          </a:prstGeom>
          <a:noFill/>
          <a:ln w="1905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Hazard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 Unit</a:t>
            </a:r>
            <a:endParaRPr kumimoji="0" lang="zh-CN" altLang="en-US" sz="1200" b="0" i="0" u="none" strike="noStrike" kern="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215" name="Line 124">
            <a:extLst>
              <a:ext uri="{FF2B5EF4-FFF2-40B4-BE49-F238E27FC236}">
                <a16:creationId xmlns:a16="http://schemas.microsoft.com/office/drawing/2014/main" id="{D20ABB17-9621-02A5-4A40-8BE4E1261F5F}"/>
              </a:ext>
            </a:extLst>
          </p:cNvPr>
          <p:cNvSpPr>
            <a:spLocks noChangeShapeType="1"/>
          </p:cNvSpPr>
          <p:nvPr/>
        </p:nvSpPr>
        <p:spPr bwMode="auto">
          <a:xfrm flipV="1">
            <a:off x="2729020" y="2291631"/>
            <a:ext cx="0" cy="187817"/>
          </a:xfrm>
          <a:prstGeom prst="line">
            <a:avLst/>
          </a:prstGeom>
          <a:noFill/>
          <a:ln w="19050">
            <a:solidFill>
              <a:srgbClr val="C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nvGrpSpPr>
          <p:cNvPr id="7" name="组合 6">
            <a:extLst>
              <a:ext uri="{FF2B5EF4-FFF2-40B4-BE49-F238E27FC236}">
                <a16:creationId xmlns:a16="http://schemas.microsoft.com/office/drawing/2014/main" id="{D32C5E8D-02A5-02E2-6471-916EA8EF418E}"/>
              </a:ext>
            </a:extLst>
          </p:cNvPr>
          <p:cNvGrpSpPr/>
          <p:nvPr/>
        </p:nvGrpSpPr>
        <p:grpSpPr>
          <a:xfrm>
            <a:off x="2590410" y="2188612"/>
            <a:ext cx="2485884" cy="3709236"/>
            <a:chOff x="2590410" y="2188612"/>
            <a:chExt cx="2485884" cy="3709236"/>
          </a:xfrm>
        </p:grpSpPr>
        <p:sp>
          <p:nvSpPr>
            <p:cNvPr id="218" name="Line 9">
              <a:extLst>
                <a:ext uri="{FF2B5EF4-FFF2-40B4-BE49-F238E27FC236}">
                  <a16:creationId xmlns:a16="http://schemas.microsoft.com/office/drawing/2014/main" id="{0873F447-192A-ED8B-2BB7-B1C47B988E96}"/>
                </a:ext>
              </a:extLst>
            </p:cNvPr>
            <p:cNvSpPr>
              <a:spLocks noChangeShapeType="1"/>
            </p:cNvSpPr>
            <p:nvPr/>
          </p:nvSpPr>
          <p:spPr bwMode="auto">
            <a:xfrm>
              <a:off x="2590410" y="5879856"/>
              <a:ext cx="2485884" cy="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9" name="Line 110">
              <a:extLst>
                <a:ext uri="{FF2B5EF4-FFF2-40B4-BE49-F238E27FC236}">
                  <a16:creationId xmlns:a16="http://schemas.microsoft.com/office/drawing/2014/main" id="{7805FDB7-1376-E503-5FCA-ACE1DD817158}"/>
                </a:ext>
              </a:extLst>
            </p:cNvPr>
            <p:cNvSpPr>
              <a:spLocks noChangeShapeType="1"/>
            </p:cNvSpPr>
            <p:nvPr/>
          </p:nvSpPr>
          <p:spPr bwMode="auto">
            <a:xfrm>
              <a:off x="2590410" y="2188612"/>
              <a:ext cx="0" cy="3699965"/>
            </a:xfrm>
            <a:prstGeom prst="line">
              <a:avLst/>
            </a:prstGeom>
            <a:noFill/>
            <a:ln w="19050">
              <a:solidFill>
                <a:srgbClr val="C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3" name="文本框 222">
              <a:extLst>
                <a:ext uri="{FF2B5EF4-FFF2-40B4-BE49-F238E27FC236}">
                  <a16:creationId xmlns:a16="http://schemas.microsoft.com/office/drawing/2014/main" id="{67D4019C-1A2A-A2F5-FE7F-38C8F5D97470}"/>
                </a:ext>
              </a:extLst>
            </p:cNvPr>
            <p:cNvSpPr txBox="1"/>
            <p:nvPr/>
          </p:nvSpPr>
          <p:spPr>
            <a:xfrm>
              <a:off x="3429377" y="5728571"/>
              <a:ext cx="643532"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ID/</a:t>
              </a:r>
              <a:r>
                <a:rPr kumimoji="0" lang="en-US" altLang="zh-CN" sz="1100" b="0" i="0" u="none" strike="noStrike" kern="1200" cap="none" spc="0" normalizeH="0" baseline="0" noProof="0" dirty="0" err="1">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EX.Rt</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grpSp>
      <p:grpSp>
        <p:nvGrpSpPr>
          <p:cNvPr id="3" name="组合 2">
            <a:extLst>
              <a:ext uri="{FF2B5EF4-FFF2-40B4-BE49-F238E27FC236}">
                <a16:creationId xmlns:a16="http://schemas.microsoft.com/office/drawing/2014/main" id="{8954A09D-52B0-A162-020C-DC066FA8CFA7}"/>
              </a:ext>
            </a:extLst>
          </p:cNvPr>
          <p:cNvGrpSpPr/>
          <p:nvPr/>
        </p:nvGrpSpPr>
        <p:grpSpPr>
          <a:xfrm>
            <a:off x="2962234" y="1710574"/>
            <a:ext cx="3281985" cy="533818"/>
            <a:chOff x="2962234" y="1710574"/>
            <a:chExt cx="3281985" cy="533818"/>
          </a:xfrm>
        </p:grpSpPr>
        <p:sp>
          <p:nvSpPr>
            <p:cNvPr id="216" name="Line 110">
              <a:extLst>
                <a:ext uri="{FF2B5EF4-FFF2-40B4-BE49-F238E27FC236}">
                  <a16:creationId xmlns:a16="http://schemas.microsoft.com/office/drawing/2014/main" id="{4BD80C27-7C5A-BFA7-3471-F39524CC1EBA}"/>
                </a:ext>
              </a:extLst>
            </p:cNvPr>
            <p:cNvSpPr>
              <a:spLocks noChangeShapeType="1"/>
            </p:cNvSpPr>
            <p:nvPr/>
          </p:nvSpPr>
          <p:spPr bwMode="auto">
            <a:xfrm>
              <a:off x="5154487" y="1710574"/>
              <a:ext cx="0" cy="533818"/>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7" name="Line 12">
              <a:extLst>
                <a:ext uri="{FF2B5EF4-FFF2-40B4-BE49-F238E27FC236}">
                  <a16:creationId xmlns:a16="http://schemas.microsoft.com/office/drawing/2014/main" id="{99EA6708-AADA-53C7-8D60-2B7E0D2A6201}"/>
                </a:ext>
              </a:extLst>
            </p:cNvPr>
            <p:cNvSpPr>
              <a:spLocks noChangeShapeType="1"/>
            </p:cNvSpPr>
            <p:nvPr/>
          </p:nvSpPr>
          <p:spPr bwMode="auto">
            <a:xfrm>
              <a:off x="2962234" y="1712909"/>
              <a:ext cx="2192253" cy="0"/>
            </a:xfrm>
            <a:prstGeom prst="line">
              <a:avLst/>
            </a:prstGeom>
            <a:noFill/>
            <a:ln w="19050">
              <a:solidFill>
                <a:srgbClr val="C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4" name="文本框 223">
              <a:extLst>
                <a:ext uri="{FF2B5EF4-FFF2-40B4-BE49-F238E27FC236}">
                  <a16:creationId xmlns:a16="http://schemas.microsoft.com/office/drawing/2014/main" id="{68F87CAA-A158-B4AD-C886-8F1B3A74D986}"/>
                </a:ext>
              </a:extLst>
            </p:cNvPr>
            <p:cNvSpPr txBox="1"/>
            <p:nvPr/>
          </p:nvSpPr>
          <p:spPr>
            <a:xfrm>
              <a:off x="5166657" y="1730771"/>
              <a:ext cx="1077562"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ID/</a:t>
              </a:r>
              <a:r>
                <a:rPr kumimoji="0" lang="en-US" altLang="zh-CN" sz="1100" b="0" i="0" u="none" strike="noStrike" kern="1200" cap="none" spc="0" normalizeH="0" baseline="0" noProof="0" dirty="0" err="1">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EX.MemRead</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grpSp>
      <p:grpSp>
        <p:nvGrpSpPr>
          <p:cNvPr id="259" name="组合 258">
            <a:extLst>
              <a:ext uri="{FF2B5EF4-FFF2-40B4-BE49-F238E27FC236}">
                <a16:creationId xmlns:a16="http://schemas.microsoft.com/office/drawing/2014/main" id="{8ED08B4C-D259-DBFF-E07C-AAB07352CA72}"/>
              </a:ext>
            </a:extLst>
          </p:cNvPr>
          <p:cNvGrpSpPr/>
          <p:nvPr/>
        </p:nvGrpSpPr>
        <p:grpSpPr>
          <a:xfrm>
            <a:off x="3047613" y="1732530"/>
            <a:ext cx="1266959" cy="322851"/>
            <a:chOff x="3047613" y="1732530"/>
            <a:chExt cx="1266959" cy="322851"/>
          </a:xfrm>
        </p:grpSpPr>
        <p:sp>
          <p:nvSpPr>
            <p:cNvPr id="126" name="Line 147">
              <a:extLst>
                <a:ext uri="{FF2B5EF4-FFF2-40B4-BE49-F238E27FC236}">
                  <a16:creationId xmlns:a16="http://schemas.microsoft.com/office/drawing/2014/main" id="{A5FD21A2-2420-FA6A-5FD5-786CD3D1693C}"/>
                </a:ext>
              </a:extLst>
            </p:cNvPr>
            <p:cNvSpPr>
              <a:spLocks noChangeShapeType="1"/>
            </p:cNvSpPr>
            <p:nvPr/>
          </p:nvSpPr>
          <p:spPr bwMode="auto">
            <a:xfrm>
              <a:off x="3764334" y="2055381"/>
              <a:ext cx="550238" cy="0"/>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0" name="Line 12">
              <a:extLst>
                <a:ext uri="{FF2B5EF4-FFF2-40B4-BE49-F238E27FC236}">
                  <a16:creationId xmlns:a16="http://schemas.microsoft.com/office/drawing/2014/main" id="{2498A58C-BFDE-BF3D-E418-7B17249666D3}"/>
                </a:ext>
              </a:extLst>
            </p:cNvPr>
            <p:cNvSpPr>
              <a:spLocks noChangeShapeType="1"/>
            </p:cNvSpPr>
            <p:nvPr/>
          </p:nvSpPr>
          <p:spPr bwMode="auto">
            <a:xfrm flipH="1">
              <a:off x="3169745" y="1899006"/>
              <a:ext cx="1007441" cy="0"/>
            </a:xfrm>
            <a:prstGeom prst="line">
              <a:avLst/>
            </a:prstGeom>
            <a:noFill/>
            <a:ln w="19050">
              <a:solidFill>
                <a:srgbClr val="C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7" name="文本框 226">
              <a:extLst>
                <a:ext uri="{FF2B5EF4-FFF2-40B4-BE49-F238E27FC236}">
                  <a16:creationId xmlns:a16="http://schemas.microsoft.com/office/drawing/2014/main" id="{D9D703AE-B35A-5A88-1B54-AD2A38FC28F8}"/>
                </a:ext>
              </a:extLst>
            </p:cNvPr>
            <p:cNvSpPr txBox="1"/>
            <p:nvPr/>
          </p:nvSpPr>
          <p:spPr>
            <a:xfrm>
              <a:off x="3047613" y="1732530"/>
              <a:ext cx="1266876"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ID/EX input MUX</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grpSp>
      <p:grpSp>
        <p:nvGrpSpPr>
          <p:cNvPr id="260" name="组合 259">
            <a:extLst>
              <a:ext uri="{FF2B5EF4-FFF2-40B4-BE49-F238E27FC236}">
                <a16:creationId xmlns:a16="http://schemas.microsoft.com/office/drawing/2014/main" id="{5DC00EFB-F31F-F50B-3F71-63E04204E1AA}"/>
              </a:ext>
            </a:extLst>
          </p:cNvPr>
          <p:cNvGrpSpPr/>
          <p:nvPr/>
        </p:nvGrpSpPr>
        <p:grpSpPr>
          <a:xfrm>
            <a:off x="1796491" y="1647686"/>
            <a:ext cx="870374" cy="687475"/>
            <a:chOff x="1796491" y="1647686"/>
            <a:chExt cx="870374" cy="687475"/>
          </a:xfrm>
        </p:grpSpPr>
        <p:sp>
          <p:nvSpPr>
            <p:cNvPr id="221" name="Line 9">
              <a:extLst>
                <a:ext uri="{FF2B5EF4-FFF2-40B4-BE49-F238E27FC236}">
                  <a16:creationId xmlns:a16="http://schemas.microsoft.com/office/drawing/2014/main" id="{D33BEF3F-964E-1870-FEA1-581FE216CF5A}"/>
                </a:ext>
              </a:extLst>
            </p:cNvPr>
            <p:cNvSpPr>
              <a:spLocks noChangeShapeType="1"/>
            </p:cNvSpPr>
            <p:nvPr/>
          </p:nvSpPr>
          <p:spPr bwMode="auto">
            <a:xfrm>
              <a:off x="2198445" y="1974649"/>
              <a:ext cx="321690" cy="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2" name="Line 12">
              <a:extLst>
                <a:ext uri="{FF2B5EF4-FFF2-40B4-BE49-F238E27FC236}">
                  <a16:creationId xmlns:a16="http://schemas.microsoft.com/office/drawing/2014/main" id="{901D4BC7-15B9-BA0D-AEBB-6E30CC9E73B4}"/>
                </a:ext>
              </a:extLst>
            </p:cNvPr>
            <p:cNvSpPr>
              <a:spLocks noChangeShapeType="1"/>
            </p:cNvSpPr>
            <p:nvPr/>
          </p:nvSpPr>
          <p:spPr bwMode="auto">
            <a:xfrm flipH="1" flipV="1">
              <a:off x="2198446" y="1974649"/>
              <a:ext cx="0" cy="360512"/>
            </a:xfrm>
            <a:prstGeom prst="line">
              <a:avLst/>
            </a:prstGeom>
            <a:noFill/>
            <a:ln w="19050">
              <a:solidFill>
                <a:srgbClr val="C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8" name="文本框 227">
              <a:extLst>
                <a:ext uri="{FF2B5EF4-FFF2-40B4-BE49-F238E27FC236}">
                  <a16:creationId xmlns:a16="http://schemas.microsoft.com/office/drawing/2014/main" id="{7303C546-2930-FD4F-15E7-264EAC51BAF1}"/>
                </a:ext>
              </a:extLst>
            </p:cNvPr>
            <p:cNvSpPr txBox="1"/>
            <p:nvPr/>
          </p:nvSpPr>
          <p:spPr>
            <a:xfrm>
              <a:off x="1796491" y="1647686"/>
              <a:ext cx="870374" cy="33855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IF/ID input MUX</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grpSp>
      <p:grpSp>
        <p:nvGrpSpPr>
          <p:cNvPr id="261" name="组合 260">
            <a:extLst>
              <a:ext uri="{FF2B5EF4-FFF2-40B4-BE49-F238E27FC236}">
                <a16:creationId xmlns:a16="http://schemas.microsoft.com/office/drawing/2014/main" id="{E431D912-1D48-4DB6-1F2F-0595B9CB0F92}"/>
              </a:ext>
            </a:extLst>
          </p:cNvPr>
          <p:cNvGrpSpPr/>
          <p:nvPr/>
        </p:nvGrpSpPr>
        <p:grpSpPr>
          <a:xfrm>
            <a:off x="362729" y="2133766"/>
            <a:ext cx="2181938" cy="1340684"/>
            <a:chOff x="362729" y="2133766"/>
            <a:chExt cx="2181938" cy="1340684"/>
          </a:xfrm>
        </p:grpSpPr>
        <p:sp>
          <p:nvSpPr>
            <p:cNvPr id="225" name="Line 9">
              <a:extLst>
                <a:ext uri="{FF2B5EF4-FFF2-40B4-BE49-F238E27FC236}">
                  <a16:creationId xmlns:a16="http://schemas.microsoft.com/office/drawing/2014/main" id="{59694D78-4138-42B7-E3DB-9BC1EA03483D}"/>
                </a:ext>
              </a:extLst>
            </p:cNvPr>
            <p:cNvSpPr>
              <a:spLocks noChangeShapeType="1"/>
            </p:cNvSpPr>
            <p:nvPr/>
          </p:nvSpPr>
          <p:spPr bwMode="auto">
            <a:xfrm>
              <a:off x="484355" y="2142579"/>
              <a:ext cx="2060312" cy="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6" name="Line 12">
              <a:extLst>
                <a:ext uri="{FF2B5EF4-FFF2-40B4-BE49-F238E27FC236}">
                  <a16:creationId xmlns:a16="http://schemas.microsoft.com/office/drawing/2014/main" id="{9E0679B3-4E96-47FB-0C69-A3E8980DFE8E}"/>
                </a:ext>
              </a:extLst>
            </p:cNvPr>
            <p:cNvSpPr>
              <a:spLocks noChangeShapeType="1"/>
            </p:cNvSpPr>
            <p:nvPr/>
          </p:nvSpPr>
          <p:spPr bwMode="auto">
            <a:xfrm flipH="1" flipV="1">
              <a:off x="484355" y="2142579"/>
              <a:ext cx="0" cy="1331871"/>
            </a:xfrm>
            <a:prstGeom prst="line">
              <a:avLst/>
            </a:prstGeom>
            <a:noFill/>
            <a:ln w="19050">
              <a:solidFill>
                <a:srgbClr val="C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9" name="文本框 228">
              <a:extLst>
                <a:ext uri="{FF2B5EF4-FFF2-40B4-BE49-F238E27FC236}">
                  <a16:creationId xmlns:a16="http://schemas.microsoft.com/office/drawing/2014/main" id="{144E960F-65E4-80B3-D799-0AF3B6FA2D60}"/>
                </a:ext>
              </a:extLst>
            </p:cNvPr>
            <p:cNvSpPr txBox="1"/>
            <p:nvPr/>
          </p:nvSpPr>
          <p:spPr>
            <a:xfrm>
              <a:off x="362729" y="2133766"/>
              <a:ext cx="870374" cy="33855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PC input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 MUX</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grpSp>
      <p:sp>
        <p:nvSpPr>
          <p:cNvPr id="230" name="对话气泡: 椭圆形 492">
            <a:extLst>
              <a:ext uri="{FF2B5EF4-FFF2-40B4-BE49-F238E27FC236}">
                <a16:creationId xmlns:a16="http://schemas.microsoft.com/office/drawing/2014/main" id="{E6854CAC-FD28-3C06-84D7-AF4CAD70CE9D}"/>
              </a:ext>
            </a:extLst>
          </p:cNvPr>
          <p:cNvSpPr/>
          <p:nvPr/>
        </p:nvSpPr>
        <p:spPr>
          <a:xfrm>
            <a:off x="176879" y="4440083"/>
            <a:ext cx="1912272" cy="2043267"/>
          </a:xfrm>
          <a:prstGeom prst="wedgeEllipseCallout">
            <a:avLst>
              <a:gd name="adj1" fmla="val 55959"/>
              <a:gd name="adj2" fmla="val -53129"/>
            </a:avLst>
          </a:prstGeom>
          <a:solidFill>
            <a:sysClr val="window" lastClr="FFFFFF">
              <a:lumMod val="95000"/>
            </a:sysClr>
          </a:solidFill>
          <a:ln w="12700"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31" name="Rectangle 104">
            <a:extLst>
              <a:ext uri="{FF2B5EF4-FFF2-40B4-BE49-F238E27FC236}">
                <a16:creationId xmlns:a16="http://schemas.microsoft.com/office/drawing/2014/main" id="{4D054AC2-00D2-BBEB-01DD-618F05E1B740}"/>
              </a:ext>
            </a:extLst>
          </p:cNvPr>
          <p:cNvSpPr>
            <a:spLocks noChangeArrowheads="1"/>
          </p:cNvSpPr>
          <p:nvPr/>
        </p:nvSpPr>
        <p:spPr bwMode="auto">
          <a:xfrm>
            <a:off x="1360531" y="4558626"/>
            <a:ext cx="107843" cy="1429121"/>
          </a:xfrm>
          <a:prstGeom prst="rect">
            <a:avLst/>
          </a:prstGeom>
          <a:pattFill prst="wdUpDiag">
            <a:fgClr>
              <a:sysClr val="window" lastClr="FFFFFF">
                <a:lumMod val="75000"/>
              </a:sysClr>
            </a:fgClr>
            <a:bgClr>
              <a:sysClr val="window" lastClr="FFFFFF"/>
            </a:bgClr>
          </a:pattFill>
          <a:ln w="19050">
            <a:solidFill>
              <a:sysClr val="windowText" lastClr="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2" name="AutoShape 67">
            <a:extLst>
              <a:ext uri="{FF2B5EF4-FFF2-40B4-BE49-F238E27FC236}">
                <a16:creationId xmlns:a16="http://schemas.microsoft.com/office/drawing/2014/main" id="{1137499D-BA4E-373A-0EF6-9491AC436872}"/>
              </a:ext>
            </a:extLst>
          </p:cNvPr>
          <p:cNvSpPr>
            <a:spLocks noChangeArrowheads="1"/>
          </p:cNvSpPr>
          <p:nvPr/>
        </p:nvSpPr>
        <p:spPr bwMode="auto">
          <a:xfrm rot="16200000">
            <a:off x="691322" y="5182494"/>
            <a:ext cx="492800" cy="161764"/>
          </a:xfrm>
          <a:custGeom>
            <a:avLst/>
            <a:gdLst>
              <a:gd name="T0" fmla="*/ 9 w 21600"/>
              <a:gd name="T1" fmla="*/ 0 h 21600"/>
              <a:gd name="T2" fmla="*/ 5 w 21600"/>
              <a:gd name="T3" fmla="*/ 1 h 21600"/>
              <a:gd name="T4" fmla="*/ 1 w 21600"/>
              <a:gd name="T5" fmla="*/ 0 h 21600"/>
              <a:gd name="T6" fmla="*/ 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3" name="Line 72">
            <a:extLst>
              <a:ext uri="{FF2B5EF4-FFF2-40B4-BE49-F238E27FC236}">
                <a16:creationId xmlns:a16="http://schemas.microsoft.com/office/drawing/2014/main" id="{89C92F57-97E7-7D3D-4E2B-702183C75D09}"/>
              </a:ext>
            </a:extLst>
          </p:cNvPr>
          <p:cNvSpPr>
            <a:spLocks noChangeShapeType="1"/>
          </p:cNvSpPr>
          <p:nvPr/>
        </p:nvSpPr>
        <p:spPr bwMode="auto">
          <a:xfrm>
            <a:off x="1019606" y="5255073"/>
            <a:ext cx="340926"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4" name="Line 72">
            <a:extLst>
              <a:ext uri="{FF2B5EF4-FFF2-40B4-BE49-F238E27FC236}">
                <a16:creationId xmlns:a16="http://schemas.microsoft.com/office/drawing/2014/main" id="{ABFA4C33-32ED-2430-C87A-EBBCD8D234F5}"/>
              </a:ext>
            </a:extLst>
          </p:cNvPr>
          <p:cNvSpPr>
            <a:spLocks noChangeShapeType="1"/>
          </p:cNvSpPr>
          <p:nvPr/>
        </p:nvSpPr>
        <p:spPr bwMode="auto">
          <a:xfrm>
            <a:off x="368640" y="5255073"/>
            <a:ext cx="488200"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5" name="Line 120">
            <a:extLst>
              <a:ext uri="{FF2B5EF4-FFF2-40B4-BE49-F238E27FC236}">
                <a16:creationId xmlns:a16="http://schemas.microsoft.com/office/drawing/2014/main" id="{7776E0DA-80C0-F7F8-4DC1-CFC50CD26AAD}"/>
              </a:ext>
            </a:extLst>
          </p:cNvPr>
          <p:cNvSpPr>
            <a:spLocks noChangeShapeType="1"/>
          </p:cNvSpPr>
          <p:nvPr/>
        </p:nvSpPr>
        <p:spPr bwMode="auto">
          <a:xfrm flipV="1">
            <a:off x="1670987" y="5255073"/>
            <a:ext cx="0" cy="1040358"/>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6" name="Line 131">
            <a:extLst>
              <a:ext uri="{FF2B5EF4-FFF2-40B4-BE49-F238E27FC236}">
                <a16:creationId xmlns:a16="http://schemas.microsoft.com/office/drawing/2014/main" id="{1D859252-213A-C045-BF12-7970F65B204E}"/>
              </a:ext>
            </a:extLst>
          </p:cNvPr>
          <p:cNvSpPr>
            <a:spLocks noChangeShapeType="1"/>
          </p:cNvSpPr>
          <p:nvPr/>
        </p:nvSpPr>
        <p:spPr bwMode="auto">
          <a:xfrm>
            <a:off x="722772" y="6293022"/>
            <a:ext cx="948214" cy="0"/>
          </a:xfrm>
          <a:prstGeom prst="line">
            <a:avLst/>
          </a:prstGeom>
          <a:noFill/>
          <a:ln w="19050">
            <a:solidFill>
              <a:sysClr val="windowText" lastClr="000000"/>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7" name="Line 120">
            <a:extLst>
              <a:ext uri="{FF2B5EF4-FFF2-40B4-BE49-F238E27FC236}">
                <a16:creationId xmlns:a16="http://schemas.microsoft.com/office/drawing/2014/main" id="{0F767723-78D4-394A-03C3-032EB5EE7896}"/>
              </a:ext>
            </a:extLst>
          </p:cNvPr>
          <p:cNvSpPr>
            <a:spLocks noChangeShapeType="1"/>
          </p:cNvSpPr>
          <p:nvPr/>
        </p:nvSpPr>
        <p:spPr bwMode="auto">
          <a:xfrm flipV="1">
            <a:off x="722772" y="5405091"/>
            <a:ext cx="0" cy="887931"/>
          </a:xfrm>
          <a:prstGeom prst="line">
            <a:avLst/>
          </a:prstGeom>
          <a:noFill/>
          <a:ln w="190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8" name="Line 72">
            <a:extLst>
              <a:ext uri="{FF2B5EF4-FFF2-40B4-BE49-F238E27FC236}">
                <a16:creationId xmlns:a16="http://schemas.microsoft.com/office/drawing/2014/main" id="{BC797534-2B4E-84C8-EACB-1A0C1F813E56}"/>
              </a:ext>
            </a:extLst>
          </p:cNvPr>
          <p:cNvSpPr>
            <a:spLocks noChangeShapeType="1"/>
          </p:cNvSpPr>
          <p:nvPr/>
        </p:nvSpPr>
        <p:spPr bwMode="auto">
          <a:xfrm>
            <a:off x="722772" y="5405091"/>
            <a:ext cx="134912"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9" name="Line 72">
            <a:extLst>
              <a:ext uri="{FF2B5EF4-FFF2-40B4-BE49-F238E27FC236}">
                <a16:creationId xmlns:a16="http://schemas.microsoft.com/office/drawing/2014/main" id="{D4A4BF89-ABF5-0B75-23CB-1BDFBCF352B0}"/>
              </a:ext>
            </a:extLst>
          </p:cNvPr>
          <p:cNvSpPr>
            <a:spLocks noChangeShapeType="1"/>
          </p:cNvSpPr>
          <p:nvPr/>
        </p:nvSpPr>
        <p:spPr bwMode="auto">
          <a:xfrm>
            <a:off x="1468374" y="5255073"/>
            <a:ext cx="340926"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0" name="Line 72">
            <a:extLst>
              <a:ext uri="{FF2B5EF4-FFF2-40B4-BE49-F238E27FC236}">
                <a16:creationId xmlns:a16="http://schemas.microsoft.com/office/drawing/2014/main" id="{9B1BE466-3F86-8459-9955-80CFC1F0F931}"/>
              </a:ext>
            </a:extLst>
          </p:cNvPr>
          <p:cNvSpPr>
            <a:spLocks noChangeShapeType="1"/>
          </p:cNvSpPr>
          <p:nvPr/>
        </p:nvSpPr>
        <p:spPr bwMode="auto">
          <a:xfrm>
            <a:off x="722772" y="5121183"/>
            <a:ext cx="134912" cy="0"/>
          </a:xfrm>
          <a:prstGeom prst="line">
            <a:avLst/>
          </a:prstGeom>
          <a:noFill/>
          <a:ln w="190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1" name="Text Box 57">
            <a:extLst>
              <a:ext uri="{FF2B5EF4-FFF2-40B4-BE49-F238E27FC236}">
                <a16:creationId xmlns:a16="http://schemas.microsoft.com/office/drawing/2014/main" id="{F28999A0-3B44-DBBB-8547-D9AF7A3E2B72}"/>
              </a:ext>
            </a:extLst>
          </p:cNvPr>
          <p:cNvSpPr txBox="1">
            <a:spLocks noChangeArrowheads="1"/>
          </p:cNvSpPr>
          <p:nvPr/>
        </p:nvSpPr>
        <p:spPr bwMode="auto">
          <a:xfrm>
            <a:off x="539057" y="4986370"/>
            <a:ext cx="284022" cy="30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3" rIns="91425" bIns="45713">
            <a:spAutoFit/>
          </a:bodyPr>
          <a:lstStyle>
            <a:lvl1pPr eaLnBrk="0" hangingPunct="0">
              <a:defRPr b="1">
                <a:solidFill>
                  <a:schemeClr val="tx1"/>
                </a:solidFill>
                <a:latin typeface="Tahoma" pitchFamily="34" charset="0"/>
                <a:ea typeface="宋体" pitchFamily="2" charset="-122"/>
              </a:defRPr>
            </a:lvl1pPr>
            <a:lvl2pPr marL="742950" indent="-285750" eaLnBrk="0" hangingPunct="0">
              <a:defRPr b="1">
                <a:solidFill>
                  <a:schemeClr val="tx1"/>
                </a:solidFill>
                <a:latin typeface="Tahoma" pitchFamily="34" charset="0"/>
                <a:ea typeface="宋体" pitchFamily="2" charset="-122"/>
              </a:defRPr>
            </a:lvl2pPr>
            <a:lvl3pPr marL="1143000" indent="-228600" eaLnBrk="0" hangingPunct="0">
              <a:defRPr b="1">
                <a:solidFill>
                  <a:schemeClr val="tx1"/>
                </a:solidFill>
                <a:latin typeface="Tahoma" pitchFamily="34" charset="0"/>
                <a:ea typeface="宋体" pitchFamily="2" charset="-122"/>
              </a:defRPr>
            </a:lvl3pPr>
            <a:lvl4pPr marL="1600200" indent="-228600" eaLnBrk="0" hangingPunct="0">
              <a:defRPr b="1">
                <a:solidFill>
                  <a:schemeClr val="tx1"/>
                </a:solidFill>
                <a:latin typeface="Tahoma" pitchFamily="34" charset="0"/>
                <a:ea typeface="宋体" pitchFamily="2" charset="-122"/>
              </a:defRPr>
            </a:lvl4pPr>
            <a:lvl5pPr marL="2057400" indent="-228600" eaLnBrk="0" hangingPunct="0">
              <a:defRPr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b="1">
                <a:solidFill>
                  <a:schemeClr val="tx1"/>
                </a:solidFill>
                <a:latin typeface="Tahoma" pitchFamily="34" charset="0"/>
                <a:ea typeface="宋体" pitchFamily="2" charset="-122"/>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Arial" pitchFamily="34" charset="0"/>
                <a:ea typeface="SimHei" panose="02010609060101010101" pitchFamily="49" charset="-122"/>
                <a:cs typeface="+mn-cs"/>
              </a:rPr>
              <a:t>0</a:t>
            </a:r>
          </a:p>
        </p:txBody>
      </p:sp>
      <p:sp>
        <p:nvSpPr>
          <p:cNvPr id="242" name="文本框 241">
            <a:extLst>
              <a:ext uri="{FF2B5EF4-FFF2-40B4-BE49-F238E27FC236}">
                <a16:creationId xmlns:a16="http://schemas.microsoft.com/office/drawing/2014/main" id="{65D0A586-CBBF-9AF7-FFBB-5E4B77FCC836}"/>
              </a:ext>
            </a:extLst>
          </p:cNvPr>
          <p:cNvSpPr txBox="1"/>
          <p:nvPr/>
        </p:nvSpPr>
        <p:spPr>
          <a:xfrm>
            <a:off x="0" y="5032216"/>
            <a:ext cx="870373"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Flush:</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243" name="文本框 242">
            <a:extLst>
              <a:ext uri="{FF2B5EF4-FFF2-40B4-BE49-F238E27FC236}">
                <a16:creationId xmlns:a16="http://schemas.microsoft.com/office/drawing/2014/main" id="{1423E82D-2F44-202E-88D8-B55ADA64F1D6}"/>
              </a:ext>
            </a:extLst>
          </p:cNvPr>
          <p:cNvSpPr txBox="1"/>
          <p:nvPr/>
        </p:nvSpPr>
        <p:spPr>
          <a:xfrm>
            <a:off x="631870" y="6123716"/>
            <a:ext cx="870373"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C00000"/>
                </a:solidFill>
                <a:effectLst/>
                <a:uLnTx/>
                <a:uFillTx/>
                <a:latin typeface="Arial" panose="020B0604020202020204" pitchFamily="34" charset="0"/>
                <a:ea typeface="等线" panose="02010600030101010101" pitchFamily="2" charset="-122"/>
                <a:cs typeface="Arial" panose="020B0604020202020204" pitchFamily="34" charset="0"/>
              </a:rPr>
              <a:t>Keep</a:t>
            </a:r>
            <a:endParaRPr kumimoji="0" lang="zh-CN" altLang="en-US" sz="11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244" name="椭圆 243">
            <a:extLst>
              <a:ext uri="{FF2B5EF4-FFF2-40B4-BE49-F238E27FC236}">
                <a16:creationId xmlns:a16="http://schemas.microsoft.com/office/drawing/2014/main" id="{AC418B47-4C0D-6119-40C0-85C66FD94758}"/>
              </a:ext>
            </a:extLst>
          </p:cNvPr>
          <p:cNvSpPr/>
          <p:nvPr/>
        </p:nvSpPr>
        <p:spPr>
          <a:xfrm>
            <a:off x="5124245" y="2211213"/>
            <a:ext cx="64128" cy="64128"/>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89261DF4-525E-EC91-E6F1-3EFBC22DF2F7}"/>
                  </a:ext>
                </a:extLst>
              </p14:cNvPr>
              <p14:cNvContentPartPr/>
              <p14:nvPr/>
            </p14:nvContentPartPr>
            <p14:xfrm>
              <a:off x="12240" y="1918800"/>
              <a:ext cx="6299280" cy="2973240"/>
            </p14:xfrm>
          </p:contentPart>
        </mc:Choice>
        <mc:Fallback xmlns="">
          <p:pic>
            <p:nvPicPr>
              <p:cNvPr id="5" name="墨迹 4">
                <a:extLst>
                  <a:ext uri="{FF2B5EF4-FFF2-40B4-BE49-F238E27FC236}">
                    <a16:creationId xmlns:a16="http://schemas.microsoft.com/office/drawing/2014/main" id="{89261DF4-525E-EC91-E6F1-3EFBC22DF2F7}"/>
                  </a:ext>
                </a:extLst>
              </p:cNvPr>
              <p:cNvPicPr/>
              <p:nvPr/>
            </p:nvPicPr>
            <p:blipFill>
              <a:blip r:embed="rId4"/>
              <a:stretch>
                <a:fillRect/>
              </a:stretch>
            </p:blipFill>
            <p:spPr>
              <a:xfrm>
                <a:off x="2880" y="1909440"/>
                <a:ext cx="6318000" cy="2991960"/>
              </a:xfrm>
              <a:prstGeom prst="rect">
                <a:avLst/>
              </a:prstGeom>
            </p:spPr>
          </p:pic>
        </mc:Fallback>
      </mc:AlternateContent>
    </p:spTree>
    <p:extLst>
      <p:ext uri="{BB962C8B-B14F-4D97-AF65-F5344CB8AC3E}">
        <p14:creationId xmlns:p14="http://schemas.microsoft.com/office/powerpoint/2010/main" val="9936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64971-87B9-4A39-8873-CD6A2E83B4D4}"/>
              </a:ext>
            </a:extLst>
          </p:cNvPr>
          <p:cNvSpPr>
            <a:spLocks noGrp="1"/>
          </p:cNvSpPr>
          <p:nvPr>
            <p:ph type="title"/>
          </p:nvPr>
        </p:nvSpPr>
        <p:spPr/>
        <p:txBody>
          <a:bodyPr/>
          <a:lstStyle/>
          <a:p>
            <a:r>
              <a:rPr lang="zh-CN" altLang="en-US" dirty="0"/>
              <a:t>流水线的冒险</a:t>
            </a:r>
          </a:p>
        </p:txBody>
      </p:sp>
      <p:sp>
        <p:nvSpPr>
          <p:cNvPr id="3" name="内容占位符 2">
            <a:extLst>
              <a:ext uri="{FF2B5EF4-FFF2-40B4-BE49-F238E27FC236}">
                <a16:creationId xmlns:a16="http://schemas.microsoft.com/office/drawing/2014/main" id="{91D7AA9F-088E-432B-A70E-DD4D98DFA9FA}"/>
              </a:ext>
            </a:extLst>
          </p:cNvPr>
          <p:cNvSpPr>
            <a:spLocks noGrp="1"/>
          </p:cNvSpPr>
          <p:nvPr>
            <p:ph idx="1"/>
          </p:nvPr>
        </p:nvSpPr>
        <p:spPr/>
        <p:txBody>
          <a:bodyPr/>
          <a:lstStyle/>
          <a:p>
            <a:r>
              <a:rPr lang="zh-CN" altLang="en-US" sz="2800" dirty="0"/>
              <a:t>结构冒险：资源矛盾！</a:t>
            </a:r>
            <a:endParaRPr lang="en-US" altLang="zh-CN" sz="2800" dirty="0"/>
          </a:p>
          <a:p>
            <a:pPr lvl="1"/>
            <a:r>
              <a:rPr lang="zh-CN" altLang="en-US" sz="2400" dirty="0"/>
              <a:t>两条指令在同一周期需要使用同样的硬件</a:t>
            </a:r>
            <a:endParaRPr lang="en-US" altLang="zh-CN" sz="2400" dirty="0"/>
          </a:p>
          <a:p>
            <a:pPr lvl="1"/>
            <a:r>
              <a:rPr lang="zh-CN" altLang="en-US" sz="2400" dirty="0"/>
              <a:t>解决方法：增加硬件资源；调整指令占用资源的时间</a:t>
            </a:r>
            <a:endParaRPr lang="en-US" altLang="zh-CN" sz="2400" dirty="0"/>
          </a:p>
          <a:p>
            <a:r>
              <a:rPr lang="zh-CN" altLang="en-US" sz="2800" dirty="0"/>
              <a:t>数据关联冒险：操作数是否已经更新？</a:t>
            </a:r>
            <a:endParaRPr lang="en-US" altLang="zh-CN" sz="2800" dirty="0"/>
          </a:p>
          <a:p>
            <a:pPr lvl="1"/>
            <a:r>
              <a:rPr lang="zh-CN" altLang="en-US" sz="2400" dirty="0"/>
              <a:t>指令依赖于流水线中运行的其他指令结果</a:t>
            </a:r>
            <a:endParaRPr lang="en-US" altLang="zh-CN" sz="2400" dirty="0"/>
          </a:p>
          <a:p>
            <a:pPr lvl="1"/>
            <a:r>
              <a:rPr lang="zh-CN" altLang="en-US" sz="2400" dirty="0"/>
              <a:t>解决方法：</a:t>
            </a:r>
            <a:r>
              <a:rPr lang="en-US" altLang="zh-CN" sz="2400" dirty="0"/>
              <a:t>Stall</a:t>
            </a:r>
            <a:r>
              <a:rPr lang="zh-CN" altLang="en-US" sz="2400" dirty="0"/>
              <a:t>；</a:t>
            </a:r>
            <a:r>
              <a:rPr lang="en-US" altLang="zh-CN" sz="2400" dirty="0"/>
              <a:t>Forwarding</a:t>
            </a:r>
            <a:r>
              <a:rPr lang="zh-CN" altLang="en-US" sz="2400" dirty="0"/>
              <a:t>；编译器优化</a:t>
            </a:r>
            <a:endParaRPr lang="en-US" altLang="zh-CN" sz="2400" dirty="0"/>
          </a:p>
          <a:p>
            <a:r>
              <a:rPr lang="zh-CN" altLang="en-US" sz="2800" dirty="0">
                <a:solidFill>
                  <a:srgbClr val="1A49EA"/>
                </a:solidFill>
              </a:rPr>
              <a:t>控制冒险：</a:t>
            </a:r>
            <a:r>
              <a:rPr lang="en-US" altLang="zh-CN" sz="2800" dirty="0">
                <a:solidFill>
                  <a:srgbClr val="1A49EA"/>
                </a:solidFill>
              </a:rPr>
              <a:t>PC</a:t>
            </a:r>
            <a:r>
              <a:rPr lang="zh-CN" altLang="en-US" sz="2800" dirty="0">
                <a:solidFill>
                  <a:srgbClr val="1A49EA"/>
                </a:solidFill>
              </a:rPr>
              <a:t>是否已经更新？</a:t>
            </a:r>
            <a:endParaRPr lang="en-US" altLang="zh-CN" sz="2800" dirty="0">
              <a:solidFill>
                <a:srgbClr val="1A49EA"/>
              </a:solidFill>
            </a:endParaRPr>
          </a:p>
          <a:p>
            <a:pPr lvl="1"/>
            <a:r>
              <a:rPr lang="zh-CN" altLang="en-US" sz="2400" dirty="0">
                <a:solidFill>
                  <a:srgbClr val="1A49EA"/>
                </a:solidFill>
              </a:rPr>
              <a:t>取指令依赖于流水线中指令的结果</a:t>
            </a:r>
            <a:endParaRPr lang="en-US" altLang="zh-CN" sz="2400" dirty="0">
              <a:solidFill>
                <a:srgbClr val="1A49EA"/>
              </a:solidFill>
            </a:endParaRPr>
          </a:p>
          <a:p>
            <a:pPr lvl="1"/>
            <a:r>
              <a:rPr lang="zh-CN" altLang="en-US" sz="2400" dirty="0">
                <a:solidFill>
                  <a:srgbClr val="1A49EA"/>
                </a:solidFill>
              </a:rPr>
              <a:t>解决方法：</a:t>
            </a:r>
            <a:r>
              <a:rPr lang="en-US" altLang="zh-CN" sz="2400" dirty="0">
                <a:solidFill>
                  <a:srgbClr val="1A49EA"/>
                </a:solidFill>
              </a:rPr>
              <a:t>Stall</a:t>
            </a:r>
            <a:r>
              <a:rPr lang="zh-CN" altLang="en-US" sz="2400" dirty="0">
                <a:solidFill>
                  <a:srgbClr val="1A49EA"/>
                </a:solidFill>
              </a:rPr>
              <a:t>；</a:t>
            </a:r>
            <a:r>
              <a:rPr lang="en-US" altLang="zh-CN" sz="2400" dirty="0">
                <a:solidFill>
                  <a:srgbClr val="1A49EA"/>
                </a:solidFill>
              </a:rPr>
              <a:t>Forwarding</a:t>
            </a:r>
            <a:r>
              <a:rPr lang="zh-CN" altLang="en-US" sz="2400" dirty="0">
                <a:solidFill>
                  <a:srgbClr val="1A49EA"/>
                </a:solidFill>
              </a:rPr>
              <a:t>；延迟槽；分支预测</a:t>
            </a:r>
          </a:p>
        </p:txBody>
      </p:sp>
      <p:sp>
        <p:nvSpPr>
          <p:cNvPr id="4" name="灯片编号占位符 3">
            <a:extLst>
              <a:ext uri="{FF2B5EF4-FFF2-40B4-BE49-F238E27FC236}">
                <a16:creationId xmlns:a16="http://schemas.microsoft.com/office/drawing/2014/main" id="{BA5DA19B-33E5-4B74-AA32-DDBC3C23618E}"/>
              </a:ext>
            </a:extLst>
          </p:cNvPr>
          <p:cNvSpPr>
            <a:spLocks noGrp="1"/>
          </p:cNvSpPr>
          <p:nvPr>
            <p:ph type="sldNum" sz="quarter" idx="12"/>
          </p:nvPr>
        </p:nvSpPr>
        <p:spPr/>
        <p:txBody>
          <a:bodyPr/>
          <a:lstStyle/>
          <a:p>
            <a:fld id="{0626FCE3-5FF9-430D-BA0B-DE80AAE71673}" type="slidenum">
              <a:rPr lang="zh-CN" altLang="en-US" smtClean="0"/>
              <a:t>37</a:t>
            </a:fld>
            <a:endParaRPr lang="zh-CN" altLang="en-US"/>
          </a:p>
        </p:txBody>
      </p:sp>
    </p:spTree>
    <p:extLst>
      <p:ext uri="{BB962C8B-B14F-4D97-AF65-F5344CB8AC3E}">
        <p14:creationId xmlns:p14="http://schemas.microsoft.com/office/powerpoint/2010/main" val="3718912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894493-3E00-4F39-A17D-F3400C933BCA}"/>
              </a:ext>
            </a:extLst>
          </p:cNvPr>
          <p:cNvSpPr>
            <a:spLocks noGrp="1"/>
          </p:cNvSpPr>
          <p:nvPr>
            <p:ph type="title"/>
          </p:nvPr>
        </p:nvSpPr>
        <p:spPr/>
        <p:txBody>
          <a:bodyPr/>
          <a:lstStyle/>
          <a:p>
            <a:r>
              <a:rPr lang="zh-CN" altLang="en-US" dirty="0"/>
              <a:t>流水线冒险：控制冒险</a:t>
            </a:r>
          </a:p>
        </p:txBody>
      </p:sp>
      <p:sp>
        <p:nvSpPr>
          <p:cNvPr id="3" name="内容占位符 2">
            <a:extLst>
              <a:ext uri="{FF2B5EF4-FFF2-40B4-BE49-F238E27FC236}">
                <a16:creationId xmlns:a16="http://schemas.microsoft.com/office/drawing/2014/main" id="{E624FA52-75EC-4E12-AFD6-8220810934C1}"/>
              </a:ext>
            </a:extLst>
          </p:cNvPr>
          <p:cNvSpPr>
            <a:spLocks noGrp="1"/>
          </p:cNvSpPr>
          <p:nvPr>
            <p:ph idx="1"/>
          </p:nvPr>
        </p:nvSpPr>
        <p:spPr>
          <a:xfrm>
            <a:off x="457199" y="1279525"/>
            <a:ext cx="8497957" cy="4525963"/>
          </a:xfrm>
        </p:spPr>
        <p:txBody>
          <a:bodyPr/>
          <a:lstStyle/>
          <a:p>
            <a:r>
              <a:rPr lang="zh-CN" altLang="en-US" sz="2400" dirty="0"/>
              <a:t>解决方法：</a:t>
            </a:r>
            <a:r>
              <a:rPr lang="en-US" altLang="zh-CN" sz="2400" dirty="0"/>
              <a:t>Stall</a:t>
            </a:r>
            <a:r>
              <a:rPr lang="zh-CN" altLang="en-US" sz="2400" dirty="0"/>
              <a:t>（和</a:t>
            </a:r>
            <a:r>
              <a:rPr lang="en-US" altLang="zh-CN" sz="2400" dirty="0"/>
              <a:t>Forwarding</a:t>
            </a:r>
            <a:r>
              <a:rPr lang="zh-CN" altLang="en-US" sz="2400" dirty="0"/>
              <a:t>）</a:t>
            </a:r>
            <a:endParaRPr lang="en-US" altLang="zh-CN" sz="2400" dirty="0"/>
          </a:p>
          <a:p>
            <a:pPr lvl="1"/>
            <a:r>
              <a:rPr lang="zh-CN" altLang="en-US" sz="2200" dirty="0"/>
              <a:t>分支指令（</a:t>
            </a:r>
            <a:r>
              <a:rPr lang="en-US" altLang="zh-CN" sz="2200" dirty="0" err="1"/>
              <a:t>beq</a:t>
            </a:r>
            <a:r>
              <a:rPr lang="zh-CN" altLang="en-US" sz="2200" dirty="0"/>
              <a:t>，</a:t>
            </a:r>
            <a:r>
              <a:rPr lang="en-US" altLang="zh-CN" sz="2200" dirty="0" err="1"/>
              <a:t>bne</a:t>
            </a:r>
            <a:r>
              <a:rPr lang="zh-CN" altLang="en-US" sz="2200" dirty="0"/>
              <a:t>，</a:t>
            </a:r>
            <a:r>
              <a:rPr lang="en-US" altLang="zh-CN" sz="2200" dirty="0" err="1"/>
              <a:t>bgt</a:t>
            </a:r>
            <a:r>
              <a:rPr lang="zh-CN" altLang="en-US" sz="2200" dirty="0"/>
              <a:t>，</a:t>
            </a:r>
            <a:r>
              <a:rPr lang="en-US" altLang="zh-CN" sz="2200" dirty="0" err="1"/>
              <a:t>bge</a:t>
            </a:r>
            <a:r>
              <a:rPr lang="zh-CN" altLang="en-US" sz="2200" dirty="0"/>
              <a:t>，</a:t>
            </a:r>
            <a:r>
              <a:rPr lang="en-US" altLang="zh-CN" sz="2200" dirty="0" err="1"/>
              <a:t>blt</a:t>
            </a:r>
            <a:r>
              <a:rPr lang="zh-CN" altLang="en-US" sz="2200" dirty="0"/>
              <a:t>，</a:t>
            </a:r>
            <a:r>
              <a:rPr lang="en-US" altLang="zh-CN" sz="2200" dirty="0" err="1"/>
              <a:t>ble</a:t>
            </a:r>
            <a:r>
              <a:rPr lang="zh-CN" altLang="en-US" sz="2200" dirty="0"/>
              <a:t>等）引起</a:t>
            </a:r>
            <a:endParaRPr lang="en-US" altLang="zh-CN" sz="2200" dirty="0"/>
          </a:p>
          <a:p>
            <a:pPr lvl="2"/>
            <a:r>
              <a:rPr lang="zh-CN" altLang="en-US" sz="2000" dirty="0"/>
              <a:t>会通过电路图判断分支指令在哪个周期发生分支、</a:t>
            </a:r>
            <a:r>
              <a:rPr lang="en-US" altLang="zh-CN" sz="2000" dirty="0"/>
              <a:t>stall</a:t>
            </a:r>
            <a:r>
              <a:rPr lang="zh-CN" altLang="en-US" sz="2000" dirty="0"/>
              <a:t>周期数</a:t>
            </a:r>
            <a:endParaRPr lang="en-US" altLang="zh-CN" sz="2000" dirty="0"/>
          </a:p>
          <a:p>
            <a:pPr lvl="2"/>
            <a:r>
              <a:rPr lang="en-US" altLang="zh-CN" sz="2000" dirty="0"/>
              <a:t>MEM</a:t>
            </a:r>
            <a:r>
              <a:rPr lang="zh-CN" altLang="en-US" sz="2000" dirty="0"/>
              <a:t>分支：</a:t>
            </a:r>
            <a:r>
              <a:rPr lang="en-US" altLang="zh-CN" sz="2000" dirty="0"/>
              <a:t>stall 3</a:t>
            </a:r>
            <a:r>
              <a:rPr lang="zh-CN" altLang="en-US" sz="2000" dirty="0"/>
              <a:t>个周期</a:t>
            </a:r>
            <a:endParaRPr lang="en-US" altLang="zh-CN" sz="2000" dirty="0"/>
          </a:p>
          <a:p>
            <a:pPr lvl="2"/>
            <a:r>
              <a:rPr lang="zh-CN" altLang="en-US" sz="2000" dirty="0"/>
              <a:t>提前到</a:t>
            </a:r>
            <a:r>
              <a:rPr lang="en-US" altLang="zh-CN" sz="2000" dirty="0"/>
              <a:t>EX</a:t>
            </a:r>
            <a:r>
              <a:rPr lang="zh-CN" altLang="en-US" sz="2000" dirty="0"/>
              <a:t>分支：</a:t>
            </a:r>
            <a:r>
              <a:rPr lang="en-US" altLang="zh-CN" sz="2000" dirty="0"/>
              <a:t>stall 2</a:t>
            </a:r>
            <a:r>
              <a:rPr lang="zh-CN" altLang="en-US" sz="2000" dirty="0"/>
              <a:t>个周期</a:t>
            </a:r>
            <a:endParaRPr lang="en-US" altLang="zh-CN" sz="2000" dirty="0"/>
          </a:p>
          <a:p>
            <a:pPr lvl="2"/>
            <a:r>
              <a:rPr lang="zh-CN" altLang="en-US" sz="2000" dirty="0"/>
              <a:t>提前到</a:t>
            </a:r>
            <a:r>
              <a:rPr lang="en-US" altLang="zh-CN" sz="2000" dirty="0"/>
              <a:t>ID</a:t>
            </a:r>
            <a:r>
              <a:rPr lang="zh-CN" altLang="en-US" sz="2000" dirty="0"/>
              <a:t>分支：</a:t>
            </a:r>
            <a:r>
              <a:rPr lang="en-US" altLang="zh-CN" sz="2000" dirty="0"/>
              <a:t>stall 1</a:t>
            </a:r>
            <a:r>
              <a:rPr lang="zh-CN" altLang="en-US" sz="2000" dirty="0"/>
              <a:t>个周期</a:t>
            </a:r>
            <a:endParaRPr lang="en-US" altLang="zh-CN" sz="2000" dirty="0"/>
          </a:p>
          <a:p>
            <a:pPr lvl="1"/>
            <a:r>
              <a:rPr lang="zh-CN" altLang="en-US" sz="2200" dirty="0"/>
              <a:t>跳转指令（</a:t>
            </a:r>
            <a:r>
              <a:rPr lang="en-US" altLang="zh-CN" sz="2200" dirty="0"/>
              <a:t>j</a:t>
            </a:r>
            <a:r>
              <a:rPr lang="zh-CN" altLang="en-US" sz="2200" dirty="0"/>
              <a:t>、</a:t>
            </a:r>
            <a:r>
              <a:rPr lang="en-US" altLang="zh-CN" sz="2200" dirty="0" err="1"/>
              <a:t>jr</a:t>
            </a:r>
            <a:r>
              <a:rPr lang="zh-CN" altLang="en-US" sz="2200" dirty="0"/>
              <a:t>、</a:t>
            </a:r>
            <a:r>
              <a:rPr lang="en-US" altLang="zh-CN" sz="2200" dirty="0" err="1"/>
              <a:t>jal</a:t>
            </a:r>
            <a:r>
              <a:rPr lang="zh-CN" altLang="en-US" sz="2200" dirty="0"/>
              <a:t>等）引起</a:t>
            </a:r>
            <a:endParaRPr lang="en-US" altLang="zh-CN" sz="2200" dirty="0"/>
          </a:p>
          <a:p>
            <a:pPr lvl="2"/>
            <a:r>
              <a:rPr lang="en-US" altLang="zh-CN" sz="2000" dirty="0"/>
              <a:t>ID</a:t>
            </a:r>
            <a:r>
              <a:rPr lang="zh-CN" altLang="en-US" sz="2000" dirty="0"/>
              <a:t>处理跳转，</a:t>
            </a:r>
            <a:r>
              <a:rPr lang="en-US" altLang="zh-CN" sz="2000" dirty="0"/>
              <a:t>stall 1</a:t>
            </a:r>
            <a:r>
              <a:rPr lang="zh-CN" altLang="en-US" sz="2000" dirty="0"/>
              <a:t>个周期</a:t>
            </a:r>
            <a:endParaRPr lang="en-US" altLang="zh-CN" sz="2000" dirty="0"/>
          </a:p>
          <a:p>
            <a:r>
              <a:rPr lang="zh-CN" altLang="en-US" sz="2400" dirty="0"/>
              <a:t>解决方法：分支预测</a:t>
            </a:r>
            <a:endParaRPr lang="en-US" altLang="zh-CN" sz="2400" dirty="0"/>
          </a:p>
          <a:p>
            <a:pPr lvl="1"/>
            <a:r>
              <a:rPr lang="zh-CN" altLang="en-US" sz="2200" dirty="0"/>
              <a:t>静态预测</a:t>
            </a:r>
            <a:endParaRPr lang="en-US" altLang="zh-CN" sz="2200" dirty="0"/>
          </a:p>
          <a:p>
            <a:pPr lvl="2"/>
            <a:r>
              <a:rPr lang="zh-CN" altLang="en-US" sz="2000" dirty="0"/>
              <a:t>总是预测分支不执行或执行</a:t>
            </a:r>
            <a:endParaRPr lang="en-US" altLang="zh-CN" sz="2000" dirty="0"/>
          </a:p>
          <a:p>
            <a:pPr lvl="2"/>
            <a:r>
              <a:rPr lang="zh-CN" altLang="en-US" sz="2000" dirty="0"/>
              <a:t>如果预测错误，则撤销错误执行的指令</a:t>
            </a:r>
            <a:endParaRPr lang="en-US" altLang="zh-CN" sz="2000" dirty="0"/>
          </a:p>
          <a:p>
            <a:pPr lvl="1"/>
            <a:r>
              <a:rPr lang="zh-CN" altLang="en-US" sz="2200" dirty="0"/>
              <a:t>动态预测</a:t>
            </a:r>
            <a:endParaRPr lang="en-US" altLang="zh-CN" sz="2200" dirty="0"/>
          </a:p>
          <a:p>
            <a:pPr lvl="2"/>
            <a:r>
              <a:rPr lang="zh-CN" altLang="en-US" sz="2000" dirty="0"/>
              <a:t>保存并利用近期记录的历史信息预测未来的行为</a:t>
            </a:r>
          </a:p>
          <a:p>
            <a:pPr lvl="2"/>
            <a:endParaRPr lang="en-US" altLang="zh-CN" sz="1600" dirty="0"/>
          </a:p>
        </p:txBody>
      </p:sp>
      <p:sp>
        <p:nvSpPr>
          <p:cNvPr id="156" name="灯片编号占位符 155">
            <a:extLst>
              <a:ext uri="{FF2B5EF4-FFF2-40B4-BE49-F238E27FC236}">
                <a16:creationId xmlns:a16="http://schemas.microsoft.com/office/drawing/2014/main" id="{440A131E-EF85-493D-A52F-97D1C25EE6A9}"/>
              </a:ext>
            </a:extLst>
          </p:cNvPr>
          <p:cNvSpPr>
            <a:spLocks noGrp="1"/>
          </p:cNvSpPr>
          <p:nvPr>
            <p:ph type="sldNum" sz="quarter" idx="12"/>
          </p:nvPr>
        </p:nvSpPr>
        <p:spPr>
          <a:xfrm>
            <a:off x="6553200" y="6483350"/>
            <a:ext cx="2133600" cy="476250"/>
          </a:xfrm>
        </p:spPr>
        <p:txBody>
          <a:bodyPr/>
          <a:lstStyle/>
          <a:p>
            <a:fld id="{B1806CE5-282B-4233-8654-09F35EA875E2}" type="slidenum">
              <a:rPr lang="zh-CN" altLang="en-US" smtClean="0"/>
              <a:t>38</a:t>
            </a:fld>
            <a:endParaRPr lang="zh-CN" altLang="en-US"/>
          </a:p>
        </p:txBody>
      </p:sp>
      <p:pic>
        <p:nvPicPr>
          <p:cNvPr id="158" name="图片 157">
            <a:extLst>
              <a:ext uri="{FF2B5EF4-FFF2-40B4-BE49-F238E27FC236}">
                <a16:creationId xmlns:a16="http://schemas.microsoft.com/office/drawing/2014/main" id="{BB9D4895-A619-C710-9D6D-0A57364DCB59}"/>
              </a:ext>
            </a:extLst>
          </p:cNvPr>
          <p:cNvPicPr>
            <a:picLocks noChangeAspect="1"/>
          </p:cNvPicPr>
          <p:nvPr/>
        </p:nvPicPr>
        <p:blipFill>
          <a:blip r:embed="rId3"/>
          <a:stretch>
            <a:fillRect/>
          </a:stretch>
        </p:blipFill>
        <p:spPr>
          <a:xfrm>
            <a:off x="5128809" y="3166941"/>
            <a:ext cx="3925634" cy="2411534"/>
          </a:xfrm>
          <a:prstGeom prst="rect">
            <a:avLst/>
          </a:prstGeom>
        </p:spPr>
      </p:pic>
    </p:spTree>
    <p:extLst>
      <p:ext uri="{BB962C8B-B14F-4D97-AF65-F5344CB8AC3E}">
        <p14:creationId xmlns:p14="http://schemas.microsoft.com/office/powerpoint/2010/main" val="3776118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5EE9B1-1D46-4718-BACC-8541CB7AB31F}"/>
              </a:ext>
            </a:extLst>
          </p:cNvPr>
          <p:cNvSpPr>
            <a:spLocks noGrp="1"/>
          </p:cNvSpPr>
          <p:nvPr>
            <p:ph type="title"/>
          </p:nvPr>
        </p:nvSpPr>
        <p:spPr/>
        <p:txBody>
          <a:bodyPr/>
          <a:lstStyle/>
          <a:p>
            <a:r>
              <a:rPr lang="zh-CN" altLang="en-US" dirty="0"/>
              <a:t>流水线总结：</a:t>
            </a:r>
            <a:r>
              <a:rPr lang="en-US" altLang="zh-CN" dirty="0"/>
              <a:t>RTL</a:t>
            </a:r>
            <a:r>
              <a:rPr lang="zh-CN" altLang="en-US" dirty="0"/>
              <a:t>描述</a:t>
            </a:r>
          </a:p>
        </p:txBody>
      </p:sp>
      <p:sp>
        <p:nvSpPr>
          <p:cNvPr id="4" name="灯片编号占位符 3">
            <a:extLst>
              <a:ext uri="{FF2B5EF4-FFF2-40B4-BE49-F238E27FC236}">
                <a16:creationId xmlns:a16="http://schemas.microsoft.com/office/drawing/2014/main" id="{0DE7D57E-3C25-48D4-9344-BD89BF0B4DF2}"/>
              </a:ext>
            </a:extLst>
          </p:cNvPr>
          <p:cNvSpPr>
            <a:spLocks noGrp="1"/>
          </p:cNvSpPr>
          <p:nvPr>
            <p:ph type="sldNum" sz="quarter" idx="12"/>
          </p:nvPr>
        </p:nvSpPr>
        <p:spPr/>
        <p:txBody>
          <a:bodyPr/>
          <a:lstStyle/>
          <a:p>
            <a:fld id="{B1806CE5-282B-4233-8654-09F35EA875E2}" type="slidenum">
              <a:rPr lang="zh-CN" altLang="en-US" smtClean="0"/>
              <a:t>39</a:t>
            </a:fld>
            <a:endParaRPr lang="zh-CN" altLang="en-US"/>
          </a:p>
        </p:txBody>
      </p:sp>
      <p:graphicFrame>
        <p:nvGraphicFramePr>
          <p:cNvPr id="6" name="内容占位符 3">
            <a:extLst>
              <a:ext uri="{FF2B5EF4-FFF2-40B4-BE49-F238E27FC236}">
                <a16:creationId xmlns:a16="http://schemas.microsoft.com/office/drawing/2014/main" id="{BE1A7FB9-D15D-B02C-AAAD-F5E2FD30A7C7}"/>
              </a:ext>
            </a:extLst>
          </p:cNvPr>
          <p:cNvGraphicFramePr>
            <a:graphicFrameLocks/>
          </p:cNvGraphicFramePr>
          <p:nvPr>
            <p:extLst>
              <p:ext uri="{D42A27DB-BD31-4B8C-83A1-F6EECF244321}">
                <p14:modId xmlns:p14="http://schemas.microsoft.com/office/powerpoint/2010/main" val="3084654819"/>
              </p:ext>
            </p:extLst>
          </p:nvPr>
        </p:nvGraphicFramePr>
        <p:xfrm>
          <a:off x="170995" y="1598602"/>
          <a:ext cx="8814709" cy="4495171"/>
        </p:xfrm>
        <a:graphic>
          <a:graphicData uri="http://schemas.openxmlformats.org/drawingml/2006/table">
            <a:tbl>
              <a:tblPr firstRow="1" bandRow="1">
                <a:tableStyleId>{E8B1032C-EA38-4F05-BA0D-38AFFFC7BED3}</a:tableStyleId>
              </a:tblPr>
              <a:tblGrid>
                <a:gridCol w="990603">
                  <a:extLst>
                    <a:ext uri="{9D8B030D-6E8A-4147-A177-3AD203B41FA5}">
                      <a16:colId xmlns:a16="http://schemas.microsoft.com/office/drawing/2014/main" val="20000"/>
                    </a:ext>
                  </a:extLst>
                </a:gridCol>
                <a:gridCol w="2003378">
                  <a:extLst>
                    <a:ext uri="{9D8B030D-6E8A-4147-A177-3AD203B41FA5}">
                      <a16:colId xmlns:a16="http://schemas.microsoft.com/office/drawing/2014/main" val="20001"/>
                    </a:ext>
                  </a:extLst>
                </a:gridCol>
                <a:gridCol w="2714943">
                  <a:extLst>
                    <a:ext uri="{9D8B030D-6E8A-4147-A177-3AD203B41FA5}">
                      <a16:colId xmlns:a16="http://schemas.microsoft.com/office/drawing/2014/main" val="1105378252"/>
                    </a:ext>
                  </a:extLst>
                </a:gridCol>
                <a:gridCol w="2341880">
                  <a:extLst>
                    <a:ext uri="{9D8B030D-6E8A-4147-A177-3AD203B41FA5}">
                      <a16:colId xmlns:a16="http://schemas.microsoft.com/office/drawing/2014/main" val="20003"/>
                    </a:ext>
                  </a:extLst>
                </a:gridCol>
                <a:gridCol w="763905">
                  <a:extLst>
                    <a:ext uri="{9D8B030D-6E8A-4147-A177-3AD203B41FA5}">
                      <a16:colId xmlns:a16="http://schemas.microsoft.com/office/drawing/2014/main" val="20004"/>
                    </a:ext>
                  </a:extLst>
                </a:gridCol>
              </a:tblGrid>
              <a:tr h="484844">
                <a:tc>
                  <a:txBody>
                    <a:bodyPr/>
                    <a:lstStyle/>
                    <a:p>
                      <a:pPr marL="0" algn="ctr" defTabSz="685800" rtl="0" eaLnBrk="1" latinLnBrk="0" hangingPunct="1"/>
                      <a:r>
                        <a:rPr lang="zh-CN" altLang="en-US" sz="2000" b="1" kern="1200" dirty="0">
                          <a:solidFill>
                            <a:schemeClr val="tx1"/>
                          </a:solidFill>
                          <a:latin typeface="+mn-lt"/>
                          <a:ea typeface="+mn-ea"/>
                          <a:cs typeface="+mn-cs"/>
                        </a:rPr>
                        <a:t>流水线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marL="0" algn="ctr" defTabSz="685800" rtl="0" eaLnBrk="1" latinLnBrk="0" hangingPunct="1"/>
                      <a:r>
                        <a:rPr lang="en-US" altLang="zh-CN" sz="2000" b="1" kern="1200" dirty="0">
                          <a:solidFill>
                            <a:schemeClr val="tx1"/>
                          </a:solidFill>
                          <a:latin typeface="+mn-lt"/>
                          <a:ea typeface="+mn-ea"/>
                          <a:cs typeface="+mn-cs"/>
                        </a:rPr>
                        <a:t>R</a:t>
                      </a:r>
                      <a:r>
                        <a:rPr lang="zh-CN" altLang="en-US" sz="2000" b="1" kern="1200" dirty="0">
                          <a:solidFill>
                            <a:schemeClr val="tx1"/>
                          </a:solidFill>
                          <a:latin typeface="+mn-lt"/>
                          <a:ea typeface="+mn-ea"/>
                          <a:cs typeface="+mn-cs"/>
                        </a:rPr>
                        <a:t>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marL="0" algn="ctr" defTabSz="685800" rtl="0" eaLnBrk="1" latinLnBrk="0" hangingPunct="1"/>
                      <a:r>
                        <a:rPr lang="zh-CN" altLang="en-US" sz="2000" b="1" kern="1200" dirty="0">
                          <a:solidFill>
                            <a:schemeClr val="tx1"/>
                          </a:solidFill>
                          <a:latin typeface="+mn-lt"/>
                          <a:ea typeface="+mn-ea"/>
                          <a:cs typeface="+mn-cs"/>
                        </a:rPr>
                        <a:t>读存储器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marL="0" algn="ctr" defTabSz="685800" rtl="0" eaLnBrk="1" latinLnBrk="0" hangingPunct="1"/>
                      <a:r>
                        <a:rPr lang="zh-CN" altLang="en-US" sz="2000" b="1" kern="1200" dirty="0">
                          <a:solidFill>
                            <a:schemeClr val="tx1"/>
                          </a:solidFill>
                          <a:latin typeface="+mn-lt"/>
                          <a:ea typeface="+mn-ea"/>
                          <a:cs typeface="+mn-cs"/>
                        </a:rPr>
                        <a:t>写存储器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marL="0" algn="ctr" defTabSz="685800" rtl="0" eaLnBrk="1" latinLnBrk="0" hangingPunct="1"/>
                      <a:r>
                        <a:rPr lang="zh-CN" altLang="en-US" sz="2000" b="1" kern="1200" dirty="0">
                          <a:solidFill>
                            <a:schemeClr val="tx1"/>
                          </a:solidFill>
                          <a:latin typeface="+mn-lt"/>
                          <a:ea typeface="+mn-ea"/>
                          <a:cs typeface="+mn-cs"/>
                        </a:rPr>
                        <a:t>分支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extLst>
                  <a:ext uri="{0D108BD9-81ED-4DB2-BD59-A6C34878D82A}">
                    <a16:rowId xmlns:a16="http://schemas.microsoft.com/office/drawing/2014/main" val="10000"/>
                  </a:ext>
                </a:extLst>
              </a:tr>
              <a:tr h="410253">
                <a:tc>
                  <a:txBody>
                    <a:bodyPr/>
                    <a:lstStyle/>
                    <a:p>
                      <a:pPr algn="ctr"/>
                      <a:r>
                        <a:rPr lang="en-US" altLang="zh-CN" sz="1600" dirty="0"/>
                        <a: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r>
                        <a:rPr lang="en-US" altLang="zh-CN" sz="1600" dirty="0"/>
                        <a:t>IR</a:t>
                      </a:r>
                      <a:r>
                        <a:rPr lang="en-US" altLang="zh-CN" sz="1600" dirty="0">
                          <a:sym typeface="Symbol"/>
                        </a:rPr>
                        <a:t>&lt;= </a:t>
                      </a:r>
                      <a:r>
                        <a:rPr lang="en-US" altLang="zh-CN" sz="1600" dirty="0" err="1"/>
                        <a:t>MemInst</a:t>
                      </a:r>
                      <a:r>
                        <a:rPr lang="en-US" altLang="zh-CN" sz="1600" dirty="0"/>
                        <a:t>[PC];  PC </a:t>
                      </a:r>
                      <a:r>
                        <a:rPr lang="en-US" altLang="zh-CN" sz="1600" dirty="0">
                          <a:sym typeface="Symbol"/>
                        </a:rPr>
                        <a:t>&lt;= PC + 4</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N"/>
                    </a:p>
                  </a:txBody>
                  <a:tcPr/>
                </a:tc>
                <a:tc hMerge="1">
                  <a:txBody>
                    <a:bodyPr/>
                    <a:lstStyle/>
                    <a:p>
                      <a:endParaRPr lang="zh-CN"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zh-CN" altLang="en-US"/>
                    </a:p>
                  </a:txBody>
                  <a:tcPr/>
                </a:tc>
                <a:extLst>
                  <a:ext uri="{0D108BD9-81ED-4DB2-BD59-A6C34878D82A}">
                    <a16:rowId xmlns:a16="http://schemas.microsoft.com/office/drawing/2014/main" val="10001"/>
                  </a:ext>
                </a:extLst>
              </a:tr>
              <a:tr h="1006985">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altLang="zh-CN" sz="1600" dirty="0"/>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altLang="zh-CN" sz="1600" dirty="0"/>
                        <a:t>op </a:t>
                      </a:r>
                      <a:r>
                        <a:rPr lang="en-US" altLang="zh-CN" sz="1600" dirty="0">
                          <a:sym typeface="Symbol"/>
                        </a:rPr>
                        <a:t>&lt;= </a:t>
                      </a:r>
                      <a:r>
                        <a:rPr lang="en-US" altLang="zh-CN" sz="1600" dirty="0"/>
                        <a:t>IR[31:26]; A </a:t>
                      </a:r>
                      <a:r>
                        <a:rPr lang="en-US" altLang="zh-CN" sz="1600" dirty="0">
                          <a:sym typeface="Symbol"/>
                        </a:rPr>
                        <a:t>&lt;= </a:t>
                      </a:r>
                      <a:r>
                        <a:rPr lang="en-US" altLang="zh-CN" sz="1600" dirty="0"/>
                        <a:t>Reg[IR[25:21]];  B </a:t>
                      </a:r>
                      <a:r>
                        <a:rPr lang="en-US" altLang="zh-CN" sz="1600" dirty="0">
                          <a:sym typeface="Symbol"/>
                        </a:rPr>
                        <a:t>&lt;= </a:t>
                      </a:r>
                      <a:r>
                        <a:rPr lang="en-US" altLang="zh-CN" sz="1600" dirty="0"/>
                        <a:t>Reg[IR[20:16]]; </a:t>
                      </a:r>
                    </a:p>
                    <a:p>
                      <a:pPr marL="0" marR="0" lvl="1"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schemeClr val="tx1"/>
                          </a:solidFill>
                        </a:rPr>
                        <a:t>分支：</a:t>
                      </a:r>
                      <a:r>
                        <a:rPr lang="en-US" altLang="zh-CN" sz="1600" b="1" dirty="0">
                          <a:solidFill>
                            <a:schemeClr val="tx1"/>
                          </a:solidFill>
                        </a:rPr>
                        <a:t>If(A == B) PC </a:t>
                      </a:r>
                      <a:r>
                        <a:rPr lang="en-US" altLang="zh-CN" sz="1600" b="1" dirty="0">
                          <a:solidFill>
                            <a:schemeClr val="tx1"/>
                          </a:solidFill>
                          <a:sym typeface="Symbol"/>
                        </a:rPr>
                        <a:t>&lt;= </a:t>
                      </a:r>
                      <a:r>
                        <a:rPr lang="en-US" altLang="zh-CN" sz="1600" b="1" dirty="0">
                          <a:solidFill>
                            <a:schemeClr val="tx1"/>
                          </a:solidFill>
                        </a:rPr>
                        <a:t>PC + </a:t>
                      </a:r>
                      <a:r>
                        <a:rPr lang="en-US" altLang="zh-CN" sz="1600" b="1" dirty="0" err="1">
                          <a:solidFill>
                            <a:schemeClr val="tx1"/>
                          </a:solidFill>
                        </a:rPr>
                        <a:t>signext</a:t>
                      </a:r>
                      <a:r>
                        <a:rPr lang="en-US" altLang="zh-CN" sz="1600" b="1" dirty="0">
                          <a:solidFill>
                            <a:schemeClr val="tx1"/>
                          </a:solidFill>
                        </a:rPr>
                        <a:t>(IR[15:0] &lt;&lt; 2);</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schemeClr val="tx1"/>
                          </a:solidFill>
                        </a:rPr>
                        <a:t>If(JUMP) PC</a:t>
                      </a:r>
                      <a:r>
                        <a:rPr lang="zh-CN" altLang="en-US" sz="1600" b="1" dirty="0">
                          <a:solidFill>
                            <a:schemeClr val="tx1"/>
                          </a:solidFill>
                        </a:rPr>
                        <a:t> </a:t>
                      </a:r>
                      <a:r>
                        <a:rPr lang="en-US" altLang="zh-CN" sz="1600" b="1" dirty="0">
                          <a:solidFill>
                            <a:schemeClr val="tx1"/>
                          </a:solidFill>
                        </a:rPr>
                        <a:t>&lt;=</a:t>
                      </a:r>
                      <a:r>
                        <a:rPr lang="zh-CN" altLang="en-US" sz="1600" b="1" dirty="0">
                          <a:solidFill>
                            <a:schemeClr val="tx1"/>
                          </a:solidFill>
                        </a:rPr>
                        <a:t> </a:t>
                      </a:r>
                      <a:r>
                        <a:rPr lang="en-US" altLang="zh-CN" sz="1600" b="1" dirty="0" err="1">
                          <a:solidFill>
                            <a:schemeClr val="tx1"/>
                          </a:solidFill>
                        </a:rPr>
                        <a:t>NewPC</a:t>
                      </a:r>
                      <a:r>
                        <a:rPr lang="en-US" altLang="zh-CN" sz="1600" b="1" dirty="0">
                          <a:solidFill>
                            <a:schemeClr val="tx1"/>
                          </a:solidFill>
                        </a:rPr>
                        <a:t>; EX/</a:t>
                      </a:r>
                      <a:r>
                        <a:rPr lang="en-US" altLang="zh-CN" sz="1600" b="1" dirty="0" err="1">
                          <a:solidFill>
                            <a:schemeClr val="tx1"/>
                          </a:solidFill>
                        </a:rPr>
                        <a:t>MEM.ALUOut</a:t>
                      </a:r>
                      <a:endParaRPr lang="en-US" altLang="zh-CN" sz="1600" b="1" i="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CN"/>
                    </a:p>
                  </a:txBody>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tc hMerge="1">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305350">
                <a:tc>
                  <a:txBody>
                    <a:bodyPr/>
                    <a:lstStyle/>
                    <a:p>
                      <a:pPr algn="ctr"/>
                      <a:r>
                        <a:rPr lang="en-US" altLang="zh-CN" sz="1600" dirty="0">
                          <a:solidFill>
                            <a:schemeClr val="tx1"/>
                          </a:solidFill>
                        </a:rPr>
                        <a:t>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err="1">
                          <a:solidFill>
                            <a:schemeClr val="tx1"/>
                          </a:solidFill>
                        </a:rPr>
                        <a:t>ALUOut</a:t>
                      </a:r>
                      <a:r>
                        <a:rPr lang="en-US" altLang="zh-CN" sz="1600" dirty="0">
                          <a:solidFill>
                            <a:schemeClr val="tx1"/>
                          </a:solidFill>
                        </a:rPr>
                        <a:t> </a:t>
                      </a:r>
                      <a:r>
                        <a:rPr lang="en-US" altLang="zh-CN" sz="1600" dirty="0">
                          <a:solidFill>
                            <a:schemeClr val="tx1"/>
                          </a:solidFill>
                          <a:sym typeface="Symbol"/>
                        </a:rPr>
                        <a:t>&lt;= </a:t>
                      </a:r>
                      <a:r>
                        <a:rPr lang="en-US" altLang="zh-CN" sz="1600" dirty="0">
                          <a:solidFill>
                            <a:schemeClr val="tx1"/>
                          </a:solidFill>
                        </a:rPr>
                        <a:t>A op B</a:t>
                      </a:r>
                    </a:p>
                    <a:p>
                      <a:pPr algn="ctr"/>
                      <a:r>
                        <a:rPr lang="en-US" altLang="zh-CN" sz="1600" b="1" i="0" dirty="0">
                          <a:solidFill>
                            <a:schemeClr val="tx1"/>
                          </a:solidFill>
                        </a:rPr>
                        <a:t>EX/</a:t>
                      </a:r>
                      <a:r>
                        <a:rPr lang="en-US" altLang="zh-CN" sz="1600" b="1" i="0" dirty="0" err="1">
                          <a:solidFill>
                            <a:schemeClr val="tx1"/>
                          </a:solidFill>
                        </a:rPr>
                        <a:t>MEM.ALUOut</a:t>
                      </a:r>
                      <a:endParaRPr lang="en-US" altLang="zh-CN" sz="1600" b="1" i="0" dirty="0">
                        <a:solidFill>
                          <a:schemeClr val="tx1"/>
                        </a:solidFill>
                      </a:endParaRPr>
                    </a:p>
                    <a:p>
                      <a:pPr algn="ctr"/>
                      <a:r>
                        <a:rPr lang="en-US" altLang="zh-CN" sz="1600" b="1" i="0" dirty="0">
                          <a:solidFill>
                            <a:schemeClr val="tx1"/>
                          </a:solidFill>
                        </a:rPr>
                        <a:t>MEM/</a:t>
                      </a:r>
                      <a:r>
                        <a:rPr lang="en-US" altLang="zh-CN" sz="1600" b="1" i="0" dirty="0" err="1">
                          <a:solidFill>
                            <a:schemeClr val="tx1"/>
                          </a:solidFill>
                        </a:rPr>
                        <a:t>WB.ALUOut</a:t>
                      </a:r>
                      <a:endParaRPr lang="en-US" altLang="zh-CN" sz="1600" b="1" i="0" dirty="0">
                        <a:solidFill>
                          <a:schemeClr val="tx1"/>
                        </a:solidFill>
                      </a:endParaRPr>
                    </a:p>
                    <a:p>
                      <a:pPr algn="ctr"/>
                      <a:r>
                        <a:rPr lang="en-US" altLang="zh-CN" sz="1600" b="1" i="0" dirty="0">
                          <a:solidFill>
                            <a:schemeClr val="tx1"/>
                          </a:solidFill>
                        </a:rPr>
                        <a:t>MDR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i="0" dirty="0" err="1">
                          <a:solidFill>
                            <a:schemeClr val="tx1"/>
                          </a:solidFill>
                        </a:rPr>
                        <a:t>ALUOut</a:t>
                      </a:r>
                      <a:r>
                        <a:rPr lang="en-US" altLang="zh-CN" sz="1600" i="0" dirty="0">
                          <a:solidFill>
                            <a:schemeClr val="tx1"/>
                          </a:solidFill>
                        </a:rPr>
                        <a:t> </a:t>
                      </a:r>
                      <a:r>
                        <a:rPr lang="en-US" altLang="zh-CN" sz="1600" i="0" dirty="0">
                          <a:solidFill>
                            <a:schemeClr val="tx1"/>
                          </a:solidFill>
                          <a:sym typeface="Symbol"/>
                        </a:rPr>
                        <a:t>&lt;= </a:t>
                      </a:r>
                      <a:r>
                        <a:rPr lang="en-US" altLang="zh-CN" sz="1600" i="0" dirty="0">
                          <a:solidFill>
                            <a:schemeClr val="tx1"/>
                          </a:solidFill>
                        </a:rPr>
                        <a:t>A + </a:t>
                      </a:r>
                      <a:r>
                        <a:rPr lang="en-US" altLang="zh-CN" sz="1600" i="0" dirty="0" err="1">
                          <a:solidFill>
                            <a:schemeClr val="tx1"/>
                          </a:solidFill>
                        </a:rPr>
                        <a:t>signext</a:t>
                      </a:r>
                      <a:r>
                        <a:rPr lang="en-US" altLang="zh-CN" sz="1600" i="0" dirty="0">
                          <a:solidFill>
                            <a:schemeClr val="tx1"/>
                          </a:solidFill>
                        </a:rPr>
                        <a:t>(IR[15:0])</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i="0" dirty="0">
                          <a:solidFill>
                            <a:schemeClr val="tx1"/>
                          </a:solidFill>
                        </a:rPr>
                        <a:t>EX/</a:t>
                      </a:r>
                      <a:r>
                        <a:rPr lang="en-US" altLang="zh-CN" sz="1600" b="1" i="0" dirty="0" err="1">
                          <a:solidFill>
                            <a:schemeClr val="tx1"/>
                          </a:solidFill>
                        </a:rPr>
                        <a:t>MEM.ALUOut</a:t>
                      </a:r>
                      <a:endParaRPr lang="en-US" altLang="zh-CN" sz="1600" b="1" i="0" dirty="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i="0" dirty="0">
                          <a:solidFill>
                            <a:schemeClr val="tx1"/>
                          </a:solidFill>
                        </a:rPr>
                        <a:t>MEM/</a:t>
                      </a:r>
                      <a:r>
                        <a:rPr lang="en-US" altLang="zh-CN" sz="1600" b="1" i="0" dirty="0" err="1">
                          <a:solidFill>
                            <a:schemeClr val="tx1"/>
                          </a:solidFill>
                        </a:rPr>
                        <a:t>WB.ALUOut</a:t>
                      </a:r>
                      <a:endParaRPr lang="en-US" altLang="zh-CN" sz="1600" b="1" i="0" dirty="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i="0" dirty="0">
                          <a:solidFill>
                            <a:schemeClr val="tx1"/>
                          </a:solidFill>
                        </a:rPr>
                        <a:t>MDR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475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t>MEM</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MDR </a:t>
                      </a:r>
                      <a:r>
                        <a:rPr lang="en-US" altLang="zh-CN" sz="1600" dirty="0">
                          <a:solidFill>
                            <a:schemeClr val="tx1"/>
                          </a:solidFill>
                          <a:sym typeface="Symbol"/>
                        </a:rPr>
                        <a:t>&lt;= </a:t>
                      </a:r>
                      <a:r>
                        <a:rPr lang="en-US" altLang="zh-CN" sz="1600" dirty="0" err="1">
                          <a:solidFill>
                            <a:schemeClr val="tx1"/>
                          </a:solidFill>
                          <a:sym typeface="Symbol"/>
                        </a:rPr>
                        <a:t>MemData</a:t>
                      </a:r>
                      <a:r>
                        <a:rPr lang="en-US" altLang="zh-CN" sz="1600" dirty="0">
                          <a:solidFill>
                            <a:schemeClr val="tx1"/>
                          </a:solidFill>
                          <a:sym typeface="Symbol"/>
                        </a:rPr>
                        <a:t>[</a:t>
                      </a:r>
                      <a:r>
                        <a:rPr lang="en-US" altLang="zh-CN" sz="1600" dirty="0" err="1">
                          <a:solidFill>
                            <a:schemeClr val="tx1"/>
                          </a:solidFill>
                          <a:sym typeface="Symbol"/>
                        </a:rPr>
                        <a:t>ALUOut</a:t>
                      </a:r>
                      <a:r>
                        <a:rPr lang="en-US" altLang="zh-CN" sz="1600" dirty="0">
                          <a:solidFill>
                            <a:schemeClr val="tx1"/>
                          </a:solidFill>
                          <a:sym typeface="Symbol"/>
                        </a:rPr>
                        <a: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err="1">
                          <a:solidFill>
                            <a:schemeClr val="tx1"/>
                          </a:solidFill>
                          <a:sym typeface="Symbol"/>
                        </a:rPr>
                        <a:t>MemData</a:t>
                      </a:r>
                      <a:r>
                        <a:rPr lang="en-US" altLang="zh-CN" sz="1600" dirty="0">
                          <a:solidFill>
                            <a:schemeClr val="tx1"/>
                          </a:solidFill>
                          <a:sym typeface="Symbol"/>
                        </a:rPr>
                        <a:t>[</a:t>
                      </a:r>
                      <a:r>
                        <a:rPr lang="en-US" altLang="zh-CN" sz="1600" dirty="0" err="1">
                          <a:solidFill>
                            <a:schemeClr val="tx1"/>
                          </a:solidFill>
                          <a:sym typeface="Symbol"/>
                        </a:rPr>
                        <a:t>ALUout</a:t>
                      </a:r>
                      <a:r>
                        <a:rPr lang="en-US" altLang="zh-CN" sz="1600" dirty="0">
                          <a:solidFill>
                            <a:schemeClr val="tx1"/>
                          </a:solidFill>
                          <a:sym typeface="Symbol"/>
                        </a:rPr>
                        <a:t>] &lt;= B</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600" b="1" dirty="0">
                          <a:solidFill>
                            <a:schemeClr val="tx1"/>
                          </a:solidFill>
                        </a:rPr>
                        <a:t>MDR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08619">
                <a:tc>
                  <a:txBody>
                    <a:bodyPr/>
                    <a:lstStyle/>
                    <a:p>
                      <a:pPr algn="ctr"/>
                      <a:r>
                        <a:rPr lang="en-US" altLang="zh-CN" sz="1600" dirty="0"/>
                        <a:t>WB</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t>Reg[IR[15:11]]</a:t>
                      </a:r>
                      <a:r>
                        <a:rPr lang="en-US" altLang="zh-CN" sz="1600" dirty="0">
                          <a:sym typeface="Symbol"/>
                        </a:rPr>
                        <a:t> &lt;= </a:t>
                      </a:r>
                      <a:r>
                        <a:rPr lang="en-US" altLang="zh-CN" sz="1600" dirty="0" err="1"/>
                        <a:t>ALUOut</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Reg[IR[20:16]]</a:t>
                      </a:r>
                      <a:r>
                        <a:rPr lang="en-US" altLang="zh-CN" sz="1600" dirty="0">
                          <a:sym typeface="Symbol"/>
                        </a:rPr>
                        <a:t> &lt;= MDR</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86753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0D783A-F73E-4EC8-9D21-6A94B4878715}"/>
              </a:ext>
            </a:extLst>
          </p:cNvPr>
          <p:cNvSpPr>
            <a:spLocks noGrp="1"/>
          </p:cNvSpPr>
          <p:nvPr>
            <p:ph type="title"/>
          </p:nvPr>
        </p:nvSpPr>
        <p:spPr/>
        <p:txBody>
          <a:bodyPr/>
          <a:lstStyle/>
          <a:p>
            <a:r>
              <a:rPr lang="zh-CN" altLang="en-US" sz="4000" dirty="0"/>
              <a:t>存储器重点内容</a:t>
            </a:r>
          </a:p>
        </p:txBody>
      </p:sp>
      <p:sp>
        <p:nvSpPr>
          <p:cNvPr id="3" name="内容占位符 2">
            <a:extLst>
              <a:ext uri="{FF2B5EF4-FFF2-40B4-BE49-F238E27FC236}">
                <a16:creationId xmlns:a16="http://schemas.microsoft.com/office/drawing/2014/main" id="{113A1CB8-7F83-4444-9EFA-AF2B714BDEE9}"/>
              </a:ext>
            </a:extLst>
          </p:cNvPr>
          <p:cNvSpPr>
            <a:spLocks noGrp="1"/>
          </p:cNvSpPr>
          <p:nvPr>
            <p:ph idx="1"/>
          </p:nvPr>
        </p:nvSpPr>
        <p:spPr>
          <a:xfrm>
            <a:off x="457199" y="1392989"/>
            <a:ext cx="8127243" cy="5555455"/>
          </a:xfrm>
        </p:spPr>
        <p:txBody>
          <a:bodyPr>
            <a:normAutofit/>
          </a:bodyPr>
          <a:lstStyle/>
          <a:p>
            <a:r>
              <a:rPr lang="zh-CN" altLang="en-US" b="1" dirty="0"/>
              <a:t>半导体存储器</a:t>
            </a:r>
            <a:endParaRPr lang="en-US" altLang="zh-CN" b="1" dirty="0"/>
          </a:p>
          <a:p>
            <a:pPr lvl="1"/>
            <a:r>
              <a:rPr lang="en-US" altLang="zh-CN" sz="2400" dirty="0"/>
              <a:t>DRAM</a:t>
            </a:r>
            <a:r>
              <a:rPr lang="zh-CN" altLang="en-US" sz="2400" dirty="0"/>
              <a:t>和</a:t>
            </a:r>
            <a:r>
              <a:rPr lang="en-US" altLang="zh-CN" sz="2400" dirty="0"/>
              <a:t>SRAM</a:t>
            </a:r>
            <a:r>
              <a:rPr lang="zh-CN" altLang="en-US" sz="2400" dirty="0"/>
              <a:t>的典型结构，优缺点</a:t>
            </a:r>
            <a:endParaRPr lang="en-US" altLang="zh-CN" sz="2400" dirty="0"/>
          </a:p>
          <a:p>
            <a:pPr lvl="1"/>
            <a:r>
              <a:rPr lang="en-US" altLang="zh-CN" sz="2400" dirty="0"/>
              <a:t>DRAM</a:t>
            </a:r>
            <a:r>
              <a:rPr lang="zh-CN" altLang="en-US" sz="2400" dirty="0"/>
              <a:t>中的电容带来的额外问题</a:t>
            </a:r>
            <a:endParaRPr lang="en-US" altLang="zh-CN" sz="2400" dirty="0"/>
          </a:p>
          <a:p>
            <a:pPr lvl="1"/>
            <a:endParaRPr lang="en-US" altLang="zh-CN" dirty="0"/>
          </a:p>
          <a:p>
            <a:r>
              <a:rPr lang="zh-CN" altLang="en-US" b="1" dirty="0"/>
              <a:t>存储系统的设计理论</a:t>
            </a:r>
            <a:endParaRPr lang="en-US" altLang="zh-CN" b="1" dirty="0"/>
          </a:p>
          <a:p>
            <a:pPr lvl="1"/>
            <a:r>
              <a:rPr lang="zh-CN" altLang="en-US" sz="2400" dirty="0"/>
              <a:t>局部性原理：时间局部性、空间局部性</a:t>
            </a:r>
            <a:endParaRPr lang="en-US" altLang="zh-CN" sz="2400" dirty="0"/>
          </a:p>
          <a:p>
            <a:pPr lvl="1"/>
            <a:r>
              <a:rPr lang="zh-CN" altLang="en-US" sz="2400" dirty="0"/>
              <a:t>性能度量</a:t>
            </a:r>
            <a:endParaRPr lang="en-US" altLang="zh-CN" sz="2400" dirty="0"/>
          </a:p>
          <a:p>
            <a:pPr lvl="2"/>
            <a:r>
              <a:rPr lang="zh-CN" altLang="en-US" dirty="0"/>
              <a:t>命中率</a:t>
            </a:r>
            <a:endParaRPr lang="en-US" altLang="zh-CN" dirty="0"/>
          </a:p>
          <a:p>
            <a:pPr lvl="2"/>
            <a:r>
              <a:rPr lang="zh-CN" altLang="en-US" dirty="0"/>
              <a:t>平均访问时间</a:t>
            </a:r>
            <a:r>
              <a:rPr lang="en-US" altLang="zh-CN" dirty="0"/>
              <a:t> (AMAT)</a:t>
            </a:r>
          </a:p>
          <a:p>
            <a:pPr lvl="2"/>
            <a:r>
              <a:rPr lang="zh-CN" altLang="en-US" dirty="0"/>
              <a:t>访问时间比</a:t>
            </a:r>
            <a:endParaRPr lang="en-US" altLang="zh-CN" dirty="0"/>
          </a:p>
          <a:p>
            <a:pPr lvl="2"/>
            <a:r>
              <a:rPr lang="zh-CN" altLang="en-US" dirty="0"/>
              <a:t>访问效率</a:t>
            </a:r>
            <a:endParaRPr lang="en-US" altLang="zh-CN" dirty="0"/>
          </a:p>
        </p:txBody>
      </p:sp>
      <p:sp>
        <p:nvSpPr>
          <p:cNvPr id="4" name="灯片编号占位符 3">
            <a:extLst>
              <a:ext uri="{FF2B5EF4-FFF2-40B4-BE49-F238E27FC236}">
                <a16:creationId xmlns:a16="http://schemas.microsoft.com/office/drawing/2014/main" id="{F71AE928-7AE7-41C6-9535-7914BCA6BEC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1806CE5-282B-4233-8654-09F35EA875E2}" type="slidenum">
              <a:rPr kumimoji="0" lang="zh-CN" altLang="en-US"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zh-CN" altLang="en-US" sz="14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1563084212"/>
      </p:ext>
    </p:extLst>
  </p:cSld>
  <p:clrMapOvr>
    <a:masterClrMapping/>
  </p:clrMapOvr>
  <mc:AlternateContent xmlns:mc="http://schemas.openxmlformats.org/markup-compatibility/2006" xmlns:p14="http://schemas.microsoft.com/office/powerpoint/2010/main">
    <mc:Choice Requires="p14">
      <p:transition spd="slow" p14:dur="2000" advTm="78613"/>
    </mc:Choice>
    <mc:Fallback xmlns="">
      <p:transition spd="slow" advTm="78613"/>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0D783A-F73E-4EC8-9D21-6A94B4878715}"/>
              </a:ext>
            </a:extLst>
          </p:cNvPr>
          <p:cNvSpPr>
            <a:spLocks noGrp="1"/>
          </p:cNvSpPr>
          <p:nvPr>
            <p:ph type="title"/>
          </p:nvPr>
        </p:nvSpPr>
        <p:spPr/>
        <p:txBody>
          <a:bodyPr/>
          <a:lstStyle/>
          <a:p>
            <a:r>
              <a:rPr lang="zh-CN" altLang="en-US" sz="4000" dirty="0"/>
              <a:t>存储器重点内容</a:t>
            </a:r>
          </a:p>
        </p:txBody>
      </p:sp>
      <p:sp>
        <p:nvSpPr>
          <p:cNvPr id="3" name="内容占位符 2">
            <a:extLst>
              <a:ext uri="{FF2B5EF4-FFF2-40B4-BE49-F238E27FC236}">
                <a16:creationId xmlns:a16="http://schemas.microsoft.com/office/drawing/2014/main" id="{113A1CB8-7F83-4444-9EFA-AF2B714BDEE9}"/>
              </a:ext>
            </a:extLst>
          </p:cNvPr>
          <p:cNvSpPr>
            <a:spLocks noGrp="1"/>
          </p:cNvSpPr>
          <p:nvPr>
            <p:ph idx="1"/>
          </p:nvPr>
        </p:nvSpPr>
        <p:spPr>
          <a:xfrm>
            <a:off x="457200" y="1368252"/>
            <a:ext cx="8345606" cy="5555455"/>
          </a:xfrm>
        </p:spPr>
        <p:txBody>
          <a:bodyPr>
            <a:normAutofit/>
          </a:bodyPr>
          <a:lstStyle/>
          <a:p>
            <a:r>
              <a:rPr lang="en-US" altLang="zh-CN" sz="2800" dirty="0"/>
              <a:t>Cache</a:t>
            </a:r>
            <a:r>
              <a:rPr lang="zh-CN" altLang="en-US" sz="2800" dirty="0"/>
              <a:t>技术</a:t>
            </a:r>
            <a:endParaRPr lang="en-US" altLang="zh-CN" sz="2800" dirty="0"/>
          </a:p>
          <a:p>
            <a:pPr lvl="1"/>
            <a:r>
              <a:rPr lang="en-US" altLang="zh-CN" sz="2200" dirty="0"/>
              <a:t>Cache</a:t>
            </a:r>
            <a:r>
              <a:rPr lang="zh-CN" altLang="en-US" sz="2200" dirty="0"/>
              <a:t>存储体结构、主存结构</a:t>
            </a:r>
            <a:endParaRPr lang="en-US" altLang="zh-CN" sz="2200" dirty="0"/>
          </a:p>
          <a:p>
            <a:pPr lvl="1"/>
            <a:r>
              <a:rPr lang="en-US" altLang="zh-CN" sz="2200" dirty="0"/>
              <a:t>Cache</a:t>
            </a:r>
            <a:r>
              <a:rPr lang="zh-CN" altLang="en-US" sz="2200" dirty="0"/>
              <a:t>地址映像方式：直接映像、全相联映像、组相联映像</a:t>
            </a:r>
            <a:endParaRPr lang="en-US" altLang="zh-CN" sz="2200" dirty="0"/>
          </a:p>
          <a:p>
            <a:pPr lvl="1"/>
            <a:r>
              <a:rPr lang="en-US" altLang="zh-CN" sz="2200" dirty="0"/>
              <a:t>Cache</a:t>
            </a:r>
            <a:r>
              <a:rPr lang="zh-CN" altLang="en-US" sz="2200" dirty="0"/>
              <a:t>替换策略：随机法、先进先出法、最近最少访问</a:t>
            </a:r>
            <a:endParaRPr lang="en-US" altLang="zh-CN" sz="2200" dirty="0"/>
          </a:p>
          <a:p>
            <a:pPr lvl="1"/>
            <a:r>
              <a:rPr lang="en-US" altLang="zh-CN" sz="2200" dirty="0"/>
              <a:t>Cache</a:t>
            </a:r>
            <a:r>
              <a:rPr lang="zh-CN" altLang="en-US" sz="2200" dirty="0"/>
              <a:t>更新策略：写通过</a:t>
            </a:r>
            <a:r>
              <a:rPr lang="en-US" altLang="zh-CN" sz="2200" dirty="0"/>
              <a:t>(</a:t>
            </a:r>
            <a:r>
              <a:rPr lang="zh-CN" altLang="en-US" sz="2200" dirty="0"/>
              <a:t>带写缓存</a:t>
            </a:r>
            <a:r>
              <a:rPr lang="en-US" altLang="zh-CN" sz="2200" dirty="0"/>
              <a:t>)</a:t>
            </a:r>
            <a:r>
              <a:rPr lang="zh-CN" altLang="en-US" sz="2200" dirty="0"/>
              <a:t>、写回</a:t>
            </a:r>
            <a:endParaRPr lang="en-US" altLang="zh-CN" sz="2200" dirty="0"/>
          </a:p>
          <a:p>
            <a:endParaRPr lang="en-US" altLang="zh-CN" sz="2800" dirty="0"/>
          </a:p>
          <a:p>
            <a:r>
              <a:rPr lang="en-US" altLang="zh-CN" sz="2800" dirty="0"/>
              <a:t>Cache</a:t>
            </a:r>
            <a:r>
              <a:rPr lang="zh-CN" altLang="en-US" sz="2800" dirty="0"/>
              <a:t>性能评估</a:t>
            </a:r>
            <a:endParaRPr lang="en-US" altLang="zh-CN" sz="2800" dirty="0"/>
          </a:p>
          <a:p>
            <a:pPr lvl="1"/>
            <a:r>
              <a:rPr lang="en-US" altLang="zh-CN" sz="2200" dirty="0"/>
              <a:t>3C</a:t>
            </a:r>
            <a:r>
              <a:rPr lang="zh-CN" altLang="en-US" sz="2200" dirty="0"/>
              <a:t>原则：强迫性缺失、容量缺失、冲突缺失</a:t>
            </a:r>
            <a:endParaRPr lang="en-US" altLang="zh-CN" sz="2200" dirty="0"/>
          </a:p>
          <a:p>
            <a:pPr lvl="1"/>
            <a:r>
              <a:rPr lang="en-US" altLang="zh-CN" sz="2200" dirty="0"/>
              <a:t>3C</a:t>
            </a:r>
            <a:r>
              <a:rPr lang="zh-CN" altLang="en-US" sz="2200" dirty="0"/>
              <a:t>原则与地址映像的关系</a:t>
            </a:r>
            <a:endParaRPr lang="en-US" altLang="zh-CN" sz="2200" dirty="0"/>
          </a:p>
          <a:p>
            <a:pPr lvl="1"/>
            <a:r>
              <a:rPr lang="zh-CN" altLang="en-US" sz="2200" dirty="0"/>
              <a:t>减少缺失的改进策略</a:t>
            </a:r>
            <a:endParaRPr lang="en-US" altLang="zh-CN" sz="2200" dirty="0"/>
          </a:p>
          <a:p>
            <a:pPr lvl="1"/>
            <a:r>
              <a:rPr lang="zh-CN" altLang="en-US" sz="2200" dirty="0"/>
              <a:t>系统性能评价指标</a:t>
            </a:r>
            <a:endParaRPr lang="en-US" altLang="zh-CN" sz="2200" dirty="0"/>
          </a:p>
          <a:p>
            <a:pPr lvl="1"/>
            <a:r>
              <a:rPr lang="zh-CN" altLang="en-US" sz="2200" dirty="0"/>
              <a:t>多级</a:t>
            </a:r>
            <a:r>
              <a:rPr lang="en-US" altLang="zh-CN" sz="2200" dirty="0"/>
              <a:t>Cache</a:t>
            </a:r>
            <a:r>
              <a:rPr lang="zh-CN" altLang="en-US" sz="2200" dirty="0"/>
              <a:t>策略</a:t>
            </a:r>
            <a:endParaRPr lang="en-US" altLang="zh-CN" sz="2200" dirty="0"/>
          </a:p>
        </p:txBody>
      </p:sp>
      <p:sp>
        <p:nvSpPr>
          <p:cNvPr id="4" name="灯片编号占位符 3">
            <a:extLst>
              <a:ext uri="{FF2B5EF4-FFF2-40B4-BE49-F238E27FC236}">
                <a16:creationId xmlns:a16="http://schemas.microsoft.com/office/drawing/2014/main" id="{F71AE928-7AE7-41C6-9535-7914BCA6BEC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1806CE5-282B-4233-8654-09F35EA875E2}" type="slidenum">
              <a:rPr kumimoji="0" lang="zh-CN" altLang="en-US"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zh-CN" altLang="en-US" sz="14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60719823"/>
      </p:ext>
    </p:extLst>
  </p:cSld>
  <p:clrMapOvr>
    <a:masterClrMapping/>
  </p:clrMapOvr>
  <mc:AlternateContent xmlns:mc="http://schemas.openxmlformats.org/markup-compatibility/2006" xmlns:p14="http://schemas.microsoft.com/office/powerpoint/2010/main">
    <mc:Choice Requires="p14">
      <p:transition spd="slow" p14:dur="2000" advTm="44010"/>
    </mc:Choice>
    <mc:Fallback xmlns="">
      <p:transition spd="slow" advTm="4401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42</a:t>
            </a:fld>
            <a:endParaRPr lang="en-US" altLang="zh-CN"/>
          </a:p>
        </p:txBody>
      </p:sp>
      <p:sp>
        <p:nvSpPr>
          <p:cNvPr id="4" name="内容占位符 2">
            <a:extLst>
              <a:ext uri="{FF2B5EF4-FFF2-40B4-BE49-F238E27FC236}">
                <a16:creationId xmlns:a16="http://schemas.microsoft.com/office/drawing/2014/main" id="{CA1552BA-4327-A147-B565-E435AE2EEDCF}"/>
              </a:ext>
            </a:extLst>
          </p:cNvPr>
          <p:cNvSpPr>
            <a:spLocks noGrp="1"/>
          </p:cNvSpPr>
          <p:nvPr>
            <p:ph idx="1"/>
          </p:nvPr>
        </p:nvSpPr>
        <p:spPr>
          <a:xfrm>
            <a:off x="457200" y="1379976"/>
            <a:ext cx="8229600" cy="4779793"/>
          </a:xfrm>
        </p:spPr>
        <p:txBody>
          <a:bodyPr/>
          <a:lstStyle/>
          <a:p>
            <a:pPr>
              <a:spcBef>
                <a:spcPts val="1000"/>
              </a:spcBef>
              <a:buClr>
                <a:schemeClr val="tx1"/>
              </a:buClr>
              <a:buFont typeface="Arial" panose="020B0604020202020204" pitchFamily="34" charset="0"/>
              <a:buChar char="•"/>
            </a:pPr>
            <a:r>
              <a:rPr lang="zh-CN" altLang="en-US" dirty="0">
                <a:latin typeface="+mn-ea"/>
              </a:rPr>
              <a:t>按照</a:t>
            </a:r>
            <a:r>
              <a:rPr lang="zh-CN" altLang="zh-CN" dirty="0"/>
              <a:t>电路结构和工作原理</a:t>
            </a:r>
            <a:r>
              <a:rPr lang="zh-CN" altLang="en-US" dirty="0"/>
              <a:t>的不同，可将</a:t>
            </a:r>
            <a:r>
              <a:rPr lang="en-US" altLang="zh-CN" dirty="0"/>
              <a:t>RAM</a:t>
            </a:r>
            <a:r>
              <a:rPr lang="zh-CN" altLang="en-US" dirty="0"/>
              <a:t>分为两类</a:t>
            </a:r>
            <a:endParaRPr lang="en-US" altLang="zh-CN" dirty="0">
              <a:latin typeface="+mn-ea"/>
            </a:endParaRPr>
          </a:p>
          <a:p>
            <a:pPr lvl="1"/>
            <a:r>
              <a:rPr lang="zh-CN" altLang="en-US" sz="2400" dirty="0"/>
              <a:t>静态随机访问存储器</a:t>
            </a:r>
            <a:r>
              <a:rPr lang="en-US" altLang="zh-CN" sz="2400" dirty="0"/>
              <a:t>SRAM</a:t>
            </a:r>
          </a:p>
          <a:p>
            <a:pPr lvl="2">
              <a:buFont typeface="Wingdings" pitchFamily="2" charset="2"/>
              <a:buChar char="Ø"/>
            </a:pPr>
            <a:r>
              <a:rPr lang="zh-CN" altLang="en-US" sz="2000" dirty="0"/>
              <a:t>速度较快</a:t>
            </a:r>
            <a:endParaRPr lang="en-US" altLang="zh-CN" sz="2000" dirty="0"/>
          </a:p>
          <a:p>
            <a:pPr lvl="2">
              <a:buFont typeface="Wingdings" pitchFamily="2" charset="2"/>
              <a:buChar char="Ø"/>
            </a:pPr>
            <a:r>
              <a:rPr lang="zh-CN" altLang="en-US" sz="2000" dirty="0"/>
              <a:t>可稳定保持电平</a:t>
            </a:r>
            <a:endParaRPr lang="en-US" altLang="zh-CN" sz="2000" dirty="0"/>
          </a:p>
          <a:p>
            <a:pPr lvl="2">
              <a:buFont typeface="Wingdings" pitchFamily="2" charset="2"/>
              <a:buChar char="Ø"/>
            </a:pPr>
            <a:r>
              <a:rPr lang="zh-CN" altLang="en-US" sz="2000" dirty="0"/>
              <a:t>面积大，造价昂贵，相同比特下</a:t>
            </a:r>
            <a:br>
              <a:rPr lang="en-US" altLang="zh-CN" sz="2000" dirty="0"/>
            </a:br>
            <a:r>
              <a:rPr lang="zh-CN" altLang="en-US" sz="2000" dirty="0"/>
              <a:t>面积为</a:t>
            </a:r>
            <a:r>
              <a:rPr lang="en-US" altLang="zh-CN" sz="2000" dirty="0"/>
              <a:t>DRAM</a:t>
            </a:r>
            <a:r>
              <a:rPr lang="zh-CN" altLang="en-US" sz="2000" dirty="0"/>
              <a:t>的数倍</a:t>
            </a:r>
            <a:endParaRPr lang="en-US" altLang="zh-CN" sz="2000" dirty="0"/>
          </a:p>
          <a:p>
            <a:pPr lvl="1"/>
            <a:r>
              <a:rPr lang="zh-CN" altLang="en-US" sz="2400" dirty="0"/>
              <a:t>动态随机访问存储器</a:t>
            </a:r>
            <a:r>
              <a:rPr lang="en-US" altLang="zh-CN" sz="2400" dirty="0"/>
              <a:t>DRAM</a:t>
            </a:r>
          </a:p>
          <a:p>
            <a:pPr lvl="2">
              <a:buFont typeface="Wingdings" pitchFamily="2" charset="2"/>
              <a:buChar char="Ø"/>
            </a:pPr>
            <a:r>
              <a:rPr lang="zh-CN" altLang="en-US" sz="2000" dirty="0"/>
              <a:t>速度较慢</a:t>
            </a:r>
            <a:endParaRPr lang="en-US" altLang="zh-CN" sz="2000" dirty="0"/>
          </a:p>
          <a:p>
            <a:pPr lvl="2">
              <a:buFont typeface="Wingdings" pitchFamily="2" charset="2"/>
              <a:buChar char="Ø"/>
            </a:pPr>
            <a:r>
              <a:rPr lang="zh-CN" altLang="en-US" sz="2000" dirty="0"/>
              <a:t>密度更高，相对廉价</a:t>
            </a:r>
            <a:endParaRPr lang="en-US" altLang="zh-CN" sz="2000" dirty="0"/>
          </a:p>
          <a:p>
            <a:pPr lvl="2">
              <a:buFont typeface="Wingdings" pitchFamily="2" charset="2"/>
              <a:buChar char="Ø"/>
            </a:pPr>
            <a:r>
              <a:rPr lang="zh-CN" altLang="en-US" sz="2000" dirty="0"/>
              <a:t>不能稳定保持电平，需要刷新</a:t>
            </a:r>
            <a:endParaRPr lang="en-US" altLang="zh-CN" sz="2000" dirty="0"/>
          </a:p>
        </p:txBody>
      </p:sp>
      <p:pic>
        <p:nvPicPr>
          <p:cNvPr id="5" name="图片 4">
            <a:extLst>
              <a:ext uri="{FF2B5EF4-FFF2-40B4-BE49-F238E27FC236}">
                <a16:creationId xmlns:a16="http://schemas.microsoft.com/office/drawing/2014/main" id="{8BA89D3E-844D-154F-93E9-7DC7C35816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5040" y="1930746"/>
            <a:ext cx="2799399" cy="2091859"/>
          </a:xfrm>
          <a:prstGeom prst="rect">
            <a:avLst/>
          </a:prstGeom>
        </p:spPr>
      </p:pic>
      <p:pic>
        <p:nvPicPr>
          <p:cNvPr id="7" name="图片 6">
            <a:extLst>
              <a:ext uri="{FF2B5EF4-FFF2-40B4-BE49-F238E27FC236}">
                <a16:creationId xmlns:a16="http://schemas.microsoft.com/office/drawing/2014/main" id="{9E2F41AD-5ED8-CA47-8D6E-6D0E93E5523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405561" y="4294512"/>
            <a:ext cx="1762998" cy="1832911"/>
          </a:xfrm>
          <a:prstGeom prst="rect">
            <a:avLst/>
          </a:prstGeom>
        </p:spPr>
      </p:pic>
      <p:sp>
        <p:nvSpPr>
          <p:cNvPr id="6" name="文本框 5">
            <a:extLst>
              <a:ext uri="{FF2B5EF4-FFF2-40B4-BE49-F238E27FC236}">
                <a16:creationId xmlns:a16="http://schemas.microsoft.com/office/drawing/2014/main" id="{D548E74D-6C69-A8B6-06CE-93C926B87F0B}"/>
              </a:ext>
            </a:extLst>
          </p:cNvPr>
          <p:cNvSpPr txBox="1"/>
          <p:nvPr/>
        </p:nvSpPr>
        <p:spPr>
          <a:xfrm>
            <a:off x="416503" y="6058670"/>
            <a:ext cx="6062878" cy="461665"/>
          </a:xfrm>
          <a:prstGeom prst="rect">
            <a:avLst/>
          </a:prstGeom>
          <a:solidFill>
            <a:schemeClr val="tx1">
              <a:lumMod val="50000"/>
              <a:lumOff val="50000"/>
            </a:schemeClr>
          </a:solidFill>
          <a:ln>
            <a:noFill/>
          </a:ln>
        </p:spPr>
        <p:txBody>
          <a:bodyPr wrap="none" rtlCol="0">
            <a:spAutoFit/>
          </a:bodyPr>
          <a:lstStyle/>
          <a:p>
            <a:r>
              <a:rPr kumimoji="1" lang="zh-CN" altLang="en-US" sz="2400" dirty="0">
                <a:solidFill>
                  <a:schemeClr val="bg1"/>
                </a:solidFill>
                <a:ea typeface="SimHei" panose="02010609060101010101" pitchFamily="49" charset="-122"/>
              </a:rPr>
              <a:t>掌握基本特点，不需要掌握读写的电路原理</a:t>
            </a:r>
          </a:p>
        </p:txBody>
      </p:sp>
    </p:spTree>
    <p:extLst>
      <p:ext uri="{BB962C8B-B14F-4D97-AF65-F5344CB8AC3E}">
        <p14:creationId xmlns:p14="http://schemas.microsoft.com/office/powerpoint/2010/main" val="4145564655"/>
      </p:ext>
    </p:extLst>
  </p:cSld>
  <p:clrMapOvr>
    <a:masterClrMapping/>
  </p:clrMapOvr>
  <mc:AlternateContent xmlns:mc="http://schemas.openxmlformats.org/markup-compatibility/2006" xmlns:p14="http://schemas.microsoft.com/office/powerpoint/2010/main">
    <mc:Choice Requires="p14">
      <p:transition p14:dur="10" advTm="22282"/>
    </mc:Choice>
    <mc:Fallback xmlns="">
      <p:transition advTm="22282"/>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存储系统的设计理论</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43</a:t>
            </a:fld>
            <a:endParaRPr lang="en-US" altLang="zh-CN"/>
          </a:p>
        </p:txBody>
      </p:sp>
      <p:sp>
        <p:nvSpPr>
          <p:cNvPr id="4" name="内容占位符 2">
            <a:extLst>
              <a:ext uri="{FF2B5EF4-FFF2-40B4-BE49-F238E27FC236}">
                <a16:creationId xmlns:a16="http://schemas.microsoft.com/office/drawing/2014/main" id="{7EDA9B36-B1C8-9A41-88D5-42B21D35245C}"/>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t>局部性原理</a:t>
            </a:r>
            <a:endParaRPr kumimoji="1" lang="en-US" altLang="zh-CN" dirty="0"/>
          </a:p>
          <a:p>
            <a:pPr marL="914400" lvl="1" indent="-457200">
              <a:spcBef>
                <a:spcPts val="1000"/>
              </a:spcBef>
            </a:pPr>
            <a:r>
              <a:rPr kumimoji="1" lang="zh-CN" altLang="en-US" dirty="0"/>
              <a:t>处理器访问存储器时，无论取指令还是取数据，所访问的存储单元都趋向于聚集在一个较小的连续单元区域中</a:t>
            </a:r>
            <a:endParaRPr kumimoji="1" lang="en-US" altLang="zh-CN" dirty="0"/>
          </a:p>
          <a:p>
            <a:pPr marL="914400" lvl="1" indent="-457200">
              <a:spcBef>
                <a:spcPts val="1000"/>
              </a:spcBef>
            </a:pPr>
            <a:r>
              <a:rPr lang="zh-CN" altLang="en-US" sz="2400" dirty="0">
                <a:solidFill>
                  <a:srgbClr val="0432FF"/>
                </a:solidFill>
              </a:rPr>
              <a:t>时间局部性</a:t>
            </a:r>
            <a:r>
              <a:rPr lang="en-US" altLang="zh-CN" sz="2400" dirty="0"/>
              <a:t>——</a:t>
            </a:r>
            <a:r>
              <a:rPr lang="zh-CN" altLang="en-US" sz="2400" dirty="0"/>
              <a:t>最近的将来要用到的信息很可能就是现在正在使用的信息。主要由循环造成</a:t>
            </a:r>
          </a:p>
          <a:p>
            <a:pPr marL="914400" lvl="1" indent="-457200">
              <a:spcBef>
                <a:spcPts val="1000"/>
              </a:spcBef>
            </a:pPr>
            <a:r>
              <a:rPr lang="zh-CN" altLang="en-US" sz="2400" dirty="0">
                <a:solidFill>
                  <a:srgbClr val="0432FF"/>
                </a:solidFill>
              </a:rPr>
              <a:t>空间局部性</a:t>
            </a:r>
            <a:r>
              <a:rPr lang="en-US" altLang="zh-CN" sz="2400" dirty="0"/>
              <a:t>——</a:t>
            </a:r>
            <a:r>
              <a:rPr lang="zh-CN" altLang="en-US" sz="2400" dirty="0"/>
              <a:t>最近的将来要用到的信息很可能与现在正在使用的信息在空间上是邻近的。主要由顺序执行和数据的聚集存放造成</a:t>
            </a:r>
            <a:endParaRPr lang="en-US" altLang="zh-CN" sz="2400" dirty="0"/>
          </a:p>
        </p:txBody>
      </p:sp>
    </p:spTree>
    <p:extLst>
      <p:ext uri="{BB962C8B-B14F-4D97-AF65-F5344CB8AC3E}">
        <p14:creationId xmlns:p14="http://schemas.microsoft.com/office/powerpoint/2010/main" val="3654320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C35B6-A6A1-8A4F-BC4F-9F094837A51B}"/>
              </a:ext>
            </a:extLst>
          </p:cNvPr>
          <p:cNvSpPr>
            <a:spLocks noGrp="1"/>
          </p:cNvSpPr>
          <p:nvPr>
            <p:ph type="title"/>
          </p:nvPr>
        </p:nvSpPr>
        <p:spPr/>
        <p:txBody>
          <a:bodyPr/>
          <a:lstStyle/>
          <a:p>
            <a:r>
              <a:rPr lang="zh-CN" altLang="en-US" dirty="0">
                <a:latin typeface="SimHei" panose="02010609060101010101" pitchFamily="49" charset="-122"/>
                <a:ea typeface="SimHei" panose="02010609060101010101" pitchFamily="49" charset="-122"/>
              </a:rPr>
              <a:t>层次化存储器</a:t>
            </a:r>
            <a:r>
              <a:rPr lang="en-CN" dirty="0">
                <a:latin typeface="SimHei" panose="02010609060101010101" pitchFamily="49" charset="-122"/>
                <a:ea typeface="SimHei" panose="02010609060101010101" pitchFamily="49" charset="-122"/>
              </a:rPr>
              <a:t>的分析</a:t>
            </a:r>
          </a:p>
        </p:txBody>
      </p:sp>
      <p:sp>
        <p:nvSpPr>
          <p:cNvPr id="3" name="Content Placeholder 2">
            <a:extLst>
              <a:ext uri="{FF2B5EF4-FFF2-40B4-BE49-F238E27FC236}">
                <a16:creationId xmlns:a16="http://schemas.microsoft.com/office/drawing/2014/main" id="{FF1C50D3-4E07-4148-BB0D-41AF81B47322}"/>
              </a:ext>
            </a:extLst>
          </p:cNvPr>
          <p:cNvSpPr>
            <a:spLocks noGrp="1"/>
          </p:cNvSpPr>
          <p:nvPr>
            <p:ph sz="half" idx="1"/>
          </p:nvPr>
        </p:nvSpPr>
        <p:spPr>
          <a:xfrm>
            <a:off x="216881" y="3429000"/>
            <a:ext cx="4278919" cy="2022873"/>
          </a:xfrm>
        </p:spPr>
        <p:txBody>
          <a:bodyPr>
            <a:normAutofit/>
          </a:bodyPr>
          <a:lstStyle/>
          <a:p>
            <a:r>
              <a:rPr lang="zh-CN" altLang="en-US" b="1" dirty="0">
                <a:solidFill>
                  <a:srgbClr val="0432FF"/>
                </a:solidFill>
                <a:latin typeface="STKaiti" panose="02010600040101010101" pitchFamily="2" charset="-122"/>
                <a:ea typeface="STKaiti" panose="02010600040101010101" pitchFamily="2" charset="-122"/>
              </a:rPr>
              <a:t>缓存命中</a:t>
            </a:r>
            <a:r>
              <a:rPr lang="en-US" altLang="zh-CN" b="1" dirty="0">
                <a:solidFill>
                  <a:srgbClr val="0432FF"/>
                </a:solidFill>
                <a:latin typeface="STKaiti" panose="02010600040101010101" pitchFamily="2" charset="-122"/>
                <a:ea typeface="STKaiti" panose="02010600040101010101" pitchFamily="2" charset="-122"/>
              </a:rPr>
              <a:t>(</a:t>
            </a:r>
            <a:r>
              <a:rPr lang="en-US" b="1" dirty="0">
                <a:solidFill>
                  <a:srgbClr val="0432FF"/>
                </a:solidFill>
                <a:latin typeface="STKaiti" panose="02010600040101010101" pitchFamily="2" charset="-122"/>
                <a:ea typeface="STKaiti" panose="02010600040101010101" pitchFamily="2" charset="-122"/>
              </a:rPr>
              <a:t>hit)</a:t>
            </a:r>
          </a:p>
          <a:p>
            <a:pPr lvl="1"/>
            <a:r>
              <a:rPr lang="zh-CN" altLang="en-US" dirty="0">
                <a:latin typeface="STKaiti" panose="02010600040101010101" pitchFamily="2" charset="-122"/>
                <a:ea typeface="STKaiti" panose="02010600040101010101" pitchFamily="2" charset="-122"/>
              </a:rPr>
              <a:t>要访问的数据正好在这一层缓存</a:t>
            </a:r>
          </a:p>
          <a:p>
            <a:endParaRPr lang="en-CN" dirty="0">
              <a:latin typeface="STKaiti" panose="02010600040101010101" pitchFamily="2" charset="-122"/>
              <a:ea typeface="STKaiti" panose="02010600040101010101" pitchFamily="2" charset="-122"/>
            </a:endParaRPr>
          </a:p>
        </p:txBody>
      </p:sp>
      <p:sp>
        <p:nvSpPr>
          <p:cNvPr id="4" name="Content Placeholder 3">
            <a:extLst>
              <a:ext uri="{FF2B5EF4-FFF2-40B4-BE49-F238E27FC236}">
                <a16:creationId xmlns:a16="http://schemas.microsoft.com/office/drawing/2014/main" id="{5706069D-87BD-D14C-B9C2-88C6B7B42EC7}"/>
              </a:ext>
            </a:extLst>
          </p:cNvPr>
          <p:cNvSpPr>
            <a:spLocks noGrp="1"/>
          </p:cNvSpPr>
          <p:nvPr>
            <p:ph sz="half" idx="2"/>
          </p:nvPr>
        </p:nvSpPr>
        <p:spPr>
          <a:xfrm>
            <a:off x="2476498" y="5222095"/>
            <a:ext cx="5943601" cy="1001813"/>
          </a:xfrm>
        </p:spPr>
        <p:txBody>
          <a:bodyPr>
            <a:normAutofit/>
          </a:bodyPr>
          <a:lstStyle/>
          <a:p>
            <a:r>
              <a:rPr lang="en-CN" b="1" dirty="0">
                <a:solidFill>
                  <a:srgbClr val="7030A0"/>
                </a:solidFill>
                <a:latin typeface="STKaiti" panose="02010600040101010101" pitchFamily="2" charset="-122"/>
                <a:ea typeface="STKaiti" panose="02010600040101010101" pitchFamily="2" charset="-122"/>
              </a:rPr>
              <a:t>命中率</a:t>
            </a:r>
          </a:p>
          <a:p>
            <a:pPr lvl="1"/>
            <a:r>
              <a:rPr kumimoji="1" lang="zh-CN" altLang="en-US" dirty="0">
                <a:latin typeface="STKaiti" panose="02010600040101010101" pitchFamily="2" charset="-122"/>
                <a:ea typeface="STKaiti" panose="02010600040101010101" pitchFamily="2" charset="-122"/>
              </a:rPr>
              <a:t>命中率越高，性能越好</a:t>
            </a:r>
            <a:endParaRPr lang="en-CN" dirty="0">
              <a:latin typeface="STKaiti" panose="02010600040101010101" pitchFamily="2" charset="-122"/>
              <a:ea typeface="STKaiti" panose="02010600040101010101" pitchFamily="2" charset="-122"/>
            </a:endParaRPr>
          </a:p>
        </p:txBody>
      </p:sp>
      <p:sp>
        <p:nvSpPr>
          <p:cNvPr id="5" name="Slide Number Placeholder 4">
            <a:extLst>
              <a:ext uri="{FF2B5EF4-FFF2-40B4-BE49-F238E27FC236}">
                <a16:creationId xmlns:a16="http://schemas.microsoft.com/office/drawing/2014/main" id="{DB9A9010-9273-9745-ACA6-32B62DB90415}"/>
              </a:ext>
            </a:extLst>
          </p:cNvPr>
          <p:cNvSpPr>
            <a:spLocks noGrp="1"/>
          </p:cNvSpPr>
          <p:nvPr>
            <p:ph type="sldNum" sz="quarter" idx="12"/>
          </p:nvPr>
        </p:nvSpPr>
        <p:spPr/>
        <p:txBody>
          <a:bodyPr/>
          <a:lstStyle/>
          <a:p>
            <a:fld id="{176ACFD1-D213-4B9C-817B-45486DBF105A}" type="slidenum">
              <a:rPr lang="en-US" smtClean="0">
                <a:solidFill>
                  <a:prstClr val="black"/>
                </a:solidFill>
              </a:rPr>
              <a:pPr/>
              <a:t>44</a:t>
            </a:fld>
            <a:endParaRPr lang="en-US">
              <a:solidFill>
                <a:prstClr val="black"/>
              </a:solidFill>
            </a:endParaRPr>
          </a:p>
        </p:txBody>
      </p:sp>
      <p:sp>
        <p:nvSpPr>
          <p:cNvPr id="6" name="Rectangle 4">
            <a:extLst>
              <a:ext uri="{FF2B5EF4-FFF2-40B4-BE49-F238E27FC236}">
                <a16:creationId xmlns:a16="http://schemas.microsoft.com/office/drawing/2014/main" id="{70EEAF53-66B1-6145-835D-DF2FF250B4DB}"/>
              </a:ext>
            </a:extLst>
          </p:cNvPr>
          <p:cNvSpPr>
            <a:spLocks noChangeArrowheads="1"/>
          </p:cNvSpPr>
          <p:nvPr/>
        </p:nvSpPr>
        <p:spPr bwMode="auto">
          <a:xfrm>
            <a:off x="4132184" y="2088518"/>
            <a:ext cx="1009176" cy="568447"/>
          </a:xfrm>
          <a:prstGeom prst="rect">
            <a:avLst/>
          </a:prstGeom>
          <a:solidFill>
            <a:schemeClr val="tx2">
              <a:lumMod val="20000"/>
              <a:lumOff val="80000"/>
            </a:schemeClr>
          </a:solidFill>
          <a:ln w="254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7" name="Rectangle 5">
            <a:extLst>
              <a:ext uri="{FF2B5EF4-FFF2-40B4-BE49-F238E27FC236}">
                <a16:creationId xmlns:a16="http://schemas.microsoft.com/office/drawing/2014/main" id="{926CA002-B47E-5B4E-A2D8-23829AD69A73}"/>
              </a:ext>
            </a:extLst>
          </p:cNvPr>
          <p:cNvSpPr>
            <a:spLocks noChangeArrowheads="1"/>
          </p:cNvSpPr>
          <p:nvPr/>
        </p:nvSpPr>
        <p:spPr bwMode="auto">
          <a:xfrm>
            <a:off x="4106362" y="2167381"/>
            <a:ext cx="1098161" cy="3417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67028" tIns="33515" rIns="67028" bIns="33515">
            <a:spAutoFit/>
          </a:bodyPr>
          <a:lstStyle/>
          <a:p>
            <a:pPr algn="ctr" defTabSz="665839" eaLnBrk="0" hangingPunct="0"/>
            <a:r>
              <a:rPr lang="zh-CN" altLang="en-US" sz="1781" dirty="0">
                <a:ln w="0"/>
                <a:effectLst>
                  <a:outerShdw blurRad="38100" dist="19050" dir="2700000" algn="tl" rotWithShape="0">
                    <a:schemeClr val="dk1">
                      <a:alpha val="40000"/>
                    </a:schemeClr>
                  </a:outerShdw>
                </a:effectLst>
                <a:latin typeface="STKaiti" panose="02010600040101010101" pitchFamily="2" charset="-122"/>
                <a:ea typeface="STKaiti" panose="02010600040101010101" pitchFamily="2" charset="-122"/>
              </a:rPr>
              <a:t>缓存</a:t>
            </a:r>
          </a:p>
        </p:txBody>
      </p:sp>
      <p:sp>
        <p:nvSpPr>
          <p:cNvPr id="8" name="Rectangle 6">
            <a:extLst>
              <a:ext uri="{FF2B5EF4-FFF2-40B4-BE49-F238E27FC236}">
                <a16:creationId xmlns:a16="http://schemas.microsoft.com/office/drawing/2014/main" id="{8CFB4A96-8430-9647-A88B-56B25BD0965E}"/>
              </a:ext>
            </a:extLst>
          </p:cNvPr>
          <p:cNvSpPr>
            <a:spLocks noChangeArrowheads="1"/>
          </p:cNvSpPr>
          <p:nvPr/>
        </p:nvSpPr>
        <p:spPr bwMode="auto">
          <a:xfrm>
            <a:off x="2224800" y="2207860"/>
            <a:ext cx="739698" cy="29095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zh-CN" altLang="en-US" sz="1451" b="1" dirty="0">
                <a:latin typeface="STKaiti" panose="02010600040101010101" pitchFamily="2" charset="-122"/>
                <a:ea typeface="STKaiti" panose="02010600040101010101" pitchFamily="2" charset="-122"/>
              </a:rPr>
              <a:t>处理器 </a:t>
            </a:r>
          </a:p>
        </p:txBody>
      </p:sp>
      <p:sp>
        <p:nvSpPr>
          <p:cNvPr id="9" name="Line 7">
            <a:extLst>
              <a:ext uri="{FF2B5EF4-FFF2-40B4-BE49-F238E27FC236}">
                <a16:creationId xmlns:a16="http://schemas.microsoft.com/office/drawing/2014/main" id="{9DEE5659-E42C-EC46-9D97-F6DE68CC4B67}"/>
              </a:ext>
            </a:extLst>
          </p:cNvPr>
          <p:cNvSpPr>
            <a:spLocks noChangeShapeType="1"/>
          </p:cNvSpPr>
          <p:nvPr/>
        </p:nvSpPr>
        <p:spPr bwMode="auto">
          <a:xfrm>
            <a:off x="2408001" y="1919972"/>
            <a:ext cx="913912"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0" name="Line 8">
            <a:extLst>
              <a:ext uri="{FF2B5EF4-FFF2-40B4-BE49-F238E27FC236}">
                <a16:creationId xmlns:a16="http://schemas.microsoft.com/office/drawing/2014/main" id="{7CE3573C-3292-1148-B6EA-4FAE825E39F2}"/>
              </a:ext>
            </a:extLst>
          </p:cNvPr>
          <p:cNvSpPr>
            <a:spLocks noChangeShapeType="1"/>
          </p:cNvSpPr>
          <p:nvPr/>
        </p:nvSpPr>
        <p:spPr bwMode="auto">
          <a:xfrm>
            <a:off x="3321912" y="1919973"/>
            <a:ext cx="0" cy="799804"/>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1" name="Line 9">
            <a:extLst>
              <a:ext uri="{FF2B5EF4-FFF2-40B4-BE49-F238E27FC236}">
                <a16:creationId xmlns:a16="http://schemas.microsoft.com/office/drawing/2014/main" id="{7C47C7B8-564D-7E47-B96D-F76A908E8464}"/>
              </a:ext>
            </a:extLst>
          </p:cNvPr>
          <p:cNvSpPr>
            <a:spLocks noChangeShapeType="1"/>
          </p:cNvSpPr>
          <p:nvPr/>
        </p:nvSpPr>
        <p:spPr bwMode="auto">
          <a:xfrm>
            <a:off x="2350423" y="2719776"/>
            <a:ext cx="971489"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2" name="Line 10">
            <a:extLst>
              <a:ext uri="{FF2B5EF4-FFF2-40B4-BE49-F238E27FC236}">
                <a16:creationId xmlns:a16="http://schemas.microsoft.com/office/drawing/2014/main" id="{A7D4DE8E-7E18-174C-B76F-5C1748AAD000}"/>
              </a:ext>
            </a:extLst>
          </p:cNvPr>
          <p:cNvSpPr>
            <a:spLocks noChangeShapeType="1"/>
          </p:cNvSpPr>
          <p:nvPr/>
        </p:nvSpPr>
        <p:spPr bwMode="auto">
          <a:xfrm>
            <a:off x="5951633" y="1919972"/>
            <a:ext cx="856334"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3" name="Line 11">
            <a:extLst>
              <a:ext uri="{FF2B5EF4-FFF2-40B4-BE49-F238E27FC236}">
                <a16:creationId xmlns:a16="http://schemas.microsoft.com/office/drawing/2014/main" id="{F96DB18F-F202-7041-8030-169ECFA54E2C}"/>
              </a:ext>
            </a:extLst>
          </p:cNvPr>
          <p:cNvSpPr>
            <a:spLocks noChangeShapeType="1"/>
          </p:cNvSpPr>
          <p:nvPr/>
        </p:nvSpPr>
        <p:spPr bwMode="auto">
          <a:xfrm>
            <a:off x="5951633" y="1919973"/>
            <a:ext cx="0" cy="799804"/>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4" name="Line 12">
            <a:extLst>
              <a:ext uri="{FF2B5EF4-FFF2-40B4-BE49-F238E27FC236}">
                <a16:creationId xmlns:a16="http://schemas.microsoft.com/office/drawing/2014/main" id="{B88610C4-94B3-854A-B597-FCC86128D49B}"/>
              </a:ext>
            </a:extLst>
          </p:cNvPr>
          <p:cNvSpPr>
            <a:spLocks noChangeShapeType="1"/>
          </p:cNvSpPr>
          <p:nvPr/>
        </p:nvSpPr>
        <p:spPr bwMode="auto">
          <a:xfrm>
            <a:off x="5951633" y="2719776"/>
            <a:ext cx="856334"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5" name="Rectangle 13">
            <a:extLst>
              <a:ext uri="{FF2B5EF4-FFF2-40B4-BE49-F238E27FC236}">
                <a16:creationId xmlns:a16="http://schemas.microsoft.com/office/drawing/2014/main" id="{FDE0B812-61A0-C843-844C-655486288B66}"/>
              </a:ext>
            </a:extLst>
          </p:cNvPr>
          <p:cNvSpPr>
            <a:spLocks noChangeArrowheads="1"/>
          </p:cNvSpPr>
          <p:nvPr/>
        </p:nvSpPr>
        <p:spPr bwMode="auto">
          <a:xfrm>
            <a:off x="5996648" y="2153423"/>
            <a:ext cx="925646" cy="29095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zh-CN" altLang="en-US" sz="1451" b="1" dirty="0">
                <a:latin typeface="STKaiti" panose="02010600040101010101" pitchFamily="2" charset="-122"/>
                <a:ea typeface="STKaiti" panose="02010600040101010101" pitchFamily="2" charset="-122"/>
              </a:rPr>
              <a:t>主存储器 </a:t>
            </a:r>
          </a:p>
        </p:txBody>
      </p:sp>
      <p:sp>
        <p:nvSpPr>
          <p:cNvPr id="16" name="Line 14">
            <a:extLst>
              <a:ext uri="{FF2B5EF4-FFF2-40B4-BE49-F238E27FC236}">
                <a16:creationId xmlns:a16="http://schemas.microsoft.com/office/drawing/2014/main" id="{1C3C1FE0-0981-2D4C-8B1E-007649B89C28}"/>
              </a:ext>
            </a:extLst>
          </p:cNvPr>
          <p:cNvSpPr>
            <a:spLocks noChangeShapeType="1"/>
          </p:cNvSpPr>
          <p:nvPr/>
        </p:nvSpPr>
        <p:spPr bwMode="auto">
          <a:xfrm>
            <a:off x="3321913" y="2186922"/>
            <a:ext cx="800850" cy="0"/>
          </a:xfrm>
          <a:prstGeom prst="line">
            <a:avLst/>
          </a:prstGeom>
          <a:noFill/>
          <a:ln w="25400">
            <a:solidFill>
              <a:schemeClr val="tx1"/>
            </a:solidFill>
            <a:round/>
            <a:headEnd type="none" w="sm" len="sm"/>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7" name="Line 15">
            <a:extLst>
              <a:ext uri="{FF2B5EF4-FFF2-40B4-BE49-F238E27FC236}">
                <a16:creationId xmlns:a16="http://schemas.microsoft.com/office/drawing/2014/main" id="{7AD9CF1A-3E21-B341-A785-C3760973483B}"/>
              </a:ext>
            </a:extLst>
          </p:cNvPr>
          <p:cNvSpPr>
            <a:spLocks noChangeShapeType="1"/>
          </p:cNvSpPr>
          <p:nvPr/>
        </p:nvSpPr>
        <p:spPr bwMode="auto">
          <a:xfrm>
            <a:off x="3321913" y="2559605"/>
            <a:ext cx="800850" cy="0"/>
          </a:xfrm>
          <a:prstGeom prst="line">
            <a:avLst/>
          </a:prstGeom>
          <a:noFill/>
          <a:ln w="38100" cmpd="dbl">
            <a:solidFill>
              <a:schemeClr val="tx1"/>
            </a:solidFill>
            <a:round/>
            <a:headEnd type="none" w="sm" len="sm"/>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8" name="Line 16">
            <a:extLst>
              <a:ext uri="{FF2B5EF4-FFF2-40B4-BE49-F238E27FC236}">
                <a16:creationId xmlns:a16="http://schemas.microsoft.com/office/drawing/2014/main" id="{5FF88244-03C6-A24D-97A5-4307CC4C3BEF}"/>
              </a:ext>
            </a:extLst>
          </p:cNvPr>
          <p:cNvSpPr>
            <a:spLocks noChangeShapeType="1"/>
          </p:cNvSpPr>
          <p:nvPr/>
        </p:nvSpPr>
        <p:spPr bwMode="auto">
          <a:xfrm>
            <a:off x="5150782" y="2186922"/>
            <a:ext cx="800851" cy="0"/>
          </a:xfrm>
          <a:prstGeom prst="line">
            <a:avLst/>
          </a:prstGeom>
          <a:noFill/>
          <a:ln w="25400">
            <a:solidFill>
              <a:schemeClr val="tx1"/>
            </a:solidFill>
            <a:round/>
            <a:headEnd type="none" w="sm" len="sm"/>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9" name="Rectangle 17">
            <a:extLst>
              <a:ext uri="{FF2B5EF4-FFF2-40B4-BE49-F238E27FC236}">
                <a16:creationId xmlns:a16="http://schemas.microsoft.com/office/drawing/2014/main" id="{D9E83BBB-8F64-5643-904F-036F242AC18D}"/>
              </a:ext>
            </a:extLst>
          </p:cNvPr>
          <p:cNvSpPr>
            <a:spLocks noChangeArrowheads="1"/>
          </p:cNvSpPr>
          <p:nvPr/>
        </p:nvSpPr>
        <p:spPr bwMode="auto">
          <a:xfrm>
            <a:off x="3350391" y="1918925"/>
            <a:ext cx="816642" cy="3139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sz="1600" b="1" dirty="0">
                <a:latin typeface="STKaiti" panose="02010600040101010101" pitchFamily="2" charset="-122"/>
                <a:ea typeface="STKaiti" panose="02010600040101010101" pitchFamily="2" charset="-122"/>
              </a:rPr>
              <a:t>Address</a:t>
            </a:r>
          </a:p>
        </p:txBody>
      </p:sp>
      <p:sp>
        <p:nvSpPr>
          <p:cNvPr id="20" name="Rectangle 18">
            <a:extLst>
              <a:ext uri="{FF2B5EF4-FFF2-40B4-BE49-F238E27FC236}">
                <a16:creationId xmlns:a16="http://schemas.microsoft.com/office/drawing/2014/main" id="{189AF303-870D-F547-A9FA-0B1BA01769BE}"/>
              </a:ext>
            </a:extLst>
          </p:cNvPr>
          <p:cNvSpPr>
            <a:spLocks noChangeArrowheads="1"/>
          </p:cNvSpPr>
          <p:nvPr/>
        </p:nvSpPr>
        <p:spPr bwMode="auto">
          <a:xfrm>
            <a:off x="5121683" y="1918925"/>
            <a:ext cx="816642" cy="3139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sz="1600" b="1">
                <a:latin typeface="STKaiti" panose="02010600040101010101" pitchFamily="2" charset="-122"/>
                <a:ea typeface="STKaiti" panose="02010600040101010101" pitchFamily="2" charset="-122"/>
              </a:rPr>
              <a:t>Address</a:t>
            </a:r>
          </a:p>
        </p:txBody>
      </p:sp>
      <p:sp>
        <p:nvSpPr>
          <p:cNvPr id="21" name="Rectangle 19">
            <a:extLst>
              <a:ext uri="{FF2B5EF4-FFF2-40B4-BE49-F238E27FC236}">
                <a16:creationId xmlns:a16="http://schemas.microsoft.com/office/drawing/2014/main" id="{7D039E16-7B98-A947-BFBD-3A1D40D09824}"/>
              </a:ext>
            </a:extLst>
          </p:cNvPr>
          <p:cNvSpPr>
            <a:spLocks noChangeArrowheads="1"/>
          </p:cNvSpPr>
          <p:nvPr/>
        </p:nvSpPr>
        <p:spPr bwMode="auto">
          <a:xfrm>
            <a:off x="5310953" y="2557511"/>
            <a:ext cx="632296" cy="3446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b="1">
                <a:latin typeface="STKaiti" panose="02010600040101010101" pitchFamily="2" charset="-122"/>
                <a:ea typeface="STKaiti" panose="02010600040101010101" pitchFamily="2" charset="-122"/>
              </a:rPr>
              <a:t>Data</a:t>
            </a:r>
          </a:p>
        </p:txBody>
      </p:sp>
      <p:sp>
        <p:nvSpPr>
          <p:cNvPr id="22" name="Rectangle 20">
            <a:extLst>
              <a:ext uri="{FF2B5EF4-FFF2-40B4-BE49-F238E27FC236}">
                <a16:creationId xmlns:a16="http://schemas.microsoft.com/office/drawing/2014/main" id="{ED00B64B-AD5E-A042-A852-A7737C7EE84D}"/>
              </a:ext>
            </a:extLst>
          </p:cNvPr>
          <p:cNvSpPr>
            <a:spLocks noChangeArrowheads="1"/>
          </p:cNvSpPr>
          <p:nvPr/>
        </p:nvSpPr>
        <p:spPr bwMode="auto">
          <a:xfrm>
            <a:off x="3482082" y="2557511"/>
            <a:ext cx="632296" cy="3446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b="1">
                <a:latin typeface="STKaiti" panose="02010600040101010101" pitchFamily="2" charset="-122"/>
                <a:ea typeface="STKaiti" panose="02010600040101010101" pitchFamily="2" charset="-122"/>
              </a:rPr>
              <a:t>Data</a:t>
            </a:r>
          </a:p>
        </p:txBody>
      </p:sp>
      <p:sp>
        <p:nvSpPr>
          <p:cNvPr id="23" name="Line 21">
            <a:extLst>
              <a:ext uri="{FF2B5EF4-FFF2-40B4-BE49-F238E27FC236}">
                <a16:creationId xmlns:a16="http://schemas.microsoft.com/office/drawing/2014/main" id="{67773DCE-F27C-C741-8883-C7D086181B97}"/>
              </a:ext>
            </a:extLst>
          </p:cNvPr>
          <p:cNvSpPr>
            <a:spLocks noChangeShapeType="1"/>
          </p:cNvSpPr>
          <p:nvPr/>
        </p:nvSpPr>
        <p:spPr bwMode="auto">
          <a:xfrm>
            <a:off x="4122763" y="2559605"/>
            <a:ext cx="1828870" cy="0"/>
          </a:xfrm>
          <a:prstGeom prst="line">
            <a:avLst/>
          </a:prstGeom>
          <a:noFill/>
          <a:ln w="38100" cmpd="dbl">
            <a:solidFill>
              <a:schemeClr val="tx1"/>
            </a:solidFill>
            <a:round/>
            <a:headEnd type="none" w="sm" len="sm"/>
            <a:tailEnd type="stealth" w="med"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24" name="Freeform 23">
            <a:extLst>
              <a:ext uri="{FF2B5EF4-FFF2-40B4-BE49-F238E27FC236}">
                <a16:creationId xmlns:a16="http://schemas.microsoft.com/office/drawing/2014/main" id="{8F2B4E90-F2A2-354E-8A46-79E5AABA1583}"/>
              </a:ext>
            </a:extLst>
          </p:cNvPr>
          <p:cNvSpPr/>
          <p:nvPr/>
        </p:nvSpPr>
        <p:spPr>
          <a:xfrm>
            <a:off x="3357349" y="2239086"/>
            <a:ext cx="737033" cy="255896"/>
          </a:xfrm>
          <a:custGeom>
            <a:avLst/>
            <a:gdLst>
              <a:gd name="connsiteX0" fmla="*/ 0 w 982710"/>
              <a:gd name="connsiteY0" fmla="*/ 0 h 341194"/>
              <a:gd name="connsiteX1" fmla="*/ 982638 w 982710"/>
              <a:gd name="connsiteY1" fmla="*/ 150125 h 341194"/>
              <a:gd name="connsiteX2" fmla="*/ 40943 w 982710"/>
              <a:gd name="connsiteY2" fmla="*/ 341194 h 341194"/>
            </a:gdLst>
            <a:ahLst/>
            <a:cxnLst>
              <a:cxn ang="0">
                <a:pos x="connsiteX0" y="connsiteY0"/>
              </a:cxn>
              <a:cxn ang="0">
                <a:pos x="connsiteX1" y="connsiteY1"/>
              </a:cxn>
              <a:cxn ang="0">
                <a:pos x="connsiteX2" y="connsiteY2"/>
              </a:cxn>
            </a:cxnLst>
            <a:rect l="l" t="t" r="r" b="b"/>
            <a:pathLst>
              <a:path w="982710" h="341194">
                <a:moveTo>
                  <a:pt x="0" y="0"/>
                </a:moveTo>
                <a:cubicBezTo>
                  <a:pt x="487907" y="46629"/>
                  <a:pt x="975814" y="93259"/>
                  <a:pt x="982638" y="150125"/>
                </a:cubicBezTo>
                <a:cubicBezTo>
                  <a:pt x="989462" y="206991"/>
                  <a:pt x="515202" y="274092"/>
                  <a:pt x="40943" y="341194"/>
                </a:cubicBezTo>
              </a:path>
            </a:pathLst>
          </a:custGeom>
          <a:noFill/>
          <a:ln>
            <a:solidFill>
              <a:srgbClr val="0432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Freeform 24">
            <a:extLst>
              <a:ext uri="{FF2B5EF4-FFF2-40B4-BE49-F238E27FC236}">
                <a16:creationId xmlns:a16="http://schemas.microsoft.com/office/drawing/2014/main" id="{79AA1E07-277F-D443-89DD-206A66690C4D}"/>
              </a:ext>
            </a:extLst>
          </p:cNvPr>
          <p:cNvSpPr/>
          <p:nvPr/>
        </p:nvSpPr>
        <p:spPr>
          <a:xfrm>
            <a:off x="3369329" y="2186923"/>
            <a:ext cx="2772158" cy="370589"/>
          </a:xfrm>
          <a:custGeom>
            <a:avLst/>
            <a:gdLst>
              <a:gd name="connsiteX0" fmla="*/ 0 w 982710"/>
              <a:gd name="connsiteY0" fmla="*/ 0 h 341194"/>
              <a:gd name="connsiteX1" fmla="*/ 982638 w 982710"/>
              <a:gd name="connsiteY1" fmla="*/ 150125 h 341194"/>
              <a:gd name="connsiteX2" fmla="*/ 40943 w 982710"/>
              <a:gd name="connsiteY2" fmla="*/ 341194 h 341194"/>
            </a:gdLst>
            <a:ahLst/>
            <a:cxnLst>
              <a:cxn ang="0">
                <a:pos x="connsiteX0" y="connsiteY0"/>
              </a:cxn>
              <a:cxn ang="0">
                <a:pos x="connsiteX1" y="connsiteY1"/>
              </a:cxn>
              <a:cxn ang="0">
                <a:pos x="connsiteX2" y="connsiteY2"/>
              </a:cxn>
            </a:cxnLst>
            <a:rect l="l" t="t" r="r" b="b"/>
            <a:pathLst>
              <a:path w="982710" h="341194">
                <a:moveTo>
                  <a:pt x="0" y="0"/>
                </a:moveTo>
                <a:cubicBezTo>
                  <a:pt x="487907" y="46629"/>
                  <a:pt x="975814" y="93259"/>
                  <a:pt x="982638" y="150125"/>
                </a:cubicBezTo>
                <a:cubicBezTo>
                  <a:pt x="989462" y="206991"/>
                  <a:pt x="515202" y="274092"/>
                  <a:pt x="40943" y="341194"/>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7" name="Rectangle 26">
            <a:extLst>
              <a:ext uri="{FF2B5EF4-FFF2-40B4-BE49-F238E27FC236}">
                <a16:creationId xmlns:a16="http://schemas.microsoft.com/office/drawing/2014/main" id="{D65796FC-1D89-944E-A29E-5E7038FE84A6}"/>
              </a:ext>
            </a:extLst>
          </p:cNvPr>
          <p:cNvSpPr/>
          <p:nvPr/>
        </p:nvSpPr>
        <p:spPr>
          <a:xfrm>
            <a:off x="4495799" y="3434956"/>
            <a:ext cx="4278919" cy="1335750"/>
          </a:xfrm>
          <a:prstGeom prst="rect">
            <a:avLst/>
          </a:prstGeom>
        </p:spPr>
        <p:txBody>
          <a:bodyPr wrap="square">
            <a:spAutoFit/>
          </a:bodyPr>
          <a:lstStyle/>
          <a:p>
            <a:pPr marL="257175" indent="-257175">
              <a:spcBef>
                <a:spcPct val="20000"/>
              </a:spcBef>
              <a:buFont typeface="Arial" panose="020B0604020202020204" pitchFamily="34" charset="0"/>
              <a:buChar char="•"/>
            </a:pPr>
            <a:r>
              <a:rPr lang="zh-CN" altLang="en-US" sz="2800" b="1" dirty="0">
                <a:solidFill>
                  <a:srgbClr val="C00000"/>
                </a:solidFill>
                <a:latin typeface="STKaiti" panose="02010600040101010101" pitchFamily="2" charset="-122"/>
                <a:ea typeface="STKaiti" panose="02010600040101010101" pitchFamily="2" charset="-122"/>
              </a:rPr>
              <a:t>缓存缺失</a:t>
            </a:r>
            <a:r>
              <a:rPr lang="en-US" altLang="zh-CN" sz="2800" b="1" dirty="0">
                <a:solidFill>
                  <a:srgbClr val="C00000"/>
                </a:solidFill>
                <a:latin typeface="STKaiti" panose="02010600040101010101" pitchFamily="2" charset="-122"/>
                <a:ea typeface="STKaiti" panose="02010600040101010101" pitchFamily="2" charset="-122"/>
              </a:rPr>
              <a:t>(</a:t>
            </a:r>
            <a:r>
              <a:rPr lang="en-US" sz="2800" b="1" dirty="0">
                <a:solidFill>
                  <a:srgbClr val="C00000"/>
                </a:solidFill>
                <a:latin typeface="STKaiti" panose="02010600040101010101" pitchFamily="2" charset="-122"/>
                <a:ea typeface="STKaiti" panose="02010600040101010101" pitchFamily="2" charset="-122"/>
              </a:rPr>
              <a:t>miss)</a:t>
            </a:r>
          </a:p>
          <a:p>
            <a:pPr marL="557213" lvl="1" indent="-214313">
              <a:spcBef>
                <a:spcPct val="20000"/>
              </a:spcBef>
              <a:buFont typeface="Arial" panose="020B0604020202020204" pitchFamily="34" charset="0"/>
              <a:buChar char="–"/>
            </a:pPr>
            <a:r>
              <a:rPr lang="zh-CN" altLang="en-US" sz="2400" b="1" dirty="0">
                <a:solidFill>
                  <a:prstClr val="black"/>
                </a:solidFill>
                <a:latin typeface="STKaiti" panose="02010600040101010101" pitchFamily="2" charset="-122"/>
                <a:ea typeface="STKaiti" panose="02010600040101010101" pitchFamily="2" charset="-122"/>
              </a:rPr>
              <a:t>要访问的数据不在这一层缓存，而在下面的层次</a:t>
            </a:r>
            <a:endParaRPr lang="zh-CN" altLang="en-US" sz="2000" b="1" dirty="0">
              <a:solidFill>
                <a:prstClr val="black"/>
              </a:solidFill>
              <a:latin typeface="STKaiti" panose="02010600040101010101" pitchFamily="2" charset="-122"/>
              <a:ea typeface="STKaiti" panose="02010600040101010101" pitchFamily="2" charset="-122"/>
            </a:endParaRPr>
          </a:p>
        </p:txBody>
      </p:sp>
    </p:spTree>
    <p:extLst>
      <p:ext uri="{BB962C8B-B14F-4D97-AF65-F5344CB8AC3E}">
        <p14:creationId xmlns:p14="http://schemas.microsoft.com/office/powerpoint/2010/main" val="164316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24" grpId="0" animBg="1"/>
      <p:bldP spid="25" grpId="0" animBg="1"/>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a:extLst>
              <a:ext uri="{FF2B5EF4-FFF2-40B4-BE49-F238E27FC236}">
                <a16:creationId xmlns:a16="http://schemas.microsoft.com/office/drawing/2014/main" id="{A99DA2A3-3E7B-D54D-8159-409022D79F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4282" y="3168201"/>
            <a:ext cx="5429412" cy="3343375"/>
          </a:xfrm>
          <a:prstGeom prst="rect">
            <a:avLst/>
          </a:prstGeom>
        </p:spPr>
      </p:pic>
      <p:sp>
        <p:nvSpPr>
          <p:cNvPr id="2" name="标题 1"/>
          <p:cNvSpPr>
            <a:spLocks noGrp="1"/>
          </p:cNvSpPr>
          <p:nvPr>
            <p:ph type="title"/>
          </p:nvPr>
        </p:nvSpPr>
        <p:spPr/>
        <p:txBody>
          <a:bodyPr/>
          <a:lstStyle/>
          <a:p>
            <a:r>
              <a:rPr lang="en-US" altLang="zh-CN" dirty="0"/>
              <a:t>Cache</a:t>
            </a:r>
            <a:r>
              <a:rPr lang="zh-CN" altLang="en-US" dirty="0"/>
              <a:t>技术：定义与基本组件</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45</a:t>
            </a:fld>
            <a:endParaRPr lang="en-US" altLang="zh-CN"/>
          </a:p>
        </p:txBody>
      </p:sp>
      <p:sp>
        <p:nvSpPr>
          <p:cNvPr id="5" name="内容占位符 2">
            <a:extLst>
              <a:ext uri="{FF2B5EF4-FFF2-40B4-BE49-F238E27FC236}">
                <a16:creationId xmlns:a16="http://schemas.microsoft.com/office/drawing/2014/main" id="{76944CB9-AF12-4F4F-A300-FF5C684F4E30}"/>
              </a:ext>
            </a:extLst>
          </p:cNvPr>
          <p:cNvSpPr txBox="1">
            <a:spLocks/>
          </p:cNvSpPr>
          <p:nvPr/>
        </p:nvSpPr>
        <p:spPr bwMode="auto">
          <a:xfrm>
            <a:off x="457200" y="1435329"/>
            <a:ext cx="8229600" cy="49900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har char="•"/>
              <a:defRPr sz="2800" b="1">
                <a:solidFill>
                  <a:schemeClr val="tx1"/>
                </a:solidFill>
                <a:latin typeface="+mn-lt"/>
                <a:ea typeface="+mn-ea"/>
                <a:cs typeface="+mn-cs"/>
              </a:defRPr>
            </a:lvl1pPr>
            <a:lvl2pPr marL="557213" indent="-214313" algn="l" rtl="0" eaLnBrk="1" fontAlgn="base" hangingPunct="1">
              <a:spcBef>
                <a:spcPct val="20000"/>
              </a:spcBef>
              <a:spcAft>
                <a:spcPct val="0"/>
              </a:spcAft>
              <a:buChar char="–"/>
              <a:defRPr sz="2400" b="1">
                <a:solidFill>
                  <a:schemeClr val="tx1"/>
                </a:solidFill>
                <a:latin typeface="+mn-lt"/>
                <a:ea typeface="+mn-ea"/>
              </a:defRPr>
            </a:lvl2pPr>
            <a:lvl3pPr marL="857250" indent="-171450" algn="l" rtl="0" eaLnBrk="1" fontAlgn="base" hangingPunct="1">
              <a:spcBef>
                <a:spcPct val="20000"/>
              </a:spcBef>
              <a:spcAft>
                <a:spcPct val="0"/>
              </a:spcAft>
              <a:buChar char="•"/>
              <a:defRPr sz="2000" b="1">
                <a:solidFill>
                  <a:schemeClr val="tx1"/>
                </a:solidFill>
                <a:latin typeface="+mn-lt"/>
                <a:ea typeface="+mn-ea"/>
              </a:defRPr>
            </a:lvl3pPr>
            <a:lvl4pPr marL="1200150" indent="-171450" algn="l" rtl="0" eaLnBrk="1" fontAlgn="base" hangingPunct="1">
              <a:spcBef>
                <a:spcPct val="20000"/>
              </a:spcBef>
              <a:spcAft>
                <a:spcPct val="0"/>
              </a:spcAft>
              <a:buChar char="–"/>
              <a:defRPr sz="1600" b="1">
                <a:solidFill>
                  <a:schemeClr val="tx1"/>
                </a:solidFill>
                <a:latin typeface="+mn-lt"/>
                <a:ea typeface="+mn-ea"/>
              </a:defRPr>
            </a:lvl4pPr>
            <a:lvl5pPr marL="1543050" indent="-171450" algn="l" rtl="0" eaLnBrk="1" fontAlgn="base" hangingPunct="1">
              <a:spcBef>
                <a:spcPct val="20000"/>
              </a:spcBef>
              <a:spcAft>
                <a:spcPct val="0"/>
              </a:spcAft>
              <a:buChar char="»"/>
              <a:defRPr sz="1600" b="1">
                <a:solidFill>
                  <a:schemeClr val="tx1"/>
                </a:solidFill>
                <a:latin typeface="+mn-lt"/>
                <a:ea typeface="+mn-ea"/>
              </a:defRPr>
            </a:lvl5pPr>
            <a:lvl6pPr marL="1885950" indent="-171450" algn="l" rtl="0" eaLnBrk="1" fontAlgn="base" hangingPunct="1">
              <a:spcBef>
                <a:spcPct val="20000"/>
              </a:spcBef>
              <a:spcAft>
                <a:spcPct val="0"/>
              </a:spcAft>
              <a:buChar char="»"/>
              <a:defRPr sz="1500" b="1">
                <a:solidFill>
                  <a:schemeClr val="tx1"/>
                </a:solidFill>
                <a:latin typeface="+mn-lt"/>
                <a:ea typeface="+mn-ea"/>
              </a:defRPr>
            </a:lvl6pPr>
            <a:lvl7pPr marL="2228850" indent="-171450" algn="l" rtl="0" eaLnBrk="1" fontAlgn="base" hangingPunct="1">
              <a:spcBef>
                <a:spcPct val="20000"/>
              </a:spcBef>
              <a:spcAft>
                <a:spcPct val="0"/>
              </a:spcAft>
              <a:buChar char="»"/>
              <a:defRPr sz="1500" b="1">
                <a:solidFill>
                  <a:schemeClr val="tx1"/>
                </a:solidFill>
                <a:latin typeface="+mn-lt"/>
                <a:ea typeface="+mn-ea"/>
              </a:defRPr>
            </a:lvl7pPr>
            <a:lvl8pPr marL="2571750" indent="-171450" algn="l" rtl="0" eaLnBrk="1" fontAlgn="base" hangingPunct="1">
              <a:spcBef>
                <a:spcPct val="20000"/>
              </a:spcBef>
              <a:spcAft>
                <a:spcPct val="0"/>
              </a:spcAft>
              <a:buChar char="»"/>
              <a:defRPr sz="1500" b="1">
                <a:solidFill>
                  <a:schemeClr val="tx1"/>
                </a:solidFill>
                <a:latin typeface="+mn-lt"/>
                <a:ea typeface="+mn-ea"/>
              </a:defRPr>
            </a:lvl8pPr>
            <a:lvl9pPr marL="2914650" indent="-171450" algn="l" rtl="0" eaLnBrk="1" fontAlgn="base" hangingPunct="1">
              <a:spcBef>
                <a:spcPct val="20000"/>
              </a:spcBef>
              <a:spcAft>
                <a:spcPct val="0"/>
              </a:spcAft>
              <a:buChar char="»"/>
              <a:defRPr sz="1500" b="1">
                <a:solidFill>
                  <a:schemeClr val="tx1"/>
                </a:solidFill>
                <a:latin typeface="+mn-lt"/>
                <a:ea typeface="+mn-ea"/>
              </a:defRPr>
            </a:lvl9pPr>
          </a:lstStyle>
          <a:p>
            <a:pPr>
              <a:spcBef>
                <a:spcPts val="1000"/>
              </a:spcBef>
              <a:buClr>
                <a:schemeClr val="tx1"/>
              </a:buClr>
              <a:buFont typeface="Arial" panose="020B0604020202020204" pitchFamily="34" charset="0"/>
              <a:buChar char="•"/>
            </a:pPr>
            <a:r>
              <a:rPr kumimoji="1" lang="en-US" altLang="zh-CN" kern="0" dirty="0"/>
              <a:t>Cache</a:t>
            </a:r>
            <a:r>
              <a:rPr kumimoji="1" lang="zh-CN" altLang="en-US" kern="0" dirty="0"/>
              <a:t>基本概念</a:t>
            </a:r>
            <a:endParaRPr lang="en-US" altLang="zh-CN" kern="0" dirty="0"/>
          </a:p>
          <a:p>
            <a:pPr lvl="1"/>
            <a:r>
              <a:rPr lang="en-US" altLang="zh-CN" kern="0" dirty="0"/>
              <a:t>Cache</a:t>
            </a:r>
            <a:r>
              <a:rPr lang="zh-CN" altLang="en-US" kern="0" dirty="0"/>
              <a:t>是一个</a:t>
            </a:r>
            <a:r>
              <a:rPr lang="zh-CN" altLang="en-US" kern="0" dirty="0">
                <a:solidFill>
                  <a:srgbClr val="1A49EA"/>
                </a:solidFill>
              </a:rPr>
              <a:t>容量小但非常快</a:t>
            </a:r>
            <a:r>
              <a:rPr lang="zh-CN" altLang="en-US" kern="0" dirty="0"/>
              <a:t>的存储器，它保存最近用到的</a:t>
            </a:r>
            <a:r>
              <a:rPr lang="zh-CN" altLang="en-US" kern="0" dirty="0">
                <a:solidFill>
                  <a:srgbClr val="1A49EA"/>
                </a:solidFill>
              </a:rPr>
              <a:t>主存数据的副本</a:t>
            </a:r>
            <a:r>
              <a:rPr lang="zh-CN" altLang="en-US" kern="0" dirty="0"/>
              <a:t>，通常与处理器在同一芯片上实现</a:t>
            </a:r>
            <a:endParaRPr lang="zh-CN" altLang="en-US" kern="0" dirty="0">
              <a:solidFill>
                <a:srgbClr val="FF0000"/>
              </a:solidFill>
            </a:endParaRPr>
          </a:p>
          <a:p>
            <a:pPr lvl="1"/>
            <a:r>
              <a:rPr lang="zh-CN" altLang="en-US" kern="0" dirty="0"/>
              <a:t>对于程序员来说，</a:t>
            </a:r>
            <a:r>
              <a:rPr lang="en-US" altLang="zh-CN" kern="0" dirty="0"/>
              <a:t>Cache</a:t>
            </a:r>
            <a:r>
              <a:rPr lang="zh-CN" altLang="en-US" kern="0" dirty="0"/>
              <a:t>是透明的，它完全由硬件自动地决定保存哪些数据，覆盖哪些数据</a:t>
            </a:r>
            <a:endParaRPr lang="en-US" altLang="zh-CN" kern="0" dirty="0"/>
          </a:p>
          <a:p>
            <a:r>
              <a:rPr lang="en-US" altLang="zh-CN" kern="0" dirty="0"/>
              <a:t>Cache</a:t>
            </a:r>
            <a:r>
              <a:rPr lang="zh-CN" altLang="en-US" kern="0" dirty="0"/>
              <a:t>三大基本组件</a:t>
            </a:r>
            <a:endParaRPr lang="en-US" altLang="zh-CN" kern="0" dirty="0"/>
          </a:p>
          <a:p>
            <a:pPr lvl="1"/>
            <a:r>
              <a:rPr lang="en-US" altLang="zh-CN" kern="0" dirty="0"/>
              <a:t>Cache</a:t>
            </a:r>
            <a:r>
              <a:rPr lang="zh-CN" altLang="en-US" kern="0" dirty="0"/>
              <a:t>存储体</a:t>
            </a:r>
            <a:endParaRPr lang="en-US" altLang="zh-CN" kern="0" dirty="0"/>
          </a:p>
          <a:p>
            <a:pPr lvl="1"/>
            <a:r>
              <a:rPr lang="zh-CN" altLang="en-US" kern="0" dirty="0"/>
              <a:t>地址映像变换机构</a:t>
            </a:r>
            <a:endParaRPr lang="en-US" altLang="zh-CN" kern="0" dirty="0"/>
          </a:p>
          <a:p>
            <a:pPr lvl="1"/>
            <a:r>
              <a:rPr lang="en-US" altLang="zh-CN" kern="0" dirty="0"/>
              <a:t>Cache</a:t>
            </a:r>
            <a:r>
              <a:rPr lang="zh-CN" altLang="en-US" kern="0" dirty="0"/>
              <a:t>替换机构</a:t>
            </a:r>
          </a:p>
        </p:txBody>
      </p:sp>
    </p:spTree>
    <p:extLst>
      <p:ext uri="{BB962C8B-B14F-4D97-AF65-F5344CB8AC3E}">
        <p14:creationId xmlns:p14="http://schemas.microsoft.com/office/powerpoint/2010/main" val="2924934493"/>
      </p:ext>
    </p:extLst>
  </p:cSld>
  <p:clrMapOvr>
    <a:masterClrMapping/>
  </p:clrMapOvr>
  <mc:AlternateContent xmlns:mc="http://schemas.openxmlformats.org/markup-compatibility/2006" xmlns:p14="http://schemas.microsoft.com/office/powerpoint/2010/main">
    <mc:Choice Requires="p14">
      <p:transition p14:dur="10" advTm="15616"/>
    </mc:Choice>
    <mc:Fallback xmlns="">
      <p:transition advTm="15616"/>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74" name="Text Box 20"/>
          <p:cNvSpPr txBox="1">
            <a:spLocks noChangeArrowheads="1"/>
          </p:cNvSpPr>
          <p:nvPr/>
        </p:nvSpPr>
        <p:spPr bwMode="auto">
          <a:xfrm>
            <a:off x="4758001" y="2574785"/>
            <a:ext cx="4333316" cy="117251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88785" tIns="44393" rIns="88785" bIns="44393">
            <a:spAutoFit/>
          </a:bodyPr>
          <a:lstStyle>
            <a:lvl1pPr marL="200025" indent="-200025"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285750" indent="-285750" eaLnBrk="1" hangingPunct="1">
              <a:buFont typeface="Wingdings" panose="05000000000000000000" pitchFamily="2" charset="2"/>
              <a:buChar char="l"/>
            </a:pPr>
            <a:r>
              <a:rPr kumimoji="1" lang="zh-CN" altLang="en-US" sz="1759" dirty="0">
                <a:solidFill>
                  <a:srgbClr val="0432FF"/>
                </a:solidFill>
                <a:latin typeface="Arial" panose="020B0604020202020204" pitchFamily="34" charset="0"/>
                <a:ea typeface="SimHei" panose="02010609060101010101" pitchFamily="49" charset="-122"/>
              </a:rPr>
              <a:t>数据：</a:t>
            </a:r>
            <a:r>
              <a:rPr kumimoji="1" lang="en-US" altLang="zh-CN" sz="1759" dirty="0">
                <a:latin typeface="Arial" panose="020B0604020202020204" pitchFamily="34" charset="0"/>
                <a:ea typeface="SimHei" panose="02010609060101010101" pitchFamily="49" charset="-122"/>
              </a:rPr>
              <a:t>N</a:t>
            </a:r>
            <a:r>
              <a:rPr kumimoji="1" lang="zh-CN" altLang="en-US" sz="1759" dirty="0">
                <a:latin typeface="Arial" panose="020B0604020202020204" pitchFamily="34" charset="0"/>
                <a:ea typeface="SimHei" panose="02010609060101010101" pitchFamily="49" charset="-122"/>
              </a:rPr>
              <a:t>个</a:t>
            </a:r>
            <a:r>
              <a:rPr kumimoji="1" lang="en-US" altLang="zh-CN" sz="1759" dirty="0">
                <a:solidFill>
                  <a:schemeClr val="hlink"/>
                </a:solidFill>
                <a:latin typeface="Arial" panose="020B0604020202020204" pitchFamily="34" charset="0"/>
                <a:ea typeface="SimHei" panose="02010609060101010101" pitchFamily="49" charset="-122"/>
              </a:rPr>
              <a:t>Cache</a:t>
            </a:r>
            <a:r>
              <a:rPr kumimoji="1" lang="zh-CN" altLang="en-US" sz="1759" dirty="0">
                <a:solidFill>
                  <a:schemeClr val="hlink"/>
                </a:solidFill>
                <a:latin typeface="Arial" panose="020B0604020202020204" pitchFamily="34" charset="0"/>
                <a:ea typeface="SimHei" panose="02010609060101010101" pitchFamily="49" charset="-122"/>
              </a:rPr>
              <a:t>行</a:t>
            </a:r>
            <a:r>
              <a:rPr kumimoji="1" lang="en-US" altLang="zh-CN" sz="1759" dirty="0">
                <a:solidFill>
                  <a:schemeClr val="hlink"/>
                </a:solidFill>
                <a:latin typeface="Arial" panose="020B0604020202020204" pitchFamily="34" charset="0"/>
                <a:ea typeface="SimHei" panose="02010609060101010101" pitchFamily="49" charset="-122"/>
              </a:rPr>
              <a:t>(Cache Line) </a:t>
            </a:r>
            <a:r>
              <a:rPr kumimoji="1" lang="zh-CN" altLang="en-US" sz="1759" dirty="0">
                <a:solidFill>
                  <a:schemeClr val="hlink"/>
                </a:solidFill>
                <a:latin typeface="Arial" panose="020B0604020202020204" pitchFamily="34" charset="0"/>
                <a:ea typeface="SimHei" panose="02010609060101010101" pitchFamily="49" charset="-122"/>
              </a:rPr>
              <a:t>，</a:t>
            </a:r>
            <a:r>
              <a:rPr kumimoji="1" lang="zh-CN" altLang="en-US" sz="1759" dirty="0">
                <a:latin typeface="Arial" panose="020B0604020202020204" pitchFamily="34" charset="0"/>
                <a:ea typeface="SimHei" panose="02010609060101010101" pitchFamily="49" charset="-122"/>
              </a:rPr>
              <a:t>每行临时存放主存中一个块的数据</a:t>
            </a:r>
          </a:p>
          <a:p>
            <a:pPr marL="285750" indent="-285750" eaLnBrk="1" hangingPunct="1">
              <a:buFont typeface="Wingdings" panose="05000000000000000000" pitchFamily="2" charset="2"/>
              <a:buChar char="l"/>
            </a:pPr>
            <a:r>
              <a:rPr kumimoji="1" lang="zh-CN" altLang="en-US" sz="1759" dirty="0">
                <a:solidFill>
                  <a:srgbClr val="0432FF"/>
                </a:solidFill>
                <a:latin typeface="Arial" panose="020B0604020202020204" pitchFamily="34" charset="0"/>
                <a:ea typeface="SimHei" panose="02010609060101010101" pitchFamily="49" charset="-122"/>
              </a:rPr>
              <a:t>标签：</a:t>
            </a:r>
            <a:r>
              <a:rPr kumimoji="1" lang="zh-CN" altLang="en-US" sz="1759" dirty="0">
                <a:latin typeface="Arial" panose="020B0604020202020204" pitchFamily="34" charset="0"/>
                <a:ea typeface="SimHei" panose="02010609060101010101" pitchFamily="49" charset="-122"/>
              </a:rPr>
              <a:t>用于指定是哪一块主存的副本</a:t>
            </a:r>
          </a:p>
          <a:p>
            <a:pPr marL="285750" indent="-285750" eaLnBrk="1" hangingPunct="1">
              <a:buFont typeface="Wingdings" panose="05000000000000000000" pitchFamily="2" charset="2"/>
              <a:buChar char="l"/>
            </a:pPr>
            <a:r>
              <a:rPr kumimoji="1" lang="zh-CN" altLang="en-US" sz="1759" dirty="0">
                <a:solidFill>
                  <a:srgbClr val="0432FF"/>
                </a:solidFill>
                <a:latin typeface="Arial" panose="020B0604020202020204" pitchFamily="34" charset="0"/>
                <a:ea typeface="SimHei" panose="02010609060101010101" pitchFamily="49" charset="-122"/>
              </a:rPr>
              <a:t>有效位：</a:t>
            </a:r>
            <a:r>
              <a:rPr kumimoji="1" lang="zh-CN" altLang="en-US" sz="1759" dirty="0">
                <a:latin typeface="Arial" panose="020B0604020202020204" pitchFamily="34" charset="0"/>
                <a:ea typeface="SimHei" panose="02010609060101010101" pitchFamily="49" charset="-122"/>
              </a:rPr>
              <a:t>该行数据是否有效（后面讲）</a:t>
            </a:r>
          </a:p>
        </p:txBody>
      </p:sp>
      <p:sp>
        <p:nvSpPr>
          <p:cNvPr id="49181" name="Text Box 27"/>
          <p:cNvSpPr txBox="1">
            <a:spLocks noChangeArrowheads="1"/>
          </p:cNvSpPr>
          <p:nvPr/>
        </p:nvSpPr>
        <p:spPr bwMode="auto">
          <a:xfrm>
            <a:off x="5219590" y="1963135"/>
            <a:ext cx="1427922" cy="3745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spcBef>
                <a:spcPct val="80000"/>
              </a:spcBef>
            </a:pPr>
            <a:r>
              <a:rPr lang="en-US" altLang="zh-CN" sz="1847" dirty="0">
                <a:latin typeface="Arial" panose="020B0604020202020204" pitchFamily="34" charset="0"/>
                <a:ea typeface="SimHei" panose="02010609060101010101" pitchFamily="49" charset="-122"/>
              </a:rPr>
              <a:t>Cache</a:t>
            </a:r>
            <a:r>
              <a:rPr lang="zh-CN" altLang="en-US" sz="1847" dirty="0">
                <a:latin typeface="Arial" panose="020B0604020202020204" pitchFamily="34" charset="0"/>
                <a:ea typeface="SimHei" panose="02010609060101010101" pitchFamily="49" charset="-122"/>
              </a:rPr>
              <a:t>地址</a:t>
            </a:r>
          </a:p>
        </p:txBody>
      </p:sp>
      <p:sp>
        <p:nvSpPr>
          <p:cNvPr id="49186" name="Rectangle 32"/>
          <p:cNvSpPr>
            <a:spLocks noChangeArrowheads="1"/>
          </p:cNvSpPr>
          <p:nvPr/>
        </p:nvSpPr>
        <p:spPr bwMode="auto">
          <a:xfrm>
            <a:off x="6687989" y="2001509"/>
            <a:ext cx="1998811" cy="358748"/>
          </a:xfrm>
          <a:prstGeom prst="rect">
            <a:avLst/>
          </a:prstGeom>
          <a:noFill/>
          <a:ln w="9525" algn="ctr">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80957" tIns="40479" rIns="80957" bIns="40479" anchor="ctr">
            <a:spAutoFit/>
          </a:bodyPr>
          <a:lstStyle/>
          <a:p>
            <a:endParaRPr lang="zh-CN" altLang="en-US" dirty="0">
              <a:ea typeface="SimHei" panose="02010609060101010101" pitchFamily="49" charset="-122"/>
            </a:endParaRPr>
          </a:p>
        </p:txBody>
      </p:sp>
      <p:sp>
        <p:nvSpPr>
          <p:cNvPr id="49187" name="Line 33"/>
          <p:cNvSpPr>
            <a:spLocks noChangeShapeType="1"/>
          </p:cNvSpPr>
          <p:nvPr/>
        </p:nvSpPr>
        <p:spPr bwMode="auto">
          <a:xfrm>
            <a:off x="7639937" y="2001509"/>
            <a:ext cx="0" cy="360000"/>
          </a:xfrm>
          <a:prstGeom prst="line">
            <a:avLst/>
          </a:prstGeom>
          <a:noFill/>
          <a:ln w="9525">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80957" tIns="40479" rIns="80957" bIns="40479" anchor="ctr">
            <a:spAutoFit/>
          </a:bodyPr>
          <a:lstStyle/>
          <a:p>
            <a:endParaRPr lang="zh-CN" altLang="en-US" dirty="0">
              <a:ea typeface="SimHei" panose="02010609060101010101" pitchFamily="49" charset="-122"/>
            </a:endParaRPr>
          </a:p>
        </p:txBody>
      </p:sp>
      <p:sp>
        <p:nvSpPr>
          <p:cNvPr id="49188" name="Rectangle 34"/>
          <p:cNvSpPr>
            <a:spLocks noChangeArrowheads="1"/>
          </p:cNvSpPr>
          <p:nvPr/>
        </p:nvSpPr>
        <p:spPr bwMode="auto">
          <a:xfrm>
            <a:off x="7741833" y="2038510"/>
            <a:ext cx="815337" cy="2796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89401" tIns="44701" rIns="89401" bIns="44701">
            <a:spAutoFit/>
          </a:bodyPr>
          <a:lstStyle/>
          <a:p>
            <a:pPr defTabSz="887785"/>
            <a:r>
              <a:rPr lang="zh-CN" altLang="en-US" sz="1231" dirty="0">
                <a:latin typeface="Arial" panose="020B0604020202020204" pitchFamily="34" charset="0"/>
                <a:ea typeface="SimHei" panose="02010609060101010101" pitchFamily="49" charset="-122"/>
              </a:rPr>
              <a:t>行内地址</a:t>
            </a:r>
          </a:p>
        </p:txBody>
      </p:sp>
      <p:sp>
        <p:nvSpPr>
          <p:cNvPr id="49189" name="Rectangle 35"/>
          <p:cNvSpPr>
            <a:spLocks noChangeArrowheads="1"/>
          </p:cNvSpPr>
          <p:nvPr/>
        </p:nvSpPr>
        <p:spPr bwMode="auto">
          <a:xfrm>
            <a:off x="6655887" y="2048281"/>
            <a:ext cx="951593" cy="2796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none" lIns="89401" tIns="44701" rIns="89401" bIns="44701">
            <a:spAutoFit/>
          </a:bodyPr>
          <a:lstStyle/>
          <a:p>
            <a:pPr defTabSz="887785"/>
            <a:r>
              <a:rPr lang="en-US" altLang="zh-CN" sz="1231" dirty="0">
                <a:latin typeface="Arial" panose="020B0604020202020204" pitchFamily="34" charset="0"/>
                <a:ea typeface="SimHei" panose="02010609060101010101" pitchFamily="49" charset="-122"/>
              </a:rPr>
              <a:t>Cache</a:t>
            </a:r>
            <a:r>
              <a:rPr lang="zh-CN" altLang="en-US" sz="1231" dirty="0">
                <a:latin typeface="Arial" panose="020B0604020202020204" pitchFamily="34" charset="0"/>
                <a:ea typeface="SimHei" panose="02010609060101010101" pitchFamily="49" charset="-122"/>
              </a:rPr>
              <a:t>行号</a:t>
            </a:r>
          </a:p>
        </p:txBody>
      </p:sp>
      <p:sp>
        <p:nvSpPr>
          <p:cNvPr id="49157" name="Text Box 3"/>
          <p:cNvSpPr txBox="1">
            <a:spLocks noChangeArrowheads="1"/>
          </p:cNvSpPr>
          <p:nvPr/>
        </p:nvSpPr>
        <p:spPr bwMode="auto">
          <a:xfrm>
            <a:off x="187789" y="1504709"/>
            <a:ext cx="2631609" cy="3974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2000" dirty="0">
                <a:latin typeface="Arial" panose="020B0604020202020204" pitchFamily="34" charset="0"/>
                <a:ea typeface="SimHei" panose="02010609060101010101" pitchFamily="49" charset="-122"/>
              </a:rPr>
              <a:t>主存存储格式</a:t>
            </a:r>
          </a:p>
        </p:txBody>
      </p:sp>
      <p:sp>
        <p:nvSpPr>
          <p:cNvPr id="49182" name="Rectangle 28"/>
          <p:cNvSpPr>
            <a:spLocks noChangeArrowheads="1"/>
          </p:cNvSpPr>
          <p:nvPr/>
        </p:nvSpPr>
        <p:spPr bwMode="auto">
          <a:xfrm>
            <a:off x="1553480" y="2093352"/>
            <a:ext cx="2049972" cy="358748"/>
          </a:xfrm>
          <a:prstGeom prst="rect">
            <a:avLst/>
          </a:prstGeom>
          <a:solidFill>
            <a:schemeClr val="bg1"/>
          </a:solidFill>
          <a:ln w="9525" algn="ctr">
            <a:solidFill>
              <a:schemeClr val="tx1"/>
            </a:solidFill>
            <a:miter lim="800000"/>
            <a:headEnd type="none" w="sm" len="sm"/>
            <a:tailEnd type="none" w="sm" len="sm"/>
          </a:ln>
          <a:effectLst/>
          <a:extLs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80957" tIns="40479" rIns="80957" bIns="40479" anchor="ctr">
            <a:spAutoFit/>
          </a:bodyPr>
          <a:lstStyle/>
          <a:p>
            <a:endParaRPr lang="zh-CN" altLang="en-US" dirty="0">
              <a:ea typeface="SimHei" panose="02010609060101010101" pitchFamily="49" charset="-122"/>
            </a:endParaRPr>
          </a:p>
        </p:txBody>
      </p:sp>
      <p:sp>
        <p:nvSpPr>
          <p:cNvPr id="49183" name="Line 29"/>
          <p:cNvSpPr>
            <a:spLocks noChangeShapeType="1"/>
          </p:cNvSpPr>
          <p:nvPr/>
        </p:nvSpPr>
        <p:spPr bwMode="auto">
          <a:xfrm>
            <a:off x="2670561" y="2091654"/>
            <a:ext cx="0" cy="358748"/>
          </a:xfrm>
          <a:prstGeom prst="line">
            <a:avLst/>
          </a:prstGeom>
          <a:noFill/>
          <a:ln w="9525">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80957" tIns="40479" rIns="80957" bIns="40479" anchor="ctr">
            <a:spAutoFit/>
          </a:bodyPr>
          <a:lstStyle/>
          <a:p>
            <a:endParaRPr lang="zh-CN" altLang="en-US" dirty="0">
              <a:ea typeface="SimHei" panose="02010609060101010101" pitchFamily="49" charset="-122"/>
            </a:endParaRPr>
          </a:p>
        </p:txBody>
      </p:sp>
      <p:sp>
        <p:nvSpPr>
          <p:cNvPr id="49184" name="Rectangle 30"/>
          <p:cNvSpPr>
            <a:spLocks noChangeArrowheads="1"/>
          </p:cNvSpPr>
          <p:nvPr/>
        </p:nvSpPr>
        <p:spPr bwMode="auto">
          <a:xfrm>
            <a:off x="2735080" y="2130354"/>
            <a:ext cx="843978" cy="2796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89401" tIns="44701" rIns="89401" bIns="44701">
            <a:spAutoFit/>
          </a:bodyPr>
          <a:lstStyle/>
          <a:p>
            <a:pPr defTabSz="887785"/>
            <a:r>
              <a:rPr lang="zh-CN" altLang="en-US" sz="1231" dirty="0">
                <a:latin typeface="Arial" panose="020B0604020202020204" pitchFamily="34" charset="0"/>
                <a:ea typeface="SimHei" panose="02010609060101010101" pitchFamily="49" charset="-122"/>
              </a:rPr>
              <a:t>块内地址</a:t>
            </a:r>
          </a:p>
        </p:txBody>
      </p:sp>
      <p:sp>
        <p:nvSpPr>
          <p:cNvPr id="49185" name="Rectangle 31"/>
          <p:cNvSpPr>
            <a:spLocks noChangeArrowheads="1"/>
          </p:cNvSpPr>
          <p:nvPr/>
        </p:nvSpPr>
        <p:spPr bwMode="auto">
          <a:xfrm>
            <a:off x="1503594" y="2131749"/>
            <a:ext cx="820788" cy="2796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89401" tIns="44701" rIns="89401" bIns="44701">
            <a:spAutoFit/>
          </a:bodyPr>
          <a:lstStyle/>
          <a:p>
            <a:pPr defTabSz="887785"/>
            <a:r>
              <a:rPr lang="zh-CN" altLang="en-US" sz="1231" dirty="0">
                <a:latin typeface="Arial" panose="020B0604020202020204" pitchFamily="34" charset="0"/>
                <a:ea typeface="SimHei" panose="02010609060101010101" pitchFamily="49" charset="-122"/>
              </a:rPr>
              <a:t>主存块号</a:t>
            </a:r>
          </a:p>
        </p:txBody>
      </p:sp>
      <p:sp>
        <p:nvSpPr>
          <p:cNvPr id="49190" name="Text Box 36"/>
          <p:cNvSpPr txBox="1">
            <a:spLocks noChangeArrowheads="1"/>
          </p:cNvSpPr>
          <p:nvPr/>
        </p:nvSpPr>
        <p:spPr bwMode="auto">
          <a:xfrm>
            <a:off x="235216" y="2089408"/>
            <a:ext cx="1253747" cy="3745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spcBef>
                <a:spcPct val="50000"/>
              </a:spcBef>
            </a:pPr>
            <a:r>
              <a:rPr lang="zh-CN" altLang="en-US" sz="1847" dirty="0">
                <a:latin typeface="Arial" panose="020B0604020202020204" pitchFamily="34" charset="0"/>
                <a:ea typeface="SimHei" panose="02010609060101010101" pitchFamily="49" charset="-122"/>
              </a:rPr>
              <a:t>主存地址</a:t>
            </a:r>
          </a:p>
        </p:txBody>
      </p:sp>
      <p:sp>
        <p:nvSpPr>
          <p:cNvPr id="49166" name="Text Box 12"/>
          <p:cNvSpPr txBox="1">
            <a:spLocks noChangeArrowheads="1"/>
          </p:cNvSpPr>
          <p:nvPr/>
        </p:nvSpPr>
        <p:spPr bwMode="auto">
          <a:xfrm>
            <a:off x="5655239" y="1477290"/>
            <a:ext cx="2017949" cy="3974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en-US" altLang="zh-CN" sz="2000" dirty="0">
                <a:latin typeface="Arial" panose="020B0604020202020204" pitchFamily="34" charset="0"/>
                <a:ea typeface="SimHei" panose="02010609060101010101" pitchFamily="49" charset="-122"/>
              </a:rPr>
              <a:t>Cache </a:t>
            </a:r>
            <a:r>
              <a:rPr kumimoji="1" lang="zh-CN" altLang="en-US" sz="2000" dirty="0">
                <a:latin typeface="Arial" panose="020B0604020202020204" pitchFamily="34" charset="0"/>
                <a:ea typeface="SimHei" panose="02010609060101010101" pitchFamily="49" charset="-122"/>
              </a:rPr>
              <a:t>存储格式</a:t>
            </a:r>
            <a:endParaRPr kumimoji="1" lang="en-US" altLang="zh-CN" sz="2000" dirty="0">
              <a:latin typeface="Arial" panose="020B0604020202020204" pitchFamily="34" charset="0"/>
              <a:ea typeface="SimHei" panose="02010609060101010101" pitchFamily="49" charset="-122"/>
            </a:endParaRPr>
          </a:p>
        </p:txBody>
      </p:sp>
      <p:sp>
        <p:nvSpPr>
          <p:cNvPr id="45" name="Rectangle 8">
            <a:extLst>
              <a:ext uri="{FF2B5EF4-FFF2-40B4-BE49-F238E27FC236}">
                <a16:creationId xmlns:a16="http://schemas.microsoft.com/office/drawing/2014/main" id="{24721F81-087F-40DD-BE39-004B902622E9}"/>
              </a:ext>
            </a:extLst>
          </p:cNvPr>
          <p:cNvSpPr>
            <a:spLocks noGrp="1" noChangeArrowheads="1"/>
          </p:cNvSpPr>
          <p:nvPr>
            <p:ph type="title"/>
          </p:nvPr>
        </p:nvSpPr>
        <p:spPr>
          <a:xfrm>
            <a:off x="1288500" y="132710"/>
            <a:ext cx="7337812" cy="970093"/>
          </a:xfrm>
          <a:noFill/>
        </p:spPr>
        <p:txBody>
          <a:bodyPr vert="horz" wrap="square" lIns="89371" tIns="44686" rIns="89371" bIns="44686" numCol="1" anchor="ctr" anchorCtr="0" compatLnSpc="1">
            <a:prstTxWarp prst="textNoShape">
              <a:avLst/>
            </a:prstTxWarp>
          </a:bodyPr>
          <a:lstStyle/>
          <a:p>
            <a:pPr eaLnBrk="1" hangingPunct="1"/>
            <a:r>
              <a:rPr lang="en-US" altLang="zh-CN" sz="4000" dirty="0"/>
              <a:t>Cache</a:t>
            </a:r>
            <a:r>
              <a:rPr lang="zh-CN" altLang="en-US" sz="4000" dirty="0">
                <a:solidFill>
                  <a:schemeClr val="tx1"/>
                </a:solidFill>
              </a:rPr>
              <a:t>基本结构</a:t>
            </a:r>
          </a:p>
        </p:txBody>
      </p:sp>
      <p:sp>
        <p:nvSpPr>
          <p:cNvPr id="2" name="Slide Number Placeholder 1">
            <a:extLst>
              <a:ext uri="{FF2B5EF4-FFF2-40B4-BE49-F238E27FC236}">
                <a16:creationId xmlns:a16="http://schemas.microsoft.com/office/drawing/2014/main" id="{5F3682B1-28B7-0E4B-B2D7-F29E7C8ABAD4}"/>
              </a:ext>
            </a:extLst>
          </p:cNvPr>
          <p:cNvSpPr>
            <a:spLocks noGrp="1"/>
          </p:cNvSpPr>
          <p:nvPr>
            <p:ph type="sldNum" sz="quarter" idx="12"/>
          </p:nvPr>
        </p:nvSpPr>
        <p:spPr/>
        <p:txBody>
          <a:bodyPr/>
          <a:lstStyle/>
          <a:p>
            <a:fld id="{14659731-6BD7-46E7-8D3C-2F3AC07E20B1}" type="slidenum">
              <a:rPr lang="en-US" altLang="zh-CN" smtClean="0"/>
              <a:pPr/>
              <a:t>46</a:t>
            </a:fld>
            <a:endParaRPr lang="en-US" altLang="zh-CN"/>
          </a:p>
        </p:txBody>
      </p:sp>
      <p:sp>
        <p:nvSpPr>
          <p:cNvPr id="40" name="Rectangle 2">
            <a:extLst>
              <a:ext uri="{FF2B5EF4-FFF2-40B4-BE49-F238E27FC236}">
                <a16:creationId xmlns:a16="http://schemas.microsoft.com/office/drawing/2014/main" id="{4B131CED-2707-7B49-B3D2-B3B15DE15D62}"/>
              </a:ext>
            </a:extLst>
          </p:cNvPr>
          <p:cNvSpPr>
            <a:spLocks noChangeArrowheads="1"/>
          </p:cNvSpPr>
          <p:nvPr/>
        </p:nvSpPr>
        <p:spPr bwMode="auto">
          <a:xfrm>
            <a:off x="941593" y="3225377"/>
            <a:ext cx="1399064" cy="2728823"/>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41" name="Line 4">
            <a:extLst>
              <a:ext uri="{FF2B5EF4-FFF2-40B4-BE49-F238E27FC236}">
                <a16:creationId xmlns:a16="http://schemas.microsoft.com/office/drawing/2014/main" id="{FFC09B23-D270-8A44-B82A-43D1C7485EA4}"/>
              </a:ext>
            </a:extLst>
          </p:cNvPr>
          <p:cNvSpPr>
            <a:spLocks noChangeShapeType="1"/>
          </p:cNvSpPr>
          <p:nvPr/>
        </p:nvSpPr>
        <p:spPr bwMode="auto">
          <a:xfrm>
            <a:off x="947540" y="3994472"/>
            <a:ext cx="1399064"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42" name="AutoShape 5">
            <a:extLst>
              <a:ext uri="{FF2B5EF4-FFF2-40B4-BE49-F238E27FC236}">
                <a16:creationId xmlns:a16="http://schemas.microsoft.com/office/drawing/2014/main" id="{6F945391-BF5A-4B45-A63B-D9E7509D1027}"/>
              </a:ext>
            </a:extLst>
          </p:cNvPr>
          <p:cNvSpPr>
            <a:spLocks/>
          </p:cNvSpPr>
          <p:nvPr/>
        </p:nvSpPr>
        <p:spPr bwMode="auto">
          <a:xfrm>
            <a:off x="2417970" y="3240731"/>
            <a:ext cx="124890" cy="741179"/>
          </a:xfrm>
          <a:prstGeom prst="rightBrace">
            <a:avLst>
              <a:gd name="adj1" fmla="val 52679"/>
              <a:gd name="adj2" fmla="val 50000"/>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43" name="Text Box 6">
            <a:extLst>
              <a:ext uri="{FF2B5EF4-FFF2-40B4-BE49-F238E27FC236}">
                <a16:creationId xmlns:a16="http://schemas.microsoft.com/office/drawing/2014/main" id="{DA85C2B4-52FE-C24F-809A-86062DA774D6}"/>
              </a:ext>
            </a:extLst>
          </p:cNvPr>
          <p:cNvSpPr txBox="1">
            <a:spLocks noChangeArrowheads="1"/>
          </p:cNvSpPr>
          <p:nvPr/>
        </p:nvSpPr>
        <p:spPr bwMode="auto">
          <a:xfrm>
            <a:off x="2579359" y="3421983"/>
            <a:ext cx="724064" cy="366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dirty="0">
                <a:latin typeface="Arial" panose="020B0604020202020204" pitchFamily="34" charset="0"/>
                <a:ea typeface="SimHei" panose="02010609060101010101" pitchFamily="49" charset="-122"/>
              </a:rPr>
              <a:t>块</a:t>
            </a:r>
            <a:r>
              <a:rPr kumimoji="1" lang="en-US" altLang="zh-CN" dirty="0">
                <a:latin typeface="Arial" panose="020B0604020202020204" pitchFamily="34" charset="0"/>
                <a:ea typeface="SimHei" panose="02010609060101010101" pitchFamily="49" charset="-122"/>
              </a:rPr>
              <a:t>0</a:t>
            </a:r>
          </a:p>
        </p:txBody>
      </p:sp>
      <p:sp>
        <p:nvSpPr>
          <p:cNvPr id="44" name="AutoShape 7">
            <a:extLst>
              <a:ext uri="{FF2B5EF4-FFF2-40B4-BE49-F238E27FC236}">
                <a16:creationId xmlns:a16="http://schemas.microsoft.com/office/drawing/2014/main" id="{1E1C0EE0-21C6-424F-A81E-9DA4415E9CE6}"/>
              </a:ext>
            </a:extLst>
          </p:cNvPr>
          <p:cNvSpPr>
            <a:spLocks/>
          </p:cNvSpPr>
          <p:nvPr/>
        </p:nvSpPr>
        <p:spPr bwMode="auto">
          <a:xfrm>
            <a:off x="2386747" y="5257688"/>
            <a:ext cx="93667" cy="661617"/>
          </a:xfrm>
          <a:prstGeom prst="rightBrace">
            <a:avLst>
              <a:gd name="adj1" fmla="val 62699"/>
              <a:gd name="adj2" fmla="val 50000"/>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46" name="Text Box 8">
            <a:extLst>
              <a:ext uri="{FF2B5EF4-FFF2-40B4-BE49-F238E27FC236}">
                <a16:creationId xmlns:a16="http://schemas.microsoft.com/office/drawing/2014/main" id="{35E41E58-FC1F-7F4A-ACB3-3C373FCF4010}"/>
              </a:ext>
            </a:extLst>
          </p:cNvPr>
          <p:cNvSpPr txBox="1">
            <a:spLocks noChangeArrowheads="1"/>
          </p:cNvSpPr>
          <p:nvPr/>
        </p:nvSpPr>
        <p:spPr bwMode="auto">
          <a:xfrm>
            <a:off x="2563674" y="5395873"/>
            <a:ext cx="811784" cy="366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dirty="0">
                <a:latin typeface="Arial" panose="020B0604020202020204" pitchFamily="34" charset="0"/>
                <a:ea typeface="SimHei" panose="02010609060101010101" pitchFamily="49" charset="-122"/>
              </a:rPr>
              <a:t>块</a:t>
            </a:r>
            <a:r>
              <a:rPr kumimoji="1" lang="en-US" altLang="zh-CN" dirty="0">
                <a:latin typeface="Arial" panose="020B0604020202020204" pitchFamily="34" charset="0"/>
                <a:ea typeface="SimHei" panose="02010609060101010101" pitchFamily="49" charset="-122"/>
              </a:rPr>
              <a:t>L-1</a:t>
            </a:r>
          </a:p>
        </p:txBody>
      </p:sp>
      <p:sp>
        <p:nvSpPr>
          <p:cNvPr id="48" name="Line 21">
            <a:extLst>
              <a:ext uri="{FF2B5EF4-FFF2-40B4-BE49-F238E27FC236}">
                <a16:creationId xmlns:a16="http://schemas.microsoft.com/office/drawing/2014/main" id="{980D028A-305A-F24A-8B27-79924A1FA4F1}"/>
              </a:ext>
            </a:extLst>
          </p:cNvPr>
          <p:cNvSpPr>
            <a:spLocks noChangeShapeType="1"/>
          </p:cNvSpPr>
          <p:nvPr/>
        </p:nvSpPr>
        <p:spPr bwMode="auto">
          <a:xfrm flipH="1">
            <a:off x="940105" y="5226979"/>
            <a:ext cx="1391630" cy="0"/>
          </a:xfrm>
          <a:prstGeom prst="line">
            <a:avLst/>
          </a:prstGeom>
          <a:noFill/>
          <a:ln w="9525">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80957" tIns="40479" rIns="80957" bIns="40479" anchor="ctr">
            <a:spAutoFit/>
          </a:bodyPr>
          <a:lstStyle/>
          <a:p>
            <a:endParaRPr lang="zh-CN" altLang="en-US" dirty="0">
              <a:ea typeface="SimHei" panose="02010609060101010101" pitchFamily="49" charset="-122"/>
            </a:endParaRPr>
          </a:p>
        </p:txBody>
      </p:sp>
      <p:sp>
        <p:nvSpPr>
          <p:cNvPr id="49" name="Text Box 25">
            <a:extLst>
              <a:ext uri="{FF2B5EF4-FFF2-40B4-BE49-F238E27FC236}">
                <a16:creationId xmlns:a16="http://schemas.microsoft.com/office/drawing/2014/main" id="{D606A447-2946-0A46-B1CF-4BE70351BCC1}"/>
              </a:ext>
            </a:extLst>
          </p:cNvPr>
          <p:cNvSpPr txBox="1">
            <a:spLocks noChangeArrowheads="1"/>
          </p:cNvSpPr>
          <p:nvPr/>
        </p:nvSpPr>
        <p:spPr bwMode="auto">
          <a:xfrm>
            <a:off x="1484014" y="4455092"/>
            <a:ext cx="545905" cy="3948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vert="eaVert" wrap="non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lang="en-US" altLang="zh-CN" sz="2374" dirty="0">
                <a:latin typeface="Arial" panose="020B0604020202020204" pitchFamily="34" charset="0"/>
                <a:ea typeface="SimHei" panose="02010609060101010101" pitchFamily="49" charset="-122"/>
              </a:rPr>
              <a:t>…</a:t>
            </a:r>
          </a:p>
        </p:txBody>
      </p:sp>
      <p:sp>
        <p:nvSpPr>
          <p:cNvPr id="4" name="Rectangle 3">
            <a:extLst>
              <a:ext uri="{FF2B5EF4-FFF2-40B4-BE49-F238E27FC236}">
                <a16:creationId xmlns:a16="http://schemas.microsoft.com/office/drawing/2014/main" id="{12BB0205-79DD-214B-A44F-3DADF3A31E6C}"/>
              </a:ext>
            </a:extLst>
          </p:cNvPr>
          <p:cNvSpPr/>
          <p:nvPr/>
        </p:nvSpPr>
        <p:spPr>
          <a:xfrm>
            <a:off x="241974" y="2636003"/>
            <a:ext cx="4314001" cy="369332"/>
          </a:xfrm>
          <a:prstGeom prst="rect">
            <a:avLst/>
          </a:prstGeom>
        </p:spPr>
        <p:txBody>
          <a:bodyPr wrap="none">
            <a:spAutoFit/>
          </a:bodyPr>
          <a:lstStyle/>
          <a:p>
            <a:pPr marL="285750" lvl="0" indent="-285750">
              <a:buFont typeface="Wingdings" panose="05000000000000000000" pitchFamily="2" charset="2"/>
              <a:buChar char="l"/>
            </a:pPr>
            <a:r>
              <a:rPr kumimoji="1" lang="en-US" altLang="zh-CN" dirty="0">
                <a:latin typeface="Arial" panose="020B0604020202020204" pitchFamily="34" charset="0"/>
                <a:ea typeface="SimHei" panose="02010609060101010101" pitchFamily="49" charset="-122"/>
              </a:rPr>
              <a:t>L</a:t>
            </a:r>
            <a:r>
              <a:rPr kumimoji="1" lang="zh-CN" altLang="zh-CN" dirty="0">
                <a:latin typeface="Arial" panose="020B0604020202020204" pitchFamily="34" charset="0"/>
                <a:ea typeface="SimHei" panose="02010609060101010101" pitchFamily="49" charset="-122"/>
              </a:rPr>
              <a:t>个</a:t>
            </a:r>
            <a:r>
              <a:rPr kumimoji="1" lang="zh-CN" altLang="zh-CN" dirty="0">
                <a:solidFill>
                  <a:srgbClr val="0432FF"/>
                </a:solidFill>
                <a:latin typeface="Arial" panose="020B0604020202020204" pitchFamily="34" charset="0"/>
                <a:ea typeface="SimHei" panose="02010609060101010101" pitchFamily="49" charset="-122"/>
              </a:rPr>
              <a:t>块</a:t>
            </a:r>
            <a:r>
              <a:rPr kumimoji="1" lang="en-US" altLang="zh-CN" dirty="0">
                <a:solidFill>
                  <a:srgbClr val="0432FF"/>
                </a:solidFill>
                <a:latin typeface="Arial" panose="020B0604020202020204" pitchFamily="34" charset="0"/>
                <a:ea typeface="SimHei" panose="02010609060101010101" pitchFamily="49" charset="-122"/>
              </a:rPr>
              <a:t>(Block)</a:t>
            </a:r>
            <a:r>
              <a:rPr kumimoji="1" lang="zh-CN" altLang="en-US" dirty="0">
                <a:latin typeface="Arial" panose="020B0604020202020204" pitchFamily="34" charset="0"/>
                <a:ea typeface="SimHei" panose="02010609060101010101" pitchFamily="49" charset="-122"/>
              </a:rPr>
              <a:t>，每块</a:t>
            </a:r>
            <a:r>
              <a:rPr kumimoji="1" lang="en-US" altLang="zh-CN" dirty="0">
                <a:latin typeface="Arial" panose="020B0604020202020204" pitchFamily="34" charset="0"/>
                <a:ea typeface="SimHei" panose="02010609060101010101" pitchFamily="49" charset="-122"/>
              </a:rPr>
              <a:t>K</a:t>
            </a:r>
            <a:r>
              <a:rPr kumimoji="1" lang="zh-CN" altLang="en-US" dirty="0">
                <a:latin typeface="Arial" panose="020B0604020202020204" pitchFamily="34" charset="0"/>
                <a:ea typeface="SimHei" panose="02010609060101010101" pitchFamily="49" charset="-122"/>
              </a:rPr>
              <a:t>个</a:t>
            </a:r>
            <a:r>
              <a:rPr kumimoji="1" lang="zh-CN" altLang="en-US" dirty="0">
                <a:solidFill>
                  <a:srgbClr val="0432FF"/>
                </a:solidFill>
                <a:latin typeface="Arial" panose="020B0604020202020204" pitchFamily="34" charset="0"/>
                <a:ea typeface="SimHei" panose="02010609060101010101" pitchFamily="49" charset="-122"/>
              </a:rPr>
              <a:t>地址连续</a:t>
            </a:r>
            <a:r>
              <a:rPr kumimoji="1" lang="zh-CN" altLang="en-US" dirty="0">
                <a:latin typeface="Arial" panose="020B0604020202020204" pitchFamily="34" charset="0"/>
                <a:ea typeface="SimHei" panose="02010609060101010101" pitchFamily="49" charset="-122"/>
              </a:rPr>
              <a:t>字节</a:t>
            </a:r>
          </a:p>
        </p:txBody>
      </p:sp>
      <p:sp>
        <p:nvSpPr>
          <p:cNvPr id="50" name="Text Box 13">
            <a:extLst>
              <a:ext uri="{FF2B5EF4-FFF2-40B4-BE49-F238E27FC236}">
                <a16:creationId xmlns:a16="http://schemas.microsoft.com/office/drawing/2014/main" id="{02791802-4F64-9144-B6A5-06BEDF17C2F6}"/>
              </a:ext>
            </a:extLst>
          </p:cNvPr>
          <p:cNvSpPr txBox="1">
            <a:spLocks noChangeArrowheads="1"/>
          </p:cNvSpPr>
          <p:nvPr/>
        </p:nvSpPr>
        <p:spPr bwMode="auto">
          <a:xfrm>
            <a:off x="5187299" y="3808342"/>
            <a:ext cx="975997" cy="366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143" dirty="0">
                <a:latin typeface="Arial" panose="020B0604020202020204" pitchFamily="34" charset="0"/>
                <a:ea typeface="SimHei" panose="02010609060101010101" pitchFamily="49" charset="-122"/>
              </a:rPr>
              <a:t>标签</a:t>
            </a:r>
            <a:r>
              <a:rPr kumimoji="1" lang="zh-CN" altLang="en-US" dirty="0">
                <a:latin typeface="Arial" panose="020B0604020202020204" pitchFamily="34" charset="0"/>
                <a:ea typeface="SimHei" panose="02010609060101010101" pitchFamily="49" charset="-122"/>
              </a:rPr>
              <a:t> </a:t>
            </a:r>
            <a:r>
              <a:rPr kumimoji="1" lang="zh-CN" altLang="en-US" sz="1143" dirty="0">
                <a:latin typeface="Arial" panose="020B0604020202020204" pitchFamily="34" charset="0"/>
                <a:ea typeface="SimHei" panose="02010609060101010101" pitchFamily="49" charset="-122"/>
              </a:rPr>
              <a:t>有效位</a:t>
            </a:r>
          </a:p>
        </p:txBody>
      </p:sp>
      <p:sp>
        <p:nvSpPr>
          <p:cNvPr id="51" name="Text Box 14">
            <a:extLst>
              <a:ext uri="{FF2B5EF4-FFF2-40B4-BE49-F238E27FC236}">
                <a16:creationId xmlns:a16="http://schemas.microsoft.com/office/drawing/2014/main" id="{26558E66-5C98-F34F-8929-57057701BE19}"/>
              </a:ext>
            </a:extLst>
          </p:cNvPr>
          <p:cNvSpPr txBox="1">
            <a:spLocks noChangeArrowheads="1"/>
          </p:cNvSpPr>
          <p:nvPr/>
        </p:nvSpPr>
        <p:spPr bwMode="auto">
          <a:xfrm>
            <a:off x="6920486" y="3873544"/>
            <a:ext cx="471051" cy="2655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143" dirty="0">
                <a:latin typeface="Arial" panose="020B0604020202020204" pitchFamily="34" charset="0"/>
                <a:ea typeface="SimHei" panose="02010609060101010101" pitchFamily="49" charset="-122"/>
              </a:rPr>
              <a:t>数据</a:t>
            </a:r>
          </a:p>
        </p:txBody>
      </p:sp>
      <p:sp>
        <p:nvSpPr>
          <p:cNvPr id="52" name="Text Box 18">
            <a:extLst>
              <a:ext uri="{FF2B5EF4-FFF2-40B4-BE49-F238E27FC236}">
                <a16:creationId xmlns:a16="http://schemas.microsoft.com/office/drawing/2014/main" id="{A6461E0A-88AE-6843-9AC5-29C46C54B815}"/>
              </a:ext>
            </a:extLst>
          </p:cNvPr>
          <p:cNvSpPr txBox="1">
            <a:spLocks noChangeArrowheads="1"/>
          </p:cNvSpPr>
          <p:nvPr/>
        </p:nvSpPr>
        <p:spPr bwMode="auto">
          <a:xfrm>
            <a:off x="4688218" y="4122934"/>
            <a:ext cx="538377" cy="366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algn="ctr" eaLnBrk="1" hangingPunct="1"/>
            <a:r>
              <a:rPr kumimoji="1" lang="zh-CN" altLang="en-US" dirty="0">
                <a:latin typeface="Arial" panose="020B0604020202020204" pitchFamily="34" charset="0"/>
                <a:ea typeface="SimHei" panose="02010609060101010101" pitchFamily="49" charset="-122"/>
              </a:rPr>
              <a:t>行</a:t>
            </a:r>
            <a:r>
              <a:rPr kumimoji="1" lang="en-US" altLang="zh-CN" dirty="0">
                <a:latin typeface="Arial" panose="020B0604020202020204" pitchFamily="34" charset="0"/>
                <a:ea typeface="SimHei" panose="02010609060101010101" pitchFamily="49" charset="-122"/>
              </a:rPr>
              <a:t>0</a:t>
            </a:r>
          </a:p>
        </p:txBody>
      </p:sp>
      <p:sp>
        <p:nvSpPr>
          <p:cNvPr id="53" name="Text Box 19">
            <a:extLst>
              <a:ext uri="{FF2B5EF4-FFF2-40B4-BE49-F238E27FC236}">
                <a16:creationId xmlns:a16="http://schemas.microsoft.com/office/drawing/2014/main" id="{86F85238-BD3B-2546-8ECD-F42CB7961DFB}"/>
              </a:ext>
            </a:extLst>
          </p:cNvPr>
          <p:cNvSpPr txBox="1">
            <a:spLocks noChangeArrowheads="1"/>
          </p:cNvSpPr>
          <p:nvPr/>
        </p:nvSpPr>
        <p:spPr bwMode="auto">
          <a:xfrm>
            <a:off x="4566390" y="5632336"/>
            <a:ext cx="782034" cy="366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algn="ctr" eaLnBrk="1" hangingPunct="1"/>
            <a:r>
              <a:rPr kumimoji="1" lang="zh-CN" altLang="en-US" dirty="0">
                <a:latin typeface="Arial" panose="020B0604020202020204" pitchFamily="34" charset="0"/>
                <a:ea typeface="SimHei" panose="02010609060101010101" pitchFamily="49" charset="-122"/>
              </a:rPr>
              <a:t>行</a:t>
            </a:r>
            <a:r>
              <a:rPr kumimoji="1" lang="en-US" altLang="zh-CN" dirty="0">
                <a:latin typeface="Arial" panose="020B0604020202020204" pitchFamily="34" charset="0"/>
                <a:ea typeface="SimHei" panose="02010609060101010101" pitchFamily="49" charset="-122"/>
              </a:rPr>
              <a:t>N-1</a:t>
            </a:r>
          </a:p>
        </p:txBody>
      </p:sp>
      <p:grpSp>
        <p:nvGrpSpPr>
          <p:cNvPr id="54" name="Group 53">
            <a:extLst>
              <a:ext uri="{FF2B5EF4-FFF2-40B4-BE49-F238E27FC236}">
                <a16:creationId xmlns:a16="http://schemas.microsoft.com/office/drawing/2014/main" id="{2EB68AB5-1D70-D548-8FB9-8A4D72A9F821}"/>
              </a:ext>
            </a:extLst>
          </p:cNvPr>
          <p:cNvGrpSpPr/>
          <p:nvPr/>
        </p:nvGrpSpPr>
        <p:grpSpPr>
          <a:xfrm>
            <a:off x="5253021" y="4143019"/>
            <a:ext cx="3056764" cy="1860971"/>
            <a:chOff x="5570708" y="3780937"/>
            <a:chExt cx="2791635" cy="1557731"/>
          </a:xfrm>
        </p:grpSpPr>
        <p:sp>
          <p:nvSpPr>
            <p:cNvPr id="55" name="Rectangle 10">
              <a:extLst>
                <a:ext uri="{FF2B5EF4-FFF2-40B4-BE49-F238E27FC236}">
                  <a16:creationId xmlns:a16="http://schemas.microsoft.com/office/drawing/2014/main" id="{38F1BE33-8DF4-634D-8437-78E992B026AE}"/>
                </a:ext>
              </a:extLst>
            </p:cNvPr>
            <p:cNvSpPr>
              <a:spLocks noChangeArrowheads="1"/>
            </p:cNvSpPr>
            <p:nvPr/>
          </p:nvSpPr>
          <p:spPr bwMode="auto">
            <a:xfrm>
              <a:off x="5572103" y="3792102"/>
              <a:ext cx="2774885" cy="154656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56" name="Line 11">
              <a:extLst>
                <a:ext uri="{FF2B5EF4-FFF2-40B4-BE49-F238E27FC236}">
                  <a16:creationId xmlns:a16="http://schemas.microsoft.com/office/drawing/2014/main" id="{BAF5CE75-378F-2A42-A185-3CF3B3D9B3F7}"/>
                </a:ext>
              </a:extLst>
            </p:cNvPr>
            <p:cNvSpPr>
              <a:spLocks noChangeShapeType="1"/>
            </p:cNvSpPr>
            <p:nvPr/>
          </p:nvSpPr>
          <p:spPr bwMode="auto">
            <a:xfrm>
              <a:off x="5965724" y="3790706"/>
              <a:ext cx="0" cy="15465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57" name="Line 15">
              <a:extLst>
                <a:ext uri="{FF2B5EF4-FFF2-40B4-BE49-F238E27FC236}">
                  <a16:creationId xmlns:a16="http://schemas.microsoft.com/office/drawing/2014/main" id="{1D5A44B8-2AD0-1341-8FCE-E3E9AABA9971}"/>
                </a:ext>
              </a:extLst>
            </p:cNvPr>
            <p:cNvSpPr>
              <a:spLocks noChangeShapeType="1"/>
            </p:cNvSpPr>
            <p:nvPr/>
          </p:nvSpPr>
          <p:spPr bwMode="auto">
            <a:xfrm>
              <a:off x="5570708" y="4068474"/>
              <a:ext cx="279163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58" name="Line 16">
              <a:extLst>
                <a:ext uri="{FF2B5EF4-FFF2-40B4-BE49-F238E27FC236}">
                  <a16:creationId xmlns:a16="http://schemas.microsoft.com/office/drawing/2014/main" id="{5663BE07-4335-834B-8C68-363B8D284B3F}"/>
                </a:ext>
              </a:extLst>
            </p:cNvPr>
            <p:cNvSpPr>
              <a:spLocks noChangeShapeType="1"/>
            </p:cNvSpPr>
            <p:nvPr/>
          </p:nvSpPr>
          <p:spPr bwMode="auto">
            <a:xfrm>
              <a:off x="5572103" y="5032984"/>
              <a:ext cx="277488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59" name="Line 17">
              <a:extLst>
                <a:ext uri="{FF2B5EF4-FFF2-40B4-BE49-F238E27FC236}">
                  <a16:creationId xmlns:a16="http://schemas.microsoft.com/office/drawing/2014/main" id="{8BA7216B-EE12-8A40-AD57-9827A1F20B39}"/>
                </a:ext>
              </a:extLst>
            </p:cNvPr>
            <p:cNvSpPr>
              <a:spLocks noChangeShapeType="1"/>
            </p:cNvSpPr>
            <p:nvPr/>
          </p:nvSpPr>
          <p:spPr bwMode="auto">
            <a:xfrm>
              <a:off x="5572103" y="4389512"/>
              <a:ext cx="277488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60" name="Text Box 26">
              <a:extLst>
                <a:ext uri="{FF2B5EF4-FFF2-40B4-BE49-F238E27FC236}">
                  <a16:creationId xmlns:a16="http://schemas.microsoft.com/office/drawing/2014/main" id="{DA80541A-1E4D-B44F-9B4B-9BB432A3A9F3}"/>
                </a:ext>
              </a:extLst>
            </p:cNvPr>
            <p:cNvSpPr txBox="1">
              <a:spLocks noChangeArrowheads="1"/>
            </p:cNvSpPr>
            <p:nvPr/>
          </p:nvSpPr>
          <p:spPr bwMode="auto">
            <a:xfrm>
              <a:off x="6837861" y="4533281"/>
              <a:ext cx="498556" cy="3948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vert="eaVert" wrap="squar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lang="en-US" altLang="zh-CN" sz="2374" dirty="0">
                  <a:latin typeface="Arial" panose="020B0604020202020204" pitchFamily="34" charset="0"/>
                  <a:ea typeface="SimHei" panose="02010609060101010101" pitchFamily="49" charset="-122"/>
                </a:rPr>
                <a:t>…</a:t>
              </a:r>
            </a:p>
          </p:txBody>
        </p:sp>
        <p:sp>
          <p:nvSpPr>
            <p:cNvPr id="61" name="Line 37">
              <a:extLst>
                <a:ext uri="{FF2B5EF4-FFF2-40B4-BE49-F238E27FC236}">
                  <a16:creationId xmlns:a16="http://schemas.microsoft.com/office/drawing/2014/main" id="{6FED7B36-E6A3-A146-9E4A-B19D9F3FE5F5}"/>
                </a:ext>
              </a:extLst>
            </p:cNvPr>
            <p:cNvSpPr>
              <a:spLocks noChangeShapeType="1"/>
            </p:cNvSpPr>
            <p:nvPr/>
          </p:nvSpPr>
          <p:spPr bwMode="auto">
            <a:xfrm>
              <a:off x="6296533" y="3780937"/>
              <a:ext cx="0" cy="1553544"/>
            </a:xfrm>
            <a:prstGeom prst="line">
              <a:avLst/>
            </a:prstGeom>
            <a:noFill/>
            <a:ln w="9525">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80957" tIns="40479" rIns="80957" bIns="40479" anchor="ctr">
              <a:spAutoFit/>
            </a:bodyPr>
            <a:lstStyle/>
            <a:p>
              <a:endParaRPr lang="zh-CN" altLang="en-US" dirty="0">
                <a:ea typeface="SimHei" panose="02010609060101010101" pitchFamily="49" charset="-122"/>
              </a:endParaRPr>
            </a:p>
          </p:txBody>
        </p:sp>
      </p:grpSp>
      <p:sp>
        <p:nvSpPr>
          <p:cNvPr id="7" name="Rectangle 6">
            <a:extLst>
              <a:ext uri="{FF2B5EF4-FFF2-40B4-BE49-F238E27FC236}">
                <a16:creationId xmlns:a16="http://schemas.microsoft.com/office/drawing/2014/main" id="{A1B355EB-E7F7-D24A-B98A-DB7201DD20ED}"/>
              </a:ext>
            </a:extLst>
          </p:cNvPr>
          <p:cNvSpPr/>
          <p:nvPr/>
        </p:nvSpPr>
        <p:spPr>
          <a:xfrm>
            <a:off x="1603417" y="6254179"/>
            <a:ext cx="5239552" cy="369332"/>
          </a:xfrm>
          <a:prstGeom prst="rect">
            <a:avLst/>
          </a:prstGeom>
        </p:spPr>
        <p:txBody>
          <a:bodyPr wrap="square">
            <a:spAutoFit/>
          </a:bodyPr>
          <a:lstStyle/>
          <a:p>
            <a:pPr algn="ctr"/>
            <a:r>
              <a:rPr lang="en-US" altLang="zh-CN" dirty="0">
                <a:solidFill>
                  <a:srgbClr val="0432FF"/>
                </a:solidFill>
                <a:latin typeface="+mn-lt"/>
                <a:ea typeface="SimHei" panose="02010609060101010101" pitchFamily="49" charset="-122"/>
              </a:rPr>
              <a:t>Cache</a:t>
            </a:r>
            <a:r>
              <a:rPr lang="zh-CN" altLang="en-US" dirty="0">
                <a:solidFill>
                  <a:srgbClr val="0432FF"/>
                </a:solidFill>
                <a:latin typeface="+mn-lt"/>
                <a:ea typeface="SimHei" panose="02010609060101010101" pitchFamily="49" charset="-122"/>
              </a:rPr>
              <a:t>与主存之间的数据传输以块</a:t>
            </a:r>
            <a:r>
              <a:rPr lang="en-US" altLang="zh-CN" dirty="0">
                <a:solidFill>
                  <a:srgbClr val="0432FF"/>
                </a:solidFill>
                <a:latin typeface="+mn-lt"/>
                <a:ea typeface="SimHei" panose="02010609060101010101" pitchFamily="49" charset="-122"/>
              </a:rPr>
              <a:t>(</a:t>
            </a:r>
            <a:r>
              <a:rPr lang="zh-CN" altLang="en-US" dirty="0">
                <a:solidFill>
                  <a:srgbClr val="0432FF"/>
                </a:solidFill>
                <a:latin typeface="+mn-lt"/>
                <a:ea typeface="SimHei" panose="02010609060101010101" pitchFamily="49" charset="-122"/>
              </a:rPr>
              <a:t>或行</a:t>
            </a:r>
            <a:r>
              <a:rPr lang="en-US" altLang="zh-CN" dirty="0">
                <a:solidFill>
                  <a:srgbClr val="0432FF"/>
                </a:solidFill>
                <a:latin typeface="+mn-lt"/>
                <a:ea typeface="SimHei" panose="02010609060101010101" pitchFamily="49" charset="-122"/>
              </a:rPr>
              <a:t>)</a:t>
            </a:r>
            <a:r>
              <a:rPr lang="zh-CN" altLang="en-US" dirty="0">
                <a:solidFill>
                  <a:srgbClr val="0432FF"/>
                </a:solidFill>
                <a:latin typeface="+mn-lt"/>
                <a:ea typeface="SimHei" panose="02010609060101010101" pitchFamily="49" charset="-122"/>
              </a:rPr>
              <a:t>为单位</a:t>
            </a:r>
            <a:endParaRPr lang="en-CN" dirty="0">
              <a:solidFill>
                <a:srgbClr val="0432FF"/>
              </a:solidFill>
              <a:latin typeface="+mn-lt"/>
              <a:ea typeface="SimHei" panose="02010609060101010101" pitchFamily="49" charset="-122"/>
            </a:endParaRPr>
          </a:p>
        </p:txBody>
      </p:sp>
      <p:sp>
        <p:nvSpPr>
          <p:cNvPr id="39" name="Text Box 25">
            <a:extLst>
              <a:ext uri="{FF2B5EF4-FFF2-40B4-BE49-F238E27FC236}">
                <a16:creationId xmlns:a16="http://schemas.microsoft.com/office/drawing/2014/main" id="{9857CEA3-013B-0142-A453-097E2FE032A9}"/>
              </a:ext>
            </a:extLst>
          </p:cNvPr>
          <p:cNvSpPr txBox="1">
            <a:spLocks noChangeArrowheads="1"/>
          </p:cNvSpPr>
          <p:nvPr/>
        </p:nvSpPr>
        <p:spPr bwMode="auto">
          <a:xfrm>
            <a:off x="4684454" y="4998126"/>
            <a:ext cx="545905" cy="3948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vert="eaVert" wrap="non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algn="ctr" eaLnBrk="1" hangingPunct="1"/>
            <a:r>
              <a:rPr lang="en-US" altLang="zh-CN" sz="2374" dirty="0">
                <a:latin typeface="Arial" panose="020B0604020202020204" pitchFamily="34" charset="0"/>
                <a:ea typeface="SimHei" panose="02010609060101010101" pitchFamily="49" charset="-122"/>
              </a:rPr>
              <a:t>…</a:t>
            </a:r>
          </a:p>
        </p:txBody>
      </p:sp>
      <p:sp>
        <p:nvSpPr>
          <p:cNvPr id="47" name="Text Box 18">
            <a:extLst>
              <a:ext uri="{FF2B5EF4-FFF2-40B4-BE49-F238E27FC236}">
                <a16:creationId xmlns:a16="http://schemas.microsoft.com/office/drawing/2014/main" id="{9C0578B3-299F-454D-BEB3-868A4A55EDB1}"/>
              </a:ext>
            </a:extLst>
          </p:cNvPr>
          <p:cNvSpPr txBox="1">
            <a:spLocks noChangeArrowheads="1"/>
          </p:cNvSpPr>
          <p:nvPr/>
        </p:nvSpPr>
        <p:spPr bwMode="auto">
          <a:xfrm>
            <a:off x="4688218" y="4498410"/>
            <a:ext cx="538377" cy="366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algn="ctr" eaLnBrk="1" hangingPunct="1"/>
            <a:r>
              <a:rPr kumimoji="1" lang="zh-CN" altLang="en-US" dirty="0">
                <a:latin typeface="Arial" panose="020B0604020202020204" pitchFamily="34" charset="0"/>
                <a:ea typeface="SimHei" panose="02010609060101010101" pitchFamily="49" charset="-122"/>
              </a:rPr>
              <a:t>行</a:t>
            </a:r>
            <a:r>
              <a:rPr kumimoji="1" lang="en-US" altLang="zh-CN" dirty="0">
                <a:latin typeface="Arial" panose="020B0604020202020204" pitchFamily="34" charset="0"/>
                <a:ea typeface="SimHei" panose="02010609060101010101" pitchFamily="49" charset="-122"/>
              </a:rPr>
              <a:t>1</a:t>
            </a:r>
          </a:p>
        </p:txBody>
      </p:sp>
    </p:spTree>
    <p:extLst>
      <p:ext uri="{BB962C8B-B14F-4D97-AF65-F5344CB8AC3E}">
        <p14:creationId xmlns:p14="http://schemas.microsoft.com/office/powerpoint/2010/main" val="2600120720"/>
      </p:ext>
    </p:extLst>
  </p:cSld>
  <p:clrMapOvr>
    <a:masterClrMapping/>
  </p:clrMapOvr>
  <mc:AlternateContent xmlns:mc="http://schemas.openxmlformats.org/markup-compatibility/2006" xmlns:p14="http://schemas.microsoft.com/office/powerpoint/2010/main">
    <mc:Choice Requires="p14">
      <p:transition spd="slow" p14:dur="2000" advTm="23648"/>
    </mc:Choice>
    <mc:Fallback xmlns="">
      <p:transition spd="slow" advTm="23648"/>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00" name="Rectangle 50"/>
          <p:cNvSpPr>
            <a:spLocks noGrp="1" noChangeArrowheads="1"/>
          </p:cNvSpPr>
          <p:nvPr>
            <p:ph type="body" idx="1"/>
          </p:nvPr>
        </p:nvSpPr>
        <p:spPr>
          <a:xfrm>
            <a:off x="242795" y="1567677"/>
            <a:ext cx="2930712" cy="4846570"/>
          </a:xfrm>
        </p:spPr>
        <p:txBody>
          <a:bodyPr/>
          <a:lstStyle/>
          <a:p>
            <a:r>
              <a:rPr lang="zh-CN" altLang="en-CN" sz="2800" dirty="0">
                <a:latin typeface="Arial" panose="020B0604020202020204" pitchFamily="34" charset="0"/>
              </a:rPr>
              <a:t>直接映像</a:t>
            </a:r>
            <a:endParaRPr lang="en-US" altLang="zh-CN" sz="2800" dirty="0">
              <a:latin typeface="Arial" panose="020B0604020202020204" pitchFamily="34" charset="0"/>
            </a:endParaRPr>
          </a:p>
          <a:p>
            <a:pPr lvl="1"/>
            <a:r>
              <a:rPr lang="zh-CN" altLang="en-US" sz="2400" dirty="0"/>
              <a:t>主存块只能装入缓存中</a:t>
            </a:r>
            <a:r>
              <a:rPr lang="zh-CN" altLang="en-US" sz="2400" dirty="0">
                <a:solidFill>
                  <a:srgbClr val="0432FF"/>
                </a:solidFill>
              </a:rPr>
              <a:t>唯一的特定行</a:t>
            </a:r>
            <a:endParaRPr lang="en-US" altLang="zh-CN" sz="2400" dirty="0">
              <a:solidFill>
                <a:srgbClr val="0432FF"/>
              </a:solidFill>
            </a:endParaRPr>
          </a:p>
          <a:p>
            <a:pPr eaLnBrk="1" hangingPunct="1"/>
            <a:r>
              <a:rPr lang="zh-CN" altLang="en-US" sz="2800" dirty="0">
                <a:latin typeface="Arial" panose="020B0604020202020204" pitchFamily="34" charset="0"/>
              </a:rPr>
              <a:t>全相联</a:t>
            </a:r>
            <a:endParaRPr lang="en-US" altLang="zh-CN" sz="2800" dirty="0">
              <a:latin typeface="Arial" panose="020B0604020202020204" pitchFamily="34" charset="0"/>
            </a:endParaRPr>
          </a:p>
          <a:p>
            <a:pPr lvl="1"/>
            <a:r>
              <a:rPr lang="zh-CN" altLang="en-US" sz="2400" dirty="0">
                <a:latin typeface="Arial" panose="020B0604020202020204" pitchFamily="34" charset="0"/>
              </a:rPr>
              <a:t>主存块能存到缓存</a:t>
            </a:r>
            <a:r>
              <a:rPr lang="zh-CN" altLang="en-US" sz="2400" dirty="0">
                <a:solidFill>
                  <a:srgbClr val="0432FF"/>
                </a:solidFill>
                <a:latin typeface="Arial" panose="020B0604020202020204" pitchFamily="34" charset="0"/>
              </a:rPr>
              <a:t>任意一行</a:t>
            </a:r>
            <a:endParaRPr lang="en-US" altLang="zh-CN" sz="2400" dirty="0">
              <a:solidFill>
                <a:srgbClr val="0432FF"/>
              </a:solidFill>
              <a:latin typeface="Arial" panose="020B0604020202020204" pitchFamily="34" charset="0"/>
            </a:endParaRPr>
          </a:p>
          <a:p>
            <a:r>
              <a:rPr lang="zh-CN" altLang="en-US" sz="2800" dirty="0"/>
              <a:t>组相联</a:t>
            </a:r>
            <a:endParaRPr lang="en-US" altLang="zh-CN" sz="2800" dirty="0"/>
          </a:p>
          <a:p>
            <a:pPr lvl="1"/>
            <a:r>
              <a:rPr lang="zh-CN" altLang="en-US" sz="2400" dirty="0"/>
              <a:t>主存块能装入缓存中</a:t>
            </a:r>
            <a:r>
              <a:rPr lang="zh-CN" altLang="en-US" sz="2400" dirty="0">
                <a:solidFill>
                  <a:srgbClr val="0432FF"/>
                </a:solidFill>
              </a:rPr>
              <a:t>唯一特定组</a:t>
            </a:r>
            <a:r>
              <a:rPr lang="zh-CN" altLang="en-US" sz="2400" dirty="0"/>
              <a:t>的</a:t>
            </a:r>
            <a:r>
              <a:rPr lang="zh-CN" altLang="en-US" sz="2400" dirty="0">
                <a:solidFill>
                  <a:srgbClr val="0432FF"/>
                </a:solidFill>
              </a:rPr>
              <a:t>若干行</a:t>
            </a:r>
            <a:endParaRPr lang="en-US" altLang="zh-CN" sz="2400" dirty="0">
              <a:solidFill>
                <a:srgbClr val="0432FF"/>
              </a:solidFill>
            </a:endParaRPr>
          </a:p>
          <a:p>
            <a:pPr lvl="1"/>
            <a:endParaRPr lang="en-US" altLang="zh-CN" sz="2400" dirty="0"/>
          </a:p>
          <a:p>
            <a:pPr lvl="1"/>
            <a:endParaRPr lang="zh-CN" altLang="en-US" sz="2400" dirty="0"/>
          </a:p>
          <a:p>
            <a:pPr lvl="1"/>
            <a:endParaRPr lang="zh-CN" altLang="en-US" sz="2400" b="0" dirty="0">
              <a:latin typeface="Arial" panose="020B0604020202020204" pitchFamily="34" charset="0"/>
            </a:endParaRPr>
          </a:p>
        </p:txBody>
      </p:sp>
      <p:sp>
        <p:nvSpPr>
          <p:cNvPr id="2" name="Slide Number Placeholder 1">
            <a:extLst>
              <a:ext uri="{FF2B5EF4-FFF2-40B4-BE49-F238E27FC236}">
                <a16:creationId xmlns:a16="http://schemas.microsoft.com/office/drawing/2014/main" id="{A8C38AB1-8BCA-154E-A065-B4EAC608B7B7}"/>
              </a:ext>
            </a:extLst>
          </p:cNvPr>
          <p:cNvSpPr>
            <a:spLocks noGrp="1"/>
          </p:cNvSpPr>
          <p:nvPr>
            <p:ph type="sldNum" sz="quarter" idx="12"/>
          </p:nvPr>
        </p:nvSpPr>
        <p:spPr/>
        <p:txBody>
          <a:bodyPr/>
          <a:lstStyle/>
          <a:p>
            <a:fld id="{14659731-6BD7-46E7-8D3C-2F3AC07E20B1}" type="slidenum">
              <a:rPr lang="en-US" altLang="zh-CN" smtClean="0"/>
              <a:pPr/>
              <a:t>47</a:t>
            </a:fld>
            <a:endParaRPr lang="en-US" altLang="zh-CN"/>
          </a:p>
        </p:txBody>
      </p:sp>
      <p:pic>
        <p:nvPicPr>
          <p:cNvPr id="4" name="Picture 3">
            <a:extLst>
              <a:ext uri="{FF2B5EF4-FFF2-40B4-BE49-F238E27FC236}">
                <a16:creationId xmlns:a16="http://schemas.microsoft.com/office/drawing/2014/main" id="{C5BFC0CA-39A1-804C-8CBB-654243CC28D2}"/>
              </a:ext>
            </a:extLst>
          </p:cNvPr>
          <p:cNvPicPr>
            <a:picLocks noChangeAspect="1"/>
          </p:cNvPicPr>
          <p:nvPr/>
        </p:nvPicPr>
        <p:blipFill>
          <a:blip r:embed="rId3"/>
          <a:stretch>
            <a:fillRect/>
          </a:stretch>
        </p:blipFill>
        <p:spPr>
          <a:xfrm>
            <a:off x="6028044" y="1339073"/>
            <a:ext cx="2873161" cy="2074207"/>
          </a:xfrm>
          <a:prstGeom prst="rect">
            <a:avLst/>
          </a:prstGeom>
        </p:spPr>
      </p:pic>
      <p:pic>
        <p:nvPicPr>
          <p:cNvPr id="5" name="Picture 4">
            <a:extLst>
              <a:ext uri="{FF2B5EF4-FFF2-40B4-BE49-F238E27FC236}">
                <a16:creationId xmlns:a16="http://schemas.microsoft.com/office/drawing/2014/main" id="{80E79DF0-654A-3140-9B8D-4F51E4880305}"/>
              </a:ext>
            </a:extLst>
          </p:cNvPr>
          <p:cNvPicPr>
            <a:picLocks noChangeAspect="1"/>
          </p:cNvPicPr>
          <p:nvPr/>
        </p:nvPicPr>
        <p:blipFill>
          <a:blip r:embed="rId4"/>
          <a:stretch>
            <a:fillRect/>
          </a:stretch>
        </p:blipFill>
        <p:spPr>
          <a:xfrm>
            <a:off x="3080519" y="1272381"/>
            <a:ext cx="2573741" cy="2765936"/>
          </a:xfrm>
          <a:prstGeom prst="rect">
            <a:avLst/>
          </a:prstGeom>
        </p:spPr>
      </p:pic>
      <p:pic>
        <p:nvPicPr>
          <p:cNvPr id="7" name="Picture 6">
            <a:extLst>
              <a:ext uri="{FF2B5EF4-FFF2-40B4-BE49-F238E27FC236}">
                <a16:creationId xmlns:a16="http://schemas.microsoft.com/office/drawing/2014/main" id="{89CA135B-E4DA-2D45-9564-8758E622C668}"/>
              </a:ext>
            </a:extLst>
          </p:cNvPr>
          <p:cNvPicPr>
            <a:picLocks noChangeAspect="1"/>
          </p:cNvPicPr>
          <p:nvPr/>
        </p:nvPicPr>
        <p:blipFill>
          <a:blip r:embed="rId5"/>
          <a:stretch>
            <a:fillRect/>
          </a:stretch>
        </p:blipFill>
        <p:spPr>
          <a:xfrm>
            <a:off x="3458815" y="3990962"/>
            <a:ext cx="5442390" cy="2762931"/>
          </a:xfrm>
          <a:prstGeom prst="rect">
            <a:avLst/>
          </a:prstGeom>
          <a:solidFill>
            <a:schemeClr val="bg1"/>
          </a:solidFill>
        </p:spPr>
      </p:pic>
      <p:sp>
        <p:nvSpPr>
          <p:cNvPr id="8" name="矩形 45">
            <a:extLst>
              <a:ext uri="{FF2B5EF4-FFF2-40B4-BE49-F238E27FC236}">
                <a16:creationId xmlns:a16="http://schemas.microsoft.com/office/drawing/2014/main" id="{667EFC96-3EE8-FD72-A104-FE6C0DA1E01D}"/>
              </a:ext>
            </a:extLst>
          </p:cNvPr>
          <p:cNvSpPr/>
          <p:nvPr/>
        </p:nvSpPr>
        <p:spPr bwMode="auto">
          <a:xfrm>
            <a:off x="6281367" y="3443297"/>
            <a:ext cx="982076" cy="236909"/>
          </a:xfrm>
          <a:prstGeom prst="rect">
            <a:avLst/>
          </a:prstGeom>
          <a:solidFill>
            <a:srgbClr val="AC7942">
              <a:alpha val="50588"/>
            </a:srgbClr>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kumimoji="0" lang="zh-CN" altLang="en-US" sz="1200" u="none" strike="noStrike" cap="none" normalizeH="0" baseline="0" dirty="0">
                <a:ln>
                  <a:noFill/>
                </a:ln>
                <a:solidFill>
                  <a:srgbClr val="AB7942"/>
                </a:solidFill>
                <a:effectLst/>
                <a:latin typeface="Arial" panose="020B0604020202020204" pitchFamily="34" charset="0"/>
                <a:ea typeface="SimHei" panose="02010609060101010101" pitchFamily="49" charset="-122"/>
              </a:rPr>
              <a:t>标签</a:t>
            </a:r>
          </a:p>
        </p:txBody>
      </p:sp>
      <p:sp>
        <p:nvSpPr>
          <p:cNvPr id="9" name="矩形 46">
            <a:extLst>
              <a:ext uri="{FF2B5EF4-FFF2-40B4-BE49-F238E27FC236}">
                <a16:creationId xmlns:a16="http://schemas.microsoft.com/office/drawing/2014/main" id="{D497C8AB-308F-76BB-E93C-EBC13F3A135D}"/>
              </a:ext>
            </a:extLst>
          </p:cNvPr>
          <p:cNvSpPr/>
          <p:nvPr/>
        </p:nvSpPr>
        <p:spPr bwMode="auto">
          <a:xfrm>
            <a:off x="7263443" y="3443297"/>
            <a:ext cx="982079" cy="236909"/>
          </a:xfrm>
          <a:prstGeom prst="rect">
            <a:avLst/>
          </a:prstGeom>
          <a:solidFill>
            <a:schemeClr val="accent5"/>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200" dirty="0">
                <a:solidFill>
                  <a:srgbClr val="FF0000"/>
                </a:solidFill>
                <a:ea typeface="SimHei" panose="02010609060101010101" pitchFamily="49" charset="-122"/>
              </a:rPr>
              <a:t>块内地址</a:t>
            </a:r>
          </a:p>
        </p:txBody>
      </p:sp>
      <p:sp>
        <p:nvSpPr>
          <p:cNvPr id="10" name="文本框 9">
            <a:extLst>
              <a:ext uri="{FF2B5EF4-FFF2-40B4-BE49-F238E27FC236}">
                <a16:creationId xmlns:a16="http://schemas.microsoft.com/office/drawing/2014/main" id="{BFB1F073-1F52-97DA-9068-4BE978B5C719}"/>
              </a:ext>
            </a:extLst>
          </p:cNvPr>
          <p:cNvSpPr txBox="1"/>
          <p:nvPr/>
        </p:nvSpPr>
        <p:spPr>
          <a:xfrm>
            <a:off x="3334505" y="3979741"/>
            <a:ext cx="2051265" cy="369332"/>
          </a:xfrm>
          <a:prstGeom prst="rect">
            <a:avLst/>
          </a:prstGeom>
          <a:noFill/>
        </p:spPr>
        <p:txBody>
          <a:bodyPr wrap="square">
            <a:spAutoFit/>
          </a:bodyPr>
          <a:lstStyle/>
          <a:p>
            <a:pPr algn="ctr"/>
            <a:r>
              <a:rPr lang="zh-CN" altLang="en-US" sz="1800" dirty="0">
                <a:solidFill>
                  <a:srgbClr val="1A49EA"/>
                </a:solidFill>
                <a:latin typeface="Arial" panose="020B0604020202020204" pitchFamily="34" charset="0"/>
                <a:ea typeface="SimHei" panose="02010609060101010101" pitchFamily="49" charset="-122"/>
              </a:rPr>
              <a:t>（</a:t>
            </a:r>
            <a:r>
              <a:rPr lang="en-US" altLang="zh-CN" sz="1800" dirty="0">
                <a:solidFill>
                  <a:srgbClr val="1A49EA"/>
                </a:solidFill>
                <a:latin typeface="Arial" panose="020B0604020202020204" pitchFamily="34" charset="0"/>
                <a:ea typeface="SimHei" panose="02010609060101010101" pitchFamily="49" charset="-122"/>
              </a:rPr>
              <a:t>1</a:t>
            </a:r>
            <a:r>
              <a:rPr lang="zh-CN" altLang="en-US" sz="1800" dirty="0">
                <a:solidFill>
                  <a:srgbClr val="1A49EA"/>
                </a:solidFill>
                <a:latin typeface="Arial" panose="020B0604020202020204" pitchFamily="34" charset="0"/>
                <a:ea typeface="SimHei" panose="02010609060101010101" pitchFamily="49" charset="-122"/>
              </a:rPr>
              <a:t>）</a:t>
            </a:r>
            <a:r>
              <a:rPr lang="zh-CN" altLang="en-CN" sz="1800" dirty="0">
                <a:solidFill>
                  <a:srgbClr val="1A49EA"/>
                </a:solidFill>
                <a:latin typeface="Arial" panose="020B0604020202020204" pitchFamily="34" charset="0"/>
                <a:ea typeface="SimHei" panose="02010609060101010101" pitchFamily="49" charset="-122"/>
              </a:rPr>
              <a:t>直接映像</a:t>
            </a:r>
            <a:endParaRPr lang="en-US" altLang="zh-CN" sz="1800" dirty="0">
              <a:solidFill>
                <a:srgbClr val="1A49EA"/>
              </a:solidFill>
              <a:latin typeface="Arial" panose="020B0604020202020204" pitchFamily="34" charset="0"/>
              <a:ea typeface="SimHei" panose="02010609060101010101" pitchFamily="49" charset="-122"/>
            </a:endParaRPr>
          </a:p>
        </p:txBody>
      </p:sp>
      <p:sp>
        <p:nvSpPr>
          <p:cNvPr id="11" name="文本框 10">
            <a:extLst>
              <a:ext uri="{FF2B5EF4-FFF2-40B4-BE49-F238E27FC236}">
                <a16:creationId xmlns:a16="http://schemas.microsoft.com/office/drawing/2014/main" id="{E0A9E911-5D88-2EAD-D580-FBB1760EBF37}"/>
              </a:ext>
            </a:extLst>
          </p:cNvPr>
          <p:cNvSpPr txBox="1"/>
          <p:nvPr/>
        </p:nvSpPr>
        <p:spPr>
          <a:xfrm>
            <a:off x="6011231" y="3979741"/>
            <a:ext cx="2051265" cy="369332"/>
          </a:xfrm>
          <a:prstGeom prst="rect">
            <a:avLst/>
          </a:prstGeom>
          <a:noFill/>
        </p:spPr>
        <p:txBody>
          <a:bodyPr wrap="square">
            <a:spAutoFit/>
          </a:bodyPr>
          <a:lstStyle/>
          <a:p>
            <a:pPr algn="ctr"/>
            <a:r>
              <a:rPr lang="zh-CN" altLang="en-US" sz="1800" dirty="0">
                <a:solidFill>
                  <a:srgbClr val="1A49EA"/>
                </a:solidFill>
                <a:latin typeface="Arial" panose="020B0604020202020204" pitchFamily="34" charset="0"/>
                <a:ea typeface="SimHei" panose="02010609060101010101" pitchFamily="49" charset="-122"/>
              </a:rPr>
              <a:t>（</a:t>
            </a:r>
            <a:r>
              <a:rPr lang="en-US" altLang="zh-CN" dirty="0">
                <a:solidFill>
                  <a:srgbClr val="1A49EA"/>
                </a:solidFill>
                <a:latin typeface="Arial" panose="020B0604020202020204" pitchFamily="34" charset="0"/>
                <a:ea typeface="SimHei" panose="02010609060101010101" pitchFamily="49" charset="-122"/>
              </a:rPr>
              <a:t>2</a:t>
            </a:r>
            <a:r>
              <a:rPr lang="zh-CN" altLang="en-US" sz="1800" dirty="0">
                <a:solidFill>
                  <a:srgbClr val="1A49EA"/>
                </a:solidFill>
                <a:latin typeface="Arial" panose="020B0604020202020204" pitchFamily="34" charset="0"/>
                <a:ea typeface="SimHei" panose="02010609060101010101" pitchFamily="49" charset="-122"/>
              </a:rPr>
              <a:t>）</a:t>
            </a:r>
            <a:r>
              <a:rPr lang="zh-CN" altLang="en-US" dirty="0">
                <a:solidFill>
                  <a:srgbClr val="1A49EA"/>
                </a:solidFill>
                <a:latin typeface="Arial" panose="020B0604020202020204" pitchFamily="34" charset="0"/>
                <a:ea typeface="SimHei" panose="02010609060101010101" pitchFamily="49" charset="-122"/>
              </a:rPr>
              <a:t>全相联</a:t>
            </a:r>
            <a:endParaRPr lang="en-US" altLang="zh-CN" sz="1800" dirty="0">
              <a:solidFill>
                <a:srgbClr val="1A49EA"/>
              </a:solidFill>
              <a:latin typeface="Arial" panose="020B0604020202020204" pitchFamily="34" charset="0"/>
              <a:ea typeface="SimHei" panose="02010609060101010101" pitchFamily="49" charset="-122"/>
            </a:endParaRPr>
          </a:p>
        </p:txBody>
      </p:sp>
      <p:sp>
        <p:nvSpPr>
          <p:cNvPr id="12" name="文本框 11">
            <a:extLst>
              <a:ext uri="{FF2B5EF4-FFF2-40B4-BE49-F238E27FC236}">
                <a16:creationId xmlns:a16="http://schemas.microsoft.com/office/drawing/2014/main" id="{1D2776D6-C7C7-5BE8-2F21-DA8BD37A9388}"/>
              </a:ext>
            </a:extLst>
          </p:cNvPr>
          <p:cNvSpPr txBox="1"/>
          <p:nvPr/>
        </p:nvSpPr>
        <p:spPr>
          <a:xfrm>
            <a:off x="4800600" y="6479648"/>
            <a:ext cx="2051265" cy="369332"/>
          </a:xfrm>
          <a:prstGeom prst="rect">
            <a:avLst/>
          </a:prstGeom>
          <a:noFill/>
        </p:spPr>
        <p:txBody>
          <a:bodyPr wrap="square">
            <a:spAutoFit/>
          </a:bodyPr>
          <a:lstStyle/>
          <a:p>
            <a:pPr algn="ctr"/>
            <a:r>
              <a:rPr lang="zh-CN" altLang="en-US" sz="1800" dirty="0">
                <a:solidFill>
                  <a:srgbClr val="1A49EA"/>
                </a:solidFill>
                <a:latin typeface="Arial" panose="020B0604020202020204" pitchFamily="34" charset="0"/>
                <a:ea typeface="SimHei" panose="02010609060101010101" pitchFamily="49" charset="-122"/>
              </a:rPr>
              <a:t>（</a:t>
            </a:r>
            <a:r>
              <a:rPr lang="en-US" altLang="zh-CN" sz="1800" dirty="0">
                <a:solidFill>
                  <a:srgbClr val="1A49EA"/>
                </a:solidFill>
                <a:latin typeface="Arial" panose="020B0604020202020204" pitchFamily="34" charset="0"/>
                <a:ea typeface="SimHei" panose="02010609060101010101" pitchFamily="49" charset="-122"/>
              </a:rPr>
              <a:t>3</a:t>
            </a:r>
            <a:r>
              <a:rPr lang="zh-CN" altLang="en-US" sz="1800" dirty="0">
                <a:solidFill>
                  <a:srgbClr val="1A49EA"/>
                </a:solidFill>
                <a:latin typeface="Arial" panose="020B0604020202020204" pitchFamily="34" charset="0"/>
                <a:ea typeface="SimHei" panose="02010609060101010101" pitchFamily="49" charset="-122"/>
              </a:rPr>
              <a:t>）组</a:t>
            </a:r>
            <a:r>
              <a:rPr lang="zh-CN" altLang="en-US" dirty="0">
                <a:solidFill>
                  <a:srgbClr val="1A49EA"/>
                </a:solidFill>
                <a:latin typeface="Arial" panose="020B0604020202020204" pitchFamily="34" charset="0"/>
                <a:ea typeface="SimHei" panose="02010609060101010101" pitchFamily="49" charset="-122"/>
              </a:rPr>
              <a:t>相联</a:t>
            </a:r>
            <a:endParaRPr lang="en-US" altLang="zh-CN" sz="1800" dirty="0">
              <a:solidFill>
                <a:srgbClr val="1A49EA"/>
              </a:solidFill>
              <a:latin typeface="Arial" panose="020B0604020202020204" pitchFamily="34" charset="0"/>
              <a:ea typeface="SimHei" panose="02010609060101010101" pitchFamily="49" charset="-122"/>
            </a:endParaRPr>
          </a:p>
        </p:txBody>
      </p:sp>
      <p:sp>
        <p:nvSpPr>
          <p:cNvPr id="15" name="标题 1">
            <a:extLst>
              <a:ext uri="{FF2B5EF4-FFF2-40B4-BE49-F238E27FC236}">
                <a16:creationId xmlns:a16="http://schemas.microsoft.com/office/drawing/2014/main" id="{12D5A686-58CD-1A53-6F46-73DEAF97A4AB}"/>
              </a:ext>
            </a:extLst>
          </p:cNvPr>
          <p:cNvSpPr>
            <a:spLocks noGrp="1"/>
          </p:cNvSpPr>
          <p:nvPr>
            <p:ph type="title"/>
          </p:nvPr>
        </p:nvSpPr>
        <p:spPr>
          <a:xfrm>
            <a:off x="457200" y="136525"/>
            <a:ext cx="8229600" cy="1143000"/>
          </a:xfrm>
        </p:spPr>
        <p:txBody>
          <a:bodyPr/>
          <a:lstStyle/>
          <a:p>
            <a:r>
              <a:rPr lang="en-US" altLang="zh-CN" dirty="0"/>
              <a:t>Cache</a:t>
            </a:r>
            <a:r>
              <a:rPr lang="zh-CN" altLang="en-US" dirty="0"/>
              <a:t>技术：</a:t>
            </a:r>
            <a:r>
              <a:rPr lang="en-US" altLang="zh-CN" dirty="0"/>
              <a:t>Cache</a:t>
            </a:r>
            <a:r>
              <a:rPr lang="zh-CN" altLang="en-US" dirty="0"/>
              <a:t>地址映像方式</a:t>
            </a:r>
          </a:p>
        </p:txBody>
      </p:sp>
    </p:spTree>
    <p:extLst>
      <p:ext uri="{BB962C8B-B14F-4D97-AF65-F5344CB8AC3E}">
        <p14:creationId xmlns:p14="http://schemas.microsoft.com/office/powerpoint/2010/main" val="683195170"/>
      </p:ext>
    </p:extLst>
  </p:cSld>
  <p:clrMapOvr>
    <a:masterClrMapping/>
  </p:clrMapOvr>
  <mc:AlternateContent xmlns:mc="http://schemas.openxmlformats.org/markup-compatibility/2006" xmlns:p14="http://schemas.microsoft.com/office/powerpoint/2010/main">
    <mc:Choice Requires="p14">
      <p:transition spd="slow" p14:dur="2000" advTm="3690"/>
    </mc:Choice>
    <mc:Fallback xmlns="">
      <p:transition spd="slow" advTm="369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59143-A02A-4166-9B46-6435F5E75761}"/>
              </a:ext>
            </a:extLst>
          </p:cNvPr>
          <p:cNvSpPr>
            <a:spLocks noGrp="1"/>
          </p:cNvSpPr>
          <p:nvPr>
            <p:ph type="title"/>
          </p:nvPr>
        </p:nvSpPr>
        <p:spPr/>
        <p:txBody>
          <a:bodyPr/>
          <a:lstStyle/>
          <a:p>
            <a:r>
              <a:rPr lang="en-US" altLang="zh-CN" sz="4000" dirty="0">
                <a:solidFill>
                  <a:schemeClr val="tx1"/>
                </a:solidFill>
              </a:rPr>
              <a:t>Cache</a:t>
            </a:r>
            <a:r>
              <a:rPr lang="zh-CN" altLang="en-US" sz="4000" dirty="0">
                <a:solidFill>
                  <a:schemeClr val="tx1"/>
                </a:solidFill>
              </a:rPr>
              <a:t>技术：</a:t>
            </a:r>
            <a:r>
              <a:rPr lang="en-US" altLang="zh-CN" sz="4000" dirty="0">
                <a:solidFill>
                  <a:schemeClr val="tx1"/>
                </a:solidFill>
              </a:rPr>
              <a:t>Cache</a:t>
            </a:r>
            <a:r>
              <a:rPr lang="zh-CN" altLang="en-US" sz="4000" dirty="0">
                <a:solidFill>
                  <a:schemeClr val="tx1"/>
                </a:solidFill>
              </a:rPr>
              <a:t>地址映像</a:t>
            </a:r>
            <a:endParaRPr lang="zh-CN" altLang="en-US" dirty="0">
              <a:solidFill>
                <a:schemeClr val="tx1"/>
              </a:solidFill>
            </a:endParaRPr>
          </a:p>
        </p:txBody>
      </p:sp>
      <p:sp>
        <p:nvSpPr>
          <p:cNvPr id="3" name="内容占位符 2">
            <a:extLst>
              <a:ext uri="{FF2B5EF4-FFF2-40B4-BE49-F238E27FC236}">
                <a16:creationId xmlns:a16="http://schemas.microsoft.com/office/drawing/2014/main" id="{587F2CCD-FAF3-4270-B3C2-C4DB30E67EA4}"/>
              </a:ext>
            </a:extLst>
          </p:cNvPr>
          <p:cNvSpPr>
            <a:spLocks noGrp="1"/>
          </p:cNvSpPr>
          <p:nvPr>
            <p:ph idx="1"/>
          </p:nvPr>
        </p:nvSpPr>
        <p:spPr>
          <a:xfrm>
            <a:off x="457200" y="1551432"/>
            <a:ext cx="8229600" cy="4952885"/>
          </a:xfrm>
        </p:spPr>
        <p:txBody>
          <a:bodyPr/>
          <a:lstStyle/>
          <a:p>
            <a:r>
              <a:rPr lang="zh-CN" altLang="en-US" sz="2800" dirty="0">
                <a:solidFill>
                  <a:srgbClr val="0432FF"/>
                </a:solidFill>
              </a:rPr>
              <a:t>缓存技术基础：</a:t>
            </a:r>
            <a:r>
              <a:rPr lang="zh-CN" altLang="en-US" sz="2800" dirty="0"/>
              <a:t>三种主流的</a:t>
            </a:r>
            <a:r>
              <a:rPr lang="en-US" altLang="zh-CN" sz="2800" dirty="0"/>
              <a:t>Cache</a:t>
            </a:r>
            <a:r>
              <a:rPr lang="zh-CN" altLang="en-US" sz="2800" dirty="0"/>
              <a:t>地址映像</a:t>
            </a:r>
            <a:endParaRPr lang="en-US" altLang="zh-CN" sz="2800" dirty="0"/>
          </a:p>
          <a:p>
            <a:pPr lvl="1"/>
            <a:r>
              <a:rPr lang="zh-CN" altLang="en-US" sz="2200" dirty="0">
                <a:solidFill>
                  <a:srgbClr val="0432FF"/>
                </a:solidFill>
              </a:rPr>
              <a:t>主存地址：</a:t>
            </a:r>
            <a:endParaRPr lang="en-US" altLang="zh-CN" sz="2200" dirty="0">
              <a:solidFill>
                <a:srgbClr val="0432FF"/>
              </a:solidFill>
            </a:endParaRPr>
          </a:p>
          <a:p>
            <a:pPr lvl="1"/>
            <a:r>
              <a:rPr lang="zh-CN" altLang="en-US" sz="2200" dirty="0">
                <a:solidFill>
                  <a:srgbClr val="0432FF"/>
                </a:solidFill>
              </a:rPr>
              <a:t>全相联映像</a:t>
            </a:r>
            <a:r>
              <a:rPr lang="en-US" altLang="zh-CN" sz="2200" dirty="0"/>
              <a:t>: </a:t>
            </a:r>
            <a:r>
              <a:rPr lang="zh-CN" altLang="en-US" sz="2200" b="0" dirty="0"/>
              <a:t>主存块可以放在</a:t>
            </a:r>
            <a:r>
              <a:rPr lang="en-US" altLang="zh-CN" sz="2200" b="0" dirty="0"/>
              <a:t>Cache</a:t>
            </a:r>
            <a:r>
              <a:rPr lang="zh-CN" altLang="en-US" sz="2200" b="0" dirty="0"/>
              <a:t>的任意行中</a:t>
            </a:r>
            <a:endParaRPr lang="en-US" altLang="zh-CN" sz="2200" b="0" dirty="0"/>
          </a:p>
          <a:p>
            <a:pPr lvl="1"/>
            <a:endParaRPr lang="en-US" altLang="zh-CN" sz="2200" dirty="0"/>
          </a:p>
          <a:p>
            <a:pPr lvl="1"/>
            <a:r>
              <a:rPr lang="zh-CN" altLang="en-US" sz="2200" dirty="0">
                <a:solidFill>
                  <a:srgbClr val="0432FF"/>
                </a:solidFill>
              </a:rPr>
              <a:t>直接映像</a:t>
            </a:r>
            <a:r>
              <a:rPr lang="en-US" altLang="zh-CN" sz="2200" dirty="0"/>
              <a:t>: </a:t>
            </a:r>
            <a:r>
              <a:rPr lang="zh-CN" altLang="en-US" sz="2200" b="0" dirty="0"/>
              <a:t>主存块只可能在</a:t>
            </a:r>
            <a:r>
              <a:rPr lang="en-US" altLang="zh-CN" sz="2200" b="0" dirty="0"/>
              <a:t>Cache</a:t>
            </a:r>
            <a:r>
              <a:rPr lang="zh-CN" altLang="en-US" sz="2200" b="0" dirty="0"/>
              <a:t>的某个特定行中</a:t>
            </a:r>
            <a:endParaRPr lang="en-US" altLang="zh-CN" sz="2200" b="0" dirty="0"/>
          </a:p>
          <a:p>
            <a:pPr marL="1828800" lvl="4" indent="0">
              <a:buNone/>
            </a:pPr>
            <a:endParaRPr lang="en-US" altLang="zh-CN" sz="2200" dirty="0"/>
          </a:p>
          <a:p>
            <a:pPr lvl="1"/>
            <a:r>
              <a:rPr lang="zh-CN" altLang="en-US" sz="2200" dirty="0">
                <a:solidFill>
                  <a:srgbClr val="0432FF"/>
                </a:solidFill>
              </a:rPr>
              <a:t>组相联映像</a:t>
            </a:r>
            <a:r>
              <a:rPr lang="en-US" altLang="zh-CN" sz="2200" dirty="0"/>
              <a:t>: </a:t>
            </a:r>
            <a:r>
              <a:rPr lang="zh-CN" altLang="en-US" sz="2200" b="0" dirty="0"/>
              <a:t>主存块可以放在</a:t>
            </a:r>
            <a:r>
              <a:rPr lang="en-US" altLang="zh-CN" sz="2200" b="0" dirty="0"/>
              <a:t>Cache</a:t>
            </a:r>
            <a:r>
              <a:rPr lang="zh-CN" altLang="en-US" sz="2200" b="0" dirty="0"/>
              <a:t>中的</a:t>
            </a:r>
            <a:r>
              <a:rPr lang="en-US" altLang="zh-CN" sz="2200" b="0" dirty="0"/>
              <a:t>n</a:t>
            </a:r>
            <a:r>
              <a:rPr lang="zh-CN" altLang="en-US" sz="2200" b="0" dirty="0"/>
              <a:t>个特定行中，      </a:t>
            </a:r>
            <a:r>
              <a:rPr lang="en-US" altLang="zh-CN" sz="2200" b="0" dirty="0"/>
              <a:t>n</a:t>
            </a:r>
            <a:r>
              <a:rPr lang="zh-CN" altLang="en-US" sz="2200" b="0" dirty="0"/>
              <a:t>一般在</a:t>
            </a:r>
            <a:r>
              <a:rPr lang="en-US" altLang="zh-CN" sz="2200" b="0" dirty="0"/>
              <a:t>2</a:t>
            </a:r>
            <a:r>
              <a:rPr lang="zh-CN" altLang="en-US" sz="2200" b="0" dirty="0"/>
              <a:t>到</a:t>
            </a:r>
            <a:r>
              <a:rPr lang="en-US" altLang="zh-CN" sz="2200" b="0" dirty="0"/>
              <a:t>8</a:t>
            </a:r>
            <a:r>
              <a:rPr lang="zh-CN" altLang="en-US" sz="2200" b="0" dirty="0"/>
              <a:t>之间，将这</a:t>
            </a:r>
            <a:r>
              <a:rPr lang="en-US" altLang="zh-CN" sz="2200" b="0" dirty="0"/>
              <a:t>n</a:t>
            </a:r>
            <a:r>
              <a:rPr lang="zh-CN" altLang="en-US" sz="2200" b="0" dirty="0"/>
              <a:t>个行称为一个</a:t>
            </a:r>
            <a:r>
              <a:rPr lang="en-US" altLang="zh-CN" sz="2200" b="0" dirty="0"/>
              <a:t>Cache</a:t>
            </a:r>
            <a:r>
              <a:rPr lang="zh-CN" altLang="en-US" sz="2200" b="0" dirty="0"/>
              <a:t>组</a:t>
            </a:r>
            <a:endParaRPr lang="en-US" altLang="zh-CN" sz="2200" b="0" dirty="0"/>
          </a:p>
          <a:p>
            <a:pPr lvl="1"/>
            <a:endParaRPr lang="en-US" altLang="zh-CN" sz="2400" dirty="0"/>
          </a:p>
          <a:p>
            <a:pPr lvl="1"/>
            <a:r>
              <a:rPr kumimoji="1" lang="en-US" altLang="zh-CN" sz="2200" b="0" dirty="0">
                <a:solidFill>
                  <a:srgbClr val="0432FF"/>
                </a:solidFill>
              </a:rPr>
              <a:t>Cache</a:t>
            </a:r>
            <a:r>
              <a:rPr kumimoji="1" lang="zh-CN" altLang="en-US" sz="2200" b="0" dirty="0">
                <a:solidFill>
                  <a:srgbClr val="0432FF"/>
                </a:solidFill>
              </a:rPr>
              <a:t>行号及</a:t>
            </a:r>
            <a:r>
              <a:rPr kumimoji="1" lang="en-US" altLang="zh-CN" sz="2200" b="0" dirty="0">
                <a:solidFill>
                  <a:srgbClr val="0432FF"/>
                </a:solidFill>
              </a:rPr>
              <a:t>Cache</a:t>
            </a:r>
            <a:r>
              <a:rPr kumimoji="1" lang="zh-CN" altLang="en-US" sz="2200" b="0" dirty="0">
                <a:solidFill>
                  <a:srgbClr val="0432FF"/>
                </a:solidFill>
              </a:rPr>
              <a:t>组号</a:t>
            </a:r>
            <a:r>
              <a:rPr kumimoji="1" lang="zh-CN" altLang="en-US" sz="2200" b="0" dirty="0"/>
              <a:t>也称为</a:t>
            </a:r>
            <a:r>
              <a:rPr kumimoji="1" lang="zh-CN" altLang="en-US" sz="2200" b="0" dirty="0">
                <a:solidFill>
                  <a:srgbClr val="1A49EA"/>
                </a:solidFill>
              </a:rPr>
              <a:t>索引</a:t>
            </a:r>
            <a:r>
              <a:rPr kumimoji="1" lang="en-US" altLang="zh-CN" sz="2200" b="0" dirty="0">
                <a:solidFill>
                  <a:srgbClr val="1A49EA"/>
                </a:solidFill>
              </a:rPr>
              <a:t>Index</a:t>
            </a:r>
          </a:p>
          <a:p>
            <a:pPr lvl="1"/>
            <a:r>
              <a:rPr lang="zh-CN" altLang="en-US" sz="2200" b="0" dirty="0">
                <a:solidFill>
                  <a:srgbClr val="0432FF"/>
                </a:solidFill>
              </a:rPr>
              <a:t>将主存块放入</a:t>
            </a:r>
            <a:r>
              <a:rPr lang="en-US" altLang="zh-CN" sz="2200" b="0" dirty="0">
                <a:solidFill>
                  <a:srgbClr val="0432FF"/>
                </a:solidFill>
              </a:rPr>
              <a:t>Cache</a:t>
            </a:r>
            <a:r>
              <a:rPr lang="zh-CN" altLang="en-US" sz="2200" b="0" dirty="0">
                <a:solidFill>
                  <a:srgbClr val="0432FF"/>
                </a:solidFill>
              </a:rPr>
              <a:t>中的某行：</a:t>
            </a:r>
            <a:r>
              <a:rPr kumimoji="1" lang="zh-CN" altLang="en-US" sz="2200" b="0" dirty="0"/>
              <a:t>标签</a:t>
            </a:r>
            <a:r>
              <a:rPr kumimoji="1" lang="en-US" altLang="zh-CN" sz="2200" b="0" dirty="0"/>
              <a:t>(Tag)</a:t>
            </a:r>
            <a:r>
              <a:rPr kumimoji="1" lang="zh-CN" altLang="en-US" sz="2200" b="0" dirty="0"/>
              <a:t>和索引</a:t>
            </a:r>
            <a:r>
              <a:rPr kumimoji="1" lang="en-US" altLang="zh-CN" sz="2200" b="0" dirty="0"/>
              <a:t>(Index)</a:t>
            </a:r>
            <a:r>
              <a:rPr kumimoji="1" lang="zh-CN" altLang="en-US" sz="2200" b="0" dirty="0"/>
              <a:t>都是从主存块号中得到</a:t>
            </a:r>
            <a:endParaRPr lang="en-US" altLang="zh-CN" sz="2200" b="0" dirty="0"/>
          </a:p>
          <a:p>
            <a:pPr lvl="1"/>
            <a:endParaRPr kumimoji="1" lang="en-US" altLang="zh-CN" sz="2200" b="0" dirty="0">
              <a:solidFill>
                <a:srgbClr val="1A49EA"/>
              </a:solidFill>
            </a:endParaRPr>
          </a:p>
          <a:p>
            <a:pPr marL="457200" lvl="1" indent="0">
              <a:buNone/>
            </a:pPr>
            <a:endParaRPr lang="en-US" altLang="zh-CN" sz="2400" dirty="0"/>
          </a:p>
        </p:txBody>
      </p:sp>
      <p:sp>
        <p:nvSpPr>
          <p:cNvPr id="5" name="Slide Number Placeholder 4">
            <a:extLst>
              <a:ext uri="{FF2B5EF4-FFF2-40B4-BE49-F238E27FC236}">
                <a16:creationId xmlns:a16="http://schemas.microsoft.com/office/drawing/2014/main" id="{1AD75CA3-D753-C240-B995-BC67CCE6DAE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7" name="Rectangle 143">
            <a:extLst>
              <a:ext uri="{FF2B5EF4-FFF2-40B4-BE49-F238E27FC236}">
                <a16:creationId xmlns:a16="http://schemas.microsoft.com/office/drawing/2014/main" id="{4C8C4917-C707-897A-DB87-2E56A0F3BF7B}"/>
              </a:ext>
            </a:extLst>
          </p:cNvPr>
          <p:cNvSpPr>
            <a:spLocks noChangeArrowheads="1"/>
          </p:cNvSpPr>
          <p:nvPr/>
        </p:nvSpPr>
        <p:spPr bwMode="auto">
          <a:xfrm>
            <a:off x="2809104" y="2137578"/>
            <a:ext cx="3974980"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2045" tIns="46023" rIns="92045" bIns="46023" anchor="ctr">
            <a:spAutoFit/>
          </a:bodyPr>
          <a:lstStyle/>
          <a:p>
            <a:pPr algn="ctr" defTabSz="1009650" eaLnBrk="0" hangingPunct="0"/>
            <a:endParaRPr lang="en-US" altLang="zh-CN" sz="1600" dirty="0">
              <a:solidFill>
                <a:srgbClr val="FF0000"/>
              </a:solidFill>
              <a:latin typeface="Comic Sans MS" pitchFamily="66" charset="0"/>
              <a:ea typeface="SimHei" panose="02010609060101010101" pitchFamily="49" charset="-122"/>
            </a:endParaRPr>
          </a:p>
        </p:txBody>
      </p:sp>
      <p:sp>
        <p:nvSpPr>
          <p:cNvPr id="9" name="Rectangle 144">
            <a:extLst>
              <a:ext uri="{FF2B5EF4-FFF2-40B4-BE49-F238E27FC236}">
                <a16:creationId xmlns:a16="http://schemas.microsoft.com/office/drawing/2014/main" id="{E07031DB-87FC-61F8-AB8B-02171E5A1615}"/>
              </a:ext>
            </a:extLst>
          </p:cNvPr>
          <p:cNvSpPr>
            <a:spLocks noChangeArrowheads="1"/>
          </p:cNvSpPr>
          <p:nvPr/>
        </p:nvSpPr>
        <p:spPr bwMode="auto">
          <a:xfrm>
            <a:off x="5454637" y="2923080"/>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0" name="Rectangle 145">
            <a:extLst>
              <a:ext uri="{FF2B5EF4-FFF2-40B4-BE49-F238E27FC236}">
                <a16:creationId xmlns:a16="http://schemas.microsoft.com/office/drawing/2014/main" id="{1C073E60-98F2-5CBC-E1F8-E1A0FF4BE084}"/>
              </a:ext>
            </a:extLst>
          </p:cNvPr>
          <p:cNvSpPr>
            <a:spLocks noChangeArrowheads="1"/>
          </p:cNvSpPr>
          <p:nvPr/>
        </p:nvSpPr>
        <p:spPr bwMode="auto">
          <a:xfrm>
            <a:off x="2808288" y="2923080"/>
            <a:ext cx="2646349"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
        <p:nvSpPr>
          <p:cNvPr id="11" name="Rectangle 147">
            <a:extLst>
              <a:ext uri="{FF2B5EF4-FFF2-40B4-BE49-F238E27FC236}">
                <a16:creationId xmlns:a16="http://schemas.microsoft.com/office/drawing/2014/main" id="{2F704398-C3EA-F0B7-0A3D-7B5AA9AFC716}"/>
              </a:ext>
            </a:extLst>
          </p:cNvPr>
          <p:cNvSpPr>
            <a:spLocks noChangeArrowheads="1"/>
          </p:cNvSpPr>
          <p:nvPr/>
        </p:nvSpPr>
        <p:spPr bwMode="auto">
          <a:xfrm>
            <a:off x="5454637" y="3692983"/>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2" name="Rectangle 149">
            <a:extLst>
              <a:ext uri="{FF2B5EF4-FFF2-40B4-BE49-F238E27FC236}">
                <a16:creationId xmlns:a16="http://schemas.microsoft.com/office/drawing/2014/main" id="{A6641146-FED4-955F-44D4-2F7FF02F4BE8}"/>
              </a:ext>
            </a:extLst>
          </p:cNvPr>
          <p:cNvSpPr>
            <a:spLocks noChangeArrowheads="1"/>
          </p:cNvSpPr>
          <p:nvPr/>
        </p:nvSpPr>
        <p:spPr bwMode="auto">
          <a:xfrm>
            <a:off x="4123278" y="3692983"/>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en-US" altLang="zh-CN" sz="1600" dirty="0">
                <a:solidFill>
                  <a:schemeClr val="tx2"/>
                </a:solidFill>
                <a:latin typeface="+mn-lt"/>
                <a:ea typeface="SimHei" panose="02010609060101010101" pitchFamily="49" charset="-122"/>
              </a:rPr>
              <a:t>Cache</a:t>
            </a:r>
            <a:r>
              <a:rPr lang="zh-CN" altLang="en-US" sz="1600" dirty="0">
                <a:solidFill>
                  <a:schemeClr val="tx2"/>
                </a:solidFill>
                <a:latin typeface="+mn-lt"/>
                <a:ea typeface="SimHei" panose="02010609060101010101" pitchFamily="49" charset="-122"/>
              </a:rPr>
              <a:t>行号</a:t>
            </a:r>
            <a:endParaRPr lang="en-US" altLang="zh-CN" sz="1600" dirty="0">
              <a:solidFill>
                <a:schemeClr val="tx2"/>
              </a:solidFill>
              <a:latin typeface="+mn-lt"/>
              <a:ea typeface="SimHei" panose="02010609060101010101" pitchFamily="49" charset="-122"/>
            </a:endParaRPr>
          </a:p>
        </p:txBody>
      </p:sp>
      <p:sp>
        <p:nvSpPr>
          <p:cNvPr id="13" name="Rectangle 150">
            <a:extLst>
              <a:ext uri="{FF2B5EF4-FFF2-40B4-BE49-F238E27FC236}">
                <a16:creationId xmlns:a16="http://schemas.microsoft.com/office/drawing/2014/main" id="{C6A93F51-5677-3217-54E1-FCF80DD2D3B7}"/>
              </a:ext>
            </a:extLst>
          </p:cNvPr>
          <p:cNvSpPr>
            <a:spLocks noChangeArrowheads="1"/>
          </p:cNvSpPr>
          <p:nvPr/>
        </p:nvSpPr>
        <p:spPr bwMode="auto">
          <a:xfrm>
            <a:off x="2808288" y="3694714"/>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
        <p:nvSpPr>
          <p:cNvPr id="14" name="Rectangle 151">
            <a:extLst>
              <a:ext uri="{FF2B5EF4-FFF2-40B4-BE49-F238E27FC236}">
                <a16:creationId xmlns:a16="http://schemas.microsoft.com/office/drawing/2014/main" id="{D18523E8-D223-5C8F-A429-E896DEC110D6}"/>
              </a:ext>
            </a:extLst>
          </p:cNvPr>
          <p:cNvSpPr>
            <a:spLocks noChangeArrowheads="1"/>
          </p:cNvSpPr>
          <p:nvPr/>
        </p:nvSpPr>
        <p:spPr bwMode="auto">
          <a:xfrm>
            <a:off x="5454637" y="4858215"/>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5" name="Rectangle 152">
            <a:extLst>
              <a:ext uri="{FF2B5EF4-FFF2-40B4-BE49-F238E27FC236}">
                <a16:creationId xmlns:a16="http://schemas.microsoft.com/office/drawing/2014/main" id="{2418B057-1583-9C63-A887-83AFCA237C2F}"/>
              </a:ext>
            </a:extLst>
          </p:cNvPr>
          <p:cNvSpPr>
            <a:spLocks noChangeArrowheads="1"/>
          </p:cNvSpPr>
          <p:nvPr/>
        </p:nvSpPr>
        <p:spPr bwMode="auto">
          <a:xfrm>
            <a:off x="4123278" y="4858215"/>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en-US" altLang="zh-CN" sz="1600" dirty="0">
                <a:solidFill>
                  <a:schemeClr val="tx2"/>
                </a:solidFill>
                <a:latin typeface="+mn-lt"/>
                <a:ea typeface="SimHei" panose="02010609060101010101" pitchFamily="49" charset="-122"/>
              </a:rPr>
              <a:t>Cache</a:t>
            </a:r>
            <a:r>
              <a:rPr lang="zh-CN" altLang="en-US" sz="1600" dirty="0">
                <a:solidFill>
                  <a:schemeClr val="tx2"/>
                </a:solidFill>
                <a:latin typeface="+mn-lt"/>
                <a:ea typeface="SimHei" panose="02010609060101010101" pitchFamily="49" charset="-122"/>
              </a:rPr>
              <a:t>组号</a:t>
            </a:r>
            <a:endParaRPr lang="en-US" altLang="zh-CN" sz="1600" dirty="0">
              <a:solidFill>
                <a:schemeClr val="tx2"/>
              </a:solidFill>
              <a:latin typeface="+mn-lt"/>
              <a:ea typeface="SimHei" panose="02010609060101010101" pitchFamily="49" charset="-122"/>
            </a:endParaRPr>
          </a:p>
        </p:txBody>
      </p:sp>
      <p:sp>
        <p:nvSpPr>
          <p:cNvPr id="16" name="Rectangle 153">
            <a:extLst>
              <a:ext uri="{FF2B5EF4-FFF2-40B4-BE49-F238E27FC236}">
                <a16:creationId xmlns:a16="http://schemas.microsoft.com/office/drawing/2014/main" id="{0E2C331E-71CA-A67D-DFC7-F38BDABE2A09}"/>
              </a:ext>
            </a:extLst>
          </p:cNvPr>
          <p:cNvSpPr>
            <a:spLocks noChangeArrowheads="1"/>
          </p:cNvSpPr>
          <p:nvPr/>
        </p:nvSpPr>
        <p:spPr bwMode="auto">
          <a:xfrm>
            <a:off x="2802831" y="4858215"/>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Tree>
    <p:extLst>
      <p:ext uri="{BB962C8B-B14F-4D97-AF65-F5344CB8AC3E}">
        <p14:creationId xmlns:p14="http://schemas.microsoft.com/office/powerpoint/2010/main" val="334427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49</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165064"/>
            <a:ext cx="8229600" cy="5170043"/>
          </a:xfrm>
        </p:spPr>
        <p:txBody>
          <a:bodyPr/>
          <a:lstStyle/>
          <a:p>
            <a:pPr marL="514350" indent="-457200">
              <a:spcBef>
                <a:spcPts val="1000"/>
              </a:spcBef>
            </a:pPr>
            <a:r>
              <a:rPr kumimoji="1" lang="zh-CN" altLang="en-US" sz="2400" dirty="0"/>
              <a:t>给定</a:t>
            </a:r>
            <a:r>
              <a:rPr kumimoji="1" lang="zh-CN" altLang="en-US" dirty="0"/>
              <a:t>：</a:t>
            </a:r>
            <a:endParaRPr kumimoji="1" lang="en-US" altLang="zh-CN" dirty="0"/>
          </a:p>
          <a:p>
            <a:pPr marL="914400" lvl="1" indent="-457200">
              <a:spcBef>
                <a:spcPts val="1000"/>
              </a:spcBef>
            </a:pPr>
            <a:r>
              <a:rPr lang="zh-CN" altLang="en-US" sz="2000" dirty="0"/>
              <a:t>主存储器容量大小 </a:t>
            </a:r>
            <a:r>
              <a:rPr lang="en-US" altLang="zh-CN" sz="2000" dirty="0"/>
              <a:t>(M)</a:t>
            </a:r>
          </a:p>
          <a:p>
            <a:pPr marL="914400" lvl="1" indent="-457200">
              <a:spcBef>
                <a:spcPts val="1000"/>
              </a:spcBef>
            </a:pPr>
            <a:r>
              <a:rPr lang="en-US" altLang="zh-CN" sz="2000" dirty="0"/>
              <a:t>Cache</a:t>
            </a:r>
            <a:r>
              <a:rPr lang="zh-CN" altLang="en-US" sz="2000" dirty="0"/>
              <a:t>容量大小 </a:t>
            </a:r>
            <a:r>
              <a:rPr lang="en-US" altLang="zh-CN" sz="2000" dirty="0"/>
              <a:t>(C)</a:t>
            </a:r>
          </a:p>
          <a:p>
            <a:pPr marL="914400" lvl="1" indent="-457200">
              <a:spcBef>
                <a:spcPts val="1000"/>
              </a:spcBef>
            </a:pPr>
            <a:r>
              <a:rPr lang="en-US" altLang="zh-CN" sz="2000" dirty="0"/>
              <a:t>Cache</a:t>
            </a:r>
            <a:r>
              <a:rPr lang="zh-CN" altLang="en-US" sz="2000" dirty="0"/>
              <a:t>行大小 </a:t>
            </a:r>
            <a:r>
              <a:rPr lang="en-US" altLang="zh-CN" sz="2000" dirty="0"/>
              <a:t>(B)</a:t>
            </a:r>
          </a:p>
          <a:p>
            <a:pPr marL="914400" lvl="1" indent="-457200">
              <a:spcBef>
                <a:spcPts val="1000"/>
              </a:spcBef>
            </a:pPr>
            <a:r>
              <a:rPr lang="en-US" altLang="zh-CN" sz="2000" dirty="0"/>
              <a:t>N</a:t>
            </a:r>
            <a:r>
              <a:rPr lang="zh-CN" altLang="en-US" sz="2000" dirty="0"/>
              <a:t>路组相联 </a:t>
            </a:r>
            <a:r>
              <a:rPr lang="en-US" altLang="zh-CN" sz="2000" dirty="0"/>
              <a:t>(N)</a:t>
            </a:r>
          </a:p>
          <a:p>
            <a:pPr marL="914400" lvl="1" indent="-457200">
              <a:spcBef>
                <a:spcPts val="1000"/>
              </a:spcBef>
            </a:pPr>
            <a:endParaRPr lang="en-US" altLang="zh-CN" sz="2000" dirty="0"/>
          </a:p>
          <a:p>
            <a:pPr marL="514350" indent="-457200">
              <a:spcBef>
                <a:spcPts val="1000"/>
              </a:spcBef>
            </a:pPr>
            <a:r>
              <a:rPr lang="zh-CN" altLang="en-US" sz="2400" dirty="0"/>
              <a:t>确定</a:t>
            </a:r>
            <a:r>
              <a:rPr lang="en-US" altLang="zh-CN" sz="2400" dirty="0"/>
              <a:t>cache</a:t>
            </a:r>
            <a:r>
              <a:rPr lang="zh-CN" altLang="en-US" sz="2400" dirty="0"/>
              <a:t>的设计：</a:t>
            </a:r>
            <a:endParaRPr lang="en-US" altLang="zh-CN" sz="2400" dirty="0"/>
          </a:p>
          <a:p>
            <a:pPr marL="914400" lvl="1" indent="-457200">
              <a:spcBef>
                <a:spcPts val="1000"/>
              </a:spcBef>
            </a:pPr>
            <a:r>
              <a:rPr lang="zh-CN" altLang="en-US" sz="2000" dirty="0"/>
              <a:t>每个组多少</a:t>
            </a:r>
            <a:r>
              <a:rPr lang="en-US" altLang="zh-CN" sz="2000" dirty="0"/>
              <a:t>cache</a:t>
            </a:r>
            <a:r>
              <a:rPr lang="zh-CN" altLang="en-US" sz="2000" dirty="0"/>
              <a:t>行</a:t>
            </a:r>
            <a:r>
              <a:rPr lang="en-US" altLang="zh-CN" sz="2000" dirty="0"/>
              <a:t>?</a:t>
            </a:r>
          </a:p>
          <a:p>
            <a:pPr marL="914400" lvl="1" indent="-457200">
              <a:spcBef>
                <a:spcPts val="1000"/>
              </a:spcBef>
            </a:pPr>
            <a:r>
              <a:rPr lang="zh-CN" altLang="en-US" sz="2000" dirty="0"/>
              <a:t>共有多少个组</a:t>
            </a:r>
            <a:r>
              <a:rPr lang="en-US" altLang="zh-CN" sz="2000" dirty="0"/>
              <a:t>?</a:t>
            </a:r>
          </a:p>
          <a:p>
            <a:pPr marL="914400" lvl="1" indent="-457200">
              <a:spcBef>
                <a:spcPts val="1000"/>
              </a:spcBef>
            </a:pPr>
            <a:r>
              <a:rPr lang="zh-CN" altLang="en-US" sz="2000" dirty="0"/>
              <a:t>行内地址需要多少位表示</a:t>
            </a:r>
            <a:r>
              <a:rPr lang="en-US" altLang="zh-CN" sz="2000" dirty="0"/>
              <a:t>?</a:t>
            </a:r>
          </a:p>
          <a:p>
            <a:pPr marL="914400" lvl="1" indent="-457200">
              <a:spcBef>
                <a:spcPts val="1000"/>
              </a:spcBef>
            </a:pPr>
            <a:r>
              <a:rPr lang="zh-CN" altLang="en-US" sz="2000" dirty="0"/>
              <a:t>组的索引位数（硬件映射）</a:t>
            </a:r>
            <a:r>
              <a:rPr lang="en-US" altLang="zh-CN" sz="2000" dirty="0"/>
              <a:t>?</a:t>
            </a:r>
          </a:p>
          <a:p>
            <a:pPr marL="914400" lvl="1" indent="-457200">
              <a:spcBef>
                <a:spcPts val="1000"/>
              </a:spcBef>
            </a:pPr>
            <a:r>
              <a:rPr lang="zh-CN" altLang="en-US" sz="2000" dirty="0"/>
              <a:t>标签需要多少位表示</a:t>
            </a:r>
            <a:r>
              <a:rPr lang="en-US" altLang="zh-CN" sz="2000" dirty="0"/>
              <a:t>?</a:t>
            </a:r>
          </a:p>
          <a:p>
            <a:pPr marL="914400" lvl="1" indent="-457200">
              <a:spcBef>
                <a:spcPts val="1000"/>
              </a:spcBef>
            </a:pPr>
            <a:endParaRPr lang="en-US" altLang="zh-CN" sz="2400" dirty="0"/>
          </a:p>
        </p:txBody>
      </p:sp>
      <p:sp>
        <p:nvSpPr>
          <p:cNvPr id="5" name="Text Box 5">
            <a:extLst>
              <a:ext uri="{FF2B5EF4-FFF2-40B4-BE49-F238E27FC236}">
                <a16:creationId xmlns:a16="http://schemas.microsoft.com/office/drawing/2014/main" id="{3160154C-6598-4C49-8322-2510D213FE97}"/>
              </a:ext>
            </a:extLst>
          </p:cNvPr>
          <p:cNvSpPr txBox="1">
            <a:spLocks noChangeArrowheads="1"/>
          </p:cNvSpPr>
          <p:nvPr/>
        </p:nvSpPr>
        <p:spPr bwMode="auto">
          <a:xfrm>
            <a:off x="4572000" y="2248355"/>
            <a:ext cx="1999223" cy="4097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8575">
                <a:solidFill>
                  <a:schemeClr val="hlink"/>
                </a:solidFill>
                <a:miter lim="800000"/>
                <a:headEnd/>
                <a:tailEnd type="none" w="med"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zh-CN" altLang="en-US" sz="2000" dirty="0">
                <a:solidFill>
                  <a:schemeClr val="accent1"/>
                </a:solidFill>
                <a:latin typeface="+mn-lt"/>
                <a:ea typeface="SimHei" panose="02010609060101010101" pitchFamily="49" charset="-122"/>
              </a:rPr>
              <a:t>常见单位：字节</a:t>
            </a:r>
            <a:endParaRPr lang="en-US" altLang="zh-CN" sz="2000" dirty="0">
              <a:solidFill>
                <a:schemeClr val="accent1"/>
              </a:solidFill>
              <a:latin typeface="+mn-lt"/>
              <a:ea typeface="SimHei" panose="02010609060101010101" pitchFamily="49" charset="-122"/>
            </a:endParaRPr>
          </a:p>
        </p:txBody>
      </p:sp>
      <p:sp>
        <p:nvSpPr>
          <p:cNvPr id="7" name="Text Box 4">
            <a:extLst>
              <a:ext uri="{FF2B5EF4-FFF2-40B4-BE49-F238E27FC236}">
                <a16:creationId xmlns:a16="http://schemas.microsoft.com/office/drawing/2014/main" id="{6AC26C9A-3F06-3D4B-A10D-C5BCA0AC133E}"/>
              </a:ext>
            </a:extLst>
          </p:cNvPr>
          <p:cNvSpPr txBox="1">
            <a:spLocks noChangeArrowheads="1"/>
          </p:cNvSpPr>
          <p:nvPr/>
        </p:nvSpPr>
        <p:spPr bwMode="auto">
          <a:xfrm>
            <a:off x="4635774" y="4420268"/>
            <a:ext cx="2968789" cy="4097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8575">
                <a:solidFill>
                  <a:schemeClr val="hlink"/>
                </a:solidFill>
                <a:miter lim="800000"/>
                <a:headEnd/>
                <a:tailEnd type="none" w="med"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chemeClr val="accent1"/>
                </a:solidFill>
                <a:latin typeface="+mn-lt"/>
                <a:ea typeface="SimHei" panose="02010609060101010101" pitchFamily="49" charset="-122"/>
              </a:rPr>
              <a:t>N</a:t>
            </a:r>
          </a:p>
        </p:txBody>
      </p:sp>
      <p:sp>
        <p:nvSpPr>
          <p:cNvPr id="8" name="Text Box 4">
            <a:extLst>
              <a:ext uri="{FF2B5EF4-FFF2-40B4-BE49-F238E27FC236}">
                <a16:creationId xmlns:a16="http://schemas.microsoft.com/office/drawing/2014/main" id="{70680AE6-5ADA-D345-B165-9F167ECB22C2}"/>
              </a:ext>
            </a:extLst>
          </p:cNvPr>
          <p:cNvSpPr txBox="1">
            <a:spLocks noChangeArrowheads="1"/>
          </p:cNvSpPr>
          <p:nvPr/>
        </p:nvSpPr>
        <p:spPr bwMode="auto">
          <a:xfrm>
            <a:off x="4635774" y="4846491"/>
            <a:ext cx="2968789" cy="4097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8575">
                <a:solidFill>
                  <a:schemeClr val="hlink"/>
                </a:solidFill>
                <a:miter lim="800000"/>
                <a:headEnd/>
                <a:tailEnd type="none" w="med"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chemeClr val="accent1"/>
                </a:solidFill>
                <a:latin typeface="+mn-lt"/>
                <a:ea typeface="SimHei" panose="02010609060101010101" pitchFamily="49" charset="-122"/>
              </a:rPr>
              <a:t>(C/B)/N</a:t>
            </a:r>
          </a:p>
        </p:txBody>
      </p:sp>
      <p:sp>
        <p:nvSpPr>
          <p:cNvPr id="9" name="Text Box 4">
            <a:extLst>
              <a:ext uri="{FF2B5EF4-FFF2-40B4-BE49-F238E27FC236}">
                <a16:creationId xmlns:a16="http://schemas.microsoft.com/office/drawing/2014/main" id="{2822E276-7A19-9448-A55D-E5F5844E70DA}"/>
              </a:ext>
            </a:extLst>
          </p:cNvPr>
          <p:cNvSpPr txBox="1">
            <a:spLocks noChangeArrowheads="1"/>
          </p:cNvSpPr>
          <p:nvPr/>
        </p:nvSpPr>
        <p:spPr bwMode="auto">
          <a:xfrm>
            <a:off x="4635774" y="5272714"/>
            <a:ext cx="2968789" cy="4097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8575">
                <a:solidFill>
                  <a:schemeClr val="hlink"/>
                </a:solidFill>
                <a:miter lim="800000"/>
                <a:headEnd/>
                <a:tailEnd type="none" w="med"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chemeClr val="accent1"/>
                </a:solidFill>
                <a:latin typeface="+mn-lt"/>
                <a:ea typeface="SimHei" panose="02010609060101010101" pitchFamily="49" charset="-122"/>
              </a:rPr>
              <a:t>log</a:t>
            </a:r>
            <a:r>
              <a:rPr lang="en-US" altLang="zh-CN" sz="2000" baseline="-25000" dirty="0">
                <a:solidFill>
                  <a:schemeClr val="accent1"/>
                </a:solidFill>
                <a:latin typeface="+mn-lt"/>
                <a:ea typeface="SimHei" panose="02010609060101010101" pitchFamily="49" charset="-122"/>
              </a:rPr>
              <a:t>2</a:t>
            </a:r>
            <a:r>
              <a:rPr lang="en-US" altLang="zh-CN" sz="2000" dirty="0">
                <a:solidFill>
                  <a:schemeClr val="accent1"/>
                </a:solidFill>
                <a:latin typeface="+mn-lt"/>
                <a:ea typeface="SimHei" panose="02010609060101010101" pitchFamily="49" charset="-122"/>
              </a:rPr>
              <a:t>B</a:t>
            </a:r>
          </a:p>
        </p:txBody>
      </p:sp>
      <p:sp>
        <p:nvSpPr>
          <p:cNvPr id="10" name="Text Box 4">
            <a:extLst>
              <a:ext uri="{FF2B5EF4-FFF2-40B4-BE49-F238E27FC236}">
                <a16:creationId xmlns:a16="http://schemas.microsoft.com/office/drawing/2014/main" id="{9120FB8F-A11F-8B41-B40B-2D5554698A09}"/>
              </a:ext>
            </a:extLst>
          </p:cNvPr>
          <p:cNvSpPr txBox="1">
            <a:spLocks noChangeArrowheads="1"/>
          </p:cNvSpPr>
          <p:nvPr/>
        </p:nvSpPr>
        <p:spPr bwMode="auto">
          <a:xfrm>
            <a:off x="4635774" y="5698937"/>
            <a:ext cx="2968789" cy="4097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8575">
                <a:solidFill>
                  <a:schemeClr val="hlink"/>
                </a:solidFill>
                <a:miter lim="800000"/>
                <a:headEnd/>
                <a:tailEnd type="none" w="med"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chemeClr val="accent1"/>
                </a:solidFill>
                <a:latin typeface="+mn-lt"/>
                <a:ea typeface="SimHei" panose="02010609060101010101" pitchFamily="49" charset="-122"/>
              </a:rPr>
              <a:t>log</a:t>
            </a:r>
            <a:r>
              <a:rPr lang="en-US" altLang="zh-CN" sz="2000" baseline="-25000" dirty="0">
                <a:solidFill>
                  <a:schemeClr val="accent1"/>
                </a:solidFill>
                <a:latin typeface="+mn-lt"/>
                <a:ea typeface="SimHei" panose="02010609060101010101" pitchFamily="49" charset="-122"/>
              </a:rPr>
              <a:t>2</a:t>
            </a:r>
            <a:r>
              <a:rPr lang="en-US" altLang="zh-CN" sz="2000" dirty="0">
                <a:solidFill>
                  <a:schemeClr val="accent1"/>
                </a:solidFill>
                <a:latin typeface="+mn-lt"/>
                <a:ea typeface="SimHei" panose="02010609060101010101" pitchFamily="49" charset="-122"/>
              </a:rPr>
              <a:t>((C/B)/N)</a:t>
            </a:r>
          </a:p>
        </p:txBody>
      </p:sp>
      <p:sp>
        <p:nvSpPr>
          <p:cNvPr id="11" name="Text Box 4">
            <a:extLst>
              <a:ext uri="{FF2B5EF4-FFF2-40B4-BE49-F238E27FC236}">
                <a16:creationId xmlns:a16="http://schemas.microsoft.com/office/drawing/2014/main" id="{9E76EBC1-0CD7-4A4C-8135-303809073A75}"/>
              </a:ext>
            </a:extLst>
          </p:cNvPr>
          <p:cNvSpPr txBox="1">
            <a:spLocks noChangeArrowheads="1"/>
          </p:cNvSpPr>
          <p:nvPr/>
        </p:nvSpPr>
        <p:spPr bwMode="auto">
          <a:xfrm>
            <a:off x="4635774" y="6125159"/>
            <a:ext cx="3478075" cy="4097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8575">
                <a:solidFill>
                  <a:schemeClr val="hlink"/>
                </a:solidFill>
                <a:miter lim="800000"/>
                <a:headEnd/>
                <a:tailEnd type="none" w="med"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chemeClr val="accent1"/>
                </a:solidFill>
                <a:latin typeface="+mn-lt"/>
                <a:ea typeface="SimHei" panose="02010609060101010101" pitchFamily="49" charset="-122"/>
              </a:rPr>
              <a:t>log</a:t>
            </a:r>
            <a:r>
              <a:rPr lang="en-US" altLang="zh-CN" sz="2000" baseline="-25000" dirty="0">
                <a:solidFill>
                  <a:schemeClr val="accent1"/>
                </a:solidFill>
                <a:latin typeface="+mn-lt"/>
                <a:ea typeface="SimHei" panose="02010609060101010101" pitchFamily="49" charset="-122"/>
              </a:rPr>
              <a:t>2</a:t>
            </a:r>
            <a:r>
              <a:rPr lang="en-US" altLang="zh-CN" sz="2000" dirty="0">
                <a:solidFill>
                  <a:schemeClr val="accent1"/>
                </a:solidFill>
                <a:latin typeface="+mn-lt"/>
                <a:ea typeface="SimHei" panose="02010609060101010101" pitchFamily="49" charset="-122"/>
              </a:rPr>
              <a:t>M-log</a:t>
            </a:r>
            <a:r>
              <a:rPr lang="en-US" altLang="zh-CN" sz="2000" baseline="-25000" dirty="0">
                <a:solidFill>
                  <a:schemeClr val="accent1"/>
                </a:solidFill>
                <a:latin typeface="+mn-lt"/>
                <a:ea typeface="SimHei" panose="02010609060101010101" pitchFamily="49" charset="-122"/>
              </a:rPr>
              <a:t>2</a:t>
            </a:r>
            <a:r>
              <a:rPr lang="en-US" altLang="zh-CN" sz="2000" dirty="0">
                <a:solidFill>
                  <a:schemeClr val="accent1"/>
                </a:solidFill>
                <a:latin typeface="+mn-lt"/>
                <a:ea typeface="SimHei" panose="02010609060101010101" pitchFamily="49" charset="-122"/>
              </a:rPr>
              <a:t>((C/B)/N)-log</a:t>
            </a:r>
            <a:r>
              <a:rPr lang="en-US" altLang="zh-CN" sz="2000" baseline="-25000" dirty="0">
                <a:solidFill>
                  <a:schemeClr val="accent1"/>
                </a:solidFill>
                <a:latin typeface="+mn-lt"/>
                <a:ea typeface="SimHei" panose="02010609060101010101" pitchFamily="49" charset="-122"/>
              </a:rPr>
              <a:t>2</a:t>
            </a:r>
            <a:r>
              <a:rPr lang="en-US" altLang="zh-CN" sz="2000" dirty="0">
                <a:solidFill>
                  <a:schemeClr val="accent1"/>
                </a:solidFill>
                <a:latin typeface="+mn-lt"/>
                <a:ea typeface="SimHei" panose="02010609060101010101" pitchFamily="49" charset="-122"/>
              </a:rPr>
              <a:t>B</a:t>
            </a:r>
          </a:p>
        </p:txBody>
      </p:sp>
      <p:sp>
        <p:nvSpPr>
          <p:cNvPr id="12" name="右大括号 11">
            <a:extLst>
              <a:ext uri="{FF2B5EF4-FFF2-40B4-BE49-F238E27FC236}">
                <a16:creationId xmlns:a16="http://schemas.microsoft.com/office/drawing/2014/main" id="{E4FE480B-A1FB-8BE1-4AC0-3A88F4C13BCD}"/>
              </a:ext>
            </a:extLst>
          </p:cNvPr>
          <p:cNvSpPr/>
          <p:nvPr/>
        </p:nvSpPr>
        <p:spPr>
          <a:xfrm>
            <a:off x="4017196" y="1855470"/>
            <a:ext cx="554804" cy="1104900"/>
          </a:xfrm>
          <a:prstGeom prst="rightBrace">
            <a:avLst>
              <a:gd name="adj1" fmla="val 8333"/>
              <a:gd name="adj2" fmla="val 56333"/>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Tree>
    <p:extLst>
      <p:ext uri="{BB962C8B-B14F-4D97-AF65-F5344CB8AC3E}">
        <p14:creationId xmlns:p14="http://schemas.microsoft.com/office/powerpoint/2010/main" val="1627167171"/>
      </p:ext>
    </p:extLst>
  </p:cSld>
  <p:clrMapOvr>
    <a:masterClrMapping/>
  </p:clrMapOvr>
  <mc:AlternateContent xmlns:mc="http://schemas.openxmlformats.org/markup-compatibility/2006" xmlns:p14="http://schemas.microsoft.com/office/powerpoint/2010/main">
    <mc:Choice Requires="p14">
      <p:transition p14:dur="10" advTm="9685"/>
    </mc:Choice>
    <mc:Fallback xmlns="">
      <p:transition advTm="9685"/>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50</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3"/>
            <a:ext cx="8229600" cy="4693792"/>
          </a:xfrm>
        </p:spPr>
        <p:txBody>
          <a:bodyPr/>
          <a:lstStyle/>
          <a:p>
            <a:pPr marL="514350" indent="-457200">
              <a:spcBef>
                <a:spcPts val="1000"/>
              </a:spcBef>
            </a:pPr>
            <a:r>
              <a:rPr kumimoji="1" lang="zh-CN" altLang="en-US" sz="2800" dirty="0"/>
              <a:t>当访问一个地址发现其不在</a:t>
            </a:r>
            <a:r>
              <a:rPr kumimoji="1" lang="en-US" altLang="zh-CN" sz="2800" dirty="0"/>
              <a:t>Cache</a:t>
            </a:r>
            <a:r>
              <a:rPr kumimoji="1" lang="zh-CN" altLang="en-US" sz="2800" dirty="0"/>
              <a:t>中时，复制</a:t>
            </a:r>
            <a:r>
              <a:rPr kumimoji="1" lang="zh-CN" altLang="en-US" sz="2800" dirty="0">
                <a:solidFill>
                  <a:srgbClr val="FF0000"/>
                </a:solidFill>
              </a:rPr>
              <a:t>主存块</a:t>
            </a:r>
            <a:r>
              <a:rPr kumimoji="1" lang="zh-CN" altLang="en-US" sz="2800" dirty="0"/>
              <a:t>到缓存的行中。</a:t>
            </a:r>
            <a:endParaRPr kumimoji="1" lang="en-US" altLang="zh-CN" sz="2800" dirty="0"/>
          </a:p>
          <a:p>
            <a:pPr marL="914400" lvl="1" indent="-457200">
              <a:spcBef>
                <a:spcPts val="1000"/>
              </a:spcBef>
            </a:pPr>
            <a:r>
              <a:rPr kumimoji="1" lang="zh-CN" altLang="en-US" sz="2400" dirty="0">
                <a:solidFill>
                  <a:srgbClr val="0432FF"/>
                </a:solidFill>
              </a:rPr>
              <a:t>行替换</a:t>
            </a:r>
            <a:r>
              <a:rPr kumimoji="1" lang="zh-CN" altLang="en-US" sz="2400" dirty="0"/>
              <a:t>：当</a:t>
            </a:r>
            <a:r>
              <a:rPr kumimoji="1" lang="zh-CN" altLang="en-US" sz="2400" dirty="0">
                <a:solidFill>
                  <a:srgbClr val="FF0000"/>
                </a:solidFill>
              </a:rPr>
              <a:t>主存块</a:t>
            </a:r>
            <a:r>
              <a:rPr kumimoji="1" lang="zh-CN" altLang="en-US" sz="2400" dirty="0"/>
              <a:t>对应的</a:t>
            </a:r>
            <a:r>
              <a:rPr kumimoji="1" lang="en-US" altLang="zh-CN" sz="2400" dirty="0"/>
              <a:t>Cache</a:t>
            </a:r>
            <a:r>
              <a:rPr kumimoji="1" lang="zh-CN" altLang="en-US" sz="2400" dirty="0"/>
              <a:t>行均被占用</a:t>
            </a:r>
            <a:r>
              <a:rPr kumimoji="1" lang="en-US" altLang="zh-CN" sz="2400" dirty="0"/>
              <a:t>(</a:t>
            </a:r>
            <a:r>
              <a:rPr kumimoji="1" lang="zh-CN" altLang="en-US" sz="2400" dirty="0"/>
              <a:t>有效位为</a:t>
            </a:r>
            <a:r>
              <a:rPr kumimoji="1" lang="en-US" altLang="zh-CN" sz="2400" dirty="0"/>
              <a:t>1)</a:t>
            </a:r>
            <a:r>
              <a:rPr kumimoji="1" lang="zh-CN" altLang="en-US" sz="2400" dirty="0"/>
              <a:t>时，需要选择一个</a:t>
            </a:r>
            <a:r>
              <a:rPr kumimoji="1" lang="en-US" altLang="zh-CN" sz="2400" dirty="0"/>
              <a:t>Cache</a:t>
            </a:r>
            <a:r>
              <a:rPr kumimoji="1" lang="zh-CN" altLang="en-US" sz="2400" dirty="0"/>
              <a:t>行进行替换</a:t>
            </a:r>
            <a:endParaRPr kumimoji="1" lang="en-US" altLang="zh-CN" sz="2400" dirty="0"/>
          </a:p>
          <a:p>
            <a:pPr marL="914400" lvl="1" indent="-457200">
              <a:spcBef>
                <a:spcPts val="1000"/>
              </a:spcBef>
            </a:pPr>
            <a:r>
              <a:rPr kumimoji="1" lang="zh-CN" altLang="en-US" sz="2400" dirty="0"/>
              <a:t>直接映像：只有一行可以被替换，不用选</a:t>
            </a:r>
          </a:p>
          <a:p>
            <a:pPr marL="914400" lvl="1" indent="-457200">
              <a:spcBef>
                <a:spcPts val="1000"/>
              </a:spcBef>
            </a:pPr>
            <a:r>
              <a:rPr kumimoji="1" lang="zh-CN" altLang="en-US" sz="2400" dirty="0"/>
              <a:t>组相联或者全相联：</a:t>
            </a:r>
            <a:endParaRPr kumimoji="1" lang="en-US" altLang="zh-CN" sz="2400" dirty="0"/>
          </a:p>
          <a:p>
            <a:pPr marL="1314450" lvl="2" indent="-457200">
              <a:spcBef>
                <a:spcPts val="1000"/>
              </a:spcBef>
              <a:buFont typeface="Wingdings" pitchFamily="2" charset="2"/>
              <a:buChar char="Ø"/>
            </a:pPr>
            <a:r>
              <a:rPr kumimoji="1" lang="zh-CN" altLang="en-US" sz="2000" dirty="0">
                <a:solidFill>
                  <a:srgbClr val="0432FF"/>
                </a:solidFill>
              </a:rPr>
              <a:t>随机法</a:t>
            </a:r>
            <a:r>
              <a:rPr kumimoji="1" lang="en-US" altLang="zh-CN" sz="2000" dirty="0"/>
              <a:t>(Random)</a:t>
            </a:r>
            <a:r>
              <a:rPr kumimoji="1" lang="zh-CN" altLang="en-US" sz="2000" dirty="0"/>
              <a:t>：在</a:t>
            </a:r>
            <a:r>
              <a:rPr kumimoji="1" lang="en-US" altLang="zh-CN" sz="2000" dirty="0"/>
              <a:t>cache</a:t>
            </a:r>
            <a:r>
              <a:rPr kumimoji="1" lang="zh-CN" altLang="en-US" sz="2000" dirty="0"/>
              <a:t>中随机选择一个主存块</a:t>
            </a:r>
          </a:p>
          <a:p>
            <a:pPr marL="1314450" lvl="2" indent="-457200">
              <a:spcBef>
                <a:spcPts val="1000"/>
              </a:spcBef>
              <a:buFont typeface="Wingdings" pitchFamily="2" charset="2"/>
              <a:buChar char="Ø"/>
            </a:pPr>
            <a:r>
              <a:rPr kumimoji="1" lang="zh-CN" altLang="en-US" sz="2000" dirty="0">
                <a:solidFill>
                  <a:srgbClr val="0432FF"/>
                </a:solidFill>
              </a:rPr>
              <a:t>先进先出法</a:t>
            </a:r>
            <a:r>
              <a:rPr kumimoji="1" lang="en-US" altLang="zh-CN" sz="2000" dirty="0"/>
              <a:t>(FIFO, First-In First-Out)</a:t>
            </a:r>
            <a:r>
              <a:rPr kumimoji="1" lang="zh-CN" altLang="en-US" sz="2000" dirty="0"/>
              <a:t>：选择一个集合中最先进入</a:t>
            </a:r>
            <a:r>
              <a:rPr kumimoji="1" lang="en-US" altLang="zh-CN" sz="2000" dirty="0"/>
              <a:t>cache</a:t>
            </a:r>
            <a:r>
              <a:rPr kumimoji="1" lang="zh-CN" altLang="en-US" sz="2000" dirty="0"/>
              <a:t>中的主存块</a:t>
            </a:r>
            <a:r>
              <a:rPr kumimoji="1" lang="en-US" altLang="zh-CN" sz="2000" dirty="0"/>
              <a:t>(</a:t>
            </a:r>
            <a:r>
              <a:rPr kumimoji="1" lang="zh-CN" altLang="en-US" sz="2000" dirty="0"/>
              <a:t>即存在时间最长的块</a:t>
            </a:r>
            <a:r>
              <a:rPr kumimoji="1" lang="en-US" altLang="zh-CN" sz="2000" dirty="0"/>
              <a:t>)</a:t>
            </a:r>
          </a:p>
          <a:p>
            <a:pPr marL="1314450" lvl="2" indent="-457200">
              <a:spcBef>
                <a:spcPts val="1000"/>
              </a:spcBef>
              <a:buFont typeface="Wingdings" pitchFamily="2" charset="2"/>
              <a:buChar char="Ø"/>
            </a:pPr>
            <a:r>
              <a:rPr kumimoji="1" lang="zh-CN" altLang="en-US" sz="2000" dirty="0">
                <a:solidFill>
                  <a:srgbClr val="0432FF"/>
                </a:solidFill>
              </a:rPr>
              <a:t>最近最少使用法</a:t>
            </a:r>
            <a:r>
              <a:rPr kumimoji="1" lang="en-US" altLang="zh-CN" sz="2000" dirty="0"/>
              <a:t>(LRU, Least recently used)</a:t>
            </a:r>
            <a:r>
              <a:rPr kumimoji="1" lang="zh-CN" altLang="en-US" sz="2000" dirty="0"/>
              <a:t>：替换</a:t>
            </a:r>
            <a:r>
              <a:rPr kumimoji="1" lang="en-US" altLang="zh-CN" sz="2000" dirty="0"/>
              <a:t>Cache</a:t>
            </a:r>
            <a:r>
              <a:rPr kumimoji="1" lang="zh-CN" altLang="en-US" sz="2000" dirty="0"/>
              <a:t>中最近最少被使用的主存块</a:t>
            </a:r>
          </a:p>
        </p:txBody>
      </p:sp>
    </p:spTree>
    <p:extLst>
      <p:ext uri="{BB962C8B-B14F-4D97-AF65-F5344CB8AC3E}">
        <p14:creationId xmlns:p14="http://schemas.microsoft.com/office/powerpoint/2010/main" val="21385940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51</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199" y="1333881"/>
            <a:ext cx="8408505" cy="3009519"/>
          </a:xfrm>
        </p:spPr>
        <p:txBody>
          <a:bodyPr/>
          <a:lstStyle/>
          <a:p>
            <a:pPr marL="514350" indent="-457200">
              <a:spcBef>
                <a:spcPts val="1000"/>
              </a:spcBef>
            </a:pPr>
            <a:r>
              <a:rPr kumimoji="1" lang="zh-CN" altLang="en-US" sz="2400" dirty="0">
                <a:solidFill>
                  <a:srgbClr val="0432FF"/>
                </a:solidFill>
              </a:rPr>
              <a:t>行更新</a:t>
            </a:r>
            <a:r>
              <a:rPr kumimoji="1" lang="zh-CN" altLang="en-US" sz="2400" dirty="0"/>
              <a:t>：当需要向层次结构存储器</a:t>
            </a:r>
            <a:r>
              <a:rPr kumimoji="1" lang="zh-CN" altLang="en-US" sz="2400" dirty="0">
                <a:solidFill>
                  <a:srgbClr val="0432FF"/>
                </a:solidFill>
              </a:rPr>
              <a:t>写入</a:t>
            </a:r>
            <a:r>
              <a:rPr kumimoji="1" lang="zh-CN" altLang="en-US" sz="2400" dirty="0"/>
              <a:t>数据时，需要考虑将数据存入</a:t>
            </a:r>
            <a:r>
              <a:rPr kumimoji="1" lang="en-US" altLang="zh-CN" sz="2400" dirty="0"/>
              <a:t>cache</a:t>
            </a:r>
            <a:r>
              <a:rPr kumimoji="1" lang="zh-CN" altLang="en-US" sz="2400" dirty="0"/>
              <a:t>还是主存的问题。</a:t>
            </a:r>
            <a:endParaRPr kumimoji="1" lang="en-US" altLang="zh-CN" sz="2400" dirty="0"/>
          </a:p>
          <a:p>
            <a:pPr marL="914400" lvl="1" indent="-457200">
              <a:spcBef>
                <a:spcPts val="1000"/>
              </a:spcBef>
            </a:pPr>
            <a:r>
              <a:rPr kumimoji="1" lang="zh-CN" altLang="en-US" sz="2000" dirty="0">
                <a:solidFill>
                  <a:srgbClr val="0432FF"/>
                </a:solidFill>
              </a:rPr>
              <a:t>写通过</a:t>
            </a:r>
            <a:r>
              <a:rPr kumimoji="1" lang="en-US" altLang="zh-CN" sz="2000" dirty="0"/>
              <a:t>: </a:t>
            </a:r>
            <a:r>
              <a:rPr kumimoji="1" lang="zh-CN" altLang="en-US" sz="2000" dirty="0"/>
              <a:t>高速缓存和主存都写入</a:t>
            </a:r>
            <a:endParaRPr kumimoji="1" lang="en-US" altLang="zh-CN" sz="2000" dirty="0"/>
          </a:p>
          <a:p>
            <a:pPr marL="914400" lvl="1" indent="-457200">
              <a:spcBef>
                <a:spcPts val="1000"/>
              </a:spcBef>
            </a:pPr>
            <a:r>
              <a:rPr kumimoji="1" lang="zh-CN" altLang="en-US" sz="2000" dirty="0"/>
              <a:t>优点</a:t>
            </a:r>
            <a:endParaRPr kumimoji="1" lang="en-US" altLang="zh-CN" sz="2000" dirty="0"/>
          </a:p>
          <a:p>
            <a:pPr marL="1314450" lvl="2" indent="-457200">
              <a:spcBef>
                <a:spcPts val="0"/>
              </a:spcBef>
            </a:pPr>
            <a:r>
              <a:rPr kumimoji="1" lang="zh-CN" altLang="en-US" sz="1800" dirty="0"/>
              <a:t>硬件简单</a:t>
            </a:r>
            <a:endParaRPr kumimoji="1" lang="en-US" altLang="zh-CN" sz="1800" dirty="0"/>
          </a:p>
          <a:p>
            <a:pPr marL="1314450" lvl="2" indent="-457200">
              <a:spcBef>
                <a:spcPts val="0"/>
              </a:spcBef>
            </a:pPr>
            <a:r>
              <a:rPr kumimoji="1" lang="zh-CN" altLang="en-US" sz="1800" dirty="0"/>
              <a:t>缓存和内存中数据一致</a:t>
            </a:r>
            <a:r>
              <a:rPr kumimoji="1" lang="en-US" altLang="zh-CN" sz="1800" dirty="0">
                <a:sym typeface="Wingdings" panose="05000000000000000000" pitchFamily="2" charset="2"/>
              </a:rPr>
              <a:t></a:t>
            </a:r>
            <a:r>
              <a:rPr kumimoji="1" lang="zh-CN" altLang="en-US" sz="1800" dirty="0">
                <a:sym typeface="Wingdings" panose="05000000000000000000" pitchFamily="2" charset="2"/>
              </a:rPr>
              <a:t>在</a:t>
            </a:r>
            <a:r>
              <a:rPr kumimoji="1" lang="en-US" altLang="zh-CN" sz="1800" dirty="0">
                <a:sym typeface="Wingdings" panose="05000000000000000000" pitchFamily="2" charset="2"/>
              </a:rPr>
              <a:t>Cache</a:t>
            </a:r>
            <a:r>
              <a:rPr kumimoji="1" lang="zh-CN" altLang="en-US" sz="1800" dirty="0">
                <a:sym typeface="Wingdings" panose="05000000000000000000" pitchFamily="2" charset="2"/>
              </a:rPr>
              <a:t>替换时无内存写回</a:t>
            </a:r>
            <a:endParaRPr kumimoji="1" lang="en-US" altLang="zh-CN" sz="1800" dirty="0"/>
          </a:p>
          <a:p>
            <a:pPr marL="914400" lvl="1" indent="-457200">
              <a:spcBef>
                <a:spcPts val="1000"/>
              </a:spcBef>
            </a:pPr>
            <a:r>
              <a:rPr kumimoji="1" lang="zh-CN" altLang="en-US" sz="2000" dirty="0"/>
              <a:t>缺点：写时间等于内存访问时间，开销大</a:t>
            </a:r>
            <a:endParaRPr kumimoji="1" lang="en-US" altLang="zh-CN" sz="2000" dirty="0"/>
          </a:p>
          <a:p>
            <a:pPr marL="914400" lvl="1" indent="-457200">
              <a:spcBef>
                <a:spcPts val="0"/>
              </a:spcBef>
            </a:pPr>
            <a:r>
              <a:rPr kumimoji="1" lang="zh-CN" altLang="en-US" sz="2000" dirty="0"/>
              <a:t>使用高速写缓冲区，</a:t>
            </a:r>
            <a:r>
              <a:rPr kumimoji="1" lang="en-US" altLang="zh-CN" sz="2000" dirty="0"/>
              <a:t>CPU</a:t>
            </a:r>
            <a:r>
              <a:rPr kumimoji="1" lang="zh-CN" altLang="en-US" sz="2000" dirty="0"/>
              <a:t>不需要等待。</a:t>
            </a:r>
            <a:endParaRPr kumimoji="1" lang="en-US" altLang="zh-CN" sz="2000" dirty="0"/>
          </a:p>
        </p:txBody>
      </p:sp>
      <p:sp>
        <p:nvSpPr>
          <p:cNvPr id="26" name="标题 1">
            <a:extLst>
              <a:ext uri="{FF2B5EF4-FFF2-40B4-BE49-F238E27FC236}">
                <a16:creationId xmlns:a16="http://schemas.microsoft.com/office/drawing/2014/main" id="{FF0310BE-DA30-4AD0-8A95-C16F6BA49799}"/>
              </a:ext>
            </a:extLst>
          </p:cNvPr>
          <p:cNvSpPr>
            <a:spLocks noGrp="1"/>
          </p:cNvSpPr>
          <p:nvPr>
            <p:ph type="title"/>
          </p:nvPr>
        </p:nvSpPr>
        <p:spPr>
          <a:xfrm>
            <a:off x="150471" y="136525"/>
            <a:ext cx="8889357" cy="1143000"/>
          </a:xfrm>
        </p:spPr>
        <p:txBody>
          <a:bodyPr/>
          <a:lstStyle/>
          <a:p>
            <a:r>
              <a:rPr lang="en-US" altLang="zh-CN" sz="3600" dirty="0">
                <a:latin typeface="+mn-lt"/>
              </a:rPr>
              <a:t>Cache</a:t>
            </a:r>
            <a:r>
              <a:rPr lang="zh-CN" altLang="en-US" sz="3600" dirty="0">
                <a:latin typeface="+mn-lt"/>
              </a:rPr>
              <a:t>：数据替换和更新策略</a:t>
            </a:r>
          </a:p>
        </p:txBody>
      </p:sp>
      <p:sp>
        <p:nvSpPr>
          <p:cNvPr id="5" name="内容占位符 2">
            <a:extLst>
              <a:ext uri="{FF2B5EF4-FFF2-40B4-BE49-F238E27FC236}">
                <a16:creationId xmlns:a16="http://schemas.microsoft.com/office/drawing/2014/main" id="{21A3E5B5-3FB4-6668-81E6-5ED1516A54BB}"/>
              </a:ext>
            </a:extLst>
          </p:cNvPr>
          <p:cNvSpPr txBox="1">
            <a:spLocks/>
          </p:cNvSpPr>
          <p:nvPr/>
        </p:nvSpPr>
        <p:spPr bwMode="auto">
          <a:xfrm>
            <a:off x="457200" y="4723278"/>
            <a:ext cx="8229600" cy="15632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marL="914400" lvl="1" indent="-457200">
              <a:spcBef>
                <a:spcPts val="1000"/>
              </a:spcBef>
            </a:pPr>
            <a:r>
              <a:rPr kumimoji="1" lang="zh-CN" altLang="en-US" sz="2000" kern="0" dirty="0">
                <a:solidFill>
                  <a:srgbClr val="0432FF"/>
                </a:solidFill>
              </a:rPr>
              <a:t>写回</a:t>
            </a:r>
            <a:r>
              <a:rPr kumimoji="1" lang="zh-CN" altLang="en-US" sz="2000" kern="0" dirty="0"/>
              <a:t>：先将数据写入</a:t>
            </a:r>
            <a:r>
              <a:rPr kumimoji="1" lang="en-US" altLang="zh-CN" sz="2000" kern="0" dirty="0"/>
              <a:t>Cache</a:t>
            </a:r>
            <a:r>
              <a:rPr kumimoji="1" lang="zh-CN" altLang="en-US" sz="2000" kern="0" dirty="0"/>
              <a:t>中，之后在该块要被替换出</a:t>
            </a:r>
            <a:r>
              <a:rPr kumimoji="1" lang="en-US" altLang="zh-CN" sz="2000" kern="0" dirty="0"/>
              <a:t>Cache</a:t>
            </a:r>
            <a:r>
              <a:rPr kumimoji="1" lang="zh-CN" altLang="en-US" sz="2000" kern="0" dirty="0"/>
              <a:t>时才将数据写到主存储器中。</a:t>
            </a:r>
            <a:endParaRPr kumimoji="1" lang="en-US" altLang="zh-CN" sz="2000" kern="0" dirty="0"/>
          </a:p>
          <a:p>
            <a:pPr marL="1314450" lvl="2" indent="-457200">
              <a:spcBef>
                <a:spcPts val="1000"/>
              </a:spcBef>
            </a:pPr>
            <a:r>
              <a:rPr kumimoji="1" lang="zh-CN" altLang="en-US" sz="1800" kern="0" dirty="0"/>
              <a:t>会存在</a:t>
            </a:r>
            <a:r>
              <a:rPr kumimoji="1" lang="en-US" altLang="zh-CN" sz="1800" kern="0" dirty="0"/>
              <a:t>cache</a:t>
            </a:r>
            <a:r>
              <a:rPr kumimoji="1" lang="zh-CN" altLang="en-US" sz="1800" kern="0" dirty="0"/>
              <a:t>和主存数据暂时不一致的现象。</a:t>
            </a:r>
            <a:endParaRPr kumimoji="1" lang="en-US" altLang="zh-CN" sz="1800" kern="0" dirty="0"/>
          </a:p>
          <a:p>
            <a:pPr marL="1314450" lvl="2" indent="-457200">
              <a:spcBef>
                <a:spcPts val="1000"/>
              </a:spcBef>
            </a:pPr>
            <a:r>
              <a:rPr kumimoji="1" lang="zh-CN" altLang="en-US" sz="1800" kern="0" dirty="0"/>
              <a:t>缓存每一行有一个</a:t>
            </a:r>
            <a:r>
              <a:rPr kumimoji="1" lang="zh-CN" altLang="en-US" sz="1800" kern="0" dirty="0">
                <a:solidFill>
                  <a:srgbClr val="0432FF"/>
                </a:solidFill>
              </a:rPr>
              <a:t>脏位（</a:t>
            </a:r>
            <a:r>
              <a:rPr kumimoji="1" lang="en-US" altLang="zh-CN" sz="1800" kern="0" dirty="0">
                <a:solidFill>
                  <a:srgbClr val="0432FF"/>
                </a:solidFill>
              </a:rPr>
              <a:t>D</a:t>
            </a:r>
            <a:r>
              <a:rPr kumimoji="1" lang="zh-CN" altLang="en-US" sz="1800" kern="0" dirty="0">
                <a:solidFill>
                  <a:srgbClr val="0432FF"/>
                </a:solidFill>
              </a:rPr>
              <a:t>）</a:t>
            </a:r>
            <a:r>
              <a:rPr kumimoji="1" lang="zh-CN" altLang="en-US" sz="1800" kern="0" dirty="0"/>
              <a:t>：记录这一行是否被修改。</a:t>
            </a:r>
            <a:endParaRPr kumimoji="1" lang="zh-CN" altLang="en-US" sz="1200" kern="0" dirty="0"/>
          </a:p>
        </p:txBody>
      </p:sp>
    </p:spTree>
    <p:extLst>
      <p:ext uri="{BB962C8B-B14F-4D97-AF65-F5344CB8AC3E}">
        <p14:creationId xmlns:p14="http://schemas.microsoft.com/office/powerpoint/2010/main" val="296273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缓存性能评估：</a:t>
            </a:r>
            <a:r>
              <a:rPr lang="en-US" altLang="zh-CN" dirty="0"/>
              <a:t>3C</a:t>
            </a:r>
            <a:r>
              <a:rPr lang="zh-CN" altLang="en-US" dirty="0"/>
              <a:t>原则</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8" name="内容占位符 2">
            <a:extLst>
              <a:ext uri="{FF2B5EF4-FFF2-40B4-BE49-F238E27FC236}">
                <a16:creationId xmlns:a16="http://schemas.microsoft.com/office/drawing/2014/main" id="{3A8B7439-77C7-49D7-B6EB-6A534D295CBF}"/>
              </a:ext>
            </a:extLst>
          </p:cNvPr>
          <p:cNvSpPr>
            <a:spLocks noGrp="1"/>
          </p:cNvSpPr>
          <p:nvPr>
            <p:ph idx="1"/>
          </p:nvPr>
        </p:nvSpPr>
        <p:spPr>
          <a:xfrm>
            <a:off x="457200" y="1336248"/>
            <a:ext cx="8229600" cy="4525962"/>
          </a:xfrm>
        </p:spPr>
        <p:txBody>
          <a:bodyPr/>
          <a:lstStyle/>
          <a:p>
            <a:pPr marL="514350" indent="-457200">
              <a:spcBef>
                <a:spcPts val="1000"/>
              </a:spcBef>
            </a:pPr>
            <a:r>
              <a:rPr kumimoji="1" lang="en-US" altLang="zh-CN" dirty="0"/>
              <a:t>3C</a:t>
            </a:r>
            <a:r>
              <a:rPr kumimoji="1" lang="zh-CN" altLang="en-US" dirty="0"/>
              <a:t>原则</a:t>
            </a:r>
            <a:endParaRPr kumimoji="1" lang="en-US" altLang="zh-CN" dirty="0"/>
          </a:p>
          <a:p>
            <a:pPr marL="914400" lvl="1" indent="-457200">
              <a:spcBef>
                <a:spcPts val="1000"/>
              </a:spcBef>
            </a:pPr>
            <a:r>
              <a:rPr kumimoji="1" lang="zh-CN" altLang="en-US" sz="2400" dirty="0"/>
              <a:t>强迫性缺失</a:t>
            </a:r>
            <a:r>
              <a:rPr kumimoji="1" lang="en-US" altLang="zh-CN" sz="2400" dirty="0"/>
              <a:t>(</a:t>
            </a:r>
            <a:r>
              <a:rPr kumimoji="1" lang="en-US" altLang="zh-CN" sz="2400" u="sng" dirty="0"/>
              <a:t>C</a:t>
            </a:r>
            <a:r>
              <a:rPr kumimoji="1" lang="en-US" altLang="zh-CN" sz="2400" dirty="0"/>
              <a:t>ompulsory)</a:t>
            </a:r>
            <a:r>
              <a:rPr kumimoji="1" lang="zh-CN" altLang="en-US" sz="2400" dirty="0"/>
              <a:t>：第一次访问主存储器中的某一个数据块，只能先从主存储器将数据加载到</a:t>
            </a:r>
            <a:r>
              <a:rPr kumimoji="1" lang="en-US" altLang="zh-CN" sz="2400" dirty="0"/>
              <a:t>cache</a:t>
            </a:r>
            <a:r>
              <a:rPr kumimoji="1" lang="zh-CN" altLang="en-US" sz="2400" dirty="0"/>
              <a:t>中，也称为</a:t>
            </a:r>
            <a:r>
              <a:rPr kumimoji="1" lang="zh-CN" altLang="en-US" sz="2400" dirty="0">
                <a:solidFill>
                  <a:srgbClr val="0432FF"/>
                </a:solidFill>
              </a:rPr>
              <a:t>冷启动缺失或首次访问失效</a:t>
            </a:r>
            <a:endParaRPr kumimoji="1" lang="en-US" altLang="zh-CN" sz="2400" dirty="0">
              <a:solidFill>
                <a:srgbClr val="0432FF"/>
              </a:solidFill>
            </a:endParaRPr>
          </a:p>
          <a:p>
            <a:pPr marL="914400" lvl="1" indent="-457200">
              <a:spcBef>
                <a:spcPts val="1000"/>
              </a:spcBef>
            </a:pPr>
            <a:r>
              <a:rPr kumimoji="1" lang="zh-CN" altLang="en-US" sz="2400" dirty="0"/>
              <a:t>容量缺失</a:t>
            </a:r>
            <a:r>
              <a:rPr kumimoji="1" lang="en-US" altLang="zh-CN" sz="2400" dirty="0"/>
              <a:t>(</a:t>
            </a:r>
            <a:r>
              <a:rPr kumimoji="1" lang="en-US" altLang="zh-CN" sz="2400" u="sng" dirty="0"/>
              <a:t>C</a:t>
            </a:r>
            <a:r>
              <a:rPr kumimoji="1" lang="en-US" altLang="zh-CN" sz="2400" dirty="0"/>
              <a:t>apacity)</a:t>
            </a:r>
            <a:r>
              <a:rPr kumimoji="1" lang="zh-CN" altLang="en-US" sz="2400" dirty="0"/>
              <a:t>：由于</a:t>
            </a:r>
            <a:r>
              <a:rPr kumimoji="1" lang="en-US" altLang="zh-CN" sz="2400" dirty="0"/>
              <a:t>cache</a:t>
            </a:r>
            <a:r>
              <a:rPr kumimoji="1" lang="zh-CN" altLang="en-US" sz="2400" dirty="0"/>
              <a:t>容纳不了程序所需的</a:t>
            </a:r>
            <a:r>
              <a:rPr kumimoji="1" lang="zh-CN" altLang="en-US" sz="2400" dirty="0">
                <a:solidFill>
                  <a:srgbClr val="1A49EA"/>
                </a:solidFill>
              </a:rPr>
              <a:t>所有</a:t>
            </a:r>
            <a:r>
              <a:rPr kumimoji="1" lang="zh-CN" altLang="en-US" sz="2400" dirty="0"/>
              <a:t>主存块而引起的缺失。</a:t>
            </a:r>
            <a:endParaRPr lang="en-US" altLang="zh-CN" sz="2000" dirty="0">
              <a:solidFill>
                <a:schemeClr val="accent1"/>
              </a:solidFill>
            </a:endParaRPr>
          </a:p>
          <a:p>
            <a:pPr marL="914400" lvl="1" indent="-457200">
              <a:spcBef>
                <a:spcPts val="1000"/>
              </a:spcBef>
            </a:pPr>
            <a:r>
              <a:rPr kumimoji="1" lang="zh-CN" altLang="en-US" sz="2400" dirty="0"/>
              <a:t>冲突缺失</a:t>
            </a:r>
            <a:r>
              <a:rPr kumimoji="1" lang="en-US" altLang="zh-CN" sz="2400" dirty="0"/>
              <a:t>(</a:t>
            </a:r>
            <a:r>
              <a:rPr kumimoji="1" lang="en-US" altLang="zh-CN" sz="2400" u="sng" dirty="0"/>
              <a:t>C</a:t>
            </a:r>
            <a:r>
              <a:rPr kumimoji="1" lang="en-US" altLang="zh-CN" sz="2400" dirty="0"/>
              <a:t>onflict)</a:t>
            </a:r>
            <a:r>
              <a:rPr kumimoji="1" lang="zh-CN" altLang="en-US" sz="2400" dirty="0"/>
              <a:t>：在</a:t>
            </a:r>
            <a:r>
              <a:rPr kumimoji="1" lang="zh-CN" altLang="en-US" sz="2400" dirty="0">
                <a:solidFill>
                  <a:srgbClr val="1A49EA"/>
                </a:solidFill>
              </a:rPr>
              <a:t>组相联</a:t>
            </a:r>
            <a:r>
              <a:rPr kumimoji="1" lang="zh-CN" altLang="en-US" sz="2400" dirty="0"/>
              <a:t>或者</a:t>
            </a:r>
            <a:r>
              <a:rPr kumimoji="1" lang="zh-CN" altLang="en-US" sz="2400" dirty="0">
                <a:solidFill>
                  <a:srgbClr val="1A49EA"/>
                </a:solidFill>
              </a:rPr>
              <a:t>直接映像</a:t>
            </a:r>
            <a:r>
              <a:rPr kumimoji="1" lang="zh-CN" altLang="en-US" sz="2400" dirty="0"/>
              <a:t>中，多个的主存块竞争</a:t>
            </a:r>
            <a:r>
              <a:rPr kumimoji="1" lang="zh-CN" altLang="en-US" sz="2400" dirty="0">
                <a:solidFill>
                  <a:srgbClr val="1A49EA"/>
                </a:solidFill>
              </a:rPr>
              <a:t>同一个</a:t>
            </a:r>
            <a:r>
              <a:rPr kumimoji="1" lang="en-US" altLang="zh-CN" sz="2400" dirty="0"/>
              <a:t>cache</a:t>
            </a:r>
            <a:r>
              <a:rPr kumimoji="1" lang="zh-CN" altLang="en-US" sz="2400" dirty="0"/>
              <a:t>组时引起的缺失</a:t>
            </a:r>
            <a:r>
              <a:rPr kumimoji="1" lang="zh-CN" altLang="en-US" sz="2400" dirty="0">
                <a:solidFill>
                  <a:srgbClr val="1A49EA"/>
                </a:solidFill>
              </a:rPr>
              <a:t>且该存储块曾经存在于</a:t>
            </a:r>
            <a:r>
              <a:rPr kumimoji="1" lang="en-US" altLang="zh-CN" sz="2400" dirty="0">
                <a:solidFill>
                  <a:srgbClr val="1A49EA"/>
                </a:solidFill>
              </a:rPr>
              <a:t>cache</a:t>
            </a:r>
            <a:r>
              <a:rPr kumimoji="1" lang="zh-CN" altLang="en-US" sz="2400" dirty="0">
                <a:solidFill>
                  <a:srgbClr val="1A49EA"/>
                </a:solidFill>
              </a:rPr>
              <a:t>中</a:t>
            </a:r>
            <a:r>
              <a:rPr kumimoji="1" lang="zh-CN" altLang="en-US" sz="2400" dirty="0"/>
              <a:t>，也称碰撞缺失（</a:t>
            </a:r>
            <a:r>
              <a:rPr kumimoji="1" lang="zh-CN" altLang="en-US" sz="2400" dirty="0">
                <a:solidFill>
                  <a:srgbClr val="FF0000"/>
                </a:solidFill>
              </a:rPr>
              <a:t>前提：</a:t>
            </a:r>
            <a:r>
              <a:rPr kumimoji="1" lang="en-US" altLang="zh-CN" sz="2400" dirty="0">
                <a:solidFill>
                  <a:srgbClr val="FF0000"/>
                </a:solidFill>
              </a:rPr>
              <a:t>cache</a:t>
            </a:r>
            <a:r>
              <a:rPr kumimoji="1" lang="zh-CN" altLang="en-US" sz="2400" dirty="0">
                <a:solidFill>
                  <a:srgbClr val="FF0000"/>
                </a:solidFill>
              </a:rPr>
              <a:t>未满</a:t>
            </a:r>
            <a:r>
              <a:rPr kumimoji="1" lang="zh-CN" altLang="en-US" sz="2400" dirty="0"/>
              <a:t>）。</a:t>
            </a:r>
            <a:endParaRPr lang="en-US" altLang="zh-CN" sz="2000" dirty="0">
              <a:solidFill>
                <a:schemeClr val="accent1"/>
              </a:solidFill>
            </a:endParaRPr>
          </a:p>
        </p:txBody>
      </p:sp>
      <p:sp>
        <p:nvSpPr>
          <p:cNvPr id="5" name="文本框 4">
            <a:extLst>
              <a:ext uri="{FF2B5EF4-FFF2-40B4-BE49-F238E27FC236}">
                <a16:creationId xmlns:a16="http://schemas.microsoft.com/office/drawing/2014/main" id="{3A96D63A-3ECF-760D-8F3B-741BE5D8B7BF}"/>
              </a:ext>
            </a:extLst>
          </p:cNvPr>
          <p:cNvSpPr txBox="1"/>
          <p:nvPr/>
        </p:nvSpPr>
        <p:spPr>
          <a:xfrm>
            <a:off x="150471" y="5684476"/>
            <a:ext cx="8536329" cy="830997"/>
          </a:xfrm>
          <a:prstGeom prst="rect">
            <a:avLst/>
          </a:prstGeom>
          <a:noFill/>
        </p:spPr>
        <p:txBody>
          <a:bodyPr wrap="square" rtlCol="0">
            <a:spAutoFit/>
          </a:bodyPr>
          <a:lstStyle/>
          <a:p>
            <a:r>
              <a:rPr kumimoji="1" lang="zh-CN" altLang="en-US" sz="2400" b="1" dirty="0">
                <a:solidFill>
                  <a:srgbClr val="FF0000"/>
                </a:solidFill>
                <a:latin typeface="+mn-ea"/>
                <a:ea typeface="+mn-ea"/>
              </a:rPr>
              <a:t>注意：</a:t>
            </a:r>
            <a:r>
              <a:rPr kumimoji="1" lang="zh-CN" altLang="en-US" sz="2400" b="1" dirty="0">
                <a:latin typeface="+mn-ea"/>
                <a:ea typeface="+mn-ea"/>
              </a:rPr>
              <a:t>所有新的数据块第一次进入</a:t>
            </a:r>
            <a:r>
              <a:rPr kumimoji="1" lang="en-US" altLang="zh-CN" sz="2400" b="1" dirty="0">
                <a:latin typeface="+mn-ea"/>
                <a:ea typeface="+mn-ea"/>
              </a:rPr>
              <a:t>cache</a:t>
            </a:r>
            <a:r>
              <a:rPr kumimoji="1" lang="zh-CN" altLang="en-US" sz="2400" b="1" dirty="0">
                <a:latin typeface="+mn-ea"/>
                <a:ea typeface="+mn-ea"/>
              </a:rPr>
              <a:t>时都为强迫性缺失，替换出去后再次进入</a:t>
            </a:r>
            <a:r>
              <a:rPr kumimoji="1" lang="en-US" altLang="zh-CN" sz="2400" b="1" dirty="0">
                <a:latin typeface="+mn-ea"/>
                <a:ea typeface="+mn-ea"/>
              </a:rPr>
              <a:t>cache</a:t>
            </a:r>
            <a:r>
              <a:rPr kumimoji="1" lang="zh-CN" altLang="en-US" sz="2400" b="1" dirty="0">
                <a:latin typeface="+mn-ea"/>
                <a:ea typeface="+mn-ea"/>
              </a:rPr>
              <a:t>按情况分为容量缺失或冲突缺失。</a:t>
            </a:r>
            <a:endParaRPr lang="zh-CN" altLang="en-US" sz="2400" b="1" dirty="0">
              <a:latin typeface="+mn-ea"/>
              <a:ea typeface="+mn-ea"/>
            </a:endParaRPr>
          </a:p>
        </p:txBody>
      </p:sp>
      <p:sp>
        <p:nvSpPr>
          <p:cNvPr id="4" name="文本框 3">
            <a:extLst>
              <a:ext uri="{FF2B5EF4-FFF2-40B4-BE49-F238E27FC236}">
                <a16:creationId xmlns:a16="http://schemas.microsoft.com/office/drawing/2014/main" id="{73EF4BCD-EEBD-E1CD-B0BE-34CC694018C9}"/>
              </a:ext>
            </a:extLst>
          </p:cNvPr>
          <p:cNvSpPr txBox="1"/>
          <p:nvPr/>
        </p:nvSpPr>
        <p:spPr>
          <a:xfrm>
            <a:off x="147036" y="299851"/>
            <a:ext cx="1828800" cy="646331"/>
          </a:xfrm>
          <a:prstGeom prst="rect">
            <a:avLst/>
          </a:prstGeom>
          <a:noFill/>
        </p:spPr>
        <p:txBody>
          <a:bodyPr wrap="square" rtlCol="0">
            <a:spAutoFit/>
          </a:bodyPr>
          <a:lstStyle/>
          <a:p>
            <a:r>
              <a:rPr kumimoji="1" lang="zh-CN" altLang="en-US" dirty="0">
                <a:solidFill>
                  <a:srgbClr val="FF0000"/>
                </a:solidFill>
                <a:ea typeface="SimHei" panose="02010609060101010101" pitchFamily="49" charset="-122"/>
              </a:rPr>
              <a:t>需要掌握如何</a:t>
            </a:r>
            <a:br>
              <a:rPr kumimoji="1" lang="en-US" altLang="zh-CN" dirty="0">
                <a:solidFill>
                  <a:srgbClr val="FF0000"/>
                </a:solidFill>
                <a:ea typeface="SimHei" panose="02010609060101010101" pitchFamily="49" charset="-122"/>
              </a:rPr>
            </a:br>
            <a:r>
              <a:rPr kumimoji="1" lang="zh-CN" altLang="en-US" dirty="0">
                <a:solidFill>
                  <a:srgbClr val="FF0000"/>
                </a:solidFill>
                <a:ea typeface="SimHei" panose="02010609060101010101" pitchFamily="49" charset="-122"/>
              </a:rPr>
              <a:t>计算各类缺失数</a:t>
            </a:r>
          </a:p>
        </p:txBody>
      </p:sp>
    </p:spTree>
    <p:extLst>
      <p:ext uri="{BB962C8B-B14F-4D97-AF65-F5344CB8AC3E}">
        <p14:creationId xmlns:p14="http://schemas.microsoft.com/office/powerpoint/2010/main" val="2899614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en-US" altLang="zh-CN" dirty="0"/>
              <a:t>Cache</a:t>
            </a:r>
            <a:r>
              <a:rPr lang="zh-CN" altLang="en-US" dirty="0"/>
              <a:t>性能评估：</a:t>
            </a:r>
            <a:r>
              <a:rPr lang="en-US" altLang="zh-CN" dirty="0"/>
              <a:t>3C</a:t>
            </a:r>
            <a:r>
              <a:rPr lang="zh-CN" altLang="en-US" dirty="0"/>
              <a:t>原则</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53</a:t>
            </a:fld>
            <a:endParaRPr lang="en-US" altLang="zh-CN"/>
          </a:p>
        </p:txBody>
      </p:sp>
      <p:graphicFrame>
        <p:nvGraphicFramePr>
          <p:cNvPr id="7" name="内容占位符 6">
            <a:extLst>
              <a:ext uri="{FF2B5EF4-FFF2-40B4-BE49-F238E27FC236}">
                <a16:creationId xmlns:a16="http://schemas.microsoft.com/office/drawing/2014/main" id="{38F79D90-1C5C-E54B-80D4-4458FBE7FA3A}"/>
              </a:ext>
            </a:extLst>
          </p:cNvPr>
          <p:cNvGraphicFramePr>
            <a:graphicFrameLocks noGrp="1" noChangeAspect="1"/>
          </p:cNvGraphicFramePr>
          <p:nvPr>
            <p:ph idx="1"/>
          </p:nvPr>
        </p:nvGraphicFramePr>
        <p:xfrm>
          <a:off x="1405890" y="4023359"/>
          <a:ext cx="6604575" cy="2383576"/>
        </p:xfrm>
        <a:graphic>
          <a:graphicData uri="http://schemas.openxmlformats.org/drawingml/2006/table">
            <a:tbl>
              <a:tblPr>
                <a:tableStyleId>{E8B1032C-EA38-4F05-BA0D-38AFFFC7BED3}</a:tableStyleId>
              </a:tblPr>
              <a:tblGrid>
                <a:gridCol w="2198815">
                  <a:extLst>
                    <a:ext uri="{9D8B030D-6E8A-4147-A177-3AD203B41FA5}">
                      <a16:colId xmlns:a16="http://schemas.microsoft.com/office/drawing/2014/main" val="3499421799"/>
                    </a:ext>
                  </a:extLst>
                </a:gridCol>
                <a:gridCol w="1101440">
                  <a:extLst>
                    <a:ext uri="{9D8B030D-6E8A-4147-A177-3AD203B41FA5}">
                      <a16:colId xmlns:a16="http://schemas.microsoft.com/office/drawing/2014/main" val="103855347"/>
                    </a:ext>
                  </a:extLst>
                </a:gridCol>
                <a:gridCol w="1101440">
                  <a:extLst>
                    <a:ext uri="{9D8B030D-6E8A-4147-A177-3AD203B41FA5}">
                      <a16:colId xmlns:a16="http://schemas.microsoft.com/office/drawing/2014/main" val="1038976994"/>
                    </a:ext>
                  </a:extLst>
                </a:gridCol>
                <a:gridCol w="1101440">
                  <a:extLst>
                    <a:ext uri="{9D8B030D-6E8A-4147-A177-3AD203B41FA5}">
                      <a16:colId xmlns:a16="http://schemas.microsoft.com/office/drawing/2014/main" val="3196574265"/>
                    </a:ext>
                  </a:extLst>
                </a:gridCol>
                <a:gridCol w="1101440">
                  <a:extLst>
                    <a:ext uri="{9D8B030D-6E8A-4147-A177-3AD203B41FA5}">
                      <a16:colId xmlns:a16="http://schemas.microsoft.com/office/drawing/2014/main" val="4228271962"/>
                    </a:ext>
                  </a:extLst>
                </a:gridCol>
              </a:tblGrid>
              <a:tr h="603165">
                <a:tc>
                  <a:txBody>
                    <a:bodyPr/>
                    <a:lstStyle/>
                    <a:p>
                      <a:pPr algn="ctr" fontAlgn="ctr"/>
                      <a:endParaRPr lang="zh-CN" altLang="en-US" sz="24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1" u="none" strike="noStrike" dirty="0">
                          <a:effectLst/>
                        </a:rPr>
                        <a:t>强制缺失</a:t>
                      </a:r>
                      <a:endParaRPr lang="zh-CN" altLang="en-US" sz="2000" b="1"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1" u="none" strike="noStrike" dirty="0">
                          <a:effectLst/>
                        </a:rPr>
                        <a:t>容量缺失</a:t>
                      </a:r>
                      <a:endParaRPr lang="zh-CN" altLang="en-US" sz="2000" b="1"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1" u="none" strike="noStrike" dirty="0">
                          <a:effectLst/>
                        </a:rPr>
                        <a:t>冲突缺失</a:t>
                      </a:r>
                      <a:endParaRPr lang="zh-CN" altLang="en-US" sz="2000" b="1"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1" u="none" strike="noStrike" dirty="0">
                          <a:effectLst/>
                        </a:rPr>
                        <a:t>命中时间</a:t>
                      </a:r>
                      <a:endParaRPr lang="zh-CN" altLang="en-US" sz="2000" b="1" i="0" u="none" strike="noStrike" dirty="0">
                        <a:solidFill>
                          <a:srgbClr val="000000"/>
                        </a:solidFill>
                        <a:effectLst/>
                        <a:latin typeface="+mn-ea"/>
                        <a:ea typeface="+mn-ea"/>
                      </a:endParaRPr>
                    </a:p>
                  </a:txBody>
                  <a:tcPr marL="9525" marR="9525" marT="9525" marB="0" anchor="ctr"/>
                </a:tc>
                <a:extLst>
                  <a:ext uri="{0D108BD9-81ED-4DB2-BD59-A6C34878D82A}">
                    <a16:rowId xmlns:a16="http://schemas.microsoft.com/office/drawing/2014/main" val="2058655364"/>
                  </a:ext>
                </a:extLst>
              </a:tr>
              <a:tr h="588623">
                <a:tc>
                  <a:txBody>
                    <a:bodyPr/>
                    <a:lstStyle/>
                    <a:p>
                      <a:pPr algn="ctr" fontAlgn="ctr"/>
                      <a:r>
                        <a:rPr lang="en-US" altLang="zh-CN" sz="2000" b="0" u="none" strike="noStrike" dirty="0">
                          <a:effectLst/>
                        </a:rPr>
                        <a:t>Cache</a:t>
                      </a:r>
                      <a:r>
                        <a:rPr lang="zh-CN" altLang="en-US" sz="2000" b="0" u="none" strike="noStrike" dirty="0">
                          <a:effectLst/>
                        </a:rPr>
                        <a:t>容量↑</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en-US" altLang="zh-CN" sz="2000" b="0" u="none" strike="noStrike" dirty="0">
                          <a:effectLst/>
                        </a:rPr>
                        <a:t>-</a:t>
                      </a:r>
                      <a:endParaRPr lang="en-US" altLang="zh-CN"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dirty="0">
                          <a:effectLst/>
                        </a:rPr>
                        <a:t>↓</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a:effectLst/>
                        </a:rPr>
                        <a:t>↓</a:t>
                      </a:r>
                      <a:endParaRPr lang="zh-CN" altLang="en-US" sz="2000" b="0" i="0" u="none" strike="noStrike">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a:effectLst/>
                        </a:rPr>
                        <a:t>↑</a:t>
                      </a:r>
                      <a:endParaRPr lang="zh-CN" altLang="en-US" sz="2000" b="0" i="0" u="none" strike="noStrike">
                        <a:solidFill>
                          <a:srgbClr val="000000"/>
                        </a:solidFill>
                        <a:effectLst/>
                        <a:latin typeface="+mn-ea"/>
                        <a:ea typeface="+mn-ea"/>
                      </a:endParaRPr>
                    </a:p>
                  </a:txBody>
                  <a:tcPr marL="9525" marR="9525" marT="9525" marB="0" anchor="ctr"/>
                </a:tc>
                <a:extLst>
                  <a:ext uri="{0D108BD9-81ED-4DB2-BD59-A6C34878D82A}">
                    <a16:rowId xmlns:a16="http://schemas.microsoft.com/office/drawing/2014/main" val="1253698381"/>
                  </a:ext>
                </a:extLst>
              </a:tr>
              <a:tr h="603165">
                <a:tc>
                  <a:txBody>
                    <a:bodyPr/>
                    <a:lstStyle/>
                    <a:p>
                      <a:pPr algn="ctr" fontAlgn="ctr"/>
                      <a:r>
                        <a:rPr lang="en-US" altLang="zh-CN" sz="2000" b="0" u="none" strike="noStrike" dirty="0">
                          <a:effectLst/>
                        </a:rPr>
                        <a:t>Cache</a:t>
                      </a:r>
                      <a:r>
                        <a:rPr lang="zh-CN" altLang="en-US" sz="2000" b="0" u="none" strike="noStrike" dirty="0">
                          <a:effectLst/>
                        </a:rPr>
                        <a:t>行大小↑</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dirty="0">
                          <a:effectLst/>
                        </a:rPr>
                        <a:t>↓</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dirty="0">
                          <a:effectLst/>
                        </a:rPr>
                        <a:t>↑</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dirty="0">
                          <a:effectLst/>
                        </a:rPr>
                        <a:t>↑</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dirty="0">
                          <a:effectLst/>
                        </a:rPr>
                        <a:t>↓</a:t>
                      </a:r>
                      <a:endParaRPr lang="zh-CN" altLang="en-US" sz="2000" b="0" i="0" u="none" strike="noStrike" dirty="0">
                        <a:solidFill>
                          <a:srgbClr val="000000"/>
                        </a:solidFill>
                        <a:effectLst/>
                        <a:latin typeface="+mn-ea"/>
                        <a:ea typeface="+mn-ea"/>
                      </a:endParaRPr>
                    </a:p>
                  </a:txBody>
                  <a:tcPr marL="9525" marR="9525" marT="9525" marB="0" anchor="ctr"/>
                </a:tc>
                <a:extLst>
                  <a:ext uri="{0D108BD9-81ED-4DB2-BD59-A6C34878D82A}">
                    <a16:rowId xmlns:a16="http://schemas.microsoft.com/office/drawing/2014/main" val="2694842436"/>
                  </a:ext>
                </a:extLst>
              </a:tr>
              <a:tr h="588623">
                <a:tc>
                  <a:txBody>
                    <a:bodyPr/>
                    <a:lstStyle/>
                    <a:p>
                      <a:pPr algn="ctr" fontAlgn="ctr"/>
                      <a:r>
                        <a:rPr lang="en-US" altLang="zh-CN" sz="2000" b="0" u="none" strike="noStrike" dirty="0">
                          <a:effectLst/>
                        </a:rPr>
                        <a:t>Cache</a:t>
                      </a:r>
                      <a:r>
                        <a:rPr lang="zh-CN" altLang="en-US" sz="2000" b="0" u="none" strike="noStrike" dirty="0">
                          <a:effectLst/>
                        </a:rPr>
                        <a:t>相联度↑</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en-US" altLang="zh-CN" sz="2000" b="0" u="none" strike="noStrike">
                          <a:effectLst/>
                        </a:rPr>
                        <a:t>-</a:t>
                      </a:r>
                      <a:endParaRPr lang="en-US" altLang="zh-CN" sz="2000" b="0" i="0" u="none" strike="noStrike">
                        <a:solidFill>
                          <a:srgbClr val="000000"/>
                        </a:solidFill>
                        <a:effectLst/>
                        <a:latin typeface="+mn-ea"/>
                        <a:ea typeface="+mn-ea"/>
                      </a:endParaRPr>
                    </a:p>
                  </a:txBody>
                  <a:tcPr marL="9525" marR="9525" marT="9525" marB="0" anchor="ctr"/>
                </a:tc>
                <a:tc>
                  <a:txBody>
                    <a:bodyPr/>
                    <a:lstStyle/>
                    <a:p>
                      <a:pPr algn="ctr" fontAlgn="ctr"/>
                      <a:r>
                        <a:rPr lang="en-US" altLang="zh-CN" sz="2000" b="0" u="none" strike="noStrike" dirty="0">
                          <a:effectLst/>
                        </a:rPr>
                        <a:t>-</a:t>
                      </a:r>
                      <a:endParaRPr lang="en-US" altLang="zh-CN"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dirty="0">
                          <a:effectLst/>
                        </a:rPr>
                        <a:t>↓</a:t>
                      </a:r>
                      <a:endParaRPr lang="zh-CN" altLang="en-US" sz="2000" b="0" i="0" u="none" strike="noStrike" dirty="0">
                        <a:solidFill>
                          <a:srgbClr val="000000"/>
                        </a:solidFill>
                        <a:effectLst/>
                        <a:latin typeface="+mn-ea"/>
                        <a:ea typeface="+mn-ea"/>
                      </a:endParaRPr>
                    </a:p>
                  </a:txBody>
                  <a:tcPr marL="9525" marR="9525" marT="9525" marB="0" anchor="ctr"/>
                </a:tc>
                <a:tc>
                  <a:txBody>
                    <a:bodyPr/>
                    <a:lstStyle/>
                    <a:p>
                      <a:pPr algn="ctr" fontAlgn="ctr"/>
                      <a:r>
                        <a:rPr lang="zh-CN" altLang="en-US" sz="2000" b="0" u="none" strike="noStrike" dirty="0">
                          <a:effectLst/>
                        </a:rPr>
                        <a:t>↑</a:t>
                      </a:r>
                      <a:endParaRPr lang="zh-CN" altLang="en-US" sz="2000" b="0" i="0" u="none" strike="noStrike" dirty="0">
                        <a:solidFill>
                          <a:srgbClr val="000000"/>
                        </a:solidFill>
                        <a:effectLst/>
                        <a:latin typeface="+mn-ea"/>
                        <a:ea typeface="+mn-ea"/>
                      </a:endParaRPr>
                    </a:p>
                  </a:txBody>
                  <a:tcPr marL="9525" marR="9525" marT="9525" marB="0" anchor="ctr"/>
                </a:tc>
                <a:extLst>
                  <a:ext uri="{0D108BD9-81ED-4DB2-BD59-A6C34878D82A}">
                    <a16:rowId xmlns:a16="http://schemas.microsoft.com/office/drawing/2014/main" val="1674407874"/>
                  </a:ext>
                </a:extLst>
              </a:tr>
            </a:tbl>
          </a:graphicData>
        </a:graphic>
      </p:graphicFrame>
      <p:sp>
        <p:nvSpPr>
          <p:cNvPr id="9" name="内容占位符 2">
            <a:extLst>
              <a:ext uri="{FF2B5EF4-FFF2-40B4-BE49-F238E27FC236}">
                <a16:creationId xmlns:a16="http://schemas.microsoft.com/office/drawing/2014/main" id="{E7048367-23CB-B44A-8793-3070A9C9591F}"/>
              </a:ext>
            </a:extLst>
          </p:cNvPr>
          <p:cNvSpPr txBox="1">
            <a:spLocks/>
          </p:cNvSpPr>
          <p:nvPr/>
        </p:nvSpPr>
        <p:spPr bwMode="auto">
          <a:xfrm>
            <a:off x="457199" y="1551433"/>
            <a:ext cx="8329613" cy="22547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marL="514350" indent="-457200">
              <a:spcBef>
                <a:spcPts val="1000"/>
              </a:spcBef>
            </a:pPr>
            <a:r>
              <a:rPr kumimoji="1" lang="en-US" altLang="zh-CN" kern="0" dirty="0"/>
              <a:t>Cache</a:t>
            </a:r>
            <a:r>
              <a:rPr kumimoji="1" lang="zh-CN" altLang="en-US" kern="0" dirty="0"/>
              <a:t>容量、行大小、相联度的影响</a:t>
            </a:r>
            <a:endParaRPr kumimoji="1" lang="en-US" altLang="zh-CN" kern="0" dirty="0"/>
          </a:p>
          <a:p>
            <a:pPr marL="914400" lvl="1" indent="-457200">
              <a:spcBef>
                <a:spcPts val="1000"/>
              </a:spcBef>
            </a:pPr>
            <a:r>
              <a:rPr kumimoji="1" lang="zh-CN" altLang="en-US" sz="2400" kern="0" dirty="0"/>
              <a:t>命中时间：主要与硬件实现的复杂度有关，复杂度越高，物理连线的延时就越大，从而命中时间会更长</a:t>
            </a:r>
            <a:endParaRPr kumimoji="1" lang="en-US" altLang="zh-CN" sz="2400" kern="0" dirty="0"/>
          </a:p>
          <a:p>
            <a:pPr marL="914400" lvl="1" indent="-457200">
              <a:spcBef>
                <a:spcPts val="1000"/>
              </a:spcBef>
            </a:pPr>
            <a:r>
              <a:rPr lang="zh-CN" altLang="en-US" sz="2400" kern="0" dirty="0"/>
              <a:t>采用</a:t>
            </a:r>
            <a:r>
              <a:rPr lang="zh-CN" altLang="en-US" sz="2400" kern="0" dirty="0">
                <a:solidFill>
                  <a:srgbClr val="1A49EA"/>
                </a:solidFill>
              </a:rPr>
              <a:t>控制变量法</a:t>
            </a:r>
            <a:r>
              <a:rPr lang="zh-CN" altLang="en-US" sz="2400" kern="0" dirty="0"/>
              <a:t>进行研究。如增大</a:t>
            </a:r>
            <a:r>
              <a:rPr lang="en-US" altLang="zh-CN" sz="2400" kern="0" dirty="0"/>
              <a:t>cache</a:t>
            </a:r>
            <a:r>
              <a:rPr lang="zh-CN" altLang="en-US" sz="2400" kern="0" dirty="0"/>
              <a:t>容量时会保证行大小、相联度不变（增加的是</a:t>
            </a:r>
            <a:r>
              <a:rPr lang="en-US" altLang="zh-CN" sz="2400" kern="0" dirty="0"/>
              <a:t>cache</a:t>
            </a:r>
            <a:r>
              <a:rPr lang="zh-CN" altLang="en-US" sz="2400" kern="0" dirty="0"/>
              <a:t>行数）</a:t>
            </a:r>
            <a:endParaRPr lang="en-US" altLang="zh-CN" sz="2400" kern="0" dirty="0"/>
          </a:p>
        </p:txBody>
      </p:sp>
    </p:spTree>
    <p:extLst>
      <p:ext uri="{BB962C8B-B14F-4D97-AF65-F5344CB8AC3E}">
        <p14:creationId xmlns:p14="http://schemas.microsoft.com/office/powerpoint/2010/main" val="2745914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en-US" altLang="zh-CN" dirty="0"/>
              <a:t>Cache</a:t>
            </a:r>
            <a:r>
              <a:rPr lang="zh-CN" altLang="en-US" dirty="0"/>
              <a:t>性能评估：</a:t>
            </a:r>
            <a:r>
              <a:rPr lang="en-US" altLang="zh-CN" dirty="0"/>
              <a:t>Cache</a:t>
            </a:r>
            <a:r>
              <a:rPr lang="zh-CN" altLang="en-US" dirty="0"/>
              <a:t>评价指标</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54</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322830"/>
            <a:ext cx="8229600" cy="2700528"/>
          </a:xfrm>
        </p:spPr>
        <p:txBody>
          <a:bodyPr/>
          <a:lstStyle/>
          <a:p>
            <a:pPr marL="514350" indent="-457200">
              <a:spcBef>
                <a:spcPts val="672"/>
              </a:spcBef>
            </a:pPr>
            <a:r>
              <a:rPr kumimoji="1" lang="en-US" altLang="zh-CN" sz="2400" dirty="0"/>
              <a:t>CPU</a:t>
            </a:r>
            <a:r>
              <a:rPr kumimoji="1" lang="zh-CN" altLang="en-US" sz="2400" dirty="0"/>
              <a:t>时间可以分成两部分：</a:t>
            </a:r>
          </a:p>
          <a:p>
            <a:pPr marL="914400" lvl="1" indent="-457200">
              <a:spcBef>
                <a:spcPts val="672"/>
              </a:spcBef>
            </a:pPr>
            <a:r>
              <a:rPr kumimoji="1" lang="en-US" altLang="zh-CN" sz="2000" dirty="0"/>
              <a:t>CPU</a:t>
            </a:r>
            <a:r>
              <a:rPr kumimoji="1" lang="zh-CN" altLang="en-US" sz="2000" dirty="0"/>
              <a:t>花在</a:t>
            </a:r>
            <a:r>
              <a:rPr kumimoji="1" lang="zh-CN" altLang="en-US" sz="2000" dirty="0">
                <a:solidFill>
                  <a:srgbClr val="1A49EA"/>
                </a:solidFill>
              </a:rPr>
              <a:t>执行程序上</a:t>
            </a:r>
            <a:r>
              <a:rPr kumimoji="1" lang="zh-CN" altLang="en-US" sz="2000" dirty="0"/>
              <a:t>的时钟周期</a:t>
            </a:r>
          </a:p>
          <a:p>
            <a:pPr marL="914400" lvl="1" indent="-457200">
              <a:spcBef>
                <a:spcPts val="672"/>
              </a:spcBef>
            </a:pPr>
            <a:r>
              <a:rPr kumimoji="1" lang="en-US" altLang="zh-CN" sz="2000" dirty="0"/>
              <a:t>CPU</a:t>
            </a:r>
            <a:r>
              <a:rPr kumimoji="1" lang="zh-CN" altLang="en-US" sz="2000" dirty="0"/>
              <a:t>花在</a:t>
            </a:r>
            <a:r>
              <a:rPr kumimoji="1" lang="zh-CN" altLang="en-US" sz="2000" dirty="0">
                <a:solidFill>
                  <a:srgbClr val="1A49EA"/>
                </a:solidFill>
              </a:rPr>
              <a:t>等待存储器系统上</a:t>
            </a:r>
            <a:r>
              <a:rPr kumimoji="1" lang="zh-CN" altLang="en-US" sz="2000" dirty="0"/>
              <a:t>的时钟周期</a:t>
            </a:r>
          </a:p>
          <a:p>
            <a:pPr marL="514350" indent="-457200">
              <a:spcBef>
                <a:spcPts val="672"/>
              </a:spcBef>
            </a:pPr>
            <a:r>
              <a:rPr kumimoji="1" lang="zh-CN" altLang="en-US" sz="2400" dirty="0"/>
              <a:t>通常把</a:t>
            </a:r>
            <a:r>
              <a:rPr kumimoji="1" lang="en-US" altLang="zh-CN" sz="2400" dirty="0"/>
              <a:t>Cache</a:t>
            </a:r>
            <a:r>
              <a:rPr kumimoji="1" lang="zh-CN" altLang="en-US" sz="2400" dirty="0"/>
              <a:t>命中时的访问开销算作</a:t>
            </a:r>
            <a:r>
              <a:rPr kumimoji="1" lang="en-US" altLang="zh-CN" sz="2400" dirty="0"/>
              <a:t>CPU</a:t>
            </a:r>
            <a:r>
              <a:rPr kumimoji="1" lang="zh-CN" altLang="en-US" sz="2400" dirty="0"/>
              <a:t>正常执行周期的一部分</a:t>
            </a:r>
          </a:p>
        </p:txBody>
      </p:sp>
      <p:sp>
        <p:nvSpPr>
          <p:cNvPr id="5" name="Rectangle 8">
            <a:extLst>
              <a:ext uri="{FF2B5EF4-FFF2-40B4-BE49-F238E27FC236}">
                <a16:creationId xmlns:a16="http://schemas.microsoft.com/office/drawing/2014/main" id="{F95EEBF8-4829-2A4E-B639-38928D89004F}"/>
              </a:ext>
            </a:extLst>
          </p:cNvPr>
          <p:cNvSpPr>
            <a:spLocks noChangeArrowheads="1"/>
          </p:cNvSpPr>
          <p:nvPr/>
        </p:nvSpPr>
        <p:spPr bwMode="auto">
          <a:xfrm>
            <a:off x="450816" y="3396782"/>
            <a:ext cx="8436005" cy="410450"/>
          </a:xfrm>
          <a:prstGeom prst="rect">
            <a:avLst/>
          </a:prstGeom>
          <a:solidFill>
            <a:schemeClr val="bg1">
              <a:lumMod val="95000"/>
            </a:schemeClr>
          </a:solidFill>
          <a:ln w="9525" algn="ctr">
            <a:noFill/>
            <a:miter lim="800000"/>
            <a:headEnd type="none" w="sm" len="sm"/>
            <a:tailEnd type="none" w="sm" len="sm"/>
          </a:ln>
          <a:effectLst/>
          <a:extLs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101678" tIns="50840" rIns="101678" bIns="50840">
            <a:spAutoFit/>
          </a:bodyPr>
          <a:lstStyle/>
          <a:p>
            <a:r>
              <a:rPr lang="en-US" altLang="zh-CN" sz="2000" dirty="0">
                <a:solidFill>
                  <a:srgbClr val="1A49EA"/>
                </a:solidFill>
                <a:latin typeface="+mn-lt"/>
                <a:ea typeface="+mn-ea"/>
              </a:rPr>
              <a:t>CPU</a:t>
            </a:r>
            <a:r>
              <a:rPr lang="zh-CN" altLang="en-US" sz="2000" dirty="0">
                <a:solidFill>
                  <a:srgbClr val="1A49EA"/>
                </a:solidFill>
                <a:latin typeface="+mn-lt"/>
                <a:ea typeface="+mn-ea"/>
              </a:rPr>
              <a:t>时间 ＝</a:t>
            </a:r>
            <a:r>
              <a:rPr lang="zh-CN" altLang="en-US" sz="2000" dirty="0">
                <a:solidFill>
                  <a:srgbClr val="1A49EA"/>
                </a:solidFill>
                <a:ea typeface="SimHei" panose="02010609060101010101" pitchFamily="49" charset="-122"/>
                <a:sym typeface="Symbol" pitchFamily="18" charset="2"/>
              </a:rPr>
              <a:t>时钟周期</a:t>
            </a:r>
            <a:r>
              <a:rPr kumimoji="1" lang="en-US" altLang="zh-CN" sz="2000" dirty="0">
                <a:solidFill>
                  <a:srgbClr val="1A49EA"/>
                </a:solidFill>
                <a:ea typeface="SimHei" panose="02010609060101010101" pitchFamily="49" charset="-122"/>
              </a:rPr>
              <a:t>×</a:t>
            </a:r>
            <a:r>
              <a:rPr lang="en-US" altLang="zh-CN" sz="2000" dirty="0">
                <a:solidFill>
                  <a:srgbClr val="1A49EA"/>
                </a:solidFill>
                <a:latin typeface="+mn-lt"/>
                <a:ea typeface="+mn-ea"/>
              </a:rPr>
              <a:t>(CPU</a:t>
            </a:r>
            <a:r>
              <a:rPr lang="zh-CN" altLang="en-US" sz="2000" dirty="0">
                <a:solidFill>
                  <a:srgbClr val="1A49EA"/>
                </a:solidFill>
                <a:latin typeface="+mn-lt"/>
                <a:ea typeface="+mn-ea"/>
              </a:rPr>
              <a:t>执行时钟周期数 </a:t>
            </a:r>
            <a:r>
              <a:rPr lang="en-US" altLang="zh-CN" sz="2000" dirty="0">
                <a:solidFill>
                  <a:srgbClr val="1A49EA"/>
                </a:solidFill>
                <a:latin typeface="+mn-lt"/>
                <a:ea typeface="+mn-ea"/>
                <a:sym typeface="Symbol" pitchFamily="18" charset="2"/>
              </a:rPr>
              <a:t>+</a:t>
            </a:r>
            <a:r>
              <a:rPr lang="zh-CN" altLang="en-US" sz="2000" dirty="0">
                <a:solidFill>
                  <a:srgbClr val="1A49EA"/>
                </a:solidFill>
                <a:latin typeface="+mn-lt"/>
                <a:ea typeface="+mn-ea"/>
                <a:sym typeface="Symbol" pitchFamily="18" charset="2"/>
              </a:rPr>
              <a:t> </a:t>
            </a:r>
            <a:r>
              <a:rPr lang="zh-CN" altLang="en-US" sz="2000" dirty="0">
                <a:solidFill>
                  <a:srgbClr val="1A49EA"/>
                </a:solidFill>
                <a:latin typeface="+mn-lt"/>
                <a:ea typeface="+mn-ea"/>
              </a:rPr>
              <a:t>存储器停顿时钟周期数</a:t>
            </a:r>
            <a:r>
              <a:rPr lang="en-US" altLang="zh-CN" sz="2000" dirty="0">
                <a:solidFill>
                  <a:srgbClr val="1A49EA"/>
                </a:solidFill>
                <a:latin typeface="+mn-lt"/>
                <a:ea typeface="+mn-ea"/>
              </a:rPr>
              <a:t>) </a:t>
            </a:r>
          </a:p>
        </p:txBody>
      </p:sp>
      <p:sp>
        <p:nvSpPr>
          <p:cNvPr id="6" name="内容占位符 2">
            <a:extLst>
              <a:ext uri="{FF2B5EF4-FFF2-40B4-BE49-F238E27FC236}">
                <a16:creationId xmlns:a16="http://schemas.microsoft.com/office/drawing/2014/main" id="{242CDFAB-E0C5-A5BA-0C66-35B2716B8C16}"/>
              </a:ext>
            </a:extLst>
          </p:cNvPr>
          <p:cNvSpPr txBox="1">
            <a:spLocks/>
          </p:cNvSpPr>
          <p:nvPr/>
        </p:nvSpPr>
        <p:spPr bwMode="auto">
          <a:xfrm>
            <a:off x="394138" y="3835513"/>
            <a:ext cx="8229600" cy="23347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marL="514350" indent="-457200">
              <a:spcBef>
                <a:spcPts val="672"/>
              </a:spcBef>
            </a:pPr>
            <a:r>
              <a:rPr kumimoji="1" lang="zh-CN" altLang="en-US" sz="2400" kern="0" dirty="0"/>
              <a:t>存储器的停顿主要是</a:t>
            </a:r>
            <a:r>
              <a:rPr kumimoji="1" lang="en-US" altLang="zh-CN" sz="2400" kern="0" dirty="0">
                <a:solidFill>
                  <a:srgbClr val="1A49EA"/>
                </a:solidFill>
              </a:rPr>
              <a:t>Cache</a:t>
            </a:r>
            <a:r>
              <a:rPr kumimoji="1" lang="zh-CN" altLang="en-US" sz="2400" kern="0" dirty="0">
                <a:solidFill>
                  <a:srgbClr val="1A49EA"/>
                </a:solidFill>
              </a:rPr>
              <a:t>缺失</a:t>
            </a:r>
            <a:r>
              <a:rPr kumimoji="1" lang="zh-CN" altLang="en-US" sz="2400" kern="0" dirty="0"/>
              <a:t>导致</a:t>
            </a:r>
          </a:p>
          <a:p>
            <a:pPr marL="514350" indent="-457200">
              <a:spcBef>
                <a:spcPts val="672"/>
              </a:spcBef>
            </a:pPr>
            <a:r>
              <a:rPr kumimoji="1" lang="zh-CN" altLang="en-US" sz="2400" kern="0" dirty="0"/>
              <a:t>存储器停顿时钟周期数可以分为两部分：</a:t>
            </a:r>
          </a:p>
          <a:p>
            <a:pPr marL="914400" lvl="1" indent="-457200">
              <a:spcBef>
                <a:spcPts val="672"/>
              </a:spcBef>
            </a:pPr>
            <a:r>
              <a:rPr kumimoji="1" lang="zh-CN" altLang="en-US" sz="2000" kern="0" dirty="0">
                <a:solidFill>
                  <a:srgbClr val="1A49EA"/>
                </a:solidFill>
              </a:rPr>
              <a:t>读操作引起的停顿</a:t>
            </a:r>
          </a:p>
          <a:p>
            <a:pPr marL="914400" lvl="1" indent="-457200">
              <a:spcBef>
                <a:spcPts val="672"/>
              </a:spcBef>
            </a:pPr>
            <a:r>
              <a:rPr kumimoji="1" lang="zh-CN" altLang="en-US" sz="2000" kern="0" dirty="0">
                <a:solidFill>
                  <a:srgbClr val="1A49EA"/>
                </a:solidFill>
              </a:rPr>
              <a:t>写操作引起的停顿</a:t>
            </a:r>
            <a:endParaRPr kumimoji="1" lang="en-US" altLang="zh-CN" sz="2000" kern="0" dirty="0">
              <a:solidFill>
                <a:srgbClr val="1A49EA"/>
              </a:solidFill>
            </a:endParaRPr>
          </a:p>
          <a:p>
            <a:pPr marL="1314450" lvl="2" indent="-457200">
              <a:spcBef>
                <a:spcPts val="672"/>
              </a:spcBef>
            </a:pPr>
            <a:r>
              <a:rPr kumimoji="1" lang="zh-CN" altLang="en-US" sz="1800" kern="0" dirty="0">
                <a:solidFill>
                  <a:srgbClr val="1A49EA"/>
                </a:solidFill>
              </a:rPr>
              <a:t>写通过的停顿时钟周期数</a:t>
            </a:r>
            <a:endParaRPr kumimoji="1" lang="en-US" altLang="zh-CN" sz="1800" kern="0" dirty="0">
              <a:solidFill>
                <a:srgbClr val="1A49EA"/>
              </a:solidFill>
            </a:endParaRPr>
          </a:p>
          <a:p>
            <a:pPr marL="1314450" lvl="2" indent="-457200">
              <a:spcBef>
                <a:spcPts val="672"/>
              </a:spcBef>
            </a:pPr>
            <a:r>
              <a:rPr kumimoji="1" lang="zh-CN" altLang="en-US" sz="1800" kern="0" dirty="0">
                <a:solidFill>
                  <a:srgbClr val="1A49EA"/>
                </a:solidFill>
              </a:rPr>
              <a:t>写回的停顿时钟周期数</a:t>
            </a:r>
          </a:p>
        </p:txBody>
      </p:sp>
      <p:sp>
        <p:nvSpPr>
          <p:cNvPr id="7" name="Rectangle 8">
            <a:extLst>
              <a:ext uri="{FF2B5EF4-FFF2-40B4-BE49-F238E27FC236}">
                <a16:creationId xmlns:a16="http://schemas.microsoft.com/office/drawing/2014/main" id="{6FF9A319-8127-BD87-5813-7CA6206B2ABE}"/>
              </a:ext>
            </a:extLst>
          </p:cNvPr>
          <p:cNvSpPr>
            <a:spLocks noChangeArrowheads="1"/>
          </p:cNvSpPr>
          <p:nvPr/>
        </p:nvSpPr>
        <p:spPr bwMode="auto">
          <a:xfrm>
            <a:off x="1024259" y="6249844"/>
            <a:ext cx="7141780" cy="410450"/>
          </a:xfrm>
          <a:prstGeom prst="rect">
            <a:avLst/>
          </a:prstGeom>
          <a:solidFill>
            <a:schemeClr val="bg1">
              <a:lumMod val="95000"/>
            </a:schemeClr>
          </a:solidFill>
          <a:ln w="9525" algn="ctr">
            <a:noFill/>
            <a:miter lim="800000"/>
            <a:headEnd type="none" w="sm" len="sm"/>
            <a:tailEnd type="none" w="sm" len="sm"/>
          </a:ln>
          <a:effectLst/>
          <a:extLs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101678" tIns="50840" rIns="101678" bIns="50840">
            <a:spAutoFit/>
          </a:bodyPr>
          <a:lstStyle/>
          <a:p>
            <a:pPr algn="ctr"/>
            <a:r>
              <a:rPr lang="zh-CN" altLang="en-US" sz="2000" dirty="0">
                <a:solidFill>
                  <a:srgbClr val="1A49EA"/>
                </a:solidFill>
                <a:latin typeface="+mn-ea"/>
                <a:ea typeface="+mn-ea"/>
              </a:rPr>
              <a:t>存储器停顿时钟周期数 ＝ </a:t>
            </a:r>
            <a:r>
              <a:rPr kumimoji="0" lang="zh-CN" altLang="en-US" sz="2000" u="none" strike="noStrike" kern="1200" cap="none" spc="0" normalizeH="0" baseline="0" noProof="0" dirty="0">
                <a:ln>
                  <a:noFill/>
                </a:ln>
                <a:solidFill>
                  <a:srgbClr val="1A49EA"/>
                </a:solidFill>
                <a:effectLst/>
                <a:uLnTx/>
                <a:uFillTx/>
                <a:latin typeface="+mn-ea"/>
                <a:ea typeface="+mn-ea"/>
                <a:cs typeface="+mn-cs"/>
              </a:rPr>
              <a:t>访问次数 </a:t>
            </a:r>
            <a:r>
              <a:rPr kumimoji="1" lang="en-US" altLang="zh-CN" sz="2000" u="none" strike="noStrike" kern="1200" cap="none" spc="0" normalizeH="0" baseline="0" noProof="0" dirty="0">
                <a:ln>
                  <a:noFill/>
                </a:ln>
                <a:solidFill>
                  <a:srgbClr val="1A49EA"/>
                </a:solidFill>
                <a:effectLst/>
                <a:uLnTx/>
                <a:uFillTx/>
                <a:latin typeface="+mn-ea"/>
                <a:ea typeface="+mn-ea"/>
                <a:cs typeface="+mn-cs"/>
              </a:rPr>
              <a:t>×</a:t>
            </a:r>
            <a:r>
              <a:rPr kumimoji="0" lang="zh-CN" altLang="en-US" sz="2000" u="none" strike="noStrike" kern="1200" cap="none" spc="0" normalizeH="0" baseline="0" noProof="0" dirty="0">
                <a:ln>
                  <a:noFill/>
                </a:ln>
                <a:solidFill>
                  <a:srgbClr val="1A49EA"/>
                </a:solidFill>
                <a:effectLst/>
                <a:uLnTx/>
                <a:uFillTx/>
                <a:latin typeface="+mn-ea"/>
                <a:ea typeface="+mn-ea"/>
                <a:cs typeface="+mn-cs"/>
              </a:rPr>
              <a:t> </a:t>
            </a:r>
            <a:r>
              <a:rPr kumimoji="0" lang="zh-CN" altLang="en-US" sz="2000" u="none" strike="noStrike" kern="1200" cap="none" spc="0" normalizeH="0" baseline="0" noProof="0" dirty="0">
                <a:ln>
                  <a:noFill/>
                </a:ln>
                <a:solidFill>
                  <a:srgbClr val="1A49EA"/>
                </a:solidFill>
                <a:effectLst/>
                <a:uLnTx/>
                <a:uFillTx/>
                <a:latin typeface="+mn-ea"/>
                <a:ea typeface="+mn-ea"/>
                <a:cs typeface="+mn-cs"/>
                <a:sym typeface="Symbol" pitchFamily="18" charset="2"/>
              </a:rPr>
              <a:t>缺失率 </a:t>
            </a:r>
            <a:r>
              <a:rPr kumimoji="1" lang="en-US" altLang="zh-CN" sz="2000" u="none" strike="noStrike" kern="1200" cap="none" spc="0" normalizeH="0" baseline="0" noProof="0" dirty="0">
                <a:ln>
                  <a:noFill/>
                </a:ln>
                <a:solidFill>
                  <a:srgbClr val="1A49EA"/>
                </a:solidFill>
                <a:effectLst/>
                <a:uLnTx/>
                <a:uFillTx/>
                <a:latin typeface="+mn-ea"/>
                <a:ea typeface="+mn-ea"/>
                <a:cs typeface="+mn-cs"/>
              </a:rPr>
              <a:t>×</a:t>
            </a:r>
            <a:r>
              <a:rPr kumimoji="0" lang="zh-CN" altLang="en-US" sz="2000" u="none" strike="noStrike" kern="1200" cap="none" spc="0" normalizeH="0" baseline="0" noProof="0" dirty="0">
                <a:ln>
                  <a:noFill/>
                </a:ln>
                <a:solidFill>
                  <a:srgbClr val="1A49EA"/>
                </a:solidFill>
                <a:effectLst/>
                <a:uLnTx/>
                <a:uFillTx/>
                <a:latin typeface="+mn-ea"/>
                <a:ea typeface="+mn-ea"/>
                <a:cs typeface="+mn-cs"/>
                <a:sym typeface="Symbol" pitchFamily="18" charset="2"/>
              </a:rPr>
              <a:t> 缺失损失</a:t>
            </a:r>
            <a:r>
              <a:rPr lang="zh-CN" altLang="en-US" sz="2000" dirty="0">
                <a:solidFill>
                  <a:srgbClr val="1A49EA"/>
                </a:solidFill>
                <a:latin typeface="+mn-ea"/>
                <a:ea typeface="+mn-ea"/>
              </a:rPr>
              <a:t> </a:t>
            </a:r>
            <a:endParaRPr lang="zh-CN" altLang="en-US" sz="2000" dirty="0">
              <a:solidFill>
                <a:srgbClr val="1A49EA"/>
              </a:solidFill>
              <a:latin typeface="+mn-ea"/>
              <a:ea typeface="+mn-ea"/>
              <a:sym typeface="Symbol" pitchFamily="18" charset="2"/>
            </a:endParaRPr>
          </a:p>
        </p:txBody>
      </p:sp>
    </p:spTree>
    <p:extLst>
      <p:ext uri="{BB962C8B-B14F-4D97-AF65-F5344CB8AC3E}">
        <p14:creationId xmlns:p14="http://schemas.microsoft.com/office/powerpoint/2010/main" val="604280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99" y="136525"/>
            <a:ext cx="9097702" cy="1143000"/>
          </a:xfrm>
        </p:spPr>
        <p:txBody>
          <a:bodyPr/>
          <a:lstStyle/>
          <a:p>
            <a:r>
              <a:rPr lang="en-US" altLang="zh-CN" dirty="0"/>
              <a:t>Cache</a:t>
            </a:r>
            <a:r>
              <a:rPr lang="zh-CN" altLang="en-US" dirty="0"/>
              <a:t>性能评估：如何提高</a:t>
            </a:r>
            <a:r>
              <a:rPr lang="en-US" altLang="zh-CN" dirty="0"/>
              <a:t>Cache</a:t>
            </a:r>
            <a:r>
              <a:rPr lang="zh-CN" altLang="en-US" dirty="0"/>
              <a:t>性能</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55</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t>多级</a:t>
            </a:r>
            <a:r>
              <a:rPr kumimoji="1" lang="en-US" altLang="zh-CN" dirty="0"/>
              <a:t>cache</a:t>
            </a:r>
            <a:r>
              <a:rPr kumimoji="1" lang="zh-CN" altLang="en-US" dirty="0"/>
              <a:t>策略</a:t>
            </a:r>
            <a:endParaRPr kumimoji="1" lang="en-US" altLang="zh-CN" dirty="0"/>
          </a:p>
          <a:p>
            <a:pPr marL="914400" lvl="1" indent="-457200">
              <a:spcBef>
                <a:spcPts val="1000"/>
              </a:spcBef>
            </a:pPr>
            <a:r>
              <a:rPr kumimoji="1" lang="zh-CN" altLang="en-US" sz="2400" dirty="0"/>
              <a:t>以两级</a:t>
            </a:r>
            <a:r>
              <a:rPr kumimoji="1" lang="en-US" altLang="zh-CN" sz="2400" dirty="0"/>
              <a:t>Cache</a:t>
            </a:r>
            <a:r>
              <a:rPr kumimoji="1" lang="zh-CN" altLang="en-US" sz="2400" dirty="0"/>
              <a:t>为例，</a:t>
            </a:r>
            <a:r>
              <a:rPr kumimoji="1" lang="en-US" altLang="zh-CN" sz="2400" dirty="0"/>
              <a:t>L1</a:t>
            </a:r>
            <a:r>
              <a:rPr kumimoji="1" lang="zh-CN" altLang="en-US" sz="2400" dirty="0"/>
              <a:t>和</a:t>
            </a:r>
            <a:r>
              <a:rPr kumimoji="1" lang="en-US" altLang="zh-CN" sz="2400" dirty="0"/>
              <a:t>L2 Cache</a:t>
            </a:r>
            <a:r>
              <a:rPr kumimoji="1" lang="zh-CN" altLang="en-US" sz="2400" dirty="0"/>
              <a:t>的设计思想不同：</a:t>
            </a:r>
          </a:p>
          <a:p>
            <a:pPr marL="1314450" lvl="2" indent="-457200">
              <a:spcBef>
                <a:spcPts val="1000"/>
              </a:spcBef>
            </a:pPr>
            <a:r>
              <a:rPr kumimoji="1" lang="en-US" altLang="zh-CN" sz="2000" dirty="0">
                <a:solidFill>
                  <a:srgbClr val="1A49EA"/>
                </a:solidFill>
              </a:rPr>
              <a:t>L1 Cache</a:t>
            </a:r>
            <a:r>
              <a:rPr kumimoji="1" lang="zh-CN" altLang="en-US" sz="2000" dirty="0">
                <a:solidFill>
                  <a:srgbClr val="1A49EA"/>
                </a:solidFill>
              </a:rPr>
              <a:t>致力于减少命中时间</a:t>
            </a:r>
            <a:r>
              <a:rPr kumimoji="1" lang="zh-CN" altLang="en-US" sz="2000" dirty="0"/>
              <a:t>，以获得较短的时钟周期</a:t>
            </a:r>
          </a:p>
          <a:p>
            <a:pPr marL="1314450" lvl="2" indent="-457200">
              <a:spcBef>
                <a:spcPts val="1000"/>
              </a:spcBef>
            </a:pPr>
            <a:r>
              <a:rPr kumimoji="1" lang="en-US" altLang="zh-CN" sz="2000" dirty="0">
                <a:solidFill>
                  <a:srgbClr val="1A49EA"/>
                </a:solidFill>
              </a:rPr>
              <a:t>L2 Cache</a:t>
            </a:r>
            <a:r>
              <a:rPr kumimoji="1" lang="zh-CN" altLang="en-US" sz="2000" dirty="0">
                <a:solidFill>
                  <a:srgbClr val="1A49EA"/>
                </a:solidFill>
              </a:rPr>
              <a:t>致力于降低缺失率</a:t>
            </a:r>
            <a:r>
              <a:rPr kumimoji="1" lang="zh-CN" altLang="en-US" sz="2000" dirty="0"/>
              <a:t>，以减少访问主存的缺失损失</a:t>
            </a:r>
          </a:p>
          <a:p>
            <a:pPr marL="914400" lvl="1" indent="-457200">
              <a:spcBef>
                <a:spcPts val="1000"/>
              </a:spcBef>
            </a:pPr>
            <a:r>
              <a:rPr kumimoji="1" lang="zh-CN" altLang="en-US" sz="2400" dirty="0"/>
              <a:t>由于</a:t>
            </a:r>
            <a:r>
              <a:rPr kumimoji="1" lang="en-US" altLang="zh-CN" sz="2400" dirty="0"/>
              <a:t>L2 Cache</a:t>
            </a:r>
            <a:r>
              <a:rPr kumimoji="1" lang="zh-CN" altLang="en-US" sz="2400" dirty="0"/>
              <a:t>的存在，</a:t>
            </a:r>
            <a:r>
              <a:rPr kumimoji="1" lang="en-US" altLang="zh-CN" sz="2400" dirty="0"/>
              <a:t>L1 Cache</a:t>
            </a:r>
            <a:r>
              <a:rPr kumimoji="1" lang="zh-CN" altLang="en-US" sz="2400" dirty="0"/>
              <a:t>缺失造成的损失大大减少，缺失率高一些也没关系。所以</a:t>
            </a:r>
            <a:r>
              <a:rPr kumimoji="1" lang="en-US" altLang="zh-CN" sz="2400" dirty="0"/>
              <a:t>L1 Cache</a:t>
            </a:r>
            <a:r>
              <a:rPr kumimoji="1" lang="zh-CN" altLang="en-US" sz="2400" dirty="0"/>
              <a:t>通常较小，以减少命中时间。</a:t>
            </a:r>
          </a:p>
          <a:p>
            <a:pPr marL="914400" lvl="1" indent="-457200">
              <a:spcBef>
                <a:spcPts val="1000"/>
              </a:spcBef>
            </a:pPr>
            <a:r>
              <a:rPr kumimoji="1" lang="zh-CN" altLang="en-US" sz="2400" dirty="0"/>
              <a:t>由于</a:t>
            </a:r>
            <a:r>
              <a:rPr kumimoji="1" lang="en-US" altLang="zh-CN" sz="2400" dirty="0"/>
              <a:t>L1 Cache</a:t>
            </a:r>
            <a:r>
              <a:rPr kumimoji="1" lang="zh-CN" altLang="en-US" sz="2400" dirty="0"/>
              <a:t>的存在，</a:t>
            </a:r>
            <a:r>
              <a:rPr kumimoji="1" lang="en-US" altLang="zh-CN" sz="2400" dirty="0"/>
              <a:t>L2 Cache</a:t>
            </a:r>
            <a:r>
              <a:rPr kumimoji="1" lang="zh-CN" altLang="en-US" sz="2400" dirty="0"/>
              <a:t>的命中时间仅影响</a:t>
            </a:r>
            <a:r>
              <a:rPr kumimoji="1" lang="en-US" altLang="zh-CN" sz="2400" dirty="0"/>
              <a:t>L1 Cache</a:t>
            </a:r>
            <a:r>
              <a:rPr kumimoji="1" lang="zh-CN" altLang="en-US" sz="2400" dirty="0"/>
              <a:t>的缺失损失，不直接影响</a:t>
            </a:r>
            <a:r>
              <a:rPr kumimoji="1" lang="en-US" altLang="zh-CN" sz="2400" dirty="0"/>
              <a:t>L1 Cache</a:t>
            </a:r>
            <a:r>
              <a:rPr kumimoji="1" lang="zh-CN" altLang="en-US" sz="2400" dirty="0"/>
              <a:t>的命中时间和处理器时钟周期。所以</a:t>
            </a:r>
            <a:r>
              <a:rPr kumimoji="1" lang="en-US" altLang="zh-CN" sz="2400" dirty="0"/>
              <a:t>L2 Cache</a:t>
            </a:r>
            <a:r>
              <a:rPr kumimoji="1" lang="zh-CN" altLang="en-US" sz="2400" dirty="0"/>
              <a:t>通常较大，块容量也比</a:t>
            </a:r>
            <a:r>
              <a:rPr kumimoji="1" lang="en-US" altLang="zh-CN" sz="2400" dirty="0"/>
              <a:t>L1 Cache</a:t>
            </a:r>
            <a:r>
              <a:rPr kumimoji="1" lang="zh-CN" altLang="en-US" sz="2400" dirty="0"/>
              <a:t>大</a:t>
            </a:r>
          </a:p>
        </p:txBody>
      </p:sp>
    </p:spTree>
    <p:extLst>
      <p:ext uri="{BB962C8B-B14F-4D97-AF65-F5344CB8AC3E}">
        <p14:creationId xmlns:p14="http://schemas.microsoft.com/office/powerpoint/2010/main" val="2236360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4B41F7-7BD6-1BD3-AC34-23BC3FAB6E99}"/>
              </a:ext>
            </a:extLst>
          </p:cNvPr>
          <p:cNvSpPr>
            <a:spLocks noGrp="1"/>
          </p:cNvSpPr>
          <p:nvPr>
            <p:ph type="title"/>
          </p:nvPr>
        </p:nvSpPr>
        <p:spPr/>
        <p:txBody>
          <a:bodyPr/>
          <a:lstStyle/>
          <a:p>
            <a:r>
              <a:rPr kumimoji="1" lang="zh-CN" altLang="en-US" dirty="0"/>
              <a:t>模拟题解析：存储器部分</a:t>
            </a:r>
          </a:p>
        </p:txBody>
      </p:sp>
      <p:sp>
        <p:nvSpPr>
          <p:cNvPr id="3" name="内容占位符 2">
            <a:extLst>
              <a:ext uri="{FF2B5EF4-FFF2-40B4-BE49-F238E27FC236}">
                <a16:creationId xmlns:a16="http://schemas.microsoft.com/office/drawing/2014/main" id="{87468974-5BB4-6753-A22F-8F2BC037D63A}"/>
              </a:ext>
            </a:extLst>
          </p:cNvPr>
          <p:cNvSpPr>
            <a:spLocks noGrp="1"/>
          </p:cNvSpPr>
          <p:nvPr>
            <p:ph idx="1"/>
          </p:nvPr>
        </p:nvSpPr>
        <p:spPr/>
        <p:txBody>
          <a:bodyPr/>
          <a:lstStyle/>
          <a:p>
            <a:r>
              <a:rPr kumimoji="1" lang="zh-CN" altLang="en-US" sz="2400" dirty="0"/>
              <a:t>若</a:t>
            </a:r>
            <a:r>
              <a:rPr kumimoji="1" lang="en-US" altLang="zh-CN" sz="2400" dirty="0"/>
              <a:t>32</a:t>
            </a:r>
            <a:r>
              <a:rPr kumimoji="1" lang="zh-CN" altLang="en-US" sz="2400" dirty="0"/>
              <a:t>位地址内存（字节索引）的</a:t>
            </a:r>
            <a:r>
              <a:rPr kumimoji="1" lang="en" altLang="zh-CN" sz="2400" dirty="0"/>
              <a:t>L1 Cache</a:t>
            </a:r>
            <a:r>
              <a:rPr kumimoji="1" lang="zh-CN" altLang="en-US" sz="2400" dirty="0"/>
              <a:t>采用</a:t>
            </a:r>
            <a:r>
              <a:rPr kumimoji="1" lang="en-US" altLang="zh-CN" sz="2400" dirty="0"/>
              <a:t>4</a:t>
            </a:r>
            <a:r>
              <a:rPr kumimoji="1" lang="zh-CN" altLang="en-US" sz="2400" dirty="0"/>
              <a:t>路组相联，每一个</a:t>
            </a:r>
            <a:r>
              <a:rPr kumimoji="1" lang="en" altLang="zh-CN" sz="2400" dirty="0"/>
              <a:t>Cache</a:t>
            </a:r>
            <a:r>
              <a:rPr kumimoji="1" lang="zh-CN" altLang="en-US" sz="2400" dirty="0"/>
              <a:t>行能够容纳</a:t>
            </a:r>
            <a:r>
              <a:rPr kumimoji="1" lang="en-US" altLang="zh-CN" sz="2400" dirty="0"/>
              <a:t>4</a:t>
            </a:r>
            <a:r>
              <a:rPr kumimoji="1" lang="zh-CN" altLang="en-US" sz="2400" dirty="0"/>
              <a:t>个字的数据，每个</a:t>
            </a:r>
            <a:r>
              <a:rPr kumimoji="1" lang="en" altLang="zh-CN" sz="2400" dirty="0"/>
              <a:t>Cache</a:t>
            </a:r>
            <a:r>
              <a:rPr kumimoji="1" lang="zh-CN" altLang="en-US" sz="2400" dirty="0"/>
              <a:t>行的标签为</a:t>
            </a:r>
            <a:r>
              <a:rPr kumimoji="1" lang="en-US" altLang="zh-CN" sz="2400" dirty="0"/>
              <a:t>24</a:t>
            </a:r>
            <a:r>
              <a:rPr kumimoji="1" lang="zh-CN" altLang="en-US" sz="2400" dirty="0"/>
              <a:t>位，求该</a:t>
            </a:r>
            <a:r>
              <a:rPr kumimoji="1" lang="en" altLang="zh-CN" sz="2400" dirty="0"/>
              <a:t>L1 Cache</a:t>
            </a:r>
            <a:r>
              <a:rPr kumimoji="1" lang="zh-CN" altLang="en-US" sz="2400" dirty="0"/>
              <a:t>的容量为多少</a:t>
            </a:r>
            <a:r>
              <a:rPr kumimoji="1" lang="en" altLang="zh-CN" sz="2400" dirty="0"/>
              <a:t>KB</a:t>
            </a:r>
          </a:p>
          <a:p>
            <a:pPr lvl="1"/>
            <a:r>
              <a:rPr kumimoji="1" lang="zh-CN" altLang="en-US" sz="2200" dirty="0"/>
              <a:t>一行容量</a:t>
            </a:r>
            <a:r>
              <a:rPr kumimoji="1" lang="en-US" altLang="zh-CN" sz="2200" dirty="0"/>
              <a:t>=4*4=16</a:t>
            </a:r>
            <a:r>
              <a:rPr kumimoji="1" lang="en" altLang="zh-CN" sz="2200" dirty="0"/>
              <a:t>Bytes</a:t>
            </a:r>
          </a:p>
          <a:p>
            <a:pPr lvl="1"/>
            <a:r>
              <a:rPr kumimoji="1" lang="zh-CN" altLang="en-US" sz="2200" dirty="0"/>
              <a:t>行内地址位宽</a:t>
            </a:r>
            <a:r>
              <a:rPr kumimoji="1" lang="en-US" altLang="zh-CN" sz="2200" dirty="0"/>
              <a:t>=4</a:t>
            </a:r>
            <a:r>
              <a:rPr kumimoji="1" lang="en" altLang="zh-CN" sz="2200" dirty="0"/>
              <a:t>bits</a:t>
            </a:r>
            <a:endParaRPr kumimoji="1" lang="en-US" altLang="zh-CN" sz="2200" dirty="0"/>
          </a:p>
          <a:p>
            <a:pPr lvl="1"/>
            <a:r>
              <a:rPr kumimoji="1" lang="zh-CN" altLang="en-US" sz="2200" dirty="0"/>
              <a:t>组号位宽</a:t>
            </a:r>
            <a:r>
              <a:rPr kumimoji="1" lang="en-US" altLang="zh-CN" sz="2200" dirty="0"/>
              <a:t>=32-24-4=4</a:t>
            </a:r>
            <a:r>
              <a:rPr kumimoji="1" lang="en" altLang="zh-CN" sz="2200" dirty="0"/>
              <a:t>bits</a:t>
            </a:r>
          </a:p>
          <a:p>
            <a:pPr lvl="1"/>
            <a:r>
              <a:rPr kumimoji="1" lang="zh-CN" altLang="en-US" sz="2200" dirty="0"/>
              <a:t>组数量</a:t>
            </a:r>
            <a:r>
              <a:rPr kumimoji="1" lang="en-US" altLang="zh-CN" sz="2200" dirty="0"/>
              <a:t>=2^4=16</a:t>
            </a:r>
          </a:p>
          <a:p>
            <a:pPr lvl="1"/>
            <a:r>
              <a:rPr kumimoji="1" lang="zh-CN" altLang="en-US" sz="2200" dirty="0"/>
              <a:t>总容量</a:t>
            </a:r>
            <a:r>
              <a:rPr kumimoji="1" lang="en-US" altLang="zh-CN" sz="2200" dirty="0"/>
              <a:t>=16*4*16=1024</a:t>
            </a:r>
            <a:r>
              <a:rPr kumimoji="1" lang="en" altLang="zh-CN" sz="2200" dirty="0"/>
              <a:t>B=1KB</a:t>
            </a:r>
            <a:endParaRPr kumimoji="1" lang="zh-CN" altLang="en-US" sz="2200" dirty="0"/>
          </a:p>
          <a:p>
            <a:pPr marL="0" indent="0">
              <a:buNone/>
            </a:pPr>
            <a:endParaRPr kumimoji="1" lang="zh-CN" altLang="en-US" dirty="0"/>
          </a:p>
        </p:txBody>
      </p:sp>
      <p:sp>
        <p:nvSpPr>
          <p:cNvPr id="4" name="灯片编号占位符 3">
            <a:extLst>
              <a:ext uri="{FF2B5EF4-FFF2-40B4-BE49-F238E27FC236}">
                <a16:creationId xmlns:a16="http://schemas.microsoft.com/office/drawing/2014/main" id="{B0781911-EA9D-0CE7-33B2-95FF0ABFEEEB}"/>
              </a:ext>
            </a:extLst>
          </p:cNvPr>
          <p:cNvSpPr>
            <a:spLocks noGrp="1"/>
          </p:cNvSpPr>
          <p:nvPr>
            <p:ph type="sldNum" sz="quarter" idx="12"/>
          </p:nvPr>
        </p:nvSpPr>
        <p:spPr/>
        <p:txBody>
          <a:bodyPr/>
          <a:lstStyle/>
          <a:p>
            <a:fld id="{14659731-6BD7-46E7-8D3C-2F3AC07E20B1}" type="slidenum">
              <a:rPr lang="en-US" altLang="zh-CN" smtClean="0"/>
              <a:pPr/>
              <a:t>56</a:t>
            </a:fld>
            <a:endParaRPr lang="en-US" altLang="zh-CN"/>
          </a:p>
        </p:txBody>
      </p:sp>
      <mc:AlternateContent xmlns:mc="http://schemas.openxmlformats.org/markup-compatibility/2006" xmlns:p14="http://schemas.microsoft.com/office/powerpoint/2010/main">
        <mc:Choice Requires="p14">
          <p:contentPart p14:bwMode="auto" r:id="rId2">
            <p14:nvContentPartPr>
              <p14:cNvPr id="5" name="墨迹 4">
                <a:extLst>
                  <a:ext uri="{FF2B5EF4-FFF2-40B4-BE49-F238E27FC236}">
                    <a16:creationId xmlns:a16="http://schemas.microsoft.com/office/drawing/2014/main" id="{74959619-ACD3-73A6-D256-E5AC88B9EB8A}"/>
                  </a:ext>
                </a:extLst>
              </p14:cNvPr>
              <p14:cNvContentPartPr/>
              <p14:nvPr/>
            </p14:nvContentPartPr>
            <p14:xfrm>
              <a:off x="916560" y="590400"/>
              <a:ext cx="2163600" cy="1402200"/>
            </p14:xfrm>
          </p:contentPart>
        </mc:Choice>
        <mc:Fallback xmlns="">
          <p:pic>
            <p:nvPicPr>
              <p:cNvPr id="5" name="墨迹 4">
                <a:extLst>
                  <a:ext uri="{FF2B5EF4-FFF2-40B4-BE49-F238E27FC236}">
                    <a16:creationId xmlns:a16="http://schemas.microsoft.com/office/drawing/2014/main" id="{74959619-ACD3-73A6-D256-E5AC88B9EB8A}"/>
                  </a:ext>
                </a:extLst>
              </p:cNvPr>
              <p:cNvPicPr/>
              <p:nvPr/>
            </p:nvPicPr>
            <p:blipFill>
              <a:blip r:embed="rId3"/>
              <a:stretch>
                <a:fillRect/>
              </a:stretch>
            </p:blipFill>
            <p:spPr>
              <a:xfrm>
                <a:off x="907200" y="581040"/>
                <a:ext cx="2182320" cy="1420920"/>
              </a:xfrm>
              <a:prstGeom prst="rect">
                <a:avLst/>
              </a:prstGeom>
            </p:spPr>
          </p:pic>
        </mc:Fallback>
      </mc:AlternateContent>
    </p:spTree>
    <p:extLst>
      <p:ext uri="{BB962C8B-B14F-4D97-AF65-F5344CB8AC3E}">
        <p14:creationId xmlns:p14="http://schemas.microsoft.com/office/powerpoint/2010/main" val="16727624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7503C7-E4AC-C544-0A28-76EF08CBE78C}"/>
              </a:ext>
            </a:extLst>
          </p:cNvPr>
          <p:cNvSpPr>
            <a:spLocks noGrp="1"/>
          </p:cNvSpPr>
          <p:nvPr>
            <p:ph type="title"/>
          </p:nvPr>
        </p:nvSpPr>
        <p:spPr/>
        <p:txBody>
          <a:bodyPr/>
          <a:lstStyle/>
          <a:p>
            <a:r>
              <a:rPr kumimoji="1" lang="zh-CN" altLang="en-US" dirty="0"/>
              <a:t>模拟题解析：存储器部分</a:t>
            </a:r>
          </a:p>
        </p:txBody>
      </p:sp>
      <p:sp>
        <p:nvSpPr>
          <p:cNvPr id="3" name="内容占位符 2">
            <a:extLst>
              <a:ext uri="{FF2B5EF4-FFF2-40B4-BE49-F238E27FC236}">
                <a16:creationId xmlns:a16="http://schemas.microsoft.com/office/drawing/2014/main" id="{E64F0804-9085-5B2E-8BC5-295E9818685B}"/>
              </a:ext>
            </a:extLst>
          </p:cNvPr>
          <p:cNvSpPr>
            <a:spLocks noGrp="1"/>
          </p:cNvSpPr>
          <p:nvPr>
            <p:ph idx="1"/>
          </p:nvPr>
        </p:nvSpPr>
        <p:spPr>
          <a:xfrm>
            <a:off x="457200" y="1373304"/>
            <a:ext cx="8229600" cy="4525963"/>
          </a:xfrm>
        </p:spPr>
        <p:txBody>
          <a:bodyPr/>
          <a:lstStyle/>
          <a:p>
            <a:r>
              <a:rPr kumimoji="1" lang="zh-CN" altLang="en-US" sz="2400" dirty="0"/>
              <a:t>若在存储系统中，</a:t>
            </a:r>
            <a:r>
              <a:rPr kumimoji="1" lang="en" altLang="zh-CN" sz="2400" dirty="0"/>
              <a:t>L1 Cache</a:t>
            </a:r>
            <a:r>
              <a:rPr kumimoji="1" lang="zh-CN" altLang="en-US" sz="2400" dirty="0"/>
              <a:t>的缺失率为</a:t>
            </a:r>
            <a:r>
              <a:rPr kumimoji="1" lang="en-US" altLang="zh-CN" sz="2400" dirty="0"/>
              <a:t>10%</a:t>
            </a:r>
            <a:r>
              <a:rPr kumimoji="1" lang="zh-CN" altLang="en-US" sz="2400" dirty="0"/>
              <a:t>，直接从</a:t>
            </a:r>
            <a:r>
              <a:rPr kumimoji="1" lang="en" altLang="zh-CN" sz="2400" dirty="0"/>
              <a:t>L1 Cache</a:t>
            </a:r>
            <a:r>
              <a:rPr kumimoji="1" lang="zh-CN" altLang="en-US" sz="2400" dirty="0"/>
              <a:t>中访存数据的时间为</a:t>
            </a:r>
            <a:r>
              <a:rPr kumimoji="1" lang="en-US" altLang="zh-CN" sz="2400" dirty="0"/>
              <a:t>1</a:t>
            </a:r>
            <a:r>
              <a:rPr kumimoji="1" lang="en" altLang="zh-CN" sz="2400" dirty="0"/>
              <a:t>ns</a:t>
            </a:r>
            <a:r>
              <a:rPr kumimoji="1" lang="zh-CN" altLang="en" sz="2400" dirty="0"/>
              <a:t>，</a:t>
            </a:r>
            <a:r>
              <a:rPr kumimoji="1" lang="zh-CN" altLang="en-US" sz="2400" dirty="0"/>
              <a:t>直接从</a:t>
            </a:r>
            <a:r>
              <a:rPr kumimoji="1" lang="en" altLang="zh-CN" sz="2400" dirty="0"/>
              <a:t>Main Memory</a:t>
            </a:r>
            <a:r>
              <a:rPr kumimoji="1" lang="zh-CN" altLang="en-US" sz="2400" dirty="0"/>
              <a:t>访存数据的时间为</a:t>
            </a:r>
            <a:r>
              <a:rPr kumimoji="1" lang="en-US" altLang="zh-CN" sz="2400" dirty="0"/>
              <a:t>200</a:t>
            </a:r>
            <a:r>
              <a:rPr kumimoji="1" lang="en" altLang="zh-CN" sz="2400" dirty="0"/>
              <a:t>ns</a:t>
            </a:r>
            <a:r>
              <a:rPr kumimoji="1" lang="zh-CN" altLang="en" sz="2400" dirty="0"/>
              <a:t>。</a:t>
            </a:r>
            <a:r>
              <a:rPr kumimoji="1" lang="zh-CN" altLang="en-US" sz="2400" dirty="0"/>
              <a:t>现希望通过在</a:t>
            </a:r>
            <a:r>
              <a:rPr kumimoji="1" lang="en" altLang="zh-CN" sz="2400" dirty="0"/>
              <a:t>L1 Cache</a:t>
            </a:r>
            <a:r>
              <a:rPr kumimoji="1" lang="zh-CN" altLang="en-US" sz="2400" dirty="0"/>
              <a:t>与</a:t>
            </a:r>
            <a:r>
              <a:rPr kumimoji="1" lang="en" altLang="zh-CN" sz="2400" dirty="0"/>
              <a:t>Main Memory</a:t>
            </a:r>
            <a:r>
              <a:rPr kumimoji="1" lang="zh-CN" altLang="en-US" sz="2400" dirty="0"/>
              <a:t>之间增加一个</a:t>
            </a:r>
            <a:r>
              <a:rPr kumimoji="1" lang="en" altLang="zh-CN" sz="2400" dirty="0"/>
              <a:t>L2 Cache</a:t>
            </a:r>
            <a:r>
              <a:rPr kumimoji="1" lang="zh-CN" altLang="en-US" sz="2400" dirty="0"/>
              <a:t>的方式将平均访问时间降低</a:t>
            </a:r>
            <a:r>
              <a:rPr kumimoji="1" lang="en-US" altLang="zh-CN" sz="2400" dirty="0"/>
              <a:t>90%</a:t>
            </a:r>
            <a:r>
              <a:rPr kumimoji="1" lang="zh-CN" altLang="en-US" sz="2400" dirty="0"/>
              <a:t>。若直接从该新增的</a:t>
            </a:r>
            <a:r>
              <a:rPr kumimoji="1" lang="en" altLang="zh-CN" sz="2400" dirty="0"/>
              <a:t>L2 Cache</a:t>
            </a:r>
            <a:r>
              <a:rPr kumimoji="1" lang="zh-CN" altLang="en-US" sz="2400" dirty="0"/>
              <a:t>中访存数据的时间为</a:t>
            </a:r>
            <a:r>
              <a:rPr kumimoji="1" lang="en-US" altLang="zh-CN" sz="2400" dirty="0"/>
              <a:t>5</a:t>
            </a:r>
            <a:r>
              <a:rPr kumimoji="1" lang="en" altLang="zh-CN" sz="2400" dirty="0"/>
              <a:t>ns</a:t>
            </a:r>
            <a:r>
              <a:rPr kumimoji="1" lang="zh-CN" altLang="en" sz="2400" dirty="0"/>
              <a:t>，</a:t>
            </a:r>
            <a:r>
              <a:rPr kumimoji="1" lang="zh-CN" altLang="en-US" sz="2400" dirty="0"/>
              <a:t>那么在</a:t>
            </a:r>
            <a:r>
              <a:rPr kumimoji="1" lang="en" altLang="zh-CN" sz="2400" dirty="0"/>
              <a:t>L1</a:t>
            </a:r>
            <a:r>
              <a:rPr kumimoji="1" lang="zh-CN" altLang="en-US" sz="2400" dirty="0"/>
              <a:t>缺失的前提下，</a:t>
            </a:r>
            <a:r>
              <a:rPr kumimoji="1" lang="en" altLang="zh-CN" sz="2400" dirty="0"/>
              <a:t>L2 Cache</a:t>
            </a:r>
            <a:r>
              <a:rPr kumimoji="1" lang="zh-CN" altLang="en-US" sz="2400" dirty="0"/>
              <a:t>的命中率达到多少才能够满足需求？</a:t>
            </a:r>
          </a:p>
        </p:txBody>
      </p:sp>
      <p:sp>
        <p:nvSpPr>
          <p:cNvPr id="4" name="灯片编号占位符 3">
            <a:extLst>
              <a:ext uri="{FF2B5EF4-FFF2-40B4-BE49-F238E27FC236}">
                <a16:creationId xmlns:a16="http://schemas.microsoft.com/office/drawing/2014/main" id="{EBDC4754-5496-BA7C-22C2-B9C6A67DC64F}"/>
              </a:ext>
            </a:extLst>
          </p:cNvPr>
          <p:cNvSpPr>
            <a:spLocks noGrp="1"/>
          </p:cNvSpPr>
          <p:nvPr>
            <p:ph type="sldNum" sz="quarter" idx="12"/>
          </p:nvPr>
        </p:nvSpPr>
        <p:spPr/>
        <p:txBody>
          <a:bodyPr/>
          <a:lstStyle/>
          <a:p>
            <a:fld id="{14659731-6BD7-46E7-8D3C-2F3AC07E20B1}" type="slidenum">
              <a:rPr lang="en-US" altLang="zh-CN" smtClean="0"/>
              <a:pPr/>
              <a:t>57</a:t>
            </a:fld>
            <a:endParaRPr lang="en-US" altLang="zh-CN"/>
          </a:p>
        </p:txBody>
      </p:sp>
      <p:sp>
        <p:nvSpPr>
          <p:cNvPr id="6" name="文本框 5">
            <a:extLst>
              <a:ext uri="{FF2B5EF4-FFF2-40B4-BE49-F238E27FC236}">
                <a16:creationId xmlns:a16="http://schemas.microsoft.com/office/drawing/2014/main" id="{12DB906E-612A-7F6E-03BA-7176CC235B62}"/>
              </a:ext>
            </a:extLst>
          </p:cNvPr>
          <p:cNvSpPr txBox="1"/>
          <p:nvPr/>
        </p:nvSpPr>
        <p:spPr>
          <a:xfrm>
            <a:off x="537357" y="4534250"/>
            <a:ext cx="8069284" cy="1323439"/>
          </a:xfrm>
          <a:prstGeom prst="rect">
            <a:avLst/>
          </a:prstGeom>
          <a:noFill/>
        </p:spPr>
        <p:txBody>
          <a:bodyPr wrap="square">
            <a:spAutoFit/>
          </a:bodyPr>
          <a:lstStyle/>
          <a:p>
            <a:r>
              <a:rPr lang="zh-CN" altLang="en-US" sz="2000" b="1" dirty="0">
                <a:latin typeface="+mn-lt"/>
                <a:ea typeface="+mn-ea"/>
              </a:rPr>
              <a:t>假设</a:t>
            </a:r>
            <a:r>
              <a:rPr lang="en-US" altLang="zh-CN" sz="2000" b="1" dirty="0">
                <a:latin typeface="+mn-lt"/>
                <a:ea typeface="+mn-ea"/>
              </a:rPr>
              <a:t>L2 cache</a:t>
            </a:r>
            <a:r>
              <a:rPr lang="zh-CN" altLang="en-US" sz="2000" b="1" dirty="0">
                <a:latin typeface="+mn-lt"/>
                <a:ea typeface="+mn-ea"/>
              </a:rPr>
              <a:t>命中率为</a:t>
            </a:r>
            <a:r>
              <a:rPr lang="en-US" altLang="zh-CN" sz="2000" b="1" dirty="0">
                <a:latin typeface="+mn-lt"/>
                <a:ea typeface="+mn-ea"/>
              </a:rPr>
              <a:t>x</a:t>
            </a:r>
          </a:p>
          <a:p>
            <a:r>
              <a:rPr lang="zh-CN" altLang="en-US" sz="2000" b="1" dirty="0">
                <a:latin typeface="+mn-lt"/>
                <a:ea typeface="+mn-ea"/>
              </a:rPr>
              <a:t>原始平均访问时间 = 0.9*1 + 0.1*(</a:t>
            </a:r>
            <a:r>
              <a:rPr lang="zh-CN" altLang="en-US" sz="2000" b="1" dirty="0">
                <a:solidFill>
                  <a:srgbClr val="1A49EA"/>
                </a:solidFill>
                <a:latin typeface="+mn-lt"/>
                <a:ea typeface="+mn-ea"/>
              </a:rPr>
              <a:t>1</a:t>
            </a:r>
            <a:r>
              <a:rPr lang="zh-CN" altLang="en-US" sz="2000" b="1" dirty="0">
                <a:latin typeface="+mn-lt"/>
                <a:ea typeface="+mn-ea"/>
              </a:rPr>
              <a:t>+200)=21</a:t>
            </a:r>
            <a:r>
              <a:rPr lang="en-US" altLang="zh-CN" sz="2000" b="1" dirty="0">
                <a:latin typeface="+mn-lt"/>
                <a:ea typeface="+mn-ea"/>
              </a:rPr>
              <a:t>(</a:t>
            </a:r>
            <a:r>
              <a:rPr lang="zh-CN" altLang="en-US" sz="2000" b="1" dirty="0">
                <a:latin typeface="+mn-lt"/>
                <a:ea typeface="+mn-ea"/>
              </a:rPr>
              <a:t>ns</a:t>
            </a:r>
            <a:r>
              <a:rPr lang="en-US" altLang="zh-CN" sz="2000" b="1" dirty="0">
                <a:latin typeface="+mn-lt"/>
                <a:ea typeface="+mn-ea"/>
              </a:rPr>
              <a:t>)</a:t>
            </a:r>
          </a:p>
          <a:p>
            <a:r>
              <a:rPr lang="zh-CN" altLang="en" sz="2000" b="1" dirty="0">
                <a:latin typeface="+mn-lt"/>
                <a:ea typeface="+mn-ea"/>
              </a:rPr>
              <a:t>增加</a:t>
            </a:r>
            <a:r>
              <a:rPr lang="en-US" altLang="zh-CN" sz="2000" b="1" dirty="0">
                <a:latin typeface="+mn-lt"/>
                <a:ea typeface="+mn-ea"/>
              </a:rPr>
              <a:t>L2</a:t>
            </a:r>
            <a:r>
              <a:rPr lang="zh-CN" altLang="en-US" sz="2000" b="1" dirty="0">
                <a:latin typeface="+mn-lt"/>
                <a:ea typeface="+mn-ea"/>
              </a:rPr>
              <a:t>后平均访问时间 </a:t>
            </a:r>
            <a:r>
              <a:rPr lang="en" altLang="zh-CN" sz="2000" b="1" dirty="0">
                <a:latin typeface="+mn-lt"/>
                <a:ea typeface="+mn-ea"/>
              </a:rPr>
              <a:t>=</a:t>
            </a:r>
            <a:r>
              <a:rPr lang="zh-CN" altLang="en-US" sz="2000" b="1" dirty="0">
                <a:latin typeface="+mn-lt"/>
                <a:ea typeface="+mn-ea"/>
              </a:rPr>
              <a:t> </a:t>
            </a:r>
            <a:r>
              <a:rPr lang="en" altLang="zh-CN" sz="2000" b="1" dirty="0">
                <a:latin typeface="+mn-lt"/>
                <a:ea typeface="+mn-ea"/>
              </a:rPr>
              <a:t>0.9*1 +0.1*x*(</a:t>
            </a:r>
            <a:r>
              <a:rPr lang="en" altLang="zh-CN" sz="2000" b="1" dirty="0">
                <a:solidFill>
                  <a:srgbClr val="1A49EA"/>
                </a:solidFill>
                <a:latin typeface="+mn-lt"/>
                <a:ea typeface="+mn-ea"/>
              </a:rPr>
              <a:t>1</a:t>
            </a:r>
            <a:r>
              <a:rPr lang="en" altLang="zh-CN" sz="2000" b="1" dirty="0">
                <a:latin typeface="+mn-lt"/>
                <a:ea typeface="+mn-ea"/>
              </a:rPr>
              <a:t>+200)</a:t>
            </a:r>
            <a:r>
              <a:rPr lang="zh-CN" altLang="en-US" sz="2000" b="1" dirty="0">
                <a:latin typeface="+mn-lt"/>
                <a:ea typeface="+mn-ea"/>
              </a:rPr>
              <a:t> </a:t>
            </a:r>
            <a:r>
              <a:rPr lang="en" altLang="zh-CN" sz="2000" b="1" dirty="0">
                <a:latin typeface="+mn-lt"/>
                <a:ea typeface="+mn-ea"/>
              </a:rPr>
              <a:t>+</a:t>
            </a:r>
            <a:r>
              <a:rPr lang="zh-CN" altLang="en-US" sz="2000" b="1" dirty="0">
                <a:latin typeface="+mn-lt"/>
                <a:ea typeface="+mn-ea"/>
              </a:rPr>
              <a:t> </a:t>
            </a:r>
            <a:r>
              <a:rPr lang="en" altLang="zh-CN" sz="2000" b="1" dirty="0">
                <a:latin typeface="+mn-lt"/>
                <a:ea typeface="+mn-ea"/>
              </a:rPr>
              <a:t>0.1*(1-x)*(</a:t>
            </a:r>
            <a:r>
              <a:rPr lang="en" altLang="zh-CN" sz="2000" b="1" dirty="0">
                <a:solidFill>
                  <a:srgbClr val="1A49EA"/>
                </a:solidFill>
                <a:latin typeface="+mn-lt"/>
                <a:ea typeface="+mn-ea"/>
              </a:rPr>
              <a:t>1</a:t>
            </a:r>
            <a:r>
              <a:rPr lang="en" altLang="zh-CN" sz="2000" b="1" dirty="0">
                <a:latin typeface="+mn-lt"/>
                <a:ea typeface="+mn-ea"/>
              </a:rPr>
              <a:t>+</a:t>
            </a:r>
            <a:r>
              <a:rPr lang="en" altLang="zh-CN" sz="2000" b="1" dirty="0">
                <a:solidFill>
                  <a:srgbClr val="7030A0"/>
                </a:solidFill>
                <a:latin typeface="+mn-lt"/>
                <a:ea typeface="+mn-ea"/>
              </a:rPr>
              <a:t>5</a:t>
            </a:r>
            <a:r>
              <a:rPr lang="en" altLang="zh-CN" sz="2000" b="1" dirty="0">
                <a:latin typeface="+mn-lt"/>
                <a:ea typeface="+mn-ea"/>
              </a:rPr>
              <a:t>+200)</a:t>
            </a:r>
          </a:p>
          <a:p>
            <a:r>
              <a:rPr lang="zh-CN" altLang="en-US" sz="2000" b="1" dirty="0">
                <a:latin typeface="+mn-lt"/>
                <a:ea typeface="+mn-ea"/>
              </a:rPr>
              <a:t>原始平均访问时间</a:t>
            </a:r>
            <a:r>
              <a:rPr lang="en-US" altLang="zh-CN" sz="2000" b="1" dirty="0">
                <a:latin typeface="+mn-lt"/>
                <a:ea typeface="+mn-ea"/>
              </a:rPr>
              <a:t>*0.1 = </a:t>
            </a:r>
            <a:r>
              <a:rPr lang="zh-CN" altLang="en-US" sz="2000" b="1" dirty="0">
                <a:latin typeface="+mn-lt"/>
                <a:ea typeface="+mn-ea"/>
              </a:rPr>
              <a:t>增加</a:t>
            </a:r>
            <a:r>
              <a:rPr lang="en-US" altLang="zh-CN" sz="2000" b="1" dirty="0">
                <a:latin typeface="+mn-lt"/>
                <a:ea typeface="+mn-ea"/>
              </a:rPr>
              <a:t>L2</a:t>
            </a:r>
            <a:r>
              <a:rPr lang="zh-CN" altLang="en-US" sz="2000" b="1" dirty="0">
                <a:latin typeface="+mn-lt"/>
                <a:ea typeface="+mn-ea"/>
              </a:rPr>
              <a:t>后平均访问时间</a:t>
            </a:r>
            <a:r>
              <a:rPr lang="en-US" altLang="zh-CN" sz="2000" b="1" dirty="0">
                <a:latin typeface="+mn-lt"/>
                <a:ea typeface="+mn-ea"/>
              </a:rPr>
              <a:t> =&gt; x = 97%</a:t>
            </a:r>
            <a:endParaRPr lang="zh-CN" altLang="en-US" sz="2000" b="1" dirty="0">
              <a:latin typeface="+mn-lt"/>
              <a:ea typeface="+mn-ea"/>
            </a:endParaRPr>
          </a:p>
        </p:txBody>
      </p:sp>
      <p:grpSp>
        <p:nvGrpSpPr>
          <p:cNvPr id="7" name="组合 6">
            <a:extLst>
              <a:ext uri="{FF2B5EF4-FFF2-40B4-BE49-F238E27FC236}">
                <a16:creationId xmlns:a16="http://schemas.microsoft.com/office/drawing/2014/main" id="{D24221E4-0B0F-1A2E-7A8B-B8DB6EEB8A99}"/>
              </a:ext>
            </a:extLst>
          </p:cNvPr>
          <p:cNvGrpSpPr/>
          <p:nvPr/>
        </p:nvGrpSpPr>
        <p:grpSpPr>
          <a:xfrm>
            <a:off x="4140545" y="3920394"/>
            <a:ext cx="4466098" cy="1041791"/>
            <a:chOff x="454705" y="622125"/>
            <a:chExt cx="3396559" cy="675446"/>
          </a:xfrm>
        </p:grpSpPr>
        <p:cxnSp>
          <p:nvCxnSpPr>
            <p:cNvPr id="8" name="直线箭头连接符 7">
              <a:extLst>
                <a:ext uri="{FF2B5EF4-FFF2-40B4-BE49-F238E27FC236}">
                  <a16:creationId xmlns:a16="http://schemas.microsoft.com/office/drawing/2014/main" id="{424D8DF8-2841-4CBD-9864-D7FD0A82F7A7}"/>
                </a:ext>
              </a:extLst>
            </p:cNvPr>
            <p:cNvCxnSpPr>
              <a:cxnSpLocks/>
            </p:cNvCxnSpPr>
            <p:nvPr/>
          </p:nvCxnSpPr>
          <p:spPr>
            <a:xfrm>
              <a:off x="1272173" y="965227"/>
              <a:ext cx="496784"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79E5E5FE-DFE1-312C-5E61-5477CD37340C}"/>
                </a:ext>
              </a:extLst>
            </p:cNvPr>
            <p:cNvGrpSpPr/>
            <p:nvPr/>
          </p:nvGrpSpPr>
          <p:grpSpPr>
            <a:xfrm>
              <a:off x="454705" y="622125"/>
              <a:ext cx="3396559" cy="675446"/>
              <a:chOff x="454705" y="622125"/>
              <a:chExt cx="3396559" cy="675446"/>
            </a:xfrm>
          </p:grpSpPr>
          <p:sp>
            <p:nvSpPr>
              <p:cNvPr id="10" name="矩形 9">
                <a:extLst>
                  <a:ext uri="{FF2B5EF4-FFF2-40B4-BE49-F238E27FC236}">
                    <a16:creationId xmlns:a16="http://schemas.microsoft.com/office/drawing/2014/main" id="{7548E39A-D252-3F2B-7346-8E993043C854}"/>
                  </a:ext>
                </a:extLst>
              </p:cNvPr>
              <p:cNvSpPr/>
              <p:nvPr/>
            </p:nvSpPr>
            <p:spPr>
              <a:xfrm>
                <a:off x="454705" y="788667"/>
                <a:ext cx="817467" cy="36293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kern="1200">
                    <a:solidFill>
                      <a:srgbClr val="000000"/>
                    </a:solidFill>
                    <a:effectLst/>
                    <a:ea typeface="宋体" panose="02010600030101010101" pitchFamily="2" charset="-122"/>
                    <a:cs typeface="宋体" panose="02010600030101010101" pitchFamily="2" charset="-122"/>
                  </a:rPr>
                  <a:t>CPU</a:t>
                </a:r>
                <a:endParaRPr lang="zh-CN" kern="100">
                  <a:effectLst/>
                  <a:ea typeface="宋体" panose="02010600030101010101" pitchFamily="2" charset="-122"/>
                  <a:cs typeface="宋体" panose="02010600030101010101" pitchFamily="2" charset="-122"/>
                </a:endParaRPr>
              </a:p>
            </p:txBody>
          </p:sp>
          <p:sp>
            <p:nvSpPr>
              <p:cNvPr id="11" name="矩形 10">
                <a:extLst>
                  <a:ext uri="{FF2B5EF4-FFF2-40B4-BE49-F238E27FC236}">
                    <a16:creationId xmlns:a16="http://schemas.microsoft.com/office/drawing/2014/main" id="{52D9B80A-BC60-FC8E-DC5F-9912284AE6C8}"/>
                  </a:ext>
                </a:extLst>
              </p:cNvPr>
              <p:cNvSpPr/>
              <p:nvPr/>
            </p:nvSpPr>
            <p:spPr>
              <a:xfrm>
                <a:off x="1776454" y="719136"/>
                <a:ext cx="783665" cy="48676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kern="1200" dirty="0">
                    <a:solidFill>
                      <a:srgbClr val="000000"/>
                    </a:solidFill>
                    <a:effectLst/>
                    <a:ea typeface="宋体" panose="02010600030101010101" pitchFamily="2" charset="-122"/>
                    <a:cs typeface="宋体" panose="02010600030101010101" pitchFamily="2" charset="-122"/>
                  </a:rPr>
                  <a:t>L1</a:t>
                </a:r>
                <a:endParaRPr lang="zh-CN" kern="100" dirty="0">
                  <a:effectLst/>
                  <a:ea typeface="宋体" panose="02010600030101010101" pitchFamily="2" charset="-122"/>
                  <a:cs typeface="宋体" panose="02010600030101010101" pitchFamily="2" charset="-122"/>
                </a:endParaRPr>
              </a:p>
              <a:p>
                <a:pPr algn="ctr"/>
                <a:r>
                  <a:rPr lang="en-US" sz="1600" kern="1200" dirty="0">
                    <a:solidFill>
                      <a:srgbClr val="000000"/>
                    </a:solidFill>
                    <a:effectLst/>
                    <a:ea typeface="宋体" panose="02010600030101010101" pitchFamily="2" charset="-122"/>
                    <a:cs typeface="宋体" panose="02010600030101010101" pitchFamily="2" charset="-122"/>
                  </a:rPr>
                  <a:t>Cache</a:t>
                </a:r>
                <a:endParaRPr lang="zh-CN" kern="100" dirty="0">
                  <a:effectLst/>
                  <a:ea typeface="宋体" panose="02010600030101010101" pitchFamily="2" charset="-122"/>
                  <a:cs typeface="宋体" panose="02010600030101010101" pitchFamily="2" charset="-122"/>
                </a:endParaRPr>
              </a:p>
            </p:txBody>
          </p:sp>
          <p:sp>
            <p:nvSpPr>
              <p:cNvPr id="12" name="矩形 11">
                <a:extLst>
                  <a:ext uri="{FF2B5EF4-FFF2-40B4-BE49-F238E27FC236}">
                    <a16:creationId xmlns:a16="http://schemas.microsoft.com/office/drawing/2014/main" id="{60FA832C-F5EE-E265-52BA-C880999F7801}"/>
                  </a:ext>
                </a:extLst>
              </p:cNvPr>
              <p:cNvSpPr>
                <a:spLocks noChangeAspect="1"/>
              </p:cNvSpPr>
              <p:nvPr/>
            </p:nvSpPr>
            <p:spPr>
              <a:xfrm>
                <a:off x="3064402" y="622125"/>
                <a:ext cx="786862" cy="67544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kern="1200">
                    <a:solidFill>
                      <a:srgbClr val="000000"/>
                    </a:solidFill>
                    <a:effectLst/>
                    <a:ea typeface="宋体" panose="02010600030101010101" pitchFamily="2" charset="-122"/>
                    <a:cs typeface="宋体" panose="02010600030101010101" pitchFamily="2" charset="-122"/>
                  </a:rPr>
                  <a:t>Main</a:t>
                </a:r>
                <a:endParaRPr lang="zh-CN" kern="100">
                  <a:effectLst/>
                  <a:ea typeface="宋体" panose="02010600030101010101" pitchFamily="2" charset="-122"/>
                  <a:cs typeface="宋体" panose="02010600030101010101" pitchFamily="2" charset="-122"/>
                </a:endParaRPr>
              </a:p>
              <a:p>
                <a:pPr algn="ctr"/>
                <a:r>
                  <a:rPr lang="en-US" sz="1600" kern="1200">
                    <a:solidFill>
                      <a:srgbClr val="000000"/>
                    </a:solidFill>
                    <a:effectLst/>
                    <a:ea typeface="宋体" panose="02010600030101010101" pitchFamily="2" charset="-122"/>
                    <a:cs typeface="宋体" panose="02010600030101010101" pitchFamily="2" charset="-122"/>
                  </a:rPr>
                  <a:t>Memory</a:t>
                </a:r>
                <a:endParaRPr lang="zh-CN" kern="100">
                  <a:effectLst/>
                  <a:ea typeface="宋体" panose="02010600030101010101" pitchFamily="2" charset="-122"/>
                  <a:cs typeface="宋体" panose="02010600030101010101" pitchFamily="2" charset="-122"/>
                </a:endParaRPr>
              </a:p>
            </p:txBody>
          </p:sp>
          <p:cxnSp>
            <p:nvCxnSpPr>
              <p:cNvPr id="13" name="直线箭头连接符 12">
                <a:extLst>
                  <a:ext uri="{FF2B5EF4-FFF2-40B4-BE49-F238E27FC236}">
                    <a16:creationId xmlns:a16="http://schemas.microsoft.com/office/drawing/2014/main" id="{02C1B46B-3124-369C-5FEB-C3EAF5245985}"/>
                  </a:ext>
                </a:extLst>
              </p:cNvPr>
              <p:cNvCxnSpPr/>
              <p:nvPr/>
            </p:nvCxnSpPr>
            <p:spPr>
              <a:xfrm flipV="1">
                <a:off x="2567618" y="962843"/>
                <a:ext cx="496783" cy="2383"/>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sp>
        <p:nvSpPr>
          <p:cNvPr id="16" name="文本框 15">
            <a:extLst>
              <a:ext uri="{FF2B5EF4-FFF2-40B4-BE49-F238E27FC236}">
                <a16:creationId xmlns:a16="http://schemas.microsoft.com/office/drawing/2014/main" id="{DE9D8C09-CEBA-9628-FD27-EAB8C9069AEA}"/>
              </a:ext>
            </a:extLst>
          </p:cNvPr>
          <p:cNvSpPr txBox="1"/>
          <p:nvPr/>
        </p:nvSpPr>
        <p:spPr>
          <a:xfrm>
            <a:off x="537357" y="5857689"/>
            <a:ext cx="8069284" cy="400110"/>
          </a:xfrm>
          <a:prstGeom prst="rect">
            <a:avLst/>
          </a:prstGeom>
          <a:noFill/>
        </p:spPr>
        <p:txBody>
          <a:bodyPr wrap="square">
            <a:spAutoFit/>
          </a:bodyPr>
          <a:lstStyle/>
          <a:p>
            <a:pPr eaLnBrk="1" hangingPunct="1"/>
            <a:r>
              <a:rPr kumimoji="1" lang="zh-CN" altLang="en-US" sz="2000" b="1" dirty="0">
                <a:solidFill>
                  <a:srgbClr val="1A49EA"/>
                </a:solidFill>
                <a:latin typeface="+mn-lt"/>
                <a:ea typeface="+mn-ea"/>
              </a:rPr>
              <a:t>平均访问时间</a:t>
            </a:r>
            <a:r>
              <a:rPr kumimoji="1" lang="en-US" altLang="zh-CN" sz="2000" b="1" dirty="0">
                <a:solidFill>
                  <a:srgbClr val="1A49EA"/>
                </a:solidFill>
                <a:latin typeface="+mn-lt"/>
                <a:ea typeface="+mn-ea"/>
              </a:rPr>
              <a:t> </a:t>
            </a:r>
            <a:r>
              <a:rPr kumimoji="1" lang="en-US" altLang="zh-CN" sz="2000" b="1" dirty="0">
                <a:latin typeface="+mn-lt"/>
                <a:ea typeface="+mn-ea"/>
              </a:rPr>
              <a:t>T</a:t>
            </a:r>
            <a:r>
              <a:rPr kumimoji="1" lang="en-US" altLang="zh-CN" sz="2000" b="1" baseline="-25000" dirty="0">
                <a:latin typeface="+mn-lt"/>
                <a:ea typeface="+mn-ea"/>
              </a:rPr>
              <a:t>A</a:t>
            </a:r>
            <a:r>
              <a:rPr kumimoji="1" lang="en-US" altLang="zh-CN" sz="2000" b="1" dirty="0">
                <a:latin typeface="+mn-lt"/>
                <a:ea typeface="+mn-ea"/>
              </a:rPr>
              <a:t>=</a:t>
            </a:r>
            <a:r>
              <a:rPr kumimoji="1" lang="en-US" altLang="zh-CN" sz="2000" b="1" dirty="0">
                <a:solidFill>
                  <a:srgbClr val="028051"/>
                </a:solidFill>
                <a:latin typeface="+mn-lt"/>
                <a:ea typeface="+mn-ea"/>
              </a:rPr>
              <a:t>HT</a:t>
            </a:r>
            <a:r>
              <a:rPr kumimoji="1" lang="en-US" altLang="zh-CN" sz="2000" b="1" baseline="-25000" dirty="0">
                <a:solidFill>
                  <a:srgbClr val="028051"/>
                </a:solidFill>
                <a:latin typeface="+mn-lt"/>
                <a:ea typeface="+mn-ea"/>
              </a:rPr>
              <a:t>A1</a:t>
            </a:r>
            <a:r>
              <a:rPr kumimoji="1" lang="en-US" altLang="zh-CN" sz="2000" b="1" dirty="0">
                <a:solidFill>
                  <a:srgbClr val="C00000"/>
                </a:solidFill>
                <a:latin typeface="+mn-lt"/>
                <a:ea typeface="+mn-ea"/>
              </a:rPr>
              <a:t>+(1-H)(T</a:t>
            </a:r>
            <a:r>
              <a:rPr kumimoji="1" lang="en-US" altLang="zh-CN" sz="2000" b="1" baseline="-25000" dirty="0">
                <a:solidFill>
                  <a:srgbClr val="C00000"/>
                </a:solidFill>
                <a:latin typeface="+mn-lt"/>
                <a:ea typeface="+mn-ea"/>
              </a:rPr>
              <a:t>A1</a:t>
            </a:r>
            <a:r>
              <a:rPr kumimoji="1" lang="en-US" altLang="zh-CN" sz="2000" b="1" dirty="0">
                <a:solidFill>
                  <a:srgbClr val="C00000"/>
                </a:solidFill>
                <a:latin typeface="+mn-lt"/>
                <a:ea typeface="+mn-ea"/>
              </a:rPr>
              <a:t>+T</a:t>
            </a:r>
            <a:r>
              <a:rPr kumimoji="1" lang="en-US" altLang="zh-CN" sz="2000" b="1" baseline="-25000" dirty="0">
                <a:solidFill>
                  <a:srgbClr val="C00000"/>
                </a:solidFill>
                <a:latin typeface="+mn-lt"/>
                <a:ea typeface="+mn-ea"/>
              </a:rPr>
              <a:t>A2</a:t>
            </a:r>
            <a:r>
              <a:rPr kumimoji="1" lang="en-US" altLang="zh-CN" sz="2000" b="1" dirty="0">
                <a:solidFill>
                  <a:srgbClr val="C00000"/>
                </a:solidFill>
                <a:latin typeface="+mn-lt"/>
                <a:ea typeface="+mn-ea"/>
              </a:rPr>
              <a:t>) </a:t>
            </a:r>
            <a:r>
              <a:rPr kumimoji="1" lang="en-US" altLang="zh-CN" sz="2000" b="1" dirty="0">
                <a:latin typeface="+mn-lt"/>
                <a:ea typeface="+mn-ea"/>
              </a:rPr>
              <a:t>= T</a:t>
            </a:r>
            <a:r>
              <a:rPr kumimoji="1" lang="en-US" altLang="zh-CN" sz="2000" b="1" baseline="-25000" dirty="0">
                <a:latin typeface="+mn-lt"/>
                <a:ea typeface="+mn-ea"/>
              </a:rPr>
              <a:t>A1</a:t>
            </a:r>
            <a:r>
              <a:rPr kumimoji="1" lang="en-US" altLang="zh-CN" sz="2000" b="1" dirty="0">
                <a:latin typeface="+mn-lt"/>
                <a:ea typeface="+mn-ea"/>
              </a:rPr>
              <a:t> +(1-H)T</a:t>
            </a:r>
            <a:r>
              <a:rPr kumimoji="1" lang="en-US" altLang="zh-CN" sz="2000" b="1" baseline="-25000" dirty="0">
                <a:latin typeface="+mn-lt"/>
                <a:ea typeface="+mn-ea"/>
              </a:rPr>
              <a:t>A2</a:t>
            </a:r>
            <a:r>
              <a:rPr kumimoji="1" lang="en-US" altLang="zh-CN" sz="2000" b="1" dirty="0">
                <a:latin typeface="+mn-lt"/>
                <a:ea typeface="+mn-ea"/>
              </a:rPr>
              <a:t> </a:t>
            </a:r>
          </a:p>
        </p:txBody>
      </p:sp>
      <p:sp>
        <p:nvSpPr>
          <p:cNvPr id="17" name="TextBox 67">
            <a:extLst>
              <a:ext uri="{FF2B5EF4-FFF2-40B4-BE49-F238E27FC236}">
                <a16:creationId xmlns:a16="http://schemas.microsoft.com/office/drawing/2014/main" id="{6EB959B0-52F2-E2B2-E414-BD8AB25E9717}"/>
              </a:ext>
            </a:extLst>
          </p:cNvPr>
          <p:cNvSpPr txBox="1"/>
          <p:nvPr/>
        </p:nvSpPr>
        <p:spPr>
          <a:xfrm>
            <a:off x="3344328" y="6240624"/>
            <a:ext cx="960519" cy="400110"/>
          </a:xfrm>
          <a:prstGeom prst="rect">
            <a:avLst/>
          </a:prstGeom>
          <a:noFill/>
        </p:spPr>
        <p:txBody>
          <a:bodyPr wrap="none" rtlCol="0">
            <a:spAutoFit/>
          </a:bodyPr>
          <a:lstStyle/>
          <a:p>
            <a:r>
              <a:rPr lang="en-US" altLang="zh-CN" sz="2000" b="1" dirty="0">
                <a:solidFill>
                  <a:srgbClr val="028051"/>
                </a:solidFill>
                <a:latin typeface="SimHei" panose="02010609060101010101" pitchFamily="49" charset="-122"/>
                <a:ea typeface="SimHei" panose="02010609060101010101" pitchFamily="49" charset="-122"/>
              </a:rPr>
              <a:t>L1</a:t>
            </a:r>
            <a:r>
              <a:rPr lang="en-CN" sz="2000" b="1" dirty="0">
                <a:solidFill>
                  <a:srgbClr val="028051"/>
                </a:solidFill>
                <a:latin typeface="SimHei" panose="02010609060101010101" pitchFamily="49" charset="-122"/>
                <a:ea typeface="SimHei" panose="02010609060101010101" pitchFamily="49" charset="-122"/>
              </a:rPr>
              <a:t>命中</a:t>
            </a:r>
          </a:p>
        </p:txBody>
      </p:sp>
      <p:cxnSp>
        <p:nvCxnSpPr>
          <p:cNvPr id="18" name="Straight Arrow Connector 69">
            <a:extLst>
              <a:ext uri="{FF2B5EF4-FFF2-40B4-BE49-F238E27FC236}">
                <a16:creationId xmlns:a16="http://schemas.microsoft.com/office/drawing/2014/main" id="{CA4BC1B2-9379-EAE9-34C1-59184BC7D2F6}"/>
              </a:ext>
            </a:extLst>
          </p:cNvPr>
          <p:cNvCxnSpPr/>
          <p:nvPr/>
        </p:nvCxnSpPr>
        <p:spPr>
          <a:xfrm flipH="1" flipV="1">
            <a:off x="3160124" y="6247195"/>
            <a:ext cx="242492" cy="210543"/>
          </a:xfrm>
          <a:prstGeom prst="straightConnector1">
            <a:avLst/>
          </a:prstGeom>
          <a:ln w="28575">
            <a:solidFill>
              <a:srgbClr val="02805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70">
            <a:extLst>
              <a:ext uri="{FF2B5EF4-FFF2-40B4-BE49-F238E27FC236}">
                <a16:creationId xmlns:a16="http://schemas.microsoft.com/office/drawing/2014/main" id="{DEB4B3E2-7D85-79D1-31A1-70C979B18A7A}"/>
              </a:ext>
            </a:extLst>
          </p:cNvPr>
          <p:cNvSpPr txBox="1"/>
          <p:nvPr/>
        </p:nvSpPr>
        <p:spPr>
          <a:xfrm>
            <a:off x="4959732" y="6240624"/>
            <a:ext cx="1218603" cy="400110"/>
          </a:xfrm>
          <a:prstGeom prst="rect">
            <a:avLst/>
          </a:prstGeom>
          <a:noFill/>
        </p:spPr>
        <p:txBody>
          <a:bodyPr wrap="none" rtlCol="0">
            <a:spAutoFit/>
          </a:bodyPr>
          <a:lstStyle/>
          <a:p>
            <a:r>
              <a:rPr lang="en-US" altLang="zh-CN" sz="2000" b="1" dirty="0">
                <a:solidFill>
                  <a:srgbClr val="C00000"/>
                </a:solidFill>
                <a:latin typeface="SimHei" panose="02010609060101010101" pitchFamily="49" charset="-122"/>
                <a:ea typeface="SimHei" panose="02010609060101010101" pitchFamily="49" charset="-122"/>
              </a:rPr>
              <a:t>L1</a:t>
            </a:r>
            <a:r>
              <a:rPr lang="en-CN" sz="2000" b="1" dirty="0">
                <a:solidFill>
                  <a:srgbClr val="C00000"/>
                </a:solidFill>
                <a:latin typeface="SimHei" panose="02010609060101010101" pitchFamily="49" charset="-122"/>
                <a:ea typeface="SimHei" panose="02010609060101010101" pitchFamily="49" charset="-122"/>
              </a:rPr>
              <a:t>未命中</a:t>
            </a:r>
          </a:p>
        </p:txBody>
      </p:sp>
      <p:cxnSp>
        <p:nvCxnSpPr>
          <p:cNvPr id="20" name="Straight Arrow Connector 71">
            <a:extLst>
              <a:ext uri="{FF2B5EF4-FFF2-40B4-BE49-F238E27FC236}">
                <a16:creationId xmlns:a16="http://schemas.microsoft.com/office/drawing/2014/main" id="{D9C14D81-913F-16EB-8861-39B239AEF6B4}"/>
              </a:ext>
            </a:extLst>
          </p:cNvPr>
          <p:cNvCxnSpPr/>
          <p:nvPr/>
        </p:nvCxnSpPr>
        <p:spPr>
          <a:xfrm flipH="1" flipV="1">
            <a:off x="4751616" y="6289975"/>
            <a:ext cx="242492" cy="21054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95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模拟题解析：存储器部分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229600" cy="4525963"/>
          </a:xfrm>
        </p:spPr>
        <p:txBody>
          <a:bodyPr/>
          <a:lstStyle/>
          <a:p>
            <a:r>
              <a:rPr kumimoji="1" lang="en" altLang="zh-CN" sz="2400" dirty="0"/>
              <a:t>L1 Cache</a:t>
            </a:r>
            <a:r>
              <a:rPr kumimoji="1" lang="zh-CN" altLang="en-US" sz="2400" dirty="0"/>
              <a:t>（</a:t>
            </a:r>
            <a:r>
              <a:rPr kumimoji="1" lang="en-US" altLang="zh-CN" sz="2400" dirty="0"/>
              <a:t>4</a:t>
            </a:r>
            <a:r>
              <a:rPr kumimoji="1" lang="zh-CN" altLang="en-US" sz="2400" dirty="0"/>
              <a:t>路组相连）初始时未加载主存中的任何内容。循环读取如下主存地址中的数据</a:t>
            </a:r>
            <a:endParaRPr kumimoji="1" lang="en-US" altLang="zh-CN" sz="2400" dirty="0"/>
          </a:p>
          <a:p>
            <a:r>
              <a:rPr kumimoji="1" lang="zh-CN" altLang="en-US" sz="2400" dirty="0"/>
              <a:t>采用先进先出（</a:t>
            </a:r>
            <a:r>
              <a:rPr kumimoji="1" lang="en" altLang="zh-CN" sz="2400" dirty="0"/>
              <a:t>FIFO</a:t>
            </a:r>
            <a:r>
              <a:rPr kumimoji="1" lang="zh-CN" altLang="en" sz="2400" dirty="0"/>
              <a:t>）</a:t>
            </a:r>
            <a:r>
              <a:rPr kumimoji="1" lang="zh-CN" altLang="en-US" sz="2400" dirty="0"/>
              <a:t>替换策略，会发生什么缺失？</a:t>
            </a:r>
          </a:p>
        </p:txBody>
      </p:sp>
      <p:sp>
        <p:nvSpPr>
          <p:cNvPr id="4" name="灯片编号占位符 3">
            <a:extLst>
              <a:ext uri="{FF2B5EF4-FFF2-40B4-BE49-F238E27FC236}">
                <a16:creationId xmlns:a16="http://schemas.microsoft.com/office/drawing/2014/main" id="{5D06E1A7-0989-3DCD-C65B-8C524C2CEFE9}"/>
              </a:ext>
            </a:extLst>
          </p:cNvPr>
          <p:cNvSpPr>
            <a:spLocks noGrp="1"/>
          </p:cNvSpPr>
          <p:nvPr>
            <p:ph type="sldNum" sz="quarter" idx="12"/>
          </p:nvPr>
        </p:nvSpPr>
        <p:spPr/>
        <p:txBody>
          <a:bodyPr/>
          <a:lstStyle/>
          <a:p>
            <a:fld id="{14659731-6BD7-46E7-8D3C-2F3AC07E20B1}" type="slidenum">
              <a:rPr lang="en-US" altLang="zh-CN" smtClean="0"/>
              <a:pPr/>
              <a:t>58</a:t>
            </a:fld>
            <a:endParaRPr lang="en-US" altLang="zh-CN" dirty="0"/>
          </a:p>
        </p:txBody>
      </p:sp>
      <p:sp>
        <p:nvSpPr>
          <p:cNvPr id="6" name="文本框 5">
            <a:extLst>
              <a:ext uri="{FF2B5EF4-FFF2-40B4-BE49-F238E27FC236}">
                <a16:creationId xmlns:a16="http://schemas.microsoft.com/office/drawing/2014/main" id="{3D84107A-5C2B-297B-EF73-BF26EE33FAF0}"/>
              </a:ext>
            </a:extLst>
          </p:cNvPr>
          <p:cNvSpPr txBox="1"/>
          <p:nvPr/>
        </p:nvSpPr>
        <p:spPr>
          <a:xfrm>
            <a:off x="665018" y="5649147"/>
            <a:ext cx="7813964" cy="830997"/>
          </a:xfrm>
          <a:prstGeom prst="rect">
            <a:avLst/>
          </a:prstGeom>
          <a:noFill/>
        </p:spPr>
        <p:txBody>
          <a:bodyPr wrap="square">
            <a:spAutoFit/>
          </a:bodyPr>
          <a:lstStyle/>
          <a:p>
            <a:pPr algn="ctr"/>
            <a:r>
              <a:rPr lang="zh-CN" altLang="en-US" sz="2400" b="1" dirty="0">
                <a:latin typeface="+mn-lt"/>
                <a:ea typeface="+mn-ea"/>
              </a:rPr>
              <a:t>行内地址位宽</a:t>
            </a:r>
            <a:r>
              <a:rPr lang="en-US" altLang="zh-CN" sz="2400" b="1" dirty="0">
                <a:latin typeface="+mn-lt"/>
                <a:ea typeface="+mn-ea"/>
              </a:rPr>
              <a:t>=4bit</a:t>
            </a:r>
            <a:r>
              <a:rPr lang="zh-CN" altLang="en-US" sz="2400" b="1" dirty="0">
                <a:latin typeface="+mn-lt"/>
                <a:ea typeface="+mn-ea"/>
              </a:rPr>
              <a:t>，组号位宽</a:t>
            </a:r>
            <a:r>
              <a:rPr lang="en-US" altLang="zh-CN" sz="2400" b="1" dirty="0">
                <a:latin typeface="+mn-lt"/>
                <a:ea typeface="+mn-ea"/>
              </a:rPr>
              <a:t>=4bit</a:t>
            </a:r>
            <a:r>
              <a:rPr lang="zh-CN" altLang="en-US" sz="2400" b="1" dirty="0">
                <a:latin typeface="+mn-lt"/>
                <a:ea typeface="+mn-ea"/>
              </a:rPr>
              <a:t>，组数量</a:t>
            </a:r>
            <a:r>
              <a:rPr lang="en-US" altLang="zh-CN" sz="2400" b="1" dirty="0">
                <a:latin typeface="+mn-lt"/>
                <a:ea typeface="+mn-ea"/>
              </a:rPr>
              <a:t>=2^4=16</a:t>
            </a:r>
          </a:p>
          <a:p>
            <a:pPr algn="ctr"/>
            <a:r>
              <a:rPr lang="zh-CN" altLang="en-US" sz="2400" b="1" dirty="0">
                <a:latin typeface="+mn-lt"/>
                <a:ea typeface="+mn-ea"/>
              </a:rPr>
              <a:t>可见所有的数据均来自同一组</a:t>
            </a:r>
          </a:p>
        </p:txBody>
      </p:sp>
      <p:graphicFrame>
        <p:nvGraphicFramePr>
          <p:cNvPr id="7" name="表格 6">
            <a:extLst>
              <a:ext uri="{FF2B5EF4-FFF2-40B4-BE49-F238E27FC236}">
                <a16:creationId xmlns:a16="http://schemas.microsoft.com/office/drawing/2014/main" id="{2AF70045-486E-8512-D7B7-31E5210BE455}"/>
              </a:ext>
            </a:extLst>
          </p:cNvPr>
          <p:cNvGraphicFramePr>
            <a:graphicFrameLocks noGrp="1"/>
          </p:cNvGraphicFramePr>
          <p:nvPr/>
        </p:nvGraphicFramePr>
        <p:xfrm>
          <a:off x="1524000" y="2763031"/>
          <a:ext cx="6096000" cy="2773680"/>
        </p:xfrm>
        <a:graphic>
          <a:graphicData uri="http://schemas.openxmlformats.org/drawingml/2006/table">
            <a:tbl>
              <a:tblPr firstRow="1" bandRow="1">
                <a:tableStyleId>{5940675A-B579-460E-94D1-54222C63F5DA}</a:tableStyleId>
              </a:tblPr>
              <a:tblGrid>
                <a:gridCol w="2857995">
                  <a:extLst>
                    <a:ext uri="{9D8B030D-6E8A-4147-A177-3AD203B41FA5}">
                      <a16:colId xmlns:a16="http://schemas.microsoft.com/office/drawing/2014/main" val="2322119369"/>
                    </a:ext>
                  </a:extLst>
                </a:gridCol>
                <a:gridCol w="1638795">
                  <a:extLst>
                    <a:ext uri="{9D8B030D-6E8A-4147-A177-3AD203B41FA5}">
                      <a16:colId xmlns:a16="http://schemas.microsoft.com/office/drawing/2014/main" val="2653886429"/>
                    </a:ext>
                  </a:extLst>
                </a:gridCol>
                <a:gridCol w="1599210">
                  <a:extLst>
                    <a:ext uri="{9D8B030D-6E8A-4147-A177-3AD203B41FA5}">
                      <a16:colId xmlns:a16="http://schemas.microsoft.com/office/drawing/2014/main" val="2178471598"/>
                    </a:ext>
                  </a:extLst>
                </a:gridCol>
              </a:tblGrid>
              <a:tr h="370840">
                <a:tc>
                  <a:txBody>
                    <a:bodyPr/>
                    <a:lstStyle/>
                    <a:p>
                      <a:pPr algn="ctr"/>
                      <a:endParaRPr lang="zh-CN" altLang="en-US" sz="2000" dirty="0"/>
                    </a:p>
                  </a:txBody>
                  <a:tcPr>
                    <a:solidFill>
                      <a:schemeClr val="bg2">
                        <a:lumMod val="20000"/>
                        <a:lumOff val="80000"/>
                      </a:schemeClr>
                    </a:solidFill>
                  </a:tcPr>
                </a:tc>
                <a:tc>
                  <a:txBody>
                    <a:bodyPr/>
                    <a:lstStyle/>
                    <a:p>
                      <a:pPr algn="ctr"/>
                      <a:r>
                        <a:rPr lang="zh-CN" altLang="en-US" sz="2000" b="1" dirty="0"/>
                        <a:t>第</a:t>
                      </a:r>
                      <a:r>
                        <a:rPr lang="en-US" altLang="zh-CN" sz="2000" b="1" dirty="0"/>
                        <a:t>0</a:t>
                      </a:r>
                      <a:r>
                        <a:rPr lang="zh-CN" altLang="en-US" sz="2000" b="1" dirty="0"/>
                        <a:t>次循环</a:t>
                      </a:r>
                    </a:p>
                  </a:txBody>
                  <a:tcPr>
                    <a:solidFill>
                      <a:schemeClr val="bg2">
                        <a:lumMod val="20000"/>
                        <a:lumOff val="80000"/>
                      </a:schemeClr>
                    </a:solidFill>
                  </a:tcPr>
                </a:tc>
                <a:tc>
                  <a:txBody>
                    <a:bodyPr/>
                    <a:lstStyle/>
                    <a:p>
                      <a:pPr algn="ctr"/>
                      <a:r>
                        <a:rPr lang="zh-CN" altLang="en-US" sz="2000" b="1" dirty="0"/>
                        <a:t>后续循环</a:t>
                      </a:r>
                    </a:p>
                  </a:txBody>
                  <a:tcPr>
                    <a:solidFill>
                      <a:schemeClr val="bg2">
                        <a:lumMod val="20000"/>
                        <a:lumOff val="80000"/>
                      </a:schemeClr>
                    </a:solidFill>
                  </a:tcPr>
                </a:tc>
                <a:extLst>
                  <a:ext uri="{0D108BD9-81ED-4DB2-BD59-A6C34878D82A}">
                    <a16:rowId xmlns:a16="http://schemas.microsoft.com/office/drawing/2014/main" val="259966126"/>
                  </a:ext>
                </a:extLst>
              </a:tr>
              <a:tr h="370840">
                <a:tc>
                  <a:txBody>
                    <a:bodyPr/>
                    <a:lstStyle/>
                    <a:p>
                      <a:pPr algn="ctr"/>
                      <a:r>
                        <a:rPr lang="en" altLang="zh-CN" sz="2000" b="1" dirty="0" err="1"/>
                        <a:t>Addr</a:t>
                      </a:r>
                      <a:r>
                        <a:rPr lang="en" altLang="zh-CN" sz="2000" b="1" dirty="0"/>
                        <a:t> 0</a:t>
                      </a:r>
                      <a:r>
                        <a:rPr lang="zh-CN" altLang="en" sz="2000" b="1" dirty="0"/>
                        <a:t>：</a:t>
                      </a:r>
                      <a:r>
                        <a:rPr lang="en" altLang="zh-CN" sz="2000" b="1" dirty="0"/>
                        <a:t>0x302E0A</a:t>
                      </a:r>
                      <a:r>
                        <a:rPr lang="en" altLang="zh-CN" sz="2000" b="1" dirty="0">
                          <a:solidFill>
                            <a:srgbClr val="1A49EA"/>
                          </a:solidFill>
                        </a:rPr>
                        <a:t>0</a:t>
                      </a:r>
                      <a:r>
                        <a:rPr lang="en" altLang="zh-CN" sz="2000" b="1" dirty="0"/>
                        <a:t>0</a:t>
                      </a:r>
                      <a:endParaRPr lang="zh-CN" altLang="en-US" sz="2000" b="1" dirty="0"/>
                    </a:p>
                  </a:txBody>
                  <a:tcPr/>
                </a:tc>
                <a:tc>
                  <a:txBody>
                    <a:bodyPr/>
                    <a:lstStyle/>
                    <a:p>
                      <a:pPr algn="ctr"/>
                      <a:r>
                        <a:rPr lang="zh-CN" altLang="en-US" sz="2000" b="1" dirty="0"/>
                        <a:t>强迫性缺失</a:t>
                      </a:r>
                    </a:p>
                  </a:txBody>
                  <a:tcPr/>
                </a:tc>
                <a:tc>
                  <a:txBody>
                    <a:bodyPr/>
                    <a:lstStyle/>
                    <a:p>
                      <a:pPr algn="ctr"/>
                      <a:r>
                        <a:rPr lang="zh-CN" altLang="en-US" sz="2000" b="1" dirty="0"/>
                        <a:t>冲突缺失</a:t>
                      </a:r>
                    </a:p>
                  </a:txBody>
                  <a:tcPr/>
                </a:tc>
                <a:extLst>
                  <a:ext uri="{0D108BD9-81ED-4DB2-BD59-A6C34878D82A}">
                    <a16:rowId xmlns:a16="http://schemas.microsoft.com/office/drawing/2014/main" val="1576212894"/>
                  </a:ext>
                </a:extLst>
              </a:tr>
              <a:tr h="370840">
                <a:tc>
                  <a:txBody>
                    <a:bodyPr/>
                    <a:lstStyle/>
                    <a:p>
                      <a:pPr algn="ctr"/>
                      <a:r>
                        <a:rPr lang="en" altLang="zh-CN" sz="2000" b="1" dirty="0" err="1"/>
                        <a:t>Addr</a:t>
                      </a:r>
                      <a:r>
                        <a:rPr lang="en" altLang="zh-CN" sz="2000" b="1" dirty="0"/>
                        <a:t> 1</a:t>
                      </a:r>
                      <a:r>
                        <a:rPr lang="zh-CN" altLang="en" sz="2000" b="1" dirty="0"/>
                        <a:t>：</a:t>
                      </a:r>
                      <a:r>
                        <a:rPr lang="en" altLang="zh-CN" sz="2000" b="1" dirty="0"/>
                        <a:t>0x302E0A</a:t>
                      </a:r>
                      <a:r>
                        <a:rPr lang="en" altLang="zh-CN" sz="2000" b="1" dirty="0">
                          <a:solidFill>
                            <a:srgbClr val="1A49EA"/>
                          </a:solidFill>
                        </a:rPr>
                        <a:t>0</a:t>
                      </a:r>
                      <a:r>
                        <a:rPr lang="en" altLang="zh-CN" sz="2000" b="1" dirty="0"/>
                        <a:t>4</a:t>
                      </a:r>
                      <a:endParaRPr lang="zh-CN" altLang="en-US" sz="2000" b="1" dirty="0"/>
                    </a:p>
                  </a:txBody>
                  <a:tcPr/>
                </a:tc>
                <a:tc>
                  <a:txBody>
                    <a:bodyPr/>
                    <a:lstStyle/>
                    <a:p>
                      <a:pPr algn="ctr"/>
                      <a:r>
                        <a:rPr lang="zh-CN" altLang="en-US" sz="2000" b="1" dirty="0"/>
                        <a:t>命中</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t>命中</a:t>
                      </a:r>
                    </a:p>
                  </a:txBody>
                  <a:tcPr/>
                </a:tc>
                <a:extLst>
                  <a:ext uri="{0D108BD9-81ED-4DB2-BD59-A6C34878D82A}">
                    <a16:rowId xmlns:a16="http://schemas.microsoft.com/office/drawing/2014/main" val="847873791"/>
                  </a:ext>
                </a:extLst>
              </a:tr>
              <a:tr h="370840">
                <a:tc>
                  <a:txBody>
                    <a:bodyPr/>
                    <a:lstStyle/>
                    <a:p>
                      <a:pPr algn="ctr"/>
                      <a:r>
                        <a:rPr lang="en" altLang="zh-CN" sz="2000" b="1" dirty="0" err="1"/>
                        <a:t>Addr</a:t>
                      </a:r>
                      <a:r>
                        <a:rPr lang="en" altLang="zh-CN" sz="2000" b="1" dirty="0"/>
                        <a:t> 2</a:t>
                      </a:r>
                      <a:r>
                        <a:rPr lang="zh-CN" altLang="en" sz="2000" b="1" dirty="0"/>
                        <a:t>：</a:t>
                      </a:r>
                      <a:r>
                        <a:rPr lang="en" altLang="zh-CN" sz="2000" b="1" dirty="0"/>
                        <a:t>0x01C24B</a:t>
                      </a:r>
                      <a:r>
                        <a:rPr lang="en" altLang="zh-CN" sz="2000" b="1" dirty="0">
                          <a:solidFill>
                            <a:srgbClr val="1A49EA"/>
                          </a:solidFill>
                        </a:rPr>
                        <a:t>0</a:t>
                      </a:r>
                      <a:r>
                        <a:rPr lang="en" altLang="zh-CN" sz="2000" b="1" dirty="0"/>
                        <a:t>0</a:t>
                      </a:r>
                      <a:endParaRPr lang="zh-CN" altLang="en-US" sz="2000" b="1" dirty="0"/>
                    </a:p>
                  </a:txBody>
                  <a:tcPr/>
                </a:tc>
                <a:tc>
                  <a:txBody>
                    <a:bodyPr/>
                    <a:lstStyle/>
                    <a:p>
                      <a:pPr algn="ctr"/>
                      <a:r>
                        <a:rPr lang="zh-CN" altLang="en-US" sz="2000" b="1" dirty="0"/>
                        <a:t>强迫性缺失</a:t>
                      </a:r>
                    </a:p>
                  </a:txBody>
                  <a:tcPr/>
                </a:tc>
                <a:tc>
                  <a:txBody>
                    <a:bodyPr/>
                    <a:lstStyle/>
                    <a:p>
                      <a:pPr algn="ctr"/>
                      <a:r>
                        <a:rPr lang="zh-CN" altLang="en-US" sz="2000" b="1"/>
                        <a:t>冲突缺失</a:t>
                      </a:r>
                      <a:endParaRPr lang="zh-CN" altLang="en-US" sz="2000" b="1" dirty="0"/>
                    </a:p>
                  </a:txBody>
                  <a:tcPr/>
                </a:tc>
                <a:extLst>
                  <a:ext uri="{0D108BD9-81ED-4DB2-BD59-A6C34878D82A}">
                    <a16:rowId xmlns:a16="http://schemas.microsoft.com/office/drawing/2014/main" val="3147640067"/>
                  </a:ext>
                </a:extLst>
              </a:tr>
              <a:tr h="370840">
                <a:tc>
                  <a:txBody>
                    <a:bodyPr/>
                    <a:lstStyle/>
                    <a:p>
                      <a:pPr algn="ctr"/>
                      <a:r>
                        <a:rPr lang="en" altLang="zh-CN" sz="2000" b="1" dirty="0" err="1"/>
                        <a:t>Addr</a:t>
                      </a:r>
                      <a:r>
                        <a:rPr lang="en" altLang="zh-CN" sz="2000" b="1" dirty="0"/>
                        <a:t> 3</a:t>
                      </a:r>
                      <a:r>
                        <a:rPr lang="zh-CN" altLang="en" sz="2000" b="1" dirty="0"/>
                        <a:t>：</a:t>
                      </a:r>
                      <a:r>
                        <a:rPr lang="en" altLang="zh-CN" sz="2000" b="1" dirty="0"/>
                        <a:t>0x2A623D</a:t>
                      </a:r>
                      <a:r>
                        <a:rPr lang="en" altLang="zh-CN" sz="2000" b="1" dirty="0">
                          <a:solidFill>
                            <a:srgbClr val="1A49EA"/>
                          </a:solidFill>
                        </a:rPr>
                        <a:t>0</a:t>
                      </a:r>
                      <a:r>
                        <a:rPr lang="en" altLang="zh-CN" sz="2000" b="1" dirty="0"/>
                        <a:t>3</a:t>
                      </a:r>
                      <a:endParaRPr lang="zh-CN" altLang="en-US" sz="2000" b="1" dirty="0"/>
                    </a:p>
                  </a:txBody>
                  <a:tcPr/>
                </a:tc>
                <a:tc>
                  <a:txBody>
                    <a:bodyPr/>
                    <a:lstStyle/>
                    <a:p>
                      <a:pPr algn="ctr"/>
                      <a:r>
                        <a:rPr lang="zh-CN" altLang="en-US" sz="2000" b="1" dirty="0"/>
                        <a:t>强迫性缺失</a:t>
                      </a:r>
                    </a:p>
                  </a:txBody>
                  <a:tcPr/>
                </a:tc>
                <a:tc>
                  <a:txBody>
                    <a:bodyPr/>
                    <a:lstStyle/>
                    <a:p>
                      <a:pPr algn="ctr"/>
                      <a:r>
                        <a:rPr lang="zh-CN" altLang="en-US" sz="2000" b="1"/>
                        <a:t>冲突缺失</a:t>
                      </a:r>
                      <a:endParaRPr lang="zh-CN" altLang="en-US" sz="2000" b="1" dirty="0"/>
                    </a:p>
                  </a:txBody>
                  <a:tcPr/>
                </a:tc>
                <a:extLst>
                  <a:ext uri="{0D108BD9-81ED-4DB2-BD59-A6C34878D82A}">
                    <a16:rowId xmlns:a16="http://schemas.microsoft.com/office/drawing/2014/main" val="2630825148"/>
                  </a:ext>
                </a:extLst>
              </a:tr>
              <a:tr h="370840">
                <a:tc>
                  <a:txBody>
                    <a:bodyPr/>
                    <a:lstStyle/>
                    <a:p>
                      <a:pPr algn="ctr"/>
                      <a:r>
                        <a:rPr lang="en" altLang="zh-CN" sz="2000" b="1" dirty="0" err="1"/>
                        <a:t>Addr</a:t>
                      </a:r>
                      <a:r>
                        <a:rPr lang="en" altLang="zh-CN" sz="2000" b="1" dirty="0"/>
                        <a:t> 4</a:t>
                      </a:r>
                      <a:r>
                        <a:rPr lang="zh-CN" altLang="en" sz="2000" b="1" dirty="0"/>
                        <a:t>：</a:t>
                      </a:r>
                      <a:r>
                        <a:rPr lang="en" altLang="zh-CN" sz="2000" b="1" dirty="0"/>
                        <a:t>0x713CD4</a:t>
                      </a:r>
                      <a:r>
                        <a:rPr lang="en" altLang="zh-CN" sz="2000" b="1" dirty="0">
                          <a:solidFill>
                            <a:srgbClr val="1A49EA"/>
                          </a:solidFill>
                        </a:rPr>
                        <a:t>0</a:t>
                      </a:r>
                      <a:r>
                        <a:rPr lang="en" altLang="zh-CN" sz="2000" b="1" dirty="0"/>
                        <a:t>A</a:t>
                      </a:r>
                      <a:endParaRPr lang="zh-CN" altLang="en-US" sz="2000" b="1" dirty="0"/>
                    </a:p>
                  </a:txBody>
                  <a:tcPr/>
                </a:tc>
                <a:tc>
                  <a:txBody>
                    <a:bodyPr/>
                    <a:lstStyle/>
                    <a:p>
                      <a:pPr algn="ctr"/>
                      <a:r>
                        <a:rPr lang="zh-CN" altLang="en-US" sz="2000" b="1" dirty="0"/>
                        <a:t>强迫性缺失</a:t>
                      </a:r>
                    </a:p>
                  </a:txBody>
                  <a:tcPr/>
                </a:tc>
                <a:tc>
                  <a:txBody>
                    <a:bodyPr/>
                    <a:lstStyle/>
                    <a:p>
                      <a:pPr algn="ctr"/>
                      <a:r>
                        <a:rPr lang="zh-CN" altLang="en-US" sz="2000" b="1" dirty="0"/>
                        <a:t>冲突缺失</a:t>
                      </a:r>
                    </a:p>
                  </a:txBody>
                  <a:tcPr/>
                </a:tc>
                <a:extLst>
                  <a:ext uri="{0D108BD9-81ED-4DB2-BD59-A6C34878D82A}">
                    <a16:rowId xmlns:a16="http://schemas.microsoft.com/office/drawing/2014/main" val="2946185639"/>
                  </a:ext>
                </a:extLst>
              </a:tr>
              <a:tr h="370840">
                <a:tc>
                  <a:txBody>
                    <a:bodyPr/>
                    <a:lstStyle/>
                    <a:p>
                      <a:pPr algn="ctr"/>
                      <a:r>
                        <a:rPr lang="en" altLang="zh-CN" sz="2000" b="1" dirty="0" err="1"/>
                        <a:t>Addr</a:t>
                      </a:r>
                      <a:r>
                        <a:rPr lang="en" altLang="zh-CN" sz="2000" b="1" dirty="0"/>
                        <a:t> 5</a:t>
                      </a:r>
                      <a:r>
                        <a:rPr lang="zh-CN" altLang="en" sz="2000" b="1" dirty="0"/>
                        <a:t>：</a:t>
                      </a:r>
                      <a:r>
                        <a:rPr lang="en" altLang="zh-CN" sz="2000" b="1" dirty="0"/>
                        <a:t>0x5D41E6</a:t>
                      </a:r>
                      <a:r>
                        <a:rPr lang="en" altLang="zh-CN" sz="2000" b="1" dirty="0">
                          <a:solidFill>
                            <a:srgbClr val="1A49EA"/>
                          </a:solidFill>
                        </a:rPr>
                        <a:t>0</a:t>
                      </a:r>
                      <a:r>
                        <a:rPr lang="en" altLang="zh-CN" sz="2000" b="1" dirty="0"/>
                        <a:t>0</a:t>
                      </a:r>
                      <a:endParaRPr lang="zh-CN" altLang="en-US" sz="2000" b="1" dirty="0"/>
                    </a:p>
                  </a:txBody>
                  <a:tcPr/>
                </a:tc>
                <a:tc>
                  <a:txBody>
                    <a:bodyPr/>
                    <a:lstStyle/>
                    <a:p>
                      <a:pPr algn="ctr"/>
                      <a:r>
                        <a:rPr lang="zh-CN" altLang="en-US" sz="2000" b="1" dirty="0"/>
                        <a:t>强迫性缺失</a:t>
                      </a:r>
                    </a:p>
                  </a:txBody>
                  <a:tcPr/>
                </a:tc>
                <a:tc>
                  <a:txBody>
                    <a:bodyPr/>
                    <a:lstStyle/>
                    <a:p>
                      <a:pPr algn="ctr"/>
                      <a:r>
                        <a:rPr lang="zh-CN" altLang="en-US" sz="2000" b="1" dirty="0"/>
                        <a:t>冲突缺失</a:t>
                      </a:r>
                    </a:p>
                  </a:txBody>
                  <a:tcPr/>
                </a:tc>
                <a:extLst>
                  <a:ext uri="{0D108BD9-81ED-4DB2-BD59-A6C34878D82A}">
                    <a16:rowId xmlns:a16="http://schemas.microsoft.com/office/drawing/2014/main" val="2412551574"/>
                  </a:ext>
                </a:extLst>
              </a:tr>
            </a:tbl>
          </a:graphicData>
        </a:graphic>
      </p:graphicFrame>
    </p:spTree>
    <p:extLst>
      <p:ext uri="{BB962C8B-B14F-4D97-AF65-F5344CB8AC3E}">
        <p14:creationId xmlns:p14="http://schemas.microsoft.com/office/powerpoint/2010/main" val="4258596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模拟题解析：汇编部分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229600" cy="4525963"/>
          </a:xfrm>
        </p:spPr>
        <p:txBody>
          <a:bodyPr/>
          <a:lstStyle/>
          <a:p>
            <a:r>
              <a:rPr kumimoji="1" lang="zh-CN" altLang="en-US" sz="2400" dirty="0"/>
              <a:t>给出一段汇编程序和对应的</a:t>
            </a:r>
            <a:r>
              <a:rPr kumimoji="1" lang="en" altLang="zh-CN" sz="2400" dirty="0"/>
              <a:t>C</a:t>
            </a:r>
            <a:r>
              <a:rPr kumimoji="1" lang="zh-CN" altLang="en-US" sz="2400" dirty="0"/>
              <a:t>程序，回答问题</a:t>
            </a:r>
            <a:endParaRPr kumimoji="1" lang="en-US" altLang="zh-CN" sz="2400" dirty="0"/>
          </a:p>
          <a:p>
            <a:pPr lvl="1"/>
            <a:r>
              <a:rPr kumimoji="1" lang="zh-CN" altLang="en-US" sz="2200" dirty="0"/>
              <a:t>请根据</a:t>
            </a:r>
            <a:r>
              <a:rPr kumimoji="1" lang="en" altLang="zh-CN" sz="2200" dirty="0"/>
              <a:t>C</a:t>
            </a:r>
            <a:r>
              <a:rPr kumimoji="1" lang="zh-CN" altLang="en-US" sz="2200" dirty="0"/>
              <a:t>语言代码写出汇编指令</a:t>
            </a:r>
            <a:r>
              <a:rPr kumimoji="1" lang="en" altLang="zh-CN" sz="2200" dirty="0"/>
              <a:t>I18</a:t>
            </a:r>
            <a:r>
              <a:rPr kumimoji="1" lang="zh-CN" altLang="en-US" sz="2200" dirty="0"/>
              <a:t>，指令格式类型是什么？</a:t>
            </a:r>
            <a:endParaRPr kumimoji="1" lang="en-US" altLang="zh-CN" sz="2200" dirty="0"/>
          </a:p>
          <a:p>
            <a:pPr lvl="2"/>
            <a:r>
              <a:rPr kumimoji="1" lang="en" altLang="zh-CN" sz="2000" dirty="0"/>
              <a:t>add $t2 $t2 $t3</a:t>
            </a:r>
            <a:r>
              <a:rPr kumimoji="1" lang="zh-CN" altLang="en-US" sz="2000" dirty="0"/>
              <a:t>，</a:t>
            </a:r>
            <a:r>
              <a:rPr kumimoji="1" lang="en" altLang="zh-CN" sz="2000" dirty="0"/>
              <a:t>R</a:t>
            </a:r>
            <a:r>
              <a:rPr kumimoji="1" lang="zh-CN" altLang="en-US" sz="2000" dirty="0"/>
              <a:t>型</a:t>
            </a:r>
            <a:endParaRPr kumimoji="1" lang="en" altLang="zh-CN" sz="2000" dirty="0"/>
          </a:p>
          <a:p>
            <a:pPr lvl="1"/>
            <a:r>
              <a:rPr kumimoji="1" lang="zh-CN" altLang="en-US" sz="2200" dirty="0"/>
              <a:t>该程序执行结束后</a:t>
            </a:r>
            <a:r>
              <a:rPr kumimoji="1" lang="en-US" altLang="zh-CN" sz="2200" dirty="0"/>
              <a:t>$</a:t>
            </a:r>
            <a:r>
              <a:rPr kumimoji="1" lang="en" altLang="zh-CN" sz="2200" dirty="0"/>
              <a:t>v0</a:t>
            </a:r>
            <a:r>
              <a:rPr kumimoji="1" lang="zh-CN" altLang="en-US" sz="2200" dirty="0"/>
              <a:t>的值，用十进制表示</a:t>
            </a:r>
            <a:endParaRPr kumimoji="1" lang="en-US" altLang="zh-CN" sz="2200" dirty="0"/>
          </a:p>
          <a:p>
            <a:pPr lvl="2"/>
            <a:r>
              <a:rPr kumimoji="1" lang="en-US" altLang="zh-CN" sz="2000" dirty="0"/>
              <a:t>92</a:t>
            </a:r>
          </a:p>
          <a:p>
            <a:pPr lvl="1"/>
            <a:r>
              <a:rPr kumimoji="1" lang="zh-CN" altLang="en-US" sz="2200" dirty="0"/>
              <a:t>写出指令</a:t>
            </a:r>
            <a:r>
              <a:rPr kumimoji="1" lang="en" altLang="zh-CN" sz="2200" dirty="0"/>
              <a:t>I19</a:t>
            </a:r>
            <a:r>
              <a:rPr kumimoji="1" lang="zh-CN" altLang="en-US" sz="2200" dirty="0"/>
              <a:t>寻址方式，写出指令</a:t>
            </a:r>
            <a:r>
              <a:rPr kumimoji="1" lang="en-US" altLang="zh-CN" sz="2200" dirty="0"/>
              <a:t>[15:0]</a:t>
            </a:r>
            <a:r>
              <a:rPr kumimoji="1" lang="zh-CN" altLang="en-US" sz="2200" dirty="0"/>
              <a:t>位的值，用十六进制表示</a:t>
            </a:r>
            <a:endParaRPr kumimoji="1" lang="en-US" altLang="zh-CN" sz="2200" dirty="0"/>
          </a:p>
          <a:p>
            <a:pPr lvl="2"/>
            <a:r>
              <a:rPr kumimoji="1" lang="zh-CN" altLang="en-US" sz="2000" dirty="0"/>
              <a:t>基址</a:t>
            </a:r>
            <a:r>
              <a:rPr kumimoji="1" lang="en-US" altLang="zh-CN" sz="2000" dirty="0"/>
              <a:t>+</a:t>
            </a:r>
            <a:r>
              <a:rPr kumimoji="1" lang="zh-CN" altLang="en-US" sz="2000" dirty="0"/>
              <a:t>偏移寻址，</a:t>
            </a:r>
            <a:r>
              <a:rPr kumimoji="1" lang="en-US" altLang="zh-CN" sz="2000" dirty="0"/>
              <a:t>0x0</a:t>
            </a:r>
          </a:p>
          <a:p>
            <a:pPr lvl="1"/>
            <a:r>
              <a:rPr kumimoji="1" lang="zh-CN" altLang="en-US" sz="2200" dirty="0"/>
              <a:t>在主频为</a:t>
            </a:r>
            <a:r>
              <a:rPr kumimoji="1" lang="en-US" altLang="zh-CN" sz="2200" dirty="0"/>
              <a:t>1</a:t>
            </a:r>
            <a:r>
              <a:rPr kumimoji="1" lang="en" altLang="zh-CN" sz="2200" dirty="0"/>
              <a:t>GHz</a:t>
            </a:r>
            <a:r>
              <a:rPr kumimoji="1" lang="zh-CN" altLang="en-US" sz="2200" dirty="0"/>
              <a:t>的单周期处理器上，该段汇编代码执行结束需要多长时间</a:t>
            </a:r>
            <a:endParaRPr kumimoji="1" lang="en-US" altLang="zh-CN" sz="2200" dirty="0"/>
          </a:p>
          <a:p>
            <a:pPr lvl="2"/>
            <a:r>
              <a:rPr kumimoji="1" lang="en-US" altLang="zh-CN" sz="2000" dirty="0"/>
              <a:t>94ns</a:t>
            </a:r>
            <a:endParaRPr kumimoji="1" lang="zh-CN" altLang="en-US" sz="2000" dirty="0"/>
          </a:p>
          <a:p>
            <a:endParaRPr kumimoji="1" lang="zh-CN" altLang="en-US" sz="2200" dirty="0"/>
          </a:p>
          <a:p>
            <a:endParaRPr kumimoji="1" lang="zh-CN" altLang="en-US" sz="2400" dirty="0"/>
          </a:p>
        </p:txBody>
      </p:sp>
      <p:sp>
        <p:nvSpPr>
          <p:cNvPr id="4" name="灯片编号占位符 3">
            <a:extLst>
              <a:ext uri="{FF2B5EF4-FFF2-40B4-BE49-F238E27FC236}">
                <a16:creationId xmlns:a16="http://schemas.microsoft.com/office/drawing/2014/main" id="{5D06E1A7-0989-3DCD-C65B-8C524C2CEFE9}"/>
              </a:ext>
            </a:extLst>
          </p:cNvPr>
          <p:cNvSpPr>
            <a:spLocks noGrp="1"/>
          </p:cNvSpPr>
          <p:nvPr>
            <p:ph type="sldNum" sz="quarter" idx="12"/>
          </p:nvPr>
        </p:nvSpPr>
        <p:spPr/>
        <p:txBody>
          <a:bodyPr/>
          <a:lstStyle/>
          <a:p>
            <a:fld id="{14659731-6BD7-46E7-8D3C-2F3AC07E20B1}" type="slidenum">
              <a:rPr lang="en-US" altLang="zh-CN" smtClean="0"/>
              <a:pPr/>
              <a:t>59</a:t>
            </a:fld>
            <a:endParaRPr lang="en-US" altLang="zh-CN" dirty="0"/>
          </a:p>
        </p:txBody>
      </p:sp>
      <mc:AlternateContent xmlns:mc="http://schemas.openxmlformats.org/markup-compatibility/2006" xmlns:p14="http://schemas.microsoft.com/office/powerpoint/2010/main">
        <mc:Choice Requires="p14">
          <p:contentPart p14:bwMode="auto" r:id="rId2">
            <p14:nvContentPartPr>
              <p14:cNvPr id="5" name="墨迹 4">
                <a:extLst>
                  <a:ext uri="{FF2B5EF4-FFF2-40B4-BE49-F238E27FC236}">
                    <a16:creationId xmlns:a16="http://schemas.microsoft.com/office/drawing/2014/main" id="{D45D7248-2733-61B4-1508-0E6980A7F844}"/>
                  </a:ext>
                </a:extLst>
              </p14:cNvPr>
              <p14:cNvContentPartPr/>
              <p14:nvPr/>
            </p14:nvContentPartPr>
            <p14:xfrm>
              <a:off x="1488960" y="4292640"/>
              <a:ext cx="2242080" cy="92520"/>
            </p14:xfrm>
          </p:contentPart>
        </mc:Choice>
        <mc:Fallback xmlns="">
          <p:pic>
            <p:nvPicPr>
              <p:cNvPr id="5" name="墨迹 4">
                <a:extLst>
                  <a:ext uri="{FF2B5EF4-FFF2-40B4-BE49-F238E27FC236}">
                    <a16:creationId xmlns:a16="http://schemas.microsoft.com/office/drawing/2014/main" id="{D45D7248-2733-61B4-1508-0E6980A7F844}"/>
                  </a:ext>
                </a:extLst>
              </p:cNvPr>
              <p:cNvPicPr/>
              <p:nvPr/>
            </p:nvPicPr>
            <p:blipFill>
              <a:blip r:embed="rId3"/>
              <a:stretch>
                <a:fillRect/>
              </a:stretch>
            </p:blipFill>
            <p:spPr>
              <a:xfrm>
                <a:off x="1479600" y="4283280"/>
                <a:ext cx="2260800" cy="111240"/>
              </a:xfrm>
              <a:prstGeom prst="rect">
                <a:avLst/>
              </a:prstGeom>
            </p:spPr>
          </p:pic>
        </mc:Fallback>
      </mc:AlternateContent>
    </p:spTree>
    <p:extLst>
      <p:ext uri="{BB962C8B-B14F-4D97-AF65-F5344CB8AC3E}">
        <p14:creationId xmlns:p14="http://schemas.microsoft.com/office/powerpoint/2010/main" val="39137003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模拟题解析：单周期处理器部分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229600" cy="4525963"/>
          </a:xfrm>
        </p:spPr>
        <p:txBody>
          <a:bodyPr/>
          <a:lstStyle/>
          <a:p>
            <a:r>
              <a:rPr kumimoji="1" lang="zh-CN" altLang="en-US" sz="2400" dirty="0"/>
              <a:t>写出</a:t>
            </a:r>
            <a:r>
              <a:rPr kumimoji="1" lang="en" altLang="zh-CN" sz="2400" dirty="0" err="1"/>
              <a:t>beq</a:t>
            </a:r>
            <a:r>
              <a:rPr kumimoji="1" lang="zh-CN" altLang="en-US" sz="2400" dirty="0"/>
              <a:t>指令和</a:t>
            </a:r>
            <a:r>
              <a:rPr kumimoji="1" lang="en" altLang="zh-CN" sz="2400" dirty="0" err="1"/>
              <a:t>lw</a:t>
            </a:r>
            <a:r>
              <a:rPr kumimoji="1" lang="zh-CN" altLang="en-US" sz="2400" dirty="0"/>
              <a:t>指令需要的下列控制信号的具体取值</a:t>
            </a:r>
            <a:endParaRPr kumimoji="1" lang="zh-CN" altLang="en-US" sz="2200" dirty="0"/>
          </a:p>
          <a:p>
            <a:endParaRPr kumimoji="1" lang="zh-CN" altLang="en-US" sz="2400" dirty="0"/>
          </a:p>
        </p:txBody>
      </p:sp>
      <p:sp>
        <p:nvSpPr>
          <p:cNvPr id="4" name="灯片编号占位符 3">
            <a:extLst>
              <a:ext uri="{FF2B5EF4-FFF2-40B4-BE49-F238E27FC236}">
                <a16:creationId xmlns:a16="http://schemas.microsoft.com/office/drawing/2014/main" id="{5D06E1A7-0989-3DCD-C65B-8C524C2CEFE9}"/>
              </a:ext>
            </a:extLst>
          </p:cNvPr>
          <p:cNvSpPr>
            <a:spLocks noGrp="1"/>
          </p:cNvSpPr>
          <p:nvPr>
            <p:ph type="sldNum" sz="quarter" idx="12"/>
          </p:nvPr>
        </p:nvSpPr>
        <p:spPr/>
        <p:txBody>
          <a:bodyPr/>
          <a:lstStyle/>
          <a:p>
            <a:fld id="{14659731-6BD7-46E7-8D3C-2F3AC07E20B1}" type="slidenum">
              <a:rPr lang="en-US" altLang="zh-CN" smtClean="0"/>
              <a:pPr/>
              <a:t>60</a:t>
            </a:fld>
            <a:endParaRPr lang="en-US" altLang="zh-CN" dirty="0"/>
          </a:p>
        </p:txBody>
      </p:sp>
      <p:pic>
        <p:nvPicPr>
          <p:cNvPr id="5" name="图片 4">
            <a:extLst>
              <a:ext uri="{FF2B5EF4-FFF2-40B4-BE49-F238E27FC236}">
                <a16:creationId xmlns:a16="http://schemas.microsoft.com/office/drawing/2014/main" id="{1FA08433-34DE-05CA-8F2A-59A57A5623E0}"/>
              </a:ext>
            </a:extLst>
          </p:cNvPr>
          <p:cNvPicPr>
            <a:picLocks noChangeAspect="1"/>
          </p:cNvPicPr>
          <p:nvPr/>
        </p:nvPicPr>
        <p:blipFill>
          <a:blip r:embed="rId2"/>
          <a:stretch>
            <a:fillRect/>
          </a:stretch>
        </p:blipFill>
        <p:spPr>
          <a:xfrm>
            <a:off x="1458574" y="1803412"/>
            <a:ext cx="6226852" cy="3739438"/>
          </a:xfrm>
          <a:prstGeom prst="rect">
            <a:avLst/>
          </a:prstGeom>
        </p:spPr>
      </p:pic>
      <p:sp>
        <p:nvSpPr>
          <p:cNvPr id="7" name="文本框 6">
            <a:extLst>
              <a:ext uri="{FF2B5EF4-FFF2-40B4-BE49-F238E27FC236}">
                <a16:creationId xmlns:a16="http://schemas.microsoft.com/office/drawing/2014/main" id="{1EC3F39C-0F96-534D-81AC-B583DC79511C}"/>
              </a:ext>
            </a:extLst>
          </p:cNvPr>
          <p:cNvSpPr txBox="1"/>
          <p:nvPr/>
        </p:nvSpPr>
        <p:spPr>
          <a:xfrm>
            <a:off x="7151914" y="1892667"/>
            <a:ext cx="1514104" cy="1477328"/>
          </a:xfrm>
          <a:prstGeom prst="rect">
            <a:avLst/>
          </a:prstGeom>
          <a:noFill/>
        </p:spPr>
        <p:txBody>
          <a:bodyPr wrap="square">
            <a:spAutoFit/>
          </a:bodyPr>
          <a:lstStyle/>
          <a:p>
            <a:r>
              <a:rPr lang="zh-CN" altLang="en-US" b="1" dirty="0">
                <a:latin typeface="+mn-lt"/>
                <a:ea typeface="+mn-ea"/>
              </a:rPr>
              <a:t>取值表示为0, 1 或 x (don</a:t>
            </a:r>
            <a:r>
              <a:rPr lang="en-US" altLang="zh-CN" b="1" dirty="0">
                <a:latin typeface="+mn-lt"/>
                <a:ea typeface="+mn-ea"/>
              </a:rPr>
              <a:t>’</a:t>
            </a:r>
            <a:r>
              <a:rPr lang="zh-CN" altLang="en-US" b="1" dirty="0">
                <a:latin typeface="+mn-lt"/>
                <a:ea typeface="+mn-ea"/>
              </a:rPr>
              <a:t>t care)，don</a:t>
            </a:r>
            <a:r>
              <a:rPr lang="en-US" altLang="zh-CN" b="1" dirty="0">
                <a:latin typeface="+mn-lt"/>
                <a:ea typeface="+mn-ea"/>
              </a:rPr>
              <a:t>’</a:t>
            </a:r>
            <a:r>
              <a:rPr lang="zh-CN" altLang="en-US" b="1" dirty="0">
                <a:latin typeface="+mn-lt"/>
                <a:ea typeface="+mn-ea"/>
              </a:rPr>
              <a:t>t care的信号</a:t>
            </a:r>
            <a:r>
              <a:rPr lang="zh-CN" altLang="en-US" b="1" dirty="0">
                <a:solidFill>
                  <a:srgbClr val="FF0000"/>
                </a:solidFill>
                <a:latin typeface="+mn-lt"/>
                <a:ea typeface="+mn-ea"/>
              </a:rPr>
              <a:t>必须写x</a:t>
            </a:r>
          </a:p>
        </p:txBody>
      </p:sp>
      <p:graphicFrame>
        <p:nvGraphicFramePr>
          <p:cNvPr id="8" name="表格 7">
            <a:extLst>
              <a:ext uri="{FF2B5EF4-FFF2-40B4-BE49-F238E27FC236}">
                <a16:creationId xmlns:a16="http://schemas.microsoft.com/office/drawing/2014/main" id="{A96E0559-E38F-D26C-9A79-4EC4E04837D4}"/>
              </a:ext>
            </a:extLst>
          </p:cNvPr>
          <p:cNvGraphicFramePr>
            <a:graphicFrameLocks noGrp="1"/>
          </p:cNvGraphicFramePr>
          <p:nvPr/>
        </p:nvGraphicFramePr>
        <p:xfrm>
          <a:off x="783768" y="5562808"/>
          <a:ext cx="7576460" cy="982080"/>
        </p:xfrm>
        <a:graphic>
          <a:graphicData uri="http://schemas.openxmlformats.org/drawingml/2006/table">
            <a:tbl>
              <a:tblPr firstRow="1" bandRow="1">
                <a:tableStyleId>{5940675A-B579-460E-94D1-54222C63F5DA}</a:tableStyleId>
              </a:tblPr>
              <a:tblGrid>
                <a:gridCol w="813460">
                  <a:extLst>
                    <a:ext uri="{9D8B030D-6E8A-4147-A177-3AD203B41FA5}">
                      <a16:colId xmlns:a16="http://schemas.microsoft.com/office/drawing/2014/main" val="171800966"/>
                    </a:ext>
                  </a:extLst>
                </a:gridCol>
                <a:gridCol w="813460">
                  <a:extLst>
                    <a:ext uri="{9D8B030D-6E8A-4147-A177-3AD203B41FA5}">
                      <a16:colId xmlns:a16="http://schemas.microsoft.com/office/drawing/2014/main" val="1528658645"/>
                    </a:ext>
                  </a:extLst>
                </a:gridCol>
                <a:gridCol w="813460">
                  <a:extLst>
                    <a:ext uri="{9D8B030D-6E8A-4147-A177-3AD203B41FA5}">
                      <a16:colId xmlns:a16="http://schemas.microsoft.com/office/drawing/2014/main" val="2007211505"/>
                    </a:ext>
                  </a:extLst>
                </a:gridCol>
                <a:gridCol w="813460">
                  <a:extLst>
                    <a:ext uri="{9D8B030D-6E8A-4147-A177-3AD203B41FA5}">
                      <a16:colId xmlns:a16="http://schemas.microsoft.com/office/drawing/2014/main" val="2570050606"/>
                    </a:ext>
                  </a:extLst>
                </a:gridCol>
                <a:gridCol w="813460">
                  <a:extLst>
                    <a:ext uri="{9D8B030D-6E8A-4147-A177-3AD203B41FA5}">
                      <a16:colId xmlns:a16="http://schemas.microsoft.com/office/drawing/2014/main" val="1001926800"/>
                    </a:ext>
                  </a:extLst>
                </a:gridCol>
                <a:gridCol w="813460">
                  <a:extLst>
                    <a:ext uri="{9D8B030D-6E8A-4147-A177-3AD203B41FA5}">
                      <a16:colId xmlns:a16="http://schemas.microsoft.com/office/drawing/2014/main" val="3661058923"/>
                    </a:ext>
                  </a:extLst>
                </a:gridCol>
                <a:gridCol w="813460">
                  <a:extLst>
                    <a:ext uri="{9D8B030D-6E8A-4147-A177-3AD203B41FA5}">
                      <a16:colId xmlns:a16="http://schemas.microsoft.com/office/drawing/2014/main" val="2982094168"/>
                    </a:ext>
                  </a:extLst>
                </a:gridCol>
                <a:gridCol w="813460">
                  <a:extLst>
                    <a:ext uri="{9D8B030D-6E8A-4147-A177-3AD203B41FA5}">
                      <a16:colId xmlns:a16="http://schemas.microsoft.com/office/drawing/2014/main" val="1156525027"/>
                    </a:ext>
                  </a:extLst>
                </a:gridCol>
                <a:gridCol w="1068780">
                  <a:extLst>
                    <a:ext uri="{9D8B030D-6E8A-4147-A177-3AD203B41FA5}">
                      <a16:colId xmlns:a16="http://schemas.microsoft.com/office/drawing/2014/main" val="2047046839"/>
                    </a:ext>
                  </a:extLst>
                </a:gridCol>
              </a:tblGrid>
              <a:tr h="327360">
                <a:tc>
                  <a:txBody>
                    <a:bodyPr/>
                    <a:lstStyle/>
                    <a:p>
                      <a:pPr algn="ctr" fontAlgn="ctr"/>
                      <a:endParaRPr lang="zh-CN" altLang="en-US" sz="1600" b="1" i="0" u="none" strike="noStrike" dirty="0">
                        <a:solidFill>
                          <a:srgbClr val="000000"/>
                        </a:solidFill>
                        <a:effectLst/>
                        <a:latin typeface="+mn-lt"/>
                        <a:ea typeface="等线" panose="02010600030101010101" pitchFamily="2" charset="-122"/>
                      </a:endParaRPr>
                    </a:p>
                  </a:txBody>
                  <a:tcPr marL="9525" marR="9525" marT="9525" marB="0" anchor="ctr">
                    <a:solidFill>
                      <a:schemeClr val="bg2">
                        <a:lumMod val="20000"/>
                        <a:lumOff val="80000"/>
                      </a:schemeClr>
                    </a:solidFill>
                  </a:tcPr>
                </a:tc>
                <a:tc>
                  <a:txBody>
                    <a:bodyPr/>
                    <a:lstStyle/>
                    <a:p>
                      <a:pPr algn="ctr" fontAlgn="ctr"/>
                      <a:r>
                        <a:rPr lang="en" sz="1600" b="1" i="0" u="none" strike="noStrike" dirty="0">
                          <a:solidFill>
                            <a:srgbClr val="000000"/>
                          </a:solidFill>
                          <a:effectLst/>
                          <a:latin typeface="+mn-lt"/>
                          <a:ea typeface="等线" panose="02010600030101010101" pitchFamily="2" charset="-122"/>
                        </a:rPr>
                        <a:t>PCSrc1</a:t>
                      </a:r>
                    </a:p>
                  </a:txBody>
                  <a:tcPr marL="9525" marR="9525" marT="9525" marB="0" anchor="ctr">
                    <a:solidFill>
                      <a:schemeClr val="bg2">
                        <a:lumMod val="20000"/>
                        <a:lumOff val="80000"/>
                      </a:schemeClr>
                    </a:solidFill>
                  </a:tcPr>
                </a:tc>
                <a:tc>
                  <a:txBody>
                    <a:bodyPr/>
                    <a:lstStyle/>
                    <a:p>
                      <a:pPr algn="ctr" fontAlgn="ctr"/>
                      <a:r>
                        <a:rPr lang="en" sz="1600" b="1" i="0" u="none" strike="noStrike" dirty="0">
                          <a:solidFill>
                            <a:srgbClr val="000000"/>
                          </a:solidFill>
                          <a:effectLst/>
                          <a:latin typeface="+mn-lt"/>
                          <a:ea typeface="等线" panose="02010600030101010101" pitchFamily="2" charset="-122"/>
                        </a:rPr>
                        <a:t>PCSrc2</a:t>
                      </a:r>
                    </a:p>
                  </a:txBody>
                  <a:tcPr marL="9525" marR="9525" marT="9525" marB="0" anchor="ctr">
                    <a:solidFill>
                      <a:schemeClr val="bg2">
                        <a:lumMod val="20000"/>
                        <a:lumOff val="80000"/>
                      </a:schemeClr>
                    </a:solidFill>
                  </a:tcPr>
                </a:tc>
                <a:tc>
                  <a:txBody>
                    <a:bodyPr/>
                    <a:lstStyle/>
                    <a:p>
                      <a:pPr algn="ctr" fontAlgn="ctr"/>
                      <a:r>
                        <a:rPr lang="en" sz="1600" b="1" i="0" u="none" strike="noStrike" dirty="0" err="1">
                          <a:solidFill>
                            <a:srgbClr val="000000"/>
                          </a:solidFill>
                          <a:effectLst/>
                          <a:latin typeface="+mn-lt"/>
                          <a:ea typeface="等线" panose="02010600030101010101" pitchFamily="2" charset="-122"/>
                        </a:rPr>
                        <a:t>ExtOp</a:t>
                      </a:r>
                      <a:endParaRPr lang="en" sz="1600" b="1" i="0" u="none" strike="noStrike" dirty="0">
                        <a:solidFill>
                          <a:srgbClr val="000000"/>
                        </a:solidFill>
                        <a:effectLst/>
                        <a:latin typeface="+mn-lt"/>
                        <a:ea typeface="等线" panose="02010600030101010101" pitchFamily="2" charset="-122"/>
                      </a:endParaRPr>
                    </a:p>
                  </a:txBody>
                  <a:tcPr marL="9525" marR="9525" marT="9525" marB="0" anchor="ctr">
                    <a:solidFill>
                      <a:schemeClr val="bg2">
                        <a:lumMod val="20000"/>
                        <a:lumOff val="80000"/>
                      </a:schemeClr>
                    </a:solidFill>
                  </a:tcPr>
                </a:tc>
                <a:tc>
                  <a:txBody>
                    <a:bodyPr/>
                    <a:lstStyle/>
                    <a:p>
                      <a:pPr algn="ctr" fontAlgn="ctr"/>
                      <a:r>
                        <a:rPr lang="en" sz="1600" b="1" i="0" u="none" strike="noStrike">
                          <a:solidFill>
                            <a:srgbClr val="000000"/>
                          </a:solidFill>
                          <a:effectLst/>
                          <a:latin typeface="+mn-lt"/>
                          <a:ea typeface="等线" panose="02010600030101010101" pitchFamily="2" charset="-122"/>
                        </a:rPr>
                        <a:t>RegWr</a:t>
                      </a:r>
                    </a:p>
                  </a:txBody>
                  <a:tcPr marL="9525" marR="9525" marT="9525" marB="0" anchor="ctr">
                    <a:solidFill>
                      <a:schemeClr val="bg2">
                        <a:lumMod val="20000"/>
                        <a:lumOff val="80000"/>
                      </a:schemeClr>
                    </a:solidFill>
                  </a:tcPr>
                </a:tc>
                <a:tc>
                  <a:txBody>
                    <a:bodyPr/>
                    <a:lstStyle/>
                    <a:p>
                      <a:pPr algn="ctr" fontAlgn="ctr"/>
                      <a:r>
                        <a:rPr lang="en" sz="1600" b="1" i="0" u="none" strike="noStrike">
                          <a:solidFill>
                            <a:srgbClr val="000000"/>
                          </a:solidFill>
                          <a:effectLst/>
                          <a:latin typeface="+mn-lt"/>
                          <a:ea typeface="等线" panose="02010600030101010101" pitchFamily="2" charset="-122"/>
                        </a:rPr>
                        <a:t>RegDst</a:t>
                      </a:r>
                    </a:p>
                  </a:txBody>
                  <a:tcPr marL="9525" marR="9525" marT="9525" marB="0" anchor="ctr">
                    <a:solidFill>
                      <a:schemeClr val="bg2">
                        <a:lumMod val="20000"/>
                        <a:lumOff val="80000"/>
                      </a:schemeClr>
                    </a:solidFill>
                  </a:tcPr>
                </a:tc>
                <a:tc>
                  <a:txBody>
                    <a:bodyPr/>
                    <a:lstStyle/>
                    <a:p>
                      <a:pPr algn="ctr" fontAlgn="ctr"/>
                      <a:r>
                        <a:rPr lang="en" sz="1600" b="1" i="0" u="none" strike="noStrike">
                          <a:solidFill>
                            <a:srgbClr val="000000"/>
                          </a:solidFill>
                          <a:effectLst/>
                          <a:latin typeface="+mn-lt"/>
                          <a:ea typeface="等线" panose="02010600030101010101" pitchFamily="2" charset="-122"/>
                        </a:rPr>
                        <a:t>ALUSrc</a:t>
                      </a:r>
                    </a:p>
                  </a:txBody>
                  <a:tcPr marL="9525" marR="9525" marT="9525" marB="0" anchor="ctr">
                    <a:solidFill>
                      <a:schemeClr val="bg2">
                        <a:lumMod val="20000"/>
                        <a:lumOff val="80000"/>
                      </a:schemeClr>
                    </a:solidFill>
                  </a:tcPr>
                </a:tc>
                <a:tc>
                  <a:txBody>
                    <a:bodyPr/>
                    <a:lstStyle/>
                    <a:p>
                      <a:pPr algn="ctr" fontAlgn="ctr"/>
                      <a:r>
                        <a:rPr lang="en" sz="1600" b="1" i="0" u="none" strike="noStrike" dirty="0" err="1">
                          <a:solidFill>
                            <a:srgbClr val="000000"/>
                          </a:solidFill>
                          <a:effectLst/>
                          <a:latin typeface="+mn-lt"/>
                          <a:ea typeface="等线" panose="02010600030101010101" pitchFamily="2" charset="-122"/>
                        </a:rPr>
                        <a:t>MemWr</a:t>
                      </a:r>
                      <a:endParaRPr lang="en" sz="1600" b="1" i="0" u="none" strike="noStrike" dirty="0">
                        <a:solidFill>
                          <a:srgbClr val="000000"/>
                        </a:solidFill>
                        <a:effectLst/>
                        <a:latin typeface="+mn-lt"/>
                        <a:ea typeface="等线" panose="02010600030101010101" pitchFamily="2" charset="-122"/>
                      </a:endParaRPr>
                    </a:p>
                  </a:txBody>
                  <a:tcPr marL="9525" marR="9525" marT="9525" marB="0" anchor="ctr">
                    <a:solidFill>
                      <a:schemeClr val="bg2">
                        <a:lumMod val="20000"/>
                        <a:lumOff val="80000"/>
                      </a:schemeClr>
                    </a:solidFill>
                  </a:tcPr>
                </a:tc>
                <a:tc>
                  <a:txBody>
                    <a:bodyPr/>
                    <a:lstStyle/>
                    <a:p>
                      <a:pPr algn="ctr" fontAlgn="ctr"/>
                      <a:r>
                        <a:rPr lang="en" sz="1600" b="1" i="0" u="none" strike="noStrike" dirty="0" err="1">
                          <a:solidFill>
                            <a:srgbClr val="000000"/>
                          </a:solidFill>
                          <a:effectLst/>
                          <a:latin typeface="+mn-lt"/>
                          <a:ea typeface="等线" panose="02010600030101010101" pitchFamily="2" charset="-122"/>
                        </a:rPr>
                        <a:t>MemtoReg</a:t>
                      </a:r>
                      <a:endParaRPr lang="en" sz="1600" b="1" i="0" u="none" strike="noStrike" dirty="0">
                        <a:solidFill>
                          <a:srgbClr val="000000"/>
                        </a:solidFill>
                        <a:effectLst/>
                        <a:latin typeface="+mn-lt"/>
                        <a:ea typeface="等线" panose="02010600030101010101" pitchFamily="2" charset="-122"/>
                      </a:endParaRPr>
                    </a:p>
                  </a:txBody>
                  <a:tcPr marL="9525" marR="9525" marT="9525" marB="0" anchor="ctr">
                    <a:solidFill>
                      <a:schemeClr val="bg2">
                        <a:lumMod val="20000"/>
                        <a:lumOff val="80000"/>
                      </a:schemeClr>
                    </a:solidFill>
                  </a:tcPr>
                </a:tc>
                <a:extLst>
                  <a:ext uri="{0D108BD9-81ED-4DB2-BD59-A6C34878D82A}">
                    <a16:rowId xmlns:a16="http://schemas.microsoft.com/office/drawing/2014/main" val="1140836607"/>
                  </a:ext>
                </a:extLst>
              </a:tr>
              <a:tr h="327360">
                <a:tc>
                  <a:txBody>
                    <a:bodyPr/>
                    <a:lstStyle/>
                    <a:p>
                      <a:pPr algn="ctr" fontAlgn="ctr"/>
                      <a:r>
                        <a:rPr lang="en" sz="1600" b="1" i="0" u="none" strike="noStrike">
                          <a:solidFill>
                            <a:srgbClr val="000000"/>
                          </a:solidFill>
                          <a:effectLst/>
                          <a:latin typeface="+mn-lt"/>
                          <a:ea typeface="等线" panose="02010600030101010101" pitchFamily="2" charset="-122"/>
                        </a:rPr>
                        <a:t>beq</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1</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0</a:t>
                      </a:r>
                    </a:p>
                  </a:txBody>
                  <a:tcPr marL="9525" marR="9525" marT="9525" marB="0" anchor="ctr"/>
                </a:tc>
                <a:tc>
                  <a:txBody>
                    <a:bodyPr/>
                    <a:lstStyle/>
                    <a:p>
                      <a:pPr algn="ctr" fontAlgn="ctr"/>
                      <a:r>
                        <a:rPr lang="en-US" altLang="zh-CN" sz="1600" b="1" i="0" u="none" strike="noStrike" dirty="0">
                          <a:solidFill>
                            <a:srgbClr val="000000"/>
                          </a:solidFill>
                          <a:effectLst/>
                          <a:latin typeface="+mn-lt"/>
                          <a:ea typeface="等线" panose="02010600030101010101" pitchFamily="2" charset="-122"/>
                        </a:rPr>
                        <a:t>1</a:t>
                      </a:r>
                    </a:p>
                  </a:txBody>
                  <a:tcPr marL="9525" marR="9525" marT="9525" marB="0" anchor="ctr"/>
                </a:tc>
                <a:tc>
                  <a:txBody>
                    <a:bodyPr/>
                    <a:lstStyle/>
                    <a:p>
                      <a:pPr algn="ctr" fontAlgn="ctr"/>
                      <a:r>
                        <a:rPr lang="en-US" altLang="zh-CN" sz="1600" b="1" i="0" u="none" strike="noStrike" dirty="0">
                          <a:solidFill>
                            <a:srgbClr val="000000"/>
                          </a:solidFill>
                          <a:effectLst/>
                          <a:latin typeface="+mn-lt"/>
                          <a:ea typeface="等线" panose="02010600030101010101" pitchFamily="2" charset="-122"/>
                        </a:rPr>
                        <a:t>0</a:t>
                      </a:r>
                    </a:p>
                  </a:txBody>
                  <a:tcPr marL="9525" marR="9525" marT="9525" marB="0" anchor="ctr"/>
                </a:tc>
                <a:tc>
                  <a:txBody>
                    <a:bodyPr/>
                    <a:lstStyle/>
                    <a:p>
                      <a:pPr algn="ctr" fontAlgn="ctr"/>
                      <a:r>
                        <a:rPr lang="en" sz="1600" b="1" i="0" u="none" strike="noStrike" dirty="0">
                          <a:solidFill>
                            <a:srgbClr val="000000"/>
                          </a:solidFill>
                          <a:effectLst/>
                          <a:latin typeface="+mn-lt"/>
                          <a:ea typeface="等线" panose="02010600030101010101" pitchFamily="2" charset="-122"/>
                        </a:rPr>
                        <a:t>x</a:t>
                      </a:r>
                    </a:p>
                  </a:txBody>
                  <a:tcPr marL="9525" marR="9525" marT="9525" marB="0" anchor="ctr"/>
                </a:tc>
                <a:tc>
                  <a:txBody>
                    <a:bodyPr/>
                    <a:lstStyle/>
                    <a:p>
                      <a:pPr algn="ctr" fontAlgn="ctr"/>
                      <a:r>
                        <a:rPr lang="en-US" altLang="zh-CN" sz="1600" b="1" i="0" u="none" strike="noStrike" dirty="0">
                          <a:solidFill>
                            <a:srgbClr val="000000"/>
                          </a:solidFill>
                          <a:effectLst/>
                          <a:latin typeface="+mn-lt"/>
                          <a:ea typeface="等线" panose="02010600030101010101" pitchFamily="2" charset="-122"/>
                        </a:rPr>
                        <a:t>1</a:t>
                      </a:r>
                    </a:p>
                  </a:txBody>
                  <a:tcPr marL="9525" marR="9525" marT="9525" marB="0" anchor="ctr"/>
                </a:tc>
                <a:tc>
                  <a:txBody>
                    <a:bodyPr/>
                    <a:lstStyle/>
                    <a:p>
                      <a:pPr algn="ctr" fontAlgn="ctr"/>
                      <a:r>
                        <a:rPr lang="en-US" altLang="zh-CN" sz="1600" b="1" i="0" u="none" strike="noStrike" dirty="0">
                          <a:solidFill>
                            <a:srgbClr val="000000"/>
                          </a:solidFill>
                          <a:effectLst/>
                          <a:latin typeface="+mn-lt"/>
                          <a:ea typeface="等线" panose="02010600030101010101" pitchFamily="2" charset="-122"/>
                        </a:rPr>
                        <a:t>0</a:t>
                      </a:r>
                    </a:p>
                  </a:txBody>
                  <a:tcPr marL="9525" marR="9525" marT="9525" marB="0" anchor="ctr"/>
                </a:tc>
                <a:tc>
                  <a:txBody>
                    <a:bodyPr/>
                    <a:lstStyle/>
                    <a:p>
                      <a:pPr algn="ctr" fontAlgn="ctr"/>
                      <a:r>
                        <a:rPr lang="en" sz="1600" b="1" i="0" u="none" strike="noStrike">
                          <a:solidFill>
                            <a:srgbClr val="000000"/>
                          </a:solidFill>
                          <a:effectLst/>
                          <a:latin typeface="+mn-lt"/>
                          <a:ea typeface="等线" panose="02010600030101010101" pitchFamily="2" charset="-122"/>
                        </a:rPr>
                        <a:t>x</a:t>
                      </a:r>
                    </a:p>
                  </a:txBody>
                  <a:tcPr marL="9525" marR="9525" marT="9525" marB="0" anchor="ctr"/>
                </a:tc>
                <a:extLst>
                  <a:ext uri="{0D108BD9-81ED-4DB2-BD59-A6C34878D82A}">
                    <a16:rowId xmlns:a16="http://schemas.microsoft.com/office/drawing/2014/main" val="3252880735"/>
                  </a:ext>
                </a:extLst>
              </a:tr>
              <a:tr h="327360">
                <a:tc>
                  <a:txBody>
                    <a:bodyPr/>
                    <a:lstStyle/>
                    <a:p>
                      <a:pPr algn="ctr" fontAlgn="ctr"/>
                      <a:r>
                        <a:rPr lang="en" sz="1600" b="1" i="0" u="none" strike="noStrike">
                          <a:solidFill>
                            <a:srgbClr val="000000"/>
                          </a:solidFill>
                          <a:effectLst/>
                          <a:latin typeface="+mn-lt"/>
                          <a:ea typeface="等线" panose="02010600030101010101" pitchFamily="2" charset="-122"/>
                        </a:rPr>
                        <a:t>lw </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0</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0</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1</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1</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1</a:t>
                      </a:r>
                    </a:p>
                  </a:txBody>
                  <a:tcPr marL="9525" marR="9525" marT="9525" marB="0" anchor="ctr"/>
                </a:tc>
                <a:tc>
                  <a:txBody>
                    <a:bodyPr/>
                    <a:lstStyle/>
                    <a:p>
                      <a:pPr algn="ctr" fontAlgn="ctr"/>
                      <a:r>
                        <a:rPr lang="en-US" altLang="zh-CN" sz="1600" b="1" i="0" u="none" strike="noStrike">
                          <a:solidFill>
                            <a:srgbClr val="000000"/>
                          </a:solidFill>
                          <a:effectLst/>
                          <a:latin typeface="+mn-lt"/>
                          <a:ea typeface="等线" panose="02010600030101010101" pitchFamily="2" charset="-122"/>
                        </a:rPr>
                        <a:t>0</a:t>
                      </a:r>
                    </a:p>
                  </a:txBody>
                  <a:tcPr marL="9525" marR="9525" marT="9525" marB="0" anchor="ctr"/>
                </a:tc>
                <a:tc>
                  <a:txBody>
                    <a:bodyPr/>
                    <a:lstStyle/>
                    <a:p>
                      <a:pPr algn="ctr" fontAlgn="ctr"/>
                      <a:r>
                        <a:rPr lang="en-US" altLang="zh-CN" sz="1600" b="1" i="0" u="none" strike="noStrike" dirty="0">
                          <a:solidFill>
                            <a:srgbClr val="000000"/>
                          </a:solidFill>
                          <a:effectLst/>
                          <a:latin typeface="+mn-lt"/>
                          <a:ea typeface="等线" panose="02010600030101010101" pitchFamily="2" charset="-122"/>
                        </a:rPr>
                        <a:t>0</a:t>
                      </a:r>
                    </a:p>
                  </a:txBody>
                  <a:tcPr marL="9525" marR="9525" marT="9525" marB="0" anchor="ctr"/>
                </a:tc>
                <a:tc>
                  <a:txBody>
                    <a:bodyPr/>
                    <a:lstStyle/>
                    <a:p>
                      <a:pPr algn="ctr" fontAlgn="ctr"/>
                      <a:r>
                        <a:rPr lang="en-US" altLang="zh-CN" sz="1600" b="1" i="0" u="none" strike="noStrike" dirty="0">
                          <a:solidFill>
                            <a:srgbClr val="000000"/>
                          </a:solidFill>
                          <a:effectLst/>
                          <a:latin typeface="+mn-lt"/>
                          <a:ea typeface="等线" panose="02010600030101010101" pitchFamily="2" charset="-122"/>
                        </a:rPr>
                        <a:t>1</a:t>
                      </a:r>
                    </a:p>
                  </a:txBody>
                  <a:tcPr marL="9525" marR="9525" marT="9525" marB="0" anchor="ctr"/>
                </a:tc>
                <a:extLst>
                  <a:ext uri="{0D108BD9-81ED-4DB2-BD59-A6C34878D82A}">
                    <a16:rowId xmlns:a16="http://schemas.microsoft.com/office/drawing/2014/main" val="1279259925"/>
                  </a:ext>
                </a:extLst>
              </a:tr>
            </a:tbl>
          </a:graphicData>
        </a:graphic>
      </p:graphicFrame>
    </p:spTree>
    <p:extLst>
      <p:ext uri="{BB962C8B-B14F-4D97-AF65-F5344CB8AC3E}">
        <p14:creationId xmlns:p14="http://schemas.microsoft.com/office/powerpoint/2010/main" val="33941405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模拟题解析：单周期处理器部分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229600" cy="4525963"/>
          </a:xfrm>
        </p:spPr>
        <p:txBody>
          <a:bodyPr/>
          <a:lstStyle/>
          <a:p>
            <a:r>
              <a:rPr kumimoji="1" lang="zh-CN" altLang="en-US" sz="2000" dirty="0"/>
              <a:t>当前寄存器堆中的</a:t>
            </a:r>
            <a:r>
              <a:rPr kumimoji="1" lang="en-US" altLang="zh-CN" sz="2000" dirty="0"/>
              <a:t>32</a:t>
            </a:r>
            <a:r>
              <a:rPr kumimoji="1" lang="zh-CN" altLang="en-US" sz="2000" dirty="0"/>
              <a:t>个寄存器的值如下：</a:t>
            </a:r>
            <a:r>
              <a:rPr kumimoji="1" lang="en-US" altLang="zh-CN" sz="2000" dirty="0"/>
              <a:t>$0=0, $1=10, $2=20, ......, $31=310</a:t>
            </a:r>
            <a:r>
              <a:rPr kumimoji="1" lang="zh-CN" altLang="en-US" sz="2000" dirty="0"/>
              <a:t>（十进制），</a:t>
            </a:r>
            <a:r>
              <a:rPr kumimoji="1" lang="en" altLang="zh-CN" sz="2000" dirty="0"/>
              <a:t>PC</a:t>
            </a:r>
            <a:r>
              <a:rPr kumimoji="1" lang="zh-CN" altLang="en-US" sz="2000" dirty="0"/>
              <a:t>寄存器的值是</a:t>
            </a:r>
            <a:r>
              <a:rPr kumimoji="1" lang="en-US" altLang="zh-CN" sz="2000" dirty="0"/>
              <a:t>0</a:t>
            </a:r>
            <a:r>
              <a:rPr kumimoji="1" lang="en" altLang="zh-CN" sz="2000" dirty="0"/>
              <a:t>x0000008C</a:t>
            </a:r>
            <a:r>
              <a:rPr kumimoji="1" lang="zh-CN" altLang="en" sz="2000" dirty="0"/>
              <a:t>，</a:t>
            </a:r>
            <a:r>
              <a:rPr kumimoji="1" lang="zh-CN" altLang="en-US" sz="2000" dirty="0"/>
              <a:t>指令存储器中</a:t>
            </a:r>
            <a:r>
              <a:rPr kumimoji="1" lang="en-US" altLang="zh-CN" sz="2000" dirty="0"/>
              <a:t>0</a:t>
            </a:r>
            <a:r>
              <a:rPr kumimoji="1" lang="en" altLang="zh-CN" sz="2000" dirty="0"/>
              <a:t>x0000008C</a:t>
            </a:r>
            <a:r>
              <a:rPr kumimoji="1" lang="zh-CN" altLang="en-US" sz="2000" dirty="0"/>
              <a:t>位置存储的值为</a:t>
            </a:r>
            <a:r>
              <a:rPr kumimoji="1" lang="en-US" altLang="zh-CN" sz="2000" dirty="0"/>
              <a:t>101011 10110 01011 1111 1111 1110 0000</a:t>
            </a:r>
            <a:r>
              <a:rPr kumimoji="1" lang="zh-CN" altLang="en-US" sz="2000" dirty="0"/>
              <a:t>。数据存储器的内容是全零</a:t>
            </a:r>
            <a:endParaRPr kumimoji="1" lang="en-US" altLang="zh-CN" sz="2000" dirty="0"/>
          </a:p>
          <a:p>
            <a:r>
              <a:rPr kumimoji="1" lang="zh-CN" altLang="en-US" sz="2400" dirty="0"/>
              <a:t>请给出该指令的功能</a:t>
            </a:r>
            <a:endParaRPr kumimoji="1" lang="en-US" altLang="zh-CN" sz="2400" dirty="0"/>
          </a:p>
          <a:p>
            <a:pPr lvl="1"/>
            <a:r>
              <a:rPr kumimoji="1" lang="en" altLang="zh-CN" sz="2200" dirty="0" err="1"/>
              <a:t>sw</a:t>
            </a:r>
            <a:r>
              <a:rPr kumimoji="1" lang="en" altLang="zh-CN" sz="2200" dirty="0"/>
              <a:t> $11 -32($22)</a:t>
            </a:r>
          </a:p>
          <a:p>
            <a:r>
              <a:rPr kumimoji="1" lang="zh-CN" altLang="en-US" sz="2400" dirty="0"/>
              <a:t>若该指令在被读取后输入给</a:t>
            </a:r>
            <a:r>
              <a:rPr kumimoji="1" lang="en" altLang="zh-CN" sz="2400" dirty="0"/>
              <a:t>Control Unit</a:t>
            </a:r>
            <a:r>
              <a:rPr kumimoji="1" lang="zh-CN" altLang="en-US" sz="2400" dirty="0"/>
              <a:t>时，</a:t>
            </a:r>
            <a:r>
              <a:rPr kumimoji="1" lang="en" altLang="zh-CN" sz="2400" dirty="0"/>
              <a:t>Instruction[31:26]</a:t>
            </a:r>
            <a:r>
              <a:rPr kumimoji="1" lang="zh-CN" altLang="en-US" sz="2400" dirty="0"/>
              <a:t>发生了错误，变为全</a:t>
            </a:r>
            <a:r>
              <a:rPr kumimoji="1" lang="en-US" altLang="zh-CN" sz="2400" dirty="0"/>
              <a:t>0</a:t>
            </a:r>
            <a:r>
              <a:rPr kumimoji="1" lang="zh-CN" altLang="en-US" sz="2400" dirty="0"/>
              <a:t>。在这种情况下继续执行， </a:t>
            </a:r>
            <a:r>
              <a:rPr kumimoji="1" lang="en" altLang="zh-CN" sz="2400" dirty="0"/>
              <a:t>ALU</a:t>
            </a:r>
            <a:r>
              <a:rPr kumimoji="1" lang="zh-CN" altLang="en-US" sz="2400" dirty="0"/>
              <a:t>的输出</a:t>
            </a:r>
            <a:r>
              <a:rPr kumimoji="1" lang="en" altLang="zh-CN" sz="2400" dirty="0"/>
              <a:t>Result</a:t>
            </a:r>
            <a:r>
              <a:rPr kumimoji="1" lang="zh-CN" altLang="en-US" sz="2400" dirty="0"/>
              <a:t>用十进制表示是什么？</a:t>
            </a:r>
            <a:endParaRPr kumimoji="1" lang="en-US" altLang="zh-CN" sz="2400" dirty="0"/>
          </a:p>
          <a:p>
            <a:pPr lvl="1"/>
            <a:r>
              <a:rPr kumimoji="1" lang="zh-CN" altLang="en-US" sz="2200" dirty="0"/>
              <a:t>指令变为</a:t>
            </a:r>
            <a:r>
              <a:rPr kumimoji="1" lang="en" altLang="zh-CN" sz="2200" dirty="0"/>
              <a:t>add $31 $22 $11</a:t>
            </a:r>
            <a:r>
              <a:rPr kumimoji="1" lang="zh-CN" altLang="en-US" sz="2200" dirty="0"/>
              <a:t>，继续执行</a:t>
            </a:r>
            <a:r>
              <a:rPr kumimoji="1" lang="en" altLang="zh-CN" sz="2200" dirty="0"/>
              <a:t>Result=330</a:t>
            </a:r>
          </a:p>
          <a:p>
            <a:r>
              <a:rPr kumimoji="1" lang="zh-CN" altLang="en-US" sz="2600" dirty="0"/>
              <a:t>上一小问这条错误指令执行完成之后，哪些寄存器和存储器中的值发生了变化，并写出变化后的取值</a:t>
            </a:r>
            <a:endParaRPr kumimoji="1" lang="en-US" altLang="zh-CN" sz="2600" dirty="0"/>
          </a:p>
          <a:p>
            <a:pPr lvl="1"/>
            <a:r>
              <a:rPr kumimoji="1" lang="en-US" altLang="zh-CN" sz="2200" dirty="0"/>
              <a:t>31</a:t>
            </a:r>
            <a:r>
              <a:rPr kumimoji="1" lang="zh-CN" altLang="en-US" sz="2200" dirty="0"/>
              <a:t>号寄存器值变为</a:t>
            </a:r>
            <a:r>
              <a:rPr kumimoji="1" lang="en-US" altLang="zh-CN" sz="2200" dirty="0"/>
              <a:t>330</a:t>
            </a:r>
            <a:r>
              <a:rPr kumimoji="1" lang="zh-CN" altLang="en-US" sz="2200" dirty="0"/>
              <a:t>，</a:t>
            </a:r>
            <a:r>
              <a:rPr kumimoji="1" lang="en-US" altLang="zh-CN" sz="2200" dirty="0">
                <a:solidFill>
                  <a:srgbClr val="1A49EA"/>
                </a:solidFill>
              </a:rPr>
              <a:t>PC</a:t>
            </a:r>
            <a:r>
              <a:rPr kumimoji="1" lang="zh-CN" altLang="en-US" sz="2200" dirty="0">
                <a:solidFill>
                  <a:srgbClr val="1A49EA"/>
                </a:solidFill>
              </a:rPr>
              <a:t>寄存器</a:t>
            </a:r>
            <a:r>
              <a:rPr kumimoji="1" lang="zh-CN" altLang="en-US" sz="2200" dirty="0"/>
              <a:t>值变为</a:t>
            </a:r>
            <a:r>
              <a:rPr kumimoji="1" lang="en-US" altLang="zh-CN" sz="2200" dirty="0"/>
              <a:t>0x00000090</a:t>
            </a:r>
          </a:p>
          <a:p>
            <a:pPr lvl="1"/>
            <a:endParaRPr kumimoji="1" lang="en" altLang="zh-CN" sz="2200" dirty="0"/>
          </a:p>
          <a:p>
            <a:endParaRPr kumimoji="1" lang="zh-CN" altLang="en-US" sz="2600" dirty="0"/>
          </a:p>
        </p:txBody>
      </p:sp>
      <p:sp>
        <p:nvSpPr>
          <p:cNvPr id="4" name="灯片编号占位符 3">
            <a:extLst>
              <a:ext uri="{FF2B5EF4-FFF2-40B4-BE49-F238E27FC236}">
                <a16:creationId xmlns:a16="http://schemas.microsoft.com/office/drawing/2014/main" id="{5D06E1A7-0989-3DCD-C65B-8C524C2CEFE9}"/>
              </a:ext>
            </a:extLst>
          </p:cNvPr>
          <p:cNvSpPr>
            <a:spLocks noGrp="1"/>
          </p:cNvSpPr>
          <p:nvPr>
            <p:ph type="sldNum" sz="quarter" idx="12"/>
          </p:nvPr>
        </p:nvSpPr>
        <p:spPr/>
        <p:txBody>
          <a:bodyPr/>
          <a:lstStyle/>
          <a:p>
            <a:fld id="{14659731-6BD7-46E7-8D3C-2F3AC07E20B1}" type="slidenum">
              <a:rPr lang="en-US" altLang="zh-CN" smtClean="0"/>
              <a:pPr/>
              <a:t>61</a:t>
            </a:fld>
            <a:endParaRPr lang="en-US" altLang="zh-CN" dirty="0"/>
          </a:p>
        </p:txBody>
      </p:sp>
      <p:grpSp>
        <p:nvGrpSpPr>
          <p:cNvPr id="10" name="组合 9">
            <a:extLst>
              <a:ext uri="{FF2B5EF4-FFF2-40B4-BE49-F238E27FC236}">
                <a16:creationId xmlns:a16="http://schemas.microsoft.com/office/drawing/2014/main" id="{EAECF80F-6EC9-FFEA-3E84-E68FBB725148}"/>
              </a:ext>
            </a:extLst>
          </p:cNvPr>
          <p:cNvGrpSpPr/>
          <p:nvPr/>
        </p:nvGrpSpPr>
        <p:grpSpPr>
          <a:xfrm>
            <a:off x="3799980" y="2746951"/>
            <a:ext cx="4815570" cy="791645"/>
            <a:chOff x="685800" y="3135086"/>
            <a:chExt cx="7772400" cy="1277725"/>
          </a:xfrm>
        </p:grpSpPr>
        <p:pic>
          <p:nvPicPr>
            <p:cNvPr id="6" name="图片 5">
              <a:extLst>
                <a:ext uri="{FF2B5EF4-FFF2-40B4-BE49-F238E27FC236}">
                  <a16:creationId xmlns:a16="http://schemas.microsoft.com/office/drawing/2014/main" id="{78A44B08-889C-B806-CADD-686642FDA52B}"/>
                </a:ext>
              </a:extLst>
            </p:cNvPr>
            <p:cNvPicPr>
              <a:picLocks noChangeAspect="1"/>
            </p:cNvPicPr>
            <p:nvPr/>
          </p:nvPicPr>
          <p:blipFill>
            <a:blip r:embed="rId2"/>
            <a:stretch>
              <a:fillRect/>
            </a:stretch>
          </p:blipFill>
          <p:spPr>
            <a:xfrm>
              <a:off x="855022" y="4003629"/>
              <a:ext cx="7603177" cy="409182"/>
            </a:xfrm>
            <a:prstGeom prst="rect">
              <a:avLst/>
            </a:prstGeom>
          </p:spPr>
        </p:pic>
        <p:pic>
          <p:nvPicPr>
            <p:cNvPr id="9" name="图片 8">
              <a:extLst>
                <a:ext uri="{FF2B5EF4-FFF2-40B4-BE49-F238E27FC236}">
                  <a16:creationId xmlns:a16="http://schemas.microsoft.com/office/drawing/2014/main" id="{26E7780E-4B86-F311-1C6C-2725377E2B15}"/>
                </a:ext>
              </a:extLst>
            </p:cNvPr>
            <p:cNvPicPr>
              <a:picLocks noChangeAspect="1"/>
            </p:cNvPicPr>
            <p:nvPr/>
          </p:nvPicPr>
          <p:blipFill rotWithShape="1">
            <a:blip r:embed="rId3"/>
            <a:srcRect t="57370"/>
            <a:stretch/>
          </p:blipFill>
          <p:spPr>
            <a:xfrm>
              <a:off x="685800" y="3135086"/>
              <a:ext cx="7772400" cy="862604"/>
            </a:xfrm>
            <a:prstGeom prst="rect">
              <a:avLst/>
            </a:prstGeom>
          </p:spPr>
        </p:pic>
      </p:grpSp>
    </p:spTree>
    <p:extLst>
      <p:ext uri="{BB962C8B-B14F-4D97-AF65-F5344CB8AC3E}">
        <p14:creationId xmlns:p14="http://schemas.microsoft.com/office/powerpoint/2010/main" val="4421339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模拟题解析：单周期处理器部分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229600" cy="4525963"/>
          </a:xfrm>
        </p:spPr>
        <p:txBody>
          <a:bodyPr/>
          <a:lstStyle/>
          <a:p>
            <a:r>
              <a:rPr kumimoji="1" lang="zh-CN" altLang="en-US" sz="2000" dirty="0"/>
              <a:t>当前寄存器堆中的</a:t>
            </a:r>
            <a:r>
              <a:rPr kumimoji="1" lang="en-US" altLang="zh-CN" sz="2000" dirty="0"/>
              <a:t>32</a:t>
            </a:r>
            <a:r>
              <a:rPr kumimoji="1" lang="zh-CN" altLang="en-US" sz="2000" dirty="0"/>
              <a:t>个寄存器的值如下：</a:t>
            </a:r>
            <a:r>
              <a:rPr kumimoji="1" lang="en-US" altLang="zh-CN" sz="2000" dirty="0"/>
              <a:t>$0=0, $1=10, $2=20, ......, $31=310</a:t>
            </a:r>
            <a:r>
              <a:rPr kumimoji="1" lang="zh-CN" altLang="en-US" sz="2000" dirty="0"/>
              <a:t>（十进制），</a:t>
            </a:r>
            <a:r>
              <a:rPr kumimoji="1" lang="en" altLang="zh-CN" sz="2000" dirty="0"/>
              <a:t>PC</a:t>
            </a:r>
            <a:r>
              <a:rPr kumimoji="1" lang="zh-CN" altLang="en-US" sz="2000" dirty="0"/>
              <a:t>寄存器的值是</a:t>
            </a:r>
            <a:r>
              <a:rPr kumimoji="1" lang="en-US" altLang="zh-CN" sz="2000" dirty="0"/>
              <a:t>0</a:t>
            </a:r>
            <a:r>
              <a:rPr kumimoji="1" lang="en" altLang="zh-CN" sz="2000" dirty="0"/>
              <a:t>x0000008C</a:t>
            </a:r>
            <a:r>
              <a:rPr kumimoji="1" lang="zh-CN" altLang="en" sz="2000" dirty="0"/>
              <a:t>，</a:t>
            </a:r>
            <a:r>
              <a:rPr kumimoji="1" lang="zh-CN" altLang="en-US" sz="2000" dirty="0"/>
              <a:t>指令存储器中</a:t>
            </a:r>
            <a:r>
              <a:rPr kumimoji="1" lang="en-US" altLang="zh-CN" sz="2000" dirty="0"/>
              <a:t>0</a:t>
            </a:r>
            <a:r>
              <a:rPr kumimoji="1" lang="en" altLang="zh-CN" sz="2000" dirty="0"/>
              <a:t>x0000008C</a:t>
            </a:r>
            <a:r>
              <a:rPr kumimoji="1" lang="zh-CN" altLang="en-US" sz="2000" dirty="0"/>
              <a:t>位置存储的值为</a:t>
            </a:r>
            <a:r>
              <a:rPr kumimoji="1" lang="en-US" altLang="zh-CN" sz="2000" dirty="0"/>
              <a:t>101011 10110 01011 1111 1111 1110 0000</a:t>
            </a:r>
            <a:r>
              <a:rPr kumimoji="1" lang="zh-CN" altLang="en-US" sz="2000" dirty="0"/>
              <a:t>。数据存储器的内容是全零</a:t>
            </a:r>
            <a:endParaRPr kumimoji="1" lang="en-US" altLang="zh-CN" sz="2000" dirty="0"/>
          </a:p>
          <a:p>
            <a:r>
              <a:rPr kumimoji="1" lang="zh-CN" altLang="en-US" sz="2400" dirty="0"/>
              <a:t>请给出该指令的功能</a:t>
            </a:r>
            <a:endParaRPr kumimoji="1" lang="en-US" altLang="zh-CN" sz="2400" dirty="0"/>
          </a:p>
          <a:p>
            <a:pPr lvl="1"/>
            <a:r>
              <a:rPr kumimoji="1" lang="en" altLang="zh-CN" sz="2200" dirty="0" err="1"/>
              <a:t>sw</a:t>
            </a:r>
            <a:r>
              <a:rPr kumimoji="1" lang="en" altLang="zh-CN" sz="2200" dirty="0"/>
              <a:t> $11 -32($22)</a:t>
            </a:r>
          </a:p>
          <a:p>
            <a:r>
              <a:rPr kumimoji="1" lang="zh-CN" altLang="en-US" sz="2400" dirty="0"/>
              <a:t>若该指令在被读取后输入给</a:t>
            </a:r>
            <a:r>
              <a:rPr kumimoji="1" lang="en" altLang="zh-CN" sz="2400" dirty="0"/>
              <a:t>Control Unit</a:t>
            </a:r>
            <a:r>
              <a:rPr kumimoji="1" lang="zh-CN" altLang="en-US" sz="2400" dirty="0"/>
              <a:t>时，</a:t>
            </a:r>
            <a:r>
              <a:rPr kumimoji="1" lang="en" altLang="zh-CN" sz="2400" dirty="0"/>
              <a:t>Instruction[31:26]</a:t>
            </a:r>
            <a:r>
              <a:rPr kumimoji="1" lang="zh-CN" altLang="en-US" sz="2400" dirty="0"/>
              <a:t>发生了错误，变为全</a:t>
            </a:r>
            <a:r>
              <a:rPr kumimoji="1" lang="en-US" altLang="zh-CN" sz="2400" dirty="0"/>
              <a:t>0</a:t>
            </a:r>
            <a:r>
              <a:rPr kumimoji="1" lang="zh-CN" altLang="en-US" sz="2400" dirty="0"/>
              <a:t>。在这种情况下继续执行， </a:t>
            </a:r>
            <a:r>
              <a:rPr kumimoji="1" lang="en" altLang="zh-CN" sz="2400" dirty="0"/>
              <a:t>ALU</a:t>
            </a:r>
            <a:r>
              <a:rPr kumimoji="1" lang="zh-CN" altLang="en-US" sz="2400" dirty="0"/>
              <a:t>的输出</a:t>
            </a:r>
            <a:r>
              <a:rPr kumimoji="1" lang="en" altLang="zh-CN" sz="2400" dirty="0"/>
              <a:t>Result</a:t>
            </a:r>
            <a:r>
              <a:rPr kumimoji="1" lang="zh-CN" altLang="en-US" sz="2400" dirty="0"/>
              <a:t>用十进制表示是什么？</a:t>
            </a:r>
            <a:endParaRPr kumimoji="1" lang="en-US" altLang="zh-CN" sz="2400" dirty="0"/>
          </a:p>
          <a:p>
            <a:pPr lvl="1"/>
            <a:r>
              <a:rPr kumimoji="1" lang="zh-CN" altLang="en-US" sz="2200" dirty="0"/>
              <a:t>指令变为</a:t>
            </a:r>
            <a:r>
              <a:rPr kumimoji="1" lang="en" altLang="zh-CN" sz="2200" dirty="0"/>
              <a:t>add $31 $22 $11</a:t>
            </a:r>
            <a:r>
              <a:rPr kumimoji="1" lang="zh-CN" altLang="en-US" sz="2200" dirty="0"/>
              <a:t>，继续执行</a:t>
            </a:r>
            <a:r>
              <a:rPr kumimoji="1" lang="en" altLang="zh-CN" sz="2200" dirty="0"/>
              <a:t>Result=330</a:t>
            </a:r>
          </a:p>
          <a:p>
            <a:r>
              <a:rPr kumimoji="1" lang="zh-CN" altLang="en-US" sz="2600" dirty="0"/>
              <a:t>上一小问这条错误指令执行完成之后，哪些</a:t>
            </a:r>
            <a:r>
              <a:rPr kumimoji="1" lang="zh-CN" altLang="en-US" sz="2600" dirty="0">
                <a:solidFill>
                  <a:srgbClr val="1A49EA"/>
                </a:solidFill>
              </a:rPr>
              <a:t>寄存器</a:t>
            </a:r>
            <a:r>
              <a:rPr kumimoji="1" lang="zh-CN" altLang="en-US" sz="2600" dirty="0"/>
              <a:t>和</a:t>
            </a:r>
            <a:r>
              <a:rPr kumimoji="1" lang="zh-CN" altLang="en-US" sz="2600" dirty="0">
                <a:solidFill>
                  <a:srgbClr val="1A49EA"/>
                </a:solidFill>
              </a:rPr>
              <a:t>存储器</a:t>
            </a:r>
            <a:r>
              <a:rPr kumimoji="1" lang="zh-CN" altLang="en-US" sz="2600" dirty="0"/>
              <a:t>中的值发生了变化，并写出变化后的取值</a:t>
            </a:r>
            <a:endParaRPr kumimoji="1" lang="en-US" altLang="zh-CN" sz="2600" dirty="0"/>
          </a:p>
          <a:p>
            <a:pPr lvl="1"/>
            <a:r>
              <a:rPr kumimoji="1" lang="en-US" altLang="zh-CN" sz="2200" dirty="0"/>
              <a:t>31</a:t>
            </a:r>
            <a:r>
              <a:rPr kumimoji="1" lang="zh-CN" altLang="en-US" sz="2200" dirty="0"/>
              <a:t>号寄存器值变为</a:t>
            </a:r>
            <a:r>
              <a:rPr kumimoji="1" lang="en-US" altLang="zh-CN" sz="2200" dirty="0"/>
              <a:t>330</a:t>
            </a:r>
            <a:r>
              <a:rPr kumimoji="1" lang="zh-CN" altLang="en-US" sz="2200" dirty="0"/>
              <a:t>，</a:t>
            </a:r>
            <a:r>
              <a:rPr kumimoji="1" lang="en-US" altLang="zh-CN" sz="2200" dirty="0">
                <a:solidFill>
                  <a:srgbClr val="1A49EA"/>
                </a:solidFill>
              </a:rPr>
              <a:t>PC</a:t>
            </a:r>
            <a:r>
              <a:rPr kumimoji="1" lang="zh-CN" altLang="en-US" sz="2200" dirty="0">
                <a:solidFill>
                  <a:srgbClr val="1A49EA"/>
                </a:solidFill>
              </a:rPr>
              <a:t>寄存器</a:t>
            </a:r>
            <a:r>
              <a:rPr kumimoji="1" lang="zh-CN" altLang="en-US" sz="2200" dirty="0"/>
              <a:t>值变为</a:t>
            </a:r>
            <a:r>
              <a:rPr kumimoji="1" lang="en-US" altLang="zh-CN" sz="2200" dirty="0"/>
              <a:t>0x00000090</a:t>
            </a:r>
          </a:p>
          <a:p>
            <a:pPr lvl="1"/>
            <a:endParaRPr kumimoji="1" lang="en" altLang="zh-CN" sz="2200" dirty="0"/>
          </a:p>
          <a:p>
            <a:endParaRPr kumimoji="1" lang="zh-CN" altLang="en-US" sz="2600" dirty="0"/>
          </a:p>
        </p:txBody>
      </p:sp>
      <p:sp>
        <p:nvSpPr>
          <p:cNvPr id="4" name="灯片编号占位符 3">
            <a:extLst>
              <a:ext uri="{FF2B5EF4-FFF2-40B4-BE49-F238E27FC236}">
                <a16:creationId xmlns:a16="http://schemas.microsoft.com/office/drawing/2014/main" id="{5D06E1A7-0989-3DCD-C65B-8C524C2CEFE9}"/>
              </a:ext>
            </a:extLst>
          </p:cNvPr>
          <p:cNvSpPr>
            <a:spLocks noGrp="1"/>
          </p:cNvSpPr>
          <p:nvPr>
            <p:ph type="sldNum" sz="quarter" idx="12"/>
          </p:nvPr>
        </p:nvSpPr>
        <p:spPr/>
        <p:txBody>
          <a:bodyPr/>
          <a:lstStyle/>
          <a:p>
            <a:fld id="{14659731-6BD7-46E7-8D3C-2F3AC07E20B1}" type="slidenum">
              <a:rPr lang="en-US" altLang="zh-CN" smtClean="0"/>
              <a:pPr/>
              <a:t>62</a:t>
            </a:fld>
            <a:endParaRPr lang="en-US" altLang="zh-CN" dirty="0"/>
          </a:p>
        </p:txBody>
      </p:sp>
      <p:grpSp>
        <p:nvGrpSpPr>
          <p:cNvPr id="10" name="组合 9">
            <a:extLst>
              <a:ext uri="{FF2B5EF4-FFF2-40B4-BE49-F238E27FC236}">
                <a16:creationId xmlns:a16="http://schemas.microsoft.com/office/drawing/2014/main" id="{EAECF80F-6EC9-FFEA-3E84-E68FBB725148}"/>
              </a:ext>
            </a:extLst>
          </p:cNvPr>
          <p:cNvGrpSpPr/>
          <p:nvPr/>
        </p:nvGrpSpPr>
        <p:grpSpPr>
          <a:xfrm>
            <a:off x="3799980" y="2746951"/>
            <a:ext cx="4815570" cy="791645"/>
            <a:chOff x="685800" y="3135086"/>
            <a:chExt cx="7772400" cy="1277725"/>
          </a:xfrm>
        </p:grpSpPr>
        <p:pic>
          <p:nvPicPr>
            <p:cNvPr id="6" name="图片 5">
              <a:extLst>
                <a:ext uri="{FF2B5EF4-FFF2-40B4-BE49-F238E27FC236}">
                  <a16:creationId xmlns:a16="http://schemas.microsoft.com/office/drawing/2014/main" id="{78A44B08-889C-B806-CADD-686642FDA52B}"/>
                </a:ext>
              </a:extLst>
            </p:cNvPr>
            <p:cNvPicPr>
              <a:picLocks noChangeAspect="1"/>
            </p:cNvPicPr>
            <p:nvPr/>
          </p:nvPicPr>
          <p:blipFill>
            <a:blip r:embed="rId2"/>
            <a:stretch>
              <a:fillRect/>
            </a:stretch>
          </p:blipFill>
          <p:spPr>
            <a:xfrm>
              <a:off x="855022" y="4003629"/>
              <a:ext cx="7603177" cy="409182"/>
            </a:xfrm>
            <a:prstGeom prst="rect">
              <a:avLst/>
            </a:prstGeom>
          </p:spPr>
        </p:pic>
        <p:pic>
          <p:nvPicPr>
            <p:cNvPr id="9" name="图片 8">
              <a:extLst>
                <a:ext uri="{FF2B5EF4-FFF2-40B4-BE49-F238E27FC236}">
                  <a16:creationId xmlns:a16="http://schemas.microsoft.com/office/drawing/2014/main" id="{26E7780E-4B86-F311-1C6C-2725377E2B15}"/>
                </a:ext>
              </a:extLst>
            </p:cNvPr>
            <p:cNvPicPr>
              <a:picLocks noChangeAspect="1"/>
            </p:cNvPicPr>
            <p:nvPr/>
          </p:nvPicPr>
          <p:blipFill rotWithShape="1">
            <a:blip r:embed="rId3"/>
            <a:srcRect t="57370"/>
            <a:stretch/>
          </p:blipFill>
          <p:spPr>
            <a:xfrm>
              <a:off x="685800" y="3135086"/>
              <a:ext cx="7772400" cy="862604"/>
            </a:xfrm>
            <a:prstGeom prst="rect">
              <a:avLst/>
            </a:prstGeom>
          </p:spPr>
        </p:pic>
      </p:grpSp>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6975E5A7-8249-CBE8-1C48-B79343C1085D}"/>
                  </a:ext>
                </a:extLst>
              </p14:cNvPr>
              <p14:cNvContentPartPr/>
              <p14:nvPr/>
            </p14:nvContentPartPr>
            <p14:xfrm>
              <a:off x="8775720" y="1835280"/>
              <a:ext cx="360" cy="360"/>
            </p14:xfrm>
          </p:contentPart>
        </mc:Choice>
        <mc:Fallback xmlns="">
          <p:pic>
            <p:nvPicPr>
              <p:cNvPr id="5" name="墨迹 4">
                <a:extLst>
                  <a:ext uri="{FF2B5EF4-FFF2-40B4-BE49-F238E27FC236}">
                    <a16:creationId xmlns:a16="http://schemas.microsoft.com/office/drawing/2014/main" id="{6975E5A7-8249-CBE8-1C48-B79343C1085D}"/>
                  </a:ext>
                </a:extLst>
              </p:cNvPr>
              <p:cNvPicPr/>
              <p:nvPr/>
            </p:nvPicPr>
            <p:blipFill>
              <a:blip r:embed="rId5"/>
              <a:stretch>
                <a:fillRect/>
              </a:stretch>
            </p:blipFill>
            <p:spPr>
              <a:xfrm>
                <a:off x="8766360" y="1825920"/>
                <a:ext cx="19080" cy="19080"/>
              </a:xfrm>
              <a:prstGeom prst="rect">
                <a:avLst/>
              </a:prstGeom>
            </p:spPr>
          </p:pic>
        </mc:Fallback>
      </mc:AlternateContent>
    </p:spTree>
    <p:extLst>
      <p:ext uri="{BB962C8B-B14F-4D97-AF65-F5344CB8AC3E}">
        <p14:creationId xmlns:p14="http://schemas.microsoft.com/office/powerpoint/2010/main" val="26947917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模拟题解析：单周期处理器部分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330540" cy="4525963"/>
          </a:xfrm>
        </p:spPr>
        <p:txBody>
          <a:bodyPr/>
          <a:lstStyle/>
          <a:p>
            <a:r>
              <a:rPr kumimoji="1" lang="zh-CN" altLang="en-US" sz="2400" dirty="0"/>
              <a:t>已知各个硬件单元的延时如下表，未列入表中的延时可以忽略不计</a:t>
            </a:r>
            <a:endParaRPr kumimoji="1" lang="en-US" altLang="zh-CN" sz="2400" dirty="0"/>
          </a:p>
          <a:p>
            <a:pPr lvl="1"/>
            <a:endParaRPr kumimoji="1" lang="en-US" altLang="zh-CN" sz="2000" dirty="0"/>
          </a:p>
          <a:p>
            <a:pPr lvl="1"/>
            <a:endParaRPr kumimoji="1" lang="en-US" altLang="zh-CN" sz="2000" dirty="0"/>
          </a:p>
          <a:p>
            <a:r>
              <a:rPr kumimoji="1" lang="en-US" altLang="zh-CN" sz="2400" dirty="0"/>
              <a:t>add</a:t>
            </a:r>
            <a:r>
              <a:rPr kumimoji="1" lang="zh-CN" altLang="en-US" sz="2400" dirty="0"/>
              <a:t>执行延时</a:t>
            </a:r>
            <a:endParaRPr kumimoji="1" lang="en-US" altLang="zh-CN" sz="2400" dirty="0"/>
          </a:p>
          <a:p>
            <a:pPr lvl="1"/>
            <a:r>
              <a:rPr kumimoji="1" lang="en-US" altLang="zh-CN" sz="2000" dirty="0"/>
              <a:t>PC</a:t>
            </a:r>
            <a:r>
              <a:rPr kumimoji="1" lang="zh-CN" altLang="en-US" sz="2000" dirty="0"/>
              <a:t> </a:t>
            </a:r>
            <a:r>
              <a:rPr kumimoji="1" lang="en-US" altLang="zh-CN" sz="2000" dirty="0" err="1"/>
              <a:t>clk</a:t>
            </a:r>
            <a:r>
              <a:rPr kumimoji="1" lang="en-US" altLang="zh-CN" sz="2000" dirty="0"/>
              <a:t>-Q</a:t>
            </a:r>
            <a:r>
              <a:rPr kumimoji="1" lang="zh-CN" altLang="en-US" sz="2000" dirty="0"/>
              <a:t>、存储器、读寄存器堆、</a:t>
            </a:r>
            <a:r>
              <a:rPr kumimoji="1" lang="en-US" altLang="zh-CN" sz="2000" dirty="0" err="1"/>
              <a:t>ALUSrc</a:t>
            </a:r>
            <a:r>
              <a:rPr kumimoji="1" lang="zh-CN" altLang="en-US" sz="2000" dirty="0"/>
              <a:t>、</a:t>
            </a:r>
            <a:r>
              <a:rPr kumimoji="1" lang="en-US" altLang="zh-CN" sz="2000" dirty="0"/>
              <a:t>ALU</a:t>
            </a:r>
            <a:r>
              <a:rPr kumimoji="1" lang="zh-CN" altLang="en-US" sz="2000" dirty="0"/>
              <a:t>、</a:t>
            </a:r>
            <a:r>
              <a:rPr kumimoji="1" lang="en-US" altLang="zh-CN" sz="2000" dirty="0" err="1"/>
              <a:t>MemtoReg</a:t>
            </a:r>
            <a:r>
              <a:rPr kumimoji="1" lang="zh-CN" altLang="en-US" sz="2000" dirty="0"/>
              <a:t>、寄存器堆建立：</a:t>
            </a:r>
            <a:r>
              <a:rPr kumimoji="1" lang="en-US" altLang="zh-CN" sz="2000" dirty="0"/>
              <a:t>10+100+40+10+60+10+20=250ps</a:t>
            </a:r>
          </a:p>
          <a:p>
            <a:r>
              <a:rPr kumimoji="1" lang="en-US" altLang="zh-CN" sz="2400" dirty="0" err="1"/>
              <a:t>beq</a:t>
            </a:r>
            <a:r>
              <a:rPr kumimoji="1" lang="zh-CN" altLang="en-US" sz="2400" dirty="0"/>
              <a:t>执行延时</a:t>
            </a:r>
            <a:endParaRPr kumimoji="1" lang="en-US" altLang="zh-CN" sz="2400" dirty="0"/>
          </a:p>
          <a:p>
            <a:pPr lvl="1"/>
            <a:r>
              <a:rPr kumimoji="1" lang="en-US" altLang="zh-CN" sz="2000" dirty="0"/>
              <a:t>PC</a:t>
            </a:r>
            <a:r>
              <a:rPr kumimoji="1" lang="zh-CN" altLang="en-US" sz="2000" dirty="0"/>
              <a:t> </a:t>
            </a:r>
            <a:r>
              <a:rPr kumimoji="1" lang="en-US" altLang="zh-CN" sz="2000" dirty="0" err="1"/>
              <a:t>clk</a:t>
            </a:r>
            <a:r>
              <a:rPr kumimoji="1" lang="en-US" altLang="zh-CN" sz="2000" dirty="0"/>
              <a:t>-Q</a:t>
            </a:r>
            <a:r>
              <a:rPr kumimoji="1" lang="zh-CN" altLang="en" sz="2000" dirty="0"/>
              <a:t>、</a:t>
            </a:r>
            <a:r>
              <a:rPr kumimoji="1" lang="zh-CN" altLang="en-US" sz="2000" dirty="0"/>
              <a:t>存储器、读寄存器堆、</a:t>
            </a:r>
            <a:r>
              <a:rPr kumimoji="1" lang="en" altLang="zh-CN" sz="2000" dirty="0" err="1"/>
              <a:t>ALUSrc</a:t>
            </a:r>
            <a:r>
              <a:rPr kumimoji="1" lang="zh-CN" altLang="en" sz="2000" dirty="0"/>
              <a:t>、</a:t>
            </a:r>
            <a:r>
              <a:rPr kumimoji="1" lang="en" altLang="zh-CN" sz="2000" dirty="0"/>
              <a:t>ALU</a:t>
            </a:r>
            <a:r>
              <a:rPr kumimoji="1" lang="zh-CN" altLang="en" sz="2000" dirty="0"/>
              <a:t>、</a:t>
            </a:r>
            <a:r>
              <a:rPr kumimoji="1" lang="en" altLang="zh-CN" sz="2000" dirty="0"/>
              <a:t>PCSrc1</a:t>
            </a:r>
            <a:r>
              <a:rPr kumimoji="1" lang="zh-CN" altLang="en" sz="2000" dirty="0"/>
              <a:t>、</a:t>
            </a:r>
            <a:r>
              <a:rPr kumimoji="1" lang="en" altLang="zh-CN" sz="2000" dirty="0"/>
              <a:t>PCSrc2</a:t>
            </a:r>
            <a:r>
              <a:rPr kumimoji="1" lang="zh-CN" altLang="en" sz="2000" dirty="0"/>
              <a:t>、</a:t>
            </a:r>
            <a:r>
              <a:rPr kumimoji="1" lang="en" altLang="zh-CN" sz="2000" dirty="0"/>
              <a:t>PC</a:t>
            </a:r>
            <a:r>
              <a:rPr kumimoji="1" lang="zh-CN" altLang="en-US" sz="2000" dirty="0"/>
              <a:t>建立：</a:t>
            </a:r>
            <a:r>
              <a:rPr kumimoji="1" lang="en" altLang="zh-CN" sz="2000" dirty="0"/>
              <a:t>10+100+40+10+60+10+10+10=250ps</a:t>
            </a:r>
          </a:p>
          <a:p>
            <a:r>
              <a:rPr kumimoji="1" lang="zh-CN" altLang="en-US" sz="2400" dirty="0"/>
              <a:t>该处理器可正常运行的最高时钟频率</a:t>
            </a:r>
            <a:endParaRPr kumimoji="1" lang="en-US" altLang="zh-CN" sz="2400" dirty="0"/>
          </a:p>
          <a:p>
            <a:pPr lvl="1"/>
            <a:r>
              <a:rPr kumimoji="1" lang="en" altLang="zh-CN" sz="2000" dirty="0" err="1"/>
              <a:t>lw</a:t>
            </a:r>
            <a:r>
              <a:rPr kumimoji="1" lang="zh-CN" altLang="en-US" sz="2000" dirty="0"/>
              <a:t>延时最长：</a:t>
            </a:r>
            <a:r>
              <a:rPr kumimoji="1" lang="en" altLang="zh-CN" sz="2000" dirty="0"/>
              <a:t>PC</a:t>
            </a:r>
            <a:r>
              <a:rPr kumimoji="1" lang="zh-CN" altLang="en-US" sz="2000" dirty="0"/>
              <a:t> </a:t>
            </a:r>
            <a:r>
              <a:rPr kumimoji="1" lang="en" altLang="zh-CN" sz="2000" dirty="0" err="1"/>
              <a:t>clk</a:t>
            </a:r>
            <a:r>
              <a:rPr kumimoji="1" lang="en" altLang="zh-CN" sz="2000" dirty="0"/>
              <a:t>-Q</a:t>
            </a:r>
            <a:r>
              <a:rPr kumimoji="1" lang="zh-CN" altLang="en" sz="2000" dirty="0"/>
              <a:t>、</a:t>
            </a:r>
            <a:r>
              <a:rPr kumimoji="1" lang="zh-CN" altLang="en-US" sz="2000" dirty="0"/>
              <a:t>存储器、读寄存器、</a:t>
            </a:r>
            <a:r>
              <a:rPr kumimoji="1" lang="en" altLang="zh-CN" sz="2000" dirty="0"/>
              <a:t>ALU</a:t>
            </a:r>
            <a:r>
              <a:rPr kumimoji="1" lang="zh-CN" altLang="en" sz="2000" dirty="0"/>
              <a:t>、</a:t>
            </a:r>
            <a:r>
              <a:rPr kumimoji="1" lang="zh-CN" altLang="en-US" sz="2000" dirty="0"/>
              <a:t>存储器、</a:t>
            </a:r>
            <a:r>
              <a:rPr kumimoji="1" lang="en" altLang="zh-CN" sz="2000" dirty="0" err="1"/>
              <a:t>MemtoReg</a:t>
            </a:r>
            <a:r>
              <a:rPr kumimoji="1" lang="zh-CN" altLang="en" sz="2000" dirty="0"/>
              <a:t>、</a:t>
            </a:r>
            <a:r>
              <a:rPr kumimoji="1" lang="zh-CN" altLang="en-US" sz="2000" dirty="0"/>
              <a:t>寄存器堆建立，</a:t>
            </a:r>
            <a:r>
              <a:rPr kumimoji="1" lang="en-US" altLang="zh-CN" sz="2000" dirty="0"/>
              <a:t>10+100+40+60+100+10+20=340</a:t>
            </a:r>
            <a:r>
              <a:rPr kumimoji="1" lang="en" altLang="zh-CN" sz="2000" dirty="0" err="1"/>
              <a:t>ps</a:t>
            </a:r>
            <a:endParaRPr kumimoji="1" lang="en-US" altLang="zh-CN" sz="2000" dirty="0"/>
          </a:p>
          <a:p>
            <a:pPr lvl="1"/>
            <a:r>
              <a:rPr kumimoji="1" lang="zh-CN" altLang="en-US" sz="2000" dirty="0"/>
              <a:t>最高时钟频率 </a:t>
            </a:r>
            <a:r>
              <a:rPr kumimoji="1" lang="en-US" altLang="zh-CN" sz="2000" dirty="0"/>
              <a:t>1/340</a:t>
            </a:r>
            <a:r>
              <a:rPr kumimoji="1" lang="en" altLang="zh-CN" sz="2000" dirty="0" err="1"/>
              <a:t>ps</a:t>
            </a:r>
            <a:r>
              <a:rPr kumimoji="1" lang="en" altLang="zh-CN" sz="2000" dirty="0"/>
              <a:t>=2.94GHz</a:t>
            </a:r>
            <a:endParaRPr kumimoji="1" lang="zh-CN" altLang="en-US" sz="2000" dirty="0"/>
          </a:p>
        </p:txBody>
      </p:sp>
      <p:graphicFrame>
        <p:nvGraphicFramePr>
          <p:cNvPr id="5" name="表格 4">
            <a:extLst>
              <a:ext uri="{FF2B5EF4-FFF2-40B4-BE49-F238E27FC236}">
                <a16:creationId xmlns:a16="http://schemas.microsoft.com/office/drawing/2014/main" id="{9657942D-26DC-9010-1555-CA02E1FE1BAD}"/>
              </a:ext>
            </a:extLst>
          </p:cNvPr>
          <p:cNvGraphicFramePr>
            <a:graphicFrameLocks noGrp="1"/>
          </p:cNvGraphicFramePr>
          <p:nvPr/>
        </p:nvGraphicFramePr>
        <p:xfrm>
          <a:off x="831272" y="2217437"/>
          <a:ext cx="7481454" cy="715768"/>
        </p:xfrm>
        <a:graphic>
          <a:graphicData uri="http://schemas.openxmlformats.org/drawingml/2006/table">
            <a:tbl>
              <a:tblPr firstRow="1" firstCol="1" bandRow="1">
                <a:tableStyleId>{5940675A-B579-460E-94D1-54222C63F5DA}</a:tableStyleId>
              </a:tblPr>
              <a:tblGrid>
                <a:gridCol w="747713">
                  <a:extLst>
                    <a:ext uri="{9D8B030D-6E8A-4147-A177-3AD203B41FA5}">
                      <a16:colId xmlns:a16="http://schemas.microsoft.com/office/drawing/2014/main" val="3772070573"/>
                    </a:ext>
                  </a:extLst>
                </a:gridCol>
                <a:gridCol w="747713">
                  <a:extLst>
                    <a:ext uri="{9D8B030D-6E8A-4147-A177-3AD203B41FA5}">
                      <a16:colId xmlns:a16="http://schemas.microsoft.com/office/drawing/2014/main" val="3550121667"/>
                    </a:ext>
                  </a:extLst>
                </a:gridCol>
                <a:gridCol w="747713">
                  <a:extLst>
                    <a:ext uri="{9D8B030D-6E8A-4147-A177-3AD203B41FA5}">
                      <a16:colId xmlns:a16="http://schemas.microsoft.com/office/drawing/2014/main" val="187614987"/>
                    </a:ext>
                  </a:extLst>
                </a:gridCol>
                <a:gridCol w="747713">
                  <a:extLst>
                    <a:ext uri="{9D8B030D-6E8A-4147-A177-3AD203B41FA5}">
                      <a16:colId xmlns:a16="http://schemas.microsoft.com/office/drawing/2014/main" val="1458388536"/>
                    </a:ext>
                  </a:extLst>
                </a:gridCol>
                <a:gridCol w="747713">
                  <a:extLst>
                    <a:ext uri="{9D8B030D-6E8A-4147-A177-3AD203B41FA5}">
                      <a16:colId xmlns:a16="http://schemas.microsoft.com/office/drawing/2014/main" val="3955079770"/>
                    </a:ext>
                  </a:extLst>
                </a:gridCol>
                <a:gridCol w="748578">
                  <a:extLst>
                    <a:ext uri="{9D8B030D-6E8A-4147-A177-3AD203B41FA5}">
                      <a16:colId xmlns:a16="http://schemas.microsoft.com/office/drawing/2014/main" val="3174363914"/>
                    </a:ext>
                  </a:extLst>
                </a:gridCol>
                <a:gridCol w="748578">
                  <a:extLst>
                    <a:ext uri="{9D8B030D-6E8A-4147-A177-3AD203B41FA5}">
                      <a16:colId xmlns:a16="http://schemas.microsoft.com/office/drawing/2014/main" val="54348174"/>
                    </a:ext>
                  </a:extLst>
                </a:gridCol>
                <a:gridCol w="748578">
                  <a:extLst>
                    <a:ext uri="{9D8B030D-6E8A-4147-A177-3AD203B41FA5}">
                      <a16:colId xmlns:a16="http://schemas.microsoft.com/office/drawing/2014/main" val="4242528231"/>
                    </a:ext>
                  </a:extLst>
                </a:gridCol>
                <a:gridCol w="810815">
                  <a:extLst>
                    <a:ext uri="{9D8B030D-6E8A-4147-A177-3AD203B41FA5}">
                      <a16:colId xmlns:a16="http://schemas.microsoft.com/office/drawing/2014/main" val="2875193951"/>
                    </a:ext>
                  </a:extLst>
                </a:gridCol>
                <a:gridCol w="686340">
                  <a:extLst>
                    <a:ext uri="{9D8B030D-6E8A-4147-A177-3AD203B41FA5}">
                      <a16:colId xmlns:a16="http://schemas.microsoft.com/office/drawing/2014/main" val="1857435442"/>
                    </a:ext>
                  </a:extLst>
                </a:gridCol>
              </a:tblGrid>
              <a:tr h="408127">
                <a:tc>
                  <a:txBody>
                    <a:bodyPr/>
                    <a:lstStyle/>
                    <a:p>
                      <a:pPr algn="ctr">
                        <a:lnSpc>
                          <a:spcPct val="100000"/>
                        </a:lnSpc>
                      </a:pPr>
                      <a:r>
                        <a:rPr lang="zh-CN" sz="1100" b="1" kern="100" dirty="0">
                          <a:effectLst/>
                        </a:rPr>
                        <a:t>存储器读写延时</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zh-CN" sz="1100" b="1" kern="100" dirty="0">
                          <a:effectLst/>
                        </a:rPr>
                        <a:t>寄存器堆读取延时</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zh-CN" sz="1100" b="1" kern="100">
                          <a:effectLst/>
                        </a:rPr>
                        <a:t>寄存器堆建立时间</a:t>
                      </a:r>
                      <a:endParaRPr lang="zh-CN" sz="1600" b="1" kern="10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zh-CN" sz="1100" b="1" kern="100" dirty="0">
                          <a:effectLst/>
                        </a:rPr>
                        <a:t>立即数扩展延时</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zh-CN" sz="1100" b="1" kern="100" dirty="0">
                          <a:effectLst/>
                        </a:rPr>
                        <a:t>加法器计算延时</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100" b="1" kern="100" dirty="0">
                          <a:effectLst/>
                        </a:rPr>
                        <a:t>ALU</a:t>
                      </a:r>
                      <a:r>
                        <a:rPr lang="zh-CN" sz="1100" b="1" kern="100" dirty="0">
                          <a:effectLst/>
                        </a:rPr>
                        <a:t>计算延时</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zh-CN" sz="1100" b="1" kern="100">
                          <a:effectLst/>
                        </a:rPr>
                        <a:t>控制信号生成延时</a:t>
                      </a:r>
                      <a:endParaRPr lang="zh-CN" sz="1600" b="1" kern="10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100" b="1" kern="100" dirty="0">
                          <a:effectLst/>
                        </a:rPr>
                        <a:t>PC</a:t>
                      </a:r>
                      <a:r>
                        <a:rPr lang="zh-CN" sz="1100" b="1" kern="100" dirty="0">
                          <a:effectLst/>
                        </a:rPr>
                        <a:t>寄存器</a:t>
                      </a:r>
                      <a:r>
                        <a:rPr lang="en-US" sz="1100" b="1" kern="100" dirty="0" err="1">
                          <a:effectLst/>
                        </a:rPr>
                        <a:t>clk</a:t>
                      </a:r>
                      <a:r>
                        <a:rPr lang="en-US" sz="1100" b="1" kern="100" dirty="0">
                          <a:effectLst/>
                        </a:rPr>
                        <a:t>-Q</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100" b="1" kern="100" dirty="0">
                          <a:effectLst/>
                        </a:rPr>
                        <a:t>PC</a:t>
                      </a:r>
                      <a:r>
                        <a:rPr lang="zh-CN" sz="1100" b="1" kern="100" dirty="0">
                          <a:effectLst/>
                        </a:rPr>
                        <a:t>寄存器建立时间</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zh-CN" sz="1100" b="1" kern="100" dirty="0">
                          <a:effectLst/>
                        </a:rPr>
                        <a:t>图中所有</a:t>
                      </a:r>
                      <a:r>
                        <a:rPr lang="en-US" sz="1100" b="1" kern="100" dirty="0">
                          <a:effectLst/>
                        </a:rPr>
                        <a:t>MUX</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extLst>
                  <a:ext uri="{0D108BD9-81ED-4DB2-BD59-A6C34878D82A}">
                    <a16:rowId xmlns:a16="http://schemas.microsoft.com/office/drawing/2014/main" val="207213995"/>
                  </a:ext>
                </a:extLst>
              </a:tr>
              <a:tr h="307641">
                <a:tc>
                  <a:txBody>
                    <a:bodyPr/>
                    <a:lstStyle/>
                    <a:p>
                      <a:pPr algn="ctr">
                        <a:lnSpc>
                          <a:spcPct val="100000"/>
                        </a:lnSpc>
                      </a:pPr>
                      <a:r>
                        <a:rPr lang="en-US" sz="1600" b="1" kern="100" dirty="0">
                          <a:effectLst/>
                        </a:rPr>
                        <a:t>100ps</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a:effectLst/>
                        </a:rPr>
                        <a:t>40ps</a:t>
                      </a:r>
                      <a:endParaRPr lang="zh-CN" sz="16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a:effectLst/>
                        </a:rPr>
                        <a:t>20ps</a:t>
                      </a:r>
                      <a:endParaRPr lang="zh-CN" sz="16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dirty="0">
                          <a:effectLst/>
                        </a:rPr>
                        <a:t>10ps</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a:effectLst/>
                        </a:rPr>
                        <a:t>40ps</a:t>
                      </a:r>
                      <a:endParaRPr lang="zh-CN" sz="16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a:effectLst/>
                        </a:rPr>
                        <a:t>60ps</a:t>
                      </a:r>
                      <a:endParaRPr lang="zh-CN" sz="16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a:effectLst/>
                        </a:rPr>
                        <a:t>20ps</a:t>
                      </a:r>
                      <a:endParaRPr lang="zh-CN" sz="16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a:effectLst/>
                        </a:rPr>
                        <a:t>10ps</a:t>
                      </a:r>
                      <a:endParaRPr lang="zh-CN" sz="16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a:effectLst/>
                        </a:rPr>
                        <a:t>10ps</a:t>
                      </a:r>
                      <a:endParaRPr lang="zh-CN" sz="16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600" b="1" kern="100" dirty="0">
                          <a:effectLst/>
                        </a:rPr>
                        <a:t>10ps</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962740527"/>
                  </a:ext>
                </a:extLst>
              </a:tr>
            </a:tbl>
          </a:graphicData>
        </a:graphic>
      </p:graphicFrame>
      <p:sp>
        <p:nvSpPr>
          <p:cNvPr id="8" name="灯片编号占位符 3">
            <a:extLst>
              <a:ext uri="{FF2B5EF4-FFF2-40B4-BE49-F238E27FC236}">
                <a16:creationId xmlns:a16="http://schemas.microsoft.com/office/drawing/2014/main" id="{6EB6500D-A4B7-F8FE-ED62-AE567CC43D96}"/>
              </a:ext>
            </a:extLst>
          </p:cNvPr>
          <p:cNvSpPr>
            <a:spLocks noGrp="1"/>
          </p:cNvSpPr>
          <p:nvPr>
            <p:ph type="sldNum" sz="quarter" idx="12"/>
          </p:nvPr>
        </p:nvSpPr>
        <p:spPr>
          <a:xfrm>
            <a:off x="6553200" y="6529025"/>
            <a:ext cx="2133600" cy="476250"/>
          </a:xfrm>
        </p:spPr>
        <p:txBody>
          <a:bodyPr/>
          <a:lstStyle/>
          <a:p>
            <a:fld id="{14659731-6BD7-46E7-8D3C-2F3AC07E20B1}" type="slidenum">
              <a:rPr lang="en-US" altLang="zh-CN" smtClean="0"/>
              <a:pPr/>
              <a:t>63</a:t>
            </a:fld>
            <a:endParaRPr lang="en-US" altLang="zh-CN" dirty="0"/>
          </a:p>
        </p:txBody>
      </p:sp>
      <p:sp>
        <p:nvSpPr>
          <p:cNvPr id="11" name="文本框 10">
            <a:extLst>
              <a:ext uri="{FF2B5EF4-FFF2-40B4-BE49-F238E27FC236}">
                <a16:creationId xmlns:a16="http://schemas.microsoft.com/office/drawing/2014/main" id="{BA06AEF3-80CB-104C-F737-765C75DF643D}"/>
              </a:ext>
            </a:extLst>
          </p:cNvPr>
          <p:cNvSpPr txBox="1"/>
          <p:nvPr/>
        </p:nvSpPr>
        <p:spPr>
          <a:xfrm>
            <a:off x="5058889" y="6150114"/>
            <a:ext cx="3942607" cy="707886"/>
          </a:xfrm>
          <a:prstGeom prst="rect">
            <a:avLst/>
          </a:prstGeom>
          <a:noFill/>
        </p:spPr>
        <p:txBody>
          <a:bodyPr wrap="square" rtlCol="0">
            <a:spAutoFit/>
          </a:bodyPr>
          <a:lstStyle/>
          <a:p>
            <a:pPr algn="l"/>
            <a:r>
              <a:rPr kumimoji="1" lang="zh-CN" altLang="en-US" sz="2000" b="1" dirty="0">
                <a:solidFill>
                  <a:srgbClr val="1A49EA"/>
                </a:solidFill>
                <a:latin typeface="+mn-lt"/>
                <a:ea typeface="+mn-ea"/>
              </a:rPr>
              <a:t>注意与“译码</a:t>
            </a:r>
            <a:r>
              <a:rPr kumimoji="1" lang="en-US" altLang="zh-CN" sz="2000" b="1" dirty="0">
                <a:solidFill>
                  <a:srgbClr val="1A49EA"/>
                </a:solidFill>
                <a:latin typeface="+mn-lt"/>
                <a:ea typeface="+mn-ea"/>
              </a:rPr>
              <a:t>-</a:t>
            </a:r>
            <a:r>
              <a:rPr kumimoji="1" lang="zh-CN" altLang="en-US" sz="2000" b="1" dirty="0">
                <a:solidFill>
                  <a:srgbClr val="1A49EA"/>
                </a:solidFill>
                <a:latin typeface="+mn-lt"/>
                <a:ea typeface="+mn-ea"/>
              </a:rPr>
              <a:t>立即数扩展</a:t>
            </a:r>
            <a:r>
              <a:rPr kumimoji="1" lang="en-US" altLang="zh-CN" sz="2000" b="1" dirty="0">
                <a:solidFill>
                  <a:srgbClr val="1A49EA"/>
                </a:solidFill>
                <a:latin typeface="+mn-lt"/>
                <a:ea typeface="+mn-ea"/>
              </a:rPr>
              <a:t>-</a:t>
            </a:r>
            <a:r>
              <a:rPr kumimoji="1" lang="en" altLang="zh-CN" sz="2000" b="1" dirty="0">
                <a:solidFill>
                  <a:srgbClr val="1A49EA"/>
                </a:solidFill>
                <a:latin typeface="+mn-lt"/>
                <a:ea typeface="+mn-ea"/>
              </a:rPr>
              <a:t>MUX</a:t>
            </a:r>
            <a:r>
              <a:rPr kumimoji="1" lang="zh-CN" altLang="en-US" sz="2000" b="1" dirty="0">
                <a:solidFill>
                  <a:srgbClr val="1A49EA"/>
                </a:solidFill>
                <a:latin typeface="+mn-lt"/>
                <a:ea typeface="+mn-ea"/>
              </a:rPr>
              <a:t>”路径长度比较</a:t>
            </a:r>
          </a:p>
        </p:txBody>
      </p:sp>
    </p:spTree>
    <p:extLst>
      <p:ext uri="{BB962C8B-B14F-4D97-AF65-F5344CB8AC3E}">
        <p14:creationId xmlns:p14="http://schemas.microsoft.com/office/powerpoint/2010/main" val="25450735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模拟题解析：单周期处理器部分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330540" cy="4525963"/>
          </a:xfrm>
        </p:spPr>
        <p:txBody>
          <a:bodyPr/>
          <a:lstStyle/>
          <a:p>
            <a:r>
              <a:rPr kumimoji="1" lang="zh-CN" altLang="en-US" sz="2400" dirty="0"/>
              <a:t>处理器优化：该处理器不再支持</a:t>
            </a:r>
            <a:r>
              <a:rPr kumimoji="1" lang="en" altLang="zh-CN" sz="2400" dirty="0" err="1"/>
              <a:t>lw</a:t>
            </a:r>
            <a:r>
              <a:rPr kumimoji="1" lang="en-US" altLang="zh-CN" sz="2400" dirty="0"/>
              <a:t>/</a:t>
            </a:r>
            <a:r>
              <a:rPr kumimoji="1" lang="en" altLang="zh-CN" sz="2400" dirty="0" err="1"/>
              <a:t>sw</a:t>
            </a:r>
            <a:r>
              <a:rPr kumimoji="1" lang="zh-CN" altLang="en-US" sz="2400" dirty="0"/>
              <a:t>，转而支持</a:t>
            </a:r>
            <a:r>
              <a:rPr kumimoji="1" lang="en" altLang="zh-CN" sz="2400" dirty="0" err="1"/>
              <a:t>lr</a:t>
            </a:r>
            <a:r>
              <a:rPr kumimoji="1" lang="en-US" altLang="zh-CN" sz="2400" dirty="0"/>
              <a:t>/</a:t>
            </a:r>
            <a:r>
              <a:rPr kumimoji="1" lang="en" altLang="zh-CN" sz="2400" dirty="0" err="1"/>
              <a:t>sr</a:t>
            </a:r>
            <a:r>
              <a:rPr kumimoji="1" lang="zh-CN" altLang="en-US" sz="2400" dirty="0"/>
              <a:t>，其功能为</a:t>
            </a:r>
            <a:r>
              <a:rPr kumimoji="1" lang="en" altLang="zh-CN" sz="2400" dirty="0"/>
              <a:t>R[rt]=MEM[R[</a:t>
            </a:r>
            <a:r>
              <a:rPr kumimoji="1" lang="en" altLang="zh-CN" sz="2400" dirty="0" err="1"/>
              <a:t>rs</a:t>
            </a:r>
            <a:r>
              <a:rPr kumimoji="1" lang="en" altLang="zh-CN" sz="2400" dirty="0"/>
              <a:t>]]</a:t>
            </a:r>
            <a:r>
              <a:rPr kumimoji="1" lang="zh-CN" altLang="en-US" sz="2400" dirty="0"/>
              <a:t>和</a:t>
            </a:r>
            <a:r>
              <a:rPr kumimoji="1" lang="en" altLang="zh-CN" sz="2400" dirty="0"/>
              <a:t>MEM[R[</a:t>
            </a:r>
            <a:r>
              <a:rPr kumimoji="1" lang="en" altLang="zh-CN" sz="2400" dirty="0" err="1"/>
              <a:t>rs</a:t>
            </a:r>
            <a:r>
              <a:rPr kumimoji="1" lang="en" altLang="zh-CN" sz="2400" dirty="0"/>
              <a:t>]]=R[rt]</a:t>
            </a:r>
            <a:endParaRPr kumimoji="1" lang="en-US" altLang="zh-CN" sz="2400" dirty="0"/>
          </a:p>
          <a:p>
            <a:r>
              <a:rPr kumimoji="1" lang="en" altLang="zh-CN" sz="2400" dirty="0" err="1"/>
              <a:t>lr</a:t>
            </a:r>
            <a:r>
              <a:rPr kumimoji="1" lang="zh-CN" altLang="en-US" sz="2400" dirty="0"/>
              <a:t>和</a:t>
            </a:r>
            <a:r>
              <a:rPr kumimoji="1" lang="en" altLang="zh-CN" sz="2400" dirty="0" err="1"/>
              <a:t>sr</a:t>
            </a:r>
            <a:r>
              <a:rPr kumimoji="1" lang="zh-CN" altLang="en-US" sz="2400" dirty="0"/>
              <a:t>指令不需要经过</a:t>
            </a:r>
            <a:r>
              <a:rPr kumimoji="1" lang="en" altLang="zh-CN" sz="2400" dirty="0"/>
              <a:t>ALU</a:t>
            </a:r>
            <a:r>
              <a:rPr kumimoji="1" lang="zh-CN" altLang="en-US" sz="2400" dirty="0"/>
              <a:t>的计算，所以需要将原处理器硬件中“</a:t>
            </a:r>
            <a:r>
              <a:rPr kumimoji="1" lang="en" altLang="zh-CN" sz="2400" dirty="0"/>
              <a:t>assign </a:t>
            </a:r>
            <a:r>
              <a:rPr kumimoji="1" lang="en" altLang="zh-CN" sz="2400" dirty="0" err="1"/>
              <a:t>Addr</a:t>
            </a:r>
            <a:r>
              <a:rPr kumimoji="1" lang="en" altLang="zh-CN" sz="2400" dirty="0"/>
              <a:t> = Result”</a:t>
            </a:r>
            <a:r>
              <a:rPr kumimoji="1" lang="zh-CN" altLang="en-US" sz="2400" dirty="0"/>
              <a:t>的逻辑修改为</a:t>
            </a:r>
            <a:endParaRPr kumimoji="1" lang="en-US" altLang="zh-CN" sz="2400" dirty="0"/>
          </a:p>
          <a:p>
            <a:pPr lvl="1"/>
            <a:r>
              <a:rPr kumimoji="1" lang="en" altLang="zh-CN" sz="2000" dirty="0"/>
              <a:t>assign </a:t>
            </a:r>
            <a:r>
              <a:rPr kumimoji="1" lang="en" altLang="zh-CN" sz="2000" dirty="0" err="1"/>
              <a:t>Addr</a:t>
            </a:r>
            <a:r>
              <a:rPr kumimoji="1" lang="en" altLang="zh-CN" sz="2000" dirty="0"/>
              <a:t> = </a:t>
            </a:r>
            <a:r>
              <a:rPr kumimoji="1" lang="en" altLang="zh-CN" sz="2000" dirty="0" err="1"/>
              <a:t>busA</a:t>
            </a:r>
            <a:endParaRPr kumimoji="1" lang="en" altLang="zh-CN" sz="2000" dirty="0"/>
          </a:p>
          <a:p>
            <a:r>
              <a:rPr kumimoji="1" lang="zh-CN" altLang="en-US" sz="2400" dirty="0"/>
              <a:t>这样修改后，该处理器在实际任务上的总执行时间相比于原处理器是增加了还是减少了？增加或减少了多少？</a:t>
            </a:r>
            <a:endParaRPr kumimoji="1" lang="en-US" altLang="zh-CN" sz="2400" dirty="0"/>
          </a:p>
          <a:p>
            <a:pPr lvl="1"/>
            <a:endParaRPr kumimoji="1" lang="en-US" altLang="zh-CN" sz="2000" dirty="0"/>
          </a:p>
          <a:p>
            <a:pPr lvl="1"/>
            <a:endParaRPr kumimoji="1" lang="en-US" altLang="zh-CN" sz="2000" dirty="0"/>
          </a:p>
          <a:p>
            <a:pPr lvl="1"/>
            <a:r>
              <a:rPr kumimoji="1" lang="zh-CN" altLang="en-US" sz="2000" dirty="0"/>
              <a:t>修改后</a:t>
            </a:r>
            <a:r>
              <a:rPr kumimoji="1" lang="en" altLang="zh-CN" sz="2000" dirty="0" err="1"/>
              <a:t>lr</a:t>
            </a:r>
            <a:r>
              <a:rPr kumimoji="1" lang="zh-CN" altLang="en-US" sz="2000" dirty="0"/>
              <a:t>指令是关键路径延时最长的指令：</a:t>
            </a:r>
            <a:r>
              <a:rPr kumimoji="1" lang="en" altLang="zh-CN" sz="2000" dirty="0"/>
              <a:t>PC</a:t>
            </a:r>
            <a:r>
              <a:rPr kumimoji="1" lang="zh-CN" altLang="en-US" sz="2000" dirty="0"/>
              <a:t> </a:t>
            </a:r>
            <a:r>
              <a:rPr kumimoji="1" lang="en-US" altLang="zh-CN" sz="2000" dirty="0" err="1"/>
              <a:t>clk</a:t>
            </a:r>
            <a:r>
              <a:rPr kumimoji="1" lang="en-US" altLang="zh-CN" sz="2000" dirty="0"/>
              <a:t>-Q</a:t>
            </a:r>
            <a:r>
              <a:rPr kumimoji="1" lang="zh-CN" altLang="en" sz="2000" dirty="0"/>
              <a:t>、</a:t>
            </a:r>
            <a:r>
              <a:rPr kumimoji="1" lang="zh-CN" altLang="en-US" sz="2000" dirty="0"/>
              <a:t>存储器、读寄存器、存储器、</a:t>
            </a:r>
            <a:r>
              <a:rPr kumimoji="1" lang="en" altLang="zh-CN" sz="2000" dirty="0" err="1"/>
              <a:t>MemtoReg</a:t>
            </a:r>
            <a:r>
              <a:rPr kumimoji="1" lang="zh-CN" altLang="en" sz="2000" dirty="0"/>
              <a:t>、</a:t>
            </a:r>
            <a:r>
              <a:rPr kumimoji="1" lang="zh-CN" altLang="en-US" sz="2000" dirty="0"/>
              <a:t>寄存器堆建立</a:t>
            </a:r>
            <a:endParaRPr kumimoji="1" lang="en-US" altLang="zh-CN" sz="2000" dirty="0"/>
          </a:p>
          <a:p>
            <a:pPr lvl="1"/>
            <a:r>
              <a:rPr kumimoji="1" lang="zh-CN" altLang="en-US" sz="2000" dirty="0"/>
              <a:t>修改后的处理器时钟周期</a:t>
            </a:r>
            <a:r>
              <a:rPr kumimoji="1" lang="en-US" altLang="zh-CN" sz="2000" dirty="0"/>
              <a:t>10+100+40+100+10+20=280</a:t>
            </a:r>
            <a:r>
              <a:rPr kumimoji="1" lang="en" altLang="zh-CN" sz="2000" dirty="0" err="1"/>
              <a:t>ps</a:t>
            </a:r>
            <a:endParaRPr kumimoji="1" lang="en" altLang="zh-CN" sz="2000" dirty="0"/>
          </a:p>
          <a:p>
            <a:pPr lvl="1"/>
            <a:r>
              <a:rPr kumimoji="1" lang="zh-CN" altLang="en-US" sz="2000" dirty="0"/>
              <a:t>修改后指令数增加为原来的</a:t>
            </a:r>
            <a:r>
              <a:rPr kumimoji="1" lang="en-US" altLang="zh-CN" sz="2000" dirty="0"/>
              <a:t>1+(30%+10%)*50%=1.2</a:t>
            </a:r>
            <a:r>
              <a:rPr kumimoji="1" lang="zh-CN" altLang="en-US" sz="2000" dirty="0"/>
              <a:t>倍，总执行时间减少了</a:t>
            </a:r>
            <a:r>
              <a:rPr kumimoji="1" lang="en-US" altLang="zh-CN" sz="2000" dirty="0"/>
              <a:t>(340-(1.2*280))/340=1.176%</a:t>
            </a:r>
            <a:endParaRPr kumimoji="1" lang="zh-CN" altLang="en-US" sz="2000" dirty="0"/>
          </a:p>
        </p:txBody>
      </p:sp>
      <p:graphicFrame>
        <p:nvGraphicFramePr>
          <p:cNvPr id="6" name="表格 5">
            <a:extLst>
              <a:ext uri="{FF2B5EF4-FFF2-40B4-BE49-F238E27FC236}">
                <a16:creationId xmlns:a16="http://schemas.microsoft.com/office/drawing/2014/main" id="{DDF29521-D7C3-3EE6-3F55-E1742E887C0E}"/>
              </a:ext>
            </a:extLst>
          </p:cNvPr>
          <p:cNvGraphicFramePr>
            <a:graphicFrameLocks noGrp="1"/>
          </p:cNvGraphicFramePr>
          <p:nvPr/>
        </p:nvGraphicFramePr>
        <p:xfrm>
          <a:off x="712523" y="4234190"/>
          <a:ext cx="7718956" cy="548640"/>
        </p:xfrm>
        <a:graphic>
          <a:graphicData uri="http://schemas.openxmlformats.org/drawingml/2006/table">
            <a:tbl>
              <a:tblPr firstRow="1" firstCol="1" bandRow="1">
                <a:tableStyleId>{5940675A-B579-460E-94D1-54222C63F5DA}</a:tableStyleId>
              </a:tblPr>
              <a:tblGrid>
                <a:gridCol w="857260">
                  <a:extLst>
                    <a:ext uri="{9D8B030D-6E8A-4147-A177-3AD203B41FA5}">
                      <a16:colId xmlns:a16="http://schemas.microsoft.com/office/drawing/2014/main" val="3822464470"/>
                    </a:ext>
                  </a:extLst>
                </a:gridCol>
                <a:gridCol w="857260">
                  <a:extLst>
                    <a:ext uri="{9D8B030D-6E8A-4147-A177-3AD203B41FA5}">
                      <a16:colId xmlns:a16="http://schemas.microsoft.com/office/drawing/2014/main" val="3296914739"/>
                    </a:ext>
                  </a:extLst>
                </a:gridCol>
                <a:gridCol w="857260">
                  <a:extLst>
                    <a:ext uri="{9D8B030D-6E8A-4147-A177-3AD203B41FA5}">
                      <a16:colId xmlns:a16="http://schemas.microsoft.com/office/drawing/2014/main" val="956320512"/>
                    </a:ext>
                  </a:extLst>
                </a:gridCol>
                <a:gridCol w="857260">
                  <a:extLst>
                    <a:ext uri="{9D8B030D-6E8A-4147-A177-3AD203B41FA5}">
                      <a16:colId xmlns:a16="http://schemas.microsoft.com/office/drawing/2014/main" val="4170388562"/>
                    </a:ext>
                  </a:extLst>
                </a:gridCol>
                <a:gridCol w="857260">
                  <a:extLst>
                    <a:ext uri="{9D8B030D-6E8A-4147-A177-3AD203B41FA5}">
                      <a16:colId xmlns:a16="http://schemas.microsoft.com/office/drawing/2014/main" val="2807971653"/>
                    </a:ext>
                  </a:extLst>
                </a:gridCol>
                <a:gridCol w="858164">
                  <a:extLst>
                    <a:ext uri="{9D8B030D-6E8A-4147-A177-3AD203B41FA5}">
                      <a16:colId xmlns:a16="http://schemas.microsoft.com/office/drawing/2014/main" val="3571425121"/>
                    </a:ext>
                  </a:extLst>
                </a:gridCol>
                <a:gridCol w="858164">
                  <a:extLst>
                    <a:ext uri="{9D8B030D-6E8A-4147-A177-3AD203B41FA5}">
                      <a16:colId xmlns:a16="http://schemas.microsoft.com/office/drawing/2014/main" val="2892096559"/>
                    </a:ext>
                  </a:extLst>
                </a:gridCol>
                <a:gridCol w="858164">
                  <a:extLst>
                    <a:ext uri="{9D8B030D-6E8A-4147-A177-3AD203B41FA5}">
                      <a16:colId xmlns:a16="http://schemas.microsoft.com/office/drawing/2014/main" val="3340149699"/>
                    </a:ext>
                  </a:extLst>
                </a:gridCol>
                <a:gridCol w="858164">
                  <a:extLst>
                    <a:ext uri="{9D8B030D-6E8A-4147-A177-3AD203B41FA5}">
                      <a16:colId xmlns:a16="http://schemas.microsoft.com/office/drawing/2014/main" val="250919445"/>
                    </a:ext>
                  </a:extLst>
                </a:gridCol>
              </a:tblGrid>
              <a:tr h="255263">
                <a:tc>
                  <a:txBody>
                    <a:bodyPr/>
                    <a:lstStyle/>
                    <a:p>
                      <a:pPr algn="ctr">
                        <a:lnSpc>
                          <a:spcPct val="100000"/>
                        </a:lnSpc>
                      </a:pPr>
                      <a:r>
                        <a:rPr lang="en-US" sz="1800" b="1" kern="100" dirty="0">
                          <a:effectLst/>
                        </a:rPr>
                        <a:t>add</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err="1">
                          <a:effectLst/>
                        </a:rPr>
                        <a:t>addi</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a:effectLst/>
                        </a:rPr>
                        <a:t>sub</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a:effectLst/>
                        </a:rPr>
                        <a:t>and</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a:effectLst/>
                        </a:rPr>
                        <a:t>or</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err="1">
                          <a:effectLst/>
                        </a:rPr>
                        <a:t>lw</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err="1">
                          <a:effectLst/>
                        </a:rPr>
                        <a:t>sw</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err="1">
                          <a:effectLst/>
                        </a:rPr>
                        <a:t>beq</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tc>
                  <a:txBody>
                    <a:bodyPr/>
                    <a:lstStyle/>
                    <a:p>
                      <a:pPr algn="ctr">
                        <a:lnSpc>
                          <a:spcPct val="100000"/>
                        </a:lnSpc>
                      </a:pPr>
                      <a:r>
                        <a:rPr lang="en-US" sz="1800" b="1" kern="100" dirty="0">
                          <a:effectLst/>
                        </a:rPr>
                        <a:t>j</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solidFill>
                      <a:schemeClr val="bg2">
                        <a:lumMod val="20000"/>
                        <a:lumOff val="80000"/>
                      </a:schemeClr>
                    </a:solidFill>
                  </a:tcPr>
                </a:tc>
                <a:extLst>
                  <a:ext uri="{0D108BD9-81ED-4DB2-BD59-A6C34878D82A}">
                    <a16:rowId xmlns:a16="http://schemas.microsoft.com/office/drawing/2014/main" val="110958609"/>
                  </a:ext>
                </a:extLst>
              </a:tr>
              <a:tr h="255263">
                <a:tc>
                  <a:txBody>
                    <a:bodyPr/>
                    <a:lstStyle/>
                    <a:p>
                      <a:pPr algn="ctr">
                        <a:lnSpc>
                          <a:spcPct val="100000"/>
                        </a:lnSpc>
                      </a:pPr>
                      <a:r>
                        <a:rPr lang="en-US" sz="1800" b="1" kern="100">
                          <a:effectLst/>
                        </a:rPr>
                        <a:t>20%</a:t>
                      </a:r>
                      <a:endParaRPr lang="zh-CN" sz="18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dirty="0">
                          <a:effectLst/>
                        </a:rPr>
                        <a:t>5%</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a:effectLst/>
                        </a:rPr>
                        <a:t>10%</a:t>
                      </a:r>
                      <a:endParaRPr lang="zh-CN" sz="18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a:effectLst/>
                        </a:rPr>
                        <a:t>5%</a:t>
                      </a:r>
                      <a:endParaRPr lang="zh-CN" sz="18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a:effectLst/>
                        </a:rPr>
                        <a:t>5%</a:t>
                      </a:r>
                      <a:endParaRPr lang="zh-CN" sz="18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a:effectLst/>
                        </a:rPr>
                        <a:t>30%</a:t>
                      </a:r>
                      <a:endParaRPr lang="zh-CN" sz="18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a:effectLst/>
                        </a:rPr>
                        <a:t>10%</a:t>
                      </a:r>
                      <a:endParaRPr lang="zh-CN" sz="1800" b="1"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dirty="0">
                          <a:effectLst/>
                        </a:rPr>
                        <a:t>10%</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00000"/>
                        </a:lnSpc>
                      </a:pPr>
                      <a:r>
                        <a:rPr lang="en-US" sz="1800" b="1" kern="100" dirty="0">
                          <a:effectLst/>
                        </a:rPr>
                        <a:t>5%</a:t>
                      </a:r>
                      <a:endParaRPr lang="zh-CN" sz="1800" b="1"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871087533"/>
                  </a:ext>
                </a:extLst>
              </a:tr>
            </a:tbl>
          </a:graphicData>
        </a:graphic>
      </p:graphicFrame>
      <p:sp>
        <p:nvSpPr>
          <p:cNvPr id="7" name="灯片编号占位符 3">
            <a:extLst>
              <a:ext uri="{FF2B5EF4-FFF2-40B4-BE49-F238E27FC236}">
                <a16:creationId xmlns:a16="http://schemas.microsoft.com/office/drawing/2014/main" id="{B4543B95-851E-EF9D-0097-DD9E63D9C0E0}"/>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64</a:t>
            </a:fld>
            <a:endParaRPr lang="en-US" altLang="zh-CN" dirty="0"/>
          </a:p>
        </p:txBody>
      </p:sp>
    </p:spTree>
    <p:extLst>
      <p:ext uri="{BB962C8B-B14F-4D97-AF65-F5344CB8AC3E}">
        <p14:creationId xmlns:p14="http://schemas.microsoft.com/office/powerpoint/2010/main" val="10310011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模拟题解析：流水线处理器部分</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544296" cy="4525963"/>
          </a:xfrm>
        </p:spPr>
        <p:txBody>
          <a:bodyPr/>
          <a:lstStyle/>
          <a:p>
            <a:r>
              <a:rPr kumimoji="1" lang="en-US" altLang="zh-CN" sz="2400" dirty="0"/>
              <a:t>6</a:t>
            </a:r>
            <a:r>
              <a:rPr kumimoji="1" lang="zh-CN" altLang="en-US" sz="2400" dirty="0"/>
              <a:t>级流水线</a:t>
            </a:r>
            <a:r>
              <a:rPr kumimoji="1" lang="en" altLang="zh-CN" sz="2400" dirty="0"/>
              <a:t>IF</a:t>
            </a:r>
            <a:r>
              <a:rPr kumimoji="1" lang="zh-CN" altLang="en" sz="2400" dirty="0"/>
              <a:t>、</a:t>
            </a:r>
            <a:r>
              <a:rPr kumimoji="1" lang="en" altLang="zh-CN" sz="2400" dirty="0"/>
              <a:t>ID</a:t>
            </a:r>
            <a:r>
              <a:rPr kumimoji="1" lang="zh-CN" altLang="en" sz="2400" dirty="0"/>
              <a:t>、</a:t>
            </a:r>
            <a:r>
              <a:rPr kumimoji="1" lang="en" altLang="zh-CN" sz="2400" dirty="0">
                <a:solidFill>
                  <a:srgbClr val="1A49EA"/>
                </a:solidFill>
              </a:rPr>
              <a:t>EX1</a:t>
            </a:r>
            <a:r>
              <a:rPr kumimoji="1" lang="zh-CN" altLang="en" sz="2400" dirty="0">
                <a:solidFill>
                  <a:srgbClr val="1A49EA"/>
                </a:solidFill>
              </a:rPr>
              <a:t>、</a:t>
            </a:r>
            <a:r>
              <a:rPr kumimoji="1" lang="en" altLang="zh-CN" sz="2400" dirty="0">
                <a:solidFill>
                  <a:srgbClr val="1A49EA"/>
                </a:solidFill>
              </a:rPr>
              <a:t>EX2</a:t>
            </a:r>
            <a:r>
              <a:rPr kumimoji="1" lang="zh-CN" altLang="en" sz="2400" dirty="0"/>
              <a:t>、</a:t>
            </a:r>
            <a:r>
              <a:rPr kumimoji="1" lang="en" altLang="zh-CN" sz="2400" dirty="0"/>
              <a:t>MEM</a:t>
            </a:r>
            <a:r>
              <a:rPr kumimoji="1" lang="zh-CN" altLang="en" sz="2400" dirty="0"/>
              <a:t>、</a:t>
            </a:r>
            <a:r>
              <a:rPr kumimoji="1" lang="en" altLang="zh-CN" sz="2400" dirty="0"/>
              <a:t>WB</a:t>
            </a:r>
            <a:r>
              <a:rPr kumimoji="1" lang="zh-CN" altLang="en" sz="2400" dirty="0"/>
              <a:t>执行</a:t>
            </a:r>
            <a:r>
              <a:rPr kumimoji="1" lang="zh-CN" altLang="en-US" sz="2400" dirty="0"/>
              <a:t>指令序列</a:t>
            </a:r>
            <a:endParaRPr kumimoji="1" lang="en-US" altLang="zh-CN" sz="2400" dirty="0"/>
          </a:p>
          <a:p>
            <a:r>
              <a:rPr kumimoji="1" lang="zh-CN" altLang="en-US" sz="2400" dirty="0"/>
              <a:t>第</a:t>
            </a:r>
            <a:r>
              <a:rPr kumimoji="1" lang="en-US" altLang="zh-CN" sz="2400" dirty="0"/>
              <a:t>3</a:t>
            </a:r>
            <a:r>
              <a:rPr kumimoji="1" lang="zh-CN" altLang="en-US" sz="2400" dirty="0"/>
              <a:t>个时钟周期</a:t>
            </a:r>
            <a:r>
              <a:rPr kumimoji="1" lang="en" altLang="zh-CN" sz="2400" dirty="0"/>
              <a:t>CC3</a:t>
            </a:r>
            <a:r>
              <a:rPr kumimoji="1" lang="zh-CN" altLang="en-US" sz="2400" dirty="0"/>
              <a:t>内，分别对寄存器堆中的哪些寄存器进行读和写操作？</a:t>
            </a:r>
            <a:endParaRPr kumimoji="1" lang="en-US" altLang="zh-CN" sz="2400" dirty="0"/>
          </a:p>
          <a:p>
            <a:pPr lvl="1"/>
            <a:r>
              <a:rPr kumimoji="1" lang="zh-CN" altLang="en-US" sz="2200" dirty="0"/>
              <a:t>读</a:t>
            </a:r>
            <a:r>
              <a:rPr kumimoji="1" lang="en-US" altLang="zh-CN" sz="2200" dirty="0"/>
              <a:t>$t2</a:t>
            </a:r>
            <a:r>
              <a:rPr kumimoji="1" lang="zh-CN" altLang="en-US" sz="2200" dirty="0"/>
              <a:t>和</a:t>
            </a:r>
            <a:r>
              <a:rPr kumimoji="1" lang="en-US" altLang="zh-CN" sz="2200" dirty="0"/>
              <a:t>$t3</a:t>
            </a:r>
            <a:r>
              <a:rPr kumimoji="1" lang="zh-CN" altLang="en-US" sz="2200" dirty="0"/>
              <a:t>（</a:t>
            </a:r>
            <a:r>
              <a:rPr kumimoji="1" lang="en-US" altLang="zh-CN" sz="2200" dirty="0"/>
              <a:t>I2</a:t>
            </a:r>
            <a:r>
              <a:rPr kumimoji="1" lang="zh-CN" altLang="en-US" sz="2200" dirty="0"/>
              <a:t>指令进入</a:t>
            </a:r>
            <a:r>
              <a:rPr kumimoji="1" lang="en-US" altLang="zh-CN" sz="2200" dirty="0"/>
              <a:t>ID</a:t>
            </a:r>
            <a:r>
              <a:rPr kumimoji="1" lang="zh-CN" altLang="en-US" sz="2200" dirty="0"/>
              <a:t>段）</a:t>
            </a:r>
            <a:endParaRPr kumimoji="1" lang="en-US" altLang="zh-CN" sz="2200" dirty="0"/>
          </a:p>
          <a:p>
            <a:r>
              <a:rPr kumimoji="1" lang="zh-CN" altLang="en-US" sz="2400" dirty="0"/>
              <a:t>假设硬件实现不具备任何转发</a:t>
            </a:r>
            <a:r>
              <a:rPr kumimoji="1" lang="zh-CN" altLang="en" sz="2400" dirty="0"/>
              <a:t>、</a:t>
            </a:r>
            <a:r>
              <a:rPr kumimoji="1" lang="zh-CN" altLang="en-US" sz="2400" dirty="0"/>
              <a:t>硬件停</a:t>
            </a:r>
            <a:br>
              <a:rPr kumimoji="1" lang="en-US" altLang="zh-CN" sz="2400" dirty="0"/>
            </a:br>
            <a:r>
              <a:rPr kumimoji="1" lang="zh-CN" altLang="en-US" sz="2400" dirty="0"/>
              <a:t>顿，为使代码执行正确，插入最少的</a:t>
            </a:r>
            <a:r>
              <a:rPr kumimoji="1" lang="en" altLang="zh-CN" sz="2400" dirty="0" err="1"/>
              <a:t>nop</a:t>
            </a:r>
            <a:endParaRPr kumimoji="1" lang="en-US" altLang="zh-CN" sz="2400" dirty="0"/>
          </a:p>
          <a:p>
            <a:pPr lvl="1"/>
            <a:r>
              <a:rPr kumimoji="1" lang="en" altLang="zh-CN" sz="2200" dirty="0"/>
              <a:t>I1 I2 I3 </a:t>
            </a:r>
            <a:r>
              <a:rPr kumimoji="1" lang="en" altLang="zh-CN" sz="2200" dirty="0" err="1"/>
              <a:t>nop</a:t>
            </a:r>
            <a:r>
              <a:rPr kumimoji="1" lang="en" altLang="zh-CN" sz="2200" dirty="0"/>
              <a:t> I4 </a:t>
            </a:r>
            <a:r>
              <a:rPr kumimoji="1" lang="en" altLang="zh-CN" sz="2200" dirty="0" err="1"/>
              <a:t>nop</a:t>
            </a:r>
            <a:r>
              <a:rPr kumimoji="1" lang="en" altLang="zh-CN" sz="2200" dirty="0"/>
              <a:t> </a:t>
            </a:r>
            <a:r>
              <a:rPr kumimoji="1" lang="en" altLang="zh-CN" sz="2200" dirty="0" err="1"/>
              <a:t>nop</a:t>
            </a:r>
            <a:r>
              <a:rPr kumimoji="1" lang="en" altLang="zh-CN" sz="2200" dirty="0"/>
              <a:t> </a:t>
            </a:r>
            <a:r>
              <a:rPr kumimoji="1" lang="en" altLang="zh-CN" sz="2200" dirty="0" err="1"/>
              <a:t>nop</a:t>
            </a:r>
            <a:r>
              <a:rPr kumimoji="1" lang="en" altLang="zh-CN" sz="2200" dirty="0"/>
              <a:t> I5 </a:t>
            </a:r>
            <a:r>
              <a:rPr kumimoji="1" lang="en" altLang="zh-CN" sz="2200" dirty="0" err="1"/>
              <a:t>nop</a:t>
            </a:r>
            <a:r>
              <a:rPr kumimoji="1" lang="en" altLang="zh-CN" sz="2200" dirty="0"/>
              <a:t> </a:t>
            </a:r>
            <a:r>
              <a:rPr kumimoji="1" lang="en" altLang="zh-CN" sz="2200" dirty="0" err="1"/>
              <a:t>nop</a:t>
            </a:r>
            <a:r>
              <a:rPr kumimoji="1" lang="en" altLang="zh-CN" sz="2200" dirty="0"/>
              <a:t> </a:t>
            </a:r>
            <a:r>
              <a:rPr kumimoji="1" lang="en" altLang="zh-CN" sz="2200" dirty="0" err="1"/>
              <a:t>nop</a:t>
            </a:r>
            <a:r>
              <a:rPr kumimoji="1" lang="en" altLang="zh-CN" sz="2200" dirty="0"/>
              <a:t> I6</a:t>
            </a:r>
            <a:r>
              <a:rPr kumimoji="1" lang="zh-CN" altLang="en-US" sz="2200" dirty="0"/>
              <a:t>，</a:t>
            </a:r>
            <a:r>
              <a:rPr kumimoji="1" lang="en-US" altLang="zh-CN" sz="2200" dirty="0"/>
              <a:t>18</a:t>
            </a:r>
            <a:r>
              <a:rPr kumimoji="1" lang="zh-CN" altLang="en-US" sz="2200" dirty="0"/>
              <a:t>周期</a:t>
            </a:r>
            <a:endParaRPr kumimoji="1" lang="en-US" altLang="zh-CN" sz="2200" dirty="0"/>
          </a:p>
          <a:p>
            <a:r>
              <a:rPr kumimoji="1" lang="zh-CN" altLang="en-US" sz="2400" dirty="0"/>
              <a:t>假设硬件可从</a:t>
            </a:r>
            <a:r>
              <a:rPr kumimoji="1" lang="en" altLang="zh-CN" sz="2400" dirty="0"/>
              <a:t>EX2/MEM</a:t>
            </a:r>
            <a:r>
              <a:rPr kumimoji="1" lang="zh-CN" altLang="en" sz="2400" dirty="0"/>
              <a:t>、</a:t>
            </a:r>
            <a:r>
              <a:rPr kumimoji="1" lang="en" altLang="zh-CN" sz="2400" dirty="0"/>
              <a:t>MEM/WB</a:t>
            </a:r>
            <a:r>
              <a:rPr kumimoji="1" lang="zh-CN" altLang="en-US" sz="2400" dirty="0"/>
              <a:t>和</a:t>
            </a:r>
            <a:r>
              <a:rPr kumimoji="1" lang="en" altLang="zh-CN" sz="2400" dirty="0"/>
              <a:t>MDR</a:t>
            </a:r>
            <a:r>
              <a:rPr kumimoji="1" lang="zh-CN" altLang="en-US" sz="2400" dirty="0"/>
              <a:t>转发至</a:t>
            </a:r>
            <a:r>
              <a:rPr kumimoji="1" lang="en" altLang="zh-CN" sz="2400" dirty="0"/>
              <a:t>EX1</a:t>
            </a:r>
            <a:r>
              <a:rPr kumimoji="1" lang="zh-CN" altLang="en-US" sz="2400" dirty="0"/>
              <a:t>输入，但不具备硬件停顿功能，插入最少的</a:t>
            </a:r>
            <a:r>
              <a:rPr kumimoji="1" lang="en" altLang="zh-CN" sz="2400" dirty="0" err="1"/>
              <a:t>nop</a:t>
            </a:r>
            <a:r>
              <a:rPr kumimoji="1" lang="zh-CN" altLang="en-US" sz="2400" dirty="0"/>
              <a:t>，写出指令序列</a:t>
            </a:r>
            <a:endParaRPr kumimoji="1" lang="en-US" altLang="zh-CN" sz="2400" dirty="0"/>
          </a:p>
          <a:p>
            <a:pPr lvl="1"/>
            <a:r>
              <a:rPr kumimoji="1" lang="en" altLang="zh-CN" sz="2200" dirty="0"/>
              <a:t>I1 I2 I3 I4 </a:t>
            </a:r>
            <a:r>
              <a:rPr kumimoji="1" lang="en" altLang="zh-CN" sz="2200" dirty="0" err="1"/>
              <a:t>nop</a:t>
            </a:r>
            <a:r>
              <a:rPr kumimoji="1" lang="en" altLang="zh-CN" sz="2200" dirty="0"/>
              <a:t> </a:t>
            </a:r>
            <a:r>
              <a:rPr kumimoji="1" lang="en" altLang="zh-CN" sz="2200" dirty="0" err="1"/>
              <a:t>nop</a:t>
            </a:r>
            <a:r>
              <a:rPr kumimoji="1" lang="en" altLang="zh-CN" sz="2200" dirty="0"/>
              <a:t> I5 </a:t>
            </a:r>
            <a:r>
              <a:rPr kumimoji="1" lang="en" altLang="zh-CN" sz="2200" dirty="0" err="1"/>
              <a:t>nop</a:t>
            </a:r>
            <a:r>
              <a:rPr kumimoji="1" lang="en" altLang="zh-CN" sz="2200" dirty="0"/>
              <a:t> I6</a:t>
            </a:r>
            <a:r>
              <a:rPr kumimoji="1" lang="zh-CN" altLang="en-US" sz="2200" dirty="0"/>
              <a:t>，</a:t>
            </a:r>
            <a:r>
              <a:rPr kumimoji="1" lang="en-US" altLang="zh-CN" sz="2200" dirty="0"/>
              <a:t>14</a:t>
            </a:r>
            <a:r>
              <a:rPr kumimoji="1" lang="zh-CN" altLang="en-US" sz="2200" dirty="0"/>
              <a:t>周期</a:t>
            </a:r>
            <a:endParaRPr kumimoji="1" lang="en-US" altLang="zh-CN" sz="2200" dirty="0"/>
          </a:p>
          <a:p>
            <a:r>
              <a:rPr kumimoji="1" lang="zh-CN" altLang="en-US" sz="2400" dirty="0"/>
              <a:t>若</a:t>
            </a:r>
            <a:r>
              <a:rPr kumimoji="1" lang="en" altLang="zh-CN" sz="2400" dirty="0"/>
              <a:t>MEM/WB</a:t>
            </a:r>
            <a:r>
              <a:rPr kumimoji="1" lang="en-US" altLang="zh-CN" sz="2400" dirty="0"/>
              <a:t>-&gt;EX1</a:t>
            </a:r>
            <a:r>
              <a:rPr kumimoji="1" lang="zh-CN" altLang="en-US" sz="2400" dirty="0"/>
              <a:t>转发出现故障，哪些指令操作结果错误？</a:t>
            </a:r>
            <a:endParaRPr kumimoji="1" lang="en-US" altLang="zh-CN" sz="2400" dirty="0"/>
          </a:p>
          <a:p>
            <a:pPr lvl="1"/>
            <a:r>
              <a:rPr kumimoji="1" lang="zh-CN" altLang="en-US" sz="2200" dirty="0"/>
              <a:t>会导致</a:t>
            </a:r>
            <a:r>
              <a:rPr kumimoji="1" lang="en" altLang="zh-CN" sz="2200" dirty="0"/>
              <a:t>I4</a:t>
            </a:r>
            <a:r>
              <a:rPr kumimoji="1" lang="zh-CN" altLang="en-US" sz="2200" dirty="0"/>
              <a:t>的</a:t>
            </a:r>
            <a:r>
              <a:rPr kumimoji="1" lang="en-US" altLang="zh-CN" sz="2200" dirty="0"/>
              <a:t>$</a:t>
            </a:r>
            <a:r>
              <a:rPr kumimoji="1" lang="en" altLang="zh-CN" sz="2200" dirty="0"/>
              <a:t>t0</a:t>
            </a:r>
            <a:r>
              <a:rPr kumimoji="1" lang="zh-CN" altLang="en-US" sz="2200" dirty="0"/>
              <a:t>错误，</a:t>
            </a:r>
            <a:r>
              <a:rPr kumimoji="1" lang="zh-CN" altLang="en-US" sz="2200" dirty="0">
                <a:solidFill>
                  <a:srgbClr val="1A49EA"/>
                </a:solidFill>
              </a:rPr>
              <a:t>进而导致</a:t>
            </a:r>
            <a:r>
              <a:rPr kumimoji="1" lang="en" altLang="zh-CN" sz="2200" dirty="0">
                <a:solidFill>
                  <a:srgbClr val="1A49EA"/>
                </a:solidFill>
              </a:rPr>
              <a:t>I5</a:t>
            </a:r>
            <a:r>
              <a:rPr kumimoji="1" lang="zh-CN" altLang="en" sz="2200" dirty="0">
                <a:solidFill>
                  <a:srgbClr val="1A49EA"/>
                </a:solidFill>
              </a:rPr>
              <a:t>、</a:t>
            </a:r>
            <a:r>
              <a:rPr kumimoji="1" lang="en" altLang="zh-CN" sz="2200" dirty="0">
                <a:solidFill>
                  <a:srgbClr val="1A49EA"/>
                </a:solidFill>
              </a:rPr>
              <a:t>I6</a:t>
            </a:r>
            <a:r>
              <a:rPr kumimoji="1" lang="zh-CN" altLang="en-US" sz="2200" dirty="0">
                <a:solidFill>
                  <a:srgbClr val="1A49EA"/>
                </a:solidFill>
              </a:rPr>
              <a:t>错误</a:t>
            </a:r>
            <a:endParaRPr kumimoji="1" lang="en" altLang="zh-CN" sz="2200" dirty="0">
              <a:solidFill>
                <a:srgbClr val="1A49EA"/>
              </a:solidFill>
            </a:endParaRPr>
          </a:p>
        </p:txBody>
      </p:sp>
      <p:sp>
        <p:nvSpPr>
          <p:cNvPr id="7" name="灯片编号占位符 3">
            <a:extLst>
              <a:ext uri="{FF2B5EF4-FFF2-40B4-BE49-F238E27FC236}">
                <a16:creationId xmlns:a16="http://schemas.microsoft.com/office/drawing/2014/main" id="{B4543B95-851E-EF9D-0097-DD9E63D9C0E0}"/>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65</a:t>
            </a:fld>
            <a:endParaRPr lang="en-US" altLang="zh-CN" dirty="0"/>
          </a:p>
        </p:txBody>
      </p:sp>
      <p:sp>
        <p:nvSpPr>
          <p:cNvPr id="8" name="文本框 7">
            <a:extLst>
              <a:ext uri="{FF2B5EF4-FFF2-40B4-BE49-F238E27FC236}">
                <a16:creationId xmlns:a16="http://schemas.microsoft.com/office/drawing/2014/main" id="{B0F6B6A4-4519-A418-1CF8-65A8247AE097}"/>
              </a:ext>
            </a:extLst>
          </p:cNvPr>
          <p:cNvSpPr txBox="1"/>
          <p:nvPr/>
        </p:nvSpPr>
        <p:spPr>
          <a:xfrm>
            <a:off x="6683828" y="2257159"/>
            <a:ext cx="2133600" cy="1569660"/>
          </a:xfrm>
          <a:prstGeom prst="rect">
            <a:avLst/>
          </a:prstGeom>
          <a:solidFill>
            <a:schemeClr val="bg2">
              <a:lumMod val="20000"/>
              <a:lumOff val="80000"/>
            </a:schemeClr>
          </a:solidFill>
        </p:spPr>
        <p:txBody>
          <a:bodyPr wrap="square">
            <a:spAutoFit/>
          </a:bodyPr>
          <a:lstStyle/>
          <a:p>
            <a:r>
              <a:rPr lang="zh-CN" altLang="en-US" sz="1600" b="1" dirty="0"/>
              <a:t>I1: add $t0, $t0, $t1</a:t>
            </a:r>
          </a:p>
          <a:p>
            <a:r>
              <a:rPr lang="zh-CN" altLang="en-US" sz="1600" b="1" dirty="0"/>
              <a:t>I2: add $t2, $t2, $t3</a:t>
            </a:r>
          </a:p>
          <a:p>
            <a:r>
              <a:rPr lang="zh-CN" altLang="en-US" sz="1600" b="1" dirty="0"/>
              <a:t>I3: add $t5, $t1, $t3</a:t>
            </a:r>
          </a:p>
          <a:p>
            <a:r>
              <a:rPr lang="zh-CN" altLang="en-US" sz="1600" b="1" dirty="0"/>
              <a:t>I4: lw $t4, 0($t0)</a:t>
            </a:r>
          </a:p>
          <a:p>
            <a:r>
              <a:rPr lang="zh-CN" altLang="en-US" sz="1600" b="1" dirty="0"/>
              <a:t>I5: addi $t3, $t4, 1</a:t>
            </a:r>
          </a:p>
          <a:p>
            <a:r>
              <a:rPr lang="zh-CN" altLang="en-US" sz="1600" b="1" dirty="0"/>
              <a:t>I6: add $t1, $t2, $t3</a:t>
            </a:r>
          </a:p>
        </p:txBody>
      </p:sp>
    </p:spTree>
    <p:extLst>
      <p:ext uri="{BB962C8B-B14F-4D97-AF65-F5344CB8AC3E}">
        <p14:creationId xmlns:p14="http://schemas.microsoft.com/office/powerpoint/2010/main" val="2157184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模拟题解析：设计题</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544296" cy="4525963"/>
          </a:xfrm>
        </p:spPr>
        <p:txBody>
          <a:bodyPr/>
          <a:lstStyle/>
          <a:p>
            <a:r>
              <a:rPr kumimoji="1" lang="en-US" altLang="zh-CN" sz="2000" dirty="0"/>
              <a:t>ID</a:t>
            </a:r>
            <a:r>
              <a:rPr kumimoji="1" lang="zh-CN" altLang="en-US" sz="2000" dirty="0"/>
              <a:t>阶段的</a:t>
            </a:r>
            <a:r>
              <a:rPr kumimoji="1" lang="en-US" altLang="zh-CN" sz="2000" dirty="0"/>
              <a:t>Comp</a:t>
            </a:r>
            <a:r>
              <a:rPr kumimoji="1" lang="zh-CN" altLang="en-US" sz="2000" dirty="0"/>
              <a:t>模块用于判断两个输入是否相等，如果相等，输出为</a:t>
            </a:r>
            <a:r>
              <a:rPr kumimoji="1" lang="en-US" altLang="zh-CN" sz="2000" dirty="0"/>
              <a:t>1</a:t>
            </a:r>
            <a:r>
              <a:rPr kumimoji="1" lang="zh-CN" altLang="en-US" sz="2000" dirty="0"/>
              <a:t>，否则输出为</a:t>
            </a:r>
            <a:r>
              <a:rPr kumimoji="1" lang="en-US" altLang="zh-CN" sz="2000" dirty="0"/>
              <a:t>0</a:t>
            </a:r>
            <a:r>
              <a:rPr kumimoji="1" lang="zh-CN" altLang="en-US" sz="2000" dirty="0"/>
              <a:t>。利用该模块，实现一个自定义的</a:t>
            </a:r>
            <a:r>
              <a:rPr kumimoji="1" lang="en-US" altLang="zh-CN" sz="2000" dirty="0"/>
              <a:t>R</a:t>
            </a:r>
            <a:r>
              <a:rPr kumimoji="1" lang="zh-CN" altLang="en-US" sz="2000" dirty="0"/>
              <a:t>型指令</a:t>
            </a:r>
            <a:r>
              <a:rPr kumimoji="1" lang="en-US" altLang="zh-CN" sz="2000" dirty="0" err="1"/>
              <a:t>bezr</a:t>
            </a:r>
            <a:r>
              <a:rPr kumimoji="1" lang="zh-CN" altLang="en-US" sz="2000" dirty="0"/>
              <a:t>，该指令的格式为</a:t>
            </a:r>
            <a:r>
              <a:rPr kumimoji="1" lang="en-US" altLang="zh-CN" sz="2000" dirty="0" err="1"/>
              <a:t>bezr</a:t>
            </a:r>
            <a:r>
              <a:rPr kumimoji="1" lang="en-US" altLang="zh-CN" sz="2000" dirty="0"/>
              <a:t> $</a:t>
            </a:r>
            <a:r>
              <a:rPr kumimoji="1" lang="en-US" altLang="zh-CN" sz="2000" dirty="0" err="1"/>
              <a:t>rs</a:t>
            </a:r>
            <a:r>
              <a:rPr kumimoji="1" lang="en-US" altLang="zh-CN" sz="2000" dirty="0"/>
              <a:t>, $rt</a:t>
            </a:r>
            <a:r>
              <a:rPr kumimoji="1" lang="zh-CN" altLang="en-US" sz="2000" dirty="0"/>
              <a:t>，执行的操作为：比较</a:t>
            </a:r>
            <a:r>
              <a:rPr kumimoji="1" lang="en-US" altLang="zh-CN" sz="2000" dirty="0" err="1"/>
              <a:t>rs</a:t>
            </a:r>
            <a:r>
              <a:rPr kumimoji="1" lang="zh-CN" altLang="en-US" sz="2000" dirty="0"/>
              <a:t>寄存器和</a:t>
            </a:r>
            <a:r>
              <a:rPr kumimoji="1" lang="en-US" altLang="zh-CN" sz="2000" dirty="0"/>
              <a:t>0</a:t>
            </a:r>
            <a:r>
              <a:rPr kumimoji="1" lang="zh-CN" altLang="en-US" sz="2000" dirty="0"/>
              <a:t>是否相等，如果相等则</a:t>
            </a:r>
            <a:r>
              <a:rPr kumimoji="1" lang="en-US" altLang="zh-CN" sz="2000" dirty="0"/>
              <a:t>PC</a:t>
            </a:r>
            <a:r>
              <a:rPr kumimoji="1" lang="zh-CN" altLang="en-US" sz="2000" dirty="0"/>
              <a:t>寄存器跳转到</a:t>
            </a:r>
            <a:r>
              <a:rPr kumimoji="1" lang="en-US" altLang="zh-CN" sz="2000" dirty="0"/>
              <a:t>rt</a:t>
            </a:r>
            <a:r>
              <a:rPr kumimoji="1" lang="zh-CN" altLang="en-US" sz="2000" dirty="0"/>
              <a:t>寄存器中的存储的地址，否则不跳转。</a:t>
            </a:r>
            <a:endParaRPr kumimoji="1" lang="en" altLang="zh-CN" sz="2000" dirty="0">
              <a:solidFill>
                <a:srgbClr val="1A49EA"/>
              </a:solidFill>
            </a:endParaRPr>
          </a:p>
          <a:p>
            <a:r>
              <a:rPr kumimoji="1" lang="zh-CN" altLang="en-US" sz="2400" dirty="0"/>
              <a:t>写出</a:t>
            </a:r>
            <a:r>
              <a:rPr kumimoji="1" lang="en-US" altLang="zh-CN" sz="2400" dirty="0"/>
              <a:t>Forwarding </a:t>
            </a:r>
            <a:r>
              <a:rPr kumimoji="1" lang="en-US" altLang="zh-CN" sz="2400" dirty="0" err="1"/>
              <a:t>Unit.B</a:t>
            </a:r>
            <a:r>
              <a:rPr kumimoji="1" lang="zh-CN" altLang="en-US" sz="2400" dirty="0"/>
              <a:t>的输出信号</a:t>
            </a:r>
            <a:r>
              <a:rPr kumimoji="1" lang="en-US" altLang="zh-CN" sz="2400" dirty="0"/>
              <a:t>B1</a:t>
            </a:r>
            <a:r>
              <a:rPr kumimoji="1" lang="zh-CN" altLang="en-US" sz="2400" dirty="0"/>
              <a:t>的控制逻辑</a:t>
            </a:r>
            <a:endParaRPr kumimoji="1" lang="en-US" altLang="zh-CN" sz="2400" dirty="0"/>
          </a:p>
          <a:p>
            <a:pPr marL="457200" lvl="1" indent="0">
              <a:buNone/>
            </a:pPr>
            <a:r>
              <a:rPr kumimoji="1" lang="en-US" altLang="zh-CN" sz="2000" dirty="0"/>
              <a:t>if (EX/</a:t>
            </a:r>
            <a:r>
              <a:rPr kumimoji="1" lang="en-US" altLang="zh-CN" sz="2000" dirty="0" err="1"/>
              <a:t>MEM.RegWrite</a:t>
            </a:r>
            <a:r>
              <a:rPr kumimoji="1" lang="en-US" altLang="zh-CN" sz="2000" dirty="0"/>
              <a:t> &amp; EX/</a:t>
            </a:r>
            <a:r>
              <a:rPr kumimoji="1" lang="en-US" altLang="zh-CN" sz="2000" dirty="0" err="1"/>
              <a:t>MEM.RegWrAddr</a:t>
            </a:r>
            <a:r>
              <a:rPr kumimoji="1" lang="en-US" altLang="zh-CN" sz="2000" dirty="0"/>
              <a:t> !=0 &amp; ID/EX.Rs == EX/</a:t>
            </a:r>
            <a:r>
              <a:rPr kumimoji="1" lang="en-US" altLang="zh-CN" sz="2000" dirty="0" err="1"/>
              <a:t>MEM.RegWrAddr</a:t>
            </a:r>
            <a:r>
              <a:rPr kumimoji="1" lang="en-US" altLang="zh-CN" sz="2000" dirty="0"/>
              <a:t>) {</a:t>
            </a:r>
          </a:p>
          <a:p>
            <a:pPr marL="457200" lvl="1" indent="0">
              <a:buNone/>
            </a:pPr>
            <a:r>
              <a:rPr kumimoji="1" lang="zh-CN" altLang="en-US" sz="2000" dirty="0"/>
              <a:t>    </a:t>
            </a:r>
            <a:r>
              <a:rPr kumimoji="1" lang="en-US" altLang="zh-CN" sz="2000" dirty="0"/>
              <a:t>B1 = 01</a:t>
            </a:r>
          </a:p>
          <a:p>
            <a:pPr marL="457200" lvl="1" indent="0">
              <a:buNone/>
            </a:pPr>
            <a:r>
              <a:rPr kumimoji="1" lang="en-US" altLang="zh-CN" sz="2000" dirty="0"/>
              <a:t>} else if (MEM/</a:t>
            </a:r>
            <a:r>
              <a:rPr kumimoji="1" lang="en-US" altLang="zh-CN" sz="2000" dirty="0" err="1"/>
              <a:t>WB.RegWrite</a:t>
            </a:r>
            <a:r>
              <a:rPr kumimoji="1" lang="en-US" altLang="zh-CN" sz="2000" dirty="0"/>
              <a:t> &amp; </a:t>
            </a:r>
            <a:br>
              <a:rPr kumimoji="1" lang="en-US" altLang="zh-CN" sz="2000" dirty="0"/>
            </a:br>
            <a:r>
              <a:rPr kumimoji="1" lang="en-US" altLang="zh-CN" sz="2000" dirty="0"/>
              <a:t>MEM/</a:t>
            </a:r>
            <a:r>
              <a:rPr kumimoji="1" lang="en-US" altLang="zh-CN" sz="2000" dirty="0" err="1"/>
              <a:t>WB.RegWrAddr</a:t>
            </a:r>
            <a:r>
              <a:rPr kumimoji="1" lang="en-US" altLang="zh-CN" sz="2000" dirty="0"/>
              <a:t> !=0 &amp; </a:t>
            </a:r>
            <a:br>
              <a:rPr kumimoji="1" lang="en-US" altLang="zh-CN" sz="2000" dirty="0"/>
            </a:br>
            <a:r>
              <a:rPr kumimoji="1" lang="en-US" altLang="zh-CN" sz="2000" dirty="0"/>
              <a:t>ID/EX.Rs == MEM/</a:t>
            </a:r>
            <a:r>
              <a:rPr kumimoji="1" lang="en-US" altLang="zh-CN" sz="2000" dirty="0" err="1"/>
              <a:t>WB.RegWrAddr</a:t>
            </a:r>
            <a:r>
              <a:rPr kumimoji="1" lang="en-US" altLang="zh-CN" sz="2000" dirty="0"/>
              <a:t>) {</a:t>
            </a:r>
          </a:p>
          <a:p>
            <a:pPr marL="457200" lvl="1" indent="0">
              <a:buNone/>
            </a:pPr>
            <a:r>
              <a:rPr kumimoji="1" lang="zh-CN" altLang="en-US" sz="2000" dirty="0"/>
              <a:t>    </a:t>
            </a:r>
            <a:r>
              <a:rPr kumimoji="1" lang="en-US" altLang="zh-CN" sz="2000" dirty="0"/>
              <a:t>B1 = 10</a:t>
            </a:r>
          </a:p>
          <a:p>
            <a:pPr marL="457200" lvl="1" indent="0">
              <a:buNone/>
            </a:pPr>
            <a:r>
              <a:rPr kumimoji="1" lang="en-US" altLang="zh-CN" sz="2000" dirty="0"/>
              <a:t>} else {</a:t>
            </a:r>
          </a:p>
          <a:p>
            <a:pPr marL="457200" lvl="1" indent="0">
              <a:buNone/>
            </a:pPr>
            <a:r>
              <a:rPr kumimoji="1" lang="zh-CN" altLang="en-US" sz="2000" dirty="0"/>
              <a:t>    </a:t>
            </a:r>
            <a:r>
              <a:rPr kumimoji="1" lang="en-US" altLang="zh-CN" sz="2000" dirty="0"/>
              <a:t>B1 = 00</a:t>
            </a:r>
          </a:p>
          <a:p>
            <a:pPr marL="457200" lvl="1" indent="0">
              <a:buNone/>
            </a:pPr>
            <a:r>
              <a:rPr kumimoji="1" lang="en-US" altLang="zh-CN" sz="2000" dirty="0"/>
              <a:t>}</a:t>
            </a:r>
          </a:p>
        </p:txBody>
      </p:sp>
      <p:sp>
        <p:nvSpPr>
          <p:cNvPr id="7" name="灯片编号占位符 3">
            <a:extLst>
              <a:ext uri="{FF2B5EF4-FFF2-40B4-BE49-F238E27FC236}">
                <a16:creationId xmlns:a16="http://schemas.microsoft.com/office/drawing/2014/main" id="{B4543B95-851E-EF9D-0097-DD9E63D9C0E0}"/>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66</a:t>
            </a:fld>
            <a:endParaRPr lang="en-US" altLang="zh-CN" dirty="0"/>
          </a:p>
        </p:txBody>
      </p:sp>
      <p:pic>
        <p:nvPicPr>
          <p:cNvPr id="4" name="Picture 1">
            <a:extLst>
              <a:ext uri="{FF2B5EF4-FFF2-40B4-BE49-F238E27FC236}">
                <a16:creationId xmlns:a16="http://schemas.microsoft.com/office/drawing/2014/main" id="{0FD0B657-4CAF-3B77-3614-78841E3423F9}"/>
              </a:ext>
            </a:extLst>
          </p:cNvPr>
          <p:cNvPicPr>
            <a:picLocks noChangeAspect="1"/>
          </p:cNvPicPr>
          <p:nvPr/>
        </p:nvPicPr>
        <p:blipFill>
          <a:blip r:embed="rId2"/>
          <a:stretch>
            <a:fillRect/>
          </a:stretch>
        </p:blipFill>
        <p:spPr>
          <a:xfrm>
            <a:off x="4661996" y="3393375"/>
            <a:ext cx="4447193" cy="2918286"/>
          </a:xfrm>
          <a:prstGeom prst="rect">
            <a:avLst/>
          </a:prstGeom>
        </p:spPr>
      </p:pic>
    </p:spTree>
    <p:extLst>
      <p:ext uri="{BB962C8B-B14F-4D97-AF65-F5344CB8AC3E}">
        <p14:creationId xmlns:p14="http://schemas.microsoft.com/office/powerpoint/2010/main" val="31096371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模拟题解析：设计题</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457200" y="1362650"/>
            <a:ext cx="8544296" cy="4525963"/>
          </a:xfrm>
        </p:spPr>
        <p:txBody>
          <a:bodyPr/>
          <a:lstStyle/>
          <a:p>
            <a:r>
              <a:rPr kumimoji="1" lang="en-US" altLang="zh-CN" sz="2000" dirty="0"/>
              <a:t>ID</a:t>
            </a:r>
            <a:r>
              <a:rPr kumimoji="1" lang="zh-CN" altLang="en-US" sz="2000" dirty="0"/>
              <a:t>阶段的</a:t>
            </a:r>
            <a:r>
              <a:rPr kumimoji="1" lang="en-US" altLang="zh-CN" sz="2000" dirty="0"/>
              <a:t>Comp</a:t>
            </a:r>
            <a:r>
              <a:rPr kumimoji="1" lang="zh-CN" altLang="en-US" sz="2000" dirty="0"/>
              <a:t>模块用于判断两个输入是否相等，如果相等，输出为</a:t>
            </a:r>
            <a:r>
              <a:rPr kumimoji="1" lang="en-US" altLang="zh-CN" sz="2000" dirty="0"/>
              <a:t>1</a:t>
            </a:r>
            <a:r>
              <a:rPr kumimoji="1" lang="zh-CN" altLang="en-US" sz="2000" dirty="0"/>
              <a:t>，否则输出为</a:t>
            </a:r>
            <a:r>
              <a:rPr kumimoji="1" lang="en-US" altLang="zh-CN" sz="2000" dirty="0"/>
              <a:t>0</a:t>
            </a:r>
            <a:r>
              <a:rPr kumimoji="1" lang="zh-CN" altLang="en-US" sz="2000" dirty="0"/>
              <a:t>。利用该模块，实现一个自定义的</a:t>
            </a:r>
            <a:r>
              <a:rPr kumimoji="1" lang="en-US" altLang="zh-CN" sz="2000" dirty="0"/>
              <a:t>R</a:t>
            </a:r>
            <a:r>
              <a:rPr kumimoji="1" lang="zh-CN" altLang="en-US" sz="2000" dirty="0"/>
              <a:t>型指令</a:t>
            </a:r>
            <a:r>
              <a:rPr kumimoji="1" lang="en-US" altLang="zh-CN" sz="2000" dirty="0" err="1"/>
              <a:t>bezr</a:t>
            </a:r>
            <a:r>
              <a:rPr kumimoji="1" lang="zh-CN" altLang="en-US" sz="2000" dirty="0"/>
              <a:t>，该指令的格式为</a:t>
            </a:r>
            <a:r>
              <a:rPr kumimoji="1" lang="en-US" altLang="zh-CN" sz="2000" dirty="0" err="1"/>
              <a:t>bezr</a:t>
            </a:r>
            <a:r>
              <a:rPr kumimoji="1" lang="en-US" altLang="zh-CN" sz="2000" dirty="0"/>
              <a:t> $</a:t>
            </a:r>
            <a:r>
              <a:rPr kumimoji="1" lang="en-US" altLang="zh-CN" sz="2000" dirty="0" err="1"/>
              <a:t>rs</a:t>
            </a:r>
            <a:r>
              <a:rPr kumimoji="1" lang="en-US" altLang="zh-CN" sz="2000" dirty="0"/>
              <a:t>, $rt</a:t>
            </a:r>
            <a:r>
              <a:rPr kumimoji="1" lang="zh-CN" altLang="en-US" sz="2000" dirty="0"/>
              <a:t>，执行的操作为：比较</a:t>
            </a:r>
            <a:r>
              <a:rPr kumimoji="1" lang="en-US" altLang="zh-CN" sz="2000" dirty="0" err="1"/>
              <a:t>rs</a:t>
            </a:r>
            <a:r>
              <a:rPr kumimoji="1" lang="zh-CN" altLang="en-US" sz="2000" dirty="0"/>
              <a:t>寄存器和</a:t>
            </a:r>
            <a:r>
              <a:rPr kumimoji="1" lang="en-US" altLang="zh-CN" sz="2000" dirty="0"/>
              <a:t>0</a:t>
            </a:r>
            <a:r>
              <a:rPr kumimoji="1" lang="zh-CN" altLang="en-US" sz="2000" dirty="0"/>
              <a:t>是否相等，如果相等则</a:t>
            </a:r>
            <a:r>
              <a:rPr kumimoji="1" lang="en-US" altLang="zh-CN" sz="2000" dirty="0">
                <a:solidFill>
                  <a:srgbClr val="1A49EA"/>
                </a:solidFill>
              </a:rPr>
              <a:t>PC</a:t>
            </a:r>
            <a:r>
              <a:rPr kumimoji="1" lang="zh-CN" altLang="en-US" sz="2000" dirty="0">
                <a:solidFill>
                  <a:srgbClr val="1A49EA"/>
                </a:solidFill>
              </a:rPr>
              <a:t>寄存器跳转到</a:t>
            </a:r>
            <a:r>
              <a:rPr kumimoji="1" lang="en-US" altLang="zh-CN" sz="2000" dirty="0">
                <a:solidFill>
                  <a:srgbClr val="1A49EA"/>
                </a:solidFill>
              </a:rPr>
              <a:t>rt</a:t>
            </a:r>
            <a:r>
              <a:rPr kumimoji="1" lang="zh-CN" altLang="en-US" sz="2000" dirty="0">
                <a:solidFill>
                  <a:srgbClr val="1A49EA"/>
                </a:solidFill>
              </a:rPr>
              <a:t>寄存器中的存储的地址</a:t>
            </a:r>
            <a:r>
              <a:rPr kumimoji="1" lang="zh-CN" altLang="en-US" sz="2000" dirty="0"/>
              <a:t>，否则不跳转。</a:t>
            </a:r>
            <a:endParaRPr kumimoji="1" lang="en" altLang="zh-CN" sz="2000" dirty="0">
              <a:solidFill>
                <a:srgbClr val="1A49EA"/>
              </a:solidFill>
            </a:endParaRPr>
          </a:p>
          <a:p>
            <a:r>
              <a:rPr kumimoji="1" lang="zh-CN" altLang="en-US" sz="2400" dirty="0"/>
              <a:t>还需要增加什么数据通路用于实现</a:t>
            </a:r>
            <a:r>
              <a:rPr kumimoji="1" lang="en" altLang="zh-CN" sz="2400" dirty="0" err="1"/>
              <a:t>bezr</a:t>
            </a:r>
            <a:r>
              <a:rPr kumimoji="1" lang="zh-CN" altLang="en-US" sz="2400" dirty="0"/>
              <a:t>？并写出</a:t>
            </a:r>
            <a:r>
              <a:rPr kumimoji="1" lang="en" altLang="zh-CN" sz="2400" dirty="0"/>
              <a:t>Forwarding </a:t>
            </a:r>
            <a:r>
              <a:rPr kumimoji="1" lang="en" altLang="zh-CN" sz="2400" dirty="0" err="1"/>
              <a:t>Unit.A</a:t>
            </a:r>
            <a:r>
              <a:rPr kumimoji="1" lang="zh-CN" altLang="en-US" sz="2400" dirty="0"/>
              <a:t>中输出信号</a:t>
            </a:r>
            <a:r>
              <a:rPr kumimoji="1" lang="en" altLang="zh-CN" sz="2400" dirty="0"/>
              <a:t>A1</a:t>
            </a:r>
            <a:r>
              <a:rPr kumimoji="1" lang="zh-CN" altLang="en-US" sz="2400" dirty="0"/>
              <a:t>的控制逻辑</a:t>
            </a:r>
            <a:endParaRPr kumimoji="1" lang="en-US" altLang="zh-CN" sz="2400" dirty="0"/>
          </a:p>
          <a:p>
            <a:pPr lvl="1"/>
            <a:r>
              <a:rPr kumimoji="1" lang="zh-CN" altLang="en-US" sz="2000" dirty="0"/>
              <a:t>增加寄存器堆的 </a:t>
            </a:r>
            <a:r>
              <a:rPr kumimoji="1" lang="en-US" altLang="zh-CN" sz="2000" dirty="0"/>
              <a:t>Read Data2 </a:t>
            </a:r>
            <a:r>
              <a:rPr kumimoji="1" lang="zh-CN" altLang="en-US" sz="2000" dirty="0"/>
              <a:t>到 </a:t>
            </a:r>
            <a:r>
              <a:rPr kumimoji="1" lang="en-US" altLang="zh-CN" sz="2000" dirty="0"/>
              <a:t>PC </a:t>
            </a:r>
            <a:r>
              <a:rPr kumimoji="1" lang="zh-CN" altLang="en-US" sz="2000" dirty="0"/>
              <a:t>寄存器的数据通路</a:t>
            </a:r>
            <a:endParaRPr kumimoji="1" lang="en-US" altLang="zh-CN" sz="2000" dirty="0"/>
          </a:p>
          <a:p>
            <a:pPr marL="457200" lvl="1" indent="0">
              <a:buNone/>
            </a:pPr>
            <a:r>
              <a:rPr kumimoji="1" lang="en-US" altLang="zh-CN" sz="2000" dirty="0"/>
              <a:t>if (EX/</a:t>
            </a:r>
            <a:r>
              <a:rPr kumimoji="1" lang="en-US" altLang="zh-CN" sz="2000" dirty="0" err="1"/>
              <a:t>MEM.RegWrite</a:t>
            </a:r>
            <a:r>
              <a:rPr kumimoji="1" lang="en-US" altLang="zh-CN" sz="2000" dirty="0"/>
              <a:t> &amp; EX/</a:t>
            </a:r>
            <a:r>
              <a:rPr kumimoji="1" lang="en-US" altLang="zh-CN" sz="2000" dirty="0" err="1"/>
              <a:t>MEM.RegWrAddr</a:t>
            </a:r>
            <a:r>
              <a:rPr kumimoji="1" lang="en-US" altLang="zh-CN" sz="2000" dirty="0"/>
              <a:t> !=0 &amp; IF/ID.Rs == EX/</a:t>
            </a:r>
            <a:r>
              <a:rPr kumimoji="1" lang="en-US" altLang="zh-CN" sz="2000" dirty="0" err="1"/>
              <a:t>MEM.RegWrAddr</a:t>
            </a:r>
            <a:r>
              <a:rPr kumimoji="1" lang="en-US" altLang="zh-CN" sz="2000" dirty="0"/>
              <a:t>) {</a:t>
            </a:r>
          </a:p>
          <a:p>
            <a:pPr marL="457200" lvl="1" indent="0">
              <a:buNone/>
            </a:pPr>
            <a:r>
              <a:rPr kumimoji="1" lang="zh-CN" altLang="en-US" sz="2000" dirty="0"/>
              <a:t>    </a:t>
            </a:r>
            <a:r>
              <a:rPr kumimoji="1" lang="en" altLang="zh-CN" sz="2000" dirty="0"/>
              <a:t>A1 = 1</a:t>
            </a:r>
          </a:p>
          <a:p>
            <a:pPr marL="457200" lvl="1" indent="0">
              <a:buNone/>
            </a:pPr>
            <a:r>
              <a:rPr kumimoji="1" lang="en-US" altLang="zh-CN" sz="2000" dirty="0"/>
              <a:t>} else {</a:t>
            </a:r>
          </a:p>
          <a:p>
            <a:pPr marL="457200" lvl="1" indent="0">
              <a:buNone/>
            </a:pPr>
            <a:r>
              <a:rPr kumimoji="1" lang="zh-CN" altLang="en-US" sz="2000" dirty="0"/>
              <a:t>    </a:t>
            </a:r>
            <a:r>
              <a:rPr kumimoji="1" lang="en" altLang="zh-CN" sz="2000" dirty="0"/>
              <a:t>A1 = 0</a:t>
            </a:r>
            <a:endParaRPr kumimoji="1" lang="en-US" altLang="zh-CN" sz="2000" dirty="0"/>
          </a:p>
          <a:p>
            <a:pPr marL="457200" lvl="1" indent="0">
              <a:buNone/>
            </a:pPr>
            <a:r>
              <a:rPr kumimoji="1" lang="en-US" altLang="zh-CN" sz="2000" dirty="0"/>
              <a:t>}</a:t>
            </a:r>
          </a:p>
        </p:txBody>
      </p:sp>
      <p:sp>
        <p:nvSpPr>
          <p:cNvPr id="7" name="灯片编号占位符 3">
            <a:extLst>
              <a:ext uri="{FF2B5EF4-FFF2-40B4-BE49-F238E27FC236}">
                <a16:creationId xmlns:a16="http://schemas.microsoft.com/office/drawing/2014/main" id="{B4543B95-851E-EF9D-0097-DD9E63D9C0E0}"/>
              </a:ext>
            </a:extLst>
          </p:cNvPr>
          <p:cNvSpPr>
            <a:spLocks noGrp="1"/>
          </p:cNvSpPr>
          <p:nvPr>
            <p:ph type="sldNum" sz="quarter" idx="12"/>
          </p:nvPr>
        </p:nvSpPr>
        <p:spPr>
          <a:xfrm>
            <a:off x="6553200" y="6565411"/>
            <a:ext cx="2133600" cy="476250"/>
          </a:xfrm>
        </p:spPr>
        <p:txBody>
          <a:bodyPr/>
          <a:lstStyle/>
          <a:p>
            <a:fld id="{14659731-6BD7-46E7-8D3C-2F3AC07E20B1}" type="slidenum">
              <a:rPr lang="en-US" altLang="zh-CN" smtClean="0"/>
              <a:pPr/>
              <a:t>67</a:t>
            </a:fld>
            <a:endParaRPr lang="en-US" altLang="zh-CN" dirty="0"/>
          </a:p>
        </p:txBody>
      </p:sp>
      <p:pic>
        <p:nvPicPr>
          <p:cNvPr id="4" name="Picture 1">
            <a:extLst>
              <a:ext uri="{FF2B5EF4-FFF2-40B4-BE49-F238E27FC236}">
                <a16:creationId xmlns:a16="http://schemas.microsoft.com/office/drawing/2014/main" id="{0FD0B657-4CAF-3B77-3614-78841E3423F9}"/>
              </a:ext>
            </a:extLst>
          </p:cNvPr>
          <p:cNvPicPr>
            <a:picLocks noChangeAspect="1"/>
          </p:cNvPicPr>
          <p:nvPr/>
        </p:nvPicPr>
        <p:blipFill>
          <a:blip r:embed="rId2"/>
          <a:stretch>
            <a:fillRect/>
          </a:stretch>
        </p:blipFill>
        <p:spPr>
          <a:xfrm>
            <a:off x="4776101" y="4099360"/>
            <a:ext cx="4225396" cy="2772741"/>
          </a:xfrm>
          <a:prstGeom prst="rect">
            <a:avLst/>
          </a:prstGeom>
        </p:spPr>
      </p:pic>
      <p:cxnSp>
        <p:nvCxnSpPr>
          <p:cNvPr id="9" name="直线连接符 8">
            <a:extLst>
              <a:ext uri="{FF2B5EF4-FFF2-40B4-BE49-F238E27FC236}">
                <a16:creationId xmlns:a16="http://schemas.microsoft.com/office/drawing/2014/main" id="{F6E6CDD7-6E83-E50C-8BAF-F412F97D6605}"/>
              </a:ext>
            </a:extLst>
          </p:cNvPr>
          <p:cNvCxnSpPr/>
          <p:nvPr/>
        </p:nvCxnSpPr>
        <p:spPr>
          <a:xfrm>
            <a:off x="6379535" y="5268432"/>
            <a:ext cx="173665" cy="0"/>
          </a:xfrm>
          <a:prstGeom prst="line">
            <a:avLst/>
          </a:prstGeom>
          <a:ln w="28575" cap="rnd">
            <a:solidFill>
              <a:srgbClr val="1A49EA"/>
            </a:solidFill>
          </a:ln>
        </p:spPr>
        <p:style>
          <a:lnRef idx="1">
            <a:schemeClr val="accent1"/>
          </a:lnRef>
          <a:fillRef idx="0">
            <a:schemeClr val="accent1"/>
          </a:fillRef>
          <a:effectRef idx="0">
            <a:schemeClr val="accent1"/>
          </a:effectRef>
          <a:fontRef idx="minor">
            <a:schemeClr val="tx1"/>
          </a:fontRef>
        </p:style>
      </p:cxnSp>
      <p:cxnSp>
        <p:nvCxnSpPr>
          <p:cNvPr id="10" name="直线连接符 9">
            <a:extLst>
              <a:ext uri="{FF2B5EF4-FFF2-40B4-BE49-F238E27FC236}">
                <a16:creationId xmlns:a16="http://schemas.microsoft.com/office/drawing/2014/main" id="{276B5E9A-FB22-D9FB-7CFA-EC688EDAAB10}"/>
              </a:ext>
            </a:extLst>
          </p:cNvPr>
          <p:cNvCxnSpPr>
            <a:cxnSpLocks/>
          </p:cNvCxnSpPr>
          <p:nvPr/>
        </p:nvCxnSpPr>
        <p:spPr>
          <a:xfrm>
            <a:off x="4684898" y="5475097"/>
            <a:ext cx="1868302" cy="0"/>
          </a:xfrm>
          <a:prstGeom prst="line">
            <a:avLst/>
          </a:prstGeom>
          <a:ln w="28575" cap="rnd">
            <a:solidFill>
              <a:srgbClr val="1A49EA"/>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BB70CC56-5A1D-159F-2E6C-85B8DE293D3B}"/>
              </a:ext>
            </a:extLst>
          </p:cNvPr>
          <p:cNvCxnSpPr>
            <a:cxnSpLocks/>
          </p:cNvCxnSpPr>
          <p:nvPr/>
        </p:nvCxnSpPr>
        <p:spPr>
          <a:xfrm>
            <a:off x="6556375" y="5276043"/>
            <a:ext cx="0" cy="195879"/>
          </a:xfrm>
          <a:prstGeom prst="line">
            <a:avLst/>
          </a:prstGeom>
          <a:ln w="28575" cap="rnd">
            <a:solidFill>
              <a:srgbClr val="1A49EA"/>
            </a:solidFill>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5C3CE411-1C87-1EBA-F410-243BB860ED15}"/>
              </a:ext>
            </a:extLst>
          </p:cNvPr>
          <p:cNvCxnSpPr>
            <a:cxnSpLocks/>
          </p:cNvCxnSpPr>
          <p:nvPr/>
        </p:nvCxnSpPr>
        <p:spPr>
          <a:xfrm>
            <a:off x="4684898" y="5214747"/>
            <a:ext cx="0" cy="257175"/>
          </a:xfrm>
          <a:prstGeom prst="line">
            <a:avLst/>
          </a:prstGeom>
          <a:ln w="28575" cap="rnd">
            <a:solidFill>
              <a:srgbClr val="1A49EA"/>
            </a:solidFill>
          </a:ln>
        </p:spPr>
        <p:style>
          <a:lnRef idx="1">
            <a:schemeClr val="accent1"/>
          </a:lnRef>
          <a:fillRef idx="0">
            <a:schemeClr val="accent1"/>
          </a:fillRef>
          <a:effectRef idx="0">
            <a:schemeClr val="accent1"/>
          </a:effectRef>
          <a:fontRef idx="minor">
            <a:schemeClr val="tx1"/>
          </a:fontRef>
        </p:style>
      </p:cxnSp>
      <p:sp>
        <p:nvSpPr>
          <p:cNvPr id="15" name="梯形 14">
            <a:extLst>
              <a:ext uri="{FF2B5EF4-FFF2-40B4-BE49-F238E27FC236}">
                <a16:creationId xmlns:a16="http://schemas.microsoft.com/office/drawing/2014/main" id="{4D092400-D3CB-3735-7EFD-B593D3DF3224}"/>
              </a:ext>
            </a:extLst>
          </p:cNvPr>
          <p:cNvSpPr/>
          <p:nvPr/>
        </p:nvSpPr>
        <p:spPr>
          <a:xfrm rot="5400000">
            <a:off x="4741353" y="5155379"/>
            <a:ext cx="185099" cy="62578"/>
          </a:xfrm>
          <a:prstGeom prst="trapezoid">
            <a:avLst>
              <a:gd name="adj" fmla="val 52700"/>
            </a:avLst>
          </a:prstGeom>
          <a:noFill/>
          <a:ln w="19050" cap="rnd">
            <a:solidFill>
              <a:srgbClr val="1A49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 name="直线连接符 16">
            <a:extLst>
              <a:ext uri="{FF2B5EF4-FFF2-40B4-BE49-F238E27FC236}">
                <a16:creationId xmlns:a16="http://schemas.microsoft.com/office/drawing/2014/main" id="{6A56B6F7-C3D6-546B-97B3-D198DF541B95}"/>
              </a:ext>
            </a:extLst>
          </p:cNvPr>
          <p:cNvCxnSpPr>
            <a:cxnSpLocks/>
          </p:cNvCxnSpPr>
          <p:nvPr/>
        </p:nvCxnSpPr>
        <p:spPr>
          <a:xfrm>
            <a:off x="4684898" y="5214747"/>
            <a:ext cx="116450" cy="0"/>
          </a:xfrm>
          <a:prstGeom prst="line">
            <a:avLst/>
          </a:prstGeom>
          <a:ln w="28575" cap="rnd">
            <a:solidFill>
              <a:srgbClr val="1A49EA"/>
            </a:solidFill>
            <a:headEnd type="none" w="med" len="med"/>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7118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CDE70-99DE-124F-355C-D4D68C894675}"/>
              </a:ext>
            </a:extLst>
          </p:cNvPr>
          <p:cNvSpPr>
            <a:spLocks noGrp="1"/>
          </p:cNvSpPr>
          <p:nvPr>
            <p:ph type="title"/>
          </p:nvPr>
        </p:nvSpPr>
        <p:spPr/>
        <p:txBody>
          <a:bodyPr/>
          <a:lstStyle/>
          <a:p>
            <a:r>
              <a:rPr kumimoji="1" lang="zh-CN" altLang="en-US" dirty="0"/>
              <a:t>模拟题解析：设计题</a:t>
            </a:r>
          </a:p>
        </p:txBody>
      </p:sp>
      <p:sp>
        <p:nvSpPr>
          <p:cNvPr id="3" name="内容占位符 2">
            <a:extLst>
              <a:ext uri="{FF2B5EF4-FFF2-40B4-BE49-F238E27FC236}">
                <a16:creationId xmlns:a16="http://schemas.microsoft.com/office/drawing/2014/main" id="{8ED2AC40-B09D-5A96-7495-8AB98B867B96}"/>
              </a:ext>
            </a:extLst>
          </p:cNvPr>
          <p:cNvSpPr>
            <a:spLocks noGrp="1"/>
          </p:cNvSpPr>
          <p:nvPr>
            <p:ph idx="1"/>
          </p:nvPr>
        </p:nvSpPr>
        <p:spPr>
          <a:xfrm>
            <a:off x="228600" y="1362650"/>
            <a:ext cx="8686800" cy="4525963"/>
          </a:xfrm>
        </p:spPr>
        <p:txBody>
          <a:bodyPr/>
          <a:lstStyle/>
          <a:p>
            <a:r>
              <a:rPr kumimoji="1" lang="zh-CN" altLang="en-US" sz="2000" dirty="0"/>
              <a:t>图中的</a:t>
            </a:r>
            <a:r>
              <a:rPr kumimoji="1" lang="en-US" altLang="zh-CN" sz="2000" dirty="0"/>
              <a:t>Exception Unit</a:t>
            </a:r>
            <a:r>
              <a:rPr kumimoji="1" lang="zh-CN" altLang="en-US" sz="2000" dirty="0"/>
              <a:t>用于生成异常处理相关的控制信号，在本设计中，采用原因寄存器的异常处理方法，产生异常信号（</a:t>
            </a:r>
            <a:r>
              <a:rPr kumimoji="1" lang="en-US" altLang="zh-CN" sz="2000" dirty="0" err="1"/>
              <a:t>BadOp</a:t>
            </a:r>
            <a:r>
              <a:rPr kumimoji="1" lang="zh-CN" altLang="en-US" sz="2000" dirty="0"/>
              <a:t>、</a:t>
            </a:r>
            <a:r>
              <a:rPr kumimoji="1" lang="en-US" altLang="zh-CN" sz="2000" dirty="0" err="1"/>
              <a:t>ALU.exep</a:t>
            </a:r>
            <a:r>
              <a:rPr kumimoji="1" lang="zh-CN" altLang="en-US" sz="2000" dirty="0"/>
              <a:t>）时，</a:t>
            </a:r>
            <a:r>
              <a:rPr kumimoji="1" lang="en-US" altLang="zh-CN" sz="2000" dirty="0">
                <a:solidFill>
                  <a:srgbClr val="1A49EA"/>
                </a:solidFill>
              </a:rPr>
              <a:t>CPU</a:t>
            </a:r>
            <a:r>
              <a:rPr kumimoji="1" lang="zh-CN" altLang="en-US" sz="2000" dirty="0">
                <a:solidFill>
                  <a:srgbClr val="1A49EA"/>
                </a:solidFill>
              </a:rPr>
              <a:t>应当跳转到异常处理程序入口</a:t>
            </a:r>
            <a:r>
              <a:rPr kumimoji="1" lang="zh-CN" altLang="en-US" sz="2000" dirty="0"/>
              <a:t>（设为</a:t>
            </a:r>
            <a:r>
              <a:rPr kumimoji="1" lang="en-US" altLang="zh-CN" sz="2000" dirty="0"/>
              <a:t>0x80000180</a:t>
            </a:r>
            <a:r>
              <a:rPr kumimoji="1" lang="zh-CN" altLang="en-US" sz="2000" dirty="0"/>
              <a:t>），注意原本的程序</a:t>
            </a:r>
            <a:r>
              <a:rPr kumimoji="1" lang="zh-CN" altLang="en-US" sz="2000" dirty="0">
                <a:solidFill>
                  <a:srgbClr val="1A49EA"/>
                </a:solidFill>
              </a:rPr>
              <a:t>不能继续执行</a:t>
            </a:r>
            <a:r>
              <a:rPr kumimoji="1" lang="zh-CN" altLang="en-US" sz="2000" dirty="0"/>
              <a:t>，且异常处理完成后不需要恢复原本程序的运行。</a:t>
            </a:r>
            <a:endParaRPr kumimoji="1" lang="en-US" altLang="zh-CN" sz="2000" dirty="0"/>
          </a:p>
          <a:p>
            <a:r>
              <a:rPr kumimoji="1" lang="zh-CN" altLang="en-US" sz="2400" dirty="0"/>
              <a:t>请指出需要生成哪些控制信号并分析其作用</a:t>
            </a:r>
            <a:endParaRPr kumimoji="1" lang="en-US" altLang="zh-CN" sz="2400" dirty="0"/>
          </a:p>
          <a:p>
            <a:pPr lvl="1"/>
            <a:r>
              <a:rPr kumimoji="1" lang="en-US" altLang="zh-CN" sz="2000" dirty="0"/>
              <a:t>PC </a:t>
            </a:r>
            <a:r>
              <a:rPr kumimoji="1" lang="zh-CN" altLang="en-US" sz="2000" dirty="0"/>
              <a:t>的选择信号、级间寄存器的 </a:t>
            </a:r>
            <a:r>
              <a:rPr kumimoji="1" lang="en-US" altLang="zh-CN" sz="2000" dirty="0"/>
              <a:t>flush </a:t>
            </a:r>
            <a:r>
              <a:rPr kumimoji="1" lang="zh-CN" altLang="en-US" sz="2000" dirty="0"/>
              <a:t>信号</a:t>
            </a:r>
            <a:endParaRPr kumimoji="1" lang="en-US" altLang="zh-CN" sz="2000" dirty="0"/>
          </a:p>
          <a:p>
            <a:endParaRPr kumimoji="1" lang="en-US" altLang="zh-CN" sz="2400" dirty="0"/>
          </a:p>
          <a:p>
            <a:r>
              <a:rPr kumimoji="1" lang="zh-CN" altLang="en-US" sz="2000" dirty="0"/>
              <a:t>向</a:t>
            </a:r>
            <a:r>
              <a:rPr kumimoji="1" lang="en-US" altLang="zh-CN" sz="2000" dirty="0"/>
              <a:t>Exception Unit</a:t>
            </a:r>
            <a:r>
              <a:rPr kumimoji="1" lang="zh-CN" altLang="en-US" sz="2000" dirty="0"/>
              <a:t>额外提供一个中断信号</a:t>
            </a:r>
            <a:r>
              <a:rPr kumimoji="1" lang="en-US" altLang="zh-CN" sz="2000" dirty="0"/>
              <a:t>IRQ</a:t>
            </a:r>
            <a:r>
              <a:rPr kumimoji="1" lang="zh-CN" altLang="en-US" sz="2000" dirty="0"/>
              <a:t>，使其能够处理硬件中断。注意中断处理完成后需要调用跳转指令，读取</a:t>
            </a:r>
            <a:r>
              <a:rPr kumimoji="1" lang="en-US" altLang="zh-CN" sz="2000" dirty="0">
                <a:solidFill>
                  <a:srgbClr val="1A49EA"/>
                </a:solidFill>
              </a:rPr>
              <a:t>31</a:t>
            </a:r>
            <a:r>
              <a:rPr kumimoji="1" lang="zh-CN" altLang="en-US" sz="2000" dirty="0">
                <a:solidFill>
                  <a:srgbClr val="1A49EA"/>
                </a:solidFill>
              </a:rPr>
              <a:t>号寄存器</a:t>
            </a:r>
            <a:r>
              <a:rPr kumimoji="1" lang="zh-CN" altLang="en-US" sz="2000" dirty="0"/>
              <a:t>中的地址，</a:t>
            </a:r>
            <a:r>
              <a:rPr kumimoji="1" lang="zh-CN" altLang="en-US" sz="2000" dirty="0">
                <a:solidFill>
                  <a:srgbClr val="1A49EA"/>
                </a:solidFill>
              </a:rPr>
              <a:t>回到中断处</a:t>
            </a:r>
            <a:r>
              <a:rPr kumimoji="1" lang="zh-CN" altLang="en-US" sz="2000" dirty="0"/>
              <a:t>继续执行程序。假设当前已经进入流水线的程序仍需执行完成。</a:t>
            </a:r>
            <a:endParaRPr kumimoji="1" lang="en-US" altLang="zh-CN" sz="2000" dirty="0"/>
          </a:p>
          <a:p>
            <a:r>
              <a:rPr kumimoji="1" lang="zh-CN" altLang="en-US" sz="2400" dirty="0"/>
              <a:t>请指出需要生成哪些控制信号，并添加什么数据通路，并分析其作用</a:t>
            </a:r>
            <a:endParaRPr kumimoji="1" lang="en-US" altLang="zh-CN" sz="2400" dirty="0"/>
          </a:p>
          <a:p>
            <a:pPr lvl="1"/>
            <a:r>
              <a:rPr kumimoji="1" lang="en-US" altLang="zh-CN" sz="2000" dirty="0"/>
              <a:t>PC </a:t>
            </a:r>
            <a:r>
              <a:rPr kumimoji="1" lang="zh-CN" altLang="en-US" sz="2000" dirty="0"/>
              <a:t>的选择信号、寄存器的数据选择信号</a:t>
            </a:r>
            <a:endParaRPr kumimoji="1" lang="en-US" altLang="zh-CN" sz="2000" dirty="0"/>
          </a:p>
          <a:p>
            <a:pPr lvl="1"/>
            <a:r>
              <a:rPr kumimoji="1" lang="en-US" altLang="zh-CN" sz="2000" dirty="0"/>
              <a:t>PC </a:t>
            </a:r>
            <a:r>
              <a:rPr kumimoji="1" lang="zh-CN" altLang="en-US" sz="2000" dirty="0"/>
              <a:t>到 </a:t>
            </a:r>
            <a:r>
              <a:rPr kumimoji="1" lang="en-US" altLang="zh-CN" sz="2000" dirty="0"/>
              <a:t>Write Data </a:t>
            </a:r>
            <a:r>
              <a:rPr kumimoji="1" lang="zh-CN" altLang="en-US" sz="2000" dirty="0"/>
              <a:t>的数据通路，</a:t>
            </a:r>
            <a:r>
              <a:rPr kumimoji="1" lang="en-US" altLang="zh-CN" sz="2000" dirty="0"/>
              <a:t>31 </a:t>
            </a:r>
            <a:r>
              <a:rPr kumimoji="1" lang="zh-CN" altLang="en-US" sz="2000" dirty="0"/>
              <a:t>到 </a:t>
            </a:r>
            <a:r>
              <a:rPr kumimoji="1" lang="en-US" altLang="zh-CN" sz="2000" dirty="0" err="1"/>
              <a:t>Wite</a:t>
            </a:r>
            <a:r>
              <a:rPr kumimoji="1" lang="en-US" altLang="zh-CN" sz="2000" dirty="0"/>
              <a:t> </a:t>
            </a:r>
            <a:r>
              <a:rPr kumimoji="1" lang="en-US" altLang="zh-CN" sz="2000" dirty="0" err="1"/>
              <a:t>Addr</a:t>
            </a:r>
            <a:r>
              <a:rPr kumimoji="1" lang="en-US" altLang="zh-CN" sz="2000" dirty="0"/>
              <a:t> </a:t>
            </a:r>
            <a:r>
              <a:rPr kumimoji="1" lang="zh-CN" altLang="en-US" sz="2000" dirty="0"/>
              <a:t>的数据通路</a:t>
            </a:r>
            <a:endParaRPr kumimoji="1" lang="en-US" altLang="zh-CN" sz="2000" dirty="0"/>
          </a:p>
        </p:txBody>
      </p:sp>
      <p:sp>
        <p:nvSpPr>
          <p:cNvPr id="5" name="灯片编号占位符 3">
            <a:extLst>
              <a:ext uri="{FF2B5EF4-FFF2-40B4-BE49-F238E27FC236}">
                <a16:creationId xmlns:a16="http://schemas.microsoft.com/office/drawing/2014/main" id="{DD00447B-ABE5-A1F2-56AE-2B75ED110CBA}"/>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68</a:t>
            </a:fld>
            <a:endParaRPr lang="en-US" altLang="zh-CN" dirty="0"/>
          </a:p>
        </p:txBody>
      </p:sp>
    </p:spTree>
    <p:extLst>
      <p:ext uri="{BB962C8B-B14F-4D97-AF65-F5344CB8AC3E}">
        <p14:creationId xmlns:p14="http://schemas.microsoft.com/office/powerpoint/2010/main" val="25454851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B3232B49-E5F3-DA5B-04FC-15B6076345A4}"/>
              </a:ext>
            </a:extLst>
          </p:cNvPr>
          <p:cNvSpPr>
            <a:spLocks noGrp="1"/>
          </p:cNvSpPr>
          <p:nvPr>
            <p:ph type="body" idx="1"/>
          </p:nvPr>
        </p:nvSpPr>
        <p:spPr/>
        <p:txBody>
          <a:bodyPr anchor="ctr" anchorCtr="0"/>
          <a:lstStyle/>
          <a:p>
            <a:pPr algn="ctr"/>
            <a:r>
              <a:rPr kumimoji="1" lang="zh-CN" altLang="en-US" sz="4400" dirty="0"/>
              <a:t>祝同学们复习、考试顺利！</a:t>
            </a:r>
          </a:p>
        </p:txBody>
      </p:sp>
      <p:sp>
        <p:nvSpPr>
          <p:cNvPr id="4" name="灯片编号占位符 3">
            <a:extLst>
              <a:ext uri="{FF2B5EF4-FFF2-40B4-BE49-F238E27FC236}">
                <a16:creationId xmlns:a16="http://schemas.microsoft.com/office/drawing/2014/main" id="{F790519E-BB56-D5F7-665D-2D8B33EBE6D3}"/>
              </a:ext>
            </a:extLst>
          </p:cNvPr>
          <p:cNvSpPr>
            <a:spLocks noGrp="1"/>
          </p:cNvSpPr>
          <p:nvPr>
            <p:ph type="sldNum" sz="quarter" idx="12"/>
          </p:nvPr>
        </p:nvSpPr>
        <p:spPr/>
        <p:txBody>
          <a:bodyPr/>
          <a:lstStyle/>
          <a:p>
            <a:fld id="{EF8AC4FE-4EB1-4196-830A-993FA99EEC9B}" type="slidenum">
              <a:rPr lang="en-US" altLang="zh-CN" smtClean="0"/>
              <a:pPr/>
              <a:t>69</a:t>
            </a:fld>
            <a:endParaRPr lang="en-US" altLang="zh-CN"/>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9EE75761-A8F0-0B41-1951-76FDD8D9419D}"/>
                  </a:ext>
                </a:extLst>
              </p14:cNvPr>
              <p14:cNvContentPartPr/>
              <p14:nvPr/>
            </p14:nvContentPartPr>
            <p14:xfrm>
              <a:off x="7576200" y="6521400"/>
              <a:ext cx="360" cy="360"/>
            </p14:xfrm>
          </p:contentPart>
        </mc:Choice>
        <mc:Fallback xmlns="">
          <p:pic>
            <p:nvPicPr>
              <p:cNvPr id="2" name="墨迹 1">
                <a:extLst>
                  <a:ext uri="{FF2B5EF4-FFF2-40B4-BE49-F238E27FC236}">
                    <a16:creationId xmlns:a16="http://schemas.microsoft.com/office/drawing/2014/main" id="{9EE75761-A8F0-0B41-1951-76FDD8D9419D}"/>
                  </a:ext>
                </a:extLst>
              </p:cNvPr>
              <p:cNvPicPr/>
              <p:nvPr/>
            </p:nvPicPr>
            <p:blipFill>
              <a:blip r:embed="rId3"/>
              <a:stretch>
                <a:fillRect/>
              </a:stretch>
            </p:blipFill>
            <p:spPr>
              <a:xfrm>
                <a:off x="7566840" y="6512040"/>
                <a:ext cx="19080" cy="19080"/>
              </a:xfrm>
              <a:prstGeom prst="rect">
                <a:avLst/>
              </a:prstGeom>
            </p:spPr>
          </p:pic>
        </mc:Fallback>
      </mc:AlternateContent>
    </p:spTree>
    <p:extLst>
      <p:ext uri="{BB962C8B-B14F-4D97-AF65-F5344CB8AC3E}">
        <p14:creationId xmlns:p14="http://schemas.microsoft.com/office/powerpoint/2010/main" val="2750553161"/>
      </p:ext>
    </p:extLst>
  </p:cSld>
  <p:clrMapOvr>
    <a:masterClrMapping/>
  </p:clrMapOvr>
</p:sld>
</file>

<file path=ppt/theme/theme1.xml><?xml version="1.0" encoding="utf-8"?>
<a:theme xmlns:a="http://schemas.openxmlformats.org/drawingml/2006/main" name="默认设计模板">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主题1">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F855A03B-2F79-449A-B90F-94B44FA45948}" vid="{538C748A-327B-453F-972D-CABE279DD53F}"/>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24242</TotalTime>
  <Words>8305</Words>
  <Application>Microsoft Office PowerPoint</Application>
  <PresentationFormat>全屏显示(4:3)</PresentationFormat>
  <Paragraphs>1148</Paragraphs>
  <Slides>69</Slides>
  <Notes>37</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69</vt:i4>
      </vt:variant>
    </vt:vector>
  </HeadingPairs>
  <TitlesOfParts>
    <vt:vector size="85" baseType="lpstr">
      <vt:lpstr>等线</vt:lpstr>
      <vt:lpstr>黑体</vt:lpstr>
      <vt:lpstr>黑体</vt:lpstr>
      <vt:lpstr>STKaiti</vt:lpstr>
      <vt:lpstr>宋体</vt:lpstr>
      <vt:lpstr>Arial</vt:lpstr>
      <vt:lpstr>Cambria Math</vt:lpstr>
      <vt:lpstr>Comic Sans MS</vt:lpstr>
      <vt:lpstr>Helvetica</vt:lpstr>
      <vt:lpstr>Symbol</vt:lpstr>
      <vt:lpstr>Times</vt:lpstr>
      <vt:lpstr>Times New Roman</vt:lpstr>
      <vt:lpstr>Wingdings</vt:lpstr>
      <vt:lpstr>默认设计模板</vt:lpstr>
      <vt:lpstr>1_主题1</vt:lpstr>
      <vt:lpstr>公式</vt:lpstr>
      <vt:lpstr>PowerPoint 演示文稿</vt:lpstr>
      <vt:lpstr>指令集重点内容</vt:lpstr>
      <vt:lpstr>指令集重点内容</vt:lpstr>
      <vt:lpstr>MIPS架构中的数据存储</vt:lpstr>
      <vt:lpstr>寄存器 vs. 存储器</vt:lpstr>
      <vt:lpstr>指令格式总结</vt:lpstr>
      <vt:lpstr>MIPS寻址方式总结</vt:lpstr>
      <vt:lpstr>计算机指令系统</vt:lpstr>
      <vt:lpstr>汇编程序设计</vt:lpstr>
      <vt:lpstr>过程调用</vt:lpstr>
      <vt:lpstr>CPU性能评价</vt:lpstr>
      <vt:lpstr>影响性能的因素</vt:lpstr>
      <vt:lpstr>单周期处理器重点内容</vt:lpstr>
      <vt:lpstr>多周期处理器重点内容</vt:lpstr>
      <vt:lpstr>精简MIPS子集的数据通路设计</vt:lpstr>
      <vt:lpstr>精简MIPS子集的数据通路设计</vt:lpstr>
      <vt:lpstr>控制信号分析</vt:lpstr>
      <vt:lpstr>MIPS子集控制信号小结</vt:lpstr>
      <vt:lpstr>MIPS子集控制信号小结</vt:lpstr>
      <vt:lpstr>单周期处理器的关键路径</vt:lpstr>
      <vt:lpstr>多周期数据通路</vt:lpstr>
      <vt:lpstr>多周期功能描述和控制信号分析</vt:lpstr>
      <vt:lpstr>多周期控制信号结果</vt:lpstr>
      <vt:lpstr>异常和中断</vt:lpstr>
      <vt:lpstr>实现简化MIPS的异常处理</vt:lpstr>
      <vt:lpstr>流水线技术重点内容</vt:lpstr>
      <vt:lpstr>流水线的基本概念</vt:lpstr>
      <vt:lpstr>流水线的性能</vt:lpstr>
      <vt:lpstr>流水线的性能</vt:lpstr>
      <vt:lpstr>流水线的数据通路</vt:lpstr>
      <vt:lpstr>流水线冒险</vt:lpstr>
      <vt:lpstr>流水线：结构冒险</vt:lpstr>
      <vt:lpstr>流水线冒险</vt:lpstr>
      <vt:lpstr>数据转发</vt:lpstr>
      <vt:lpstr>Load-use Hazard 检测</vt:lpstr>
      <vt:lpstr>添加Hazard控制单元</vt:lpstr>
      <vt:lpstr>流水线的冒险</vt:lpstr>
      <vt:lpstr>流水线冒险：控制冒险</vt:lpstr>
      <vt:lpstr>流水线总结：RTL描述</vt:lpstr>
      <vt:lpstr>存储器重点内容</vt:lpstr>
      <vt:lpstr>存储器重点内容</vt:lpstr>
      <vt:lpstr>半导体存储器</vt:lpstr>
      <vt:lpstr>存储系统的设计理论</vt:lpstr>
      <vt:lpstr>层次化存储器的分析</vt:lpstr>
      <vt:lpstr>Cache技术：定义与基本组件</vt:lpstr>
      <vt:lpstr>Cache基本结构</vt:lpstr>
      <vt:lpstr>Cache技术：Cache地址映像方式</vt:lpstr>
      <vt:lpstr>Cache技术：Cache地址映像</vt:lpstr>
      <vt:lpstr>Cache技术：Cache地址映像方式</vt:lpstr>
      <vt:lpstr>缓存技术：Cache数据的替换及更新</vt:lpstr>
      <vt:lpstr>Cache：数据替换和更新策略</vt:lpstr>
      <vt:lpstr>缓存性能评估：3C原则</vt:lpstr>
      <vt:lpstr>Cache性能评估：3C原则</vt:lpstr>
      <vt:lpstr>Cache性能评估：Cache评价指标</vt:lpstr>
      <vt:lpstr>Cache性能评估：如何提高Cache性能</vt:lpstr>
      <vt:lpstr>模拟题解析：存储器部分</vt:lpstr>
      <vt:lpstr>模拟题解析：存储器部分</vt:lpstr>
      <vt:lpstr>模拟题解析：存储器部分</vt:lpstr>
      <vt:lpstr>模拟题解析：汇编部分</vt:lpstr>
      <vt:lpstr>模拟题解析：单周期处理器部分</vt:lpstr>
      <vt:lpstr>模拟题解析：单周期处理器部分</vt:lpstr>
      <vt:lpstr>模拟题解析：单周期处理器部分</vt:lpstr>
      <vt:lpstr>模拟题解析：单周期处理器部分</vt:lpstr>
      <vt:lpstr>模拟题解析：单周期处理器部分</vt:lpstr>
      <vt:lpstr>模拟题解析：流水线处理器部分</vt:lpstr>
      <vt:lpstr>模拟题解析：设计题</vt:lpstr>
      <vt:lpstr>模拟题解析：设计题</vt:lpstr>
      <vt:lpstr>模拟题解析：设计题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xing</dc:creator>
  <cp:lastModifiedBy>学清 李</cp:lastModifiedBy>
  <cp:revision>2334</cp:revision>
  <dcterms:created xsi:type="dcterms:W3CDTF">2009-12-11T02:45:36Z</dcterms:created>
  <dcterms:modified xsi:type="dcterms:W3CDTF">2024-06-10T13:44:23Z</dcterms:modified>
</cp:coreProperties>
</file>