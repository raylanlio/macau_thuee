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3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4.xml" ContentType="application/inkml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41.xml" ContentType="application/vnd.openxmlformats-officedocument.presentationml.notesSlide+xml"/>
  <Override PartName="/ppt/ink/ink5.xml" ContentType="application/inkml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5" r:id="rId1"/>
    <p:sldMasterId id="2147484153" r:id="rId2"/>
    <p:sldMasterId id="2147484169" r:id="rId3"/>
  </p:sldMasterIdLst>
  <p:notesMasterIdLst>
    <p:notesMasterId r:id="rId96"/>
  </p:notesMasterIdLst>
  <p:sldIdLst>
    <p:sldId id="544" r:id="rId4"/>
    <p:sldId id="1360" r:id="rId5"/>
    <p:sldId id="1470" r:id="rId6"/>
    <p:sldId id="1540" r:id="rId7"/>
    <p:sldId id="1535" r:id="rId8"/>
    <p:sldId id="1546" r:id="rId9"/>
    <p:sldId id="1230" r:id="rId10"/>
    <p:sldId id="1372" r:id="rId11"/>
    <p:sldId id="1236" r:id="rId12"/>
    <p:sldId id="1275" r:id="rId13"/>
    <p:sldId id="1476" r:id="rId14"/>
    <p:sldId id="1477" r:id="rId15"/>
    <p:sldId id="1541" r:id="rId16"/>
    <p:sldId id="1283" r:id="rId17"/>
    <p:sldId id="1243" r:id="rId18"/>
    <p:sldId id="1199" r:id="rId19"/>
    <p:sldId id="1139" r:id="rId20"/>
    <p:sldId id="1200" r:id="rId21"/>
    <p:sldId id="1291" r:id="rId22"/>
    <p:sldId id="1387" r:id="rId23"/>
    <p:sldId id="1555" r:id="rId24"/>
    <p:sldId id="1550" r:id="rId25"/>
    <p:sldId id="1288" r:id="rId26"/>
    <p:sldId id="926" r:id="rId27"/>
    <p:sldId id="972" r:id="rId28"/>
    <p:sldId id="1293" r:id="rId29"/>
    <p:sldId id="1294" r:id="rId30"/>
    <p:sldId id="1295" r:id="rId31"/>
    <p:sldId id="1296" r:id="rId32"/>
    <p:sldId id="974" r:id="rId33"/>
    <p:sldId id="1307" r:id="rId34"/>
    <p:sldId id="1262" r:id="rId35"/>
    <p:sldId id="1318" r:id="rId36"/>
    <p:sldId id="1323" r:id="rId37"/>
    <p:sldId id="1474" r:id="rId38"/>
    <p:sldId id="1328" r:id="rId39"/>
    <p:sldId id="977" r:id="rId40"/>
    <p:sldId id="980" r:id="rId41"/>
    <p:sldId id="979" r:id="rId42"/>
    <p:sldId id="1326" r:id="rId43"/>
    <p:sldId id="1248" r:id="rId44"/>
    <p:sldId id="1249" r:id="rId45"/>
    <p:sldId id="1157" r:id="rId46"/>
    <p:sldId id="1551" r:id="rId47"/>
    <p:sldId id="1467" r:id="rId48"/>
    <p:sldId id="1000" r:id="rId49"/>
    <p:sldId id="1389" r:id="rId50"/>
    <p:sldId id="1478" r:id="rId51"/>
    <p:sldId id="1464" r:id="rId52"/>
    <p:sldId id="1559" r:id="rId53"/>
    <p:sldId id="1560" r:id="rId54"/>
    <p:sldId id="1692" r:id="rId55"/>
    <p:sldId id="1693" r:id="rId56"/>
    <p:sldId id="1472" r:id="rId57"/>
    <p:sldId id="1568" r:id="rId58"/>
    <p:sldId id="1691" r:id="rId59"/>
    <p:sldId id="1545" r:id="rId60"/>
    <p:sldId id="1527" r:id="rId61"/>
    <p:sldId id="1363" r:id="rId62"/>
    <p:sldId id="1365" r:id="rId63"/>
    <p:sldId id="1004" r:id="rId64"/>
    <p:sldId id="1556" r:id="rId65"/>
    <p:sldId id="1694" r:id="rId66"/>
    <p:sldId id="1558" r:id="rId67"/>
    <p:sldId id="1240" r:id="rId68"/>
    <p:sldId id="1695" r:id="rId69"/>
    <p:sldId id="1364" r:id="rId70"/>
    <p:sldId id="1005" r:id="rId71"/>
    <p:sldId id="1006" r:id="rId72"/>
    <p:sldId id="1696" r:id="rId73"/>
    <p:sldId id="1367" r:id="rId74"/>
    <p:sldId id="1697" r:id="rId75"/>
    <p:sldId id="1009" r:id="rId76"/>
    <p:sldId id="1216" r:id="rId77"/>
    <p:sldId id="1010" r:id="rId78"/>
    <p:sldId id="1011" r:id="rId79"/>
    <p:sldId id="1547" r:id="rId80"/>
    <p:sldId id="1394" r:id="rId81"/>
    <p:sldId id="1460" r:id="rId82"/>
    <p:sldId id="1332" r:id="rId83"/>
    <p:sldId id="1336" r:id="rId84"/>
    <p:sldId id="1381" r:id="rId85"/>
    <p:sldId id="1382" r:id="rId86"/>
    <p:sldId id="1347" r:id="rId87"/>
    <p:sldId id="1349" r:id="rId88"/>
    <p:sldId id="1350" r:id="rId89"/>
    <p:sldId id="1352" r:id="rId90"/>
    <p:sldId id="1353" r:id="rId91"/>
    <p:sldId id="1356" r:id="rId92"/>
    <p:sldId id="1383" r:id="rId93"/>
    <p:sldId id="1384" r:id="rId94"/>
    <p:sldId id="1361" r:id="rId9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26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009900"/>
    <a:srgbClr val="DFDFF5"/>
    <a:srgbClr val="F0F9E7"/>
    <a:srgbClr val="ED7D31"/>
    <a:srgbClr val="FFFFFF"/>
    <a:srgbClr val="E5FFF1"/>
    <a:srgbClr val="F1E8F8"/>
    <a:srgbClr val="DEEBF7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79252" autoAdjust="0"/>
  </p:normalViewPr>
  <p:slideViewPr>
    <p:cSldViewPr>
      <p:cViewPr varScale="1">
        <p:scale>
          <a:sx n="68" d="100"/>
          <a:sy n="68" d="100"/>
        </p:scale>
        <p:origin x="1680" y="38"/>
      </p:cViewPr>
      <p:guideLst>
        <p:guide orient="horz" pos="3024"/>
        <p:guide pos="26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5" d="100"/>
        <a:sy n="175" d="100"/>
      </p:scale>
      <p:origin x="0" y="0"/>
    </p:cViewPr>
  </p:notesTextViewPr>
  <p:sorterViewPr>
    <p:cViewPr>
      <p:scale>
        <a:sx n="100" d="100"/>
        <a:sy n="100" d="100"/>
      </p:scale>
      <p:origin x="0" y="-181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31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29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2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2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4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43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4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97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101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3-19T12:12:16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17161 12490 0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4-03-19T12:14:48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17590 14595 0,'0'14'0,"0"-14"0,0 0 0,0 0 16,0 0-16,0 0 0,0 0 15,0 0-15,0 0 0,0 0 16,13 0 0,-1-7 15,0 7-16,13 0 1,24 0 0,25 0-1,37-7 1,12 7 0,-25 0-1,13 0 1,36 7-1,26-21 1,-63 7 0,-24 7-1,-24 0 1,36 0 0,25 0 15,13-7-16,-13 14 1,-25-7 0,1 14-1,61-7 1,12 0 0,-49 0-1,61 0 1,1 0-1,-13 0 1,0-7 0,1-7-1,48 14 1,-86-7 0,38 7 15,36-7-16,-25 6 1,-24-6 0,49 7-1,-12-14 1,-61 7 0,11-6-1,1-1 1,36 0-1,-61 0 1,-49 0 0,-12 0-1,-38 7 1,13 0 0,-24 0 15,11-7-16,-11 7 1,-1 0 0,0 0-1,0 0 1,-12 0 0,13 0-1,-13 0 1,12 0-1,-12 0 1,0 0 0,12 0-1,-12 0 1,0 0 0,0 0 15,13 0-16,-13 0 1</inkml:trace>
  <inkml:trace contextRef="#ctx0" brushRef="#br0" timeOffset="866.97">22794 14166 0,'13'-7'15,"-13"7"1,0 0 0,0 0-1,0 7 1,12 14 0,25 34 15,37 7-16,49 1 1,-37-22 0,-12-6-1,-13-7 1,25-1 0,-12 1-1,0-14 1,-25 0-1,-12-1 1,0-6 0,-12 0-1,-13 7 1,0-7 0,-12-7 15,-24 7-16,-38 41 1,-122 118 0,-26-27-1,1 34 1,160-118 0,12-27-1,13-21 1,24-7-1</inkml:trace>
  <inkml:trace contextRef="#ctx0" brushRef="#br0" timeOffset="1867.39">17701 10277 0,'12'34'0,"1"1"31,-13 13-16,0 1 1,0 96 0,0 125-1,0 21 1,0 145 0,-25-97-1,-12 194 1,13-353-1,-13 339 1,24-249 0,26 145-1,-1-90 1,13-214 0,-1 34 15,1 42-16,-1 34 1,-24-103 0,13-28-1,-1-21 1,-12-27 0,0-22-1,0 1 1,0-21-1</inkml:trace>
  <inkml:trace contextRef="#ctx0" brushRef="#br0" timeOffset="2417.16">17750 10159 0,'0'0'16,"0"0"0,-12 7-1,12 35 1,-37 48 0,-37 13-1,13-27 1,-13 1-1,12-36 1,25-13 0,37-28-1</inkml:trace>
  <inkml:trace contextRef="#ctx0" brushRef="#br0" timeOffset="2650.89">17713 10388 0,'0'-7'15,"0"20"1,13 8 0,-1 21-1,25 6 1,49 8-1,49-15 1,-135-41 0</inkml:trace>
  <inkml:trace contextRef="#ctx0" brushRef="#br0" timeOffset="6234.27">17763 11412 0,'0'0'15,"0"0"1,0 0-1,0 0 1,0 0 0,0 0-1,0 0 1,0 0 0,0 0 15,0 0-16,24 0 1,-12 0 0,13 0-1,12 0 1,0 0 0,12 7-1,37 0 1,-24-7-1,-13 7 1,-12-7 0,24 0-1,-11 6 1,23-6 0,-11 0-1,24 14 16,-12-7-15,0-7 0,-13 0-1,-24 0 1,12 0 0,-24 0-1,12 0 1,0 0-1,12 7 1,-12-7 0,12 7-1,0-7 1,0 7 0,1-7 15,-1 0-16,12 0 1,-11 0 0,-13 0-1,-13 0 1,1 0 0,-1 0-1,1 0 1,0 0-1,-13-7 1,0 7 0,0 0-1,1 0 1,24-7 0,-13 14 15,1-7-16,-13 0 1,13 0 0,-1 7-1,13-7 1,0 0 0,0 0-1,0 7 1,0 0-1,-12-7 1,-13 7 0,37 0-1,-12-14 1,-12 7 0,-1 0 15,-12 7-16,13 27 1,0-6 0,-13 0-1,13 20 1,-13 0 0,0 15-1,13 27 1,-25-21-1,12-14 1,0-6 0,-12-8-1,0-13 1,13 34 0,-13 7-1,0 1 16,0 20-15,12-7 0,-12 14-1,0-21 1,0-7 0,0-14-1,0-20 1,0-8-1,0 8 1,0-14 0,0 34-1,0-13 1,0 6 0,12 21 15,-24 8-16,12-1 1,0-21 0,12 28-1,-24-21 1,12-6 0,12-22-1,-12 8 1,0-15-1,0-13 1,0 7 0,0 0-1,0-7 1,0 6 0,0 22 15,0-7-16,0 6 1,0 8 0,0 6-1,0-20 1,0 6 0,0 14-1,13-6 1,-13 20-1,0-14 1,0-6 0,12-15-1,-12-6 1,0 0 0,25 6 15,-13-13-16,-12 0 1,12 0 0,-12-7-1,12-8 1,-12 8 0,13-7-1,-13 0 1,12 0-1,0 7 1,1-14 0,-1 14-1,13 0 1,11-7 0,-11-1 15,12 1-16,24 0 1,-11 0 0,-13-7-1,0 7 1,-13 0 0,1-7-1,24 7 1,0 0-1,13-7 1,-1 0 0,1 0-1,24 0 1,-12 0 0,-25 0 15,0 0-16,-12 0 1,37 7 0,-13 0-1,-11-7 1,23 7 0,13-7-1,13 0 1,-38 0-1,1 0 1,-25 0 0,0 0-1,-13-7 1,38 14 0,-1 0 15,-11-7-16,23 0 1,14 6 0,-14-12-1,1 6 1,-37 0 0,-12 0-1,-1 0 1,1 0-1,-1 0 1,-11 0 0,-1 0-1,0 0 1,-12 0 0,0 0 15,0 0-16</inkml:trace>
  <inkml:trace contextRef="#ctx0" brushRef="#br0" timeOffset="58667.11">18562 11993 0,'13'7'15,"-13"-7"1,12 7 0,12 7 15,1-7-16,12 0 1,0-7 0,12 0-1,-12 27 1,0-13 0,-13 0-1,1-7 1,0 0-1,-13 0 1,0 0 0,-12 0-1,13-1 1,-13-6 0,12 7 15,-12-7-16,0 7 1,12 0 0,-12-7-1,0 7 1,0 0 0,0 0-1,0-7 1,0 7-1,-12 7 1,-25-7 0,37-7-1</inkml:trace>
  <inkml:trace contextRef="#ctx0" brushRef="#br0" timeOffset="61417.01">17763 12270 0,'0'-7'16,"0"7"0,0 0-1,0 0 1,0 0 0,0 0-1,0 0 1,0 0-1,0 0 1,0 0 0,0 0-1,0 0 1,0 0 15,0 0-31,0 0 31,0 0-15,0 0 0,0 0-1,0 0 1,0 0 0,36 7-1,1-7 1,13 0-1,48-7 1,-12 0 15,-12 7-31,-25-7 16,25 14 0,-13-14 15,13 0-16,-12 7 1,-1 0 0,-11 7-1,-1-7 1,12 0 0,-24 7-1,-25-7 1,25 0-1,-24 0 1,-13 0 0,0 0-1</inkml:trace>
  <inkml:trace contextRef="#ctx0" brushRef="#br0" timeOffset="62684.36">18452 12567 0,'12'0'16,"-12"0"0,0 0-1,0-6 1,0 6 0,0 0-1,0 0 1,0 0-1,0 0 1,12-7 0,25-21-1,12 0 1,13-6 0,-13 6-1,12 0 16,-11 1-15,-13 13 0,-13 7-1,-12-7 1,1 7 0,11-7-1,-24 7 1,13 0-1,-1 7 1,-12 0 0,12-7-1,-12 7 1,0-6 15,13 6-31,-13-7 31,0 7-15,0 0 0,0 0-1,0 0 1,12-7 0,-12 7-1,0 0 1,0-7-1,-12-28 1,-38-6 0,-11-8-1,61 49 1</inkml:trace>
  <inkml:trace contextRef="#ctx0" brushRef="#br0" timeOffset="65849.46">18981 10713 0,'12'-7'15,"-12"7"1,0 0 0,0 7-1,0 14 16,12-1-15,-12 15 0,0 34-1,0-14 1,12 49 0,-12-28-1,0-76 1</inkml:trace>
  <inkml:trace contextRef="#ctx0" brushRef="#br0" timeOffset="66218.67">19005 11744 0,'0'14'0,"0"0"31,0 27-15,0 21 0,-12 1-1,12-15 1,-12 1 0,12-15-1,0-6 1,-13 55-1,1-14 1,-13 63 0,1-8-1,11-27 1,13-21 0,0-76 15</inkml:trace>
  <inkml:trace contextRef="#ctx0" brushRef="#br0" timeOffset="66618.94">18968 13488 0,'0'124'16,"-12"-103"-1,12-7 1,0 7-1,0 0 1,0 41 0,0 28-1,0 34 1,-25 22 0,13-36-1,0-13 16,24-34-15,0 27 0,1-14-1,-1 0 1,-12 41 0,12 29-1,-12-29 1,0-117-1</inkml:trace>
  <inkml:trace contextRef="#ctx0" brushRef="#br0" timeOffset="95683.64">22794 13806 0,'0'-14'15,"0"14"1,0 0 0,0 0-1,0 0 1,0 0 0,0 0-1,0 0 1,0 0-1,0 0 1,0 0 0,0 0-1,0 0 1,0 0 0,0 0-1,0 7 16,0-7-15,0 7 0,0 21-1,0 20 1,0 42 0,0 21-1,0-21 1,0-21-1,0-13 1,0-1 0,0-21-1,0 1 1,0 0 0,0 34 15,0 14-16,0 21 1,0-7 0,-12 34-1,12-48 1,0-27 0,0-1-1,-12-14 1,12-6-1,0 0 1,0-8 0,0 1-1,0 14 1,0-1 0,0-13 15,0-1-16,0-13 1,0 0 0,0 0-1,0-7 1,0 7 0,0 0-1,0-8 1,0 1-1,0 0 1,0 0 0,0 0-1,0-7 17</inkml:trace>
  <inkml:trace contextRef="#ctx0" brushRef="#br0" timeOffset="98900.46">22819 14692 0,'0'14'15,"0"-14"1,0 0 0,0 0-1,0 0 1,0 0 0,0 0 15,0 0-16,-12 14 1,-13 34 0,-49 91-1,0-8 1,25-62 0,-12-7-1,-1-13 1,13-14-1,24-22 1,25-13 0</inkml:trace>
  <inkml:trace contextRef="#ctx0" brushRef="#br0" timeOffset="99334.44">22782 14630 0,'0'0'16,"0"0"0,0 0-1,0 0 1,0 0-1,0 0 1,0 0 0,0 0-1,0 0 1,0 7 0,37 20 15,37 56-16,0 83 1,-25-62 0,0-28-1,-24-13 1,-25-29 0,0-34-1</inkml:trace>
  <inkml:trace contextRef="#ctx0" brushRef="#br0" timeOffset="112201.62">17750 13038 0,'0'7'16,"0"-7"-1,0 0 1,0 0-1,0 0 1,13 0 0,-13 0-1,24 0 1,1 7 0,24 0-1,37 0 16,0 0-15,-12-7 0,-12-7-1,11 14 1,26 6 0,-1 1-1,1-14 1,-1 7-1,-36-7 1,-26 0 0,1-7-1,-24 0 1,-13 7 15</inkml:trace>
  <inkml:trace contextRef="#ctx0" brushRef="#br0" timeOffset="113000.47">18181 12602 0,'0'-14'15,"0"14"1,0 7-1,0-7 1,0 14 0,0-14-1,-37 35 1,-49 55 0,12-35 15,12 7-16,13-20 1,0-1 0,0-13-1,24-14 1,13 0 0,-13-1-1,25-13 1,0 0-1,0 7 1,0-7 0,0 7-1,0 0 1,13 28 0,11 20 15,50 111-16,-74-166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4-03-19T12:30:58.1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9261 10574 0,'0'-7'0,"0"7"0,0 0 15,0 0-15,0 0 0,13 0 16,36 7-16,-12-7 0,49 7 16,37 0-1,61 0 1,-24 0 0,136-7-1,-50 0 1,12 0-1,13 0 1,-25-7 0,-209 7-1,49 7 1,0-7 0,0 0 15,-12 7-16,-25-7 1,0 0 0,-24 0-1,-1 0 1,-11 0 0,11 0-1,-11 0 1,-13 7-1,12-7 1,0 7 0,-12-7-1,13 34 1,-38 126 15,0 26-15,-24 22-1,-12 20 1,-1 56 0,38-173-1,-1-14 1,13 20 0,-13-34-1,13 14 1,12-14-1,-13-20 1,13 13 0,-12-28-1,12-27 1,0 14 15,-12-22-15,12 8-1,0-7 1,0 0 0,0 0-1,0-7 1,0 0 0,0-1-1,0 8 1,24 14-1,87 34 1,24-27 0,87 20-1,73-48 1,74 42 15,-12-63-15,12 41-1,-49-20 1,-25 14 0,-61-14-1,-234-7 1,12 0 0,-12 0-1,-24 0 1,24 0-1</inkml:trace>
  <inkml:trace contextRef="#ctx0" brushRef="#br0" timeOffset="1214.92">11451 11398 0,'0'0'0,"0"0"31,0 0-16,0 0 1,0 0 0,0 0-1,0 0 1,0 0 0,0 0-1,0 7 1,0 0-1,12 34 1,1 15 0,-1 20-1,25 55 17,0-34-17,0-7 1,-25-41-1,0-15 1,-12 1 0,13-8-1,-1-6 1,-12 0 0,0-14-1,0 7 1,0-7-1,12 0 1,-12-1 0,0-6-1,0 7 1,0-7 15,0-7-15,62-110-1,24-49 1,12 7 0,38 6-1,-26 15 1,-85 124 0,-25 14-1</inkml:trace>
  <inkml:trace contextRef="#ctx0" brushRef="#br0" timeOffset="68697.62">24628 16436 0,'12'-28'0,"-12"21"15,0 7-15,0-7 0,0-6 16,0-1-16,-37 7 0,0 7 16,-61-7-16,-1 28 15,38-1 1,11-20-1,-11-20 1,-62 6 0,-49-7-1,49 0 1,-13 21 15,-48-7-15,-75 49-1,50-63 1,-74 28 0,25 7-1,-25-28 1,0 56 0,0-70-1,-25 7 1,62-13-1,-61 20 1,48-14 0,-110 14-1,74-7 1,-99 14 15,75 1-15,-51 6-1,14 6 1,-26 8 0,-24-14-1,13 0 1,24 0 0,-25-7-1,12 7 1,-24 7-1,50-7 1,-26-7 0,25 21-1,38-14 1,-1 14 0,24 55 15,50 21-16,0 69 1,25-13 0,184-84-1,0-7 1,0 49 0,0 14-1,25-7 1,12 13-1,25-13 1,85-7 0,38-28-1,147 35 1,13-42 15,147-7-15,37-34-1,37-1 1,-24-20 0,-1 21-1,50-63 1,12 77 0,-50-70-1,-24 35 1,-12 0-1,12 21 1,25-1 0,12 8-1,-86 0 1,24-1 15,-85 1-15,-1-14-1,13-21 1,-74-21 0,49 0-1,-62-41 1,50-1 0,-98-13-1,-1 21 1,-61 7-1,-13 13 1,-171 35 0,-1-35-1,13-62 1,-13-48 15,12 21-15,-11 54-1,-1-47 1,0-15 0,-24-6-1,12-21 1,0 159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4-03-19T13:01:06.6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10209 11647 0,'0'0'15,"0"0"1,0 0 0,0 0-1,0 0 1,0 0-1,0 0 1,0 0 0,0 0-1,0 0 1,24 7 15,13-14-15,49 14-1,-24-7 1,12 7 0,-25-7-1,-12 0 1,-13 0 0,-11 0-1,-13 0 1</inkml:trace>
  <inkml:trace contextRef="#ctx0" brushRef="#br0" timeOffset="16882.84">10381 15536 0,'12'-20'15,"-12"20"1,0 0-1,0 0 1,0 0 0,0 0-1,0 0 1,0 0 15,0 0-15,0 0-1,0 0 1,12 0 0,1 0-1,36 20 1,12-6 0,-24-7-1,0 0 1,0 0-1,0 0 1,0-7 0,-12 0-1,-13-14 1,0 7 15,1 14-15,-13-7-1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3-19T13:03:51.3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247 12171 0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1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0AA2CDFD-9B59-41E7-8533-07012B1654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76281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501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下一页</a:t>
            </a:r>
            <a:r>
              <a:rPr lang="en-US" altLang="zh-CN" dirty="0"/>
              <a:t>63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8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937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按照</a:t>
            </a:r>
            <a:r>
              <a:rPr lang="en-US" altLang="zh-CN" dirty="0"/>
              <a:t>WSCP</a:t>
            </a:r>
            <a:r>
              <a:rPr lang="zh-CN" altLang="en-US" dirty="0"/>
              <a:t>的顺序，在彼岸则为</a:t>
            </a:r>
            <a:r>
              <a:rPr lang="en-US" altLang="zh-CN" dirty="0"/>
              <a:t>0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0432FF"/>
                </a:solidFill>
              </a:rPr>
              <a:t>过程</a:t>
            </a:r>
            <a:r>
              <a:rPr lang="zh-CN" altLang="en-US" dirty="0"/>
              <a:t>通过状态间的转换表示</a:t>
            </a:r>
            <a:endParaRPr lang="en-US" altLang="zh-CN" dirty="0"/>
          </a:p>
          <a:p>
            <a:r>
              <a:rPr lang="zh-CN" altLang="en-US" dirty="0">
                <a:solidFill>
                  <a:srgbClr val="0432FF"/>
                </a:solidFill>
              </a:rPr>
              <a:t>状态</a:t>
            </a:r>
            <a:r>
              <a:rPr lang="en-US" altLang="zh-CN" dirty="0">
                <a:solidFill>
                  <a:srgbClr val="0432FF"/>
                </a:solidFill>
              </a:rPr>
              <a:t>(State)</a:t>
            </a:r>
            <a:r>
              <a:rPr lang="zh-CN" altLang="en-US" dirty="0"/>
              <a:t>用记忆元件（锁存器</a:t>
            </a:r>
            <a:r>
              <a:rPr lang="en-US" altLang="zh-CN" dirty="0"/>
              <a:t>/</a:t>
            </a:r>
            <a:r>
              <a:rPr lang="zh-CN" altLang="en-US" dirty="0"/>
              <a:t>触发器）表示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3697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969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具体介绍时钟信号的参数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1079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一个最基本的时钟产生电路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当然大家可以简单想想，这样的一个电路有什么需求，如何才能振荡起来？不知道你们的电电课是不是讲过这个内容了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292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158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9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675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https://en.wikipedia.org/wiki/State_(computer_science)</a:t>
            </a:r>
          </a:p>
          <a:p>
            <a:r>
              <a:rPr lang="zh-CN" altLang="en-US" dirty="0"/>
              <a:t>当一个系统需要过去的信息来决定当前的行为时，通常需要状态来存储这些信息。</a:t>
            </a:r>
            <a:endParaRPr lang="en-US" altLang="zh-CN" dirty="0"/>
          </a:p>
          <a:p>
            <a:r>
              <a:rPr lang="en-US" altLang="zh-CN" dirty="0"/>
              <a:t>F(x_t;x_0,x_1,…,x_t-1,s_0) = F(x_t;s_t-1)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3198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有限状态机分为</a:t>
            </a:r>
            <a:r>
              <a:rPr lang="en-US" altLang="zh-CN" dirty="0"/>
              <a:t>mealy</a:t>
            </a:r>
            <a:r>
              <a:rPr lang="zh-CN" altLang="en-US" dirty="0"/>
              <a:t>机和</a:t>
            </a:r>
            <a:r>
              <a:rPr lang="en-US" altLang="zh-CN" dirty="0" err="1"/>
              <a:t>moore</a:t>
            </a:r>
            <a:r>
              <a:rPr lang="zh-CN" altLang="en-US" dirty="0"/>
              <a:t>机两种</a:t>
            </a:r>
            <a:endParaRPr lang="en-US" altLang="zh-CN" dirty="0"/>
          </a:p>
          <a:p>
            <a:r>
              <a:rPr lang="en-US" altLang="zh-CN" dirty="0"/>
              <a:t>Mealy</a:t>
            </a:r>
            <a:r>
              <a:rPr lang="zh-CN" altLang="en-US" dirty="0"/>
              <a:t>机的输出行为和输入以及系统的当前状态都有关，即</a:t>
            </a:r>
            <a:r>
              <a:rPr lang="en-US" altLang="zh-CN" dirty="0"/>
              <a:t>h:S*I-&gt;O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2516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有限状态机有多种表示方式：</a:t>
            </a:r>
            <a:endParaRPr lang="en-US" altLang="zh-CN" dirty="0"/>
          </a:p>
          <a:p>
            <a:r>
              <a:rPr lang="zh-CN" altLang="en-US" dirty="0"/>
              <a:t>一维状态转换表：每一行包括：输入；状态；次态；输出</a:t>
            </a:r>
            <a:endParaRPr lang="en-US" altLang="zh-CN" dirty="0"/>
          </a:p>
          <a:p>
            <a:r>
              <a:rPr lang="zh-CN" altLang="en-US" dirty="0"/>
              <a:t>二维状态转换表将输入和状态作为行和列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6004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? Moore/Mealy</a:t>
            </a:r>
          </a:p>
          <a:p>
            <a:r>
              <a:rPr lang="zh-CN" altLang="en-US" dirty="0"/>
              <a:t>状态转移图用圆圈以及圆圈中的符号表示不同状态；用箭头以及箭头边上的输入符号表示状态转移的方式。</a:t>
            </a:r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 err="1"/>
              <a:t>moore</a:t>
            </a:r>
            <a:r>
              <a:rPr lang="zh-CN" altLang="en-US" dirty="0"/>
              <a:t>机，就将输出和状态一起标在圈内；如果是</a:t>
            </a:r>
            <a:r>
              <a:rPr lang="en-US" altLang="zh-CN" dirty="0"/>
              <a:t>mealy</a:t>
            </a:r>
            <a:r>
              <a:rPr lang="zh-CN" altLang="en-US" dirty="0"/>
              <a:t>机，就将输出标在状态转移的箭头上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5690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选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0968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核心区别：输出规则</a:t>
            </a:r>
            <a:endParaRPr lang="en-US" altLang="zh-CN" dirty="0"/>
          </a:p>
          <a:p>
            <a:r>
              <a:rPr lang="en-US" altLang="zh-CN" dirty="0"/>
              <a:t>Moore/Mealy</a:t>
            </a:r>
          </a:p>
          <a:p>
            <a:r>
              <a:rPr lang="zh-CN" altLang="en-US" dirty="0"/>
              <a:t>状态转移图用圆圈以及圆圈中的符号表示不同状态；用箭头以及箭头边上的输入符号表示状态转移的方式。</a:t>
            </a:r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 err="1"/>
              <a:t>moore</a:t>
            </a:r>
            <a:r>
              <a:rPr lang="zh-CN" altLang="en-US" dirty="0"/>
              <a:t>机，就将输出和状态一起标在圈内；如果是</a:t>
            </a:r>
            <a:r>
              <a:rPr lang="en-US" altLang="zh-CN" dirty="0"/>
              <a:t>mealy</a:t>
            </a:r>
            <a:r>
              <a:rPr lang="zh-CN" altLang="en-US" dirty="0"/>
              <a:t>机，就将输出标在状态转移的箭头上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780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73632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存储器，怎么样能够记忆？一个典型的记忆单元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3126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如何方便的设初值？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如何改变状态？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1437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26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我们观察不同的输入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输入对锁存器的影响：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都是</a:t>
            </a:r>
            <a:r>
              <a:rPr lang="en-US" altLang="zh-CN" dirty="0"/>
              <a:t>0</a:t>
            </a:r>
            <a:r>
              <a:rPr lang="zh-CN" altLang="en-US" dirty="0"/>
              <a:t>时，锁存器的输出为之前的输入，这表明</a:t>
            </a:r>
            <a:r>
              <a:rPr lang="en-US" altLang="zh-CN" dirty="0"/>
              <a:t>SR</a:t>
            </a:r>
            <a:r>
              <a:rPr lang="zh-CN" altLang="en-US" dirty="0"/>
              <a:t>锁存器具有存储的能力</a:t>
            </a:r>
            <a:endParaRPr lang="en-US" altLang="zh-CN" dirty="0"/>
          </a:p>
          <a:p>
            <a:r>
              <a:rPr lang="en-US" altLang="zh-CN" dirty="0"/>
              <a:t>Q+</a:t>
            </a:r>
            <a:r>
              <a:rPr lang="zh-CN" altLang="en-US" dirty="0"/>
              <a:t>指</a:t>
            </a:r>
            <a:r>
              <a:rPr lang="en-US" altLang="zh-CN" dirty="0"/>
              <a:t>Q</a:t>
            </a:r>
            <a:r>
              <a:rPr lang="zh-CN" altLang="en-US" dirty="0"/>
              <a:t>的下一时刻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414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我们观察不同的输入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输入对锁存器的影响：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都是</a:t>
            </a:r>
            <a:r>
              <a:rPr lang="en-US" altLang="zh-CN" dirty="0"/>
              <a:t>0</a:t>
            </a:r>
            <a:r>
              <a:rPr lang="zh-CN" altLang="en-US" dirty="0"/>
              <a:t>时，锁存器的输出为之前的输入，这表明</a:t>
            </a:r>
            <a:r>
              <a:rPr lang="en-US" altLang="zh-CN" dirty="0"/>
              <a:t>SR</a:t>
            </a:r>
            <a:r>
              <a:rPr lang="zh-CN" altLang="en-US" dirty="0"/>
              <a:t>锁存器具有存储的能力</a:t>
            </a:r>
            <a:endParaRPr lang="en-US" altLang="zh-CN" dirty="0"/>
          </a:p>
          <a:p>
            <a:r>
              <a:rPr lang="en-US" altLang="zh-CN" dirty="0"/>
              <a:t>Q+</a:t>
            </a:r>
            <a:r>
              <a:rPr lang="zh-CN" altLang="en-US" dirty="0"/>
              <a:t>指</a:t>
            </a:r>
            <a:r>
              <a:rPr lang="en-US" altLang="zh-CN" dirty="0"/>
              <a:t>Q</a:t>
            </a:r>
            <a:r>
              <a:rPr lang="zh-CN" altLang="en-US" dirty="0"/>
              <a:t>的下一时刻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14850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我们观察不同的输入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输入对锁存器的影响：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都是</a:t>
            </a:r>
            <a:r>
              <a:rPr lang="en-US" altLang="zh-CN" dirty="0"/>
              <a:t>0</a:t>
            </a:r>
            <a:r>
              <a:rPr lang="zh-CN" altLang="en-US" dirty="0"/>
              <a:t>时，锁存器的输出为之前的输入，这表明</a:t>
            </a:r>
            <a:r>
              <a:rPr lang="en-US" altLang="zh-CN" dirty="0"/>
              <a:t>SR</a:t>
            </a:r>
            <a:r>
              <a:rPr lang="zh-CN" altLang="en-US" dirty="0"/>
              <a:t>锁存器具有存储的能力</a:t>
            </a:r>
            <a:endParaRPr lang="en-US" altLang="zh-CN" dirty="0"/>
          </a:p>
          <a:p>
            <a:r>
              <a:rPr lang="en-US" altLang="zh-CN" dirty="0"/>
              <a:t>Q+</a:t>
            </a:r>
            <a:r>
              <a:rPr lang="zh-CN" altLang="en-US" dirty="0"/>
              <a:t>指</a:t>
            </a:r>
            <a:r>
              <a:rPr lang="en-US" altLang="zh-CN" dirty="0"/>
              <a:t>Q</a:t>
            </a:r>
            <a:r>
              <a:rPr lang="zh-CN" altLang="en-US" dirty="0"/>
              <a:t>的下一时刻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5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我们观察不同的输入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输入对锁存器的影响：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都是</a:t>
            </a:r>
            <a:r>
              <a:rPr lang="en-US" altLang="zh-CN" dirty="0"/>
              <a:t>0</a:t>
            </a:r>
            <a:r>
              <a:rPr lang="zh-CN" altLang="en-US" dirty="0"/>
              <a:t>时，锁存器的输出为之前的输入，这表明</a:t>
            </a:r>
            <a:r>
              <a:rPr lang="en-US" altLang="zh-CN" dirty="0"/>
              <a:t>SR</a:t>
            </a:r>
            <a:r>
              <a:rPr lang="zh-CN" altLang="en-US" dirty="0"/>
              <a:t>锁存器具有存储的能力</a:t>
            </a:r>
            <a:endParaRPr lang="en-US" altLang="zh-CN" dirty="0"/>
          </a:p>
          <a:p>
            <a:r>
              <a:rPr lang="en-US" altLang="zh-CN" dirty="0"/>
              <a:t>Q+</a:t>
            </a:r>
            <a:r>
              <a:rPr lang="zh-CN" altLang="en-US" dirty="0"/>
              <a:t>指</a:t>
            </a:r>
            <a:r>
              <a:rPr lang="en-US" altLang="zh-CN" dirty="0"/>
              <a:t>Q</a:t>
            </a:r>
            <a:r>
              <a:rPr lang="zh-CN" altLang="en-US" dirty="0"/>
              <a:t>的下一时刻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60221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46371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207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门控</a:t>
            </a:r>
            <a:r>
              <a:rPr lang="en-US" altLang="zh-CN" dirty="0"/>
              <a:t>SR</a:t>
            </a:r>
            <a:r>
              <a:rPr lang="zh-CN" altLang="en-US" dirty="0"/>
              <a:t>锁存器增加了一个使能端</a:t>
            </a:r>
            <a:r>
              <a:rPr lang="en-US" altLang="zh-CN" dirty="0"/>
              <a:t>C</a:t>
            </a:r>
            <a:r>
              <a:rPr lang="zh-CN" altLang="en-US" dirty="0"/>
              <a:t>，使得只有在</a:t>
            </a:r>
            <a:r>
              <a:rPr lang="en-US" altLang="zh-CN" dirty="0"/>
              <a:t>C</a:t>
            </a:r>
            <a:r>
              <a:rPr lang="zh-CN" altLang="en-US" dirty="0"/>
              <a:t>为高时才能改变</a:t>
            </a:r>
            <a:r>
              <a:rPr lang="en-US" altLang="zh-CN" dirty="0"/>
              <a:t>SR</a:t>
            </a:r>
            <a:r>
              <a:rPr lang="zh-CN" altLang="en-US" dirty="0"/>
              <a:t>锁存器的状态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21022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</a:t>
            </a:r>
            <a:r>
              <a:rPr lang="zh-CN" altLang="en-US"/>
              <a:t>锁存器进一步将两个输入端</a:t>
            </a:r>
            <a:r>
              <a:rPr lang="en-US" altLang="zh-CN"/>
              <a:t>S</a:t>
            </a:r>
            <a:r>
              <a:rPr lang="zh-CN" altLang="en-US"/>
              <a:t>和</a:t>
            </a:r>
            <a:r>
              <a:rPr lang="en-US" altLang="zh-CN"/>
              <a:t>R</a:t>
            </a:r>
            <a:r>
              <a:rPr lang="zh-CN" altLang="en-US"/>
              <a:t>变成一个输入端</a:t>
            </a:r>
            <a:r>
              <a:rPr lang="en-US" altLang="zh-CN"/>
              <a:t>D</a:t>
            </a:r>
            <a:r>
              <a:rPr lang="zh-CN" altLang="en-US"/>
              <a:t>和他的反，从而避免</a:t>
            </a:r>
            <a:r>
              <a:rPr lang="en-US" altLang="zh-CN"/>
              <a:t>S</a:t>
            </a:r>
            <a:r>
              <a:rPr lang="zh-CN" altLang="en-US"/>
              <a:t>端和</a:t>
            </a:r>
            <a:r>
              <a:rPr lang="en-US" altLang="zh-CN"/>
              <a:t>R</a:t>
            </a:r>
            <a:r>
              <a:rPr lang="zh-CN" altLang="en-US"/>
              <a:t>端同时为</a:t>
            </a:r>
            <a:r>
              <a:rPr lang="en-US" altLang="zh-CN"/>
              <a:t>1</a:t>
            </a:r>
            <a:r>
              <a:rPr lang="zh-CN" altLang="en-US"/>
              <a:t>的情况，并通过控制</a:t>
            </a:r>
            <a:r>
              <a:rPr lang="en-US" altLang="zh-CN"/>
              <a:t>C</a:t>
            </a:r>
            <a:r>
              <a:rPr lang="zh-CN" altLang="en-US"/>
              <a:t>来实现状态保持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34854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80479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6670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对于门控</a:t>
            </a:r>
            <a:r>
              <a:rPr lang="en-US" altLang="zh-CN" dirty="0"/>
              <a:t>SR</a:t>
            </a:r>
            <a:r>
              <a:rPr lang="zh-CN" altLang="en-US" dirty="0"/>
              <a:t>锁存器：下降沿时刻的输出与历史有关，因为存在虽然</a:t>
            </a:r>
            <a:r>
              <a:rPr lang="en-US" altLang="zh-CN" dirty="0"/>
              <a:t>C</a:t>
            </a:r>
            <a:r>
              <a:rPr lang="zh-CN" altLang="en-US" dirty="0"/>
              <a:t>端为高但是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端都是低的情况；对于门控</a:t>
            </a:r>
            <a:r>
              <a:rPr lang="en-US" altLang="zh-CN" dirty="0"/>
              <a:t>D</a:t>
            </a:r>
            <a:r>
              <a:rPr lang="zh-CN" altLang="en-US" dirty="0"/>
              <a:t>锁存器，下降沿时刻的输出只与此刻的输入有关。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95636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下一页</a:t>
            </a:r>
            <a:r>
              <a:rPr lang="en-US" altLang="zh-CN" dirty="0"/>
              <a:t>66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1693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如图，当</a:t>
            </a:r>
            <a:r>
              <a:rPr lang="en-US" altLang="zh-CN" dirty="0"/>
              <a:t>S</a:t>
            </a:r>
            <a:r>
              <a:rPr lang="zh-CN" altLang="en-US" dirty="0"/>
              <a:t>从</a:t>
            </a:r>
            <a:r>
              <a:rPr lang="en-US" altLang="zh-CN" dirty="0"/>
              <a:t>0</a:t>
            </a:r>
            <a:r>
              <a:rPr lang="zh-CN" altLang="en-US" dirty="0"/>
              <a:t>变为</a:t>
            </a:r>
            <a:r>
              <a:rPr lang="en-US" altLang="zh-CN" dirty="0"/>
              <a:t>1</a:t>
            </a:r>
            <a:r>
              <a:rPr lang="zh-CN" altLang="en-US" dirty="0"/>
              <a:t>时，输出</a:t>
            </a:r>
            <a:r>
              <a:rPr lang="en-US" altLang="zh-CN" dirty="0"/>
              <a:t>Q</a:t>
            </a:r>
            <a:r>
              <a:rPr lang="zh-CN" altLang="en-US" dirty="0"/>
              <a:t>相应变化，但相对滞后于</a:t>
            </a:r>
            <a:r>
              <a:rPr lang="en-US" altLang="zh-CN" dirty="0"/>
              <a:t>S</a:t>
            </a:r>
            <a:r>
              <a:rPr lang="zh-CN" altLang="en-US" dirty="0"/>
              <a:t>的变化。这主要是由或非门的延迟导致的。我们定义从</a:t>
            </a:r>
            <a:r>
              <a:rPr lang="en-US" altLang="zh-CN" dirty="0"/>
              <a:t>S</a:t>
            </a:r>
            <a:r>
              <a:rPr lang="zh-CN" altLang="en-US" dirty="0"/>
              <a:t>超过高电平</a:t>
            </a:r>
            <a:r>
              <a:rPr lang="en-US" altLang="zh-CN" dirty="0"/>
              <a:t>1/2</a:t>
            </a:r>
            <a:r>
              <a:rPr lang="zh-CN" altLang="en-US" dirty="0"/>
              <a:t>到</a:t>
            </a:r>
            <a:r>
              <a:rPr lang="en-US" altLang="zh-CN" dirty="0"/>
              <a:t>Q</a:t>
            </a:r>
            <a:r>
              <a:rPr lang="zh-CN" altLang="en-US" dirty="0"/>
              <a:t>超过高电平</a:t>
            </a:r>
            <a:r>
              <a:rPr lang="en-US" altLang="zh-CN" dirty="0"/>
              <a:t>1/2</a:t>
            </a:r>
            <a:r>
              <a:rPr lang="zh-CN" altLang="en-US" dirty="0"/>
              <a:t>的时间为</a:t>
            </a:r>
            <a:r>
              <a:rPr lang="en-US" altLang="zh-CN" dirty="0" err="1"/>
              <a:t>tpLH</a:t>
            </a:r>
            <a:endParaRPr lang="en-US" altLang="zh-CN" dirty="0"/>
          </a:p>
          <a:p>
            <a:r>
              <a:rPr lang="zh-CN" altLang="en-US" dirty="0"/>
              <a:t>其余的定义类似。</a:t>
            </a:r>
            <a:endParaRPr lang="en-US" altLang="zh-CN" dirty="0"/>
          </a:p>
          <a:p>
            <a:r>
              <a:rPr lang="zh-CN" altLang="en-US" dirty="0"/>
              <a:t>注意，</a:t>
            </a:r>
            <a:r>
              <a:rPr lang="en-US" altLang="zh-CN" dirty="0"/>
              <a:t>Q</a:t>
            </a:r>
            <a:r>
              <a:rPr lang="zh-CN" altLang="en-US" dirty="0"/>
              <a:t>和</a:t>
            </a:r>
            <a:r>
              <a:rPr lang="en-US" altLang="zh-CN" dirty="0"/>
              <a:t>Q’</a:t>
            </a:r>
            <a:r>
              <a:rPr lang="zh-CN" altLang="en-US" dirty="0"/>
              <a:t>的参数不一定一致，因为并没有要求两个或非门是完全一样的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55843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下一页</a:t>
            </a: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31015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同步过程如果设计的不好就会遇到亚稳态问题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027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怎么看到的？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0193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将亚稳态的发生概率降低到工程可以容忍的范围内，比如平均几十年发生一次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19873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9524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44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39841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01617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</a:t>
            </a:r>
            <a:r>
              <a:rPr lang="zh-CN" altLang="en-US"/>
              <a:t>，状态为</a:t>
            </a:r>
            <a:r>
              <a:rPr lang="en-US" altLang="zh-CN"/>
              <a:t>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9613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96447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04636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3265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76481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42472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44342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时序上，</a:t>
            </a:r>
            <a:r>
              <a:rPr lang="en-US" altLang="zh-CN" dirty="0"/>
              <a:t>D</a:t>
            </a:r>
            <a:r>
              <a:rPr lang="zh-CN" altLang="en-US" dirty="0"/>
              <a:t>触发器需要满足建立时间和保持时间的约束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21130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下一页</a:t>
            </a:r>
            <a:r>
              <a:rPr lang="en-US" altLang="zh-CN" dirty="0"/>
              <a:t>63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35928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建立时间：采样前从寄存器输入变化到采样的时间大于</a:t>
            </a:r>
            <a:r>
              <a:rPr lang="en-US" altLang="zh-CN" dirty="0" err="1"/>
              <a:t>tsu</a:t>
            </a:r>
            <a:endParaRPr lang="en-US" altLang="zh-CN" dirty="0"/>
          </a:p>
          <a:p>
            <a:r>
              <a:rPr lang="zh-CN" altLang="en-US" dirty="0"/>
              <a:t>这要求路径上的组合逻辑延时不能太长</a:t>
            </a:r>
            <a:endParaRPr lang="en-US" altLang="zh-CN" dirty="0"/>
          </a:p>
          <a:p>
            <a:r>
              <a:rPr lang="zh-CN" altLang="en-US" dirty="0"/>
              <a:t>通常在功能确定之后，这意味着电路的时钟频率不能太高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19127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保持时间：采样后输入数据的维持时间要大于</a:t>
            </a:r>
            <a:r>
              <a:rPr lang="en-US" altLang="zh-CN" dirty="0" err="1"/>
              <a:t>th</a:t>
            </a:r>
            <a:endParaRPr lang="en-US" altLang="zh-CN" dirty="0"/>
          </a:p>
          <a:p>
            <a:r>
              <a:rPr lang="zh-CN" altLang="en-US" dirty="0"/>
              <a:t>保持时间要求寄存器和组合逻辑的延时不能太短，信号不能变化太快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1890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除了刚才讲过的</a:t>
            </a:r>
            <a:r>
              <a:rPr lang="en-US" altLang="zh-CN" dirty="0"/>
              <a:t>D</a:t>
            </a:r>
            <a:r>
              <a:rPr lang="zh-CN" altLang="en-US" dirty="0"/>
              <a:t>触发器和</a:t>
            </a:r>
            <a:r>
              <a:rPr lang="en-US" altLang="zh-CN" dirty="0"/>
              <a:t>RS</a:t>
            </a:r>
            <a:r>
              <a:rPr lang="zh-CN" altLang="en-US" dirty="0"/>
              <a:t>触发器，还有</a:t>
            </a:r>
            <a:r>
              <a:rPr lang="en-US" altLang="zh-CN" dirty="0"/>
              <a:t>T</a:t>
            </a:r>
            <a:r>
              <a:rPr lang="zh-CN" altLang="en-US" dirty="0"/>
              <a:t>触发器和</a:t>
            </a:r>
            <a:r>
              <a:rPr lang="en-US" altLang="zh-CN" dirty="0"/>
              <a:t>JK</a:t>
            </a:r>
            <a:r>
              <a:rPr lang="zh-CN" altLang="en-US" dirty="0"/>
              <a:t>触发器，它们都是沿触发，但是在行为上不太相同。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8552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下面我们来看四中功能的触发器的逻辑特性方程，即</a:t>
            </a:r>
            <a:r>
              <a:rPr lang="en-US" altLang="zh-CN" dirty="0"/>
              <a:t>Q+</a:t>
            </a:r>
            <a:r>
              <a:rPr lang="zh-CN" altLang="en-US" dirty="0"/>
              <a:t>关于</a:t>
            </a:r>
            <a:r>
              <a:rPr lang="en-US" altLang="zh-CN" dirty="0"/>
              <a:t>Q</a:t>
            </a:r>
            <a:r>
              <a:rPr lang="zh-CN" altLang="en-US" dirty="0"/>
              <a:t>和输入信号的逻辑。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我们画出卡诺图，然后用之前学过的方法进行化简。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45786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我们根据不同的状态跳转情况画出各种触发器需要的激励条件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03952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62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515313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68048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我们用</a:t>
            </a:r>
            <a:r>
              <a:rPr kumimoji="1" lang="en-US" altLang="zh-CN" dirty="0" err="1"/>
              <a:t>ppt</a:t>
            </a:r>
            <a:r>
              <a:rPr kumimoji="1" lang="zh-CN" altLang="en-US" dirty="0"/>
              <a:t>上的函数形式来表示一个波形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911730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除了刚才讲过的</a:t>
            </a:r>
            <a:r>
              <a:rPr lang="en-US" altLang="zh-CN" dirty="0"/>
              <a:t>D</a:t>
            </a:r>
            <a:r>
              <a:rPr lang="zh-CN" altLang="en-US" dirty="0"/>
              <a:t>触发器和</a:t>
            </a:r>
            <a:r>
              <a:rPr lang="en-US" altLang="zh-CN" dirty="0"/>
              <a:t>RS</a:t>
            </a:r>
            <a:r>
              <a:rPr lang="zh-CN" altLang="en-US" dirty="0"/>
              <a:t>触发器，还有</a:t>
            </a:r>
            <a:r>
              <a:rPr lang="en-US" altLang="zh-CN" dirty="0"/>
              <a:t>T</a:t>
            </a:r>
            <a:r>
              <a:rPr lang="zh-CN" altLang="en-US" dirty="0"/>
              <a:t>触发器和</a:t>
            </a:r>
            <a:r>
              <a:rPr lang="en-US" altLang="zh-CN" dirty="0"/>
              <a:t>JK</a:t>
            </a:r>
            <a:r>
              <a:rPr lang="zh-CN" altLang="en-US" dirty="0"/>
              <a:t>触发器，它们都是沿触发，但是在行为上不太相同。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8552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除了刚才讲过的</a:t>
            </a:r>
            <a:r>
              <a:rPr lang="en-US" altLang="zh-CN" dirty="0"/>
              <a:t>D</a:t>
            </a:r>
            <a:r>
              <a:rPr lang="zh-CN" altLang="en-US" dirty="0"/>
              <a:t>触发器和</a:t>
            </a:r>
            <a:r>
              <a:rPr lang="en-US" altLang="zh-CN" dirty="0"/>
              <a:t>RS</a:t>
            </a:r>
            <a:r>
              <a:rPr lang="zh-CN" altLang="en-US" dirty="0"/>
              <a:t>触发器，还有</a:t>
            </a:r>
            <a:r>
              <a:rPr lang="en-US" altLang="zh-CN" dirty="0"/>
              <a:t>T</a:t>
            </a:r>
            <a:r>
              <a:rPr lang="zh-CN" altLang="en-US" dirty="0"/>
              <a:t>触发器和</a:t>
            </a:r>
            <a:r>
              <a:rPr lang="en-US" altLang="zh-CN" dirty="0"/>
              <a:t>JK</a:t>
            </a:r>
            <a:r>
              <a:rPr lang="zh-CN" altLang="en-US" dirty="0"/>
              <a:t>触发器，它们都是沿触发，但是在行为上不太相同。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</a:t>
            </a:r>
          </a:p>
          <a:p>
            <a:r>
              <a:rPr lang="en-US" altLang="zh-CN" dirty="0"/>
              <a:t>D</a:t>
            </a:r>
          </a:p>
          <a:p>
            <a:r>
              <a:rPr lang="en-US" altLang="zh-CN" dirty="0"/>
              <a:t>RS</a:t>
            </a:r>
          </a:p>
          <a:p>
            <a:r>
              <a:rPr lang="en-US" altLang="zh-CN" dirty="0"/>
              <a:t>JK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6794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根据上一页的激励表我们可以画出这一页的状态转移图，它们之间是等价的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29558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91453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下面我们来看四中功能的触发器的逻辑特性方程，即</a:t>
            </a:r>
            <a:r>
              <a:rPr lang="en-US" altLang="zh-CN" dirty="0"/>
              <a:t>Q+</a:t>
            </a:r>
            <a:r>
              <a:rPr lang="zh-CN" altLang="en-US" dirty="0"/>
              <a:t>关于</a:t>
            </a:r>
            <a:r>
              <a:rPr lang="en-US" altLang="zh-CN" dirty="0"/>
              <a:t>Q</a:t>
            </a:r>
            <a:r>
              <a:rPr lang="zh-CN" altLang="en-US" dirty="0"/>
              <a:t>和输入信号的逻辑。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我们画出卡诺图，然后用之前学过的方法进行化简。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457869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RS</a:t>
            </a:r>
            <a:r>
              <a:rPr lang="zh-CN" altLang="en-US" dirty="0"/>
              <a:t>触发器和</a:t>
            </a:r>
            <a:r>
              <a:rPr lang="en-US" altLang="zh-CN" dirty="0"/>
              <a:t>JK</a:t>
            </a:r>
            <a:r>
              <a:rPr lang="zh-CN" altLang="en-US" dirty="0"/>
              <a:t>触发器的特性方程如图所示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3094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我们根据不同的状态跳转情况画出各种触发器需要的激励条件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03952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首先列出</a:t>
            </a:r>
            <a:r>
              <a:rPr lang="en-US" altLang="zh-CN" dirty="0"/>
              <a:t>D</a:t>
            </a:r>
            <a:r>
              <a:rPr lang="zh-CN" altLang="en-US" dirty="0"/>
              <a:t>触发器和</a:t>
            </a:r>
            <a:r>
              <a:rPr lang="en-US" altLang="zh-CN" dirty="0"/>
              <a:t>T</a:t>
            </a:r>
            <a:r>
              <a:rPr lang="zh-CN" altLang="en-US" dirty="0"/>
              <a:t>触发器的特性方程</a:t>
            </a:r>
            <a:endParaRPr lang="en-US" altLang="zh-CN" dirty="0"/>
          </a:p>
          <a:p>
            <a:r>
              <a:rPr lang="zh-CN" altLang="en-US" dirty="0"/>
              <a:t>然后另</a:t>
            </a:r>
            <a:r>
              <a:rPr lang="en-US" altLang="zh-CN" dirty="0"/>
              <a:t>Q+</a:t>
            </a:r>
            <a:r>
              <a:rPr lang="zh-CN" altLang="en-US" dirty="0"/>
              <a:t>相等，得到</a:t>
            </a:r>
            <a:r>
              <a:rPr lang="en-US" altLang="zh-CN" dirty="0"/>
              <a:t>D</a:t>
            </a:r>
            <a:r>
              <a:rPr lang="zh-CN" altLang="en-US" dirty="0"/>
              <a:t>触发器的输入关于</a:t>
            </a:r>
            <a:r>
              <a:rPr lang="en-US" altLang="zh-CN" dirty="0"/>
              <a:t>T</a:t>
            </a:r>
            <a:r>
              <a:rPr lang="zh-CN" altLang="en-US" dirty="0"/>
              <a:t>端的逻辑，这里</a:t>
            </a:r>
            <a:r>
              <a:rPr lang="en-US" altLang="zh-CN" dirty="0"/>
              <a:t>D</a:t>
            </a:r>
            <a:r>
              <a:rPr lang="zh-CN" altLang="en-US" dirty="0"/>
              <a:t>是</a:t>
            </a:r>
            <a:r>
              <a:rPr lang="en-US" altLang="zh-CN" dirty="0"/>
              <a:t>T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的异或。</a:t>
            </a:r>
            <a:endParaRPr lang="en-US" altLang="zh-CN" dirty="0"/>
          </a:p>
          <a:p>
            <a:r>
              <a:rPr lang="zh-CN" altLang="en-US" dirty="0"/>
              <a:t>然后画出对应的电路图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12576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84527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? Moore/Mealy</a:t>
            </a:r>
          </a:p>
          <a:p>
            <a:r>
              <a:rPr lang="zh-CN" altLang="en-US" dirty="0"/>
              <a:t>状态转移图用圆圈以及圆圈中的符号表示不同状态；用箭头以及箭头边上的输入符号表示状态转移的方式。</a:t>
            </a:r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 err="1"/>
              <a:t>moore</a:t>
            </a:r>
            <a:r>
              <a:rPr lang="zh-CN" altLang="en-US" dirty="0"/>
              <a:t>机，就将输出和状态一起标在圈内；如果是</a:t>
            </a:r>
            <a:r>
              <a:rPr lang="en-US" altLang="zh-CN" dirty="0"/>
              <a:t>mealy</a:t>
            </a:r>
            <a:r>
              <a:rPr lang="zh-CN" altLang="en-US" dirty="0"/>
              <a:t>机，就将输出标在状态转移的箭头上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A2CDFD-9B59-41E7-8533-07012B1654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726548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804187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主从触发器由两个门控的锁存器构成，一个为</a:t>
            </a:r>
            <a:r>
              <a:rPr lang="en-US" altLang="zh-CN" dirty="0"/>
              <a:t>Clock</a:t>
            </a:r>
            <a:r>
              <a:rPr lang="zh-CN" altLang="en-US" dirty="0"/>
              <a:t>高电平使能，另一个为</a:t>
            </a:r>
            <a:r>
              <a:rPr lang="en-US" altLang="zh-CN" dirty="0"/>
              <a:t>Clock</a:t>
            </a:r>
            <a:r>
              <a:rPr lang="zh-CN" altLang="en-US" dirty="0"/>
              <a:t>低电平使能。两个触发器的使能端由时钟控制</a:t>
            </a:r>
            <a:endParaRPr lang="en-US" altLang="zh-CN" dirty="0"/>
          </a:p>
          <a:p>
            <a:r>
              <a:rPr lang="zh-CN" altLang="en-US" dirty="0"/>
              <a:t>可以</a:t>
            </a:r>
            <a:r>
              <a:rPr lang="en-US" altLang="zh-CN" dirty="0"/>
              <a:t>refer</a:t>
            </a:r>
            <a:r>
              <a:rPr lang="zh-CN" altLang="en-US" dirty="0"/>
              <a:t>这个网址的演示：</a:t>
            </a:r>
            <a:r>
              <a:rPr lang="en-US" altLang="zh-CN" dirty="0"/>
              <a:t>http://www.falstad.com/circuit/e-masterslaveff.html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100142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456925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从锁存器变为锁定状态，保存的最后一刻</a:t>
            </a:r>
            <a:r>
              <a:rPr lang="en-US" altLang="zh-CN" sz="12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Q</a:t>
            </a:r>
            <a:r>
              <a:rPr lang="en-US" altLang="zh-CN" sz="1200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M</a:t>
            </a:r>
            <a:r>
              <a:rPr lang="zh-CN" altLang="en-US" sz="12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的值是之前主锁存器锁定的</a:t>
            </a:r>
            <a:r>
              <a:rPr lang="en-US" altLang="zh-CN" sz="12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Q</a:t>
            </a:r>
            <a:r>
              <a:rPr lang="en-US" altLang="zh-CN" sz="1200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M</a:t>
            </a:r>
            <a:r>
              <a:rPr lang="zh-CN" altLang="en-US" sz="12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值，不发生变化。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82453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665001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78247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466882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0630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10579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43727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283256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091848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493325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=0</a:t>
            </a:r>
            <a:r>
              <a:rPr lang="zh-CN" altLang="en-US" dirty="0"/>
              <a:t>时</a:t>
            </a:r>
            <a:r>
              <a:rPr lang="en-US" altLang="zh-CN" dirty="0"/>
              <a:t>G2,G3</a:t>
            </a:r>
            <a:r>
              <a:rPr lang="zh-CN" altLang="en-US" dirty="0"/>
              <a:t>都是</a:t>
            </a:r>
            <a:r>
              <a:rPr lang="en-US" altLang="zh-CN" dirty="0"/>
              <a:t>1</a:t>
            </a:r>
            <a:r>
              <a:rPr lang="zh-CN" altLang="en-US" dirty="0"/>
              <a:t>，保持；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 err="1"/>
              <a:t>clk</a:t>
            </a:r>
            <a:r>
              <a:rPr lang="en-US" altLang="zh-CN" dirty="0"/>
              <a:t>=1</a:t>
            </a:r>
            <a:r>
              <a:rPr lang="zh-CN" altLang="en-US" dirty="0"/>
              <a:t>时，</a:t>
            </a:r>
            <a:r>
              <a:rPr lang="en-US" altLang="zh-CN" dirty="0"/>
              <a:t>G2,G1</a:t>
            </a:r>
            <a:r>
              <a:rPr lang="zh-CN" altLang="en-US" dirty="0"/>
              <a:t>有一个是封闭的，</a:t>
            </a:r>
            <a:r>
              <a:rPr lang="en-US" altLang="zh-CN" dirty="0"/>
              <a:t>D</a:t>
            </a:r>
            <a:r>
              <a:rPr lang="zh-CN" altLang="en-US" dirty="0"/>
              <a:t>的影响无法传播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SR</a:t>
            </a:r>
            <a:r>
              <a:rPr lang="zh-CN" altLang="en-US" dirty="0"/>
              <a:t>主从触发器的</a:t>
            </a:r>
            <a:r>
              <a:rPr lang="en-US" altLang="zh-CN" dirty="0"/>
              <a:t>master</a:t>
            </a:r>
            <a:r>
              <a:rPr lang="zh-CN" altLang="en-US" dirty="0"/>
              <a:t>改为</a:t>
            </a:r>
            <a:r>
              <a:rPr lang="en-US" altLang="zh-CN" dirty="0"/>
              <a:t>D</a:t>
            </a:r>
            <a:r>
              <a:rPr lang="zh-CN" altLang="en-US" dirty="0"/>
              <a:t>锁存器可以实现同样的功能，但是需要更多的晶体管</a:t>
            </a:r>
            <a:r>
              <a:rPr lang="en-US" altLang="zh-CN" dirty="0"/>
              <a:t>(18+16+2=36)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A2CDFD-9B59-41E7-8533-07012B16544E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122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zh-CN"/>
              <a:t>Click to edit Master subtitle style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1A54F4-70B2-404D-BB48-9D70BC3E840C}" type="datetime1">
              <a:rPr lang="en-US" smtClean="0">
                <a:solidFill>
                  <a:prstClr val="black"/>
                </a:solidFill>
              </a:rPr>
              <a:t>3/19/2024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/>
                </a:solidFill>
              </a:rPr>
              <a:t>XueqingLi@tsinghua.edu.cn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A7351D-8884-438E-9298-BA860FD4FA2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37208F54-42C8-22EF-69A4-AE45819566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29" y="10392"/>
            <a:ext cx="1313572" cy="1313572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5E99BBB1-8EEB-46FB-201E-508C9D0759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28" t="909" r="12068" b="1273"/>
          <a:stretch/>
        </p:blipFill>
        <p:spPr>
          <a:xfrm>
            <a:off x="31172" y="10392"/>
            <a:ext cx="1340427" cy="13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3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F3A8A5-1607-3C4C-A76C-781F9FF724DC}" type="datetime1">
              <a:rPr lang="en-US" smtClean="0">
                <a:solidFill>
                  <a:prstClr val="black"/>
                </a:solidFill>
              </a:rPr>
              <a:t>3/19/2024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/>
                </a:solidFill>
              </a:rPr>
              <a:t>XueqingLi@tsinghua.edu.cn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DA1413-205F-6345-BEAF-915BE2391D02}"/>
              </a:ext>
            </a:extLst>
          </p:cNvPr>
          <p:cNvCxnSpPr/>
          <p:nvPr userDrawn="1"/>
        </p:nvCxnSpPr>
        <p:spPr>
          <a:xfrm>
            <a:off x="146854" y="836712"/>
            <a:ext cx="8856984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7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7AE1DB-F4EE-A442-9A93-46BFA9F0C692}" type="datetime1">
              <a:rPr lang="en-US" smtClean="0">
                <a:solidFill>
                  <a:prstClr val="black"/>
                </a:solidFill>
              </a:rPr>
              <a:t>3/19/2024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/>
                </a:solidFill>
              </a:rPr>
              <a:t>XueqingLi@tsinghua.edu.cn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A7351D-8884-438E-9298-BA860FD4FA2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97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6710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013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6BFA2B-AF22-B84B-B4FD-9178850CA7C4}" type="datetime1">
              <a:rPr lang="en-US" smtClean="0">
                <a:solidFill>
                  <a:prstClr val="black"/>
                </a:solidFill>
              </a:rPr>
              <a:t>3/19/2024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/>
                </a:solidFill>
              </a:rPr>
              <a:t>XueqingLi@tsinghua.edu.cn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EC90723-9149-804A-A259-3BF8FFB04174}"/>
              </a:ext>
            </a:extLst>
          </p:cNvPr>
          <p:cNvCxnSpPr/>
          <p:nvPr userDrawn="1"/>
        </p:nvCxnSpPr>
        <p:spPr>
          <a:xfrm>
            <a:off x="146854" y="836712"/>
            <a:ext cx="8856984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594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9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6140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874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70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4614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57749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r>
              <a:rPr lang="en-GB" altLang="zh-CN" noProof="0"/>
              <a:t>Click icon to add table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47762"/>
      </p:ext>
    </p:extLst>
  </p:cSld>
  <p:clrMapOvr>
    <a:masterClrMapping/>
  </p:clrMapOvr>
  <p:transition>
    <p:wipe dir="r"/>
  </p:transition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3962400" cy="5029200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447800"/>
            <a:ext cx="3962400" cy="2438400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038600"/>
            <a:ext cx="3962400" cy="2438400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1142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716463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716463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21204"/>
      </p:ext>
    </p:extLst>
  </p:cSld>
  <p:clrMapOvr>
    <a:masterClrMapping/>
  </p:clrMapOvr>
  <p:transition>
    <p:wipe dir="r"/>
  </p:transition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zh-CN"/>
              <a:t>Click to edit Master subtitle style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37208F54-42C8-22EF-69A4-AE45819566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29" y="10392"/>
            <a:ext cx="1313572" cy="1313572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5E99BBB1-8EEB-46FB-201E-508C9D0759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28" t="909" r="12068" b="1273"/>
          <a:stretch/>
        </p:blipFill>
        <p:spPr>
          <a:xfrm>
            <a:off x="31172" y="10392"/>
            <a:ext cx="1340427" cy="13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3253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0790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2475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9841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60002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99747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46526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30476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31562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16915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29035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289903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r>
              <a:rPr lang="en-GB" altLang="zh-CN" noProof="0"/>
              <a:t>Click icon to add table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33493"/>
      </p:ext>
    </p:extLst>
  </p:cSld>
  <p:clrMapOvr>
    <a:masterClrMapping/>
  </p:clrMapOvr>
  <p:transition>
    <p:wipe dir="r"/>
  </p:transition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3962400" cy="5029200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447800"/>
            <a:ext cx="3962400" cy="2438400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038600"/>
            <a:ext cx="3962400" cy="2438400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129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716463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716463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17864"/>
      </p:ext>
    </p:extLst>
  </p:cSld>
  <p:clrMapOvr>
    <a:masterClrMapping/>
  </p:clrMapOvr>
  <p:transition>
    <p:wipe dir="r"/>
  </p:transition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FA956-E31B-9246-90B7-8D35F5B6C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AE406-8C78-F946-B227-DB8BD01C5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FC5E3-52B5-2240-8ACC-90AB9CCF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A7CFB-B60F-B349-AAAC-4336747F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D26C8-3C90-6F4D-9738-EC1AD39C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18365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0EB4E-3478-DB4B-BB99-2FF26A85D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F948-08E8-D74F-82F7-7E80F955E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C0C45-2B56-6440-8270-2A79AD15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E84B5-5D9C-8A4D-8992-B69324CD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6BA44-BD05-EC42-AB1B-EEF41CB2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50921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4DAB-6BE9-2940-B032-900A5E4D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12C81-8DFC-BC4A-A3D9-501DC308F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52A83-2DF4-9C46-91ED-B3090C0A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E2415-2CE3-5445-BC3A-13A2BAA0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DB9B1-DAB3-4140-90A5-B2DDA2A2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52047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86A0C-5A62-2B49-B3D5-C14A9D6D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68C36-4B3B-9D46-96B8-BAC3092B7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30D21-D404-994B-A536-6BB929D44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57A5B-AD93-EB4A-979B-56F9E2BC5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CD999-FDEC-E04C-A849-FFE45CB0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374C8-AA7A-1845-A312-183F0216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11715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2D4D-8265-EE45-9E62-B944BE0A5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DAF32-6236-DC4B-A516-BAEA1B54B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D2531-2CE2-F14B-9350-8B6861441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86093-188E-4847-9CF0-27E8B8DA9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953FBE-54C7-5A46-B87A-37EAA80CF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D44CA-FC9E-2842-9A9F-020F121F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10BF5-D139-B046-B002-5B10276D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C78F0-6999-474B-BF98-294B8078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90419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5A9E-1B01-EF46-AFEB-AF1FF027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B4357-6C66-0549-AA16-401998FF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83C8E-E5B7-7D4B-B1A0-71644BD3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22DB9-81D1-C941-B82D-A14CE6DF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8012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F12B4-5A13-C241-A3D4-136165AA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946E4-2CE2-0B40-9E07-F21002BD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D10B8-EE6D-9544-BA8B-CAE61993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97238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01BF-DA0F-C648-837C-37AD5909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FD60B-6DB4-544E-91D3-404C7790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2C8DC-90BE-0048-8DD9-D7DAB6F6D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87748-27A0-5C4D-864D-D424DA6CA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29FF1-1A9D-E145-819B-862769FE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5A025-4082-1F4F-83F0-EBC981D0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46700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C032-1BA9-D94D-904D-EFD700954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5EDA2-E5C9-E843-8292-BEE2BB027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510E6-2D0C-2E44-B9B4-4D0A26120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E0AEE-EA07-754D-B623-2A44030D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E99CF-A20F-9948-8534-94277D60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78AB3-2024-D54F-998A-3222912D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26680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1A76A-9E9C-6A4E-9DB5-FBA22637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D61A6-0C33-964A-82BB-BE5BA63D2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67DED-C58B-DC45-B76E-01D8EA8F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DA2B4-F3E6-D84A-BDF6-EEFAEF2D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A3984-3346-9F48-97EC-0FBA9D5E5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84047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F354F6-ACDC-4043-BF73-0798B8D2C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5A6CA-BEB6-3742-ADDE-D7FFB27C8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87A5-F538-B245-91B2-81579639A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4A7C3-81C6-9840-94F8-B35E4E12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98B14-3B98-6246-BC35-2D8247FD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2814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a typeface="黑体" panose="02010609060101010101" pitchFamily="49" charset="-122"/>
              </a:defRPr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1" dirty="0">
                <a:solidFill>
                  <a:schemeClr val="accent2"/>
                </a:solidFill>
                <a:latin typeface="Times New Roman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832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  <p:sldLayoutId id="2147484137" r:id="rId12"/>
    <p:sldLayoutId id="2147484138" r:id="rId13"/>
    <p:sldLayoutId id="2147484139" r:id="rId14"/>
    <p:sldLayoutId id="2147484140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a typeface="黑体" panose="02010609060101010101" pitchFamily="49" charset="-122"/>
              </a:defRPr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1" dirty="0">
                <a:solidFill>
                  <a:schemeClr val="accent2"/>
                </a:solidFill>
                <a:latin typeface="Times New Roman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6549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4" r:id="rId1"/>
    <p:sldLayoutId id="2147484155" r:id="rId2"/>
    <p:sldLayoutId id="214748415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  <p:sldLayoutId id="2147484165" r:id="rId12"/>
    <p:sldLayoutId id="2147484166" r:id="rId13"/>
    <p:sldLayoutId id="2147484167" r:id="rId14"/>
    <p:sldLayoutId id="2147484168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BAB64-EA4D-5A48-8A29-86134A0B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65FA3-3C81-1243-88CF-0C7AB2B2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50DB1-81AC-2D43-BD3D-ABE9564FA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6960E-FA4A-8C48-BED4-F6146B0A4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59032-24F1-7F4F-A38F-E6804B1B9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ACFD1-D213-4B9C-817B-45486DBF10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5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0" r:id="rId1"/>
    <p:sldLayoutId id="2147484171" r:id="rId2"/>
    <p:sldLayoutId id="2147484172" r:id="rId3"/>
    <p:sldLayoutId id="2147484173" r:id="rId4"/>
    <p:sldLayoutId id="2147484174" r:id="rId5"/>
    <p:sldLayoutId id="2147484175" r:id="rId6"/>
    <p:sldLayoutId id="2147484176" r:id="rId7"/>
    <p:sldLayoutId id="2147484177" r:id="rId8"/>
    <p:sldLayoutId id="2147484178" r:id="rId9"/>
    <p:sldLayoutId id="2147484179" r:id="rId10"/>
    <p:sldLayoutId id="214748418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slideLayout" Target="../slideLayouts/slideLayout32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9.tmp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tags" Target="../tags/tag43.xml"/><Relationship Id="rId26" Type="http://schemas.openxmlformats.org/officeDocument/2006/relationships/image" Target="../media/image18.png"/><Relationship Id="rId3" Type="http://schemas.openxmlformats.org/officeDocument/2006/relationships/tags" Target="../tags/tag28.xml"/><Relationship Id="rId21" Type="http://schemas.openxmlformats.org/officeDocument/2006/relationships/tags" Target="../tags/tag46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5" Type="http://schemas.openxmlformats.org/officeDocument/2006/relationships/notesSlide" Target="../notesSlides/notesSlide15.xml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0" Type="http://schemas.openxmlformats.org/officeDocument/2006/relationships/tags" Target="../tags/tag45.xml"/><Relationship Id="rId29" Type="http://schemas.openxmlformats.org/officeDocument/2006/relationships/customXml" Target="../ink/ink1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24" Type="http://schemas.openxmlformats.org/officeDocument/2006/relationships/slideLayout" Target="../slideLayouts/slideLayout32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23" Type="http://schemas.openxmlformats.org/officeDocument/2006/relationships/tags" Target="../tags/tag48.xml"/><Relationship Id="rId28" Type="http://schemas.openxmlformats.org/officeDocument/2006/relationships/image" Target="../media/image9.tmp"/><Relationship Id="rId10" Type="http://schemas.openxmlformats.org/officeDocument/2006/relationships/tags" Target="../tags/tag35.xml"/><Relationship Id="rId19" Type="http://schemas.openxmlformats.org/officeDocument/2006/relationships/tags" Target="../tags/tag44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tags" Target="../tags/tag47.xml"/><Relationship Id="rId27" Type="http://schemas.openxmlformats.org/officeDocument/2006/relationships/image" Target="../media/image19.png"/><Relationship Id="rId30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4.emf"/><Relationship Id="rId5" Type="http://schemas.openxmlformats.org/officeDocument/2006/relationships/image" Target="../media/image21.wmf"/><Relationship Id="rId15" Type="http://schemas.openxmlformats.org/officeDocument/2006/relationships/customXml" Target="../ink/ink2.xml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60.png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png"/><Relationship Id="rId5" Type="http://schemas.openxmlformats.org/officeDocument/2006/relationships/image" Target="../media/image24.emf"/><Relationship Id="rId4" Type="http://schemas.openxmlformats.org/officeDocument/2006/relationships/oleObject" Target="../embeddings/oleObject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8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9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1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37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39.png"/><Relationship Id="rId5" Type="http://schemas.openxmlformats.org/officeDocument/2006/relationships/image" Target="../media/image36.emf"/><Relationship Id="rId10" Type="http://schemas.openxmlformats.org/officeDocument/2006/relationships/customXml" Target="../ink/ink3.xml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41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2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41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8.wmf"/><Relationship Id="rId5" Type="http://schemas.openxmlformats.org/officeDocument/2006/relationships/image" Target="../media/image40.e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6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29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3.emf"/><Relationship Id="rId4" Type="http://schemas.openxmlformats.org/officeDocument/2006/relationships/oleObject" Target="../embeddings/oleObject25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29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4.emf"/><Relationship Id="rId4" Type="http://schemas.openxmlformats.org/officeDocument/2006/relationships/oleObject" Target="../embeddings/oleObject27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3.png"/><Relationship Id="rId5" Type="http://schemas.openxmlformats.org/officeDocument/2006/relationships/image" Target="../media/image45.emf"/><Relationship Id="rId4" Type="http://schemas.openxmlformats.org/officeDocument/2006/relationships/oleObject" Target="../embeddings/oleObject28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0.png"/><Relationship Id="rId4" Type="http://schemas.openxmlformats.org/officeDocument/2006/relationships/customXml" Target="../ink/ink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notesSlide" Target="../notesSlides/notesSlide41.xml"/><Relationship Id="rId3" Type="http://schemas.openxmlformats.org/officeDocument/2006/relationships/tags" Target="../tags/tag50.xml"/><Relationship Id="rId21" Type="http://schemas.openxmlformats.org/officeDocument/2006/relationships/image" Target="../media/image9.tmp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slideLayout" Target="../slideLayouts/slideLayout32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0" Type="http://schemas.openxmlformats.org/officeDocument/2006/relationships/image" Target="../media/image51.wmf"/><Relationship Id="rId1" Type="http://schemas.openxmlformats.org/officeDocument/2006/relationships/vmlDrawing" Target="../drawings/vmlDrawing19.v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23" Type="http://schemas.openxmlformats.org/officeDocument/2006/relationships/image" Target="../media/image20.png"/><Relationship Id="rId10" Type="http://schemas.openxmlformats.org/officeDocument/2006/relationships/tags" Target="../tags/tag57.xml"/><Relationship Id="rId19" Type="http://schemas.openxmlformats.org/officeDocument/2006/relationships/oleObject" Target="../embeddings/oleObject29.bin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customXml" Target="../ink/ink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5.png"/><Relationship Id="rId4" Type="http://schemas.openxmlformats.org/officeDocument/2006/relationships/image" Target="../media/image54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50.png"/><Relationship Id="rId5" Type="http://schemas.openxmlformats.org/officeDocument/2006/relationships/image" Target="../media/image51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3.png"/><Relationship Id="rId11" Type="http://schemas.openxmlformats.org/officeDocument/2006/relationships/image" Target="../media/image65.png"/><Relationship Id="rId5" Type="http://schemas.openxmlformats.org/officeDocument/2006/relationships/image" Target="../media/image62.png"/><Relationship Id="rId10" Type="http://schemas.openxmlformats.org/officeDocument/2006/relationships/image" Target="../media/image621.png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7" Type="http://schemas.openxmlformats.org/officeDocument/2006/relationships/image" Target="../media/image57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29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62.emf"/><Relationship Id="rId3" Type="http://schemas.openxmlformats.org/officeDocument/2006/relationships/notesSlide" Target="../notesSlides/notesSlide57.xml"/><Relationship Id="rId7" Type="http://schemas.openxmlformats.org/officeDocument/2006/relationships/image" Target="../media/image59.emf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61.emf"/><Relationship Id="rId5" Type="http://schemas.openxmlformats.org/officeDocument/2006/relationships/image" Target="../media/image58.e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60.emf"/><Relationship Id="rId14" Type="http://schemas.openxmlformats.org/officeDocument/2006/relationships/image" Target="../media/image9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731.png"/><Relationship Id="rId4" Type="http://schemas.openxmlformats.org/officeDocument/2006/relationships/image" Target="../media/image72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3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7" Type="http://schemas.openxmlformats.org/officeDocument/2006/relationships/image" Target="../media/image64.e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63.emf"/><Relationship Id="rId4" Type="http://schemas.openxmlformats.org/officeDocument/2006/relationships/oleObject" Target="../embeddings/oleObject38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notesSlide" Target="../notesSlides/notesSlide62.xml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79.png"/><Relationship Id="rId4" Type="http://schemas.openxmlformats.org/officeDocument/2006/relationships/image" Target="../media/image77.png"/><Relationship Id="rId9" Type="http://schemas.openxmlformats.org/officeDocument/2006/relationships/image" Target="../media/image7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0.png"/><Relationship Id="rId4" Type="http://schemas.openxmlformats.org/officeDocument/2006/relationships/image" Target="../media/image47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84.png"/><Relationship Id="rId18" Type="http://schemas.openxmlformats.org/officeDocument/2006/relationships/image" Target="../media/image91.png"/><Relationship Id="rId3" Type="http://schemas.openxmlformats.org/officeDocument/2006/relationships/notesSlide" Target="../notesSlides/notesSlide65.xml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83.png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87.png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1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51.wmf"/><Relationship Id="rId4" Type="http://schemas.openxmlformats.org/officeDocument/2006/relationships/image" Target="../media/image75.png"/><Relationship Id="rId9" Type="http://schemas.openxmlformats.org/officeDocument/2006/relationships/oleObject" Target="../embeddings/oleObject590.bin"/><Relationship Id="rId14" Type="http://schemas.openxmlformats.org/officeDocument/2006/relationships/image" Target="../media/image85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94.png"/><Relationship Id="rId4" Type="http://schemas.openxmlformats.org/officeDocument/2006/relationships/image" Target="../media/image66.wmf"/><Relationship Id="rId9" Type="http://schemas.openxmlformats.org/officeDocument/2006/relationships/image" Target="../media/image93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3" Type="http://schemas.openxmlformats.org/officeDocument/2006/relationships/notesSlide" Target="../notesSlides/notesSlide66.xml"/><Relationship Id="rId7" Type="http://schemas.openxmlformats.org/officeDocument/2006/relationships/image" Target="../media/image680.png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670.png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5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image" Target="../media/image89.png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image" Target="../media/image88.png"/><Relationship Id="rId2" Type="http://schemas.openxmlformats.org/officeDocument/2006/relationships/tags" Target="../tags/tag64.xml"/><Relationship Id="rId16" Type="http://schemas.openxmlformats.org/officeDocument/2006/relationships/image" Target="../media/image66.wmf"/><Relationship Id="rId20" Type="http://schemas.openxmlformats.org/officeDocument/2006/relationships/image" Target="../media/image9.tmp"/><Relationship Id="rId1" Type="http://schemas.openxmlformats.org/officeDocument/2006/relationships/vmlDrawing" Target="../drawings/vmlDrawing29.v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oleObject" Target="../embeddings/oleObject46.bin"/><Relationship Id="rId10" Type="http://schemas.openxmlformats.org/officeDocument/2006/relationships/tags" Target="../tags/tag72.xml"/><Relationship Id="rId19" Type="http://schemas.openxmlformats.org/officeDocument/2006/relationships/image" Target="../media/image90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slideLayout" Target="../slideLayouts/slideLayout2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tags" Target="../tags/tag78.xml"/><Relationship Id="rId7" Type="http://schemas.openxmlformats.org/officeDocument/2006/relationships/image" Target="../media/image98.png"/><Relationship Id="rId12" Type="http://schemas.openxmlformats.org/officeDocument/2006/relationships/image" Target="../media/image90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76.xml"/><Relationship Id="rId11" Type="http://schemas.openxmlformats.org/officeDocument/2006/relationships/image" Target="../media/image89.png"/><Relationship Id="rId5" Type="http://schemas.openxmlformats.org/officeDocument/2006/relationships/notesSlide" Target="../notesSlides/notesSlide67.xml"/><Relationship Id="rId10" Type="http://schemas.openxmlformats.org/officeDocument/2006/relationships/image" Target="../media/image88.png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10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tif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2.tif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3" Type="http://schemas.openxmlformats.org/officeDocument/2006/relationships/notesSlide" Target="../notesSlides/notesSlide69.xml"/><Relationship Id="rId7" Type="http://schemas.openxmlformats.org/officeDocument/2006/relationships/image" Target="../media/image98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97.e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100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97.emf"/><Relationship Id="rId4" Type="http://schemas.openxmlformats.org/officeDocument/2006/relationships/oleObject" Target="../embeddings/oleObject49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97.emf"/><Relationship Id="rId4" Type="http://schemas.openxmlformats.org/officeDocument/2006/relationships/oleObject" Target="../embeddings/oleObject49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97.emf"/><Relationship Id="rId4" Type="http://schemas.openxmlformats.org/officeDocument/2006/relationships/oleObject" Target="../embeddings/oleObject49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7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8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9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1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101.emf"/><Relationship Id="rId4" Type="http://schemas.openxmlformats.org/officeDocument/2006/relationships/oleObject" Target="../embeddings/oleObject5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C91091-851D-C043-80A4-DDF9D988B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10000"/>
            <a:ext cx="9144000" cy="2435224"/>
          </a:xfrm>
        </p:spPr>
        <p:txBody>
          <a:bodyPr>
            <a:normAutofit/>
          </a:bodyPr>
          <a:lstStyle/>
          <a:p>
            <a:pPr>
              <a:buClr>
                <a:schemeClr val="hlink"/>
              </a:buClr>
            </a:pPr>
            <a:r>
              <a:rPr lang="zh-CN" altLang="en-US" sz="3900" b="0" dirty="0">
                <a:latin typeface="+mn-ea"/>
                <a:ea typeface="+mn-ea"/>
              </a:rPr>
              <a:t>李学清</a:t>
            </a:r>
            <a:endParaRPr lang="en-US" altLang="zh-CN" sz="3900" b="0" dirty="0">
              <a:latin typeface="+mn-ea"/>
              <a:ea typeface="+mn-ea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99"/>
              </a:buClr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黑体" pitchFamily="2" charset="-122"/>
                <a:cs typeface="+mn-cs"/>
              </a:rPr>
              <a:t>#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黑体" pitchFamily="2" charset="-122"/>
                <a:cs typeface="+mn-cs"/>
              </a:rPr>
              <a:t>腾讯会议：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黑体" pitchFamily="2" charset="-122"/>
                <a:cs typeface="+mn-cs"/>
              </a:rPr>
              <a:t>858-8541-2550</a:t>
            </a:r>
            <a:endParaRPr lang="en-US" altLang="zh-CN" sz="3000" b="0" dirty="0">
              <a:solidFill>
                <a:srgbClr val="3333FF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r>
              <a:rPr lang="en-US" altLang="zh-CN" sz="3000" b="0" dirty="0">
                <a:latin typeface="+mn-lt"/>
                <a:ea typeface="黑体" pitchFamily="2" charset="-122"/>
              </a:rPr>
              <a:t>2024</a:t>
            </a:r>
            <a:r>
              <a:rPr lang="zh-CN" altLang="en-US" sz="3000" b="0" dirty="0">
                <a:latin typeface="+mn-lt"/>
                <a:ea typeface="黑体" pitchFamily="2" charset="-122"/>
              </a:rPr>
              <a:t>年</a:t>
            </a:r>
            <a:r>
              <a:rPr lang="en-US" altLang="zh-CN" sz="3000" b="0" dirty="0">
                <a:latin typeface="+mn-lt"/>
                <a:ea typeface="黑体" pitchFamily="2" charset="-122"/>
              </a:rPr>
              <a:t>3</a:t>
            </a:r>
            <a:r>
              <a:rPr lang="zh-CN" altLang="en-US" sz="3000" b="0" dirty="0">
                <a:latin typeface="+mn-lt"/>
                <a:ea typeface="黑体" pitchFamily="2" charset="-122"/>
              </a:rPr>
              <a:t>月</a:t>
            </a:r>
            <a:r>
              <a:rPr lang="en-US" altLang="zh-CN" sz="3000" b="0" dirty="0">
                <a:latin typeface="+mn-lt"/>
                <a:ea typeface="黑体" pitchFamily="2" charset="-122"/>
              </a:rPr>
              <a:t>19</a:t>
            </a:r>
            <a:r>
              <a:rPr lang="zh-CN" altLang="en-US" sz="3000" b="0" dirty="0">
                <a:latin typeface="+mn-lt"/>
                <a:ea typeface="黑体" pitchFamily="2" charset="-122"/>
              </a:rPr>
              <a:t>日</a:t>
            </a:r>
            <a:endParaRPr lang="en-US" sz="3000" b="0" dirty="0">
              <a:latin typeface="+mn-lt"/>
              <a:ea typeface="黑体" pitchFamily="2" charset="-12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4125F-FED8-744A-9332-4A3ABB57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351D-8884-438E-9298-BA860FD4FA20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87ACA7C8-4FD1-184D-BE00-62FE20F99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57"/>
            <a:ext cx="9144000" cy="13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数字逻辑与处理器基础</a:t>
            </a:r>
            <a:endParaRPr lang="en-US" altLang="zh-CN" sz="36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Fundamentals of Digital Logic and Processor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EBB42122-7088-A14B-9CBF-705E9B4BC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4784"/>
            <a:ext cx="9144000" cy="211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48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第四讲 时序逻辑（</a:t>
            </a:r>
            <a:r>
              <a:rPr lang="en-US" altLang="zh-CN" sz="48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1/2</a:t>
            </a:r>
            <a:r>
              <a:rPr lang="zh-CN" altLang="en-US" sz="48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zh-CN" altLang="en-US" sz="36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2869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2293"/>
            <a:ext cx="8229600" cy="1143000"/>
          </a:xfrm>
        </p:spPr>
        <p:txBody>
          <a:bodyPr/>
          <a:lstStyle/>
          <a:p>
            <a:r>
              <a:rPr lang="zh-CN" altLang="en-US" b="1" dirty="0"/>
              <a:t>时序逻辑的作用</a:t>
            </a:r>
            <a:endParaRPr lang="en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CABE1-A93D-DA4C-9D8B-F7DA5E01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740A80B5-8018-2141-82B2-EAA7E1BC8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0201" y="2438400"/>
            <a:ext cx="327660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E14C25E-7F24-6D4C-B095-DA6F3739C540}"/>
              </a:ext>
            </a:extLst>
          </p:cNvPr>
          <p:cNvGrpSpPr/>
          <p:nvPr/>
        </p:nvGrpSpPr>
        <p:grpSpPr>
          <a:xfrm>
            <a:off x="1906157" y="3894992"/>
            <a:ext cx="774571" cy="1074220"/>
            <a:chOff x="2069237" y="3134861"/>
            <a:chExt cx="774571" cy="10742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3E2887-D5E7-4343-A684-7EF77F2BCB9D}"/>
                </a:ext>
              </a:extLst>
            </p:cNvPr>
            <p:cNvSpPr/>
            <p:nvPr/>
          </p:nvSpPr>
          <p:spPr>
            <a:xfrm>
              <a:off x="2239213" y="3134861"/>
              <a:ext cx="43473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i="1" kern="0" dirty="0">
                  <a:solidFill>
                    <a:schemeClr val="accent6">
                      <a:lumMod val="75000"/>
                    </a:schemeClr>
                  </a:solidFill>
                  <a:latin typeface="Calibri"/>
                  <a:ea typeface="黑体" pitchFamily="49" charset="-122"/>
                </a:rPr>
                <a:t>f </a:t>
              </a:r>
              <a:endParaRPr lang="en-CN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CE8C05A-45E4-A44E-A01A-7B767FCA8281}"/>
                </a:ext>
              </a:extLst>
            </p:cNvPr>
            <p:cNvSpPr/>
            <p:nvPr/>
          </p:nvSpPr>
          <p:spPr>
            <a:xfrm>
              <a:off x="2069237" y="3562750"/>
              <a:ext cx="77457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i="1" kern="0" dirty="0">
                  <a:solidFill>
                    <a:schemeClr val="accent6">
                      <a:lumMod val="75000"/>
                    </a:schemeClr>
                  </a:solidFill>
                  <a:latin typeface="Arial"/>
                  <a:ea typeface="黑体" pitchFamily="49" charset="-122"/>
                  <a:cs typeface="Arial"/>
                </a:rPr>
                <a:t>→</a:t>
              </a:r>
              <a:r>
                <a:rPr lang="en-US" altLang="zh-CN" sz="3600" i="1" kern="0" dirty="0">
                  <a:solidFill>
                    <a:srgbClr val="000000"/>
                  </a:solidFill>
                  <a:latin typeface="Arial"/>
                  <a:ea typeface="黑体" pitchFamily="49" charset="-122"/>
                  <a:cs typeface="Arial"/>
                </a:rPr>
                <a:t> </a:t>
              </a:r>
              <a:endParaRPr lang="en-CN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08B1C70-AB05-A947-BAB6-8721FB74F66B}"/>
              </a:ext>
            </a:extLst>
          </p:cNvPr>
          <p:cNvGrpSpPr/>
          <p:nvPr/>
        </p:nvGrpSpPr>
        <p:grpSpPr>
          <a:xfrm>
            <a:off x="609600" y="4364842"/>
            <a:ext cx="3393645" cy="1175431"/>
            <a:chOff x="772680" y="3315105"/>
            <a:chExt cx="3393645" cy="117543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0F6B8FE-5779-EA4A-A1EB-840B3C3935E6}"/>
                </a:ext>
              </a:extLst>
            </p:cNvPr>
            <p:cNvGrpSpPr/>
            <p:nvPr/>
          </p:nvGrpSpPr>
          <p:grpSpPr>
            <a:xfrm>
              <a:off x="2699792" y="3318530"/>
              <a:ext cx="1466533" cy="1172006"/>
              <a:chOff x="2699792" y="3608136"/>
              <a:chExt cx="1466533" cy="117200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C711EBE-3757-0449-8288-9730A2911136}"/>
                  </a:ext>
                </a:extLst>
              </p:cNvPr>
              <p:cNvSpPr/>
              <p:nvPr/>
            </p:nvSpPr>
            <p:spPr>
              <a:xfrm>
                <a:off x="2699792" y="4318477"/>
                <a:ext cx="146653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rgbClr val="7030A0"/>
                    </a:solidFill>
                    <a:latin typeface="Arial" panose="020B0604020202020204" pitchFamily="34" charset="0"/>
                    <a:ea typeface="STHeiti" panose="02010600040101010101" pitchFamily="2" charset="-122"/>
                    <a:cs typeface="Arial" panose="020B0604020202020204" pitchFamily="34" charset="0"/>
                  </a:rPr>
                  <a:t>输出</a:t>
                </a:r>
                <a:endParaRPr lang="en-US" altLang="zh-CN" sz="2400" dirty="0">
                  <a:solidFill>
                    <a:srgbClr val="7030A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37C4B45-062E-534B-A31B-29D07ACAC999}"/>
                  </a:ext>
                </a:extLst>
              </p:cNvPr>
              <p:cNvSpPr/>
              <p:nvPr/>
            </p:nvSpPr>
            <p:spPr>
              <a:xfrm>
                <a:off x="3158441" y="3608136"/>
                <a:ext cx="4924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600" b="1" i="1" kern="0" dirty="0">
                    <a:solidFill>
                      <a:srgbClr val="7030A0"/>
                    </a:solidFill>
                    <a:latin typeface="Arial" panose="020B0604020202020204" pitchFamily="34" charset="0"/>
                    <a:ea typeface="STHeiti" panose="02010600040101010101" pitchFamily="2" charset="-122"/>
                    <a:cs typeface="Arial" panose="020B0604020202020204" pitchFamily="34" charset="0"/>
                  </a:rPr>
                  <a:t>Y</a:t>
                </a:r>
                <a:endParaRPr lang="en-CN" dirty="0"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3467C54-8059-EF43-B1BF-BBEDF6A59F03}"/>
                </a:ext>
              </a:extLst>
            </p:cNvPr>
            <p:cNvGrpSpPr/>
            <p:nvPr/>
          </p:nvGrpSpPr>
          <p:grpSpPr>
            <a:xfrm>
              <a:off x="772680" y="3315105"/>
              <a:ext cx="1466533" cy="1169256"/>
              <a:chOff x="772680" y="3604711"/>
              <a:chExt cx="1466533" cy="116925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148A743-3B8D-BF4B-8746-D4130131E850}"/>
                  </a:ext>
                </a:extLst>
              </p:cNvPr>
              <p:cNvSpPr/>
              <p:nvPr/>
            </p:nvSpPr>
            <p:spPr>
              <a:xfrm>
                <a:off x="772680" y="4312302"/>
                <a:ext cx="146653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3333FF"/>
                    </a:solidFill>
                    <a:latin typeface="Arial" panose="020B0604020202020204" pitchFamily="34" charset="0"/>
                    <a:ea typeface="STHeiti" panose="02010600040101010101" pitchFamily="2" charset="-122"/>
                    <a:cs typeface="Arial" panose="020B0604020202020204" pitchFamily="34" charset="0"/>
                  </a:rPr>
                  <a:t>输入</a:t>
                </a:r>
                <a:endParaRPr lang="en-US" altLang="zh-CN" sz="2400" b="1" dirty="0">
                  <a:solidFill>
                    <a:srgbClr val="3333FF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0519B-7CB5-4940-8BAF-01F8E3CEA5EA}"/>
                  </a:ext>
                </a:extLst>
              </p:cNvPr>
              <p:cNvSpPr/>
              <p:nvPr/>
            </p:nvSpPr>
            <p:spPr>
              <a:xfrm>
                <a:off x="1221104" y="3604711"/>
                <a:ext cx="4924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600" b="1" i="1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STHeiti" panose="02010600040101010101" pitchFamily="2" charset="-122"/>
                    <a:cs typeface="Arial" panose="020B0604020202020204" pitchFamily="34" charset="0"/>
                  </a:rPr>
                  <a:t>X</a:t>
                </a:r>
                <a:endParaRPr lang="en-CN" dirty="0">
                  <a:solidFill>
                    <a:srgbClr val="3333FF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1CAE067A-BD82-6DA0-49F3-91A3B3CE0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161385"/>
              </p:ext>
            </p:extLst>
          </p:nvPr>
        </p:nvGraphicFramePr>
        <p:xfrm>
          <a:off x="4254571" y="1482388"/>
          <a:ext cx="4049389" cy="5158684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72096">
                  <a:extLst>
                    <a:ext uri="{9D8B030D-6E8A-4147-A177-3AD203B41FA5}">
                      <a16:colId xmlns:a16="http://schemas.microsoft.com/office/drawing/2014/main" val="2649625643"/>
                    </a:ext>
                  </a:extLst>
                </a:gridCol>
                <a:gridCol w="723402">
                  <a:extLst>
                    <a:ext uri="{9D8B030D-6E8A-4147-A177-3AD203B41FA5}">
                      <a16:colId xmlns:a16="http://schemas.microsoft.com/office/drawing/2014/main" val="3191345124"/>
                    </a:ext>
                  </a:extLst>
                </a:gridCol>
                <a:gridCol w="2553891">
                  <a:extLst>
                    <a:ext uri="{9D8B030D-6E8A-4147-A177-3AD203B41FA5}">
                      <a16:colId xmlns:a16="http://schemas.microsoft.com/office/drawing/2014/main" val="3013045087"/>
                    </a:ext>
                  </a:extLst>
                </a:gridCol>
              </a:tblGrid>
              <a:tr h="3034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周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日期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暂定主要内容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27359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2/2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7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概论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1660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3/5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布尔代数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37287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组合逻辑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52186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CN" sz="18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3/1</a:t>
                      </a:r>
                      <a:r>
                        <a:rPr lang="en-US" altLang="zh-CN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CN" sz="18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时序逻辑</a:t>
                      </a:r>
                      <a:endParaRPr lang="en-CN" sz="18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204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3/2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时序逻辑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17128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/2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计算机指令系统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14479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00" dirty="0">
                          <a:effectLst/>
                          <a:latin typeface="+mn-lt"/>
                          <a:ea typeface="+mn-ea"/>
                        </a:rPr>
                        <a:t>计算机指令系统</a:t>
                      </a:r>
                      <a:endParaRPr lang="en-CN" altLang="zh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83858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8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4/1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  <a:endParaRPr lang="en-CN" altLang="zh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988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待定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期中考试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755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en-CN" sz="1800" b="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劳动节放假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1716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71481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lt"/>
                          <a:ea typeface="+mn-ea"/>
                        </a:rPr>
                        <a:t>12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14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CN" sz="1800" kern="100" dirty="0"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459178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13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21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92087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14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28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6250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15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245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16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6/11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/IO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与总线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总结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04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05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5FFA-B772-B549-B46B-9FD1148A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问题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810AF-EDD2-2C4E-8BD8-1B3EE77BA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r>
              <a:rPr lang="zh-CN" altLang="en-US" sz="2800" b="0" dirty="0"/>
              <a:t>上次课程：你需要一个</a:t>
            </a:r>
            <a:r>
              <a:rPr lang="en-US" altLang="zh-CN" sz="2800" b="0" dirty="0"/>
              <a:t>64-bit</a:t>
            </a:r>
            <a:r>
              <a:rPr lang="zh-CN" altLang="en-US" sz="2800" b="0" dirty="0"/>
              <a:t>加法器</a:t>
            </a:r>
            <a:endParaRPr lang="en-US" sz="2800" b="0" dirty="0"/>
          </a:p>
          <a:p>
            <a:endParaRPr lang="en-US" b="0" dirty="0"/>
          </a:p>
          <a:p>
            <a:endParaRPr lang="en-US" b="0" dirty="0"/>
          </a:p>
          <a:p>
            <a:pPr marL="0" indent="0">
              <a:buNone/>
            </a:pPr>
            <a:endParaRPr lang="en-US" b="0" dirty="0"/>
          </a:p>
          <a:p>
            <a:r>
              <a:rPr lang="zh-CN" altLang="en-US" sz="2800" b="0" dirty="0"/>
              <a:t>本次课程</a:t>
            </a:r>
            <a:endParaRPr lang="en-CN" sz="2800" b="0" dirty="0"/>
          </a:p>
          <a:p>
            <a:pPr lvl="1"/>
            <a:r>
              <a:rPr lang="zh-CN" altLang="en-US" sz="2400" b="0" dirty="0"/>
              <a:t>如果需要把历史输入也加进来？</a:t>
            </a:r>
            <a:endParaRPr lang="en-CN" sz="2400" b="0" dirty="0"/>
          </a:p>
          <a:p>
            <a:pPr lvl="1"/>
            <a:r>
              <a:rPr lang="zh-CN" altLang="en-US" sz="2400" b="0" dirty="0"/>
              <a:t>或者，需要保存一些数据将来计算使用？</a:t>
            </a:r>
            <a:endParaRPr lang="en-CN" sz="2400" b="0" dirty="0"/>
          </a:p>
          <a:p>
            <a:pPr lvl="1"/>
            <a:r>
              <a:rPr lang="zh-CN" altLang="en-US" sz="2400" b="0" dirty="0"/>
              <a:t>例如：记录阳光长跑项目中“已经跑完的距离”以及“还差多少距离才达到</a:t>
            </a:r>
            <a:r>
              <a:rPr lang="en-US" altLang="zh-CN" sz="2400" b="0" dirty="0"/>
              <a:t>1000km</a:t>
            </a:r>
            <a:r>
              <a:rPr lang="zh-CN" altLang="en-US" sz="2400" b="0" dirty="0"/>
              <a:t>”</a:t>
            </a:r>
            <a:endParaRPr lang="en-CN" sz="2400" b="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C386458-5CA5-CA47-9FD1-A4981ACF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38ED7A-CCC7-5945-B71E-A79E148FC471}"/>
              </a:ext>
            </a:extLst>
          </p:cNvPr>
          <p:cNvGrpSpPr/>
          <p:nvPr/>
        </p:nvGrpSpPr>
        <p:grpSpPr>
          <a:xfrm>
            <a:off x="2672750" y="2133600"/>
            <a:ext cx="3624586" cy="1857693"/>
            <a:chOff x="3048001" y="1447799"/>
            <a:chExt cx="3624586" cy="185769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7C13B4-F9DE-CF4D-9AD0-05E9ADB792FC}"/>
                </a:ext>
              </a:extLst>
            </p:cNvPr>
            <p:cNvSpPr/>
            <p:nvPr/>
          </p:nvSpPr>
          <p:spPr>
            <a:xfrm>
              <a:off x="3048001" y="1447799"/>
              <a:ext cx="3624586" cy="18576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lang="en-CN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B05F6E-0186-3A41-B605-F42B1017CCD4}"/>
                </a:ext>
              </a:extLst>
            </p:cNvPr>
            <p:cNvSpPr/>
            <p:nvPr/>
          </p:nvSpPr>
          <p:spPr bwMode="auto">
            <a:xfrm>
              <a:off x="4311799" y="1665297"/>
              <a:ext cx="1005742" cy="1047081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Comb. Logic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f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4FF4CBE-E677-D34A-832D-A0130ACC30F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930799" y="2205126"/>
              <a:ext cx="3810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1403B9-0014-DE4A-BAFE-75567AAEFDA5}"/>
                </a:ext>
              </a:extLst>
            </p:cNvPr>
            <p:cNvSpPr txBox="1"/>
            <p:nvPr/>
          </p:nvSpPr>
          <p:spPr>
            <a:xfrm>
              <a:off x="3162669" y="2005071"/>
              <a:ext cx="7537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2CC87B-C3E3-9243-B1A8-D7624BA22F15}"/>
                </a:ext>
              </a:extLst>
            </p:cNvPr>
            <p:cNvSpPr txBox="1"/>
            <p:nvPr/>
          </p:nvSpPr>
          <p:spPr>
            <a:xfrm>
              <a:off x="5684014" y="2038290"/>
              <a:ext cx="9525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300FFF4-5FBC-A04B-9F64-D56A052C355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16741" y="2228879"/>
              <a:ext cx="3810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67BA3E-5858-4F42-9011-6898D87B0182}"/>
                </a:ext>
              </a:extLst>
            </p:cNvPr>
            <p:cNvSpPr txBox="1"/>
            <p:nvPr/>
          </p:nvSpPr>
          <p:spPr>
            <a:xfrm>
              <a:off x="3792881" y="2800290"/>
              <a:ext cx="21226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Output = f (Input)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BB9D186-F6E7-EB48-B73A-22F13224CAA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006999" y="2151126"/>
              <a:ext cx="108000" cy="10800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F802624-3D07-DF41-9CBB-917B4F9F15D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418826" y="2177417"/>
              <a:ext cx="108000" cy="10800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90592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5D6A49B-B11E-DF4F-911F-14A8E83BD3E9}"/>
              </a:ext>
            </a:extLst>
          </p:cNvPr>
          <p:cNvSpPr/>
          <p:nvPr/>
        </p:nvSpPr>
        <p:spPr>
          <a:xfrm>
            <a:off x="3488290" y="1540771"/>
            <a:ext cx="2122101" cy="16186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000" b="1" dirty="0">
                <a:latin typeface="+mj-lt"/>
                <a:ea typeface="+mj-ea"/>
                <a:cs typeface="Arial" panose="020B0604020202020204" pitchFamily="34" charset="0"/>
              </a:rPr>
              <a:t>组合逻辑</a:t>
            </a:r>
            <a:endParaRPr lang="en-CN" sz="2000" b="1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问题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6B2E3-88D9-154A-A080-881D5EC1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E9B41B-7B93-074A-8F47-FFCC5F7B817E}"/>
              </a:ext>
            </a:extLst>
          </p:cNvPr>
          <p:cNvSpPr/>
          <p:nvPr/>
        </p:nvSpPr>
        <p:spPr bwMode="auto">
          <a:xfrm>
            <a:off x="3767015" y="2528840"/>
            <a:ext cx="1676400" cy="463542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+mj-ea"/>
                <a:cs typeface="Arial" panose="020B0604020202020204" pitchFamily="34" charset="0"/>
              </a:rPr>
              <a:t>Total + Input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A29082-F5CA-B542-A593-543D6586701F}"/>
              </a:ext>
            </a:extLst>
          </p:cNvPr>
          <p:cNvSpPr txBox="1"/>
          <p:nvPr/>
        </p:nvSpPr>
        <p:spPr>
          <a:xfrm>
            <a:off x="1430150" y="2335023"/>
            <a:ext cx="1722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每日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跑步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距离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B75C91-0C02-2C4D-87F5-B26AF396588D}"/>
              </a:ext>
            </a:extLst>
          </p:cNvPr>
          <p:cNvSpPr txBox="1"/>
          <p:nvPr/>
        </p:nvSpPr>
        <p:spPr>
          <a:xfrm>
            <a:off x="5853568" y="188450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距离目标距离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Output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D51E946-D273-6249-BC83-922B4B1419BE}"/>
              </a:ext>
            </a:extLst>
          </p:cNvPr>
          <p:cNvCxnSpPr>
            <a:cxnSpLocks/>
          </p:cNvCxnSpPr>
          <p:nvPr/>
        </p:nvCxnSpPr>
        <p:spPr bwMode="auto">
          <a:xfrm>
            <a:off x="5457991" y="2236969"/>
            <a:ext cx="381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0" name="Freeform 59">
            <a:extLst>
              <a:ext uri="{FF2B5EF4-FFF2-40B4-BE49-F238E27FC236}">
                <a16:creationId xmlns:a16="http://schemas.microsoft.com/office/drawing/2014/main" id="{939D2831-48FF-4A41-8F70-B7A85581F5C3}"/>
              </a:ext>
            </a:extLst>
          </p:cNvPr>
          <p:cNvSpPr/>
          <p:nvPr/>
        </p:nvSpPr>
        <p:spPr bwMode="auto">
          <a:xfrm>
            <a:off x="5443415" y="2784608"/>
            <a:ext cx="390299" cy="914401"/>
          </a:xfrm>
          <a:custGeom>
            <a:avLst/>
            <a:gdLst>
              <a:gd name="connsiteX0" fmla="*/ 16042 w 256673"/>
              <a:gd name="connsiteY0" fmla="*/ 0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  <a:gd name="connsiteX0" fmla="*/ 383 w 256673"/>
              <a:gd name="connsiteY0" fmla="*/ 1337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73" h="513347">
                <a:moveTo>
                  <a:pt x="383" y="1337"/>
                </a:moveTo>
                <a:lnTo>
                  <a:pt x="256673" y="0"/>
                </a:lnTo>
                <a:lnTo>
                  <a:pt x="256673" y="513347"/>
                </a:lnTo>
                <a:lnTo>
                  <a:pt x="0" y="513347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60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7E7EA96B-8D72-0845-90E6-C087301A5795}"/>
              </a:ext>
            </a:extLst>
          </p:cNvPr>
          <p:cNvSpPr/>
          <p:nvPr/>
        </p:nvSpPr>
        <p:spPr bwMode="auto">
          <a:xfrm flipH="1">
            <a:off x="3576555" y="2824369"/>
            <a:ext cx="190459" cy="729821"/>
          </a:xfrm>
          <a:custGeom>
            <a:avLst/>
            <a:gdLst>
              <a:gd name="connsiteX0" fmla="*/ 16042 w 256673"/>
              <a:gd name="connsiteY0" fmla="*/ 0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73" h="513347">
                <a:moveTo>
                  <a:pt x="16042" y="0"/>
                </a:moveTo>
                <a:lnTo>
                  <a:pt x="256673" y="0"/>
                </a:lnTo>
                <a:lnTo>
                  <a:pt x="256673" y="513347"/>
                </a:lnTo>
                <a:lnTo>
                  <a:pt x="0" y="513347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60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0529EB6-D5F1-3D4C-974A-CBAC0CC79A80}"/>
              </a:ext>
            </a:extLst>
          </p:cNvPr>
          <p:cNvCxnSpPr>
            <a:cxnSpLocks/>
          </p:cNvCxnSpPr>
          <p:nvPr/>
        </p:nvCxnSpPr>
        <p:spPr bwMode="auto">
          <a:xfrm>
            <a:off x="3172655" y="3783169"/>
            <a:ext cx="594360" cy="0"/>
          </a:xfrm>
          <a:prstGeom prst="straightConnector1">
            <a:avLst/>
          </a:prstGeom>
          <a:noFill/>
          <a:ln w="2857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E8D57B-B4EB-BE44-AAD7-88B7A038D38A}"/>
              </a:ext>
            </a:extLst>
          </p:cNvPr>
          <p:cNvCxnSpPr>
            <a:cxnSpLocks/>
          </p:cNvCxnSpPr>
          <p:nvPr/>
        </p:nvCxnSpPr>
        <p:spPr bwMode="auto">
          <a:xfrm>
            <a:off x="3153124" y="2675059"/>
            <a:ext cx="594360" cy="0"/>
          </a:xfrm>
          <a:prstGeom prst="straightConnector1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00DD811-5E95-5F47-9113-27F28AAA1BAB}"/>
              </a:ext>
            </a:extLst>
          </p:cNvPr>
          <p:cNvSpPr txBox="1"/>
          <p:nvPr/>
        </p:nvSpPr>
        <p:spPr>
          <a:xfrm>
            <a:off x="1686342" y="359332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每日触发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CBAB5C-28F7-5B47-BEB7-0BC0DA728B6B}"/>
              </a:ext>
            </a:extLst>
          </p:cNvPr>
          <p:cNvSpPr/>
          <p:nvPr/>
        </p:nvSpPr>
        <p:spPr bwMode="auto">
          <a:xfrm>
            <a:off x="3767015" y="2027902"/>
            <a:ext cx="1676400" cy="40174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1000 – Total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BCAC3AC-46DC-394E-B966-88A772EEF44F}"/>
              </a:ext>
            </a:extLst>
          </p:cNvPr>
          <p:cNvSpPr/>
          <p:nvPr/>
        </p:nvSpPr>
        <p:spPr>
          <a:xfrm>
            <a:off x="3576557" y="2241335"/>
            <a:ext cx="170927" cy="577174"/>
          </a:xfrm>
          <a:custGeom>
            <a:avLst/>
            <a:gdLst>
              <a:gd name="connsiteX0" fmla="*/ 0 w 194553"/>
              <a:gd name="connsiteY0" fmla="*/ 577174 h 577174"/>
              <a:gd name="connsiteX1" fmla="*/ 0 w 194553"/>
              <a:gd name="connsiteY1" fmla="*/ 0 h 577174"/>
              <a:gd name="connsiteX2" fmla="*/ 194553 w 194553"/>
              <a:gd name="connsiteY2" fmla="*/ 0 h 577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553" h="577174">
                <a:moveTo>
                  <a:pt x="0" y="577174"/>
                </a:moveTo>
                <a:lnTo>
                  <a:pt x="0" y="0"/>
                </a:lnTo>
                <a:lnTo>
                  <a:pt x="194553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8404D8-3FBB-354A-8ADD-48CFA2EB9721}"/>
              </a:ext>
            </a:extLst>
          </p:cNvPr>
          <p:cNvSpPr/>
          <p:nvPr/>
        </p:nvSpPr>
        <p:spPr bwMode="auto">
          <a:xfrm>
            <a:off x="3781591" y="3306600"/>
            <a:ext cx="1676400" cy="732000"/>
          </a:xfrm>
          <a:prstGeom prst="rect">
            <a:avLst/>
          </a:prstGeom>
          <a:solidFill>
            <a:srgbClr val="F0F9E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Total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（存储器）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5FC2A8-2220-D74F-80E3-63629A078CF4}"/>
              </a:ext>
            </a:extLst>
          </p:cNvPr>
          <p:cNvGrpSpPr/>
          <p:nvPr/>
        </p:nvGrpSpPr>
        <p:grpSpPr>
          <a:xfrm>
            <a:off x="1196540" y="5439125"/>
            <a:ext cx="6575860" cy="857310"/>
            <a:chOff x="1143000" y="5181600"/>
            <a:chExt cx="6575860" cy="85731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F93F1CE-ECF2-CE47-BA3F-9DA897E1235E}"/>
                </a:ext>
              </a:extLst>
            </p:cNvPr>
            <p:cNvGrpSpPr/>
            <p:nvPr/>
          </p:nvGrpSpPr>
          <p:grpSpPr>
            <a:xfrm>
              <a:off x="1143000" y="5181600"/>
              <a:ext cx="6575860" cy="857310"/>
              <a:chOff x="1143000" y="5410200"/>
              <a:chExt cx="6575860" cy="857310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C955D9C-B768-5446-A032-AD5D6CB37B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000" y="5715000"/>
                <a:ext cx="6476866" cy="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63469A3-DCD0-1746-9F64-29F2C706DE33}"/>
                  </a:ext>
                </a:extLst>
              </p:cNvPr>
              <p:cNvCxnSpPr/>
              <p:nvPr/>
            </p:nvCxnSpPr>
            <p:spPr>
              <a:xfrm flipV="1">
                <a:off x="16764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EB1A4D0-669E-4046-ACBC-E4A430823BC3}"/>
                  </a:ext>
                </a:extLst>
              </p:cNvPr>
              <p:cNvCxnSpPr/>
              <p:nvPr/>
            </p:nvCxnSpPr>
            <p:spPr>
              <a:xfrm flipV="1">
                <a:off x="21336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0C00C7B-D19B-3F4E-B791-9B73ECBC8DA9}"/>
                  </a:ext>
                </a:extLst>
              </p:cNvPr>
              <p:cNvCxnSpPr/>
              <p:nvPr/>
            </p:nvCxnSpPr>
            <p:spPr>
              <a:xfrm flipV="1">
                <a:off x="25908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5DF8395-25D5-CD4D-B0BE-E782BD0EF6B0}"/>
                  </a:ext>
                </a:extLst>
              </p:cNvPr>
              <p:cNvCxnSpPr/>
              <p:nvPr/>
            </p:nvCxnSpPr>
            <p:spPr>
              <a:xfrm flipV="1">
                <a:off x="30480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7E86725-9BCF-C841-9B35-B1DFA32FB98D}"/>
                  </a:ext>
                </a:extLst>
              </p:cNvPr>
              <p:cNvCxnSpPr/>
              <p:nvPr/>
            </p:nvCxnSpPr>
            <p:spPr>
              <a:xfrm flipV="1">
                <a:off x="35052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815BA10-6E42-8443-96D7-F920BF4A68E7}"/>
                  </a:ext>
                </a:extLst>
              </p:cNvPr>
              <p:cNvCxnSpPr/>
              <p:nvPr/>
            </p:nvCxnSpPr>
            <p:spPr>
              <a:xfrm flipV="1">
                <a:off x="39624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89260DF-E064-8B46-9967-AAC22F44FA56}"/>
                  </a:ext>
                </a:extLst>
              </p:cNvPr>
              <p:cNvCxnSpPr/>
              <p:nvPr/>
            </p:nvCxnSpPr>
            <p:spPr>
              <a:xfrm flipV="1">
                <a:off x="44196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02F62D4-7DDA-D342-B791-776DFA24307B}"/>
                  </a:ext>
                </a:extLst>
              </p:cNvPr>
              <p:cNvCxnSpPr/>
              <p:nvPr/>
            </p:nvCxnSpPr>
            <p:spPr>
              <a:xfrm flipV="1">
                <a:off x="48768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EEC46B7-12CD-F84D-9DB7-0AF1D52B48B6}"/>
                  </a:ext>
                </a:extLst>
              </p:cNvPr>
              <p:cNvCxnSpPr/>
              <p:nvPr/>
            </p:nvCxnSpPr>
            <p:spPr>
              <a:xfrm flipV="1">
                <a:off x="53340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958E36D-4345-F24F-A003-C87A7632CC5A}"/>
                  </a:ext>
                </a:extLst>
              </p:cNvPr>
              <p:cNvCxnSpPr/>
              <p:nvPr/>
            </p:nvCxnSpPr>
            <p:spPr>
              <a:xfrm flipV="1">
                <a:off x="57912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03A4367-A47B-6D48-9011-4F733F80DCF0}"/>
                  </a:ext>
                </a:extLst>
              </p:cNvPr>
              <p:cNvCxnSpPr/>
              <p:nvPr/>
            </p:nvCxnSpPr>
            <p:spPr>
              <a:xfrm flipV="1">
                <a:off x="62484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78EAC5A-0448-9745-BAD5-C5DE9C134770}"/>
                  </a:ext>
                </a:extLst>
              </p:cNvPr>
              <p:cNvCxnSpPr/>
              <p:nvPr/>
            </p:nvCxnSpPr>
            <p:spPr>
              <a:xfrm flipV="1">
                <a:off x="67056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BE1EC01-964E-1E49-A18F-647F187A2E44}"/>
                  </a:ext>
                </a:extLst>
              </p:cNvPr>
              <p:cNvSpPr txBox="1"/>
              <p:nvPr/>
            </p:nvSpPr>
            <p:spPr>
              <a:xfrm>
                <a:off x="7021233" y="5867400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7030A0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日期</a:t>
                </a:r>
                <a:endParaRPr lang="en-CN" sz="2000" dirty="0">
                  <a:solidFill>
                    <a:srgbClr val="7030A0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8CC4320-00AC-BF4A-A243-850C4876BCB4}"/>
                </a:ext>
              </a:extLst>
            </p:cNvPr>
            <p:cNvSpPr txBox="1"/>
            <p:nvPr/>
          </p:nvSpPr>
          <p:spPr>
            <a:xfrm>
              <a:off x="1459834" y="5546466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39B25B3-2DFB-BE42-9DA5-3F5537730473}"/>
                </a:ext>
              </a:extLst>
            </p:cNvPr>
            <p:cNvSpPr txBox="1"/>
            <p:nvPr/>
          </p:nvSpPr>
          <p:spPr>
            <a:xfrm>
              <a:off x="1917034" y="5544305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D6B144E-422A-3E49-B6F6-8C589578668E}"/>
                </a:ext>
              </a:extLst>
            </p:cNvPr>
            <p:cNvSpPr txBox="1"/>
            <p:nvPr/>
          </p:nvSpPr>
          <p:spPr>
            <a:xfrm>
              <a:off x="2374234" y="5542144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D8180AB-8957-8E4F-B619-2B2BCA9FD5D4}"/>
                </a:ext>
              </a:extLst>
            </p:cNvPr>
            <p:cNvSpPr txBox="1"/>
            <p:nvPr/>
          </p:nvSpPr>
          <p:spPr>
            <a:xfrm>
              <a:off x="2831434" y="5539983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A4C521E-AF19-A94C-B33C-5EBBBAC3001B}"/>
                </a:ext>
              </a:extLst>
            </p:cNvPr>
            <p:cNvSpPr txBox="1"/>
            <p:nvPr/>
          </p:nvSpPr>
          <p:spPr>
            <a:xfrm>
              <a:off x="3288634" y="5537822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935F3F3-8664-644F-864A-5D24244951B4}"/>
                </a:ext>
              </a:extLst>
            </p:cNvPr>
            <p:cNvSpPr txBox="1"/>
            <p:nvPr/>
          </p:nvSpPr>
          <p:spPr>
            <a:xfrm>
              <a:off x="3745834" y="5535661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3/6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315E936-1665-ED4A-9E50-610AEBAF08A4}"/>
                </a:ext>
              </a:extLst>
            </p:cNvPr>
            <p:cNvSpPr txBox="1"/>
            <p:nvPr/>
          </p:nvSpPr>
          <p:spPr>
            <a:xfrm>
              <a:off x="4203034" y="5533500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3/7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61C8A1A-3614-6E4E-9AD4-6F9C757B0615}"/>
                </a:ext>
              </a:extLst>
            </p:cNvPr>
            <p:cNvSpPr txBox="1"/>
            <p:nvPr/>
          </p:nvSpPr>
          <p:spPr>
            <a:xfrm>
              <a:off x="4660234" y="5531339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3/8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C03FAD2-E89B-6048-B176-3CB0FE1B79D2}"/>
                </a:ext>
              </a:extLst>
            </p:cNvPr>
            <p:cNvSpPr txBox="1"/>
            <p:nvPr/>
          </p:nvSpPr>
          <p:spPr>
            <a:xfrm>
              <a:off x="5117434" y="5529178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3/9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16F9245-C5B7-5549-B7DD-10E0EB4836D6}"/>
                </a:ext>
              </a:extLst>
            </p:cNvPr>
            <p:cNvSpPr txBox="1"/>
            <p:nvPr/>
          </p:nvSpPr>
          <p:spPr>
            <a:xfrm>
              <a:off x="5524941" y="5527017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3/10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D7AE573-CF30-ED40-8412-23EB7F3961C5}"/>
                </a:ext>
              </a:extLst>
            </p:cNvPr>
            <p:cNvSpPr txBox="1"/>
            <p:nvPr/>
          </p:nvSpPr>
          <p:spPr>
            <a:xfrm>
              <a:off x="5987078" y="5524856"/>
              <a:ext cx="5226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3/11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91E32E7-9228-9F4F-A10C-E5D3C67D85A4}"/>
                </a:ext>
              </a:extLst>
            </p:cNvPr>
            <p:cNvSpPr txBox="1"/>
            <p:nvPr/>
          </p:nvSpPr>
          <p:spPr>
            <a:xfrm>
              <a:off x="6439341" y="5522695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3/12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E610635-9AAF-924F-BFF0-0E656C8289CC}"/>
              </a:ext>
            </a:extLst>
          </p:cNvPr>
          <p:cNvSpPr txBox="1"/>
          <p:nvPr/>
        </p:nvSpPr>
        <p:spPr>
          <a:xfrm>
            <a:off x="2082678" y="4260299"/>
            <a:ext cx="4851456" cy="824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f(Input, 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States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algn="l">
              <a:lnSpc>
                <a:spcPct val="125000"/>
              </a:lnSpc>
              <a:defRPr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States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&lt;=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g(Input,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Previous States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815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1266-4563-AD49-8354-7E71ECBB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本节课学习目标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528-D2C0-6549-AF10-73720847C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0" dirty="0"/>
              <a:t>理解时序逻辑概念、理论、指标、非理想因素</a:t>
            </a:r>
            <a:endParaRPr lang="en-CN" sz="2800" b="0" dirty="0"/>
          </a:p>
          <a:p>
            <a:pPr lvl="1"/>
            <a:r>
              <a:rPr lang="zh-CN" altLang="en-US" sz="2400" b="0" dirty="0"/>
              <a:t>对比组合逻辑</a:t>
            </a:r>
            <a:endParaRPr lang="en-CN" sz="2400" b="0" dirty="0"/>
          </a:p>
          <a:p>
            <a:r>
              <a:rPr lang="zh-CN" altLang="en-US" sz="2800" b="0" dirty="0"/>
              <a:t>分析和设计时序逻辑电路</a:t>
            </a:r>
            <a:endParaRPr lang="en-CN" sz="2800" b="0" dirty="0"/>
          </a:p>
          <a:p>
            <a:pPr lvl="1"/>
            <a:r>
              <a:rPr lang="zh-CN" altLang="en-US" sz="2400" b="0" dirty="0"/>
              <a:t>优化</a:t>
            </a:r>
            <a:endParaRPr lang="en-CN" sz="2400" b="0" dirty="0"/>
          </a:p>
          <a:p>
            <a:pPr lvl="1"/>
            <a:r>
              <a:rPr lang="zh-CN" altLang="en-US" sz="2400" b="0" dirty="0"/>
              <a:t>使用</a:t>
            </a:r>
            <a:endParaRPr lang="en-CN" sz="2400" b="0" dirty="0"/>
          </a:p>
          <a:p>
            <a:r>
              <a:rPr lang="zh-CN" altLang="en-US" sz="2800" b="0" dirty="0"/>
              <a:t>树立过程同步化处理意识</a:t>
            </a:r>
            <a:endParaRPr lang="en-CN" sz="2800" b="0" dirty="0"/>
          </a:p>
          <a:p>
            <a:endParaRPr lang="en-CN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03C95-C4CE-C742-A2FF-9703B073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595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7293-1991-3841-8A43-7E7FF73B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MY" dirty="0"/>
              <a:t>本节课</a:t>
            </a:r>
            <a:r>
              <a:rPr lang="zh-CN" altLang="en-US" dirty="0"/>
              <a:t>目录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E386F-E21B-ED43-89C5-72405F96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11BBCFAB-0530-8E44-BD2A-DD1248282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r>
              <a:rPr kumimoji="1" lang="zh-CN" altLang="en-MY" b="0" dirty="0">
                <a:solidFill>
                  <a:srgbClr val="3333FF"/>
                </a:solidFill>
              </a:rPr>
              <a:t>概念</a:t>
            </a:r>
            <a:r>
              <a:rPr kumimoji="1" lang="zh-CN" altLang="en-US" b="0" dirty="0">
                <a:solidFill>
                  <a:srgbClr val="3333FF"/>
                </a:solidFill>
              </a:rPr>
              <a:t>：时钟，状态和</a:t>
            </a:r>
            <a:r>
              <a:rPr kumimoji="1" lang="en-US" altLang="zh-CN" b="0" dirty="0">
                <a:solidFill>
                  <a:srgbClr val="3333FF"/>
                </a:solidFill>
              </a:rPr>
              <a:t>FSM</a:t>
            </a:r>
          </a:p>
          <a:p>
            <a:r>
              <a:rPr kumimoji="1" lang="zh-CN" altLang="en-US" b="0" dirty="0"/>
              <a:t>时序逻辑电路：锁存器</a:t>
            </a:r>
            <a:endParaRPr kumimoji="1" lang="en-MY" altLang="zh-CN" b="0" dirty="0"/>
          </a:p>
          <a:p>
            <a:r>
              <a:rPr kumimoji="1" lang="zh-CN" altLang="en-US" b="0" dirty="0"/>
              <a:t>时序逻辑电路：</a:t>
            </a:r>
            <a:r>
              <a:rPr kumimoji="1" lang="en-US" altLang="zh-CN" b="0" dirty="0"/>
              <a:t>DFF</a:t>
            </a:r>
          </a:p>
          <a:p>
            <a:r>
              <a:rPr kumimoji="1" lang="zh-CN" altLang="en-US" b="0" dirty="0"/>
              <a:t>分析，设计，举例</a:t>
            </a:r>
          </a:p>
        </p:txBody>
      </p:sp>
    </p:spTree>
    <p:extLst>
      <p:ext uri="{BB962C8B-B14F-4D97-AF65-F5344CB8AC3E}">
        <p14:creationId xmlns:p14="http://schemas.microsoft.com/office/powerpoint/2010/main" val="270832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9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更多原因 </a:t>
            </a:r>
            <a:r>
              <a:rPr lang="en-US" altLang="zh-CN" dirty="0"/>
              <a:t>– </a:t>
            </a:r>
            <a:r>
              <a:rPr lang="zh-CN" altLang="en-US" dirty="0"/>
              <a:t>为什么使用时序逻辑？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63439-EC80-9340-BC24-1C74BB1C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4F3E82-E3DF-E749-99B3-1DF20E5A5E1B}"/>
              </a:ext>
            </a:extLst>
          </p:cNvPr>
          <p:cNvGrpSpPr/>
          <p:nvPr/>
        </p:nvGrpSpPr>
        <p:grpSpPr>
          <a:xfrm>
            <a:off x="838200" y="3447053"/>
            <a:ext cx="7935222" cy="2867733"/>
            <a:chOff x="578285" y="3681169"/>
            <a:chExt cx="7935222" cy="2867733"/>
          </a:xfrm>
        </p:grpSpPr>
        <p:pic>
          <p:nvPicPr>
            <p:cNvPr id="41" name="图片 5">
              <a:extLst>
                <a:ext uri="{FF2B5EF4-FFF2-40B4-BE49-F238E27FC236}">
                  <a16:creationId xmlns:a16="http://schemas.microsoft.com/office/drawing/2014/main" id="{69D71B68-98F4-3A46-83E1-80F28DA95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285" y="3681169"/>
              <a:ext cx="6545159" cy="2685037"/>
            </a:xfrm>
            <a:prstGeom prst="rect">
              <a:avLst/>
            </a:prstGeom>
          </p:spPr>
        </p:pic>
        <p:graphicFrame>
          <p:nvGraphicFramePr>
            <p:cNvPr id="42" name="对象 4">
              <a:extLst>
                <a:ext uri="{FF2B5EF4-FFF2-40B4-BE49-F238E27FC236}">
                  <a16:creationId xmlns:a16="http://schemas.microsoft.com/office/drawing/2014/main" id="{76141440-682C-F94B-BBAC-89FFA5C794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746710"/>
                </p:ext>
              </p:extLst>
            </p:nvPr>
          </p:nvGraphicFramePr>
          <p:xfrm>
            <a:off x="4947534" y="3973269"/>
            <a:ext cx="3197225" cy="2136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Visio" r:id="rId5" imgW="6114855" imgH="4086362" progId="Visio.Drawing.11">
                    <p:embed/>
                  </p:oleObj>
                </mc:Choice>
                <mc:Fallback>
                  <p:oleObj name="Visio" r:id="rId5" imgW="6114855" imgH="4086362" progId="Visio.Drawing.11">
                    <p:embed/>
                    <p:pic>
                      <p:nvPicPr>
                        <p:cNvPr id="42" name="对象 4">
                          <a:extLst>
                            <a:ext uri="{FF2B5EF4-FFF2-40B4-BE49-F238E27FC236}">
                              <a16:creationId xmlns:a16="http://schemas.microsoft.com/office/drawing/2014/main" id="{76141440-682C-F94B-BBAC-89FFA5C794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7534" y="3973269"/>
                          <a:ext cx="3197225" cy="2136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4F8FA20-EA9A-F34E-B006-CABB76008A7C}"/>
                </a:ext>
              </a:extLst>
            </p:cNvPr>
            <p:cNvSpPr txBox="1"/>
            <p:nvPr/>
          </p:nvSpPr>
          <p:spPr>
            <a:xfrm>
              <a:off x="4406317" y="6148792"/>
              <a:ext cx="410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0000"/>
                  </a:solidFill>
                  <a:latin typeface="+mj-ea"/>
                  <a:ea typeface="+mj-ea"/>
                  <a:cs typeface="Arial" panose="020B0604020202020204" pitchFamily="34" charset="0"/>
                </a:rPr>
                <a:t>同步节拍以实现更高的吞吐量</a:t>
              </a:r>
              <a:endParaRPr lang="en-CN" sz="2000" dirty="0">
                <a:solidFill>
                  <a:srgbClr val="000000"/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6BEE57C2-7877-7644-B885-7A0D4410C3D0}"/>
              </a:ext>
            </a:extLst>
          </p:cNvPr>
          <p:cNvSpPr txBox="1"/>
          <p:nvPr/>
        </p:nvSpPr>
        <p:spPr>
          <a:xfrm>
            <a:off x="457200" y="1551432"/>
            <a:ext cx="7927171" cy="1592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00"/>
                </a:solidFill>
                <a:latin typeface="+mj-ea"/>
                <a:ea typeface="+mj-ea"/>
                <a:cs typeface="Arial" panose="020B0604020202020204" pitchFamily="34" charset="0"/>
              </a:rPr>
              <a:t>过去的输入很重要</a:t>
            </a:r>
            <a:endParaRPr lang="en-US" sz="2800" dirty="0">
              <a:solidFill>
                <a:srgbClr val="000000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00"/>
                </a:solidFill>
                <a:latin typeface="+mj-ea"/>
                <a:ea typeface="+mj-ea"/>
                <a:cs typeface="Arial" panose="020B0604020202020204" pitchFamily="34" charset="0"/>
              </a:rPr>
              <a:t>分步完成计算任务</a:t>
            </a:r>
            <a:endParaRPr lang="en-US" altLang="zh-CN" sz="2800" dirty="0">
              <a:solidFill>
                <a:srgbClr val="000000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00"/>
                </a:solidFill>
                <a:latin typeface="+mj-ea"/>
                <a:ea typeface="+mj-ea"/>
                <a:cs typeface="Arial" panose="020B0604020202020204" pitchFamily="34" charset="0"/>
              </a:rPr>
              <a:t>提升性能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Arial" panose="020B0604020202020204" pitchFamily="34" charset="0"/>
              </a:rPr>
              <a:t> (</a:t>
            </a:r>
            <a:r>
              <a:rPr lang="zh-CN" altLang="en-US" sz="2800" dirty="0">
                <a:solidFill>
                  <a:srgbClr val="000000"/>
                </a:solidFill>
                <a:latin typeface="+mj-ea"/>
                <a:ea typeface="+mj-ea"/>
                <a:cs typeface="Arial" panose="020B0604020202020204" pitchFamily="34" charset="0"/>
              </a:rPr>
              <a:t>吞吐量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  <a:cs typeface="Arial" panose="020B0604020202020204" pitchFamily="34" charset="0"/>
              </a:rPr>
              <a:t>)</a:t>
            </a:r>
            <a:endParaRPr lang="en-CN" sz="2800" dirty="0">
              <a:solidFill>
                <a:srgbClr val="000000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74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3494BD02-4CC4-F941-B3FE-4FE511C1F8F5}"/>
              </a:ext>
            </a:extLst>
          </p:cNvPr>
          <p:cNvGrpSpPr/>
          <p:nvPr/>
        </p:nvGrpSpPr>
        <p:grpSpPr>
          <a:xfrm>
            <a:off x="64541" y="4248918"/>
            <a:ext cx="8927059" cy="2549237"/>
            <a:chOff x="64541" y="4261274"/>
            <a:chExt cx="8927059" cy="254923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F2FBA0E-E968-DD4E-886C-56D5E1A54C9F}"/>
                </a:ext>
              </a:extLst>
            </p:cNvPr>
            <p:cNvSpPr/>
            <p:nvPr/>
          </p:nvSpPr>
          <p:spPr>
            <a:xfrm>
              <a:off x="87699" y="4261274"/>
              <a:ext cx="8903901" cy="25420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en-CN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A9B18E2-2DCE-BC48-A11F-815450155EFC}"/>
                </a:ext>
              </a:extLst>
            </p:cNvPr>
            <p:cNvCxnSpPr>
              <a:cxnSpLocks/>
            </p:cNvCxnSpPr>
            <p:nvPr/>
          </p:nvCxnSpPr>
          <p:spPr>
            <a:xfrm>
              <a:off x="3044460" y="5617197"/>
              <a:ext cx="0" cy="841248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361E908-5A6A-B043-AC0C-D571F36322C0}"/>
                </a:ext>
              </a:extLst>
            </p:cNvPr>
            <p:cNvSpPr/>
            <p:nvPr/>
          </p:nvSpPr>
          <p:spPr>
            <a:xfrm flipV="1">
              <a:off x="1501794" y="4740049"/>
              <a:ext cx="2398932" cy="277614"/>
            </a:xfrm>
            <a:custGeom>
              <a:avLst/>
              <a:gdLst>
                <a:gd name="connsiteX0" fmla="*/ 0 w 2468880"/>
                <a:gd name="connsiteY0" fmla="*/ 0 h 420624"/>
                <a:gd name="connsiteX1" fmla="*/ 1426464 w 2468880"/>
                <a:gd name="connsiteY1" fmla="*/ 0 h 420624"/>
                <a:gd name="connsiteX2" fmla="*/ 1426464 w 2468880"/>
                <a:gd name="connsiteY2" fmla="*/ 420624 h 420624"/>
                <a:gd name="connsiteX3" fmla="*/ 2468880 w 2468880"/>
                <a:gd name="connsiteY3" fmla="*/ 420624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8880" h="420624">
                  <a:moveTo>
                    <a:pt x="0" y="0"/>
                  </a:moveTo>
                  <a:lnTo>
                    <a:pt x="1426464" y="0"/>
                  </a:lnTo>
                  <a:lnTo>
                    <a:pt x="1426464" y="420624"/>
                  </a:lnTo>
                  <a:lnTo>
                    <a:pt x="2468880" y="420624"/>
                  </a:lnTo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F18BE63-176B-D840-BFC0-0EE50CF50FE6}"/>
                </a:ext>
              </a:extLst>
            </p:cNvPr>
            <p:cNvSpPr/>
            <p:nvPr/>
          </p:nvSpPr>
          <p:spPr>
            <a:xfrm flipV="1">
              <a:off x="1501794" y="5240917"/>
              <a:ext cx="2658927" cy="377904"/>
            </a:xfrm>
            <a:custGeom>
              <a:avLst/>
              <a:gdLst>
                <a:gd name="connsiteX0" fmla="*/ 0 w 2468880"/>
                <a:gd name="connsiteY0" fmla="*/ 0 h 420624"/>
                <a:gd name="connsiteX1" fmla="*/ 1426464 w 2468880"/>
                <a:gd name="connsiteY1" fmla="*/ 0 h 420624"/>
                <a:gd name="connsiteX2" fmla="*/ 1426464 w 2468880"/>
                <a:gd name="connsiteY2" fmla="*/ 420624 h 420624"/>
                <a:gd name="connsiteX3" fmla="*/ 2468880 w 2468880"/>
                <a:gd name="connsiteY3" fmla="*/ 420624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8880" h="420624">
                  <a:moveTo>
                    <a:pt x="0" y="0"/>
                  </a:moveTo>
                  <a:lnTo>
                    <a:pt x="1426464" y="0"/>
                  </a:lnTo>
                  <a:lnTo>
                    <a:pt x="1426464" y="420624"/>
                  </a:lnTo>
                  <a:lnTo>
                    <a:pt x="2468880" y="420624"/>
                  </a:lnTo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74C1FA3-8E54-7A4B-B88A-262B80DC4933}"/>
                </a:ext>
              </a:extLst>
            </p:cNvPr>
            <p:cNvSpPr txBox="1"/>
            <p:nvPr/>
          </p:nvSpPr>
          <p:spPr>
            <a:xfrm>
              <a:off x="184061" y="5218711"/>
              <a:ext cx="12344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Trigger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87D3861-E0AA-B740-9445-6E4069B63706}"/>
                </a:ext>
              </a:extLst>
            </p:cNvPr>
            <p:cNvSpPr txBox="1"/>
            <p:nvPr/>
          </p:nvSpPr>
          <p:spPr>
            <a:xfrm>
              <a:off x="64541" y="4630386"/>
              <a:ext cx="1473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D=g(I</a:t>
              </a:r>
              <a:r>
                <a: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Q</a:t>
              </a:r>
              <a:r>
                <a:rPr lang="en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8463EEEE-F0E2-0246-B0FE-EAFBAE03EFC9}"/>
                </a:ext>
              </a:extLst>
            </p:cNvPr>
            <p:cNvSpPr/>
            <p:nvPr/>
          </p:nvSpPr>
          <p:spPr>
            <a:xfrm flipV="1">
              <a:off x="1515068" y="5862613"/>
              <a:ext cx="2922137" cy="377904"/>
            </a:xfrm>
            <a:custGeom>
              <a:avLst/>
              <a:gdLst>
                <a:gd name="connsiteX0" fmla="*/ 0 w 2468880"/>
                <a:gd name="connsiteY0" fmla="*/ 0 h 420624"/>
                <a:gd name="connsiteX1" fmla="*/ 1426464 w 2468880"/>
                <a:gd name="connsiteY1" fmla="*/ 0 h 420624"/>
                <a:gd name="connsiteX2" fmla="*/ 1426464 w 2468880"/>
                <a:gd name="connsiteY2" fmla="*/ 420624 h 420624"/>
                <a:gd name="connsiteX3" fmla="*/ 2468880 w 2468880"/>
                <a:gd name="connsiteY3" fmla="*/ 420624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8880" h="420624">
                  <a:moveTo>
                    <a:pt x="0" y="0"/>
                  </a:moveTo>
                  <a:lnTo>
                    <a:pt x="1426464" y="0"/>
                  </a:lnTo>
                  <a:lnTo>
                    <a:pt x="1426464" y="420624"/>
                  </a:lnTo>
                  <a:lnTo>
                    <a:pt x="2468880" y="420624"/>
                  </a:lnTo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EE67652-1059-B446-826C-ACED725DB135}"/>
                </a:ext>
              </a:extLst>
            </p:cNvPr>
            <p:cNvSpPr txBox="1"/>
            <p:nvPr/>
          </p:nvSpPr>
          <p:spPr>
            <a:xfrm>
              <a:off x="272931" y="5845881"/>
              <a:ext cx="10567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States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4F1EAA7-099C-B145-AB60-40ED3D8B3FB0}"/>
                </a:ext>
              </a:extLst>
            </p:cNvPr>
            <p:cNvCxnSpPr>
              <a:stCxn id="83" idx="1"/>
              <a:endCxn id="83" idx="2"/>
            </p:cNvCxnSpPr>
            <p:nvPr/>
          </p:nvCxnSpPr>
          <p:spPr>
            <a:xfrm flipV="1">
              <a:off x="3038063" y="5240917"/>
              <a:ext cx="0" cy="377904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9E733E20-88CA-7147-866C-2A7AFD69DAE3}"/>
                </a:ext>
              </a:extLst>
            </p:cNvPr>
            <p:cNvCxnSpPr>
              <a:cxnSpLocks/>
            </p:cNvCxnSpPr>
            <p:nvPr/>
          </p:nvCxnSpPr>
          <p:spPr>
            <a:xfrm>
              <a:off x="2892060" y="5049828"/>
              <a:ext cx="0" cy="1425433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87FB376-EECA-214A-B4AC-D92298308C57}"/>
                </a:ext>
              </a:extLst>
            </p:cNvPr>
            <p:cNvCxnSpPr>
              <a:cxnSpLocks/>
            </p:cNvCxnSpPr>
            <p:nvPr/>
          </p:nvCxnSpPr>
          <p:spPr>
            <a:xfrm>
              <a:off x="3204737" y="5984261"/>
              <a:ext cx="0" cy="483292"/>
            </a:xfrm>
            <a:prstGeom prst="line">
              <a:avLst/>
            </a:prstGeom>
            <a:ln w="19050">
              <a:solidFill>
                <a:srgbClr val="0432FF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2A59081-209A-F049-8A5B-7BB64F0C16F9}"/>
                </a:ext>
              </a:extLst>
            </p:cNvPr>
            <p:cNvSpPr txBox="1"/>
            <p:nvPr/>
          </p:nvSpPr>
          <p:spPr>
            <a:xfrm>
              <a:off x="3420372" y="4346389"/>
              <a:ext cx="35285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lang="en-US" altLang="zh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 state is ready to update”</a:t>
              </a:r>
              <a:endParaRPr lang="en-CN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1DC0432D-5BB3-124E-89DF-2FFF4C1D2084}"/>
                </a:ext>
              </a:extLst>
            </p:cNvPr>
            <p:cNvCxnSpPr>
              <a:cxnSpLocks/>
              <a:stCxn id="108" idx="1"/>
            </p:cNvCxnSpPr>
            <p:nvPr/>
          </p:nvCxnSpPr>
          <p:spPr>
            <a:xfrm flipH="1">
              <a:off x="2892060" y="4546444"/>
              <a:ext cx="528312" cy="338062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C843467-7A86-F644-91A4-1E85C2D59B8B}"/>
                </a:ext>
              </a:extLst>
            </p:cNvPr>
            <p:cNvSpPr txBox="1"/>
            <p:nvPr/>
          </p:nvSpPr>
          <p:spPr>
            <a:xfrm>
              <a:off x="3420373" y="5257200"/>
              <a:ext cx="22034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“Triggering edge”</a:t>
              </a:r>
              <a:endParaRPr lang="en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0A23BE5-C9AD-F648-8F78-5209FB3A4C03}"/>
                </a:ext>
              </a:extLst>
            </p:cNvPr>
            <p:cNvCxnSpPr>
              <a:cxnSpLocks/>
              <a:stCxn id="110" idx="1"/>
            </p:cNvCxnSpPr>
            <p:nvPr/>
          </p:nvCxnSpPr>
          <p:spPr>
            <a:xfrm flipH="1">
              <a:off x="3103673" y="5457255"/>
              <a:ext cx="316700" cy="7248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C999FA5-9E75-E141-9EDA-E5EE0AB885CF}"/>
                </a:ext>
              </a:extLst>
            </p:cNvPr>
            <p:cNvSpPr txBox="1"/>
            <p:nvPr/>
          </p:nvSpPr>
          <p:spPr>
            <a:xfrm>
              <a:off x="3420372" y="5901102"/>
              <a:ext cx="35196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“States successfully updated”</a:t>
              </a:r>
              <a:endParaRPr lang="en-CN" sz="2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BD8FB315-3354-C141-BAC5-829CDD4825BB}"/>
                </a:ext>
              </a:extLst>
            </p:cNvPr>
            <p:cNvCxnSpPr>
              <a:cxnSpLocks/>
              <a:stCxn id="112" idx="1"/>
            </p:cNvCxnSpPr>
            <p:nvPr/>
          </p:nvCxnSpPr>
          <p:spPr>
            <a:xfrm flipH="1">
              <a:off x="3244196" y="6101157"/>
              <a:ext cx="176176" cy="30430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EF0502E-4DC8-F44E-8E0D-1ED9EA985B94}"/>
                </a:ext>
              </a:extLst>
            </p:cNvPr>
            <p:cNvCxnSpPr/>
            <p:nvPr/>
          </p:nvCxnSpPr>
          <p:spPr>
            <a:xfrm flipV="1">
              <a:off x="3204737" y="5848869"/>
              <a:ext cx="0" cy="377904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9AFD513-F899-024B-A070-2BA3382546BE}"/>
                </a:ext>
              </a:extLst>
            </p:cNvPr>
            <p:cNvSpPr txBox="1"/>
            <p:nvPr/>
          </p:nvSpPr>
          <p:spPr>
            <a:xfrm>
              <a:off x="3131595" y="644117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8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CN" sz="1800" baseline="-25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BAAB6C4-4BD7-FB47-84F4-40B5C4799D5B}"/>
                </a:ext>
              </a:extLst>
            </p:cNvPr>
            <p:cNvSpPr txBox="1"/>
            <p:nvPr/>
          </p:nvSpPr>
          <p:spPr>
            <a:xfrm>
              <a:off x="2906110" y="644117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8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CN" sz="1800" baseline="-25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AEF6B28-B975-9649-96ED-7BF6EBACBDA0}"/>
                </a:ext>
              </a:extLst>
            </p:cNvPr>
            <p:cNvSpPr txBox="1"/>
            <p:nvPr/>
          </p:nvSpPr>
          <p:spPr>
            <a:xfrm>
              <a:off x="2679568" y="644117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CN" sz="1800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0CC2EA4-708A-2F44-88BB-23C3893CB537}"/>
                </a:ext>
              </a:extLst>
            </p:cNvPr>
            <p:cNvSpPr/>
            <p:nvPr/>
          </p:nvSpPr>
          <p:spPr>
            <a:xfrm>
              <a:off x="3730752" y="4740024"/>
              <a:ext cx="5026151" cy="273384"/>
            </a:xfrm>
            <a:custGeom>
              <a:avLst/>
              <a:gdLst>
                <a:gd name="connsiteX0" fmla="*/ 0 w 2468880"/>
                <a:gd name="connsiteY0" fmla="*/ 0 h 420624"/>
                <a:gd name="connsiteX1" fmla="*/ 1426464 w 2468880"/>
                <a:gd name="connsiteY1" fmla="*/ 0 h 420624"/>
                <a:gd name="connsiteX2" fmla="*/ 1426464 w 2468880"/>
                <a:gd name="connsiteY2" fmla="*/ 420624 h 420624"/>
                <a:gd name="connsiteX3" fmla="*/ 2468880 w 2468880"/>
                <a:gd name="connsiteY3" fmla="*/ 420624 h 420624"/>
                <a:gd name="connsiteX0" fmla="*/ 0 w 1962016"/>
                <a:gd name="connsiteY0" fmla="*/ 0 h 420624"/>
                <a:gd name="connsiteX1" fmla="*/ 1426464 w 1962016"/>
                <a:gd name="connsiteY1" fmla="*/ 0 h 420624"/>
                <a:gd name="connsiteX2" fmla="*/ 1426464 w 1962016"/>
                <a:gd name="connsiteY2" fmla="*/ 420624 h 420624"/>
                <a:gd name="connsiteX3" fmla="*/ 1962016 w 1962016"/>
                <a:gd name="connsiteY3" fmla="*/ 420624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2016" h="420624">
                  <a:moveTo>
                    <a:pt x="0" y="0"/>
                  </a:moveTo>
                  <a:lnTo>
                    <a:pt x="1426464" y="0"/>
                  </a:lnTo>
                  <a:lnTo>
                    <a:pt x="1426464" y="420624"/>
                  </a:lnTo>
                  <a:lnTo>
                    <a:pt x="1962016" y="420624"/>
                  </a:lnTo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87B60C7F-4298-FD44-8F00-AD30BAF13244}"/>
                </a:ext>
              </a:extLst>
            </p:cNvPr>
            <p:cNvSpPr/>
            <p:nvPr/>
          </p:nvSpPr>
          <p:spPr>
            <a:xfrm>
              <a:off x="4437205" y="5862613"/>
              <a:ext cx="4478194" cy="420624"/>
            </a:xfrm>
            <a:custGeom>
              <a:avLst/>
              <a:gdLst>
                <a:gd name="connsiteX0" fmla="*/ 0 w 2468880"/>
                <a:gd name="connsiteY0" fmla="*/ 0 h 420624"/>
                <a:gd name="connsiteX1" fmla="*/ 1426464 w 2468880"/>
                <a:gd name="connsiteY1" fmla="*/ 0 h 420624"/>
                <a:gd name="connsiteX2" fmla="*/ 1426464 w 2468880"/>
                <a:gd name="connsiteY2" fmla="*/ 420624 h 420624"/>
                <a:gd name="connsiteX3" fmla="*/ 2468880 w 2468880"/>
                <a:gd name="connsiteY3" fmla="*/ 420624 h 420624"/>
                <a:gd name="connsiteX0" fmla="*/ 0 w 1870204"/>
                <a:gd name="connsiteY0" fmla="*/ 0 h 420624"/>
                <a:gd name="connsiteX1" fmla="*/ 1426464 w 1870204"/>
                <a:gd name="connsiteY1" fmla="*/ 0 h 420624"/>
                <a:gd name="connsiteX2" fmla="*/ 1426464 w 1870204"/>
                <a:gd name="connsiteY2" fmla="*/ 420624 h 420624"/>
                <a:gd name="connsiteX3" fmla="*/ 1870204 w 1870204"/>
                <a:gd name="connsiteY3" fmla="*/ 420624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0204" h="420624">
                  <a:moveTo>
                    <a:pt x="0" y="0"/>
                  </a:moveTo>
                  <a:lnTo>
                    <a:pt x="1426464" y="0"/>
                  </a:lnTo>
                  <a:lnTo>
                    <a:pt x="1426464" y="420624"/>
                  </a:lnTo>
                  <a:lnTo>
                    <a:pt x="1870204" y="420624"/>
                  </a:lnTo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4308013C-3F58-9B40-A600-E7B47B555B46}"/>
                </a:ext>
              </a:extLst>
            </p:cNvPr>
            <p:cNvSpPr/>
            <p:nvPr/>
          </p:nvSpPr>
          <p:spPr>
            <a:xfrm>
              <a:off x="4155795" y="5240917"/>
              <a:ext cx="2203438" cy="420624"/>
            </a:xfrm>
            <a:custGeom>
              <a:avLst/>
              <a:gdLst>
                <a:gd name="connsiteX0" fmla="*/ 0 w 2468880"/>
                <a:gd name="connsiteY0" fmla="*/ 0 h 420624"/>
                <a:gd name="connsiteX1" fmla="*/ 1426464 w 2468880"/>
                <a:gd name="connsiteY1" fmla="*/ 0 h 420624"/>
                <a:gd name="connsiteX2" fmla="*/ 1426464 w 2468880"/>
                <a:gd name="connsiteY2" fmla="*/ 420624 h 420624"/>
                <a:gd name="connsiteX3" fmla="*/ 2468880 w 2468880"/>
                <a:gd name="connsiteY3" fmla="*/ 420624 h 420624"/>
                <a:gd name="connsiteX0" fmla="*/ 0 w 1870204"/>
                <a:gd name="connsiteY0" fmla="*/ 0 h 420624"/>
                <a:gd name="connsiteX1" fmla="*/ 1426464 w 1870204"/>
                <a:gd name="connsiteY1" fmla="*/ 0 h 420624"/>
                <a:gd name="connsiteX2" fmla="*/ 1426464 w 1870204"/>
                <a:gd name="connsiteY2" fmla="*/ 420624 h 420624"/>
                <a:gd name="connsiteX3" fmla="*/ 1870204 w 1870204"/>
                <a:gd name="connsiteY3" fmla="*/ 420624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0204" h="420624">
                  <a:moveTo>
                    <a:pt x="0" y="0"/>
                  </a:moveTo>
                  <a:lnTo>
                    <a:pt x="1426464" y="0"/>
                  </a:lnTo>
                  <a:lnTo>
                    <a:pt x="1426464" y="420624"/>
                  </a:lnTo>
                  <a:lnTo>
                    <a:pt x="1870204" y="420624"/>
                  </a:lnTo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F28D1F0-3FE4-DA47-8776-EB6A1E7DC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8600" y="5845881"/>
              <a:ext cx="0" cy="42522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81262C7B-25A2-B646-8044-0D8EB8795281}"/>
                </a:ext>
              </a:extLst>
            </p:cNvPr>
            <p:cNvCxnSpPr>
              <a:cxnSpLocks/>
              <a:stCxn id="110" idx="3"/>
            </p:cNvCxnSpPr>
            <p:nvPr/>
          </p:nvCxnSpPr>
          <p:spPr>
            <a:xfrm>
              <a:off x="5623811" y="5457255"/>
              <a:ext cx="2018395" cy="29145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0DC9CDE8-276B-8D46-811A-F8ACB17CBBBA}"/>
                </a:ext>
              </a:extLst>
            </p:cNvPr>
            <p:cNvCxnSpPr>
              <a:cxnSpLocks/>
              <a:stCxn id="112" idx="3"/>
            </p:cNvCxnSpPr>
            <p:nvPr/>
          </p:nvCxnSpPr>
          <p:spPr>
            <a:xfrm>
              <a:off x="6940001" y="6101157"/>
              <a:ext cx="908599" cy="30430"/>
            </a:xfrm>
            <a:prstGeom prst="straightConnector1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E0455B6B-A466-9943-B1B6-C0BB71836B84}"/>
                </a:ext>
              </a:extLst>
            </p:cNvPr>
            <p:cNvSpPr/>
            <p:nvPr/>
          </p:nvSpPr>
          <p:spPr>
            <a:xfrm>
              <a:off x="3304077" y="4740049"/>
              <a:ext cx="4087318" cy="273359"/>
            </a:xfrm>
            <a:prstGeom prst="rect">
              <a:avLst/>
            </a:prstGeom>
            <a:pattFill prst="openDmnd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l"/>
              <a:endParaRPr lang="en-CN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19E6F25-A173-BD44-94F5-778DF60160B3}"/>
                </a:ext>
              </a:extLst>
            </p:cNvPr>
            <p:cNvCxnSpPr>
              <a:cxnSpLocks/>
            </p:cNvCxnSpPr>
            <p:nvPr/>
          </p:nvCxnSpPr>
          <p:spPr>
            <a:xfrm>
              <a:off x="7391394" y="4975645"/>
              <a:ext cx="0" cy="1499616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B5C0016-ECBC-1E48-A537-8F8749DDA0EC}"/>
                </a:ext>
              </a:extLst>
            </p:cNvPr>
            <p:cNvCxnSpPr>
              <a:cxnSpLocks/>
            </p:cNvCxnSpPr>
            <p:nvPr/>
          </p:nvCxnSpPr>
          <p:spPr>
            <a:xfrm>
              <a:off x="7851230" y="6018061"/>
              <a:ext cx="0" cy="457200"/>
            </a:xfrm>
            <a:prstGeom prst="line">
              <a:avLst/>
            </a:prstGeom>
            <a:ln w="19050">
              <a:solidFill>
                <a:srgbClr val="0432FF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C1F2804-35D5-A84F-8142-01A3E6AF8026}"/>
                </a:ext>
              </a:extLst>
            </p:cNvPr>
            <p:cNvSpPr txBox="1"/>
            <p:nvPr/>
          </p:nvSpPr>
          <p:spPr>
            <a:xfrm>
              <a:off x="7751758" y="644117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8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CN" sz="1800" baseline="-25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96141F3-FC77-0D4C-A677-D5F02CC90F2F}"/>
                </a:ext>
              </a:extLst>
            </p:cNvPr>
            <p:cNvSpPr txBox="1"/>
            <p:nvPr/>
          </p:nvSpPr>
          <p:spPr>
            <a:xfrm>
              <a:off x="7540076" y="644117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8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CN" sz="1800" baseline="-25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A3FFA699-E638-554F-AD85-124815BEACF3}"/>
                </a:ext>
              </a:extLst>
            </p:cNvPr>
            <p:cNvSpPr txBox="1"/>
            <p:nvPr/>
          </p:nvSpPr>
          <p:spPr>
            <a:xfrm>
              <a:off x="7262681" y="644117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CN" sz="1800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43D2EC9-6BEB-CF44-8F4B-25F69862A7DF}"/>
                </a:ext>
              </a:extLst>
            </p:cNvPr>
            <p:cNvCxnSpPr>
              <a:cxnSpLocks/>
            </p:cNvCxnSpPr>
            <p:nvPr/>
          </p:nvCxnSpPr>
          <p:spPr>
            <a:xfrm>
              <a:off x="7696200" y="5624869"/>
              <a:ext cx="0" cy="850392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464EF727-B40C-0C45-879E-0938B8F99C7C}"/>
                </a:ext>
              </a:extLst>
            </p:cNvPr>
            <p:cNvCxnSpPr>
              <a:cxnSpLocks/>
              <a:stCxn id="108" idx="3"/>
            </p:cNvCxnSpPr>
            <p:nvPr/>
          </p:nvCxnSpPr>
          <p:spPr>
            <a:xfrm>
              <a:off x="6948902" y="4546444"/>
              <a:ext cx="442492" cy="29152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C205E20-991A-7747-B6FC-BAADE31A7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3924" y="4724400"/>
              <a:ext cx="0" cy="309265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3D938F1-F1E3-5148-B347-F4147F859CF8}"/>
                </a:ext>
              </a:extLst>
            </p:cNvPr>
            <p:cNvSpPr/>
            <p:nvPr/>
          </p:nvSpPr>
          <p:spPr>
            <a:xfrm>
              <a:off x="1517327" y="4740049"/>
              <a:ext cx="1365054" cy="273359"/>
            </a:xfrm>
            <a:prstGeom prst="rect">
              <a:avLst/>
            </a:prstGeom>
            <a:pattFill prst="openDmnd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l"/>
              <a:endParaRPr lang="en-CN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B6EE56D-5120-F743-B59F-3FA9C2EA77DB}"/>
                </a:ext>
              </a:extLst>
            </p:cNvPr>
            <p:cNvCxnSpPr>
              <a:cxnSpLocks/>
              <a:stCxn id="81" idx="1"/>
            </p:cNvCxnSpPr>
            <p:nvPr/>
          </p:nvCxnSpPr>
          <p:spPr>
            <a:xfrm flipV="1">
              <a:off x="2887844" y="4724401"/>
              <a:ext cx="4216" cy="293262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7C792A47-7119-C14B-940C-2AF011D840DF}"/>
                </a:ext>
              </a:extLst>
            </p:cNvPr>
            <p:cNvSpPr/>
            <p:nvPr/>
          </p:nvSpPr>
          <p:spPr>
            <a:xfrm flipV="1">
              <a:off x="6172203" y="5282875"/>
              <a:ext cx="2635408" cy="377904"/>
            </a:xfrm>
            <a:custGeom>
              <a:avLst/>
              <a:gdLst>
                <a:gd name="connsiteX0" fmla="*/ 0 w 2468880"/>
                <a:gd name="connsiteY0" fmla="*/ 0 h 420624"/>
                <a:gd name="connsiteX1" fmla="*/ 1426464 w 2468880"/>
                <a:gd name="connsiteY1" fmla="*/ 0 h 420624"/>
                <a:gd name="connsiteX2" fmla="*/ 1426464 w 2468880"/>
                <a:gd name="connsiteY2" fmla="*/ 420624 h 420624"/>
                <a:gd name="connsiteX3" fmla="*/ 2468880 w 2468880"/>
                <a:gd name="connsiteY3" fmla="*/ 420624 h 42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8880" h="420624">
                  <a:moveTo>
                    <a:pt x="0" y="0"/>
                  </a:moveTo>
                  <a:lnTo>
                    <a:pt x="1426464" y="0"/>
                  </a:lnTo>
                  <a:lnTo>
                    <a:pt x="1426464" y="420624"/>
                  </a:lnTo>
                  <a:lnTo>
                    <a:pt x="2468880" y="420624"/>
                  </a:lnTo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16F73CD6-289E-274C-879C-568237146D5D}"/>
                </a:ext>
              </a:extLst>
            </p:cNvPr>
            <p:cNvCxnSpPr>
              <a:cxnSpLocks/>
              <a:stCxn id="135" idx="1"/>
            </p:cNvCxnSpPr>
            <p:nvPr/>
          </p:nvCxnSpPr>
          <p:spPr>
            <a:xfrm flipV="1">
              <a:off x="7694883" y="5260897"/>
              <a:ext cx="1317" cy="39988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1AA263FE-94B7-6142-8BE6-7FE1DB18FAA8}"/>
                </a:ext>
              </a:extLst>
            </p:cNvPr>
            <p:cNvSpPr/>
            <p:nvPr/>
          </p:nvSpPr>
          <p:spPr>
            <a:xfrm>
              <a:off x="7970530" y="4740024"/>
              <a:ext cx="837080" cy="273359"/>
            </a:xfrm>
            <a:prstGeom prst="rect">
              <a:avLst/>
            </a:prstGeom>
            <a:pattFill prst="openDmnd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l"/>
              <a:endParaRPr lang="en-CN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A1E1F08-A7FC-8541-B8EB-97E2C7ABAEEA}"/>
              </a:ext>
            </a:extLst>
          </p:cNvPr>
          <p:cNvSpPr/>
          <p:nvPr/>
        </p:nvSpPr>
        <p:spPr>
          <a:xfrm>
            <a:off x="87699" y="2225162"/>
            <a:ext cx="3798501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l"/>
            <a:endParaRPr lang="en-CN" sz="360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ym typeface="Wingdings" pitchFamily="2" charset="2"/>
              </a:rPr>
              <a:t>从组合逻辑到时序逻辑</a:t>
            </a:r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76C82F-64FA-0744-9F23-A8B2A130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7170" y="6245225"/>
            <a:ext cx="409630" cy="476250"/>
          </a:xfrm>
        </p:spPr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pPr/>
              <a:t>8</a:t>
            </a:fld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D8F29-AF32-F746-9913-478ED1E1191A}"/>
              </a:ext>
            </a:extLst>
          </p:cNvPr>
          <p:cNvSpPr/>
          <p:nvPr/>
        </p:nvSpPr>
        <p:spPr bwMode="auto">
          <a:xfrm>
            <a:off x="1351498" y="1636834"/>
            <a:ext cx="1005742" cy="13716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Comb. Logic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f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F2D0A9-D364-B94A-BCF1-93CA762D9324}"/>
              </a:ext>
            </a:extLst>
          </p:cNvPr>
          <p:cNvCxnSpPr>
            <a:cxnSpLocks/>
          </p:cNvCxnSpPr>
          <p:nvPr/>
        </p:nvCxnSpPr>
        <p:spPr bwMode="auto">
          <a:xfrm>
            <a:off x="970498" y="2308436"/>
            <a:ext cx="381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0073F1-1CCA-9244-8B8D-A8046203528B}"/>
              </a:ext>
            </a:extLst>
          </p:cNvPr>
          <p:cNvSpPr txBox="1"/>
          <p:nvPr/>
        </p:nvSpPr>
        <p:spPr>
          <a:xfrm>
            <a:off x="202368" y="2108381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DA3447-7326-7540-859D-25F952A5534E}"/>
              </a:ext>
            </a:extLst>
          </p:cNvPr>
          <p:cNvSpPr txBox="1"/>
          <p:nvPr/>
        </p:nvSpPr>
        <p:spPr>
          <a:xfrm>
            <a:off x="2723713" y="2141600"/>
            <a:ext cx="952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Output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CDFB8A7-1395-924F-9EC8-DC5805BC8D07}"/>
              </a:ext>
            </a:extLst>
          </p:cNvPr>
          <p:cNvCxnSpPr>
            <a:cxnSpLocks/>
          </p:cNvCxnSpPr>
          <p:nvPr/>
        </p:nvCxnSpPr>
        <p:spPr bwMode="auto">
          <a:xfrm>
            <a:off x="2356440" y="2332189"/>
            <a:ext cx="381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42AC205-EF92-0547-9CBE-6CA37B25C7DE}"/>
              </a:ext>
            </a:extLst>
          </p:cNvPr>
          <p:cNvSpPr txBox="1"/>
          <p:nvPr/>
        </p:nvSpPr>
        <p:spPr>
          <a:xfrm>
            <a:off x="508487" y="3201437"/>
            <a:ext cx="2691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Output = f (Input(1:N))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E30934-BEAE-1E48-8886-7B0670E4D751}"/>
              </a:ext>
            </a:extLst>
          </p:cNvPr>
          <p:cNvCxnSpPr>
            <a:cxnSpLocks/>
          </p:cNvCxnSpPr>
          <p:nvPr/>
        </p:nvCxnSpPr>
        <p:spPr bwMode="auto">
          <a:xfrm flipV="1">
            <a:off x="1046698" y="2254436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D21B71-CA5A-6D47-9D2D-7107B78FD074}"/>
              </a:ext>
            </a:extLst>
          </p:cNvPr>
          <p:cNvCxnSpPr>
            <a:cxnSpLocks/>
          </p:cNvCxnSpPr>
          <p:nvPr/>
        </p:nvCxnSpPr>
        <p:spPr bwMode="auto">
          <a:xfrm flipV="1">
            <a:off x="2458525" y="2280727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5E16ADA-018E-084A-BD35-0A3C7AFDAFF6}"/>
              </a:ext>
            </a:extLst>
          </p:cNvPr>
          <p:cNvSpPr/>
          <p:nvPr/>
        </p:nvSpPr>
        <p:spPr bwMode="auto">
          <a:xfrm>
            <a:off x="5507234" y="1321176"/>
            <a:ext cx="1676400" cy="13716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f,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g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4A2D1EC-E564-C144-B610-16DEAE8FD69A}"/>
              </a:ext>
            </a:extLst>
          </p:cNvPr>
          <p:cNvSpPr txBox="1"/>
          <p:nvPr/>
        </p:nvSpPr>
        <p:spPr>
          <a:xfrm>
            <a:off x="4337813" y="153131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C0CB048-6E92-754A-9016-0A8EBE610374}"/>
              </a:ext>
            </a:extLst>
          </p:cNvPr>
          <p:cNvSpPr txBox="1"/>
          <p:nvPr/>
        </p:nvSpPr>
        <p:spPr>
          <a:xfrm>
            <a:off x="7659746" y="15313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5AFD627-F4FA-B445-9855-25840B1B73A1}"/>
              </a:ext>
            </a:extLst>
          </p:cNvPr>
          <p:cNvCxnSpPr>
            <a:cxnSpLocks/>
          </p:cNvCxnSpPr>
          <p:nvPr/>
        </p:nvCxnSpPr>
        <p:spPr bwMode="auto">
          <a:xfrm>
            <a:off x="7183634" y="1743448"/>
            <a:ext cx="381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5310045-EAE4-AF4C-9B3C-1DCE3ED6FF7D}"/>
              </a:ext>
            </a:extLst>
          </p:cNvPr>
          <p:cNvSpPr/>
          <p:nvPr/>
        </p:nvSpPr>
        <p:spPr bwMode="auto">
          <a:xfrm>
            <a:off x="5507234" y="2841763"/>
            <a:ext cx="1676400" cy="5476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States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4" name="Freeform 143">
            <a:extLst>
              <a:ext uri="{FF2B5EF4-FFF2-40B4-BE49-F238E27FC236}">
                <a16:creationId xmlns:a16="http://schemas.microsoft.com/office/drawing/2014/main" id="{0F2D2221-3766-494A-A1C1-8B38663D8080}"/>
              </a:ext>
            </a:extLst>
          </p:cNvPr>
          <p:cNvSpPr/>
          <p:nvPr/>
        </p:nvSpPr>
        <p:spPr bwMode="auto">
          <a:xfrm>
            <a:off x="7178357" y="2227615"/>
            <a:ext cx="299791" cy="914401"/>
          </a:xfrm>
          <a:custGeom>
            <a:avLst/>
            <a:gdLst>
              <a:gd name="connsiteX0" fmla="*/ 16042 w 256673"/>
              <a:gd name="connsiteY0" fmla="*/ 0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73" h="513347">
                <a:moveTo>
                  <a:pt x="16042" y="0"/>
                </a:moveTo>
                <a:lnTo>
                  <a:pt x="256673" y="0"/>
                </a:lnTo>
                <a:lnTo>
                  <a:pt x="256673" y="513347"/>
                </a:lnTo>
                <a:lnTo>
                  <a:pt x="0" y="513347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Freeform 144">
            <a:extLst>
              <a:ext uri="{FF2B5EF4-FFF2-40B4-BE49-F238E27FC236}">
                <a16:creationId xmlns:a16="http://schemas.microsoft.com/office/drawing/2014/main" id="{99E365A4-FB1D-E542-825D-E2EF3F9CC846}"/>
              </a:ext>
            </a:extLst>
          </p:cNvPr>
          <p:cNvSpPr/>
          <p:nvPr/>
        </p:nvSpPr>
        <p:spPr bwMode="auto">
          <a:xfrm flipH="1">
            <a:off x="5207441" y="2258200"/>
            <a:ext cx="299791" cy="729821"/>
          </a:xfrm>
          <a:custGeom>
            <a:avLst/>
            <a:gdLst>
              <a:gd name="connsiteX0" fmla="*/ 16042 w 256673"/>
              <a:gd name="connsiteY0" fmla="*/ 0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73" h="513347">
                <a:moveTo>
                  <a:pt x="16042" y="0"/>
                </a:moveTo>
                <a:lnTo>
                  <a:pt x="256673" y="0"/>
                </a:lnTo>
                <a:lnTo>
                  <a:pt x="256673" y="513347"/>
                </a:lnTo>
                <a:lnTo>
                  <a:pt x="0" y="513347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7DD1943-CA05-A144-A127-F639C8913083}"/>
              </a:ext>
            </a:extLst>
          </p:cNvPr>
          <p:cNvSpPr txBox="1"/>
          <p:nvPr/>
        </p:nvSpPr>
        <p:spPr>
          <a:xfrm>
            <a:off x="4261369" y="3476192"/>
            <a:ext cx="45801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20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(Input, </a:t>
            </a:r>
            <a:r>
              <a:rPr lang="en-US" sz="22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States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&lt;= g(Input,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Previous States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8624A573-814F-AA4D-9E62-AB778F896D18}"/>
              </a:ext>
            </a:extLst>
          </p:cNvPr>
          <p:cNvCxnSpPr>
            <a:cxnSpLocks/>
          </p:cNvCxnSpPr>
          <p:nvPr/>
        </p:nvCxnSpPr>
        <p:spPr bwMode="auto">
          <a:xfrm>
            <a:off x="5110538" y="3226176"/>
            <a:ext cx="384048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98B7E77-6353-D84C-AEF1-2D1ED18CF32E}"/>
              </a:ext>
            </a:extLst>
          </p:cNvPr>
          <p:cNvCxnSpPr>
            <a:cxnSpLocks/>
          </p:cNvCxnSpPr>
          <p:nvPr/>
        </p:nvCxnSpPr>
        <p:spPr bwMode="auto">
          <a:xfrm>
            <a:off x="5113586" y="1743448"/>
            <a:ext cx="381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68297C6-273C-FF4A-8275-C527CC1711F5}"/>
              </a:ext>
            </a:extLst>
          </p:cNvPr>
          <p:cNvCxnSpPr>
            <a:cxnSpLocks/>
          </p:cNvCxnSpPr>
          <p:nvPr/>
        </p:nvCxnSpPr>
        <p:spPr bwMode="auto">
          <a:xfrm flipV="1">
            <a:off x="5230845" y="1689448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9EDB895-1F27-CE40-932C-B09D79828A29}"/>
              </a:ext>
            </a:extLst>
          </p:cNvPr>
          <p:cNvCxnSpPr>
            <a:cxnSpLocks/>
          </p:cNvCxnSpPr>
          <p:nvPr/>
        </p:nvCxnSpPr>
        <p:spPr bwMode="auto">
          <a:xfrm flipV="1">
            <a:off x="5302200" y="2921376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C885B73-82E9-5943-802E-4809D86B1187}"/>
              </a:ext>
            </a:extLst>
          </p:cNvPr>
          <p:cNvCxnSpPr>
            <a:cxnSpLocks/>
          </p:cNvCxnSpPr>
          <p:nvPr/>
        </p:nvCxnSpPr>
        <p:spPr bwMode="auto">
          <a:xfrm flipV="1">
            <a:off x="7283400" y="2159376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8C4DE56E-E5E5-4F40-9A2A-96ED3F6214F1}"/>
              </a:ext>
            </a:extLst>
          </p:cNvPr>
          <p:cNvCxnSpPr>
            <a:cxnSpLocks/>
          </p:cNvCxnSpPr>
          <p:nvPr/>
        </p:nvCxnSpPr>
        <p:spPr bwMode="auto">
          <a:xfrm flipV="1">
            <a:off x="7306903" y="1689448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EEF235D7-3AE1-3648-B44D-5B1B7AD50CA3}"/>
              </a:ext>
            </a:extLst>
          </p:cNvPr>
          <p:cNvSpPr txBox="1"/>
          <p:nvPr/>
        </p:nvSpPr>
        <p:spPr>
          <a:xfrm>
            <a:off x="4201045" y="2870594"/>
            <a:ext cx="971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Trigger </a:t>
            </a:r>
            <a:b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DE266D3-EFFC-1D47-9D60-922406C73143}"/>
              </a:ext>
            </a:extLst>
          </p:cNvPr>
          <p:cNvSpPr txBox="1"/>
          <p:nvPr/>
        </p:nvSpPr>
        <p:spPr>
          <a:xfrm>
            <a:off x="7497527" y="2388360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7030A0"/>
                </a:solidFill>
              </a:rPr>
              <a:t>D=g(I</a:t>
            </a:r>
            <a:r>
              <a:rPr lang="en-US" altLang="zh-CN" dirty="0" err="1">
                <a:solidFill>
                  <a:srgbClr val="7030A0"/>
                </a:solidFill>
              </a:rPr>
              <a:t>nput</a:t>
            </a:r>
            <a:r>
              <a:rPr lang="en-CN" dirty="0">
                <a:solidFill>
                  <a:srgbClr val="7030A0"/>
                </a:solidFill>
              </a:rPr>
              <a:t>,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CN" dirty="0">
                <a:solidFill>
                  <a:srgbClr val="7030A0"/>
                </a:solidFill>
              </a:rPr>
              <a:t>Q)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563A6DD-F744-304E-BCD0-EA56D6312C1F}"/>
              </a:ext>
            </a:extLst>
          </p:cNvPr>
          <p:cNvSpPr txBox="1"/>
          <p:nvPr/>
        </p:nvSpPr>
        <p:spPr>
          <a:xfrm>
            <a:off x="4758775" y="237518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7030A0"/>
                </a:solidFill>
              </a:rPr>
              <a:t>Q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06214D1-5181-494A-8321-D74BAA864655}"/>
              </a:ext>
            </a:extLst>
          </p:cNvPr>
          <p:cNvSpPr/>
          <p:nvPr/>
        </p:nvSpPr>
        <p:spPr>
          <a:xfrm>
            <a:off x="76200" y="1474096"/>
            <a:ext cx="3842290" cy="24192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本节课需要思考的问题：</a:t>
            </a:r>
            <a:endParaRPr lang="en-CN" sz="2400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  <a:p>
            <a:pPr marL="361950" indent="-361950" algn="l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如何提供触发控制</a:t>
            </a:r>
            <a:endParaRPr lang="en-CN" sz="2400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  <a:p>
            <a:pPr marL="361950" indent="-361950" algn="l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如何存储状态</a:t>
            </a:r>
            <a:endParaRPr lang="en-CN" sz="2400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  <a:p>
            <a:pPr marL="361950" indent="-361950" algn="l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如何保证时序</a:t>
            </a:r>
            <a:endParaRPr lang="en-CN" sz="2400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8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0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触发与节拍信号：时钟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457200" y="1320208"/>
            <a:ext cx="8229600" cy="145739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参数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周期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=1/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频率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占空比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上升时间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 下降时间</a:t>
            </a:r>
            <a:endParaRPr lang="en-US" altLang="zh-CN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Period=1/frequency, duty-cycle, rise time, fall time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938DACF-AEBE-7948-BAA3-1F9806F58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990705"/>
              </p:ext>
            </p:extLst>
          </p:nvPr>
        </p:nvGraphicFramePr>
        <p:xfrm>
          <a:off x="1143000" y="2819704"/>
          <a:ext cx="68580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4" imgW="6410170" imgH="1657155" progId="Visio.Drawing.11">
                  <p:embed/>
                </p:oleObj>
              </mc:Choice>
              <mc:Fallback>
                <p:oleObj name="Visio" r:id="rId4" imgW="6410170" imgH="1657155" progId="Visio.Drawing.11">
                  <p:embed/>
                  <p:pic>
                    <p:nvPicPr>
                      <p:cNvPr id="7178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819704"/>
                        <a:ext cx="68580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BAEBA0B2-BD5B-4ACD-9131-7894D386C727}"/>
              </a:ext>
            </a:extLst>
          </p:cNvPr>
          <p:cNvGrpSpPr/>
          <p:nvPr/>
        </p:nvGrpSpPr>
        <p:grpSpPr>
          <a:xfrm>
            <a:off x="1133446" y="4599177"/>
            <a:ext cx="6877108" cy="2285980"/>
            <a:chOff x="1771304" y="4599177"/>
            <a:chExt cx="6877108" cy="228598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69DDFE9-3D56-8540-8ACF-9F34B2648E84}"/>
                </a:ext>
              </a:extLst>
            </p:cNvPr>
            <p:cNvGrpSpPr/>
            <p:nvPr/>
          </p:nvGrpSpPr>
          <p:grpSpPr>
            <a:xfrm>
              <a:off x="1771304" y="5065774"/>
              <a:ext cx="5601389" cy="1819383"/>
              <a:chOff x="725311" y="4294305"/>
              <a:chExt cx="5601389" cy="1819383"/>
            </a:xfrm>
          </p:grpSpPr>
          <p:sp>
            <p:nvSpPr>
              <p:cNvPr id="7" name="Rectangle 8">
                <a:extLst>
                  <a:ext uri="{FF2B5EF4-FFF2-40B4-BE49-F238E27FC236}">
                    <a16:creationId xmlns:a16="http://schemas.microsoft.com/office/drawing/2014/main" id="{25B016A2-AEEB-C84F-8441-6C28F5C7C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2366" y="5476931"/>
                <a:ext cx="3558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tx1"/>
                    </a:solidFill>
                    <a:latin typeface="Arial" charset="0"/>
                  </a:rPr>
                  <a:t>t</a:t>
                </a:r>
                <a:r>
                  <a:rPr lang="en-US" altLang="zh-CN" sz="2000" b="1" baseline="-25000" dirty="0">
                    <a:solidFill>
                      <a:schemeClr val="tx1"/>
                    </a:solidFill>
                    <a:latin typeface="Arial" charset="0"/>
                  </a:rPr>
                  <a:t>r</a:t>
                </a:r>
              </a:p>
            </p:txBody>
          </p:sp>
          <p:sp>
            <p:nvSpPr>
              <p:cNvPr id="8" name="Rectangle 9">
                <a:extLst>
                  <a:ext uri="{FF2B5EF4-FFF2-40B4-BE49-F238E27FC236}">
                    <a16:creationId xmlns:a16="http://schemas.microsoft.com/office/drawing/2014/main" id="{CC2BB2A5-A7DC-6549-BC3E-D1C134CCB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8328" y="5476931"/>
                <a:ext cx="53987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2000" b="1" dirty="0" err="1">
                    <a:solidFill>
                      <a:schemeClr val="tx1"/>
                    </a:solidFill>
                    <a:latin typeface="Arial" charset="0"/>
                  </a:rPr>
                  <a:t>t</a:t>
                </a:r>
                <a:r>
                  <a:rPr lang="en-US" altLang="zh-CN" sz="2000" b="1" baseline="-25000" dirty="0" err="1">
                    <a:solidFill>
                      <a:schemeClr val="tx1"/>
                    </a:solidFill>
                    <a:latin typeface="Arial" charset="0"/>
                  </a:rPr>
                  <a:t>f</a:t>
                </a:r>
                <a:endParaRPr lang="en-US" altLang="zh-CN" sz="2000" b="1" baseline="-250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9" name="Rectangle 10">
                <a:extLst>
                  <a:ext uri="{FF2B5EF4-FFF2-40B4-BE49-F238E27FC236}">
                    <a16:creationId xmlns:a16="http://schemas.microsoft.com/office/drawing/2014/main" id="{B0A85A40-D201-DC48-8207-2177B1E84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311" y="4430812"/>
                <a:ext cx="8636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 algn="ctr"/>
                <a:r>
                  <a:rPr lang="en-US" altLang="zh-CN" sz="2000" b="0" dirty="0" err="1">
                    <a:solidFill>
                      <a:schemeClr val="tx1"/>
                    </a:solidFill>
                    <a:latin typeface="Arial" charset="0"/>
                  </a:rPr>
                  <a:t>V</a:t>
                </a:r>
                <a:r>
                  <a:rPr lang="en-US" altLang="zh-CN" sz="2000" b="0" baseline="-25000" dirty="0" err="1">
                    <a:solidFill>
                      <a:schemeClr val="tx1"/>
                    </a:solidFill>
                    <a:latin typeface="Arial" charset="0"/>
                  </a:rPr>
                  <a:t>IHmin</a:t>
                </a:r>
                <a:endParaRPr lang="en-US" altLang="zh-CN" sz="2000" b="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0" name="Rectangle 11">
                <a:extLst>
                  <a:ext uri="{FF2B5EF4-FFF2-40B4-BE49-F238E27FC236}">
                    <a16:creationId xmlns:a16="http://schemas.microsoft.com/office/drawing/2014/main" id="{DA6FE86C-D292-1E47-8FF2-7362ADAD26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311" y="5081507"/>
                <a:ext cx="8636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 algn="ctr"/>
                <a:r>
                  <a:rPr lang="en-US" altLang="zh-CN" sz="2000" b="0" dirty="0" err="1">
                    <a:solidFill>
                      <a:schemeClr val="tx1"/>
                    </a:solidFill>
                    <a:latin typeface="Arial" charset="0"/>
                  </a:rPr>
                  <a:t>V</a:t>
                </a:r>
                <a:r>
                  <a:rPr lang="en-US" altLang="zh-CN" sz="2000" b="0" baseline="-25000" dirty="0" err="1">
                    <a:solidFill>
                      <a:schemeClr val="tx1"/>
                    </a:solidFill>
                    <a:latin typeface="Arial" charset="0"/>
                  </a:rPr>
                  <a:t>ILmax</a:t>
                </a:r>
                <a:endParaRPr lang="en-US" altLang="zh-CN" sz="2000" b="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222F22CC-C684-DA42-BAFB-6A0DD6E2D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400" y="5784696"/>
                <a:ext cx="142242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  <a:latin typeface="Arial" charset="0"/>
                  </a:rPr>
                  <a:t>Rise time</a:t>
                </a:r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C96B0AE5-B2EA-674D-84D6-FF20BA075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9498" y="5805911"/>
                <a:ext cx="127323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  <a:latin typeface="Arial" charset="0"/>
                  </a:rPr>
                  <a:t>Fall time</a:t>
                </a: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35253B5-C9FC-0945-B671-09D0EF8975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-1" b="32898"/>
              <a:stretch/>
            </p:blipFill>
            <p:spPr>
              <a:xfrm>
                <a:off x="1790700" y="4294305"/>
                <a:ext cx="4536000" cy="1219200"/>
              </a:xfrm>
              <a:prstGeom prst="rect">
                <a:avLst/>
              </a:prstGeom>
            </p:spPr>
          </p:pic>
        </p:grpSp>
        <p:sp>
          <p:nvSpPr>
            <p:cNvPr id="17" name="矩形标注 11">
              <a:extLst>
                <a:ext uri="{FF2B5EF4-FFF2-40B4-BE49-F238E27FC236}">
                  <a16:creationId xmlns:a16="http://schemas.microsoft.com/office/drawing/2014/main" id="{6D9040FD-2AC8-4DC8-AE20-4DB236FD2DDD}"/>
                </a:ext>
              </a:extLst>
            </p:cNvPr>
            <p:cNvSpPr/>
            <p:nvPr/>
          </p:nvSpPr>
          <p:spPr bwMode="auto">
            <a:xfrm>
              <a:off x="2489184" y="4602600"/>
              <a:ext cx="1905000" cy="685800"/>
            </a:xfrm>
            <a:prstGeom prst="wedgeRectCallout">
              <a:avLst>
                <a:gd name="adj1" fmla="val 35454"/>
                <a:gd name="adj2" fmla="val 139692"/>
              </a:avLst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432FF"/>
                  </a:solidFill>
                  <a:latin typeface="+mj-ea"/>
                  <a:ea typeface="+mj-ea"/>
                  <a:cs typeface="Arial" panose="020B0604020202020204" pitchFamily="34" charset="0"/>
                </a:rPr>
                <a:t>上升沿 </a:t>
              </a:r>
              <a:r>
                <a:rPr lang="en-US" altLang="zh-CN" sz="2000" dirty="0">
                  <a:solidFill>
                    <a:srgbClr val="0432FF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positive /rising edge</a:t>
              </a:r>
            </a:p>
          </p:txBody>
        </p:sp>
        <p:sp>
          <p:nvSpPr>
            <p:cNvPr id="20" name="矩形标注 12">
              <a:extLst>
                <a:ext uri="{FF2B5EF4-FFF2-40B4-BE49-F238E27FC236}">
                  <a16:creationId xmlns:a16="http://schemas.microsoft.com/office/drawing/2014/main" id="{2790D034-E49D-4388-BB0B-9BBEAFB87B42}"/>
                </a:ext>
              </a:extLst>
            </p:cNvPr>
            <p:cNvSpPr/>
            <p:nvPr/>
          </p:nvSpPr>
          <p:spPr bwMode="auto">
            <a:xfrm>
              <a:off x="6682452" y="4599177"/>
              <a:ext cx="1965960" cy="685800"/>
            </a:xfrm>
            <a:prstGeom prst="wedgeRectCallout">
              <a:avLst>
                <a:gd name="adj1" fmla="val -49012"/>
                <a:gd name="adj2" fmla="val 128148"/>
              </a:avLst>
            </a:prstGeom>
            <a:solidFill>
              <a:schemeClr val="bg1"/>
            </a:solidFill>
            <a:ln w="19050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zh-CN" altLang="en-US" sz="2000" dirty="0">
                  <a:solidFill>
                    <a:srgbClr val="FF00FF"/>
                  </a:solidFill>
                  <a:latin typeface="+mn-ea"/>
                  <a:ea typeface="+mn-ea"/>
                  <a:cs typeface="Arial" panose="020B0604020202020204" pitchFamily="34" charset="0"/>
                </a:rPr>
                <a:t>下降沿 </a:t>
              </a:r>
              <a:r>
                <a:rPr lang="en-US" altLang="zh-CN" sz="2000" dirty="0">
                  <a:solidFill>
                    <a:srgbClr val="FF00FF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negative /falling edge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4F8E4226-2C93-4794-8F4B-123FD9A4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7170" y="6245225"/>
            <a:ext cx="409630" cy="476250"/>
          </a:xfrm>
        </p:spPr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pPr/>
              <a:t>9</a:t>
            </a:fld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35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时钟生成：环形振荡器</a:t>
            </a:r>
            <a:endParaRPr lang="en-US" altLang="zh-CN" dirty="0"/>
          </a:p>
        </p:txBody>
      </p:sp>
      <p:graphicFrame>
        <p:nvGraphicFramePr>
          <p:cNvPr id="70246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740574"/>
              </p:ext>
            </p:extLst>
          </p:nvPr>
        </p:nvGraphicFramePr>
        <p:xfrm>
          <a:off x="2995613" y="806450"/>
          <a:ext cx="6081712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Visio" r:id="rId4" imgW="2407615" imgH="887578" progId="Visio.Drawing.11">
                  <p:embed/>
                </p:oleObj>
              </mc:Choice>
              <mc:Fallback>
                <p:oleObj name="Visio" r:id="rId4" imgW="2407615" imgH="887578" progId="Visio.Drawing.11">
                  <p:embed/>
                  <p:pic>
                    <p:nvPicPr>
                      <p:cNvPr id="70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806450"/>
                        <a:ext cx="6081712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1325" y="1683526"/>
            <a:ext cx="3077445" cy="5029200"/>
          </a:xfrm>
        </p:spPr>
        <p:txBody>
          <a:bodyPr/>
          <a:lstStyle/>
          <a:p>
            <a:pPr eaLnBrk="1" hangingPunct="1"/>
            <a:r>
              <a:rPr lang="en-US" altLang="zh-CN" sz="2800" b="0" dirty="0">
                <a:ea typeface="STHeiti" panose="02010600040101010101" pitchFamily="2" charset="-122"/>
              </a:rPr>
              <a:t>Ring Oscillators</a:t>
            </a:r>
            <a:r>
              <a:rPr lang="zh-CN" altLang="en-US" sz="2800" b="0" dirty="0">
                <a:ea typeface="STHeiti" panose="02010600040101010101" pitchFamily="2" charset="-122"/>
              </a:rPr>
              <a:t> </a:t>
            </a:r>
            <a:r>
              <a:rPr lang="en-US" altLang="zh-CN" sz="2800" b="0" dirty="0">
                <a:ea typeface="STHeiti" panose="02010600040101010101" pitchFamily="2" charset="-122"/>
              </a:rPr>
              <a:t>(RO)</a:t>
            </a:r>
          </a:p>
          <a:p>
            <a:pPr lvl="1">
              <a:spcBef>
                <a:spcPts val="750"/>
              </a:spcBef>
            </a:pPr>
            <a:r>
              <a:rPr lang="zh-CN" altLang="en-US" sz="2400" b="0" dirty="0">
                <a:latin typeface="+mn-ea"/>
                <a:ea typeface="+mn-ea"/>
              </a:rPr>
              <a:t>环形振荡器</a:t>
            </a:r>
            <a:endParaRPr lang="en-US" altLang="zh-CN" sz="2000" b="0" dirty="0">
              <a:latin typeface="+mn-ea"/>
              <a:ea typeface="+mn-ea"/>
            </a:endParaRPr>
          </a:p>
          <a:p>
            <a:pPr>
              <a:spcBef>
                <a:spcPts val="1500"/>
              </a:spcBef>
            </a:pPr>
            <a:r>
              <a:rPr lang="zh-CN" altLang="en-US" sz="2800" b="0" dirty="0">
                <a:latin typeface="+mn-ea"/>
                <a:ea typeface="+mn-ea"/>
              </a:rPr>
              <a:t>周期</a:t>
            </a:r>
            <a:r>
              <a:rPr lang="en-US" altLang="zh-CN" sz="2800" b="0" dirty="0">
                <a:latin typeface="+mn-ea"/>
                <a:ea typeface="+mn-ea"/>
              </a:rPr>
              <a:t>?</a:t>
            </a:r>
            <a:endParaRPr lang="en-US" altLang="zh-CN" sz="2400" b="0" dirty="0">
              <a:latin typeface="+mn-ea"/>
              <a:ea typeface="+mn-ea"/>
            </a:endParaRPr>
          </a:p>
          <a:p>
            <a:pPr>
              <a:spcBef>
                <a:spcPts val="1500"/>
              </a:spcBef>
            </a:pPr>
            <a:r>
              <a:rPr lang="zh-CN" altLang="en-US" sz="2800" b="0" dirty="0">
                <a:latin typeface="+mn-ea"/>
                <a:ea typeface="+mn-ea"/>
              </a:rPr>
              <a:t>多少个反相器</a:t>
            </a:r>
            <a:r>
              <a:rPr lang="en-US" altLang="zh-CN" sz="2800" b="0" dirty="0">
                <a:latin typeface="+mn-ea"/>
                <a:ea typeface="+mn-ea"/>
              </a:rPr>
              <a:t>?</a:t>
            </a:r>
          </a:p>
          <a:p>
            <a:pPr lvl="1">
              <a:spcBef>
                <a:spcPts val="750"/>
              </a:spcBef>
            </a:pPr>
            <a:r>
              <a:rPr lang="zh-CN" altLang="en-US" sz="2400" b="0" dirty="0">
                <a:latin typeface="+mn-ea"/>
                <a:ea typeface="+mn-ea"/>
              </a:rPr>
              <a:t>奇数个</a:t>
            </a:r>
            <a:r>
              <a:rPr lang="en-US" altLang="zh-CN" sz="2400" b="0" dirty="0">
                <a:ea typeface="STHeiti" panose="02010600040101010101" pitchFamily="2" charset="-122"/>
              </a:rPr>
              <a:t>(</a:t>
            </a:r>
            <a:r>
              <a:rPr lang="zh-CN" altLang="en-US" sz="2400" b="0" dirty="0">
                <a:ea typeface="STHeiti" panose="02010600040101010101" pitchFamily="2" charset="-122"/>
              </a:rPr>
              <a:t>≥</a:t>
            </a:r>
            <a:r>
              <a:rPr lang="en-US" altLang="zh-CN" sz="2400" b="0" dirty="0">
                <a:ea typeface="STHeiti" panose="02010600040101010101" pitchFamily="2" charset="-122"/>
              </a:rPr>
              <a:t>3)</a:t>
            </a:r>
          </a:p>
        </p:txBody>
      </p:sp>
      <p:sp>
        <p:nvSpPr>
          <p:cNvPr id="702470" name="Text Box 6"/>
          <p:cNvSpPr txBox="1">
            <a:spLocks noChangeArrowheads="1"/>
          </p:cNvSpPr>
          <p:nvPr/>
        </p:nvSpPr>
        <p:spPr bwMode="auto">
          <a:xfrm>
            <a:off x="3238500" y="1805005"/>
            <a:ext cx="533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02473" name="Text Box 9"/>
          <p:cNvSpPr txBox="1">
            <a:spLocks noChangeArrowheads="1"/>
          </p:cNvSpPr>
          <p:nvPr/>
        </p:nvSpPr>
        <p:spPr bwMode="auto">
          <a:xfrm>
            <a:off x="3581400" y="1993266"/>
            <a:ext cx="6858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CN" sz="200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  <a:endParaRPr kumimoji="0" lang="en-US" altLang="zh-CN" sz="200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2474" name="Text Box 10"/>
          <p:cNvSpPr txBox="1">
            <a:spLocks noChangeArrowheads="1"/>
          </p:cNvSpPr>
          <p:nvPr/>
        </p:nvSpPr>
        <p:spPr bwMode="auto">
          <a:xfrm>
            <a:off x="4305300" y="1805005"/>
            <a:ext cx="533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02476" name="Text Box 12"/>
          <p:cNvSpPr txBox="1">
            <a:spLocks noChangeArrowheads="1"/>
          </p:cNvSpPr>
          <p:nvPr/>
        </p:nvSpPr>
        <p:spPr bwMode="auto">
          <a:xfrm>
            <a:off x="4648200" y="1993266"/>
            <a:ext cx="6858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CN" sz="200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  <a:endParaRPr kumimoji="0" lang="en-US" altLang="zh-CN" sz="200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2477" name="Text Box 13"/>
          <p:cNvSpPr txBox="1">
            <a:spLocks noChangeArrowheads="1"/>
          </p:cNvSpPr>
          <p:nvPr/>
        </p:nvSpPr>
        <p:spPr bwMode="auto">
          <a:xfrm>
            <a:off x="5372100" y="1805005"/>
            <a:ext cx="533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02478" name="Text Box 14"/>
          <p:cNvSpPr txBox="1">
            <a:spLocks noChangeArrowheads="1"/>
          </p:cNvSpPr>
          <p:nvPr/>
        </p:nvSpPr>
        <p:spPr bwMode="auto">
          <a:xfrm>
            <a:off x="5715000" y="1993266"/>
            <a:ext cx="6858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CN" sz="200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  <a:endParaRPr kumimoji="0" lang="en-US" altLang="zh-CN" sz="200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2479" name="Text Box 15"/>
          <p:cNvSpPr txBox="1">
            <a:spLocks noChangeArrowheads="1"/>
          </p:cNvSpPr>
          <p:nvPr/>
        </p:nvSpPr>
        <p:spPr bwMode="auto">
          <a:xfrm>
            <a:off x="6438900" y="1805005"/>
            <a:ext cx="533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02480" name="Text Box 16"/>
          <p:cNvSpPr txBox="1">
            <a:spLocks noChangeArrowheads="1"/>
          </p:cNvSpPr>
          <p:nvPr/>
        </p:nvSpPr>
        <p:spPr bwMode="auto">
          <a:xfrm>
            <a:off x="6781800" y="1993266"/>
            <a:ext cx="6858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CN" sz="200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</a:p>
        </p:txBody>
      </p:sp>
      <p:sp>
        <p:nvSpPr>
          <p:cNvPr id="702481" name="Text Box 17"/>
          <p:cNvSpPr txBox="1">
            <a:spLocks noChangeArrowheads="1"/>
          </p:cNvSpPr>
          <p:nvPr/>
        </p:nvSpPr>
        <p:spPr bwMode="auto">
          <a:xfrm>
            <a:off x="7505700" y="1805005"/>
            <a:ext cx="533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02482" name="Text Box 18"/>
          <p:cNvSpPr txBox="1">
            <a:spLocks noChangeArrowheads="1"/>
          </p:cNvSpPr>
          <p:nvPr/>
        </p:nvSpPr>
        <p:spPr bwMode="auto">
          <a:xfrm>
            <a:off x="7848600" y="1993266"/>
            <a:ext cx="6858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CN" sz="200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  <a:endParaRPr kumimoji="0" lang="en-US" altLang="zh-CN" sz="200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460163B5-9411-9744-8F40-DFAE2E41A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3777391"/>
            <a:ext cx="5124518" cy="3539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	    1	     0	   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</a:t>
            </a: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7F7FAA4C-7279-374A-8016-A0F1A60C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7088" y="2528283"/>
            <a:ext cx="512730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	    	     	       	</a:t>
            </a:r>
          </a:p>
        </p:txBody>
      </p:sp>
      <p:sp>
        <p:nvSpPr>
          <p:cNvPr id="22" name="Text Box 11">
            <a:extLst>
              <a:ext uri="{FF2B5EF4-FFF2-40B4-BE49-F238E27FC236}">
                <a16:creationId xmlns:a16="http://schemas.microsoft.com/office/drawing/2014/main" id="{8CA196EC-9689-344A-AD5B-BD286AA54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7088" y="2840560"/>
            <a:ext cx="512730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	     	       	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6B3B3726-7904-9142-9BAA-FA6FB30B7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7088" y="3152837"/>
            <a:ext cx="512730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 	       	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96106080-62A7-524A-A1D6-1B7D1BA7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3465114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	    1	 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   	</a:t>
            </a:r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3464F444-19A4-284D-A45B-D41D7CCD9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4089668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	    1	     0	       1	</a:t>
            </a:r>
          </a:p>
        </p:txBody>
      </p:sp>
      <p:grpSp>
        <p:nvGrpSpPr>
          <p:cNvPr id="32" name="组合 5">
            <a:extLst>
              <a:ext uri="{FF2B5EF4-FFF2-40B4-BE49-F238E27FC236}">
                <a16:creationId xmlns:a16="http://schemas.microsoft.com/office/drawing/2014/main" id="{4A26EC86-CDD5-3B46-BA74-D19408DDAF58}"/>
              </a:ext>
            </a:extLst>
          </p:cNvPr>
          <p:cNvGrpSpPr/>
          <p:nvPr/>
        </p:nvGrpSpPr>
        <p:grpSpPr>
          <a:xfrm>
            <a:off x="2396063" y="2555469"/>
            <a:ext cx="1109137" cy="4074075"/>
            <a:chOff x="2193393" y="2957106"/>
            <a:chExt cx="1109137" cy="4074075"/>
          </a:xfrm>
        </p:grpSpPr>
        <p:cxnSp>
          <p:nvCxnSpPr>
            <p:cNvPr id="33" name="直线箭头连接符 2">
              <a:extLst>
                <a:ext uri="{FF2B5EF4-FFF2-40B4-BE49-F238E27FC236}">
                  <a16:creationId xmlns:a16="http://schemas.microsoft.com/office/drawing/2014/main" id="{D2A31DC9-5797-6744-AE89-29AF1D7033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79058" y="2957106"/>
              <a:ext cx="0" cy="4074075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文本框 4">
              <a:extLst>
                <a:ext uri="{FF2B5EF4-FFF2-40B4-BE49-F238E27FC236}">
                  <a16:creationId xmlns:a16="http://schemas.microsoft.com/office/drawing/2014/main" id="{4359311F-F067-A840-90B1-DC61CC9FCC63}"/>
                </a:ext>
              </a:extLst>
            </p:cNvPr>
            <p:cNvSpPr txBox="1"/>
            <p:nvPr/>
          </p:nvSpPr>
          <p:spPr>
            <a:xfrm>
              <a:off x="2193393" y="6541938"/>
              <a:ext cx="11091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  <a:endPara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 Box 26">
            <a:extLst>
              <a:ext uri="{FF2B5EF4-FFF2-40B4-BE49-F238E27FC236}">
                <a16:creationId xmlns:a16="http://schemas.microsoft.com/office/drawing/2014/main" id="{60D6C05A-B1D9-164B-9206-8CE796670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4401945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	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1	     0	       1	     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D73C7E94-A9D3-EB4B-B9D9-2492F6576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4714222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	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 0	       1	     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314FC0FB-4B4C-1441-AAB2-B1C36C5AB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5026499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	    0	 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   1	     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F3791BFF-275D-FE46-9B10-C4BC99C2E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5338776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	    0	     1	  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0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 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03375C53-B0E4-3E4F-9065-A612508FE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5651053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	    0	     1	       0	    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35" name="Text Box 30">
            <a:extLst>
              <a:ext uri="{FF2B5EF4-FFF2-40B4-BE49-F238E27FC236}">
                <a16:creationId xmlns:a16="http://schemas.microsoft.com/office/drawing/2014/main" id="{00731F42-75C1-E24C-BB75-617621752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5963330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0	     1	       0	    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36" name="Text Box 30">
            <a:extLst>
              <a:ext uri="{FF2B5EF4-FFF2-40B4-BE49-F238E27FC236}">
                <a16:creationId xmlns:a16="http://schemas.microsoft.com/office/drawing/2014/main" id="{0FA5DBF0-52DC-ED47-9990-B82AD0C68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483" y="6275601"/>
            <a:ext cx="5124518" cy="353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     1	       0	    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EA827647-F1DE-4233-B899-A696D555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7170" y="6245225"/>
            <a:ext cx="409630" cy="476250"/>
          </a:xfrm>
        </p:spPr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pPr/>
              <a:t>10</a:t>
            </a:fld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20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5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0066046-EF82-4EA3-A008-73F3F2356C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568008"/>
            <a:ext cx="8432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给定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pd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, 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要生成周期为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6t</a:t>
            </a:r>
            <a:r>
              <a:rPr lang="en-US" altLang="zh-CN" sz="2400" baseline="-250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pd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Microsoft Yahei" panose="020B0503020204020204" pitchFamily="34" charset="-122"/>
              </a:rPr>
              <a:t>的时钟信号，需要多少个反相器？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36F58A-BE1A-4EEA-A686-BAAE16A4167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51587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B6B636-3AB5-4EE2-AC87-6FE8FC21E58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20167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BEF8C8-C1F0-4AF2-9CF2-4FC93B7A6EE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88747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816CBF-911F-4AE5-8A19-CEEE9D7BFA2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57327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B03DBBB-B2DC-49E5-B534-517CCB047D7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580164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F3B1CE1-7A48-401E-80DE-69BC5D8D2E7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265964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309807B-FB70-44A9-ADD1-EC1B5098D15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951764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24A9C58-0083-4158-97E1-2794790146A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637564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A87080-8DBD-4A2D-9032-04DB16E61F4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828800" y="525907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C936EAE-42EE-4DE0-BF17-2C42A1259A29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>
            <a:off x="1114425" y="5323364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矩形 21" hidden="1">
            <a:extLst>
              <a:ext uri="{FF2B5EF4-FFF2-40B4-BE49-F238E27FC236}">
                <a16:creationId xmlns:a16="http://schemas.microsoft.com/office/drawing/2014/main" id="{E04D6DB7-3BEF-4A17-A944-3E88EC3652F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 hidden="1">
            <a:extLst>
              <a:ext uri="{FF2B5EF4-FFF2-40B4-BE49-F238E27FC236}">
                <a16:creationId xmlns:a16="http://schemas.microsoft.com/office/drawing/2014/main" id="{B17E00B5-D9D3-4D74-ADF2-CDE058628712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algn="l"/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28" name="组合 27" hidden="1">
            <a:extLst>
              <a:ext uri="{FF2B5EF4-FFF2-40B4-BE49-F238E27FC236}">
                <a16:creationId xmlns:a16="http://schemas.microsoft.com/office/drawing/2014/main" id="{6465904C-1D1D-48D1-8F34-89E9355277B9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5" name="RemarkBack" hidden="1">
              <a:extLst>
                <a:ext uri="{FF2B5EF4-FFF2-40B4-BE49-F238E27FC236}">
                  <a16:creationId xmlns:a16="http://schemas.microsoft.com/office/drawing/2014/main" id="{0BEC91EF-FF5C-4207-BBED-E1A9BB88D3B6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markBlock" hidden="1">
              <a:extLst>
                <a:ext uri="{FF2B5EF4-FFF2-40B4-BE49-F238E27FC236}">
                  <a16:creationId xmlns:a16="http://schemas.microsoft.com/office/drawing/2014/main" id="{4F1B530F-5A3C-4046-ABAB-59840971B24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markTitleText" hidden="1">
              <a:extLst>
                <a:ext uri="{FF2B5EF4-FFF2-40B4-BE49-F238E27FC236}">
                  <a16:creationId xmlns:a16="http://schemas.microsoft.com/office/drawing/2014/main" id="{4A7E85DA-0189-4F8D-BF83-60EB45373C44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6" name="Rounded Rectangle 5"/>
          <p:cNvSpPr/>
          <p:nvPr>
            <p:custDataLst>
              <p:tags r:id="rId16"/>
            </p:custDataLst>
          </p:nvPr>
        </p:nvSpPr>
        <p:spPr>
          <a:xfrm>
            <a:off x="6172200" y="5944871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l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  <a:sym typeface="Microsoft Yahei" panose="020B0503020204020204" pitchFamily="34" charset="-122"/>
              </a:rPr>
              <a:t>提交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  <a:sym typeface="Microsoft Yahei" panose="020B0503020204020204" pitchFamily="34" charset="-122"/>
            </a:endParaRPr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8856B771-B3A4-4370-8290-361C1C52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7170" y="6245225"/>
            <a:ext cx="409630" cy="476250"/>
          </a:xfrm>
        </p:spPr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pPr/>
              <a:t>11</a:t>
            </a:fld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528B91E1-0747-4920-8731-A42BE04EE80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FDE4F27F-DD9A-450C-94C6-BFD7FDB7C5A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CB1D9CDE-0A04-4A32-BB0F-1C81FCFC2F99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4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Picture 1"/>
          <p:cNvPicPr>
            <a:picLocks/>
          </p:cNvPicPr>
          <p:nvPr>
            <p:custDataLst>
              <p:tags r:id="rId1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9770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B6570-7ABD-4C43-82D4-3D11EAD4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答案解析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D690F-7B32-9A4A-B6CF-66245B1C7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245225"/>
            <a:ext cx="609600" cy="476250"/>
          </a:xfrm>
        </p:spPr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  <a:latin typeface="+mn-lt"/>
              </a:rPr>
              <a:pPr/>
              <a:t>12</a:t>
            </a:fld>
            <a:endParaRPr lang="en-US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31" name="Text Box 11">
            <a:extLst>
              <a:ext uri="{FF2B5EF4-FFF2-40B4-BE49-F238E27FC236}">
                <a16:creationId xmlns:a16="http://schemas.microsoft.com/office/drawing/2014/main" id="{1B710D19-C428-D245-A0CD-8E279D5D1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073" y="4171798"/>
            <a:ext cx="3587508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1	    </a:t>
            </a:r>
            <a:r>
              <a:rPr lang="en-US" altLang="zh-CN" sz="2400" dirty="0">
                <a:solidFill>
                  <a:srgbClr val="00B0F0"/>
                </a:solidFill>
                <a:latin typeface="+mj-lt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	        	</a:t>
            </a: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DA1F8366-E2D0-B044-AE4B-8119F0315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073" y="4603308"/>
            <a:ext cx="3587508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1	    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	        </a:t>
            </a:r>
            <a:r>
              <a:rPr lang="en-US" altLang="zh-CN" sz="2400" dirty="0">
                <a:solidFill>
                  <a:srgbClr val="00B0F0"/>
                </a:solidFill>
                <a:latin typeface="+mj-lt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  <a:sym typeface="Symbol" pitchFamily="18" charset="2"/>
              </a:rPr>
              <a:t>	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36" name="Text Box 26">
            <a:extLst>
              <a:ext uri="{FF2B5EF4-FFF2-40B4-BE49-F238E27FC236}">
                <a16:creationId xmlns:a16="http://schemas.microsoft.com/office/drawing/2014/main" id="{2A4C9D2D-1451-E744-A6A3-9F3AACFD2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049" y="5466328"/>
            <a:ext cx="3585556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0	    </a:t>
            </a:r>
            <a:r>
              <a:rPr lang="en-US" altLang="zh-CN" sz="2400" dirty="0">
                <a:solidFill>
                  <a:srgbClr val="00B0F0"/>
                </a:solidFill>
                <a:latin typeface="+mj-lt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	        1	     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67CA191-886C-BA4D-A40B-40D13CDD3BB9}"/>
              </a:ext>
            </a:extLst>
          </p:cNvPr>
          <p:cNvGrpSpPr/>
          <p:nvPr/>
        </p:nvGrpSpPr>
        <p:grpSpPr>
          <a:xfrm>
            <a:off x="4170877" y="3031693"/>
            <a:ext cx="3335253" cy="621793"/>
            <a:chOff x="2884097" y="2666192"/>
            <a:chExt cx="2302178" cy="36390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27BAC63-2623-914C-8E9E-84F0FF15AB24}"/>
                </a:ext>
              </a:extLst>
            </p:cNvPr>
            <p:cNvGrpSpPr/>
            <p:nvPr/>
          </p:nvGrpSpPr>
          <p:grpSpPr>
            <a:xfrm>
              <a:off x="2884097" y="2666192"/>
              <a:ext cx="473378" cy="363904"/>
              <a:chOff x="3521296" y="3762752"/>
              <a:chExt cx="473378" cy="363904"/>
            </a:xfrm>
          </p:grpSpPr>
          <p:sp>
            <p:nvSpPr>
              <p:cNvPr id="4" name="三角形 3">
                <a:extLst>
                  <a:ext uri="{FF2B5EF4-FFF2-40B4-BE49-F238E27FC236}">
                    <a16:creationId xmlns:a16="http://schemas.microsoft.com/office/drawing/2014/main" id="{E3FACBDB-4DC5-C643-A6FD-BD02EF8251D4}"/>
                  </a:ext>
                </a:extLst>
              </p:cNvPr>
              <p:cNvSpPr/>
              <p:nvPr/>
            </p:nvSpPr>
            <p:spPr bwMode="auto">
              <a:xfrm rot="5400000">
                <a:off x="3528695" y="3755353"/>
                <a:ext cx="363904" cy="378702"/>
              </a:xfrm>
              <a:prstGeom prst="triangl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4600" b="1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4387A790-0974-4B4D-9B95-B394DD560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998" y="3903764"/>
                <a:ext cx="94676" cy="8027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4600" b="1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81119C6-8C8C-484B-BEBB-8177B1EC8BD1}"/>
                </a:ext>
              </a:extLst>
            </p:cNvPr>
            <p:cNvGrpSpPr/>
            <p:nvPr/>
          </p:nvGrpSpPr>
          <p:grpSpPr>
            <a:xfrm>
              <a:off x="3798496" y="2666193"/>
              <a:ext cx="473380" cy="363904"/>
              <a:chOff x="3521295" y="3762753"/>
              <a:chExt cx="473380" cy="363904"/>
            </a:xfrm>
          </p:grpSpPr>
          <p:sp>
            <p:nvSpPr>
              <p:cNvPr id="11" name="三角形 10">
                <a:extLst>
                  <a:ext uri="{FF2B5EF4-FFF2-40B4-BE49-F238E27FC236}">
                    <a16:creationId xmlns:a16="http://schemas.microsoft.com/office/drawing/2014/main" id="{A0B35403-B506-CE44-9942-7F98B71054EA}"/>
                  </a:ext>
                </a:extLst>
              </p:cNvPr>
              <p:cNvSpPr/>
              <p:nvPr/>
            </p:nvSpPr>
            <p:spPr bwMode="auto">
              <a:xfrm rot="5400000">
                <a:off x="3528694" y="3755354"/>
                <a:ext cx="363904" cy="378702"/>
              </a:xfrm>
              <a:prstGeom prst="triangl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4600" b="1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A4FD64E9-D187-2D46-BC94-257329A84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999" y="3903764"/>
                <a:ext cx="94676" cy="8027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4600" b="1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C7AC6D53-EBB5-A745-8BBF-FE1B01F0F8D5}"/>
                </a:ext>
              </a:extLst>
            </p:cNvPr>
            <p:cNvGrpSpPr/>
            <p:nvPr/>
          </p:nvGrpSpPr>
          <p:grpSpPr>
            <a:xfrm>
              <a:off x="4712897" y="2666193"/>
              <a:ext cx="473378" cy="363904"/>
              <a:chOff x="3521296" y="3762753"/>
              <a:chExt cx="473378" cy="363904"/>
            </a:xfrm>
          </p:grpSpPr>
          <p:sp>
            <p:nvSpPr>
              <p:cNvPr id="14" name="三角形 13">
                <a:extLst>
                  <a:ext uri="{FF2B5EF4-FFF2-40B4-BE49-F238E27FC236}">
                    <a16:creationId xmlns:a16="http://schemas.microsoft.com/office/drawing/2014/main" id="{452665A1-C258-8148-B674-9C3FBF9E9248}"/>
                  </a:ext>
                </a:extLst>
              </p:cNvPr>
              <p:cNvSpPr/>
              <p:nvPr/>
            </p:nvSpPr>
            <p:spPr bwMode="auto">
              <a:xfrm rot="5400000">
                <a:off x="3528695" y="3755354"/>
                <a:ext cx="363904" cy="378702"/>
              </a:xfrm>
              <a:prstGeom prst="triangl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4600" b="1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D00CC90F-C494-1541-8D4F-411C723C4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999" y="3904569"/>
                <a:ext cx="94675" cy="8027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4600" b="1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7" name="肘形连接符 16">
              <a:extLst>
                <a:ext uri="{FF2B5EF4-FFF2-40B4-BE49-F238E27FC236}">
                  <a16:creationId xmlns:a16="http://schemas.microsoft.com/office/drawing/2014/main" id="{1B8BC95D-A778-7F43-AC19-D913F883DAB8}"/>
                </a:ext>
              </a:extLst>
            </p:cNvPr>
            <p:cNvCxnSpPr>
              <a:cxnSpLocks/>
              <a:stCxn id="6" idx="6"/>
              <a:endCxn id="11" idx="3"/>
            </p:cNvCxnSpPr>
            <p:nvPr/>
          </p:nvCxnSpPr>
          <p:spPr bwMode="auto">
            <a:xfrm>
              <a:off x="3357475" y="2847341"/>
              <a:ext cx="441021" cy="805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肘形连接符 17">
              <a:extLst>
                <a:ext uri="{FF2B5EF4-FFF2-40B4-BE49-F238E27FC236}">
                  <a16:creationId xmlns:a16="http://schemas.microsoft.com/office/drawing/2014/main" id="{547AB167-ADAC-9342-A79E-7C3F6539923C}"/>
                </a:ext>
              </a:extLst>
            </p:cNvPr>
            <p:cNvCxnSpPr>
              <a:cxnSpLocks/>
              <a:stCxn id="12" idx="6"/>
              <a:endCxn id="14" idx="3"/>
            </p:cNvCxnSpPr>
            <p:nvPr/>
          </p:nvCxnSpPr>
          <p:spPr bwMode="auto">
            <a:xfrm>
              <a:off x="4271877" y="2847341"/>
              <a:ext cx="441021" cy="805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肘形连接符 20">
              <a:extLst>
                <a:ext uri="{FF2B5EF4-FFF2-40B4-BE49-F238E27FC236}">
                  <a16:creationId xmlns:a16="http://schemas.microsoft.com/office/drawing/2014/main" id="{45BA3CD8-64F8-B84E-8E2F-81FBD98DAC0D}"/>
                </a:ext>
              </a:extLst>
            </p:cNvPr>
            <p:cNvCxnSpPr>
              <a:cxnSpLocks/>
              <a:stCxn id="15" idx="6"/>
              <a:endCxn id="4" idx="3"/>
            </p:cNvCxnSpPr>
            <p:nvPr/>
          </p:nvCxnSpPr>
          <p:spPr bwMode="auto">
            <a:xfrm flipH="1" flipV="1">
              <a:off x="2884098" y="2848144"/>
              <a:ext cx="2302177" cy="1"/>
            </a:xfrm>
            <a:prstGeom prst="bentConnector5">
              <a:avLst>
                <a:gd name="adj1" fmla="val -6854"/>
                <a:gd name="adj2" fmla="val 25146150000"/>
                <a:gd name="adj3" fmla="val 106854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Text Box 8">
            <a:extLst>
              <a:ext uri="{FF2B5EF4-FFF2-40B4-BE49-F238E27FC236}">
                <a16:creationId xmlns:a16="http://schemas.microsoft.com/office/drawing/2014/main" id="{097A7ED4-F75B-6040-B1EF-019F698D0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073" y="3740288"/>
            <a:ext cx="3587508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1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	   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	        	</a:t>
            </a:r>
          </a:p>
        </p:txBody>
      </p:sp>
      <p:sp>
        <p:nvSpPr>
          <p:cNvPr id="35" name="Text Box 25">
            <a:extLst>
              <a:ext uri="{FF2B5EF4-FFF2-40B4-BE49-F238E27FC236}">
                <a16:creationId xmlns:a16="http://schemas.microsoft.com/office/drawing/2014/main" id="{A37EB680-F7CE-1142-A018-0A520822F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049" y="5034818"/>
            <a:ext cx="3585556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0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	   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0	        1	</a:t>
            </a:r>
          </a:p>
        </p:txBody>
      </p:sp>
      <p:sp>
        <p:nvSpPr>
          <p:cNvPr id="37" name="Text Box 27">
            <a:extLst>
              <a:ext uri="{FF2B5EF4-FFF2-40B4-BE49-F238E27FC236}">
                <a16:creationId xmlns:a16="http://schemas.microsoft.com/office/drawing/2014/main" id="{B4137EA8-C5CE-0E4B-BEE3-AD5E11E1E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049" y="5897838"/>
            <a:ext cx="3585556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0	   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1	       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	     </a:t>
            </a:r>
          </a:p>
        </p:txBody>
      </p:sp>
      <p:sp>
        <p:nvSpPr>
          <p:cNvPr id="40" name="Text Box 30">
            <a:extLst>
              <a:ext uri="{FF2B5EF4-FFF2-40B4-BE49-F238E27FC236}">
                <a16:creationId xmlns:a16="http://schemas.microsoft.com/office/drawing/2014/main" id="{99AA1262-ED3C-CB45-9340-D17FC65C8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049" y="6329346"/>
            <a:ext cx="3585556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1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	   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Symbol" pitchFamily="18" charset="2"/>
              </a:rPr>
              <a:t>1	        0	     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Symbol" pitchFamily="18" charset="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858009F-1456-874F-A993-D03BB492B444}"/>
              </a:ext>
            </a:extLst>
          </p:cNvPr>
          <p:cNvGrpSpPr/>
          <p:nvPr/>
        </p:nvGrpSpPr>
        <p:grpSpPr>
          <a:xfrm>
            <a:off x="2840957" y="3592164"/>
            <a:ext cx="1360597" cy="3190894"/>
            <a:chOff x="2176025" y="2957106"/>
            <a:chExt cx="1365427" cy="3395403"/>
          </a:xfrm>
        </p:grpSpPr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4B8B767B-2B46-E74A-BDE8-84BA628875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79058" y="2957106"/>
              <a:ext cx="0" cy="3325706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3A4D07C-1AE2-944B-9A14-76BEB094EF76}"/>
                </a:ext>
              </a:extLst>
            </p:cNvPr>
            <p:cNvSpPr txBox="1"/>
            <p:nvPr/>
          </p:nvSpPr>
          <p:spPr>
            <a:xfrm>
              <a:off x="2176025" y="5861255"/>
              <a:ext cx="1365427" cy="491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dirty="0">
                  <a:solidFill>
                    <a:srgbClr val="000000"/>
                  </a:solidFill>
                  <a:latin typeface="+mn-lt"/>
                  <a:cs typeface="Arial" panose="020B0604020202020204" pitchFamily="34" charset="0"/>
                </a:rPr>
                <a:t>Time</a:t>
              </a:r>
              <a:endPara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44" name="左大括号 43">
            <a:extLst>
              <a:ext uri="{FF2B5EF4-FFF2-40B4-BE49-F238E27FC236}">
                <a16:creationId xmlns:a16="http://schemas.microsoft.com/office/drawing/2014/main" id="{B372B93E-81B3-0E49-A354-33B42467828D}"/>
              </a:ext>
            </a:extLst>
          </p:cNvPr>
          <p:cNvSpPr/>
          <p:nvPr/>
        </p:nvSpPr>
        <p:spPr bwMode="auto">
          <a:xfrm>
            <a:off x="3326610" y="3740289"/>
            <a:ext cx="382690" cy="2504936"/>
          </a:xfrm>
          <a:prstGeom prst="leftBrace">
            <a:avLst>
              <a:gd name="adj1" fmla="val 68494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600" b="1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7C20703-6F6E-7F4D-B705-E1E4EE6CE386}"/>
              </a:ext>
            </a:extLst>
          </p:cNvPr>
          <p:cNvSpPr/>
          <p:nvPr/>
        </p:nvSpPr>
        <p:spPr>
          <a:xfrm>
            <a:off x="2664609" y="4701219"/>
            <a:ext cx="5485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6t</a:t>
            </a:r>
            <a:endParaRPr lang="zh-CN" altLang="en-US" sz="3200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6D2E96-8B16-46D9-B2D0-98C34B8D53B9}"/>
              </a:ext>
            </a:extLst>
          </p:cNvPr>
          <p:cNvSpPr/>
          <p:nvPr/>
        </p:nvSpPr>
        <p:spPr>
          <a:xfrm>
            <a:off x="457200" y="3954235"/>
            <a:ext cx="23903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3333FF"/>
                </a:solidFill>
                <a:latin typeface="+mj-lt"/>
                <a:ea typeface="+mj-ea"/>
                <a:cs typeface="Arial" panose="020B0604020202020204" pitchFamily="34" charset="0"/>
              </a:rPr>
              <a:t>解答：</a:t>
            </a:r>
            <a:r>
              <a:rPr kumimoji="1" lang="en-US" altLang="zh-CN" sz="2400" b="1" dirty="0">
                <a:solidFill>
                  <a:srgbClr val="3333FF"/>
                </a:solidFill>
                <a:latin typeface="+mj-lt"/>
                <a:ea typeface="+mj-ea"/>
                <a:cs typeface="Arial" panose="020B0604020202020204" pitchFamily="34" charset="0"/>
              </a:rPr>
              <a:t>A. 3</a:t>
            </a:r>
            <a:r>
              <a:rPr kumimoji="1" lang="zh-CN" altLang="en-US" sz="2400" b="1" dirty="0">
                <a:solidFill>
                  <a:srgbClr val="3333FF"/>
                </a:solidFill>
                <a:latin typeface="+mj-lt"/>
                <a:ea typeface="+mj-ea"/>
                <a:cs typeface="Arial" panose="020B0604020202020204" pitchFamily="34" charset="0"/>
              </a:rPr>
              <a:t>个</a:t>
            </a:r>
            <a:endParaRPr lang="zh-CN" altLang="en-US" sz="2400" b="1" dirty="0">
              <a:solidFill>
                <a:srgbClr val="3333FF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6">
                <a:extLst>
                  <a:ext uri="{FF2B5EF4-FFF2-40B4-BE49-F238E27FC236}">
                    <a16:creationId xmlns:a16="http://schemas.microsoft.com/office/drawing/2014/main" id="{762668A9-0766-2E47-8503-416485851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839200" cy="2677992"/>
              </a:xfrm>
            </p:spPr>
            <p:txBody>
              <a:bodyPr/>
              <a:lstStyle/>
              <a:p>
                <a:r>
                  <a:rPr lang="zh-CN" altLang="en-US" sz="2400" b="0" dirty="0">
                    <a:ea typeface="+mn-ea"/>
                    <a:cs typeface="Arial" panose="020B0604020202020204" pitchFamily="34" charset="0"/>
                  </a:rPr>
                  <a:t>给定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𝑝𝑑</m:t>
                        </m:r>
                      </m:sub>
                    </m:sSub>
                  </m:oMath>
                </a14:m>
                <a:r>
                  <a:rPr lang="zh-CN" altLang="en-US" sz="2400" b="0" dirty="0">
                    <a:ea typeface="+mn-ea"/>
                    <a:cs typeface="Arial" panose="020B0604020202020204" pitchFamily="34" charset="0"/>
                  </a:rPr>
                  <a:t>要生成周期为</a:t>
                </a:r>
                <a:r>
                  <a:rPr lang="en-US" altLang="zh-CN" sz="2400" b="0" dirty="0">
                    <a:ea typeface="+mn-ea"/>
                    <a:cs typeface="Arial" panose="020B0604020202020204" pitchFamily="34" charset="0"/>
                  </a:rPr>
                  <a:t>6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𝑝𝑑</m:t>
                        </m:r>
                      </m:sub>
                    </m:sSub>
                  </m:oMath>
                </a14:m>
                <a:r>
                  <a:rPr lang="zh-CN" altLang="en-US" sz="2400" b="0" dirty="0">
                    <a:latin typeface="+mn-ea"/>
                    <a:ea typeface="+mn-ea"/>
                    <a:cs typeface="Arial" panose="020B0604020202020204" pitchFamily="34" charset="0"/>
                  </a:rPr>
                  <a:t>的时钟信号，需要多少个反相器？</a:t>
                </a:r>
                <a:endParaRPr lang="en-MY" altLang="zh-CN" sz="2400" b="0" dirty="0">
                  <a:latin typeface="+mn-ea"/>
                  <a:ea typeface="+mn-ea"/>
                  <a:cs typeface="Arial" panose="020B0604020202020204" pitchFamily="34" charset="0"/>
                </a:endParaRPr>
              </a:p>
              <a:p>
                <a:pPr lvl="1">
                  <a:spcBef>
                    <a:spcPts val="1200"/>
                  </a:spcBef>
                  <a:buFont typeface="System Font Regular"/>
                  <a:buChar char="-"/>
                </a:pPr>
                <a:r>
                  <a:rPr lang="en-US" altLang="zh-CN" sz="2000" b="0" dirty="0">
                    <a:solidFill>
                      <a:srgbClr val="3333FF"/>
                    </a:solidFill>
                    <a:ea typeface="+mn-ea"/>
                    <a:cs typeface="Arial" panose="020B0604020202020204" pitchFamily="34" charset="0"/>
                  </a:rPr>
                  <a:t>A. 3</a:t>
                </a:r>
              </a:p>
              <a:p>
                <a:pPr lvl="1">
                  <a:buFont typeface="System Font Regular"/>
                  <a:buChar char="-"/>
                </a:pPr>
                <a:r>
                  <a:rPr lang="en-US" altLang="zh-CN" sz="2000" b="0" dirty="0">
                    <a:ea typeface="+mn-ea"/>
                    <a:cs typeface="Arial" panose="020B0604020202020204" pitchFamily="34" charset="0"/>
                  </a:rPr>
                  <a:t>B. 4 </a:t>
                </a:r>
              </a:p>
              <a:p>
                <a:pPr lvl="1">
                  <a:buFont typeface="System Font Regular"/>
                  <a:buChar char="-"/>
                </a:pPr>
                <a:r>
                  <a:rPr lang="en-US" altLang="zh-CN" sz="2000" b="0" dirty="0">
                    <a:ea typeface="+mn-ea"/>
                    <a:cs typeface="Arial" panose="020B0604020202020204" pitchFamily="34" charset="0"/>
                  </a:rPr>
                  <a:t>C. 5 </a:t>
                </a:r>
              </a:p>
              <a:p>
                <a:pPr lvl="1">
                  <a:buFont typeface="System Font Regular"/>
                  <a:buChar char="-"/>
                </a:pPr>
                <a:r>
                  <a:rPr lang="en-US" altLang="zh-CN" sz="2000" b="0" dirty="0">
                    <a:ea typeface="+mn-ea"/>
                    <a:cs typeface="Arial" panose="020B0604020202020204" pitchFamily="34" charset="0"/>
                  </a:rPr>
                  <a:t>D. 6 </a:t>
                </a:r>
              </a:p>
              <a:p>
                <a:pPr lvl="1">
                  <a:buFont typeface="System Font Regular"/>
                  <a:buChar char="-"/>
                </a:pPr>
                <a:r>
                  <a:rPr lang="en-US" altLang="zh-CN" sz="2000" b="0" dirty="0">
                    <a:ea typeface="+mn-ea"/>
                    <a:cs typeface="Arial" panose="020B0604020202020204" pitchFamily="34" charset="0"/>
                  </a:rPr>
                  <a:t>E. 7</a:t>
                </a:r>
                <a:endParaRPr lang="zh-CN" altLang="en-US" sz="2400" b="0" dirty="0"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Content Placeholder 6">
                <a:extLst>
                  <a:ext uri="{FF2B5EF4-FFF2-40B4-BE49-F238E27FC236}">
                    <a16:creationId xmlns:a16="http://schemas.microsoft.com/office/drawing/2014/main" id="{762668A9-0766-2E47-8503-416485851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839200" cy="2677992"/>
              </a:xfrm>
              <a:blipFill>
                <a:blip r:embed="rId2"/>
                <a:stretch>
                  <a:fillRect l="-897" t="-25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63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066E94F-C289-D14B-A715-8A46005A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其他时钟信号发生器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FB9E67E-25FD-334B-95CE-DDDA1A454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b="0" dirty="0"/>
              <a:t>LC</a:t>
            </a:r>
            <a:r>
              <a:rPr lang="zh-CN" altLang="en-US" sz="2800" b="0" dirty="0"/>
              <a:t> </a:t>
            </a:r>
            <a:r>
              <a:rPr lang="en-US" altLang="zh-CN" sz="2800" b="0" dirty="0"/>
              <a:t>oscillator</a:t>
            </a:r>
            <a:r>
              <a:rPr lang="zh-CN" altLang="en-US" sz="2800" b="0" dirty="0"/>
              <a:t>（</a:t>
            </a:r>
            <a:r>
              <a:rPr lang="en-US" altLang="zh-CN" sz="2800" b="0" dirty="0"/>
              <a:t>LC </a:t>
            </a:r>
            <a:r>
              <a:rPr lang="zh-CN" altLang="en-US" sz="2800" b="0" dirty="0"/>
              <a:t>振荡器）</a:t>
            </a:r>
            <a:endParaRPr lang="en-US" altLang="zh-CN" sz="2800" b="0" dirty="0"/>
          </a:p>
          <a:p>
            <a:r>
              <a:rPr lang="en-US" altLang="zh-CN" sz="2800" b="0" dirty="0"/>
              <a:t>Crystal oscillator</a:t>
            </a:r>
            <a:r>
              <a:rPr lang="zh-CN" altLang="en-US" sz="2800" b="0" dirty="0"/>
              <a:t> （晶振）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E595E8-F6F1-064E-81C2-FCC73EFE14C6}"/>
              </a:ext>
            </a:extLst>
          </p:cNvPr>
          <p:cNvGrpSpPr/>
          <p:nvPr/>
        </p:nvGrpSpPr>
        <p:grpSpPr>
          <a:xfrm>
            <a:off x="5181600" y="1676400"/>
            <a:ext cx="3434774" cy="4684609"/>
            <a:chOff x="4718626" y="1234819"/>
            <a:chExt cx="3434774" cy="4684609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2F0EA63-9B81-F14A-9F27-B863E181B9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22" t="36952" r="44631" b="35027"/>
            <a:stretch/>
          </p:blipFill>
          <p:spPr>
            <a:xfrm>
              <a:off x="4741889" y="2995274"/>
              <a:ext cx="3411511" cy="292415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8173A27-CE8A-C44C-8E12-D20680520777}"/>
                </a:ext>
              </a:extLst>
            </p:cNvPr>
            <p:cNvSpPr txBox="1"/>
            <p:nvPr/>
          </p:nvSpPr>
          <p:spPr>
            <a:xfrm>
              <a:off x="4718626" y="2724090"/>
              <a:ext cx="3434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Crystal</a:t>
              </a:r>
              <a:r>
                <a:rPr kumimoji="1"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oscillator</a:t>
              </a:r>
              <a:endParaRPr kumimoji="1"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089986" name="Picture 2" descr="Image result for crystal oscillator">
              <a:extLst>
                <a:ext uri="{FF2B5EF4-FFF2-40B4-BE49-F238E27FC236}">
                  <a16:creationId xmlns:a16="http://schemas.microsoft.com/office/drawing/2014/main" id="{74B2830D-E394-C74D-B517-0298B6286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1200" y="1234819"/>
              <a:ext cx="1381746" cy="13817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A643C0D-18D7-A044-89F4-1E2937DF2DE9}"/>
              </a:ext>
            </a:extLst>
          </p:cNvPr>
          <p:cNvGrpSpPr/>
          <p:nvPr/>
        </p:nvGrpSpPr>
        <p:grpSpPr>
          <a:xfrm>
            <a:off x="914400" y="2895600"/>
            <a:ext cx="3505200" cy="3465409"/>
            <a:chOff x="666341" y="2978047"/>
            <a:chExt cx="3505200" cy="34654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51BF81E-3E7A-1545-8140-E05B1E57962B}"/>
                </a:ext>
              </a:extLst>
            </p:cNvPr>
            <p:cNvGrpSpPr/>
            <p:nvPr/>
          </p:nvGrpSpPr>
          <p:grpSpPr>
            <a:xfrm>
              <a:off x="666341" y="4336621"/>
              <a:ext cx="3505200" cy="2106835"/>
              <a:chOff x="612154" y="3218720"/>
              <a:chExt cx="3505200" cy="2106835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E8ABDD7A-086F-994C-AD8D-3405F459A4B4}"/>
                  </a:ext>
                </a:extLst>
              </p:cNvPr>
              <p:cNvGrpSpPr/>
              <p:nvPr/>
            </p:nvGrpSpPr>
            <p:grpSpPr>
              <a:xfrm>
                <a:off x="612154" y="3496755"/>
                <a:ext cx="3484547" cy="1828800"/>
                <a:chOff x="777767" y="2796944"/>
                <a:chExt cx="3484547" cy="1828800"/>
              </a:xfrm>
            </p:grpSpPr>
            <p:pic>
              <p:nvPicPr>
                <p:cNvPr id="11" name="图片 10">
                  <a:extLst>
                    <a:ext uri="{FF2B5EF4-FFF2-40B4-BE49-F238E27FC236}">
                      <a16:creationId xmlns:a16="http://schemas.microsoft.com/office/drawing/2014/main" id="{411B0A5E-15E3-054D-A4D9-14F156A9BA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2691" t="29524" r="29136" b="48333"/>
                <a:stretch/>
              </p:blipFill>
              <p:spPr>
                <a:xfrm>
                  <a:off x="777767" y="2796944"/>
                  <a:ext cx="3434775" cy="1828800"/>
                </a:xfrm>
                <a:prstGeom prst="rect">
                  <a:avLst/>
                </a:prstGeom>
              </p:spPr>
            </p:pic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897CB541-8EF7-0242-9810-55F49DD8108A}"/>
                    </a:ext>
                  </a:extLst>
                </p:cNvPr>
                <p:cNvSpPr/>
                <p:nvPr/>
              </p:nvSpPr>
              <p:spPr bwMode="auto">
                <a:xfrm>
                  <a:off x="3928477" y="3043779"/>
                  <a:ext cx="333837" cy="662381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4600" b="1" i="0" u="none" strike="noStrike" cap="none" normalizeH="0" baseline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2BA4588-6E88-6C42-9477-4827EB495A51}"/>
                  </a:ext>
                </a:extLst>
              </p:cNvPr>
              <p:cNvSpPr txBox="1"/>
              <p:nvPr/>
            </p:nvSpPr>
            <p:spPr>
              <a:xfrm>
                <a:off x="682580" y="3218720"/>
                <a:ext cx="3434774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LC</a:t>
                </a:r>
                <a:r>
                  <a:rPr kumimoji="1" lang="zh-CN" altLang="en-US" sz="20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oscillator</a:t>
                </a:r>
                <a:endParaRPr kumimoji="1"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089988" name="Picture 4">
              <a:extLst>
                <a:ext uri="{FF2B5EF4-FFF2-40B4-BE49-F238E27FC236}">
                  <a16:creationId xmlns:a16="http://schemas.microsoft.com/office/drawing/2014/main" id="{1DB97EB9-2F0F-4B4E-AC7F-E97D525C6E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99" t="21016" r="44732" b="47454"/>
            <a:stretch/>
          </p:blipFill>
          <p:spPr bwMode="auto">
            <a:xfrm>
              <a:off x="1508488" y="2978047"/>
              <a:ext cx="1633779" cy="1150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F4322D84-2F43-40C5-A3A3-3A092641100A}"/>
              </a:ext>
            </a:extLst>
          </p:cNvPr>
          <p:cNvSpPr/>
          <p:nvPr/>
        </p:nvSpPr>
        <p:spPr bwMode="auto">
          <a:xfrm>
            <a:off x="2269375" y="4622965"/>
            <a:ext cx="1159625" cy="48243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600" i="0" u="none" strike="noStrike" cap="none" normalizeH="0" baseline="0" dirty="0">
              <a:ln>
                <a:noFill/>
              </a:ln>
              <a:solidFill>
                <a:srgbClr val="FF33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3C7C24-562F-5048-90C6-688D8624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593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>
          <a:xfrm>
            <a:off x="1961244" y="123328"/>
            <a:ext cx="5526312" cy="1143000"/>
          </a:xfrm>
        </p:spPr>
        <p:txBody>
          <a:bodyPr/>
          <a:lstStyle/>
          <a:p>
            <a:pPr algn="just" eaLnBrk="1" hangingPunct="1"/>
            <a:r>
              <a:rPr lang="zh-CN" altLang="en-US" dirty="0"/>
              <a:t>时钟触发：在边缘采样</a:t>
            </a:r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E04B7-2212-504C-AE88-13CA8221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13668" name="Rectangle 3"/>
          <p:cNvSpPr>
            <a:spLocks noChangeArrowheads="1"/>
          </p:cNvSpPr>
          <p:nvPr/>
        </p:nvSpPr>
        <p:spPr bwMode="auto">
          <a:xfrm>
            <a:off x="1194775" y="2815630"/>
            <a:ext cx="77104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Clock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670" name="Rectangle 5"/>
          <p:cNvSpPr>
            <a:spLocks noChangeArrowheads="1"/>
          </p:cNvSpPr>
          <p:nvPr/>
        </p:nvSpPr>
        <p:spPr bwMode="auto">
          <a:xfrm>
            <a:off x="1237397" y="345505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13723" name="Line 57"/>
          <p:cNvSpPr>
            <a:spLocks noChangeShapeType="1"/>
          </p:cNvSpPr>
          <p:nvPr/>
        </p:nvSpPr>
        <p:spPr bwMode="auto">
          <a:xfrm>
            <a:off x="1981200" y="3910631"/>
            <a:ext cx="28135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724" name="Line 58"/>
          <p:cNvSpPr>
            <a:spLocks noChangeShapeType="1"/>
          </p:cNvSpPr>
          <p:nvPr/>
        </p:nvSpPr>
        <p:spPr bwMode="auto">
          <a:xfrm flipV="1">
            <a:off x="2262554" y="3406469"/>
            <a:ext cx="0" cy="504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725" name="Line 59"/>
          <p:cNvSpPr>
            <a:spLocks noChangeShapeType="1"/>
          </p:cNvSpPr>
          <p:nvPr/>
        </p:nvSpPr>
        <p:spPr bwMode="auto">
          <a:xfrm flipV="1">
            <a:off x="3536483" y="3406469"/>
            <a:ext cx="0" cy="504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726" name="Line 60"/>
          <p:cNvSpPr>
            <a:spLocks noChangeShapeType="1"/>
          </p:cNvSpPr>
          <p:nvPr/>
        </p:nvSpPr>
        <p:spPr bwMode="auto">
          <a:xfrm>
            <a:off x="2262554" y="3408607"/>
            <a:ext cx="128016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727" name="Line 61"/>
          <p:cNvSpPr>
            <a:spLocks noChangeShapeType="1"/>
          </p:cNvSpPr>
          <p:nvPr/>
        </p:nvSpPr>
        <p:spPr bwMode="auto">
          <a:xfrm flipV="1">
            <a:off x="4161692" y="3406469"/>
            <a:ext cx="0" cy="5029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728" name="Line 62"/>
          <p:cNvSpPr>
            <a:spLocks noChangeShapeType="1"/>
          </p:cNvSpPr>
          <p:nvPr/>
        </p:nvSpPr>
        <p:spPr bwMode="auto">
          <a:xfrm flipV="1">
            <a:off x="4795838" y="3404088"/>
            <a:ext cx="0" cy="5029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729" name="Line 63"/>
          <p:cNvSpPr>
            <a:spLocks noChangeShapeType="1"/>
          </p:cNvSpPr>
          <p:nvPr/>
        </p:nvSpPr>
        <p:spPr bwMode="auto">
          <a:xfrm>
            <a:off x="3528646" y="3910631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730" name="Line 64"/>
          <p:cNvSpPr>
            <a:spLocks noChangeShapeType="1"/>
          </p:cNvSpPr>
          <p:nvPr/>
        </p:nvSpPr>
        <p:spPr bwMode="auto">
          <a:xfrm>
            <a:off x="4151194" y="3408607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731" name="Line 65"/>
          <p:cNvSpPr>
            <a:spLocks noChangeShapeType="1"/>
          </p:cNvSpPr>
          <p:nvPr/>
        </p:nvSpPr>
        <p:spPr bwMode="auto">
          <a:xfrm>
            <a:off x="4791274" y="3910631"/>
            <a:ext cx="267632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78346" name="Rectangle 106"/>
          <p:cNvSpPr>
            <a:spLocks noChangeArrowheads="1"/>
          </p:cNvSpPr>
          <p:nvPr/>
        </p:nvSpPr>
        <p:spPr bwMode="auto">
          <a:xfrm>
            <a:off x="3014298" y="3414017"/>
            <a:ext cx="41799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671" name="Rectangle 6"/>
          <p:cNvSpPr>
            <a:spLocks noChangeArrowheads="1"/>
          </p:cNvSpPr>
          <p:nvPr/>
        </p:nvSpPr>
        <p:spPr bwMode="auto">
          <a:xfrm>
            <a:off x="1384300" y="4215431"/>
            <a:ext cx="2388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2400" b="0" i="1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endParaRPr lang="en-US" altLang="zh-CN" sz="2400" b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672" name="Rectangle 7"/>
          <p:cNvSpPr>
            <a:spLocks noChangeArrowheads="1"/>
          </p:cNvSpPr>
          <p:nvPr/>
        </p:nvSpPr>
        <p:spPr bwMode="auto">
          <a:xfrm>
            <a:off x="1646213" y="4387695"/>
            <a:ext cx="153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800" b="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A</a:t>
            </a:r>
            <a:endParaRPr lang="en-US" altLang="zh-CN" sz="1800" b="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673" name="Rectangle 8"/>
          <p:cNvSpPr>
            <a:spLocks noChangeArrowheads="1"/>
          </p:cNvSpPr>
          <p:nvPr/>
        </p:nvSpPr>
        <p:spPr bwMode="auto">
          <a:xfrm>
            <a:off x="1371600" y="4901231"/>
            <a:ext cx="2388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2400" b="0" i="1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endParaRPr lang="en-US" altLang="zh-CN" sz="2400" b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674" name="Rectangle 9"/>
          <p:cNvSpPr>
            <a:spLocks noChangeArrowheads="1"/>
          </p:cNvSpPr>
          <p:nvPr/>
        </p:nvSpPr>
        <p:spPr bwMode="auto">
          <a:xfrm>
            <a:off x="1662088" y="5073494"/>
            <a:ext cx="153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800" b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B</a:t>
            </a:r>
            <a:endParaRPr lang="en-US" altLang="zh-CN" sz="1800" b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675" name="Rectangle 10"/>
          <p:cNvSpPr>
            <a:spLocks noChangeArrowheads="1"/>
          </p:cNvSpPr>
          <p:nvPr/>
        </p:nvSpPr>
        <p:spPr bwMode="auto">
          <a:xfrm>
            <a:off x="1371600" y="5561631"/>
            <a:ext cx="2388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2400" b="0" i="1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676" name="Rectangle 11"/>
          <p:cNvSpPr>
            <a:spLocks noChangeArrowheads="1"/>
          </p:cNvSpPr>
          <p:nvPr/>
        </p:nvSpPr>
        <p:spPr bwMode="auto">
          <a:xfrm>
            <a:off x="1662088" y="5748182"/>
            <a:ext cx="1667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800" b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</a:t>
            </a:r>
            <a:endParaRPr lang="en-US" altLang="zh-CN" sz="1800" b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0" name="Rectangle 49"/>
          <p:cNvSpPr>
            <a:spLocks noChangeArrowheads="1"/>
          </p:cNvSpPr>
          <p:nvPr/>
        </p:nvSpPr>
        <p:spPr bwMode="auto">
          <a:xfrm>
            <a:off x="222343" y="4850431"/>
            <a:ext cx="8123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States</a:t>
            </a:r>
          </a:p>
        </p:txBody>
      </p:sp>
      <p:sp>
        <p:nvSpPr>
          <p:cNvPr id="111" name="Freeform 69"/>
          <p:cNvSpPr>
            <a:spLocks/>
          </p:cNvSpPr>
          <p:nvPr/>
        </p:nvSpPr>
        <p:spPr bwMode="auto">
          <a:xfrm rot="16200000">
            <a:off x="368339" y="4922845"/>
            <a:ext cx="1645708" cy="230879"/>
          </a:xfrm>
          <a:custGeom>
            <a:avLst/>
            <a:gdLst>
              <a:gd name="T0" fmla="*/ 0 w 15500"/>
              <a:gd name="T1" fmla="*/ 0 h 2642"/>
              <a:gd name="T2" fmla="*/ 1 w 15500"/>
              <a:gd name="T3" fmla="*/ 0 h 2642"/>
              <a:gd name="T4" fmla="*/ 3 w 15500"/>
              <a:gd name="T5" fmla="*/ 0 h 2642"/>
              <a:gd name="T6" fmla="*/ 3 w 15500"/>
              <a:gd name="T7" fmla="*/ 0 h 2642"/>
              <a:gd name="T8" fmla="*/ 4 w 15500"/>
              <a:gd name="T9" fmla="*/ 0 h 2642"/>
              <a:gd name="T10" fmla="*/ 6 w 15500"/>
              <a:gd name="T11" fmla="*/ 0 h 2642"/>
              <a:gd name="T12" fmla="*/ 7 w 15500"/>
              <a:gd name="T13" fmla="*/ 0 h 26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500"/>
              <a:gd name="T22" fmla="*/ 0 h 2642"/>
              <a:gd name="T23" fmla="*/ 15500 w 15500"/>
              <a:gd name="T24" fmla="*/ 2642 h 264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500" h="2642">
                <a:moveTo>
                  <a:pt x="0" y="2642"/>
                </a:moveTo>
                <a:cubicBezTo>
                  <a:pt x="0" y="1912"/>
                  <a:pt x="579" y="1321"/>
                  <a:pt x="1292" y="1321"/>
                </a:cubicBezTo>
                <a:lnTo>
                  <a:pt x="6459" y="1321"/>
                </a:lnTo>
                <a:cubicBezTo>
                  <a:pt x="7172" y="1321"/>
                  <a:pt x="7750" y="730"/>
                  <a:pt x="7750" y="0"/>
                </a:cubicBezTo>
                <a:cubicBezTo>
                  <a:pt x="7750" y="730"/>
                  <a:pt x="8329" y="1321"/>
                  <a:pt x="9042" y="1321"/>
                </a:cubicBezTo>
                <a:lnTo>
                  <a:pt x="14209" y="1321"/>
                </a:lnTo>
                <a:cubicBezTo>
                  <a:pt x="14922" y="1321"/>
                  <a:pt x="15500" y="1912"/>
                  <a:pt x="15500" y="2642"/>
                </a:cubicBez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5" name="Line 67">
            <a:extLst>
              <a:ext uri="{FF2B5EF4-FFF2-40B4-BE49-F238E27FC236}">
                <a16:creationId xmlns:a16="http://schemas.microsoft.com/office/drawing/2014/main" id="{DA9DD12F-1B92-A14A-A118-9C4C0AC066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8971" y="4084392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6" name="Line 68">
            <a:extLst>
              <a:ext uri="{FF2B5EF4-FFF2-40B4-BE49-F238E27FC236}">
                <a16:creationId xmlns:a16="http://schemas.microsoft.com/office/drawing/2014/main" id="{7877C257-A46C-D04A-8436-06768C285E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7184" y="4084392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7" name="Line 69">
            <a:extLst>
              <a:ext uri="{FF2B5EF4-FFF2-40B4-BE49-F238E27FC236}">
                <a16:creationId xmlns:a16="http://schemas.microsoft.com/office/drawing/2014/main" id="{C8BA1546-C8A0-4945-9CAE-3B42FDCDDE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0160" y="4084392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8" name="Line 70">
            <a:extLst>
              <a:ext uri="{FF2B5EF4-FFF2-40B4-BE49-F238E27FC236}">
                <a16:creationId xmlns:a16="http://schemas.microsoft.com/office/drawing/2014/main" id="{EEC9B0F2-F2B5-9445-BD26-EC88E5502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539281"/>
            <a:ext cx="56692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9" name="Line 71">
            <a:extLst>
              <a:ext uri="{FF2B5EF4-FFF2-40B4-BE49-F238E27FC236}">
                <a16:creationId xmlns:a16="http://schemas.microsoft.com/office/drawing/2014/main" id="{170AFB4A-0A7A-1C43-A3CE-BEF4EE8BD3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40931" y="4084392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0" name="Line 72">
            <a:extLst>
              <a:ext uri="{FF2B5EF4-FFF2-40B4-BE49-F238E27FC236}">
                <a16:creationId xmlns:a16="http://schemas.microsoft.com/office/drawing/2014/main" id="{7A0507F6-9D54-004D-85FF-4137AFEC3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8257" y="4091046"/>
            <a:ext cx="128016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1" name="Line 73">
            <a:extLst>
              <a:ext uri="{FF2B5EF4-FFF2-40B4-BE49-F238E27FC236}">
                <a16:creationId xmlns:a16="http://schemas.microsoft.com/office/drawing/2014/main" id="{CA856BDC-6EEC-7D47-8638-DE8BBF74D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4209" y="4539281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2" name="Line 74">
            <a:extLst>
              <a:ext uri="{FF2B5EF4-FFF2-40B4-BE49-F238E27FC236}">
                <a16:creationId xmlns:a16="http://schemas.microsoft.com/office/drawing/2014/main" id="{5C7C7D85-3D6D-244A-86A5-0659F22FA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7184" y="4091046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3" name="Line 75">
            <a:extLst>
              <a:ext uri="{FF2B5EF4-FFF2-40B4-BE49-F238E27FC236}">
                <a16:creationId xmlns:a16="http://schemas.microsoft.com/office/drawing/2014/main" id="{F6572D3C-112E-494A-AF94-CDA174395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160" y="4539281"/>
            <a:ext cx="238744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5" name="Line 77">
            <a:extLst>
              <a:ext uri="{FF2B5EF4-FFF2-40B4-BE49-F238E27FC236}">
                <a16:creationId xmlns:a16="http://schemas.microsoft.com/office/drawing/2014/main" id="{8E7FD2FB-A2A4-844A-944B-74DA060B2C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54769" y="4748831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6" name="Line 78">
            <a:extLst>
              <a:ext uri="{FF2B5EF4-FFF2-40B4-BE49-F238E27FC236}">
                <a16:creationId xmlns:a16="http://schemas.microsoft.com/office/drawing/2014/main" id="{48A1E2C4-CAA8-8640-A271-C49A8FD900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7815" y="4748831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7" name="Line 79">
            <a:extLst>
              <a:ext uri="{FF2B5EF4-FFF2-40B4-BE49-F238E27FC236}">
                <a16:creationId xmlns:a16="http://schemas.microsoft.com/office/drawing/2014/main" id="{3CE75510-3792-374B-BDB5-DDE2F07732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0862" y="4748831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8" name="Line 80">
            <a:extLst>
              <a:ext uri="{FF2B5EF4-FFF2-40B4-BE49-F238E27FC236}">
                <a16:creationId xmlns:a16="http://schemas.microsoft.com/office/drawing/2014/main" id="{2E8CC9DD-2F70-9441-A286-604805EFA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199" y="5206031"/>
            <a:ext cx="120700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89" name="Line 81">
            <a:extLst>
              <a:ext uri="{FF2B5EF4-FFF2-40B4-BE49-F238E27FC236}">
                <a16:creationId xmlns:a16="http://schemas.microsoft.com/office/drawing/2014/main" id="{3447B1FB-2FE0-2146-B986-6C5FFEA378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1350" y="4748831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0" name="Line 82">
            <a:extLst>
              <a:ext uri="{FF2B5EF4-FFF2-40B4-BE49-F238E27FC236}">
                <a16:creationId xmlns:a16="http://schemas.microsoft.com/office/drawing/2014/main" id="{02C3C2AF-645D-E14A-9F19-1451C5BDF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9153" y="4756677"/>
            <a:ext cx="128016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1" name="Line 83">
            <a:extLst>
              <a:ext uri="{FF2B5EF4-FFF2-40B4-BE49-F238E27FC236}">
                <a16:creationId xmlns:a16="http://schemas.microsoft.com/office/drawing/2014/main" id="{4C038400-8CB8-EB4C-B316-6911E3400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388" y="5198888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2" name="Line 84">
            <a:extLst>
              <a:ext uri="{FF2B5EF4-FFF2-40B4-BE49-F238E27FC236}">
                <a16:creationId xmlns:a16="http://schemas.microsoft.com/office/drawing/2014/main" id="{CCCDB053-D1F7-5D45-AD7E-0455C81707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815" y="4756677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3" name="Line 85">
            <a:extLst>
              <a:ext uri="{FF2B5EF4-FFF2-40B4-BE49-F238E27FC236}">
                <a16:creationId xmlns:a16="http://schemas.microsoft.com/office/drawing/2014/main" id="{AE77CB76-1FE2-174F-A92F-7E22AF45F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7895" y="5206031"/>
            <a:ext cx="173970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5" name="Line 87">
            <a:extLst>
              <a:ext uri="{FF2B5EF4-FFF2-40B4-BE49-F238E27FC236}">
                <a16:creationId xmlns:a16="http://schemas.microsoft.com/office/drawing/2014/main" id="{97C6FE02-C5A3-634F-A294-853AAE6C6E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1732" y="5403939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6" name="Line 88">
            <a:extLst>
              <a:ext uri="{FF2B5EF4-FFF2-40B4-BE49-F238E27FC236}">
                <a16:creationId xmlns:a16="http://schemas.microsoft.com/office/drawing/2014/main" id="{0AAE9D59-2F34-3049-8324-563C2F3A95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4835" y="5414877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7" name="Line 89">
            <a:extLst>
              <a:ext uri="{FF2B5EF4-FFF2-40B4-BE49-F238E27FC236}">
                <a16:creationId xmlns:a16="http://schemas.microsoft.com/office/drawing/2014/main" id="{24DCF2D7-08B3-ED42-8F6E-7A2CB36396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7938" y="5409055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8" name="Line 90">
            <a:extLst>
              <a:ext uri="{FF2B5EF4-FFF2-40B4-BE49-F238E27FC236}">
                <a16:creationId xmlns:a16="http://schemas.microsoft.com/office/drawing/2014/main" id="{76E5A123-A3B2-0943-A204-D85B79949F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770" y="5861139"/>
            <a:ext cx="111983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9" name="Line 91">
            <a:extLst>
              <a:ext uri="{FF2B5EF4-FFF2-40B4-BE49-F238E27FC236}">
                <a16:creationId xmlns:a16="http://schemas.microsoft.com/office/drawing/2014/main" id="{C43139D8-60A0-BD4E-A2AB-FB4C8B64F6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8198" y="5403939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00" name="Line 92">
            <a:extLst>
              <a:ext uri="{FF2B5EF4-FFF2-40B4-BE49-F238E27FC236}">
                <a16:creationId xmlns:a16="http://schemas.microsoft.com/office/drawing/2014/main" id="{328B8DED-8887-8E41-BEEF-FB516D990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8382" y="5409055"/>
            <a:ext cx="128016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01" name="Line 93">
            <a:extLst>
              <a:ext uri="{FF2B5EF4-FFF2-40B4-BE49-F238E27FC236}">
                <a16:creationId xmlns:a16="http://schemas.microsoft.com/office/drawing/2014/main" id="{862F88C3-803A-E846-9EA0-DB8A28892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1731" y="5859376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02" name="Line 94">
            <a:extLst>
              <a:ext uri="{FF2B5EF4-FFF2-40B4-BE49-F238E27FC236}">
                <a16:creationId xmlns:a16="http://schemas.microsoft.com/office/drawing/2014/main" id="{46707F89-1ADF-3C43-BF67-AB1D77118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7690" y="5417344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03" name="Line 95">
            <a:extLst>
              <a:ext uri="{FF2B5EF4-FFF2-40B4-BE49-F238E27FC236}">
                <a16:creationId xmlns:a16="http://schemas.microsoft.com/office/drawing/2014/main" id="{C34A26BF-FB6B-9E4E-AB88-0AC564C65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199" y="5861139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F175A-5EE7-2840-83AF-BC906084E149}"/>
              </a:ext>
            </a:extLst>
          </p:cNvPr>
          <p:cNvSpPr txBox="1"/>
          <p:nvPr/>
        </p:nvSpPr>
        <p:spPr>
          <a:xfrm>
            <a:off x="1512384" y="6218437"/>
            <a:ext cx="5949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采样到输出存在一些延时：</a:t>
            </a:r>
            <a:r>
              <a:rPr lang="en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Clock-Q delay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2352A7-7E9C-A34E-B065-5BE9D085FFC0}"/>
              </a:ext>
            </a:extLst>
          </p:cNvPr>
          <p:cNvGrpSpPr/>
          <p:nvPr/>
        </p:nvGrpSpPr>
        <p:grpSpPr>
          <a:xfrm>
            <a:off x="681525" y="1219200"/>
            <a:ext cx="7395675" cy="1189210"/>
            <a:chOff x="529125" y="963557"/>
            <a:chExt cx="7395675" cy="118921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BB774E4-2846-C54A-AEB1-866E50CB27C0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00" y="1430103"/>
              <a:ext cx="6540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FE45E9-E63C-684F-89DE-42F1C74830EA}"/>
                </a:ext>
              </a:extLst>
            </p:cNvPr>
            <p:cNvSpPr/>
            <p:nvPr/>
          </p:nvSpPr>
          <p:spPr>
            <a:xfrm>
              <a:off x="1953677" y="1180630"/>
              <a:ext cx="1350445" cy="4989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Sampler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AA564AE-F5C7-454C-85D4-04A92E1F51D0}"/>
                </a:ext>
              </a:extLst>
            </p:cNvPr>
            <p:cNvSpPr/>
            <p:nvPr/>
          </p:nvSpPr>
          <p:spPr>
            <a:xfrm>
              <a:off x="3874149" y="1179346"/>
              <a:ext cx="1350445" cy="4989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Sampler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6934F50-8037-D04E-B0D7-A7DEFEC8D49D}"/>
                </a:ext>
              </a:extLst>
            </p:cNvPr>
            <p:cNvSpPr/>
            <p:nvPr/>
          </p:nvSpPr>
          <p:spPr>
            <a:xfrm>
              <a:off x="5794621" y="1178062"/>
              <a:ext cx="1350445" cy="4989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Sampler</a:t>
              </a:r>
            </a:p>
          </p:txBody>
        </p:sp>
        <p:sp>
          <p:nvSpPr>
            <p:cNvPr id="128" name="Rectangle 5">
              <a:extLst>
                <a:ext uri="{FF2B5EF4-FFF2-40B4-BE49-F238E27FC236}">
                  <a16:creationId xmlns:a16="http://schemas.microsoft.com/office/drawing/2014/main" id="{D9F2447B-D2DC-1D48-8C08-217D88C26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82" y="1260419"/>
              <a:ext cx="84926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129" name="Rectangle 6">
              <a:extLst>
                <a:ext uri="{FF2B5EF4-FFF2-40B4-BE49-F238E27FC236}">
                  <a16:creationId xmlns:a16="http://schemas.microsoft.com/office/drawing/2014/main" id="{78D1300F-ED8B-354D-B3E6-26796270E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5502" y="963557"/>
              <a:ext cx="23884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4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0" name="Rectangle 7">
              <a:extLst>
                <a:ext uri="{FF2B5EF4-FFF2-40B4-BE49-F238E27FC236}">
                  <a16:creationId xmlns:a16="http://schemas.microsoft.com/office/drawing/2014/main" id="{BF660EC9-ACE8-4942-9F6F-9512CDB48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415" y="1135821"/>
              <a:ext cx="15388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1800" b="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A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1" name="Rectangle 6">
              <a:extLst>
                <a:ext uri="{FF2B5EF4-FFF2-40B4-BE49-F238E27FC236}">
                  <a16:creationId xmlns:a16="http://schemas.microsoft.com/office/drawing/2014/main" id="{FA6E678C-D908-7945-A3E6-AEC390020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804" y="979028"/>
              <a:ext cx="23884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400" b="0" i="1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endPara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2" name="Rectangle 7">
              <a:extLst>
                <a:ext uri="{FF2B5EF4-FFF2-40B4-BE49-F238E27FC236}">
                  <a16:creationId xmlns:a16="http://schemas.microsoft.com/office/drawing/2014/main" id="{011535F2-D547-9A43-BC75-44365E521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717" y="1151292"/>
              <a:ext cx="15388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1800" b="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B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4" name="Rectangle 6">
              <a:extLst>
                <a:ext uri="{FF2B5EF4-FFF2-40B4-BE49-F238E27FC236}">
                  <a16:creationId xmlns:a16="http://schemas.microsoft.com/office/drawing/2014/main" id="{16B48C7E-DA71-3740-B5C2-DE07E7C3D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106" y="994499"/>
              <a:ext cx="23884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400" b="0" i="1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endParaRPr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5" name="Rectangle 7">
              <a:extLst>
                <a:ext uri="{FF2B5EF4-FFF2-40B4-BE49-F238E27FC236}">
                  <a16:creationId xmlns:a16="http://schemas.microsoft.com/office/drawing/2014/main" id="{C4E84CE3-E5C6-914E-A406-FBF339700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8019" y="1166763"/>
              <a:ext cx="16671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1800" b="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</a:t>
              </a:r>
              <a:endPara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39E2E0C-E685-334C-BEC5-070DCCEBC105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00" y="1981200"/>
              <a:ext cx="5098496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2EC8AE7-3B6D-9946-B345-0C11EA183FB8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2628900" y="1679576"/>
              <a:ext cx="0" cy="301624"/>
            </a:xfrm>
            <a:prstGeom prst="straightConnector1">
              <a:avLst/>
            </a:prstGeom>
            <a:ln w="2540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98CF904A-5A15-4442-8F79-DCA93F6A56AD}"/>
                </a:ext>
              </a:extLst>
            </p:cNvPr>
            <p:cNvCxnSpPr/>
            <p:nvPr/>
          </p:nvCxnSpPr>
          <p:spPr>
            <a:xfrm>
              <a:off x="4552348" y="1679576"/>
              <a:ext cx="0" cy="301624"/>
            </a:xfrm>
            <a:prstGeom prst="straightConnector1">
              <a:avLst/>
            </a:prstGeom>
            <a:ln w="2540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718AC44E-5F08-9048-9BCD-4AED9465E131}"/>
                </a:ext>
              </a:extLst>
            </p:cNvPr>
            <p:cNvCxnSpPr/>
            <p:nvPr/>
          </p:nvCxnSpPr>
          <p:spPr>
            <a:xfrm>
              <a:off x="6475796" y="1679576"/>
              <a:ext cx="0" cy="301624"/>
            </a:xfrm>
            <a:prstGeom prst="straightConnector1">
              <a:avLst/>
            </a:prstGeom>
            <a:ln w="2540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3" name="Rectangle 5">
              <a:extLst>
                <a:ext uri="{FF2B5EF4-FFF2-40B4-BE49-F238E27FC236}">
                  <a16:creationId xmlns:a16="http://schemas.microsoft.com/office/drawing/2014/main" id="{246A692F-138E-6643-BB0D-29EA33476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25" y="1783435"/>
              <a:ext cx="85978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Clock</a:t>
              </a:r>
            </a:p>
          </p:txBody>
        </p:sp>
      </p:grpSp>
      <p:sp>
        <p:nvSpPr>
          <p:cNvPr id="121" name="Line 15">
            <a:extLst>
              <a:ext uri="{FF2B5EF4-FFF2-40B4-BE49-F238E27FC236}">
                <a16:creationId xmlns:a16="http://schemas.microsoft.com/office/drawing/2014/main" id="{77B84C06-4348-C84D-9E76-8660AD11D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224830"/>
            <a:ext cx="41473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Line 16">
            <a:extLst>
              <a:ext uri="{FF2B5EF4-FFF2-40B4-BE49-F238E27FC236}">
                <a16:creationId xmlns:a16="http://schemas.microsoft.com/office/drawing/2014/main" id="{82C4F920-2BB5-EB44-A132-A5606AF1ED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2892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Line 17">
            <a:extLst>
              <a:ext uri="{FF2B5EF4-FFF2-40B4-BE49-F238E27FC236}">
                <a16:creationId xmlns:a16="http://schemas.microsoft.com/office/drawing/2014/main" id="{69BC4D18-99A5-5245-8E0B-81D87AE8A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2892" y="2844454"/>
            <a:ext cx="2989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Line 18">
            <a:extLst>
              <a:ext uri="{FF2B5EF4-FFF2-40B4-BE49-F238E27FC236}">
                <a16:creationId xmlns:a16="http://schemas.microsoft.com/office/drawing/2014/main" id="{B8350170-12EF-4045-B08C-25213B967C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4265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Line 19">
            <a:extLst>
              <a:ext uri="{FF2B5EF4-FFF2-40B4-BE49-F238E27FC236}">
                <a16:creationId xmlns:a16="http://schemas.microsoft.com/office/drawing/2014/main" id="{C4EA4B23-31CB-9C4A-A8CF-D71F7299E0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265" y="3224830"/>
            <a:ext cx="3649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Line 20">
            <a:extLst>
              <a:ext uri="{FF2B5EF4-FFF2-40B4-BE49-F238E27FC236}">
                <a16:creationId xmlns:a16="http://schemas.microsoft.com/office/drawing/2014/main" id="{5B3DA026-25A2-4A4A-888E-2231FB9920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35981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Line 21">
            <a:extLst>
              <a:ext uri="{FF2B5EF4-FFF2-40B4-BE49-F238E27FC236}">
                <a16:creationId xmlns:a16="http://schemas.microsoft.com/office/drawing/2014/main" id="{1E9F3B9D-FCBB-8E41-8368-C6582019B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981" y="2844454"/>
            <a:ext cx="2989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Line 22">
            <a:extLst>
              <a:ext uri="{FF2B5EF4-FFF2-40B4-BE49-F238E27FC236}">
                <a16:creationId xmlns:a16="http://schemas.microsoft.com/office/drawing/2014/main" id="{6A357670-108F-BE47-89AC-67B295ED1A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7353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Line 23">
            <a:extLst>
              <a:ext uri="{FF2B5EF4-FFF2-40B4-BE49-F238E27FC236}">
                <a16:creationId xmlns:a16="http://schemas.microsoft.com/office/drawing/2014/main" id="{9456A479-8BED-7249-933D-AAE2B059B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7353" y="3224830"/>
            <a:ext cx="3649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 Box 24">
            <a:extLst>
              <a:ext uri="{FF2B5EF4-FFF2-40B4-BE49-F238E27FC236}">
                <a16:creationId xmlns:a16="http://schemas.microsoft.com/office/drawing/2014/main" id="{6A724FC7-8617-3541-A3AF-BBCFDA591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0220" y="2396953"/>
            <a:ext cx="306286" cy="46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Text Box 25">
            <a:extLst>
              <a:ext uri="{FF2B5EF4-FFF2-40B4-BE49-F238E27FC236}">
                <a16:creationId xmlns:a16="http://schemas.microsoft.com/office/drawing/2014/main" id="{65E21D88-44EB-0145-8D56-8EA2A5F8E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533" y="2396953"/>
            <a:ext cx="304820" cy="46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7C9A05AA-E355-8546-87FD-8BAE73BF0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069" y="2396953"/>
            <a:ext cx="281373" cy="46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5" name="Text Box 27">
            <a:extLst>
              <a:ext uri="{FF2B5EF4-FFF2-40B4-BE49-F238E27FC236}">
                <a16:creationId xmlns:a16="http://schemas.microsoft.com/office/drawing/2014/main" id="{52318C03-22F4-7647-A059-AAEDFA629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8536" y="2396953"/>
            <a:ext cx="259390" cy="46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46" name="Text Box 28">
            <a:extLst>
              <a:ext uri="{FF2B5EF4-FFF2-40B4-BE49-F238E27FC236}">
                <a16:creationId xmlns:a16="http://schemas.microsoft.com/office/drawing/2014/main" id="{0E6F5183-53D4-1C4A-B053-1F7A3F1E9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246" y="2396953"/>
            <a:ext cx="271114" cy="46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47" name="Text Box 29">
            <a:extLst>
              <a:ext uri="{FF2B5EF4-FFF2-40B4-BE49-F238E27FC236}">
                <a16:creationId xmlns:a16="http://schemas.microsoft.com/office/drawing/2014/main" id="{9143F89F-B8BC-B947-8441-FAA96262F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335" y="2396953"/>
            <a:ext cx="279907" cy="46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48" name="Text Box 30">
            <a:extLst>
              <a:ext uri="{FF2B5EF4-FFF2-40B4-BE49-F238E27FC236}">
                <a16:creationId xmlns:a16="http://schemas.microsoft.com/office/drawing/2014/main" id="{75AD2DDC-26FE-5242-8762-2BE77ACAF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50" y="2396953"/>
            <a:ext cx="293097" cy="46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49" name="Text Box 31">
            <a:extLst>
              <a:ext uri="{FF2B5EF4-FFF2-40B4-BE49-F238E27FC236}">
                <a16:creationId xmlns:a16="http://schemas.microsoft.com/office/drawing/2014/main" id="{A16BBF71-DC51-8D4C-9685-CA068F950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028" y="2396953"/>
            <a:ext cx="247667" cy="462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50" name="Line 32">
            <a:extLst>
              <a:ext uri="{FF2B5EF4-FFF2-40B4-BE49-F238E27FC236}">
                <a16:creationId xmlns:a16="http://schemas.microsoft.com/office/drawing/2014/main" id="{DC43E53A-3EBA-1340-B278-839F9B222B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207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Line 33">
            <a:extLst>
              <a:ext uri="{FF2B5EF4-FFF2-40B4-BE49-F238E27FC236}">
                <a16:creationId xmlns:a16="http://schemas.microsoft.com/office/drawing/2014/main" id="{4BADFE8A-00C9-1B4E-95CB-7C1500A1D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3207" y="2844454"/>
            <a:ext cx="2989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Line 34">
            <a:extLst>
              <a:ext uri="{FF2B5EF4-FFF2-40B4-BE49-F238E27FC236}">
                <a16:creationId xmlns:a16="http://schemas.microsoft.com/office/drawing/2014/main" id="{87A71323-8BCF-4A4F-9C91-6A68819F94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7252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Line 35">
            <a:extLst>
              <a:ext uri="{FF2B5EF4-FFF2-40B4-BE49-F238E27FC236}">
                <a16:creationId xmlns:a16="http://schemas.microsoft.com/office/drawing/2014/main" id="{78B3637C-1E81-5146-8D40-19C756CFB1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0442" y="3224830"/>
            <a:ext cx="3649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Line 36">
            <a:extLst>
              <a:ext uri="{FF2B5EF4-FFF2-40B4-BE49-F238E27FC236}">
                <a16:creationId xmlns:a16="http://schemas.microsoft.com/office/drawing/2014/main" id="{8055BD2F-B24B-384C-942B-817BB8DED1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2158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Line 37">
            <a:extLst>
              <a:ext uri="{FF2B5EF4-FFF2-40B4-BE49-F238E27FC236}">
                <a16:creationId xmlns:a16="http://schemas.microsoft.com/office/drawing/2014/main" id="{35E8F7E3-1AC4-F746-AEF0-D3A0273FB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2158" y="2844454"/>
            <a:ext cx="2989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Line 38">
            <a:extLst>
              <a:ext uri="{FF2B5EF4-FFF2-40B4-BE49-F238E27FC236}">
                <a16:creationId xmlns:a16="http://schemas.microsoft.com/office/drawing/2014/main" id="{6AB014F5-EE89-CD47-B4B3-2477BE7497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3530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Line 39">
            <a:extLst>
              <a:ext uri="{FF2B5EF4-FFF2-40B4-BE49-F238E27FC236}">
                <a16:creationId xmlns:a16="http://schemas.microsoft.com/office/drawing/2014/main" id="{FCB2D8C2-4720-4344-B63D-372605BB9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3530" y="3224830"/>
            <a:ext cx="3649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Line 40">
            <a:extLst>
              <a:ext uri="{FF2B5EF4-FFF2-40B4-BE49-F238E27FC236}">
                <a16:creationId xmlns:a16="http://schemas.microsoft.com/office/drawing/2014/main" id="{98EC9413-9061-2641-8D1A-9865C251B3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5246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Line 41">
            <a:extLst>
              <a:ext uri="{FF2B5EF4-FFF2-40B4-BE49-F238E27FC236}">
                <a16:creationId xmlns:a16="http://schemas.microsoft.com/office/drawing/2014/main" id="{A02D185F-C87B-294E-A5AC-43D25D0D8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5246" y="2844454"/>
            <a:ext cx="2989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Line 42">
            <a:extLst>
              <a:ext uri="{FF2B5EF4-FFF2-40B4-BE49-F238E27FC236}">
                <a16:creationId xmlns:a16="http://schemas.microsoft.com/office/drawing/2014/main" id="{2421447D-A80E-7640-8394-1D4D6770B1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3429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Line 43">
            <a:extLst>
              <a:ext uri="{FF2B5EF4-FFF2-40B4-BE49-F238E27FC236}">
                <a16:creationId xmlns:a16="http://schemas.microsoft.com/office/drawing/2014/main" id="{1652DA64-D1A2-8E44-92DA-04CC47AD8A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6619" y="3224830"/>
            <a:ext cx="3649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Line 44">
            <a:extLst>
              <a:ext uri="{FF2B5EF4-FFF2-40B4-BE49-F238E27FC236}">
                <a16:creationId xmlns:a16="http://schemas.microsoft.com/office/drawing/2014/main" id="{D5A7AFD5-ABAA-4947-B9C7-F5D73E6EA7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55145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Line 45">
            <a:extLst>
              <a:ext uri="{FF2B5EF4-FFF2-40B4-BE49-F238E27FC236}">
                <a16:creationId xmlns:a16="http://schemas.microsoft.com/office/drawing/2014/main" id="{BDAB587A-A97A-F74E-A040-E7A7D0714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5145" y="2844454"/>
            <a:ext cx="2989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Line 46">
            <a:extLst>
              <a:ext uri="{FF2B5EF4-FFF2-40B4-BE49-F238E27FC236}">
                <a16:creationId xmlns:a16="http://schemas.microsoft.com/office/drawing/2014/main" id="{9C9C1963-4126-7F4E-B055-2DBA9105D9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6518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Line 47">
            <a:extLst>
              <a:ext uri="{FF2B5EF4-FFF2-40B4-BE49-F238E27FC236}">
                <a16:creationId xmlns:a16="http://schemas.microsoft.com/office/drawing/2014/main" id="{FA8AC2E6-2ACF-0842-AE8E-2A831728C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6518" y="3224830"/>
            <a:ext cx="3649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Line 48">
            <a:extLst>
              <a:ext uri="{FF2B5EF4-FFF2-40B4-BE49-F238E27FC236}">
                <a16:creationId xmlns:a16="http://schemas.microsoft.com/office/drawing/2014/main" id="{EA570B4E-C609-D841-BF7B-EF16AA3E5C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1423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Line 49">
            <a:extLst>
              <a:ext uri="{FF2B5EF4-FFF2-40B4-BE49-F238E27FC236}">
                <a16:creationId xmlns:a16="http://schemas.microsoft.com/office/drawing/2014/main" id="{3C667B13-9E3C-BE4C-ABF4-A35D227EB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5561" y="2844454"/>
            <a:ext cx="2989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Line 50">
            <a:extLst>
              <a:ext uri="{FF2B5EF4-FFF2-40B4-BE49-F238E27FC236}">
                <a16:creationId xmlns:a16="http://schemas.microsoft.com/office/drawing/2014/main" id="{16038112-7642-3B4C-8A0B-48E332D868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2796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Line 51">
            <a:extLst>
              <a:ext uri="{FF2B5EF4-FFF2-40B4-BE49-F238E27FC236}">
                <a16:creationId xmlns:a16="http://schemas.microsoft.com/office/drawing/2014/main" id="{AF8EAC45-EAB4-E24C-80D4-6B27F66A0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2796" y="3224830"/>
            <a:ext cx="3649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Line 52">
            <a:extLst>
              <a:ext uri="{FF2B5EF4-FFF2-40B4-BE49-F238E27FC236}">
                <a16:creationId xmlns:a16="http://schemas.microsoft.com/office/drawing/2014/main" id="{708E300E-B0F6-A540-A923-CA3C5D2F48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34512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Line 53">
            <a:extLst>
              <a:ext uri="{FF2B5EF4-FFF2-40B4-BE49-F238E27FC236}">
                <a16:creationId xmlns:a16="http://schemas.microsoft.com/office/drawing/2014/main" id="{4AEC3477-D594-CF4C-90E6-19E426070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4512" y="2844454"/>
            <a:ext cx="2989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Line 54">
            <a:extLst>
              <a:ext uri="{FF2B5EF4-FFF2-40B4-BE49-F238E27FC236}">
                <a16:creationId xmlns:a16="http://schemas.microsoft.com/office/drawing/2014/main" id="{4CC9F1A3-1242-0D44-89C7-197DD90BA4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02695" y="2844454"/>
            <a:ext cx="0" cy="3803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Line 55">
            <a:extLst>
              <a:ext uri="{FF2B5EF4-FFF2-40B4-BE49-F238E27FC236}">
                <a16:creationId xmlns:a16="http://schemas.microsoft.com/office/drawing/2014/main" id="{2D69E867-A808-8E4B-B649-708F72591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695" y="3224830"/>
            <a:ext cx="3649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Line 16">
            <a:extLst>
              <a:ext uri="{FF2B5EF4-FFF2-40B4-BE49-F238E27FC236}">
                <a16:creationId xmlns:a16="http://schemas.microsoft.com/office/drawing/2014/main" id="{D65D0F6F-48A9-E24E-AEB1-DF67A7C875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0220" y="2844454"/>
            <a:ext cx="0" cy="38037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Line 20">
            <a:extLst>
              <a:ext uri="{FF2B5EF4-FFF2-40B4-BE49-F238E27FC236}">
                <a16:creationId xmlns:a16="http://schemas.microsoft.com/office/drawing/2014/main" id="{147743D5-1F5F-454D-9058-564321DF34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3308" y="2844454"/>
            <a:ext cx="0" cy="38037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Line 32">
            <a:extLst>
              <a:ext uri="{FF2B5EF4-FFF2-40B4-BE49-F238E27FC236}">
                <a16:creationId xmlns:a16="http://schemas.microsoft.com/office/drawing/2014/main" id="{3CA7D444-CBA5-A840-9533-4D593FCE77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535" y="2844454"/>
            <a:ext cx="0" cy="38037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Line 36">
            <a:extLst>
              <a:ext uri="{FF2B5EF4-FFF2-40B4-BE49-F238E27FC236}">
                <a16:creationId xmlns:a16="http://schemas.microsoft.com/office/drawing/2014/main" id="{54207A83-BFFE-3B4C-B867-CAE6B6ADA9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9485" y="2844454"/>
            <a:ext cx="0" cy="38037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Line 40">
            <a:extLst>
              <a:ext uri="{FF2B5EF4-FFF2-40B4-BE49-F238E27FC236}">
                <a16:creationId xmlns:a16="http://schemas.microsoft.com/office/drawing/2014/main" id="{4FCC8448-7C65-5B4A-B20B-63F9B54CA0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2573" y="2844454"/>
            <a:ext cx="0" cy="38037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B57A2E32-391F-EE48-B264-F8F5F43F5E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473" y="2844454"/>
            <a:ext cx="0" cy="38037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Line 48">
            <a:extLst>
              <a:ext uri="{FF2B5EF4-FFF2-40B4-BE49-F238E27FC236}">
                <a16:creationId xmlns:a16="http://schemas.microsoft.com/office/drawing/2014/main" id="{B8C789BD-C594-4C4A-9CAD-C61DCB2356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8750" y="2844454"/>
            <a:ext cx="0" cy="38037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Line 52">
            <a:extLst>
              <a:ext uri="{FF2B5EF4-FFF2-40B4-BE49-F238E27FC236}">
                <a16:creationId xmlns:a16="http://schemas.microsoft.com/office/drawing/2014/main" id="{502DBE4F-DCC5-534E-92A8-C49B301B48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1839" y="2844454"/>
            <a:ext cx="0" cy="380376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2F5366A-DA03-B60B-AE6C-2C235B842E2D}"/>
              </a:ext>
            </a:extLst>
          </p:cNvPr>
          <p:cNvGrpSpPr/>
          <p:nvPr/>
        </p:nvGrpSpPr>
        <p:grpSpPr>
          <a:xfrm>
            <a:off x="2415907" y="3261162"/>
            <a:ext cx="1443893" cy="2840219"/>
            <a:chOff x="2415907" y="3255781"/>
            <a:chExt cx="1443893" cy="2840219"/>
          </a:xfrm>
        </p:grpSpPr>
        <p:sp>
          <p:nvSpPr>
            <p:cNvPr id="212" name="Line 16">
              <a:extLst>
                <a:ext uri="{FF2B5EF4-FFF2-40B4-BE49-F238E27FC236}">
                  <a16:creationId xmlns:a16="http://schemas.microsoft.com/office/drawing/2014/main" id="{330053E5-324C-7B4E-A0C6-1B6872FEA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5907" y="3255781"/>
              <a:ext cx="0" cy="2840219"/>
            </a:xfrm>
            <a:prstGeom prst="line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Line 16">
              <a:extLst>
                <a:ext uri="{FF2B5EF4-FFF2-40B4-BE49-F238E27FC236}">
                  <a16:creationId xmlns:a16="http://schemas.microsoft.com/office/drawing/2014/main" id="{576E1A71-7915-D84E-8877-B02646131E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3308" y="3255781"/>
              <a:ext cx="0" cy="2840219"/>
            </a:xfrm>
            <a:prstGeom prst="line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Line 16">
              <a:extLst>
                <a:ext uri="{FF2B5EF4-FFF2-40B4-BE49-F238E27FC236}">
                  <a16:creationId xmlns:a16="http://schemas.microsoft.com/office/drawing/2014/main" id="{1082BB00-CB7D-0F42-AB03-50B4A1158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0709" y="3255781"/>
              <a:ext cx="0" cy="2840219"/>
            </a:xfrm>
            <a:prstGeom prst="line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A059272-C27E-5E49-B52E-CD23886DC803}"/>
                </a:ext>
              </a:extLst>
            </p:cNvPr>
            <p:cNvSpPr/>
            <p:nvPr/>
          </p:nvSpPr>
          <p:spPr>
            <a:xfrm>
              <a:off x="2424628" y="3403600"/>
              <a:ext cx="182880" cy="676656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EE7A35D5-408A-A846-A868-092CB8B3529F}"/>
                </a:ext>
              </a:extLst>
            </p:cNvPr>
            <p:cNvSpPr/>
            <p:nvPr/>
          </p:nvSpPr>
          <p:spPr>
            <a:xfrm>
              <a:off x="2417470" y="4533899"/>
              <a:ext cx="182880" cy="676656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4B277418-0E3C-524F-921C-8488A97C1837}"/>
                </a:ext>
              </a:extLst>
            </p:cNvPr>
            <p:cNvSpPr/>
            <p:nvPr/>
          </p:nvSpPr>
          <p:spPr>
            <a:xfrm>
              <a:off x="2423590" y="5184577"/>
              <a:ext cx="182880" cy="676656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268879AC-4D81-B646-95C8-FB245ADBEDFD}"/>
                </a:ext>
              </a:extLst>
            </p:cNvPr>
            <p:cNvSpPr/>
            <p:nvPr/>
          </p:nvSpPr>
          <p:spPr>
            <a:xfrm>
              <a:off x="3043874" y="3410823"/>
              <a:ext cx="182880" cy="676656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43476EB7-F5DD-7047-A7CC-E8C759EAD4C5}"/>
                </a:ext>
              </a:extLst>
            </p:cNvPr>
            <p:cNvSpPr/>
            <p:nvPr/>
          </p:nvSpPr>
          <p:spPr>
            <a:xfrm>
              <a:off x="3037493" y="4086989"/>
              <a:ext cx="182880" cy="678255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EA2E1887-CD27-5947-A1F5-10F2925A3032}"/>
                </a:ext>
              </a:extLst>
            </p:cNvPr>
            <p:cNvSpPr/>
            <p:nvPr/>
          </p:nvSpPr>
          <p:spPr>
            <a:xfrm>
              <a:off x="3042837" y="5191801"/>
              <a:ext cx="182880" cy="676656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20AACD06-BDE4-B448-9552-1F59AF334635}"/>
                </a:ext>
              </a:extLst>
            </p:cNvPr>
            <p:cNvSpPr/>
            <p:nvPr/>
          </p:nvSpPr>
          <p:spPr>
            <a:xfrm>
              <a:off x="3676920" y="3886199"/>
              <a:ext cx="182880" cy="643655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6F000EA3-997A-B247-A3E5-369265814E44}"/>
                </a:ext>
              </a:extLst>
            </p:cNvPr>
            <p:cNvSpPr/>
            <p:nvPr/>
          </p:nvSpPr>
          <p:spPr>
            <a:xfrm>
              <a:off x="3670538" y="4089643"/>
              <a:ext cx="182880" cy="676656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0A88A364-9C48-9141-A231-AFCACB2D7B0C}"/>
                </a:ext>
              </a:extLst>
            </p:cNvPr>
            <p:cNvSpPr/>
            <p:nvPr/>
          </p:nvSpPr>
          <p:spPr>
            <a:xfrm>
              <a:off x="3676920" y="4770913"/>
              <a:ext cx="182880" cy="625585"/>
            </a:xfrm>
            <a:custGeom>
              <a:avLst/>
              <a:gdLst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0 w 117475"/>
                <a:gd name="connsiteY0" fmla="*/ 0 h 685800"/>
                <a:gd name="connsiteX1" fmla="*/ 117475 w 117475"/>
                <a:gd name="connsiteY1" fmla="*/ 685800 h 685800"/>
                <a:gd name="connsiteX2" fmla="*/ 117475 w 117475"/>
                <a:gd name="connsiteY2" fmla="*/ 685800 h 685800"/>
                <a:gd name="connsiteX0" fmla="*/ 1072 w 118547"/>
                <a:gd name="connsiteY0" fmla="*/ 0 h 685800"/>
                <a:gd name="connsiteX1" fmla="*/ 118547 w 118547"/>
                <a:gd name="connsiteY1" fmla="*/ 685800 h 685800"/>
                <a:gd name="connsiteX2" fmla="*/ 118547 w 118547"/>
                <a:gd name="connsiteY2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547" h="685800">
                  <a:moveTo>
                    <a:pt x="1072" y="0"/>
                  </a:moveTo>
                  <a:cubicBezTo>
                    <a:pt x="-4220" y="276225"/>
                    <a:pt x="6364" y="679450"/>
                    <a:pt x="118547" y="685800"/>
                  </a:cubicBezTo>
                  <a:lnTo>
                    <a:pt x="118547" y="685800"/>
                  </a:ln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FF0000"/>
                </a:solidFill>
              </a:endParaRPr>
            </a:p>
          </p:txBody>
        </p:sp>
      </p:grpSp>
      <p:sp>
        <p:nvSpPr>
          <p:cNvPr id="226" name="Rectangle 106">
            <a:extLst>
              <a:ext uri="{FF2B5EF4-FFF2-40B4-BE49-F238E27FC236}">
                <a16:creationId xmlns:a16="http://schemas.microsoft.com/office/drawing/2014/main" id="{183EEEA5-BEAA-41E9-BA09-C45684A28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469" y="3414017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28" name="Rectangle 106">
            <a:extLst>
              <a:ext uri="{FF2B5EF4-FFF2-40B4-BE49-F238E27FC236}">
                <a16:creationId xmlns:a16="http://schemas.microsoft.com/office/drawing/2014/main" id="{A45FD5F4-A1EE-4236-A444-5D3FAC168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653" y="3406469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29" name="Rectangle 106">
            <a:extLst>
              <a:ext uri="{FF2B5EF4-FFF2-40B4-BE49-F238E27FC236}">
                <a16:creationId xmlns:a16="http://schemas.microsoft.com/office/drawing/2014/main" id="{F6A7CFE8-D338-4034-A1B9-75A85FE43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483" y="3414017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0" name="Rectangle 106">
            <a:extLst>
              <a:ext uri="{FF2B5EF4-FFF2-40B4-BE49-F238E27FC236}">
                <a16:creationId xmlns:a16="http://schemas.microsoft.com/office/drawing/2014/main" id="{0B4861D2-4F67-4E68-A9BE-1A8CDDD58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903" y="4084392"/>
            <a:ext cx="41799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1" name="Rectangle 106">
            <a:extLst>
              <a:ext uri="{FF2B5EF4-FFF2-40B4-BE49-F238E27FC236}">
                <a16:creationId xmlns:a16="http://schemas.microsoft.com/office/drawing/2014/main" id="{47EDC082-A390-42E0-9B7C-C0D51CD29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691" y="4084392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2" name="Rectangle 106">
            <a:extLst>
              <a:ext uri="{FF2B5EF4-FFF2-40B4-BE49-F238E27FC236}">
                <a16:creationId xmlns:a16="http://schemas.microsoft.com/office/drawing/2014/main" id="{DF6B2F4D-3A89-4CFB-824D-154058F2E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1718" y="4076844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3" name="Rectangle 106">
            <a:extLst>
              <a:ext uri="{FF2B5EF4-FFF2-40B4-BE49-F238E27FC236}">
                <a16:creationId xmlns:a16="http://schemas.microsoft.com/office/drawing/2014/main" id="{995E9E8D-AAD8-4D05-9AF0-34A6E3283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058" y="4084392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4" name="Rectangle 106">
            <a:extLst>
              <a:ext uri="{FF2B5EF4-FFF2-40B4-BE49-F238E27FC236}">
                <a16:creationId xmlns:a16="http://schemas.microsoft.com/office/drawing/2014/main" id="{B6BD3AC8-8FFA-49A8-9BA8-5A87A058B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955" y="4741422"/>
            <a:ext cx="41799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5" name="Rectangle 106">
            <a:extLst>
              <a:ext uri="{FF2B5EF4-FFF2-40B4-BE49-F238E27FC236}">
                <a16:creationId xmlns:a16="http://schemas.microsoft.com/office/drawing/2014/main" id="{62651571-5BBB-40F3-B437-8900DAD20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4666" y="4738906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6" name="Rectangle 106">
            <a:extLst>
              <a:ext uri="{FF2B5EF4-FFF2-40B4-BE49-F238E27FC236}">
                <a16:creationId xmlns:a16="http://schemas.microsoft.com/office/drawing/2014/main" id="{23F6E24C-D7B2-4A6A-87EB-0D23AF1D0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842" y="4736390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7" name="Rectangle 106">
            <a:extLst>
              <a:ext uri="{FF2B5EF4-FFF2-40B4-BE49-F238E27FC236}">
                <a16:creationId xmlns:a16="http://schemas.microsoft.com/office/drawing/2014/main" id="{6605B000-DF2A-4AA3-85C6-8D6D24BCD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562" y="4743938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8" name="Rectangle 106">
            <a:extLst>
              <a:ext uri="{FF2B5EF4-FFF2-40B4-BE49-F238E27FC236}">
                <a16:creationId xmlns:a16="http://schemas.microsoft.com/office/drawing/2014/main" id="{A84CC21D-ED26-4D0E-9A66-DED20F4D0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9316" y="5372558"/>
            <a:ext cx="41799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9" name="Rectangle 106">
            <a:extLst>
              <a:ext uri="{FF2B5EF4-FFF2-40B4-BE49-F238E27FC236}">
                <a16:creationId xmlns:a16="http://schemas.microsoft.com/office/drawing/2014/main" id="{A2FF19C6-4D8D-4A44-9A16-FFA813395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955" y="5372558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40" name="Rectangle 106">
            <a:extLst>
              <a:ext uri="{FF2B5EF4-FFF2-40B4-BE49-F238E27FC236}">
                <a16:creationId xmlns:a16="http://schemas.microsoft.com/office/drawing/2014/main" id="{3D31E4FF-6183-4DE2-B6FF-30F3A4658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562" y="5365010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41" name="Rectangle 106">
            <a:extLst>
              <a:ext uri="{FF2B5EF4-FFF2-40B4-BE49-F238E27FC236}">
                <a16:creationId xmlns:a16="http://schemas.microsoft.com/office/drawing/2014/main" id="{DCB1E534-5A0F-47CC-8C6E-07F17D790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8242" y="5372558"/>
            <a:ext cx="3864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kumimoji="1" lang="en-US" altLang="zh-CN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34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1" grpId="0"/>
      <p:bldP spid="113672" grpId="0"/>
      <p:bldP spid="113673" grpId="0"/>
      <p:bldP spid="113674" grpId="0"/>
      <p:bldP spid="113675" grpId="0"/>
      <p:bldP spid="113676" grpId="0"/>
      <p:bldP spid="110" grpId="0"/>
      <p:bldP spid="111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8" grpId="0"/>
      <p:bldP spid="230" grpId="0"/>
      <p:bldP spid="231" grpId="0"/>
      <p:bldP spid="232" grpId="0"/>
      <p:bldP spid="233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2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06982" y="123993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CN" dirty="0"/>
              <a:t>时钟域</a:t>
            </a:r>
            <a:r>
              <a:rPr lang="en-US" altLang="zh-CN" dirty="0"/>
              <a:t> (Clock domain)</a:t>
            </a:r>
            <a:endParaRPr lang="zh-CN" altLang="en-US" dirty="0"/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>
          <a:xfrm>
            <a:off x="544358" y="1485075"/>
            <a:ext cx="8229600" cy="14105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0" dirty="0">
                <a:solidFill>
                  <a:srgbClr val="3333FF"/>
                </a:solidFill>
              </a:rPr>
              <a:t>同步</a:t>
            </a:r>
            <a:r>
              <a:rPr lang="en-US" altLang="zh-CN" sz="2800" b="0" dirty="0"/>
              <a:t>: </a:t>
            </a:r>
            <a:r>
              <a:rPr lang="zh-CN" altLang="en-US" sz="2800" b="0" dirty="0"/>
              <a:t>使信号事件与时钟节拍一致</a:t>
            </a:r>
            <a:endParaRPr lang="en-US" altLang="zh-CN" sz="2800" b="0" dirty="0"/>
          </a:p>
          <a:p>
            <a:pPr algn="l"/>
            <a:r>
              <a:rPr lang="zh-CN" altLang="en-US" sz="2800" b="0" dirty="0"/>
              <a:t>时钟域：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所有同步于同一个时钟信号的信号集合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42D484-9E69-6A45-875B-0B584C8B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8798014D-7ED7-FB4C-A1D4-58457CAA509E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505200"/>
            <a:ext cx="7162800" cy="1981200"/>
            <a:chOff x="240" y="336"/>
            <a:chExt cx="5424" cy="1776"/>
          </a:xfrm>
        </p:grpSpPr>
        <p:grpSp>
          <p:nvGrpSpPr>
            <p:cNvPr id="6" name="Group 78">
              <a:extLst>
                <a:ext uri="{FF2B5EF4-FFF2-40B4-BE49-F238E27FC236}">
                  <a16:creationId xmlns:a16="http://schemas.microsoft.com/office/drawing/2014/main" id="{BE5C3551-FD99-FB42-8236-A223AD8A2D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720"/>
              <a:ext cx="264" cy="265"/>
              <a:chOff x="5872" y="4058"/>
              <a:chExt cx="1496" cy="1496"/>
            </a:xfrm>
          </p:grpSpPr>
          <p:grpSp>
            <p:nvGrpSpPr>
              <p:cNvPr id="30" name="Group 79">
                <a:extLst>
                  <a:ext uri="{FF2B5EF4-FFF2-40B4-BE49-F238E27FC236}">
                    <a16:creationId xmlns:a16="http://schemas.microsoft.com/office/drawing/2014/main" id="{875FC21C-73FB-8148-8994-FE27B774E8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94" y="4058"/>
                <a:ext cx="374" cy="1122"/>
                <a:chOff x="7241" y="7509"/>
                <a:chExt cx="342" cy="935"/>
              </a:xfrm>
            </p:grpSpPr>
            <p:sp>
              <p:nvSpPr>
                <p:cNvPr id="37" name="Rectangle 80">
                  <a:extLst>
                    <a:ext uri="{FF2B5EF4-FFF2-40B4-BE49-F238E27FC236}">
                      <a16:creationId xmlns:a16="http://schemas.microsoft.com/office/drawing/2014/main" id="{3AF5A5BE-89BD-E141-B6B5-282B456975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41" y="7509"/>
                  <a:ext cx="342" cy="935"/>
                </a:xfrm>
                <a:prstGeom prst="rect">
                  <a:avLst/>
                </a:prstGeom>
                <a:solidFill>
                  <a:srgbClr val="FFCC99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zh-CN" sz="4000"/>
                </a:p>
              </p:txBody>
            </p:sp>
            <p:sp>
              <p:nvSpPr>
                <p:cNvPr id="38" name="Freeform 81">
                  <a:extLst>
                    <a:ext uri="{FF2B5EF4-FFF2-40B4-BE49-F238E27FC236}">
                      <a16:creationId xmlns:a16="http://schemas.microsoft.com/office/drawing/2014/main" id="{B78A9285-1842-734D-AF6F-6CD24E8CF6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41" y="8252"/>
                  <a:ext cx="342" cy="192"/>
                </a:xfrm>
                <a:custGeom>
                  <a:avLst/>
                  <a:gdLst>
                    <a:gd name="T0" fmla="*/ 0 w 406"/>
                    <a:gd name="T1" fmla="*/ 172 h 193"/>
                    <a:gd name="T2" fmla="*/ 5 w 406"/>
                    <a:gd name="T3" fmla="*/ 0 h 193"/>
                    <a:gd name="T4" fmla="*/ 11 w 406"/>
                    <a:gd name="T5" fmla="*/ 172 h 193"/>
                    <a:gd name="T6" fmla="*/ 0 60000 65536"/>
                    <a:gd name="T7" fmla="*/ 0 60000 65536"/>
                    <a:gd name="T8" fmla="*/ 0 60000 65536"/>
                    <a:gd name="T9" fmla="*/ 0 w 406"/>
                    <a:gd name="T10" fmla="*/ 0 h 193"/>
                    <a:gd name="T11" fmla="*/ 406 w 406"/>
                    <a:gd name="T12" fmla="*/ 193 h 19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6" h="193">
                      <a:moveTo>
                        <a:pt x="0" y="193"/>
                      </a:moveTo>
                      <a:lnTo>
                        <a:pt x="197" y="0"/>
                      </a:lnTo>
                      <a:lnTo>
                        <a:pt x="406" y="193"/>
                      </a:lnTo>
                    </a:path>
                  </a:pathLst>
                </a:custGeom>
                <a:solidFill>
                  <a:srgbClr val="FFCC99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4000"/>
                </a:p>
              </p:txBody>
            </p:sp>
          </p:grpSp>
          <p:grpSp>
            <p:nvGrpSpPr>
              <p:cNvPr id="31" name="Group 82">
                <a:extLst>
                  <a:ext uri="{FF2B5EF4-FFF2-40B4-BE49-F238E27FC236}">
                    <a16:creationId xmlns:a16="http://schemas.microsoft.com/office/drawing/2014/main" id="{6E37648B-4DC9-3247-8DD3-0768D6C748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6" y="4058"/>
                <a:ext cx="374" cy="1122"/>
                <a:chOff x="7241" y="7509"/>
                <a:chExt cx="342" cy="935"/>
              </a:xfrm>
            </p:grpSpPr>
            <p:sp>
              <p:nvSpPr>
                <p:cNvPr id="35" name="Rectangle 83">
                  <a:extLst>
                    <a:ext uri="{FF2B5EF4-FFF2-40B4-BE49-F238E27FC236}">
                      <a16:creationId xmlns:a16="http://schemas.microsoft.com/office/drawing/2014/main" id="{5787A6AB-C8EB-D144-AA40-45804F222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41" y="7509"/>
                  <a:ext cx="342" cy="935"/>
                </a:xfrm>
                <a:prstGeom prst="rect">
                  <a:avLst/>
                </a:prstGeom>
                <a:solidFill>
                  <a:srgbClr val="FFCC99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zh-CN" sz="4000"/>
                </a:p>
              </p:txBody>
            </p:sp>
            <p:sp>
              <p:nvSpPr>
                <p:cNvPr id="36" name="Freeform 84">
                  <a:extLst>
                    <a:ext uri="{FF2B5EF4-FFF2-40B4-BE49-F238E27FC236}">
                      <a16:creationId xmlns:a16="http://schemas.microsoft.com/office/drawing/2014/main" id="{A91CF893-4F9E-C140-9236-7F61D6B981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41" y="8252"/>
                  <a:ext cx="342" cy="192"/>
                </a:xfrm>
                <a:custGeom>
                  <a:avLst/>
                  <a:gdLst>
                    <a:gd name="T0" fmla="*/ 0 w 406"/>
                    <a:gd name="T1" fmla="*/ 172 h 193"/>
                    <a:gd name="T2" fmla="*/ 5 w 406"/>
                    <a:gd name="T3" fmla="*/ 0 h 193"/>
                    <a:gd name="T4" fmla="*/ 11 w 406"/>
                    <a:gd name="T5" fmla="*/ 172 h 193"/>
                    <a:gd name="T6" fmla="*/ 0 60000 65536"/>
                    <a:gd name="T7" fmla="*/ 0 60000 65536"/>
                    <a:gd name="T8" fmla="*/ 0 60000 65536"/>
                    <a:gd name="T9" fmla="*/ 0 w 406"/>
                    <a:gd name="T10" fmla="*/ 0 h 193"/>
                    <a:gd name="T11" fmla="*/ 406 w 406"/>
                    <a:gd name="T12" fmla="*/ 193 h 19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6" h="193">
                      <a:moveTo>
                        <a:pt x="0" y="193"/>
                      </a:moveTo>
                      <a:lnTo>
                        <a:pt x="197" y="0"/>
                      </a:lnTo>
                      <a:lnTo>
                        <a:pt x="406" y="193"/>
                      </a:lnTo>
                    </a:path>
                  </a:pathLst>
                </a:custGeom>
                <a:solidFill>
                  <a:srgbClr val="FFCC99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4000"/>
                </a:p>
              </p:txBody>
            </p:sp>
          </p:grpSp>
          <p:sp>
            <p:nvSpPr>
              <p:cNvPr id="32" name="Line 85">
                <a:extLst>
                  <a:ext uri="{FF2B5EF4-FFF2-40B4-BE49-F238E27FC236}">
                    <a16:creationId xmlns:a16="http://schemas.microsoft.com/office/drawing/2014/main" id="{5F9317D0-0A7A-7540-AB1C-2938553E7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0" y="4245"/>
                <a:ext cx="374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4000"/>
              </a:p>
            </p:txBody>
          </p:sp>
          <p:sp>
            <p:nvSpPr>
              <p:cNvPr id="33" name="Freeform 86">
                <a:extLst>
                  <a:ext uri="{FF2B5EF4-FFF2-40B4-BE49-F238E27FC236}">
                    <a16:creationId xmlns:a16="http://schemas.microsoft.com/office/drawing/2014/main" id="{6119EFAE-3C7B-964F-B672-B706A5240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72" y="5180"/>
                <a:ext cx="1309" cy="374"/>
              </a:xfrm>
              <a:custGeom>
                <a:avLst/>
                <a:gdLst>
                  <a:gd name="T0" fmla="*/ 1309 w 1309"/>
                  <a:gd name="T1" fmla="*/ 0 h 187"/>
                  <a:gd name="T2" fmla="*/ 1309 w 1309"/>
                  <a:gd name="T3" fmla="*/ 392167424 h 187"/>
                  <a:gd name="T4" fmla="*/ 0 w 1309"/>
                  <a:gd name="T5" fmla="*/ 392167424 h 187"/>
                  <a:gd name="T6" fmla="*/ 0 60000 65536"/>
                  <a:gd name="T7" fmla="*/ 0 60000 65536"/>
                  <a:gd name="T8" fmla="*/ 0 60000 65536"/>
                  <a:gd name="T9" fmla="*/ 0 w 1309"/>
                  <a:gd name="T10" fmla="*/ 0 h 187"/>
                  <a:gd name="T11" fmla="*/ 1309 w 1309"/>
                  <a:gd name="T12" fmla="*/ 187 h 1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9" h="187">
                    <a:moveTo>
                      <a:pt x="1309" y="0"/>
                    </a:moveTo>
                    <a:lnTo>
                      <a:pt x="1309" y="187"/>
                    </a:lnTo>
                    <a:lnTo>
                      <a:pt x="0" y="187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4000"/>
              </a:p>
            </p:txBody>
          </p:sp>
          <p:sp>
            <p:nvSpPr>
              <p:cNvPr id="34" name="Line 87">
                <a:extLst>
                  <a:ext uri="{FF2B5EF4-FFF2-40B4-BE49-F238E27FC236}">
                    <a16:creationId xmlns:a16="http://schemas.microsoft.com/office/drawing/2014/main" id="{31ADFDDA-BD65-4946-8CCE-47830C772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33" y="5180"/>
                <a:ext cx="0" cy="37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4000"/>
              </a:p>
            </p:txBody>
          </p:sp>
        </p:grpSp>
        <p:sp>
          <p:nvSpPr>
            <p:cNvPr id="7" name="Line 48">
              <a:extLst>
                <a:ext uri="{FF2B5EF4-FFF2-40B4-BE49-F238E27FC236}">
                  <a16:creationId xmlns:a16="http://schemas.microsoft.com/office/drawing/2014/main" id="{E943E584-566B-B248-85D2-1E4BC80BB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768"/>
              <a:ext cx="5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8" name="Line 48">
              <a:extLst>
                <a:ext uri="{FF2B5EF4-FFF2-40B4-BE49-F238E27FC236}">
                  <a16:creationId xmlns:a16="http://schemas.microsoft.com/office/drawing/2014/main" id="{FFE3F5B6-90CD-C741-B47A-A3165BE099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768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000"/>
            </a:p>
          </p:txBody>
        </p:sp>
        <p:grpSp>
          <p:nvGrpSpPr>
            <p:cNvPr id="9" name="Group 20">
              <a:extLst>
                <a:ext uri="{FF2B5EF4-FFF2-40B4-BE49-F238E27FC236}">
                  <a16:creationId xmlns:a16="http://schemas.microsoft.com/office/drawing/2014/main" id="{67E157B3-AF63-F344-81EE-DD7B963079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336"/>
              <a:ext cx="2112" cy="1728"/>
              <a:chOff x="480" y="384"/>
              <a:chExt cx="2112" cy="1872"/>
            </a:xfrm>
          </p:grpSpPr>
          <p:sp>
            <p:nvSpPr>
              <p:cNvPr id="20" name="AutoShape 73">
                <a:extLst>
                  <a:ext uri="{FF2B5EF4-FFF2-40B4-BE49-F238E27FC236}">
                    <a16:creationId xmlns:a16="http://schemas.microsoft.com/office/drawing/2014/main" id="{48A55117-D8E8-634F-93FB-BC3D5DE98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384"/>
                <a:ext cx="2112" cy="1872"/>
              </a:xfrm>
              <a:prstGeom prst="cloudCallout">
                <a:avLst>
                  <a:gd name="adj1" fmla="val -26231"/>
                  <a:gd name="adj2" fmla="val -46366"/>
                </a:avLst>
              </a:prstGeom>
              <a:solidFill>
                <a:srgbClr val="FFC000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ea typeface="宋体" pitchFamily="2" charset="-122"/>
                  </a:rPr>
                  <a:t>Clock Domain</a:t>
                </a:r>
                <a:r>
                  <a:rPr lang="zh-CN" altLang="en-US" sz="1800" dirty="0">
                    <a:solidFill>
                      <a:schemeClr val="tx1"/>
                    </a:solidFill>
                    <a:ea typeface="宋体" pitchFamily="2" charset="-122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pic>
            <p:nvPicPr>
              <p:cNvPr id="21" name="Picture 22" descr="ac">
                <a:extLst>
                  <a:ext uri="{FF2B5EF4-FFF2-40B4-BE49-F238E27FC236}">
                    <a16:creationId xmlns:a16="http://schemas.microsoft.com/office/drawing/2014/main" id="{5A1A1D65-45C1-1840-ABB8-8B5F25E999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296" y="960"/>
                <a:ext cx="336" cy="219"/>
              </a:xfrm>
              <a:prstGeom prst="rect">
                <a:avLst/>
              </a:prstGeom>
              <a:noFill/>
            </p:spPr>
          </p:pic>
          <p:pic>
            <p:nvPicPr>
              <p:cNvPr id="22" name="Picture 23" descr="ac2">
                <a:extLst>
                  <a:ext uri="{FF2B5EF4-FFF2-40B4-BE49-F238E27FC236}">
                    <a16:creationId xmlns:a16="http://schemas.microsoft.com/office/drawing/2014/main" id="{84C0FEE0-4B1F-5645-BDD3-51E8C7267F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16" y="1392"/>
                <a:ext cx="192" cy="192"/>
              </a:xfrm>
              <a:prstGeom prst="rect">
                <a:avLst/>
              </a:prstGeom>
              <a:noFill/>
            </p:spPr>
          </p:pic>
          <p:pic>
            <p:nvPicPr>
              <p:cNvPr id="23" name="Picture 24" descr="ac2">
                <a:extLst>
                  <a:ext uri="{FF2B5EF4-FFF2-40B4-BE49-F238E27FC236}">
                    <a16:creationId xmlns:a16="http://schemas.microsoft.com/office/drawing/2014/main" id="{25019A9A-A7A2-5542-910E-B131DFABA1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200" y="1680"/>
                <a:ext cx="192" cy="192"/>
              </a:xfrm>
              <a:prstGeom prst="rect">
                <a:avLst/>
              </a:prstGeom>
              <a:noFill/>
            </p:spPr>
          </p:pic>
          <p:pic>
            <p:nvPicPr>
              <p:cNvPr id="24" name="Picture 25" descr="ac2">
                <a:extLst>
                  <a:ext uri="{FF2B5EF4-FFF2-40B4-BE49-F238E27FC236}">
                    <a16:creationId xmlns:a16="http://schemas.microsoft.com/office/drawing/2014/main" id="{8978BDA7-60FF-FD4B-B389-FE3534D621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680" y="1680"/>
                <a:ext cx="192" cy="192"/>
              </a:xfrm>
              <a:prstGeom prst="rect">
                <a:avLst/>
              </a:prstGeom>
              <a:noFill/>
            </p:spPr>
          </p:pic>
          <p:pic>
            <p:nvPicPr>
              <p:cNvPr id="25" name="Picture 26" descr="ac2">
                <a:extLst>
                  <a:ext uri="{FF2B5EF4-FFF2-40B4-BE49-F238E27FC236}">
                    <a16:creationId xmlns:a16="http://schemas.microsoft.com/office/drawing/2014/main" id="{077A25A2-B063-CC43-91D0-26655E3075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68" y="1344"/>
                <a:ext cx="192" cy="192"/>
              </a:xfrm>
              <a:prstGeom prst="rect">
                <a:avLst/>
              </a:prstGeom>
              <a:noFill/>
            </p:spPr>
          </p:pic>
          <p:cxnSp>
            <p:nvCxnSpPr>
              <p:cNvPr id="26" name="AutoShape 27">
                <a:extLst>
                  <a:ext uri="{FF2B5EF4-FFF2-40B4-BE49-F238E27FC236}">
                    <a16:creationId xmlns:a16="http://schemas.microsoft.com/office/drawing/2014/main" id="{63661BE8-5EB8-424C-A554-3C525C7284A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V="1">
                <a:off x="912" y="1070"/>
                <a:ext cx="384" cy="322"/>
              </a:xfrm>
              <a:prstGeom prst="curvedConnector2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7" name="AutoShape 28">
                <a:extLst>
                  <a:ext uri="{FF2B5EF4-FFF2-40B4-BE49-F238E27FC236}">
                    <a16:creationId xmlns:a16="http://schemas.microsoft.com/office/drawing/2014/main" id="{2DB25F7A-38B5-2340-BAAB-ED9D3F954FE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1129" y="1346"/>
                <a:ext cx="501" cy="168"/>
              </a:xfrm>
              <a:prstGeom prst="curvedConnector3">
                <a:avLst>
                  <a:gd name="adj1" fmla="val 49898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8" name="AutoShape 29">
                <a:extLst>
                  <a:ext uri="{FF2B5EF4-FFF2-40B4-BE49-F238E27FC236}">
                    <a16:creationId xmlns:a16="http://schemas.microsoft.com/office/drawing/2014/main" id="{970C64A7-57B7-B946-A5F8-742513AC469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632" y="1070"/>
                <a:ext cx="144" cy="610"/>
              </a:xfrm>
              <a:prstGeom prst="curvedConnector2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cxnSp>
            <p:nvCxnSpPr>
              <p:cNvPr id="29" name="AutoShape 30">
                <a:extLst>
                  <a:ext uri="{FF2B5EF4-FFF2-40B4-BE49-F238E27FC236}">
                    <a16:creationId xmlns:a16="http://schemas.microsoft.com/office/drawing/2014/main" id="{E9F40751-6181-4D44-B98E-D932E8ABA63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632" y="1070"/>
                <a:ext cx="432" cy="274"/>
              </a:xfrm>
              <a:prstGeom prst="curvedConnector2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</p:grpSp>
        <p:sp>
          <p:nvSpPr>
            <p:cNvPr id="10" name="AutoShape 73">
              <a:extLst>
                <a:ext uri="{FF2B5EF4-FFF2-40B4-BE49-F238E27FC236}">
                  <a16:creationId xmlns:a16="http://schemas.microsoft.com/office/drawing/2014/main" id="{45180A1F-4C9E-6C43-B551-D51B46D25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8"/>
              <a:ext cx="2256" cy="1764"/>
            </a:xfrm>
            <a:prstGeom prst="cloudCallout">
              <a:avLst>
                <a:gd name="adj1" fmla="val -32065"/>
                <a:gd name="adj2" fmla="val -46144"/>
              </a:avLst>
            </a:prstGeom>
            <a:solidFill>
              <a:srgbClr val="FFFF99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1800" dirty="0">
                  <a:solidFill>
                    <a:schemeClr val="tx1"/>
                  </a:solidFill>
                  <a:ea typeface="宋体" pitchFamily="2" charset="-122"/>
                </a:rPr>
                <a:t>Clock Domain</a:t>
              </a:r>
              <a:r>
                <a:rPr lang="zh-CN" altLang="en-US" sz="1800" dirty="0">
                  <a:solidFill>
                    <a:schemeClr val="tx1"/>
                  </a:solidFill>
                  <a:ea typeface="宋体" pitchFamily="2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ea typeface="宋体" pitchFamily="2" charset="-122"/>
                </a:rPr>
                <a:t>2</a:t>
              </a:r>
            </a:p>
          </p:txBody>
        </p:sp>
        <p:pic>
          <p:nvPicPr>
            <p:cNvPr id="11" name="Picture 32" descr="ac1">
              <a:extLst>
                <a:ext uri="{FF2B5EF4-FFF2-40B4-BE49-F238E27FC236}">
                  <a16:creationId xmlns:a16="http://schemas.microsoft.com/office/drawing/2014/main" id="{BBF7745D-5435-0D45-9B6C-9E8F7EA99D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368" y="947"/>
              <a:ext cx="240" cy="205"/>
            </a:xfrm>
            <a:prstGeom prst="rect">
              <a:avLst/>
            </a:prstGeom>
            <a:noFill/>
          </p:spPr>
        </p:pic>
        <p:pic>
          <p:nvPicPr>
            <p:cNvPr id="12" name="Picture 33" descr="ac1">
              <a:extLst>
                <a:ext uri="{FF2B5EF4-FFF2-40B4-BE49-F238E27FC236}">
                  <a16:creationId xmlns:a16="http://schemas.microsoft.com/office/drawing/2014/main" id="{F67D9DE7-93AD-1745-8FFE-86EB1A1508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840" y="1344"/>
              <a:ext cx="192" cy="164"/>
            </a:xfrm>
            <a:prstGeom prst="rect">
              <a:avLst/>
            </a:prstGeom>
            <a:noFill/>
          </p:spPr>
        </p:pic>
        <p:pic>
          <p:nvPicPr>
            <p:cNvPr id="13" name="Picture 34" descr="ac1">
              <a:extLst>
                <a:ext uri="{FF2B5EF4-FFF2-40B4-BE49-F238E27FC236}">
                  <a16:creationId xmlns:a16="http://schemas.microsoft.com/office/drawing/2014/main" id="{70678449-471D-9A47-9279-634E54D124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128" y="1660"/>
              <a:ext cx="192" cy="164"/>
            </a:xfrm>
            <a:prstGeom prst="rect">
              <a:avLst/>
            </a:prstGeom>
            <a:noFill/>
          </p:spPr>
        </p:pic>
        <p:pic>
          <p:nvPicPr>
            <p:cNvPr id="14" name="Picture 35" descr="ac1">
              <a:extLst>
                <a:ext uri="{FF2B5EF4-FFF2-40B4-BE49-F238E27FC236}">
                  <a16:creationId xmlns:a16="http://schemas.microsoft.com/office/drawing/2014/main" id="{AAE16F22-38D6-C141-A790-A1258CC29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656" y="1660"/>
              <a:ext cx="192" cy="164"/>
            </a:xfrm>
            <a:prstGeom prst="rect">
              <a:avLst/>
            </a:prstGeom>
            <a:noFill/>
          </p:spPr>
        </p:pic>
        <p:pic>
          <p:nvPicPr>
            <p:cNvPr id="15" name="Picture 36" descr="ac1">
              <a:extLst>
                <a:ext uri="{FF2B5EF4-FFF2-40B4-BE49-F238E27FC236}">
                  <a16:creationId xmlns:a16="http://schemas.microsoft.com/office/drawing/2014/main" id="{05C483D9-6370-9540-9238-A9C0899C45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944" y="1344"/>
              <a:ext cx="192" cy="164"/>
            </a:xfrm>
            <a:prstGeom prst="rect">
              <a:avLst/>
            </a:prstGeom>
            <a:noFill/>
          </p:spPr>
        </p:pic>
        <p:cxnSp>
          <p:nvCxnSpPr>
            <p:cNvPr id="16" name="AutoShape 37">
              <a:extLst>
                <a:ext uri="{FF2B5EF4-FFF2-40B4-BE49-F238E27FC236}">
                  <a16:creationId xmlns:a16="http://schemas.microsoft.com/office/drawing/2014/main" id="{791A7151-C88B-4A4C-A8B4-27F7EF9C3E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3936" y="1056"/>
              <a:ext cx="432" cy="288"/>
            </a:xfrm>
            <a:prstGeom prst="curvedConnector2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7" name="AutoShape 38">
              <a:extLst>
                <a:ext uri="{FF2B5EF4-FFF2-40B4-BE49-F238E27FC236}">
                  <a16:creationId xmlns:a16="http://schemas.microsoft.com/office/drawing/2014/main" id="{8AED481F-F2D3-CB45-8BA4-412688BA1E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090" y="1286"/>
              <a:ext cx="508" cy="240"/>
            </a:xfrm>
            <a:prstGeom prst="curvedConnector3">
              <a:avLst>
                <a:gd name="adj1" fmla="val 0"/>
              </a:avLst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8" name="AutoShape 39">
              <a:extLst>
                <a:ext uri="{FF2B5EF4-FFF2-40B4-BE49-F238E27FC236}">
                  <a16:creationId xmlns:a16="http://schemas.microsoft.com/office/drawing/2014/main" id="{4C0434E9-06FD-0746-AB33-43569F56EC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08" y="1050"/>
              <a:ext cx="144" cy="610"/>
            </a:xfrm>
            <a:prstGeom prst="curvedConnector2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9" name="AutoShape 40">
              <a:extLst>
                <a:ext uri="{FF2B5EF4-FFF2-40B4-BE49-F238E27FC236}">
                  <a16:creationId xmlns:a16="http://schemas.microsoft.com/office/drawing/2014/main" id="{0702821E-FF22-C542-AB18-51B5215105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08" y="1056"/>
              <a:ext cx="432" cy="274"/>
            </a:xfrm>
            <a:prstGeom prst="curvedConnector2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339974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“状态”的定义与</a:t>
            </a:r>
            <a:r>
              <a:rPr lang="en-US" altLang="zh-CN" dirty="0"/>
              <a:t>FSM</a:t>
            </a:r>
            <a:endParaRPr lang="zh-CN" alt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82A8654-AAF6-3645-B371-7D40555EB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16" y="1327083"/>
            <a:ext cx="8796876" cy="4184546"/>
          </a:xfrm>
        </p:spPr>
        <p:txBody>
          <a:bodyPr>
            <a:noAutofit/>
          </a:bodyPr>
          <a:lstStyle/>
          <a:p>
            <a:r>
              <a:rPr lang="zh-CN" altLang="en-US" sz="2800" b="0" dirty="0"/>
              <a:t>一个系统的状态</a:t>
            </a:r>
            <a:r>
              <a:rPr lang="en-US" altLang="zh-CN" sz="2800" b="0" dirty="0"/>
              <a:t>(State)</a:t>
            </a:r>
            <a:r>
              <a:rPr lang="zh-CN" altLang="en-US" sz="2800" b="0" dirty="0"/>
              <a:t>应包含所有需要的信息，可以有冗余</a:t>
            </a:r>
            <a:endParaRPr lang="en-CN" sz="2800" b="0" dirty="0"/>
          </a:p>
          <a:p>
            <a:pPr lvl="1"/>
            <a:r>
              <a:rPr lang="zh-CN" altLang="en-US" sz="2400" b="0" dirty="0"/>
              <a:t>依据特定的输入可以预测未来所有的行为</a:t>
            </a:r>
            <a:endParaRPr lang="en-CN" sz="2400" b="0" dirty="0"/>
          </a:p>
          <a:p>
            <a:pPr lvl="1"/>
            <a:r>
              <a:rPr lang="zh-CN" altLang="en-US" sz="2400" b="0" dirty="0"/>
              <a:t>状态的集合</a:t>
            </a:r>
            <a:endParaRPr lang="en-CN" sz="2400" b="0" dirty="0"/>
          </a:p>
          <a:p>
            <a:r>
              <a:rPr lang="zh-CN" altLang="en-US" sz="2800" b="0" dirty="0"/>
              <a:t>有限状态机</a:t>
            </a:r>
            <a:r>
              <a:rPr lang="en-US" altLang="zh-CN" sz="2800" b="0" dirty="0"/>
              <a:t>(</a:t>
            </a:r>
            <a:r>
              <a:rPr lang="en-US" altLang="zh-CN" sz="2800" b="0" dirty="0">
                <a:solidFill>
                  <a:srgbClr val="0432FF"/>
                </a:solidFill>
              </a:rPr>
              <a:t>F</a:t>
            </a:r>
            <a:r>
              <a:rPr lang="en-US" altLang="zh-CN" sz="2800" b="0" dirty="0"/>
              <a:t>inite </a:t>
            </a:r>
            <a:r>
              <a:rPr lang="en-US" altLang="zh-CN" sz="2800" b="0" dirty="0">
                <a:solidFill>
                  <a:srgbClr val="0432FF"/>
                </a:solidFill>
              </a:rPr>
              <a:t>S</a:t>
            </a:r>
            <a:r>
              <a:rPr lang="en-US" altLang="zh-CN" sz="2800" b="0" dirty="0"/>
              <a:t>tate </a:t>
            </a:r>
            <a:r>
              <a:rPr lang="en-US" altLang="zh-CN" sz="2800" b="0" dirty="0">
                <a:solidFill>
                  <a:srgbClr val="0432FF"/>
                </a:solidFill>
              </a:rPr>
              <a:t>M</a:t>
            </a:r>
            <a:r>
              <a:rPr lang="en-US" altLang="zh-CN" sz="2800" b="0" dirty="0"/>
              <a:t>achine, </a:t>
            </a:r>
            <a:r>
              <a:rPr lang="en-US" altLang="zh-CN" sz="2800" b="0" dirty="0">
                <a:solidFill>
                  <a:srgbClr val="0432FF"/>
                </a:solidFill>
              </a:rPr>
              <a:t>FSM</a:t>
            </a:r>
            <a:r>
              <a:rPr lang="en-US" altLang="zh-CN" sz="2800" b="0" dirty="0"/>
              <a:t>)</a:t>
            </a:r>
            <a:endParaRPr lang="en-CN" sz="2800" b="0" dirty="0"/>
          </a:p>
          <a:p>
            <a:pPr lvl="1"/>
            <a:r>
              <a:rPr lang="zh-CN" altLang="en-US" sz="2400" b="0" dirty="0"/>
              <a:t>输入、输出和状态的数目都是有限的</a:t>
            </a:r>
            <a:endParaRPr lang="en-CN" sz="2400" b="0" dirty="0">
              <a:solidFill>
                <a:srgbClr val="0432FF"/>
              </a:solidFill>
            </a:endParaRPr>
          </a:p>
          <a:p>
            <a:pPr lvl="1"/>
            <a:r>
              <a:rPr lang="zh-CN" altLang="en-US" sz="2400" b="0" dirty="0"/>
              <a:t>描述一个</a:t>
            </a:r>
            <a:r>
              <a:rPr lang="en-US" altLang="zh-CN" sz="2400" b="0" dirty="0"/>
              <a:t>FSM</a:t>
            </a:r>
            <a:r>
              <a:rPr lang="zh-CN" altLang="en-US" sz="2400" b="0" dirty="0"/>
              <a:t>，</a:t>
            </a:r>
            <a:r>
              <a:rPr lang="en-US" altLang="zh-CN" sz="2400" b="0" dirty="0"/>
              <a:t>6</a:t>
            </a:r>
            <a:r>
              <a:rPr lang="zh-CN" altLang="en-US" sz="2400" b="0" dirty="0"/>
              <a:t>大元素</a:t>
            </a:r>
            <a:endParaRPr lang="en-US" altLang="zh-CN" sz="2400" b="0" dirty="0"/>
          </a:p>
          <a:p>
            <a:pPr lvl="2"/>
            <a:r>
              <a:rPr lang="en-CN" sz="2000" b="0" dirty="0"/>
              <a:t>State (initial: S</a:t>
            </a:r>
            <a:r>
              <a:rPr lang="en-CN" sz="2000" b="0" baseline="-25000" dirty="0"/>
              <a:t>0</a:t>
            </a:r>
            <a:r>
              <a:rPr lang="en-CN" sz="2000" b="0" dirty="0"/>
              <a:t>), input, output, f, 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B7481-9801-8C49-9981-E1665EA9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6" name="Rectangle 138">
            <a:extLst>
              <a:ext uri="{FF2B5EF4-FFF2-40B4-BE49-F238E27FC236}">
                <a16:creationId xmlns:a16="http://schemas.microsoft.com/office/drawing/2014/main" id="{A9DEC192-D7EF-4501-B5F9-48DB75E195CE}"/>
              </a:ext>
            </a:extLst>
          </p:cNvPr>
          <p:cNvSpPr/>
          <p:nvPr/>
        </p:nvSpPr>
        <p:spPr bwMode="auto">
          <a:xfrm>
            <a:off x="1478499" y="5074571"/>
            <a:ext cx="1676400" cy="896097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f,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g</a:t>
            </a:r>
          </a:p>
        </p:txBody>
      </p:sp>
      <p:sp>
        <p:nvSpPr>
          <p:cNvPr id="27" name="TextBox 139">
            <a:extLst>
              <a:ext uri="{FF2B5EF4-FFF2-40B4-BE49-F238E27FC236}">
                <a16:creationId xmlns:a16="http://schemas.microsoft.com/office/drawing/2014/main" id="{5B659FDA-3321-49CB-83E4-9B00788D891C}"/>
              </a:ext>
            </a:extLst>
          </p:cNvPr>
          <p:cNvSpPr txBox="1"/>
          <p:nvPr/>
        </p:nvSpPr>
        <p:spPr>
          <a:xfrm>
            <a:off x="281026" y="5084211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28" name="TextBox 140">
            <a:extLst>
              <a:ext uri="{FF2B5EF4-FFF2-40B4-BE49-F238E27FC236}">
                <a16:creationId xmlns:a16="http://schemas.microsoft.com/office/drawing/2014/main" id="{FF80B4B5-FE4A-4FDB-BC3A-C6D6DD6F4EFC}"/>
              </a:ext>
            </a:extLst>
          </p:cNvPr>
          <p:cNvSpPr txBox="1"/>
          <p:nvPr/>
        </p:nvSpPr>
        <p:spPr>
          <a:xfrm>
            <a:off x="3534756" y="5074571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cxnSp>
        <p:nvCxnSpPr>
          <p:cNvPr id="29" name="Straight Arrow Connector 141">
            <a:extLst>
              <a:ext uri="{FF2B5EF4-FFF2-40B4-BE49-F238E27FC236}">
                <a16:creationId xmlns:a16="http://schemas.microsoft.com/office/drawing/2014/main" id="{E148D379-6AD0-4C96-A75A-E8AE993E4B48}"/>
              </a:ext>
            </a:extLst>
          </p:cNvPr>
          <p:cNvCxnSpPr>
            <a:cxnSpLocks/>
          </p:cNvCxnSpPr>
          <p:nvPr/>
        </p:nvCxnSpPr>
        <p:spPr bwMode="auto">
          <a:xfrm>
            <a:off x="3154899" y="5286704"/>
            <a:ext cx="381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0" name="Rectangle 142">
            <a:extLst>
              <a:ext uri="{FF2B5EF4-FFF2-40B4-BE49-F238E27FC236}">
                <a16:creationId xmlns:a16="http://schemas.microsoft.com/office/drawing/2014/main" id="{2DBB6ACC-F842-4F82-8374-DF58A0B374D7}"/>
              </a:ext>
            </a:extLst>
          </p:cNvPr>
          <p:cNvSpPr/>
          <p:nvPr/>
        </p:nvSpPr>
        <p:spPr bwMode="auto">
          <a:xfrm>
            <a:off x="1478499" y="6127617"/>
            <a:ext cx="1676400" cy="5476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States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1" name="Freeform 143">
            <a:extLst>
              <a:ext uri="{FF2B5EF4-FFF2-40B4-BE49-F238E27FC236}">
                <a16:creationId xmlns:a16="http://schemas.microsoft.com/office/drawing/2014/main" id="{1DA0D532-020E-439A-8440-A940498B57FA}"/>
              </a:ext>
            </a:extLst>
          </p:cNvPr>
          <p:cNvSpPr/>
          <p:nvPr/>
        </p:nvSpPr>
        <p:spPr bwMode="auto">
          <a:xfrm>
            <a:off x="3149622" y="5760981"/>
            <a:ext cx="299791" cy="666889"/>
          </a:xfrm>
          <a:custGeom>
            <a:avLst/>
            <a:gdLst>
              <a:gd name="connsiteX0" fmla="*/ 16042 w 256673"/>
              <a:gd name="connsiteY0" fmla="*/ 0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73" h="513347">
                <a:moveTo>
                  <a:pt x="16042" y="0"/>
                </a:moveTo>
                <a:lnTo>
                  <a:pt x="256673" y="0"/>
                </a:lnTo>
                <a:lnTo>
                  <a:pt x="256673" y="513347"/>
                </a:lnTo>
                <a:lnTo>
                  <a:pt x="0" y="513347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144">
            <a:extLst>
              <a:ext uri="{FF2B5EF4-FFF2-40B4-BE49-F238E27FC236}">
                <a16:creationId xmlns:a16="http://schemas.microsoft.com/office/drawing/2014/main" id="{269EB518-D9CD-4B07-9D1F-55DA3B7EE6C2}"/>
              </a:ext>
            </a:extLst>
          </p:cNvPr>
          <p:cNvSpPr/>
          <p:nvPr/>
        </p:nvSpPr>
        <p:spPr bwMode="auto">
          <a:xfrm flipH="1">
            <a:off x="1178705" y="5760981"/>
            <a:ext cx="299791" cy="512894"/>
          </a:xfrm>
          <a:custGeom>
            <a:avLst/>
            <a:gdLst>
              <a:gd name="connsiteX0" fmla="*/ 16042 w 256673"/>
              <a:gd name="connsiteY0" fmla="*/ 0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73" h="513347">
                <a:moveTo>
                  <a:pt x="16042" y="0"/>
                </a:moveTo>
                <a:lnTo>
                  <a:pt x="256673" y="0"/>
                </a:lnTo>
                <a:lnTo>
                  <a:pt x="256673" y="513347"/>
                </a:lnTo>
                <a:lnTo>
                  <a:pt x="0" y="513347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45">
            <a:extLst>
              <a:ext uri="{FF2B5EF4-FFF2-40B4-BE49-F238E27FC236}">
                <a16:creationId xmlns:a16="http://schemas.microsoft.com/office/drawing/2014/main" id="{0B709202-A5D5-4E95-B316-F5A3212E0328}"/>
              </a:ext>
            </a:extLst>
          </p:cNvPr>
          <p:cNvSpPr txBox="1"/>
          <p:nvPr/>
        </p:nvSpPr>
        <p:spPr>
          <a:xfrm>
            <a:off x="4263150" y="5471961"/>
            <a:ext cx="4580100" cy="867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20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(Input, </a:t>
            </a:r>
            <a:r>
              <a:rPr lang="en-US" sz="22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States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&lt;= g(Input,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Previous States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34" name="Straight Arrow Connector 146">
            <a:extLst>
              <a:ext uri="{FF2B5EF4-FFF2-40B4-BE49-F238E27FC236}">
                <a16:creationId xmlns:a16="http://schemas.microsoft.com/office/drawing/2014/main" id="{E305F601-82C0-4289-83DA-1343EB5D3CB5}"/>
              </a:ext>
            </a:extLst>
          </p:cNvPr>
          <p:cNvCxnSpPr>
            <a:cxnSpLocks/>
          </p:cNvCxnSpPr>
          <p:nvPr/>
        </p:nvCxnSpPr>
        <p:spPr bwMode="auto">
          <a:xfrm>
            <a:off x="1081803" y="6512030"/>
            <a:ext cx="384048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5" name="Straight Arrow Connector 147">
            <a:extLst>
              <a:ext uri="{FF2B5EF4-FFF2-40B4-BE49-F238E27FC236}">
                <a16:creationId xmlns:a16="http://schemas.microsoft.com/office/drawing/2014/main" id="{B43C3609-7685-49C0-A4ED-5E50C287C06C}"/>
              </a:ext>
            </a:extLst>
          </p:cNvPr>
          <p:cNvCxnSpPr>
            <a:cxnSpLocks/>
          </p:cNvCxnSpPr>
          <p:nvPr/>
        </p:nvCxnSpPr>
        <p:spPr bwMode="auto">
          <a:xfrm>
            <a:off x="1084851" y="5296344"/>
            <a:ext cx="381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6" name="Straight Arrow Connector 148">
            <a:extLst>
              <a:ext uri="{FF2B5EF4-FFF2-40B4-BE49-F238E27FC236}">
                <a16:creationId xmlns:a16="http://schemas.microsoft.com/office/drawing/2014/main" id="{512698B6-4B15-4229-B287-94EBA46F7840}"/>
              </a:ext>
            </a:extLst>
          </p:cNvPr>
          <p:cNvCxnSpPr>
            <a:cxnSpLocks/>
          </p:cNvCxnSpPr>
          <p:nvPr/>
        </p:nvCxnSpPr>
        <p:spPr bwMode="auto">
          <a:xfrm flipV="1">
            <a:off x="1202110" y="5242344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Arrow Connector 149">
            <a:extLst>
              <a:ext uri="{FF2B5EF4-FFF2-40B4-BE49-F238E27FC236}">
                <a16:creationId xmlns:a16="http://schemas.microsoft.com/office/drawing/2014/main" id="{AD5D071D-78F0-4B47-8FED-31CD679D4240}"/>
              </a:ext>
            </a:extLst>
          </p:cNvPr>
          <p:cNvCxnSpPr>
            <a:cxnSpLocks/>
          </p:cNvCxnSpPr>
          <p:nvPr/>
        </p:nvCxnSpPr>
        <p:spPr bwMode="auto">
          <a:xfrm flipV="1">
            <a:off x="1273465" y="6207230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Arrow Connector 150">
            <a:extLst>
              <a:ext uri="{FF2B5EF4-FFF2-40B4-BE49-F238E27FC236}">
                <a16:creationId xmlns:a16="http://schemas.microsoft.com/office/drawing/2014/main" id="{A9A558E8-4CF6-492B-978B-44EE21B9A59E}"/>
              </a:ext>
            </a:extLst>
          </p:cNvPr>
          <p:cNvCxnSpPr>
            <a:cxnSpLocks/>
          </p:cNvCxnSpPr>
          <p:nvPr/>
        </p:nvCxnSpPr>
        <p:spPr bwMode="auto">
          <a:xfrm flipV="1">
            <a:off x="3254665" y="5715712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Arrow Connector 151">
            <a:extLst>
              <a:ext uri="{FF2B5EF4-FFF2-40B4-BE49-F238E27FC236}">
                <a16:creationId xmlns:a16="http://schemas.microsoft.com/office/drawing/2014/main" id="{6EFBF575-3F41-48EB-BC20-227764BC8368}"/>
              </a:ext>
            </a:extLst>
          </p:cNvPr>
          <p:cNvCxnSpPr>
            <a:cxnSpLocks/>
          </p:cNvCxnSpPr>
          <p:nvPr/>
        </p:nvCxnSpPr>
        <p:spPr bwMode="auto">
          <a:xfrm flipV="1">
            <a:off x="3278168" y="5232704"/>
            <a:ext cx="108000" cy="108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152">
            <a:extLst>
              <a:ext uri="{FF2B5EF4-FFF2-40B4-BE49-F238E27FC236}">
                <a16:creationId xmlns:a16="http://schemas.microsoft.com/office/drawing/2014/main" id="{D560EF95-F2A7-4853-A7B0-F424144798FE}"/>
              </a:ext>
            </a:extLst>
          </p:cNvPr>
          <p:cNvSpPr txBox="1"/>
          <p:nvPr/>
        </p:nvSpPr>
        <p:spPr>
          <a:xfrm>
            <a:off x="208890" y="6326743"/>
            <a:ext cx="898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lock</a:t>
            </a:r>
          </a:p>
        </p:txBody>
      </p:sp>
      <p:sp>
        <p:nvSpPr>
          <p:cNvPr id="42" name="TextBox 154">
            <a:extLst>
              <a:ext uri="{FF2B5EF4-FFF2-40B4-BE49-F238E27FC236}">
                <a16:creationId xmlns:a16="http://schemas.microsoft.com/office/drawing/2014/main" id="{E74822CB-B3F7-4C62-816D-EDAAFB6309CF}"/>
              </a:ext>
            </a:extLst>
          </p:cNvPr>
          <p:cNvSpPr txBox="1"/>
          <p:nvPr/>
        </p:nvSpPr>
        <p:spPr>
          <a:xfrm>
            <a:off x="730040" y="5792788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rgbClr val="7030A0"/>
                </a:solidFill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82854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40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FSM </a:t>
            </a:r>
            <a:r>
              <a:rPr lang="zh-CN" altLang="en-US" dirty="0"/>
              <a:t>类型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0432FF"/>
                </a:solidFill>
              </a:rPr>
              <a:t>Mealy vs. Moore</a:t>
            </a:r>
            <a:endParaRPr lang="zh-CN" altLang="en-US" dirty="0">
              <a:solidFill>
                <a:srgbClr val="0432FF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605957" y="1385079"/>
            <a:ext cx="8229600" cy="1077145"/>
          </a:xfrm>
        </p:spPr>
        <p:txBody>
          <a:bodyPr/>
          <a:lstStyle/>
          <a:p>
            <a:r>
              <a:rPr lang="zh-CN" altLang="en-US" sz="2800" b="0" dirty="0"/>
              <a:t>摩尔机</a:t>
            </a:r>
            <a:r>
              <a:rPr lang="en-US" altLang="zh-CN" sz="2800" b="0" dirty="0"/>
              <a:t>(Moore FSM)</a:t>
            </a:r>
            <a:r>
              <a:rPr lang="zh-CN" altLang="en-US" sz="2800" b="0" dirty="0"/>
              <a:t>：输出只与状态有关</a:t>
            </a:r>
            <a:endParaRPr lang="en-US" altLang="zh-CN" sz="2800" b="0" dirty="0"/>
          </a:p>
          <a:p>
            <a:r>
              <a:rPr lang="zh-CN" altLang="en-US" sz="2800" b="0" dirty="0"/>
              <a:t>米利机</a:t>
            </a:r>
            <a:r>
              <a:rPr lang="en-US" altLang="zh-CN" sz="2800" b="0" dirty="0"/>
              <a:t>(Mealy FSM)</a:t>
            </a:r>
            <a:r>
              <a:rPr lang="zh-CN" altLang="en-US" sz="2800" b="0" dirty="0"/>
              <a:t>：输出与状态和输入有关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D3C5EE-F90D-AD42-A6C9-6EB8BE95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BCB8E7-CE8A-0747-A6E9-8BFA7B8CD024}"/>
              </a:ext>
            </a:extLst>
          </p:cNvPr>
          <p:cNvSpPr txBox="1"/>
          <p:nvPr/>
        </p:nvSpPr>
        <p:spPr>
          <a:xfrm>
            <a:off x="5032211" y="5699598"/>
            <a:ext cx="3207930" cy="430887"/>
          </a:xfrm>
          <a:prstGeom prst="rect">
            <a:avLst/>
          </a:prstGeom>
          <a:solidFill>
            <a:srgbClr val="DFDFF5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Output = f(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Input, 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States)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F889CE-0272-8449-9BBD-A053C519C302}"/>
              </a:ext>
            </a:extLst>
          </p:cNvPr>
          <p:cNvSpPr txBox="1"/>
          <p:nvPr/>
        </p:nvSpPr>
        <p:spPr>
          <a:xfrm>
            <a:off x="4738060" y="6217146"/>
            <a:ext cx="3796232" cy="430887"/>
          </a:xfrm>
          <a:prstGeom prst="rect">
            <a:avLst/>
          </a:prstGeom>
          <a:solidFill>
            <a:srgbClr val="DFDFF5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States &lt;= g(Input, </a:t>
            </a:r>
            <a:r>
              <a:rPr kumimoji="0" lang="en-US" sz="22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State_old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70EF69-775C-2449-87DC-EBD08ADC8A92}"/>
              </a:ext>
            </a:extLst>
          </p:cNvPr>
          <p:cNvSpPr/>
          <p:nvPr/>
        </p:nvSpPr>
        <p:spPr bwMode="auto">
          <a:xfrm>
            <a:off x="1413192" y="2971653"/>
            <a:ext cx="1374701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 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A6B97A-132D-7A41-A244-46F7ECFDBC0B}"/>
              </a:ext>
            </a:extLst>
          </p:cNvPr>
          <p:cNvSpPr txBox="1"/>
          <p:nvPr/>
        </p:nvSpPr>
        <p:spPr>
          <a:xfrm>
            <a:off x="299430" y="4054662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E597EB-8753-5A42-8C78-208868113780}"/>
              </a:ext>
            </a:extLst>
          </p:cNvPr>
          <p:cNvSpPr txBox="1"/>
          <p:nvPr/>
        </p:nvSpPr>
        <p:spPr>
          <a:xfrm>
            <a:off x="3403919" y="2954687"/>
            <a:ext cx="952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60A0504-F6EA-E24D-9782-DA186718B4F4}"/>
              </a:ext>
            </a:extLst>
          </p:cNvPr>
          <p:cNvCxnSpPr>
            <a:cxnSpLocks/>
          </p:cNvCxnSpPr>
          <p:nvPr/>
        </p:nvCxnSpPr>
        <p:spPr bwMode="auto">
          <a:xfrm>
            <a:off x="2787891" y="3177726"/>
            <a:ext cx="603594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6799C190-BBFC-5B45-BC5B-87CB2D2F1CCA}"/>
              </a:ext>
            </a:extLst>
          </p:cNvPr>
          <p:cNvSpPr/>
          <p:nvPr/>
        </p:nvSpPr>
        <p:spPr bwMode="auto">
          <a:xfrm>
            <a:off x="1428219" y="4808237"/>
            <a:ext cx="1374701" cy="68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States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6322493-1735-3840-B92F-E0140A055750}"/>
              </a:ext>
            </a:extLst>
          </p:cNvPr>
          <p:cNvCxnSpPr>
            <a:cxnSpLocks/>
          </p:cNvCxnSpPr>
          <p:nvPr/>
        </p:nvCxnSpPr>
        <p:spPr bwMode="auto">
          <a:xfrm>
            <a:off x="1023532" y="5171187"/>
            <a:ext cx="41148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C18CCF1-9894-5A43-A3DC-49B9E6F1AAE0}"/>
              </a:ext>
            </a:extLst>
          </p:cNvPr>
          <p:cNvCxnSpPr>
            <a:cxnSpLocks/>
          </p:cNvCxnSpPr>
          <p:nvPr/>
        </p:nvCxnSpPr>
        <p:spPr bwMode="auto">
          <a:xfrm>
            <a:off x="1023532" y="4267200"/>
            <a:ext cx="41148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F586B74-8369-6943-B13E-E658C6162A6F}"/>
              </a:ext>
            </a:extLst>
          </p:cNvPr>
          <p:cNvSpPr txBox="1"/>
          <p:nvPr/>
        </p:nvSpPr>
        <p:spPr>
          <a:xfrm>
            <a:off x="266714" y="4969993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41448B0-997D-E44E-A9C3-C1CD44704B93}"/>
              </a:ext>
            </a:extLst>
          </p:cNvPr>
          <p:cNvSpPr/>
          <p:nvPr/>
        </p:nvSpPr>
        <p:spPr bwMode="auto">
          <a:xfrm>
            <a:off x="1413190" y="3889945"/>
            <a:ext cx="1374701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 g</a:t>
            </a:r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1322227B-031E-8141-9692-089DC501EC06}"/>
              </a:ext>
            </a:extLst>
          </p:cNvPr>
          <p:cNvSpPr/>
          <p:nvPr/>
        </p:nvSpPr>
        <p:spPr>
          <a:xfrm>
            <a:off x="1435011" y="5085497"/>
            <a:ext cx="114695" cy="169101"/>
          </a:xfrm>
          <a:custGeom>
            <a:avLst/>
            <a:gdLst>
              <a:gd name="connsiteX0" fmla="*/ 0 w 87682"/>
              <a:gd name="connsiteY0" fmla="*/ 0 h 169101"/>
              <a:gd name="connsiteX1" fmla="*/ 87682 w 87682"/>
              <a:gd name="connsiteY1" fmla="*/ 87682 h 169101"/>
              <a:gd name="connsiteX2" fmla="*/ 6263 w 87682"/>
              <a:gd name="connsiteY2" fmla="*/ 169101 h 16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682" h="169101">
                <a:moveTo>
                  <a:pt x="0" y="0"/>
                </a:moveTo>
                <a:lnTo>
                  <a:pt x="87682" y="87682"/>
                </a:lnTo>
                <a:lnTo>
                  <a:pt x="6263" y="169101"/>
                </a:lnTo>
              </a:path>
            </a:pathLst>
          </a:cu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CB502F31-5303-9D44-99AC-F81D7370FD5F}"/>
              </a:ext>
            </a:extLst>
          </p:cNvPr>
          <p:cNvSpPr/>
          <p:nvPr/>
        </p:nvSpPr>
        <p:spPr>
          <a:xfrm>
            <a:off x="2787823" y="3507222"/>
            <a:ext cx="469726" cy="1857138"/>
          </a:xfrm>
          <a:custGeom>
            <a:avLst/>
            <a:gdLst>
              <a:gd name="connsiteX0" fmla="*/ 25052 w 469726"/>
              <a:gd name="connsiteY0" fmla="*/ 2198317 h 2198317"/>
              <a:gd name="connsiteX1" fmla="*/ 469726 w 469726"/>
              <a:gd name="connsiteY1" fmla="*/ 2198317 h 2198317"/>
              <a:gd name="connsiteX2" fmla="*/ 469726 w 469726"/>
              <a:gd name="connsiteY2" fmla="*/ 0 h 2198317"/>
              <a:gd name="connsiteX3" fmla="*/ 0 w 469726"/>
              <a:gd name="connsiteY3" fmla="*/ 0 h 219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26" h="2198317">
                <a:moveTo>
                  <a:pt x="25052" y="2198317"/>
                </a:moveTo>
                <a:lnTo>
                  <a:pt x="469726" y="2198317"/>
                </a:lnTo>
                <a:lnTo>
                  <a:pt x="469726" y="0"/>
                </a:lnTo>
                <a:lnTo>
                  <a:pt x="0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F1CAFC12-15B2-AA49-80E4-8C5A8CE4D78F}"/>
              </a:ext>
            </a:extLst>
          </p:cNvPr>
          <p:cNvSpPr/>
          <p:nvPr/>
        </p:nvSpPr>
        <p:spPr>
          <a:xfrm>
            <a:off x="2781993" y="4444201"/>
            <a:ext cx="268945" cy="568929"/>
          </a:xfrm>
          <a:custGeom>
            <a:avLst/>
            <a:gdLst>
              <a:gd name="connsiteX0" fmla="*/ 0 w 231731"/>
              <a:gd name="connsiteY0" fmla="*/ 0 h 901874"/>
              <a:gd name="connsiteX1" fmla="*/ 231731 w 231731"/>
              <a:gd name="connsiteY1" fmla="*/ 0 h 901874"/>
              <a:gd name="connsiteX2" fmla="*/ 231731 w 231731"/>
              <a:gd name="connsiteY2" fmla="*/ 901874 h 901874"/>
              <a:gd name="connsiteX3" fmla="*/ 31315 w 231731"/>
              <a:gd name="connsiteY3" fmla="*/ 901874 h 901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731" h="901874">
                <a:moveTo>
                  <a:pt x="0" y="0"/>
                </a:moveTo>
                <a:lnTo>
                  <a:pt x="231731" y="0"/>
                </a:lnTo>
                <a:lnTo>
                  <a:pt x="231731" y="901874"/>
                </a:lnTo>
                <a:lnTo>
                  <a:pt x="31315" y="901874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400C3B40-4EEF-A548-A9A0-291B7CB55AC2}"/>
              </a:ext>
            </a:extLst>
          </p:cNvPr>
          <p:cNvSpPr/>
          <p:nvPr/>
        </p:nvSpPr>
        <p:spPr>
          <a:xfrm>
            <a:off x="2787823" y="4107857"/>
            <a:ext cx="475989" cy="0"/>
          </a:xfrm>
          <a:custGeom>
            <a:avLst/>
            <a:gdLst>
              <a:gd name="connsiteX0" fmla="*/ 475989 w 475989"/>
              <a:gd name="connsiteY0" fmla="*/ 0 h 0"/>
              <a:gd name="connsiteX1" fmla="*/ 0 w 47598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989">
                <a:moveTo>
                  <a:pt x="475989" y="0"/>
                </a:moveTo>
                <a:lnTo>
                  <a:pt x="0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C3D828E-3FA7-C446-BE62-521D8617C181}"/>
              </a:ext>
            </a:extLst>
          </p:cNvPr>
          <p:cNvSpPr txBox="1"/>
          <p:nvPr/>
        </p:nvSpPr>
        <p:spPr>
          <a:xfrm>
            <a:off x="893862" y="5699598"/>
            <a:ext cx="2422458" cy="430887"/>
          </a:xfrm>
          <a:prstGeom prst="rect">
            <a:avLst/>
          </a:prstGeom>
          <a:solidFill>
            <a:srgbClr val="DFDFF5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Output = f(States)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6118E4-D489-B048-851A-D7370815272C}"/>
              </a:ext>
            </a:extLst>
          </p:cNvPr>
          <p:cNvSpPr txBox="1"/>
          <p:nvPr/>
        </p:nvSpPr>
        <p:spPr>
          <a:xfrm>
            <a:off x="206975" y="6217146"/>
            <a:ext cx="3796232" cy="430887"/>
          </a:xfrm>
          <a:prstGeom prst="rect">
            <a:avLst/>
          </a:prstGeom>
          <a:solidFill>
            <a:srgbClr val="DFDFF5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States &lt;= g(Input, </a:t>
            </a:r>
            <a:r>
              <a:rPr kumimoji="0" lang="en-US" sz="22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State_old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FEA883E-FFF2-2A47-BBBF-C2E9D8C000D7}"/>
              </a:ext>
            </a:extLst>
          </p:cNvPr>
          <p:cNvSpPr/>
          <p:nvPr/>
        </p:nvSpPr>
        <p:spPr>
          <a:xfrm>
            <a:off x="1317313" y="2528702"/>
            <a:ext cx="15664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Moore FSM</a:t>
            </a:r>
            <a:endParaRPr lang="en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EB69740-DA9F-8D43-B7FC-51EA82EB39A0}"/>
              </a:ext>
            </a:extLst>
          </p:cNvPr>
          <p:cNvSpPr/>
          <p:nvPr/>
        </p:nvSpPr>
        <p:spPr>
          <a:xfrm>
            <a:off x="5853230" y="2510779"/>
            <a:ext cx="15087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Mealy FSM</a:t>
            </a:r>
            <a:endParaRPr lang="en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63">
            <a:extLst>
              <a:ext uri="{FF2B5EF4-FFF2-40B4-BE49-F238E27FC236}">
                <a16:creationId xmlns:a16="http://schemas.microsoft.com/office/drawing/2014/main" id="{94491DA0-0C7C-4047-B711-3A8083F42CB1}"/>
              </a:ext>
            </a:extLst>
          </p:cNvPr>
          <p:cNvSpPr/>
          <p:nvPr/>
        </p:nvSpPr>
        <p:spPr bwMode="auto">
          <a:xfrm>
            <a:off x="5890055" y="2990634"/>
            <a:ext cx="1374701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 f</a:t>
            </a:r>
          </a:p>
        </p:txBody>
      </p:sp>
      <p:sp>
        <p:nvSpPr>
          <p:cNvPr id="84" name="TextBox 64">
            <a:extLst>
              <a:ext uri="{FF2B5EF4-FFF2-40B4-BE49-F238E27FC236}">
                <a16:creationId xmlns:a16="http://schemas.microsoft.com/office/drawing/2014/main" id="{AA2F6557-4038-41FC-87C1-DB86341CEB84}"/>
              </a:ext>
            </a:extLst>
          </p:cNvPr>
          <p:cNvSpPr txBox="1"/>
          <p:nvPr/>
        </p:nvSpPr>
        <p:spPr>
          <a:xfrm>
            <a:off x="4776293" y="4073643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85" name="TextBox 65">
            <a:extLst>
              <a:ext uri="{FF2B5EF4-FFF2-40B4-BE49-F238E27FC236}">
                <a16:creationId xmlns:a16="http://schemas.microsoft.com/office/drawing/2014/main" id="{5C176A31-647C-4A7A-B9E8-3FD45A3ED84F}"/>
              </a:ext>
            </a:extLst>
          </p:cNvPr>
          <p:cNvSpPr txBox="1"/>
          <p:nvPr/>
        </p:nvSpPr>
        <p:spPr>
          <a:xfrm>
            <a:off x="7880782" y="2973668"/>
            <a:ext cx="952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cxnSp>
        <p:nvCxnSpPr>
          <p:cNvPr id="86" name="Straight Arrow Connector 66">
            <a:extLst>
              <a:ext uri="{FF2B5EF4-FFF2-40B4-BE49-F238E27FC236}">
                <a16:creationId xmlns:a16="http://schemas.microsoft.com/office/drawing/2014/main" id="{D3C8BC24-78B3-41E9-B82D-D9BE54A25A96}"/>
              </a:ext>
            </a:extLst>
          </p:cNvPr>
          <p:cNvCxnSpPr>
            <a:cxnSpLocks/>
          </p:cNvCxnSpPr>
          <p:nvPr/>
        </p:nvCxnSpPr>
        <p:spPr bwMode="auto">
          <a:xfrm>
            <a:off x="7264754" y="3196707"/>
            <a:ext cx="603594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7" name="Rectangle 67">
            <a:extLst>
              <a:ext uri="{FF2B5EF4-FFF2-40B4-BE49-F238E27FC236}">
                <a16:creationId xmlns:a16="http://schemas.microsoft.com/office/drawing/2014/main" id="{942EF527-F641-4678-BD3C-5DDBA88DA20D}"/>
              </a:ext>
            </a:extLst>
          </p:cNvPr>
          <p:cNvSpPr/>
          <p:nvPr/>
        </p:nvSpPr>
        <p:spPr bwMode="auto">
          <a:xfrm>
            <a:off x="5905082" y="4827218"/>
            <a:ext cx="1374701" cy="68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States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88" name="Straight Arrow Connector 68">
            <a:extLst>
              <a:ext uri="{FF2B5EF4-FFF2-40B4-BE49-F238E27FC236}">
                <a16:creationId xmlns:a16="http://schemas.microsoft.com/office/drawing/2014/main" id="{C7A15539-DFF2-4A0A-922F-0A04461EFD7C}"/>
              </a:ext>
            </a:extLst>
          </p:cNvPr>
          <p:cNvCxnSpPr>
            <a:cxnSpLocks/>
          </p:cNvCxnSpPr>
          <p:nvPr/>
        </p:nvCxnSpPr>
        <p:spPr bwMode="auto">
          <a:xfrm>
            <a:off x="5500395" y="5190168"/>
            <a:ext cx="41148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9" name="Straight Arrow Connector 69">
            <a:extLst>
              <a:ext uri="{FF2B5EF4-FFF2-40B4-BE49-F238E27FC236}">
                <a16:creationId xmlns:a16="http://schemas.microsoft.com/office/drawing/2014/main" id="{4647C4C4-F042-4BCE-B4E0-08A984694C74}"/>
              </a:ext>
            </a:extLst>
          </p:cNvPr>
          <p:cNvCxnSpPr>
            <a:cxnSpLocks/>
          </p:cNvCxnSpPr>
          <p:nvPr/>
        </p:nvCxnSpPr>
        <p:spPr bwMode="auto">
          <a:xfrm>
            <a:off x="5500395" y="4286181"/>
            <a:ext cx="41148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90" name="TextBox 70">
            <a:extLst>
              <a:ext uri="{FF2B5EF4-FFF2-40B4-BE49-F238E27FC236}">
                <a16:creationId xmlns:a16="http://schemas.microsoft.com/office/drawing/2014/main" id="{EE8B6F5D-A64F-4C11-82C4-43D6819B9485}"/>
              </a:ext>
            </a:extLst>
          </p:cNvPr>
          <p:cNvSpPr txBox="1"/>
          <p:nvPr/>
        </p:nvSpPr>
        <p:spPr>
          <a:xfrm>
            <a:off x="4743577" y="498897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</a:p>
        </p:txBody>
      </p:sp>
      <p:sp>
        <p:nvSpPr>
          <p:cNvPr id="91" name="Rectangle 71">
            <a:extLst>
              <a:ext uri="{FF2B5EF4-FFF2-40B4-BE49-F238E27FC236}">
                <a16:creationId xmlns:a16="http://schemas.microsoft.com/office/drawing/2014/main" id="{E339BE7F-B89C-401F-A838-CAD9804008FB}"/>
              </a:ext>
            </a:extLst>
          </p:cNvPr>
          <p:cNvSpPr/>
          <p:nvPr/>
        </p:nvSpPr>
        <p:spPr bwMode="auto">
          <a:xfrm>
            <a:off x="5890053" y="3908926"/>
            <a:ext cx="1374701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 g</a:t>
            </a:r>
          </a:p>
        </p:txBody>
      </p:sp>
      <p:sp>
        <p:nvSpPr>
          <p:cNvPr id="92" name="Freeform 72">
            <a:extLst>
              <a:ext uri="{FF2B5EF4-FFF2-40B4-BE49-F238E27FC236}">
                <a16:creationId xmlns:a16="http://schemas.microsoft.com/office/drawing/2014/main" id="{D8C7CD22-D27D-4158-B2FC-F8C9F5D8AA0C}"/>
              </a:ext>
            </a:extLst>
          </p:cNvPr>
          <p:cNvSpPr/>
          <p:nvPr/>
        </p:nvSpPr>
        <p:spPr>
          <a:xfrm>
            <a:off x="5911874" y="5104478"/>
            <a:ext cx="114695" cy="169101"/>
          </a:xfrm>
          <a:custGeom>
            <a:avLst/>
            <a:gdLst>
              <a:gd name="connsiteX0" fmla="*/ 0 w 87682"/>
              <a:gd name="connsiteY0" fmla="*/ 0 h 169101"/>
              <a:gd name="connsiteX1" fmla="*/ 87682 w 87682"/>
              <a:gd name="connsiteY1" fmla="*/ 87682 h 169101"/>
              <a:gd name="connsiteX2" fmla="*/ 6263 w 87682"/>
              <a:gd name="connsiteY2" fmla="*/ 169101 h 16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682" h="169101">
                <a:moveTo>
                  <a:pt x="0" y="0"/>
                </a:moveTo>
                <a:lnTo>
                  <a:pt x="87682" y="87682"/>
                </a:lnTo>
                <a:lnTo>
                  <a:pt x="6263" y="169101"/>
                </a:lnTo>
              </a:path>
            </a:pathLst>
          </a:cu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3" name="Freeform 73">
            <a:extLst>
              <a:ext uri="{FF2B5EF4-FFF2-40B4-BE49-F238E27FC236}">
                <a16:creationId xmlns:a16="http://schemas.microsoft.com/office/drawing/2014/main" id="{0F67CD2D-AABC-4231-AEBB-6F7FF226C0BB}"/>
              </a:ext>
            </a:extLst>
          </p:cNvPr>
          <p:cNvSpPr/>
          <p:nvPr/>
        </p:nvSpPr>
        <p:spPr>
          <a:xfrm>
            <a:off x="7264686" y="3526203"/>
            <a:ext cx="469726" cy="1857138"/>
          </a:xfrm>
          <a:custGeom>
            <a:avLst/>
            <a:gdLst>
              <a:gd name="connsiteX0" fmla="*/ 25052 w 469726"/>
              <a:gd name="connsiteY0" fmla="*/ 2198317 h 2198317"/>
              <a:gd name="connsiteX1" fmla="*/ 469726 w 469726"/>
              <a:gd name="connsiteY1" fmla="*/ 2198317 h 2198317"/>
              <a:gd name="connsiteX2" fmla="*/ 469726 w 469726"/>
              <a:gd name="connsiteY2" fmla="*/ 0 h 2198317"/>
              <a:gd name="connsiteX3" fmla="*/ 0 w 469726"/>
              <a:gd name="connsiteY3" fmla="*/ 0 h 219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26" h="2198317">
                <a:moveTo>
                  <a:pt x="25052" y="2198317"/>
                </a:moveTo>
                <a:lnTo>
                  <a:pt x="469726" y="2198317"/>
                </a:lnTo>
                <a:lnTo>
                  <a:pt x="469726" y="0"/>
                </a:lnTo>
                <a:lnTo>
                  <a:pt x="0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4" name="Freeform 74">
            <a:extLst>
              <a:ext uri="{FF2B5EF4-FFF2-40B4-BE49-F238E27FC236}">
                <a16:creationId xmlns:a16="http://schemas.microsoft.com/office/drawing/2014/main" id="{CE7D94A0-DF7A-4C57-BD94-29E34C7056CC}"/>
              </a:ext>
            </a:extLst>
          </p:cNvPr>
          <p:cNvSpPr/>
          <p:nvPr/>
        </p:nvSpPr>
        <p:spPr>
          <a:xfrm>
            <a:off x="7258856" y="4463182"/>
            <a:ext cx="268945" cy="568929"/>
          </a:xfrm>
          <a:custGeom>
            <a:avLst/>
            <a:gdLst>
              <a:gd name="connsiteX0" fmla="*/ 0 w 231731"/>
              <a:gd name="connsiteY0" fmla="*/ 0 h 901874"/>
              <a:gd name="connsiteX1" fmla="*/ 231731 w 231731"/>
              <a:gd name="connsiteY1" fmla="*/ 0 h 901874"/>
              <a:gd name="connsiteX2" fmla="*/ 231731 w 231731"/>
              <a:gd name="connsiteY2" fmla="*/ 901874 h 901874"/>
              <a:gd name="connsiteX3" fmla="*/ 31315 w 231731"/>
              <a:gd name="connsiteY3" fmla="*/ 901874 h 901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731" h="901874">
                <a:moveTo>
                  <a:pt x="0" y="0"/>
                </a:moveTo>
                <a:lnTo>
                  <a:pt x="231731" y="0"/>
                </a:lnTo>
                <a:lnTo>
                  <a:pt x="231731" y="901874"/>
                </a:lnTo>
                <a:lnTo>
                  <a:pt x="31315" y="901874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5" name="Freeform 75">
            <a:extLst>
              <a:ext uri="{FF2B5EF4-FFF2-40B4-BE49-F238E27FC236}">
                <a16:creationId xmlns:a16="http://schemas.microsoft.com/office/drawing/2014/main" id="{0C60FFFE-2C13-48C3-B253-4FADBFAD37B1}"/>
              </a:ext>
            </a:extLst>
          </p:cNvPr>
          <p:cNvSpPr/>
          <p:nvPr/>
        </p:nvSpPr>
        <p:spPr>
          <a:xfrm>
            <a:off x="7264686" y="4126838"/>
            <a:ext cx="475989" cy="0"/>
          </a:xfrm>
          <a:custGeom>
            <a:avLst/>
            <a:gdLst>
              <a:gd name="connsiteX0" fmla="*/ 475989 w 475989"/>
              <a:gd name="connsiteY0" fmla="*/ 0 h 0"/>
              <a:gd name="connsiteX1" fmla="*/ 0 w 47598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989">
                <a:moveTo>
                  <a:pt x="475989" y="0"/>
                </a:moveTo>
                <a:lnTo>
                  <a:pt x="0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6" name="Freeform 57">
            <a:extLst>
              <a:ext uri="{FF2B5EF4-FFF2-40B4-BE49-F238E27FC236}">
                <a16:creationId xmlns:a16="http://schemas.microsoft.com/office/drawing/2014/main" id="{5AB1D67A-067D-475C-BBCA-34567B657889}"/>
              </a:ext>
            </a:extLst>
          </p:cNvPr>
          <p:cNvSpPr/>
          <p:nvPr/>
        </p:nvSpPr>
        <p:spPr>
          <a:xfrm>
            <a:off x="5677819" y="3352800"/>
            <a:ext cx="221064" cy="934598"/>
          </a:xfrm>
          <a:custGeom>
            <a:avLst/>
            <a:gdLst>
              <a:gd name="connsiteX0" fmla="*/ 0 w 221064"/>
              <a:gd name="connsiteY0" fmla="*/ 1155560 h 1155560"/>
              <a:gd name="connsiteX1" fmla="*/ 0 w 221064"/>
              <a:gd name="connsiteY1" fmla="*/ 0 h 1155560"/>
              <a:gd name="connsiteX2" fmla="*/ 221064 w 221064"/>
              <a:gd name="connsiteY2" fmla="*/ 0 h 115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064" h="1155560">
                <a:moveTo>
                  <a:pt x="0" y="1155560"/>
                </a:moveTo>
                <a:lnTo>
                  <a:pt x="0" y="0"/>
                </a:lnTo>
                <a:lnTo>
                  <a:pt x="221064" y="0"/>
                </a:lnTo>
              </a:path>
            </a:pathLst>
          </a:custGeom>
          <a:noFill/>
          <a:ln w="44450">
            <a:solidFill>
              <a:srgbClr val="0432FF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b="0" dirty="0"/>
          </a:p>
        </p:txBody>
      </p:sp>
      <p:sp>
        <p:nvSpPr>
          <p:cNvPr id="97" name="TextBox 154">
            <a:extLst>
              <a:ext uri="{FF2B5EF4-FFF2-40B4-BE49-F238E27FC236}">
                <a16:creationId xmlns:a16="http://schemas.microsoft.com/office/drawing/2014/main" id="{AEDC4563-BAEE-4318-A8F0-9D47EB9E60B9}"/>
              </a:ext>
            </a:extLst>
          </p:cNvPr>
          <p:cNvSpPr txBox="1"/>
          <p:nvPr/>
        </p:nvSpPr>
        <p:spPr>
          <a:xfrm>
            <a:off x="2750606" y="4521513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Q</a:t>
            </a:r>
          </a:p>
        </p:txBody>
      </p:sp>
      <p:sp>
        <p:nvSpPr>
          <p:cNvPr id="98" name="TextBox 154">
            <a:extLst>
              <a:ext uri="{FF2B5EF4-FFF2-40B4-BE49-F238E27FC236}">
                <a16:creationId xmlns:a16="http://schemas.microsoft.com/office/drawing/2014/main" id="{B6E8EF7D-2120-4616-98A6-4DA79579ACB7}"/>
              </a:ext>
            </a:extLst>
          </p:cNvPr>
          <p:cNvSpPr txBox="1"/>
          <p:nvPr/>
        </p:nvSpPr>
        <p:spPr>
          <a:xfrm>
            <a:off x="7219125" y="4521513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Q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8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6429" y="167033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FSM</a:t>
            </a:r>
            <a:r>
              <a:rPr lang="zh-CN" altLang="en-US" sz="3600" dirty="0"/>
              <a:t>描述</a:t>
            </a:r>
            <a:r>
              <a:rPr lang="en-US" altLang="zh-CN" sz="3600" dirty="0"/>
              <a:t>: </a:t>
            </a:r>
            <a:r>
              <a:rPr lang="zh-CN" altLang="en-US" sz="3600" dirty="0">
                <a:solidFill>
                  <a:srgbClr val="0432FF"/>
                </a:solidFill>
              </a:rPr>
              <a:t>状态转换表</a:t>
            </a:r>
            <a:r>
              <a:rPr lang="en-US" altLang="zh-CN" sz="3600" dirty="0">
                <a:solidFill>
                  <a:srgbClr val="0432FF"/>
                </a:solidFill>
              </a:rPr>
              <a:t>(State transition table)</a:t>
            </a:r>
            <a:endParaRPr lang="zh-CN" altLang="en-US" sz="3600" dirty="0">
              <a:solidFill>
                <a:srgbClr val="0432F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2C6DC8-0188-3E42-8300-70892A8D4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29" y="1447800"/>
            <a:ext cx="8229600" cy="2219672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和卡诺图相似</a:t>
            </a:r>
            <a:endParaRPr lang="en-CN" sz="2800" b="0" dirty="0"/>
          </a:p>
          <a:p>
            <a:pPr lvl="1"/>
            <a:r>
              <a:rPr lang="zh-CN" altLang="en-US" sz="2400" b="0" dirty="0"/>
              <a:t>描述下一个状态和输出</a:t>
            </a:r>
            <a:endParaRPr lang="en-CN" sz="2400" b="0" dirty="0"/>
          </a:p>
          <a:p>
            <a:pPr lvl="1"/>
            <a:r>
              <a:rPr lang="zh-CN" altLang="en-US" sz="2400" b="0" dirty="0"/>
              <a:t>摩尔机和米利机的区别</a:t>
            </a:r>
            <a:endParaRPr lang="en-CN" sz="2400" b="0" dirty="0"/>
          </a:p>
          <a:p>
            <a:r>
              <a:rPr lang="en-CN" sz="2700" b="0" dirty="0"/>
              <a:t>2D vs 1D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11945-5E19-6441-94C7-DEF4E62B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342667"/>
              </p:ext>
            </p:extLst>
          </p:nvPr>
        </p:nvGraphicFramePr>
        <p:xfrm>
          <a:off x="4846529" y="3581400"/>
          <a:ext cx="3886200" cy="2286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76522828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2879307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4377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0" dirty="0">
                          <a:effectLst/>
                        </a:rPr>
                        <a:t>Input</a:t>
                      </a:r>
                      <a:endParaRPr lang="en-US" sz="2000" b="0" dirty="0">
                        <a:effectLst/>
                      </a:endParaRPr>
                    </a:p>
                    <a:p>
                      <a:pPr algn="l"/>
                      <a:r>
                        <a:rPr lang="en-US" sz="2000" b="0" dirty="0">
                          <a:effectLst/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I</a:t>
                      </a:r>
                      <a:r>
                        <a:rPr lang="en-US" sz="2000" b="0" baseline="-25000" dirty="0">
                          <a:effectLst/>
                        </a:rPr>
                        <a:t>1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I</a:t>
                      </a:r>
                      <a:r>
                        <a:rPr lang="en-US" sz="2000" b="0" baseline="-25000" dirty="0">
                          <a:effectLst/>
                        </a:rPr>
                        <a:t>2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42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S</a:t>
                      </a:r>
                      <a:r>
                        <a:rPr lang="en-US" sz="2000" b="0" baseline="-25000" dirty="0">
                          <a:effectLst/>
                        </a:rPr>
                        <a:t>1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S</a:t>
                      </a:r>
                      <a:r>
                        <a:rPr lang="en-US" altLang="zh-CN" sz="2000" b="0" baseline="-25000" dirty="0">
                          <a:effectLst/>
                        </a:rPr>
                        <a:t>a</a:t>
                      </a:r>
                      <a:r>
                        <a:rPr lang="en-US" altLang="zh-CN" sz="2000" b="0" dirty="0">
                          <a:effectLst/>
                        </a:rPr>
                        <a:t>/O</a:t>
                      </a:r>
                      <a:r>
                        <a:rPr lang="en-US" altLang="zh-CN" sz="2000" b="0" baseline="-25000" dirty="0">
                          <a:effectLst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</a:rPr>
                        <a:t>S</a:t>
                      </a:r>
                      <a:r>
                        <a:rPr lang="en-US" sz="2000" b="0" baseline="-25000" dirty="0">
                          <a:effectLst/>
                        </a:rPr>
                        <a:t>c</a:t>
                      </a:r>
                      <a:r>
                        <a:rPr lang="en-US" altLang="zh-CN" sz="2000" b="0" dirty="0">
                          <a:effectLst/>
                        </a:rPr>
                        <a:t>/O</a:t>
                      </a:r>
                      <a:r>
                        <a:rPr lang="en-US" altLang="zh-CN" sz="2000" b="0" baseline="-25000" dirty="0">
                          <a:effectLst/>
                        </a:rPr>
                        <a:t>d</a:t>
                      </a:r>
                      <a:r>
                        <a:rPr lang="en-US" altLang="zh-CN" sz="2000" b="0" dirty="0">
                          <a:effectLst/>
                        </a:rPr>
                        <a:t> 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03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S</a:t>
                      </a:r>
                      <a:r>
                        <a:rPr lang="en-US" sz="2000" b="0" baseline="-25000" dirty="0">
                          <a:effectLst/>
                        </a:rPr>
                        <a:t>2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S</a:t>
                      </a:r>
                      <a:r>
                        <a:rPr lang="en-US" altLang="zh-CN" sz="2000" b="0" baseline="-25000" dirty="0">
                          <a:effectLst/>
                        </a:rPr>
                        <a:t>e</a:t>
                      </a:r>
                      <a:r>
                        <a:rPr lang="en-US" altLang="zh-CN" sz="2000" b="0" dirty="0">
                          <a:effectLst/>
                        </a:rPr>
                        <a:t>/O</a:t>
                      </a:r>
                      <a:r>
                        <a:rPr lang="en-US" altLang="zh-CN" sz="2000" b="0" baseline="-25000" dirty="0">
                          <a:effectLst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</a:rPr>
                        <a:t>S</a:t>
                      </a:r>
                      <a:r>
                        <a:rPr lang="en-US" sz="2000" b="0" baseline="-25000" dirty="0">
                          <a:effectLst/>
                        </a:rPr>
                        <a:t>g</a:t>
                      </a:r>
                      <a:r>
                        <a:rPr lang="en-US" altLang="zh-CN" sz="2000" b="0" dirty="0">
                          <a:effectLst/>
                        </a:rPr>
                        <a:t>/O</a:t>
                      </a:r>
                      <a:r>
                        <a:rPr lang="en-US" altLang="zh-CN" sz="2000" b="0" baseline="-25000" dirty="0">
                          <a:effectLst/>
                        </a:rPr>
                        <a:t>h</a:t>
                      </a:r>
                      <a:r>
                        <a:rPr lang="en-US" altLang="zh-CN" sz="2000" b="0" dirty="0">
                          <a:effectLst/>
                        </a:rPr>
                        <a:t> 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212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59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effectLst/>
                        </a:rPr>
                        <a:t>S</a:t>
                      </a:r>
                      <a:r>
                        <a:rPr lang="en-US" sz="2000" b="0" baseline="-25000" dirty="0" err="1">
                          <a:effectLst/>
                        </a:rPr>
                        <a:t>m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 err="1">
                          <a:effectLst/>
                        </a:rPr>
                        <a:t>S</a:t>
                      </a:r>
                      <a:r>
                        <a:rPr lang="en-US" altLang="zh-CN" sz="2000" b="0" baseline="-25000" dirty="0" err="1">
                          <a:effectLst/>
                        </a:rPr>
                        <a:t>k</a:t>
                      </a:r>
                      <a:r>
                        <a:rPr lang="en-US" altLang="zh-CN" sz="2000" b="0" dirty="0">
                          <a:effectLst/>
                        </a:rPr>
                        <a:t>/</a:t>
                      </a:r>
                      <a:r>
                        <a:rPr lang="en-US" altLang="zh-CN" sz="2000" b="0" dirty="0" err="1">
                          <a:effectLst/>
                        </a:rPr>
                        <a:t>O</a:t>
                      </a:r>
                      <a:r>
                        <a:rPr lang="en-US" altLang="zh-CN" sz="2000" b="0" baseline="-25000" dirty="0" err="1">
                          <a:effectLst/>
                        </a:rPr>
                        <a:t>l</a:t>
                      </a:r>
                      <a:r>
                        <a:rPr lang="en-US" altLang="zh-CN" sz="2000" b="0" dirty="0">
                          <a:effectLst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>
                          <a:effectLst/>
                        </a:rPr>
                        <a:t>S</a:t>
                      </a:r>
                      <a:r>
                        <a:rPr lang="en-US" sz="2000" b="0" baseline="-25000" dirty="0" err="1">
                          <a:effectLst/>
                        </a:rPr>
                        <a:t>m</a:t>
                      </a:r>
                      <a:r>
                        <a:rPr lang="en-US" altLang="zh-CN" sz="2000" b="0" dirty="0">
                          <a:effectLst/>
                        </a:rPr>
                        <a:t>/O</a:t>
                      </a:r>
                      <a:r>
                        <a:rPr lang="en-US" altLang="zh-CN" sz="2000" b="0" baseline="-25000" dirty="0">
                          <a:effectLst/>
                        </a:rPr>
                        <a:t>n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56042"/>
                  </a:ext>
                </a:extLst>
              </a:tr>
            </a:tbl>
          </a:graphicData>
        </a:graphic>
      </p:graphicFrame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0657B9E2-8C52-794F-9633-64846B6AD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956869"/>
              </p:ext>
            </p:extLst>
          </p:nvPr>
        </p:nvGraphicFramePr>
        <p:xfrm>
          <a:off x="449371" y="3581400"/>
          <a:ext cx="3886200" cy="2286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7652282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2879307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3770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37782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0" dirty="0">
                          <a:effectLst/>
                        </a:rPr>
                        <a:t>Input</a:t>
                      </a:r>
                      <a:endParaRPr lang="en-US" sz="2000" b="0" dirty="0">
                        <a:effectLst/>
                      </a:endParaRPr>
                    </a:p>
                    <a:p>
                      <a:pPr algn="l"/>
                      <a:r>
                        <a:rPr lang="en-US" sz="2000" b="0" dirty="0">
                          <a:effectLst/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I</a:t>
                      </a:r>
                      <a:r>
                        <a:rPr lang="en-US" sz="2000" b="0" baseline="-25000" dirty="0">
                          <a:effectLst/>
                        </a:rPr>
                        <a:t>1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I</a:t>
                      </a:r>
                      <a:r>
                        <a:rPr lang="en-US" sz="2000" b="0" baseline="-25000" dirty="0">
                          <a:effectLst/>
                        </a:rPr>
                        <a:t>2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942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S</a:t>
                      </a:r>
                      <a:r>
                        <a:rPr lang="en-US" sz="2000" b="0" baseline="-25000" dirty="0">
                          <a:effectLst/>
                        </a:rPr>
                        <a:t>1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S</a:t>
                      </a:r>
                      <a:r>
                        <a:rPr lang="en-US" altLang="zh-CN" sz="2000" b="0" baseline="-25000" dirty="0">
                          <a:effectLst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</a:rPr>
                        <a:t>S</a:t>
                      </a:r>
                      <a:r>
                        <a:rPr lang="en-US" sz="2000" b="0" baseline="-25000" dirty="0">
                          <a:effectLst/>
                        </a:rPr>
                        <a:t>c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</a:rPr>
                        <a:t>O</a:t>
                      </a:r>
                      <a:r>
                        <a:rPr lang="en-US" sz="2000" b="0" baseline="-25000" dirty="0">
                          <a:effectLst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03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effectLst/>
                        </a:rPr>
                        <a:t>S</a:t>
                      </a:r>
                      <a:r>
                        <a:rPr lang="en-US" sz="2000" b="0" baseline="-25000" dirty="0">
                          <a:effectLst/>
                        </a:rPr>
                        <a:t>2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S</a:t>
                      </a:r>
                      <a:r>
                        <a:rPr lang="en-US" altLang="zh-CN" sz="2000" b="0" baseline="-25000" dirty="0">
                          <a:effectLst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</a:rPr>
                        <a:t>S</a:t>
                      </a:r>
                      <a:r>
                        <a:rPr lang="en-US" sz="2000" b="0" baseline="-25000" dirty="0">
                          <a:effectLst/>
                        </a:rPr>
                        <a:t>g</a:t>
                      </a:r>
                      <a:r>
                        <a:rPr lang="en-US" altLang="zh-CN" sz="2000" b="0" dirty="0">
                          <a:effectLst/>
                        </a:rPr>
                        <a:t> 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</a:rPr>
                        <a:t>O</a:t>
                      </a:r>
                      <a:r>
                        <a:rPr lang="en-US" sz="2000" b="0" baseline="-25000" dirty="0">
                          <a:effectLst/>
                        </a:rPr>
                        <a:t>f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212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effectLst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59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effectLst/>
                        </a:rPr>
                        <a:t>S</a:t>
                      </a:r>
                      <a:r>
                        <a:rPr lang="en-US" sz="2000" b="0" baseline="-25000" dirty="0" err="1">
                          <a:effectLst/>
                        </a:rPr>
                        <a:t>m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 err="1">
                          <a:effectLst/>
                        </a:rPr>
                        <a:t>S</a:t>
                      </a:r>
                      <a:r>
                        <a:rPr lang="en-US" altLang="zh-CN" sz="2000" b="0" baseline="-25000" dirty="0" err="1">
                          <a:effectLst/>
                        </a:rPr>
                        <a:t>k</a:t>
                      </a:r>
                      <a:endParaRPr lang="en-US" altLang="zh-CN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>
                          <a:effectLst/>
                        </a:rPr>
                        <a:t>S</a:t>
                      </a:r>
                      <a:r>
                        <a:rPr lang="en-US" sz="2000" b="0" baseline="-25000" dirty="0" err="1">
                          <a:effectLst/>
                        </a:rPr>
                        <a:t>m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>
                          <a:effectLst/>
                        </a:rPr>
                        <a:t>O</a:t>
                      </a:r>
                      <a:r>
                        <a:rPr lang="en-US" sz="2000" b="0" baseline="-25000" dirty="0" err="1">
                          <a:effectLst/>
                        </a:rPr>
                        <a:t>l</a:t>
                      </a:r>
                      <a:endParaRPr lang="en-US" sz="2000" b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5604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26C5A5F-8781-144F-BA8B-9FED50287886}"/>
              </a:ext>
            </a:extLst>
          </p:cNvPr>
          <p:cNvSpPr/>
          <p:nvPr/>
        </p:nvSpPr>
        <p:spPr>
          <a:xfrm>
            <a:off x="1496232" y="6045170"/>
            <a:ext cx="17924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Moore FSM</a:t>
            </a:r>
            <a:endParaRPr lang="en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138A9F-3BDE-7947-BA97-2F0189A67C05}"/>
              </a:ext>
            </a:extLst>
          </p:cNvPr>
          <p:cNvSpPr/>
          <p:nvPr/>
        </p:nvSpPr>
        <p:spPr>
          <a:xfrm>
            <a:off x="5919038" y="6045170"/>
            <a:ext cx="17411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Mealy FSM</a:t>
            </a:r>
            <a:endParaRPr lang="en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5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FSM</a:t>
            </a:r>
            <a:r>
              <a:rPr lang="zh-CN" altLang="en-US" dirty="0"/>
              <a:t>描述</a:t>
            </a:r>
            <a:r>
              <a:rPr lang="en-US" altLang="zh-CN" dirty="0"/>
              <a:t>: </a:t>
            </a:r>
            <a:r>
              <a:rPr lang="zh-CN" altLang="en-US" dirty="0">
                <a:solidFill>
                  <a:srgbClr val="0432FF"/>
                </a:solidFill>
              </a:rPr>
              <a:t>状态图</a:t>
            </a:r>
            <a:r>
              <a:rPr lang="en-US" altLang="zh-CN" dirty="0">
                <a:solidFill>
                  <a:srgbClr val="0432FF"/>
                </a:solidFill>
              </a:rPr>
              <a:t>(State diagram)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8364"/>
            <a:ext cx="8229600" cy="1762472"/>
          </a:xfrm>
        </p:spPr>
        <p:txBody>
          <a:bodyPr/>
          <a:lstStyle/>
          <a:p>
            <a:pPr algn="l"/>
            <a:r>
              <a:rPr lang="zh-CN" altLang="en-US" sz="2800" b="0" dirty="0"/>
              <a:t>圆圈表示状态，箭头表示转移方式</a:t>
            </a:r>
            <a:endParaRPr lang="en-US" altLang="zh-CN" sz="2800" b="0" dirty="0"/>
          </a:p>
          <a:p>
            <a:pPr lvl="1"/>
            <a:r>
              <a:rPr lang="zh-CN" altLang="en-US" sz="2400" b="0" dirty="0"/>
              <a:t>摩尔机和米利机的区别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C08C-46FE-3449-B2AE-2BE693AA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87D6A9B-3B4C-B444-BCDA-FB622DD252DA}"/>
              </a:ext>
            </a:extLst>
          </p:cNvPr>
          <p:cNvGrpSpPr/>
          <p:nvPr/>
        </p:nvGrpSpPr>
        <p:grpSpPr>
          <a:xfrm>
            <a:off x="297705" y="2553466"/>
            <a:ext cx="3424174" cy="3010168"/>
            <a:chOff x="271526" y="2429468"/>
            <a:chExt cx="3424174" cy="301016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43BE6B2-26ED-9B44-82C0-CB0D9790A024}"/>
                </a:ext>
              </a:extLst>
            </p:cNvPr>
            <p:cNvSpPr/>
            <p:nvPr/>
          </p:nvSpPr>
          <p:spPr>
            <a:xfrm>
              <a:off x="723900" y="3107865"/>
              <a:ext cx="1028700" cy="692468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tate1/ Output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8359B1D-451A-E341-8E53-100ECD5F0FD7}"/>
                </a:ext>
              </a:extLst>
            </p:cNvPr>
            <p:cNvSpPr/>
            <p:nvPr/>
          </p:nvSpPr>
          <p:spPr>
            <a:xfrm>
              <a:off x="1638300" y="4362796"/>
              <a:ext cx="1028700" cy="692468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tate3/ Output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84AB9F8-4206-6D4F-802E-DAEB653EA1DC}"/>
                </a:ext>
              </a:extLst>
            </p:cNvPr>
            <p:cNvSpPr/>
            <p:nvPr/>
          </p:nvSpPr>
          <p:spPr>
            <a:xfrm>
              <a:off x="2667000" y="3107865"/>
              <a:ext cx="1028700" cy="692468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C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tate2/ Output</a:t>
              </a:r>
            </a:p>
          </p:txBody>
        </p:sp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226A37D4-464F-324E-81E8-C106EA84371A}"/>
                </a:ext>
              </a:extLst>
            </p:cNvPr>
            <p:cNvCxnSpPr>
              <a:cxnSpLocks/>
              <a:stCxn id="4" idx="0"/>
              <a:endCxn id="19" idx="0"/>
            </p:cNvCxnSpPr>
            <p:nvPr/>
          </p:nvCxnSpPr>
          <p:spPr>
            <a:xfrm rot="5400000" flipH="1" flipV="1">
              <a:off x="2209800" y="2136315"/>
              <a:ext cx="12700" cy="1943100"/>
            </a:xfrm>
            <a:prstGeom prst="curvedConnector3">
              <a:avLst>
                <a:gd name="adj1" fmla="val 1800000"/>
              </a:avLst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388F3275-3C59-334E-95CA-52F519A8F11A}"/>
                </a:ext>
              </a:extLst>
            </p:cNvPr>
            <p:cNvCxnSpPr>
              <a:cxnSpLocks/>
              <a:stCxn id="4" idx="4"/>
              <a:endCxn id="18" idx="2"/>
            </p:cNvCxnSpPr>
            <p:nvPr/>
          </p:nvCxnSpPr>
          <p:spPr>
            <a:xfrm rot="16200000" flipH="1">
              <a:off x="983927" y="4054656"/>
              <a:ext cx="908697" cy="400050"/>
            </a:xfrm>
            <a:prstGeom prst="curvedConnector2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08F42181-6460-4B4B-AC12-5C5512B12F7E}"/>
                </a:ext>
              </a:extLst>
            </p:cNvPr>
            <p:cNvCxnSpPr>
              <a:cxnSpLocks/>
              <a:stCxn id="19" idx="5"/>
              <a:endCxn id="18" idx="5"/>
            </p:cNvCxnSpPr>
            <p:nvPr/>
          </p:nvCxnSpPr>
          <p:spPr>
            <a:xfrm rot="5400000">
              <a:off x="2403235" y="3812038"/>
              <a:ext cx="1254931" cy="1028700"/>
            </a:xfrm>
            <a:prstGeom prst="curvedConnector3">
              <a:avLst>
                <a:gd name="adj1" fmla="val 126297"/>
              </a:avLst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42EBB8E0-601C-0643-9AF4-D19C4B047BDF}"/>
                </a:ext>
              </a:extLst>
            </p:cNvPr>
            <p:cNvCxnSpPr>
              <a:cxnSpLocks/>
              <a:stCxn id="19" idx="3"/>
              <a:endCxn id="4" idx="5"/>
            </p:cNvCxnSpPr>
            <p:nvPr/>
          </p:nvCxnSpPr>
          <p:spPr>
            <a:xfrm rot="5400000">
              <a:off x="2209800" y="3091073"/>
              <a:ext cx="12700" cy="1215700"/>
            </a:xfrm>
            <a:prstGeom prst="curvedConnector3">
              <a:avLst>
                <a:gd name="adj1" fmla="val 2598504"/>
              </a:avLst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urved Connector 33">
              <a:extLst>
                <a:ext uri="{FF2B5EF4-FFF2-40B4-BE49-F238E27FC236}">
                  <a16:creationId xmlns:a16="http://schemas.microsoft.com/office/drawing/2014/main" id="{E0511500-92D2-8D48-8B23-11D572E9C40F}"/>
                </a:ext>
              </a:extLst>
            </p:cNvPr>
            <p:cNvCxnSpPr>
              <a:cxnSpLocks/>
              <a:stCxn id="18" idx="3"/>
              <a:endCxn id="18" idx="4"/>
            </p:cNvCxnSpPr>
            <p:nvPr/>
          </p:nvCxnSpPr>
          <p:spPr>
            <a:xfrm rot="16200000" flipH="1">
              <a:off x="1920095" y="4822709"/>
              <a:ext cx="101410" cy="363700"/>
            </a:xfrm>
            <a:prstGeom prst="curvedConnector3">
              <a:avLst>
                <a:gd name="adj1" fmla="val 325422"/>
              </a:avLst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5EFDA6B-69EB-DD48-87C4-F4D7F10074AF}"/>
                </a:ext>
              </a:extLst>
            </p:cNvPr>
            <p:cNvSpPr txBox="1"/>
            <p:nvPr/>
          </p:nvSpPr>
          <p:spPr>
            <a:xfrm>
              <a:off x="1850644" y="2429468"/>
              <a:ext cx="10374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Input: 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31D93E-553E-1244-AF54-BA0FC865211F}"/>
                </a:ext>
              </a:extLst>
            </p:cNvPr>
            <p:cNvSpPr txBox="1"/>
            <p:nvPr/>
          </p:nvSpPr>
          <p:spPr>
            <a:xfrm>
              <a:off x="271526" y="4051853"/>
              <a:ext cx="11095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Input: 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B38BB72-9854-E447-8B7C-F282CBE8BD78}"/>
                </a:ext>
              </a:extLst>
            </p:cNvPr>
            <p:cNvSpPr txBox="1"/>
            <p:nvPr/>
          </p:nvSpPr>
          <p:spPr>
            <a:xfrm>
              <a:off x="2441358" y="3584989"/>
              <a:ext cx="3273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A1ABA80-8633-2547-823A-5B39E62E5A9D}"/>
                </a:ext>
              </a:extLst>
            </p:cNvPr>
            <p:cNvSpPr txBox="1"/>
            <p:nvPr/>
          </p:nvSpPr>
          <p:spPr>
            <a:xfrm>
              <a:off x="3200400" y="4138655"/>
              <a:ext cx="3273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C6340-99CE-BF44-A9EA-3B14C0C19A7A}"/>
                </a:ext>
              </a:extLst>
            </p:cNvPr>
            <p:cNvSpPr txBox="1"/>
            <p:nvPr/>
          </p:nvSpPr>
          <p:spPr>
            <a:xfrm>
              <a:off x="1529129" y="5039526"/>
              <a:ext cx="3273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44" name="Curved Connector 43">
              <a:extLst>
                <a:ext uri="{FF2B5EF4-FFF2-40B4-BE49-F238E27FC236}">
                  <a16:creationId xmlns:a16="http://schemas.microsoft.com/office/drawing/2014/main" id="{17BCACAE-AE46-E145-B0D5-F8516ED51C32}"/>
                </a:ext>
              </a:extLst>
            </p:cNvPr>
            <p:cNvCxnSpPr>
              <a:cxnSpLocks/>
              <a:stCxn id="18" idx="6"/>
              <a:endCxn id="19" idx="4"/>
            </p:cNvCxnSpPr>
            <p:nvPr/>
          </p:nvCxnSpPr>
          <p:spPr>
            <a:xfrm flipV="1">
              <a:off x="2667000" y="3800333"/>
              <a:ext cx="514350" cy="908697"/>
            </a:xfrm>
            <a:prstGeom prst="curvedConnector2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4A35B91-72C3-6441-896E-968D86795E36}"/>
                </a:ext>
              </a:extLst>
            </p:cNvPr>
            <p:cNvSpPr txBox="1"/>
            <p:nvPr/>
          </p:nvSpPr>
          <p:spPr>
            <a:xfrm>
              <a:off x="2776171" y="4086716"/>
              <a:ext cx="3273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F65E22F-E1E5-2446-9A8A-98C5951F25F6}"/>
              </a:ext>
            </a:extLst>
          </p:cNvPr>
          <p:cNvGrpSpPr/>
          <p:nvPr/>
        </p:nvGrpSpPr>
        <p:grpSpPr>
          <a:xfrm>
            <a:off x="4366482" y="2548160"/>
            <a:ext cx="4422697" cy="2986687"/>
            <a:chOff x="4340303" y="2572464"/>
            <a:chExt cx="4422697" cy="2986687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54AB40F-9639-6F4E-AB6F-CFAFDBC274EB}"/>
                </a:ext>
              </a:extLst>
            </p:cNvPr>
            <p:cNvSpPr/>
            <p:nvPr/>
          </p:nvSpPr>
          <p:spPr>
            <a:xfrm>
              <a:off x="5531020" y="3253910"/>
              <a:ext cx="1028700" cy="389513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tate1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2BDF0E4-C634-9F4E-8C24-7A7167E1DCB6}"/>
                </a:ext>
              </a:extLst>
            </p:cNvPr>
            <p:cNvSpPr/>
            <p:nvPr/>
          </p:nvSpPr>
          <p:spPr>
            <a:xfrm>
              <a:off x="6445420" y="4720952"/>
              <a:ext cx="1028700" cy="389513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tate3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240579B-D0EA-5343-B554-F4BE52307005}"/>
                </a:ext>
              </a:extLst>
            </p:cNvPr>
            <p:cNvSpPr/>
            <p:nvPr/>
          </p:nvSpPr>
          <p:spPr>
            <a:xfrm>
              <a:off x="7474120" y="3253910"/>
              <a:ext cx="1028700" cy="389513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tate2</a:t>
              </a:r>
            </a:p>
          </p:txBody>
        </p: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E6B89502-1FF1-0844-A071-F1F0C44D153C}"/>
                </a:ext>
              </a:extLst>
            </p:cNvPr>
            <p:cNvCxnSpPr>
              <a:cxnSpLocks/>
              <a:stCxn id="60" idx="0"/>
              <a:endCxn id="62" idx="0"/>
            </p:cNvCxnSpPr>
            <p:nvPr/>
          </p:nvCxnSpPr>
          <p:spPr>
            <a:xfrm rot="5400000" flipH="1" flipV="1">
              <a:off x="7016920" y="2282360"/>
              <a:ext cx="12700" cy="1943100"/>
            </a:xfrm>
            <a:prstGeom prst="curvedConnector3">
              <a:avLst>
                <a:gd name="adj1" fmla="val 1800000"/>
              </a:avLst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urved Connector 63">
              <a:extLst>
                <a:ext uri="{FF2B5EF4-FFF2-40B4-BE49-F238E27FC236}">
                  <a16:creationId xmlns:a16="http://schemas.microsoft.com/office/drawing/2014/main" id="{9F3C9507-9FC1-524A-BB64-091C20EC20A1}"/>
                </a:ext>
              </a:extLst>
            </p:cNvPr>
            <p:cNvCxnSpPr>
              <a:cxnSpLocks/>
              <a:stCxn id="60" idx="4"/>
              <a:endCxn id="61" idx="2"/>
            </p:cNvCxnSpPr>
            <p:nvPr/>
          </p:nvCxnSpPr>
          <p:spPr>
            <a:xfrm rot="16200000" flipH="1">
              <a:off x="5609252" y="4079541"/>
              <a:ext cx="1272286" cy="400050"/>
            </a:xfrm>
            <a:prstGeom prst="curvedConnector2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urved Connector 64">
              <a:extLst>
                <a:ext uri="{FF2B5EF4-FFF2-40B4-BE49-F238E27FC236}">
                  <a16:creationId xmlns:a16="http://schemas.microsoft.com/office/drawing/2014/main" id="{9BC5802C-FE4C-1B47-AEE1-E95545B5E0E2}"/>
                </a:ext>
              </a:extLst>
            </p:cNvPr>
            <p:cNvCxnSpPr>
              <a:cxnSpLocks/>
              <a:stCxn id="62" idx="5"/>
              <a:endCxn id="61" idx="5"/>
            </p:cNvCxnSpPr>
            <p:nvPr/>
          </p:nvCxnSpPr>
          <p:spPr>
            <a:xfrm rot="5400000">
              <a:off x="7104299" y="3805551"/>
              <a:ext cx="1467042" cy="1028700"/>
            </a:xfrm>
            <a:prstGeom prst="curvedConnector3">
              <a:avLst>
                <a:gd name="adj1" fmla="val 119471"/>
              </a:avLst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Curved Connector 65">
              <a:extLst>
                <a:ext uri="{FF2B5EF4-FFF2-40B4-BE49-F238E27FC236}">
                  <a16:creationId xmlns:a16="http://schemas.microsoft.com/office/drawing/2014/main" id="{E97D679F-F5AD-774E-B32F-718CDA71FD8D}"/>
                </a:ext>
              </a:extLst>
            </p:cNvPr>
            <p:cNvCxnSpPr>
              <a:cxnSpLocks/>
              <a:stCxn id="62" idx="3"/>
              <a:endCxn id="60" idx="5"/>
            </p:cNvCxnSpPr>
            <p:nvPr/>
          </p:nvCxnSpPr>
          <p:spPr>
            <a:xfrm rot="5400000">
              <a:off x="7016920" y="2978530"/>
              <a:ext cx="12700" cy="1215700"/>
            </a:xfrm>
            <a:prstGeom prst="curvedConnector3">
              <a:avLst>
                <a:gd name="adj1" fmla="val 2249157"/>
              </a:avLst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urved Connector 66">
              <a:extLst>
                <a:ext uri="{FF2B5EF4-FFF2-40B4-BE49-F238E27FC236}">
                  <a16:creationId xmlns:a16="http://schemas.microsoft.com/office/drawing/2014/main" id="{F44A1925-B999-B942-9DFE-5B94BD49E543}"/>
                </a:ext>
              </a:extLst>
            </p:cNvPr>
            <p:cNvCxnSpPr>
              <a:cxnSpLocks/>
              <a:stCxn id="61" idx="3"/>
              <a:endCxn id="61" idx="4"/>
            </p:cNvCxnSpPr>
            <p:nvPr/>
          </p:nvCxnSpPr>
          <p:spPr>
            <a:xfrm rot="16200000" flipH="1">
              <a:off x="6749399" y="4900093"/>
              <a:ext cx="57043" cy="363700"/>
            </a:xfrm>
            <a:prstGeom prst="curvedConnector3">
              <a:avLst>
                <a:gd name="adj1" fmla="val 500750"/>
              </a:avLst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25F2280-95E2-7544-AEB2-DA5CDDE1B7A9}"/>
                </a:ext>
              </a:extLst>
            </p:cNvPr>
            <p:cNvSpPr txBox="1"/>
            <p:nvPr/>
          </p:nvSpPr>
          <p:spPr>
            <a:xfrm>
              <a:off x="6035650" y="2572464"/>
              <a:ext cx="20329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CN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B7874DB-F8B1-6248-808E-6D4C2EB48831}"/>
                </a:ext>
              </a:extLst>
            </p:cNvPr>
            <p:cNvSpPr txBox="1"/>
            <p:nvPr/>
          </p:nvSpPr>
          <p:spPr>
            <a:xfrm>
              <a:off x="4340303" y="3871785"/>
              <a:ext cx="17986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N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CN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14CD334-DE60-6C49-BB7E-01FEA660B775}"/>
                </a:ext>
              </a:extLst>
            </p:cNvPr>
            <p:cNvSpPr txBox="1"/>
            <p:nvPr/>
          </p:nvSpPr>
          <p:spPr>
            <a:xfrm>
              <a:off x="6784161" y="3465147"/>
              <a:ext cx="5582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4B73759-1560-1146-8643-FDED12311299}"/>
                </a:ext>
              </a:extLst>
            </p:cNvPr>
            <p:cNvSpPr txBox="1"/>
            <p:nvPr/>
          </p:nvSpPr>
          <p:spPr>
            <a:xfrm>
              <a:off x="8222466" y="4133223"/>
              <a:ext cx="540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FBFC1A5-2ACF-5B42-8BF7-F9FA9AE2478F}"/>
                </a:ext>
              </a:extLst>
            </p:cNvPr>
            <p:cNvSpPr txBox="1"/>
            <p:nvPr/>
          </p:nvSpPr>
          <p:spPr>
            <a:xfrm>
              <a:off x="6175153" y="5159041"/>
              <a:ext cx="540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73" name="Curved Connector 72">
              <a:extLst>
                <a:ext uri="{FF2B5EF4-FFF2-40B4-BE49-F238E27FC236}">
                  <a16:creationId xmlns:a16="http://schemas.microsoft.com/office/drawing/2014/main" id="{3677FD1A-763D-8D4F-BA86-7804F7562ECC}"/>
                </a:ext>
              </a:extLst>
            </p:cNvPr>
            <p:cNvCxnSpPr>
              <a:cxnSpLocks/>
              <a:stCxn id="61" idx="6"/>
              <a:endCxn id="62" idx="4"/>
            </p:cNvCxnSpPr>
            <p:nvPr/>
          </p:nvCxnSpPr>
          <p:spPr>
            <a:xfrm flipV="1">
              <a:off x="7474120" y="3643423"/>
              <a:ext cx="514350" cy="1272286"/>
            </a:xfrm>
            <a:prstGeom prst="curvedConnector2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5BD9FB2-DB49-FB48-BCB6-DD01076FFDE0}"/>
                </a:ext>
              </a:extLst>
            </p:cNvPr>
            <p:cNvSpPr txBox="1"/>
            <p:nvPr/>
          </p:nvSpPr>
          <p:spPr>
            <a:xfrm>
              <a:off x="7384266" y="4081284"/>
              <a:ext cx="540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CN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79" name="Text Box 17">
            <a:extLst>
              <a:ext uri="{FF2B5EF4-FFF2-40B4-BE49-F238E27FC236}">
                <a16:creationId xmlns:a16="http://schemas.microsoft.com/office/drawing/2014/main" id="{F2BAC681-B126-3646-BB19-CB840F68C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7558" y="5540514"/>
            <a:ext cx="3783821" cy="70788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Mealy example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(1-b input, 1-b output, 3-state)</a:t>
            </a:r>
          </a:p>
        </p:txBody>
      </p:sp>
      <p:sp>
        <p:nvSpPr>
          <p:cNvPr id="80" name="Text Box 17">
            <a:extLst>
              <a:ext uri="{FF2B5EF4-FFF2-40B4-BE49-F238E27FC236}">
                <a16:creationId xmlns:a16="http://schemas.microsoft.com/office/drawing/2014/main" id="{7728A8C8-4E68-7441-B1A1-0E4292ED2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934" y="5553298"/>
            <a:ext cx="3001789" cy="70788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Moore example</a:t>
            </a:r>
          </a:p>
          <a:p>
            <a:pPr algn="ctr"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(1-b input, 3-state)</a:t>
            </a:r>
          </a:p>
        </p:txBody>
      </p:sp>
    </p:spTree>
    <p:extLst>
      <p:ext uri="{BB962C8B-B14F-4D97-AF65-F5344CB8AC3E}">
        <p14:creationId xmlns:p14="http://schemas.microsoft.com/office/powerpoint/2010/main" val="122182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A8C7475-80FF-4BA7-B29C-A062A61BA7C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087" y="331120"/>
            <a:ext cx="7896225" cy="190447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type of state machine are the left and right images?</a:t>
            </a:r>
            <a:endParaRPr lang="zh-CN" altLang="en-US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C644C7-5380-4A95-BA90-33ADCB92A4A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93800" y="218797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Moore, Mealy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57851E-9AAD-424A-8B6F-97BFD4A6208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93800" y="304522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Moore, Moore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EB5BF3-1843-4664-868E-DEEDD29974D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93800" y="390247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Mealy, Moore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BF71A0-F1C4-402E-B58F-73B37013587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3800" y="475972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Mealy, Mealy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CD8BD9D-3AE7-4029-A896-1310ED377D3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79425" y="225226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554E69B-3517-4642-BA0B-22BC8D848C8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79425" y="310951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4A59F27-5DAC-4155-918D-4C82E68D3D2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479425" y="396676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293A7CC-8304-436B-BBA7-F623009EBA9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479425" y="482401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4916774-7587-BF47-B4B5-BE3E51040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988" y="1320006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图中状态图表示哪种有限状态机？</a:t>
            </a:r>
            <a:endParaRPr lang="en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" name="图片 1">
            <a:extLst>
              <a:ext uri="{FF2B5EF4-FFF2-40B4-BE49-F238E27FC236}">
                <a16:creationId xmlns:a16="http://schemas.microsoft.com/office/drawing/2014/main" id="{60CA4034-C66D-9041-A0C6-3AF69EB0350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25909" y="2642745"/>
            <a:ext cx="1398044" cy="2634168"/>
          </a:xfrm>
          <a:prstGeom prst="rect">
            <a:avLst/>
          </a:prstGeom>
        </p:spPr>
      </p:pic>
      <p:pic>
        <p:nvPicPr>
          <p:cNvPr id="31" name="图片 2">
            <a:extLst>
              <a:ext uri="{FF2B5EF4-FFF2-40B4-BE49-F238E27FC236}">
                <a16:creationId xmlns:a16="http://schemas.microsoft.com/office/drawing/2014/main" id="{870B41E1-CB73-8943-81C6-024D15D17DF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7218" y="2175951"/>
            <a:ext cx="2035027" cy="3386649"/>
          </a:xfrm>
          <a:prstGeom prst="rect">
            <a:avLst/>
          </a:prstGeom>
        </p:spPr>
      </p:pic>
      <p:sp>
        <p:nvSpPr>
          <p:cNvPr id="4" name="Rounded Rectangle 3"/>
          <p:cNvSpPr/>
          <p:nvPr>
            <p:custDataLst>
              <p:tags r:id="rId11"/>
            </p:custDataLst>
          </p:nvPr>
        </p:nvSpPr>
        <p:spPr>
          <a:xfrm>
            <a:off x="6172200" y="5944871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  <a:sym typeface="Microsoft Yahei" panose="020B0503020204020204" pitchFamily="34" charset="-122"/>
              </a:rPr>
              <a:t>提交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  <a:sym typeface="Microsoft Yahei" panose="020B0503020204020204" pitchFamily="34" charset="-122"/>
            </a:endParaRPr>
          </a:p>
        </p:txBody>
      </p:sp>
      <p:sp>
        <p:nvSpPr>
          <p:cNvPr id="20" name="Rectangle 19" hidden="1"/>
          <p:cNvSpPr/>
          <p:nvPr>
            <p:custDataLst>
              <p:tags r:id="rId1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5" name="Group 24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1" name="RemarkBack" hidden="1"/>
            <p:cNvSpPr/>
            <p:nvPr>
              <p:custDataLst>
                <p:tags r:id="rId21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markBlock" hidden="1"/>
            <p:cNvSpPr/>
            <p:nvPr>
              <p:custDataLst>
                <p:tags r:id="rId22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markTitleText" hidden="1"/>
            <p:cNvSpPr txBox="1"/>
            <p:nvPr>
              <p:custDataLst>
                <p:tags r:id="rId23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6" name="Group 15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26F4A429-2E58-4CFF-BC97-CB3EA65D423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2DD4EA30-61E4-438E-BF44-DF1005E3560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93C277A0-9F06-455B-A0AD-CD9BB7AB6948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2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Picture 4"/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EDC7A5A-C6CA-4E3B-81C7-782D245D8AE0}"/>
                  </a:ext>
                </a:extLst>
              </p14:cNvPr>
              <p14:cNvContentPartPr/>
              <p14:nvPr/>
            </p14:nvContentPartPr>
            <p14:xfrm>
              <a:off x="6177960" y="4496400"/>
              <a:ext cx="360" cy="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EDC7A5A-C6CA-4E3B-81C7-782D245D8AE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68600" y="44870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38469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B6570-7ABD-4C43-82D4-3D11EAD4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答案解析</a:t>
            </a:r>
          </a:p>
        </p:txBody>
      </p:sp>
      <p:sp>
        <p:nvSpPr>
          <p:cNvPr id="34" name="内容占位符 2"/>
          <p:cNvSpPr>
            <a:spLocks noGrp="1"/>
          </p:cNvSpPr>
          <p:nvPr>
            <p:ph idx="1"/>
          </p:nvPr>
        </p:nvSpPr>
        <p:spPr>
          <a:xfrm>
            <a:off x="533400" y="1402798"/>
            <a:ext cx="8077200" cy="2102402"/>
          </a:xfrm>
        </p:spPr>
        <p:txBody>
          <a:bodyPr/>
          <a:lstStyle/>
          <a:p>
            <a:r>
              <a:rPr lang="zh-CN" altLang="en-US" sz="2400" b="0" dirty="0">
                <a:latin typeface="+mn-ea"/>
                <a:ea typeface="+mn-ea"/>
              </a:rPr>
              <a:t>图</a:t>
            </a:r>
            <a:r>
              <a:rPr lang="zh-CN" altLang="en-MY" sz="2400" b="0" dirty="0">
                <a:latin typeface="+mn-ea"/>
                <a:ea typeface="+mn-ea"/>
              </a:rPr>
              <a:t>中</a:t>
            </a:r>
            <a:r>
              <a:rPr lang="zh-CN" altLang="en-US" sz="2400" b="0" dirty="0">
                <a:latin typeface="+mn-ea"/>
                <a:ea typeface="+mn-ea"/>
              </a:rPr>
              <a:t>状态图表示哪种有限状态机？</a:t>
            </a:r>
            <a:endParaRPr lang="en-MY" altLang="zh-CN" sz="2400" b="0" dirty="0">
              <a:latin typeface="+mn-ea"/>
              <a:ea typeface="+mn-ea"/>
            </a:endParaRPr>
          </a:p>
          <a:p>
            <a:pPr lvl="1"/>
            <a:r>
              <a:rPr lang="en-US" altLang="zh-CN" sz="2000" b="0" dirty="0">
                <a:solidFill>
                  <a:srgbClr val="3333FF"/>
                </a:solidFill>
                <a:ea typeface="+mn-ea"/>
              </a:rPr>
              <a:t>A.</a:t>
            </a:r>
            <a:r>
              <a:rPr lang="zh-CN" altLang="en-US" sz="2000" b="0" dirty="0">
                <a:solidFill>
                  <a:srgbClr val="3333FF"/>
                </a:solidFill>
                <a:ea typeface="+mn-ea"/>
              </a:rPr>
              <a:t> </a:t>
            </a:r>
            <a:r>
              <a:rPr lang="en-US" altLang="zh-CN" sz="2000" b="0" dirty="0">
                <a:solidFill>
                  <a:srgbClr val="3333FF"/>
                </a:solidFill>
                <a:ea typeface="+mn-ea"/>
              </a:rPr>
              <a:t>Moore, Mealy</a:t>
            </a:r>
          </a:p>
          <a:p>
            <a:pPr lvl="1"/>
            <a:r>
              <a:rPr lang="en-US" altLang="zh-CN" sz="2000" b="0" dirty="0">
                <a:ea typeface="+mn-ea"/>
              </a:rPr>
              <a:t>B. Moore, Moore</a:t>
            </a:r>
          </a:p>
          <a:p>
            <a:pPr lvl="1"/>
            <a:r>
              <a:rPr lang="en-US" altLang="zh-CN" sz="2000" b="0" dirty="0">
                <a:ea typeface="+mn-ea"/>
              </a:rPr>
              <a:t>C. Mealy, Moore</a:t>
            </a:r>
          </a:p>
          <a:p>
            <a:pPr lvl="1"/>
            <a:r>
              <a:rPr lang="en-US" altLang="zh-CN" sz="2000" b="0" dirty="0">
                <a:ea typeface="+mn-ea"/>
              </a:rPr>
              <a:t>D. Mealy, Mealy</a:t>
            </a:r>
          </a:p>
          <a:p>
            <a:pPr lvl="1"/>
            <a:endParaRPr lang="zh-CN" altLang="en-US" sz="2000" b="0" dirty="0"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D690F-7B32-9A4A-B6CF-66245B1C7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AE757C3A-F27B-CC4A-A719-525ABADD4D0F}"/>
              </a:ext>
            </a:extLst>
          </p:cNvPr>
          <p:cNvSpPr txBox="1">
            <a:spLocks/>
          </p:cNvSpPr>
          <p:nvPr/>
        </p:nvSpPr>
        <p:spPr bwMode="auto">
          <a:xfrm>
            <a:off x="533400" y="3796179"/>
            <a:ext cx="6858000" cy="281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kern="0" dirty="0">
                <a:solidFill>
                  <a:srgbClr val="3333FF"/>
                </a:solidFill>
                <a:latin typeface="+mn-ea"/>
                <a:ea typeface="+mn-ea"/>
              </a:rPr>
              <a:t>解答：</a:t>
            </a:r>
            <a:r>
              <a:rPr lang="en-US" altLang="zh-CN" sz="2400" kern="0" dirty="0">
                <a:solidFill>
                  <a:srgbClr val="3333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A. </a:t>
            </a:r>
            <a:r>
              <a:rPr lang="en-US" altLang="zh-CN" sz="2400" dirty="0">
                <a:solidFill>
                  <a:srgbClr val="3333FF"/>
                </a:solidFill>
                <a:ea typeface="+mn-ea"/>
              </a:rPr>
              <a:t>Moore, Mealy</a:t>
            </a:r>
            <a:endParaRPr lang="en-US" altLang="zh-CN" sz="2400" kern="0" dirty="0">
              <a:solidFill>
                <a:srgbClr val="3333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核心区别：输出规则</a:t>
            </a:r>
            <a:endParaRPr lang="en-MY" altLang="zh-CN" sz="2000" b="0" kern="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状态转移图用圆圈以及圆圈中的符号表示不同状态；</a:t>
            </a:r>
            <a:r>
              <a:rPr lang="zh-CN" altLang="en-MY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用箭头</a:t>
            </a:r>
            <a:r>
              <a:rPr lang="zh-CN" altLang="en-US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以及箭头边上的输入符号表示状态转移的方式</a:t>
            </a:r>
            <a:endParaRPr lang="en-MY" altLang="zh-CN" sz="2000" b="0" kern="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Moore</a:t>
            </a:r>
            <a:r>
              <a:rPr lang="zh-CN" altLang="en-US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：将输出和状态一起</a:t>
            </a:r>
            <a:r>
              <a:rPr lang="zh-CN" altLang="en-MY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标</a:t>
            </a:r>
            <a:r>
              <a:rPr lang="zh-CN" altLang="en-US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在圈内</a:t>
            </a:r>
            <a:endParaRPr lang="en-MY" altLang="zh-CN" sz="2000" b="0" kern="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Mealy</a:t>
            </a:r>
            <a:r>
              <a:rPr lang="zh-CN" altLang="en-US" sz="2000" b="0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：将输出标在状态转移的箭头上</a:t>
            </a:r>
            <a:endParaRPr lang="en-US" altLang="zh-CN" sz="2000" b="0" kern="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endParaRPr lang="zh-CN" altLang="en-US" sz="2000" b="0" kern="0" dirty="0">
              <a:ea typeface="+mn-ea"/>
            </a:endParaRPr>
          </a:p>
        </p:txBody>
      </p:sp>
      <p:pic>
        <p:nvPicPr>
          <p:cNvPr id="11" name="图片 1">
            <a:extLst>
              <a:ext uri="{FF2B5EF4-FFF2-40B4-BE49-F238E27FC236}">
                <a16:creationId xmlns:a16="http://schemas.microsoft.com/office/drawing/2014/main" id="{0151A452-F5EB-6E4D-80E8-E5E74698A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885590"/>
            <a:ext cx="1371600" cy="2584343"/>
          </a:xfrm>
          <a:prstGeom prst="rect">
            <a:avLst/>
          </a:prstGeom>
        </p:spPr>
      </p:pic>
      <p:pic>
        <p:nvPicPr>
          <p:cNvPr id="12" name="图片 2">
            <a:extLst>
              <a:ext uri="{FF2B5EF4-FFF2-40B4-BE49-F238E27FC236}">
                <a16:creationId xmlns:a16="http://schemas.microsoft.com/office/drawing/2014/main" id="{6E36251D-D776-7949-B1B5-FBC85E6BE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748" y="1560819"/>
            <a:ext cx="2133600" cy="355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55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7293-1991-3841-8A43-7E7FF73B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MY" dirty="0"/>
              <a:t>本节课</a:t>
            </a:r>
            <a:r>
              <a:rPr lang="zh-CN" altLang="en-US" dirty="0"/>
              <a:t>目录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E386F-E21B-ED43-89C5-72405F96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076CC845-AF57-7548-B325-1E2DF0D79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kumimoji="1" lang="zh-CN" altLang="en-MY" b="0" dirty="0"/>
              <a:t>概念</a:t>
            </a:r>
            <a:r>
              <a:rPr kumimoji="1" lang="zh-CN" altLang="en-US" b="0" dirty="0"/>
              <a:t>：时钟，状态和</a:t>
            </a:r>
            <a:r>
              <a:rPr kumimoji="1" lang="en-US" altLang="zh-CN" b="0" dirty="0"/>
              <a:t>FSM</a:t>
            </a:r>
          </a:p>
          <a:p>
            <a:r>
              <a:rPr kumimoji="1" lang="zh-CN" altLang="en-US" b="0" dirty="0">
                <a:solidFill>
                  <a:srgbClr val="3333FF"/>
                </a:solidFill>
              </a:rPr>
              <a:t>时序逻辑电路：锁存器</a:t>
            </a:r>
            <a:endParaRPr kumimoji="1" lang="en-MY" altLang="zh-CN" b="0" dirty="0">
              <a:solidFill>
                <a:srgbClr val="3333FF"/>
              </a:solidFill>
            </a:endParaRPr>
          </a:p>
          <a:p>
            <a:r>
              <a:rPr kumimoji="1" lang="zh-CN" altLang="en-US" b="0" dirty="0"/>
              <a:t>时序逻辑电路：</a:t>
            </a:r>
            <a:r>
              <a:rPr kumimoji="1" lang="en-US" altLang="zh-CN" b="0" dirty="0"/>
              <a:t>DFF</a:t>
            </a:r>
          </a:p>
          <a:p>
            <a:r>
              <a:rPr kumimoji="1" lang="zh-CN" altLang="en-US" b="0" dirty="0"/>
              <a:t>分析，设计，举例</a:t>
            </a:r>
          </a:p>
        </p:txBody>
      </p:sp>
    </p:spTree>
    <p:extLst>
      <p:ext uri="{BB962C8B-B14F-4D97-AF65-F5344CB8AC3E}">
        <p14:creationId xmlns:p14="http://schemas.microsoft.com/office/powerpoint/2010/main" val="2568089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存储</a:t>
            </a:r>
            <a:r>
              <a:rPr lang="en-US" altLang="zh-CN" dirty="0"/>
              <a:t>1bit</a:t>
            </a:r>
            <a:r>
              <a:rPr lang="zh-CN" altLang="en-US" dirty="0"/>
              <a:t>状态的双稳态单元</a:t>
            </a:r>
            <a:endParaRPr lang="en-US" altLang="zh-CN" dirty="0"/>
          </a:p>
        </p:txBody>
      </p:sp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B3AED7D1-1763-A349-9826-5BB294D258E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519477"/>
              </p:ext>
            </p:extLst>
          </p:nvPr>
        </p:nvGraphicFramePr>
        <p:xfrm>
          <a:off x="7272338" y="2705754"/>
          <a:ext cx="17954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4" imgW="1104840" imgH="228600" progId="">
                  <p:embed/>
                </p:oleObj>
              </mc:Choice>
              <mc:Fallback>
                <p:oleObj name="Equation" r:id="rId4" imgW="1104840" imgH="228600" progId="">
                  <p:embed/>
                  <p:pic>
                    <p:nvPicPr>
                      <p:cNvPr id="436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2705754"/>
                        <a:ext cx="1795462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03563-7D24-3742-B245-9EEF9E43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36229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825182962"/>
              </p:ext>
            </p:extLst>
          </p:nvPr>
        </p:nvGraphicFramePr>
        <p:xfrm>
          <a:off x="50403" y="1856407"/>
          <a:ext cx="16986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6" imgW="1091880" imgH="203040" progId="">
                  <p:embed/>
                </p:oleObj>
              </mc:Choice>
              <mc:Fallback>
                <p:oleObj name="Equation" r:id="rId6" imgW="1091880" imgH="203040" progId="">
                  <p:embed/>
                  <p:pic>
                    <p:nvPicPr>
                      <p:cNvPr id="436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" y="1856407"/>
                        <a:ext cx="169862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0" name="Object 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34720810"/>
              </p:ext>
            </p:extLst>
          </p:nvPr>
        </p:nvGraphicFramePr>
        <p:xfrm>
          <a:off x="18504" y="2637491"/>
          <a:ext cx="16906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8" imgW="1079280" imgH="228600" progId="">
                  <p:embed/>
                </p:oleObj>
              </mc:Choice>
              <mc:Fallback>
                <p:oleObj name="Equation" r:id="rId8" imgW="1079280" imgH="228600" progId="">
                  <p:embed/>
                  <p:pic>
                    <p:nvPicPr>
                      <p:cNvPr id="4362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4" y="2637491"/>
                        <a:ext cx="1690688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37" name="Text Box 13"/>
          <p:cNvSpPr txBox="1">
            <a:spLocks noChangeArrowheads="1"/>
          </p:cNvSpPr>
          <p:nvPr/>
        </p:nvSpPr>
        <p:spPr bwMode="auto">
          <a:xfrm>
            <a:off x="6514230" y="1302047"/>
            <a:ext cx="2716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436238" name="Text Box 14"/>
          <p:cNvSpPr txBox="1">
            <a:spLocks noChangeArrowheads="1"/>
          </p:cNvSpPr>
          <p:nvPr/>
        </p:nvSpPr>
        <p:spPr bwMode="auto">
          <a:xfrm>
            <a:off x="6488541" y="2985123"/>
            <a:ext cx="2716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436239" name="Text Box 15"/>
          <p:cNvSpPr txBox="1">
            <a:spLocks noChangeArrowheads="1"/>
          </p:cNvSpPr>
          <p:nvPr/>
        </p:nvSpPr>
        <p:spPr bwMode="auto">
          <a:xfrm>
            <a:off x="4977385" y="1332211"/>
            <a:ext cx="2716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436240" name="Text Box 16"/>
          <p:cNvSpPr txBox="1">
            <a:spLocks noChangeArrowheads="1"/>
          </p:cNvSpPr>
          <p:nvPr/>
        </p:nvSpPr>
        <p:spPr bwMode="auto">
          <a:xfrm>
            <a:off x="4971501" y="2969682"/>
            <a:ext cx="2716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4" name="Text Box 17">
            <a:extLst>
              <a:ext uri="{FF2B5EF4-FFF2-40B4-BE49-F238E27FC236}">
                <a16:creationId xmlns:a16="http://schemas.microsoft.com/office/drawing/2014/main" id="{6E97DC85-3E73-2E40-B4F0-49947E873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6054" y="3591580"/>
            <a:ext cx="5452946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  <a:latin typeface="+mn-ea"/>
                <a:ea typeface="+mn-ea"/>
                <a:cs typeface="Arial" panose="020B0604020202020204" pitchFamily="34" charset="0"/>
              </a:rPr>
              <a:t>为什么叫双稳态单元？</a:t>
            </a:r>
            <a:endParaRPr lang="en-US" altLang="zh-CN" sz="2800" b="1" dirty="0">
              <a:solidFill>
                <a:srgbClr val="3333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0" name="Object 7">
            <a:extLst>
              <a:ext uri="{FF2B5EF4-FFF2-40B4-BE49-F238E27FC236}">
                <a16:creationId xmlns:a16="http://schemas.microsoft.com/office/drawing/2014/main" id="{3909021B-B0F5-4E2D-814E-CE54BBB52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010568"/>
              </p:ext>
            </p:extLst>
          </p:nvPr>
        </p:nvGraphicFramePr>
        <p:xfrm>
          <a:off x="4724400" y="1330641"/>
          <a:ext cx="2606675" cy="247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Visio" r:id="rId10" imgW="1495191" imgH="1467364" progId="Visio.Drawing.11">
                  <p:embed/>
                </p:oleObj>
              </mc:Choice>
              <mc:Fallback>
                <p:oleObj name="Visio" r:id="rId10" imgW="1495191" imgH="1467364" progId="Visio.Drawing.11">
                  <p:embed/>
                  <p:pic>
                    <p:nvPicPr>
                      <p:cNvPr id="20" name="Object 7">
                        <a:extLst>
                          <a:ext uri="{FF2B5EF4-FFF2-40B4-BE49-F238E27FC236}">
                            <a16:creationId xmlns:a16="http://schemas.microsoft.com/office/drawing/2014/main" id="{3909021B-B0F5-4E2D-814E-CE54BBB52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330641"/>
                        <a:ext cx="2606675" cy="247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C33072B6-29D8-2B4E-9BA5-9F4BB64D1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754424"/>
              </p:ext>
            </p:extLst>
          </p:nvPr>
        </p:nvGraphicFramePr>
        <p:xfrm>
          <a:off x="7298196" y="1889924"/>
          <a:ext cx="16906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12" imgW="1066680" imgH="203040" progId="">
                  <p:embed/>
                </p:oleObj>
              </mc:Choice>
              <mc:Fallback>
                <p:oleObj name="Equation" r:id="rId12" imgW="1066680" imgH="203040" progId="">
                  <p:embed/>
                  <p:pic>
                    <p:nvPicPr>
                      <p:cNvPr id="4362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8196" y="1889924"/>
                        <a:ext cx="1690688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E71CAF06-5FDF-2A45-805E-B94B5D565A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586515"/>
              </p:ext>
            </p:extLst>
          </p:nvPr>
        </p:nvGraphicFramePr>
        <p:xfrm>
          <a:off x="1736725" y="1330641"/>
          <a:ext cx="2606675" cy="247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Visio" r:id="rId14" imgW="1495191" imgH="1467364" progId="Visio.Drawing.11">
                  <p:embed/>
                </p:oleObj>
              </mc:Choice>
              <mc:Fallback>
                <p:oleObj name="Visio" r:id="rId14" imgW="1495191" imgH="1467364" progId="Visio.Drawing.11">
                  <p:embed/>
                  <p:pic>
                    <p:nvPicPr>
                      <p:cNvPr id="1331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1330641"/>
                        <a:ext cx="2606675" cy="247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9">
            <a:extLst>
              <a:ext uri="{FF2B5EF4-FFF2-40B4-BE49-F238E27FC236}">
                <a16:creationId xmlns:a16="http://schemas.microsoft.com/office/drawing/2014/main" id="{F4A2D2C1-FB37-5D4E-9648-5599ECCEE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7179" y="1378247"/>
            <a:ext cx="2716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907664BA-BC85-1B42-B63A-87CDD3C2D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1490" y="3043535"/>
            <a:ext cx="2716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7" name="Text Box 11">
            <a:extLst>
              <a:ext uri="{FF2B5EF4-FFF2-40B4-BE49-F238E27FC236}">
                <a16:creationId xmlns:a16="http://schemas.microsoft.com/office/drawing/2014/main" id="{EFF2E175-EBC5-4848-82C9-1F8FF3627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334" y="1408408"/>
            <a:ext cx="2716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8" name="Text Box 12">
            <a:extLst>
              <a:ext uri="{FF2B5EF4-FFF2-40B4-BE49-F238E27FC236}">
                <a16:creationId xmlns:a16="http://schemas.microsoft.com/office/drawing/2014/main" id="{CEB53265-C8ED-0543-BEDE-2445FFC3E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450" y="3028097"/>
            <a:ext cx="27160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B4DEB291-1F15-E84F-A437-512AF70530F5}"/>
              </a:ext>
            </a:extLst>
          </p:cNvPr>
          <p:cNvSpPr/>
          <p:nvPr/>
        </p:nvSpPr>
        <p:spPr>
          <a:xfrm>
            <a:off x="4191000" y="2142332"/>
            <a:ext cx="600472" cy="37147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/>
            <a:endParaRPr lang="en-CN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143584-0423-9545-A30A-AD853008EBB5}"/>
              </a:ext>
            </a:extLst>
          </p:cNvPr>
          <p:cNvCxnSpPr>
            <a:cxnSpLocks/>
          </p:cNvCxnSpPr>
          <p:nvPr/>
        </p:nvCxnSpPr>
        <p:spPr>
          <a:xfrm>
            <a:off x="3437889" y="6384595"/>
            <a:ext cx="2299845" cy="0"/>
          </a:xfrm>
          <a:prstGeom prst="straightConnector1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02D4F9-794F-5E44-AFE5-2997830EB624}"/>
              </a:ext>
            </a:extLst>
          </p:cNvPr>
          <p:cNvCxnSpPr>
            <a:cxnSpLocks/>
          </p:cNvCxnSpPr>
          <p:nvPr/>
        </p:nvCxnSpPr>
        <p:spPr>
          <a:xfrm flipV="1">
            <a:off x="3437889" y="4306010"/>
            <a:ext cx="0" cy="2078585"/>
          </a:xfrm>
          <a:prstGeom prst="straightConnector1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reeform 9">
            <a:extLst>
              <a:ext uri="{FF2B5EF4-FFF2-40B4-BE49-F238E27FC236}">
                <a16:creationId xmlns:a16="http://schemas.microsoft.com/office/drawing/2014/main" id="{38A390A4-AB81-774B-B365-3427674C59D2}"/>
              </a:ext>
            </a:extLst>
          </p:cNvPr>
          <p:cNvSpPr/>
          <p:nvPr/>
        </p:nvSpPr>
        <p:spPr>
          <a:xfrm>
            <a:off x="3454040" y="4530172"/>
            <a:ext cx="2032357" cy="1843858"/>
          </a:xfrm>
          <a:custGeom>
            <a:avLst/>
            <a:gdLst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86590 w 2103648"/>
              <a:gd name="connsiteY1" fmla="*/ 763900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86590 w 2103648"/>
              <a:gd name="connsiteY1" fmla="*/ 763900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86590 w 2103648"/>
              <a:gd name="connsiteY1" fmla="*/ 763900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86590 w 2103648"/>
              <a:gd name="connsiteY1" fmla="*/ 763900 h 1474668"/>
              <a:gd name="connsiteX2" fmla="*/ 2103648 w 2103648"/>
              <a:gd name="connsiteY2" fmla="*/ 1474668 h 147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648" h="1474668">
                <a:moveTo>
                  <a:pt x="0" y="0"/>
                </a:moveTo>
                <a:cubicBezTo>
                  <a:pt x="946113" y="0"/>
                  <a:pt x="1088651" y="631223"/>
                  <a:pt x="1086590" y="763900"/>
                </a:cubicBezTo>
                <a:cubicBezTo>
                  <a:pt x="1085004" y="904405"/>
                  <a:pt x="1124059" y="1462775"/>
                  <a:pt x="2103648" y="1474668"/>
                </a:cubicBezTo>
              </a:path>
            </a:pathLst>
          </a:custGeom>
          <a:noFill/>
          <a:ln w="50800" cap="rnd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2CF1E480-94A6-B549-8569-870FACB5AE35}"/>
              </a:ext>
            </a:extLst>
          </p:cNvPr>
          <p:cNvSpPr/>
          <p:nvPr/>
        </p:nvSpPr>
        <p:spPr>
          <a:xfrm rot="5400000" flipV="1">
            <a:off x="3549550" y="4430243"/>
            <a:ext cx="1832123" cy="2055446"/>
          </a:xfrm>
          <a:custGeom>
            <a:avLst/>
            <a:gdLst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967255 w 2103648"/>
              <a:gd name="connsiteY1" fmla="*/ 665979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99393 w 2103648"/>
              <a:gd name="connsiteY1" fmla="*/ 644837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84814 w 2103648"/>
              <a:gd name="connsiteY1" fmla="*/ 767844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84814 w 2103648"/>
              <a:gd name="connsiteY1" fmla="*/ 767844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84814 w 2103648"/>
              <a:gd name="connsiteY1" fmla="*/ 767844 h 1474668"/>
              <a:gd name="connsiteX2" fmla="*/ 2103648 w 2103648"/>
              <a:gd name="connsiteY2" fmla="*/ 1474668 h 1474668"/>
              <a:gd name="connsiteX0" fmla="*/ 0 w 2103648"/>
              <a:gd name="connsiteY0" fmla="*/ 0 h 1474668"/>
              <a:gd name="connsiteX1" fmla="*/ 1084814 w 2103648"/>
              <a:gd name="connsiteY1" fmla="*/ 767844 h 1474668"/>
              <a:gd name="connsiteX2" fmla="*/ 2103648 w 2103648"/>
              <a:gd name="connsiteY2" fmla="*/ 1474668 h 147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648" h="1474668">
                <a:moveTo>
                  <a:pt x="0" y="0"/>
                </a:moveTo>
                <a:cubicBezTo>
                  <a:pt x="946113" y="0"/>
                  <a:pt x="1088831" y="631810"/>
                  <a:pt x="1084814" y="767844"/>
                </a:cubicBezTo>
                <a:cubicBezTo>
                  <a:pt x="1096785" y="897113"/>
                  <a:pt x="1124059" y="1462775"/>
                  <a:pt x="2103648" y="1474668"/>
                </a:cubicBezTo>
              </a:path>
            </a:pathLst>
          </a:custGeom>
          <a:noFill/>
          <a:ln w="50800" cap="rnd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6A859-F2EF-5A46-8762-D7F45B8D4541}"/>
              </a:ext>
            </a:extLst>
          </p:cNvPr>
          <p:cNvSpPr txBox="1"/>
          <p:nvPr/>
        </p:nvSpPr>
        <p:spPr>
          <a:xfrm>
            <a:off x="5744672" y="6125324"/>
            <a:ext cx="922047" cy="400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CN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CN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3F755F-3FA4-5741-97EC-262D8C16E259}"/>
              </a:ext>
            </a:extLst>
          </p:cNvPr>
          <p:cNvSpPr txBox="1"/>
          <p:nvPr/>
        </p:nvSpPr>
        <p:spPr>
          <a:xfrm>
            <a:off x="2490119" y="4294083"/>
            <a:ext cx="922047" cy="400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CN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’/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CN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A11F47-B257-A04E-A2B2-C2A73BA35A57}"/>
              </a:ext>
            </a:extLst>
          </p:cNvPr>
          <p:cNvCxnSpPr>
            <a:cxnSpLocks/>
          </p:cNvCxnSpPr>
          <p:nvPr/>
        </p:nvCxnSpPr>
        <p:spPr>
          <a:xfrm flipV="1">
            <a:off x="4581722" y="5939030"/>
            <a:ext cx="6089" cy="435000"/>
          </a:xfrm>
          <a:prstGeom prst="straightConnector1">
            <a:avLst/>
          </a:prstGeom>
          <a:ln w="28575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448DDC6-FD0F-42E9-BA9A-CAFCF06E8C13}"/>
              </a:ext>
            </a:extLst>
          </p:cNvPr>
          <p:cNvSpPr txBox="1"/>
          <p:nvPr/>
        </p:nvSpPr>
        <p:spPr>
          <a:xfrm>
            <a:off x="3454039" y="6006778"/>
            <a:ext cx="110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CN" altLang="zh-CN" baseline="-25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zh-CN" altLang="en-US" dirty="0">
                <a:solidFill>
                  <a:srgbClr val="0432FF"/>
                </a:solidFill>
                <a:latin typeface="+mj-ea"/>
                <a:ea typeface="+mj-ea"/>
                <a:cs typeface="Arial" panose="020B0604020202020204" pitchFamily="34" charset="0"/>
              </a:rPr>
              <a:t>偏移</a:t>
            </a:r>
            <a:endParaRPr lang="zh-CN" altLang="en-US" dirty="0">
              <a:solidFill>
                <a:srgbClr val="0432FF"/>
              </a:solidFill>
              <a:latin typeface="+mj-ea"/>
              <a:ea typeface="+mj-ea"/>
            </a:endParaRPr>
          </a:p>
        </p:txBody>
      </p:sp>
      <p:cxnSp>
        <p:nvCxnSpPr>
          <p:cNvPr id="48" name="Straight Arrow Connector 16">
            <a:extLst>
              <a:ext uri="{FF2B5EF4-FFF2-40B4-BE49-F238E27FC236}">
                <a16:creationId xmlns:a16="http://schemas.microsoft.com/office/drawing/2014/main" id="{607D43ED-29F6-4487-8609-4D2BA33E7454}"/>
              </a:ext>
            </a:extLst>
          </p:cNvPr>
          <p:cNvCxnSpPr>
            <a:cxnSpLocks/>
          </p:cNvCxnSpPr>
          <p:nvPr/>
        </p:nvCxnSpPr>
        <p:spPr>
          <a:xfrm>
            <a:off x="4597873" y="5977130"/>
            <a:ext cx="812327" cy="0"/>
          </a:xfrm>
          <a:prstGeom prst="straightConnector1">
            <a:avLst/>
          </a:prstGeom>
          <a:ln w="28575">
            <a:gradFill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EEF71DE-6CF7-4493-8E1C-CB0C20724DA6}"/>
              </a:ext>
            </a:extLst>
          </p:cNvPr>
          <p:cNvSpPr txBox="1"/>
          <p:nvPr/>
        </p:nvSpPr>
        <p:spPr>
          <a:xfrm>
            <a:off x="5334000" y="5247405"/>
            <a:ext cx="1108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Q’</a:t>
            </a:r>
            <a:r>
              <a:rPr lang="zh-CN" altLang="en-US" dirty="0">
                <a:solidFill>
                  <a:srgbClr val="0432FF"/>
                </a:solidFill>
                <a:latin typeface="+mj-ea"/>
                <a:ea typeface="+mj-ea"/>
                <a:cs typeface="Arial" panose="020B0604020202020204" pitchFamily="34" charset="0"/>
              </a:rPr>
              <a:t>作为反相器输入</a:t>
            </a:r>
            <a:endParaRPr lang="zh-CN" altLang="en-US" dirty="0">
              <a:solidFill>
                <a:srgbClr val="0432FF"/>
              </a:solidFill>
              <a:latin typeface="+mj-ea"/>
              <a:ea typeface="+mj-ea"/>
            </a:endParaRPr>
          </a:p>
        </p:txBody>
      </p:sp>
      <p:cxnSp>
        <p:nvCxnSpPr>
          <p:cNvPr id="51" name="Straight Arrow Connector 16">
            <a:extLst>
              <a:ext uri="{FF2B5EF4-FFF2-40B4-BE49-F238E27FC236}">
                <a16:creationId xmlns:a16="http://schemas.microsoft.com/office/drawing/2014/main" id="{2BC21B0E-732C-4EF0-AC01-7EF404713AE6}"/>
              </a:ext>
            </a:extLst>
          </p:cNvPr>
          <p:cNvCxnSpPr>
            <a:cxnSpLocks/>
          </p:cNvCxnSpPr>
          <p:nvPr/>
        </p:nvCxnSpPr>
        <p:spPr>
          <a:xfrm>
            <a:off x="5402745" y="5958080"/>
            <a:ext cx="0" cy="402336"/>
          </a:xfrm>
          <a:prstGeom prst="straightConnector1">
            <a:avLst/>
          </a:prstGeom>
          <a:ln w="28575">
            <a:gradFill>
              <a:gsLst>
                <a:gs pos="0">
                  <a:srgbClr val="FF0000"/>
                </a:gs>
                <a:gs pos="100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4618E778-8967-473C-AE31-568338422D6F}"/>
              </a:ext>
            </a:extLst>
          </p:cNvPr>
          <p:cNvSpPr txBox="1"/>
          <p:nvPr/>
        </p:nvSpPr>
        <p:spPr>
          <a:xfrm>
            <a:off x="4619871" y="6466073"/>
            <a:ext cx="1822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CN" altLang="zh-CN" baseline="-25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zh-CN" altLang="en-US" dirty="0">
                <a:solidFill>
                  <a:srgbClr val="0432FF"/>
                </a:solidFill>
                <a:latin typeface="+mj-ea"/>
                <a:ea typeface="+mj-ea"/>
                <a:cs typeface="Arial" panose="020B0604020202020204" pitchFamily="34" charset="0"/>
              </a:rPr>
              <a:t>偏移减少</a:t>
            </a:r>
            <a:endParaRPr lang="zh-CN" altLang="en-US" dirty="0">
              <a:solidFill>
                <a:srgbClr val="0432FF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C95887C-E86F-43DB-8255-8FBC58C51D31}"/>
                  </a:ext>
                </a:extLst>
              </p14:cNvPr>
              <p14:cNvContentPartPr/>
              <p14:nvPr/>
            </p14:nvContentPartPr>
            <p14:xfrm>
              <a:off x="6261480" y="3657240"/>
              <a:ext cx="2263680" cy="19411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C95887C-E86F-43DB-8255-8FBC58C51D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52120" y="3647880"/>
                <a:ext cx="2282400" cy="19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155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怎么使用这个电路？</a:t>
            </a:r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D93B9-62ED-5147-B0FC-84E2D660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077200" cy="1828800"/>
          </a:xfrm>
        </p:spPr>
        <p:txBody>
          <a:bodyPr/>
          <a:lstStyle/>
          <a:p>
            <a:pPr eaLnBrk="1" hangingPunct="1"/>
            <a:r>
              <a:rPr lang="zh-CN" altLang="en-US" b="0" dirty="0"/>
              <a:t>如何预设初始状态？</a:t>
            </a:r>
            <a:endParaRPr lang="en-US" altLang="zh-CN" b="0" dirty="0"/>
          </a:p>
          <a:p>
            <a:pPr eaLnBrk="1" hangingPunct="1"/>
            <a:r>
              <a:rPr lang="zh-CN" altLang="en-US" b="0" dirty="0"/>
              <a:t>如何改变这个状态？</a:t>
            </a:r>
            <a:endParaRPr lang="en-US" altLang="zh-CN" b="0" dirty="0"/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0AB56CD9-7BFB-4172-8060-41A894E7B3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528444"/>
              </p:ext>
            </p:extLst>
          </p:nvPr>
        </p:nvGraphicFramePr>
        <p:xfrm>
          <a:off x="2804107" y="3120486"/>
          <a:ext cx="3535788" cy="3363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Visio" r:id="rId4" imgW="1495191" imgH="1467364" progId="Visio.Drawing.11">
                  <p:embed/>
                </p:oleObj>
              </mc:Choice>
              <mc:Fallback>
                <p:oleObj name="Visio" r:id="rId4" imgW="1495191" imgH="1467364" progId="Visio.Drawing.11">
                  <p:embed/>
                  <p:pic>
                    <p:nvPicPr>
                      <p:cNvPr id="23" name="Object 7">
                        <a:extLst>
                          <a:ext uri="{FF2B5EF4-FFF2-40B4-BE49-F238E27FC236}">
                            <a16:creationId xmlns:a16="http://schemas.microsoft.com/office/drawing/2014/main" id="{E71CAF06-5FDF-2A45-805E-B94B5D565A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107" y="3120486"/>
                        <a:ext cx="3535788" cy="3363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>
            <a:extLst>
              <a:ext uri="{FF2B5EF4-FFF2-40B4-BE49-F238E27FC236}">
                <a16:creationId xmlns:a16="http://schemas.microsoft.com/office/drawing/2014/main" id="{9640FD9C-4782-464D-BBB0-EF39C645D031}"/>
              </a:ext>
            </a:extLst>
          </p:cNvPr>
          <p:cNvSpPr/>
          <p:nvPr/>
        </p:nvSpPr>
        <p:spPr>
          <a:xfrm>
            <a:off x="3283743" y="3718560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50C44EA-EDFF-4D97-9251-698288BA4515}"/>
              </a:ext>
            </a:extLst>
          </p:cNvPr>
          <p:cNvSpPr/>
          <p:nvPr/>
        </p:nvSpPr>
        <p:spPr>
          <a:xfrm>
            <a:off x="3283743" y="5195889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1BAE7B-D563-4711-966F-57F641F665B0}"/>
              </a:ext>
            </a:extLst>
          </p:cNvPr>
          <p:cNvSpPr/>
          <p:nvPr/>
        </p:nvSpPr>
        <p:spPr>
          <a:xfrm>
            <a:off x="3261360" y="3824286"/>
            <a:ext cx="145257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43C7BD-EE89-46C3-9E23-2F09C48D7CA7}"/>
              </a:ext>
            </a:extLst>
          </p:cNvPr>
          <p:cNvSpPr/>
          <p:nvPr/>
        </p:nvSpPr>
        <p:spPr>
          <a:xfrm>
            <a:off x="3258979" y="4956429"/>
            <a:ext cx="145257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618FFF-945E-4222-9F62-EA4E61390310}"/>
              </a:ext>
            </a:extLst>
          </p:cNvPr>
          <p:cNvSpPr/>
          <p:nvPr/>
        </p:nvSpPr>
        <p:spPr>
          <a:xfrm>
            <a:off x="2900417" y="5127308"/>
            <a:ext cx="299983" cy="435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4806A3-0AC0-4139-BC52-109053283F37}"/>
              </a:ext>
            </a:extLst>
          </p:cNvPr>
          <p:cNvSpPr/>
          <p:nvPr/>
        </p:nvSpPr>
        <p:spPr>
          <a:xfrm>
            <a:off x="2888275" y="3562351"/>
            <a:ext cx="299983" cy="435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753BA45-54E3-4AE1-ADDF-FEDA22868A1E}"/>
              </a:ext>
            </a:extLst>
          </p:cNvPr>
          <p:cNvCxnSpPr>
            <a:cxnSpLocks/>
            <a:stCxn id="2" idx="3"/>
            <a:endCxn id="15" idx="2"/>
          </p:cNvCxnSpPr>
          <p:nvPr/>
        </p:nvCxnSpPr>
        <p:spPr>
          <a:xfrm flipH="1">
            <a:off x="3038267" y="3796609"/>
            <a:ext cx="258867" cy="201033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F310038-DA05-48E8-BA11-76D255BFDD80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038266" y="5011673"/>
            <a:ext cx="258868" cy="197607"/>
          </a:xfrm>
          <a:prstGeom prst="line">
            <a:avLst/>
          </a:prstGeom>
          <a:ln w="254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8119E6E-312F-463F-9098-9B53B993A44F}"/>
              </a:ext>
            </a:extLst>
          </p:cNvPr>
          <p:cNvCxnSpPr>
            <a:cxnSpLocks/>
          </p:cNvCxnSpPr>
          <p:nvPr/>
        </p:nvCxnSpPr>
        <p:spPr>
          <a:xfrm flipH="1">
            <a:off x="2776088" y="5241609"/>
            <a:ext cx="2743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F8690CE-90A8-4654-8E3A-DAD84EF410C0}"/>
              </a:ext>
            </a:extLst>
          </p:cNvPr>
          <p:cNvCxnSpPr>
            <a:cxnSpLocks/>
          </p:cNvCxnSpPr>
          <p:nvPr/>
        </p:nvCxnSpPr>
        <p:spPr>
          <a:xfrm flipH="1">
            <a:off x="2776088" y="3762376"/>
            <a:ext cx="2743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31">
                <a:extLst>
                  <a:ext uri="{FF2B5EF4-FFF2-40B4-BE49-F238E27FC236}">
                    <a16:creationId xmlns:a16="http://schemas.microsoft.com/office/drawing/2014/main" id="{A94D681B-E138-482C-99DA-002911ACFC12}"/>
                  </a:ext>
                </a:extLst>
              </p:cNvPr>
              <p:cNvSpPr txBox="1"/>
              <p:nvPr/>
            </p:nvSpPr>
            <p:spPr>
              <a:xfrm>
                <a:off x="2320762" y="3441906"/>
                <a:ext cx="465640" cy="543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CN" sz="3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31">
                <a:extLst>
                  <a:ext uri="{FF2B5EF4-FFF2-40B4-BE49-F238E27FC236}">
                    <a16:creationId xmlns:a16="http://schemas.microsoft.com/office/drawing/2014/main" id="{A94D681B-E138-482C-99DA-002911ACF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762" y="3441906"/>
                <a:ext cx="465640" cy="5433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31">
                <a:extLst>
                  <a:ext uri="{FF2B5EF4-FFF2-40B4-BE49-F238E27FC236}">
                    <a16:creationId xmlns:a16="http://schemas.microsoft.com/office/drawing/2014/main" id="{7592E1C6-E502-409E-8347-BAA853DD7456}"/>
                  </a:ext>
                </a:extLst>
              </p:cNvPr>
              <p:cNvSpPr txBox="1"/>
              <p:nvPr/>
            </p:nvSpPr>
            <p:spPr>
              <a:xfrm>
                <a:off x="2314707" y="4964049"/>
                <a:ext cx="450508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CN" sz="28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31">
                <a:extLst>
                  <a:ext uri="{FF2B5EF4-FFF2-40B4-BE49-F238E27FC236}">
                    <a16:creationId xmlns:a16="http://schemas.microsoft.com/office/drawing/2014/main" id="{7592E1C6-E502-409E-8347-BAA853DD7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707" y="4964049"/>
                <a:ext cx="450508" cy="5132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1">
            <a:extLst>
              <a:ext uri="{FF2B5EF4-FFF2-40B4-BE49-F238E27FC236}">
                <a16:creationId xmlns:a16="http://schemas.microsoft.com/office/drawing/2014/main" id="{C619C6C6-AED6-471B-9E39-0F23402CEDC7}"/>
              </a:ext>
            </a:extLst>
          </p:cNvPr>
          <p:cNvSpPr txBox="1"/>
          <p:nvPr/>
        </p:nvSpPr>
        <p:spPr>
          <a:xfrm>
            <a:off x="3052172" y="3134408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0" i="0" dirty="0">
                <a:solidFill>
                  <a:srgbClr val="0432FF"/>
                </a:solidFill>
                <a:latin typeface="+mj-lt"/>
                <a:cs typeface="Times New Roman" panose="02020603050405020304" pitchFamily="18" charset="0"/>
              </a:rPr>
              <a:t>S</a:t>
            </a:r>
            <a:r>
              <a:rPr lang="en-US" altLang="zh-CN" sz="2400" b="0" i="0" baseline="-25000" dirty="0">
                <a:solidFill>
                  <a:srgbClr val="0432FF"/>
                </a:solidFill>
                <a:latin typeface="+mj-lt"/>
                <a:cs typeface="Times New Roman" panose="02020603050405020304" pitchFamily="18" charset="0"/>
              </a:rPr>
              <a:t>1</a:t>
            </a:r>
            <a:endParaRPr lang="en-CN" sz="2400" baseline="-25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4D77E7-06FB-474A-9DAC-0A910779321A}"/>
              </a:ext>
            </a:extLst>
          </p:cNvPr>
          <p:cNvSpPr txBox="1"/>
          <p:nvPr/>
        </p:nvSpPr>
        <p:spPr>
          <a:xfrm>
            <a:off x="3052172" y="5384762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0" i="0" dirty="0">
                <a:solidFill>
                  <a:srgbClr val="0432FF"/>
                </a:solidFill>
                <a:latin typeface="+mj-lt"/>
                <a:cs typeface="Times New Roman" panose="02020603050405020304" pitchFamily="18" charset="0"/>
              </a:rPr>
              <a:t>S</a:t>
            </a:r>
            <a:r>
              <a:rPr lang="en-US" altLang="zh-CN" sz="2400" b="0" i="0" baseline="-25000" dirty="0">
                <a:solidFill>
                  <a:srgbClr val="0432FF"/>
                </a:solidFill>
                <a:latin typeface="+mj-lt"/>
                <a:cs typeface="Times New Roman" panose="02020603050405020304" pitchFamily="18" charset="0"/>
              </a:rPr>
              <a:t>2</a:t>
            </a:r>
            <a:endParaRPr lang="en-CN" sz="2400" baseline="-25000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</a:t>
            </a:r>
            <a:r>
              <a:rPr lang="zh-CN" altLang="en-US" dirty="0"/>
              <a:t>锁存器</a:t>
            </a:r>
            <a:r>
              <a:rPr lang="en-US" altLang="zh-CN" dirty="0"/>
              <a:t>(SR latch)</a:t>
            </a:r>
          </a:p>
        </p:txBody>
      </p:sp>
      <p:graphicFrame>
        <p:nvGraphicFramePr>
          <p:cNvPr id="15362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968769"/>
              </p:ext>
            </p:extLst>
          </p:nvPr>
        </p:nvGraphicFramePr>
        <p:xfrm>
          <a:off x="1295400" y="1541065"/>
          <a:ext cx="7085013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Visio" r:id="rId4" imgW="3875430" imgH="1027371" progId="Visio.Drawing.11">
                  <p:embed/>
                </p:oleObj>
              </mc:Choice>
              <mc:Fallback>
                <p:oleObj name="Visio" r:id="rId4" imgW="3875430" imgH="102737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541065"/>
                        <a:ext cx="7085013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1A037D-6221-7B4B-B379-45A06D0E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39300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602494712"/>
              </p:ext>
            </p:extLst>
          </p:nvPr>
        </p:nvGraphicFramePr>
        <p:xfrm>
          <a:off x="2379661" y="4343400"/>
          <a:ext cx="4384675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Visio" r:id="rId6" imgW="2133148" imgH="686476" progId="Visio.Drawing.11">
                  <p:embed/>
                </p:oleObj>
              </mc:Choice>
              <mc:Fallback>
                <p:oleObj name="Visio" r:id="rId6" imgW="2133148" imgH="68647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1" y="4343400"/>
                        <a:ext cx="4384675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01" name="Text Box 5"/>
          <p:cNvSpPr txBox="1">
            <a:spLocks noChangeArrowheads="1"/>
          </p:cNvSpPr>
          <p:nvPr/>
        </p:nvSpPr>
        <p:spPr bwMode="auto">
          <a:xfrm>
            <a:off x="2597944" y="3595688"/>
            <a:ext cx="39481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0" dirty="0">
                <a:solidFill>
                  <a:schemeClr val="tx1"/>
                </a:solidFill>
                <a:latin typeface="+mj-ea"/>
                <a:ea typeface="+mj-ea"/>
              </a:rPr>
              <a:t>电路图</a:t>
            </a:r>
            <a:endParaRPr lang="en-US" altLang="zh-CN" sz="28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39302" name="Text Box 6"/>
          <p:cNvSpPr txBox="1">
            <a:spLocks noChangeArrowheads="1"/>
          </p:cNvSpPr>
          <p:nvPr/>
        </p:nvSpPr>
        <p:spPr bwMode="auto">
          <a:xfrm>
            <a:off x="2978150" y="5976938"/>
            <a:ext cx="3187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0" dirty="0">
                <a:solidFill>
                  <a:schemeClr val="tx1"/>
                </a:solidFill>
                <a:latin typeface="+mj-ea"/>
                <a:ea typeface="+mj-ea"/>
              </a:rPr>
              <a:t>逻辑符号</a:t>
            </a:r>
            <a:endParaRPr lang="en-US" altLang="zh-CN" sz="28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SR</a:t>
            </a:r>
            <a:r>
              <a:rPr lang="zh-CN" altLang="en-US" dirty="0"/>
              <a:t>锁存器：复位</a:t>
            </a:r>
            <a:endParaRPr lang="en-US" altLang="zh-CN" dirty="0"/>
          </a:p>
        </p:txBody>
      </p:sp>
      <p:graphicFrame>
        <p:nvGraphicFramePr>
          <p:cNvPr id="16386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274076"/>
              </p:ext>
            </p:extLst>
          </p:nvPr>
        </p:nvGraphicFramePr>
        <p:xfrm>
          <a:off x="504215" y="2165451"/>
          <a:ext cx="3522662" cy="238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Visio" r:id="rId4" imgW="1514337" imgH="1027371" progId="Visio.Drawing.11">
                  <p:embed/>
                </p:oleObj>
              </mc:Choice>
              <mc:Fallback>
                <p:oleObj name="Visio" r:id="rId4" imgW="1514337" imgH="1027371" progId="Visio.Drawing.11">
                  <p:embed/>
                  <p:pic>
                    <p:nvPicPr>
                      <p:cNvPr id="1638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215" y="2165451"/>
                        <a:ext cx="3522662" cy="238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17F421-211F-B94D-8897-32978D10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pPr/>
              <a:t>26</a:t>
            </a:fld>
            <a:endParaRPr lang="en-US">
              <a:solidFill>
                <a:prstClr val="black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440325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009957214"/>
              </p:ext>
            </p:extLst>
          </p:nvPr>
        </p:nvGraphicFramePr>
        <p:xfrm>
          <a:off x="4502150" y="2206625"/>
          <a:ext cx="43307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Document" r:id="rId6" imgW="4330700" imgH="1943100" progId="Word.Document.8">
                  <p:embed/>
                </p:oleObj>
              </mc:Choice>
              <mc:Fallback>
                <p:oleObj name="Document" r:id="rId6" imgW="4330700" imgH="1943100" progId="Word.Document.8">
                  <p:embed/>
                  <p:pic>
                    <p:nvPicPr>
                      <p:cNvPr id="440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2206625"/>
                        <a:ext cx="43307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26" name="Text Box 6"/>
          <p:cNvSpPr txBox="1">
            <a:spLocks noChangeArrowheads="1"/>
          </p:cNvSpPr>
          <p:nvPr/>
        </p:nvSpPr>
        <p:spPr bwMode="auto">
          <a:xfrm>
            <a:off x="4495800" y="1396425"/>
            <a:ext cx="326088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功能表</a:t>
            </a:r>
            <a:endParaRPr lang="en-US" altLang="zh-CN" sz="3200" b="1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440329" name="Text Box 9"/>
          <p:cNvSpPr txBox="1">
            <a:spLocks noChangeArrowheads="1"/>
          </p:cNvSpPr>
          <p:nvPr/>
        </p:nvSpPr>
        <p:spPr bwMode="auto">
          <a:xfrm>
            <a:off x="840401" y="377653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40334" name="Text Box 14"/>
          <p:cNvSpPr txBox="1">
            <a:spLocks noChangeArrowheads="1"/>
          </p:cNvSpPr>
          <p:nvPr/>
        </p:nvSpPr>
        <p:spPr bwMode="auto">
          <a:xfrm>
            <a:off x="2807677" y="3567214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0335" name="Text Box 15"/>
          <p:cNvSpPr txBox="1">
            <a:spLocks noChangeArrowheads="1"/>
          </p:cNvSpPr>
          <p:nvPr/>
        </p:nvSpPr>
        <p:spPr bwMode="auto">
          <a:xfrm>
            <a:off x="2807677" y="211941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40341" name="Text Box 21"/>
          <p:cNvSpPr txBox="1">
            <a:spLocks noChangeArrowheads="1"/>
          </p:cNvSpPr>
          <p:nvPr/>
        </p:nvSpPr>
        <p:spPr bwMode="auto">
          <a:xfrm>
            <a:off x="840401" y="1917186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0A30C5-5B83-4FD6-ACCC-477993A60D39}"/>
              </a:ext>
            </a:extLst>
          </p:cNvPr>
          <p:cNvSpPr txBox="1"/>
          <p:nvPr/>
        </p:nvSpPr>
        <p:spPr>
          <a:xfrm>
            <a:off x="4419600" y="4243590"/>
            <a:ext cx="4526757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module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SR_latch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input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output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  </a:t>
            </a:r>
            <a:r>
              <a:rPr lang="pt-BR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or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n1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nor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n2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Text Box 4">
            <a:extLst>
              <a:ext uri="{FF2B5EF4-FFF2-40B4-BE49-F238E27FC236}">
                <a16:creationId xmlns:a16="http://schemas.microsoft.com/office/drawing/2014/main" id="{14DFF6C4-15C1-1641-9D88-70E0999CE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60" y="4805996"/>
            <a:ext cx="29659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R: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复位端</a:t>
            </a:r>
            <a:endParaRPr lang="en-US" altLang="zh-CN" sz="28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754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SR</a:t>
            </a:r>
            <a:r>
              <a:rPr lang="zh-CN" altLang="en-US" dirty="0"/>
              <a:t>锁存器：置位</a:t>
            </a:r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B674F-AF16-C945-82B9-21D7F310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40325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400440702"/>
              </p:ext>
            </p:extLst>
          </p:nvPr>
        </p:nvGraphicFramePr>
        <p:xfrm>
          <a:off x="4502150" y="2206625"/>
          <a:ext cx="43307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Document" r:id="rId4" imgW="4330700" imgH="1943100" progId="Word.Document.8">
                  <p:embed/>
                </p:oleObj>
              </mc:Choice>
              <mc:Fallback>
                <p:oleObj name="Document" r:id="rId4" imgW="4330700" imgH="1943100" progId="Word.Document.8">
                  <p:embed/>
                  <p:pic>
                    <p:nvPicPr>
                      <p:cNvPr id="440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2206625"/>
                        <a:ext cx="43307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">
            <a:extLst>
              <a:ext uri="{FF2B5EF4-FFF2-40B4-BE49-F238E27FC236}">
                <a16:creationId xmlns:a16="http://schemas.microsoft.com/office/drawing/2014/main" id="{507BCBD2-5D19-6043-B8E2-08EAC226E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674" y="4805996"/>
            <a:ext cx="26077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+mn-ea"/>
              </a:rPr>
              <a:t>S: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</a:rPr>
              <a:t>置位端</a:t>
            </a:r>
            <a:endParaRPr lang="en-US" altLang="zh-CN" sz="28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8105772F-E6FC-7728-B585-C12302A3B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396425"/>
            <a:ext cx="326088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功能表</a:t>
            </a:r>
            <a:endParaRPr lang="en-US" altLang="zh-CN" sz="3200" b="1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3BE32D4B-67A1-8354-9274-01C2CA115AC8}"/>
              </a:ext>
            </a:extLst>
          </p:cNvPr>
          <p:cNvSpPr txBox="1"/>
          <p:nvPr/>
        </p:nvSpPr>
        <p:spPr>
          <a:xfrm>
            <a:off x="4419600" y="4243590"/>
            <a:ext cx="4526757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module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SR_latch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input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output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  </a:t>
            </a:r>
            <a:r>
              <a:rPr lang="pt-BR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or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n1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nor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n2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BA285A4E-8FB8-F202-A54B-4BF5CE82389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256901"/>
              </p:ext>
            </p:extLst>
          </p:nvPr>
        </p:nvGraphicFramePr>
        <p:xfrm>
          <a:off x="504215" y="2165451"/>
          <a:ext cx="3522662" cy="238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Visio" r:id="rId6" imgW="1514337" imgH="1027371" progId="Visio.Drawing.11">
                  <p:embed/>
                </p:oleObj>
              </mc:Choice>
              <mc:Fallback>
                <p:oleObj name="Visio" r:id="rId6" imgW="1514337" imgH="1027371" progId="Visio.Drawing.11">
                  <p:embed/>
                  <p:pic>
                    <p:nvPicPr>
                      <p:cNvPr id="1638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215" y="2165451"/>
                        <a:ext cx="3522662" cy="238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55F14A51-61D0-3E51-050F-E540BF188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401" y="377653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9FFEACCD-E399-FA9F-DB01-9D7802D28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677" y="3567214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E6BDEE47-E6CD-6B52-A038-109F0846F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677" y="211941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Text Box 21">
            <a:extLst>
              <a:ext uri="{FF2B5EF4-FFF2-40B4-BE49-F238E27FC236}">
                <a16:creationId xmlns:a16="http://schemas.microsoft.com/office/drawing/2014/main" id="{DC8DB0E9-F0E4-310C-3DE0-AB495146D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401" y="1917186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81502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SR</a:t>
            </a:r>
            <a:r>
              <a:rPr lang="zh-CN" altLang="en-US" dirty="0"/>
              <a:t>锁存器</a:t>
            </a:r>
            <a:r>
              <a:rPr lang="en-US" altLang="zh-CN" dirty="0"/>
              <a:t>: </a:t>
            </a:r>
            <a:r>
              <a:rPr lang="zh-CN" altLang="en-US" dirty="0"/>
              <a:t>保持</a:t>
            </a:r>
            <a:endParaRPr lang="en-US" altLang="zh-CN" dirty="0"/>
          </a:p>
        </p:txBody>
      </p: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A9472190-F41C-1346-8D69-969131B59D0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2401551"/>
              </p:ext>
            </p:extLst>
          </p:nvPr>
        </p:nvGraphicFramePr>
        <p:xfrm>
          <a:off x="508666" y="2166610"/>
          <a:ext cx="3522662" cy="238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Visio" r:id="rId4" imgW="1514337" imgH="1027371" progId="Visio.Drawing.11">
                  <p:embed/>
                </p:oleObj>
              </mc:Choice>
              <mc:Fallback>
                <p:oleObj name="Visio" r:id="rId4" imgW="1514337" imgH="1027371" progId="Visio.Drawing.11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7B80C068-A55D-1A48-97D6-FEDF70DBF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66" y="2166610"/>
                        <a:ext cx="3522662" cy="238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F6E60-F601-1F46-8242-0A9579FE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507BCBD2-5D19-6043-B8E2-08EAC226E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787" y="4800600"/>
            <a:ext cx="2822421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+mn-ea"/>
              </a:rPr>
              <a:t>R: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</a:rPr>
              <a:t>复位端</a:t>
            </a:r>
            <a:endParaRPr lang="en-US" altLang="zh-CN" sz="28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+mn-ea"/>
              </a:rPr>
              <a:t>S: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</a:rPr>
              <a:t>置位端</a:t>
            </a:r>
            <a:endParaRPr lang="en-US" altLang="zh-CN" sz="28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" name="Text Box 23">
            <a:extLst>
              <a:ext uri="{FF2B5EF4-FFF2-40B4-BE49-F238E27FC236}">
                <a16:creationId xmlns:a16="http://schemas.microsoft.com/office/drawing/2014/main" id="{66EC441A-0E56-3840-94A9-2B753EAAA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234190"/>
            <a:ext cx="19050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B0F0"/>
                </a:solidFill>
              </a:rPr>
              <a:t>(Q</a:t>
            </a:r>
            <a:r>
              <a:rPr lang="en-US" altLang="zh-CN" sz="2800" dirty="0">
                <a:solidFill>
                  <a:srgbClr val="00B0F0"/>
                </a:solidFill>
                <a:latin typeface="Arial" pitchFamily="34" charset="0"/>
              </a:rPr>
              <a:t>’</a:t>
            </a:r>
            <a:r>
              <a:rPr lang="en-US" altLang="zh-CN" sz="2800" dirty="0">
                <a:solidFill>
                  <a:srgbClr val="00B0F0"/>
                </a:solidFill>
              </a:rPr>
              <a:t>)</a:t>
            </a:r>
            <a:r>
              <a:rPr lang="en-US" altLang="zh-CN" sz="2800" baseline="30000" dirty="0">
                <a:solidFill>
                  <a:srgbClr val="00B0F0"/>
                </a:solidFill>
              </a:rPr>
              <a:t>+</a:t>
            </a:r>
            <a:r>
              <a:rPr lang="en-US" altLang="zh-CN" sz="2800" dirty="0">
                <a:solidFill>
                  <a:srgbClr val="00B0F0"/>
                </a:solidFill>
              </a:rPr>
              <a:t>=Q</a:t>
            </a:r>
            <a:r>
              <a:rPr lang="en-US" altLang="zh-CN" sz="2800" dirty="0">
                <a:solidFill>
                  <a:srgbClr val="00B0F0"/>
                </a:solidFill>
                <a:latin typeface="Arial" pitchFamily="34" charset="0"/>
              </a:rPr>
              <a:t>’</a:t>
            </a:r>
            <a:endParaRPr lang="en-US" altLang="zh-CN" sz="2800" dirty="0">
              <a:solidFill>
                <a:srgbClr val="00B0F0"/>
              </a:solidFill>
            </a:endParaRPr>
          </a:p>
        </p:txBody>
      </p:sp>
      <p:sp>
        <p:nvSpPr>
          <p:cNvPr id="16" name="Text Box 24">
            <a:extLst>
              <a:ext uri="{FF2B5EF4-FFF2-40B4-BE49-F238E27FC236}">
                <a16:creationId xmlns:a16="http://schemas.microsoft.com/office/drawing/2014/main" id="{564D34EF-BD88-2548-BA3E-1534A2381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905000"/>
            <a:ext cx="20574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B0F0"/>
                </a:solidFill>
              </a:rPr>
              <a:t>Q</a:t>
            </a:r>
            <a:r>
              <a:rPr lang="en-US" altLang="zh-CN" sz="2800" baseline="30000" dirty="0">
                <a:solidFill>
                  <a:srgbClr val="00B0F0"/>
                </a:solidFill>
              </a:rPr>
              <a:t>+</a:t>
            </a:r>
            <a:r>
              <a:rPr lang="en-US" altLang="zh-CN" sz="2800" dirty="0">
                <a:solidFill>
                  <a:srgbClr val="00B0F0"/>
                </a:solidFill>
              </a:rPr>
              <a:t>=(Q</a:t>
            </a:r>
            <a:r>
              <a:rPr lang="en-US" altLang="zh-CN" sz="2800" dirty="0">
                <a:solidFill>
                  <a:srgbClr val="00B0F0"/>
                </a:solidFill>
                <a:latin typeface="Arial" pitchFamily="34" charset="0"/>
              </a:rPr>
              <a:t>’</a:t>
            </a:r>
            <a:r>
              <a:rPr lang="en-US" altLang="zh-CN" sz="2800" dirty="0">
                <a:solidFill>
                  <a:srgbClr val="00B0F0"/>
                </a:solidFill>
              </a:rPr>
              <a:t>)</a:t>
            </a:r>
            <a:r>
              <a:rPr lang="en-US" altLang="zh-CN" sz="2800" dirty="0">
                <a:solidFill>
                  <a:srgbClr val="00B0F0"/>
                </a:solidFill>
                <a:latin typeface="Arial" pitchFamily="34" charset="0"/>
              </a:rPr>
              <a:t>’</a:t>
            </a:r>
            <a:r>
              <a:rPr lang="en-US" altLang="zh-CN" sz="2800" dirty="0">
                <a:solidFill>
                  <a:srgbClr val="00B0F0"/>
                </a:solidFill>
              </a:rPr>
              <a:t>=Q</a:t>
            </a:r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6978742F-7797-D043-BA45-87165C7C53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674498"/>
              </p:ext>
            </p:extLst>
          </p:nvPr>
        </p:nvGraphicFramePr>
        <p:xfrm>
          <a:off x="4502150" y="2206625"/>
          <a:ext cx="43307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Document" r:id="rId6" imgW="4330700" imgH="1943100" progId="Word.Document.8">
                  <p:embed/>
                </p:oleObj>
              </mc:Choice>
              <mc:Fallback>
                <p:oleObj name="Document" r:id="rId6" imgW="4330700" imgH="1943100" progId="Word.Document.8">
                  <p:embed/>
                  <p:pic>
                    <p:nvPicPr>
                      <p:cNvPr id="440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2206625"/>
                        <a:ext cx="43307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6">
            <a:extLst>
              <a:ext uri="{FF2B5EF4-FFF2-40B4-BE49-F238E27FC236}">
                <a16:creationId xmlns:a16="http://schemas.microsoft.com/office/drawing/2014/main" id="{ECB05CA4-735D-7969-748C-088C0B165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396425"/>
            <a:ext cx="326088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功能表</a:t>
            </a:r>
            <a:endParaRPr lang="en-US" altLang="zh-CN" sz="3200" b="1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11CCB031-284B-CA18-6565-60573C14C095}"/>
              </a:ext>
            </a:extLst>
          </p:cNvPr>
          <p:cNvSpPr txBox="1"/>
          <p:nvPr/>
        </p:nvSpPr>
        <p:spPr>
          <a:xfrm>
            <a:off x="4419600" y="4243590"/>
            <a:ext cx="4526757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module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SR_latch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input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output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  </a:t>
            </a:r>
            <a:r>
              <a:rPr lang="pt-BR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or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n1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pt-BR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nor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n2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Q_bar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S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pt-BR" altLang="zh-CN" sz="2000" dirty="0">
                <a:solidFill>
                  <a:srgbClr val="00008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);</a:t>
            </a:r>
            <a:r>
              <a:rPr lang="pt-BR" altLang="zh-CN" sz="2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pt-BR" altLang="zh-CN" sz="2000" dirty="0">
                <a:solidFill>
                  <a:srgbClr val="0000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1BBEE628-D859-4E11-B272-CD5AD493A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401" y="377653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3E669974-0329-441B-8047-2D8EA1CE8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401" y="1917186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14693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DEE051-C889-C482-5228-02A612EA244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414138"/>
              </p:ext>
            </p:extLst>
          </p:nvPr>
        </p:nvGraphicFramePr>
        <p:xfrm>
          <a:off x="508666" y="2166610"/>
          <a:ext cx="3522662" cy="238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Visio" r:id="rId4" imgW="1514337" imgH="1027371" progId="Visio.Drawing.11">
                  <p:embed/>
                </p:oleObj>
              </mc:Choice>
              <mc:Fallback>
                <p:oleObj name="Visio" r:id="rId4" imgW="1514337" imgH="1027371" progId="Visio.Drawing.11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A9472190-F41C-1346-8D69-969131B59D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66" y="2166610"/>
                        <a:ext cx="3522662" cy="238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SR</a:t>
            </a:r>
            <a:r>
              <a:rPr lang="zh-CN" altLang="en-US" dirty="0"/>
              <a:t>锁存器</a:t>
            </a:r>
            <a:r>
              <a:rPr lang="en-US" altLang="zh-CN" dirty="0"/>
              <a:t>: </a:t>
            </a:r>
            <a:r>
              <a:rPr lang="zh-CN" altLang="en-US" dirty="0"/>
              <a:t>如果</a:t>
            </a:r>
            <a:r>
              <a:rPr lang="en-US" altLang="zh-CN" dirty="0"/>
              <a:t>SR=1?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81FF8F-3B5A-CD48-977D-B9549894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39CB0F-0CE4-1942-A34F-DFBDF8CB52B1}"/>
              </a:ext>
            </a:extLst>
          </p:cNvPr>
          <p:cNvSpPr/>
          <p:nvPr/>
        </p:nvSpPr>
        <p:spPr>
          <a:xfrm>
            <a:off x="3995042" y="4446013"/>
            <a:ext cx="50568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 S=R=1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时，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Q=Q’=0 (</a:t>
            </a:r>
            <a:r>
              <a:rPr lang="zh-CN" altLang="en-US" sz="2800" dirty="0">
                <a:solidFill>
                  <a:srgbClr val="0432FF"/>
                </a:solidFill>
                <a:highlight>
                  <a:srgbClr val="FFFF00"/>
                </a:highlight>
                <a:latin typeface="+mn-lt"/>
                <a:ea typeface="+mn-ea"/>
                <a:cs typeface="Arial" panose="020B0604020202020204" pitchFamily="34" charset="0"/>
              </a:rPr>
              <a:t>稳态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7ED0AEF5-4B71-E94E-8C7A-E5472AEC3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487183"/>
              </p:ext>
            </p:extLst>
          </p:nvPr>
        </p:nvGraphicFramePr>
        <p:xfrm>
          <a:off x="4502150" y="2206625"/>
          <a:ext cx="43307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Document" r:id="rId6" imgW="4322293" imgH="1942802" progId="Word.Document.8">
                  <p:embed/>
                </p:oleObj>
              </mc:Choice>
              <mc:Fallback>
                <p:oleObj name="Document" r:id="rId6" imgW="4322293" imgH="1942802" progId="Word.Document.8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6978742F-7797-D043-BA45-87165C7C53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2206625"/>
                        <a:ext cx="43307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6">
            <a:extLst>
              <a:ext uri="{FF2B5EF4-FFF2-40B4-BE49-F238E27FC236}">
                <a16:creationId xmlns:a16="http://schemas.microsoft.com/office/drawing/2014/main" id="{DE9E8E18-F1DC-D16F-13D2-EB0088D0D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396425"/>
            <a:ext cx="326088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功能表</a:t>
            </a:r>
            <a:endParaRPr lang="en-US" altLang="zh-CN" sz="3200" b="1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7F80CC66-56E4-184A-B59F-30FAC3F75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401" y="377653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0065BDCA-93ED-CA40-C333-1316E10C9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677" y="3567214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？</a:t>
            </a:r>
            <a:endParaRPr lang="en-US" altLang="zh-CN" sz="3200" dirty="0">
              <a:solidFill>
                <a:srgbClr val="00B0F0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37FDF9CB-B91E-6D12-7FEC-8675C81F9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677" y="211941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？</a:t>
            </a:r>
            <a:endParaRPr lang="en-US" altLang="zh-CN" sz="3200" dirty="0">
              <a:solidFill>
                <a:srgbClr val="00B0F0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A639120D-B632-CAE4-F7D9-65EFED029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401" y="1917186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0B0F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AF9157B-474C-BB7D-9980-03A355B4C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787" y="4800600"/>
            <a:ext cx="2822421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+mn-ea"/>
              </a:rPr>
              <a:t>R: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</a:rPr>
              <a:t>复位端</a:t>
            </a:r>
            <a:endParaRPr lang="en-US" altLang="zh-CN" sz="28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+mn-ea"/>
              </a:rPr>
              <a:t>S: 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</a:rPr>
              <a:t>置位端</a:t>
            </a:r>
            <a:endParaRPr lang="en-US" altLang="zh-CN" sz="28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7473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SR</a:t>
            </a:r>
            <a:r>
              <a:rPr lang="zh-CN" altLang="en-US" dirty="0"/>
              <a:t>锁存器</a:t>
            </a:r>
            <a:r>
              <a:rPr lang="en-US" altLang="zh-CN" dirty="0"/>
              <a:t>: </a:t>
            </a:r>
            <a:r>
              <a:rPr lang="zh-CN" altLang="en-US" dirty="0"/>
              <a:t>为什么要求</a:t>
            </a:r>
            <a:r>
              <a:rPr lang="en-US" altLang="zh-CN" dirty="0"/>
              <a:t>SR=0?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6BD49-F4AB-5540-A1C4-ABE07D0E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760360" y="4796576"/>
            <a:ext cx="31121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功能表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 Box 28">
            <a:extLst>
              <a:ext uri="{FF2B5EF4-FFF2-40B4-BE49-F238E27FC236}">
                <a16:creationId xmlns:a16="http://schemas.microsoft.com/office/drawing/2014/main" id="{7343C0D6-DA7B-5944-8A75-4ECC7FFBA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84" y="1525105"/>
            <a:ext cx="1143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8B4BE9-1668-6F45-854D-64D03D0596F7}"/>
              </a:ext>
            </a:extLst>
          </p:cNvPr>
          <p:cNvSpPr txBox="1"/>
          <p:nvPr/>
        </p:nvSpPr>
        <p:spPr>
          <a:xfrm>
            <a:off x="4341518" y="1524000"/>
            <a:ext cx="4497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当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 S=R=1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时，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Q=Q’=0 (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稳态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)</a:t>
            </a:r>
          </a:p>
          <a:p>
            <a:pPr marL="342900" lvl="0" indent="-342900" algn="l"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但是，当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R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Wingdings" pitchFamily="2" charset="2"/>
              </a:rPr>
              <a:t>之后同时变为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Wingdings" pitchFamily="2" charset="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Wingdings" pitchFamily="2" charset="2"/>
              </a:rPr>
              <a:t>，输出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不稳定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 (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需要避免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)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BA76C-B982-2744-8C0C-8CC20FBE7D38}"/>
              </a:ext>
            </a:extLst>
          </p:cNvPr>
          <p:cNvSpPr txBox="1"/>
          <p:nvPr/>
        </p:nvSpPr>
        <p:spPr>
          <a:xfrm>
            <a:off x="1438741" y="1991330"/>
            <a:ext cx="559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solidFill>
                  <a:schemeClr val="tx1"/>
                </a:solidFill>
              </a:rPr>
              <a:t>t</a:t>
            </a:r>
            <a:r>
              <a:rPr lang="en-CN" sz="2800" baseline="-25000" dirty="0">
                <a:solidFill>
                  <a:schemeClr val="tx1"/>
                </a:solidFill>
              </a:rPr>
              <a:t>pd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DA4C05-343F-BB41-B556-D3EAFFD6DB45}"/>
              </a:ext>
            </a:extLst>
          </p:cNvPr>
          <p:cNvSpPr txBox="1"/>
          <p:nvPr/>
        </p:nvSpPr>
        <p:spPr>
          <a:xfrm>
            <a:off x="1457478" y="3483570"/>
            <a:ext cx="559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solidFill>
                  <a:schemeClr val="tx1"/>
                </a:solidFill>
              </a:rPr>
              <a:t>t</a:t>
            </a:r>
            <a:r>
              <a:rPr lang="en-CN" sz="2800" baseline="-25000" dirty="0">
                <a:solidFill>
                  <a:schemeClr val="tx1"/>
                </a:solidFill>
              </a:rPr>
              <a:t>pd</a:t>
            </a:r>
          </a:p>
        </p:txBody>
      </p:sp>
      <p:graphicFrame>
        <p:nvGraphicFramePr>
          <p:cNvPr id="26" name="Object 3">
            <a:extLst>
              <a:ext uri="{FF2B5EF4-FFF2-40B4-BE49-F238E27FC236}">
                <a16:creationId xmlns:a16="http://schemas.microsoft.com/office/drawing/2014/main" id="{53A4B6C0-06FF-E143-A3D1-59D7FF808F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388981"/>
              </p:ext>
            </p:extLst>
          </p:nvPr>
        </p:nvGraphicFramePr>
        <p:xfrm>
          <a:off x="472480" y="1895081"/>
          <a:ext cx="3523238" cy="2389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Visio" r:id="rId4" imgW="1514337" imgH="1027371" progId="Visio.Drawing.11">
                  <p:embed/>
                </p:oleObj>
              </mc:Choice>
              <mc:Fallback>
                <p:oleObj name="Visio" r:id="rId4" imgW="1514337" imgH="1027371" progId="Visio.Drawing.11">
                  <p:embed/>
                  <p:pic>
                    <p:nvPicPr>
                      <p:cNvPr id="20" name="Object 3">
                        <a:extLst>
                          <a:ext uri="{FF2B5EF4-FFF2-40B4-BE49-F238E27FC236}">
                            <a16:creationId xmlns:a16="http://schemas.microsoft.com/office/drawing/2014/main" id="{B880322F-2097-FF4E-A17C-1A5296859C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80" y="1895081"/>
                        <a:ext cx="3523238" cy="2389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D0A1921-194F-574A-BF94-C3003F40D21C}"/>
              </a:ext>
            </a:extLst>
          </p:cNvPr>
          <p:cNvSpPr txBox="1"/>
          <p:nvPr/>
        </p:nvSpPr>
        <p:spPr>
          <a:xfrm>
            <a:off x="5377692" y="5381351"/>
            <a:ext cx="2859501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CN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Q/Q’ </a:t>
            </a:r>
            <a:r>
              <a:rPr lang="zh-CN" altLang="en-US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为</a:t>
            </a:r>
            <a:r>
              <a:rPr lang="en-CN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1/0</a:t>
            </a:r>
            <a:r>
              <a:rPr lang="zh-CN" altLang="en-US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或</a:t>
            </a:r>
            <a:r>
              <a:rPr lang="en-CN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0/1:</a:t>
            </a:r>
          </a:p>
          <a:p>
            <a:pPr algn="ctr"/>
            <a:r>
              <a:rPr lang="zh-CN" altLang="en-US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存储</a:t>
            </a:r>
            <a:r>
              <a:rPr lang="en-US" altLang="zh-CN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1bit</a:t>
            </a:r>
            <a:r>
              <a:rPr lang="zh-CN" altLang="en-US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信息！</a:t>
            </a:r>
            <a:endParaRPr lang="en-CN" sz="2800" dirty="0">
              <a:solidFill>
                <a:schemeClr val="accent4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85CF34-4DA0-6940-9827-A3364C1C824B}"/>
              </a:ext>
            </a:extLst>
          </p:cNvPr>
          <p:cNvSpPr txBox="1"/>
          <p:nvPr/>
        </p:nvSpPr>
        <p:spPr>
          <a:xfrm>
            <a:off x="720307" y="5568693"/>
            <a:ext cx="3248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2800" dirty="0">
                <a:solidFill>
                  <a:srgbClr val="0432FF"/>
                </a:solidFill>
                <a:latin typeface="+mn-lt"/>
                <a:cs typeface="Arial" panose="020B0604020202020204" pitchFamily="34" charset="0"/>
              </a:rPr>
              <a:t>Q</a:t>
            </a:r>
            <a:r>
              <a:rPr lang="en-CN" sz="2800" baseline="30000" dirty="0">
                <a:solidFill>
                  <a:srgbClr val="0432FF"/>
                </a:solidFill>
                <a:latin typeface="+mn-lt"/>
                <a:cs typeface="Arial" panose="020B0604020202020204" pitchFamily="34" charset="0"/>
              </a:rPr>
              <a:t>+</a:t>
            </a:r>
            <a:r>
              <a:rPr lang="en-CN" sz="2800" dirty="0">
                <a:solidFill>
                  <a:srgbClr val="0432FF"/>
                </a:solidFill>
                <a:latin typeface="+mn-lt"/>
                <a:cs typeface="Arial" panose="020B0604020202020204" pitchFamily="34" charset="0"/>
              </a:rPr>
              <a:t>=S+R’Q (SR=0)</a:t>
            </a:r>
          </a:p>
        </p:txBody>
      </p:sp>
      <p:sp>
        <p:nvSpPr>
          <p:cNvPr id="20" name="Text Box 28">
            <a:extLst>
              <a:ext uri="{FF2B5EF4-FFF2-40B4-BE49-F238E27FC236}">
                <a16:creationId xmlns:a16="http://schemas.microsoft.com/office/drawing/2014/main" id="{E2A492FA-EB7E-4F80-9798-F6B98E342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84" y="4100637"/>
            <a:ext cx="1143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</a:t>
            </a:r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id="{2D7187AF-8ECD-446F-85D0-61B1B6332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310" y="1525105"/>
            <a:ext cx="18346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22" name="Text Box 28">
            <a:extLst>
              <a:ext uri="{FF2B5EF4-FFF2-40B4-BE49-F238E27FC236}">
                <a16:creationId xmlns:a16="http://schemas.microsoft.com/office/drawing/2014/main" id="{DC09DE4D-72D9-4184-834B-350725AFA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310" y="4101303"/>
            <a:ext cx="1823598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772CA012-A3BD-4750-8FA1-813312F35E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258398"/>
              </p:ext>
            </p:extLst>
          </p:nvPr>
        </p:nvGraphicFramePr>
        <p:xfrm>
          <a:off x="4505325" y="3267075"/>
          <a:ext cx="4303713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Document" r:id="rId6" imgW="4322293" imgH="1942802" progId="Word.Document.8">
                  <p:embed/>
                </p:oleObj>
              </mc:Choice>
              <mc:Fallback>
                <p:oleObj name="Document" r:id="rId6" imgW="4322293" imgH="1942802" progId="Word.Document.8">
                  <p:embed/>
                  <p:pic>
                    <p:nvPicPr>
                      <p:cNvPr id="23" name="Object 5">
                        <a:extLst>
                          <a:ext uri="{FF2B5EF4-FFF2-40B4-BE49-F238E27FC236}">
                            <a16:creationId xmlns:a16="http://schemas.microsoft.com/office/drawing/2014/main" id="{7ED0AEF5-4B71-E94E-8C7A-E5472AEC3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325" y="3267075"/>
                        <a:ext cx="4303713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SR</a:t>
            </a:r>
            <a:r>
              <a:rPr lang="zh-CN" altLang="en-US" dirty="0"/>
              <a:t>锁存器的状态图</a:t>
            </a:r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69E43F-5833-254E-AC67-EE43EDB7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17" name="Object 28">
            <a:extLst>
              <a:ext uri="{FF2B5EF4-FFF2-40B4-BE49-F238E27FC236}">
                <a16:creationId xmlns:a16="http://schemas.microsoft.com/office/drawing/2014/main" id="{8DFDEF38-1B19-A84F-8BAF-8D1A9CFAA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252756"/>
              </p:ext>
            </p:extLst>
          </p:nvPr>
        </p:nvGraphicFramePr>
        <p:xfrm>
          <a:off x="776935" y="2100648"/>
          <a:ext cx="3467892" cy="2550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Visio" r:id="rId4" imgW="1431646" imgH="1051865" progId="Visio.Drawing.11">
                  <p:embed/>
                </p:oleObj>
              </mc:Choice>
              <mc:Fallback>
                <p:oleObj name="Visio" r:id="rId4" imgW="1431646" imgH="1051865" progId="Visio.Drawing.11">
                  <p:embed/>
                  <p:pic>
                    <p:nvPicPr>
                      <p:cNvPr id="1843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935" y="2100648"/>
                        <a:ext cx="3467892" cy="2550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4">
            <a:extLst>
              <a:ext uri="{FF2B5EF4-FFF2-40B4-BE49-F238E27FC236}">
                <a16:creationId xmlns:a16="http://schemas.microsoft.com/office/drawing/2014/main" id="{F18365FD-D1E7-264F-865E-BE1DADE83D54}"/>
              </a:ext>
            </a:extLst>
          </p:cNvPr>
          <p:cNvGrpSpPr>
            <a:grpSpLocks/>
          </p:cNvGrpSpPr>
          <p:nvPr/>
        </p:nvGrpSpPr>
        <p:grpSpPr bwMode="auto">
          <a:xfrm>
            <a:off x="6000899" y="3124200"/>
            <a:ext cx="431800" cy="431800"/>
            <a:chOff x="528" y="3072"/>
            <a:chExt cx="272" cy="272"/>
          </a:xfrm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11BE14DA-52AB-DB4C-8D96-3F38ACF4F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072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02B85C7D-82FE-7341-8BD5-DE6B5AFAE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072"/>
              <a:ext cx="19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1457F321-7210-D746-8ED6-39DE39AEA57D}"/>
              </a:ext>
            </a:extLst>
          </p:cNvPr>
          <p:cNvGrpSpPr>
            <a:grpSpLocks/>
          </p:cNvGrpSpPr>
          <p:nvPr/>
        </p:nvGrpSpPr>
        <p:grpSpPr bwMode="auto">
          <a:xfrm>
            <a:off x="6915299" y="3124200"/>
            <a:ext cx="431800" cy="431800"/>
            <a:chOff x="528" y="3072"/>
            <a:chExt cx="272" cy="272"/>
          </a:xfrm>
        </p:grpSpPr>
        <p:sp>
          <p:nvSpPr>
            <p:cNvPr id="26" name="Oval 8">
              <a:extLst>
                <a:ext uri="{FF2B5EF4-FFF2-40B4-BE49-F238E27FC236}">
                  <a16:creationId xmlns:a16="http://schemas.microsoft.com/office/drawing/2014/main" id="{FDECF23E-3A22-5B48-A66E-85798D68A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072"/>
              <a:ext cx="272" cy="2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4E11E3F9-4C95-604F-87E7-E40176438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072"/>
              <a:ext cx="19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2D9392-E3D7-0C41-9C78-D7C465C22172}"/>
              </a:ext>
            </a:extLst>
          </p:cNvPr>
          <p:cNvGrpSpPr/>
          <p:nvPr/>
        </p:nvGrpSpPr>
        <p:grpSpPr>
          <a:xfrm>
            <a:off x="6127899" y="3429000"/>
            <a:ext cx="1295400" cy="781110"/>
            <a:chOff x="6127899" y="3962400"/>
            <a:chExt cx="1295400" cy="781110"/>
          </a:xfrm>
        </p:grpSpPr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3804F22B-829E-384F-B4A9-70883FFBA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7899" y="4343400"/>
              <a:ext cx="1295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S=0,</a:t>
              </a:r>
              <a:r>
                <a:rPr kumimoji="1"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R=1</a:t>
              </a:r>
            </a:p>
          </p:txBody>
        </p:sp>
        <p:sp>
          <p:nvSpPr>
            <p:cNvPr id="22" name="Arc 14">
              <a:extLst>
                <a:ext uri="{FF2B5EF4-FFF2-40B4-BE49-F238E27FC236}">
                  <a16:creationId xmlns:a16="http://schemas.microsoft.com/office/drawing/2014/main" id="{64ED66C1-0857-6F40-9077-6033B31667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483499" y="3767138"/>
              <a:ext cx="422275" cy="812800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AA963D9-7A30-BF4F-A0BD-8AE6F8CDB433}"/>
              </a:ext>
            </a:extLst>
          </p:cNvPr>
          <p:cNvGrpSpPr/>
          <p:nvPr/>
        </p:nvGrpSpPr>
        <p:grpSpPr>
          <a:xfrm>
            <a:off x="6127899" y="2286000"/>
            <a:ext cx="1295400" cy="874713"/>
            <a:chOff x="6127899" y="2819400"/>
            <a:chExt cx="1295400" cy="874713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7360F051-7B06-E44A-B5F5-F16869BE6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7899" y="2819400"/>
              <a:ext cx="1295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S=1,</a:t>
              </a:r>
              <a:r>
                <a:rPr kumimoji="1"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R=0</a:t>
              </a:r>
            </a:p>
          </p:txBody>
        </p:sp>
        <p:sp>
          <p:nvSpPr>
            <p:cNvPr id="23" name="Arc 15">
              <a:extLst>
                <a:ext uri="{FF2B5EF4-FFF2-40B4-BE49-F238E27FC236}">
                  <a16:creationId xmlns:a16="http://schemas.microsoft.com/office/drawing/2014/main" id="{ADCCF7D3-7D63-5545-8733-9C58FF6C96FA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6510487" y="3046413"/>
              <a:ext cx="417513" cy="877888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endParaRPr lang="zh-CN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 Box 12">
            <a:extLst>
              <a:ext uri="{FF2B5EF4-FFF2-40B4-BE49-F238E27FC236}">
                <a16:creationId xmlns:a16="http://schemas.microsoft.com/office/drawing/2014/main" id="{5B8E5AF4-6A2C-954A-A07D-26705677E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7924" y="2657506"/>
            <a:ext cx="7416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R=0</a:t>
            </a:r>
          </a:p>
        </p:txBody>
      </p:sp>
      <p:sp>
        <p:nvSpPr>
          <p:cNvPr id="24" name="Arc 16">
            <a:extLst>
              <a:ext uri="{FF2B5EF4-FFF2-40B4-BE49-F238E27FC236}">
                <a16:creationId xmlns:a16="http://schemas.microsoft.com/office/drawing/2014/main" id="{CAB121E2-455A-3744-BBB6-4977384C5675}"/>
              </a:ext>
            </a:extLst>
          </p:cNvPr>
          <p:cNvSpPr>
            <a:spLocks/>
          </p:cNvSpPr>
          <p:nvPr/>
        </p:nvSpPr>
        <p:spPr bwMode="auto">
          <a:xfrm rot="5400000">
            <a:off x="7293124" y="3068638"/>
            <a:ext cx="609600" cy="566738"/>
          </a:xfrm>
          <a:custGeom>
            <a:avLst/>
            <a:gdLst>
              <a:gd name="T0" fmla="*/ 0 w 43200"/>
              <a:gd name="T1" fmla="*/ 0 h 42217"/>
              <a:gd name="T2" fmla="*/ 0 w 43200"/>
              <a:gd name="T3" fmla="*/ 0 h 42217"/>
              <a:gd name="T4" fmla="*/ 0 w 43200"/>
              <a:gd name="T5" fmla="*/ 0 h 42217"/>
              <a:gd name="T6" fmla="*/ 0 60000 65536"/>
              <a:gd name="T7" fmla="*/ 0 60000 65536"/>
              <a:gd name="T8" fmla="*/ 0 60000 65536"/>
              <a:gd name="T9" fmla="*/ 0 w 43200"/>
              <a:gd name="T10" fmla="*/ 0 h 42217"/>
              <a:gd name="T11" fmla="*/ 43200 w 43200"/>
              <a:gd name="T12" fmla="*/ 42217 h 422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2217" fill="none" extrusionOk="0">
                <a:moveTo>
                  <a:pt x="7741" y="38167"/>
                </a:moveTo>
                <a:cubicBezTo>
                  <a:pt x="2834" y="34063"/>
                  <a:pt x="0" y="2799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1047"/>
                  <a:pt x="37060" y="39398"/>
                  <a:pt x="28042" y="42216"/>
                </a:cubicBezTo>
              </a:path>
              <a:path w="43200" h="42217" stroke="0" extrusionOk="0">
                <a:moveTo>
                  <a:pt x="7741" y="38167"/>
                </a:moveTo>
                <a:cubicBezTo>
                  <a:pt x="2834" y="34063"/>
                  <a:pt x="0" y="2799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1047"/>
                  <a:pt x="37060" y="39398"/>
                  <a:pt x="28042" y="42216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none" w="lg" len="lg"/>
            <a:tailEnd type="triangle" w="lg" len="lg"/>
          </a:ln>
        </p:spPr>
        <p:txBody>
          <a:bodyPr wrap="none" anchor="ctr"/>
          <a:lstStyle/>
          <a:p>
            <a:endParaRPr lang="zh-CN" altLang="en-US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B4432B50-1CC6-9743-A2C0-BF0F5EE1E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712" y="2657506"/>
            <a:ext cx="7416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S=0</a:t>
            </a:r>
          </a:p>
        </p:txBody>
      </p:sp>
      <p:sp>
        <p:nvSpPr>
          <p:cNvPr id="25" name="Arc 17">
            <a:extLst>
              <a:ext uri="{FF2B5EF4-FFF2-40B4-BE49-F238E27FC236}">
                <a16:creationId xmlns:a16="http://schemas.microsoft.com/office/drawing/2014/main" id="{6767908D-A60C-7C47-9D25-07EC2E52634C}"/>
              </a:ext>
            </a:extLst>
          </p:cNvPr>
          <p:cNvSpPr>
            <a:spLocks/>
          </p:cNvSpPr>
          <p:nvPr/>
        </p:nvSpPr>
        <p:spPr bwMode="auto">
          <a:xfrm rot="16200000" flipH="1">
            <a:off x="5427812" y="2990850"/>
            <a:ext cx="609600" cy="577850"/>
          </a:xfrm>
          <a:custGeom>
            <a:avLst/>
            <a:gdLst>
              <a:gd name="T0" fmla="*/ 0 w 43200"/>
              <a:gd name="T1" fmla="*/ 0 h 43061"/>
              <a:gd name="T2" fmla="*/ 0 w 43200"/>
              <a:gd name="T3" fmla="*/ 0 h 43061"/>
              <a:gd name="T4" fmla="*/ 0 w 43200"/>
              <a:gd name="T5" fmla="*/ 0 h 43061"/>
              <a:gd name="T6" fmla="*/ 0 60000 65536"/>
              <a:gd name="T7" fmla="*/ 0 60000 65536"/>
              <a:gd name="T8" fmla="*/ 0 60000 65536"/>
              <a:gd name="T9" fmla="*/ 0 w 43200"/>
              <a:gd name="T10" fmla="*/ 0 h 43061"/>
              <a:gd name="T11" fmla="*/ 43200 w 43200"/>
              <a:gd name="T12" fmla="*/ 43061 h 430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061" fill="none" extrusionOk="0">
                <a:moveTo>
                  <a:pt x="19153" y="43060"/>
                </a:moveTo>
                <a:cubicBezTo>
                  <a:pt x="8241" y="41816"/>
                  <a:pt x="0" y="3258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1047"/>
                  <a:pt x="37060" y="39398"/>
                  <a:pt x="28042" y="42216"/>
                </a:cubicBezTo>
              </a:path>
              <a:path w="43200" h="43061" stroke="0" extrusionOk="0">
                <a:moveTo>
                  <a:pt x="19153" y="43060"/>
                </a:moveTo>
                <a:cubicBezTo>
                  <a:pt x="8241" y="41816"/>
                  <a:pt x="0" y="3258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1047"/>
                  <a:pt x="37060" y="39398"/>
                  <a:pt x="28042" y="42216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none" w="lg" len="lg"/>
            <a:tailEnd type="triangle" w="lg" len="lg"/>
          </a:ln>
        </p:spPr>
        <p:txBody>
          <a:bodyPr wrap="none" anchor="ctr"/>
          <a:lstStyle/>
          <a:p>
            <a:endParaRPr lang="zh-CN" altLang="en-US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D135D8-7685-7A4D-9949-BE9543FD1485}"/>
              </a:ext>
            </a:extLst>
          </p:cNvPr>
          <p:cNvSpPr txBox="1"/>
          <p:nvPr/>
        </p:nvSpPr>
        <p:spPr>
          <a:xfrm>
            <a:off x="896496" y="4534829"/>
            <a:ext cx="3228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28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CN" sz="2800" baseline="30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CN" sz="28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=S+R’Q (SR=0)</a:t>
            </a: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7BEFBB26-6DCE-4BD5-9E47-647607D988B1}"/>
              </a:ext>
            </a:extLst>
          </p:cNvPr>
          <p:cNvSpPr txBox="1"/>
          <p:nvPr/>
        </p:nvSpPr>
        <p:spPr>
          <a:xfrm>
            <a:off x="5157213" y="4534829"/>
            <a:ext cx="3124060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CN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Q/Q’ </a:t>
            </a:r>
            <a:r>
              <a:rPr lang="zh-CN" altLang="en-US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为</a:t>
            </a:r>
            <a:r>
              <a:rPr lang="en-CN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 1/0 </a:t>
            </a:r>
            <a:r>
              <a:rPr lang="zh-CN" altLang="en-US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或</a:t>
            </a:r>
            <a:r>
              <a:rPr lang="en-CN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 0/1:</a:t>
            </a:r>
          </a:p>
          <a:p>
            <a:pPr algn="ctr"/>
            <a:r>
              <a:rPr lang="zh-CN" altLang="en-US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存储</a:t>
            </a:r>
            <a:r>
              <a:rPr lang="en-US" altLang="zh-CN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1bit</a:t>
            </a:r>
            <a:r>
              <a:rPr lang="zh-CN" altLang="en-US" sz="28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信息！</a:t>
            </a:r>
            <a:endParaRPr lang="en-CN" sz="2800" dirty="0">
              <a:solidFill>
                <a:schemeClr val="accent4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85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 animBg="1"/>
      <p:bldP spid="21" grpId="0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门控</a:t>
            </a:r>
            <a:r>
              <a:rPr lang="en-US" altLang="zh-CN" dirty="0"/>
              <a:t>SR</a:t>
            </a:r>
            <a:r>
              <a:rPr lang="zh-CN" altLang="en-US" dirty="0"/>
              <a:t>锁存器</a:t>
            </a:r>
            <a:endParaRPr lang="en-US" altLang="zh-CN" dirty="0"/>
          </a:p>
        </p:txBody>
      </p:sp>
      <p:graphicFrame>
        <p:nvGraphicFramePr>
          <p:cNvPr id="21506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428880"/>
              </p:ext>
            </p:extLst>
          </p:nvPr>
        </p:nvGraphicFramePr>
        <p:xfrm>
          <a:off x="421181" y="2066925"/>
          <a:ext cx="39274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Visio" r:id="rId4" imgW="2924809" imgH="1411753" progId="Visio.Drawing.11">
                  <p:embed/>
                </p:oleObj>
              </mc:Choice>
              <mc:Fallback>
                <p:oleObj name="Visio" r:id="rId4" imgW="2924809" imgH="1411753" progId="Visio.Drawing.11">
                  <p:embed/>
                  <p:pic>
                    <p:nvPicPr>
                      <p:cNvPr id="2150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81" y="2066925"/>
                        <a:ext cx="3927475" cy="189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BABD2-9AAB-334B-BCD9-9B24CBF4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21507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9080131"/>
              </p:ext>
            </p:extLst>
          </p:nvPr>
        </p:nvGraphicFramePr>
        <p:xfrm>
          <a:off x="822309" y="5259387"/>
          <a:ext cx="3262313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Visio" r:id="rId6" imgW="2125784" imgH="891591" progId="Visio.Drawing.11">
                  <p:embed/>
                </p:oleObj>
              </mc:Choice>
              <mc:Fallback>
                <p:oleObj name="Visio" r:id="rId6" imgW="2125784" imgH="891591" progId="Visio.Drawing.11">
                  <p:embed/>
                  <p:pic>
                    <p:nvPicPr>
                      <p:cNvPr id="2150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09" y="5259387"/>
                        <a:ext cx="3262313" cy="1370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1211842"/>
              </p:ext>
            </p:extLst>
          </p:nvPr>
        </p:nvGraphicFramePr>
        <p:xfrm>
          <a:off x="4846638" y="3830638"/>
          <a:ext cx="3929062" cy="265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Document" r:id="rId8" imgW="3778200" imgH="2354760" progId="Word.Document.8">
                  <p:embed/>
                </p:oleObj>
              </mc:Choice>
              <mc:Fallback>
                <p:oleObj name="Document" r:id="rId8" imgW="3778200" imgH="2354760" progId="Word.Document.8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638" y="3830638"/>
                        <a:ext cx="3929062" cy="265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1BA7B0E-2F8B-4AD7-BAD8-0284CB99ABE9}"/>
              </a:ext>
            </a:extLst>
          </p:cNvPr>
          <p:cNvSpPr txBox="1"/>
          <p:nvPr/>
        </p:nvSpPr>
        <p:spPr>
          <a:xfrm>
            <a:off x="4833939" y="1364952"/>
            <a:ext cx="4048276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module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SR_E_latch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R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S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C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Q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Q_bar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input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R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S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C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output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Q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Q_bar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pt-BR" altLang="zh-CN" sz="1600" dirty="0" err="1">
                <a:solidFill>
                  <a:srgbClr val="0000FF"/>
                </a:solidFill>
                <a:latin typeface="+mn-lt"/>
              </a:rPr>
              <a:t>wire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d1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d2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pt-BR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n1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d1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S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C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pt-BR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n2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d2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C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R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pt-BR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n3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Q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d1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Q_bar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zh-CN" altLang="en-US" sz="1600" dirty="0">
                <a:solidFill>
                  <a:srgbClr val="0000FF"/>
                </a:solidFill>
                <a:latin typeface="+mn-lt"/>
              </a:rPr>
              <a:t>  </a:t>
            </a:r>
            <a:r>
              <a:rPr lang="pt-BR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n4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Q_bar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d2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Q</a:t>
            </a:r>
            <a:r>
              <a:rPr lang="pt-BR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pt-BR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pt-BR" altLang="zh-CN" sz="1600" dirty="0">
                <a:solidFill>
                  <a:srgbClr val="0000FF"/>
                </a:solidFill>
                <a:latin typeface="+mn-lt"/>
              </a:rPr>
              <a:t>endmodule</a:t>
            </a:r>
            <a:endParaRPr lang="pt-BR" altLang="zh-CN" sz="1600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719016-769A-F843-B401-DB4C2776B9C4}"/>
              </a:ext>
            </a:extLst>
          </p:cNvPr>
          <p:cNvSpPr/>
          <p:nvPr/>
        </p:nvSpPr>
        <p:spPr>
          <a:xfrm>
            <a:off x="199267" y="1451567"/>
            <a:ext cx="45251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仅当使能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C=1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时才可以改变状态</a:t>
            </a:r>
            <a:endParaRPr lang="en-CN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099236-BE6B-AD46-B691-61BFD723A0CF}"/>
              </a:ext>
            </a:extLst>
          </p:cNvPr>
          <p:cNvSpPr txBox="1"/>
          <p:nvPr/>
        </p:nvSpPr>
        <p:spPr>
          <a:xfrm>
            <a:off x="407073" y="4122003"/>
            <a:ext cx="38940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CN" sz="2400" baseline="30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C’Q+C(</a:t>
            </a:r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S+R’Q</a:t>
            </a:r>
            <a:r>
              <a:rPr lang="en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CN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SR=0</a:t>
            </a:r>
            <a:endParaRPr lang="en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CN" sz="2400" baseline="30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=S+R’Q,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t>下降沿时锁定</a:t>
            </a:r>
            <a:endParaRPr lang="en-CN" sz="2400" dirty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E4086AF-850F-430E-95CB-998F4016FB2D}"/>
                  </a:ext>
                </a:extLst>
              </p14:cNvPr>
              <p14:cNvContentPartPr/>
              <p14:nvPr/>
            </p14:nvContentPartPr>
            <p14:xfrm>
              <a:off x="3333960" y="3804120"/>
              <a:ext cx="5558760" cy="27187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E4086AF-850F-430E-95CB-998F4016FB2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24600" y="3794760"/>
                <a:ext cx="5577480" cy="27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8973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 (</a:t>
            </a:r>
            <a:r>
              <a:rPr lang="zh-CN" altLang="en-US" dirty="0"/>
              <a:t>门控</a:t>
            </a:r>
            <a:r>
              <a:rPr lang="en-US" altLang="zh-CN" dirty="0"/>
              <a:t>) D</a:t>
            </a:r>
            <a:r>
              <a:rPr lang="zh-CN" altLang="en-US" dirty="0"/>
              <a:t>锁存器</a:t>
            </a:r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DD2228-9087-FB4E-BBA0-6417422D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432994-23FF-F648-8F4E-C36EA5A883AB}"/>
              </a:ext>
            </a:extLst>
          </p:cNvPr>
          <p:cNvGrpSpPr>
            <a:grpSpLocks noChangeAspect="1"/>
          </p:cNvGrpSpPr>
          <p:nvPr/>
        </p:nvGrpSpPr>
        <p:grpSpPr>
          <a:xfrm>
            <a:off x="317449" y="1650364"/>
            <a:ext cx="6735036" cy="1920240"/>
            <a:chOff x="479425" y="3708401"/>
            <a:chExt cx="8285163" cy="2362200"/>
          </a:xfrm>
        </p:grpSpPr>
        <p:graphicFrame>
          <p:nvGraphicFramePr>
            <p:cNvPr id="18" name="Object 3">
              <a:extLst>
                <a:ext uri="{FF2B5EF4-FFF2-40B4-BE49-F238E27FC236}">
                  <a16:creationId xmlns:a16="http://schemas.microsoft.com/office/drawing/2014/main" id="{DD5791F8-6300-874A-BA3B-28724F460D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1924888"/>
                </p:ext>
              </p:extLst>
            </p:nvPr>
          </p:nvGraphicFramePr>
          <p:xfrm>
            <a:off x="479425" y="3816351"/>
            <a:ext cx="4321175" cy="2254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2" name="Visio" r:id="rId4" imgW="2935111" imgH="1413311" progId="Visio.Drawing.11">
                    <p:embed/>
                  </p:oleObj>
                </mc:Choice>
                <mc:Fallback>
                  <p:oleObj name="Visio" r:id="rId4" imgW="2935111" imgH="1413311" progId="Visio.Drawing.11">
                    <p:embed/>
                    <p:pic>
                      <p:nvPicPr>
                        <p:cNvPr id="21506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425" y="3816351"/>
                          <a:ext cx="4321175" cy="2254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7">
              <a:extLst>
                <a:ext uri="{FF2B5EF4-FFF2-40B4-BE49-F238E27FC236}">
                  <a16:creationId xmlns:a16="http://schemas.microsoft.com/office/drawing/2014/main" id="{92A044CA-FA2D-AE48-8A31-A8BB74D23E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0231054"/>
                </p:ext>
              </p:extLst>
            </p:nvPr>
          </p:nvGraphicFramePr>
          <p:xfrm>
            <a:off x="5029200" y="3846831"/>
            <a:ext cx="3735388" cy="2035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3" name="文档" r:id="rId6" imgW="3209612" imgH="1614713" progId="Word.Document.8">
                    <p:embed/>
                  </p:oleObj>
                </mc:Choice>
                <mc:Fallback>
                  <p:oleObj name="文档" r:id="rId6" imgW="3209612" imgH="1614713" progId="Word.Document.8">
                    <p:embed/>
                    <p:pic>
                      <p:nvPicPr>
                        <p:cNvPr id="2150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0" y="3846831"/>
                          <a:ext cx="3735388" cy="2035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14">
              <a:extLst>
                <a:ext uri="{FF2B5EF4-FFF2-40B4-BE49-F238E27FC236}">
                  <a16:creationId xmlns:a16="http://schemas.microsoft.com/office/drawing/2014/main" id="{30D620AB-2E52-7F45-82DB-225D6FB09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893" y="4574698"/>
              <a:ext cx="380999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432FF"/>
                  </a:solidFill>
                </a:rPr>
                <a:t>1</a:t>
              </a:r>
            </a:p>
          </p:txBody>
        </p:sp>
        <p:sp>
          <p:nvSpPr>
            <p:cNvPr id="21" name="Text Box 15">
              <a:extLst>
                <a:ext uri="{FF2B5EF4-FFF2-40B4-BE49-F238E27FC236}">
                  <a16:creationId xmlns:a16="http://schemas.microsoft.com/office/drawing/2014/main" id="{D03C77DD-D840-C34F-B24D-E0CCDB96C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708401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432FF"/>
                  </a:solidFill>
                </a:rPr>
                <a:t>D</a:t>
              </a:r>
              <a:r>
                <a:rPr lang="en-US" altLang="zh-CN" sz="2800" i="1" baseline="30000" dirty="0">
                  <a:solidFill>
                    <a:srgbClr val="0432FF"/>
                  </a:solidFill>
                  <a:latin typeface="Arial" pitchFamily="34" charset="0"/>
                </a:rPr>
                <a:t>’</a:t>
              </a:r>
              <a:endParaRPr lang="en-US" altLang="zh-CN" sz="2800" i="1" dirty="0">
                <a:solidFill>
                  <a:srgbClr val="0432FF"/>
                </a:solidFill>
              </a:endParaRPr>
            </a:p>
          </p:txBody>
        </p:sp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4A2A6963-239A-8F4B-A300-5C55B4FEB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798" y="5109508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432FF"/>
                  </a:solidFill>
                </a:rPr>
                <a:t>D</a:t>
              </a:r>
              <a:r>
                <a:rPr lang="en-US" altLang="zh-CN" sz="2800" i="1" baseline="30000" dirty="0">
                  <a:solidFill>
                    <a:srgbClr val="0432FF"/>
                  </a:solidFill>
                  <a:latin typeface="Arial" pitchFamily="34" charset="0"/>
                </a:rPr>
                <a:t>’</a:t>
              </a:r>
              <a:endParaRPr lang="en-US" altLang="zh-CN" sz="2800" i="1" dirty="0">
                <a:solidFill>
                  <a:srgbClr val="0432FF"/>
                </a:solidFill>
              </a:endParaRPr>
            </a:p>
          </p:txBody>
        </p:sp>
        <p:sp>
          <p:nvSpPr>
            <p:cNvPr id="23" name="Text Box 18">
              <a:extLst>
                <a:ext uri="{FF2B5EF4-FFF2-40B4-BE49-F238E27FC236}">
                  <a16:creationId xmlns:a16="http://schemas.microsoft.com/office/drawing/2014/main" id="{A30970B8-BAA7-CD4A-9108-655DF1C20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791" y="3856036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432FF"/>
                  </a:solidFill>
                </a:rPr>
                <a:t>D</a:t>
              </a:r>
              <a:r>
                <a:rPr lang="zh-CN" altLang="en-US" sz="2800" i="1" dirty="0">
                  <a:solidFill>
                    <a:srgbClr val="0432FF"/>
                  </a:solidFill>
                </a:rPr>
                <a:t> </a:t>
              </a:r>
              <a:endParaRPr lang="en-US" altLang="zh-CN" sz="2800" i="1" dirty="0">
                <a:solidFill>
                  <a:srgbClr val="0432FF"/>
                </a:solidFill>
              </a:endParaRPr>
            </a:p>
          </p:txBody>
        </p:sp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52EA2F5D-A3E5-7040-BB08-F0AA1A1D4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506" y="4899820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432FF"/>
                  </a:solidFill>
                </a:rPr>
                <a:t>D</a:t>
              </a:r>
              <a:r>
                <a:rPr lang="en-US" altLang="zh-CN" sz="2800" i="1" baseline="30000" dirty="0">
                  <a:solidFill>
                    <a:srgbClr val="0432FF"/>
                  </a:solidFill>
                  <a:latin typeface="Arial" pitchFamily="34" charset="0"/>
                </a:rPr>
                <a:t>’</a:t>
              </a:r>
              <a:endParaRPr lang="en-US" altLang="zh-CN" sz="2800" i="1" dirty="0">
                <a:solidFill>
                  <a:srgbClr val="0432FF"/>
                </a:solidFill>
              </a:endParaRPr>
            </a:p>
          </p:txBody>
        </p:sp>
        <p:sp>
          <p:nvSpPr>
            <p:cNvPr id="25" name="矩形 17">
              <a:extLst>
                <a:ext uri="{FF2B5EF4-FFF2-40B4-BE49-F238E27FC236}">
                  <a16:creationId xmlns:a16="http://schemas.microsoft.com/office/drawing/2014/main" id="{D9244828-4E91-4B47-B24F-540BCB433924}"/>
                </a:ext>
              </a:extLst>
            </p:cNvPr>
            <p:cNvSpPr/>
            <p:nvPr/>
          </p:nvSpPr>
          <p:spPr bwMode="auto">
            <a:xfrm>
              <a:off x="5029200" y="4315102"/>
              <a:ext cx="3635375" cy="912535"/>
            </a:xfrm>
            <a:prstGeom prst="rect">
              <a:avLst/>
            </a:prstGeom>
            <a:noFill/>
            <a:ln w="2857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400" b="1" i="0" u="none" strike="noStrike" cap="none" normalizeH="0" baseline="0">
                <a:ln>
                  <a:noFill/>
                </a:ln>
                <a:solidFill>
                  <a:srgbClr val="0432FF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27" name="Text Box 18">
              <a:extLst>
                <a:ext uri="{FF2B5EF4-FFF2-40B4-BE49-F238E27FC236}">
                  <a16:creationId xmlns:a16="http://schemas.microsoft.com/office/drawing/2014/main" id="{7B00712E-6A15-3B47-B79B-237B415F7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4871563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432FF"/>
                  </a:solidFill>
                </a:rPr>
                <a:t>D</a:t>
              </a:r>
              <a:r>
                <a:rPr lang="zh-CN" altLang="en-US" sz="2800" i="1" dirty="0">
                  <a:solidFill>
                    <a:srgbClr val="0432FF"/>
                  </a:solidFill>
                </a:rPr>
                <a:t> </a:t>
              </a:r>
              <a:endParaRPr lang="en-US" altLang="zh-CN" sz="2800" i="1" dirty="0">
                <a:solidFill>
                  <a:srgbClr val="0432FF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9CBD611-C591-6546-8548-E8ABE1060DC0}"/>
              </a:ext>
            </a:extLst>
          </p:cNvPr>
          <p:cNvSpPr txBox="1"/>
          <p:nvPr/>
        </p:nvSpPr>
        <p:spPr>
          <a:xfrm>
            <a:off x="633412" y="5943600"/>
            <a:ext cx="8015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en-CN" altLang="zh-CN" sz="2800" baseline="30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 </a:t>
            </a:r>
            <a:r>
              <a:rPr lang="en-CN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 D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为高时跟踪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，下降沿锁定</a:t>
            </a:r>
            <a:endParaRPr lang="en-US" altLang="zh-CN" sz="2800" dirty="0">
              <a:solidFill>
                <a:srgbClr val="0432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6B5D96-D359-6B94-ABFE-F39828E876CE}"/>
              </a:ext>
            </a:extLst>
          </p:cNvPr>
          <p:cNvGrpSpPr>
            <a:grpSpLocks noChangeAspect="1"/>
          </p:cNvGrpSpPr>
          <p:nvPr/>
        </p:nvGrpSpPr>
        <p:grpSpPr>
          <a:xfrm>
            <a:off x="324128" y="3792797"/>
            <a:ext cx="6735036" cy="1920240"/>
            <a:chOff x="479425" y="3708401"/>
            <a:chExt cx="8285164" cy="2362200"/>
          </a:xfrm>
        </p:grpSpPr>
        <p:graphicFrame>
          <p:nvGraphicFramePr>
            <p:cNvPr id="46" name="Object 3">
              <a:extLst>
                <a:ext uri="{FF2B5EF4-FFF2-40B4-BE49-F238E27FC236}">
                  <a16:creationId xmlns:a16="http://schemas.microsoft.com/office/drawing/2014/main" id="{CCF82673-A82B-74C5-839A-0364E7AF4D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443876"/>
                </p:ext>
              </p:extLst>
            </p:nvPr>
          </p:nvGraphicFramePr>
          <p:xfrm>
            <a:off x="479425" y="3816351"/>
            <a:ext cx="4321175" cy="2254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4" name="Visio" r:id="rId4" imgW="2935111" imgH="1413311" progId="Visio.Drawing.11">
                    <p:embed/>
                  </p:oleObj>
                </mc:Choice>
                <mc:Fallback>
                  <p:oleObj name="Visio" r:id="rId4" imgW="2935111" imgH="1413311" progId="Visio.Drawing.11">
                    <p:embed/>
                    <p:pic>
                      <p:nvPicPr>
                        <p:cNvPr id="18" name="Object 3">
                          <a:extLst>
                            <a:ext uri="{FF2B5EF4-FFF2-40B4-BE49-F238E27FC236}">
                              <a16:creationId xmlns:a16="http://schemas.microsoft.com/office/drawing/2014/main" id="{DD5791F8-6300-874A-BA3B-28724F460D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425" y="3816351"/>
                          <a:ext cx="4321175" cy="2254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7">
              <a:extLst>
                <a:ext uri="{FF2B5EF4-FFF2-40B4-BE49-F238E27FC236}">
                  <a16:creationId xmlns:a16="http://schemas.microsoft.com/office/drawing/2014/main" id="{26AFDBE5-14D0-6151-7B94-CB8676F51F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8027062"/>
                </p:ext>
              </p:extLst>
            </p:nvPr>
          </p:nvGraphicFramePr>
          <p:xfrm>
            <a:off x="5029201" y="3846830"/>
            <a:ext cx="3735388" cy="2035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5" name="文档" r:id="rId6" imgW="3209612" imgH="1614713" progId="Word.Document.8">
                    <p:embed/>
                  </p:oleObj>
                </mc:Choice>
                <mc:Fallback>
                  <p:oleObj name="文档" r:id="rId6" imgW="3209612" imgH="1614713" progId="Word.Document.8">
                    <p:embed/>
                    <p:pic>
                      <p:nvPicPr>
                        <p:cNvPr id="19" name="Object 7">
                          <a:extLst>
                            <a:ext uri="{FF2B5EF4-FFF2-40B4-BE49-F238E27FC236}">
                              <a16:creationId xmlns:a16="http://schemas.microsoft.com/office/drawing/2014/main" id="{92A044CA-FA2D-AE48-8A31-A8BB74D23E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1" y="3846830"/>
                          <a:ext cx="3735388" cy="2035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 Box 14">
              <a:extLst>
                <a:ext uri="{FF2B5EF4-FFF2-40B4-BE49-F238E27FC236}">
                  <a16:creationId xmlns:a16="http://schemas.microsoft.com/office/drawing/2014/main" id="{355E58F9-5373-6CAB-31AE-3D4A74C06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893" y="4574698"/>
              <a:ext cx="380999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432FF"/>
                  </a:solidFill>
                </a:rPr>
                <a:t>0</a:t>
              </a:r>
            </a:p>
          </p:txBody>
        </p:sp>
        <p:sp>
          <p:nvSpPr>
            <p:cNvPr id="49" name="Text Box 15">
              <a:extLst>
                <a:ext uri="{FF2B5EF4-FFF2-40B4-BE49-F238E27FC236}">
                  <a16:creationId xmlns:a16="http://schemas.microsoft.com/office/drawing/2014/main" id="{62D03555-B68E-2BC2-DC2F-5577520A6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708401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432FF"/>
                  </a:solidFill>
                </a:rPr>
                <a:t>1</a:t>
              </a:r>
            </a:p>
          </p:txBody>
        </p:sp>
        <p:sp>
          <p:nvSpPr>
            <p:cNvPr id="50" name="Text Box 16">
              <a:extLst>
                <a:ext uri="{FF2B5EF4-FFF2-40B4-BE49-F238E27FC236}">
                  <a16:creationId xmlns:a16="http://schemas.microsoft.com/office/drawing/2014/main" id="{0FBD16AD-F4E7-5FA7-C4C5-87EAB5860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798" y="5109508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432FF"/>
                  </a:solidFill>
                </a:rPr>
                <a:t>D</a:t>
              </a:r>
              <a:r>
                <a:rPr lang="en-US" altLang="zh-CN" sz="2800" i="1" baseline="30000" dirty="0">
                  <a:solidFill>
                    <a:srgbClr val="0432FF"/>
                  </a:solidFill>
                  <a:latin typeface="Arial" pitchFamily="34" charset="0"/>
                </a:rPr>
                <a:t>’</a:t>
              </a:r>
              <a:endParaRPr lang="en-US" altLang="zh-CN" sz="2800" i="1" dirty="0">
                <a:solidFill>
                  <a:srgbClr val="0432FF"/>
                </a:solidFill>
              </a:endParaRPr>
            </a:p>
          </p:txBody>
        </p:sp>
        <p:sp>
          <p:nvSpPr>
            <p:cNvPr id="51" name="Text Box 18">
              <a:extLst>
                <a:ext uri="{FF2B5EF4-FFF2-40B4-BE49-F238E27FC236}">
                  <a16:creationId xmlns:a16="http://schemas.microsoft.com/office/drawing/2014/main" id="{AE4190C2-5E29-6769-F287-EC0422141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791" y="3856036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432FF"/>
                  </a:solidFill>
                </a:rPr>
                <a:t>Q</a:t>
              </a:r>
              <a:r>
                <a:rPr lang="zh-CN" altLang="en-US" sz="2800" i="1" dirty="0">
                  <a:solidFill>
                    <a:srgbClr val="0432FF"/>
                  </a:solidFill>
                </a:rPr>
                <a:t> </a:t>
              </a:r>
              <a:endParaRPr lang="en-US" altLang="zh-CN" sz="2800" i="1" dirty="0">
                <a:solidFill>
                  <a:srgbClr val="0432FF"/>
                </a:solidFill>
              </a:endParaRPr>
            </a:p>
          </p:txBody>
        </p:sp>
        <p:sp>
          <p:nvSpPr>
            <p:cNvPr id="52" name="Text Box 19">
              <a:extLst>
                <a:ext uri="{FF2B5EF4-FFF2-40B4-BE49-F238E27FC236}">
                  <a16:creationId xmlns:a16="http://schemas.microsoft.com/office/drawing/2014/main" id="{D9474DE3-49AB-77F5-965E-77318D0A3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505" y="4899820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432FF"/>
                  </a:solidFill>
                </a:rPr>
                <a:t>Q</a:t>
              </a:r>
              <a:r>
                <a:rPr lang="en-US" altLang="zh-CN" sz="2800" i="1" baseline="30000" dirty="0">
                  <a:solidFill>
                    <a:srgbClr val="0432FF"/>
                  </a:solidFill>
                  <a:latin typeface="Arial" pitchFamily="34" charset="0"/>
                </a:rPr>
                <a:t>’</a:t>
              </a:r>
              <a:endParaRPr lang="en-US" altLang="zh-CN" sz="2800" i="1" dirty="0">
                <a:solidFill>
                  <a:srgbClr val="0432FF"/>
                </a:solidFill>
              </a:endParaRPr>
            </a:p>
          </p:txBody>
        </p:sp>
        <p:sp>
          <p:nvSpPr>
            <p:cNvPr id="53" name="矩形 17">
              <a:extLst>
                <a:ext uri="{FF2B5EF4-FFF2-40B4-BE49-F238E27FC236}">
                  <a16:creationId xmlns:a16="http://schemas.microsoft.com/office/drawing/2014/main" id="{979D8D93-A8E7-5FEA-D9A7-6D7DEA4CD3C6}"/>
                </a:ext>
              </a:extLst>
            </p:cNvPr>
            <p:cNvSpPr/>
            <p:nvPr/>
          </p:nvSpPr>
          <p:spPr bwMode="auto">
            <a:xfrm flipV="1">
              <a:off x="5029200" y="5227637"/>
              <a:ext cx="3635375" cy="461308"/>
            </a:xfrm>
            <a:prstGeom prst="rect">
              <a:avLst/>
            </a:prstGeom>
            <a:noFill/>
            <a:ln w="2857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400" b="1" i="0" u="none" strike="noStrike" cap="none" normalizeH="0" baseline="0">
                <a:ln>
                  <a:noFill/>
                </a:ln>
                <a:solidFill>
                  <a:srgbClr val="0432FF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54" name="Text Box 18">
              <a:extLst>
                <a:ext uri="{FF2B5EF4-FFF2-40B4-BE49-F238E27FC236}">
                  <a16:creationId xmlns:a16="http://schemas.microsoft.com/office/drawing/2014/main" id="{7B8975CB-362C-796B-52C1-121569B44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4871563"/>
              <a:ext cx="685800" cy="6436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432FF"/>
                  </a:solidFill>
                </a:rPr>
                <a:t>1</a:t>
              </a:r>
            </a:p>
          </p:txBody>
        </p:sp>
      </p:grpSp>
      <p:sp>
        <p:nvSpPr>
          <p:cNvPr id="61" name="Rectangle 6">
            <a:extLst>
              <a:ext uri="{FF2B5EF4-FFF2-40B4-BE49-F238E27FC236}">
                <a16:creationId xmlns:a16="http://schemas.microsoft.com/office/drawing/2014/main" id="{EEDA465D-F1DB-4980-B74D-2430F3D47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1270" y="1897959"/>
            <a:ext cx="777875" cy="1260475"/>
          </a:xfrm>
          <a:prstGeom prst="rect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ACF705E2-7EDD-42E8-B5B4-877650DA9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771" y="1950625"/>
            <a:ext cx="19526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3" name="Rectangle 8">
            <a:extLst>
              <a:ext uri="{FF2B5EF4-FFF2-40B4-BE49-F238E27FC236}">
                <a16:creationId xmlns:a16="http://schemas.microsoft.com/office/drawing/2014/main" id="{C0200FCE-EFA5-491E-ADF1-1CFC4BA4B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6733" y="1950625"/>
            <a:ext cx="1936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4" name="Line 9">
            <a:extLst>
              <a:ext uri="{FF2B5EF4-FFF2-40B4-BE49-F238E27FC236}">
                <a16:creationId xmlns:a16="http://schemas.microsoft.com/office/drawing/2014/main" id="{E4DFA293-A7D5-4695-B91D-ED136A918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8208" y="2128425"/>
            <a:ext cx="357188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Line 10">
            <a:extLst>
              <a:ext uri="{FF2B5EF4-FFF2-40B4-BE49-F238E27FC236}">
                <a16:creationId xmlns:a16="http://schemas.microsoft.com/office/drawing/2014/main" id="{E58CDE84-C859-4250-9D8A-EEE1E6154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9147" y="2128425"/>
            <a:ext cx="322620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Line 11">
            <a:extLst>
              <a:ext uri="{FF2B5EF4-FFF2-40B4-BE49-F238E27FC236}">
                <a16:creationId xmlns:a16="http://schemas.microsoft.com/office/drawing/2014/main" id="{39419B1C-0A9E-4014-86E4-11B84B670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3909" y="2826925"/>
            <a:ext cx="317858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Rectangle 12">
            <a:extLst>
              <a:ext uri="{FF2B5EF4-FFF2-40B4-BE49-F238E27FC236}">
                <a16:creationId xmlns:a16="http://schemas.microsoft.com/office/drawing/2014/main" id="{4703538C-A73F-4256-AB4E-7FB66EBDB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5395" y="4006067"/>
            <a:ext cx="779462" cy="1260475"/>
          </a:xfrm>
          <a:prstGeom prst="rect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Rectangle 13">
            <a:extLst>
              <a:ext uri="{FF2B5EF4-FFF2-40B4-BE49-F238E27FC236}">
                <a16:creationId xmlns:a16="http://schemas.microsoft.com/office/drawing/2014/main" id="{836D0F16-925E-4329-9FC5-E2C64EBD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482" y="4109254"/>
            <a:ext cx="195263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9" name="Rectangle 14">
            <a:extLst>
              <a:ext uri="{FF2B5EF4-FFF2-40B4-BE49-F238E27FC236}">
                <a16:creationId xmlns:a16="http://schemas.microsoft.com/office/drawing/2014/main" id="{84B98151-38B2-47FE-B6D4-72C76F9AA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2445" y="4109254"/>
            <a:ext cx="19526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0" name="Line 15">
            <a:extLst>
              <a:ext uri="{FF2B5EF4-FFF2-40B4-BE49-F238E27FC236}">
                <a16:creationId xmlns:a16="http://schemas.microsoft.com/office/drawing/2014/main" id="{6A59F4B0-7171-4544-A8EC-CE71C26D6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8207" y="4288642"/>
            <a:ext cx="357188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Line 16">
            <a:extLst>
              <a:ext uri="{FF2B5EF4-FFF2-40B4-BE49-F238E27FC236}">
                <a16:creationId xmlns:a16="http://schemas.microsoft.com/office/drawing/2014/main" id="{1C9E936F-051F-4AD4-A7B6-94DD8A54F7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857" y="4287054"/>
            <a:ext cx="357188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Line 17">
            <a:extLst>
              <a:ext uri="{FF2B5EF4-FFF2-40B4-BE49-F238E27FC236}">
                <a16:creationId xmlns:a16="http://schemas.microsoft.com/office/drawing/2014/main" id="{389A9911-F345-4440-A757-C97D2DD25E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5032" y="4985554"/>
            <a:ext cx="233363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Rectangle 18">
            <a:extLst>
              <a:ext uri="{FF2B5EF4-FFF2-40B4-BE49-F238E27FC236}">
                <a16:creationId xmlns:a16="http://schemas.microsoft.com/office/drawing/2014/main" id="{26B1E59B-C9B9-403C-B942-3F672050E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2445" y="4774417"/>
            <a:ext cx="195262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4" name="Oval 19">
            <a:extLst>
              <a:ext uri="{FF2B5EF4-FFF2-40B4-BE49-F238E27FC236}">
                <a16:creationId xmlns:a16="http://schemas.microsoft.com/office/drawing/2014/main" id="{D951D41B-5B04-4B24-B6BF-748801EA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857" y="4917292"/>
            <a:ext cx="114300" cy="1397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Oval 20">
            <a:extLst>
              <a:ext uri="{FF2B5EF4-FFF2-40B4-BE49-F238E27FC236}">
                <a16:creationId xmlns:a16="http://schemas.microsoft.com/office/drawing/2014/main" id="{A5DE3E54-8B2F-439C-BE59-00B17A897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857" y="4917292"/>
            <a:ext cx="114300" cy="139700"/>
          </a:xfrm>
          <a:prstGeom prst="ellips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Rectangle 21">
            <a:extLst>
              <a:ext uri="{FF2B5EF4-FFF2-40B4-BE49-F238E27FC236}">
                <a16:creationId xmlns:a16="http://schemas.microsoft.com/office/drawing/2014/main" id="{0099FFE5-6E76-4BC1-8D8A-47B97EF7C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771" y="2623414"/>
            <a:ext cx="1793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 b="0" i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7" name="Rectangle 22">
            <a:extLst>
              <a:ext uri="{FF2B5EF4-FFF2-40B4-BE49-F238E27FC236}">
                <a16:creationId xmlns:a16="http://schemas.microsoft.com/office/drawing/2014/main" id="{E6DF2784-05B1-4452-9A92-B095381DB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482" y="4811777"/>
            <a:ext cx="1793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 b="0" i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8" name="Line 23">
            <a:extLst>
              <a:ext uri="{FF2B5EF4-FFF2-40B4-BE49-F238E27FC236}">
                <a16:creationId xmlns:a16="http://schemas.microsoft.com/office/drawing/2014/main" id="{9441482A-840B-421D-874B-BD7257EBA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7732" y="2825026"/>
            <a:ext cx="347663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Line 24">
            <a:extLst>
              <a:ext uri="{FF2B5EF4-FFF2-40B4-BE49-F238E27FC236}">
                <a16:creationId xmlns:a16="http://schemas.microsoft.com/office/drawing/2014/main" id="{9412C1D8-6A6A-4464-ACC8-ABD522B03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8207" y="5003865"/>
            <a:ext cx="357188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">
                <a:extLst>
                  <a:ext uri="{FF2B5EF4-FFF2-40B4-BE49-F238E27FC236}">
                    <a16:creationId xmlns:a16="http://schemas.microsoft.com/office/drawing/2014/main" id="{A919CAC9-9082-435B-BFBF-E2412A5544F5}"/>
                  </a:ext>
                </a:extLst>
              </p:cNvPr>
              <p:cNvSpPr/>
              <p:nvPr/>
            </p:nvSpPr>
            <p:spPr>
              <a:xfrm>
                <a:off x="8168230" y="2586485"/>
                <a:ext cx="479042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80" name="Rectangle 7">
                <a:extLst>
                  <a:ext uri="{FF2B5EF4-FFF2-40B4-BE49-F238E27FC236}">
                    <a16:creationId xmlns:a16="http://schemas.microsoft.com/office/drawing/2014/main" id="{A919CAC9-9082-435B-BFBF-E2412A5544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230" y="2586485"/>
                <a:ext cx="479042" cy="462434"/>
              </a:xfrm>
              <a:prstGeom prst="rect">
                <a:avLst/>
              </a:prstGeom>
              <a:blipFill>
                <a:blip r:embed="rId8"/>
                <a:stretch>
                  <a:fillRect r="-8861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18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(</a:t>
            </a:r>
            <a:r>
              <a:rPr lang="zh-CN" altLang="en-US" dirty="0"/>
              <a:t>门控</a:t>
            </a:r>
            <a:r>
              <a:rPr lang="en-US" altLang="zh-CN" dirty="0"/>
              <a:t>) D</a:t>
            </a:r>
            <a:r>
              <a:rPr lang="zh-CN" altLang="en-US" dirty="0"/>
              <a:t>锁存器：另一种实现方法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5AE97-F388-AF43-9E49-7D0CD0DB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19" name="图片 20">
            <a:extLst>
              <a:ext uri="{FF2B5EF4-FFF2-40B4-BE49-F238E27FC236}">
                <a16:creationId xmlns:a16="http://schemas.microsoft.com/office/drawing/2014/main" id="{4B5260D0-4B18-7C49-8F0B-A20AA24E7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213" y="1295400"/>
            <a:ext cx="5395574" cy="41674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C4DBC5-10EE-8048-BAD3-3A4C4109C71F}"/>
              </a:ext>
            </a:extLst>
          </p:cNvPr>
          <p:cNvSpPr txBox="1"/>
          <p:nvPr/>
        </p:nvSpPr>
        <p:spPr>
          <a:xfrm>
            <a:off x="681038" y="5725180"/>
            <a:ext cx="8015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8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en-CN" sz="2800" baseline="30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CN" sz="28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=D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：下降沿锁定，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CLK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为高时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跟踪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D(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透明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)</a:t>
            </a:r>
            <a:endParaRPr lang="en-CN" sz="2800" dirty="0">
              <a:solidFill>
                <a:schemeClr val="tx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831EDF2B-D56B-6A4E-B68E-74EC1E3FF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974986"/>
            <a:ext cx="108159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i="1" dirty="0">
                <a:solidFill>
                  <a:srgbClr val="0432FF"/>
                </a:solidFill>
              </a:rPr>
              <a:t>VDD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AD306F80-409B-A942-AB03-801F2B13821A}"/>
              </a:ext>
            </a:extLst>
          </p:cNvPr>
          <p:cNvCxnSpPr>
            <a:cxnSpLocks/>
          </p:cNvCxnSpPr>
          <p:nvPr/>
        </p:nvCxnSpPr>
        <p:spPr>
          <a:xfrm flipV="1">
            <a:off x="2324820" y="2926771"/>
            <a:ext cx="4686486" cy="1362688"/>
          </a:xfrm>
          <a:prstGeom prst="bentConnector3">
            <a:avLst>
              <a:gd name="adj1" fmla="val 64634"/>
            </a:avLst>
          </a:prstGeom>
          <a:ln w="571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EFDCA886-8656-FEE3-93F9-0A5254C540ED}"/>
              </a:ext>
            </a:extLst>
          </p:cNvPr>
          <p:cNvGrpSpPr/>
          <p:nvPr/>
        </p:nvGrpSpPr>
        <p:grpSpPr>
          <a:xfrm>
            <a:off x="3810000" y="2450134"/>
            <a:ext cx="693057" cy="1942859"/>
            <a:chOff x="3810000" y="2450134"/>
            <a:chExt cx="693057" cy="1942859"/>
          </a:xfrm>
        </p:grpSpPr>
        <p:sp>
          <p:nvSpPr>
            <p:cNvPr id="21" name="Text Box 15">
              <a:extLst>
                <a:ext uri="{FF2B5EF4-FFF2-40B4-BE49-F238E27FC236}">
                  <a16:creationId xmlns:a16="http://schemas.microsoft.com/office/drawing/2014/main" id="{2C450BFE-CF23-EC4D-BBAA-D3DA94A19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257" y="2450134"/>
              <a:ext cx="685800" cy="5794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432FF"/>
                  </a:solidFill>
                  <a:sym typeface="Wingdings" panose="05000000000000000000" pitchFamily="2" charset="2"/>
                </a:rPr>
                <a:t></a:t>
              </a:r>
              <a:endParaRPr lang="en-US" altLang="zh-CN" sz="3200" dirty="0">
                <a:solidFill>
                  <a:srgbClr val="0432FF"/>
                </a:solidFill>
              </a:endParaRP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217B8BE6-D14F-4EC2-9522-D443E4FA6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3808218"/>
              <a:ext cx="685800" cy="5847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432FF"/>
                  </a:solidFill>
                  <a:latin typeface="+mj-lt"/>
                  <a:sym typeface="Wingdings" panose="05000000000000000000" pitchFamily="2" charset="2"/>
                </a:rPr>
                <a:t></a:t>
              </a:r>
              <a:endParaRPr lang="en-US" altLang="zh-CN" sz="3200" dirty="0">
                <a:solidFill>
                  <a:srgbClr val="0432FF"/>
                </a:solidFill>
                <a:latin typeface="+mj-l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E5A138A-417E-8E8C-8904-EC86015BC19E}"/>
              </a:ext>
            </a:extLst>
          </p:cNvPr>
          <p:cNvGrpSpPr/>
          <p:nvPr/>
        </p:nvGrpSpPr>
        <p:grpSpPr>
          <a:xfrm>
            <a:off x="3105150" y="2082479"/>
            <a:ext cx="4568144" cy="2305177"/>
            <a:chOff x="3105150" y="2082479"/>
            <a:chExt cx="4568144" cy="2305177"/>
          </a:xfrm>
        </p:grpSpPr>
        <p:sp>
          <p:nvSpPr>
            <p:cNvPr id="8" name="Text Box 15">
              <a:extLst>
                <a:ext uri="{FF2B5EF4-FFF2-40B4-BE49-F238E27FC236}">
                  <a16:creationId xmlns:a16="http://schemas.microsoft.com/office/drawing/2014/main" id="{E5557E99-D6C8-9F4C-AE81-1943C352C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7494" y="2082479"/>
              <a:ext cx="685800" cy="5794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i="1" dirty="0">
                  <a:solidFill>
                    <a:srgbClr val="0432FF"/>
                  </a:solidFill>
                </a:rPr>
                <a:t>D</a:t>
              </a:r>
            </a:p>
          </p:txBody>
        </p:sp>
        <p:sp>
          <p:nvSpPr>
            <p:cNvPr id="9" name="Text Box 15">
              <a:extLst>
                <a:ext uri="{FF2B5EF4-FFF2-40B4-BE49-F238E27FC236}">
                  <a16:creationId xmlns:a16="http://schemas.microsoft.com/office/drawing/2014/main" id="{BD9B7FC5-F1D2-0845-9D6A-5EF7D55E2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150" y="2111554"/>
              <a:ext cx="685800" cy="5794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i="1" dirty="0">
                  <a:solidFill>
                    <a:srgbClr val="0432FF"/>
                  </a:solidFill>
                </a:rPr>
                <a:t>Q’</a:t>
              </a:r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7544688A-69BF-43B4-B924-077CC517B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7368" y="3802881"/>
              <a:ext cx="715220" cy="5847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i="1" dirty="0">
                  <a:solidFill>
                    <a:srgbClr val="0432FF"/>
                  </a:solidFill>
                </a:rPr>
                <a:t>D’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841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20">
            <a:extLst>
              <a:ext uri="{FF2B5EF4-FFF2-40B4-BE49-F238E27FC236}">
                <a16:creationId xmlns:a16="http://schemas.microsoft.com/office/drawing/2014/main" id="{4B5260D0-4B18-7C49-8F0B-A20AA24E7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213" y="1395174"/>
            <a:ext cx="5395574" cy="41674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C4DBC5-10EE-8048-BAD3-3A4C4109C71F}"/>
              </a:ext>
            </a:extLst>
          </p:cNvPr>
          <p:cNvSpPr txBox="1"/>
          <p:nvPr/>
        </p:nvSpPr>
        <p:spPr>
          <a:xfrm>
            <a:off x="228600" y="5725180"/>
            <a:ext cx="8732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8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en-CN" sz="2800" baseline="30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CN" sz="28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=D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：下降沿锁定，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CLK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为低时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zh-CN" altLang="x-none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Q’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形成闭环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锁定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)</a:t>
            </a:r>
            <a:endParaRPr lang="en-CN" sz="2800" dirty="0">
              <a:solidFill>
                <a:schemeClr val="tx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5378B9C-76FC-4F45-BAD6-E65ED3FF1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(</a:t>
            </a:r>
            <a:r>
              <a:rPr lang="zh-CN" altLang="en-US" dirty="0"/>
              <a:t>门控</a:t>
            </a:r>
            <a:r>
              <a:rPr lang="en-US" altLang="zh-CN" dirty="0"/>
              <a:t>) D</a:t>
            </a:r>
            <a:r>
              <a:rPr lang="zh-CN" altLang="en-US" dirty="0"/>
              <a:t>锁存器：另一种实现方法</a:t>
            </a:r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D1D3B-7441-4146-AF86-F5227ACF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901E6002-F57C-604F-A29B-9223BE866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943287"/>
            <a:ext cx="143835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i="1" dirty="0">
                <a:solidFill>
                  <a:srgbClr val="0432FF"/>
                </a:solidFill>
              </a:rPr>
              <a:t>GND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CB9302F4-9674-2944-9340-12611969E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1932" y="2842011"/>
            <a:ext cx="68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i="1" dirty="0">
                <a:solidFill>
                  <a:srgbClr val="0432FF"/>
                </a:solidFill>
              </a:rPr>
              <a:t>Q’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566E53-A656-5F44-80C0-1B12200AC1F5}"/>
              </a:ext>
            </a:extLst>
          </p:cNvPr>
          <p:cNvSpPr/>
          <p:nvPr/>
        </p:nvSpPr>
        <p:spPr>
          <a:xfrm>
            <a:off x="2357888" y="1638925"/>
            <a:ext cx="4195312" cy="1143000"/>
          </a:xfrm>
          <a:prstGeom prst="ellipse">
            <a:avLst/>
          </a:prstGeom>
          <a:noFill/>
          <a:ln w="57150">
            <a:solidFill>
              <a:srgbClr val="0432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FD2A23-E0E6-0A47-A7C6-AD2DD42B5A27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4455544" y="2781925"/>
            <a:ext cx="2631056" cy="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A44986-25E3-2D40-8ECD-ADB40606A430}"/>
              </a:ext>
            </a:extLst>
          </p:cNvPr>
          <p:cNvCxnSpPr>
            <a:cxnSpLocks/>
          </p:cNvCxnSpPr>
          <p:nvPr/>
        </p:nvCxnSpPr>
        <p:spPr>
          <a:xfrm flipH="1">
            <a:off x="4183634" y="1638925"/>
            <a:ext cx="493144" cy="0"/>
          </a:xfrm>
          <a:prstGeom prst="straightConnector1">
            <a:avLst/>
          </a:prstGeom>
          <a:ln w="31750"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BF0046-9F7F-0545-86E1-801682E0663E}"/>
              </a:ext>
            </a:extLst>
          </p:cNvPr>
          <p:cNvCxnSpPr>
            <a:cxnSpLocks/>
          </p:cNvCxnSpPr>
          <p:nvPr/>
        </p:nvCxnSpPr>
        <p:spPr>
          <a:xfrm>
            <a:off x="4208143" y="2777162"/>
            <a:ext cx="182880" cy="0"/>
          </a:xfrm>
          <a:prstGeom prst="straightConnector1">
            <a:avLst/>
          </a:prstGeom>
          <a:ln w="31750"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5">
            <a:extLst>
              <a:ext uri="{FF2B5EF4-FFF2-40B4-BE49-F238E27FC236}">
                <a16:creationId xmlns:a16="http://schemas.microsoft.com/office/drawing/2014/main" id="{E5C508E9-1274-4A89-BE59-E7C5498CF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257" y="4003472"/>
            <a:ext cx="68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endParaRPr lang="en-US" altLang="zh-CN" sz="3200" dirty="0">
              <a:solidFill>
                <a:srgbClr val="0432FF"/>
              </a:solidFill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0301D216-E111-4E50-9A43-9D358DEE2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575" y="2721024"/>
            <a:ext cx="685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endParaRPr lang="en-US" altLang="zh-CN" sz="3200" dirty="0">
              <a:solidFill>
                <a:srgbClr val="0432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6393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时序差异：门控</a:t>
            </a:r>
            <a:r>
              <a:rPr lang="en-US" altLang="zh-CN" dirty="0"/>
              <a:t>SR</a:t>
            </a:r>
            <a:r>
              <a:rPr lang="zh-CN" altLang="en-US" dirty="0"/>
              <a:t>锁存器 </a:t>
            </a:r>
            <a:r>
              <a:rPr lang="en-US" altLang="zh-CN" dirty="0"/>
              <a:t>vs D</a:t>
            </a:r>
            <a:r>
              <a:rPr lang="zh-CN" altLang="en-US" dirty="0"/>
              <a:t>锁存器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96353"/>
            <a:ext cx="8229600" cy="4525963"/>
          </a:xfrm>
        </p:spPr>
        <p:txBody>
          <a:bodyPr/>
          <a:lstStyle/>
          <a:p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都是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下降沿锁定</a:t>
            </a:r>
            <a:endParaRPr lang="en-US" altLang="zh-CN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门控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锁存器的锁定输出只与下降沿的输入有关</a:t>
            </a:r>
            <a:endParaRPr lang="en-US" altLang="zh-CN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门控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SR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锁存器：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端都为低也可以锁定输入</a:t>
            </a:r>
            <a:endParaRPr lang="en-US" altLang="zh-CN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12A4F-0CC2-6947-8400-F3BE67B0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AD9EFBA6-55E7-8A49-BF3F-8762C0A154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331341"/>
              </p:ext>
            </p:extLst>
          </p:nvPr>
        </p:nvGraphicFramePr>
        <p:xfrm>
          <a:off x="5257799" y="2736589"/>
          <a:ext cx="3277900" cy="17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Visio" r:id="rId4" imgW="2935111" imgH="1413311" progId="Visio.Drawing.11">
                  <p:embed/>
                </p:oleObj>
              </mc:Choice>
              <mc:Fallback>
                <p:oleObj name="Visio" r:id="rId4" imgW="2935111" imgH="1413311" progId="Visio.Drawing.11">
                  <p:embed/>
                  <p:pic>
                    <p:nvPicPr>
                      <p:cNvPr id="2150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799" y="2736589"/>
                        <a:ext cx="3277900" cy="17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58390715-5D17-A64A-8A85-3468C6B94F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787776"/>
              </p:ext>
            </p:extLst>
          </p:nvPr>
        </p:nvGraphicFramePr>
        <p:xfrm>
          <a:off x="5595586" y="4511289"/>
          <a:ext cx="2573587" cy="1402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文档" r:id="rId6" imgW="3209612" imgH="1614713" progId="Word.Document.8">
                  <p:embed/>
                </p:oleObj>
              </mc:Choice>
              <mc:Fallback>
                <p:oleObj name="文档" r:id="rId6" imgW="3209612" imgH="1614713" progId="Word.Document.8">
                  <p:embed/>
                  <p:pic>
                    <p:nvPicPr>
                      <p:cNvPr id="2150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586" y="4511289"/>
                        <a:ext cx="2573587" cy="14021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112AC3-A048-6242-859C-1923DE4527AF}"/>
              </a:ext>
            </a:extLst>
          </p:cNvPr>
          <p:cNvSpPr txBox="1"/>
          <p:nvPr/>
        </p:nvSpPr>
        <p:spPr>
          <a:xfrm>
            <a:off x="5334000" y="6091535"/>
            <a:ext cx="2911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en-CN" sz="2400" baseline="30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CN" sz="2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</a:t>
            </a:r>
            <a:endParaRPr lang="en-CN" sz="2400" dirty="0">
              <a:solidFill>
                <a:schemeClr val="tx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ABBDFD22-A417-F842-9795-0F2AB9DC3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478843"/>
              </p:ext>
            </p:extLst>
          </p:nvPr>
        </p:nvGraphicFramePr>
        <p:xfrm>
          <a:off x="1084677" y="2736589"/>
          <a:ext cx="3416241" cy="1649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Visio" r:id="rId8" imgW="2924809" imgH="1411753" progId="Visio.Drawing.11">
                  <p:embed/>
                </p:oleObj>
              </mc:Choice>
              <mc:Fallback>
                <p:oleObj name="Visio" r:id="rId8" imgW="2924809" imgH="1411753" progId="Visio.Drawing.11">
                  <p:embed/>
                  <p:pic>
                    <p:nvPicPr>
                      <p:cNvPr id="2150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677" y="2736589"/>
                        <a:ext cx="3416241" cy="1649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2">
            <a:extLst>
              <a:ext uri="{FF2B5EF4-FFF2-40B4-BE49-F238E27FC236}">
                <a16:creationId xmlns:a16="http://schemas.microsoft.com/office/drawing/2014/main" id="{9FFC107F-EFC8-E141-9537-B46B5376E2D2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11271076"/>
              </p:ext>
            </p:extLst>
          </p:nvPr>
        </p:nvGraphicFramePr>
        <p:xfrm>
          <a:off x="1386123" y="4343400"/>
          <a:ext cx="2573587" cy="173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Document" r:id="rId10" imgW="3778200" imgH="2354760" progId="Word.Document.8">
                  <p:embed/>
                </p:oleObj>
              </mc:Choice>
              <mc:Fallback>
                <p:oleObj name="Document" r:id="rId10" imgW="3778200" imgH="2354760" progId="Word.Document.8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123" y="4343400"/>
                        <a:ext cx="2573587" cy="173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9E3A3A8-A5C3-D841-B89F-1A8812768EDE}"/>
              </a:ext>
            </a:extLst>
          </p:cNvPr>
          <p:cNvSpPr txBox="1"/>
          <p:nvPr/>
        </p:nvSpPr>
        <p:spPr>
          <a:xfrm>
            <a:off x="1295400" y="6091535"/>
            <a:ext cx="2911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CN" sz="2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S+R’Q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(SR=0)</a:t>
            </a:r>
            <a:endParaRPr lang="en-CN" sz="48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11B08-4D43-1A43-81C2-3311FC8AB95B}"/>
              </a:ext>
            </a:extLst>
          </p:cNvPr>
          <p:cNvSpPr/>
          <p:nvPr/>
        </p:nvSpPr>
        <p:spPr>
          <a:xfrm>
            <a:off x="1360012" y="5105400"/>
            <a:ext cx="2678588" cy="280047"/>
          </a:xfrm>
          <a:prstGeom prst="rect">
            <a:avLst/>
          </a:prstGeom>
          <a:noFill/>
          <a:ln>
            <a:solidFill>
              <a:srgbClr val="0432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0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锁存器的时序参数</a:t>
            </a:r>
            <a:endParaRPr lang="en-US" altLang="zh-CN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800" b="0" dirty="0">
                <a:solidFill>
                  <a:srgbClr val="0432FF"/>
                </a:solidFill>
              </a:rPr>
              <a:t>最小脉冲宽度</a:t>
            </a:r>
            <a:endParaRPr lang="en-US" altLang="zh-CN" sz="2800" b="0" dirty="0">
              <a:solidFill>
                <a:srgbClr val="0432FF"/>
              </a:solidFill>
            </a:endParaRPr>
          </a:p>
          <a:p>
            <a:pPr lvl="1" eaLnBrk="1" hangingPunct="1">
              <a:buFont typeface="Wingdings" pitchFamily="2" charset="2"/>
              <a:buChar char="ü"/>
            </a:pPr>
            <a:r>
              <a:rPr lang="zh-CN" altLang="en-US" sz="2400" b="0" dirty="0"/>
              <a:t>以根据输入获得所需输出结果</a:t>
            </a:r>
            <a:endParaRPr lang="en-US" altLang="zh-CN" sz="24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88D85-EB03-F841-BF38-9E517800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FCB8B9D7-F412-344D-8248-07EBF5A6C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10928"/>
              </p:ext>
            </p:extLst>
          </p:nvPr>
        </p:nvGraphicFramePr>
        <p:xfrm>
          <a:off x="636578" y="3339966"/>
          <a:ext cx="7870844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Visio" r:id="rId4" imgW="6304077" imgH="2196722" progId="Visio.Drawing.11">
                  <p:embed/>
                </p:oleObj>
              </mc:Choice>
              <mc:Fallback>
                <p:oleObj name="Visio" r:id="rId4" imgW="6304077" imgH="2196722" progId="Visio.Drawing.11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FCB8B9D7-F412-344D-8248-07EBF5A6CB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78" y="3339966"/>
                        <a:ext cx="7870844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5">
            <a:extLst>
              <a:ext uri="{FF2B5EF4-FFF2-40B4-BE49-F238E27FC236}">
                <a16:creationId xmlns:a16="http://schemas.microsoft.com/office/drawing/2014/main" id="{091F8F63-BDF8-EA4C-8783-1D81F2E7A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936" y="3140208"/>
            <a:ext cx="1142512" cy="399714"/>
          </a:xfrm>
          <a:prstGeom prst="ellipse">
            <a:avLst/>
          </a:prstGeom>
          <a:noFill/>
          <a:ln w="25400" cap="sq" algn="ctr">
            <a:solidFill>
              <a:srgbClr val="0432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EB9EB94B-B915-0A40-90EF-E8379CE13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801987"/>
              </p:ext>
            </p:extLst>
          </p:nvPr>
        </p:nvGraphicFramePr>
        <p:xfrm>
          <a:off x="6553200" y="1493570"/>
          <a:ext cx="1766816" cy="129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Visio" r:id="rId6" imgW="1514337" imgH="1027371" progId="Visio.Drawing.11">
                  <p:embed/>
                </p:oleObj>
              </mc:Choice>
              <mc:Fallback>
                <p:oleObj name="Visio" r:id="rId6" imgW="1514337" imgH="1027371" progId="Visio.Drawing.11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EB9EB94B-B915-0A40-90EF-E8379CE130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493570"/>
                        <a:ext cx="1766816" cy="129819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0769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锁存器的时序参数</a:t>
            </a:r>
            <a:endParaRPr lang="en-US" altLang="zh-CN" dirty="0"/>
          </a:p>
        </p:txBody>
      </p:sp>
      <p:graphicFrame>
        <p:nvGraphicFramePr>
          <p:cNvPr id="20482" name="Object 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456798"/>
              </p:ext>
            </p:extLst>
          </p:nvPr>
        </p:nvGraphicFramePr>
        <p:xfrm>
          <a:off x="609600" y="2468671"/>
          <a:ext cx="5334000" cy="411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Visio" r:id="rId4" imgW="3779701" imgH="2917431" progId="Visio.Drawing.11">
                  <p:embed/>
                </p:oleObj>
              </mc:Choice>
              <mc:Fallback>
                <p:oleObj name="Visio" r:id="rId4" imgW="3779701" imgH="2917431" progId="Visio.Drawing.11">
                  <p:embed/>
                  <p:pic>
                    <p:nvPicPr>
                      <p:cNvPr id="2048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468671"/>
                        <a:ext cx="5334000" cy="411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6D68D0-3592-6143-8BB5-119D0FD8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107761"/>
              </p:ext>
            </p:extLst>
          </p:nvPr>
        </p:nvGraphicFramePr>
        <p:xfrm>
          <a:off x="6303168" y="3651953"/>
          <a:ext cx="2383632" cy="1751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Visio" r:id="rId6" imgW="1514337" imgH="1027371" progId="Visio.Drawing.11">
                  <p:embed/>
                </p:oleObj>
              </mc:Choice>
              <mc:Fallback>
                <p:oleObj name="Visio" r:id="rId6" imgW="1514337" imgH="1027371" progId="Visio.Drawing.11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3168" y="3651953"/>
                        <a:ext cx="2383632" cy="1751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FE59BFF9-73C5-58C1-4916-5A502A551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b="0" kern="0" dirty="0">
                <a:solidFill>
                  <a:srgbClr val="0432FF"/>
                </a:solidFill>
              </a:rPr>
              <a:t>延迟</a:t>
            </a:r>
            <a:endParaRPr lang="en-US" altLang="zh-CN" sz="2800" b="0" kern="0" dirty="0">
              <a:solidFill>
                <a:srgbClr val="0432FF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zh-CN" altLang="en-US" sz="2400" b="0" dirty="0">
                <a:solidFill>
                  <a:srgbClr val="000000"/>
                </a:solidFill>
                <a:latin typeface="+mn-ea"/>
                <a:ea typeface="+mn-ea"/>
              </a:rPr>
              <a:t>从输入得到相应输出的时间间隔</a:t>
            </a:r>
            <a:endParaRPr lang="en-US" altLang="zh-CN" sz="2400" b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5753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锁存器的时序参数</a:t>
            </a:r>
            <a:endParaRPr lang="en-US" altLang="zh-C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42B744-0B9A-984C-93F9-3828082D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C467EDF-9C9A-7F4D-99F7-955FCF7D7FBD}"/>
              </a:ext>
            </a:extLst>
          </p:cNvPr>
          <p:cNvGrpSpPr/>
          <p:nvPr/>
        </p:nvGrpSpPr>
        <p:grpSpPr>
          <a:xfrm>
            <a:off x="381000" y="2514600"/>
            <a:ext cx="5631137" cy="4273134"/>
            <a:chOff x="289763" y="2678914"/>
            <a:chExt cx="5631137" cy="4273134"/>
          </a:xfrm>
        </p:grpSpPr>
        <p:graphicFrame>
          <p:nvGraphicFramePr>
            <p:cNvPr id="7" name="Object 3">
              <a:extLst>
                <a:ext uri="{FF2B5EF4-FFF2-40B4-BE49-F238E27FC236}">
                  <a16:creationId xmlns:a16="http://schemas.microsoft.com/office/drawing/2014/main" id="{0784880E-B3FA-2745-BFE5-EA8B0CB0D1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7846926"/>
                </p:ext>
              </p:extLst>
            </p:nvPr>
          </p:nvGraphicFramePr>
          <p:xfrm>
            <a:off x="289763" y="3147286"/>
            <a:ext cx="5631137" cy="3804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5" name="Visio" r:id="rId4" imgW="3999337" imgH="2701219" progId="Visio.Drawing.11">
                    <p:embed/>
                  </p:oleObj>
                </mc:Choice>
                <mc:Fallback>
                  <p:oleObj name="Visio" r:id="rId4" imgW="3999337" imgH="2701219" progId="Visio.Drawing.11">
                    <p:embed/>
                    <p:pic>
                      <p:nvPicPr>
                        <p:cNvPr id="7" name="Object 3">
                          <a:extLst>
                            <a:ext uri="{FF2B5EF4-FFF2-40B4-BE49-F238E27FC236}">
                              <a16:creationId xmlns:a16="http://schemas.microsoft.com/office/drawing/2014/main" id="{0784880E-B3FA-2745-BFE5-EA8B0CB0D1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763" y="3147286"/>
                          <a:ext cx="5631137" cy="3804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AAB09C-70E2-2646-8B77-819498C4050D}"/>
                </a:ext>
              </a:extLst>
            </p:cNvPr>
            <p:cNvSpPr txBox="1"/>
            <p:nvPr/>
          </p:nvSpPr>
          <p:spPr>
            <a:xfrm>
              <a:off x="900995" y="2678914"/>
              <a:ext cx="47227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ampling </a:t>
              </a:r>
              <a:r>
                <a: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shaded regions </a:t>
              </a:r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 neg C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94583D-9E9F-7D47-A47E-913C402AEC8C}"/>
              </a:ext>
            </a:extLst>
          </p:cNvPr>
          <p:cNvSpPr txBox="1"/>
          <p:nvPr/>
        </p:nvSpPr>
        <p:spPr>
          <a:xfrm>
            <a:off x="6395902" y="3156630"/>
            <a:ext cx="2443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C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ampling @ pos C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41DA2223-4782-428F-9281-94950801B659}"/>
              </a:ext>
            </a:extLst>
          </p:cNvPr>
          <p:cNvCxnSpPr>
            <a:cxnSpLocks/>
          </p:cNvCxnSpPr>
          <p:nvPr/>
        </p:nvCxnSpPr>
        <p:spPr>
          <a:xfrm>
            <a:off x="6982371" y="4356886"/>
            <a:ext cx="1521615" cy="584200"/>
          </a:xfrm>
          <a:prstGeom prst="bentConnector3">
            <a:avLst>
              <a:gd name="adj1" fmla="val 75373"/>
            </a:avLst>
          </a:prstGeom>
          <a:ln w="317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C709E6B6-3151-40C3-977A-D280C62FCDF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91108" y="5245885"/>
            <a:ext cx="1315598" cy="398091"/>
          </a:xfrm>
          <a:prstGeom prst="bentConnector3">
            <a:avLst>
              <a:gd name="adj1" fmla="val 33782"/>
            </a:avLst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5649C44-BFB8-48C4-9174-C17CE27B99E5}"/>
              </a:ext>
            </a:extLst>
          </p:cNvPr>
          <p:cNvCxnSpPr>
            <a:cxnSpLocks/>
          </p:cNvCxnSpPr>
          <p:nvPr/>
        </p:nvCxnSpPr>
        <p:spPr>
          <a:xfrm>
            <a:off x="7866291" y="3991420"/>
            <a:ext cx="0" cy="1940266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13F98A1-BCD1-4128-AA71-B16E38E74DA6}"/>
              </a:ext>
            </a:extLst>
          </p:cNvPr>
          <p:cNvCxnSpPr>
            <a:cxnSpLocks/>
          </p:cNvCxnSpPr>
          <p:nvPr/>
        </p:nvCxnSpPr>
        <p:spPr>
          <a:xfrm>
            <a:off x="8125371" y="3991420"/>
            <a:ext cx="0" cy="1102066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7BD518D-90A1-4E2E-A013-0CA8DFDCB30F}"/>
              </a:ext>
            </a:extLst>
          </p:cNvPr>
          <p:cNvCxnSpPr>
            <a:cxnSpLocks/>
          </p:cNvCxnSpPr>
          <p:nvPr/>
        </p:nvCxnSpPr>
        <p:spPr>
          <a:xfrm>
            <a:off x="7231291" y="3991420"/>
            <a:ext cx="0" cy="1102066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7EC0928-1100-4C4C-B781-730857DAF3F9}"/>
              </a:ext>
            </a:extLst>
          </p:cNvPr>
          <p:cNvCxnSpPr>
            <a:cxnSpLocks/>
          </p:cNvCxnSpPr>
          <p:nvPr/>
        </p:nvCxnSpPr>
        <p:spPr>
          <a:xfrm flipH="1" flipV="1">
            <a:off x="7974031" y="5587482"/>
            <a:ext cx="53760" cy="257005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75A74D8-D6AE-44A5-9E40-A618C807480D}"/>
              </a:ext>
            </a:extLst>
          </p:cNvPr>
          <p:cNvCxnSpPr/>
          <p:nvPr/>
        </p:nvCxnSpPr>
        <p:spPr>
          <a:xfrm>
            <a:off x="7256691" y="4560086"/>
            <a:ext cx="609600" cy="0"/>
          </a:xfrm>
          <a:prstGeom prst="straightConnector1">
            <a:avLst/>
          </a:prstGeom>
          <a:ln w="31750">
            <a:solidFill>
              <a:srgbClr val="0432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C0A8316-81F8-4580-A06F-393299C97D09}"/>
              </a:ext>
            </a:extLst>
          </p:cNvPr>
          <p:cNvCxnSpPr/>
          <p:nvPr/>
        </p:nvCxnSpPr>
        <p:spPr>
          <a:xfrm>
            <a:off x="7647546" y="4255286"/>
            <a:ext cx="218745" cy="0"/>
          </a:xfrm>
          <a:prstGeom prst="straightConnector1">
            <a:avLst/>
          </a:prstGeom>
          <a:ln w="317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C21654A-BD71-4869-90B4-206B7D091355}"/>
              </a:ext>
            </a:extLst>
          </p:cNvPr>
          <p:cNvCxnSpPr>
            <a:cxnSpLocks/>
          </p:cNvCxnSpPr>
          <p:nvPr/>
        </p:nvCxnSpPr>
        <p:spPr>
          <a:xfrm flipH="1">
            <a:off x="8125371" y="4255286"/>
            <a:ext cx="218745" cy="0"/>
          </a:xfrm>
          <a:prstGeom prst="straightConnector1">
            <a:avLst/>
          </a:prstGeom>
          <a:ln w="317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9ECC819-A884-498C-AD56-4FE76D186804}"/>
              </a:ext>
            </a:extLst>
          </p:cNvPr>
          <p:cNvSpPr txBox="1"/>
          <p:nvPr/>
        </p:nvSpPr>
        <p:spPr>
          <a:xfrm>
            <a:off x="8229600" y="4048858"/>
            <a:ext cx="64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solidFill>
                  <a:srgbClr val="0432FF"/>
                </a:solidFill>
                <a:latin typeface="+mn-lt"/>
              </a:rPr>
              <a:t>t</a:t>
            </a:r>
            <a:r>
              <a:rPr lang="en-US" altLang="zh-CN" sz="2000" baseline="-25000" dirty="0" err="1">
                <a:solidFill>
                  <a:srgbClr val="0432FF"/>
                </a:solidFill>
                <a:latin typeface="+mn-lt"/>
              </a:rPr>
              <a:t>h</a:t>
            </a:r>
            <a:endParaRPr lang="zh-CN" altLang="en-US" sz="2000" baseline="-25000" dirty="0">
              <a:solidFill>
                <a:srgbClr val="0432FF"/>
              </a:solidFill>
              <a:latin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75E710-78FE-4FD9-862D-A4F40176D857}"/>
              </a:ext>
            </a:extLst>
          </p:cNvPr>
          <p:cNvSpPr txBox="1"/>
          <p:nvPr/>
        </p:nvSpPr>
        <p:spPr>
          <a:xfrm>
            <a:off x="7256690" y="4523801"/>
            <a:ext cx="64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solidFill>
                  <a:srgbClr val="0432FF"/>
                </a:solidFill>
                <a:latin typeface="+mn-lt"/>
              </a:rPr>
              <a:t>t</a:t>
            </a:r>
            <a:r>
              <a:rPr lang="en-US" altLang="zh-CN" sz="2000" baseline="-25000" dirty="0" err="1">
                <a:solidFill>
                  <a:srgbClr val="0432FF"/>
                </a:solidFill>
                <a:latin typeface="+mn-lt"/>
              </a:rPr>
              <a:t>su</a:t>
            </a:r>
            <a:endParaRPr lang="zh-CN" altLang="en-US" sz="2000" baseline="-25000" dirty="0">
              <a:solidFill>
                <a:srgbClr val="0432FF"/>
              </a:solidFill>
              <a:latin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EF50FB-8568-4283-9E5F-306E1420B0FF}"/>
              </a:ext>
            </a:extLst>
          </p:cNvPr>
          <p:cNvSpPr txBox="1"/>
          <p:nvPr/>
        </p:nvSpPr>
        <p:spPr>
          <a:xfrm>
            <a:off x="6318153" y="5245885"/>
            <a:ext cx="64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C</a:t>
            </a:r>
            <a:endParaRPr lang="zh-CN" altLang="en-US" sz="200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CFA3E32-83E6-4692-A81D-EACCC74AED84}"/>
              </a:ext>
            </a:extLst>
          </p:cNvPr>
          <p:cNvSpPr txBox="1"/>
          <p:nvPr/>
        </p:nvSpPr>
        <p:spPr>
          <a:xfrm>
            <a:off x="6318153" y="4451508"/>
            <a:ext cx="64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432FF"/>
                </a:solidFill>
                <a:latin typeface="+mn-lt"/>
              </a:rPr>
              <a:t>D</a:t>
            </a:r>
            <a:endParaRPr lang="zh-CN" altLang="en-US" sz="2000" baseline="-25000" dirty="0">
              <a:solidFill>
                <a:srgbClr val="0432FF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7C774495-C3DA-F538-4B2B-A120CF0356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199" y="1371600"/>
                <a:ext cx="8686801" cy="1143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zh-CN" altLang="en-US" sz="2800" b="0" dirty="0">
                    <a:solidFill>
                      <a:srgbClr val="0432FF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建立时间</a:t>
                </a:r>
                <a:r>
                  <a:rPr lang="en-US" altLang="zh-CN" sz="2800" b="0" dirty="0">
                    <a:solidFill>
                      <a:srgbClr val="0432FF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(Set-up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𝑠𝑢</m:t>
                        </m:r>
                      </m:sub>
                    </m:sSub>
                  </m:oMath>
                </a14:m>
                <a:r>
                  <a:rPr lang="en-US" altLang="zh-CN" sz="2800" b="0" dirty="0">
                    <a:solidFill>
                      <a:srgbClr val="0432FF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)</a:t>
                </a:r>
                <a:r>
                  <a:rPr lang="en-US" altLang="zh-CN" sz="2800" b="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/</a:t>
                </a:r>
                <a:r>
                  <a:rPr lang="zh-CN" altLang="en-US" sz="2800" b="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保持时间</a:t>
                </a:r>
                <a:r>
                  <a:rPr lang="en-US" altLang="zh-CN" sz="2800" b="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(</a:t>
                </a:r>
                <a:r>
                  <a:rPr lang="en-US" altLang="zh-CN" sz="2800" b="0" dirty="0">
                    <a:solidFill>
                      <a:schemeClr val="accent2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Hold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CN" sz="2800" b="0" dirty="0">
                    <a:solidFill>
                      <a:schemeClr val="accent2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)</a:t>
                </a:r>
                <a:endParaRPr lang="en-US" altLang="zh-CN" sz="2800" b="0" kern="0" dirty="0">
                  <a:solidFill>
                    <a:srgbClr val="0432FF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ü"/>
                </a:pPr>
                <a:r>
                  <a:rPr lang="zh-CN" altLang="en-US" sz="2400" b="0" dirty="0">
                    <a:latin typeface="+mj-ea"/>
                    <a:ea typeface="+mj-ea"/>
                  </a:rPr>
                  <a:t>锁存操作</a:t>
                </a:r>
                <a:r>
                  <a:rPr lang="zh-CN" altLang="en-US" sz="2400" b="0" dirty="0">
                    <a:solidFill>
                      <a:srgbClr val="0432FF"/>
                    </a:solidFill>
                    <a:latin typeface="+mj-ea"/>
                    <a:ea typeface="+mj-ea"/>
                  </a:rPr>
                  <a:t>开始</a:t>
                </a:r>
                <a:r>
                  <a:rPr lang="en-US" altLang="zh-CN" sz="2400" b="0" dirty="0">
                    <a:solidFill>
                      <a:srgbClr val="0432FF"/>
                    </a:solidFill>
                    <a:latin typeface="+mj-ea"/>
                    <a:ea typeface="+mj-ea"/>
                  </a:rPr>
                  <a:t>/</a:t>
                </a:r>
                <a:r>
                  <a:rPr lang="zh-CN" altLang="en-US" sz="2400" b="0" dirty="0">
                    <a:solidFill>
                      <a:schemeClr val="accent2"/>
                    </a:solidFill>
                    <a:latin typeface="+mj-ea"/>
                    <a:ea typeface="+mj-ea"/>
                  </a:rPr>
                  <a:t>结束</a:t>
                </a:r>
                <a:r>
                  <a:rPr lang="zh-CN" altLang="en-US" sz="2400" b="0" dirty="0">
                    <a:latin typeface="+mj-ea"/>
                    <a:ea typeface="+mj-ea"/>
                  </a:rPr>
                  <a:t>之前输入信号需要持续的最短时间</a:t>
                </a:r>
                <a:endParaRPr lang="en-US" altLang="zh-CN" sz="2400" b="0" kern="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7C774495-C3DA-F538-4B2B-A120CF035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199" y="1371600"/>
                <a:ext cx="8686801" cy="1143000"/>
              </a:xfrm>
              <a:prstGeom prst="rect">
                <a:avLst/>
              </a:prstGeom>
              <a:blipFill>
                <a:blip r:embed="rId6"/>
                <a:stretch>
                  <a:fillRect l="-1316" t="-769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51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亚稳态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4E2F3-E0C2-6448-9D26-AFE845B0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5" name="组合 85"/>
          <p:cNvGrpSpPr>
            <a:grpSpLocks/>
          </p:cNvGrpSpPr>
          <p:nvPr/>
        </p:nvGrpSpPr>
        <p:grpSpPr bwMode="auto">
          <a:xfrm>
            <a:off x="1554163" y="2979207"/>
            <a:ext cx="6370637" cy="457200"/>
            <a:chOff x="1173163" y="3581400"/>
            <a:chExt cx="6370637" cy="457200"/>
          </a:xfrm>
        </p:grpSpPr>
        <p:cxnSp>
          <p:nvCxnSpPr>
            <p:cNvPr id="49" name="直接连接符 48"/>
            <p:cNvCxnSpPr>
              <a:cxnSpLocks/>
            </p:cNvCxnSpPr>
            <p:nvPr/>
          </p:nvCxnSpPr>
          <p:spPr bwMode="auto">
            <a:xfrm>
              <a:off x="1173163" y="4038600"/>
              <a:ext cx="808037" cy="0"/>
            </a:xfrm>
            <a:prstGeom prst="line">
              <a:avLst/>
            </a:prstGeom>
            <a:ln>
              <a:solidFill>
                <a:srgbClr val="FF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 bwMode="auto">
            <a:xfrm rot="5400000">
              <a:off x="1839118" y="3723482"/>
              <a:ext cx="436563" cy="152400"/>
            </a:xfrm>
            <a:prstGeom prst="line">
              <a:avLst/>
            </a:prstGeom>
            <a:ln>
              <a:solidFill>
                <a:srgbClr val="FF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 bwMode="auto">
            <a:xfrm>
              <a:off x="2133600" y="3581400"/>
              <a:ext cx="1219200" cy="0"/>
            </a:xfrm>
            <a:prstGeom prst="line">
              <a:avLst/>
            </a:prstGeom>
            <a:ln>
              <a:solidFill>
                <a:srgbClr val="FF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 bwMode="auto">
            <a:xfrm rot="16200000" flipH="1">
              <a:off x="3210718" y="3723482"/>
              <a:ext cx="436563" cy="152400"/>
            </a:xfrm>
            <a:prstGeom prst="line">
              <a:avLst/>
            </a:prstGeom>
            <a:ln>
              <a:solidFill>
                <a:srgbClr val="FF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 bwMode="auto">
            <a:xfrm>
              <a:off x="3505200" y="4038600"/>
              <a:ext cx="4038600" cy="0"/>
            </a:xfrm>
            <a:prstGeom prst="line">
              <a:avLst/>
            </a:prstGeom>
            <a:ln>
              <a:solidFill>
                <a:srgbClr val="FF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组合 84"/>
          <p:cNvGrpSpPr>
            <a:grpSpLocks/>
          </p:cNvGrpSpPr>
          <p:nvPr/>
        </p:nvGrpSpPr>
        <p:grpSpPr bwMode="auto">
          <a:xfrm>
            <a:off x="1554163" y="3736742"/>
            <a:ext cx="6370637" cy="381000"/>
            <a:chOff x="1173162" y="4419600"/>
            <a:chExt cx="6370638" cy="381000"/>
          </a:xfrm>
        </p:grpSpPr>
        <p:cxnSp>
          <p:nvCxnSpPr>
            <p:cNvPr id="41" name="直接连接符 40"/>
            <p:cNvCxnSpPr/>
            <p:nvPr/>
          </p:nvCxnSpPr>
          <p:spPr bwMode="auto">
            <a:xfrm>
              <a:off x="1173162" y="4800600"/>
              <a:ext cx="57943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 bwMode="auto">
            <a:xfrm>
              <a:off x="1752599" y="4419600"/>
              <a:ext cx="51276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 bwMode="auto">
            <a:xfrm rot="5400000">
              <a:off x="1572418" y="4620419"/>
              <a:ext cx="36036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 bwMode="auto">
            <a:xfrm rot="5400000">
              <a:off x="2105818" y="4620419"/>
              <a:ext cx="36036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 bwMode="auto">
            <a:xfrm>
              <a:off x="2285999" y="4800600"/>
              <a:ext cx="11430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 bwMode="auto">
            <a:xfrm>
              <a:off x="3428999" y="4419600"/>
              <a:ext cx="51276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 bwMode="auto">
            <a:xfrm rot="5400000">
              <a:off x="3248818" y="4620419"/>
              <a:ext cx="36036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 bwMode="auto">
            <a:xfrm rot="5400000">
              <a:off x="3782218" y="4620419"/>
              <a:ext cx="36036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 bwMode="auto">
            <a:xfrm>
              <a:off x="3962399" y="4800600"/>
              <a:ext cx="11430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 bwMode="auto">
            <a:xfrm>
              <a:off x="5105400" y="4419600"/>
              <a:ext cx="51276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 bwMode="auto">
            <a:xfrm rot="5400000">
              <a:off x="4925219" y="4620419"/>
              <a:ext cx="36036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 bwMode="auto">
            <a:xfrm rot="5400000">
              <a:off x="5458619" y="4620419"/>
              <a:ext cx="36036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 bwMode="auto">
            <a:xfrm>
              <a:off x="5638800" y="4800600"/>
              <a:ext cx="11430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 bwMode="auto">
            <a:xfrm>
              <a:off x="6781800" y="4419600"/>
              <a:ext cx="51276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 bwMode="auto">
            <a:xfrm rot="5400000">
              <a:off x="6601619" y="4620419"/>
              <a:ext cx="36036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 bwMode="auto">
            <a:xfrm rot="5400000">
              <a:off x="7135019" y="4620419"/>
              <a:ext cx="36036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 bwMode="auto">
            <a:xfrm>
              <a:off x="7315200" y="4800600"/>
              <a:ext cx="228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7" name="矩形 16"/>
          <p:cNvSpPr>
            <a:spLocks noChangeArrowheads="1"/>
          </p:cNvSpPr>
          <p:nvPr/>
        </p:nvSpPr>
        <p:spPr bwMode="auto">
          <a:xfrm>
            <a:off x="709140" y="2998234"/>
            <a:ext cx="959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FF"/>
                </a:solidFill>
              </a:rPr>
              <a:t>DATA</a:t>
            </a:r>
            <a:endParaRPr lang="zh-CN" altLang="en-US" sz="2400" dirty="0">
              <a:solidFill>
                <a:srgbClr val="FF00FF"/>
              </a:solidFill>
            </a:endParaRPr>
          </a:p>
        </p:txBody>
      </p:sp>
      <p:sp>
        <p:nvSpPr>
          <p:cNvPr id="88" name="矩形 13"/>
          <p:cNvSpPr>
            <a:spLocks noChangeArrowheads="1"/>
          </p:cNvSpPr>
          <p:nvPr/>
        </p:nvSpPr>
        <p:spPr bwMode="auto">
          <a:xfrm>
            <a:off x="790509" y="3679569"/>
            <a:ext cx="7970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CLK</a:t>
            </a:r>
            <a:endParaRPr lang="zh-CN" altLang="en-US" sz="2400" dirty="0"/>
          </a:p>
        </p:txBody>
      </p:sp>
      <p:cxnSp>
        <p:nvCxnSpPr>
          <p:cNvPr id="31" name="直接连接符 89">
            <a:extLst>
              <a:ext uri="{FF2B5EF4-FFF2-40B4-BE49-F238E27FC236}">
                <a16:creationId xmlns:a16="http://schemas.microsoft.com/office/drawing/2014/main" id="{90818495-0743-824F-9560-716B2CBFCD6F}"/>
              </a:ext>
            </a:extLst>
          </p:cNvPr>
          <p:cNvCxnSpPr>
            <a:cxnSpLocks/>
          </p:cNvCxnSpPr>
          <p:nvPr/>
        </p:nvCxnSpPr>
        <p:spPr bwMode="auto">
          <a:xfrm>
            <a:off x="3810000" y="2842615"/>
            <a:ext cx="0" cy="1832019"/>
          </a:xfrm>
          <a:prstGeom prst="line">
            <a:avLst/>
          </a:prstGeom>
          <a:ln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圆角矩形 97">
            <a:extLst>
              <a:ext uri="{FF2B5EF4-FFF2-40B4-BE49-F238E27FC236}">
                <a16:creationId xmlns:a16="http://schemas.microsoft.com/office/drawing/2014/main" id="{320FA6BF-0F86-B24A-A73E-DC61882CF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283" y="4286656"/>
            <a:ext cx="1676400" cy="457200"/>
          </a:xfrm>
          <a:prstGeom prst="roundRect">
            <a:avLst>
              <a:gd name="adj" fmla="val 16667"/>
            </a:avLst>
          </a:prstGeom>
          <a:blipFill dpi="0" rotWithShape="1">
            <a:blip r:embed="rId3" cstate="print"/>
            <a:srcRect/>
            <a:tile tx="0" ty="0" sx="100000" sy="100000" flip="none" algn="tl"/>
          </a:blip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zh-CN" altLang="en-US" dirty="0"/>
          </a:p>
        </p:txBody>
      </p:sp>
      <p:cxnSp>
        <p:nvCxnSpPr>
          <p:cNvPr id="34" name="直接连接符 52">
            <a:extLst>
              <a:ext uri="{FF2B5EF4-FFF2-40B4-BE49-F238E27FC236}">
                <a16:creationId xmlns:a16="http://schemas.microsoft.com/office/drawing/2014/main" id="{52F04B47-E7A4-4B43-A652-9B4E8B1D2BC5}"/>
              </a:ext>
            </a:extLst>
          </p:cNvPr>
          <p:cNvCxnSpPr/>
          <p:nvPr/>
        </p:nvCxnSpPr>
        <p:spPr bwMode="auto">
          <a:xfrm>
            <a:off x="1561558" y="4724400"/>
            <a:ext cx="2286000" cy="0"/>
          </a:xfrm>
          <a:prstGeom prst="line">
            <a:avLst/>
          </a:prstGeom>
          <a:ln>
            <a:solidFill>
              <a:srgbClr val="000099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95">
            <a:extLst>
              <a:ext uri="{FF2B5EF4-FFF2-40B4-BE49-F238E27FC236}">
                <a16:creationId xmlns:a16="http://schemas.microsoft.com/office/drawing/2014/main" id="{F772949B-14F7-E94F-8AF8-AD25FDAADCED}"/>
              </a:ext>
            </a:extLst>
          </p:cNvPr>
          <p:cNvCxnSpPr>
            <a:cxnSpLocks/>
          </p:cNvCxnSpPr>
          <p:nvPr/>
        </p:nvCxnSpPr>
        <p:spPr bwMode="auto">
          <a:xfrm>
            <a:off x="5523958" y="4724400"/>
            <a:ext cx="2400842" cy="0"/>
          </a:xfrm>
          <a:prstGeom prst="line">
            <a:avLst/>
          </a:prstGeom>
          <a:ln>
            <a:solidFill>
              <a:srgbClr val="000099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FCD00A-72AE-8146-B37C-D6813D679AF7}"/>
              </a:ext>
            </a:extLst>
          </p:cNvPr>
          <p:cNvSpPr txBox="1"/>
          <p:nvPr/>
        </p:nvSpPr>
        <p:spPr>
          <a:xfrm>
            <a:off x="977258" y="432284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2400" dirty="0">
                <a:solidFill>
                  <a:schemeClr val="tx2">
                    <a:lumMod val="75000"/>
                  </a:schemeClr>
                </a:solidFill>
              </a:rPr>
              <a:t>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8CBE5-ACAF-BB88-8D15-0D0C26B1BE74}"/>
              </a:ext>
            </a:extLst>
          </p:cNvPr>
          <p:cNvSpPr txBox="1"/>
          <p:nvPr/>
        </p:nvSpPr>
        <p:spPr>
          <a:xfrm>
            <a:off x="1334045" y="5339714"/>
            <a:ext cx="6475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CLK 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采样了正在变化的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218D82F4-DE7A-4BF2-BBB5-0FBAFBF37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371600"/>
            <a:ext cx="868680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 xmlns:mc="http://schemas.openxmlformats.org/markup-compatibility/2006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mc="http://schemas.openxmlformats.org/markup-compatibility/2006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mc="http://schemas.openxmlformats.org/markup-compatibility/2006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b="0" dirty="0"/>
              <a:t>如果信号不满足建立时间和保持时间约束</a:t>
            </a:r>
            <a:endParaRPr lang="en-US" altLang="zh-CN" sz="2800" b="0" kern="0" dirty="0">
              <a:solidFill>
                <a:srgbClr val="0432FF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zh-CN" altLang="en-US" sz="2400" b="0" dirty="0">
                <a:latin typeface="+mj-ea"/>
                <a:ea typeface="+mj-ea"/>
              </a:rPr>
              <a:t>输出结果</a:t>
            </a:r>
            <a:r>
              <a:rPr lang="zh-CN" altLang="en-US" sz="2400" b="0" dirty="0">
                <a:solidFill>
                  <a:srgbClr val="0432FF"/>
                </a:solidFill>
                <a:latin typeface="+mj-ea"/>
                <a:ea typeface="+mj-ea"/>
              </a:rPr>
              <a:t>亚稳态</a:t>
            </a:r>
            <a:r>
              <a:rPr lang="zh-CN" altLang="en-US" sz="2400" b="0" dirty="0">
                <a:latin typeface="+mj-ea"/>
                <a:ea typeface="+mj-ea"/>
              </a:rPr>
              <a:t>，</a:t>
            </a:r>
            <a:r>
              <a:rPr lang="zh-CN" altLang="en-US" sz="2400" b="0" dirty="0">
                <a:solidFill>
                  <a:srgbClr val="0432FF"/>
                </a:solidFill>
                <a:latin typeface="+mj-ea"/>
                <a:ea typeface="+mj-ea"/>
              </a:rPr>
              <a:t>不确定</a:t>
            </a:r>
            <a:r>
              <a:rPr lang="zh-CN" altLang="en-US" sz="2400" b="0" dirty="0">
                <a:latin typeface="+mj-ea"/>
                <a:ea typeface="+mj-ea"/>
              </a:rPr>
              <a:t>：</a:t>
            </a:r>
            <a:r>
              <a:rPr lang="en-US" altLang="zh-CN" sz="2400" b="0" dirty="0">
                <a:latin typeface="+mj-ea"/>
                <a:ea typeface="+mj-ea"/>
              </a:rPr>
              <a:t>1</a:t>
            </a:r>
            <a:r>
              <a:rPr lang="zh-CN" altLang="en-US" sz="2400" b="0" dirty="0">
                <a:latin typeface="+mj-ea"/>
                <a:ea typeface="+mj-ea"/>
              </a:rPr>
              <a:t>或</a:t>
            </a:r>
            <a:r>
              <a:rPr lang="en-US" altLang="zh-CN" sz="2400" b="0" dirty="0">
                <a:latin typeface="+mj-ea"/>
                <a:ea typeface="+mj-ea"/>
              </a:rPr>
              <a:t>0</a:t>
            </a:r>
            <a:endParaRPr lang="en-US" altLang="zh-CN" sz="2400" b="0" kern="0" dirty="0"/>
          </a:p>
        </p:txBody>
      </p:sp>
    </p:spTree>
    <p:extLst>
      <p:ext uri="{BB962C8B-B14F-4D97-AF65-F5344CB8AC3E}">
        <p14:creationId xmlns:p14="http://schemas.microsoft.com/office/powerpoint/2010/main" val="1112053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13" y="1393307"/>
            <a:ext cx="6233287" cy="53122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亚稳态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9F1DF2-7A10-AF4D-A71E-9987B42D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2662651" y="3973181"/>
            <a:ext cx="2144291" cy="1382523"/>
            <a:chOff x="1236" y="1422"/>
            <a:chExt cx="1417" cy="965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236" y="1848"/>
              <a:ext cx="1417" cy="539"/>
            </a:xfrm>
            <a:prstGeom prst="ellipse">
              <a:avLst/>
            </a:prstGeom>
            <a:noFill/>
            <a:ln w="76200" cap="sq" algn="ctr">
              <a:solidFill>
                <a:srgbClr val="00B0F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510" y="1422"/>
              <a:ext cx="837" cy="365"/>
            </a:xfrm>
            <a:prstGeom prst="rect">
              <a:avLst/>
            </a:prstGeom>
            <a:noFill/>
            <a:ln w="19050" cap="sq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FFFF66"/>
                  </a:solidFill>
                  <a:latin typeface="+mj-ea"/>
                  <a:ea typeface="+mj-ea"/>
                </a:rPr>
                <a:t>亚稳态</a:t>
              </a:r>
              <a:endParaRPr lang="en-US" altLang="zh-CN" sz="2800" dirty="0">
                <a:solidFill>
                  <a:srgbClr val="FFFF66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8540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亚稳态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难以完全避免</a:t>
            </a:r>
            <a:endParaRPr lang="en-US" altLang="zh-CN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不同时钟域</a:t>
            </a:r>
            <a:endParaRPr lang="en-US" altLang="en-US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时钟偏差</a:t>
            </a:r>
            <a:endParaRPr lang="en-US" altLang="zh-CN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通过合理的设计减少</a:t>
            </a:r>
            <a:r>
              <a:rPr lang="en-US" altLang="zh-CN" sz="2800" b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容忍亚稳态</a:t>
            </a:r>
            <a:endParaRPr lang="en-US" altLang="zh-CN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同步器设计</a:t>
            </a:r>
            <a:endParaRPr lang="en-US" altLang="zh-CN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异步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FIFO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5DC2F-CA17-8C49-870D-85109E86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DFE298-F9FF-C64D-A756-205D86783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756" y="3981224"/>
            <a:ext cx="4114800" cy="15051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ED60D3-7519-A845-94EB-176B5C023360}"/>
              </a:ext>
            </a:extLst>
          </p:cNvPr>
          <p:cNvSpPr txBox="1"/>
          <p:nvPr/>
        </p:nvSpPr>
        <p:spPr>
          <a:xfrm>
            <a:off x="304800" y="5651822"/>
            <a:ext cx="8382000" cy="491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令 </a:t>
            </a:r>
            <a:r>
              <a:rPr lang="en-MY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mean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time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between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failure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(MTBF)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足够长、满足需求即可。</a:t>
            </a:r>
            <a:endParaRPr lang="en-CN" sz="2400" dirty="0">
              <a:solidFill>
                <a:srgbClr val="0432FF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49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锁存器总结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686800" cy="45259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0" dirty="0">
                <a:ea typeface="+mn-ea"/>
                <a:cs typeface="Arial" panose="020B0604020202020204" pitchFamily="34" charset="0"/>
              </a:rPr>
              <a:t>目的：将输入信号锁定在</a:t>
            </a:r>
            <a:r>
              <a:rPr lang="en-US" altLang="zh-CN" sz="2800" b="0" dirty="0">
                <a:ea typeface="+mn-ea"/>
                <a:cs typeface="Arial" panose="020B0604020202020204" pitchFamily="34" charset="0"/>
              </a:rPr>
              <a:t>Q</a:t>
            </a:r>
            <a:r>
              <a:rPr lang="zh-CN" altLang="en-US" sz="2800" b="0" dirty="0">
                <a:ea typeface="+mn-ea"/>
                <a:cs typeface="Arial" panose="020B0604020202020204" pitchFamily="34" charset="0"/>
              </a:rPr>
              <a:t>，可选</a:t>
            </a:r>
            <a:r>
              <a:rPr lang="en-US" altLang="zh-CN" sz="2800" b="0" dirty="0">
                <a:ea typeface="+mn-ea"/>
                <a:cs typeface="Arial" panose="020B0604020202020204" pitchFamily="34" charset="0"/>
              </a:rPr>
              <a:t>CLK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0" dirty="0">
                <a:ea typeface="+mn-ea"/>
                <a:cs typeface="Arial" panose="020B0604020202020204" pitchFamily="34" charset="0"/>
              </a:rPr>
              <a:t>透明度：监控输入，在</a:t>
            </a:r>
            <a:r>
              <a:rPr lang="zh-CN" altLang="en-US" sz="2800" b="0" dirty="0">
                <a:solidFill>
                  <a:srgbClr val="0432FF"/>
                </a:solidFill>
                <a:ea typeface="+mn-ea"/>
                <a:cs typeface="+mn-cs"/>
              </a:rPr>
              <a:t>一段连续时间内</a:t>
            </a:r>
            <a:r>
              <a:rPr lang="zh-CN" altLang="en-US" sz="2800" b="0" dirty="0">
                <a:ea typeface="+mn-ea"/>
                <a:cs typeface="Arial" panose="020B0604020202020204" pitchFamily="34" charset="0"/>
              </a:rPr>
              <a:t>传递给输出</a:t>
            </a:r>
            <a:endParaRPr lang="en-US" altLang="zh-CN" sz="2800" b="0" dirty="0">
              <a:solidFill>
                <a:srgbClr val="0432FF"/>
              </a:solidFill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0" dirty="0">
                <a:ea typeface="+mn-ea"/>
                <a:cs typeface="Arial" panose="020B0604020202020204" pitchFamily="34" charset="0"/>
              </a:rPr>
              <a:t>时序非常重要</a:t>
            </a:r>
            <a:endParaRPr lang="en-US" altLang="zh-CN" sz="2800" b="0" dirty="0"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0" dirty="0">
                <a:ea typeface="+mn-ea"/>
                <a:cs typeface="Arial" panose="020B0604020202020204" pitchFamily="34" charset="0"/>
              </a:rPr>
              <a:t>作用</a:t>
            </a:r>
            <a:endParaRPr lang="en-US" altLang="zh-CN" sz="2800" b="0" dirty="0"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System Font Regular"/>
              <a:buChar char="-"/>
            </a:pPr>
            <a:r>
              <a:rPr lang="zh-CN" altLang="en-US" sz="2400" b="0" dirty="0">
                <a:ea typeface="+mn-ea"/>
                <a:cs typeface="Arial" panose="020B0604020202020204" pitchFamily="34" charset="0"/>
              </a:rPr>
              <a:t>计算系统的输入缓存：同步</a:t>
            </a:r>
            <a:endParaRPr lang="en-US" altLang="zh-CN" b="0" dirty="0"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System Font Regular"/>
              <a:buChar char="-"/>
            </a:pPr>
            <a:r>
              <a:rPr lang="zh-CN" altLang="en-US" sz="2400" b="0" dirty="0">
                <a:ea typeface="+mn-ea"/>
                <a:cs typeface="Arial" panose="020B0604020202020204" pitchFamily="34" charset="0"/>
              </a:rPr>
              <a:t>暂时存储后续操作的输入</a:t>
            </a:r>
            <a:endParaRPr lang="en-US" altLang="zh-CN" sz="2000" b="0" dirty="0"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E723-3C7A-8446-A83A-A6340436B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7293-1991-3841-8A43-7E7FF73B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MY" dirty="0"/>
              <a:t>本节课</a:t>
            </a:r>
            <a:r>
              <a:rPr lang="zh-CN" altLang="en-US" dirty="0"/>
              <a:t>目录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E386F-E21B-ED43-89C5-72405F96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739C8B5A-5307-734A-A417-89F797E64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kumimoji="1" lang="zh-CN" altLang="en-MY" b="0" dirty="0"/>
              <a:t>概念</a:t>
            </a:r>
            <a:r>
              <a:rPr kumimoji="1" lang="zh-CN" altLang="en-US" b="0" dirty="0"/>
              <a:t>：时钟，状态和</a:t>
            </a:r>
            <a:r>
              <a:rPr kumimoji="1" lang="en-US" altLang="zh-CN" b="0" dirty="0"/>
              <a:t>FSM</a:t>
            </a:r>
          </a:p>
          <a:p>
            <a:r>
              <a:rPr kumimoji="1" lang="zh-CN" altLang="en-US" b="0" dirty="0"/>
              <a:t>时序逻辑电路：锁存器</a:t>
            </a:r>
            <a:endParaRPr kumimoji="1" lang="en-MY" altLang="zh-CN" b="0" dirty="0"/>
          </a:p>
          <a:p>
            <a:r>
              <a:rPr kumimoji="1" lang="zh-CN" altLang="en-US" b="0" dirty="0">
                <a:solidFill>
                  <a:srgbClr val="0432FF"/>
                </a:solidFill>
              </a:rPr>
              <a:t>时序逻辑电路：</a:t>
            </a:r>
            <a:r>
              <a:rPr kumimoji="1" lang="en-US" altLang="zh-CN" b="0" dirty="0">
                <a:solidFill>
                  <a:srgbClr val="0432FF"/>
                </a:solidFill>
              </a:rPr>
              <a:t>DFF</a:t>
            </a:r>
          </a:p>
          <a:p>
            <a:r>
              <a:rPr kumimoji="1" lang="zh-CN" altLang="en-US" b="0" dirty="0"/>
              <a:t>分析，设计，举例</a:t>
            </a:r>
          </a:p>
        </p:txBody>
      </p:sp>
    </p:spTree>
    <p:extLst>
      <p:ext uri="{BB962C8B-B14F-4D97-AF65-F5344CB8AC3E}">
        <p14:creationId xmlns:p14="http://schemas.microsoft.com/office/powerpoint/2010/main" val="5212422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从锁存器到触发器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2800" b="0" dirty="0">
                <a:ea typeface="+mn-ea"/>
              </a:rPr>
              <a:t>我们需要边沿触发采样！</a:t>
            </a:r>
            <a:endParaRPr lang="en-US" altLang="zh-CN" sz="2800" b="0" dirty="0">
              <a:ea typeface="+mn-ea"/>
            </a:endParaRPr>
          </a:p>
          <a:p>
            <a:pPr lvl="1"/>
            <a:r>
              <a:rPr lang="zh-CN" altLang="en-US" sz="2400" b="0" dirty="0">
                <a:solidFill>
                  <a:srgbClr val="0432FF"/>
                </a:solidFill>
                <a:ea typeface="+mn-ea"/>
              </a:rPr>
              <a:t>只在触发沿</a:t>
            </a:r>
            <a:r>
              <a:rPr lang="zh-CN" altLang="en-US" sz="2400" b="0" dirty="0">
                <a:ea typeface="+mn-ea"/>
              </a:rPr>
              <a:t>把输入传递给输出</a:t>
            </a:r>
            <a:endParaRPr lang="en-US" altLang="zh-CN" sz="2400" b="0" dirty="0">
              <a:solidFill>
                <a:srgbClr val="0432FF"/>
              </a:solidFill>
              <a:ea typeface="+mn-ea"/>
            </a:endParaRPr>
          </a:p>
          <a:p>
            <a:pPr lvl="1"/>
            <a:r>
              <a:rPr lang="en-US" altLang="zh-CN" sz="2400" b="0" dirty="0">
                <a:ea typeface="+mn-ea"/>
              </a:rPr>
              <a:t>SR</a:t>
            </a:r>
            <a:r>
              <a:rPr lang="zh-CN" altLang="en-US" sz="2400" b="0" dirty="0">
                <a:ea typeface="+mn-ea"/>
              </a:rPr>
              <a:t>锁存器？门控</a:t>
            </a:r>
            <a:r>
              <a:rPr lang="en-US" altLang="zh-CN" sz="2400" b="0" dirty="0">
                <a:ea typeface="+mn-ea"/>
              </a:rPr>
              <a:t>SR</a:t>
            </a:r>
            <a:r>
              <a:rPr lang="zh-CN" altLang="en-US" sz="2400" b="0" dirty="0">
                <a:ea typeface="+mn-ea"/>
              </a:rPr>
              <a:t>锁存器？</a:t>
            </a:r>
            <a:r>
              <a:rPr lang="en-US" altLang="zh-CN" sz="2400" b="0" dirty="0">
                <a:ea typeface="+mn-ea"/>
              </a:rPr>
              <a:t>D</a:t>
            </a:r>
            <a:r>
              <a:rPr lang="zh-CN" altLang="en-US" sz="2400" b="0" dirty="0">
                <a:ea typeface="+mn-ea"/>
              </a:rPr>
              <a:t>锁存器？</a:t>
            </a:r>
            <a:endParaRPr lang="en-US" altLang="zh-CN" sz="2400" b="0" dirty="0">
              <a:ea typeface="+mn-ea"/>
            </a:endParaRPr>
          </a:p>
          <a:p>
            <a:pPr eaLnBrk="1" hangingPunct="1"/>
            <a:r>
              <a:rPr lang="zh-CN" altLang="en-US" sz="2800" b="0" dirty="0">
                <a:solidFill>
                  <a:srgbClr val="0432FF"/>
                </a:solidFill>
                <a:ea typeface="+mn-ea"/>
              </a:rPr>
              <a:t>边沿触发</a:t>
            </a:r>
            <a:endParaRPr lang="en-US" altLang="zh-CN" sz="2800" b="0" dirty="0">
              <a:solidFill>
                <a:srgbClr val="0432FF"/>
              </a:solidFill>
              <a:ea typeface="+mn-ea"/>
            </a:endParaRPr>
          </a:p>
          <a:p>
            <a:pPr lvl="1"/>
            <a:r>
              <a:rPr lang="zh-CN" altLang="en-US" sz="2400" b="0" dirty="0">
                <a:ea typeface="+mn-ea"/>
              </a:rPr>
              <a:t>在时钟上升或者下降沿触发</a:t>
            </a:r>
            <a:endParaRPr lang="en-US" altLang="zh-CN" sz="2400" b="0" dirty="0">
              <a:ea typeface="+mn-ea"/>
            </a:endParaRPr>
          </a:p>
          <a:p>
            <a:pPr lvl="1"/>
            <a:r>
              <a:rPr lang="zh-CN" altLang="en-US" sz="2400" b="0" dirty="0">
                <a:ea typeface="+mn-ea"/>
              </a:rPr>
              <a:t>时序</a:t>
            </a:r>
            <a:endParaRPr lang="en-US" altLang="zh-CN" sz="2400" b="0" dirty="0">
              <a:ea typeface="+mn-ea"/>
            </a:endParaRPr>
          </a:p>
          <a:p>
            <a:pPr lvl="2"/>
            <a:r>
              <a:rPr lang="zh-CN" altLang="en-US" sz="2000" b="0" dirty="0">
                <a:ea typeface="+mn-ea"/>
              </a:rPr>
              <a:t>输入在触发沿“附近”保持不变</a:t>
            </a:r>
            <a:endParaRPr lang="en-US" altLang="zh-CN" sz="2000" b="0" dirty="0">
              <a:ea typeface="+mn-ea"/>
            </a:endParaRPr>
          </a:p>
          <a:p>
            <a:pPr lvl="2"/>
            <a:r>
              <a:rPr lang="zh-CN" altLang="en-US" sz="2000" b="0" dirty="0">
                <a:ea typeface="+mn-ea"/>
              </a:rPr>
              <a:t>输出在一段延时后相应地改变</a:t>
            </a:r>
            <a:endParaRPr lang="en-US" altLang="zh-CN" sz="2000" b="0" dirty="0">
              <a:ea typeface="+mn-ea"/>
            </a:endParaRPr>
          </a:p>
          <a:p>
            <a:r>
              <a:rPr lang="zh-CN" altLang="en-US" sz="2800" b="0" dirty="0">
                <a:ea typeface="+mn-ea"/>
              </a:rPr>
              <a:t>如何实现？</a:t>
            </a:r>
            <a:endParaRPr lang="en-US" altLang="zh-CN" sz="2800" b="0" dirty="0">
              <a:ea typeface="+mn-ea"/>
            </a:endParaRPr>
          </a:p>
          <a:p>
            <a:pPr lvl="1"/>
            <a:r>
              <a:rPr lang="zh-CN" altLang="en-US" sz="2400" b="0" dirty="0">
                <a:ea typeface="+mn-ea"/>
              </a:rPr>
              <a:t>基于</a:t>
            </a:r>
            <a:r>
              <a:rPr lang="en-US" altLang="zh-CN" sz="2400" b="0" dirty="0">
                <a:ea typeface="+mn-ea"/>
              </a:rPr>
              <a:t>Latch</a:t>
            </a:r>
            <a:r>
              <a:rPr lang="zh-CN" altLang="en-US" sz="2400" b="0" dirty="0">
                <a:ea typeface="+mn-ea"/>
              </a:rPr>
              <a:t>？</a:t>
            </a:r>
            <a:endParaRPr lang="en-US" altLang="zh-CN" sz="2400" b="0" dirty="0"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74CA3-77C3-A74D-A7DF-F3761C82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BE3DBE-EAD1-4E27-B56C-59919B2B36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167" r="60994"/>
          <a:stretch/>
        </p:blipFill>
        <p:spPr>
          <a:xfrm>
            <a:off x="7543800" y="2676624"/>
            <a:ext cx="1066800" cy="2645893"/>
          </a:xfrm>
          <a:prstGeom prst="rect">
            <a:avLst/>
          </a:prstGeom>
        </p:spPr>
      </p:pic>
      <p:sp>
        <p:nvSpPr>
          <p:cNvPr id="53" name="矩形 16">
            <a:extLst>
              <a:ext uri="{FF2B5EF4-FFF2-40B4-BE49-F238E27FC236}">
                <a16:creationId xmlns:a16="http://schemas.microsoft.com/office/drawing/2014/main" id="{0E3E2AF6-C6D0-45E0-B0D9-AF2AC450C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013" y="3094993"/>
            <a:ext cx="89453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DATA</a:t>
            </a:r>
            <a:endParaRPr lang="zh-CN" altLang="en-US" sz="2200" dirty="0"/>
          </a:p>
        </p:txBody>
      </p:sp>
      <p:sp>
        <p:nvSpPr>
          <p:cNvPr id="54" name="矩形 13">
            <a:extLst>
              <a:ext uri="{FF2B5EF4-FFF2-40B4-BE49-F238E27FC236}">
                <a16:creationId xmlns:a16="http://schemas.microsoft.com/office/drawing/2014/main" id="{DF320B99-9FCC-4DBA-8DB5-3F1F39A35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5837" y="3643188"/>
            <a:ext cx="73289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</a:rPr>
              <a:t>CLK</a:t>
            </a:r>
            <a:endParaRPr lang="zh-CN" altLang="en-US" sz="2200" dirty="0"/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43BAF770-F340-4DAD-8256-BEB5C6490961}"/>
              </a:ext>
            </a:extLst>
          </p:cNvPr>
          <p:cNvSpPr txBox="1"/>
          <p:nvPr/>
        </p:nvSpPr>
        <p:spPr>
          <a:xfrm>
            <a:off x="6750144" y="4212649"/>
            <a:ext cx="4042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2200" dirty="0">
                <a:solidFill>
                  <a:schemeClr val="tx2">
                    <a:lumMod val="75000"/>
                  </a:schemeClr>
                </a:solidFill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80962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38ECD1E-BE1B-4D44-B175-4CAE9024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DFF</a:t>
            </a:r>
            <a:r>
              <a:rPr lang="zh-CN" altLang="en-US" dirty="0"/>
              <a:t>：功能和符号</a:t>
            </a:r>
            <a:endParaRPr lang="en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DCDDB-25A6-244A-9D39-2A370BB4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8938" name="AutoShape 27"/>
          <p:cNvSpPr>
            <a:spLocks noChangeAspect="1" noChangeArrowheads="1" noTextEdit="1"/>
          </p:cNvSpPr>
          <p:nvPr/>
        </p:nvSpPr>
        <p:spPr bwMode="auto">
          <a:xfrm>
            <a:off x="4173538" y="3787775"/>
            <a:ext cx="4121150" cy="144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643115"/>
                  </p:ext>
                </p:extLst>
              </p:nvPr>
            </p:nvGraphicFramePr>
            <p:xfrm>
              <a:off x="723544" y="4117997"/>
              <a:ext cx="3615504" cy="18639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3876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1800681593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2546997368"/>
                        </a:ext>
                      </a:extLst>
                    </a:gridCol>
                  </a:tblGrid>
                  <a:tr h="4659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altLang="zh-CN" sz="24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432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rgbClr val="0432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0/1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0/1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3764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643115"/>
                  </p:ext>
                </p:extLst>
              </p:nvPr>
            </p:nvGraphicFramePr>
            <p:xfrm>
              <a:off x="723544" y="4117997"/>
              <a:ext cx="3615504" cy="18639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3876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1800681593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2546997368"/>
                        </a:ext>
                      </a:extLst>
                    </a:gridCol>
                  </a:tblGrid>
                  <a:tr h="46598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671" t="-1299" r="-300000" b="-3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1351" t="-1299" r="-202027" b="-3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299" r="-100671" b="-3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02027" t="-1299" r="-1351" b="-3259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432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rgbClr val="0432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0/1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0/1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0000" r="-100671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02027" t="-300000" r="-1351" b="-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764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8" name="文本框 104">
            <a:extLst>
              <a:ext uri="{FF2B5EF4-FFF2-40B4-BE49-F238E27FC236}">
                <a16:creationId xmlns:a16="http://schemas.microsoft.com/office/drawing/2014/main" id="{F6E57C40-1C46-8A40-B704-FF80CF8B1A45}"/>
              </a:ext>
            </a:extLst>
          </p:cNvPr>
          <p:cNvSpPr txBox="1"/>
          <p:nvPr/>
        </p:nvSpPr>
        <p:spPr>
          <a:xfrm>
            <a:off x="5193105" y="3777329"/>
            <a:ext cx="3398482" cy="2554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module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</a:rPr>
              <a:t>D_ff</a:t>
            </a:r>
            <a:r>
              <a:rPr lang="en-US" altLang="zh-CN" sz="20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20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20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</a:rPr>
              <a:t>Q</a:t>
            </a:r>
            <a:r>
              <a:rPr lang="en-US" altLang="zh-CN" sz="20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    input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20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20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    output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reg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Q</a:t>
            </a:r>
            <a:r>
              <a:rPr lang="en-US" altLang="zh-CN" sz="20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    always</a:t>
            </a:r>
            <a:r>
              <a:rPr lang="en-US" altLang="zh-CN" sz="2000" dirty="0">
                <a:solidFill>
                  <a:srgbClr val="000080"/>
                </a:solidFill>
                <a:latin typeface="+mn-lt"/>
              </a:rPr>
              <a:t>@(</a:t>
            </a:r>
            <a:r>
              <a:rPr lang="en-US" altLang="zh-CN" sz="2000" dirty="0" err="1">
                <a:solidFill>
                  <a:srgbClr val="0000FF"/>
                </a:solidFill>
                <a:latin typeface="+mn-lt"/>
              </a:rPr>
              <a:t>posedge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20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begin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       Q </a:t>
            </a:r>
            <a:r>
              <a:rPr lang="en-US" altLang="zh-CN" sz="2000" dirty="0">
                <a:solidFill>
                  <a:srgbClr val="000080"/>
                </a:solidFill>
                <a:latin typeface="+mn-lt"/>
              </a:rPr>
              <a:t>&lt;=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D</a:t>
            </a:r>
            <a:r>
              <a:rPr lang="en-US" altLang="zh-CN" sz="20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end</a:t>
            </a:r>
            <a:r>
              <a:rPr lang="en-US" altLang="zh-CN" sz="2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2000" dirty="0" err="1">
                <a:solidFill>
                  <a:srgbClr val="0000FF"/>
                </a:solidFill>
                <a:latin typeface="+mn-lt"/>
              </a:rPr>
              <a:t>endmodule</a:t>
            </a:r>
            <a:endParaRPr lang="en-US" altLang="zh-CN" sz="20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1F233-46A6-5642-A483-5838C5788D95}"/>
              </a:ext>
            </a:extLst>
          </p:cNvPr>
          <p:cNvSpPr txBox="1"/>
          <p:nvPr/>
        </p:nvSpPr>
        <p:spPr>
          <a:xfrm>
            <a:off x="1229980" y="2314253"/>
            <a:ext cx="2601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DFF: D flip-flop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CEBA4B-4EB1-4EBB-BA80-EFB66E20A636}"/>
              </a:ext>
            </a:extLst>
          </p:cNvPr>
          <p:cNvGrpSpPr/>
          <p:nvPr/>
        </p:nvGrpSpPr>
        <p:grpSpPr>
          <a:xfrm>
            <a:off x="5000661" y="1649798"/>
            <a:ext cx="3584576" cy="1294693"/>
            <a:chOff x="5000661" y="1649798"/>
            <a:chExt cx="3584576" cy="1294693"/>
          </a:xfrm>
        </p:grpSpPr>
        <p:sp>
          <p:nvSpPr>
            <p:cNvPr id="38917" name="Rectangle 6"/>
            <p:cNvSpPr>
              <a:spLocks noChangeArrowheads="1"/>
            </p:cNvSpPr>
            <p:nvPr/>
          </p:nvSpPr>
          <p:spPr bwMode="auto">
            <a:xfrm>
              <a:off x="5373723" y="1684016"/>
              <a:ext cx="777875" cy="1260475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8" name="Rectangle 7"/>
            <p:cNvSpPr>
              <a:spLocks noChangeArrowheads="1"/>
            </p:cNvSpPr>
            <p:nvPr/>
          </p:nvSpPr>
          <p:spPr bwMode="auto">
            <a:xfrm>
              <a:off x="5437224" y="1736682"/>
              <a:ext cx="195262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 sz="1800" b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38919" name="Rectangle 8"/>
            <p:cNvSpPr>
              <a:spLocks noChangeArrowheads="1"/>
            </p:cNvSpPr>
            <p:nvPr/>
          </p:nvSpPr>
          <p:spPr bwMode="auto">
            <a:xfrm>
              <a:off x="5899186" y="1736682"/>
              <a:ext cx="193675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Q</a:t>
              </a:r>
              <a:endParaRPr lang="en-US" altLang="zh-CN" sz="1800" b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38920" name="Line 9"/>
            <p:cNvSpPr>
              <a:spLocks noChangeShapeType="1"/>
            </p:cNvSpPr>
            <p:nvPr/>
          </p:nvSpPr>
          <p:spPr bwMode="auto">
            <a:xfrm>
              <a:off x="5000661" y="1914482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1" name="Line 10"/>
            <p:cNvSpPr>
              <a:spLocks noChangeShapeType="1"/>
            </p:cNvSpPr>
            <p:nvPr/>
          </p:nvSpPr>
          <p:spPr bwMode="auto">
            <a:xfrm>
              <a:off x="6151600" y="1914482"/>
              <a:ext cx="322620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2" name="Line 11"/>
            <p:cNvSpPr>
              <a:spLocks noChangeShapeType="1"/>
            </p:cNvSpPr>
            <p:nvPr/>
          </p:nvSpPr>
          <p:spPr bwMode="auto">
            <a:xfrm>
              <a:off x="6156362" y="2612982"/>
              <a:ext cx="31785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3" name="Rectangle 12"/>
            <p:cNvSpPr>
              <a:spLocks noChangeArrowheads="1"/>
            </p:cNvSpPr>
            <p:nvPr/>
          </p:nvSpPr>
          <p:spPr bwMode="auto">
            <a:xfrm>
              <a:off x="7448587" y="1649798"/>
              <a:ext cx="779462" cy="1260475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4" name="Rectangle 13"/>
            <p:cNvSpPr>
              <a:spLocks noChangeArrowheads="1"/>
            </p:cNvSpPr>
            <p:nvPr/>
          </p:nvSpPr>
          <p:spPr bwMode="auto">
            <a:xfrm>
              <a:off x="7513674" y="1752985"/>
              <a:ext cx="195263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 sz="1800" b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38925" name="Rectangle 14"/>
            <p:cNvSpPr>
              <a:spLocks noChangeArrowheads="1"/>
            </p:cNvSpPr>
            <p:nvPr/>
          </p:nvSpPr>
          <p:spPr bwMode="auto">
            <a:xfrm>
              <a:off x="7975637" y="1752985"/>
              <a:ext cx="195262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Q</a:t>
              </a:r>
              <a:endParaRPr lang="en-US" altLang="zh-CN" sz="1800" b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38926" name="Line 15"/>
            <p:cNvSpPr>
              <a:spLocks noChangeShapeType="1"/>
            </p:cNvSpPr>
            <p:nvPr/>
          </p:nvSpPr>
          <p:spPr bwMode="auto">
            <a:xfrm>
              <a:off x="7091399" y="1932373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7" name="Line 16"/>
            <p:cNvSpPr>
              <a:spLocks noChangeShapeType="1"/>
            </p:cNvSpPr>
            <p:nvPr/>
          </p:nvSpPr>
          <p:spPr bwMode="auto">
            <a:xfrm>
              <a:off x="8228049" y="1930785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Line 17"/>
            <p:cNvSpPr>
              <a:spLocks noChangeShapeType="1"/>
            </p:cNvSpPr>
            <p:nvPr/>
          </p:nvSpPr>
          <p:spPr bwMode="auto">
            <a:xfrm>
              <a:off x="8294688" y="2630873"/>
              <a:ext cx="233363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Rectangle 18"/>
            <p:cNvSpPr>
              <a:spLocks noChangeArrowheads="1"/>
            </p:cNvSpPr>
            <p:nvPr/>
          </p:nvSpPr>
          <p:spPr bwMode="auto">
            <a:xfrm>
              <a:off x="7975637" y="2418148"/>
              <a:ext cx="195262" cy="350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Q</a:t>
              </a:r>
              <a:endParaRPr lang="en-US" altLang="zh-CN" sz="1800" b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38930" name="Oval 19"/>
            <p:cNvSpPr>
              <a:spLocks noChangeArrowheads="1"/>
            </p:cNvSpPr>
            <p:nvPr/>
          </p:nvSpPr>
          <p:spPr bwMode="auto">
            <a:xfrm>
              <a:off x="8228049" y="2561023"/>
              <a:ext cx="114300" cy="139700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1" name="Oval 20"/>
            <p:cNvSpPr>
              <a:spLocks noChangeArrowheads="1"/>
            </p:cNvSpPr>
            <p:nvPr/>
          </p:nvSpPr>
          <p:spPr bwMode="auto">
            <a:xfrm>
              <a:off x="8228049" y="2561023"/>
              <a:ext cx="114300" cy="139700"/>
            </a:xfrm>
            <a:prstGeom prst="ellips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2" name="Rectangle 21"/>
            <p:cNvSpPr>
              <a:spLocks noChangeArrowheads="1"/>
            </p:cNvSpPr>
            <p:nvPr/>
          </p:nvSpPr>
          <p:spPr bwMode="auto">
            <a:xfrm>
              <a:off x="5532436" y="2409471"/>
              <a:ext cx="179388" cy="350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300" b="0" i="1" dirty="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n-US" altLang="zh-CN" sz="1800" b="0" dirty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38933" name="Rectangle 22"/>
            <p:cNvSpPr>
              <a:spLocks noChangeArrowheads="1"/>
            </p:cNvSpPr>
            <p:nvPr/>
          </p:nvSpPr>
          <p:spPr bwMode="auto">
            <a:xfrm>
              <a:off x="7632737" y="2455508"/>
              <a:ext cx="179387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300" b="0" i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n-US" altLang="zh-CN" sz="1800" b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38934" name="Line 23"/>
            <p:cNvSpPr>
              <a:spLocks noChangeShapeType="1"/>
            </p:cNvSpPr>
            <p:nvPr/>
          </p:nvSpPr>
          <p:spPr bwMode="auto">
            <a:xfrm>
              <a:off x="5010185" y="2611083"/>
              <a:ext cx="347663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24"/>
            <p:cNvSpPr>
              <a:spLocks noChangeShapeType="1"/>
            </p:cNvSpPr>
            <p:nvPr/>
          </p:nvSpPr>
          <p:spPr bwMode="auto">
            <a:xfrm>
              <a:off x="7091399" y="2647596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Freeform 25"/>
            <p:cNvSpPr>
              <a:spLocks/>
            </p:cNvSpPr>
            <p:nvPr/>
          </p:nvSpPr>
          <p:spPr bwMode="auto">
            <a:xfrm>
              <a:off x="5371140" y="2487249"/>
              <a:ext cx="177173" cy="246066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  <a:gd name="connsiteX0" fmla="*/ 0 w 9520"/>
                <a:gd name="connsiteY0" fmla="*/ 9571 h 9571"/>
                <a:gd name="connsiteX1" fmla="*/ 9520 w 9520"/>
                <a:gd name="connsiteY1" fmla="*/ 5000 h 9571"/>
                <a:gd name="connsiteX2" fmla="*/ 588 w 9520"/>
                <a:gd name="connsiteY2" fmla="*/ 0 h 9571"/>
                <a:gd name="connsiteX0" fmla="*/ 139 w 9382"/>
                <a:gd name="connsiteY0" fmla="*/ 10000 h 10000"/>
                <a:gd name="connsiteX1" fmla="*/ 9382 w 9382"/>
                <a:gd name="connsiteY1" fmla="*/ 5224 h 10000"/>
                <a:gd name="connsiteX2" fmla="*/ 0 w 9382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82" h="10000">
                  <a:moveTo>
                    <a:pt x="139" y="10000"/>
                  </a:moveTo>
                  <a:lnTo>
                    <a:pt x="9382" y="5224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0432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solidFill>
                  <a:srgbClr val="0432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C3627FC2-1E96-E546-93F0-1D925C95E698}"/>
                    </a:ext>
                  </a:extLst>
                </p:cNvPr>
                <p:cNvSpPr/>
                <p:nvPr/>
              </p:nvSpPr>
              <p:spPr>
                <a:xfrm>
                  <a:off x="5770683" y="2372542"/>
                  <a:ext cx="479042" cy="462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C3627FC2-1E96-E546-93F0-1D925C95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0683" y="2372542"/>
                  <a:ext cx="479042" cy="462434"/>
                </a:xfrm>
                <a:prstGeom prst="rect">
                  <a:avLst/>
                </a:prstGeom>
                <a:blipFill>
                  <a:blip r:embed="rId3"/>
                  <a:stretch>
                    <a:fillRect r="-10256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C256B5DC-D7CD-4ABA-8F44-0548F191B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0294" y="2524145"/>
              <a:ext cx="177173" cy="246066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  <a:gd name="connsiteX0" fmla="*/ 0 w 9520"/>
                <a:gd name="connsiteY0" fmla="*/ 9571 h 9571"/>
                <a:gd name="connsiteX1" fmla="*/ 9520 w 9520"/>
                <a:gd name="connsiteY1" fmla="*/ 5000 h 9571"/>
                <a:gd name="connsiteX2" fmla="*/ 588 w 9520"/>
                <a:gd name="connsiteY2" fmla="*/ 0 h 9571"/>
                <a:gd name="connsiteX0" fmla="*/ 139 w 9382"/>
                <a:gd name="connsiteY0" fmla="*/ 10000 h 10000"/>
                <a:gd name="connsiteX1" fmla="*/ 9382 w 9382"/>
                <a:gd name="connsiteY1" fmla="*/ 5224 h 10000"/>
                <a:gd name="connsiteX2" fmla="*/ 0 w 9382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82" h="10000">
                  <a:moveTo>
                    <a:pt x="139" y="10000"/>
                  </a:moveTo>
                  <a:lnTo>
                    <a:pt x="9382" y="5224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0432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solidFill>
                  <a:srgbClr val="0432FF"/>
                </a:solidFill>
              </a:endParaRPr>
            </a:p>
          </p:txBody>
        </p:sp>
      </p:grpSp>
      <p:sp>
        <p:nvSpPr>
          <p:cNvPr id="33" name="TextBox 3">
            <a:extLst>
              <a:ext uri="{FF2B5EF4-FFF2-40B4-BE49-F238E27FC236}">
                <a16:creationId xmlns:a16="http://schemas.microsoft.com/office/drawing/2014/main" id="{D28C4E66-8F3D-4CA4-BAED-B4B8E830F416}"/>
              </a:ext>
            </a:extLst>
          </p:cNvPr>
          <p:cNvSpPr txBox="1"/>
          <p:nvPr/>
        </p:nvSpPr>
        <p:spPr>
          <a:xfrm>
            <a:off x="4991135" y="3103881"/>
            <a:ext cx="3793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注意与门控</a:t>
            </a:r>
            <a:r>
              <a:rPr lang="en-US" altLang="zh-CN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D</a:t>
            </a:r>
            <a:r>
              <a:rPr lang="zh-CN" altLang="en-US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锁存器区别！</a:t>
            </a:r>
            <a:endParaRPr lang="en-CN" sz="2400" dirty="0">
              <a:solidFill>
                <a:srgbClr val="0432FF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530A612-FA7A-4C98-87A8-5D118903F752}"/>
                  </a:ext>
                </a:extLst>
              </p14:cNvPr>
              <p14:cNvContentPartPr/>
              <p14:nvPr/>
            </p14:nvContentPartPr>
            <p14:xfrm>
              <a:off x="3675240" y="4192920"/>
              <a:ext cx="204120" cy="14155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530A612-FA7A-4C98-87A8-5D118903F7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5880" y="4183560"/>
                <a:ext cx="222840" cy="143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5178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0066046-EF82-4EA3-A008-73F3F2356C0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4424" y="899080"/>
            <a:ext cx="6915151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algn="l">
              <a:defRPr/>
            </a:pPr>
            <a:r>
              <a:rPr lang="zh-CN" altLang="en-US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如图所示，</a:t>
            </a:r>
            <a:r>
              <a:rPr lang="en-US" altLang="zh-CN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</a:t>
            </a:r>
            <a:r>
              <a:rPr lang="zh-CN" altLang="en-US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2024</a:t>
            </a:r>
            <a:r>
              <a:rPr lang="zh-CN" altLang="en-US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个周期后为</a:t>
            </a:r>
            <a:r>
              <a:rPr lang="en-US" altLang="zh-CN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，它的原始状态是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36F58A-BE1A-4EEA-A686-BAAE16A4167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786063"/>
            <a:ext cx="312419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0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B6B636-3AB5-4EE2-AC87-6FE8FC21E58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613070"/>
            <a:ext cx="312419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BEF8C8-C1F0-4AF2-9CF2-4FC93B7A6EE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440077"/>
            <a:ext cx="312419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都有可能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B03DBBB-B2DC-49E5-B534-517CCB047D7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F3B1CE1-7A48-401E-80DE-69BC5D8D2E7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677363"/>
            <a:ext cx="514350" cy="51435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309807B-FB70-44A9-ADD1-EC1B5098D15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04370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C38DC0D8-15B8-AF48-A5BB-09B87F99F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907321"/>
              </p:ext>
            </p:extLst>
          </p:nvPr>
        </p:nvGraphicFramePr>
        <p:xfrm>
          <a:off x="6362700" y="3782750"/>
          <a:ext cx="3365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19" imgW="152280" imgH="228600" progId="">
                  <p:embed/>
                </p:oleObj>
              </mc:Choice>
              <mc:Fallback>
                <p:oleObj name="Equation" r:id="rId19" imgW="152280" imgH="228600" progId="">
                  <p:embed/>
                  <p:pic>
                    <p:nvPicPr>
                      <p:cNvPr id="21" name="Object 4">
                        <a:extLst>
                          <a:ext uri="{FF2B5EF4-FFF2-40B4-BE49-F238E27FC236}">
                            <a16:creationId xmlns:a16="http://schemas.microsoft.com/office/drawing/2014/main" id="{C38DC0D8-15B8-AF48-A5BB-09B87F99FA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3782750"/>
                        <a:ext cx="33655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6">
            <a:extLst>
              <a:ext uri="{FF2B5EF4-FFF2-40B4-BE49-F238E27FC236}">
                <a16:creationId xmlns:a16="http://schemas.microsoft.com/office/drawing/2014/main" id="{723F4E01-02AB-5245-B9E4-AC0F031BA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3057263"/>
            <a:ext cx="777875" cy="1260475"/>
          </a:xfrm>
          <a:prstGeom prst="rect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70584DBF-EBE4-AB40-852F-DD81E2254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3" y="3160450"/>
            <a:ext cx="19526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黑体"/>
                <a:cs typeface="+mn-cs"/>
              </a:rPr>
              <a:t>D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黑体"/>
              <a:cs typeface="+mn-cs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2938876C-6EED-8F4E-82F6-33A72E1D6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25" y="3160450"/>
            <a:ext cx="1936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黑体"/>
                <a:cs typeface="+mn-cs"/>
              </a:rPr>
              <a:t>Q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黑体"/>
              <a:cs typeface="+mn-cs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0339B7A-5221-0048-9954-EDB50BF79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338250"/>
            <a:ext cx="357188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8EEF848C-1323-9C46-9BC4-FE5F01BF0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3539" y="3338250"/>
            <a:ext cx="361982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8" name="Line 11">
            <a:extLst>
              <a:ext uri="{FF2B5EF4-FFF2-40B4-BE49-F238E27FC236}">
                <a16:creationId xmlns:a16="http://schemas.microsoft.com/office/drawing/2014/main" id="{F8E5B0D7-44FD-2640-A90F-66EAA2BD2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8300" y="4036750"/>
            <a:ext cx="661046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85F8C05C-8F16-A74F-B62B-60F069F7A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150" y="3511288"/>
            <a:ext cx="1793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3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黑体"/>
                <a:cs typeface="+mn-cs"/>
              </a:rPr>
              <a:t>C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黑体"/>
              <a:cs typeface="+mn-cs"/>
            </a:endParaRPr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88FC5E33-7E3B-8E45-A18C-DE7C66412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739888"/>
            <a:ext cx="357188" cy="0"/>
          </a:xfrm>
          <a:prstGeom prst="line">
            <a:avLst/>
          </a:prstGeom>
          <a:noFill/>
          <a:ln w="1746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31" name="Freeform 25">
            <a:extLst>
              <a:ext uri="{FF2B5EF4-FFF2-40B4-BE49-F238E27FC236}">
                <a16:creationId xmlns:a16="http://schemas.microsoft.com/office/drawing/2014/main" id="{6FF766BE-332A-8546-B9CB-07D56E286458}"/>
              </a:ext>
            </a:extLst>
          </p:cNvPr>
          <p:cNvSpPr>
            <a:spLocks/>
          </p:cNvSpPr>
          <p:nvPr/>
        </p:nvSpPr>
        <p:spPr bwMode="auto">
          <a:xfrm>
            <a:off x="5935663" y="3584313"/>
            <a:ext cx="150812" cy="333375"/>
          </a:xfrm>
          <a:custGeom>
            <a:avLst/>
            <a:gdLst>
              <a:gd name="T0" fmla="*/ 0 w 103"/>
              <a:gd name="T1" fmla="*/ 2147483647 h 210"/>
              <a:gd name="T2" fmla="*/ 2147483647 w 103"/>
              <a:gd name="T3" fmla="*/ 2147483647 h 210"/>
              <a:gd name="T4" fmla="*/ 2147483647 w 103"/>
              <a:gd name="T5" fmla="*/ 0 h 210"/>
              <a:gd name="T6" fmla="*/ 0 60000 65536"/>
              <a:gd name="T7" fmla="*/ 0 60000 65536"/>
              <a:gd name="T8" fmla="*/ 0 60000 65536"/>
              <a:gd name="T9" fmla="*/ 0 w 103"/>
              <a:gd name="T10" fmla="*/ 0 h 210"/>
              <a:gd name="T11" fmla="*/ 103 w 103"/>
              <a:gd name="T12" fmla="*/ 210 h 2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3" h="210">
                <a:moveTo>
                  <a:pt x="0" y="210"/>
                </a:moveTo>
                <a:lnTo>
                  <a:pt x="103" y="105"/>
                </a:lnTo>
                <a:lnTo>
                  <a:pt x="11" y="0"/>
                </a:lnTo>
              </a:path>
            </a:pathLst>
          </a:custGeom>
          <a:noFill/>
          <a:ln w="174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32" name="直接连接符 10">
            <a:extLst>
              <a:ext uri="{FF2B5EF4-FFF2-40B4-BE49-F238E27FC236}">
                <a16:creationId xmlns:a16="http://schemas.microsoft.com/office/drawing/2014/main" id="{EE40E260-49C9-AF46-B31C-ABB2803BDF90}"/>
              </a:ext>
            </a:extLst>
          </p:cNvPr>
          <p:cNvCxnSpPr/>
          <p:nvPr/>
        </p:nvCxnSpPr>
        <p:spPr bwMode="auto">
          <a:xfrm flipV="1">
            <a:off x="5562600" y="2759462"/>
            <a:ext cx="0" cy="57878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连接符: 肘形 12">
            <a:extLst>
              <a:ext uri="{FF2B5EF4-FFF2-40B4-BE49-F238E27FC236}">
                <a16:creationId xmlns:a16="http://schemas.microsoft.com/office/drawing/2014/main" id="{67B7D4FC-8027-6F47-8C1C-3235C5B96C97}"/>
              </a:ext>
            </a:extLst>
          </p:cNvPr>
          <p:cNvCxnSpPr/>
          <p:nvPr/>
        </p:nvCxnSpPr>
        <p:spPr bwMode="auto">
          <a:xfrm>
            <a:off x="5562600" y="2759462"/>
            <a:ext cx="1816746" cy="1277288"/>
          </a:xfrm>
          <a:prstGeom prst="bentConnector3">
            <a:avLst>
              <a:gd name="adj1" fmla="val 100332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5425247-5036-CB48-9A7B-65714396ED8A}"/>
              </a:ext>
            </a:extLst>
          </p:cNvPr>
          <p:cNvSpPr txBox="1"/>
          <p:nvPr/>
        </p:nvSpPr>
        <p:spPr>
          <a:xfrm>
            <a:off x="5518874" y="4495800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时序要求已满足</a:t>
            </a:r>
            <a:endParaRPr lang="en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  <a:sym typeface="Microsoft Yahei" panose="020B0503020204020204" pitchFamily="34" charset="-122"/>
              </a:rPr>
              <a:t>提交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  <a:sym typeface="Microsoft Yahei" panose="020B0503020204020204" pitchFamily="34" charset="-122"/>
            </a:endParaRPr>
          </a:p>
        </p:txBody>
      </p:sp>
      <p:grpSp>
        <p:nvGrpSpPr>
          <p:cNvPr id="5" name="Group 4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528B91E1-0747-4920-8731-A42BE04EE80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FDE4F27F-DD9A-450C-94C6-BFD7FDB7C5A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CB1D9CDE-0A04-4A32-BB0F-1C81FCFC2F9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endParaRPr>
            </a:p>
          </p:txBody>
        </p:sp>
        <p:sp>
          <p:nvSpPr>
            <p:cNvPr id="3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Picture 1"/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9E3D66B-B440-4813-A04C-C62D8A775722}"/>
                  </a:ext>
                </a:extLst>
              </p14:cNvPr>
              <p14:cNvContentPartPr/>
              <p14:nvPr/>
            </p14:nvContentPartPr>
            <p14:xfrm>
              <a:off x="88920" y="4381560"/>
              <a:ext cx="360" cy="3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9E3D66B-B440-4813-A04C-C62D8A77572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560" y="43722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custDataLst>
      <p:tags r:id="rId2"/>
    </p:custDataLst>
    <p:extLst>
      <p:ext uri="{BB962C8B-B14F-4D97-AF65-F5344CB8AC3E}">
        <p14:creationId xmlns:p14="http://schemas.microsoft.com/office/powerpoint/2010/main" val="37430788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DFF</a:t>
            </a:r>
            <a:r>
              <a:rPr lang="zh-CN" altLang="en-US" dirty="0"/>
              <a:t>：常见的一种实现方式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77AC0-0215-9940-BE3D-AB6737FD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FD01E0-23E4-1E4A-893C-7CD343448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02" y="2582350"/>
            <a:ext cx="7721385" cy="2514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5518675-1A6F-4E46-B910-CD748002A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50" y="5726882"/>
                <a:ext cx="88011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CLK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为低：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主锁存器输出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Q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M</a:t>
                </a:r>
                <a14:m>
                  <m:oMath xmlns:m="http://schemas.openxmlformats.org/officeDocument/2006/math">
                    <m:r>
                      <a:rPr lang="zh-CN" alt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Arial" panose="020B0604020202020204" pitchFamily="34" charset="0"/>
                      </a:rPr>
                      <m:t>随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输入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D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变化，从锁存器输出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Q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j-lt"/>
                    <a:ea typeface="+mj-ea"/>
                    <a:cs typeface="Arial" panose="020B0604020202020204" pitchFamily="34" charset="0"/>
                  </a:rPr>
                  <a:t>不变</a:t>
                </a:r>
                <a:endParaRPr lang="en-US" altLang="zh-CN" sz="24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5518675-1A6F-4E46-B910-CD748002A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5726882"/>
                <a:ext cx="8801100" cy="461665"/>
              </a:xfrm>
              <a:prstGeom prst="rect">
                <a:avLst/>
              </a:prstGeom>
              <a:blipFill>
                <a:blip r:embed="rId4"/>
                <a:stretch>
                  <a:fillRect l="-485" t="-14474" r="-485" b="-3026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4">
            <a:extLst>
              <a:ext uri="{FF2B5EF4-FFF2-40B4-BE49-F238E27FC236}">
                <a16:creationId xmlns:a16="http://schemas.microsoft.com/office/drawing/2014/main" id="{933D2714-B4FB-0F47-B0D3-3306664E0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214" y="2094542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t>主锁存器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FBE4770-DA82-7649-AF7C-784865D3B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896" y="2029752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t>从锁存器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BF30583-9E07-E146-97A7-2D4C51C85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289" y="1378727"/>
            <a:ext cx="4323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输入数据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，时钟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CLK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，输出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Q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7A6491-245D-0C41-89D4-B55611454183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6272530" y="3403713"/>
            <a:ext cx="1652270" cy="0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CF2B8B8-B1F0-7C4C-8D7B-50AD68DBA7CC}"/>
              </a:ext>
            </a:extLst>
          </p:cNvPr>
          <p:cNvGrpSpPr/>
          <p:nvPr/>
        </p:nvGrpSpPr>
        <p:grpSpPr>
          <a:xfrm>
            <a:off x="4960519" y="2582350"/>
            <a:ext cx="2624022" cy="821363"/>
            <a:chOff x="4960519" y="2453133"/>
            <a:chExt cx="2624022" cy="8213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F991355-BAF1-AB43-B1DB-E00633FECFAF}"/>
                </a:ext>
              </a:extLst>
            </p:cNvPr>
            <p:cNvSpPr/>
            <p:nvPr/>
          </p:nvSpPr>
          <p:spPr>
            <a:xfrm>
              <a:off x="4960519" y="2457896"/>
              <a:ext cx="2624022" cy="816600"/>
            </a:xfrm>
            <a:prstGeom prst="ellipse">
              <a:avLst/>
            </a:prstGeom>
            <a:noFill/>
            <a:ln w="38100">
              <a:solidFill>
                <a:srgbClr val="0432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9019A01-BF24-6741-BB85-3D9C82522F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8086" y="2453133"/>
              <a:ext cx="184700" cy="0"/>
            </a:xfrm>
            <a:prstGeom prst="straightConnector1">
              <a:avLst/>
            </a:prstGeom>
            <a:ln w="38100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A4EF158-00EA-2B41-9829-460BF60DD229}"/>
                </a:ext>
              </a:extLst>
            </p:cNvPr>
            <p:cNvCxnSpPr>
              <a:cxnSpLocks/>
            </p:cNvCxnSpPr>
            <p:nvPr/>
          </p:nvCxnSpPr>
          <p:spPr>
            <a:xfrm>
              <a:off x="6023691" y="3269733"/>
              <a:ext cx="235605" cy="0"/>
            </a:xfrm>
            <a:prstGeom prst="straightConnector1">
              <a:avLst/>
            </a:prstGeom>
            <a:ln w="38100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133D0FCA-4235-9441-86AE-07254558F212}"/>
              </a:ext>
            </a:extLst>
          </p:cNvPr>
          <p:cNvCxnSpPr>
            <a:cxnSpLocks/>
          </p:cNvCxnSpPr>
          <p:nvPr/>
        </p:nvCxnSpPr>
        <p:spPr>
          <a:xfrm flipV="1">
            <a:off x="1424765" y="3481249"/>
            <a:ext cx="2920810" cy="838968"/>
          </a:xfrm>
          <a:prstGeom prst="bentConnector3">
            <a:avLst>
              <a:gd name="adj1" fmla="val 69077"/>
            </a:avLst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4DC10C-F100-484F-A850-94B2E9E8A1D5}"/>
              </a:ext>
            </a:extLst>
          </p:cNvPr>
          <p:cNvCxnSpPr/>
          <p:nvPr/>
        </p:nvCxnSpPr>
        <p:spPr>
          <a:xfrm>
            <a:off x="4364949" y="3435417"/>
            <a:ext cx="0" cy="838968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15">
            <a:extLst>
              <a:ext uri="{FF2B5EF4-FFF2-40B4-BE49-F238E27FC236}">
                <a16:creationId xmlns:a16="http://schemas.microsoft.com/office/drawing/2014/main" id="{7785ECB2-5633-E841-9D34-913DAD30F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774" y="4485446"/>
            <a:ext cx="4946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22" name="Text Box 15">
            <a:extLst>
              <a:ext uri="{FF2B5EF4-FFF2-40B4-BE49-F238E27FC236}">
                <a16:creationId xmlns:a16="http://schemas.microsoft.com/office/drawing/2014/main" id="{5BA23A53-DC2A-42C3-A20A-679F19F77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774" y="5082217"/>
            <a:ext cx="4946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24" name="Text Box 15">
            <a:extLst>
              <a:ext uri="{FF2B5EF4-FFF2-40B4-BE49-F238E27FC236}">
                <a16:creationId xmlns:a16="http://schemas.microsoft.com/office/drawing/2014/main" id="{DE50125B-61C9-4340-A79D-3227DF175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2615" y="4485446"/>
            <a:ext cx="4946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25" name="Text Box 15">
            <a:extLst>
              <a:ext uri="{FF2B5EF4-FFF2-40B4-BE49-F238E27FC236}">
                <a16:creationId xmlns:a16="http://schemas.microsoft.com/office/drawing/2014/main" id="{EAC31897-73CC-4E19-B120-0A6D0E291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2615" y="5082217"/>
            <a:ext cx="4946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26" name="Text Box 15">
            <a:extLst>
              <a:ext uri="{FF2B5EF4-FFF2-40B4-BE49-F238E27FC236}">
                <a16:creationId xmlns:a16="http://schemas.microsoft.com/office/drawing/2014/main" id="{BF8D6493-FD53-418F-B3E9-54A5A6216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9244" y="3134852"/>
            <a:ext cx="68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endParaRPr lang="en-US" altLang="zh-CN" sz="3200" dirty="0">
              <a:solidFill>
                <a:srgbClr val="0432FF"/>
              </a:solidFill>
            </a:endParaRP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5606213E-2F1F-44FD-A4D0-9543F178C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190" y="3981997"/>
            <a:ext cx="685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endParaRPr lang="en-US" altLang="zh-CN" sz="3200" dirty="0">
              <a:solidFill>
                <a:srgbClr val="0432FF"/>
              </a:solidFill>
              <a:latin typeface="+mj-lt"/>
            </a:endParaRPr>
          </a:p>
        </p:txBody>
      </p:sp>
      <p:sp>
        <p:nvSpPr>
          <p:cNvPr id="28" name="Text Box 15">
            <a:extLst>
              <a:ext uri="{FF2B5EF4-FFF2-40B4-BE49-F238E27FC236}">
                <a16:creationId xmlns:a16="http://schemas.microsoft.com/office/drawing/2014/main" id="{9266597E-EAD3-4BF5-88A3-3670BB7C3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8593" y="3964966"/>
            <a:ext cx="68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endParaRPr lang="en-US" altLang="zh-CN" sz="3200" dirty="0">
              <a:solidFill>
                <a:srgbClr val="0432FF"/>
              </a:solidFill>
            </a:endParaRPr>
          </a:p>
        </p:txBody>
      </p:sp>
      <p:sp>
        <p:nvSpPr>
          <p:cNvPr id="30" name="Text Box 15">
            <a:extLst>
              <a:ext uri="{FF2B5EF4-FFF2-40B4-BE49-F238E27FC236}">
                <a16:creationId xmlns:a16="http://schemas.microsoft.com/office/drawing/2014/main" id="{B9712AD1-574A-48E8-A4B2-4E6D6B02D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540" y="3143029"/>
            <a:ext cx="685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endParaRPr lang="en-US" altLang="zh-CN" sz="3200" dirty="0">
              <a:solidFill>
                <a:srgbClr val="0432FF"/>
              </a:solidFill>
              <a:latin typeface="+mj-lt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F53C86C-AE50-4AF2-BC4D-28D7D032D42C}"/>
              </a:ext>
            </a:extLst>
          </p:cNvPr>
          <p:cNvCxnSpPr>
            <a:cxnSpLocks/>
          </p:cNvCxnSpPr>
          <p:nvPr/>
        </p:nvCxnSpPr>
        <p:spPr>
          <a:xfrm flipV="1">
            <a:off x="2743200" y="4566772"/>
            <a:ext cx="0" cy="3100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6995293-AA45-4FAD-857E-D0022D3BB389}"/>
              </a:ext>
            </a:extLst>
          </p:cNvPr>
          <p:cNvCxnSpPr>
            <a:cxnSpLocks/>
          </p:cNvCxnSpPr>
          <p:nvPr/>
        </p:nvCxnSpPr>
        <p:spPr>
          <a:xfrm flipV="1">
            <a:off x="6245326" y="4566772"/>
            <a:ext cx="0" cy="5301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4">
            <a:extLst>
              <a:ext uri="{FF2B5EF4-FFF2-40B4-BE49-F238E27FC236}">
                <a16:creationId xmlns:a16="http://schemas.microsoft.com/office/drawing/2014/main" id="{90B50493-4882-4E94-8585-C5A338466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689" y="5046567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反向门控</a:t>
            </a:r>
            <a:endParaRPr lang="en-US" altLang="zh-CN" sz="2400" dirty="0">
              <a:solidFill>
                <a:srgbClr val="FF0000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40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1" grpId="0"/>
      <p:bldP spid="22" grpId="0"/>
      <p:bldP spid="24" grpId="0"/>
      <p:bldP spid="25" grpId="0"/>
      <p:bldP spid="26" grpId="0"/>
      <p:bldP spid="27" grpId="0"/>
      <p:bldP spid="28" grpId="0"/>
      <p:bldP spid="30" grpId="0"/>
      <p:bldP spid="3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DFF</a:t>
            </a:r>
            <a:r>
              <a:rPr lang="zh-CN" altLang="en-US" dirty="0"/>
              <a:t>：常见的一种实现方式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42BBD-EA99-C645-839F-D8AFC85B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FD01E0-23E4-1E4A-893C-7CD343448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20" y="2578100"/>
            <a:ext cx="7721385" cy="2514600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987279DA-F5AC-A64C-BDF6-207A7F43B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5714" y="1967083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主锁存器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1D9B812-F3DE-6F4C-9A04-82CC916FB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700" y="1967083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从锁存器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403CA12-94EA-3344-9871-4F4FA9502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5726882"/>
            <a:ext cx="845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CLK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为高：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主锁存器维持在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Q</a:t>
            </a:r>
            <a:r>
              <a:rPr lang="en-US" altLang="zh-CN" sz="2400" baseline="-25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M</a:t>
            </a:r>
            <a:r>
              <a:rPr lang="zh-CN" altLang="en-US" sz="2400" baseline="-25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从锁存器将其传输到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Q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4F9EB0E-FAF2-FF48-B7C8-AC3C3583DF49}"/>
              </a:ext>
            </a:extLst>
          </p:cNvPr>
          <p:cNvSpPr/>
          <p:nvPr/>
        </p:nvSpPr>
        <p:spPr>
          <a:xfrm>
            <a:off x="1571589" y="2636894"/>
            <a:ext cx="2624022" cy="816600"/>
          </a:xfrm>
          <a:prstGeom prst="ellipse">
            <a:avLst/>
          </a:prstGeom>
          <a:noFill/>
          <a:ln w="38100">
            <a:solidFill>
              <a:srgbClr val="0432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44F4FF-21E0-5D46-BBF4-A5AC25681A24}"/>
              </a:ext>
            </a:extLst>
          </p:cNvPr>
          <p:cNvCxnSpPr>
            <a:cxnSpLocks/>
          </p:cNvCxnSpPr>
          <p:nvPr/>
        </p:nvCxnSpPr>
        <p:spPr>
          <a:xfrm flipH="1">
            <a:off x="2787100" y="2632131"/>
            <a:ext cx="184700" cy="0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498C53-D879-2242-83B7-93C85E1E5255}"/>
              </a:ext>
            </a:extLst>
          </p:cNvPr>
          <p:cNvCxnSpPr>
            <a:cxnSpLocks/>
            <a:endCxn id="13" idx="4"/>
          </p:cNvCxnSpPr>
          <p:nvPr/>
        </p:nvCxnSpPr>
        <p:spPr>
          <a:xfrm>
            <a:off x="2787100" y="3453494"/>
            <a:ext cx="96500" cy="0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6E840CCF-646D-C642-9523-BF4E6FA8E25A}"/>
              </a:ext>
            </a:extLst>
          </p:cNvPr>
          <p:cNvCxnSpPr>
            <a:cxnSpLocks/>
          </p:cNvCxnSpPr>
          <p:nvPr/>
        </p:nvCxnSpPr>
        <p:spPr>
          <a:xfrm flipV="1">
            <a:off x="4716698" y="3462486"/>
            <a:ext cx="3284302" cy="838968"/>
          </a:xfrm>
          <a:prstGeom prst="bentConnector3">
            <a:avLst>
              <a:gd name="adj1" fmla="val 65661"/>
            </a:avLst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5">
            <a:extLst>
              <a:ext uri="{FF2B5EF4-FFF2-40B4-BE49-F238E27FC236}">
                <a16:creationId xmlns:a16="http://schemas.microsoft.com/office/drawing/2014/main" id="{909F0B07-9A52-46CA-9E8E-53C083230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392" y="3968722"/>
            <a:ext cx="68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endParaRPr lang="en-US" altLang="zh-CN" sz="3200" dirty="0">
              <a:solidFill>
                <a:srgbClr val="0432FF"/>
              </a:solidFill>
            </a:endParaRPr>
          </a:p>
        </p:txBody>
      </p:sp>
      <p:sp>
        <p:nvSpPr>
          <p:cNvPr id="20" name="Text Box 15">
            <a:extLst>
              <a:ext uri="{FF2B5EF4-FFF2-40B4-BE49-F238E27FC236}">
                <a16:creationId xmlns:a16="http://schemas.microsoft.com/office/drawing/2014/main" id="{E5B44454-3D20-4DFF-AEEE-1795943FB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392" y="3154106"/>
            <a:ext cx="685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endParaRPr lang="en-US" altLang="zh-CN" sz="3200" dirty="0">
              <a:solidFill>
                <a:srgbClr val="0432FF"/>
              </a:solidFill>
              <a:latin typeface="+mj-lt"/>
            </a:endParaRP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ECC52189-9232-4737-8176-096DC93B6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774" y="4485446"/>
            <a:ext cx="4946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22" name="Text Box 15">
            <a:extLst>
              <a:ext uri="{FF2B5EF4-FFF2-40B4-BE49-F238E27FC236}">
                <a16:creationId xmlns:a16="http://schemas.microsoft.com/office/drawing/2014/main" id="{5F26BF0E-3FF7-4FAC-835C-FE719F07D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774" y="5082217"/>
            <a:ext cx="4946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26" name="Text Box 15">
            <a:extLst>
              <a:ext uri="{FF2B5EF4-FFF2-40B4-BE49-F238E27FC236}">
                <a16:creationId xmlns:a16="http://schemas.microsoft.com/office/drawing/2014/main" id="{2CBE378B-63C2-45F7-A9F5-B823ADBD1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628" y="3103449"/>
            <a:ext cx="68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endParaRPr lang="en-US" altLang="zh-CN" sz="3200" dirty="0">
              <a:solidFill>
                <a:srgbClr val="0432FF"/>
              </a:solidFill>
            </a:endParaRP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C0A9D52F-B7D6-4812-A324-E3C092F2E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628" y="3987772"/>
            <a:ext cx="685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endParaRPr lang="en-US" altLang="zh-CN" sz="3200" dirty="0">
              <a:solidFill>
                <a:srgbClr val="0432FF"/>
              </a:solidFill>
              <a:latin typeface="+mj-lt"/>
            </a:endParaRPr>
          </a:p>
        </p:txBody>
      </p:sp>
      <p:sp>
        <p:nvSpPr>
          <p:cNvPr id="28" name="Text Box 15">
            <a:extLst>
              <a:ext uri="{FF2B5EF4-FFF2-40B4-BE49-F238E27FC236}">
                <a16:creationId xmlns:a16="http://schemas.microsoft.com/office/drawing/2014/main" id="{F1744671-479A-41B9-80D2-05F086C93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2615" y="4485446"/>
            <a:ext cx="4946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29" name="Text Box 15">
            <a:extLst>
              <a:ext uri="{FF2B5EF4-FFF2-40B4-BE49-F238E27FC236}">
                <a16:creationId xmlns:a16="http://schemas.microsoft.com/office/drawing/2014/main" id="{D4A2D53C-B3BC-4D6D-999F-4F362CE15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2615" y="5082217"/>
            <a:ext cx="4946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432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965974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F1EEDB-C1E5-4C4B-B548-B69EB033E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06" y="1377171"/>
            <a:ext cx="3949584" cy="1645920"/>
          </a:xfrm>
          <a:prstGeom prst="rect">
            <a:avLst/>
          </a:prstGeom>
        </p:spPr>
      </p:pic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DFF</a:t>
            </a:r>
            <a:r>
              <a:rPr lang="zh-CN" altLang="en-US" dirty="0"/>
              <a:t>：常见的一种实现方式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89A15-4F3C-1345-81E3-3E887D74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5518675-1A6F-4E46-B910-CD748002A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565" y="3023091"/>
            <a:ext cx="2971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CLK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高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Master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锁定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Slave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传递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至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57E0D4E-4312-3349-B50F-5A55243C4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495" y="3023091"/>
            <a:ext cx="355724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CLK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低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Master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跟踪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D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Slave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保持原有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B3AFE733-47F5-C74B-93A7-E4555E2B7E65}"/>
              </a:ext>
            </a:extLst>
          </p:cNvPr>
          <p:cNvSpPr/>
          <p:nvPr/>
        </p:nvSpPr>
        <p:spPr>
          <a:xfrm>
            <a:off x="4345936" y="2072687"/>
            <a:ext cx="533400" cy="22860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/>
            <a:endParaRPr lang="en-CN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66A0D5-501D-9B0E-664F-FCF96BEF7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199" y="4100905"/>
            <a:ext cx="6054864" cy="28313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3587275-FCEE-849F-71D4-57EAE1079DE4}"/>
              </a:ext>
            </a:extLst>
          </p:cNvPr>
          <p:cNvSpPr txBox="1"/>
          <p:nvPr/>
        </p:nvSpPr>
        <p:spPr>
          <a:xfrm>
            <a:off x="298489" y="5316506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0432FF"/>
                </a:solidFill>
                <a:latin typeface="+mj-lt"/>
                <a:ea typeface="+mj-ea"/>
              </a:rPr>
              <a:t>理想</a:t>
            </a:r>
            <a:r>
              <a:rPr kumimoji="1" lang="en-US" altLang="zh-CN" sz="2000" dirty="0">
                <a:solidFill>
                  <a:srgbClr val="0432FF"/>
                </a:solidFill>
                <a:latin typeface="+mj-lt"/>
                <a:ea typeface="+mj-ea"/>
              </a:rPr>
              <a:t>DFF</a:t>
            </a:r>
            <a:r>
              <a:rPr kumimoji="1" lang="zh-CN" altLang="en-US" sz="2000" dirty="0">
                <a:solidFill>
                  <a:srgbClr val="0432FF"/>
                </a:solidFill>
                <a:latin typeface="+mj-lt"/>
                <a:ea typeface="+mj-ea"/>
              </a:rPr>
              <a:t>时序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589828-27FA-7040-BE3F-D9CA72C663A5}"/>
              </a:ext>
            </a:extLst>
          </p:cNvPr>
          <p:cNvCxnSpPr/>
          <p:nvPr/>
        </p:nvCxnSpPr>
        <p:spPr>
          <a:xfrm>
            <a:off x="685800" y="1524000"/>
            <a:ext cx="0" cy="3048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F9BE45B-3896-AA4A-92E0-486F47BCF34D}"/>
              </a:ext>
            </a:extLst>
          </p:cNvPr>
          <p:cNvCxnSpPr/>
          <p:nvPr/>
        </p:nvCxnSpPr>
        <p:spPr>
          <a:xfrm>
            <a:off x="685800" y="1524000"/>
            <a:ext cx="14651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任意形状 2">
            <a:extLst>
              <a:ext uri="{FF2B5EF4-FFF2-40B4-BE49-F238E27FC236}">
                <a16:creationId xmlns:a16="http://schemas.microsoft.com/office/drawing/2014/main" id="{AF68789F-59E5-5E46-9263-1F41B27E23F0}"/>
              </a:ext>
            </a:extLst>
          </p:cNvPr>
          <p:cNvSpPr/>
          <p:nvPr/>
        </p:nvSpPr>
        <p:spPr>
          <a:xfrm>
            <a:off x="4212431" y="3208508"/>
            <a:ext cx="822557" cy="513386"/>
          </a:xfrm>
          <a:custGeom>
            <a:avLst/>
            <a:gdLst>
              <a:gd name="connsiteX0" fmla="*/ 0 w 925975"/>
              <a:gd name="connsiteY0" fmla="*/ 509286 h 509286"/>
              <a:gd name="connsiteX1" fmla="*/ 497712 w 925975"/>
              <a:gd name="connsiteY1" fmla="*/ 509286 h 509286"/>
              <a:gd name="connsiteX2" fmla="*/ 497712 w 925975"/>
              <a:gd name="connsiteY2" fmla="*/ 0 h 509286"/>
              <a:gd name="connsiteX3" fmla="*/ 925975 w 925975"/>
              <a:gd name="connsiteY3" fmla="*/ 0 h 509286"/>
              <a:gd name="connsiteX0" fmla="*/ 0 w 840250"/>
              <a:gd name="connsiteY0" fmla="*/ 499761 h 509286"/>
              <a:gd name="connsiteX1" fmla="*/ 411987 w 840250"/>
              <a:gd name="connsiteY1" fmla="*/ 509286 h 509286"/>
              <a:gd name="connsiteX2" fmla="*/ 411987 w 840250"/>
              <a:gd name="connsiteY2" fmla="*/ 0 h 509286"/>
              <a:gd name="connsiteX3" fmla="*/ 840250 w 840250"/>
              <a:gd name="connsiteY3" fmla="*/ 0 h 509286"/>
              <a:gd name="connsiteX0" fmla="*/ 0 w 840250"/>
              <a:gd name="connsiteY0" fmla="*/ 499761 h 513386"/>
              <a:gd name="connsiteX1" fmla="*/ 17693 w 840250"/>
              <a:gd name="connsiteY1" fmla="*/ 513386 h 513386"/>
              <a:gd name="connsiteX2" fmla="*/ 411987 w 840250"/>
              <a:gd name="connsiteY2" fmla="*/ 509286 h 513386"/>
              <a:gd name="connsiteX3" fmla="*/ 411987 w 840250"/>
              <a:gd name="connsiteY3" fmla="*/ 0 h 513386"/>
              <a:gd name="connsiteX4" fmla="*/ 840250 w 840250"/>
              <a:gd name="connsiteY4" fmla="*/ 0 h 513386"/>
              <a:gd name="connsiteX0" fmla="*/ 0 w 822557"/>
              <a:gd name="connsiteY0" fmla="*/ 513386 h 513386"/>
              <a:gd name="connsiteX1" fmla="*/ 394294 w 822557"/>
              <a:gd name="connsiteY1" fmla="*/ 509286 h 513386"/>
              <a:gd name="connsiteX2" fmla="*/ 394294 w 822557"/>
              <a:gd name="connsiteY2" fmla="*/ 0 h 513386"/>
              <a:gd name="connsiteX3" fmla="*/ 822557 w 822557"/>
              <a:gd name="connsiteY3" fmla="*/ 0 h 51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557" h="513386">
                <a:moveTo>
                  <a:pt x="0" y="513386"/>
                </a:moveTo>
                <a:lnTo>
                  <a:pt x="394294" y="509286"/>
                </a:lnTo>
                <a:lnTo>
                  <a:pt x="394294" y="0"/>
                </a:lnTo>
                <a:lnTo>
                  <a:pt x="822557" y="0"/>
                </a:lnTo>
              </a:path>
            </a:pathLst>
          </a:custGeom>
          <a:noFill/>
          <a:ln w="38100">
            <a:solidFill>
              <a:srgbClr val="043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EF0E72-5FE0-450C-AD22-03B3413F0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987" y="1374486"/>
            <a:ext cx="4038244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6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DFF: </a:t>
            </a:r>
            <a:r>
              <a:rPr lang="zh-CN" altLang="en-US" dirty="0"/>
              <a:t>时序考虑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89A15-4F3C-1345-81E3-3E887D74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15E54B4-4346-6841-8165-B55707C89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495" y="4828363"/>
            <a:ext cx="8254660" cy="1505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如何保证动态过渡过程中功能正确</a:t>
            </a:r>
            <a:r>
              <a:rPr lang="en-US" altLang="zh-CN" sz="2800" b="1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?</a:t>
            </a:r>
          </a:p>
          <a:p>
            <a:pPr marL="457200" indent="-457200" algn="l">
              <a:lnSpc>
                <a:spcPct val="125000"/>
              </a:lnSpc>
              <a:buFontTx/>
              <a:buChar char="-"/>
            </a:pP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来自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D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的输入要在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Master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锁定时保持稳定</a:t>
            </a:r>
            <a:endParaRPr lang="en-US" altLang="zh-CN" sz="2400" dirty="0">
              <a:solidFill>
                <a:srgbClr val="0432FF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457200" indent="-457200" algn="l">
              <a:lnSpc>
                <a:spcPct val="125000"/>
              </a:lnSpc>
              <a:buFontTx/>
              <a:buChar char="-"/>
            </a:pP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Master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改变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Q</a:t>
            </a:r>
            <a:r>
              <a:rPr lang="en-US" altLang="zh-CN" sz="2400" baseline="-250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M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前，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Slave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要完成锁定 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(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一般原生满足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cs typeface="Arial" panose="020B0604020202020204" pitchFamily="34" charset="0"/>
              </a:rPr>
              <a:t>)</a:t>
            </a:r>
            <a:endParaRPr lang="en-US" altLang="zh-CN" sz="2400" baseline="-25000" dirty="0">
              <a:solidFill>
                <a:srgbClr val="0432FF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F5C4443-761C-4494-84A2-705B19721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06" y="1377171"/>
            <a:ext cx="3949584" cy="1645920"/>
          </a:xfrm>
          <a:prstGeom prst="rect">
            <a:avLst/>
          </a:prstGeom>
        </p:spPr>
      </p:pic>
      <p:sp>
        <p:nvSpPr>
          <p:cNvPr id="29" name="Rectangle 4">
            <a:extLst>
              <a:ext uri="{FF2B5EF4-FFF2-40B4-BE49-F238E27FC236}">
                <a16:creationId xmlns:a16="http://schemas.microsoft.com/office/drawing/2014/main" id="{F602ECA1-DC95-4C30-959C-3551311EE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565" y="3023091"/>
            <a:ext cx="2971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CLK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高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Master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锁定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Slave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传递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至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C5A21304-2396-4275-BBDF-B4A66FBF5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495" y="3023091"/>
            <a:ext cx="355724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CLK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低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Master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跟踪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D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Slave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保持原有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</a:p>
        </p:txBody>
      </p:sp>
      <p:sp>
        <p:nvSpPr>
          <p:cNvPr id="31" name="Left-Right Arrow 16">
            <a:extLst>
              <a:ext uri="{FF2B5EF4-FFF2-40B4-BE49-F238E27FC236}">
                <a16:creationId xmlns:a16="http://schemas.microsoft.com/office/drawing/2014/main" id="{2EFF2CED-CE3C-4D80-9A88-97405A62FFF9}"/>
              </a:ext>
            </a:extLst>
          </p:cNvPr>
          <p:cNvSpPr/>
          <p:nvPr/>
        </p:nvSpPr>
        <p:spPr>
          <a:xfrm>
            <a:off x="4345936" y="2072687"/>
            <a:ext cx="533400" cy="22860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/>
            <a:endParaRPr lang="en-CN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任意形状 2">
            <a:extLst>
              <a:ext uri="{FF2B5EF4-FFF2-40B4-BE49-F238E27FC236}">
                <a16:creationId xmlns:a16="http://schemas.microsoft.com/office/drawing/2014/main" id="{2DB06A1F-BCA9-4FFD-A829-8D3AADA8AF62}"/>
              </a:ext>
            </a:extLst>
          </p:cNvPr>
          <p:cNvSpPr/>
          <p:nvPr/>
        </p:nvSpPr>
        <p:spPr>
          <a:xfrm>
            <a:off x="4212431" y="3208508"/>
            <a:ext cx="822557" cy="513386"/>
          </a:xfrm>
          <a:custGeom>
            <a:avLst/>
            <a:gdLst>
              <a:gd name="connsiteX0" fmla="*/ 0 w 925975"/>
              <a:gd name="connsiteY0" fmla="*/ 509286 h 509286"/>
              <a:gd name="connsiteX1" fmla="*/ 497712 w 925975"/>
              <a:gd name="connsiteY1" fmla="*/ 509286 h 509286"/>
              <a:gd name="connsiteX2" fmla="*/ 497712 w 925975"/>
              <a:gd name="connsiteY2" fmla="*/ 0 h 509286"/>
              <a:gd name="connsiteX3" fmla="*/ 925975 w 925975"/>
              <a:gd name="connsiteY3" fmla="*/ 0 h 509286"/>
              <a:gd name="connsiteX0" fmla="*/ 0 w 840250"/>
              <a:gd name="connsiteY0" fmla="*/ 499761 h 509286"/>
              <a:gd name="connsiteX1" fmla="*/ 411987 w 840250"/>
              <a:gd name="connsiteY1" fmla="*/ 509286 h 509286"/>
              <a:gd name="connsiteX2" fmla="*/ 411987 w 840250"/>
              <a:gd name="connsiteY2" fmla="*/ 0 h 509286"/>
              <a:gd name="connsiteX3" fmla="*/ 840250 w 840250"/>
              <a:gd name="connsiteY3" fmla="*/ 0 h 509286"/>
              <a:gd name="connsiteX0" fmla="*/ 0 w 840250"/>
              <a:gd name="connsiteY0" fmla="*/ 499761 h 513386"/>
              <a:gd name="connsiteX1" fmla="*/ 17693 w 840250"/>
              <a:gd name="connsiteY1" fmla="*/ 513386 h 513386"/>
              <a:gd name="connsiteX2" fmla="*/ 411987 w 840250"/>
              <a:gd name="connsiteY2" fmla="*/ 509286 h 513386"/>
              <a:gd name="connsiteX3" fmla="*/ 411987 w 840250"/>
              <a:gd name="connsiteY3" fmla="*/ 0 h 513386"/>
              <a:gd name="connsiteX4" fmla="*/ 840250 w 840250"/>
              <a:gd name="connsiteY4" fmla="*/ 0 h 513386"/>
              <a:gd name="connsiteX0" fmla="*/ 0 w 822557"/>
              <a:gd name="connsiteY0" fmla="*/ 513386 h 513386"/>
              <a:gd name="connsiteX1" fmla="*/ 394294 w 822557"/>
              <a:gd name="connsiteY1" fmla="*/ 509286 h 513386"/>
              <a:gd name="connsiteX2" fmla="*/ 394294 w 822557"/>
              <a:gd name="connsiteY2" fmla="*/ 0 h 513386"/>
              <a:gd name="connsiteX3" fmla="*/ 822557 w 822557"/>
              <a:gd name="connsiteY3" fmla="*/ 0 h 51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557" h="513386">
                <a:moveTo>
                  <a:pt x="0" y="513386"/>
                </a:moveTo>
                <a:lnTo>
                  <a:pt x="394294" y="509286"/>
                </a:lnTo>
                <a:lnTo>
                  <a:pt x="394294" y="0"/>
                </a:lnTo>
                <a:lnTo>
                  <a:pt x="822557" y="0"/>
                </a:lnTo>
              </a:path>
            </a:pathLst>
          </a:custGeom>
          <a:noFill/>
          <a:ln w="38100">
            <a:solidFill>
              <a:srgbClr val="043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9ABBDA59-0957-477B-B955-7D94C9B37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987" y="1374486"/>
            <a:ext cx="4038244" cy="1645920"/>
          </a:xfrm>
          <a:prstGeom prst="rect">
            <a:avLst/>
          </a:prstGeom>
        </p:spPr>
      </p:pic>
      <p:cxnSp>
        <p:nvCxnSpPr>
          <p:cNvPr id="34" name="Straight Arrow Connector 39">
            <a:extLst>
              <a:ext uri="{FF2B5EF4-FFF2-40B4-BE49-F238E27FC236}">
                <a16:creationId xmlns:a16="http://schemas.microsoft.com/office/drawing/2014/main" id="{F4B9EBB1-8480-48D6-BC6A-8413913BE3F4}"/>
              </a:ext>
            </a:extLst>
          </p:cNvPr>
          <p:cNvCxnSpPr/>
          <p:nvPr/>
        </p:nvCxnSpPr>
        <p:spPr>
          <a:xfrm>
            <a:off x="685800" y="1524000"/>
            <a:ext cx="0" cy="3048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41">
            <a:extLst>
              <a:ext uri="{FF2B5EF4-FFF2-40B4-BE49-F238E27FC236}">
                <a16:creationId xmlns:a16="http://schemas.microsoft.com/office/drawing/2014/main" id="{2C76B8F0-F8F2-4D97-9E16-C6FC9FABF61E}"/>
              </a:ext>
            </a:extLst>
          </p:cNvPr>
          <p:cNvCxnSpPr/>
          <p:nvPr/>
        </p:nvCxnSpPr>
        <p:spPr>
          <a:xfrm>
            <a:off x="685800" y="1524000"/>
            <a:ext cx="14651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97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DFF: </a:t>
            </a:r>
            <a:r>
              <a:rPr lang="zh-CN" altLang="en-US" dirty="0"/>
              <a:t>时序考虑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FD01E0-23E4-1E4A-893C-7CD343448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20" y="1447800"/>
            <a:ext cx="7721385" cy="2514600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1403CA12-94EA-3344-9871-4F4FA9502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91661"/>
            <a:ext cx="9296400" cy="2437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+mj-lt"/>
                <a:ea typeface="+mj-ea"/>
                <a:cs typeface="Arial" panose="020B0604020202020204" pitchFamily="34" charset="0"/>
              </a:rPr>
              <a:t>来自</a:t>
            </a:r>
            <a:r>
              <a:rPr lang="en-US" altLang="zh-CN" sz="2400" dirty="0">
                <a:latin typeface="+mj-lt"/>
                <a:ea typeface="+mj-ea"/>
                <a:cs typeface="Arial" panose="020B0604020202020204" pitchFamily="34" charset="0"/>
              </a:rPr>
              <a:t>D</a:t>
            </a:r>
            <a:r>
              <a:rPr lang="zh-CN" altLang="en-US" sz="2400" dirty="0">
                <a:latin typeface="+mj-lt"/>
                <a:ea typeface="+mj-ea"/>
                <a:cs typeface="Arial" panose="020B0604020202020204" pitchFamily="34" charset="0"/>
              </a:rPr>
              <a:t>的输入要在</a:t>
            </a:r>
            <a:r>
              <a:rPr lang="en-US" altLang="zh-CN" sz="2400" dirty="0">
                <a:latin typeface="+mj-lt"/>
                <a:ea typeface="+mj-ea"/>
                <a:cs typeface="Arial" panose="020B0604020202020204" pitchFamily="34" charset="0"/>
              </a:rPr>
              <a:t>master</a:t>
            </a:r>
            <a:r>
              <a:rPr lang="zh-CN" altLang="en-US" sz="2400" dirty="0">
                <a:latin typeface="+mj-lt"/>
                <a:ea typeface="+mj-ea"/>
                <a:cs typeface="Arial" panose="020B0604020202020204" pitchFamily="34" charset="0"/>
              </a:rPr>
              <a:t>锁定时保持稳定</a:t>
            </a:r>
            <a:endParaRPr lang="en-US" altLang="zh-CN" sz="2400" dirty="0">
              <a:latin typeface="+mj-lt"/>
              <a:ea typeface="+mj-ea"/>
              <a:cs typeface="Arial" panose="020B0604020202020204" pitchFamily="34" charset="0"/>
            </a:endParaRPr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  <a:latin typeface="+mj-lt"/>
                <a:ea typeface="+mj-ea"/>
                <a:cs typeface="Arial" panose="020B0604020202020204" pitchFamily="34" charset="0"/>
              </a:rPr>
              <a:t>建立时间 </a:t>
            </a:r>
            <a:r>
              <a:rPr lang="en-US" altLang="zh-CN" sz="2000" b="1" dirty="0">
                <a:solidFill>
                  <a:srgbClr val="FF0000"/>
                </a:solidFill>
                <a:latin typeface="+mj-lt"/>
                <a:ea typeface="+mj-ea"/>
                <a:cs typeface="Arial" panose="020B0604020202020204" pitchFamily="34" charset="0"/>
              </a:rPr>
              <a:t>(Setup time) </a:t>
            </a:r>
            <a:r>
              <a:rPr lang="en-US" altLang="zh-CN" sz="2000" b="1" i="1" u="sng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before</a:t>
            </a:r>
            <a:r>
              <a:rPr lang="en-US" altLang="zh-CN" sz="2000" b="1" i="1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 CLK goes high</a:t>
            </a:r>
          </a:p>
          <a:p>
            <a:pPr marL="800100" lvl="1" indent="-342900" algn="l">
              <a:lnSpc>
                <a:spcPct val="125000"/>
              </a:lnSpc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T</a:t>
            </a:r>
            <a:r>
              <a:rPr lang="en-US" altLang="zh-CN" sz="2000" baseline="-25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导通（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CLK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上升</a:t>
            </a:r>
            <a:r>
              <a:rPr lang="zh-CN" altLang="en-US" sz="2000" dirty="0">
                <a:latin typeface="+mj-lt"/>
                <a:ea typeface="+mj-ea"/>
                <a:cs typeface="Arial" panose="020B0604020202020204" pitchFamily="34" charset="0"/>
              </a:rPr>
              <a:t>）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之前，</a:t>
            </a:r>
            <a:r>
              <a:rPr lang="en-US" altLang="zh-CN" sz="2000" dirty="0">
                <a:latin typeface="+mj-lt"/>
                <a:ea typeface="+mj-ea"/>
                <a:cs typeface="Arial" panose="020B0604020202020204" pitchFamily="34" charset="0"/>
              </a:rPr>
              <a:t>D</a:t>
            </a:r>
            <a:r>
              <a:rPr lang="zh-CN" altLang="en-US" sz="2000" dirty="0">
                <a:latin typeface="+mj-lt"/>
                <a:ea typeface="+mj-ea"/>
                <a:cs typeface="Arial" panose="020B0604020202020204" pitchFamily="34" charset="0"/>
              </a:rPr>
              <a:t>的输入传递到</a:t>
            </a:r>
            <a:r>
              <a:rPr lang="en-US" altLang="zh-CN" sz="2000" dirty="0">
                <a:latin typeface="+mj-lt"/>
                <a:ea typeface="+mj-ea"/>
                <a:cs typeface="Arial" panose="020B0604020202020204" pitchFamily="34" charset="0"/>
              </a:rPr>
              <a:t>T</a:t>
            </a:r>
            <a:r>
              <a:rPr lang="en-US" altLang="zh-CN" sz="2000" baseline="-25000" dirty="0">
                <a:latin typeface="+mj-lt"/>
                <a:ea typeface="+mj-ea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latin typeface="+mj-lt"/>
                <a:ea typeface="+mj-ea"/>
                <a:cs typeface="Arial" panose="020B0604020202020204" pitchFamily="34" charset="0"/>
              </a:rPr>
              <a:t>两端，可以避免竞争</a:t>
            </a:r>
            <a:endParaRPr lang="en-US" altLang="zh-CN" sz="2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保持时间 </a:t>
            </a:r>
            <a:r>
              <a:rPr lang="en-US" altLang="zh-CN" sz="2000" b="1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(Hold time)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000" b="1" i="1" u="sng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after</a:t>
            </a:r>
            <a:r>
              <a:rPr lang="en-US" altLang="zh-CN" sz="2000" b="1" i="1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 CLK goes high</a:t>
            </a:r>
          </a:p>
          <a:p>
            <a:pPr marL="800100" lvl="1" indent="-342900" algn="l">
              <a:lnSpc>
                <a:spcPct val="125000"/>
              </a:lnSpc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D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的输入维持到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CLK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把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T</a:t>
            </a:r>
            <a:r>
              <a:rPr lang="en-US" altLang="zh-CN" sz="2000" baseline="-25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完全关闭，可以避免破坏写入的值 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(Q</a:t>
            </a:r>
            <a:r>
              <a:rPr lang="en-US" altLang="zh-CN" sz="2000" baseline="-25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)</a:t>
            </a:r>
          </a:p>
          <a:p>
            <a:pPr marL="800100" lvl="1" indent="-342900" algn="l">
              <a:lnSpc>
                <a:spcPct val="125000"/>
              </a:lnSpc>
              <a:buFont typeface="Wingdings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D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CLK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传播到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T</a:t>
            </a:r>
            <a:r>
              <a:rPr lang="en-US" altLang="zh-CN" sz="2000" baseline="-25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的时间一般相等，因此通常原生满足（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M-S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结构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DFF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22755B6-31BC-4B36-8DE4-3325585F03CF}"/>
              </a:ext>
            </a:extLst>
          </p:cNvPr>
          <p:cNvSpPr/>
          <p:nvPr/>
        </p:nvSpPr>
        <p:spPr>
          <a:xfrm>
            <a:off x="1250950" y="1441450"/>
            <a:ext cx="3219450" cy="1574800"/>
          </a:xfrm>
          <a:custGeom>
            <a:avLst/>
            <a:gdLst>
              <a:gd name="connsiteX0" fmla="*/ 50800 w 3225800"/>
              <a:gd name="connsiteY0" fmla="*/ 1562100 h 1574800"/>
              <a:gd name="connsiteX1" fmla="*/ 2152650 w 3225800"/>
              <a:gd name="connsiteY1" fmla="*/ 1574800 h 1574800"/>
              <a:gd name="connsiteX2" fmla="*/ 2152650 w 3225800"/>
              <a:gd name="connsiteY2" fmla="*/ 946150 h 1574800"/>
              <a:gd name="connsiteX3" fmla="*/ 3225800 w 3225800"/>
              <a:gd name="connsiteY3" fmla="*/ 946150 h 1574800"/>
              <a:gd name="connsiteX4" fmla="*/ 3213100 w 3225800"/>
              <a:gd name="connsiteY4" fmla="*/ 6350 h 1574800"/>
              <a:gd name="connsiteX5" fmla="*/ 0 w 3225800"/>
              <a:gd name="connsiteY5" fmla="*/ 0 h 1574800"/>
              <a:gd name="connsiteX6" fmla="*/ 0 w 3225800"/>
              <a:gd name="connsiteY6" fmla="*/ 889000 h 1574800"/>
              <a:gd name="connsiteX7" fmla="*/ 1168400 w 3225800"/>
              <a:gd name="connsiteY7" fmla="*/ 895350 h 1574800"/>
              <a:gd name="connsiteX0" fmla="*/ 50800 w 3213100"/>
              <a:gd name="connsiteY0" fmla="*/ 1562100 h 1574800"/>
              <a:gd name="connsiteX1" fmla="*/ 2152650 w 3213100"/>
              <a:gd name="connsiteY1" fmla="*/ 1574800 h 1574800"/>
              <a:gd name="connsiteX2" fmla="*/ 2152650 w 3213100"/>
              <a:gd name="connsiteY2" fmla="*/ 946150 h 1574800"/>
              <a:gd name="connsiteX3" fmla="*/ 3200400 w 3213100"/>
              <a:gd name="connsiteY3" fmla="*/ 946150 h 1574800"/>
              <a:gd name="connsiteX4" fmla="*/ 3213100 w 3213100"/>
              <a:gd name="connsiteY4" fmla="*/ 6350 h 1574800"/>
              <a:gd name="connsiteX5" fmla="*/ 0 w 3213100"/>
              <a:gd name="connsiteY5" fmla="*/ 0 h 1574800"/>
              <a:gd name="connsiteX6" fmla="*/ 0 w 3213100"/>
              <a:gd name="connsiteY6" fmla="*/ 889000 h 1574800"/>
              <a:gd name="connsiteX7" fmla="*/ 1168400 w 3213100"/>
              <a:gd name="connsiteY7" fmla="*/ 895350 h 1574800"/>
              <a:gd name="connsiteX0" fmla="*/ 50800 w 3219450"/>
              <a:gd name="connsiteY0" fmla="*/ 1562100 h 1574800"/>
              <a:gd name="connsiteX1" fmla="*/ 2152650 w 3219450"/>
              <a:gd name="connsiteY1" fmla="*/ 1574800 h 1574800"/>
              <a:gd name="connsiteX2" fmla="*/ 2152650 w 3219450"/>
              <a:gd name="connsiteY2" fmla="*/ 946150 h 1574800"/>
              <a:gd name="connsiteX3" fmla="*/ 3219450 w 3219450"/>
              <a:gd name="connsiteY3" fmla="*/ 946150 h 1574800"/>
              <a:gd name="connsiteX4" fmla="*/ 3213100 w 3219450"/>
              <a:gd name="connsiteY4" fmla="*/ 6350 h 1574800"/>
              <a:gd name="connsiteX5" fmla="*/ 0 w 3219450"/>
              <a:gd name="connsiteY5" fmla="*/ 0 h 1574800"/>
              <a:gd name="connsiteX6" fmla="*/ 0 w 3219450"/>
              <a:gd name="connsiteY6" fmla="*/ 889000 h 1574800"/>
              <a:gd name="connsiteX7" fmla="*/ 1168400 w 3219450"/>
              <a:gd name="connsiteY7" fmla="*/ 89535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9450" h="1574800">
                <a:moveTo>
                  <a:pt x="50800" y="1562100"/>
                </a:moveTo>
                <a:lnTo>
                  <a:pt x="2152650" y="1574800"/>
                </a:lnTo>
                <a:lnTo>
                  <a:pt x="2152650" y="946150"/>
                </a:lnTo>
                <a:lnTo>
                  <a:pt x="3219450" y="946150"/>
                </a:lnTo>
                <a:cubicBezTo>
                  <a:pt x="3217333" y="632883"/>
                  <a:pt x="3215217" y="319617"/>
                  <a:pt x="3213100" y="6350"/>
                </a:cubicBezTo>
                <a:lnTo>
                  <a:pt x="0" y="0"/>
                </a:lnTo>
                <a:lnTo>
                  <a:pt x="0" y="889000"/>
                </a:lnTo>
                <a:lnTo>
                  <a:pt x="1168400" y="895350"/>
                </a:lnTo>
              </a:path>
            </a:pathLst>
          </a:custGeom>
          <a:noFill/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F2D73F0-4DBA-49E5-8C00-41128B1CB353}"/>
              </a:ext>
            </a:extLst>
          </p:cNvPr>
          <p:cNvCxnSpPr>
            <a:cxnSpLocks/>
          </p:cNvCxnSpPr>
          <p:nvPr/>
        </p:nvCxnSpPr>
        <p:spPr>
          <a:xfrm>
            <a:off x="1295400" y="3178175"/>
            <a:ext cx="1143000" cy="6350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B8BEAC8-DE02-4648-88F0-7EAE62671AFD}"/>
              </a:ext>
            </a:extLst>
          </p:cNvPr>
          <p:cNvSpPr/>
          <p:nvPr/>
        </p:nvSpPr>
        <p:spPr>
          <a:xfrm>
            <a:off x="1281113" y="2616200"/>
            <a:ext cx="2478087" cy="1355725"/>
          </a:xfrm>
          <a:custGeom>
            <a:avLst/>
            <a:gdLst>
              <a:gd name="connsiteX0" fmla="*/ 0 w 2673350"/>
              <a:gd name="connsiteY0" fmla="*/ 1016000 h 1016000"/>
              <a:gd name="connsiteX1" fmla="*/ 2673350 w 2673350"/>
              <a:gd name="connsiteY1" fmla="*/ 1016000 h 1016000"/>
              <a:gd name="connsiteX2" fmla="*/ 2667000 w 2673350"/>
              <a:gd name="connsiteY2" fmla="*/ 6350 h 1016000"/>
              <a:gd name="connsiteX3" fmla="*/ 1619250 w 2673350"/>
              <a:gd name="connsiteY3" fmla="*/ 0 h 1016000"/>
              <a:gd name="connsiteX4" fmla="*/ 1619250 w 2673350"/>
              <a:gd name="connsiteY4" fmla="*/ 196850 h 1016000"/>
              <a:gd name="connsiteX0" fmla="*/ 0 w 2673350"/>
              <a:gd name="connsiteY0" fmla="*/ 1016000 h 1016000"/>
              <a:gd name="connsiteX1" fmla="*/ 2673350 w 2673350"/>
              <a:gd name="connsiteY1" fmla="*/ 1016000 h 1016000"/>
              <a:gd name="connsiteX2" fmla="*/ 2667000 w 2673350"/>
              <a:gd name="connsiteY2" fmla="*/ 6350 h 1016000"/>
              <a:gd name="connsiteX3" fmla="*/ 1619250 w 2673350"/>
              <a:gd name="connsiteY3" fmla="*/ 0 h 1016000"/>
              <a:gd name="connsiteX4" fmla="*/ 1619250 w 2673350"/>
              <a:gd name="connsiteY4" fmla="*/ 153921 h 1016000"/>
              <a:gd name="connsiteX0" fmla="*/ 0 w 2940050"/>
              <a:gd name="connsiteY0" fmla="*/ 1019578 h 1019578"/>
              <a:gd name="connsiteX1" fmla="*/ 2940050 w 2940050"/>
              <a:gd name="connsiteY1" fmla="*/ 1016000 h 1019578"/>
              <a:gd name="connsiteX2" fmla="*/ 2933700 w 2940050"/>
              <a:gd name="connsiteY2" fmla="*/ 6350 h 1019578"/>
              <a:gd name="connsiteX3" fmla="*/ 1885950 w 2940050"/>
              <a:gd name="connsiteY3" fmla="*/ 0 h 1019578"/>
              <a:gd name="connsiteX4" fmla="*/ 1885950 w 2940050"/>
              <a:gd name="connsiteY4" fmla="*/ 153921 h 1019578"/>
              <a:gd name="connsiteX0" fmla="*/ 0 w 2940050"/>
              <a:gd name="connsiteY0" fmla="*/ 1019578 h 1019578"/>
              <a:gd name="connsiteX1" fmla="*/ 461963 w 2940050"/>
              <a:gd name="connsiteY1" fmla="*/ 1018385 h 1019578"/>
              <a:gd name="connsiteX2" fmla="*/ 2940050 w 2940050"/>
              <a:gd name="connsiteY2" fmla="*/ 1016000 h 1019578"/>
              <a:gd name="connsiteX3" fmla="*/ 2933700 w 2940050"/>
              <a:gd name="connsiteY3" fmla="*/ 6350 h 1019578"/>
              <a:gd name="connsiteX4" fmla="*/ 1885950 w 2940050"/>
              <a:gd name="connsiteY4" fmla="*/ 0 h 1019578"/>
              <a:gd name="connsiteX5" fmla="*/ 1885950 w 2940050"/>
              <a:gd name="connsiteY5" fmla="*/ 153921 h 1019578"/>
              <a:gd name="connsiteX0" fmla="*/ 0 w 2478087"/>
              <a:gd name="connsiteY0" fmla="*/ 690451 h 1018385"/>
              <a:gd name="connsiteX1" fmla="*/ 0 w 2478087"/>
              <a:gd name="connsiteY1" fmla="*/ 1018385 h 1018385"/>
              <a:gd name="connsiteX2" fmla="*/ 2478087 w 2478087"/>
              <a:gd name="connsiteY2" fmla="*/ 1016000 h 1018385"/>
              <a:gd name="connsiteX3" fmla="*/ 2471737 w 2478087"/>
              <a:gd name="connsiteY3" fmla="*/ 6350 h 1018385"/>
              <a:gd name="connsiteX4" fmla="*/ 1423987 w 2478087"/>
              <a:gd name="connsiteY4" fmla="*/ 0 h 1018385"/>
              <a:gd name="connsiteX5" fmla="*/ 1423987 w 2478087"/>
              <a:gd name="connsiteY5" fmla="*/ 153921 h 1018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8087" h="1018385">
                <a:moveTo>
                  <a:pt x="0" y="690451"/>
                </a:moveTo>
                <a:lnTo>
                  <a:pt x="0" y="1018385"/>
                </a:lnTo>
                <a:lnTo>
                  <a:pt x="2478087" y="1016000"/>
                </a:lnTo>
                <a:cubicBezTo>
                  <a:pt x="2475970" y="679450"/>
                  <a:pt x="2473854" y="342900"/>
                  <a:pt x="2471737" y="6350"/>
                </a:cubicBezTo>
                <a:lnTo>
                  <a:pt x="1423987" y="0"/>
                </a:lnTo>
                <a:lnTo>
                  <a:pt x="1423987" y="153921"/>
                </a:lnTo>
              </a:path>
            </a:pathLst>
          </a:custGeom>
          <a:noFill/>
          <a:ln w="38100">
            <a:solidFill>
              <a:srgbClr val="0432FF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698315C0-BC94-4068-A421-0824D89D4B0D}"/>
              </a:ext>
            </a:extLst>
          </p:cNvPr>
          <p:cNvSpPr/>
          <p:nvPr/>
        </p:nvSpPr>
        <p:spPr>
          <a:xfrm>
            <a:off x="976313" y="3395663"/>
            <a:ext cx="1738312" cy="147637"/>
          </a:xfrm>
          <a:custGeom>
            <a:avLst/>
            <a:gdLst>
              <a:gd name="connsiteX0" fmla="*/ 0 w 1738312"/>
              <a:gd name="connsiteY0" fmla="*/ 142875 h 147637"/>
              <a:gd name="connsiteX1" fmla="*/ 1738312 w 1738312"/>
              <a:gd name="connsiteY1" fmla="*/ 147637 h 147637"/>
              <a:gd name="connsiteX2" fmla="*/ 1738312 w 1738312"/>
              <a:gd name="connsiteY2" fmla="*/ 0 h 147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8312" h="147637">
                <a:moveTo>
                  <a:pt x="0" y="142875"/>
                </a:moveTo>
                <a:lnTo>
                  <a:pt x="1738312" y="147637"/>
                </a:lnTo>
                <a:lnTo>
                  <a:pt x="1738312" y="0"/>
                </a:lnTo>
              </a:path>
            </a:pathLst>
          </a:custGeom>
          <a:noFill/>
          <a:ln w="38100">
            <a:solidFill>
              <a:srgbClr val="0432FF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87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DFF: </a:t>
            </a:r>
            <a:r>
              <a:rPr lang="zh-CN" altLang="en-US" dirty="0"/>
              <a:t>时序考虑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FD01E0-23E4-1E4A-893C-7CD343448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20" y="1447800"/>
            <a:ext cx="7721385" cy="2514600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1403CA12-94EA-3344-9871-4F4FA9502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91661"/>
            <a:ext cx="8915400" cy="120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009900"/>
                </a:solidFill>
                <a:latin typeface="+mj-lt"/>
                <a:ea typeface="+mj-ea"/>
                <a:cs typeface="Arial" panose="020B0604020202020204" pitchFamily="34" charset="0"/>
              </a:rPr>
              <a:t>3.    </a:t>
            </a:r>
            <a:r>
              <a:rPr lang="zh-CN" altLang="en-US" sz="2000" b="1" dirty="0">
                <a:solidFill>
                  <a:srgbClr val="009900"/>
                </a:solidFill>
                <a:latin typeface="+mj-lt"/>
                <a:ea typeface="+mj-ea"/>
                <a:cs typeface="Arial" panose="020B0604020202020204" pitchFamily="34" charset="0"/>
              </a:rPr>
              <a:t>输出响应时间 </a:t>
            </a:r>
            <a:r>
              <a:rPr lang="en-US" altLang="zh-CN" sz="2000" b="1" dirty="0">
                <a:solidFill>
                  <a:srgbClr val="009900"/>
                </a:solidFill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lang="en-US" altLang="zh-CN" sz="2000" b="1" dirty="0" err="1">
                <a:solidFill>
                  <a:srgbClr val="009900"/>
                </a:solidFill>
                <a:latin typeface="+mj-lt"/>
                <a:ea typeface="+mj-ea"/>
                <a:cs typeface="Arial" panose="020B0604020202020204" pitchFamily="34" charset="0"/>
              </a:rPr>
              <a:t>t</a:t>
            </a:r>
            <a:r>
              <a:rPr lang="en-US" altLang="zh-CN" sz="2000" b="1" baseline="-25000" dirty="0" err="1">
                <a:solidFill>
                  <a:srgbClr val="009900"/>
                </a:solidFill>
                <a:latin typeface="+mj-lt"/>
                <a:ea typeface="+mj-ea"/>
                <a:cs typeface="Arial" panose="020B0604020202020204" pitchFamily="34" charset="0"/>
              </a:rPr>
              <a:t>c</a:t>
            </a:r>
            <a:r>
              <a:rPr lang="en-US" altLang="zh-CN" sz="2000" b="1" baseline="-25000" dirty="0">
                <a:solidFill>
                  <a:srgbClr val="009900"/>
                </a:solidFill>
                <a:latin typeface="+mj-lt"/>
                <a:ea typeface="+mj-ea"/>
                <a:cs typeface="Arial" panose="020B0604020202020204" pitchFamily="34" charset="0"/>
              </a:rPr>
              <a:t>-q</a:t>
            </a:r>
            <a:r>
              <a:rPr lang="en-US" altLang="zh-CN" sz="2000" b="1" dirty="0">
                <a:solidFill>
                  <a:srgbClr val="009900"/>
                </a:solidFill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lang="en-US" altLang="zh-CN" sz="2000" b="1" i="1" dirty="0">
              <a:solidFill>
                <a:srgbClr val="009900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800100" lvl="1" indent="-342900" algn="l">
              <a:lnSpc>
                <a:spcPct val="125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+mj-lt"/>
                <a:ea typeface="+mj-ea"/>
                <a:cs typeface="Arial" panose="020B0604020202020204" pitchFamily="34" charset="0"/>
              </a:rPr>
              <a:t>时钟上升后，</a:t>
            </a:r>
            <a:r>
              <a:rPr lang="en-US" altLang="zh-CN" sz="2000" dirty="0">
                <a:latin typeface="+mj-lt"/>
                <a:ea typeface="+mj-ea"/>
                <a:cs typeface="Arial" panose="020B0604020202020204" pitchFamily="34" charset="0"/>
              </a:rPr>
              <a:t>Q</a:t>
            </a:r>
            <a:r>
              <a:rPr lang="en-US" altLang="zh-CN" sz="2000" baseline="-25000" dirty="0">
                <a:latin typeface="+mj-lt"/>
                <a:ea typeface="+mj-ea"/>
                <a:cs typeface="Arial" panose="020B0604020202020204" pitchFamily="34" charset="0"/>
              </a:rPr>
              <a:t>M</a:t>
            </a:r>
            <a:r>
              <a:rPr lang="zh-CN" altLang="en-US" sz="2000" dirty="0">
                <a:latin typeface="+mj-lt"/>
                <a:ea typeface="+mj-ea"/>
                <a:cs typeface="Arial" panose="020B0604020202020204" pitchFamily="34" charset="0"/>
              </a:rPr>
              <a:t>处锁存的数据需要经过</a:t>
            </a:r>
            <a:r>
              <a:rPr lang="en-US" altLang="zh-CN" sz="2000" dirty="0">
                <a:latin typeface="+mj-lt"/>
                <a:ea typeface="+mj-ea"/>
                <a:cs typeface="Arial" panose="020B0604020202020204" pitchFamily="34" charset="0"/>
              </a:rPr>
              <a:t>T</a:t>
            </a:r>
            <a:r>
              <a:rPr lang="en-US" altLang="zh-CN" sz="2000" baseline="-25000" dirty="0">
                <a:latin typeface="+mj-lt"/>
                <a:ea typeface="+mj-ea"/>
                <a:cs typeface="Arial" panose="020B0604020202020204" pitchFamily="34" charset="0"/>
              </a:rPr>
              <a:t>3</a:t>
            </a:r>
            <a:r>
              <a:rPr lang="en-US" altLang="zh-CN" sz="2000" dirty="0">
                <a:latin typeface="+mj-lt"/>
                <a:ea typeface="+mj-ea"/>
                <a:cs typeface="Arial" panose="020B0604020202020204" pitchFamily="34" charset="0"/>
              </a:rPr>
              <a:t>-I</a:t>
            </a:r>
            <a:r>
              <a:rPr lang="en-US" altLang="zh-CN" sz="2000" baseline="-25000" dirty="0">
                <a:latin typeface="+mj-lt"/>
                <a:ea typeface="+mj-ea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latin typeface="+mj-lt"/>
                <a:ea typeface="+mj-ea"/>
                <a:cs typeface="Arial" panose="020B0604020202020204" pitchFamily="34" charset="0"/>
              </a:rPr>
              <a:t>的延时才能到达</a:t>
            </a:r>
            <a:r>
              <a:rPr lang="en-US" altLang="zh-CN" sz="2000" dirty="0">
                <a:latin typeface="+mj-lt"/>
                <a:ea typeface="+mj-ea"/>
                <a:cs typeface="Arial" panose="020B0604020202020204" pitchFamily="34" charset="0"/>
              </a:rPr>
              <a:t>Q</a:t>
            </a:r>
            <a:endParaRPr lang="en-US" altLang="zh-CN" sz="2000" baseline="-25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457200" indent="-457200" algn="l">
              <a:lnSpc>
                <a:spcPct val="125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32F5818A-729B-49A7-AE86-8931031C151B}"/>
              </a:ext>
            </a:extLst>
          </p:cNvPr>
          <p:cNvSpPr/>
          <p:nvPr/>
        </p:nvSpPr>
        <p:spPr>
          <a:xfrm>
            <a:off x="5810250" y="2438400"/>
            <a:ext cx="2305050" cy="781050"/>
          </a:xfrm>
          <a:custGeom>
            <a:avLst/>
            <a:gdLst>
              <a:gd name="connsiteX0" fmla="*/ 0 w 2305050"/>
              <a:gd name="connsiteY0" fmla="*/ 771525 h 781050"/>
              <a:gd name="connsiteX1" fmla="*/ 1076325 w 2305050"/>
              <a:gd name="connsiteY1" fmla="*/ 781050 h 781050"/>
              <a:gd name="connsiteX2" fmla="*/ 1076325 w 2305050"/>
              <a:gd name="connsiteY2" fmla="*/ 0 h 781050"/>
              <a:gd name="connsiteX3" fmla="*/ 2305050 w 2305050"/>
              <a:gd name="connsiteY3" fmla="*/ 0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050" h="781050">
                <a:moveTo>
                  <a:pt x="0" y="771525"/>
                </a:moveTo>
                <a:lnTo>
                  <a:pt x="1076325" y="781050"/>
                </a:lnTo>
                <a:lnTo>
                  <a:pt x="1076325" y="0"/>
                </a:lnTo>
                <a:lnTo>
                  <a:pt x="2305050" y="0"/>
                </a:lnTo>
              </a:path>
            </a:pathLst>
          </a:custGeom>
          <a:noFill/>
          <a:ln w="38100">
            <a:solidFill>
              <a:srgbClr val="0099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F2AC3DE-1ABE-4592-AC26-CC4222F1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51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1295400" y="1677988"/>
            <a:ext cx="277813" cy="22574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DFF</a:t>
            </a:r>
            <a:r>
              <a:rPr lang="zh-CN" altLang="en-US" dirty="0"/>
              <a:t>：实际的时序，存在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su</a:t>
            </a:r>
            <a:r>
              <a:rPr lang="en-US" altLang="zh-CN" dirty="0"/>
              <a:t>,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h</a:t>
            </a:r>
            <a:r>
              <a:rPr lang="en-US" altLang="zh-CN" dirty="0"/>
              <a:t>,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c</a:t>
            </a:r>
            <a:r>
              <a:rPr lang="en-US" altLang="zh-CN" baseline="-25000" dirty="0"/>
              <a:t>-q</a:t>
            </a:r>
          </a:p>
        </p:txBody>
      </p:sp>
      <p:graphicFrame>
        <p:nvGraphicFramePr>
          <p:cNvPr id="39938" name="Object 6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166088"/>
              </p:ext>
            </p:extLst>
          </p:nvPr>
        </p:nvGraphicFramePr>
        <p:xfrm>
          <a:off x="453231" y="5010150"/>
          <a:ext cx="3365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39938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" y="5010150"/>
                        <a:ext cx="336550" cy="504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0B230-0DBE-D849-831A-085A6078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7173913" y="1677988"/>
            <a:ext cx="279400" cy="22574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2" name="Rectangle 5"/>
          <p:cNvSpPr>
            <a:spLocks noChangeArrowheads="1"/>
          </p:cNvSpPr>
          <p:nvPr/>
        </p:nvSpPr>
        <p:spPr bwMode="auto">
          <a:xfrm>
            <a:off x="5194300" y="1677988"/>
            <a:ext cx="279400" cy="22574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3244850" y="1677988"/>
            <a:ext cx="277813" cy="22574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4" name="Rectangle 7"/>
          <p:cNvSpPr>
            <a:spLocks noChangeArrowheads="1"/>
          </p:cNvSpPr>
          <p:nvPr/>
        </p:nvSpPr>
        <p:spPr bwMode="auto">
          <a:xfrm>
            <a:off x="515938" y="4114800"/>
            <a:ext cx="2111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45" name="Rectangle 8"/>
          <p:cNvSpPr>
            <a:spLocks noChangeArrowheads="1"/>
          </p:cNvSpPr>
          <p:nvPr/>
        </p:nvSpPr>
        <p:spPr bwMode="auto">
          <a:xfrm>
            <a:off x="477838" y="3219450"/>
            <a:ext cx="1952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46" name="Line 9"/>
          <p:cNvSpPr>
            <a:spLocks noChangeShapeType="1"/>
          </p:cNvSpPr>
          <p:nvPr/>
        </p:nvSpPr>
        <p:spPr bwMode="auto">
          <a:xfrm>
            <a:off x="5813425" y="5889625"/>
            <a:ext cx="2217738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7" name="Freeform 10"/>
          <p:cNvSpPr>
            <a:spLocks/>
          </p:cNvSpPr>
          <p:nvPr/>
        </p:nvSpPr>
        <p:spPr bwMode="auto">
          <a:xfrm>
            <a:off x="8012113" y="5803900"/>
            <a:ext cx="239712" cy="171450"/>
          </a:xfrm>
          <a:custGeom>
            <a:avLst/>
            <a:gdLst>
              <a:gd name="T0" fmla="*/ 0 w 163"/>
              <a:gd name="T1" fmla="*/ 0 h 108"/>
              <a:gd name="T2" fmla="*/ 2147483647 w 163"/>
              <a:gd name="T3" fmla="*/ 2147483647 h 108"/>
              <a:gd name="T4" fmla="*/ 0 w 163"/>
              <a:gd name="T5" fmla="*/ 2147483647 h 108"/>
              <a:gd name="T6" fmla="*/ 0 w 163"/>
              <a:gd name="T7" fmla="*/ 0 h 108"/>
              <a:gd name="T8" fmla="*/ 0 60000 65536"/>
              <a:gd name="T9" fmla="*/ 0 60000 65536"/>
              <a:gd name="T10" fmla="*/ 0 60000 65536"/>
              <a:gd name="T11" fmla="*/ 0 60000 65536"/>
              <a:gd name="T12" fmla="*/ 0 w 163"/>
              <a:gd name="T13" fmla="*/ 0 h 108"/>
              <a:gd name="T14" fmla="*/ 163 w 163"/>
              <a:gd name="T15" fmla="*/ 108 h 1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3" h="108">
                <a:moveTo>
                  <a:pt x="0" y="0"/>
                </a:moveTo>
                <a:lnTo>
                  <a:pt x="163" y="54"/>
                </a:lnTo>
                <a:lnTo>
                  <a:pt x="0" y="1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48" name="Rectangle 11"/>
          <p:cNvSpPr>
            <a:spLocks noChangeArrowheads="1"/>
          </p:cNvSpPr>
          <p:nvPr/>
        </p:nvSpPr>
        <p:spPr bwMode="auto">
          <a:xfrm>
            <a:off x="7827963" y="5962650"/>
            <a:ext cx="825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49" name="Rectangle 12"/>
          <p:cNvSpPr>
            <a:spLocks noChangeArrowheads="1"/>
          </p:cNvSpPr>
          <p:nvPr/>
        </p:nvSpPr>
        <p:spPr bwMode="auto">
          <a:xfrm>
            <a:off x="496888" y="1908175"/>
            <a:ext cx="2111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50" name="Freeform 13"/>
          <p:cNvSpPr>
            <a:spLocks/>
          </p:cNvSpPr>
          <p:nvPr/>
        </p:nvSpPr>
        <p:spPr bwMode="auto">
          <a:xfrm>
            <a:off x="900113" y="3182938"/>
            <a:ext cx="7943850" cy="601662"/>
          </a:xfrm>
          <a:custGeom>
            <a:avLst/>
            <a:gdLst>
              <a:gd name="T0" fmla="*/ 0 w 5421"/>
              <a:gd name="T1" fmla="*/ 2147483647 h 379"/>
              <a:gd name="T2" fmla="*/ 2147483647 w 5421"/>
              <a:gd name="T3" fmla="*/ 2147483647 h 379"/>
              <a:gd name="T4" fmla="*/ 2147483647 w 5421"/>
              <a:gd name="T5" fmla="*/ 0 h 379"/>
              <a:gd name="T6" fmla="*/ 2147483647 w 5421"/>
              <a:gd name="T7" fmla="*/ 0 h 379"/>
              <a:gd name="T8" fmla="*/ 2147483647 w 5421"/>
              <a:gd name="T9" fmla="*/ 2147483647 h 379"/>
              <a:gd name="T10" fmla="*/ 2147483647 w 5421"/>
              <a:gd name="T11" fmla="*/ 2147483647 h 379"/>
              <a:gd name="T12" fmla="*/ 2147483647 w 5421"/>
              <a:gd name="T13" fmla="*/ 0 h 379"/>
              <a:gd name="T14" fmla="*/ 2147483647 w 5421"/>
              <a:gd name="T15" fmla="*/ 0 h 379"/>
              <a:gd name="T16" fmla="*/ 2147483647 w 5421"/>
              <a:gd name="T17" fmla="*/ 2147483647 h 379"/>
              <a:gd name="T18" fmla="*/ 2147483647 w 5421"/>
              <a:gd name="T19" fmla="*/ 2147483647 h 379"/>
              <a:gd name="T20" fmla="*/ 2147483647 w 5421"/>
              <a:gd name="T21" fmla="*/ 0 h 379"/>
              <a:gd name="T22" fmla="*/ 2147483647 w 5421"/>
              <a:gd name="T23" fmla="*/ 0 h 379"/>
              <a:gd name="T24" fmla="*/ 2147483647 w 5421"/>
              <a:gd name="T25" fmla="*/ 2147483647 h 379"/>
              <a:gd name="T26" fmla="*/ 2147483647 w 5421"/>
              <a:gd name="T27" fmla="*/ 2147483647 h 379"/>
              <a:gd name="T28" fmla="*/ 2147483647 w 5421"/>
              <a:gd name="T29" fmla="*/ 0 h 379"/>
              <a:gd name="T30" fmla="*/ 2147483647 w 5421"/>
              <a:gd name="T31" fmla="*/ 0 h 379"/>
              <a:gd name="T32" fmla="*/ 2147483647 w 5421"/>
              <a:gd name="T33" fmla="*/ 2147483647 h 379"/>
              <a:gd name="T34" fmla="*/ 2147483647 w 5421"/>
              <a:gd name="T35" fmla="*/ 2147483647 h 37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5421"/>
              <a:gd name="T55" fmla="*/ 0 h 379"/>
              <a:gd name="T56" fmla="*/ 5421 w 5421"/>
              <a:gd name="T57" fmla="*/ 379 h 379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5421" h="379">
                <a:moveTo>
                  <a:pt x="0" y="379"/>
                </a:moveTo>
                <a:lnTo>
                  <a:pt x="372" y="379"/>
                </a:lnTo>
                <a:lnTo>
                  <a:pt x="381" y="0"/>
                </a:lnTo>
                <a:lnTo>
                  <a:pt x="1141" y="0"/>
                </a:lnTo>
                <a:lnTo>
                  <a:pt x="1141" y="379"/>
                </a:lnTo>
                <a:lnTo>
                  <a:pt x="1712" y="379"/>
                </a:lnTo>
                <a:lnTo>
                  <a:pt x="1712" y="0"/>
                </a:lnTo>
                <a:lnTo>
                  <a:pt x="2473" y="0"/>
                </a:lnTo>
                <a:lnTo>
                  <a:pt x="2473" y="379"/>
                </a:lnTo>
                <a:lnTo>
                  <a:pt x="3044" y="379"/>
                </a:lnTo>
                <a:lnTo>
                  <a:pt x="3044" y="0"/>
                </a:lnTo>
                <a:lnTo>
                  <a:pt x="3805" y="0"/>
                </a:lnTo>
                <a:lnTo>
                  <a:pt x="3805" y="379"/>
                </a:lnTo>
                <a:lnTo>
                  <a:pt x="4375" y="379"/>
                </a:lnTo>
                <a:lnTo>
                  <a:pt x="4375" y="0"/>
                </a:lnTo>
                <a:lnTo>
                  <a:pt x="5136" y="0"/>
                </a:lnTo>
                <a:lnTo>
                  <a:pt x="5136" y="379"/>
                </a:lnTo>
                <a:lnTo>
                  <a:pt x="5421" y="379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51" name="Freeform 14"/>
          <p:cNvSpPr>
            <a:spLocks/>
          </p:cNvSpPr>
          <p:nvPr/>
        </p:nvSpPr>
        <p:spPr bwMode="auto">
          <a:xfrm>
            <a:off x="900113" y="1828800"/>
            <a:ext cx="7943850" cy="601663"/>
          </a:xfrm>
          <a:custGeom>
            <a:avLst/>
            <a:gdLst>
              <a:gd name="T0" fmla="*/ 0 w 5421"/>
              <a:gd name="T1" fmla="*/ 2147483647 h 379"/>
              <a:gd name="T2" fmla="*/ 2147483647 w 5421"/>
              <a:gd name="T3" fmla="*/ 2147483647 h 379"/>
              <a:gd name="T4" fmla="*/ 2147483647 w 5421"/>
              <a:gd name="T5" fmla="*/ 0 h 379"/>
              <a:gd name="T6" fmla="*/ 2147483647 w 5421"/>
              <a:gd name="T7" fmla="*/ 0 h 379"/>
              <a:gd name="T8" fmla="*/ 2147483647 w 5421"/>
              <a:gd name="T9" fmla="*/ 2147483647 h 379"/>
              <a:gd name="T10" fmla="*/ 2147483647 w 5421"/>
              <a:gd name="T11" fmla="*/ 2147483647 h 379"/>
              <a:gd name="T12" fmla="*/ 2147483647 w 5421"/>
              <a:gd name="T13" fmla="*/ 0 h 379"/>
              <a:gd name="T14" fmla="*/ 2147483647 w 5421"/>
              <a:gd name="T15" fmla="*/ 0 h 379"/>
              <a:gd name="T16" fmla="*/ 2147483647 w 5421"/>
              <a:gd name="T17" fmla="*/ 2147483647 h 379"/>
              <a:gd name="T18" fmla="*/ 2147483647 w 5421"/>
              <a:gd name="T19" fmla="*/ 2147483647 h 379"/>
              <a:gd name="T20" fmla="*/ 2147483647 w 5421"/>
              <a:gd name="T21" fmla="*/ 0 h 379"/>
              <a:gd name="T22" fmla="*/ 2147483647 w 5421"/>
              <a:gd name="T23" fmla="*/ 0 h 379"/>
              <a:gd name="T24" fmla="*/ 2147483647 w 5421"/>
              <a:gd name="T25" fmla="*/ 2147483647 h 379"/>
              <a:gd name="T26" fmla="*/ 2147483647 w 5421"/>
              <a:gd name="T27" fmla="*/ 2147483647 h 379"/>
              <a:gd name="T28" fmla="*/ 2147483647 w 5421"/>
              <a:gd name="T29" fmla="*/ 0 h 379"/>
              <a:gd name="T30" fmla="*/ 2147483647 w 5421"/>
              <a:gd name="T31" fmla="*/ 0 h 379"/>
              <a:gd name="T32" fmla="*/ 2147483647 w 5421"/>
              <a:gd name="T33" fmla="*/ 2147483647 h 379"/>
              <a:gd name="T34" fmla="*/ 2147483647 w 5421"/>
              <a:gd name="T35" fmla="*/ 2147483647 h 379"/>
              <a:gd name="T36" fmla="*/ 2147483647 w 5421"/>
              <a:gd name="T37" fmla="*/ 0 h 379"/>
              <a:gd name="T38" fmla="*/ 2147483647 w 5421"/>
              <a:gd name="T39" fmla="*/ 0 h 37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5421"/>
              <a:gd name="T61" fmla="*/ 0 h 379"/>
              <a:gd name="T62" fmla="*/ 5421 w 5421"/>
              <a:gd name="T63" fmla="*/ 379 h 379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5421" h="379">
                <a:moveTo>
                  <a:pt x="0" y="379"/>
                </a:moveTo>
                <a:lnTo>
                  <a:pt x="190" y="379"/>
                </a:lnTo>
                <a:lnTo>
                  <a:pt x="190" y="0"/>
                </a:lnTo>
                <a:lnTo>
                  <a:pt x="1331" y="0"/>
                </a:lnTo>
                <a:lnTo>
                  <a:pt x="1331" y="379"/>
                </a:lnTo>
                <a:lnTo>
                  <a:pt x="2759" y="379"/>
                </a:lnTo>
                <a:lnTo>
                  <a:pt x="2759" y="0"/>
                </a:lnTo>
                <a:lnTo>
                  <a:pt x="3233" y="0"/>
                </a:lnTo>
                <a:lnTo>
                  <a:pt x="3233" y="379"/>
                </a:lnTo>
                <a:lnTo>
                  <a:pt x="3424" y="379"/>
                </a:lnTo>
                <a:lnTo>
                  <a:pt x="3424" y="0"/>
                </a:lnTo>
                <a:lnTo>
                  <a:pt x="3606" y="0"/>
                </a:lnTo>
                <a:lnTo>
                  <a:pt x="3605" y="379"/>
                </a:lnTo>
                <a:lnTo>
                  <a:pt x="3994" y="379"/>
                </a:lnTo>
                <a:lnTo>
                  <a:pt x="3994" y="0"/>
                </a:lnTo>
                <a:lnTo>
                  <a:pt x="4185" y="0"/>
                </a:lnTo>
                <a:lnTo>
                  <a:pt x="4185" y="379"/>
                </a:lnTo>
                <a:lnTo>
                  <a:pt x="4661" y="379"/>
                </a:lnTo>
                <a:lnTo>
                  <a:pt x="4661" y="0"/>
                </a:lnTo>
                <a:lnTo>
                  <a:pt x="5421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52" name="Freeform 15"/>
          <p:cNvSpPr>
            <a:spLocks/>
          </p:cNvSpPr>
          <p:nvPr/>
        </p:nvSpPr>
        <p:spPr bwMode="auto">
          <a:xfrm>
            <a:off x="900113" y="4084638"/>
            <a:ext cx="7943850" cy="601662"/>
          </a:xfrm>
          <a:custGeom>
            <a:avLst/>
            <a:gdLst>
              <a:gd name="T0" fmla="*/ 0 w 5421"/>
              <a:gd name="T1" fmla="*/ 2147483647 h 379"/>
              <a:gd name="T2" fmla="*/ 2147483647 w 5421"/>
              <a:gd name="T3" fmla="*/ 2147483647 h 379"/>
              <a:gd name="T4" fmla="*/ 2147483647 w 5421"/>
              <a:gd name="T5" fmla="*/ 0 h 379"/>
              <a:gd name="T6" fmla="*/ 2147483647 w 5421"/>
              <a:gd name="T7" fmla="*/ 0 h 379"/>
              <a:gd name="T8" fmla="*/ 2147483647 w 5421"/>
              <a:gd name="T9" fmla="*/ 2147483647 h 379"/>
              <a:gd name="T10" fmla="*/ 2147483647 w 5421"/>
              <a:gd name="T11" fmla="*/ 2147483647 h 379"/>
              <a:gd name="T12" fmla="*/ 2147483647 w 5421"/>
              <a:gd name="T13" fmla="*/ 0 h 379"/>
              <a:gd name="T14" fmla="*/ 2147483647 w 5421"/>
              <a:gd name="T15" fmla="*/ 0 h 379"/>
              <a:gd name="T16" fmla="*/ 2147483647 w 5421"/>
              <a:gd name="T17" fmla="*/ 2147483647 h 379"/>
              <a:gd name="T18" fmla="*/ 2147483647 w 5421"/>
              <a:gd name="T19" fmla="*/ 2147483647 h 3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421"/>
              <a:gd name="T31" fmla="*/ 0 h 379"/>
              <a:gd name="T32" fmla="*/ 5421 w 5421"/>
              <a:gd name="T33" fmla="*/ 379 h 37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421" h="379">
                <a:moveTo>
                  <a:pt x="0" y="379"/>
                </a:moveTo>
                <a:lnTo>
                  <a:pt x="476" y="379"/>
                </a:lnTo>
                <a:lnTo>
                  <a:pt x="476" y="0"/>
                </a:lnTo>
                <a:lnTo>
                  <a:pt x="1807" y="0"/>
                </a:lnTo>
                <a:lnTo>
                  <a:pt x="1807" y="379"/>
                </a:lnTo>
                <a:lnTo>
                  <a:pt x="3139" y="379"/>
                </a:lnTo>
                <a:lnTo>
                  <a:pt x="3139" y="0"/>
                </a:lnTo>
                <a:lnTo>
                  <a:pt x="4470" y="0"/>
                </a:lnTo>
                <a:lnTo>
                  <a:pt x="4470" y="379"/>
                </a:lnTo>
                <a:lnTo>
                  <a:pt x="5421" y="379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53" name="Freeform 16"/>
          <p:cNvSpPr>
            <a:spLocks/>
          </p:cNvSpPr>
          <p:nvPr/>
        </p:nvSpPr>
        <p:spPr bwMode="auto">
          <a:xfrm>
            <a:off x="900113" y="4986338"/>
            <a:ext cx="7943850" cy="603250"/>
          </a:xfrm>
          <a:custGeom>
            <a:avLst/>
            <a:gdLst>
              <a:gd name="T0" fmla="*/ 0 w 5421"/>
              <a:gd name="T1" fmla="*/ 0 h 380"/>
              <a:gd name="T2" fmla="*/ 2147483647 w 5421"/>
              <a:gd name="T3" fmla="*/ 0 h 380"/>
              <a:gd name="T4" fmla="*/ 2147483647 w 5421"/>
              <a:gd name="T5" fmla="*/ 2147483647 h 380"/>
              <a:gd name="T6" fmla="*/ 2147483647 w 5421"/>
              <a:gd name="T7" fmla="*/ 2147483647 h 380"/>
              <a:gd name="T8" fmla="*/ 2147483647 w 5421"/>
              <a:gd name="T9" fmla="*/ 0 h 380"/>
              <a:gd name="T10" fmla="*/ 2147483647 w 5421"/>
              <a:gd name="T11" fmla="*/ 0 h 380"/>
              <a:gd name="T12" fmla="*/ 2147483647 w 5421"/>
              <a:gd name="T13" fmla="*/ 2147483647 h 380"/>
              <a:gd name="T14" fmla="*/ 2147483647 w 5421"/>
              <a:gd name="T15" fmla="*/ 2147483647 h 380"/>
              <a:gd name="T16" fmla="*/ 2147483647 w 5421"/>
              <a:gd name="T17" fmla="*/ 0 h 380"/>
              <a:gd name="T18" fmla="*/ 2147483647 w 5421"/>
              <a:gd name="T19" fmla="*/ 0 h 3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421"/>
              <a:gd name="T31" fmla="*/ 0 h 380"/>
              <a:gd name="T32" fmla="*/ 5421 w 5421"/>
              <a:gd name="T33" fmla="*/ 380 h 3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421" h="380">
                <a:moveTo>
                  <a:pt x="0" y="0"/>
                </a:moveTo>
                <a:lnTo>
                  <a:pt x="476" y="0"/>
                </a:lnTo>
                <a:lnTo>
                  <a:pt x="476" y="380"/>
                </a:lnTo>
                <a:lnTo>
                  <a:pt x="1807" y="380"/>
                </a:lnTo>
                <a:lnTo>
                  <a:pt x="1807" y="0"/>
                </a:lnTo>
                <a:lnTo>
                  <a:pt x="3139" y="0"/>
                </a:lnTo>
                <a:lnTo>
                  <a:pt x="3139" y="380"/>
                </a:lnTo>
                <a:lnTo>
                  <a:pt x="4470" y="380"/>
                </a:lnTo>
                <a:lnTo>
                  <a:pt x="4470" y="0"/>
                </a:lnTo>
                <a:lnTo>
                  <a:pt x="5421" y="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54" name="Line 17"/>
          <p:cNvSpPr>
            <a:spLocks noChangeShapeType="1"/>
          </p:cNvSpPr>
          <p:nvPr/>
        </p:nvSpPr>
        <p:spPr bwMode="auto">
          <a:xfrm flipV="1">
            <a:off x="1457325" y="2619375"/>
            <a:ext cx="1588" cy="450850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55" name="Line 18"/>
          <p:cNvSpPr>
            <a:spLocks noChangeShapeType="1"/>
          </p:cNvSpPr>
          <p:nvPr/>
        </p:nvSpPr>
        <p:spPr bwMode="auto">
          <a:xfrm>
            <a:off x="1339850" y="2693988"/>
            <a:ext cx="66675" cy="1587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56" name="Freeform 19"/>
          <p:cNvSpPr>
            <a:spLocks/>
          </p:cNvSpPr>
          <p:nvPr/>
        </p:nvSpPr>
        <p:spPr bwMode="auto">
          <a:xfrm>
            <a:off x="1289050" y="2625725"/>
            <a:ext cx="63500" cy="134938"/>
          </a:xfrm>
          <a:custGeom>
            <a:avLst/>
            <a:gdLst>
              <a:gd name="T0" fmla="*/ 2147483647 w 43"/>
              <a:gd name="T1" fmla="*/ 2147483647 h 85"/>
              <a:gd name="T2" fmla="*/ 0 w 43"/>
              <a:gd name="T3" fmla="*/ 2147483647 h 85"/>
              <a:gd name="T4" fmla="*/ 2147483647 w 43"/>
              <a:gd name="T5" fmla="*/ 0 h 85"/>
              <a:gd name="T6" fmla="*/ 2147483647 w 43"/>
              <a:gd name="T7" fmla="*/ 2147483647 h 85"/>
              <a:gd name="T8" fmla="*/ 0 60000 65536"/>
              <a:gd name="T9" fmla="*/ 0 60000 65536"/>
              <a:gd name="T10" fmla="*/ 0 60000 65536"/>
              <a:gd name="T11" fmla="*/ 0 60000 65536"/>
              <a:gd name="T12" fmla="*/ 0 w 43"/>
              <a:gd name="T13" fmla="*/ 0 h 85"/>
              <a:gd name="T14" fmla="*/ 43 w 43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" h="85">
                <a:moveTo>
                  <a:pt x="43" y="85"/>
                </a:moveTo>
                <a:lnTo>
                  <a:pt x="0" y="43"/>
                </a:lnTo>
                <a:lnTo>
                  <a:pt x="43" y="0"/>
                </a:lnTo>
                <a:lnTo>
                  <a:pt x="43" y="8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57" name="Freeform 20"/>
          <p:cNvSpPr>
            <a:spLocks/>
          </p:cNvSpPr>
          <p:nvPr/>
        </p:nvSpPr>
        <p:spPr bwMode="auto">
          <a:xfrm>
            <a:off x="1397000" y="2625725"/>
            <a:ext cx="60325" cy="134938"/>
          </a:xfrm>
          <a:custGeom>
            <a:avLst/>
            <a:gdLst>
              <a:gd name="T0" fmla="*/ 0 w 42"/>
              <a:gd name="T1" fmla="*/ 0 h 85"/>
              <a:gd name="T2" fmla="*/ 2147483647 w 42"/>
              <a:gd name="T3" fmla="*/ 2147483647 h 85"/>
              <a:gd name="T4" fmla="*/ 0 w 42"/>
              <a:gd name="T5" fmla="*/ 2147483647 h 85"/>
              <a:gd name="T6" fmla="*/ 0 w 42"/>
              <a:gd name="T7" fmla="*/ 0 h 85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5"/>
              <a:gd name="T14" fmla="*/ 42 w 42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5">
                <a:moveTo>
                  <a:pt x="0" y="0"/>
                </a:moveTo>
                <a:lnTo>
                  <a:pt x="42" y="43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58" name="Rectangle 21"/>
          <p:cNvSpPr>
            <a:spLocks noChangeArrowheads="1"/>
          </p:cNvSpPr>
          <p:nvPr/>
        </p:nvSpPr>
        <p:spPr bwMode="auto">
          <a:xfrm>
            <a:off x="1709738" y="2662238"/>
            <a:ext cx="825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59" name="Rectangle 22"/>
          <p:cNvSpPr>
            <a:spLocks noChangeArrowheads="1"/>
          </p:cNvSpPr>
          <p:nvPr/>
        </p:nvSpPr>
        <p:spPr bwMode="auto">
          <a:xfrm>
            <a:off x="1800225" y="2841625"/>
            <a:ext cx="100013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700" b="0">
                <a:solidFill>
                  <a:srgbClr val="000000"/>
                </a:solidFill>
                <a:latin typeface="Times New Roman" pitchFamily="18" charset="0"/>
              </a:rPr>
              <a:t>h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60" name="Line 23"/>
          <p:cNvSpPr>
            <a:spLocks noChangeShapeType="1"/>
          </p:cNvSpPr>
          <p:nvPr/>
        </p:nvSpPr>
        <p:spPr bwMode="auto">
          <a:xfrm>
            <a:off x="1289050" y="2994025"/>
            <a:ext cx="117475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61" name="Freeform 24"/>
          <p:cNvSpPr>
            <a:spLocks/>
          </p:cNvSpPr>
          <p:nvPr/>
        </p:nvSpPr>
        <p:spPr bwMode="auto">
          <a:xfrm>
            <a:off x="1397000" y="2927350"/>
            <a:ext cx="60325" cy="133350"/>
          </a:xfrm>
          <a:custGeom>
            <a:avLst/>
            <a:gdLst>
              <a:gd name="T0" fmla="*/ 0 w 42"/>
              <a:gd name="T1" fmla="*/ 0 h 84"/>
              <a:gd name="T2" fmla="*/ 2147483647 w 42"/>
              <a:gd name="T3" fmla="*/ 2147483647 h 84"/>
              <a:gd name="T4" fmla="*/ 0 w 42"/>
              <a:gd name="T5" fmla="*/ 2147483647 h 84"/>
              <a:gd name="T6" fmla="*/ 0 w 42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4"/>
              <a:gd name="T14" fmla="*/ 42 w 42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4">
                <a:moveTo>
                  <a:pt x="0" y="0"/>
                </a:moveTo>
                <a:lnTo>
                  <a:pt x="42" y="42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62" name="Line 25"/>
          <p:cNvSpPr>
            <a:spLocks noChangeShapeType="1"/>
          </p:cNvSpPr>
          <p:nvPr/>
        </p:nvSpPr>
        <p:spPr bwMode="auto">
          <a:xfrm flipH="1">
            <a:off x="1619250" y="2994025"/>
            <a:ext cx="117475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63" name="Freeform 26"/>
          <p:cNvSpPr>
            <a:spLocks/>
          </p:cNvSpPr>
          <p:nvPr/>
        </p:nvSpPr>
        <p:spPr bwMode="auto">
          <a:xfrm>
            <a:off x="1568450" y="2927350"/>
            <a:ext cx="60325" cy="133350"/>
          </a:xfrm>
          <a:custGeom>
            <a:avLst/>
            <a:gdLst>
              <a:gd name="T0" fmla="*/ 2147483647 w 42"/>
              <a:gd name="T1" fmla="*/ 0 h 84"/>
              <a:gd name="T2" fmla="*/ 0 w 42"/>
              <a:gd name="T3" fmla="*/ 2147483647 h 84"/>
              <a:gd name="T4" fmla="*/ 2147483647 w 42"/>
              <a:gd name="T5" fmla="*/ 2147483647 h 84"/>
              <a:gd name="T6" fmla="*/ 2147483647 w 42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4"/>
              <a:gd name="T14" fmla="*/ 42 w 42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4">
                <a:moveTo>
                  <a:pt x="42" y="0"/>
                </a:moveTo>
                <a:lnTo>
                  <a:pt x="0" y="42"/>
                </a:lnTo>
                <a:lnTo>
                  <a:pt x="42" y="84"/>
                </a:lnTo>
                <a:lnTo>
                  <a:pt x="42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64" name="Rectangle 27"/>
          <p:cNvSpPr>
            <a:spLocks noChangeArrowheads="1"/>
          </p:cNvSpPr>
          <p:nvPr/>
        </p:nvSpPr>
        <p:spPr bwMode="auto">
          <a:xfrm>
            <a:off x="1047750" y="2503488"/>
            <a:ext cx="825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65" name="Rectangle 28"/>
          <p:cNvSpPr>
            <a:spLocks noChangeArrowheads="1"/>
          </p:cNvSpPr>
          <p:nvPr/>
        </p:nvSpPr>
        <p:spPr bwMode="auto">
          <a:xfrm>
            <a:off x="1120775" y="2701925"/>
            <a:ext cx="17780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700" b="0">
                <a:solidFill>
                  <a:srgbClr val="000000"/>
                </a:solidFill>
                <a:latin typeface="Times New Roman" pitchFamily="18" charset="0"/>
              </a:rPr>
              <a:t>su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66" name="Line 29"/>
          <p:cNvSpPr>
            <a:spLocks noChangeShapeType="1"/>
          </p:cNvSpPr>
          <p:nvPr/>
        </p:nvSpPr>
        <p:spPr bwMode="auto">
          <a:xfrm flipV="1">
            <a:off x="3405188" y="2619375"/>
            <a:ext cx="1587" cy="450850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67" name="Line 30"/>
          <p:cNvSpPr>
            <a:spLocks noChangeShapeType="1"/>
          </p:cNvSpPr>
          <p:nvPr/>
        </p:nvSpPr>
        <p:spPr bwMode="auto">
          <a:xfrm>
            <a:off x="3286125" y="2693988"/>
            <a:ext cx="69850" cy="1587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68" name="Freeform 31"/>
          <p:cNvSpPr>
            <a:spLocks/>
          </p:cNvSpPr>
          <p:nvPr/>
        </p:nvSpPr>
        <p:spPr bwMode="auto">
          <a:xfrm>
            <a:off x="3238500" y="2625725"/>
            <a:ext cx="61913" cy="134938"/>
          </a:xfrm>
          <a:custGeom>
            <a:avLst/>
            <a:gdLst>
              <a:gd name="T0" fmla="*/ 2147483647 w 42"/>
              <a:gd name="T1" fmla="*/ 2147483647 h 85"/>
              <a:gd name="T2" fmla="*/ 0 w 42"/>
              <a:gd name="T3" fmla="*/ 2147483647 h 85"/>
              <a:gd name="T4" fmla="*/ 2147483647 w 42"/>
              <a:gd name="T5" fmla="*/ 0 h 85"/>
              <a:gd name="T6" fmla="*/ 2147483647 w 42"/>
              <a:gd name="T7" fmla="*/ 2147483647 h 85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5"/>
              <a:gd name="T14" fmla="*/ 42 w 42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5">
                <a:moveTo>
                  <a:pt x="42" y="85"/>
                </a:moveTo>
                <a:lnTo>
                  <a:pt x="0" y="43"/>
                </a:lnTo>
                <a:lnTo>
                  <a:pt x="42" y="0"/>
                </a:lnTo>
                <a:lnTo>
                  <a:pt x="42" y="8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69" name="Freeform 32"/>
          <p:cNvSpPr>
            <a:spLocks/>
          </p:cNvSpPr>
          <p:nvPr/>
        </p:nvSpPr>
        <p:spPr bwMode="auto">
          <a:xfrm>
            <a:off x="3343275" y="2625725"/>
            <a:ext cx="61913" cy="134938"/>
          </a:xfrm>
          <a:custGeom>
            <a:avLst/>
            <a:gdLst>
              <a:gd name="T0" fmla="*/ 0 w 42"/>
              <a:gd name="T1" fmla="*/ 0 h 85"/>
              <a:gd name="T2" fmla="*/ 2147483647 w 42"/>
              <a:gd name="T3" fmla="*/ 2147483647 h 85"/>
              <a:gd name="T4" fmla="*/ 0 w 42"/>
              <a:gd name="T5" fmla="*/ 2147483647 h 85"/>
              <a:gd name="T6" fmla="*/ 0 w 42"/>
              <a:gd name="T7" fmla="*/ 0 h 85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5"/>
              <a:gd name="T14" fmla="*/ 42 w 42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5">
                <a:moveTo>
                  <a:pt x="0" y="0"/>
                </a:moveTo>
                <a:lnTo>
                  <a:pt x="42" y="43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70" name="Rectangle 33"/>
          <p:cNvSpPr>
            <a:spLocks noChangeArrowheads="1"/>
          </p:cNvSpPr>
          <p:nvPr/>
        </p:nvSpPr>
        <p:spPr bwMode="auto">
          <a:xfrm>
            <a:off x="3657600" y="2662238"/>
            <a:ext cx="825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71" name="Rectangle 34"/>
          <p:cNvSpPr>
            <a:spLocks noChangeArrowheads="1"/>
          </p:cNvSpPr>
          <p:nvPr/>
        </p:nvSpPr>
        <p:spPr bwMode="auto">
          <a:xfrm>
            <a:off x="3730625" y="2841625"/>
            <a:ext cx="100013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700" b="0">
                <a:solidFill>
                  <a:srgbClr val="000000"/>
                </a:solidFill>
                <a:latin typeface="Times New Roman" pitchFamily="18" charset="0"/>
              </a:rPr>
              <a:t>h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72" name="Line 35"/>
          <p:cNvSpPr>
            <a:spLocks noChangeShapeType="1"/>
          </p:cNvSpPr>
          <p:nvPr/>
        </p:nvSpPr>
        <p:spPr bwMode="auto">
          <a:xfrm>
            <a:off x="3238500" y="2994025"/>
            <a:ext cx="117475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73" name="Freeform 36"/>
          <p:cNvSpPr>
            <a:spLocks/>
          </p:cNvSpPr>
          <p:nvPr/>
        </p:nvSpPr>
        <p:spPr bwMode="auto">
          <a:xfrm>
            <a:off x="3343275" y="2927350"/>
            <a:ext cx="61913" cy="133350"/>
          </a:xfrm>
          <a:custGeom>
            <a:avLst/>
            <a:gdLst>
              <a:gd name="T0" fmla="*/ 0 w 42"/>
              <a:gd name="T1" fmla="*/ 0 h 84"/>
              <a:gd name="T2" fmla="*/ 2147483647 w 42"/>
              <a:gd name="T3" fmla="*/ 2147483647 h 84"/>
              <a:gd name="T4" fmla="*/ 0 w 42"/>
              <a:gd name="T5" fmla="*/ 2147483647 h 84"/>
              <a:gd name="T6" fmla="*/ 0 w 42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4"/>
              <a:gd name="T14" fmla="*/ 42 w 42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4">
                <a:moveTo>
                  <a:pt x="0" y="0"/>
                </a:moveTo>
                <a:lnTo>
                  <a:pt x="42" y="42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74" name="Line 37"/>
          <p:cNvSpPr>
            <a:spLocks noChangeShapeType="1"/>
          </p:cNvSpPr>
          <p:nvPr/>
        </p:nvSpPr>
        <p:spPr bwMode="auto">
          <a:xfrm flipH="1">
            <a:off x="3567113" y="2994025"/>
            <a:ext cx="117475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75" name="Freeform 38"/>
          <p:cNvSpPr>
            <a:spLocks/>
          </p:cNvSpPr>
          <p:nvPr/>
        </p:nvSpPr>
        <p:spPr bwMode="auto">
          <a:xfrm>
            <a:off x="3516313" y="2927350"/>
            <a:ext cx="61912" cy="133350"/>
          </a:xfrm>
          <a:custGeom>
            <a:avLst/>
            <a:gdLst>
              <a:gd name="T0" fmla="*/ 2147483647 w 42"/>
              <a:gd name="T1" fmla="*/ 0 h 84"/>
              <a:gd name="T2" fmla="*/ 0 w 42"/>
              <a:gd name="T3" fmla="*/ 2147483647 h 84"/>
              <a:gd name="T4" fmla="*/ 2147483647 w 42"/>
              <a:gd name="T5" fmla="*/ 2147483647 h 84"/>
              <a:gd name="T6" fmla="*/ 2147483647 w 42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4"/>
              <a:gd name="T14" fmla="*/ 42 w 42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4">
                <a:moveTo>
                  <a:pt x="42" y="0"/>
                </a:moveTo>
                <a:lnTo>
                  <a:pt x="0" y="42"/>
                </a:lnTo>
                <a:lnTo>
                  <a:pt x="42" y="84"/>
                </a:lnTo>
                <a:lnTo>
                  <a:pt x="42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76" name="Rectangle 39"/>
          <p:cNvSpPr>
            <a:spLocks noChangeArrowheads="1"/>
          </p:cNvSpPr>
          <p:nvPr/>
        </p:nvSpPr>
        <p:spPr bwMode="auto">
          <a:xfrm>
            <a:off x="2978150" y="2543175"/>
            <a:ext cx="809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77" name="Rectangle 40"/>
          <p:cNvSpPr>
            <a:spLocks noChangeArrowheads="1"/>
          </p:cNvSpPr>
          <p:nvPr/>
        </p:nvSpPr>
        <p:spPr bwMode="auto">
          <a:xfrm>
            <a:off x="3051175" y="2741613"/>
            <a:ext cx="17780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700" b="0">
                <a:solidFill>
                  <a:srgbClr val="000000"/>
                </a:solidFill>
                <a:latin typeface="Times New Roman" pitchFamily="18" charset="0"/>
              </a:rPr>
              <a:t>su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78" name="Line 41"/>
          <p:cNvSpPr>
            <a:spLocks noChangeShapeType="1"/>
          </p:cNvSpPr>
          <p:nvPr/>
        </p:nvSpPr>
        <p:spPr bwMode="auto">
          <a:xfrm flipV="1">
            <a:off x="5356225" y="2619375"/>
            <a:ext cx="1588" cy="450850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79" name="Line 42"/>
          <p:cNvSpPr>
            <a:spLocks noChangeShapeType="1"/>
          </p:cNvSpPr>
          <p:nvPr/>
        </p:nvSpPr>
        <p:spPr bwMode="auto">
          <a:xfrm>
            <a:off x="5238750" y="2693988"/>
            <a:ext cx="68263" cy="1587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0" name="Freeform 43"/>
          <p:cNvSpPr>
            <a:spLocks/>
          </p:cNvSpPr>
          <p:nvPr/>
        </p:nvSpPr>
        <p:spPr bwMode="auto">
          <a:xfrm>
            <a:off x="5189538" y="2625725"/>
            <a:ext cx="60325" cy="134938"/>
          </a:xfrm>
          <a:custGeom>
            <a:avLst/>
            <a:gdLst>
              <a:gd name="T0" fmla="*/ 2147483647 w 42"/>
              <a:gd name="T1" fmla="*/ 2147483647 h 85"/>
              <a:gd name="T2" fmla="*/ 0 w 42"/>
              <a:gd name="T3" fmla="*/ 2147483647 h 85"/>
              <a:gd name="T4" fmla="*/ 2147483647 w 42"/>
              <a:gd name="T5" fmla="*/ 0 h 85"/>
              <a:gd name="T6" fmla="*/ 2147483647 w 42"/>
              <a:gd name="T7" fmla="*/ 2147483647 h 85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5"/>
              <a:gd name="T14" fmla="*/ 42 w 42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5">
                <a:moveTo>
                  <a:pt x="42" y="85"/>
                </a:moveTo>
                <a:lnTo>
                  <a:pt x="0" y="43"/>
                </a:lnTo>
                <a:lnTo>
                  <a:pt x="42" y="0"/>
                </a:lnTo>
                <a:lnTo>
                  <a:pt x="42" y="8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1" name="Freeform 44"/>
          <p:cNvSpPr>
            <a:spLocks/>
          </p:cNvSpPr>
          <p:nvPr/>
        </p:nvSpPr>
        <p:spPr bwMode="auto">
          <a:xfrm>
            <a:off x="5294313" y="2625725"/>
            <a:ext cx="61912" cy="134938"/>
          </a:xfrm>
          <a:custGeom>
            <a:avLst/>
            <a:gdLst>
              <a:gd name="T0" fmla="*/ 0 w 42"/>
              <a:gd name="T1" fmla="*/ 0 h 85"/>
              <a:gd name="T2" fmla="*/ 2147483647 w 42"/>
              <a:gd name="T3" fmla="*/ 2147483647 h 85"/>
              <a:gd name="T4" fmla="*/ 0 w 42"/>
              <a:gd name="T5" fmla="*/ 2147483647 h 85"/>
              <a:gd name="T6" fmla="*/ 0 w 42"/>
              <a:gd name="T7" fmla="*/ 0 h 85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5"/>
              <a:gd name="T14" fmla="*/ 42 w 42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5">
                <a:moveTo>
                  <a:pt x="0" y="0"/>
                </a:moveTo>
                <a:lnTo>
                  <a:pt x="42" y="43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2" name="Rectangle 45"/>
          <p:cNvSpPr>
            <a:spLocks noChangeArrowheads="1"/>
          </p:cNvSpPr>
          <p:nvPr/>
        </p:nvSpPr>
        <p:spPr bwMode="auto">
          <a:xfrm>
            <a:off x="5605463" y="2662238"/>
            <a:ext cx="809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83" name="Rectangle 46"/>
          <p:cNvSpPr>
            <a:spLocks noChangeArrowheads="1"/>
          </p:cNvSpPr>
          <p:nvPr/>
        </p:nvSpPr>
        <p:spPr bwMode="auto">
          <a:xfrm>
            <a:off x="5695950" y="2841625"/>
            <a:ext cx="100013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700" b="0">
                <a:solidFill>
                  <a:srgbClr val="000000"/>
                </a:solidFill>
                <a:latin typeface="Times New Roman" pitchFamily="18" charset="0"/>
              </a:rPr>
              <a:t>h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84" name="Line 47"/>
          <p:cNvSpPr>
            <a:spLocks noChangeShapeType="1"/>
          </p:cNvSpPr>
          <p:nvPr/>
        </p:nvSpPr>
        <p:spPr bwMode="auto">
          <a:xfrm>
            <a:off x="5189538" y="2994025"/>
            <a:ext cx="117475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5" name="Freeform 48"/>
          <p:cNvSpPr>
            <a:spLocks/>
          </p:cNvSpPr>
          <p:nvPr/>
        </p:nvSpPr>
        <p:spPr bwMode="auto">
          <a:xfrm>
            <a:off x="5294313" y="2927350"/>
            <a:ext cx="61912" cy="133350"/>
          </a:xfrm>
          <a:custGeom>
            <a:avLst/>
            <a:gdLst>
              <a:gd name="T0" fmla="*/ 0 w 42"/>
              <a:gd name="T1" fmla="*/ 0 h 84"/>
              <a:gd name="T2" fmla="*/ 2147483647 w 42"/>
              <a:gd name="T3" fmla="*/ 2147483647 h 84"/>
              <a:gd name="T4" fmla="*/ 0 w 42"/>
              <a:gd name="T5" fmla="*/ 2147483647 h 84"/>
              <a:gd name="T6" fmla="*/ 0 w 42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4"/>
              <a:gd name="T14" fmla="*/ 42 w 42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4">
                <a:moveTo>
                  <a:pt x="0" y="0"/>
                </a:moveTo>
                <a:lnTo>
                  <a:pt x="42" y="42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6" name="Line 49"/>
          <p:cNvSpPr>
            <a:spLocks noChangeShapeType="1"/>
          </p:cNvSpPr>
          <p:nvPr/>
        </p:nvSpPr>
        <p:spPr bwMode="auto">
          <a:xfrm flipH="1">
            <a:off x="5516563" y="2994025"/>
            <a:ext cx="119062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7" name="Freeform 50"/>
          <p:cNvSpPr>
            <a:spLocks/>
          </p:cNvSpPr>
          <p:nvPr/>
        </p:nvSpPr>
        <p:spPr bwMode="auto">
          <a:xfrm>
            <a:off x="5467350" y="2927350"/>
            <a:ext cx="63500" cy="133350"/>
          </a:xfrm>
          <a:custGeom>
            <a:avLst/>
            <a:gdLst>
              <a:gd name="T0" fmla="*/ 2147483647 w 43"/>
              <a:gd name="T1" fmla="*/ 0 h 84"/>
              <a:gd name="T2" fmla="*/ 0 w 43"/>
              <a:gd name="T3" fmla="*/ 2147483647 h 84"/>
              <a:gd name="T4" fmla="*/ 2147483647 w 43"/>
              <a:gd name="T5" fmla="*/ 2147483647 h 84"/>
              <a:gd name="T6" fmla="*/ 2147483647 w 43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43"/>
              <a:gd name="T13" fmla="*/ 0 h 84"/>
              <a:gd name="T14" fmla="*/ 43 w 43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" h="84">
                <a:moveTo>
                  <a:pt x="43" y="0"/>
                </a:moveTo>
                <a:lnTo>
                  <a:pt x="0" y="42"/>
                </a:lnTo>
                <a:lnTo>
                  <a:pt x="43" y="84"/>
                </a:lnTo>
                <a:lnTo>
                  <a:pt x="4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8" name="Rectangle 51"/>
          <p:cNvSpPr>
            <a:spLocks noChangeArrowheads="1"/>
          </p:cNvSpPr>
          <p:nvPr/>
        </p:nvSpPr>
        <p:spPr bwMode="auto">
          <a:xfrm>
            <a:off x="4924425" y="2543175"/>
            <a:ext cx="825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89" name="Rectangle 52"/>
          <p:cNvSpPr>
            <a:spLocks noChangeArrowheads="1"/>
          </p:cNvSpPr>
          <p:nvPr/>
        </p:nvSpPr>
        <p:spPr bwMode="auto">
          <a:xfrm>
            <a:off x="5016500" y="2741613"/>
            <a:ext cx="176213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700" b="0">
                <a:solidFill>
                  <a:srgbClr val="000000"/>
                </a:solidFill>
                <a:latin typeface="Times New Roman" pitchFamily="18" charset="0"/>
              </a:rPr>
              <a:t>su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90" name="Line 53"/>
          <p:cNvSpPr>
            <a:spLocks noChangeShapeType="1"/>
          </p:cNvSpPr>
          <p:nvPr/>
        </p:nvSpPr>
        <p:spPr bwMode="auto">
          <a:xfrm flipV="1">
            <a:off x="7337425" y="2619375"/>
            <a:ext cx="1588" cy="450850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1" name="Line 54"/>
          <p:cNvSpPr>
            <a:spLocks noChangeShapeType="1"/>
          </p:cNvSpPr>
          <p:nvPr/>
        </p:nvSpPr>
        <p:spPr bwMode="auto">
          <a:xfrm>
            <a:off x="7218363" y="2693988"/>
            <a:ext cx="68262" cy="1587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2" name="Freeform 55"/>
          <p:cNvSpPr>
            <a:spLocks/>
          </p:cNvSpPr>
          <p:nvPr/>
        </p:nvSpPr>
        <p:spPr bwMode="auto">
          <a:xfrm>
            <a:off x="7169150" y="2625725"/>
            <a:ext cx="60325" cy="134938"/>
          </a:xfrm>
          <a:custGeom>
            <a:avLst/>
            <a:gdLst>
              <a:gd name="T0" fmla="*/ 2147483647 w 42"/>
              <a:gd name="T1" fmla="*/ 2147483647 h 85"/>
              <a:gd name="T2" fmla="*/ 0 w 42"/>
              <a:gd name="T3" fmla="*/ 2147483647 h 85"/>
              <a:gd name="T4" fmla="*/ 2147483647 w 42"/>
              <a:gd name="T5" fmla="*/ 0 h 85"/>
              <a:gd name="T6" fmla="*/ 2147483647 w 42"/>
              <a:gd name="T7" fmla="*/ 2147483647 h 85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5"/>
              <a:gd name="T14" fmla="*/ 42 w 42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5">
                <a:moveTo>
                  <a:pt x="42" y="85"/>
                </a:moveTo>
                <a:lnTo>
                  <a:pt x="0" y="43"/>
                </a:lnTo>
                <a:lnTo>
                  <a:pt x="42" y="0"/>
                </a:lnTo>
                <a:lnTo>
                  <a:pt x="42" y="8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3" name="Freeform 56"/>
          <p:cNvSpPr>
            <a:spLocks/>
          </p:cNvSpPr>
          <p:nvPr/>
        </p:nvSpPr>
        <p:spPr bwMode="auto">
          <a:xfrm>
            <a:off x="7273925" y="2625725"/>
            <a:ext cx="63500" cy="134938"/>
          </a:xfrm>
          <a:custGeom>
            <a:avLst/>
            <a:gdLst>
              <a:gd name="T0" fmla="*/ 0 w 43"/>
              <a:gd name="T1" fmla="*/ 0 h 85"/>
              <a:gd name="T2" fmla="*/ 2147483647 w 43"/>
              <a:gd name="T3" fmla="*/ 2147483647 h 85"/>
              <a:gd name="T4" fmla="*/ 0 w 43"/>
              <a:gd name="T5" fmla="*/ 2147483647 h 85"/>
              <a:gd name="T6" fmla="*/ 0 w 43"/>
              <a:gd name="T7" fmla="*/ 0 h 85"/>
              <a:gd name="T8" fmla="*/ 0 60000 65536"/>
              <a:gd name="T9" fmla="*/ 0 60000 65536"/>
              <a:gd name="T10" fmla="*/ 0 60000 65536"/>
              <a:gd name="T11" fmla="*/ 0 60000 65536"/>
              <a:gd name="T12" fmla="*/ 0 w 43"/>
              <a:gd name="T13" fmla="*/ 0 h 85"/>
              <a:gd name="T14" fmla="*/ 43 w 43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" h="85">
                <a:moveTo>
                  <a:pt x="0" y="0"/>
                </a:moveTo>
                <a:lnTo>
                  <a:pt x="43" y="43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4" name="Rectangle 57"/>
          <p:cNvSpPr>
            <a:spLocks noChangeArrowheads="1"/>
          </p:cNvSpPr>
          <p:nvPr/>
        </p:nvSpPr>
        <p:spPr bwMode="auto">
          <a:xfrm>
            <a:off x="7589838" y="2662238"/>
            <a:ext cx="809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95" name="Rectangle 58"/>
          <p:cNvSpPr>
            <a:spLocks noChangeArrowheads="1"/>
          </p:cNvSpPr>
          <p:nvPr/>
        </p:nvSpPr>
        <p:spPr bwMode="auto">
          <a:xfrm>
            <a:off x="7662863" y="2841625"/>
            <a:ext cx="100012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700" b="0">
                <a:solidFill>
                  <a:srgbClr val="000000"/>
                </a:solidFill>
                <a:latin typeface="Times New Roman" pitchFamily="18" charset="0"/>
              </a:rPr>
              <a:t>h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9996" name="Line 59"/>
          <p:cNvSpPr>
            <a:spLocks noChangeShapeType="1"/>
          </p:cNvSpPr>
          <p:nvPr/>
        </p:nvSpPr>
        <p:spPr bwMode="auto">
          <a:xfrm>
            <a:off x="7169150" y="2994025"/>
            <a:ext cx="117475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7" name="Freeform 60"/>
          <p:cNvSpPr>
            <a:spLocks/>
          </p:cNvSpPr>
          <p:nvPr/>
        </p:nvSpPr>
        <p:spPr bwMode="auto">
          <a:xfrm>
            <a:off x="7273925" y="2927350"/>
            <a:ext cx="63500" cy="133350"/>
          </a:xfrm>
          <a:custGeom>
            <a:avLst/>
            <a:gdLst>
              <a:gd name="T0" fmla="*/ 0 w 43"/>
              <a:gd name="T1" fmla="*/ 0 h 84"/>
              <a:gd name="T2" fmla="*/ 2147483647 w 43"/>
              <a:gd name="T3" fmla="*/ 2147483647 h 84"/>
              <a:gd name="T4" fmla="*/ 0 w 43"/>
              <a:gd name="T5" fmla="*/ 2147483647 h 84"/>
              <a:gd name="T6" fmla="*/ 0 w 43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43"/>
              <a:gd name="T13" fmla="*/ 0 h 84"/>
              <a:gd name="T14" fmla="*/ 43 w 43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" h="84">
                <a:moveTo>
                  <a:pt x="0" y="0"/>
                </a:moveTo>
                <a:lnTo>
                  <a:pt x="43" y="42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8" name="Line 61"/>
          <p:cNvSpPr>
            <a:spLocks noChangeShapeType="1"/>
          </p:cNvSpPr>
          <p:nvPr/>
        </p:nvSpPr>
        <p:spPr bwMode="auto">
          <a:xfrm flipH="1">
            <a:off x="7496175" y="2994025"/>
            <a:ext cx="119063" cy="1588"/>
          </a:xfrm>
          <a:prstGeom prst="line">
            <a:avLst/>
          </a:pr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9" name="Freeform 62"/>
          <p:cNvSpPr>
            <a:spLocks/>
          </p:cNvSpPr>
          <p:nvPr/>
        </p:nvSpPr>
        <p:spPr bwMode="auto">
          <a:xfrm>
            <a:off x="7448550" y="2927350"/>
            <a:ext cx="61913" cy="133350"/>
          </a:xfrm>
          <a:custGeom>
            <a:avLst/>
            <a:gdLst>
              <a:gd name="T0" fmla="*/ 2147483647 w 42"/>
              <a:gd name="T1" fmla="*/ 0 h 84"/>
              <a:gd name="T2" fmla="*/ 0 w 42"/>
              <a:gd name="T3" fmla="*/ 2147483647 h 84"/>
              <a:gd name="T4" fmla="*/ 2147483647 w 42"/>
              <a:gd name="T5" fmla="*/ 2147483647 h 84"/>
              <a:gd name="T6" fmla="*/ 2147483647 w 42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84"/>
              <a:gd name="T14" fmla="*/ 42 w 42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84">
                <a:moveTo>
                  <a:pt x="42" y="0"/>
                </a:moveTo>
                <a:lnTo>
                  <a:pt x="0" y="42"/>
                </a:lnTo>
                <a:lnTo>
                  <a:pt x="42" y="84"/>
                </a:lnTo>
                <a:lnTo>
                  <a:pt x="42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00" name="Rectangle 63"/>
          <p:cNvSpPr>
            <a:spLocks noChangeArrowheads="1"/>
          </p:cNvSpPr>
          <p:nvPr/>
        </p:nvSpPr>
        <p:spPr bwMode="auto">
          <a:xfrm>
            <a:off x="6908800" y="2543175"/>
            <a:ext cx="825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0001" name="Rectangle 64"/>
          <p:cNvSpPr>
            <a:spLocks noChangeArrowheads="1"/>
          </p:cNvSpPr>
          <p:nvPr/>
        </p:nvSpPr>
        <p:spPr bwMode="auto">
          <a:xfrm>
            <a:off x="6981825" y="2741613"/>
            <a:ext cx="17780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700" b="0">
                <a:solidFill>
                  <a:srgbClr val="000000"/>
                </a:solidFill>
                <a:latin typeface="Times New Roman" pitchFamily="18" charset="0"/>
              </a:rPr>
              <a:t>su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C5B1AE3-2D5D-43D0-9908-AFC79588BAF8}"/>
              </a:ext>
            </a:extLst>
          </p:cNvPr>
          <p:cNvCxnSpPr>
            <a:cxnSpLocks/>
          </p:cNvCxnSpPr>
          <p:nvPr/>
        </p:nvCxnSpPr>
        <p:spPr>
          <a:xfrm>
            <a:off x="1457325" y="3784600"/>
            <a:ext cx="111125" cy="635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BA8471D8-BC5E-41C4-8B6C-4E6DF6786A55}"/>
              </a:ext>
            </a:extLst>
          </p:cNvPr>
          <p:cNvCxnSpPr>
            <a:cxnSpLocks/>
          </p:cNvCxnSpPr>
          <p:nvPr/>
        </p:nvCxnSpPr>
        <p:spPr>
          <a:xfrm>
            <a:off x="3432749" y="3772144"/>
            <a:ext cx="111125" cy="635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82011D77-5024-42A6-BB10-C0F247904EAF}"/>
              </a:ext>
            </a:extLst>
          </p:cNvPr>
          <p:cNvCxnSpPr>
            <a:cxnSpLocks/>
          </p:cNvCxnSpPr>
          <p:nvPr/>
        </p:nvCxnSpPr>
        <p:spPr>
          <a:xfrm>
            <a:off x="5383971" y="3784600"/>
            <a:ext cx="111125" cy="635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A7E31E4-C0AE-4423-9921-E420D8A7777D}"/>
              </a:ext>
            </a:extLst>
          </p:cNvPr>
          <p:cNvCxnSpPr>
            <a:cxnSpLocks/>
          </p:cNvCxnSpPr>
          <p:nvPr/>
        </p:nvCxnSpPr>
        <p:spPr>
          <a:xfrm>
            <a:off x="7325105" y="3769795"/>
            <a:ext cx="111125" cy="635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978893B-AFF7-4F85-BEC4-56375249B13A}"/>
                  </a:ext>
                </a:extLst>
              </p:cNvPr>
              <p:cNvSpPr txBox="1"/>
              <p:nvPr/>
            </p:nvSpPr>
            <p:spPr>
              <a:xfrm>
                <a:off x="7404480" y="4099765"/>
                <a:ext cx="86995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00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𝑐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978893B-AFF7-4F85-BEC4-56375249B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480" y="4099765"/>
                <a:ext cx="869950" cy="423770"/>
              </a:xfrm>
              <a:prstGeom prst="rect">
                <a:avLst/>
              </a:prstGeom>
              <a:blipFill>
                <a:blip r:embed="rId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0A2B211A-7BCA-44A3-B18F-4C8F7A2644E2}"/>
                  </a:ext>
                </a:extLst>
              </p:cNvPr>
              <p:cNvSpPr txBox="1"/>
              <p:nvPr/>
            </p:nvSpPr>
            <p:spPr>
              <a:xfrm>
                <a:off x="5429056" y="4095918"/>
                <a:ext cx="86995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00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𝑐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0A2B211A-7BCA-44A3-B18F-4C8F7A264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056" y="4095918"/>
                <a:ext cx="869950" cy="423770"/>
              </a:xfrm>
              <a:prstGeom prst="rect">
                <a:avLst/>
              </a:prstGeom>
              <a:blipFill>
                <a:blip r:embed="rId7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396AEA42-C932-4DCF-B256-C421AD2D0B69}"/>
                  </a:ext>
                </a:extLst>
              </p:cNvPr>
              <p:cNvSpPr txBox="1"/>
              <p:nvPr/>
            </p:nvSpPr>
            <p:spPr>
              <a:xfrm>
                <a:off x="3533007" y="4095918"/>
                <a:ext cx="86995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00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𝑐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396AEA42-C932-4DCF-B256-C421AD2D0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007" y="4095918"/>
                <a:ext cx="869950" cy="423770"/>
              </a:xfrm>
              <a:prstGeom prst="rect">
                <a:avLst/>
              </a:prstGeom>
              <a:blipFill>
                <a:blip r:embed="rId8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78356BF-41E5-4796-984D-EB08D47377BD}"/>
                  </a:ext>
                </a:extLst>
              </p:cNvPr>
              <p:cNvSpPr txBox="1"/>
              <p:nvPr/>
            </p:nvSpPr>
            <p:spPr>
              <a:xfrm>
                <a:off x="1569526" y="4099765"/>
                <a:ext cx="86995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00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𝑐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+mj-ea"/>
                              <a:cs typeface="Arial" panose="020B0604020202020204" pitchFamily="34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78356BF-41E5-4796-984D-EB08D4737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526" y="4099765"/>
                <a:ext cx="869950" cy="423770"/>
              </a:xfrm>
              <a:prstGeom prst="rect">
                <a:avLst/>
              </a:prstGeom>
              <a:blipFill>
                <a:blip r:embed="rId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5580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问题：再来看一下阳光长跑计数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6B2E3-88D9-154A-A080-881D5EC1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34C1B-52D1-C5AD-42B2-33411E3B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781" y="1306203"/>
            <a:ext cx="8165930" cy="1655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抽象实现中，更新瞬间完成；但是，实际实现中的考虑？</a:t>
            </a:r>
            <a:endParaRPr lang="en-US" altLang="zh-CN" sz="24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457200" indent="-457200" algn="l">
              <a:lnSpc>
                <a:spcPct val="125000"/>
              </a:lnSpc>
              <a:buFontTx/>
              <a:buChar char="-"/>
            </a:pP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Total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被触发更新</a:t>
            </a:r>
            <a:r>
              <a:rPr lang="zh-CN" altLang="en-US" sz="20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之前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，数据要准备好（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DFF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input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457200" indent="-457200" algn="l">
              <a:lnSpc>
                <a:spcPct val="125000"/>
              </a:lnSpc>
              <a:buFontTx/>
              <a:buChar char="-"/>
            </a:pPr>
            <a:r>
              <a:rPr lang="en-US" altLang="zh-CN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Total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触发更新</a:t>
            </a:r>
            <a:r>
              <a:rPr lang="zh-CN" altLang="en-US" sz="20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之后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，要维持一段时间不变（</a:t>
            </a:r>
            <a:r>
              <a:rPr lang="en-US" altLang="zh-CN" sz="2000" dirty="0" err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t</a:t>
            </a:r>
            <a:r>
              <a:rPr lang="en-US" altLang="zh-CN" sz="2000" baseline="-25000" dirty="0" err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h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在</a:t>
            </a:r>
            <a:r>
              <a:rPr lang="en-US" altLang="zh-CN" sz="2000" dirty="0" err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t</a:t>
            </a:r>
            <a:r>
              <a:rPr lang="en-US" altLang="zh-CN" sz="2000" baseline="-25000" dirty="0" err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h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期间，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  <a:cs typeface="Arial" panose="020B0604020202020204" pitchFamily="34" charset="0"/>
              </a:rPr>
              <a:t> will the new g output affect </a:t>
            </a:r>
            <a:r>
              <a:rPr lang="en-US" altLang="zh-CN" sz="2000" i="1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  <a:cs typeface="Arial" panose="020B0604020202020204" pitchFamily="34" charset="0"/>
              </a:rPr>
              <a:t>Total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  <a:cs typeface="Arial" panose="020B0604020202020204" pitchFamily="34" charset="0"/>
              </a:rPr>
              <a:t> states</a:t>
            </a:r>
            <a:r>
              <a:rPr lang="zh-CN" altLang="en-US" sz="20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？</a:t>
            </a:r>
            <a:endParaRPr lang="en-US" altLang="zh-CN" sz="2000" baseline="-25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48" name="Rectangle 36">
            <a:extLst>
              <a:ext uri="{FF2B5EF4-FFF2-40B4-BE49-F238E27FC236}">
                <a16:creationId xmlns:a16="http://schemas.microsoft.com/office/drawing/2014/main" id="{493A492E-E19B-4E77-9391-EEF3C1E4750A}"/>
              </a:ext>
            </a:extLst>
          </p:cNvPr>
          <p:cNvSpPr/>
          <p:nvPr/>
        </p:nvSpPr>
        <p:spPr>
          <a:xfrm>
            <a:off x="2044832" y="3063257"/>
            <a:ext cx="2122101" cy="16186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000" b="1" dirty="0">
                <a:latin typeface="+mj-lt"/>
                <a:ea typeface="+mj-ea"/>
                <a:cs typeface="Arial" panose="020B0604020202020204" pitchFamily="34" charset="0"/>
              </a:rPr>
              <a:t>组合逻辑</a:t>
            </a:r>
            <a:endParaRPr lang="en-CN" sz="2000" b="1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49" name="Rectangle 46">
            <a:extLst>
              <a:ext uri="{FF2B5EF4-FFF2-40B4-BE49-F238E27FC236}">
                <a16:creationId xmlns:a16="http://schemas.microsoft.com/office/drawing/2014/main" id="{16EF510C-A112-4F95-8BEF-69BE6CBA57A4}"/>
              </a:ext>
            </a:extLst>
          </p:cNvPr>
          <p:cNvSpPr/>
          <p:nvPr/>
        </p:nvSpPr>
        <p:spPr bwMode="auto">
          <a:xfrm>
            <a:off x="2323557" y="4051326"/>
            <a:ext cx="1676400" cy="463542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ea typeface="+mj-ea"/>
                <a:cs typeface="Arial" panose="020B0604020202020204" pitchFamily="34" charset="0"/>
              </a:rPr>
              <a:t>Total + Input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F6ED3FD2-427F-49CB-A88B-EEC111E8CE75}"/>
              </a:ext>
            </a:extLst>
          </p:cNvPr>
          <p:cNvSpPr txBox="1"/>
          <p:nvPr/>
        </p:nvSpPr>
        <p:spPr>
          <a:xfrm>
            <a:off x="-13308" y="3857509"/>
            <a:ext cx="1722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每日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跑步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距离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54" name="TextBox 51">
            <a:extLst>
              <a:ext uri="{FF2B5EF4-FFF2-40B4-BE49-F238E27FC236}">
                <a16:creationId xmlns:a16="http://schemas.microsoft.com/office/drawing/2014/main" id="{24CBCE07-3430-47B4-9959-6A62173FACB8}"/>
              </a:ext>
            </a:extLst>
          </p:cNvPr>
          <p:cNvSpPr txBox="1"/>
          <p:nvPr/>
        </p:nvSpPr>
        <p:spPr>
          <a:xfrm>
            <a:off x="4410110" y="3406986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距离目标距离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Output</a:t>
            </a:r>
          </a:p>
        </p:txBody>
      </p:sp>
      <p:cxnSp>
        <p:nvCxnSpPr>
          <p:cNvPr id="57" name="Straight Arrow Connector 52">
            <a:extLst>
              <a:ext uri="{FF2B5EF4-FFF2-40B4-BE49-F238E27FC236}">
                <a16:creationId xmlns:a16="http://schemas.microsoft.com/office/drawing/2014/main" id="{5EAAC2EB-CC7C-423E-A6B8-245425C12EED}"/>
              </a:ext>
            </a:extLst>
          </p:cNvPr>
          <p:cNvCxnSpPr>
            <a:cxnSpLocks/>
          </p:cNvCxnSpPr>
          <p:nvPr/>
        </p:nvCxnSpPr>
        <p:spPr bwMode="auto">
          <a:xfrm>
            <a:off x="4014533" y="3759455"/>
            <a:ext cx="381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58" name="Freeform 59">
            <a:extLst>
              <a:ext uri="{FF2B5EF4-FFF2-40B4-BE49-F238E27FC236}">
                <a16:creationId xmlns:a16="http://schemas.microsoft.com/office/drawing/2014/main" id="{AE5CE7E3-0C4D-442F-AB88-3F7383705BB0}"/>
              </a:ext>
            </a:extLst>
          </p:cNvPr>
          <p:cNvSpPr/>
          <p:nvPr/>
        </p:nvSpPr>
        <p:spPr bwMode="auto">
          <a:xfrm>
            <a:off x="3999957" y="4307094"/>
            <a:ext cx="390299" cy="914401"/>
          </a:xfrm>
          <a:custGeom>
            <a:avLst/>
            <a:gdLst>
              <a:gd name="connsiteX0" fmla="*/ 16042 w 256673"/>
              <a:gd name="connsiteY0" fmla="*/ 0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  <a:gd name="connsiteX0" fmla="*/ 383 w 256673"/>
              <a:gd name="connsiteY0" fmla="*/ 1337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73" h="513347">
                <a:moveTo>
                  <a:pt x="383" y="1337"/>
                </a:moveTo>
                <a:lnTo>
                  <a:pt x="256673" y="0"/>
                </a:lnTo>
                <a:lnTo>
                  <a:pt x="256673" y="513347"/>
                </a:lnTo>
                <a:lnTo>
                  <a:pt x="0" y="513347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60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59" name="Freeform 61">
            <a:extLst>
              <a:ext uri="{FF2B5EF4-FFF2-40B4-BE49-F238E27FC236}">
                <a16:creationId xmlns:a16="http://schemas.microsoft.com/office/drawing/2014/main" id="{CDAA633E-9F14-4E3D-B09D-175FC27CB9B8}"/>
              </a:ext>
            </a:extLst>
          </p:cNvPr>
          <p:cNvSpPr/>
          <p:nvPr/>
        </p:nvSpPr>
        <p:spPr bwMode="auto">
          <a:xfrm flipH="1">
            <a:off x="2133097" y="4346855"/>
            <a:ext cx="190459" cy="729821"/>
          </a:xfrm>
          <a:custGeom>
            <a:avLst/>
            <a:gdLst>
              <a:gd name="connsiteX0" fmla="*/ 16042 w 256673"/>
              <a:gd name="connsiteY0" fmla="*/ 0 h 513347"/>
              <a:gd name="connsiteX1" fmla="*/ 256673 w 256673"/>
              <a:gd name="connsiteY1" fmla="*/ 0 h 513347"/>
              <a:gd name="connsiteX2" fmla="*/ 256673 w 256673"/>
              <a:gd name="connsiteY2" fmla="*/ 513347 h 513347"/>
              <a:gd name="connsiteX3" fmla="*/ 0 w 256673"/>
              <a:gd name="connsiteY3" fmla="*/ 513347 h 51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73" h="513347">
                <a:moveTo>
                  <a:pt x="16042" y="0"/>
                </a:moveTo>
                <a:lnTo>
                  <a:pt x="256673" y="0"/>
                </a:lnTo>
                <a:lnTo>
                  <a:pt x="256673" y="513347"/>
                </a:lnTo>
                <a:lnTo>
                  <a:pt x="0" y="513347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60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61" name="Straight Arrow Connector 30">
            <a:extLst>
              <a:ext uri="{FF2B5EF4-FFF2-40B4-BE49-F238E27FC236}">
                <a16:creationId xmlns:a16="http://schemas.microsoft.com/office/drawing/2014/main" id="{C46D37DD-233F-4F2F-A86F-4CB119CAB53D}"/>
              </a:ext>
            </a:extLst>
          </p:cNvPr>
          <p:cNvCxnSpPr>
            <a:cxnSpLocks/>
          </p:cNvCxnSpPr>
          <p:nvPr/>
        </p:nvCxnSpPr>
        <p:spPr bwMode="auto">
          <a:xfrm>
            <a:off x="1729197" y="5305655"/>
            <a:ext cx="594360" cy="0"/>
          </a:xfrm>
          <a:prstGeom prst="straightConnector1">
            <a:avLst/>
          </a:prstGeom>
          <a:noFill/>
          <a:ln w="2857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0" name="Straight Arrow Connector 33">
            <a:extLst>
              <a:ext uri="{FF2B5EF4-FFF2-40B4-BE49-F238E27FC236}">
                <a16:creationId xmlns:a16="http://schemas.microsoft.com/office/drawing/2014/main" id="{DD651220-60A9-405F-8781-EA1CE7225ED5}"/>
              </a:ext>
            </a:extLst>
          </p:cNvPr>
          <p:cNvCxnSpPr>
            <a:cxnSpLocks/>
          </p:cNvCxnSpPr>
          <p:nvPr/>
        </p:nvCxnSpPr>
        <p:spPr bwMode="auto">
          <a:xfrm>
            <a:off x="1709666" y="4197545"/>
            <a:ext cx="594360" cy="0"/>
          </a:xfrm>
          <a:prstGeom prst="straightConnector1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1" name="TextBox 39">
            <a:extLst>
              <a:ext uri="{FF2B5EF4-FFF2-40B4-BE49-F238E27FC236}">
                <a16:creationId xmlns:a16="http://schemas.microsoft.com/office/drawing/2014/main" id="{734E64F1-F03C-4D42-BCD7-E81060B2C81F}"/>
              </a:ext>
            </a:extLst>
          </p:cNvPr>
          <p:cNvSpPr txBox="1"/>
          <p:nvPr/>
        </p:nvSpPr>
        <p:spPr>
          <a:xfrm>
            <a:off x="434443" y="4938468"/>
            <a:ext cx="827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时钟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Clock</a:t>
            </a:r>
          </a:p>
        </p:txBody>
      </p:sp>
      <p:sp>
        <p:nvSpPr>
          <p:cNvPr id="82" name="Rectangle 27">
            <a:extLst>
              <a:ext uri="{FF2B5EF4-FFF2-40B4-BE49-F238E27FC236}">
                <a16:creationId xmlns:a16="http://schemas.microsoft.com/office/drawing/2014/main" id="{D1C3A19A-F453-484A-BD69-B7EB3A560C4F}"/>
              </a:ext>
            </a:extLst>
          </p:cNvPr>
          <p:cNvSpPr/>
          <p:nvPr/>
        </p:nvSpPr>
        <p:spPr bwMode="auto">
          <a:xfrm>
            <a:off x="2323557" y="3550388"/>
            <a:ext cx="1676400" cy="40174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1000 – Total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83" name="Freeform 1">
            <a:extLst>
              <a:ext uri="{FF2B5EF4-FFF2-40B4-BE49-F238E27FC236}">
                <a16:creationId xmlns:a16="http://schemas.microsoft.com/office/drawing/2014/main" id="{4DFABC5E-CD3E-4E7E-B0E1-672E632AFE24}"/>
              </a:ext>
            </a:extLst>
          </p:cNvPr>
          <p:cNvSpPr/>
          <p:nvPr/>
        </p:nvSpPr>
        <p:spPr>
          <a:xfrm>
            <a:off x="2133099" y="3763821"/>
            <a:ext cx="170927" cy="577174"/>
          </a:xfrm>
          <a:custGeom>
            <a:avLst/>
            <a:gdLst>
              <a:gd name="connsiteX0" fmla="*/ 0 w 194553"/>
              <a:gd name="connsiteY0" fmla="*/ 577174 h 577174"/>
              <a:gd name="connsiteX1" fmla="*/ 0 w 194553"/>
              <a:gd name="connsiteY1" fmla="*/ 0 h 577174"/>
              <a:gd name="connsiteX2" fmla="*/ 194553 w 194553"/>
              <a:gd name="connsiteY2" fmla="*/ 0 h 577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553" h="577174">
                <a:moveTo>
                  <a:pt x="0" y="577174"/>
                </a:moveTo>
                <a:lnTo>
                  <a:pt x="0" y="0"/>
                </a:lnTo>
                <a:lnTo>
                  <a:pt x="194553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84" name="Rectangle 29">
            <a:extLst>
              <a:ext uri="{FF2B5EF4-FFF2-40B4-BE49-F238E27FC236}">
                <a16:creationId xmlns:a16="http://schemas.microsoft.com/office/drawing/2014/main" id="{7D6C609A-82C8-443B-8941-77DDF1BA33EF}"/>
              </a:ext>
            </a:extLst>
          </p:cNvPr>
          <p:cNvSpPr/>
          <p:nvPr/>
        </p:nvSpPr>
        <p:spPr bwMode="auto">
          <a:xfrm>
            <a:off x="2338133" y="4829086"/>
            <a:ext cx="1676400" cy="732000"/>
          </a:xfrm>
          <a:prstGeom prst="rect">
            <a:avLst/>
          </a:prstGeom>
          <a:solidFill>
            <a:srgbClr val="F0F9E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Total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DFF state</a:t>
            </a:r>
            <a:r>
              <a:rPr lang="zh-CN" altLang="en-US" sz="2000" dirty="0">
                <a:solidFill>
                  <a:schemeClr val="accent4"/>
                </a:solidFill>
                <a:latin typeface="+mj-lt"/>
                <a:ea typeface="+mj-ea"/>
                <a:cs typeface="Arial" panose="020B0604020202020204" pitchFamily="34" charset="0"/>
              </a:rPr>
              <a:t>）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85" name="TextBox 79">
            <a:extLst>
              <a:ext uri="{FF2B5EF4-FFF2-40B4-BE49-F238E27FC236}">
                <a16:creationId xmlns:a16="http://schemas.microsoft.com/office/drawing/2014/main" id="{16135CA0-3249-43B3-BC7F-4A0BE2BA9CAF}"/>
              </a:ext>
            </a:extLst>
          </p:cNvPr>
          <p:cNvSpPr txBox="1"/>
          <p:nvPr/>
        </p:nvSpPr>
        <p:spPr>
          <a:xfrm>
            <a:off x="4753746" y="4840800"/>
            <a:ext cx="4326890" cy="75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f(Input,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States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 algn="l">
              <a:lnSpc>
                <a:spcPct val="125000"/>
              </a:lnSpc>
              <a:defRPr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States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g(Input,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Previous States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86" name="Group 31">
            <a:extLst>
              <a:ext uri="{FF2B5EF4-FFF2-40B4-BE49-F238E27FC236}">
                <a16:creationId xmlns:a16="http://schemas.microsoft.com/office/drawing/2014/main" id="{3D39E4F1-A587-4DE2-B76A-098A17EA91FE}"/>
              </a:ext>
            </a:extLst>
          </p:cNvPr>
          <p:cNvGrpSpPr/>
          <p:nvPr/>
        </p:nvGrpSpPr>
        <p:grpSpPr>
          <a:xfrm>
            <a:off x="1371734" y="5864165"/>
            <a:ext cx="6575860" cy="857310"/>
            <a:chOff x="1143000" y="5181600"/>
            <a:chExt cx="6575860" cy="857310"/>
          </a:xfrm>
        </p:grpSpPr>
        <p:grpSp>
          <p:nvGrpSpPr>
            <p:cNvPr id="87" name="Group 32">
              <a:extLst>
                <a:ext uri="{FF2B5EF4-FFF2-40B4-BE49-F238E27FC236}">
                  <a16:creationId xmlns:a16="http://schemas.microsoft.com/office/drawing/2014/main" id="{5EDD2263-F161-43B0-B49F-C5784C267288}"/>
                </a:ext>
              </a:extLst>
            </p:cNvPr>
            <p:cNvGrpSpPr/>
            <p:nvPr/>
          </p:nvGrpSpPr>
          <p:grpSpPr>
            <a:xfrm>
              <a:off x="1143000" y="5181600"/>
              <a:ext cx="6575860" cy="857310"/>
              <a:chOff x="1143000" y="5410200"/>
              <a:chExt cx="6575860" cy="857310"/>
            </a:xfrm>
          </p:grpSpPr>
          <p:cxnSp>
            <p:nvCxnSpPr>
              <p:cNvPr id="100" name="Straight Arrow Connector 65">
                <a:extLst>
                  <a:ext uri="{FF2B5EF4-FFF2-40B4-BE49-F238E27FC236}">
                    <a16:creationId xmlns:a16="http://schemas.microsoft.com/office/drawing/2014/main" id="{0CC9A64E-0C28-4A89-8A6D-6D05912DB6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000" y="5715000"/>
                <a:ext cx="6476866" cy="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66">
                <a:extLst>
                  <a:ext uri="{FF2B5EF4-FFF2-40B4-BE49-F238E27FC236}">
                    <a16:creationId xmlns:a16="http://schemas.microsoft.com/office/drawing/2014/main" id="{321A5170-8CFE-4054-89AB-46C55B7D513C}"/>
                  </a:ext>
                </a:extLst>
              </p:cNvPr>
              <p:cNvCxnSpPr/>
              <p:nvPr/>
            </p:nvCxnSpPr>
            <p:spPr>
              <a:xfrm flipV="1">
                <a:off x="16764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67">
                <a:extLst>
                  <a:ext uri="{FF2B5EF4-FFF2-40B4-BE49-F238E27FC236}">
                    <a16:creationId xmlns:a16="http://schemas.microsoft.com/office/drawing/2014/main" id="{CA03908D-A7F4-48D6-8527-DBE8F60639A3}"/>
                  </a:ext>
                </a:extLst>
              </p:cNvPr>
              <p:cNvCxnSpPr/>
              <p:nvPr/>
            </p:nvCxnSpPr>
            <p:spPr>
              <a:xfrm flipV="1">
                <a:off x="21336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68">
                <a:extLst>
                  <a:ext uri="{FF2B5EF4-FFF2-40B4-BE49-F238E27FC236}">
                    <a16:creationId xmlns:a16="http://schemas.microsoft.com/office/drawing/2014/main" id="{5D9E4D68-C625-40C8-BD75-14DEF3E718CF}"/>
                  </a:ext>
                </a:extLst>
              </p:cNvPr>
              <p:cNvCxnSpPr/>
              <p:nvPr/>
            </p:nvCxnSpPr>
            <p:spPr>
              <a:xfrm flipV="1">
                <a:off x="25908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69">
                <a:extLst>
                  <a:ext uri="{FF2B5EF4-FFF2-40B4-BE49-F238E27FC236}">
                    <a16:creationId xmlns:a16="http://schemas.microsoft.com/office/drawing/2014/main" id="{C535D1E5-E80E-4841-9634-48948E608C17}"/>
                  </a:ext>
                </a:extLst>
              </p:cNvPr>
              <p:cNvCxnSpPr/>
              <p:nvPr/>
            </p:nvCxnSpPr>
            <p:spPr>
              <a:xfrm flipV="1">
                <a:off x="30480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70">
                <a:extLst>
                  <a:ext uri="{FF2B5EF4-FFF2-40B4-BE49-F238E27FC236}">
                    <a16:creationId xmlns:a16="http://schemas.microsoft.com/office/drawing/2014/main" id="{91B2733A-865D-4CB2-B139-EE8CEB5667AD}"/>
                  </a:ext>
                </a:extLst>
              </p:cNvPr>
              <p:cNvCxnSpPr/>
              <p:nvPr/>
            </p:nvCxnSpPr>
            <p:spPr>
              <a:xfrm flipV="1">
                <a:off x="35052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71">
                <a:extLst>
                  <a:ext uri="{FF2B5EF4-FFF2-40B4-BE49-F238E27FC236}">
                    <a16:creationId xmlns:a16="http://schemas.microsoft.com/office/drawing/2014/main" id="{19C0B198-CA75-4040-B6D9-A967579E2FCA}"/>
                  </a:ext>
                </a:extLst>
              </p:cNvPr>
              <p:cNvCxnSpPr/>
              <p:nvPr/>
            </p:nvCxnSpPr>
            <p:spPr>
              <a:xfrm flipV="1">
                <a:off x="39624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72">
                <a:extLst>
                  <a:ext uri="{FF2B5EF4-FFF2-40B4-BE49-F238E27FC236}">
                    <a16:creationId xmlns:a16="http://schemas.microsoft.com/office/drawing/2014/main" id="{08B45EBC-97B4-45BE-A0C4-6E4E045302FF}"/>
                  </a:ext>
                </a:extLst>
              </p:cNvPr>
              <p:cNvCxnSpPr/>
              <p:nvPr/>
            </p:nvCxnSpPr>
            <p:spPr>
              <a:xfrm flipV="1">
                <a:off x="44196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73">
                <a:extLst>
                  <a:ext uri="{FF2B5EF4-FFF2-40B4-BE49-F238E27FC236}">
                    <a16:creationId xmlns:a16="http://schemas.microsoft.com/office/drawing/2014/main" id="{E868F5E0-A100-43B9-A89E-E49E6563EF57}"/>
                  </a:ext>
                </a:extLst>
              </p:cNvPr>
              <p:cNvCxnSpPr/>
              <p:nvPr/>
            </p:nvCxnSpPr>
            <p:spPr>
              <a:xfrm flipV="1">
                <a:off x="48768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74">
                <a:extLst>
                  <a:ext uri="{FF2B5EF4-FFF2-40B4-BE49-F238E27FC236}">
                    <a16:creationId xmlns:a16="http://schemas.microsoft.com/office/drawing/2014/main" id="{17DE6A1F-D4D3-4D2E-99A1-CF2599D4AAFA}"/>
                  </a:ext>
                </a:extLst>
              </p:cNvPr>
              <p:cNvCxnSpPr/>
              <p:nvPr/>
            </p:nvCxnSpPr>
            <p:spPr>
              <a:xfrm flipV="1">
                <a:off x="53340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75">
                <a:extLst>
                  <a:ext uri="{FF2B5EF4-FFF2-40B4-BE49-F238E27FC236}">
                    <a16:creationId xmlns:a16="http://schemas.microsoft.com/office/drawing/2014/main" id="{5E4CD21F-899C-44E6-9793-AC9A0AF0E17F}"/>
                  </a:ext>
                </a:extLst>
              </p:cNvPr>
              <p:cNvCxnSpPr/>
              <p:nvPr/>
            </p:nvCxnSpPr>
            <p:spPr>
              <a:xfrm flipV="1">
                <a:off x="57912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76">
                <a:extLst>
                  <a:ext uri="{FF2B5EF4-FFF2-40B4-BE49-F238E27FC236}">
                    <a16:creationId xmlns:a16="http://schemas.microsoft.com/office/drawing/2014/main" id="{C51D31A3-C493-4079-8EE9-F29C53120F84}"/>
                  </a:ext>
                </a:extLst>
              </p:cNvPr>
              <p:cNvCxnSpPr/>
              <p:nvPr/>
            </p:nvCxnSpPr>
            <p:spPr>
              <a:xfrm flipV="1">
                <a:off x="62484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77">
                <a:extLst>
                  <a:ext uri="{FF2B5EF4-FFF2-40B4-BE49-F238E27FC236}">
                    <a16:creationId xmlns:a16="http://schemas.microsoft.com/office/drawing/2014/main" id="{87BBD411-5857-4321-BFA1-5F748F9AAEC8}"/>
                  </a:ext>
                </a:extLst>
              </p:cNvPr>
              <p:cNvCxnSpPr/>
              <p:nvPr/>
            </p:nvCxnSpPr>
            <p:spPr>
              <a:xfrm flipV="1">
                <a:off x="6705600" y="5410200"/>
                <a:ext cx="0" cy="304800"/>
              </a:xfrm>
              <a:prstGeom prst="line">
                <a:avLst/>
              </a:prstGeom>
              <a:ln w="28575">
                <a:solidFill>
                  <a:srgbClr val="0432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78">
                <a:extLst>
                  <a:ext uri="{FF2B5EF4-FFF2-40B4-BE49-F238E27FC236}">
                    <a16:creationId xmlns:a16="http://schemas.microsoft.com/office/drawing/2014/main" id="{3285C5B5-53F5-4462-AB00-BB1A55E38994}"/>
                  </a:ext>
                </a:extLst>
              </p:cNvPr>
              <p:cNvSpPr txBox="1"/>
              <p:nvPr/>
            </p:nvSpPr>
            <p:spPr>
              <a:xfrm>
                <a:off x="7021233" y="5867400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7030A0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日期</a:t>
                </a:r>
                <a:endParaRPr lang="en-CN" sz="2000" dirty="0">
                  <a:solidFill>
                    <a:srgbClr val="7030A0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8" name="TextBox 34">
              <a:extLst>
                <a:ext uri="{FF2B5EF4-FFF2-40B4-BE49-F238E27FC236}">
                  <a16:creationId xmlns:a16="http://schemas.microsoft.com/office/drawing/2014/main" id="{205441D9-14D1-41E9-973D-8D70CFFA728C}"/>
                </a:ext>
              </a:extLst>
            </p:cNvPr>
            <p:cNvSpPr txBox="1"/>
            <p:nvPr/>
          </p:nvSpPr>
          <p:spPr>
            <a:xfrm>
              <a:off x="1459834" y="5546466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3/1</a:t>
              </a:r>
            </a:p>
          </p:txBody>
        </p:sp>
        <p:sp>
          <p:nvSpPr>
            <p:cNvPr id="89" name="TextBox 35">
              <a:extLst>
                <a:ext uri="{FF2B5EF4-FFF2-40B4-BE49-F238E27FC236}">
                  <a16:creationId xmlns:a16="http://schemas.microsoft.com/office/drawing/2014/main" id="{42DAC1CE-7834-4D32-9F41-4E64B1386C68}"/>
                </a:ext>
              </a:extLst>
            </p:cNvPr>
            <p:cNvSpPr txBox="1"/>
            <p:nvPr/>
          </p:nvSpPr>
          <p:spPr>
            <a:xfrm>
              <a:off x="1917034" y="5544305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3/2</a:t>
              </a:r>
            </a:p>
          </p:txBody>
        </p:sp>
        <p:sp>
          <p:nvSpPr>
            <p:cNvPr id="90" name="TextBox 37">
              <a:extLst>
                <a:ext uri="{FF2B5EF4-FFF2-40B4-BE49-F238E27FC236}">
                  <a16:creationId xmlns:a16="http://schemas.microsoft.com/office/drawing/2014/main" id="{AD9D4B10-2CF1-496D-B63C-6716C9DB7833}"/>
                </a:ext>
              </a:extLst>
            </p:cNvPr>
            <p:cNvSpPr txBox="1"/>
            <p:nvPr/>
          </p:nvSpPr>
          <p:spPr>
            <a:xfrm>
              <a:off x="2374234" y="5542144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3/3</a:t>
              </a:r>
            </a:p>
          </p:txBody>
        </p:sp>
        <p:sp>
          <p:nvSpPr>
            <p:cNvPr id="91" name="TextBox 38">
              <a:extLst>
                <a:ext uri="{FF2B5EF4-FFF2-40B4-BE49-F238E27FC236}">
                  <a16:creationId xmlns:a16="http://schemas.microsoft.com/office/drawing/2014/main" id="{785F6D44-ACB8-4230-9A0B-C552C60195C2}"/>
                </a:ext>
              </a:extLst>
            </p:cNvPr>
            <p:cNvSpPr txBox="1"/>
            <p:nvPr/>
          </p:nvSpPr>
          <p:spPr>
            <a:xfrm>
              <a:off x="2831434" y="5539983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3/4</a:t>
              </a:r>
            </a:p>
          </p:txBody>
        </p:sp>
        <p:sp>
          <p:nvSpPr>
            <p:cNvPr id="92" name="TextBox 42">
              <a:extLst>
                <a:ext uri="{FF2B5EF4-FFF2-40B4-BE49-F238E27FC236}">
                  <a16:creationId xmlns:a16="http://schemas.microsoft.com/office/drawing/2014/main" id="{7A0B1E91-6DDC-4110-AAD8-F726CEA14897}"/>
                </a:ext>
              </a:extLst>
            </p:cNvPr>
            <p:cNvSpPr txBox="1"/>
            <p:nvPr/>
          </p:nvSpPr>
          <p:spPr>
            <a:xfrm>
              <a:off x="3288634" y="5537822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3/5</a:t>
              </a:r>
            </a:p>
          </p:txBody>
        </p:sp>
        <p:sp>
          <p:nvSpPr>
            <p:cNvPr id="93" name="TextBox 43">
              <a:extLst>
                <a:ext uri="{FF2B5EF4-FFF2-40B4-BE49-F238E27FC236}">
                  <a16:creationId xmlns:a16="http://schemas.microsoft.com/office/drawing/2014/main" id="{978FD9D7-55A8-4290-A50F-A08A2E08DF93}"/>
                </a:ext>
              </a:extLst>
            </p:cNvPr>
            <p:cNvSpPr txBox="1"/>
            <p:nvPr/>
          </p:nvSpPr>
          <p:spPr>
            <a:xfrm>
              <a:off x="3745834" y="5535661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3/6</a:t>
              </a:r>
            </a:p>
          </p:txBody>
        </p:sp>
        <p:sp>
          <p:nvSpPr>
            <p:cNvPr id="94" name="TextBox 45">
              <a:extLst>
                <a:ext uri="{FF2B5EF4-FFF2-40B4-BE49-F238E27FC236}">
                  <a16:creationId xmlns:a16="http://schemas.microsoft.com/office/drawing/2014/main" id="{F07BE89D-F06F-426A-8F79-114E737420A2}"/>
                </a:ext>
              </a:extLst>
            </p:cNvPr>
            <p:cNvSpPr txBox="1"/>
            <p:nvPr/>
          </p:nvSpPr>
          <p:spPr>
            <a:xfrm>
              <a:off x="4203034" y="5533500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3/7</a:t>
              </a:r>
            </a:p>
          </p:txBody>
        </p:sp>
        <p:sp>
          <p:nvSpPr>
            <p:cNvPr id="95" name="TextBox 54">
              <a:extLst>
                <a:ext uri="{FF2B5EF4-FFF2-40B4-BE49-F238E27FC236}">
                  <a16:creationId xmlns:a16="http://schemas.microsoft.com/office/drawing/2014/main" id="{DDB6F186-26BB-4727-AA41-8357455170CD}"/>
                </a:ext>
              </a:extLst>
            </p:cNvPr>
            <p:cNvSpPr txBox="1"/>
            <p:nvPr/>
          </p:nvSpPr>
          <p:spPr>
            <a:xfrm>
              <a:off x="4660234" y="5531339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3/8</a:t>
              </a:r>
            </a:p>
          </p:txBody>
        </p:sp>
        <p:sp>
          <p:nvSpPr>
            <p:cNvPr id="96" name="TextBox 55">
              <a:extLst>
                <a:ext uri="{FF2B5EF4-FFF2-40B4-BE49-F238E27FC236}">
                  <a16:creationId xmlns:a16="http://schemas.microsoft.com/office/drawing/2014/main" id="{8BD889D4-719B-49A7-892B-86B84304492E}"/>
                </a:ext>
              </a:extLst>
            </p:cNvPr>
            <p:cNvSpPr txBox="1"/>
            <p:nvPr/>
          </p:nvSpPr>
          <p:spPr>
            <a:xfrm>
              <a:off x="5117434" y="5529178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3/9</a:t>
              </a:r>
            </a:p>
          </p:txBody>
        </p:sp>
        <p:sp>
          <p:nvSpPr>
            <p:cNvPr id="97" name="TextBox 62">
              <a:extLst>
                <a:ext uri="{FF2B5EF4-FFF2-40B4-BE49-F238E27FC236}">
                  <a16:creationId xmlns:a16="http://schemas.microsoft.com/office/drawing/2014/main" id="{7F537710-56D8-424F-B562-CA6940438E74}"/>
                </a:ext>
              </a:extLst>
            </p:cNvPr>
            <p:cNvSpPr txBox="1"/>
            <p:nvPr/>
          </p:nvSpPr>
          <p:spPr>
            <a:xfrm>
              <a:off x="5524941" y="5527017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3/10</a:t>
              </a:r>
            </a:p>
          </p:txBody>
        </p:sp>
        <p:sp>
          <p:nvSpPr>
            <p:cNvPr id="98" name="TextBox 63">
              <a:extLst>
                <a:ext uri="{FF2B5EF4-FFF2-40B4-BE49-F238E27FC236}">
                  <a16:creationId xmlns:a16="http://schemas.microsoft.com/office/drawing/2014/main" id="{E601B48F-9524-4D05-88D7-CEEB5D301108}"/>
                </a:ext>
              </a:extLst>
            </p:cNvPr>
            <p:cNvSpPr txBox="1"/>
            <p:nvPr/>
          </p:nvSpPr>
          <p:spPr>
            <a:xfrm>
              <a:off x="5987078" y="5524856"/>
              <a:ext cx="5226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3/11</a:t>
              </a:r>
            </a:p>
          </p:txBody>
        </p:sp>
        <p:sp>
          <p:nvSpPr>
            <p:cNvPr id="99" name="TextBox 64">
              <a:extLst>
                <a:ext uri="{FF2B5EF4-FFF2-40B4-BE49-F238E27FC236}">
                  <a16:creationId xmlns:a16="http://schemas.microsoft.com/office/drawing/2014/main" id="{D17D1C67-C9CA-44B7-B5E0-067D005F0D5C}"/>
                </a:ext>
              </a:extLst>
            </p:cNvPr>
            <p:cNvSpPr txBox="1"/>
            <p:nvPr/>
          </p:nvSpPr>
          <p:spPr>
            <a:xfrm>
              <a:off x="6439341" y="5522695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dirty="0"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3/12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739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103B-3E86-EA43-81D9-521091A7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为什么需要时序</a:t>
            </a:r>
            <a:r>
              <a:rPr lang="en-CN"/>
              <a:t>?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62E1-8181-7243-85AE-F1DDB7D50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15" y="1351358"/>
            <a:ext cx="8229600" cy="924272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3333FF"/>
                </a:solidFill>
              </a:rPr>
              <a:t>更好组织计算</a:t>
            </a:r>
            <a:r>
              <a:rPr lang="en-CN" sz="2800" b="1" dirty="0">
                <a:solidFill>
                  <a:srgbClr val="3333FF"/>
                </a:solidFill>
              </a:rPr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907DD-6104-774A-B9B0-174E75B8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CEAEBA-1577-3F4F-8766-8E320846BF54}"/>
              </a:ext>
            </a:extLst>
          </p:cNvPr>
          <p:cNvSpPr txBox="1"/>
          <p:nvPr/>
        </p:nvSpPr>
        <p:spPr>
          <a:xfrm>
            <a:off x="2188265" y="4950853"/>
            <a:ext cx="62662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itchFamily="2" charset="2"/>
              <a:buChar char="ü"/>
            </a:pP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D 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应该在采样开始之前准备好</a:t>
            </a: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: </a:t>
            </a:r>
            <a:r>
              <a:rPr lang="en-CN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e</a:t>
            </a:r>
            <a:r>
              <a:rPr lang="en-US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CN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=</a:t>
            </a:r>
            <a:r>
              <a:rPr lang="en-US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CN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f(x,s)</a:t>
            </a:r>
            <a:r>
              <a:rPr lang="en-US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+mn-lt"/>
                <a:ea typeface="+mn-ea"/>
                <a:cs typeface="Arial" panose="020B0604020202020204" pitchFamily="34" charset="0"/>
                <a:sym typeface="Wingdings" pitchFamily="2" charset="2"/>
              </a:rPr>
              <a:t>→ </a:t>
            </a: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Wingdings" pitchFamily="2" charset="2"/>
              </a:rPr>
              <a:t>D</a:t>
            </a: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可能因为一个慢的反馈环路花费太多时间</a:t>
            </a: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!</a:t>
            </a:r>
          </a:p>
          <a:p>
            <a:pPr marL="342900" indent="-342900" algn="l">
              <a:buFont typeface="Wingdings" pitchFamily="2" charset="2"/>
              <a:buChar char="ü"/>
            </a:pPr>
            <a:endParaRPr lang="en-CN" sz="20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D 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应该在采样开始后保持稳定</a:t>
            </a: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: </a:t>
            </a:r>
            <a:r>
              <a:rPr lang="en-CN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e</a:t>
            </a:r>
            <a:r>
              <a:rPr lang="en-US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CN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=</a:t>
            </a:r>
            <a:r>
              <a:rPr lang="en-US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CN" sz="2000" i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f(x,s)</a:t>
            </a:r>
            <a:r>
              <a:rPr lang="zh-CN" altLang="en-US" sz="2000" dirty="0">
                <a:cs typeface="Arial" panose="020B0604020202020204" pitchFamily="34" charset="0"/>
                <a:sym typeface="Wingdings" pitchFamily="2" charset="2"/>
              </a:rPr>
              <a:t> → </a:t>
            </a: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Wingdings" pitchFamily="2" charset="2"/>
              </a:rPr>
              <a:t>D</a:t>
            </a: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可能因为一个快的反馈环路而被破坏</a:t>
            </a:r>
            <a:r>
              <a:rPr lang="en-CN" sz="20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86" name="Picture 2" descr="Image result for 接力 icon">
            <a:extLst>
              <a:ext uri="{FF2B5EF4-FFF2-40B4-BE49-F238E27FC236}">
                <a16:creationId xmlns:a16="http://schemas.microsoft.com/office/drawing/2014/main" id="{B09CF525-2CEC-8F4D-9B33-AEF5F5B8D7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02" b="29082"/>
          <a:stretch/>
        </p:blipFill>
        <p:spPr bwMode="auto">
          <a:xfrm>
            <a:off x="89302" y="5200315"/>
            <a:ext cx="2019300" cy="119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Rectangle 63">
            <a:extLst>
              <a:ext uri="{FF2B5EF4-FFF2-40B4-BE49-F238E27FC236}">
                <a16:creationId xmlns:a16="http://schemas.microsoft.com/office/drawing/2014/main" id="{15202FA6-A3ED-481F-BFDD-1D9D818E627F}"/>
              </a:ext>
            </a:extLst>
          </p:cNvPr>
          <p:cNvSpPr/>
          <p:nvPr/>
        </p:nvSpPr>
        <p:spPr bwMode="auto">
          <a:xfrm>
            <a:off x="1389687" y="2109140"/>
            <a:ext cx="1597160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(x, s)</a:t>
            </a:r>
            <a:endParaRPr kumimoji="0" lang="en-US" altLang="zh-CN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2" name="TextBox 64">
            <a:extLst>
              <a:ext uri="{FF2B5EF4-FFF2-40B4-BE49-F238E27FC236}">
                <a16:creationId xmlns:a16="http://schemas.microsoft.com/office/drawing/2014/main" id="{55F1FBBB-8B01-4416-83CA-DC6163CEF9C6}"/>
              </a:ext>
            </a:extLst>
          </p:cNvPr>
          <p:cNvSpPr txBox="1"/>
          <p:nvPr/>
        </p:nvSpPr>
        <p:spPr>
          <a:xfrm>
            <a:off x="32054" y="3192149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0" lang="en-US" sz="20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65">
            <a:extLst>
              <a:ext uri="{FF2B5EF4-FFF2-40B4-BE49-F238E27FC236}">
                <a16:creationId xmlns:a16="http://schemas.microsoft.com/office/drawing/2014/main" id="{AAECB4D9-8A92-46D5-AC2C-208B6D139CAF}"/>
              </a:ext>
            </a:extLst>
          </p:cNvPr>
          <p:cNvSpPr txBox="1"/>
          <p:nvPr/>
        </p:nvSpPr>
        <p:spPr>
          <a:xfrm>
            <a:off x="3445050" y="2092174"/>
            <a:ext cx="1279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f(x, s)</a:t>
            </a:r>
            <a:endParaRPr kumimoji="0" lang="en-US" sz="20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" name="Straight Arrow Connector 66">
            <a:extLst>
              <a:ext uri="{FF2B5EF4-FFF2-40B4-BE49-F238E27FC236}">
                <a16:creationId xmlns:a16="http://schemas.microsoft.com/office/drawing/2014/main" id="{DDD9F820-A933-4759-BC2D-50EA9AF8170E}"/>
              </a:ext>
            </a:extLst>
          </p:cNvPr>
          <p:cNvCxnSpPr>
            <a:cxnSpLocks/>
          </p:cNvCxnSpPr>
          <p:nvPr/>
        </p:nvCxnSpPr>
        <p:spPr bwMode="auto">
          <a:xfrm>
            <a:off x="2992623" y="2315213"/>
            <a:ext cx="603594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5" name="Rectangle 67">
            <a:extLst>
              <a:ext uri="{FF2B5EF4-FFF2-40B4-BE49-F238E27FC236}">
                <a16:creationId xmlns:a16="http://schemas.microsoft.com/office/drawing/2014/main" id="{94E1DCA3-C27F-46DF-8E28-49CF92AE125C}"/>
              </a:ext>
            </a:extLst>
          </p:cNvPr>
          <p:cNvSpPr/>
          <p:nvPr/>
        </p:nvSpPr>
        <p:spPr bwMode="auto">
          <a:xfrm>
            <a:off x="1404714" y="3945724"/>
            <a:ext cx="1597160" cy="68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States </a:t>
            </a:r>
            <a:r>
              <a:rPr kumimoji="0" lang="en-US" altLang="zh-CN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kumimoji="0" lang="en-US" altLang="zh-CN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</a:t>
            </a:r>
            <a:r>
              <a:rPr kumimoji="0" lang="en-US" altLang="zh-CN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</a:t>
            </a:r>
            <a:r>
              <a:rPr lang="en-US" baseline="30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= </a:t>
            </a:r>
            <a:r>
              <a:rPr lang="en-US" i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h(s, e)</a:t>
            </a:r>
            <a:endParaRPr kumimoji="0" lang="en-US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06" name="Straight Arrow Connector 68">
            <a:extLst>
              <a:ext uri="{FF2B5EF4-FFF2-40B4-BE49-F238E27FC236}">
                <a16:creationId xmlns:a16="http://schemas.microsoft.com/office/drawing/2014/main" id="{B0364310-9C62-4459-B294-F60534EF87CE}"/>
              </a:ext>
            </a:extLst>
          </p:cNvPr>
          <p:cNvCxnSpPr>
            <a:cxnSpLocks/>
          </p:cNvCxnSpPr>
          <p:nvPr/>
        </p:nvCxnSpPr>
        <p:spPr bwMode="auto">
          <a:xfrm>
            <a:off x="1000027" y="4308674"/>
            <a:ext cx="41148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7" name="Straight Arrow Connector 69">
            <a:extLst>
              <a:ext uri="{FF2B5EF4-FFF2-40B4-BE49-F238E27FC236}">
                <a16:creationId xmlns:a16="http://schemas.microsoft.com/office/drawing/2014/main" id="{EF1422AE-52F1-444B-BC2B-7AEF09D0168D}"/>
              </a:ext>
            </a:extLst>
          </p:cNvPr>
          <p:cNvCxnSpPr>
            <a:cxnSpLocks/>
          </p:cNvCxnSpPr>
          <p:nvPr/>
        </p:nvCxnSpPr>
        <p:spPr bwMode="auto">
          <a:xfrm>
            <a:off x="1000027" y="3404687"/>
            <a:ext cx="41148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8" name="TextBox 70">
            <a:extLst>
              <a:ext uri="{FF2B5EF4-FFF2-40B4-BE49-F238E27FC236}">
                <a16:creationId xmlns:a16="http://schemas.microsoft.com/office/drawing/2014/main" id="{0F5F0B99-4745-4DE3-9CAB-C1C93B677EB9}"/>
              </a:ext>
            </a:extLst>
          </p:cNvPr>
          <p:cNvSpPr txBox="1"/>
          <p:nvPr/>
        </p:nvSpPr>
        <p:spPr>
          <a:xfrm>
            <a:off x="89302" y="4107480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</a:p>
        </p:txBody>
      </p:sp>
      <p:sp>
        <p:nvSpPr>
          <p:cNvPr id="109" name="Rectangle 71">
            <a:extLst>
              <a:ext uri="{FF2B5EF4-FFF2-40B4-BE49-F238E27FC236}">
                <a16:creationId xmlns:a16="http://schemas.microsoft.com/office/drawing/2014/main" id="{42274189-E82B-4612-96D5-D5024965DB45}"/>
              </a:ext>
            </a:extLst>
          </p:cNvPr>
          <p:cNvSpPr/>
          <p:nvPr/>
        </p:nvSpPr>
        <p:spPr bwMode="auto">
          <a:xfrm>
            <a:off x="1389685" y="3027432"/>
            <a:ext cx="1597160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 </a:t>
            </a:r>
            <a:r>
              <a:rPr kumimoji="0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g(x, s)</a:t>
            </a:r>
          </a:p>
        </p:txBody>
      </p:sp>
      <p:sp>
        <p:nvSpPr>
          <p:cNvPr id="110" name="Freeform 72">
            <a:extLst>
              <a:ext uri="{FF2B5EF4-FFF2-40B4-BE49-F238E27FC236}">
                <a16:creationId xmlns:a16="http://schemas.microsoft.com/office/drawing/2014/main" id="{6AAA7F9D-6CE3-422D-AC4D-56648283A3C2}"/>
              </a:ext>
            </a:extLst>
          </p:cNvPr>
          <p:cNvSpPr/>
          <p:nvPr/>
        </p:nvSpPr>
        <p:spPr>
          <a:xfrm>
            <a:off x="1411506" y="4222984"/>
            <a:ext cx="114695" cy="169101"/>
          </a:xfrm>
          <a:custGeom>
            <a:avLst/>
            <a:gdLst>
              <a:gd name="connsiteX0" fmla="*/ 0 w 87682"/>
              <a:gd name="connsiteY0" fmla="*/ 0 h 169101"/>
              <a:gd name="connsiteX1" fmla="*/ 87682 w 87682"/>
              <a:gd name="connsiteY1" fmla="*/ 87682 h 169101"/>
              <a:gd name="connsiteX2" fmla="*/ 6263 w 87682"/>
              <a:gd name="connsiteY2" fmla="*/ 169101 h 16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682" h="169101">
                <a:moveTo>
                  <a:pt x="0" y="0"/>
                </a:moveTo>
                <a:lnTo>
                  <a:pt x="87682" y="87682"/>
                </a:lnTo>
                <a:lnTo>
                  <a:pt x="6263" y="169101"/>
                </a:lnTo>
              </a:path>
            </a:pathLst>
          </a:cu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1" name="Freeform 73">
            <a:extLst>
              <a:ext uri="{FF2B5EF4-FFF2-40B4-BE49-F238E27FC236}">
                <a16:creationId xmlns:a16="http://schemas.microsoft.com/office/drawing/2014/main" id="{A38B2BBA-A686-4B4A-A970-49E7F342AAB7}"/>
              </a:ext>
            </a:extLst>
          </p:cNvPr>
          <p:cNvSpPr/>
          <p:nvPr/>
        </p:nvSpPr>
        <p:spPr>
          <a:xfrm>
            <a:off x="2992555" y="2644709"/>
            <a:ext cx="469726" cy="1857138"/>
          </a:xfrm>
          <a:custGeom>
            <a:avLst/>
            <a:gdLst>
              <a:gd name="connsiteX0" fmla="*/ 25052 w 469726"/>
              <a:gd name="connsiteY0" fmla="*/ 2198317 h 2198317"/>
              <a:gd name="connsiteX1" fmla="*/ 469726 w 469726"/>
              <a:gd name="connsiteY1" fmla="*/ 2198317 h 2198317"/>
              <a:gd name="connsiteX2" fmla="*/ 469726 w 469726"/>
              <a:gd name="connsiteY2" fmla="*/ 0 h 2198317"/>
              <a:gd name="connsiteX3" fmla="*/ 0 w 469726"/>
              <a:gd name="connsiteY3" fmla="*/ 0 h 219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26" h="2198317">
                <a:moveTo>
                  <a:pt x="25052" y="2198317"/>
                </a:moveTo>
                <a:lnTo>
                  <a:pt x="469726" y="2198317"/>
                </a:lnTo>
                <a:lnTo>
                  <a:pt x="469726" y="0"/>
                </a:lnTo>
                <a:lnTo>
                  <a:pt x="0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2" name="Freeform 74">
            <a:extLst>
              <a:ext uri="{FF2B5EF4-FFF2-40B4-BE49-F238E27FC236}">
                <a16:creationId xmlns:a16="http://schemas.microsoft.com/office/drawing/2014/main" id="{DBC8A093-F5A6-4447-A3B8-17DF0B5FE61B}"/>
              </a:ext>
            </a:extLst>
          </p:cNvPr>
          <p:cNvSpPr/>
          <p:nvPr/>
        </p:nvSpPr>
        <p:spPr>
          <a:xfrm>
            <a:off x="2986725" y="3581688"/>
            <a:ext cx="268945" cy="568929"/>
          </a:xfrm>
          <a:custGeom>
            <a:avLst/>
            <a:gdLst>
              <a:gd name="connsiteX0" fmla="*/ 0 w 231731"/>
              <a:gd name="connsiteY0" fmla="*/ 0 h 901874"/>
              <a:gd name="connsiteX1" fmla="*/ 231731 w 231731"/>
              <a:gd name="connsiteY1" fmla="*/ 0 h 901874"/>
              <a:gd name="connsiteX2" fmla="*/ 231731 w 231731"/>
              <a:gd name="connsiteY2" fmla="*/ 901874 h 901874"/>
              <a:gd name="connsiteX3" fmla="*/ 31315 w 231731"/>
              <a:gd name="connsiteY3" fmla="*/ 901874 h 901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731" h="901874">
                <a:moveTo>
                  <a:pt x="0" y="0"/>
                </a:moveTo>
                <a:lnTo>
                  <a:pt x="231731" y="0"/>
                </a:lnTo>
                <a:lnTo>
                  <a:pt x="231731" y="901874"/>
                </a:lnTo>
                <a:lnTo>
                  <a:pt x="31315" y="901874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3" name="Freeform 75">
            <a:extLst>
              <a:ext uri="{FF2B5EF4-FFF2-40B4-BE49-F238E27FC236}">
                <a16:creationId xmlns:a16="http://schemas.microsoft.com/office/drawing/2014/main" id="{FB52F14A-D60C-4B60-BDD0-6EC7C87069AD}"/>
              </a:ext>
            </a:extLst>
          </p:cNvPr>
          <p:cNvSpPr/>
          <p:nvPr/>
        </p:nvSpPr>
        <p:spPr>
          <a:xfrm>
            <a:off x="2992555" y="3245344"/>
            <a:ext cx="475989" cy="0"/>
          </a:xfrm>
          <a:custGeom>
            <a:avLst/>
            <a:gdLst>
              <a:gd name="connsiteX0" fmla="*/ 475989 w 475989"/>
              <a:gd name="connsiteY0" fmla="*/ 0 h 0"/>
              <a:gd name="connsiteX1" fmla="*/ 0 w 47598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989">
                <a:moveTo>
                  <a:pt x="475989" y="0"/>
                </a:moveTo>
                <a:lnTo>
                  <a:pt x="0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4" name="Freeform 57">
            <a:extLst>
              <a:ext uri="{FF2B5EF4-FFF2-40B4-BE49-F238E27FC236}">
                <a16:creationId xmlns:a16="http://schemas.microsoft.com/office/drawing/2014/main" id="{7FFE9A6E-5377-42D6-A6AD-7068439E25D8}"/>
              </a:ext>
            </a:extLst>
          </p:cNvPr>
          <p:cNvSpPr/>
          <p:nvPr/>
        </p:nvSpPr>
        <p:spPr>
          <a:xfrm>
            <a:off x="1177451" y="2471306"/>
            <a:ext cx="221064" cy="934598"/>
          </a:xfrm>
          <a:custGeom>
            <a:avLst/>
            <a:gdLst>
              <a:gd name="connsiteX0" fmla="*/ 0 w 221064"/>
              <a:gd name="connsiteY0" fmla="*/ 1155560 h 1155560"/>
              <a:gd name="connsiteX1" fmla="*/ 0 w 221064"/>
              <a:gd name="connsiteY1" fmla="*/ 0 h 1155560"/>
              <a:gd name="connsiteX2" fmla="*/ 221064 w 221064"/>
              <a:gd name="connsiteY2" fmla="*/ 0 h 115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064" h="1155560">
                <a:moveTo>
                  <a:pt x="0" y="1155560"/>
                </a:moveTo>
                <a:lnTo>
                  <a:pt x="0" y="0"/>
                </a:lnTo>
                <a:lnTo>
                  <a:pt x="221064" y="0"/>
                </a:lnTo>
              </a:path>
            </a:pathLst>
          </a:custGeom>
          <a:noFill/>
          <a:ln w="44450">
            <a:solidFill>
              <a:srgbClr val="0432FF"/>
            </a:solidFill>
            <a:prstDash val="dash"/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b="0" dirty="0"/>
          </a:p>
        </p:txBody>
      </p:sp>
      <p:sp>
        <p:nvSpPr>
          <p:cNvPr id="115" name="TextBox 154">
            <a:extLst>
              <a:ext uri="{FF2B5EF4-FFF2-40B4-BE49-F238E27FC236}">
                <a16:creationId xmlns:a16="http://schemas.microsoft.com/office/drawing/2014/main" id="{EC9A31B7-C7CA-4D27-824B-A75235BFA53B}"/>
              </a:ext>
            </a:extLst>
          </p:cNvPr>
          <p:cNvSpPr txBox="1"/>
          <p:nvPr/>
        </p:nvSpPr>
        <p:spPr>
          <a:xfrm>
            <a:off x="2971170" y="3668524"/>
            <a:ext cx="1356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e </a:t>
            </a:r>
            <a:r>
              <a:rPr lang="en-US" sz="2000" dirty="0"/>
              <a:t>=</a:t>
            </a:r>
            <a:r>
              <a:rPr lang="en-US" sz="2000" i="1" dirty="0"/>
              <a:t> g(x, s)</a:t>
            </a:r>
            <a:endParaRPr lang="en-CN" sz="2000" i="1" dirty="0"/>
          </a:p>
        </p:txBody>
      </p:sp>
      <p:sp>
        <p:nvSpPr>
          <p:cNvPr id="116" name="Rectangle 63">
            <a:extLst>
              <a:ext uri="{FF2B5EF4-FFF2-40B4-BE49-F238E27FC236}">
                <a16:creationId xmlns:a16="http://schemas.microsoft.com/office/drawing/2014/main" id="{B949316F-BFF2-480B-A8D5-71B8FF78B406}"/>
              </a:ext>
            </a:extLst>
          </p:cNvPr>
          <p:cNvSpPr/>
          <p:nvPr/>
        </p:nvSpPr>
        <p:spPr bwMode="auto">
          <a:xfrm>
            <a:off x="5789054" y="2131564"/>
            <a:ext cx="1597160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(x, s)</a:t>
            </a:r>
            <a:endParaRPr kumimoji="0" lang="en-US" altLang="zh-CN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7" name="TextBox 64">
            <a:extLst>
              <a:ext uri="{FF2B5EF4-FFF2-40B4-BE49-F238E27FC236}">
                <a16:creationId xmlns:a16="http://schemas.microsoft.com/office/drawing/2014/main" id="{FE96FB93-F2CC-44E2-8869-086F69E770C2}"/>
              </a:ext>
            </a:extLst>
          </p:cNvPr>
          <p:cNvSpPr txBox="1"/>
          <p:nvPr/>
        </p:nvSpPr>
        <p:spPr>
          <a:xfrm>
            <a:off x="4431421" y="3214573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0" lang="en-US" sz="20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65">
            <a:extLst>
              <a:ext uri="{FF2B5EF4-FFF2-40B4-BE49-F238E27FC236}">
                <a16:creationId xmlns:a16="http://schemas.microsoft.com/office/drawing/2014/main" id="{87D07EBC-CC68-4175-82F3-2016D32DC77E}"/>
              </a:ext>
            </a:extLst>
          </p:cNvPr>
          <p:cNvSpPr txBox="1"/>
          <p:nvPr/>
        </p:nvSpPr>
        <p:spPr>
          <a:xfrm>
            <a:off x="7844417" y="2114598"/>
            <a:ext cx="1279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f(x, s)</a:t>
            </a:r>
            <a:endParaRPr kumimoji="0" lang="en-US" sz="20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9" name="Straight Arrow Connector 66">
            <a:extLst>
              <a:ext uri="{FF2B5EF4-FFF2-40B4-BE49-F238E27FC236}">
                <a16:creationId xmlns:a16="http://schemas.microsoft.com/office/drawing/2014/main" id="{C4F9AC45-ADE4-4122-B49E-41C7CD29827B}"/>
              </a:ext>
            </a:extLst>
          </p:cNvPr>
          <p:cNvCxnSpPr>
            <a:cxnSpLocks/>
          </p:cNvCxnSpPr>
          <p:nvPr/>
        </p:nvCxnSpPr>
        <p:spPr bwMode="auto">
          <a:xfrm>
            <a:off x="7391990" y="2337637"/>
            <a:ext cx="603594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21" name="Straight Arrow Connector 68">
            <a:extLst>
              <a:ext uri="{FF2B5EF4-FFF2-40B4-BE49-F238E27FC236}">
                <a16:creationId xmlns:a16="http://schemas.microsoft.com/office/drawing/2014/main" id="{A63752B6-CBD5-4B33-9738-29D1474AD554}"/>
              </a:ext>
            </a:extLst>
          </p:cNvPr>
          <p:cNvCxnSpPr>
            <a:cxnSpLocks/>
          </p:cNvCxnSpPr>
          <p:nvPr/>
        </p:nvCxnSpPr>
        <p:spPr bwMode="auto">
          <a:xfrm>
            <a:off x="5399394" y="4331098"/>
            <a:ext cx="41148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22" name="Straight Arrow Connector 69">
            <a:extLst>
              <a:ext uri="{FF2B5EF4-FFF2-40B4-BE49-F238E27FC236}">
                <a16:creationId xmlns:a16="http://schemas.microsoft.com/office/drawing/2014/main" id="{B821CF99-F355-42D3-B706-834A1D1AD396}"/>
              </a:ext>
            </a:extLst>
          </p:cNvPr>
          <p:cNvCxnSpPr>
            <a:cxnSpLocks/>
          </p:cNvCxnSpPr>
          <p:nvPr/>
        </p:nvCxnSpPr>
        <p:spPr bwMode="auto">
          <a:xfrm>
            <a:off x="5399394" y="3427111"/>
            <a:ext cx="41148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23" name="TextBox 70">
            <a:extLst>
              <a:ext uri="{FF2B5EF4-FFF2-40B4-BE49-F238E27FC236}">
                <a16:creationId xmlns:a16="http://schemas.microsoft.com/office/drawing/2014/main" id="{110FB9AF-A9F8-4E8F-8FBC-1E3F15B9FE34}"/>
              </a:ext>
            </a:extLst>
          </p:cNvPr>
          <p:cNvSpPr txBox="1"/>
          <p:nvPr/>
        </p:nvSpPr>
        <p:spPr>
          <a:xfrm>
            <a:off x="4488669" y="412990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</a:p>
        </p:txBody>
      </p:sp>
      <p:sp>
        <p:nvSpPr>
          <p:cNvPr id="124" name="Rectangle 71">
            <a:extLst>
              <a:ext uri="{FF2B5EF4-FFF2-40B4-BE49-F238E27FC236}">
                <a16:creationId xmlns:a16="http://schemas.microsoft.com/office/drawing/2014/main" id="{AFEE1461-D06D-4F7C-B089-4024E05FB2E1}"/>
              </a:ext>
            </a:extLst>
          </p:cNvPr>
          <p:cNvSpPr/>
          <p:nvPr/>
        </p:nvSpPr>
        <p:spPr bwMode="auto">
          <a:xfrm>
            <a:off x="5789052" y="3049856"/>
            <a:ext cx="1597160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Comb. Logic </a:t>
            </a:r>
            <a:r>
              <a:rPr kumimoji="0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g(x, s)</a:t>
            </a:r>
          </a:p>
        </p:txBody>
      </p:sp>
      <p:sp>
        <p:nvSpPr>
          <p:cNvPr id="126" name="Freeform 73">
            <a:extLst>
              <a:ext uri="{FF2B5EF4-FFF2-40B4-BE49-F238E27FC236}">
                <a16:creationId xmlns:a16="http://schemas.microsoft.com/office/drawing/2014/main" id="{35E8F380-1773-46A8-B501-DB3C9686AAF2}"/>
              </a:ext>
            </a:extLst>
          </p:cNvPr>
          <p:cNvSpPr/>
          <p:nvPr/>
        </p:nvSpPr>
        <p:spPr>
          <a:xfrm>
            <a:off x="7391922" y="2667133"/>
            <a:ext cx="469726" cy="1857138"/>
          </a:xfrm>
          <a:custGeom>
            <a:avLst/>
            <a:gdLst>
              <a:gd name="connsiteX0" fmla="*/ 25052 w 469726"/>
              <a:gd name="connsiteY0" fmla="*/ 2198317 h 2198317"/>
              <a:gd name="connsiteX1" fmla="*/ 469726 w 469726"/>
              <a:gd name="connsiteY1" fmla="*/ 2198317 h 2198317"/>
              <a:gd name="connsiteX2" fmla="*/ 469726 w 469726"/>
              <a:gd name="connsiteY2" fmla="*/ 0 h 2198317"/>
              <a:gd name="connsiteX3" fmla="*/ 0 w 469726"/>
              <a:gd name="connsiteY3" fmla="*/ 0 h 219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26" h="2198317">
                <a:moveTo>
                  <a:pt x="25052" y="2198317"/>
                </a:moveTo>
                <a:lnTo>
                  <a:pt x="469726" y="2198317"/>
                </a:lnTo>
                <a:lnTo>
                  <a:pt x="469726" y="0"/>
                </a:lnTo>
                <a:lnTo>
                  <a:pt x="0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8" name="Freeform 75">
            <a:extLst>
              <a:ext uri="{FF2B5EF4-FFF2-40B4-BE49-F238E27FC236}">
                <a16:creationId xmlns:a16="http://schemas.microsoft.com/office/drawing/2014/main" id="{E8E83A5B-20FD-49D2-9A03-8C2CAF7CCCFA}"/>
              </a:ext>
            </a:extLst>
          </p:cNvPr>
          <p:cNvSpPr/>
          <p:nvPr/>
        </p:nvSpPr>
        <p:spPr>
          <a:xfrm>
            <a:off x="7391922" y="3267768"/>
            <a:ext cx="475989" cy="0"/>
          </a:xfrm>
          <a:custGeom>
            <a:avLst/>
            <a:gdLst>
              <a:gd name="connsiteX0" fmla="*/ 475989 w 475989"/>
              <a:gd name="connsiteY0" fmla="*/ 0 h 0"/>
              <a:gd name="connsiteX1" fmla="*/ 0 w 47598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5989">
                <a:moveTo>
                  <a:pt x="475989" y="0"/>
                </a:moveTo>
                <a:lnTo>
                  <a:pt x="0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9" name="Freeform 57">
            <a:extLst>
              <a:ext uri="{FF2B5EF4-FFF2-40B4-BE49-F238E27FC236}">
                <a16:creationId xmlns:a16="http://schemas.microsoft.com/office/drawing/2014/main" id="{BA2CAFFE-659A-4502-82EA-42EABC9ECAB8}"/>
              </a:ext>
            </a:extLst>
          </p:cNvPr>
          <p:cNvSpPr/>
          <p:nvPr/>
        </p:nvSpPr>
        <p:spPr>
          <a:xfrm>
            <a:off x="5576818" y="2493730"/>
            <a:ext cx="221064" cy="934598"/>
          </a:xfrm>
          <a:custGeom>
            <a:avLst/>
            <a:gdLst>
              <a:gd name="connsiteX0" fmla="*/ 0 w 221064"/>
              <a:gd name="connsiteY0" fmla="*/ 1155560 h 1155560"/>
              <a:gd name="connsiteX1" fmla="*/ 0 w 221064"/>
              <a:gd name="connsiteY1" fmla="*/ 0 h 1155560"/>
              <a:gd name="connsiteX2" fmla="*/ 221064 w 221064"/>
              <a:gd name="connsiteY2" fmla="*/ 0 h 115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064" h="1155560">
                <a:moveTo>
                  <a:pt x="0" y="1155560"/>
                </a:moveTo>
                <a:lnTo>
                  <a:pt x="0" y="0"/>
                </a:lnTo>
                <a:lnTo>
                  <a:pt x="221064" y="0"/>
                </a:lnTo>
              </a:path>
            </a:pathLst>
          </a:custGeom>
          <a:noFill/>
          <a:ln w="44450">
            <a:solidFill>
              <a:srgbClr val="0432FF"/>
            </a:solidFill>
            <a:prstDash val="dash"/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b="0" dirty="0"/>
          </a:p>
        </p:txBody>
      </p:sp>
      <p:sp>
        <p:nvSpPr>
          <p:cNvPr id="130" name="TextBox 154">
            <a:extLst>
              <a:ext uri="{FF2B5EF4-FFF2-40B4-BE49-F238E27FC236}">
                <a16:creationId xmlns:a16="http://schemas.microsoft.com/office/drawing/2014/main" id="{3A17CF05-CB62-401E-95D8-AE1B6E77A291}"/>
              </a:ext>
            </a:extLst>
          </p:cNvPr>
          <p:cNvSpPr txBox="1"/>
          <p:nvPr/>
        </p:nvSpPr>
        <p:spPr>
          <a:xfrm>
            <a:off x="6587632" y="3646821"/>
            <a:ext cx="1356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e </a:t>
            </a:r>
            <a:r>
              <a:rPr lang="en-US" sz="2000" dirty="0"/>
              <a:t>=</a:t>
            </a:r>
            <a:r>
              <a:rPr lang="en-US" sz="2000" i="1" dirty="0"/>
              <a:t> g(x, s)</a:t>
            </a:r>
            <a:endParaRPr lang="en-CN" sz="2000" i="1" dirty="0"/>
          </a:p>
        </p:txBody>
      </p:sp>
      <p:cxnSp>
        <p:nvCxnSpPr>
          <p:cNvPr id="131" name="Straight Connector 68">
            <a:extLst>
              <a:ext uri="{FF2B5EF4-FFF2-40B4-BE49-F238E27FC236}">
                <a16:creationId xmlns:a16="http://schemas.microsoft.com/office/drawing/2014/main" id="{1AE57BCF-6D05-461C-9DC6-8F4B8A830143}"/>
              </a:ext>
            </a:extLst>
          </p:cNvPr>
          <p:cNvCxnSpPr/>
          <p:nvPr/>
        </p:nvCxnSpPr>
        <p:spPr>
          <a:xfrm flipV="1">
            <a:off x="7816993" y="3841430"/>
            <a:ext cx="93915" cy="1551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Rectangle 40">
            <a:extLst>
              <a:ext uri="{FF2B5EF4-FFF2-40B4-BE49-F238E27FC236}">
                <a16:creationId xmlns:a16="http://schemas.microsoft.com/office/drawing/2014/main" id="{C384E728-3003-4473-9ECC-BE1E94994958}"/>
              </a:ext>
            </a:extLst>
          </p:cNvPr>
          <p:cNvSpPr/>
          <p:nvPr/>
        </p:nvSpPr>
        <p:spPr bwMode="auto">
          <a:xfrm>
            <a:off x="6014612" y="4192361"/>
            <a:ext cx="1371600" cy="594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1" u="none" strike="noStrike" kern="120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3" name="Rectangle 40">
            <a:extLst>
              <a:ext uri="{FF2B5EF4-FFF2-40B4-BE49-F238E27FC236}">
                <a16:creationId xmlns:a16="http://schemas.microsoft.com/office/drawing/2014/main" id="{36AE0026-FB02-4EB5-81E9-FBA4AB458ECC}"/>
              </a:ext>
            </a:extLst>
          </p:cNvPr>
          <p:cNvSpPr/>
          <p:nvPr/>
        </p:nvSpPr>
        <p:spPr bwMode="auto">
          <a:xfrm>
            <a:off x="5911542" y="4106868"/>
            <a:ext cx="1371600" cy="594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1" u="none" strike="noStrike" kern="120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4" name="Rectangle 40">
            <a:extLst>
              <a:ext uri="{FF2B5EF4-FFF2-40B4-BE49-F238E27FC236}">
                <a16:creationId xmlns:a16="http://schemas.microsoft.com/office/drawing/2014/main" id="{CCAD9927-0813-440A-826E-DA9406870AEE}"/>
              </a:ext>
            </a:extLst>
          </p:cNvPr>
          <p:cNvSpPr/>
          <p:nvPr/>
        </p:nvSpPr>
        <p:spPr bwMode="auto">
          <a:xfrm>
            <a:off x="5808471" y="4021374"/>
            <a:ext cx="1371600" cy="594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i="1" u="none" strike="noStrike" kern="120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5" name="Freeform 8">
            <a:extLst>
              <a:ext uri="{FF2B5EF4-FFF2-40B4-BE49-F238E27FC236}">
                <a16:creationId xmlns:a16="http://schemas.microsoft.com/office/drawing/2014/main" id="{7C9A7E41-4C86-4F0A-9B09-EE7828E55719}"/>
              </a:ext>
            </a:extLst>
          </p:cNvPr>
          <p:cNvSpPr/>
          <p:nvPr/>
        </p:nvSpPr>
        <p:spPr>
          <a:xfrm>
            <a:off x="5814326" y="4234947"/>
            <a:ext cx="133148" cy="152903"/>
          </a:xfrm>
          <a:custGeom>
            <a:avLst/>
            <a:gdLst>
              <a:gd name="connsiteX0" fmla="*/ 0 w 87682"/>
              <a:gd name="connsiteY0" fmla="*/ 0 h 169101"/>
              <a:gd name="connsiteX1" fmla="*/ 87682 w 87682"/>
              <a:gd name="connsiteY1" fmla="*/ 87682 h 169101"/>
              <a:gd name="connsiteX2" fmla="*/ 6263 w 87682"/>
              <a:gd name="connsiteY2" fmla="*/ 169101 h 16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682" h="169101">
                <a:moveTo>
                  <a:pt x="0" y="0"/>
                </a:moveTo>
                <a:lnTo>
                  <a:pt x="87682" y="87682"/>
                </a:lnTo>
                <a:lnTo>
                  <a:pt x="6263" y="169101"/>
                </a:lnTo>
              </a:path>
            </a:pathLst>
          </a:cu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6" name="矩形 10">
            <a:extLst>
              <a:ext uri="{FF2B5EF4-FFF2-40B4-BE49-F238E27FC236}">
                <a16:creationId xmlns:a16="http://schemas.microsoft.com/office/drawing/2014/main" id="{90D1752B-48D3-417C-8185-8B85E49CB39F}"/>
              </a:ext>
            </a:extLst>
          </p:cNvPr>
          <p:cNvSpPr/>
          <p:nvPr/>
        </p:nvSpPr>
        <p:spPr>
          <a:xfrm>
            <a:off x="6156454" y="4307092"/>
            <a:ext cx="725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DFF</a:t>
            </a:r>
          </a:p>
        </p:txBody>
      </p:sp>
      <p:sp>
        <p:nvSpPr>
          <p:cNvPr id="137" name="矩形 10">
            <a:extLst>
              <a:ext uri="{FF2B5EF4-FFF2-40B4-BE49-F238E27FC236}">
                <a16:creationId xmlns:a16="http://schemas.microsoft.com/office/drawing/2014/main" id="{715255AF-CB1C-47A4-8B1B-9077AEB82764}"/>
              </a:ext>
            </a:extLst>
          </p:cNvPr>
          <p:cNvSpPr/>
          <p:nvPr/>
        </p:nvSpPr>
        <p:spPr>
          <a:xfrm>
            <a:off x="6242657" y="3958095"/>
            <a:ext cx="552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38" name="矩形 10">
            <a:extLst>
              <a:ext uri="{FF2B5EF4-FFF2-40B4-BE49-F238E27FC236}">
                <a16:creationId xmlns:a16="http://schemas.microsoft.com/office/drawing/2014/main" id="{855C8B9C-C3BA-4AA7-8164-35F238DDEAD6}"/>
              </a:ext>
            </a:extLst>
          </p:cNvPr>
          <p:cNvSpPr/>
          <p:nvPr/>
        </p:nvSpPr>
        <p:spPr>
          <a:xfrm>
            <a:off x="6802935" y="4132515"/>
            <a:ext cx="491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62E2D6C-5BAB-48AA-8101-000E5A658530}"/>
              </a:ext>
            </a:extLst>
          </p:cNvPr>
          <p:cNvCxnSpPr>
            <a:cxnSpLocks/>
          </p:cNvCxnSpPr>
          <p:nvPr/>
        </p:nvCxnSpPr>
        <p:spPr>
          <a:xfrm flipH="1">
            <a:off x="6587632" y="3735656"/>
            <a:ext cx="0" cy="2857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68">
            <a:extLst>
              <a:ext uri="{FF2B5EF4-FFF2-40B4-BE49-F238E27FC236}">
                <a16:creationId xmlns:a16="http://schemas.microsoft.com/office/drawing/2014/main" id="{E692C3C7-7FF5-4F3C-AE33-425D842FD155}"/>
              </a:ext>
            </a:extLst>
          </p:cNvPr>
          <p:cNvCxnSpPr/>
          <p:nvPr/>
        </p:nvCxnSpPr>
        <p:spPr>
          <a:xfrm flipV="1">
            <a:off x="6540673" y="3784641"/>
            <a:ext cx="93915" cy="1551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52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建立时间约束</a:t>
            </a:r>
            <a:endParaRPr lang="en-US" altLang="zh-CN" dirty="0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1739F655-1781-6E4F-9235-664A4118A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415" y="1351358"/>
            <a:ext cx="3589802" cy="523220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432FF"/>
                </a:solidFill>
                <a:latin typeface="+mn-ea"/>
                <a:ea typeface="+mn-ea"/>
                <a:cs typeface="Arial" panose="020B0604020202020204" pitchFamily="34" charset="0"/>
              </a:rPr>
              <a:t>上升沿触发例子</a:t>
            </a:r>
            <a:endParaRPr lang="en-US" altLang="zh-CN" sz="2800" b="1" dirty="0">
              <a:solidFill>
                <a:srgbClr val="0432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12A9D9DB-7BD6-0549-A5B0-E8EA36008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675" y="3860379"/>
            <a:ext cx="5001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2000" b="0" i="1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CLK</a:t>
            </a:r>
          </a:p>
        </p:txBody>
      </p: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73FDCCE9-A7FB-FB44-8AE7-B6F518B02E5A}"/>
              </a:ext>
            </a:extLst>
          </p:cNvPr>
          <p:cNvCxnSpPr>
            <a:cxnSpLocks/>
          </p:cNvCxnSpPr>
          <p:nvPr/>
        </p:nvCxnSpPr>
        <p:spPr bwMode="auto">
          <a:xfrm flipV="1">
            <a:off x="2397071" y="3844708"/>
            <a:ext cx="1965325" cy="411028"/>
          </a:xfrm>
          <a:prstGeom prst="bentConnector3">
            <a:avLst>
              <a:gd name="adj1" fmla="val 35456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肘形连接符 61">
            <a:extLst>
              <a:ext uri="{FF2B5EF4-FFF2-40B4-BE49-F238E27FC236}">
                <a16:creationId xmlns:a16="http://schemas.microsoft.com/office/drawing/2014/main" id="{22D08F96-0926-8744-84EA-40568464AD2C}"/>
              </a:ext>
            </a:extLst>
          </p:cNvPr>
          <p:cNvCxnSpPr>
            <a:cxnSpLocks/>
          </p:cNvCxnSpPr>
          <p:nvPr/>
        </p:nvCxnSpPr>
        <p:spPr bwMode="auto">
          <a:xfrm rot="10800000">
            <a:off x="3714696" y="3844709"/>
            <a:ext cx="1456710" cy="397045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肘形连接符 63">
            <a:extLst>
              <a:ext uri="{FF2B5EF4-FFF2-40B4-BE49-F238E27FC236}">
                <a16:creationId xmlns:a16="http://schemas.microsoft.com/office/drawing/2014/main" id="{3465127B-8217-F046-8EC0-9F824645D110}"/>
              </a:ext>
            </a:extLst>
          </p:cNvPr>
          <p:cNvCxnSpPr>
            <a:cxnSpLocks/>
          </p:cNvCxnSpPr>
          <p:nvPr/>
        </p:nvCxnSpPr>
        <p:spPr bwMode="auto">
          <a:xfrm flipV="1">
            <a:off x="4500614" y="3824071"/>
            <a:ext cx="2362365" cy="417683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肘形连接符 70">
            <a:extLst>
              <a:ext uri="{FF2B5EF4-FFF2-40B4-BE49-F238E27FC236}">
                <a16:creationId xmlns:a16="http://schemas.microsoft.com/office/drawing/2014/main" id="{F19A21E4-A95C-8F4F-BD59-1EFC06F5B9FE}"/>
              </a:ext>
            </a:extLst>
          </p:cNvPr>
          <p:cNvCxnSpPr>
            <a:cxnSpLocks/>
          </p:cNvCxnSpPr>
          <p:nvPr/>
        </p:nvCxnSpPr>
        <p:spPr bwMode="auto">
          <a:xfrm flipV="1">
            <a:off x="2389133" y="4622754"/>
            <a:ext cx="4473846" cy="451005"/>
          </a:xfrm>
          <a:prstGeom prst="bentConnector3">
            <a:avLst>
              <a:gd name="adj1" fmla="val 23769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">
            <a:extLst>
              <a:ext uri="{FF2B5EF4-FFF2-40B4-BE49-F238E27FC236}">
                <a16:creationId xmlns:a16="http://schemas.microsoft.com/office/drawing/2014/main" id="{688E66AE-BFA8-714B-8EDA-471D94752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085" y="4669612"/>
            <a:ext cx="5473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2000" b="0" i="1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000" b="0" i="1" baseline="-25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endParaRPr lang="en-US" altLang="zh-CN" sz="2000" b="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82" name="肘形连接符 81">
            <a:extLst>
              <a:ext uri="{FF2B5EF4-FFF2-40B4-BE49-F238E27FC236}">
                <a16:creationId xmlns:a16="http://schemas.microsoft.com/office/drawing/2014/main" id="{DBC9C53D-960F-9445-95FB-132E45F736EC}"/>
              </a:ext>
            </a:extLst>
          </p:cNvPr>
          <p:cNvCxnSpPr>
            <a:cxnSpLocks/>
          </p:cNvCxnSpPr>
          <p:nvPr/>
        </p:nvCxnSpPr>
        <p:spPr bwMode="auto">
          <a:xfrm flipV="1">
            <a:off x="2427233" y="5439152"/>
            <a:ext cx="4473846" cy="451005"/>
          </a:xfrm>
          <a:prstGeom prst="bentConnector3">
            <a:avLst>
              <a:gd name="adj1" fmla="val 6203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D9FDA9AC-112A-4E4E-8958-43910B1705F4}"/>
              </a:ext>
            </a:extLst>
          </p:cNvPr>
          <p:cNvCxnSpPr>
            <a:cxnSpLocks/>
          </p:cNvCxnSpPr>
          <p:nvPr/>
        </p:nvCxnSpPr>
        <p:spPr bwMode="auto">
          <a:xfrm>
            <a:off x="3093801" y="3886428"/>
            <a:ext cx="0" cy="2623368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4980BC7-388D-CD4F-8A41-C75D8D0D0E64}"/>
              </a:ext>
            </a:extLst>
          </p:cNvPr>
          <p:cNvCxnSpPr>
            <a:cxnSpLocks/>
          </p:cNvCxnSpPr>
          <p:nvPr/>
        </p:nvCxnSpPr>
        <p:spPr bwMode="auto">
          <a:xfrm>
            <a:off x="3447996" y="3844708"/>
            <a:ext cx="0" cy="2265363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D4511CF0-7168-1B4F-8D91-79A4932B3313}"/>
              </a:ext>
            </a:extLst>
          </p:cNvPr>
          <p:cNvCxnSpPr>
            <a:cxnSpLocks/>
          </p:cNvCxnSpPr>
          <p:nvPr/>
        </p:nvCxnSpPr>
        <p:spPr bwMode="auto">
          <a:xfrm>
            <a:off x="5200596" y="3844708"/>
            <a:ext cx="0" cy="2417763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B767FF9A-836F-994E-83B0-04F064F46EE3}"/>
              </a:ext>
            </a:extLst>
          </p:cNvPr>
          <p:cNvCxnSpPr>
            <a:cxnSpLocks/>
          </p:cNvCxnSpPr>
          <p:nvPr/>
        </p:nvCxnSpPr>
        <p:spPr bwMode="auto">
          <a:xfrm>
            <a:off x="5681796" y="3844708"/>
            <a:ext cx="0" cy="2618587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5E91F59-1C09-AF40-BDB4-18F9B3613661}"/>
              </a:ext>
            </a:extLst>
          </p:cNvPr>
          <p:cNvCxnSpPr/>
          <p:nvPr/>
        </p:nvCxnSpPr>
        <p:spPr bwMode="auto">
          <a:xfrm>
            <a:off x="3093801" y="4509871"/>
            <a:ext cx="3541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DACD1A3-FA66-A44F-B0BF-6C2E282C6908}"/>
              </a:ext>
            </a:extLst>
          </p:cNvPr>
          <p:cNvCxnSpPr>
            <a:cxnSpLocks/>
          </p:cNvCxnSpPr>
          <p:nvPr/>
        </p:nvCxnSpPr>
        <p:spPr bwMode="auto">
          <a:xfrm>
            <a:off x="3447996" y="5271871"/>
            <a:ext cx="17526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Rectangle 7">
            <a:extLst>
              <a:ext uri="{FF2B5EF4-FFF2-40B4-BE49-F238E27FC236}">
                <a16:creationId xmlns:a16="http://schemas.microsoft.com/office/drawing/2014/main" id="{A6DF6598-65BA-AC4B-B154-A7374E56B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948" y="5555449"/>
            <a:ext cx="43759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2000" b="0" i="1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D</a:t>
            </a:r>
            <a:r>
              <a:rPr lang="en-US" altLang="zh-CN" sz="2000" b="0" i="1" baseline="-250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2</a:t>
            </a:r>
            <a:endParaRPr lang="en-US" altLang="zh-CN" sz="2000" b="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 7">
                <a:extLst>
                  <a:ext uri="{FF2B5EF4-FFF2-40B4-BE49-F238E27FC236}">
                    <a16:creationId xmlns:a16="http://schemas.microsoft.com/office/drawing/2014/main" id="{BD009BE6-4531-594D-81B4-271674A44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0065" y="4913135"/>
                <a:ext cx="1208262" cy="299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𝑙𝑜𝑔𝑖𝑐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4" name="Rectangle 7">
                <a:extLst>
                  <a:ext uri="{FF2B5EF4-FFF2-40B4-BE49-F238E27FC236}">
                    <a16:creationId xmlns:a16="http://schemas.microsoft.com/office/drawing/2014/main" id="{BD009BE6-4531-594D-81B4-271674A44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0065" y="4913135"/>
                <a:ext cx="1208262" cy="299569"/>
              </a:xfrm>
              <a:prstGeom prst="rect">
                <a:avLst/>
              </a:prstGeom>
              <a:blipFill>
                <a:blip r:embed="rId3"/>
                <a:stretch>
                  <a:fillRect l="-3535" r="-7071" b="-2857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7">
                <a:extLst>
                  <a:ext uri="{FF2B5EF4-FFF2-40B4-BE49-F238E27FC236}">
                    <a16:creationId xmlns:a16="http://schemas.microsoft.com/office/drawing/2014/main" id="{121B8A5D-84C4-644B-BED9-BD41BF0F0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0194" y="6078766"/>
                <a:ext cx="1208262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𝑠𝑢</m:t>
                          </m:r>
                        </m:sub>
                      </m:sSub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6" name="Rectangle 7">
                <a:extLst>
                  <a:ext uri="{FF2B5EF4-FFF2-40B4-BE49-F238E27FC236}">
                    <a16:creationId xmlns:a16="http://schemas.microsoft.com/office/drawing/2014/main" id="{121B8A5D-84C4-644B-BED9-BD41BF0F0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0194" y="6078766"/>
                <a:ext cx="1208262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332" name="Text Box 4"/>
              <p:cNvSpPr txBox="1">
                <a:spLocks noChangeArrowheads="1"/>
              </p:cNvSpPr>
              <p:nvPr/>
            </p:nvSpPr>
            <p:spPr bwMode="auto">
              <a:xfrm>
                <a:off x="5813422" y="5753583"/>
                <a:ext cx="2063257" cy="428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kumimoji="1" lang="en-US" altLang="zh-CN" sz="2000" i="1" dirty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i="1" dirty="0" err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𝒄𝒚𝒄𝒍𝒆</m:t>
                          </m:r>
                        </m:sub>
                      </m:sSub>
                      <m:r>
                        <a:rPr kumimoji="1" lang="en-US" altLang="zh-CN" sz="2000" b="1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kumimoji="1" lang="en-US" altLang="zh-CN" sz="2000" b="1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 dirty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i="1" dirty="0" err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𝒔𝒖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733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3422" y="5753583"/>
                <a:ext cx="2063257" cy="428259"/>
              </a:xfrm>
              <a:prstGeom prst="rect">
                <a:avLst/>
              </a:prstGeom>
              <a:blipFill>
                <a:blip r:embed="rId5"/>
                <a:stretch>
                  <a:fillRect b="-1285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88FEA2D0-3EFE-7042-9127-07CCB9800635}"/>
              </a:ext>
            </a:extLst>
          </p:cNvPr>
          <p:cNvCxnSpPr>
            <a:cxnSpLocks/>
          </p:cNvCxnSpPr>
          <p:nvPr/>
        </p:nvCxnSpPr>
        <p:spPr bwMode="auto">
          <a:xfrm flipV="1">
            <a:off x="3073446" y="6409833"/>
            <a:ext cx="2608350" cy="5038"/>
          </a:xfrm>
          <a:prstGeom prst="straightConnector1">
            <a:avLst/>
          </a:prstGeom>
          <a:ln>
            <a:solidFill>
              <a:srgbClr val="3333FF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Rectangle 7">
                <a:extLst>
                  <a:ext uri="{FF2B5EF4-FFF2-40B4-BE49-F238E27FC236}">
                    <a16:creationId xmlns:a16="http://schemas.microsoft.com/office/drawing/2014/main" id="{08A8BCFD-3945-F548-8BC2-1CA172221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5404" y="6360332"/>
                <a:ext cx="1208262" cy="298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𝑐𝑦𝑐𝑙𝑒</m:t>
                          </m:r>
                        </m:sub>
                      </m:sSub>
                    </m:oMath>
                  </m:oMathPara>
                </a14:m>
                <a:endParaRPr lang="en-US" altLang="zh-CN" sz="1800" b="0" dirty="0">
                  <a:solidFill>
                    <a:srgbClr val="3333FF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7" name="Rectangle 7">
                <a:extLst>
                  <a:ext uri="{FF2B5EF4-FFF2-40B4-BE49-F238E27FC236}">
                    <a16:creationId xmlns:a16="http://schemas.microsoft.com/office/drawing/2014/main" id="{08A8BCFD-3945-F548-8BC2-1CA172221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5404" y="6360332"/>
                <a:ext cx="1208262" cy="298928"/>
              </a:xfrm>
              <a:prstGeom prst="rect">
                <a:avLst/>
              </a:prstGeom>
              <a:blipFill>
                <a:blip r:embed="rId6"/>
                <a:stretch>
                  <a:fillRect b="-2653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7">
                <a:extLst>
                  <a:ext uri="{FF2B5EF4-FFF2-40B4-BE49-F238E27FC236}">
                    <a16:creationId xmlns:a16="http://schemas.microsoft.com/office/drawing/2014/main" id="{F4E00EB4-6A84-424F-B3CE-2A45C4F54D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4801" y="4120015"/>
                <a:ext cx="1208262" cy="2984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𝑐𝑙𝑘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8" name="Rectangle 7">
                <a:extLst>
                  <a:ext uri="{FF2B5EF4-FFF2-40B4-BE49-F238E27FC236}">
                    <a16:creationId xmlns:a16="http://schemas.microsoft.com/office/drawing/2014/main" id="{F4E00EB4-6A84-424F-B3CE-2A45C4F54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4801" y="4120015"/>
                <a:ext cx="1208262" cy="298415"/>
              </a:xfrm>
              <a:prstGeom prst="rect">
                <a:avLst/>
              </a:prstGeom>
              <a:blipFill>
                <a:blip r:embed="rId7"/>
                <a:stretch>
                  <a:fillRect b="-2040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线形标注 2 (无边框) 118">
            <a:extLst>
              <a:ext uri="{FF2B5EF4-FFF2-40B4-BE49-F238E27FC236}">
                <a16:creationId xmlns:a16="http://schemas.microsoft.com/office/drawing/2014/main" id="{1284DD12-1B49-B140-A7BB-2AED29F41BC5}"/>
              </a:ext>
            </a:extLst>
          </p:cNvPr>
          <p:cNvSpPr/>
          <p:nvPr/>
        </p:nvSpPr>
        <p:spPr bwMode="auto">
          <a:xfrm>
            <a:off x="3637433" y="4241754"/>
            <a:ext cx="306197" cy="240428"/>
          </a:xfrm>
          <a:prstGeom prst="callout2">
            <a:avLst>
              <a:gd name="adj1" fmla="val 20934"/>
              <a:gd name="adj2" fmla="val -2024"/>
              <a:gd name="adj3" fmla="val 22884"/>
              <a:gd name="adj4" fmla="val -78341"/>
              <a:gd name="adj5" fmla="val 104232"/>
              <a:gd name="adj6" fmla="val -124571"/>
            </a:avLst>
          </a:prstGeom>
          <a:noFill/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600" b="1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0F2B3B74-FE74-7247-9519-4679892B1A96}"/>
              </a:ext>
            </a:extLst>
          </p:cNvPr>
          <p:cNvCxnSpPr>
            <a:cxnSpLocks/>
            <a:stCxn id="63" idx="3"/>
          </p:cNvCxnSpPr>
          <p:nvPr/>
        </p:nvCxnSpPr>
        <p:spPr bwMode="auto">
          <a:xfrm>
            <a:off x="2191030" y="4529544"/>
            <a:ext cx="877341" cy="5560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 Box 6">
            <a:extLst>
              <a:ext uri="{FF2B5EF4-FFF2-40B4-BE49-F238E27FC236}">
                <a16:creationId xmlns:a16="http://schemas.microsoft.com/office/drawing/2014/main" id="{A808DD66-2656-BF4F-9D2A-9D0D77F0C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45" y="4344878"/>
            <a:ext cx="2090585" cy="369332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1. DFF-1 </a:t>
            </a:r>
            <a:r>
              <a:rPr lang="zh-CN" altLang="en-US" sz="1800" dirty="0">
                <a:solidFill>
                  <a:srgbClr val="7030A0"/>
                </a:solidFill>
                <a:latin typeface="+mj-ea"/>
                <a:ea typeface="+mj-ea"/>
                <a:cs typeface="Arial" panose="020B0604020202020204" pitchFamily="34" charset="0"/>
              </a:rPr>
              <a:t>开始采样</a:t>
            </a:r>
            <a:endParaRPr lang="en-US" altLang="zh-CN" sz="1800" dirty="0">
              <a:solidFill>
                <a:srgbClr val="7030A0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2068D690-610F-4A44-A0C2-5C70E2607635}"/>
              </a:ext>
            </a:extLst>
          </p:cNvPr>
          <p:cNvCxnSpPr>
            <a:cxnSpLocks/>
            <a:stCxn id="67" idx="3"/>
          </p:cNvCxnSpPr>
          <p:nvPr/>
        </p:nvCxnSpPr>
        <p:spPr bwMode="auto">
          <a:xfrm flipV="1">
            <a:off x="2090153" y="4903827"/>
            <a:ext cx="1351450" cy="45083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 Box 6">
            <a:extLst>
              <a:ext uri="{FF2B5EF4-FFF2-40B4-BE49-F238E27FC236}">
                <a16:creationId xmlns:a16="http://schemas.microsoft.com/office/drawing/2014/main" id="{67D870CD-DE1D-B24C-AD0F-6C4D44ABE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45" y="5169991"/>
            <a:ext cx="1989708" cy="369332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2. DFF-1 Q</a:t>
            </a:r>
            <a:r>
              <a:rPr lang="en-US" altLang="zh-CN" sz="1800" baseline="-250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  <a:cs typeface="Arial" panose="020B0604020202020204" pitchFamily="34" charset="0"/>
              </a:rPr>
              <a:t>更新</a:t>
            </a:r>
            <a:endParaRPr lang="en-US" altLang="zh-CN" dirty="0">
              <a:solidFill>
                <a:srgbClr val="7030A0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8C506E4F-EBC6-4946-8B86-84352FAACBFA}"/>
              </a:ext>
            </a:extLst>
          </p:cNvPr>
          <p:cNvCxnSpPr>
            <a:cxnSpLocks/>
            <a:endCxn id="69" idx="1"/>
          </p:cNvCxnSpPr>
          <p:nvPr/>
        </p:nvCxnSpPr>
        <p:spPr bwMode="auto">
          <a:xfrm flipV="1">
            <a:off x="5236374" y="5020207"/>
            <a:ext cx="1586881" cy="372666"/>
          </a:xfrm>
          <a:prstGeom prst="line">
            <a:avLst/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 Box 6">
            <a:extLst>
              <a:ext uri="{FF2B5EF4-FFF2-40B4-BE49-F238E27FC236}">
                <a16:creationId xmlns:a16="http://schemas.microsoft.com/office/drawing/2014/main" id="{CAF518A8-6696-A74C-93E9-8F7A849EA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255" y="4697041"/>
            <a:ext cx="1552280" cy="646331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3. 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  <a:cs typeface="Arial" panose="020B0604020202020204" pitchFamily="34" charset="0"/>
              </a:rPr>
              <a:t>组合逻辑结果给到</a:t>
            </a:r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D2</a:t>
            </a:r>
          </a:p>
        </p:txBody>
      </p:sp>
      <p:sp>
        <p:nvSpPr>
          <p:cNvPr id="72" name="Text Box 6">
            <a:extLst>
              <a:ext uri="{FF2B5EF4-FFF2-40B4-BE49-F238E27FC236}">
                <a16:creationId xmlns:a16="http://schemas.microsoft.com/office/drawing/2014/main" id="{4975AB02-D3A6-B540-B24B-4CC13DED8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255" y="3789379"/>
            <a:ext cx="2133599" cy="369332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4. DFF-2 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  <a:cs typeface="Arial" panose="020B0604020202020204" pitchFamily="34" charset="0"/>
              </a:rPr>
              <a:t>开始采样</a:t>
            </a:r>
            <a:endParaRPr lang="en-US" altLang="zh-CN" dirty="0">
              <a:solidFill>
                <a:srgbClr val="7030A0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2FCF2ECD-E263-5F4F-82AF-BBD19FA91312}"/>
              </a:ext>
            </a:extLst>
          </p:cNvPr>
          <p:cNvCxnSpPr>
            <a:cxnSpLocks/>
            <a:endCxn id="72" idx="1"/>
          </p:cNvCxnSpPr>
          <p:nvPr/>
        </p:nvCxnSpPr>
        <p:spPr bwMode="auto">
          <a:xfrm flipV="1">
            <a:off x="5688190" y="3974045"/>
            <a:ext cx="1135065" cy="304928"/>
          </a:xfrm>
          <a:prstGeom prst="line">
            <a:avLst/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F28D86A5-BD88-4A9E-8C3C-856C5A8B9EA0}"/>
              </a:ext>
            </a:extLst>
          </p:cNvPr>
          <p:cNvGrpSpPr/>
          <p:nvPr/>
        </p:nvGrpSpPr>
        <p:grpSpPr>
          <a:xfrm>
            <a:off x="298791" y="6071173"/>
            <a:ext cx="4889512" cy="499202"/>
            <a:chOff x="502653" y="5829497"/>
            <a:chExt cx="4889512" cy="499202"/>
          </a:xfrm>
        </p:grpSpPr>
        <p:cxnSp>
          <p:nvCxnSpPr>
            <p:cNvPr id="103" name="直线箭头连接符 102">
              <a:extLst>
                <a:ext uri="{FF2B5EF4-FFF2-40B4-BE49-F238E27FC236}">
                  <a16:creationId xmlns:a16="http://schemas.microsoft.com/office/drawing/2014/main" id="{E47D1F47-664F-8843-A397-62732FFF1E2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77308" y="5868395"/>
              <a:ext cx="2114857" cy="0"/>
            </a:xfrm>
            <a:prstGeom prst="straightConnector1">
              <a:avLst/>
            </a:prstGeom>
            <a:ln>
              <a:solidFill>
                <a:srgbClr val="0432FF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Rectangle 7">
                  <a:extLst>
                    <a:ext uri="{FF2B5EF4-FFF2-40B4-BE49-F238E27FC236}">
                      <a16:creationId xmlns:a16="http://schemas.microsoft.com/office/drawing/2014/main" id="{27A28E98-44FB-7141-8DCD-7B22870456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8997" y="5829497"/>
                  <a:ext cx="1208262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n-US" altLang="zh-CN" sz="1800" b="0" dirty="0">
                    <a:solidFill>
                      <a:srgbClr val="3333FF"/>
                    </a:solidFill>
                    <a:latin typeface="Arial" panose="020B0604020202020204" pitchFamily="34" charset="0"/>
                    <a:ea typeface="STHeiti" panose="02010600040101010101" pitchFamily="2" charset="-122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5" name="Rectangle 7">
                  <a:extLst>
                    <a:ext uri="{FF2B5EF4-FFF2-40B4-BE49-F238E27FC236}">
                      <a16:creationId xmlns:a16="http://schemas.microsoft.com/office/drawing/2014/main" id="{27A28E98-44FB-7141-8DCD-7B22870456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38997" y="5829497"/>
                  <a:ext cx="1208262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17391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 Box 4">
                  <a:extLst>
                    <a:ext uri="{FF2B5EF4-FFF2-40B4-BE49-F238E27FC236}">
                      <a16:creationId xmlns:a16="http://schemas.microsoft.com/office/drawing/2014/main" id="{14788D5E-04E4-9545-AB68-472F941B2F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2653" y="5899479"/>
                  <a:ext cx="2369431" cy="429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kumimoji="1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  <m:r>
                          <a:rPr kumimoji="1" lang="en-US" altLang="zh-CN" sz="20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432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00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kumimoji="1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𝒄𝒍𝒌</m:t>
                            </m:r>
                            <m:r>
                              <a:rPr kumimoji="1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  <m:r>
                          <a:rPr kumimoji="1" lang="en-US" altLang="zh-CN" sz="20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432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00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kumimoji="1" lang="en-US" altLang="zh-CN" sz="20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432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𝒍𝒐𝒈𝒊𝒄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STHeiti" panose="02010600040101010101" pitchFamily="2" charset="-122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9" name="Text Box 4">
                  <a:extLst>
                    <a:ext uri="{FF2B5EF4-FFF2-40B4-BE49-F238E27FC236}">
                      <a16:creationId xmlns:a16="http://schemas.microsoft.com/office/drawing/2014/main" id="{14788D5E-04E4-9545-AB68-472F941B2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2653" y="5899479"/>
                  <a:ext cx="2369431" cy="429220"/>
                </a:xfrm>
                <a:prstGeom prst="rect">
                  <a:avLst/>
                </a:prstGeom>
                <a:blipFill>
                  <a:blip r:embed="rId11"/>
                  <a:stretch>
                    <a:fillRect b="-1126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65AF2172-AD3F-894C-9B84-978E6DB5A68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018365" y="5873197"/>
              <a:ext cx="627100" cy="240892"/>
            </a:xfrm>
            <a:prstGeom prst="line">
              <a:avLst/>
            </a:prstGeom>
            <a:ln>
              <a:solidFill>
                <a:srgbClr val="0432FF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Cloud 4">
            <a:extLst>
              <a:ext uri="{FF2B5EF4-FFF2-40B4-BE49-F238E27FC236}">
                <a16:creationId xmlns:a16="http://schemas.microsoft.com/office/drawing/2014/main" id="{3E693F70-A223-914E-B986-7338E32BF94D}"/>
              </a:ext>
            </a:extLst>
          </p:cNvPr>
          <p:cNvSpPr/>
          <p:nvPr/>
        </p:nvSpPr>
        <p:spPr>
          <a:xfrm>
            <a:off x="4947259" y="1337053"/>
            <a:ext cx="3589802" cy="610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LID4096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后级DFF的输入信号D必须在触发时钟</a:t>
            </a:r>
            <a:r>
              <a:rPr lang="LID4096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到来前</a:t>
            </a:r>
            <a:r>
              <a:rPr lang="LID4096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已经稳定</a:t>
            </a:r>
            <a:r>
              <a:rPr lang="LID4096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t</a:t>
            </a:r>
            <a:r>
              <a:rPr lang="LID4096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su</a:t>
            </a:r>
            <a:r>
              <a:rPr lang="LID4096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时间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7CDA26E-71E8-4157-96F0-C0CCCFBC533D}"/>
              </a:ext>
            </a:extLst>
          </p:cNvPr>
          <p:cNvGrpSpPr>
            <a:grpSpLocks noChangeAspect="1"/>
          </p:cNvGrpSpPr>
          <p:nvPr/>
        </p:nvGrpSpPr>
        <p:grpSpPr>
          <a:xfrm>
            <a:off x="1154214" y="2054542"/>
            <a:ext cx="6835572" cy="1501407"/>
            <a:chOff x="-7919293" y="517217"/>
            <a:chExt cx="6835572" cy="1501407"/>
          </a:xfrm>
        </p:grpSpPr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12E4B8E1-29A1-FA47-86CE-04F87B2A3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963821" y="669688"/>
              <a:ext cx="777875" cy="985863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465FDFAF-3AE5-A140-84AC-B6B814824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900321" y="772875"/>
              <a:ext cx="19075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D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77D44CB2-D84C-AA4D-84A2-C056EC736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438359" y="772875"/>
              <a:ext cx="19877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endParaRPr lang="en-US" altLang="zh-CN" sz="1600" b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130A4E25-89BD-D245-9F75-FF6662243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336884" y="950675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89C98B9C-255C-5946-9AED-EBB1CC6BB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6185945" y="950675"/>
              <a:ext cx="1119810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" name="Rectangle 21">
              <a:extLst>
                <a:ext uri="{FF2B5EF4-FFF2-40B4-BE49-F238E27FC236}">
                  <a16:creationId xmlns:a16="http://schemas.microsoft.com/office/drawing/2014/main" id="{97DEF79E-72B1-0F41-A512-8E17D5C06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784582" y="1200040"/>
              <a:ext cx="1859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" name="Line 23">
              <a:extLst>
                <a:ext uri="{FF2B5EF4-FFF2-40B4-BE49-F238E27FC236}">
                  <a16:creationId xmlns:a16="http://schemas.microsoft.com/office/drawing/2014/main" id="{19180DCD-8BD6-0248-9375-756AA4E54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327360" y="1352313"/>
              <a:ext cx="347663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A237A902-BB1A-B741-B493-682EAB004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-6963821" y="1196738"/>
              <a:ext cx="150812" cy="333375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210">
                  <a:moveTo>
                    <a:pt x="0" y="210"/>
                  </a:moveTo>
                  <a:lnTo>
                    <a:pt x="103" y="105"/>
                  </a:lnTo>
                  <a:lnTo>
                    <a:pt x="11" y="0"/>
                  </a:ln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21D25ADB-DE8C-7C49-8CAA-5FA2F2B3D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063620" y="643383"/>
              <a:ext cx="1642704" cy="1012167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7F9DF4F3-DA17-D543-AE2E-97975F05E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600821" y="840350"/>
              <a:ext cx="75501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Comb.</a:t>
              </a:r>
            </a:p>
            <a:p>
              <a:pPr algn="ctr"/>
              <a:r>
                <a:rPr lang="en-US" altLang="zh-CN" sz="2000" b="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Logic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86E75BAB-34DC-BF4A-AFB0-1CDB213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07696" y="643384"/>
              <a:ext cx="777875" cy="1014514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0CD2717C-DFAF-BD4D-80AB-9AF905B60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344196" y="746571"/>
              <a:ext cx="19075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D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FDAD957F-C09D-324C-A512-D3D1A2961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882233" y="746571"/>
              <a:ext cx="19877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771CA303-9A6F-524F-9147-967A98B71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391711" y="924370"/>
              <a:ext cx="968140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122DC43B-4218-0F47-B12D-D35DB12F1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228456" y="1200040"/>
              <a:ext cx="1859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70DF7AFF-5BB3-C94D-928C-2596E4D9C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771235" y="1326008"/>
              <a:ext cx="347663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5878D2E0-9929-FB48-83BE-D55FC370F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07696" y="1170433"/>
              <a:ext cx="150812" cy="333375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210">
                  <a:moveTo>
                    <a:pt x="0" y="210"/>
                  </a:moveTo>
                  <a:lnTo>
                    <a:pt x="103" y="105"/>
                  </a:lnTo>
                  <a:lnTo>
                    <a:pt x="11" y="0"/>
                  </a:ln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A70CEFAD-DAD4-B841-90A9-D4AD08FC5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627306" y="913896"/>
              <a:ext cx="543585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6" name="Rectangle 7">
              <a:extLst>
                <a:ext uri="{FF2B5EF4-FFF2-40B4-BE49-F238E27FC236}">
                  <a16:creationId xmlns:a16="http://schemas.microsoft.com/office/drawing/2014/main" id="{9040B953-95B7-9141-B435-6C63A689B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376722" y="550445"/>
              <a:ext cx="31098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D</a:t>
              </a:r>
              <a:r>
                <a:rPr lang="en-US" altLang="zh-CN" sz="2000" b="0" i="1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1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7" name="Rectangle 7">
              <a:extLst>
                <a:ext uri="{FF2B5EF4-FFF2-40B4-BE49-F238E27FC236}">
                  <a16:creationId xmlns:a16="http://schemas.microsoft.com/office/drawing/2014/main" id="{39017EA7-4484-6843-9C53-F8D2292B1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46062" y="529348"/>
              <a:ext cx="29335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r>
                <a:rPr lang="en-US" altLang="zh-CN" sz="2000" b="0" i="1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1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8" name="Rectangle 7">
              <a:extLst>
                <a:ext uri="{FF2B5EF4-FFF2-40B4-BE49-F238E27FC236}">
                  <a16:creationId xmlns:a16="http://schemas.microsoft.com/office/drawing/2014/main" id="{2F29DB4A-6F2B-E640-B9CB-BFB045195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793292" y="521090"/>
              <a:ext cx="31098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D</a:t>
              </a:r>
              <a:r>
                <a:rPr lang="en-US" altLang="zh-CN" sz="2000" b="0" i="1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2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9" name="Rectangle 7">
              <a:extLst>
                <a:ext uri="{FF2B5EF4-FFF2-40B4-BE49-F238E27FC236}">
                  <a16:creationId xmlns:a16="http://schemas.microsoft.com/office/drawing/2014/main" id="{4B2F184D-BF64-8349-A848-82CDF753B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423631" y="517217"/>
              <a:ext cx="31098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r>
                <a:rPr lang="en-US" altLang="zh-CN" sz="2000" b="0" i="1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2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3" name="Rectangle 7">
              <a:extLst>
                <a:ext uri="{FF2B5EF4-FFF2-40B4-BE49-F238E27FC236}">
                  <a16:creationId xmlns:a16="http://schemas.microsoft.com/office/drawing/2014/main" id="{3590BA2F-FED4-4749-A844-52E3086E2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919293" y="1170433"/>
              <a:ext cx="50013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CLK</a:t>
              </a: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6C9B7CD8-8318-8641-A804-E635AA625BCB}"/>
                </a:ext>
              </a:extLst>
            </p:cNvPr>
            <p:cNvSpPr/>
            <p:nvPr/>
          </p:nvSpPr>
          <p:spPr>
            <a:xfrm>
              <a:off x="-7211280" y="1310821"/>
              <a:ext cx="4437530" cy="636934"/>
            </a:xfrm>
            <a:custGeom>
              <a:avLst/>
              <a:gdLst>
                <a:gd name="connsiteX0" fmla="*/ 0 w 4437530"/>
                <a:gd name="connsiteY0" fmla="*/ 26895 h 484095"/>
                <a:gd name="connsiteX1" fmla="*/ 0 w 4437530"/>
                <a:gd name="connsiteY1" fmla="*/ 484095 h 484095"/>
                <a:gd name="connsiteX2" fmla="*/ 4437530 w 4437530"/>
                <a:gd name="connsiteY2" fmla="*/ 484095 h 484095"/>
                <a:gd name="connsiteX3" fmla="*/ 4437530 w 4437530"/>
                <a:gd name="connsiteY3" fmla="*/ 0 h 484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7530" h="484095">
                  <a:moveTo>
                    <a:pt x="0" y="26895"/>
                  </a:moveTo>
                  <a:lnTo>
                    <a:pt x="0" y="484095"/>
                  </a:lnTo>
                  <a:lnTo>
                    <a:pt x="4437530" y="484095"/>
                  </a:lnTo>
                  <a:lnTo>
                    <a:pt x="4437530" y="0"/>
                  </a:lnTo>
                </a:path>
              </a:pathLst>
            </a:cu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267335-BFB5-9D40-B2A5-FAD8DBAA75C3}"/>
                </a:ext>
              </a:extLst>
            </p:cNvPr>
            <p:cNvSpPr txBox="1"/>
            <p:nvPr/>
          </p:nvSpPr>
          <p:spPr>
            <a:xfrm>
              <a:off x="-6949768" y="1618514"/>
              <a:ext cx="8274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latin typeface="Arial" panose="020B0604020202020204" pitchFamily="34" charset="0"/>
                  <a:cs typeface="Arial" panose="020B0604020202020204" pitchFamily="34" charset="0"/>
                </a:rPr>
                <a:t>DFF1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2C0E11E-C949-C344-A9E3-8E4791D5160E}"/>
                </a:ext>
              </a:extLst>
            </p:cNvPr>
            <p:cNvSpPr txBox="1"/>
            <p:nvPr/>
          </p:nvSpPr>
          <p:spPr>
            <a:xfrm>
              <a:off x="-2382678" y="1618514"/>
              <a:ext cx="8274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DFF2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4">
                <a:extLst>
                  <a:ext uri="{FF2B5EF4-FFF2-40B4-BE49-F238E27FC236}">
                    <a16:creationId xmlns:a16="http://schemas.microsoft.com/office/drawing/2014/main" id="{F7637071-6046-F92C-715E-0B1CF210B3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3422" y="6177565"/>
                <a:ext cx="3356496" cy="429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1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kumimoji="1" lang="en-US" altLang="zh-CN" sz="2000" b="1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b="1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𝒍𝒐𝒈𝒊𝒄</m:t>
                          </m:r>
                        </m:sub>
                      </m:sSub>
                      <m:r>
                        <a:rPr kumimoji="1" lang="en-US" altLang="zh-CN" sz="2000" b="1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itchFamily="18" charset="2"/>
                        </a:rPr>
                        <m:t>≤</m:t>
                      </m:r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kumimoji="1" lang="en-US" altLang="zh-CN" sz="2000" i="1" dirty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i="1" dirty="0" err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𝒄𝒚𝒄𝒍𝒆</m:t>
                          </m:r>
                        </m:sub>
                      </m:sSub>
                      <m:r>
                        <a:rPr kumimoji="1" lang="en-US" altLang="zh-CN" sz="2000" b="1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000" b="1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b="1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𝒄𝒍𝒌</m:t>
                          </m:r>
                          <m:r>
                            <a:rPr kumimoji="1" lang="en-US" altLang="zh-CN" sz="2000" b="1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000" b="1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  <m:r>
                        <a:rPr kumimoji="1" lang="en-US" altLang="zh-CN" sz="2000" b="1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 dirty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i="1" dirty="0" err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𝒔𝒖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 Box 4">
                <a:extLst>
                  <a:ext uri="{FF2B5EF4-FFF2-40B4-BE49-F238E27FC236}">
                    <a16:creationId xmlns:a16="http://schemas.microsoft.com/office/drawing/2014/main" id="{F7637071-6046-F92C-715E-0B1CF210B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3422" y="6177565"/>
                <a:ext cx="3356496" cy="429220"/>
              </a:xfrm>
              <a:prstGeom prst="rect">
                <a:avLst/>
              </a:prstGeom>
              <a:blipFill>
                <a:blip r:embed="rId12"/>
                <a:stretch>
                  <a:fillRect b="-1126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260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2" grpId="0"/>
      <p:bldP spid="117" grpId="0"/>
      <p:bldP spid="63" grpId="0"/>
      <p:bldP spid="67" grpId="0"/>
      <p:bldP spid="69" grpId="0"/>
      <p:bldP spid="72" grpId="0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保持时间约束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43748D-4796-F94C-868B-5E89036D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12A9D9DB-7BD6-0549-A5B0-E8EA36008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428" y="3804578"/>
            <a:ext cx="604333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500" b="0" i="1" dirty="0">
                <a:solidFill>
                  <a:srgbClr val="000000"/>
                </a:solidFill>
                <a:latin typeface="Times New Roman" pitchFamily="18" charset="0"/>
              </a:rPr>
              <a:t>CLK</a:t>
            </a:r>
          </a:p>
        </p:txBody>
      </p: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73FDCCE9-A7FB-FB44-8AE7-B6F518B02E5A}"/>
              </a:ext>
            </a:extLst>
          </p:cNvPr>
          <p:cNvCxnSpPr>
            <a:cxnSpLocks/>
          </p:cNvCxnSpPr>
          <p:nvPr/>
        </p:nvCxnSpPr>
        <p:spPr bwMode="auto">
          <a:xfrm flipV="1">
            <a:off x="3268392" y="3765500"/>
            <a:ext cx="1965325" cy="411028"/>
          </a:xfrm>
          <a:prstGeom prst="bentConnector3">
            <a:avLst>
              <a:gd name="adj1" fmla="val 35456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肘形连接符 61">
            <a:extLst>
              <a:ext uri="{FF2B5EF4-FFF2-40B4-BE49-F238E27FC236}">
                <a16:creationId xmlns:a16="http://schemas.microsoft.com/office/drawing/2014/main" id="{22D08F96-0926-8744-84EA-40568464AD2C}"/>
              </a:ext>
            </a:extLst>
          </p:cNvPr>
          <p:cNvCxnSpPr>
            <a:cxnSpLocks/>
          </p:cNvCxnSpPr>
          <p:nvPr/>
        </p:nvCxnSpPr>
        <p:spPr bwMode="auto">
          <a:xfrm rot="10800000">
            <a:off x="4586017" y="3765502"/>
            <a:ext cx="1710008" cy="397044"/>
          </a:xfrm>
          <a:prstGeom prst="bentConnector3">
            <a:avLst>
              <a:gd name="adj1" fmla="val 5000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肘形连接符 70">
            <a:extLst>
              <a:ext uri="{FF2B5EF4-FFF2-40B4-BE49-F238E27FC236}">
                <a16:creationId xmlns:a16="http://schemas.microsoft.com/office/drawing/2014/main" id="{F19A21E4-A95C-8F4F-BD59-1EFC06F5B9FE}"/>
              </a:ext>
            </a:extLst>
          </p:cNvPr>
          <p:cNvCxnSpPr>
            <a:cxnSpLocks/>
          </p:cNvCxnSpPr>
          <p:nvPr/>
        </p:nvCxnSpPr>
        <p:spPr bwMode="auto">
          <a:xfrm flipV="1">
            <a:off x="3260454" y="4465474"/>
            <a:ext cx="3035571" cy="529078"/>
          </a:xfrm>
          <a:prstGeom prst="bentConnector3">
            <a:avLst>
              <a:gd name="adj1" fmla="val 34939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">
            <a:extLst>
              <a:ext uri="{FF2B5EF4-FFF2-40B4-BE49-F238E27FC236}">
                <a16:creationId xmlns:a16="http://schemas.microsoft.com/office/drawing/2014/main" id="{688E66AE-BFA8-714B-8EDA-471D94752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836" y="4719898"/>
            <a:ext cx="310983" cy="35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300" b="0" i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r>
              <a:rPr lang="en-US" altLang="zh-CN" sz="2300" b="0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82" name="肘形连接符 81">
            <a:extLst>
              <a:ext uri="{FF2B5EF4-FFF2-40B4-BE49-F238E27FC236}">
                <a16:creationId xmlns:a16="http://schemas.microsoft.com/office/drawing/2014/main" id="{DBC9C53D-960F-9445-95FB-132E45F736EC}"/>
              </a:ext>
            </a:extLst>
          </p:cNvPr>
          <p:cNvCxnSpPr>
            <a:cxnSpLocks/>
          </p:cNvCxnSpPr>
          <p:nvPr/>
        </p:nvCxnSpPr>
        <p:spPr bwMode="auto">
          <a:xfrm flipV="1">
            <a:off x="3298554" y="5344068"/>
            <a:ext cx="2997471" cy="466882"/>
          </a:xfrm>
          <a:prstGeom prst="bentConnector3">
            <a:avLst>
              <a:gd name="adj1" fmla="val 54122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D9FDA9AC-112A-4E4E-8958-43910B1705F4}"/>
              </a:ext>
            </a:extLst>
          </p:cNvPr>
          <p:cNvCxnSpPr>
            <a:cxnSpLocks/>
          </p:cNvCxnSpPr>
          <p:nvPr/>
        </p:nvCxnSpPr>
        <p:spPr bwMode="auto">
          <a:xfrm>
            <a:off x="3965122" y="3807220"/>
            <a:ext cx="0" cy="2680843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4980BC7-388D-CD4F-8A41-C75D8D0D0E64}"/>
              </a:ext>
            </a:extLst>
          </p:cNvPr>
          <p:cNvCxnSpPr>
            <a:cxnSpLocks/>
          </p:cNvCxnSpPr>
          <p:nvPr/>
        </p:nvCxnSpPr>
        <p:spPr bwMode="auto">
          <a:xfrm>
            <a:off x="4319317" y="3765500"/>
            <a:ext cx="0" cy="2265363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D4511CF0-7168-1B4F-8D91-79A4932B3313}"/>
              </a:ext>
            </a:extLst>
          </p:cNvPr>
          <p:cNvCxnSpPr>
            <a:cxnSpLocks/>
          </p:cNvCxnSpPr>
          <p:nvPr/>
        </p:nvCxnSpPr>
        <p:spPr bwMode="auto">
          <a:xfrm>
            <a:off x="4928917" y="5130197"/>
            <a:ext cx="0" cy="1357866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5E91F59-1C09-AF40-BDB4-18F9B3613661}"/>
              </a:ext>
            </a:extLst>
          </p:cNvPr>
          <p:cNvCxnSpPr/>
          <p:nvPr/>
        </p:nvCxnSpPr>
        <p:spPr bwMode="auto">
          <a:xfrm>
            <a:off x="3965122" y="4430663"/>
            <a:ext cx="3541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DACD1A3-FA66-A44F-B0BF-6C2E282C6908}"/>
              </a:ext>
            </a:extLst>
          </p:cNvPr>
          <p:cNvCxnSpPr>
            <a:cxnSpLocks/>
          </p:cNvCxnSpPr>
          <p:nvPr/>
        </p:nvCxnSpPr>
        <p:spPr bwMode="auto">
          <a:xfrm>
            <a:off x="4319317" y="5192663"/>
            <a:ext cx="6096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Rectangle 7">
            <a:extLst>
              <a:ext uri="{FF2B5EF4-FFF2-40B4-BE49-F238E27FC236}">
                <a16:creationId xmlns:a16="http://schemas.microsoft.com/office/drawing/2014/main" id="{A6DF6598-65BA-AC4B-B154-A7374E56B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364" y="5585446"/>
            <a:ext cx="310983" cy="35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2300" b="0" i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r>
              <a:rPr lang="en-US" altLang="zh-CN" sz="2300" b="0" i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 7">
                <a:extLst>
                  <a:ext uri="{FF2B5EF4-FFF2-40B4-BE49-F238E27FC236}">
                    <a16:creationId xmlns:a16="http://schemas.microsoft.com/office/drawing/2014/main" id="{BD009BE6-4531-594D-81B4-271674A44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781" y="4774272"/>
                <a:ext cx="1208262" cy="299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𝑙𝑜𝑔𝑖𝑐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114" name="Rectangle 7">
                <a:extLst>
                  <a:ext uri="{FF2B5EF4-FFF2-40B4-BE49-F238E27FC236}">
                    <a16:creationId xmlns:a16="http://schemas.microsoft.com/office/drawing/2014/main" id="{BD009BE6-4531-594D-81B4-271674A44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5781" y="4774272"/>
                <a:ext cx="1208262" cy="299569"/>
              </a:xfrm>
              <a:prstGeom prst="rect">
                <a:avLst/>
              </a:prstGeom>
              <a:blipFill>
                <a:blip r:embed="rId3"/>
                <a:stretch>
                  <a:fillRect l="-1508" r="-4523" b="-3061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332" name="Text Box 4"/>
              <p:cNvSpPr txBox="1">
                <a:spLocks noChangeArrowheads="1"/>
              </p:cNvSpPr>
              <p:nvPr/>
            </p:nvSpPr>
            <p:spPr bwMode="auto">
              <a:xfrm>
                <a:off x="5238020" y="6152346"/>
                <a:ext cx="136633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𝒅</m:t>
                          </m:r>
                        </m:sub>
                      </m:sSub>
                      <m:r>
                        <a:rPr kumimoji="1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itchFamily="2" charset="-122"/>
                          <a:cs typeface="+mn-cs"/>
                        </a:rPr>
                        <m:t>≥</m:t>
                      </m:r>
                      <m:sSub>
                        <m:sSubPr>
                          <m:ctrlP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  <a:sym typeface="Symbol" pitchFamily="18" charset="2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  <a:sym typeface="Symbol" pitchFamily="18" charset="2"/>
                            </a:rPr>
                            <m:t>𝒉𝒐𝒍𝒅</m:t>
                          </m:r>
                        </m:sub>
                      </m:sSub>
                    </m:oMath>
                  </m:oMathPara>
                </a14:m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Tahoma" pitchFamily="34" charset="0"/>
                  <a:ea typeface="宋体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2733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8020" y="6152346"/>
                <a:ext cx="1366335" cy="400110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7">
                <a:extLst>
                  <a:ext uri="{FF2B5EF4-FFF2-40B4-BE49-F238E27FC236}">
                    <a16:creationId xmlns:a16="http://schemas.microsoft.com/office/drawing/2014/main" id="{F4E00EB4-6A84-424F-B3CE-2A45C4F54D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122" y="4040807"/>
                <a:ext cx="1208262" cy="2984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𝑐𝑙𝑘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118" name="Rectangle 7">
                <a:extLst>
                  <a:ext uri="{FF2B5EF4-FFF2-40B4-BE49-F238E27FC236}">
                    <a16:creationId xmlns:a16="http://schemas.microsoft.com/office/drawing/2014/main" id="{F4E00EB4-6A84-424F-B3CE-2A45C4F54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6122" y="4040807"/>
                <a:ext cx="1208262" cy="298415"/>
              </a:xfrm>
              <a:prstGeom prst="rect">
                <a:avLst/>
              </a:prstGeom>
              <a:blipFill>
                <a:blip r:embed="rId5"/>
                <a:stretch>
                  <a:fillRect b="-2040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线形标注 2 (无边框) 118">
            <a:extLst>
              <a:ext uri="{FF2B5EF4-FFF2-40B4-BE49-F238E27FC236}">
                <a16:creationId xmlns:a16="http://schemas.microsoft.com/office/drawing/2014/main" id="{1284DD12-1B49-B140-A7BB-2AED29F41BC5}"/>
              </a:ext>
            </a:extLst>
          </p:cNvPr>
          <p:cNvSpPr/>
          <p:nvPr/>
        </p:nvSpPr>
        <p:spPr bwMode="auto">
          <a:xfrm>
            <a:off x="4508754" y="4162546"/>
            <a:ext cx="306197" cy="240428"/>
          </a:xfrm>
          <a:prstGeom prst="callout2">
            <a:avLst>
              <a:gd name="adj1" fmla="val 20934"/>
              <a:gd name="adj2" fmla="val -2024"/>
              <a:gd name="adj3" fmla="val 22884"/>
              <a:gd name="adj4" fmla="val -78341"/>
              <a:gd name="adj5" fmla="val 104232"/>
              <a:gd name="adj6" fmla="val -124571"/>
            </a:avLst>
          </a:prstGeom>
          <a:noFill/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600" b="1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55" name="Text Box 6">
            <a:extLst>
              <a:ext uri="{FF2B5EF4-FFF2-40B4-BE49-F238E27FC236}">
                <a16:creationId xmlns:a16="http://schemas.microsoft.com/office/drawing/2014/main" id="{4541E060-9AA9-7B47-899F-C01A1770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34" y="4372937"/>
            <a:ext cx="2260734" cy="369332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1. DFF-1/2 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  <a:cs typeface="Arial" panose="020B0604020202020204" pitchFamily="34" charset="0"/>
              </a:rPr>
              <a:t>开始采样</a:t>
            </a:r>
            <a:endParaRPr lang="en-US" altLang="zh-CN" dirty="0">
              <a:solidFill>
                <a:srgbClr val="7030A0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9326F56-03EB-EC41-B6F6-3C95CCF6DA33}"/>
              </a:ext>
            </a:extLst>
          </p:cNvPr>
          <p:cNvCxnSpPr>
            <a:cxnSpLocks/>
            <a:stCxn id="55" idx="3"/>
          </p:cNvCxnSpPr>
          <p:nvPr/>
        </p:nvCxnSpPr>
        <p:spPr bwMode="auto">
          <a:xfrm>
            <a:off x="2961568" y="4557603"/>
            <a:ext cx="983199" cy="216669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 Box 6">
            <a:extLst>
              <a:ext uri="{FF2B5EF4-FFF2-40B4-BE49-F238E27FC236}">
                <a16:creationId xmlns:a16="http://schemas.microsoft.com/office/drawing/2014/main" id="{B5692224-9CC1-9D4B-B3D6-615E514C6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35" y="5203797"/>
            <a:ext cx="2027918" cy="369332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2. DFF-1 Q1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  <a:cs typeface="Arial" panose="020B0604020202020204" pitchFamily="34" charset="0"/>
              </a:rPr>
              <a:t>更新</a:t>
            </a:r>
            <a:endParaRPr lang="en-US" altLang="zh-CN" dirty="0">
              <a:solidFill>
                <a:srgbClr val="7030A0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350CC3C8-5E6A-F04D-82BE-6620D9A782E2}"/>
              </a:ext>
            </a:extLst>
          </p:cNvPr>
          <p:cNvCxnSpPr>
            <a:cxnSpLocks/>
            <a:stCxn id="60" idx="3"/>
          </p:cNvCxnSpPr>
          <p:nvPr/>
        </p:nvCxnSpPr>
        <p:spPr bwMode="auto">
          <a:xfrm flipV="1">
            <a:off x="2728753" y="5162550"/>
            <a:ext cx="1557497" cy="225913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 Box 6">
            <a:extLst>
              <a:ext uri="{FF2B5EF4-FFF2-40B4-BE49-F238E27FC236}">
                <a16:creationId xmlns:a16="http://schemas.microsoft.com/office/drawing/2014/main" id="{C9711228-4350-9F48-97EB-8DB2A2AE7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660" y="4482979"/>
            <a:ext cx="1987895" cy="646331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3. DFF-2 D2 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  <a:cs typeface="Arial" panose="020B0604020202020204" pitchFamily="34" charset="0"/>
              </a:rPr>
              <a:t>采样过后更新</a:t>
            </a:r>
            <a:endParaRPr lang="en-US" altLang="zh-CN" dirty="0">
              <a:solidFill>
                <a:srgbClr val="7030A0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5C588878-A031-1E4B-AE52-4DE517A5389E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4408" y="4848718"/>
            <a:ext cx="1442116" cy="380562"/>
          </a:xfrm>
          <a:prstGeom prst="line">
            <a:avLst/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E47D1F47-664F-8843-A397-62732FFF1E26}"/>
              </a:ext>
            </a:extLst>
          </p:cNvPr>
          <p:cNvCxnSpPr>
            <a:cxnSpLocks/>
          </p:cNvCxnSpPr>
          <p:nvPr/>
        </p:nvCxnSpPr>
        <p:spPr bwMode="auto">
          <a:xfrm>
            <a:off x="3944767" y="6030863"/>
            <a:ext cx="984150" cy="0"/>
          </a:xfrm>
          <a:prstGeom prst="straightConnector1">
            <a:avLst/>
          </a:prstGeom>
          <a:ln>
            <a:solidFill>
              <a:srgbClr val="3333FF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angle 7">
                <a:extLst>
                  <a:ext uri="{FF2B5EF4-FFF2-40B4-BE49-F238E27FC236}">
                    <a16:creationId xmlns:a16="http://schemas.microsoft.com/office/drawing/2014/main" id="{27A28E98-44FB-7141-8DCD-7B2287045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4623" y="5979374"/>
                <a:ext cx="1208262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CN" sz="1800" b="0" dirty="0">
                  <a:solidFill>
                    <a:srgbClr val="3333FF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115" name="Rectangle 7">
                <a:extLst>
                  <a:ext uri="{FF2B5EF4-FFF2-40B4-BE49-F238E27FC236}">
                    <a16:creationId xmlns:a16="http://schemas.microsoft.com/office/drawing/2014/main" id="{27A28E98-44FB-7141-8DCD-7B2287045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4623" y="5979374"/>
                <a:ext cx="1208262" cy="276999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 Box 4">
                <a:extLst>
                  <a:ext uri="{FF2B5EF4-FFF2-40B4-BE49-F238E27FC236}">
                    <a16:creationId xmlns:a16="http://schemas.microsoft.com/office/drawing/2014/main" id="{464560A2-DAD8-CA4B-9DE0-F62B5FF32E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8101" y="6152346"/>
                <a:ext cx="3079561" cy="429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𝒅</m:t>
                          </m:r>
                        </m:sub>
                      </m:sSub>
                      <m:r>
                        <a:rPr kumimoji="1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itchFamily="2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00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𝒄𝒍𝒌</m:t>
                          </m:r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−</m:t>
                          </m:r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𝒒</m:t>
                          </m:r>
                        </m:sub>
                      </m:sSub>
                      <m:r>
                        <a:rPr kumimoji="1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itchFamily="2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432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itchFamily="2" charset="-122"/>
                              <a:cs typeface="+mn-cs"/>
                            </a:rPr>
                            <m:t>𝒍𝒐𝒈𝒊𝒄</m:t>
                          </m:r>
                        </m:sub>
                      </m:sSub>
                      <m:r>
                        <a:rPr kumimoji="1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itchFamily="2" charset="-122"/>
                          <a:cs typeface="+mn-cs"/>
                        </a:rPr>
                        <m:t>(</m:t>
                      </m:r>
                      <m:r>
                        <a:rPr kumimoji="1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itchFamily="2" charset="-122"/>
                          <a:cs typeface="+mn-cs"/>
                        </a:rPr>
                        <m:t>𝒎𝒊𝒏</m:t>
                      </m:r>
                      <m:r>
                        <a:rPr kumimoji="1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itchFamily="2" charset="-122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1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Tahoma" pitchFamily="34" charset="0"/>
                  <a:ea typeface="宋体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75" name="Text Box 4">
                <a:extLst>
                  <a:ext uri="{FF2B5EF4-FFF2-40B4-BE49-F238E27FC236}">
                    <a16:creationId xmlns:a16="http://schemas.microsoft.com/office/drawing/2014/main" id="{464560A2-DAD8-CA4B-9DE0-F62B5FF32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101" y="6152346"/>
                <a:ext cx="3079561" cy="429220"/>
              </a:xfrm>
              <a:prstGeom prst="rect">
                <a:avLst/>
              </a:prstGeom>
              <a:blipFill>
                <a:blip r:embed="rId7"/>
                <a:stretch>
                  <a:fillRect b="-1126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4C482524-9E77-C740-86D9-C467706633B1}"/>
              </a:ext>
            </a:extLst>
          </p:cNvPr>
          <p:cNvCxnSpPr>
            <a:cxnSpLocks/>
          </p:cNvCxnSpPr>
          <p:nvPr/>
        </p:nvCxnSpPr>
        <p:spPr bwMode="auto">
          <a:xfrm flipV="1">
            <a:off x="3156819" y="6074053"/>
            <a:ext cx="1019999" cy="138583"/>
          </a:xfrm>
          <a:prstGeom prst="line">
            <a:avLst/>
          </a:prstGeom>
          <a:ln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Cloud 58">
            <a:extLst>
              <a:ext uri="{FF2B5EF4-FFF2-40B4-BE49-F238E27FC236}">
                <a16:creationId xmlns:a16="http://schemas.microsoft.com/office/drawing/2014/main" id="{01420526-26C6-8A4A-A8D3-31F850D0E0EE}"/>
              </a:ext>
            </a:extLst>
          </p:cNvPr>
          <p:cNvSpPr/>
          <p:nvPr/>
        </p:nvSpPr>
        <p:spPr>
          <a:xfrm>
            <a:off x="4943469" y="1337053"/>
            <a:ext cx="3593592" cy="6126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CN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后级DFF的输入信号D必须在触发时钟</a:t>
            </a:r>
            <a:r>
              <a:rPr lang="en-CN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到来后</a:t>
            </a:r>
            <a:r>
              <a:rPr lang="en-CN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继续稳定</a:t>
            </a:r>
            <a:r>
              <a:rPr lang="en-CN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t</a:t>
            </a:r>
            <a:r>
              <a:rPr lang="en-CN" baseline="-25000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h</a:t>
            </a:r>
            <a:r>
              <a:rPr lang="en-CN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时间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F3971B1F-3B88-7BF3-CD8B-692DABBAF82D}"/>
              </a:ext>
            </a:extLst>
          </p:cNvPr>
          <p:cNvCxnSpPr>
            <a:cxnSpLocks/>
          </p:cNvCxnSpPr>
          <p:nvPr/>
        </p:nvCxnSpPr>
        <p:spPr bwMode="auto">
          <a:xfrm>
            <a:off x="4648200" y="5471320"/>
            <a:ext cx="0" cy="1015748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717C796-3744-EE2A-98E2-496CD75779C7}"/>
              </a:ext>
            </a:extLst>
          </p:cNvPr>
          <p:cNvCxnSpPr>
            <a:cxnSpLocks/>
          </p:cNvCxnSpPr>
          <p:nvPr/>
        </p:nvCxnSpPr>
        <p:spPr bwMode="auto">
          <a:xfrm>
            <a:off x="3944767" y="6335663"/>
            <a:ext cx="703433" cy="0"/>
          </a:xfrm>
          <a:prstGeom prst="straightConnector1">
            <a:avLst/>
          </a:prstGeom>
          <a:ln>
            <a:solidFill>
              <a:srgbClr val="3333FF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8EDAA02B-2CB5-2CE5-460B-DF06D14A7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4623" y="6352401"/>
                <a:ext cx="83683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h𝑜𝑙𝑑</m:t>
                          </m:r>
                        </m:sub>
                      </m:sSub>
                    </m:oMath>
                  </m:oMathPara>
                </a14:m>
                <a:endParaRPr lang="en-US" altLang="zh-CN" sz="1800" b="0" dirty="0">
                  <a:solidFill>
                    <a:srgbClr val="3333FF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8EDAA02B-2CB5-2CE5-460B-DF06D14A7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4623" y="6352401"/>
                <a:ext cx="836830" cy="276999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765F2B0E-0DAC-499E-B21D-9474973561F8}"/>
              </a:ext>
            </a:extLst>
          </p:cNvPr>
          <p:cNvGrpSpPr>
            <a:grpSpLocks noChangeAspect="1"/>
          </p:cNvGrpSpPr>
          <p:nvPr/>
        </p:nvGrpSpPr>
        <p:grpSpPr>
          <a:xfrm>
            <a:off x="1154214" y="2054542"/>
            <a:ext cx="6835572" cy="1501407"/>
            <a:chOff x="-7919293" y="517217"/>
            <a:chExt cx="6835572" cy="1501407"/>
          </a:xfrm>
        </p:grpSpPr>
        <p:sp>
          <p:nvSpPr>
            <p:cNvPr id="101" name="Rectangle 6">
              <a:extLst>
                <a:ext uri="{FF2B5EF4-FFF2-40B4-BE49-F238E27FC236}">
                  <a16:creationId xmlns:a16="http://schemas.microsoft.com/office/drawing/2014/main" id="{EDF45A4D-4A46-49DA-A65B-A4D0CDF16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963821" y="669688"/>
              <a:ext cx="777875" cy="985863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2" name="Rectangle 7">
              <a:extLst>
                <a:ext uri="{FF2B5EF4-FFF2-40B4-BE49-F238E27FC236}">
                  <a16:creationId xmlns:a16="http://schemas.microsoft.com/office/drawing/2014/main" id="{5D0628D2-C30E-4D4C-A808-259AB4B5E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900321" y="772875"/>
              <a:ext cx="19075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D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4" name="Rectangle 8">
              <a:extLst>
                <a:ext uri="{FF2B5EF4-FFF2-40B4-BE49-F238E27FC236}">
                  <a16:creationId xmlns:a16="http://schemas.microsoft.com/office/drawing/2014/main" id="{8E04B2FE-7030-47FB-A7B2-92304815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438359" y="772875"/>
              <a:ext cx="19877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endParaRPr lang="en-US" altLang="zh-CN" sz="1600" b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5" name="Line 9">
              <a:extLst>
                <a:ext uri="{FF2B5EF4-FFF2-40B4-BE49-F238E27FC236}">
                  <a16:creationId xmlns:a16="http://schemas.microsoft.com/office/drawing/2014/main" id="{62DD7E02-A36E-448D-AB6E-B9DA332B4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336884" y="950675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6" name="Line 10">
              <a:extLst>
                <a:ext uri="{FF2B5EF4-FFF2-40B4-BE49-F238E27FC236}">
                  <a16:creationId xmlns:a16="http://schemas.microsoft.com/office/drawing/2014/main" id="{2C09E808-9671-4890-9E4C-3061ABF14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6185945" y="950675"/>
              <a:ext cx="1119810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7" name="Rectangle 21">
              <a:extLst>
                <a:ext uri="{FF2B5EF4-FFF2-40B4-BE49-F238E27FC236}">
                  <a16:creationId xmlns:a16="http://schemas.microsoft.com/office/drawing/2014/main" id="{7F21B2B4-FF83-4143-82B7-8DFEF4A64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784582" y="1200040"/>
              <a:ext cx="1859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8" name="Line 23">
              <a:extLst>
                <a:ext uri="{FF2B5EF4-FFF2-40B4-BE49-F238E27FC236}">
                  <a16:creationId xmlns:a16="http://schemas.microsoft.com/office/drawing/2014/main" id="{EC25D06F-CFA9-4E44-B3AF-EE3AC364B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327360" y="1352313"/>
              <a:ext cx="347663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9" name="Freeform 25">
              <a:extLst>
                <a:ext uri="{FF2B5EF4-FFF2-40B4-BE49-F238E27FC236}">
                  <a16:creationId xmlns:a16="http://schemas.microsoft.com/office/drawing/2014/main" id="{7EC83873-33DF-487D-8541-C54789737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-6963821" y="1196738"/>
              <a:ext cx="150812" cy="333375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210">
                  <a:moveTo>
                    <a:pt x="0" y="210"/>
                  </a:moveTo>
                  <a:lnTo>
                    <a:pt x="103" y="105"/>
                  </a:lnTo>
                  <a:lnTo>
                    <a:pt x="11" y="0"/>
                  </a:ln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0" name="Rectangle 6">
              <a:extLst>
                <a:ext uri="{FF2B5EF4-FFF2-40B4-BE49-F238E27FC236}">
                  <a16:creationId xmlns:a16="http://schemas.microsoft.com/office/drawing/2014/main" id="{E3D9BAC6-B732-4742-AB60-E44A7E6CB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063620" y="643383"/>
              <a:ext cx="1642704" cy="1012167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1" name="Rectangle 21">
              <a:extLst>
                <a:ext uri="{FF2B5EF4-FFF2-40B4-BE49-F238E27FC236}">
                  <a16:creationId xmlns:a16="http://schemas.microsoft.com/office/drawing/2014/main" id="{EC3F3F9B-211C-4695-A9D2-5E7FBDFF0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575488" y="840350"/>
              <a:ext cx="75501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zh-CN" sz="2000" b="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Comb.</a:t>
              </a:r>
            </a:p>
            <a:p>
              <a:pPr algn="ctr"/>
              <a:r>
                <a:rPr lang="en-US" altLang="zh-CN" sz="2000" b="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Logic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2" name="Rectangle 6">
              <a:extLst>
                <a:ext uri="{FF2B5EF4-FFF2-40B4-BE49-F238E27FC236}">
                  <a16:creationId xmlns:a16="http://schemas.microsoft.com/office/drawing/2014/main" id="{AAB69A33-7918-4847-A223-CBC29D68D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07696" y="643384"/>
              <a:ext cx="777875" cy="1014514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6" name="Rectangle 7">
              <a:extLst>
                <a:ext uri="{FF2B5EF4-FFF2-40B4-BE49-F238E27FC236}">
                  <a16:creationId xmlns:a16="http://schemas.microsoft.com/office/drawing/2014/main" id="{A988C9A9-00AA-4E3D-AF8C-4B62F30F9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344196" y="746571"/>
              <a:ext cx="19075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D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7" name="Rectangle 8">
              <a:extLst>
                <a:ext uri="{FF2B5EF4-FFF2-40B4-BE49-F238E27FC236}">
                  <a16:creationId xmlns:a16="http://schemas.microsoft.com/office/drawing/2014/main" id="{EC805CF1-9185-4FC1-BA17-552AABCB4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882233" y="746571"/>
              <a:ext cx="19877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0" name="Line 9">
              <a:extLst>
                <a:ext uri="{FF2B5EF4-FFF2-40B4-BE49-F238E27FC236}">
                  <a16:creationId xmlns:a16="http://schemas.microsoft.com/office/drawing/2014/main" id="{F7F6B2A7-E058-4C85-BBCF-9ECE90227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391711" y="924370"/>
              <a:ext cx="968140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1" name="Rectangle 21">
              <a:extLst>
                <a:ext uri="{FF2B5EF4-FFF2-40B4-BE49-F238E27FC236}">
                  <a16:creationId xmlns:a16="http://schemas.microsoft.com/office/drawing/2014/main" id="{F3961D13-448E-446B-A31D-D7D3E90D6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228456" y="1200040"/>
              <a:ext cx="1859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2" name="Line 23">
              <a:extLst>
                <a:ext uri="{FF2B5EF4-FFF2-40B4-BE49-F238E27FC236}">
                  <a16:creationId xmlns:a16="http://schemas.microsoft.com/office/drawing/2014/main" id="{249D006B-00F4-466E-A4F0-E9706F467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771235" y="1326008"/>
              <a:ext cx="347663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25">
              <a:extLst>
                <a:ext uri="{FF2B5EF4-FFF2-40B4-BE49-F238E27FC236}">
                  <a16:creationId xmlns:a16="http://schemas.microsoft.com/office/drawing/2014/main" id="{79526A24-5D9F-4F8B-80B4-1983E59A2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07696" y="1170433"/>
              <a:ext cx="150812" cy="333375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210">
                  <a:moveTo>
                    <a:pt x="0" y="210"/>
                  </a:moveTo>
                  <a:lnTo>
                    <a:pt x="103" y="105"/>
                  </a:lnTo>
                  <a:lnTo>
                    <a:pt x="11" y="0"/>
                  </a:ln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4" name="Line 10">
              <a:extLst>
                <a:ext uri="{FF2B5EF4-FFF2-40B4-BE49-F238E27FC236}">
                  <a16:creationId xmlns:a16="http://schemas.microsoft.com/office/drawing/2014/main" id="{ADB20D19-0BC3-402F-B708-4CA76E5D87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627306" y="913896"/>
              <a:ext cx="543585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5" name="Rectangle 7">
              <a:extLst>
                <a:ext uri="{FF2B5EF4-FFF2-40B4-BE49-F238E27FC236}">
                  <a16:creationId xmlns:a16="http://schemas.microsoft.com/office/drawing/2014/main" id="{0F9E8E5C-6314-4ABD-92AD-BBAEB732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376722" y="550445"/>
              <a:ext cx="31098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D</a:t>
              </a:r>
              <a:r>
                <a:rPr lang="en-US" altLang="zh-CN" sz="2000" b="0" i="1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1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6" name="Rectangle 7">
              <a:extLst>
                <a:ext uri="{FF2B5EF4-FFF2-40B4-BE49-F238E27FC236}">
                  <a16:creationId xmlns:a16="http://schemas.microsoft.com/office/drawing/2014/main" id="{D3BF45D2-77C6-4398-82C6-283DA61C5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46062" y="529348"/>
              <a:ext cx="29335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r>
                <a:rPr lang="en-US" altLang="zh-CN" sz="2000" b="0" i="1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1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7" name="Rectangle 7">
              <a:extLst>
                <a:ext uri="{FF2B5EF4-FFF2-40B4-BE49-F238E27FC236}">
                  <a16:creationId xmlns:a16="http://schemas.microsoft.com/office/drawing/2014/main" id="{462E96C7-D3EA-4481-AB89-F381DC682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793292" y="521090"/>
              <a:ext cx="31098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D</a:t>
              </a:r>
              <a:r>
                <a:rPr lang="en-US" altLang="zh-CN" sz="2000" b="0" i="1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2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8" name="Rectangle 7">
              <a:extLst>
                <a:ext uri="{FF2B5EF4-FFF2-40B4-BE49-F238E27FC236}">
                  <a16:creationId xmlns:a16="http://schemas.microsoft.com/office/drawing/2014/main" id="{92892B1D-4FCB-4D5B-AC3E-26E863491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423631" y="517217"/>
              <a:ext cx="31098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Q</a:t>
              </a:r>
              <a:r>
                <a:rPr lang="en-US" altLang="zh-CN" sz="2000" b="0" i="1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2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9" name="Rectangle 7">
              <a:extLst>
                <a:ext uri="{FF2B5EF4-FFF2-40B4-BE49-F238E27FC236}">
                  <a16:creationId xmlns:a16="http://schemas.microsoft.com/office/drawing/2014/main" id="{0B3E5E86-DF93-4D9D-8D4C-BECD641DE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919293" y="1170433"/>
              <a:ext cx="50013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000" b="0" i="1" dirty="0">
                  <a:solidFill>
                    <a:srgbClr val="000000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rPr>
                <a:t>CLK</a:t>
              </a:r>
            </a:p>
          </p:txBody>
        </p:sp>
        <p:sp>
          <p:nvSpPr>
            <p:cNvPr id="130" name="Freeform 54">
              <a:extLst>
                <a:ext uri="{FF2B5EF4-FFF2-40B4-BE49-F238E27FC236}">
                  <a16:creationId xmlns:a16="http://schemas.microsoft.com/office/drawing/2014/main" id="{0C48A86F-F178-4D1E-8254-1AEBEC09BBDF}"/>
                </a:ext>
              </a:extLst>
            </p:cNvPr>
            <p:cNvSpPr/>
            <p:nvPr/>
          </p:nvSpPr>
          <p:spPr>
            <a:xfrm>
              <a:off x="-7211280" y="1310821"/>
              <a:ext cx="4437530" cy="636934"/>
            </a:xfrm>
            <a:custGeom>
              <a:avLst/>
              <a:gdLst>
                <a:gd name="connsiteX0" fmla="*/ 0 w 4437530"/>
                <a:gd name="connsiteY0" fmla="*/ 26895 h 484095"/>
                <a:gd name="connsiteX1" fmla="*/ 0 w 4437530"/>
                <a:gd name="connsiteY1" fmla="*/ 484095 h 484095"/>
                <a:gd name="connsiteX2" fmla="*/ 4437530 w 4437530"/>
                <a:gd name="connsiteY2" fmla="*/ 484095 h 484095"/>
                <a:gd name="connsiteX3" fmla="*/ 4437530 w 4437530"/>
                <a:gd name="connsiteY3" fmla="*/ 0 h 484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7530" h="484095">
                  <a:moveTo>
                    <a:pt x="0" y="26895"/>
                  </a:moveTo>
                  <a:lnTo>
                    <a:pt x="0" y="484095"/>
                  </a:lnTo>
                  <a:lnTo>
                    <a:pt x="4437530" y="484095"/>
                  </a:lnTo>
                  <a:lnTo>
                    <a:pt x="4437530" y="0"/>
                  </a:lnTo>
                </a:path>
              </a:pathLst>
            </a:cu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4400"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1" name="TextBox 6">
              <a:extLst>
                <a:ext uri="{FF2B5EF4-FFF2-40B4-BE49-F238E27FC236}">
                  <a16:creationId xmlns:a16="http://schemas.microsoft.com/office/drawing/2014/main" id="{D00BA44F-64D6-445D-9B39-6EF359BAA4E3}"/>
                </a:ext>
              </a:extLst>
            </p:cNvPr>
            <p:cNvSpPr txBox="1"/>
            <p:nvPr/>
          </p:nvSpPr>
          <p:spPr>
            <a:xfrm>
              <a:off x="-6949768" y="1618514"/>
              <a:ext cx="8274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latin typeface="Arial" panose="020B0604020202020204" pitchFamily="34" charset="0"/>
                  <a:cs typeface="Arial" panose="020B0604020202020204" pitchFamily="34" charset="0"/>
                </a:rPr>
                <a:t>DFF1</a:t>
              </a:r>
            </a:p>
          </p:txBody>
        </p:sp>
        <p:sp>
          <p:nvSpPr>
            <p:cNvPr id="132" name="TextBox 69">
              <a:extLst>
                <a:ext uri="{FF2B5EF4-FFF2-40B4-BE49-F238E27FC236}">
                  <a16:creationId xmlns:a16="http://schemas.microsoft.com/office/drawing/2014/main" id="{CDCE1746-5B20-42B0-9DB7-6675CCA46329}"/>
                </a:ext>
              </a:extLst>
            </p:cNvPr>
            <p:cNvSpPr txBox="1"/>
            <p:nvPr/>
          </p:nvSpPr>
          <p:spPr>
            <a:xfrm>
              <a:off x="-2382678" y="1618514"/>
              <a:ext cx="8274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DFF2</a:t>
              </a:r>
            </a:p>
          </p:txBody>
        </p:sp>
      </p:grpSp>
      <p:sp>
        <p:nvSpPr>
          <p:cNvPr id="3" name="Text Box 6">
            <a:extLst>
              <a:ext uri="{FF2B5EF4-FFF2-40B4-BE49-F238E27FC236}">
                <a16:creationId xmlns:a16="http://schemas.microsoft.com/office/drawing/2014/main" id="{7889A140-6925-7C9A-B651-B9DFF98BA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415" y="1351358"/>
            <a:ext cx="3589802" cy="523220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432FF"/>
                </a:solidFill>
                <a:latin typeface="+mn-ea"/>
                <a:ea typeface="+mn-ea"/>
                <a:cs typeface="Arial" panose="020B0604020202020204" pitchFamily="34" charset="0"/>
              </a:rPr>
              <a:t>上升沿触发例子</a:t>
            </a:r>
            <a:endParaRPr lang="en-US" altLang="zh-CN" sz="2800" b="1" dirty="0">
              <a:solidFill>
                <a:srgbClr val="0432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3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2" grpId="0"/>
      <p:bldP spid="55" grpId="0"/>
      <p:bldP spid="60" grpId="0"/>
      <p:bldP spid="70" grpId="0"/>
      <p:bldP spid="7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真值表与状态图</a:t>
            </a:r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BA0745-0097-B14D-9E4C-D6DE57E1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49" name="Group 18">
            <a:extLst>
              <a:ext uri="{FF2B5EF4-FFF2-40B4-BE49-F238E27FC236}">
                <a16:creationId xmlns:a16="http://schemas.microsoft.com/office/drawing/2014/main" id="{DA663C55-A4F9-274D-82C9-EE06452BCAA4}"/>
              </a:ext>
            </a:extLst>
          </p:cNvPr>
          <p:cNvGrpSpPr>
            <a:grpSpLocks/>
          </p:cNvGrpSpPr>
          <p:nvPr/>
        </p:nvGrpSpPr>
        <p:grpSpPr bwMode="auto">
          <a:xfrm>
            <a:off x="3156988" y="4120209"/>
            <a:ext cx="2830024" cy="2082311"/>
            <a:chOff x="244" y="172"/>
            <a:chExt cx="1854" cy="1212"/>
          </a:xfrm>
        </p:grpSpPr>
        <p:grpSp>
          <p:nvGrpSpPr>
            <p:cNvPr id="50" name="Group 19">
              <a:extLst>
                <a:ext uri="{FF2B5EF4-FFF2-40B4-BE49-F238E27FC236}">
                  <a16:creationId xmlns:a16="http://schemas.microsoft.com/office/drawing/2014/main" id="{8574BF63-13EC-6145-8027-BF089F8EAE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" y="672"/>
              <a:ext cx="295" cy="272"/>
              <a:chOff x="528" y="3072"/>
              <a:chExt cx="272" cy="272"/>
            </a:xfrm>
          </p:grpSpPr>
          <p:sp>
            <p:nvSpPr>
              <p:cNvPr id="77" name="Oval 20">
                <a:extLst>
                  <a:ext uri="{FF2B5EF4-FFF2-40B4-BE49-F238E27FC236}">
                    <a16:creationId xmlns:a16="http://schemas.microsoft.com/office/drawing/2014/main" id="{C663B4B0-4528-694B-B170-272A04D31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Text Box 21">
                <a:extLst>
                  <a:ext uri="{FF2B5EF4-FFF2-40B4-BE49-F238E27FC236}">
                    <a16:creationId xmlns:a16="http://schemas.microsoft.com/office/drawing/2014/main" id="{F1A9B7D5-9888-B543-B8D2-1B90752C39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" y="3072"/>
                <a:ext cx="192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 dirty="0">
                    <a:solidFill>
                      <a:schemeClr val="tx1"/>
                    </a:solidFill>
                    <a:latin typeface="+mj-lt"/>
                  </a:rPr>
                  <a:t>0</a:t>
                </a:r>
              </a:p>
            </p:txBody>
          </p:sp>
        </p:grpSp>
        <p:grpSp>
          <p:nvGrpSpPr>
            <p:cNvPr id="51" name="Group 22">
              <a:extLst>
                <a:ext uri="{FF2B5EF4-FFF2-40B4-BE49-F238E27FC236}">
                  <a16:creationId xmlns:a16="http://schemas.microsoft.com/office/drawing/2014/main" id="{03B0538A-23C5-EF4E-B75F-74AB542BE9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" y="672"/>
              <a:ext cx="295" cy="272"/>
              <a:chOff x="528" y="3072"/>
              <a:chExt cx="272" cy="272"/>
            </a:xfrm>
          </p:grpSpPr>
          <p:sp>
            <p:nvSpPr>
              <p:cNvPr id="60" name="Oval 23">
                <a:extLst>
                  <a:ext uri="{FF2B5EF4-FFF2-40B4-BE49-F238E27FC236}">
                    <a16:creationId xmlns:a16="http://schemas.microsoft.com/office/drawing/2014/main" id="{5A711D9C-D10A-9440-A544-AB8EAFFC7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Text Box 24">
                <a:extLst>
                  <a:ext uri="{FF2B5EF4-FFF2-40B4-BE49-F238E27FC236}">
                    <a16:creationId xmlns:a16="http://schemas.microsoft.com/office/drawing/2014/main" id="{7B7B2BE8-EA65-9749-AEA1-ED620EB3AC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" y="3072"/>
                <a:ext cx="192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 dirty="0">
                    <a:solidFill>
                      <a:schemeClr val="tx1"/>
                    </a:solidFill>
                    <a:latin typeface="+mj-lt"/>
                  </a:rPr>
                  <a:t>1</a:t>
                </a:r>
              </a:p>
            </p:txBody>
          </p:sp>
        </p:grpSp>
        <p:sp>
          <p:nvSpPr>
            <p:cNvPr id="52" name="Text Box 25">
              <a:extLst>
                <a:ext uri="{FF2B5EF4-FFF2-40B4-BE49-F238E27FC236}">
                  <a16:creationId xmlns:a16="http://schemas.microsoft.com/office/drawing/2014/main" id="{576C0BA0-98A1-5B4D-B5FC-BDBF6F8EC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" y="336"/>
              <a:ext cx="57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+mj-lt"/>
                </a:rPr>
                <a:t>D=0</a:t>
              </a:r>
            </a:p>
          </p:txBody>
        </p:sp>
        <p:sp>
          <p:nvSpPr>
            <p:cNvPr id="53" name="Arc 26">
              <a:extLst>
                <a:ext uri="{FF2B5EF4-FFF2-40B4-BE49-F238E27FC236}">
                  <a16:creationId xmlns:a16="http://schemas.microsoft.com/office/drawing/2014/main" id="{08BD94FE-0A0B-A54F-9E43-AAF7FC2809AB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1052" y="264"/>
              <a:ext cx="263" cy="599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Arc 27">
              <a:extLst>
                <a:ext uri="{FF2B5EF4-FFF2-40B4-BE49-F238E27FC236}">
                  <a16:creationId xmlns:a16="http://schemas.microsoft.com/office/drawing/2014/main" id="{C61AA00D-69E1-1C4C-83A5-342D063971C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91" y="622"/>
              <a:ext cx="384" cy="38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rc 28">
              <a:extLst>
                <a:ext uri="{FF2B5EF4-FFF2-40B4-BE49-F238E27FC236}">
                  <a16:creationId xmlns:a16="http://schemas.microsoft.com/office/drawing/2014/main" id="{AA1E3A30-EA4F-D247-8A68-610FFB185E11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318" y="573"/>
              <a:ext cx="384" cy="39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 Box 29">
              <a:extLst>
                <a:ext uri="{FF2B5EF4-FFF2-40B4-BE49-F238E27FC236}">
                  <a16:creationId xmlns:a16="http://schemas.microsoft.com/office/drawing/2014/main" id="{9AA92388-1530-7C49-AB67-690E9A4BB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3" y="1115"/>
              <a:ext cx="57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+mj-lt"/>
                </a:rPr>
                <a:t>D=0</a:t>
              </a:r>
            </a:p>
          </p:txBody>
        </p:sp>
        <p:sp>
          <p:nvSpPr>
            <p:cNvPr id="57" name="Text Box 30">
              <a:extLst>
                <a:ext uri="{FF2B5EF4-FFF2-40B4-BE49-F238E27FC236}">
                  <a16:creationId xmlns:a16="http://schemas.microsoft.com/office/drawing/2014/main" id="{F747F45D-608A-BB48-BD56-C05C713F2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3" y="172"/>
              <a:ext cx="57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+mj-lt"/>
                </a:rPr>
                <a:t>D=1</a:t>
              </a:r>
            </a:p>
          </p:txBody>
        </p:sp>
        <p:sp>
          <p:nvSpPr>
            <p:cNvPr id="58" name="Text Box 31">
              <a:extLst>
                <a:ext uri="{FF2B5EF4-FFF2-40B4-BE49-F238E27FC236}">
                  <a16:creationId xmlns:a16="http://schemas.microsoft.com/office/drawing/2014/main" id="{F3497B05-9061-E34C-A51D-4179B9583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343"/>
              <a:ext cx="57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+mj-lt"/>
                </a:rPr>
                <a:t>D=1</a:t>
              </a:r>
            </a:p>
          </p:txBody>
        </p:sp>
        <p:sp>
          <p:nvSpPr>
            <p:cNvPr id="59" name="Arc 32">
              <a:extLst>
                <a:ext uri="{FF2B5EF4-FFF2-40B4-BE49-F238E27FC236}">
                  <a16:creationId xmlns:a16="http://schemas.microsoft.com/office/drawing/2014/main" id="{8F9D436E-727A-8A4B-AED2-CD3040B23A7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29" y="719"/>
              <a:ext cx="266" cy="555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CDBE461-A3B0-3847-A5B7-ACF8B009188A}"/>
              </a:ext>
            </a:extLst>
          </p:cNvPr>
          <p:cNvGrpSpPr/>
          <p:nvPr/>
        </p:nvGrpSpPr>
        <p:grpSpPr>
          <a:xfrm>
            <a:off x="854529" y="2008709"/>
            <a:ext cx="1512921" cy="1260475"/>
            <a:chOff x="2373279" y="2362200"/>
            <a:chExt cx="1512921" cy="1260475"/>
          </a:xfrm>
        </p:grpSpPr>
        <p:graphicFrame>
          <p:nvGraphicFramePr>
            <p:cNvPr id="90" name="Object 4">
              <a:extLst>
                <a:ext uri="{FF2B5EF4-FFF2-40B4-BE49-F238E27FC236}">
                  <a16:creationId xmlns:a16="http://schemas.microsoft.com/office/drawing/2014/main" id="{4B5399F4-E5AC-AA41-A784-84A3CD2242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3662953"/>
                </p:ext>
              </p:extLst>
            </p:nvPr>
          </p:nvGraphicFramePr>
          <p:xfrm>
            <a:off x="3215911" y="3077054"/>
            <a:ext cx="336550" cy="481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8" name="Equation" r:id="rId4" imgW="152280" imgH="228600" progId="">
                    <p:embed/>
                  </p:oleObj>
                </mc:Choice>
                <mc:Fallback>
                  <p:oleObj name="Equation" r:id="rId4" imgW="152280" imgH="228600" progId="">
                    <p:embed/>
                    <p:pic>
                      <p:nvPicPr>
                        <p:cNvPr id="21" name="Object 4">
                          <a:extLst>
                            <a:ext uri="{FF2B5EF4-FFF2-40B4-BE49-F238E27FC236}">
                              <a16:creationId xmlns:a16="http://schemas.microsoft.com/office/drawing/2014/main" id="{C38DC0D8-15B8-AF48-A5BB-09B87F99FA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5911" y="3077054"/>
                          <a:ext cx="336550" cy="481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Rectangle 6">
              <a:extLst>
                <a:ext uri="{FF2B5EF4-FFF2-40B4-BE49-F238E27FC236}">
                  <a16:creationId xmlns:a16="http://schemas.microsoft.com/office/drawing/2014/main" id="{9A826F6E-EA6F-2D48-B6B1-BCB8358CB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6342" y="2362200"/>
              <a:ext cx="777875" cy="1260475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2" name="Rectangle 7">
              <a:extLst>
                <a:ext uri="{FF2B5EF4-FFF2-40B4-BE49-F238E27FC236}">
                  <a16:creationId xmlns:a16="http://schemas.microsoft.com/office/drawing/2014/main" id="{449D131F-5168-114F-997E-FB06A5B62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842" y="2465387"/>
              <a:ext cx="195262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D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93" name="Rectangle 8">
              <a:extLst>
                <a:ext uri="{FF2B5EF4-FFF2-40B4-BE49-F238E27FC236}">
                  <a16:creationId xmlns:a16="http://schemas.microsoft.com/office/drawing/2014/main" id="{DDBF1CC4-3D05-A945-9979-F978044F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1804" y="2465387"/>
              <a:ext cx="193675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Q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94" name="Line 9">
              <a:extLst>
                <a:ext uri="{FF2B5EF4-FFF2-40B4-BE49-F238E27FC236}">
                  <a16:creationId xmlns:a16="http://schemas.microsoft.com/office/drawing/2014/main" id="{F8C64C0D-BF6F-604E-89B3-BE53C2FD1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279" y="2643187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5" name="Line 10">
              <a:extLst>
                <a:ext uri="{FF2B5EF4-FFF2-40B4-BE49-F238E27FC236}">
                  <a16:creationId xmlns:a16="http://schemas.microsoft.com/office/drawing/2014/main" id="{2F6F1108-0CD0-E748-AE9E-03F229355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18" y="2643187"/>
              <a:ext cx="361982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6" name="Line 11">
              <a:extLst>
                <a:ext uri="{FF2B5EF4-FFF2-40B4-BE49-F238E27FC236}">
                  <a16:creationId xmlns:a16="http://schemas.microsoft.com/office/drawing/2014/main" id="{12216323-ABC5-4641-BC77-DDB4B0256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979" y="3341687"/>
              <a:ext cx="357221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E76E18AB-7279-9146-93ED-01F3CDD40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98" y="3152956"/>
              <a:ext cx="179388" cy="350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C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98" name="Line 23">
              <a:extLst>
                <a:ext uri="{FF2B5EF4-FFF2-40B4-BE49-F238E27FC236}">
                  <a16:creationId xmlns:a16="http://schemas.microsoft.com/office/drawing/2014/main" id="{40ACCBBF-90BB-284E-B517-080689C1A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279" y="3317760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9" name="Freeform 25">
              <a:extLst>
                <a:ext uri="{FF2B5EF4-FFF2-40B4-BE49-F238E27FC236}">
                  <a16:creationId xmlns:a16="http://schemas.microsoft.com/office/drawing/2014/main" id="{9B4B1FF0-1FEA-654C-ADF9-CA2CCDA53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342" y="3162185"/>
              <a:ext cx="150812" cy="333375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210">
                  <a:moveTo>
                    <a:pt x="0" y="210"/>
                  </a:moveTo>
                  <a:lnTo>
                    <a:pt x="103" y="105"/>
                  </a:lnTo>
                  <a:lnTo>
                    <a:pt x="11" y="0"/>
                  </a:ln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sp>
        <p:nvSpPr>
          <p:cNvPr id="62" name="TextBox 2">
            <a:extLst>
              <a:ext uri="{FF2B5EF4-FFF2-40B4-BE49-F238E27FC236}">
                <a16:creationId xmlns:a16="http://schemas.microsoft.com/office/drawing/2014/main" id="{E57B131D-8DB8-4F6B-B1F7-7FD30B7D26AC}"/>
              </a:ext>
            </a:extLst>
          </p:cNvPr>
          <p:cNvSpPr txBox="1"/>
          <p:nvPr/>
        </p:nvSpPr>
        <p:spPr>
          <a:xfrm>
            <a:off x="5801550" y="2734803"/>
            <a:ext cx="3118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Q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Q+ 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在不同输入下的对比</a:t>
            </a:r>
            <a:endParaRPr lang="en-CN" sz="24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308489B0-5686-4A67-BE22-333C86B74F74}"/>
              </a:ext>
            </a:extLst>
          </p:cNvPr>
          <p:cNvSpPr txBox="1"/>
          <p:nvPr/>
        </p:nvSpPr>
        <p:spPr>
          <a:xfrm>
            <a:off x="5801550" y="1955545"/>
            <a:ext cx="332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给定输入，计算</a:t>
            </a:r>
            <a:r>
              <a:rPr lang="en-CN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 Q</a:t>
            </a:r>
            <a:r>
              <a:rPr lang="zh-CN" altLang="en-US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→</a:t>
            </a:r>
            <a:r>
              <a:rPr lang="en-US" altLang="zh-CN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Q</a:t>
            </a:r>
            <a:r>
              <a:rPr lang="en-US" altLang="zh-CN" sz="2400" baseline="300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+</a:t>
            </a:r>
            <a:endParaRPr lang="en-CN" sz="2400" dirty="0">
              <a:solidFill>
                <a:srgbClr val="0432FF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64" name="Object 3">
            <a:extLst>
              <a:ext uri="{FF2B5EF4-FFF2-40B4-BE49-F238E27FC236}">
                <a16:creationId xmlns:a16="http://schemas.microsoft.com/office/drawing/2014/main" id="{BD333DAC-6D92-43B6-91E8-E1EACDAC4F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795723"/>
              </p:ext>
            </p:extLst>
          </p:nvPr>
        </p:nvGraphicFramePr>
        <p:xfrm>
          <a:off x="2839757" y="1711622"/>
          <a:ext cx="2998787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Document" r:id="rId6" imgW="2760769" imgH="1942082" progId="Word.Document.8">
                  <p:embed/>
                </p:oleObj>
              </mc:Choice>
              <mc:Fallback>
                <p:oleObj name="Document" r:id="rId6" imgW="2760769" imgH="1942082" progId="Word.Document.8">
                  <p:embed/>
                  <p:pic>
                    <p:nvPicPr>
                      <p:cNvPr id="4730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9757" y="1711622"/>
                        <a:ext cx="2998787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23295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4195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820811"/>
              </p:ext>
            </p:extLst>
          </p:nvPr>
        </p:nvGraphicFramePr>
        <p:xfrm>
          <a:off x="3543300" y="2895600"/>
          <a:ext cx="2057400" cy="206654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D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4170" name="Rectangle 58"/>
          <p:cNvSpPr>
            <a:spLocks noChangeArrowheads="1"/>
          </p:cNvSpPr>
          <p:nvPr/>
        </p:nvSpPr>
        <p:spPr bwMode="auto">
          <a:xfrm>
            <a:off x="4991100" y="3962400"/>
            <a:ext cx="533400" cy="914400"/>
          </a:xfrm>
          <a:prstGeom prst="rect">
            <a:avLst/>
          </a:prstGeom>
          <a:noFill/>
          <a:ln w="25400" algn="ctr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特征方程</a:t>
            </a:r>
            <a:r>
              <a:rPr lang="en-US" altLang="zh-CN" dirty="0"/>
              <a:t> (Characteristic equations)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88956F-EDD4-8844-B7A8-E32037A0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843499" y="5196074"/>
                <a:ext cx="14570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320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499" y="5196074"/>
                <a:ext cx="145700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6B84CA4-634F-2048-AB17-7FBC3A20770C}"/>
              </a:ext>
            </a:extLst>
          </p:cNvPr>
          <p:cNvSpPr/>
          <p:nvPr/>
        </p:nvSpPr>
        <p:spPr>
          <a:xfrm>
            <a:off x="762000" y="1469824"/>
            <a:ext cx="7315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800" dirty="0">
                <a:solidFill>
                  <a:srgbClr val="000000"/>
                </a:solidFill>
                <a:latin typeface="+mj-lt"/>
                <a:ea typeface="+mj-ea"/>
                <a:cs typeface="Arial" panose="020B0604020202020204" pitchFamily="34" charset="0"/>
              </a:rPr>
              <a:t>Q+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ea typeface="+mj-ea"/>
                <a:cs typeface="Arial" panose="020B0604020202020204" pitchFamily="34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ea typeface="+mj-ea"/>
                <a:cs typeface="Arial" panose="020B0604020202020204" pitchFamily="34" charset="0"/>
              </a:rPr>
              <a:t>(Q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ea typeface="+mj-ea"/>
                <a:cs typeface="Arial" panose="020B0604020202020204" pitchFamily="34" charset="0"/>
              </a:rPr>
              <a:t>和输入信号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ea typeface="+mj-ea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ea typeface="+mj-ea"/>
                <a:cs typeface="Arial" panose="020B0604020202020204" pitchFamily="34" charset="0"/>
              </a:rPr>
              <a:t>之间的逻辑表达式</a:t>
            </a:r>
            <a:endParaRPr lang="en-CN" sz="8000" dirty="0"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7239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激励表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A503F-B270-7248-BFF6-83A89056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21749"/>
              </p:ext>
            </p:extLst>
          </p:nvPr>
        </p:nvGraphicFramePr>
        <p:xfrm>
          <a:off x="3516086" y="3200400"/>
          <a:ext cx="2111828" cy="242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5914">
                  <a:extLst>
                    <a:ext uri="{9D8B030D-6E8A-4147-A177-3AD203B41FA5}">
                      <a16:colId xmlns:a16="http://schemas.microsoft.com/office/drawing/2014/main" val="530375775"/>
                    </a:ext>
                  </a:extLst>
                </a:gridCol>
                <a:gridCol w="1055914">
                  <a:extLst>
                    <a:ext uri="{9D8B030D-6E8A-4147-A177-3AD203B41FA5}">
                      <a16:colId xmlns:a16="http://schemas.microsoft.com/office/drawing/2014/main" val="3477862270"/>
                    </a:ext>
                  </a:extLst>
                </a:gridCol>
              </a:tblGrid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zh-CN" alt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339271"/>
                  </a:ext>
                </a:extLst>
              </a:tr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322311"/>
                  </a:ext>
                </a:extLst>
              </a:tr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76381"/>
                  </a:ext>
                </a:extLst>
              </a:tr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07859"/>
                  </a:ext>
                </a:extLst>
              </a:tr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8290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85CB74A-C436-6F4F-AA75-4AC5DC6D20F1}"/>
              </a:ext>
            </a:extLst>
          </p:cNvPr>
          <p:cNvSpPr txBox="1"/>
          <p:nvPr/>
        </p:nvSpPr>
        <p:spPr>
          <a:xfrm>
            <a:off x="3018529" y="2446305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给定</a:t>
            </a:r>
            <a:r>
              <a:rPr lang="en-CN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Q</a:t>
            </a:r>
            <a:r>
              <a:rPr lang="zh-CN" altLang="en-US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→</a:t>
            </a:r>
            <a:r>
              <a:rPr lang="en-US" altLang="zh-CN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Q</a:t>
            </a:r>
            <a:r>
              <a:rPr lang="en-US" altLang="zh-CN" sz="2400" baseline="300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+</a:t>
            </a:r>
            <a:r>
              <a:rPr lang="en-CN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, </a:t>
            </a:r>
            <a:r>
              <a:rPr lang="zh-CN" altLang="en-US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寻找输入</a:t>
            </a:r>
            <a:endParaRPr lang="en-CN" sz="2400" dirty="0">
              <a:solidFill>
                <a:srgbClr val="0432FF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FB90209-AB6A-4E36-B067-A977484F6ECE}"/>
              </a:ext>
            </a:extLst>
          </p:cNvPr>
          <p:cNvSpPr/>
          <p:nvPr/>
        </p:nvSpPr>
        <p:spPr>
          <a:xfrm>
            <a:off x="762000" y="1469824"/>
            <a:ext cx="7315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根据状态转换寻找激励条件</a:t>
            </a:r>
            <a:endParaRPr lang="en-CN" altLang="zh-CN" sz="8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689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本讲主要内容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E386F-E21B-ED43-89C5-72405F96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07B82E85-EF4D-9D47-B733-92CF8247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kumimoji="1" lang="zh-CN" altLang="en-MY" b="0" dirty="0">
                <a:solidFill>
                  <a:srgbClr val="3333FF"/>
                </a:solidFill>
              </a:rPr>
              <a:t>概念</a:t>
            </a:r>
            <a:r>
              <a:rPr kumimoji="1" lang="zh-CN" altLang="en-US" b="0" dirty="0">
                <a:solidFill>
                  <a:srgbClr val="3333FF"/>
                </a:solidFill>
              </a:rPr>
              <a:t>：时钟，状态和</a:t>
            </a:r>
            <a:r>
              <a:rPr kumimoji="1" lang="en-US" altLang="zh-CN" b="0" dirty="0">
                <a:solidFill>
                  <a:srgbClr val="3333FF"/>
                </a:solidFill>
              </a:rPr>
              <a:t>FSM</a:t>
            </a:r>
          </a:p>
          <a:p>
            <a:r>
              <a:rPr kumimoji="1" lang="zh-CN" altLang="en-US" b="0" dirty="0">
                <a:solidFill>
                  <a:srgbClr val="3333FF"/>
                </a:solidFill>
              </a:rPr>
              <a:t>时序逻辑电路：锁存器</a:t>
            </a:r>
            <a:endParaRPr kumimoji="1" lang="en-MY" altLang="zh-CN" b="0" dirty="0">
              <a:solidFill>
                <a:srgbClr val="3333FF"/>
              </a:solidFill>
            </a:endParaRPr>
          </a:p>
          <a:p>
            <a:r>
              <a:rPr kumimoji="1" lang="zh-CN" altLang="en-US" b="0" dirty="0">
                <a:solidFill>
                  <a:srgbClr val="3333FF"/>
                </a:solidFill>
              </a:rPr>
              <a:t>时序逻辑电路：</a:t>
            </a:r>
            <a:r>
              <a:rPr kumimoji="1" lang="en-US" altLang="zh-CN" b="0" dirty="0">
                <a:solidFill>
                  <a:srgbClr val="3333FF"/>
                </a:solidFill>
              </a:rPr>
              <a:t>DFF</a:t>
            </a:r>
          </a:p>
          <a:p>
            <a:r>
              <a:rPr kumimoji="1" lang="zh-CN" altLang="en-US" b="0" dirty="0"/>
              <a:t>分析，设计，举例</a:t>
            </a:r>
          </a:p>
        </p:txBody>
      </p:sp>
    </p:spTree>
    <p:extLst>
      <p:ext uri="{BB962C8B-B14F-4D97-AF65-F5344CB8AC3E}">
        <p14:creationId xmlns:p14="http://schemas.microsoft.com/office/powerpoint/2010/main" val="32352143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27AFB9-7151-0243-80CA-87FF783E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en-C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8EEBF-DB67-F748-BA5F-FBF1266F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765724"/>
          </a:xfrm>
        </p:spPr>
        <p:txBody>
          <a:bodyPr>
            <a:normAutofit/>
          </a:bodyPr>
          <a:lstStyle/>
          <a:p>
            <a:r>
              <a:rPr lang="zh-CN" alt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要求</a:t>
            </a:r>
            <a:endParaRPr lang="en-CN" altLang="zh-CN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提交时间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: 7pm, 3/26/2024</a:t>
            </a:r>
          </a:p>
          <a:p>
            <a:pPr lvl="1"/>
            <a:r>
              <a:rPr lang="zh-CN" altLang="en-US" sz="2400" b="0" dirty="0"/>
              <a:t>标记学号，姓名和班级，不要抄袭或迟交</a:t>
            </a:r>
            <a:endParaRPr lang="en-US" altLang="zh-CN" sz="2400" b="0" dirty="0"/>
          </a:p>
          <a:p>
            <a:pPr lvl="1"/>
            <a:endParaRPr lang="en-US" sz="2400" b="0" dirty="0"/>
          </a:p>
          <a:p>
            <a:r>
              <a:rPr lang="zh-CN" alt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作业内容</a:t>
            </a:r>
            <a:endParaRPr lang="en-US" altLang="zh-CN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400" b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教材第四章习题</a:t>
            </a:r>
            <a:r>
              <a:rPr lang="en-US" altLang="zh-CN" sz="2400" b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3,</a:t>
            </a:r>
            <a:r>
              <a:rPr lang="zh-CN" altLang="en-US" sz="2400" b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400" b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4,</a:t>
            </a:r>
            <a:r>
              <a:rPr lang="zh-CN" altLang="en-US" sz="2400" b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zh-CN" sz="2400" b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5</a:t>
            </a:r>
          </a:p>
          <a:p>
            <a:pPr lvl="1"/>
            <a:endParaRPr lang="en-CN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66041-C381-1F46-9FD8-457C9760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3315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1E38-3818-4644-9042-E18B2C47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谢谢大家！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FE695-E291-FC4F-892E-C94BD659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课后阅读</a:t>
            </a:r>
            <a:r>
              <a:rPr lang="en-US" altLang="zh-CN" b="0" dirty="0"/>
              <a:t>1:</a:t>
            </a:r>
            <a:r>
              <a:rPr lang="zh-CN" altLang="en-US" b="0" dirty="0"/>
              <a:t> 其他类型的触发器及相互转换</a:t>
            </a:r>
            <a:endParaRPr lang="en-US" altLang="zh-CN" b="0" dirty="0"/>
          </a:p>
          <a:p>
            <a:r>
              <a:rPr lang="zh-CN" altLang="en-US" b="0" dirty="0"/>
              <a:t>课后阅读</a:t>
            </a:r>
            <a:r>
              <a:rPr lang="en-US" altLang="zh-CN" b="0" dirty="0"/>
              <a:t>2:</a:t>
            </a:r>
            <a:r>
              <a:rPr lang="zh-CN" altLang="en-US" b="0" dirty="0"/>
              <a:t> 不同触发器原理的差异</a:t>
            </a:r>
            <a:endParaRPr lang="en-US" altLang="zh-CN" b="0" dirty="0"/>
          </a:p>
          <a:p>
            <a:r>
              <a:rPr lang="en-US" b="0" dirty="0" err="1"/>
              <a:t>课后阅读不考查</a:t>
            </a:r>
            <a:endParaRPr lang="en-CN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72BFF-5F4B-464F-AC68-8B26B0A7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4535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7511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环形振荡器相位</a:t>
            </a:r>
            <a:endParaRPr lang="en-US" altLang="zh-C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35C8DE-8D56-2C4D-811E-F3C909BE3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7"/>
            <a:ext cx="8229600" cy="4525963"/>
          </a:xfrm>
        </p:spPr>
        <p:txBody>
          <a:bodyPr/>
          <a:lstStyle/>
          <a:p>
            <a:r>
              <a:rPr lang="zh-CN" altLang="en-US" sz="2800" b="0" dirty="0">
                <a:latin typeface="+mj-ea"/>
                <a:ea typeface="+mj-ea"/>
                <a:cs typeface="Arial" panose="020B0604020202020204" pitchFamily="34" charset="0"/>
              </a:rPr>
              <a:t>一组相位不同的时钟信号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CFCAD-8027-BF48-BD85-6F87BA990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pPr/>
              <a:t>65</a:t>
            </a:fld>
            <a:endParaRPr lang="en-US">
              <a:solidFill>
                <a:prstClr val="black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719876" name="Object 4"/>
          <p:cNvGraphicFramePr>
            <a:graphicFrameLocks noChangeAspect="1"/>
          </p:cNvGraphicFramePr>
          <p:nvPr/>
        </p:nvGraphicFramePr>
        <p:xfrm>
          <a:off x="685800" y="2182812"/>
          <a:ext cx="4953000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Visio" r:id="rId4" imgW="2225040" imgH="593886" progId="Visio.Drawing.11">
                  <p:embed/>
                </p:oleObj>
              </mc:Choice>
              <mc:Fallback>
                <p:oleObj name="Visio" r:id="rId4" imgW="2225040" imgH="593886" progId="Visio.Drawing.11">
                  <p:embed/>
                  <p:pic>
                    <p:nvPicPr>
                      <p:cNvPr id="7198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82812"/>
                        <a:ext cx="4953000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877" name="Object 5"/>
          <p:cNvGraphicFramePr>
            <a:graphicFrameLocks noChangeAspect="1"/>
          </p:cNvGraphicFramePr>
          <p:nvPr/>
        </p:nvGraphicFramePr>
        <p:xfrm>
          <a:off x="685800" y="3097212"/>
          <a:ext cx="4953000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Visio" r:id="rId6" imgW="2225040" imgH="593886" progId="Visio.Drawing.11">
                  <p:embed/>
                </p:oleObj>
              </mc:Choice>
              <mc:Fallback>
                <p:oleObj name="Visio" r:id="rId6" imgW="2225040" imgH="593886" progId="Visio.Drawing.11">
                  <p:embed/>
                  <p:pic>
                    <p:nvPicPr>
                      <p:cNvPr id="7198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97212"/>
                        <a:ext cx="4953000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878" name="Object 6"/>
          <p:cNvGraphicFramePr>
            <a:graphicFrameLocks noChangeAspect="1"/>
          </p:cNvGraphicFramePr>
          <p:nvPr/>
        </p:nvGraphicFramePr>
        <p:xfrm>
          <a:off x="685800" y="3935412"/>
          <a:ext cx="4953000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Visio" r:id="rId8" imgW="2225040" imgH="593886" progId="Visio.Drawing.11">
                  <p:embed/>
                </p:oleObj>
              </mc:Choice>
              <mc:Fallback>
                <p:oleObj name="Visio" r:id="rId8" imgW="2225040" imgH="593886" progId="Visio.Drawing.11">
                  <p:embed/>
                  <p:pic>
                    <p:nvPicPr>
                      <p:cNvPr id="7198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35412"/>
                        <a:ext cx="4953000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879" name="Object 7"/>
          <p:cNvGraphicFramePr>
            <a:graphicFrameLocks noChangeAspect="1"/>
          </p:cNvGraphicFramePr>
          <p:nvPr/>
        </p:nvGraphicFramePr>
        <p:xfrm>
          <a:off x="685800" y="4697412"/>
          <a:ext cx="4953000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Visio" r:id="rId10" imgW="2225040" imgH="593886" progId="Visio.Drawing.11">
                  <p:embed/>
                </p:oleObj>
              </mc:Choice>
              <mc:Fallback>
                <p:oleObj name="Visio" r:id="rId10" imgW="2225040" imgH="593886" progId="Visio.Drawing.11">
                  <p:embed/>
                  <p:pic>
                    <p:nvPicPr>
                      <p:cNvPr id="7198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697412"/>
                        <a:ext cx="4953000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880" name="Object 8"/>
          <p:cNvGraphicFramePr>
            <a:graphicFrameLocks noChangeAspect="1"/>
          </p:cNvGraphicFramePr>
          <p:nvPr/>
        </p:nvGraphicFramePr>
        <p:xfrm>
          <a:off x="685800" y="5459412"/>
          <a:ext cx="4953000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Visio" r:id="rId12" imgW="2225040" imgH="593886" progId="Visio.Drawing.11">
                  <p:embed/>
                </p:oleObj>
              </mc:Choice>
              <mc:Fallback>
                <p:oleObj name="Visio" r:id="rId12" imgW="2225040" imgH="593886" progId="Visio.Drawing.11">
                  <p:embed/>
                  <p:pic>
                    <p:nvPicPr>
                      <p:cNvPr id="7198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459412"/>
                        <a:ext cx="4953000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959610" y="2039847"/>
            <a:ext cx="5334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000" baseline="-250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pd</a:t>
            </a:r>
            <a:endParaRPr lang="en-US" altLang="zh-CN" sz="2000" baseline="-25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2" name="直接箭头连接符 11"/>
          <p:cNvCxnSpPr>
            <a:cxnSpLocks/>
          </p:cNvCxnSpPr>
          <p:nvPr/>
        </p:nvCxnSpPr>
        <p:spPr bwMode="auto">
          <a:xfrm>
            <a:off x="1981200" y="2667000"/>
            <a:ext cx="365760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5796869" y="3500735"/>
            <a:ext cx="2133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周期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 (T)?</a:t>
            </a:r>
            <a:endParaRPr lang="en-US" altLang="zh-CN" sz="2400" baseline="-25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7543800" y="3500735"/>
            <a:ext cx="914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10t</a:t>
            </a:r>
            <a:r>
              <a:rPr lang="en-US" altLang="zh-CN" sz="2400" baseline="-250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pd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5796869" y="4572000"/>
            <a:ext cx="2133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占空比 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(f)?</a:t>
            </a:r>
            <a:endParaRPr lang="en-US" altLang="zh-CN" sz="2400" baseline="-25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7543800" y="4572000"/>
            <a:ext cx="1676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50%,</a:t>
            </a:r>
            <a:r>
              <a:rPr lang="zh-CN" altLang="en-US" sz="2400" dirty="0">
                <a:solidFill>
                  <a:srgbClr val="0432FF"/>
                </a:solidFill>
                <a:latin typeface="+mj-lt"/>
                <a:ea typeface="+mj-ea"/>
                <a:cs typeface="Arial" panose="020B0604020202020204" pitchFamily="34" charset="0"/>
              </a:rPr>
              <a:t> 方波</a:t>
            </a:r>
            <a:endParaRPr lang="en-US" altLang="zh-CN" sz="2400" baseline="-25000" dirty="0">
              <a:solidFill>
                <a:srgbClr val="0432FF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5796869" y="5677243"/>
            <a:ext cx="2133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相位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 (</a:t>
            </a:r>
            <a:r>
              <a:rPr lang="en-US" altLang="zh-CN" sz="2400" i="1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φ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)?</a:t>
            </a:r>
            <a:endParaRPr lang="en-US" altLang="zh-CN" sz="2400" baseline="-250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796869" y="2382879"/>
                <a:ext cx="2274662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smtClean="0">
                          <a:solidFill>
                            <a:schemeClr val="tx1"/>
                          </a:solidFill>
                          <a:latin typeface="Cambria Math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smtClean="0">
                          <a:solidFill>
                            <a:schemeClr val="tx1"/>
                          </a:solidFill>
                          <a:latin typeface="Cambria Math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zh-CN" alt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chemeClr val="tx1"/>
                              </a:solidFill>
                              <a:latin typeface="Cambria Math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2400" b="0" i="1">
                          <a:solidFill>
                            <a:schemeClr val="tx1"/>
                          </a:solidFill>
                          <a:latin typeface="Cambria Math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400" b="0" i="1">
                          <a:solidFill>
                            <a:schemeClr val="tx1"/>
                          </a:solidFill>
                          <a:latin typeface="Cambria Math" charset="0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US" altLang="zh-CN" sz="2400" b="0">
                          <a:solidFill>
                            <a:schemeClr val="tx1"/>
                          </a:solidFill>
                          <a:latin typeface="Cambria Math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869" y="2382879"/>
                <a:ext cx="2274662" cy="6914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0246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四种触发器：</a:t>
            </a:r>
            <a:r>
              <a:rPr lang="en-US" altLang="zh-CN" dirty="0"/>
              <a:t>DFF</a:t>
            </a:r>
            <a:r>
              <a:rPr lang="zh-CN" altLang="en-US" dirty="0"/>
              <a:t>和</a:t>
            </a:r>
            <a:r>
              <a:rPr lang="en-US" altLang="zh-CN" dirty="0"/>
              <a:t>T-FF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BA0745-0097-B14D-9E4C-D6DE57E1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表格 29">
                <a:extLst>
                  <a:ext uri="{FF2B5EF4-FFF2-40B4-BE49-F238E27FC236}">
                    <a16:creationId xmlns:a16="http://schemas.microsoft.com/office/drawing/2014/main" id="{1187D7F3-8A0D-9B43-B1A5-FF210D0EAD1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4580" y="2630936"/>
              <a:ext cx="1495220" cy="1097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7610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747610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</a:tblGrid>
                  <a:tr h="3624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altLang="zh-CN" sz="24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表格 29">
                <a:extLst>
                  <a:ext uri="{FF2B5EF4-FFF2-40B4-BE49-F238E27FC236}">
                    <a16:creationId xmlns:a16="http://schemas.microsoft.com/office/drawing/2014/main" id="{1187D7F3-8A0D-9B43-B1A5-FF210D0EAD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1545386"/>
                  </p:ext>
                </p:extLst>
              </p:nvPr>
            </p:nvGraphicFramePr>
            <p:xfrm>
              <a:off x="714580" y="2630936"/>
              <a:ext cx="1495220" cy="1097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47610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747610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695" t="-3448" r="-103390" b="-2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1695" t="-3448" r="-3390" b="-25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1695" t="-103448" r="-3390" b="-15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1695" t="-203448" r="-3390" b="-5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文本框 30">
            <a:extLst>
              <a:ext uri="{FF2B5EF4-FFF2-40B4-BE49-F238E27FC236}">
                <a16:creationId xmlns:a16="http://schemas.microsoft.com/office/drawing/2014/main" id="{450C3C51-B3CA-394C-A841-E8AB7472219A}"/>
              </a:ext>
            </a:extLst>
          </p:cNvPr>
          <p:cNvSpPr txBox="1"/>
          <p:nvPr/>
        </p:nvSpPr>
        <p:spPr>
          <a:xfrm>
            <a:off x="1028256" y="2037718"/>
            <a:ext cx="1768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flip-flop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</a:p>
        </p:txBody>
      </p:sp>
      <p:grpSp>
        <p:nvGrpSpPr>
          <p:cNvPr id="49" name="Group 18">
            <a:extLst>
              <a:ext uri="{FF2B5EF4-FFF2-40B4-BE49-F238E27FC236}">
                <a16:creationId xmlns:a16="http://schemas.microsoft.com/office/drawing/2014/main" id="{DA663C55-A4F9-274D-82C9-EE06452BCAA4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237038"/>
            <a:ext cx="2857500" cy="1858962"/>
            <a:chOff x="260" y="240"/>
            <a:chExt cx="1872" cy="1082"/>
          </a:xfrm>
        </p:grpSpPr>
        <p:grpSp>
          <p:nvGrpSpPr>
            <p:cNvPr id="50" name="Group 19">
              <a:extLst>
                <a:ext uri="{FF2B5EF4-FFF2-40B4-BE49-F238E27FC236}">
                  <a16:creationId xmlns:a16="http://schemas.microsoft.com/office/drawing/2014/main" id="{8574BF63-13EC-6145-8027-BF089F8EAE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" y="672"/>
              <a:ext cx="295" cy="272"/>
              <a:chOff x="528" y="3072"/>
              <a:chExt cx="272" cy="272"/>
            </a:xfrm>
          </p:grpSpPr>
          <p:sp>
            <p:nvSpPr>
              <p:cNvPr id="77" name="Oval 20">
                <a:extLst>
                  <a:ext uri="{FF2B5EF4-FFF2-40B4-BE49-F238E27FC236}">
                    <a16:creationId xmlns:a16="http://schemas.microsoft.com/office/drawing/2014/main" id="{C663B4B0-4528-694B-B170-272A04D31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Text Box 21">
                <a:extLst>
                  <a:ext uri="{FF2B5EF4-FFF2-40B4-BE49-F238E27FC236}">
                    <a16:creationId xmlns:a16="http://schemas.microsoft.com/office/drawing/2014/main" id="{F1A9B7D5-9888-B543-B8D2-1B90752C39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 dirty="0">
                    <a:solidFill>
                      <a:schemeClr val="tx1"/>
                    </a:solidFill>
                    <a:latin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51" name="Group 22">
              <a:extLst>
                <a:ext uri="{FF2B5EF4-FFF2-40B4-BE49-F238E27FC236}">
                  <a16:creationId xmlns:a16="http://schemas.microsoft.com/office/drawing/2014/main" id="{03B0538A-23C5-EF4E-B75F-74AB542BE9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7" y="672"/>
              <a:ext cx="295" cy="272"/>
              <a:chOff x="528" y="3072"/>
              <a:chExt cx="272" cy="272"/>
            </a:xfrm>
          </p:grpSpPr>
          <p:sp>
            <p:nvSpPr>
              <p:cNvPr id="60" name="Oval 23">
                <a:extLst>
                  <a:ext uri="{FF2B5EF4-FFF2-40B4-BE49-F238E27FC236}">
                    <a16:creationId xmlns:a16="http://schemas.microsoft.com/office/drawing/2014/main" id="{5A711D9C-D10A-9440-A544-AB8EAFFC7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Text Box 24">
                <a:extLst>
                  <a:ext uri="{FF2B5EF4-FFF2-40B4-BE49-F238E27FC236}">
                    <a16:creationId xmlns:a16="http://schemas.microsoft.com/office/drawing/2014/main" id="{7B7B2BE8-EA65-9749-AEA1-ED620EB3AC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52" name="Text Box 25">
              <a:extLst>
                <a:ext uri="{FF2B5EF4-FFF2-40B4-BE49-F238E27FC236}">
                  <a16:creationId xmlns:a16="http://schemas.microsoft.com/office/drawing/2014/main" id="{576C0BA0-98A1-5B4D-B5FC-BDBF6F8EC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" y="336"/>
              <a:ext cx="57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</a:rPr>
                <a:t>D=0</a:t>
              </a:r>
            </a:p>
          </p:txBody>
        </p:sp>
        <p:sp>
          <p:nvSpPr>
            <p:cNvPr id="53" name="Arc 26">
              <a:extLst>
                <a:ext uri="{FF2B5EF4-FFF2-40B4-BE49-F238E27FC236}">
                  <a16:creationId xmlns:a16="http://schemas.microsoft.com/office/drawing/2014/main" id="{08BD94FE-0A0B-A54F-9E43-AAF7FC2809AB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1052" y="264"/>
              <a:ext cx="263" cy="599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Arc 27">
              <a:extLst>
                <a:ext uri="{FF2B5EF4-FFF2-40B4-BE49-F238E27FC236}">
                  <a16:creationId xmlns:a16="http://schemas.microsoft.com/office/drawing/2014/main" id="{C61AA00D-69E1-1C4C-83A5-342D063971C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91" y="622"/>
              <a:ext cx="384" cy="38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rc 28">
              <a:extLst>
                <a:ext uri="{FF2B5EF4-FFF2-40B4-BE49-F238E27FC236}">
                  <a16:creationId xmlns:a16="http://schemas.microsoft.com/office/drawing/2014/main" id="{AA1E3A30-EA4F-D247-8A68-610FFB185E11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318" y="573"/>
              <a:ext cx="384" cy="39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 Box 29">
              <a:extLst>
                <a:ext uri="{FF2B5EF4-FFF2-40B4-BE49-F238E27FC236}">
                  <a16:creationId xmlns:a16="http://schemas.microsoft.com/office/drawing/2014/main" id="{9AA92388-1530-7C49-AB67-690E9A4BB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" y="1056"/>
              <a:ext cx="57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</a:rPr>
                <a:t>D=0</a:t>
              </a:r>
            </a:p>
          </p:txBody>
        </p:sp>
        <p:sp>
          <p:nvSpPr>
            <p:cNvPr id="57" name="Text Box 30">
              <a:extLst>
                <a:ext uri="{FF2B5EF4-FFF2-40B4-BE49-F238E27FC236}">
                  <a16:creationId xmlns:a16="http://schemas.microsoft.com/office/drawing/2014/main" id="{F747F45D-608A-BB48-BD56-C05C713F2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" y="240"/>
              <a:ext cx="57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</a:rPr>
                <a:t>D=1</a:t>
              </a:r>
            </a:p>
          </p:txBody>
        </p:sp>
        <p:sp>
          <p:nvSpPr>
            <p:cNvPr id="58" name="Text Box 31">
              <a:extLst>
                <a:ext uri="{FF2B5EF4-FFF2-40B4-BE49-F238E27FC236}">
                  <a16:creationId xmlns:a16="http://schemas.microsoft.com/office/drawing/2014/main" id="{F3497B05-9061-E34C-A51D-4179B9583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384"/>
              <a:ext cx="57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</a:rPr>
                <a:t>D=1</a:t>
              </a:r>
            </a:p>
          </p:txBody>
        </p:sp>
        <p:sp>
          <p:nvSpPr>
            <p:cNvPr id="59" name="Arc 32">
              <a:extLst>
                <a:ext uri="{FF2B5EF4-FFF2-40B4-BE49-F238E27FC236}">
                  <a16:creationId xmlns:a16="http://schemas.microsoft.com/office/drawing/2014/main" id="{8F9D436E-727A-8A4B-AED2-CD3040B23A7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29" y="719"/>
              <a:ext cx="266" cy="555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表格 63">
                <a:extLst>
                  <a:ext uri="{FF2B5EF4-FFF2-40B4-BE49-F238E27FC236}">
                    <a16:creationId xmlns:a16="http://schemas.microsoft.com/office/drawing/2014/main" id="{74325F35-BDF3-1944-97DE-7DCA43874D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86223" y="2630274"/>
              <a:ext cx="1175656" cy="109804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9381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686275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</a:tblGrid>
                  <a:tr h="3624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altLang="zh-CN" sz="24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表格 63">
                <a:extLst>
                  <a:ext uri="{FF2B5EF4-FFF2-40B4-BE49-F238E27FC236}">
                    <a16:creationId xmlns:a16="http://schemas.microsoft.com/office/drawing/2014/main" id="{74325F35-BDF3-1944-97DE-7DCA43874D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281216"/>
                  </p:ext>
                </p:extLst>
              </p:nvPr>
            </p:nvGraphicFramePr>
            <p:xfrm>
              <a:off x="5486223" y="2630274"/>
              <a:ext cx="1175656" cy="109804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9381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686275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t="-3448" r="-143590" b="-2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909" t="-3448" r="-1818" b="-25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909" t="-103448" r="-1818" b="-15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3665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909" t="-203448" r="-1818" b="-5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文本框 64">
            <a:extLst>
              <a:ext uri="{FF2B5EF4-FFF2-40B4-BE49-F238E27FC236}">
                <a16:creationId xmlns:a16="http://schemas.microsoft.com/office/drawing/2014/main" id="{8ED3D685-C14F-8D47-BF49-1A661C0EB5B7}"/>
              </a:ext>
            </a:extLst>
          </p:cNvPr>
          <p:cNvSpPr txBox="1"/>
          <p:nvPr/>
        </p:nvSpPr>
        <p:spPr>
          <a:xfrm>
            <a:off x="5799813" y="2032475"/>
            <a:ext cx="1726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T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flip-flop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</a:p>
        </p:txBody>
      </p:sp>
      <p:grpSp>
        <p:nvGrpSpPr>
          <p:cNvPr id="43" name="Group 3">
            <a:extLst>
              <a:ext uri="{FF2B5EF4-FFF2-40B4-BE49-F238E27FC236}">
                <a16:creationId xmlns:a16="http://schemas.microsoft.com/office/drawing/2014/main" id="{1D6D81C3-F018-FB4F-A59F-BA6C6CB16710}"/>
              </a:ext>
            </a:extLst>
          </p:cNvPr>
          <p:cNvGrpSpPr>
            <a:grpSpLocks/>
          </p:cNvGrpSpPr>
          <p:nvPr/>
        </p:nvGrpSpPr>
        <p:grpSpPr bwMode="auto">
          <a:xfrm>
            <a:off x="5437950" y="4093050"/>
            <a:ext cx="2819400" cy="1905000"/>
            <a:chOff x="1248" y="2784"/>
            <a:chExt cx="1776" cy="1200"/>
          </a:xfrm>
        </p:grpSpPr>
        <p:grpSp>
          <p:nvGrpSpPr>
            <p:cNvPr id="44" name="Group 4">
              <a:extLst>
                <a:ext uri="{FF2B5EF4-FFF2-40B4-BE49-F238E27FC236}">
                  <a16:creationId xmlns:a16="http://schemas.microsoft.com/office/drawing/2014/main" id="{53138D25-FFF5-4047-B1BA-A496B68BA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6" y="3287"/>
              <a:ext cx="272" cy="288"/>
              <a:chOff x="528" y="3072"/>
              <a:chExt cx="272" cy="288"/>
            </a:xfrm>
          </p:grpSpPr>
          <p:sp>
            <p:nvSpPr>
              <p:cNvPr id="88" name="Oval 5">
                <a:extLst>
                  <a:ext uri="{FF2B5EF4-FFF2-40B4-BE49-F238E27FC236}">
                    <a16:creationId xmlns:a16="http://schemas.microsoft.com/office/drawing/2014/main" id="{A085BE7A-BB99-B347-AE97-EBD4E7DD0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Text Box 6">
                <a:extLst>
                  <a:ext uri="{FF2B5EF4-FFF2-40B4-BE49-F238E27FC236}">
                    <a16:creationId xmlns:a16="http://schemas.microsoft.com/office/drawing/2014/main" id="{03885F13-F365-9D46-BFBD-802691BA96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45" name="Group 7">
              <a:extLst>
                <a:ext uri="{FF2B5EF4-FFF2-40B4-BE49-F238E27FC236}">
                  <a16:creationId xmlns:a16="http://schemas.microsoft.com/office/drawing/2014/main" id="{9F0E5E9D-0F2B-D04C-BA84-5E6C683A5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2" y="3287"/>
              <a:ext cx="272" cy="288"/>
              <a:chOff x="528" y="3072"/>
              <a:chExt cx="272" cy="288"/>
            </a:xfrm>
          </p:grpSpPr>
          <p:sp>
            <p:nvSpPr>
              <p:cNvPr id="86" name="Oval 8">
                <a:extLst>
                  <a:ext uri="{FF2B5EF4-FFF2-40B4-BE49-F238E27FC236}">
                    <a16:creationId xmlns:a16="http://schemas.microsoft.com/office/drawing/2014/main" id="{39FB3A1A-8D8C-2542-B4C5-82BB070E7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Text Box 9">
                <a:extLst>
                  <a:ext uri="{FF2B5EF4-FFF2-40B4-BE49-F238E27FC236}">
                    <a16:creationId xmlns:a16="http://schemas.microsoft.com/office/drawing/2014/main" id="{980BFDB8-F723-AF46-A8C9-E37B207E69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46" name="Text Box 10">
              <a:extLst>
                <a:ext uri="{FF2B5EF4-FFF2-40B4-BE49-F238E27FC236}">
                  <a16:creationId xmlns:a16="http://schemas.microsoft.com/office/drawing/2014/main" id="{A08DC30E-CCCA-9B4D-9626-713D5DC90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976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</a:rPr>
                <a:t>T=0</a:t>
              </a:r>
            </a:p>
          </p:txBody>
        </p:sp>
        <p:sp>
          <p:nvSpPr>
            <p:cNvPr id="79" name="Text Box 11">
              <a:extLst>
                <a:ext uri="{FF2B5EF4-FFF2-40B4-BE49-F238E27FC236}">
                  <a16:creationId xmlns:a16="http://schemas.microsoft.com/office/drawing/2014/main" id="{01337D7B-ADDB-2942-8E62-D1100DC83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928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</a:rPr>
                <a:t>T=0</a:t>
              </a:r>
            </a:p>
          </p:txBody>
        </p:sp>
        <p:sp>
          <p:nvSpPr>
            <p:cNvPr id="80" name="Arc 12">
              <a:extLst>
                <a:ext uri="{FF2B5EF4-FFF2-40B4-BE49-F238E27FC236}">
                  <a16:creationId xmlns:a16="http://schemas.microsoft.com/office/drawing/2014/main" id="{0CD2FFCB-E7AC-7C4F-8562-23E3D7B2D11B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1957" y="2902"/>
              <a:ext cx="263" cy="553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Arc 13">
              <a:extLst>
                <a:ext uri="{FF2B5EF4-FFF2-40B4-BE49-F238E27FC236}">
                  <a16:creationId xmlns:a16="http://schemas.microsoft.com/office/drawing/2014/main" id="{0418CAB6-ED0E-F349-9DEB-B9AE55DBE7E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450" y="3252"/>
              <a:ext cx="384" cy="35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Arc 14">
              <a:extLst>
                <a:ext uri="{FF2B5EF4-FFF2-40B4-BE49-F238E27FC236}">
                  <a16:creationId xmlns:a16="http://schemas.microsoft.com/office/drawing/2014/main" id="{3379CE84-DB30-7E4A-A6C4-23F3088AA7FE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1275" y="3203"/>
              <a:ext cx="384" cy="36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15">
              <a:extLst>
                <a:ext uri="{FF2B5EF4-FFF2-40B4-BE49-F238E27FC236}">
                  <a16:creationId xmlns:a16="http://schemas.microsoft.com/office/drawing/2014/main" id="{937E4CA4-CF65-B344-88C4-582234534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8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</a:rPr>
                <a:t>T=1</a:t>
              </a:r>
            </a:p>
          </p:txBody>
        </p:sp>
        <p:sp>
          <p:nvSpPr>
            <p:cNvPr id="84" name="Text Box 16">
              <a:extLst>
                <a:ext uri="{FF2B5EF4-FFF2-40B4-BE49-F238E27FC236}">
                  <a16:creationId xmlns:a16="http://schemas.microsoft.com/office/drawing/2014/main" id="{7E7E742F-A38C-DB4F-8395-F9C061AF5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69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</a:rPr>
                <a:t>T=</a:t>
              </a: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1</a:t>
              </a:r>
              <a:endParaRPr kumimoji="1" lang="en-US" altLang="zh-CN" sz="2400" b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5" name="Arc 17">
              <a:extLst>
                <a:ext uri="{FF2B5EF4-FFF2-40B4-BE49-F238E27FC236}">
                  <a16:creationId xmlns:a16="http://schemas.microsoft.com/office/drawing/2014/main" id="{A5FBAC54-1A1F-F849-9A6F-ECC046D164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935" y="3356"/>
              <a:ext cx="266" cy="512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4D5D906-EC99-2A48-ADF1-34E14744C8EC}"/>
              </a:ext>
            </a:extLst>
          </p:cNvPr>
          <p:cNvSpPr/>
          <p:nvPr/>
        </p:nvSpPr>
        <p:spPr>
          <a:xfrm>
            <a:off x="703699" y="144333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432FF"/>
                </a:solidFill>
                <a:latin typeface="+mn-ea"/>
                <a:ea typeface="+mn-ea"/>
                <a:cs typeface="Arial" panose="020B0604020202020204" pitchFamily="34" charset="0"/>
              </a:rPr>
              <a:t>真值表和状态图</a:t>
            </a:r>
            <a:endParaRPr lang="en-CN" sz="2400" b="1" dirty="0">
              <a:solidFill>
                <a:srgbClr val="0432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DBE461-A3B0-3847-A5B7-ACF8B009188A}"/>
              </a:ext>
            </a:extLst>
          </p:cNvPr>
          <p:cNvGrpSpPr/>
          <p:nvPr/>
        </p:nvGrpSpPr>
        <p:grpSpPr>
          <a:xfrm>
            <a:off x="2601879" y="2545898"/>
            <a:ext cx="1512921" cy="1260475"/>
            <a:chOff x="2373279" y="2362200"/>
            <a:chExt cx="1512921" cy="1260475"/>
          </a:xfrm>
        </p:grpSpPr>
        <p:graphicFrame>
          <p:nvGraphicFramePr>
            <p:cNvPr id="90" name="Object 4">
              <a:extLst>
                <a:ext uri="{FF2B5EF4-FFF2-40B4-BE49-F238E27FC236}">
                  <a16:creationId xmlns:a16="http://schemas.microsoft.com/office/drawing/2014/main" id="{4B5399F4-E5AC-AA41-A784-84A3CD2242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73379" y="3087687"/>
            <a:ext cx="336550" cy="481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6" name="Equation" r:id="rId6" imgW="152280" imgH="228600" progId="">
                    <p:embed/>
                  </p:oleObj>
                </mc:Choice>
                <mc:Fallback>
                  <p:oleObj name="Equation" r:id="rId6" imgW="152280" imgH="228600" progId="">
                    <p:embed/>
                    <p:pic>
                      <p:nvPicPr>
                        <p:cNvPr id="90" name="Object 4">
                          <a:extLst>
                            <a:ext uri="{FF2B5EF4-FFF2-40B4-BE49-F238E27FC236}">
                              <a16:creationId xmlns:a16="http://schemas.microsoft.com/office/drawing/2014/main" id="{4B5399F4-E5AC-AA41-A784-84A3CD2242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3379" y="3087687"/>
                          <a:ext cx="336550" cy="481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Rectangle 6">
              <a:extLst>
                <a:ext uri="{FF2B5EF4-FFF2-40B4-BE49-F238E27FC236}">
                  <a16:creationId xmlns:a16="http://schemas.microsoft.com/office/drawing/2014/main" id="{9A826F6E-EA6F-2D48-B6B1-BCB8358CB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6342" y="2362200"/>
              <a:ext cx="777875" cy="1260475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2" name="Rectangle 7">
              <a:extLst>
                <a:ext uri="{FF2B5EF4-FFF2-40B4-BE49-F238E27FC236}">
                  <a16:creationId xmlns:a16="http://schemas.microsoft.com/office/drawing/2014/main" id="{449D131F-5168-114F-997E-FB06A5B62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842" y="2465387"/>
              <a:ext cx="195262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D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93" name="Rectangle 8">
              <a:extLst>
                <a:ext uri="{FF2B5EF4-FFF2-40B4-BE49-F238E27FC236}">
                  <a16:creationId xmlns:a16="http://schemas.microsoft.com/office/drawing/2014/main" id="{DDBF1CC4-3D05-A945-9979-F978044F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1804" y="2465387"/>
              <a:ext cx="193675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Q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94" name="Line 9">
              <a:extLst>
                <a:ext uri="{FF2B5EF4-FFF2-40B4-BE49-F238E27FC236}">
                  <a16:creationId xmlns:a16="http://schemas.microsoft.com/office/drawing/2014/main" id="{F8C64C0D-BF6F-604E-89B3-BE53C2FD1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279" y="2643187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5" name="Line 10">
              <a:extLst>
                <a:ext uri="{FF2B5EF4-FFF2-40B4-BE49-F238E27FC236}">
                  <a16:creationId xmlns:a16="http://schemas.microsoft.com/office/drawing/2014/main" id="{2F6F1108-0CD0-E748-AE9E-03F229355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18" y="2643187"/>
              <a:ext cx="361982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6" name="Line 11">
              <a:extLst>
                <a:ext uri="{FF2B5EF4-FFF2-40B4-BE49-F238E27FC236}">
                  <a16:creationId xmlns:a16="http://schemas.microsoft.com/office/drawing/2014/main" id="{12216323-ABC5-4641-BC77-DDB4B0256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979" y="3341687"/>
              <a:ext cx="357221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E76E18AB-7279-9146-93ED-01F3CDD40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3829" y="3089160"/>
              <a:ext cx="179388" cy="350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C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98" name="Line 23">
              <a:extLst>
                <a:ext uri="{FF2B5EF4-FFF2-40B4-BE49-F238E27FC236}">
                  <a16:creationId xmlns:a16="http://schemas.microsoft.com/office/drawing/2014/main" id="{40ACCBBF-90BB-284E-B517-080689C1A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279" y="3317760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99" name="Freeform 25">
              <a:extLst>
                <a:ext uri="{FF2B5EF4-FFF2-40B4-BE49-F238E27FC236}">
                  <a16:creationId xmlns:a16="http://schemas.microsoft.com/office/drawing/2014/main" id="{9B4B1FF0-1FEA-654C-ADF9-CA2CCDA53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342" y="3162185"/>
              <a:ext cx="150812" cy="333375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210">
                  <a:moveTo>
                    <a:pt x="0" y="210"/>
                  </a:moveTo>
                  <a:lnTo>
                    <a:pt x="103" y="105"/>
                  </a:lnTo>
                  <a:lnTo>
                    <a:pt x="11" y="0"/>
                  </a:ln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44C61D3-0B18-AF44-9073-E34814387627}"/>
              </a:ext>
            </a:extLst>
          </p:cNvPr>
          <p:cNvGrpSpPr/>
          <p:nvPr/>
        </p:nvGrpSpPr>
        <p:grpSpPr>
          <a:xfrm>
            <a:off x="7173879" y="2544475"/>
            <a:ext cx="1512921" cy="1260475"/>
            <a:chOff x="2373279" y="2362200"/>
            <a:chExt cx="1512921" cy="1260475"/>
          </a:xfrm>
        </p:grpSpPr>
        <p:graphicFrame>
          <p:nvGraphicFramePr>
            <p:cNvPr id="103" name="Object 4">
              <a:extLst>
                <a:ext uri="{FF2B5EF4-FFF2-40B4-BE49-F238E27FC236}">
                  <a16:creationId xmlns:a16="http://schemas.microsoft.com/office/drawing/2014/main" id="{546D2850-DCB3-6F4F-A6F5-76BA55124D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73379" y="3087687"/>
            <a:ext cx="336550" cy="481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7" name="Equation" r:id="rId6" imgW="152280" imgH="228600" progId="">
                    <p:embed/>
                  </p:oleObj>
                </mc:Choice>
                <mc:Fallback>
                  <p:oleObj name="Equation" r:id="rId6" imgW="152280" imgH="228600" progId="">
                    <p:embed/>
                    <p:pic>
                      <p:nvPicPr>
                        <p:cNvPr id="103" name="Object 4">
                          <a:extLst>
                            <a:ext uri="{FF2B5EF4-FFF2-40B4-BE49-F238E27FC236}">
                              <a16:creationId xmlns:a16="http://schemas.microsoft.com/office/drawing/2014/main" id="{546D2850-DCB3-6F4F-A6F5-76BA55124D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3379" y="3087687"/>
                          <a:ext cx="336550" cy="481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" name="Rectangle 6">
              <a:extLst>
                <a:ext uri="{FF2B5EF4-FFF2-40B4-BE49-F238E27FC236}">
                  <a16:creationId xmlns:a16="http://schemas.microsoft.com/office/drawing/2014/main" id="{CF53CE01-F937-6046-B5AA-2C37230ED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6342" y="2362200"/>
              <a:ext cx="777875" cy="1260475"/>
            </a:xfrm>
            <a:prstGeom prst="rect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105" name="Rectangle 7">
              <a:extLst>
                <a:ext uri="{FF2B5EF4-FFF2-40B4-BE49-F238E27FC236}">
                  <a16:creationId xmlns:a16="http://schemas.microsoft.com/office/drawing/2014/main" id="{C877A161-7E30-6940-90D2-B5B4C9390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842" y="2465387"/>
              <a:ext cx="163506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T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106" name="Rectangle 8">
              <a:extLst>
                <a:ext uri="{FF2B5EF4-FFF2-40B4-BE49-F238E27FC236}">
                  <a16:creationId xmlns:a16="http://schemas.microsoft.com/office/drawing/2014/main" id="{520588C9-7AEB-7641-A17C-2322E546F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1804" y="2465387"/>
              <a:ext cx="193675" cy="350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Q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107" name="Line 9">
              <a:extLst>
                <a:ext uri="{FF2B5EF4-FFF2-40B4-BE49-F238E27FC236}">
                  <a16:creationId xmlns:a16="http://schemas.microsoft.com/office/drawing/2014/main" id="{B7BAE345-3546-E34E-87EB-ED604D063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279" y="2643187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108" name="Line 10">
              <a:extLst>
                <a:ext uri="{FF2B5EF4-FFF2-40B4-BE49-F238E27FC236}">
                  <a16:creationId xmlns:a16="http://schemas.microsoft.com/office/drawing/2014/main" id="{1C89FD6C-F618-3C4A-BFA4-DEBA05EAD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18" y="2643187"/>
              <a:ext cx="361982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109" name="Line 11">
              <a:extLst>
                <a:ext uri="{FF2B5EF4-FFF2-40B4-BE49-F238E27FC236}">
                  <a16:creationId xmlns:a16="http://schemas.microsoft.com/office/drawing/2014/main" id="{5844056C-25E6-D446-9112-7E76C4D85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979" y="3341687"/>
              <a:ext cx="357221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110" name="Rectangle 21">
              <a:extLst>
                <a:ext uri="{FF2B5EF4-FFF2-40B4-BE49-F238E27FC236}">
                  <a16:creationId xmlns:a16="http://schemas.microsoft.com/office/drawing/2014/main" id="{1DDAE7EF-8722-3649-8288-934D7C15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3829" y="3089160"/>
              <a:ext cx="179388" cy="350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3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/>
                  <a:cs typeface="+mn-cs"/>
                </a:rPr>
                <a:t>C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黑体"/>
                <a:cs typeface="+mn-cs"/>
              </a:endParaRPr>
            </a:p>
          </p:txBody>
        </p:sp>
        <p:sp>
          <p:nvSpPr>
            <p:cNvPr id="111" name="Line 23">
              <a:extLst>
                <a:ext uri="{FF2B5EF4-FFF2-40B4-BE49-F238E27FC236}">
                  <a16:creationId xmlns:a16="http://schemas.microsoft.com/office/drawing/2014/main" id="{80A08D8C-CD61-514D-9F2A-97EF291FF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279" y="3317760"/>
              <a:ext cx="357188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  <p:sp>
          <p:nvSpPr>
            <p:cNvPr id="112" name="Freeform 25">
              <a:extLst>
                <a:ext uri="{FF2B5EF4-FFF2-40B4-BE49-F238E27FC236}">
                  <a16:creationId xmlns:a16="http://schemas.microsoft.com/office/drawing/2014/main" id="{D33E85D3-39DB-6443-8F1A-F0BF41F88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342" y="3162185"/>
              <a:ext cx="150812" cy="333375"/>
            </a:xfrm>
            <a:custGeom>
              <a:avLst/>
              <a:gdLst>
                <a:gd name="T0" fmla="*/ 0 w 103"/>
                <a:gd name="T1" fmla="*/ 2147483647 h 210"/>
                <a:gd name="T2" fmla="*/ 2147483647 w 103"/>
                <a:gd name="T3" fmla="*/ 2147483647 h 210"/>
                <a:gd name="T4" fmla="*/ 2147483647 w 103"/>
                <a:gd name="T5" fmla="*/ 0 h 210"/>
                <a:gd name="T6" fmla="*/ 0 60000 65536"/>
                <a:gd name="T7" fmla="*/ 0 60000 65536"/>
                <a:gd name="T8" fmla="*/ 0 60000 65536"/>
                <a:gd name="T9" fmla="*/ 0 w 103"/>
                <a:gd name="T10" fmla="*/ 0 h 210"/>
                <a:gd name="T11" fmla="*/ 103 w 103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210">
                  <a:moveTo>
                    <a:pt x="0" y="210"/>
                  </a:moveTo>
                  <a:lnTo>
                    <a:pt x="103" y="105"/>
                  </a:lnTo>
                  <a:lnTo>
                    <a:pt x="11" y="0"/>
                  </a:ln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98635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四种触发器：</a:t>
            </a:r>
            <a:r>
              <a:rPr lang="en-US" altLang="zh-CN" dirty="0"/>
              <a:t>JK-FF</a:t>
            </a:r>
            <a:r>
              <a:rPr lang="zh-CN" altLang="en-US" dirty="0"/>
              <a:t>和</a:t>
            </a:r>
            <a:r>
              <a:rPr lang="en-US" altLang="zh-CN" dirty="0"/>
              <a:t>RS-FF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3A0F0-8C43-1D43-B96A-E4E19933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表格 46">
                <a:extLst>
                  <a:ext uri="{FF2B5EF4-FFF2-40B4-BE49-F238E27FC236}">
                    <a16:creationId xmlns:a16="http://schemas.microsoft.com/office/drawing/2014/main" id="{B510E883-27E2-B34A-8E44-7DBE9AF140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69772" y="2133600"/>
              <a:ext cx="2711628" cy="18295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3876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1800681593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</a:tblGrid>
                  <a:tr h="3624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altLang="zh-CN" sz="24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503764505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0923582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表格 46">
                <a:extLst>
                  <a:ext uri="{FF2B5EF4-FFF2-40B4-BE49-F238E27FC236}">
                    <a16:creationId xmlns:a16="http://schemas.microsoft.com/office/drawing/2014/main" id="{B510E883-27E2-B34A-8E44-7DBE9AF140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363998"/>
                  </p:ext>
                </p:extLst>
              </p:nvPr>
            </p:nvGraphicFramePr>
            <p:xfrm>
              <a:off x="869772" y="2133600"/>
              <a:ext cx="2711628" cy="18295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3876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1800681593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1408" t="-3448" r="-204225" b="-4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100000" t="-3448" r="-101389" b="-4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202817" t="-3448" r="-2817" b="-44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202817" t="-103448" r="-2817" b="-34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503764505"/>
                      </a:ext>
                    </a:extLst>
                  </a:tr>
                  <a:tr h="3665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202817" t="-403448" r="-2817" b="-4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3582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B32BCEB1-816D-1B45-8BA7-79516CFFCC84}"/>
              </a:ext>
            </a:extLst>
          </p:cNvPr>
          <p:cNvSpPr txBox="1"/>
          <p:nvPr/>
        </p:nvSpPr>
        <p:spPr>
          <a:xfrm>
            <a:off x="850963" y="1603248"/>
            <a:ext cx="18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JK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flip-flop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</a:p>
        </p:txBody>
      </p:sp>
      <p:grpSp>
        <p:nvGrpSpPr>
          <p:cNvPr id="49" name="Group 33">
            <a:extLst>
              <a:ext uri="{FF2B5EF4-FFF2-40B4-BE49-F238E27FC236}">
                <a16:creationId xmlns:a16="http://schemas.microsoft.com/office/drawing/2014/main" id="{00C077D9-D5C4-E24F-9395-35E885EB61D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077992"/>
            <a:ext cx="3505200" cy="1905000"/>
            <a:chOff x="3588" y="1383"/>
            <a:chExt cx="2392" cy="1200"/>
          </a:xfrm>
        </p:grpSpPr>
        <p:grpSp>
          <p:nvGrpSpPr>
            <p:cNvPr id="50" name="Group 34">
              <a:extLst>
                <a:ext uri="{FF2B5EF4-FFF2-40B4-BE49-F238E27FC236}">
                  <a16:creationId xmlns:a16="http://schemas.microsoft.com/office/drawing/2014/main" id="{4157E347-F023-D440-B1CD-89235639DE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1" y="1872"/>
              <a:ext cx="295" cy="288"/>
              <a:chOff x="528" y="3072"/>
              <a:chExt cx="272" cy="288"/>
            </a:xfrm>
          </p:grpSpPr>
          <p:sp>
            <p:nvSpPr>
              <p:cNvPr id="62" name="Oval 35">
                <a:extLst>
                  <a:ext uri="{FF2B5EF4-FFF2-40B4-BE49-F238E27FC236}">
                    <a16:creationId xmlns:a16="http://schemas.microsoft.com/office/drawing/2014/main" id="{6B26688B-CB3B-C443-A042-13E8B7899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Text Box 36">
                <a:extLst>
                  <a:ext uri="{FF2B5EF4-FFF2-40B4-BE49-F238E27FC236}">
                    <a16:creationId xmlns:a16="http://schemas.microsoft.com/office/drawing/2014/main" id="{B530ECE7-03CC-814C-94FE-DC212C2C0A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51" name="Group 37">
              <a:extLst>
                <a:ext uri="{FF2B5EF4-FFF2-40B4-BE49-F238E27FC236}">
                  <a16:creationId xmlns:a16="http://schemas.microsoft.com/office/drawing/2014/main" id="{546AAE1C-323E-A74A-805F-1258D26094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5" y="1872"/>
              <a:ext cx="295" cy="288"/>
              <a:chOff x="528" y="3072"/>
              <a:chExt cx="272" cy="288"/>
            </a:xfrm>
          </p:grpSpPr>
          <p:sp>
            <p:nvSpPr>
              <p:cNvPr id="60" name="Oval 38">
                <a:extLst>
                  <a:ext uri="{FF2B5EF4-FFF2-40B4-BE49-F238E27FC236}">
                    <a16:creationId xmlns:a16="http://schemas.microsoft.com/office/drawing/2014/main" id="{29B7C831-F2EB-F242-B015-F5AF27B62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Text Box 39">
                <a:extLst>
                  <a:ext uri="{FF2B5EF4-FFF2-40B4-BE49-F238E27FC236}">
                    <a16:creationId xmlns:a16="http://schemas.microsoft.com/office/drawing/2014/main" id="{534A2EF7-FF18-E146-B148-0A0E870E4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 dirty="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52" name="Text Box 40">
              <a:extLst>
                <a:ext uri="{FF2B5EF4-FFF2-40B4-BE49-F238E27FC236}">
                  <a16:creationId xmlns:a16="http://schemas.microsoft.com/office/drawing/2014/main" id="{F0C802DD-4B41-514B-AD41-0E5C3B690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6" y="1584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</a:rPr>
                <a:t>K=0</a:t>
              </a:r>
            </a:p>
          </p:txBody>
        </p:sp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D21BD85F-565A-E048-B292-E79BDA6D6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1536"/>
              <a:ext cx="9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</a:rPr>
                <a:t>J=0</a:t>
              </a:r>
            </a:p>
          </p:txBody>
        </p:sp>
        <p:sp>
          <p:nvSpPr>
            <p:cNvPr id="54" name="Arc 42">
              <a:extLst>
                <a:ext uri="{FF2B5EF4-FFF2-40B4-BE49-F238E27FC236}">
                  <a16:creationId xmlns:a16="http://schemas.microsoft.com/office/drawing/2014/main" id="{29F38453-EC04-1541-B4B9-4D1D9AA5E52A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4640" y="1464"/>
              <a:ext cx="263" cy="599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rc 43">
              <a:extLst>
                <a:ext uri="{FF2B5EF4-FFF2-40B4-BE49-F238E27FC236}">
                  <a16:creationId xmlns:a16="http://schemas.microsoft.com/office/drawing/2014/main" id="{EF747312-9840-B748-B8EF-547892801C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179" y="1822"/>
              <a:ext cx="384" cy="38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Arc 44">
              <a:extLst>
                <a:ext uri="{FF2B5EF4-FFF2-40B4-BE49-F238E27FC236}">
                  <a16:creationId xmlns:a16="http://schemas.microsoft.com/office/drawing/2014/main" id="{EAB2D96F-29FB-BF45-9F86-A1ECF74E7BD8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3906" y="1773"/>
              <a:ext cx="384" cy="39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45">
              <a:extLst>
                <a:ext uri="{FF2B5EF4-FFF2-40B4-BE49-F238E27FC236}">
                  <a16:creationId xmlns:a16="http://schemas.microsoft.com/office/drawing/2014/main" id="{66A1E173-A71A-8B43-8B1A-FCB11F2AE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" y="1383"/>
              <a:ext cx="5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</a:rPr>
                <a:t>J=1</a:t>
              </a:r>
            </a:p>
          </p:txBody>
        </p:sp>
        <p:sp>
          <p:nvSpPr>
            <p:cNvPr id="58" name="Text Box 46">
              <a:extLst>
                <a:ext uri="{FF2B5EF4-FFF2-40B4-BE49-F238E27FC236}">
                  <a16:creationId xmlns:a16="http://schemas.microsoft.com/office/drawing/2014/main" id="{E8A5A6C1-3142-8B4E-AFA7-83DD6EE6A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" y="2295"/>
              <a:ext cx="5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</a:rPr>
                <a:t>K=1</a:t>
              </a:r>
            </a:p>
          </p:txBody>
        </p:sp>
        <p:sp>
          <p:nvSpPr>
            <p:cNvPr id="59" name="Arc 47">
              <a:extLst>
                <a:ext uri="{FF2B5EF4-FFF2-40B4-BE49-F238E27FC236}">
                  <a16:creationId xmlns:a16="http://schemas.microsoft.com/office/drawing/2014/main" id="{6F438C96-FC7A-E341-ABE7-F9FA31FFCB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617" y="1919"/>
              <a:ext cx="266" cy="555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表格 6">
                <a:extLst>
                  <a:ext uri="{FF2B5EF4-FFF2-40B4-BE49-F238E27FC236}">
                    <a16:creationId xmlns:a16="http://schemas.microsoft.com/office/drawing/2014/main" id="{33EF8E0B-B981-B84B-B961-A44DB297CF4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65061" y="2133600"/>
              <a:ext cx="2711628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3876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1800681593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</a:tblGrid>
                  <a:tr h="3624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altLang="zh-CN" sz="24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503764505"/>
                      </a:ext>
                    </a:extLst>
                  </a:tr>
                  <a:tr h="3624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0923582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表格 6">
                <a:extLst>
                  <a:ext uri="{FF2B5EF4-FFF2-40B4-BE49-F238E27FC236}">
                    <a16:creationId xmlns:a16="http://schemas.microsoft.com/office/drawing/2014/main" id="{33EF8E0B-B981-B84B-B961-A44DB297CF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7050"/>
                  </p:ext>
                </p:extLst>
              </p:nvPr>
            </p:nvGraphicFramePr>
            <p:xfrm>
              <a:off x="5265061" y="2133600"/>
              <a:ext cx="2711628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3876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1800681593"/>
                        </a:ext>
                      </a:extLst>
                    </a:gridCol>
                    <a:gridCol w="903876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389" t="-3448" r="-200000" b="-4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2817" t="-3448" r="-102817" b="-4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200000" t="-3448" r="-1389" b="-44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200000" t="-103448" r="-1389" b="-34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5037645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0923582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文本框 12">
            <a:extLst>
              <a:ext uri="{FF2B5EF4-FFF2-40B4-BE49-F238E27FC236}">
                <a16:creationId xmlns:a16="http://schemas.microsoft.com/office/drawing/2014/main" id="{EF556F9D-A494-6E45-B9D6-831E9D8005B3}"/>
              </a:ext>
            </a:extLst>
          </p:cNvPr>
          <p:cNvSpPr txBox="1"/>
          <p:nvPr/>
        </p:nvSpPr>
        <p:spPr>
          <a:xfrm>
            <a:off x="5221702" y="1600200"/>
            <a:ext cx="1890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RS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flip-flop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</a:p>
        </p:txBody>
      </p:sp>
      <p:grpSp>
        <p:nvGrpSpPr>
          <p:cNvPr id="43" name="Group 48">
            <a:extLst>
              <a:ext uri="{FF2B5EF4-FFF2-40B4-BE49-F238E27FC236}">
                <a16:creationId xmlns:a16="http://schemas.microsoft.com/office/drawing/2014/main" id="{77B01A2A-8110-6C48-85C1-DCDBCBCF8203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164637"/>
            <a:ext cx="3355731" cy="1981200"/>
            <a:chOff x="2952" y="960"/>
            <a:chExt cx="2290" cy="1248"/>
          </a:xfrm>
        </p:grpSpPr>
        <p:grpSp>
          <p:nvGrpSpPr>
            <p:cNvPr id="44" name="Group 49">
              <a:extLst>
                <a:ext uri="{FF2B5EF4-FFF2-40B4-BE49-F238E27FC236}">
                  <a16:creationId xmlns:a16="http://schemas.microsoft.com/office/drawing/2014/main" id="{A15EDE74-669A-D84F-8E37-A0715F379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3" y="1488"/>
              <a:ext cx="295" cy="288"/>
              <a:chOff x="528" y="3072"/>
              <a:chExt cx="272" cy="288"/>
            </a:xfrm>
          </p:grpSpPr>
          <p:sp>
            <p:nvSpPr>
              <p:cNvPr id="75" name="Oval 50">
                <a:extLst>
                  <a:ext uri="{FF2B5EF4-FFF2-40B4-BE49-F238E27FC236}">
                    <a16:creationId xmlns:a16="http://schemas.microsoft.com/office/drawing/2014/main" id="{5442F2FF-15EB-4D49-B5B8-C359F8279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Text Box 51">
                <a:extLst>
                  <a:ext uri="{FF2B5EF4-FFF2-40B4-BE49-F238E27FC236}">
                    <a16:creationId xmlns:a16="http://schemas.microsoft.com/office/drawing/2014/main" id="{8E21A0EF-F5E2-D54B-B38B-FC0ED34849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45" name="Group 52">
              <a:extLst>
                <a:ext uri="{FF2B5EF4-FFF2-40B4-BE49-F238E27FC236}">
                  <a16:creationId xmlns:a16="http://schemas.microsoft.com/office/drawing/2014/main" id="{A481764D-E428-B24A-8475-CB1B3FBFD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7" y="1488"/>
              <a:ext cx="295" cy="288"/>
              <a:chOff x="528" y="3072"/>
              <a:chExt cx="272" cy="288"/>
            </a:xfrm>
          </p:grpSpPr>
          <p:sp>
            <p:nvSpPr>
              <p:cNvPr id="73" name="Oval 53">
                <a:extLst>
                  <a:ext uri="{FF2B5EF4-FFF2-40B4-BE49-F238E27FC236}">
                    <a16:creationId xmlns:a16="http://schemas.microsoft.com/office/drawing/2014/main" id="{DE361909-294C-094F-819D-9C1790C02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Text Box 54">
                <a:extLst>
                  <a:ext uri="{FF2B5EF4-FFF2-40B4-BE49-F238E27FC236}">
                    <a16:creationId xmlns:a16="http://schemas.microsoft.com/office/drawing/2014/main" id="{BCE6ED78-B299-614C-ABD7-36AFAE11A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46" name="Text Box 55">
              <a:extLst>
                <a:ext uri="{FF2B5EF4-FFF2-40B4-BE49-F238E27FC236}">
                  <a16:creationId xmlns:a16="http://schemas.microsoft.com/office/drawing/2014/main" id="{01321577-2DF6-CB48-8CA9-64489808A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" y="960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</a:rPr>
                <a:t>S=1,R=0</a:t>
              </a:r>
            </a:p>
          </p:txBody>
        </p:sp>
        <p:sp>
          <p:nvSpPr>
            <p:cNvPr id="66" name="Text Box 56">
              <a:extLst>
                <a:ext uri="{FF2B5EF4-FFF2-40B4-BE49-F238E27FC236}">
                  <a16:creationId xmlns:a16="http://schemas.microsoft.com/office/drawing/2014/main" id="{ECC49756-2805-4A4B-B94E-24BBFE740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" y="1920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</a:rPr>
                <a:t>S=0,R=1</a:t>
              </a:r>
            </a:p>
          </p:txBody>
        </p:sp>
        <p:sp>
          <p:nvSpPr>
            <p:cNvPr id="67" name="Text Box 57">
              <a:extLst>
                <a:ext uri="{FF2B5EF4-FFF2-40B4-BE49-F238E27FC236}">
                  <a16:creationId xmlns:a16="http://schemas.microsoft.com/office/drawing/2014/main" id="{86617FCF-99DB-2245-B2B5-73C576E03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0" y="1200"/>
              <a:ext cx="52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</a:rPr>
                <a:t>R=0</a:t>
              </a:r>
            </a:p>
          </p:txBody>
        </p:sp>
        <p:sp>
          <p:nvSpPr>
            <p:cNvPr id="68" name="Text Box 58">
              <a:extLst>
                <a:ext uri="{FF2B5EF4-FFF2-40B4-BE49-F238E27FC236}">
                  <a16:creationId xmlns:a16="http://schemas.microsoft.com/office/drawing/2014/main" id="{1F092F46-0D49-1648-B431-D6E2B996C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" y="1152"/>
              <a:ext cx="57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</a:rPr>
                <a:t>S=0</a:t>
              </a:r>
            </a:p>
          </p:txBody>
        </p:sp>
        <p:sp>
          <p:nvSpPr>
            <p:cNvPr id="69" name="Arc 59">
              <a:extLst>
                <a:ext uri="{FF2B5EF4-FFF2-40B4-BE49-F238E27FC236}">
                  <a16:creationId xmlns:a16="http://schemas.microsoft.com/office/drawing/2014/main" id="{70BD91C3-0708-6F40-B5DC-4B28BF7EB0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934" y="1535"/>
              <a:ext cx="266" cy="555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Arc 60">
              <a:extLst>
                <a:ext uri="{FF2B5EF4-FFF2-40B4-BE49-F238E27FC236}">
                  <a16:creationId xmlns:a16="http://schemas.microsoft.com/office/drawing/2014/main" id="{82950E78-C270-784A-B3DC-52EBA086CACB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3952" y="1080"/>
              <a:ext cx="263" cy="599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Arc 61">
              <a:extLst>
                <a:ext uri="{FF2B5EF4-FFF2-40B4-BE49-F238E27FC236}">
                  <a16:creationId xmlns:a16="http://schemas.microsoft.com/office/drawing/2014/main" id="{A4554D5F-8EAB-5C45-8ACF-D07F690F70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491" y="1438"/>
              <a:ext cx="384" cy="38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Arc 62">
              <a:extLst>
                <a:ext uri="{FF2B5EF4-FFF2-40B4-BE49-F238E27FC236}">
                  <a16:creationId xmlns:a16="http://schemas.microsoft.com/office/drawing/2014/main" id="{FF16919B-01D7-5D45-9DAC-C05B55E782A9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3218" y="1389"/>
              <a:ext cx="384" cy="39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5502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6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状态图 </a:t>
            </a:r>
            <a:r>
              <a:rPr lang="en-US" altLang="zh-CN" dirty="0"/>
              <a:t>(State diagram)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EEFAAD8-33FD-E241-A42B-0250DA64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093909" y="1592658"/>
            <a:ext cx="2819400" cy="1905000"/>
            <a:chOff x="1248" y="2784"/>
            <a:chExt cx="1776" cy="120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636" y="3287"/>
              <a:ext cx="272" cy="288"/>
              <a:chOff x="528" y="3072"/>
              <a:chExt cx="272" cy="288"/>
            </a:xfrm>
          </p:grpSpPr>
          <p:sp>
            <p:nvSpPr>
              <p:cNvPr id="99390" name="Oval 5"/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Garamond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9391" name="Text Box 6"/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4" name="Group 7"/>
            <p:cNvGrpSpPr>
              <a:grpSpLocks/>
            </p:cNvGrpSpPr>
            <p:nvPr/>
          </p:nvGrpSpPr>
          <p:grpSpPr bwMode="auto">
            <a:xfrm>
              <a:off x="2212" y="3287"/>
              <a:ext cx="272" cy="288"/>
              <a:chOff x="528" y="3072"/>
              <a:chExt cx="272" cy="288"/>
            </a:xfrm>
          </p:grpSpPr>
          <p:sp>
            <p:nvSpPr>
              <p:cNvPr id="99388" name="Oval 8"/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Garamond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9389" name="Text Box 9"/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99380" name="Text Box 10"/>
            <p:cNvSpPr txBox="1">
              <a:spLocks noChangeArrowheads="1"/>
            </p:cNvSpPr>
            <p:nvPr/>
          </p:nvSpPr>
          <p:spPr bwMode="auto">
            <a:xfrm>
              <a:off x="2448" y="2976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T=0</a:t>
              </a:r>
            </a:p>
          </p:txBody>
        </p:sp>
        <p:sp>
          <p:nvSpPr>
            <p:cNvPr id="99381" name="Text Box 11"/>
            <p:cNvSpPr txBox="1">
              <a:spLocks noChangeArrowheads="1"/>
            </p:cNvSpPr>
            <p:nvPr/>
          </p:nvSpPr>
          <p:spPr bwMode="auto">
            <a:xfrm>
              <a:off x="1248" y="2928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T=0</a:t>
              </a:r>
            </a:p>
          </p:txBody>
        </p:sp>
        <p:sp>
          <p:nvSpPr>
            <p:cNvPr id="99382" name="Arc 12"/>
            <p:cNvSpPr>
              <a:spLocks/>
            </p:cNvSpPr>
            <p:nvPr/>
          </p:nvSpPr>
          <p:spPr bwMode="auto">
            <a:xfrm rot="16200000" flipV="1">
              <a:off x="1957" y="2902"/>
              <a:ext cx="263" cy="553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83" name="Arc 13"/>
            <p:cNvSpPr>
              <a:spLocks/>
            </p:cNvSpPr>
            <p:nvPr/>
          </p:nvSpPr>
          <p:spPr bwMode="auto">
            <a:xfrm rot="5400000">
              <a:off x="2450" y="3252"/>
              <a:ext cx="384" cy="35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84" name="Arc 14"/>
            <p:cNvSpPr>
              <a:spLocks/>
            </p:cNvSpPr>
            <p:nvPr/>
          </p:nvSpPr>
          <p:spPr bwMode="auto">
            <a:xfrm rot="16200000" flipH="1">
              <a:off x="1275" y="3203"/>
              <a:ext cx="384" cy="36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85" name="Text Box 15"/>
            <p:cNvSpPr txBox="1">
              <a:spLocks noChangeArrowheads="1"/>
            </p:cNvSpPr>
            <p:nvPr/>
          </p:nvSpPr>
          <p:spPr bwMode="auto">
            <a:xfrm>
              <a:off x="1872" y="278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T=1</a:t>
              </a:r>
            </a:p>
          </p:txBody>
        </p:sp>
        <p:sp>
          <p:nvSpPr>
            <p:cNvPr id="99386" name="Text Box 16"/>
            <p:cNvSpPr txBox="1">
              <a:spLocks noChangeArrowheads="1"/>
            </p:cNvSpPr>
            <p:nvPr/>
          </p:nvSpPr>
          <p:spPr bwMode="auto">
            <a:xfrm>
              <a:off x="1872" y="369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T=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  <a:sym typeface="Symbol" pitchFamily="18" charset="2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87" name="Arc 17"/>
            <p:cNvSpPr>
              <a:spLocks/>
            </p:cNvSpPr>
            <p:nvPr/>
          </p:nvSpPr>
          <p:spPr bwMode="auto">
            <a:xfrm rot="5400000">
              <a:off x="1935" y="3356"/>
              <a:ext cx="266" cy="512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1055809" y="4084638"/>
            <a:ext cx="2857500" cy="1858962"/>
            <a:chOff x="260" y="240"/>
            <a:chExt cx="1872" cy="1082"/>
          </a:xfrm>
        </p:grpSpPr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693" y="672"/>
              <a:ext cx="295" cy="272"/>
              <a:chOff x="528" y="3072"/>
              <a:chExt cx="272" cy="272"/>
            </a:xfrm>
          </p:grpSpPr>
          <p:sp>
            <p:nvSpPr>
              <p:cNvPr id="99376" name="Oval 20"/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Garamond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9377" name="Text Box 21"/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1317" y="672"/>
              <a:ext cx="295" cy="272"/>
              <a:chOff x="528" y="3072"/>
              <a:chExt cx="272" cy="272"/>
            </a:xfrm>
          </p:grpSpPr>
          <p:sp>
            <p:nvSpPr>
              <p:cNvPr id="99374" name="Oval 23"/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Garamond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9375" name="Text Box 24"/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99366" name="Text Box 25"/>
            <p:cNvSpPr txBox="1">
              <a:spLocks noChangeArrowheads="1"/>
            </p:cNvSpPr>
            <p:nvPr/>
          </p:nvSpPr>
          <p:spPr bwMode="auto">
            <a:xfrm>
              <a:off x="260" y="336"/>
              <a:ext cx="57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D=0</a:t>
              </a:r>
            </a:p>
          </p:txBody>
        </p:sp>
        <p:sp>
          <p:nvSpPr>
            <p:cNvPr id="99367" name="Arc 26"/>
            <p:cNvSpPr>
              <a:spLocks/>
            </p:cNvSpPr>
            <p:nvPr/>
          </p:nvSpPr>
          <p:spPr bwMode="auto">
            <a:xfrm rot="16200000" flipV="1">
              <a:off x="1052" y="264"/>
              <a:ext cx="263" cy="599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68" name="Arc 27"/>
            <p:cNvSpPr>
              <a:spLocks/>
            </p:cNvSpPr>
            <p:nvPr/>
          </p:nvSpPr>
          <p:spPr bwMode="auto">
            <a:xfrm rot="5400000">
              <a:off x="1591" y="622"/>
              <a:ext cx="384" cy="38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69" name="Arc 28"/>
            <p:cNvSpPr>
              <a:spLocks/>
            </p:cNvSpPr>
            <p:nvPr/>
          </p:nvSpPr>
          <p:spPr bwMode="auto">
            <a:xfrm rot="16200000" flipH="1">
              <a:off x="318" y="573"/>
              <a:ext cx="384" cy="39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70" name="Text Box 29"/>
            <p:cNvSpPr txBox="1">
              <a:spLocks noChangeArrowheads="1"/>
            </p:cNvSpPr>
            <p:nvPr/>
          </p:nvSpPr>
          <p:spPr bwMode="auto">
            <a:xfrm>
              <a:off x="936" y="1056"/>
              <a:ext cx="57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D=0</a:t>
              </a:r>
            </a:p>
          </p:txBody>
        </p:sp>
        <p:sp>
          <p:nvSpPr>
            <p:cNvPr id="99371" name="Text Box 30"/>
            <p:cNvSpPr txBox="1">
              <a:spLocks noChangeArrowheads="1"/>
            </p:cNvSpPr>
            <p:nvPr/>
          </p:nvSpPr>
          <p:spPr bwMode="auto">
            <a:xfrm>
              <a:off x="936" y="240"/>
              <a:ext cx="57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D=1</a:t>
              </a:r>
            </a:p>
          </p:txBody>
        </p:sp>
        <p:sp>
          <p:nvSpPr>
            <p:cNvPr id="99372" name="Text Box 31"/>
            <p:cNvSpPr txBox="1">
              <a:spLocks noChangeArrowheads="1"/>
            </p:cNvSpPr>
            <p:nvPr/>
          </p:nvSpPr>
          <p:spPr bwMode="auto">
            <a:xfrm>
              <a:off x="1560" y="384"/>
              <a:ext cx="572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D=1</a:t>
              </a:r>
            </a:p>
          </p:txBody>
        </p:sp>
        <p:sp>
          <p:nvSpPr>
            <p:cNvPr id="99373" name="Arc 32"/>
            <p:cNvSpPr>
              <a:spLocks/>
            </p:cNvSpPr>
            <p:nvPr/>
          </p:nvSpPr>
          <p:spPr bwMode="auto">
            <a:xfrm rot="5400000">
              <a:off x="1029" y="719"/>
              <a:ext cx="266" cy="555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5056309" y="1592658"/>
            <a:ext cx="3505200" cy="1909763"/>
            <a:chOff x="3658" y="1400"/>
            <a:chExt cx="2392" cy="1203"/>
          </a:xfrm>
        </p:grpSpPr>
        <p:grpSp>
          <p:nvGrpSpPr>
            <p:cNvPr id="9" name="Group 34"/>
            <p:cNvGrpSpPr>
              <a:grpSpLocks/>
            </p:cNvGrpSpPr>
            <p:nvPr/>
          </p:nvGrpSpPr>
          <p:grpSpPr bwMode="auto">
            <a:xfrm>
              <a:off x="4281" y="1872"/>
              <a:ext cx="295" cy="288"/>
              <a:chOff x="528" y="3072"/>
              <a:chExt cx="272" cy="288"/>
            </a:xfrm>
          </p:grpSpPr>
          <p:sp>
            <p:nvSpPr>
              <p:cNvPr id="99362" name="Oval 35"/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Garamond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9363" name="Text Box 36"/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10" name="Group 37"/>
            <p:cNvGrpSpPr>
              <a:grpSpLocks/>
            </p:cNvGrpSpPr>
            <p:nvPr/>
          </p:nvGrpSpPr>
          <p:grpSpPr bwMode="auto">
            <a:xfrm>
              <a:off x="4905" y="1872"/>
              <a:ext cx="295" cy="288"/>
              <a:chOff x="528" y="3072"/>
              <a:chExt cx="272" cy="288"/>
            </a:xfrm>
          </p:grpSpPr>
          <p:sp>
            <p:nvSpPr>
              <p:cNvPr id="99360" name="Oval 38"/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Garamond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9361" name="Text Box 39"/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99352" name="Text Box 40"/>
            <p:cNvSpPr txBox="1">
              <a:spLocks noChangeArrowheads="1"/>
            </p:cNvSpPr>
            <p:nvPr/>
          </p:nvSpPr>
          <p:spPr bwMode="auto">
            <a:xfrm>
              <a:off x="5166" y="1595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K=0</a:t>
              </a:r>
            </a:p>
          </p:txBody>
        </p:sp>
        <p:sp>
          <p:nvSpPr>
            <p:cNvPr id="99353" name="Text Box 41"/>
            <p:cNvSpPr txBox="1">
              <a:spLocks noChangeArrowheads="1"/>
            </p:cNvSpPr>
            <p:nvPr/>
          </p:nvSpPr>
          <p:spPr bwMode="auto">
            <a:xfrm>
              <a:off x="3658" y="1547"/>
              <a:ext cx="9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J=0</a:t>
              </a:r>
            </a:p>
          </p:txBody>
        </p:sp>
        <p:sp>
          <p:nvSpPr>
            <p:cNvPr id="99354" name="Arc 42"/>
            <p:cNvSpPr>
              <a:spLocks/>
            </p:cNvSpPr>
            <p:nvPr/>
          </p:nvSpPr>
          <p:spPr bwMode="auto">
            <a:xfrm rot="16200000" flipV="1">
              <a:off x="4640" y="1464"/>
              <a:ext cx="263" cy="599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55" name="Arc 43"/>
            <p:cNvSpPr>
              <a:spLocks/>
            </p:cNvSpPr>
            <p:nvPr/>
          </p:nvSpPr>
          <p:spPr bwMode="auto">
            <a:xfrm rot="5400000">
              <a:off x="5179" y="1822"/>
              <a:ext cx="384" cy="38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56" name="Arc 44"/>
            <p:cNvSpPr>
              <a:spLocks/>
            </p:cNvSpPr>
            <p:nvPr/>
          </p:nvSpPr>
          <p:spPr bwMode="auto">
            <a:xfrm rot="16200000" flipH="1">
              <a:off x="3906" y="1773"/>
              <a:ext cx="384" cy="39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57" name="Text Box 45"/>
            <p:cNvSpPr txBox="1">
              <a:spLocks noChangeArrowheads="1"/>
            </p:cNvSpPr>
            <p:nvPr/>
          </p:nvSpPr>
          <p:spPr bwMode="auto">
            <a:xfrm>
              <a:off x="4518" y="1400"/>
              <a:ext cx="61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J=1</a:t>
              </a:r>
            </a:p>
          </p:txBody>
        </p:sp>
        <p:sp>
          <p:nvSpPr>
            <p:cNvPr id="99358" name="Text Box 46"/>
            <p:cNvSpPr txBox="1">
              <a:spLocks noChangeArrowheads="1"/>
            </p:cNvSpPr>
            <p:nvPr/>
          </p:nvSpPr>
          <p:spPr bwMode="auto">
            <a:xfrm>
              <a:off x="4518" y="2312"/>
              <a:ext cx="55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K=1</a:t>
              </a:r>
            </a:p>
          </p:txBody>
        </p:sp>
        <p:sp>
          <p:nvSpPr>
            <p:cNvPr id="99359" name="Arc 47"/>
            <p:cNvSpPr>
              <a:spLocks/>
            </p:cNvSpPr>
            <p:nvPr/>
          </p:nvSpPr>
          <p:spPr bwMode="auto">
            <a:xfrm rot="5400000">
              <a:off x="4617" y="1919"/>
              <a:ext cx="266" cy="555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1" name="Group 48"/>
          <p:cNvGrpSpPr>
            <a:grpSpLocks/>
          </p:cNvGrpSpPr>
          <p:nvPr/>
        </p:nvGrpSpPr>
        <p:grpSpPr bwMode="auto">
          <a:xfrm>
            <a:off x="5156688" y="3957242"/>
            <a:ext cx="3453912" cy="1981200"/>
            <a:chOff x="3039" y="960"/>
            <a:chExt cx="2357" cy="1248"/>
          </a:xfrm>
        </p:grpSpPr>
        <p:grpSp>
          <p:nvGrpSpPr>
            <p:cNvPr id="12" name="Group 49"/>
            <p:cNvGrpSpPr>
              <a:grpSpLocks/>
            </p:cNvGrpSpPr>
            <p:nvPr/>
          </p:nvGrpSpPr>
          <p:grpSpPr bwMode="auto">
            <a:xfrm>
              <a:off x="3593" y="1488"/>
              <a:ext cx="295" cy="288"/>
              <a:chOff x="528" y="3072"/>
              <a:chExt cx="272" cy="288"/>
            </a:xfrm>
          </p:grpSpPr>
          <p:sp>
            <p:nvSpPr>
              <p:cNvPr id="99348" name="Oval 50"/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Garamond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9349" name="Text Box 51"/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13" name="Group 52"/>
            <p:cNvGrpSpPr>
              <a:grpSpLocks/>
            </p:cNvGrpSpPr>
            <p:nvPr/>
          </p:nvGrpSpPr>
          <p:grpSpPr bwMode="auto">
            <a:xfrm>
              <a:off x="4217" y="1488"/>
              <a:ext cx="295" cy="288"/>
              <a:chOff x="528" y="3072"/>
              <a:chExt cx="272" cy="288"/>
            </a:xfrm>
          </p:grpSpPr>
          <p:sp>
            <p:nvSpPr>
              <p:cNvPr id="99346" name="Oval 53"/>
              <p:cNvSpPr>
                <a:spLocks noChangeArrowheads="1"/>
              </p:cNvSpPr>
              <p:nvPr/>
            </p:nvSpPr>
            <p:spPr bwMode="auto">
              <a:xfrm>
                <a:off x="528" y="3072"/>
                <a:ext cx="272" cy="2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Garamond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99347" name="Text Box 54"/>
              <p:cNvSpPr txBox="1">
                <a:spLocks noChangeArrowheads="1"/>
              </p:cNvSpPr>
              <p:nvPr/>
            </p:nvSpPr>
            <p:spPr bwMode="auto">
              <a:xfrm>
                <a:off x="576" y="3072"/>
                <a:ext cx="19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99338" name="Text Box 55"/>
            <p:cNvSpPr txBox="1">
              <a:spLocks noChangeArrowheads="1"/>
            </p:cNvSpPr>
            <p:nvPr/>
          </p:nvSpPr>
          <p:spPr bwMode="auto">
            <a:xfrm>
              <a:off x="3680" y="960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S=1,R=0</a:t>
              </a:r>
            </a:p>
          </p:txBody>
        </p:sp>
        <p:sp>
          <p:nvSpPr>
            <p:cNvPr id="99339" name="Text Box 56"/>
            <p:cNvSpPr txBox="1">
              <a:spLocks noChangeArrowheads="1"/>
            </p:cNvSpPr>
            <p:nvPr/>
          </p:nvSpPr>
          <p:spPr bwMode="auto">
            <a:xfrm>
              <a:off x="3680" y="1920"/>
              <a:ext cx="8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S=0,R=1</a:t>
              </a:r>
            </a:p>
          </p:txBody>
        </p:sp>
        <p:sp>
          <p:nvSpPr>
            <p:cNvPr id="99340" name="Text Box 57"/>
            <p:cNvSpPr txBox="1">
              <a:spLocks noChangeArrowheads="1"/>
            </p:cNvSpPr>
            <p:nvPr/>
          </p:nvSpPr>
          <p:spPr bwMode="auto">
            <a:xfrm>
              <a:off x="4622" y="1200"/>
              <a:ext cx="77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R=0</a:t>
              </a:r>
            </a:p>
          </p:txBody>
        </p:sp>
        <p:sp>
          <p:nvSpPr>
            <p:cNvPr id="99341" name="Text Box 58"/>
            <p:cNvSpPr txBox="1">
              <a:spLocks noChangeArrowheads="1"/>
            </p:cNvSpPr>
            <p:nvPr/>
          </p:nvSpPr>
          <p:spPr bwMode="auto">
            <a:xfrm>
              <a:off x="3039" y="1152"/>
              <a:ext cx="79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S=0</a:t>
              </a:r>
            </a:p>
          </p:txBody>
        </p:sp>
        <p:sp>
          <p:nvSpPr>
            <p:cNvPr id="99342" name="Arc 59"/>
            <p:cNvSpPr>
              <a:spLocks/>
            </p:cNvSpPr>
            <p:nvPr/>
          </p:nvSpPr>
          <p:spPr bwMode="auto">
            <a:xfrm rot="5400000">
              <a:off x="3934" y="1535"/>
              <a:ext cx="266" cy="555"/>
            </a:xfrm>
            <a:custGeom>
              <a:avLst/>
              <a:gdLst>
                <a:gd name="T0" fmla="*/ 0 w 21600"/>
                <a:gd name="T1" fmla="*/ 0 h 40962"/>
                <a:gd name="T2" fmla="*/ 0 w 21600"/>
                <a:gd name="T3" fmla="*/ 0 h 40962"/>
                <a:gd name="T4" fmla="*/ 0 w 21600"/>
                <a:gd name="T5" fmla="*/ 0 h 409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962"/>
                <a:gd name="T11" fmla="*/ 21600 w 21600"/>
                <a:gd name="T12" fmla="*/ 40962 h 409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962" fill="none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</a:path>
                <a:path w="21600" h="40962" stroke="0" extrusionOk="0">
                  <a:moveTo>
                    <a:pt x="7371" y="-1"/>
                  </a:moveTo>
                  <a:cubicBezTo>
                    <a:pt x="15912" y="3100"/>
                    <a:pt x="21600" y="11215"/>
                    <a:pt x="21600" y="20303"/>
                  </a:cubicBezTo>
                  <a:cubicBezTo>
                    <a:pt x="21600" y="29803"/>
                    <a:pt x="15392" y="38187"/>
                    <a:pt x="6306" y="40961"/>
                  </a:cubicBezTo>
                  <a:lnTo>
                    <a:pt x="0" y="2030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43" name="Arc 60"/>
            <p:cNvSpPr>
              <a:spLocks/>
            </p:cNvSpPr>
            <p:nvPr/>
          </p:nvSpPr>
          <p:spPr bwMode="auto">
            <a:xfrm rot="16200000" flipV="1">
              <a:off x="3952" y="1080"/>
              <a:ext cx="263" cy="599"/>
            </a:xfrm>
            <a:custGeom>
              <a:avLst/>
              <a:gdLst>
                <a:gd name="T0" fmla="*/ 0 w 21600"/>
                <a:gd name="T1" fmla="*/ 0 h 42928"/>
                <a:gd name="T2" fmla="*/ 0 w 21600"/>
                <a:gd name="T3" fmla="*/ 0 h 42928"/>
                <a:gd name="T4" fmla="*/ 0 w 21600"/>
                <a:gd name="T5" fmla="*/ 0 h 4292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928"/>
                <a:gd name="T11" fmla="*/ 21600 w 21600"/>
                <a:gd name="T12" fmla="*/ 42928 h 42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92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</a:path>
                <a:path w="21600" h="4292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209"/>
                    <a:pt x="13895" y="41247"/>
                    <a:pt x="3419" y="4292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44" name="Arc 61"/>
            <p:cNvSpPr>
              <a:spLocks/>
            </p:cNvSpPr>
            <p:nvPr/>
          </p:nvSpPr>
          <p:spPr bwMode="auto">
            <a:xfrm rot="5400000">
              <a:off x="4491" y="1438"/>
              <a:ext cx="384" cy="387"/>
            </a:xfrm>
            <a:custGeom>
              <a:avLst/>
              <a:gdLst>
                <a:gd name="T0" fmla="*/ 0 w 43200"/>
                <a:gd name="T1" fmla="*/ 0 h 42217"/>
                <a:gd name="T2" fmla="*/ 0 w 43200"/>
                <a:gd name="T3" fmla="*/ 0 h 42217"/>
                <a:gd name="T4" fmla="*/ 0 w 43200"/>
                <a:gd name="T5" fmla="*/ 0 h 422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17"/>
                <a:gd name="T11" fmla="*/ 43200 w 43200"/>
                <a:gd name="T12" fmla="*/ 42217 h 42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17" fill="none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2217" stroke="0" extrusionOk="0">
                  <a:moveTo>
                    <a:pt x="7741" y="38167"/>
                  </a:moveTo>
                  <a:cubicBezTo>
                    <a:pt x="2834" y="34063"/>
                    <a:pt x="0" y="2799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9345" name="Arc 62"/>
            <p:cNvSpPr>
              <a:spLocks/>
            </p:cNvSpPr>
            <p:nvPr/>
          </p:nvSpPr>
          <p:spPr bwMode="auto">
            <a:xfrm rot="16200000" flipH="1">
              <a:off x="3218" y="1389"/>
              <a:ext cx="384" cy="394"/>
            </a:xfrm>
            <a:custGeom>
              <a:avLst/>
              <a:gdLst>
                <a:gd name="T0" fmla="*/ 0 w 43200"/>
                <a:gd name="T1" fmla="*/ 0 h 43061"/>
                <a:gd name="T2" fmla="*/ 0 w 43200"/>
                <a:gd name="T3" fmla="*/ 0 h 43061"/>
                <a:gd name="T4" fmla="*/ 0 w 43200"/>
                <a:gd name="T5" fmla="*/ 0 h 43061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061"/>
                <a:gd name="T11" fmla="*/ 43200 w 43200"/>
                <a:gd name="T12" fmla="*/ 43061 h 43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061" fill="none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</a:path>
                <a:path w="43200" h="43061" stroke="0" extrusionOk="0">
                  <a:moveTo>
                    <a:pt x="19153" y="43060"/>
                  </a:moveTo>
                  <a:cubicBezTo>
                    <a:pt x="8241" y="41816"/>
                    <a:pt x="0" y="325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047"/>
                    <a:pt x="37060" y="39398"/>
                    <a:pt x="28042" y="4221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Garamond" pitchFamily="18" charset="0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真值表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FEE97-9600-284A-9E45-93C0FB29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pPr/>
              <a:t>69</a:t>
            </a:fld>
            <a:endParaRPr lang="en-US">
              <a:solidFill>
                <a:prstClr val="black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473091" name="Object 3"/>
          <p:cNvGraphicFramePr>
            <a:graphicFrameLocks noChangeAspect="1"/>
          </p:cNvGraphicFramePr>
          <p:nvPr/>
        </p:nvGraphicFramePr>
        <p:xfrm>
          <a:off x="914400" y="1612106"/>
          <a:ext cx="5186363" cy="193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文档" r:id="rId4" imgW="5632665" imgH="1939420" progId="Word.Document.8">
                  <p:embed/>
                </p:oleObj>
              </mc:Choice>
              <mc:Fallback>
                <p:oleObj name="文档" r:id="rId4" imgW="5632665" imgH="1939420" progId="Word.Document.8">
                  <p:embed/>
                  <p:pic>
                    <p:nvPicPr>
                      <p:cNvPr id="4730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12106"/>
                        <a:ext cx="5186363" cy="193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476618"/>
              </p:ext>
            </p:extLst>
          </p:nvPr>
        </p:nvGraphicFramePr>
        <p:xfrm>
          <a:off x="609600" y="3733800"/>
          <a:ext cx="5848350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文档" r:id="rId6" imgW="7483228" imgH="3368395" progId="Word.Document.8">
                  <p:embed/>
                </p:oleObj>
              </mc:Choice>
              <mc:Fallback>
                <p:oleObj name="文档" r:id="rId6" imgW="7483228" imgH="3368395" progId="Word.Document.8">
                  <p:embed/>
                  <p:pic>
                    <p:nvPicPr>
                      <p:cNvPr id="4730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733800"/>
                        <a:ext cx="5848350" cy="284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3A1A8FE-2252-4043-BC05-0CB64F55AF5E}"/>
              </a:ext>
            </a:extLst>
          </p:cNvPr>
          <p:cNvSpPr txBox="1"/>
          <p:nvPr/>
        </p:nvSpPr>
        <p:spPr>
          <a:xfrm>
            <a:off x="6361793" y="2658816"/>
            <a:ext cx="2516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Q+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在不同输入下的对比</a:t>
            </a:r>
            <a:endParaRPr lang="en-CN" sz="2000" dirty="0">
              <a:solidFill>
                <a:schemeClr val="tx1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7C4BB-898C-5E40-94E2-96B79B341FAD}"/>
              </a:ext>
            </a:extLst>
          </p:cNvPr>
          <p:cNvSpPr txBox="1"/>
          <p:nvPr/>
        </p:nvSpPr>
        <p:spPr>
          <a:xfrm>
            <a:off x="6218013" y="1670760"/>
            <a:ext cx="2803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给定输入，计算</a:t>
            </a:r>
            <a:r>
              <a:rPr lang="en-CN" sz="20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 Q</a:t>
            </a:r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→</a:t>
            </a:r>
            <a:r>
              <a:rPr lang="en-US" altLang="zh-CN" sz="20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000" baseline="300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+</a:t>
            </a:r>
            <a:endParaRPr lang="en-CN" sz="2000" dirty="0">
              <a:solidFill>
                <a:srgbClr val="0432FF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4195" name="Group 83"/>
          <p:cNvGraphicFramePr>
            <a:graphicFrameLocks noGrp="1"/>
          </p:cNvGraphicFramePr>
          <p:nvPr/>
        </p:nvGraphicFramePr>
        <p:xfrm>
          <a:off x="1219200" y="2362200"/>
          <a:ext cx="2057400" cy="206654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D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4170" name="Rectangle 58"/>
          <p:cNvSpPr>
            <a:spLocks noChangeArrowheads="1"/>
          </p:cNvSpPr>
          <p:nvPr/>
        </p:nvSpPr>
        <p:spPr bwMode="auto">
          <a:xfrm>
            <a:off x="2667000" y="3429000"/>
            <a:ext cx="533400" cy="914400"/>
          </a:xfrm>
          <a:prstGeom prst="rect">
            <a:avLst/>
          </a:prstGeom>
          <a:noFill/>
          <a:ln w="25400" algn="ctr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特征方程</a:t>
            </a:r>
            <a:r>
              <a:rPr lang="en-US" altLang="zh-CN" dirty="0"/>
              <a:t> (Characteristic equations)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88956F-EDD4-8844-B7A8-E32037A0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519399" y="4662674"/>
                <a:ext cx="14570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3200" b="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399" y="4662674"/>
                <a:ext cx="1457001" cy="492443"/>
              </a:xfrm>
              <a:prstGeom prst="rect">
                <a:avLst/>
              </a:prstGeom>
              <a:blipFill>
                <a:blip r:embed="rId4"/>
                <a:stretch>
                  <a:fillRect l="-11207" r="-862" b="-2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6B84CA4-634F-2048-AB17-7FBC3A20770C}"/>
              </a:ext>
            </a:extLst>
          </p:cNvPr>
          <p:cNvSpPr/>
          <p:nvPr/>
        </p:nvSpPr>
        <p:spPr>
          <a:xfrm>
            <a:off x="762000" y="1469824"/>
            <a:ext cx="7315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Q+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(Q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和输入信号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之间的逻辑表达式</a:t>
            </a:r>
            <a:endParaRPr lang="en-CN" sz="8000" dirty="0"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12" name="Group 84">
            <a:extLst>
              <a:ext uri="{FF2B5EF4-FFF2-40B4-BE49-F238E27FC236}">
                <a16:creationId xmlns:a16="http://schemas.microsoft.com/office/drawing/2014/main" id="{9980DDB6-E660-6E40-A308-46368584EC85}"/>
              </a:ext>
            </a:extLst>
          </p:cNvPr>
          <p:cNvGraphicFramePr>
            <a:graphicFrameLocks noGrp="1"/>
          </p:cNvGraphicFramePr>
          <p:nvPr/>
        </p:nvGraphicFramePr>
        <p:xfrm>
          <a:off x="5518463" y="2362200"/>
          <a:ext cx="2057400" cy="206654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T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BB7D154-30BC-BB49-9CC4-F0F42B4D862E}"/>
              </a:ext>
            </a:extLst>
          </p:cNvPr>
          <p:cNvGrpSpPr/>
          <p:nvPr/>
        </p:nvGrpSpPr>
        <p:grpSpPr>
          <a:xfrm>
            <a:off x="5180219" y="3352800"/>
            <a:ext cx="2733890" cy="1788997"/>
            <a:chOff x="5180219" y="3352800"/>
            <a:chExt cx="2733890" cy="178899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Object 6">
                  <a:extLst>
                    <a:ext uri="{FF2B5EF4-FFF2-40B4-BE49-F238E27FC236}">
                      <a16:creationId xmlns:a16="http://schemas.microsoft.com/office/drawing/2014/main" id="{108A10EF-A9DD-3F46-9EA6-586A6F8FC22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819775" y="3579813"/>
                <a:ext cx="95250" cy="152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5603" name="Equation" r:id="rId5" imgW="101520" imgH="152280" progId="">
                        <p:embed/>
                      </p:oleObj>
                    </mc:Choice>
                    <mc:Fallback>
                      <p:oleObj name="Equation" r:id="rId5" imgW="101520" imgH="152280" progId="">
                        <p:embed/>
                        <p:pic>
                          <p:nvPicPr>
                            <p:cNvPr id="11" name="Object 6">
                              <a:extLst>
                                <a:ext uri="{FF2B5EF4-FFF2-40B4-BE49-F238E27FC236}">
                                  <a16:creationId xmlns:a16="http://schemas.microsoft.com/office/drawing/2014/main" id="{108A10EF-A9DD-3F46-9EA6-586A6F8FC22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819775" y="3579813"/>
                              <a:ext cx="95250" cy="1524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1" name="Object 6">
                  <a:extLst>
                    <a:ext uri="{FF2B5EF4-FFF2-40B4-BE49-F238E27FC236}">
                      <a16:creationId xmlns:a16="http://schemas.microsoft.com/office/drawing/2014/main" id="{108A10EF-A9DD-3F46-9EA6-586A6F8FC22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05624203"/>
                    </p:ext>
                  </p:extLst>
                </p:nvPr>
              </p:nvGraphicFramePr>
              <p:xfrm>
                <a:off x="5819775" y="3579813"/>
                <a:ext cx="95250" cy="152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125000" name="Equation" r:id="rId7" imgW="101520" imgH="152280" progId="">
                        <p:embed/>
                      </p:oleObj>
                    </mc:Choice>
                    <mc:Fallback>
                      <p:oleObj name="Equation" r:id="rId7" imgW="101520" imgH="152280" progId="">
                        <p:embed/>
                        <p:pic>
                          <p:nvPicPr>
                            <p:cNvPr id="46082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819775" y="3579813"/>
                              <a:ext cx="95250" cy="1524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6">
                  <a:extLst>
                    <a:ext uri="{FF2B5EF4-FFF2-40B4-BE49-F238E27FC236}">
                      <a16:creationId xmlns:a16="http://schemas.microsoft.com/office/drawing/2014/main" id="{44848E7B-9224-8441-A8E0-8A4EC72E8C92}"/>
                    </a:ext>
                  </a:extLst>
                </p:cNvPr>
                <p:cNvSpPr txBox="1"/>
                <p:nvPr/>
              </p:nvSpPr>
              <p:spPr>
                <a:xfrm>
                  <a:off x="5180219" y="4648200"/>
                  <a:ext cx="2733890" cy="4935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  <m:r>
                          <a:rPr lang="en-US" altLang="zh-CN" sz="32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zh-CN" altLang="en-US" sz="3200" b="0" i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6">
                  <a:extLst>
                    <a:ext uri="{FF2B5EF4-FFF2-40B4-BE49-F238E27FC236}">
                      <a16:creationId xmlns:a16="http://schemas.microsoft.com/office/drawing/2014/main" id="{44848E7B-9224-8441-A8E0-8A4EC72E8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0219" y="4648200"/>
                  <a:ext cx="2733890" cy="493597"/>
                </a:xfrm>
                <a:prstGeom prst="rect">
                  <a:avLst/>
                </a:prstGeom>
                <a:blipFill>
                  <a:blip r:embed="rId9"/>
                  <a:stretch>
                    <a:fillRect l="-6481" t="-5128" r="-1852" b="-30769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5">
              <a:extLst>
                <a:ext uri="{FF2B5EF4-FFF2-40B4-BE49-F238E27FC236}">
                  <a16:creationId xmlns:a16="http://schemas.microsoft.com/office/drawing/2014/main" id="{793C71C9-77D1-1C43-8B02-06683BA1C19A}"/>
                </a:ext>
              </a:extLst>
            </p:cNvPr>
            <p:cNvSpPr/>
            <p:nvPr/>
          </p:nvSpPr>
          <p:spPr bwMode="auto">
            <a:xfrm>
              <a:off x="6781800" y="3352800"/>
              <a:ext cx="912568" cy="609600"/>
            </a:xfrm>
            <a:prstGeom prst="rect">
              <a:avLst/>
            </a:prstGeom>
            <a:noFill/>
            <a:ln w="2540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16" name="矩形 18">
              <a:extLst>
                <a:ext uri="{FF2B5EF4-FFF2-40B4-BE49-F238E27FC236}">
                  <a16:creationId xmlns:a16="http://schemas.microsoft.com/office/drawing/2014/main" id="{FBC3B538-91F9-714D-B7B2-E232C57B991D}"/>
                </a:ext>
              </a:extLst>
            </p:cNvPr>
            <p:cNvSpPr/>
            <p:nvPr/>
          </p:nvSpPr>
          <p:spPr bwMode="auto">
            <a:xfrm>
              <a:off x="6037507" y="3877056"/>
              <a:ext cx="912568" cy="609600"/>
            </a:xfrm>
            <a:prstGeom prst="rect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8">
                <a:extLst>
                  <a:ext uri="{FF2B5EF4-FFF2-40B4-BE49-F238E27FC236}">
                    <a16:creationId xmlns:a16="http://schemas.microsoft.com/office/drawing/2014/main" id="{A9BC24FB-A077-F148-B231-A8E23CA020E6}"/>
                  </a:ext>
                </a:extLst>
              </p:cNvPr>
              <p:cNvSpPr txBox="1"/>
              <p:nvPr/>
            </p:nvSpPr>
            <p:spPr>
              <a:xfrm>
                <a:off x="5804550" y="5222557"/>
                <a:ext cx="14335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kumimoji="1" lang="en-US" altLang="zh-CN" sz="32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en-US" altLang="zh-CN" sz="3200" b="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7" name="文本框 8">
                <a:extLst>
                  <a:ext uri="{FF2B5EF4-FFF2-40B4-BE49-F238E27FC236}">
                    <a16:creationId xmlns:a16="http://schemas.microsoft.com/office/drawing/2014/main" id="{A9BC24FB-A077-F148-B231-A8E23CA02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550" y="5222557"/>
                <a:ext cx="1433534" cy="492443"/>
              </a:xfrm>
              <a:prstGeom prst="rect">
                <a:avLst/>
              </a:prstGeom>
              <a:blipFill>
                <a:blip r:embed="rId10"/>
                <a:stretch>
                  <a:fillRect l="-877" r="-7895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67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2862" name="Group 30"/>
          <p:cNvGraphicFramePr>
            <a:graphicFrameLocks noGrp="1"/>
          </p:cNvGraphicFramePr>
          <p:nvPr/>
        </p:nvGraphicFramePr>
        <p:xfrm>
          <a:off x="685800" y="1600200"/>
          <a:ext cx="3581400" cy="2066544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RS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2891" name="Rectangle 59"/>
          <p:cNvSpPr>
            <a:spLocks noChangeArrowheads="1"/>
          </p:cNvSpPr>
          <p:nvPr/>
        </p:nvSpPr>
        <p:spPr bwMode="auto">
          <a:xfrm>
            <a:off x="2362200" y="2743200"/>
            <a:ext cx="1066800" cy="990600"/>
          </a:xfrm>
          <a:prstGeom prst="rect">
            <a:avLst/>
          </a:prstGeom>
          <a:noFill/>
          <a:ln w="25400" algn="ctr">
            <a:solidFill>
              <a:srgbClr val="7030A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2892" name="Rectangle 60"/>
          <p:cNvSpPr>
            <a:spLocks noChangeArrowheads="1"/>
          </p:cNvSpPr>
          <p:nvPr/>
        </p:nvSpPr>
        <p:spPr bwMode="auto">
          <a:xfrm>
            <a:off x="1676400" y="3200400"/>
            <a:ext cx="914400" cy="381000"/>
          </a:xfrm>
          <a:prstGeom prst="rect">
            <a:avLst/>
          </a:prstGeom>
          <a:noFill/>
          <a:ln w="25400" algn="ctr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864100" y="1930003"/>
                <a:ext cx="310065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 sz="40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100" y="1930003"/>
                <a:ext cx="3100657" cy="615553"/>
              </a:xfrm>
              <a:prstGeom prst="rect">
                <a:avLst/>
              </a:prstGeom>
              <a:blipFill>
                <a:blip r:embed="rId3"/>
                <a:stretch>
                  <a:fillRect l="-5714" t="-2041" r="-816" b="-2653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580647" y="2655093"/>
                <a:ext cx="169296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𝑆𝑅</m:t>
                      </m:r>
                      <m:r>
                        <a:rPr lang="en-US" altLang="zh-CN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40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647" y="2655093"/>
                <a:ext cx="1692964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B70AA84D-376E-473A-9E05-3AC861B4A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特征方程</a:t>
            </a:r>
            <a:endParaRPr lang="en-US" altLang="zh-CN" sz="40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D4091-536B-6E49-A0F8-BCE79BBE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17" name="Group 61">
            <a:extLst>
              <a:ext uri="{FF2B5EF4-FFF2-40B4-BE49-F238E27FC236}">
                <a16:creationId xmlns:a16="http://schemas.microsoft.com/office/drawing/2014/main" id="{23D6DA1E-581C-4146-A3E0-DBA5F2DFEF0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06863"/>
          <a:ext cx="3581400" cy="2066544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JK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FE402D7-5992-8440-AB4A-C514B2A7BB9D}"/>
              </a:ext>
            </a:extLst>
          </p:cNvPr>
          <p:cNvGrpSpPr/>
          <p:nvPr/>
        </p:nvGrpSpPr>
        <p:grpSpPr>
          <a:xfrm>
            <a:off x="1676400" y="4906410"/>
            <a:ext cx="6471653" cy="1189590"/>
            <a:chOff x="1676400" y="4906410"/>
            <a:chExt cx="6471653" cy="1189590"/>
          </a:xfrm>
        </p:grpSpPr>
        <p:sp>
          <p:nvSpPr>
            <p:cNvPr id="19" name="Rectangle 87">
              <a:extLst>
                <a:ext uri="{FF2B5EF4-FFF2-40B4-BE49-F238E27FC236}">
                  <a16:creationId xmlns:a16="http://schemas.microsoft.com/office/drawing/2014/main" id="{DFC4CBF3-3A27-2840-9466-92B741ECE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5181600"/>
              <a:ext cx="1066800" cy="381000"/>
            </a:xfrm>
            <a:prstGeom prst="rect">
              <a:avLst/>
            </a:prstGeom>
            <a:noFill/>
            <a:ln w="25400" algn="ctr">
              <a:solidFill>
                <a:srgbClr val="7030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88">
              <a:extLst>
                <a:ext uri="{FF2B5EF4-FFF2-40B4-BE49-F238E27FC236}">
                  <a16:creationId xmlns:a16="http://schemas.microsoft.com/office/drawing/2014/main" id="{EDE35769-CC88-E54D-AAAC-707E5C765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5707063"/>
              <a:ext cx="381000" cy="381000"/>
            </a:xfrm>
            <a:prstGeom prst="rect">
              <a:avLst/>
            </a:prstGeom>
            <a:noFill/>
            <a:ln w="25400" algn="ctr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90">
              <a:extLst>
                <a:ext uri="{FF2B5EF4-FFF2-40B4-BE49-F238E27FC236}">
                  <a16:creationId xmlns:a16="http://schemas.microsoft.com/office/drawing/2014/main" id="{4604D09D-5C08-6843-85FB-BC0A11673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5715000"/>
              <a:ext cx="381000" cy="381000"/>
            </a:xfrm>
            <a:prstGeom prst="rect">
              <a:avLst/>
            </a:prstGeom>
            <a:noFill/>
            <a:ln w="25400" algn="ctr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18">
                  <a:extLst>
                    <a:ext uri="{FF2B5EF4-FFF2-40B4-BE49-F238E27FC236}">
                      <a16:creationId xmlns:a16="http://schemas.microsoft.com/office/drawing/2014/main" id="{B07D19DF-FD6C-2A48-80DD-13CCD81A32F6}"/>
                    </a:ext>
                  </a:extLst>
                </p:cNvPr>
                <p:cNvSpPr txBox="1"/>
                <p:nvPr/>
              </p:nvSpPr>
              <p:spPr>
                <a:xfrm>
                  <a:off x="4784504" y="4906410"/>
                  <a:ext cx="3363549" cy="6169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4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acc>
                          <m:accPr>
                            <m:chr m:val="̅"/>
                            <m:ctrlPr>
                              <a:rPr lang="en-US" altLang="zh-CN" sz="4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4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r>
                          <a:rPr lang="en-US" altLang="zh-CN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4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4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  <m:r>
                          <a:rPr lang="en-US" altLang="zh-CN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zh-CN" altLang="en-US" sz="40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18">
                  <a:extLst>
                    <a:ext uri="{FF2B5EF4-FFF2-40B4-BE49-F238E27FC236}">
                      <a16:creationId xmlns:a16="http://schemas.microsoft.com/office/drawing/2014/main" id="{B07D19DF-FD6C-2A48-80DD-13CCD81A3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4504" y="4906410"/>
                  <a:ext cx="3363549" cy="616900"/>
                </a:xfrm>
                <a:prstGeom prst="rect">
                  <a:avLst/>
                </a:prstGeom>
                <a:blipFill>
                  <a:blip r:embed="rId5"/>
                  <a:stretch>
                    <a:fillRect l="-6015" t="-4082" r="-1880" b="-3061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0461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激励表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A503F-B270-7248-BFF6-83A89056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76301" y="3200400"/>
          <a:ext cx="7391398" cy="242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5914">
                  <a:extLst>
                    <a:ext uri="{9D8B030D-6E8A-4147-A177-3AD203B41FA5}">
                      <a16:colId xmlns:a16="http://schemas.microsoft.com/office/drawing/2014/main" val="530375775"/>
                    </a:ext>
                  </a:extLst>
                </a:gridCol>
                <a:gridCol w="1055914">
                  <a:extLst>
                    <a:ext uri="{9D8B030D-6E8A-4147-A177-3AD203B41FA5}">
                      <a16:colId xmlns:a16="http://schemas.microsoft.com/office/drawing/2014/main" val="3477862270"/>
                    </a:ext>
                  </a:extLst>
                </a:gridCol>
                <a:gridCol w="1055914">
                  <a:extLst>
                    <a:ext uri="{9D8B030D-6E8A-4147-A177-3AD203B41FA5}">
                      <a16:colId xmlns:a16="http://schemas.microsoft.com/office/drawing/2014/main" val="933442956"/>
                    </a:ext>
                  </a:extLst>
                </a:gridCol>
                <a:gridCol w="1055914">
                  <a:extLst>
                    <a:ext uri="{9D8B030D-6E8A-4147-A177-3AD203B41FA5}">
                      <a16:colId xmlns:a16="http://schemas.microsoft.com/office/drawing/2014/main" val="167889203"/>
                    </a:ext>
                  </a:extLst>
                </a:gridCol>
                <a:gridCol w="1055914">
                  <a:extLst>
                    <a:ext uri="{9D8B030D-6E8A-4147-A177-3AD203B41FA5}">
                      <a16:colId xmlns:a16="http://schemas.microsoft.com/office/drawing/2014/main" val="962432892"/>
                    </a:ext>
                  </a:extLst>
                </a:gridCol>
                <a:gridCol w="1055914">
                  <a:extLst>
                    <a:ext uri="{9D8B030D-6E8A-4147-A177-3AD203B41FA5}">
                      <a16:colId xmlns:a16="http://schemas.microsoft.com/office/drawing/2014/main" val="630493545"/>
                    </a:ext>
                  </a:extLst>
                </a:gridCol>
                <a:gridCol w="1055914">
                  <a:extLst>
                    <a:ext uri="{9D8B030D-6E8A-4147-A177-3AD203B41FA5}">
                      <a16:colId xmlns:a16="http://schemas.microsoft.com/office/drawing/2014/main" val="478684595"/>
                    </a:ext>
                  </a:extLst>
                </a:gridCol>
              </a:tblGrid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2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zh-CN" altLang="en-US" sz="2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339271"/>
                  </a:ext>
                </a:extLst>
              </a:tr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322311"/>
                  </a:ext>
                </a:extLst>
              </a:tr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76381"/>
                  </a:ext>
                </a:extLst>
              </a:tr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07859"/>
                  </a:ext>
                </a:extLst>
              </a:tr>
              <a:tr h="4856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82901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38A28E1-E377-D542-9515-1383277D56FD}"/>
              </a:ext>
            </a:extLst>
          </p:cNvPr>
          <p:cNvSpPr/>
          <p:nvPr/>
        </p:nvSpPr>
        <p:spPr>
          <a:xfrm>
            <a:off x="795137" y="1664894"/>
            <a:ext cx="73725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根据状态转换寻找激励条件</a:t>
            </a:r>
            <a:endParaRPr lang="en-CN" sz="8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CB74A-C436-6F4F-AA75-4AC5DC6D20F1}"/>
              </a:ext>
            </a:extLst>
          </p:cNvPr>
          <p:cNvSpPr txBox="1"/>
          <p:nvPr/>
        </p:nvSpPr>
        <p:spPr>
          <a:xfrm>
            <a:off x="1374471" y="2357735"/>
            <a:ext cx="3106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给定</a:t>
            </a:r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→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2400" baseline="300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+</a:t>
            </a:r>
            <a:r>
              <a:rPr lang="en-CN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寻找输入</a:t>
            </a:r>
            <a:endParaRPr lang="en-CN" sz="2400" dirty="0">
              <a:solidFill>
                <a:srgbClr val="0432FF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2034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用</a:t>
            </a:r>
            <a:r>
              <a:rPr lang="en-US" altLang="zh-CN" dirty="0"/>
              <a:t>DFF</a:t>
            </a:r>
            <a:r>
              <a:rPr lang="zh-CN" altLang="en-US" dirty="0"/>
              <a:t>构造其他触发器</a:t>
            </a:r>
            <a:endParaRPr lang="en-US" altLang="zh-CN" dirty="0"/>
          </a:p>
        </p:txBody>
      </p:sp>
      <p:sp>
        <p:nvSpPr>
          <p:cNvPr id="47112" name="Rectangle 5"/>
          <p:cNvSpPr>
            <a:spLocks noGrp="1" noChangeArrowheads="1"/>
          </p:cNvSpPr>
          <p:nvPr>
            <p:ph idx="1"/>
          </p:nvPr>
        </p:nvSpPr>
        <p:spPr>
          <a:xfrm>
            <a:off x="447261" y="1524000"/>
            <a:ext cx="7934739" cy="3210272"/>
          </a:xfrm>
        </p:spPr>
        <p:txBody>
          <a:bodyPr/>
          <a:lstStyle/>
          <a:p>
            <a:pPr eaLnBrk="1" hangingPunct="1"/>
            <a:r>
              <a:rPr lang="zh-CN" altLang="en-US" sz="2800" b="0" dirty="0"/>
              <a:t>根据其他触发器的特征方程，用</a:t>
            </a:r>
            <a:r>
              <a:rPr lang="en-US" altLang="zh-CN" sz="2800" b="0" dirty="0"/>
              <a:t>DFF</a:t>
            </a:r>
            <a:r>
              <a:rPr lang="zh-CN" altLang="en-US" sz="2800" b="0" dirty="0"/>
              <a:t>设计这些触发器</a:t>
            </a:r>
            <a:endParaRPr lang="en-US" altLang="zh-CN" sz="2800" b="0" dirty="0"/>
          </a:p>
          <a:p>
            <a:pPr lvl="1"/>
            <a:r>
              <a:rPr lang="en-US" altLang="zh-CN" sz="2400" b="0" dirty="0"/>
              <a:t>D</a:t>
            </a:r>
            <a:r>
              <a:rPr lang="en-US" altLang="zh-CN" sz="2400" b="0" dirty="0">
                <a:sym typeface="Symbol" pitchFamily="18" charset="2"/>
              </a:rPr>
              <a:t>T</a:t>
            </a:r>
          </a:p>
          <a:p>
            <a:pPr lvl="1"/>
            <a:r>
              <a:rPr lang="en-US" altLang="zh-CN" sz="2400" b="0" dirty="0">
                <a:sym typeface="Symbol" pitchFamily="18" charset="2"/>
              </a:rPr>
              <a:t>DJK</a:t>
            </a:r>
          </a:p>
          <a:p>
            <a:pPr lvl="1"/>
            <a:r>
              <a:rPr lang="en-US" altLang="zh-CN" sz="2400" b="0" dirty="0">
                <a:sym typeface="Symbol" pitchFamily="18" charset="2"/>
              </a:rPr>
              <a:t>DRS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9B1BE-4FDA-6B4F-8E1E-A66CBB41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8D8AD833-0A0A-994E-9BD5-F04D26B0BBD2}"/>
              </a:ext>
            </a:extLst>
          </p:cNvPr>
          <p:cNvSpPr/>
          <p:nvPr/>
        </p:nvSpPr>
        <p:spPr bwMode="auto">
          <a:xfrm>
            <a:off x="4343400" y="3442447"/>
            <a:ext cx="4038600" cy="2743200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课后：如何用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触发器构造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JK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或者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触发器？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8" name="Rectangle 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</a:t>
            </a:r>
            <a:r>
              <a:rPr lang="en-US" altLang="zh-CN" dirty="0"/>
              <a:t>DFF</a:t>
            </a:r>
            <a:r>
              <a:rPr lang="zh-CN" altLang="en-US" dirty="0"/>
              <a:t>构造其他触发器</a:t>
            </a:r>
            <a:endParaRPr lang="en-US" altLang="zh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6DE29D-7241-FA4D-9787-6A54C52A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74</a:t>
            </a:fld>
            <a:endParaRPr 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820905" y="1457980"/>
                <a:ext cx="31931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用触发器：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05" y="1457980"/>
                <a:ext cx="3193118" cy="523220"/>
              </a:xfrm>
              <a:prstGeom prst="rect">
                <a:avLst/>
              </a:prstGeom>
              <a:blipFill>
                <a:blip r:embed="rId4"/>
                <a:stretch>
                  <a:fillRect l="-3968" t="-14286" b="-309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/>
              <p:cNvSpPr txBox="1"/>
              <p:nvPr/>
            </p:nvSpPr>
            <p:spPr>
              <a:xfrm>
                <a:off x="836408" y="2003910"/>
                <a:ext cx="6194901" cy="524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构造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rPr>
                  <a:t>T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08" y="2003910"/>
                <a:ext cx="6194901" cy="524118"/>
              </a:xfrm>
              <a:prstGeom prst="rect">
                <a:avLst/>
              </a:prstGeom>
              <a:blipFill>
                <a:blip r:embed="rId5"/>
                <a:stretch>
                  <a:fillRect l="-2045" t="-13953" b="-302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F38C0A0-7DF6-6F48-A01D-E635D763ED67}"/>
              </a:ext>
            </a:extLst>
          </p:cNvPr>
          <p:cNvGrpSpPr/>
          <p:nvPr/>
        </p:nvGrpSpPr>
        <p:grpSpPr>
          <a:xfrm>
            <a:off x="1369970" y="2767120"/>
            <a:ext cx="3372142" cy="1132911"/>
            <a:chOff x="1369970" y="2448890"/>
            <a:chExt cx="3372142" cy="1132911"/>
          </a:xfrm>
        </p:grpSpPr>
        <p:sp>
          <p:nvSpPr>
            <p:cNvPr id="25" name="下箭头 24"/>
            <p:cNvSpPr/>
            <p:nvPr/>
          </p:nvSpPr>
          <p:spPr bwMode="auto">
            <a:xfrm>
              <a:off x="2669126" y="2448890"/>
              <a:ext cx="668548" cy="533400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369970" y="3150914"/>
                  <a:ext cx="337214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8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 DFF, </a:t>
                  </a:r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𝑙𝑒𝑡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endParaRPr lang="zh-CN" alt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970" y="3150914"/>
                  <a:ext cx="3372142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6767" t="-25714" r="-752" b="-4571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A6C6AC-2C0F-4A49-BC39-DB52889CB40D}"/>
              </a:ext>
            </a:extLst>
          </p:cNvPr>
          <p:cNvGrpSpPr/>
          <p:nvPr/>
        </p:nvGrpSpPr>
        <p:grpSpPr>
          <a:xfrm>
            <a:off x="575751" y="4153749"/>
            <a:ext cx="4301049" cy="2247051"/>
            <a:chOff x="575751" y="3835519"/>
            <a:chExt cx="4301049" cy="2247051"/>
          </a:xfrm>
        </p:grpSpPr>
        <p:grpSp>
          <p:nvGrpSpPr>
            <p:cNvPr id="22" name="组合 21"/>
            <p:cNvGrpSpPr/>
            <p:nvPr/>
          </p:nvGrpSpPr>
          <p:grpSpPr>
            <a:xfrm>
              <a:off x="575751" y="4648200"/>
              <a:ext cx="4301049" cy="1434370"/>
              <a:chOff x="691115" y="2351087"/>
              <a:chExt cx="4555834" cy="1524001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703263" y="2514600"/>
                <a:ext cx="4043362" cy="1360488"/>
                <a:chOff x="703263" y="2514600"/>
                <a:chExt cx="4043362" cy="136048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0963" name="Object 4"/>
                    <p:cNvGraphicFramePr>
                      <a:graphicFrameLocks noGrp="1" noChangeAspect="1"/>
                    </p:cNvGraphicFramePr>
                    <p:nvPr>
                      <p:ph sz="quarter" idx="4294967295"/>
                    </p:nvPr>
                  </p:nvGraphicFramePr>
                  <p:xfrm>
                    <a:off x="3429000" y="3136899"/>
                    <a:ext cx="381000" cy="574675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26627" name="Equation" r:id="rId7" imgW="152280" imgH="228600" progId="">
                            <p:embed/>
                          </p:oleObj>
                        </mc:Choice>
                        <mc:Fallback>
                          <p:oleObj name="Equation" r:id="rId7" imgW="152280" imgH="228600" progId="">
                            <p:embed/>
                            <p:pic>
                              <p:nvPicPr>
                                <p:cNvPr id="40963" name="Object 4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8">
                                  <a:extLst>
                                    <a:ext uri="{28A0092B-C50C-407E-A947-70E740481C1C}">
                                      <a14:useLocalDpi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429000" y="3136899"/>
                                  <a:ext cx="381000" cy="574675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40963" name="Object 4"/>
                    <p:cNvGraphicFramePr>
                      <a:graphicFrameLocks noGrp="1" noChangeAspect="1"/>
                    </p:cNvGraphicFramePr>
                    <p:nvPr>
                      <p:ph sz="quarter" idx="4294967295"/>
                      <p:extLst>
                        <p:ext uri="{D42A27DB-BD31-4B8C-83A1-F6EECF244321}">
                          <p14:modId xmlns:p14="http://schemas.microsoft.com/office/powerpoint/2010/main" val="3875716856"/>
                        </p:ext>
                      </p:extLst>
                    </p:nvPr>
                  </p:nvGraphicFramePr>
                  <p:xfrm>
                    <a:off x="3429000" y="3136899"/>
                    <a:ext cx="381000" cy="574675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990213" name="Equation" r:id="rId9" imgW="152280" imgH="228600" progId="">
                            <p:embed/>
                          </p:oleObj>
                        </mc:Choice>
                        <mc:Fallback>
                          <p:oleObj name="Equation" r:id="rId9" imgW="152280" imgH="228600" progId="">
                            <p:embed/>
                            <p:pic>
                              <p:nvPicPr>
                                <p:cNvPr id="40963" name="Object 4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0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429000" y="3136899"/>
                                  <a:ext cx="381000" cy="574675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p:sp>
              <p:nvSpPr>
                <p:cNvPr id="40970" name="Rectangle 7"/>
                <p:cNvSpPr>
                  <a:spLocks noChangeArrowheads="1"/>
                </p:cNvSpPr>
                <p:nvPr/>
              </p:nvSpPr>
              <p:spPr bwMode="auto">
                <a:xfrm>
                  <a:off x="2819400" y="2514600"/>
                  <a:ext cx="1000125" cy="1360488"/>
                </a:xfrm>
                <a:prstGeom prst="rect">
                  <a:avLst/>
                </a:pr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77" name="Line 14"/>
                <p:cNvSpPr>
                  <a:spLocks noChangeShapeType="1"/>
                </p:cNvSpPr>
                <p:nvPr/>
              </p:nvSpPr>
              <p:spPr bwMode="auto">
                <a:xfrm>
                  <a:off x="2341563" y="3413125"/>
                  <a:ext cx="457200" cy="0"/>
                </a:xfrm>
                <a:prstGeom prst="line">
                  <a:avLst/>
                </a:pr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78" name="Freeform 15"/>
                <p:cNvSpPr>
                  <a:spLocks/>
                </p:cNvSpPr>
                <p:nvPr/>
              </p:nvSpPr>
              <p:spPr bwMode="auto">
                <a:xfrm>
                  <a:off x="2819400" y="3232149"/>
                  <a:ext cx="180975" cy="358775"/>
                </a:xfrm>
                <a:custGeom>
                  <a:avLst/>
                  <a:gdLst>
                    <a:gd name="T0" fmla="*/ 0 w 170"/>
                    <a:gd name="T1" fmla="*/ 2147483647 h 226"/>
                    <a:gd name="T2" fmla="*/ 2147483647 w 170"/>
                    <a:gd name="T3" fmla="*/ 2147483647 h 226"/>
                    <a:gd name="T4" fmla="*/ 0 w 170"/>
                    <a:gd name="T5" fmla="*/ 0 h 226"/>
                    <a:gd name="T6" fmla="*/ 0 60000 65536"/>
                    <a:gd name="T7" fmla="*/ 0 60000 65536"/>
                    <a:gd name="T8" fmla="*/ 0 60000 65536"/>
                    <a:gd name="T9" fmla="*/ 0 w 170"/>
                    <a:gd name="T10" fmla="*/ 0 h 226"/>
                    <a:gd name="T11" fmla="*/ 170 w 170"/>
                    <a:gd name="T12" fmla="*/ 226 h 22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0" h="226">
                      <a:moveTo>
                        <a:pt x="0" y="226"/>
                      </a:moveTo>
                      <a:lnTo>
                        <a:pt x="170" y="1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79" name="Freeform 16"/>
                <p:cNvSpPr>
                  <a:spLocks noEditPoints="1"/>
                </p:cNvSpPr>
                <p:nvPr/>
              </p:nvSpPr>
              <p:spPr bwMode="auto">
                <a:xfrm>
                  <a:off x="1341438" y="2738437"/>
                  <a:ext cx="1000125" cy="269875"/>
                </a:xfrm>
                <a:custGeom>
                  <a:avLst/>
                  <a:gdLst>
                    <a:gd name="T0" fmla="*/ 0 w 683"/>
                    <a:gd name="T1" fmla="*/ 0 h 170"/>
                    <a:gd name="T2" fmla="*/ 2147483647 w 683"/>
                    <a:gd name="T3" fmla="*/ 0 h 170"/>
                    <a:gd name="T4" fmla="*/ 0 w 683"/>
                    <a:gd name="T5" fmla="*/ 2147483647 h 170"/>
                    <a:gd name="T6" fmla="*/ 2147483647 w 683"/>
                    <a:gd name="T7" fmla="*/ 2147483647 h 170"/>
                    <a:gd name="T8" fmla="*/ 2147483647 w 683"/>
                    <a:gd name="T9" fmla="*/ 2147483647 h 170"/>
                    <a:gd name="T10" fmla="*/ 2147483647 w 683"/>
                    <a:gd name="T11" fmla="*/ 2147483647 h 17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83"/>
                    <a:gd name="T19" fmla="*/ 0 h 170"/>
                    <a:gd name="T20" fmla="*/ 683 w 683"/>
                    <a:gd name="T21" fmla="*/ 170 h 17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83" h="170">
                      <a:moveTo>
                        <a:pt x="0" y="0"/>
                      </a:moveTo>
                      <a:lnTo>
                        <a:pt x="341" y="0"/>
                      </a:lnTo>
                      <a:moveTo>
                        <a:pt x="0" y="170"/>
                      </a:moveTo>
                      <a:lnTo>
                        <a:pt x="341" y="170"/>
                      </a:lnTo>
                      <a:moveTo>
                        <a:pt x="683" y="85"/>
                      </a:moveTo>
                      <a:lnTo>
                        <a:pt x="341" y="85"/>
                      </a:lnTo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40980" name="Freeform 17"/>
                <p:cNvSpPr>
                  <a:spLocks/>
                </p:cNvSpPr>
                <p:nvPr/>
              </p:nvSpPr>
              <p:spPr bwMode="auto">
                <a:xfrm>
                  <a:off x="1517650" y="2605087"/>
                  <a:ext cx="649288" cy="538162"/>
                </a:xfrm>
                <a:custGeom>
                  <a:avLst/>
                  <a:gdLst>
                    <a:gd name="T0" fmla="*/ 2147483647 w 473"/>
                    <a:gd name="T1" fmla="*/ 2147483647 h 363"/>
                    <a:gd name="T2" fmla="*/ 2147483647 w 473"/>
                    <a:gd name="T3" fmla="*/ 2147483647 h 363"/>
                    <a:gd name="T4" fmla="*/ 2147483647 w 473"/>
                    <a:gd name="T5" fmla="*/ 2147483647 h 363"/>
                    <a:gd name="T6" fmla="*/ 0 w 473"/>
                    <a:gd name="T7" fmla="*/ 2147483647 h 363"/>
                    <a:gd name="T8" fmla="*/ 0 w 473"/>
                    <a:gd name="T9" fmla="*/ 0 h 363"/>
                    <a:gd name="T10" fmla="*/ 0 w 473"/>
                    <a:gd name="T11" fmla="*/ 0 h 363"/>
                    <a:gd name="T12" fmla="*/ 2147483647 w 473"/>
                    <a:gd name="T13" fmla="*/ 0 h 363"/>
                    <a:gd name="T14" fmla="*/ 2147483647 w 473"/>
                    <a:gd name="T15" fmla="*/ 2147483647 h 36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3"/>
                    <a:gd name="T25" fmla="*/ 0 h 363"/>
                    <a:gd name="T26" fmla="*/ 473 w 473"/>
                    <a:gd name="T27" fmla="*/ 363 h 36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3" h="363">
                      <a:moveTo>
                        <a:pt x="473" y="181"/>
                      </a:moveTo>
                      <a:cubicBezTo>
                        <a:pt x="417" y="271"/>
                        <a:pt x="293" y="338"/>
                        <a:pt x="142" y="363"/>
                      </a:cubicBezTo>
                      <a:lnTo>
                        <a:pt x="0" y="363"/>
                      </a:lnTo>
                      <a:cubicBezTo>
                        <a:pt x="88" y="248"/>
                        <a:pt x="88" y="115"/>
                        <a:pt x="0" y="0"/>
                      </a:cubicBezTo>
                      <a:lnTo>
                        <a:pt x="142" y="0"/>
                      </a:lnTo>
                      <a:cubicBezTo>
                        <a:pt x="294" y="24"/>
                        <a:pt x="417" y="91"/>
                        <a:pt x="473" y="1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81" name="Freeform 18"/>
                <p:cNvSpPr>
                  <a:spLocks noEditPoints="1"/>
                </p:cNvSpPr>
                <p:nvPr/>
              </p:nvSpPr>
              <p:spPr bwMode="auto">
                <a:xfrm>
                  <a:off x="1450975" y="2605087"/>
                  <a:ext cx="715963" cy="538162"/>
                </a:xfrm>
                <a:custGeom>
                  <a:avLst/>
                  <a:gdLst>
                    <a:gd name="T0" fmla="*/ 2147483647 w 521"/>
                    <a:gd name="T1" fmla="*/ 2147483647 h 363"/>
                    <a:gd name="T2" fmla="*/ 2147483647 w 521"/>
                    <a:gd name="T3" fmla="*/ 2147483647 h 363"/>
                    <a:gd name="T4" fmla="*/ 2147483647 w 521"/>
                    <a:gd name="T5" fmla="*/ 2147483647 h 363"/>
                    <a:gd name="T6" fmla="*/ 2147483647 w 521"/>
                    <a:gd name="T7" fmla="*/ 2147483647 h 363"/>
                    <a:gd name="T8" fmla="*/ 2147483647 w 521"/>
                    <a:gd name="T9" fmla="*/ 0 h 363"/>
                    <a:gd name="T10" fmla="*/ 2147483647 w 521"/>
                    <a:gd name="T11" fmla="*/ 0 h 363"/>
                    <a:gd name="T12" fmla="*/ 2147483647 w 521"/>
                    <a:gd name="T13" fmla="*/ 0 h 363"/>
                    <a:gd name="T14" fmla="*/ 2147483647 w 521"/>
                    <a:gd name="T15" fmla="*/ 2147483647 h 363"/>
                    <a:gd name="T16" fmla="*/ 0 w 521"/>
                    <a:gd name="T17" fmla="*/ 2147483647 h 363"/>
                    <a:gd name="T18" fmla="*/ 0 w 521"/>
                    <a:gd name="T19" fmla="*/ 0 h 36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521"/>
                    <a:gd name="T31" fmla="*/ 0 h 363"/>
                    <a:gd name="T32" fmla="*/ 521 w 521"/>
                    <a:gd name="T33" fmla="*/ 363 h 363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521" h="363">
                      <a:moveTo>
                        <a:pt x="521" y="181"/>
                      </a:moveTo>
                      <a:cubicBezTo>
                        <a:pt x="465" y="271"/>
                        <a:pt x="341" y="338"/>
                        <a:pt x="190" y="363"/>
                      </a:cubicBezTo>
                      <a:lnTo>
                        <a:pt x="48" y="363"/>
                      </a:lnTo>
                      <a:cubicBezTo>
                        <a:pt x="136" y="248"/>
                        <a:pt x="136" y="115"/>
                        <a:pt x="48" y="0"/>
                      </a:cubicBezTo>
                      <a:lnTo>
                        <a:pt x="190" y="0"/>
                      </a:lnTo>
                      <a:cubicBezTo>
                        <a:pt x="342" y="24"/>
                        <a:pt x="465" y="91"/>
                        <a:pt x="521" y="181"/>
                      </a:cubicBezTo>
                      <a:moveTo>
                        <a:pt x="0" y="363"/>
                      </a:moveTo>
                      <a:cubicBezTo>
                        <a:pt x="88" y="248"/>
                        <a:pt x="88" y="115"/>
                        <a:pt x="0" y="0"/>
                      </a:cubicBezTo>
                    </a:path>
                  </a:pathLst>
                </a:custGeom>
                <a:noFill/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82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703263" y="3008312"/>
                  <a:ext cx="628650" cy="0"/>
                </a:xfrm>
                <a:prstGeom prst="line">
                  <a:avLst/>
                </a:pr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85" name="Line 22"/>
                <p:cNvSpPr>
                  <a:spLocks noChangeShapeType="1"/>
                </p:cNvSpPr>
                <p:nvPr/>
              </p:nvSpPr>
              <p:spPr bwMode="auto">
                <a:xfrm>
                  <a:off x="4319588" y="2871787"/>
                  <a:ext cx="427037" cy="0"/>
                </a:xfrm>
                <a:prstGeom prst="line">
                  <a:avLst/>
                </a:prstGeom>
                <a:noFill/>
                <a:ln w="1905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86" name="Freeform 23"/>
                <p:cNvSpPr>
                  <a:spLocks/>
                </p:cNvSpPr>
                <p:nvPr/>
              </p:nvSpPr>
              <p:spPr bwMode="auto">
                <a:xfrm>
                  <a:off x="4248150" y="2793999"/>
                  <a:ext cx="142875" cy="153988"/>
                </a:xfrm>
                <a:custGeom>
                  <a:avLst/>
                  <a:gdLst>
                    <a:gd name="T0" fmla="*/ 2147483647 w 104"/>
                    <a:gd name="T1" fmla="*/ 2147483647 h 104"/>
                    <a:gd name="T2" fmla="*/ 2147483647 w 104"/>
                    <a:gd name="T3" fmla="*/ 0 h 104"/>
                    <a:gd name="T4" fmla="*/ 0 w 104"/>
                    <a:gd name="T5" fmla="*/ 2147483647 h 104"/>
                    <a:gd name="T6" fmla="*/ 0 w 104"/>
                    <a:gd name="T7" fmla="*/ 2147483647 h 104"/>
                    <a:gd name="T8" fmla="*/ 2147483647 w 104"/>
                    <a:gd name="T9" fmla="*/ 2147483647 h 104"/>
                    <a:gd name="T10" fmla="*/ 2147483647 w 104"/>
                    <a:gd name="T11" fmla="*/ 2147483647 h 1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4"/>
                    <a:gd name="T19" fmla="*/ 0 h 104"/>
                    <a:gd name="T20" fmla="*/ 104 w 104"/>
                    <a:gd name="T21" fmla="*/ 104 h 1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4" h="104">
                      <a:moveTo>
                        <a:pt x="104" y="52"/>
                      </a:moveTo>
                      <a:cubicBezTo>
                        <a:pt x="104" y="23"/>
                        <a:pt x="80" y="0"/>
                        <a:pt x="52" y="0"/>
                      </a:cubicBezTo>
                      <a:cubicBezTo>
                        <a:pt x="23" y="0"/>
                        <a:pt x="0" y="23"/>
                        <a:pt x="0" y="52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81"/>
                        <a:pt x="23" y="104"/>
                        <a:pt x="52" y="104"/>
                      </a:cubicBezTo>
                      <a:cubicBezTo>
                        <a:pt x="80" y="104"/>
                        <a:pt x="104" y="81"/>
                        <a:pt x="104" y="52"/>
                      </a:cubicBezTo>
                    </a:path>
                  </a:pathLst>
                </a:custGeom>
                <a:solidFill>
                  <a:srgbClr val="000000"/>
                </a:solidFill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5" name="直接连接符 4"/>
              <p:cNvCxnSpPr>
                <a:cxnSpLocks/>
              </p:cNvCxnSpPr>
              <p:nvPr/>
            </p:nvCxnSpPr>
            <p:spPr bwMode="auto">
              <a:xfrm flipH="1">
                <a:off x="2341563" y="2878137"/>
                <a:ext cx="471947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 bwMode="auto">
              <a:xfrm>
                <a:off x="1341438" y="2351087"/>
                <a:ext cx="29781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>
                <a:endCxn id="40979" idx="0"/>
              </p:cNvCxnSpPr>
              <p:nvPr/>
            </p:nvCxnSpPr>
            <p:spPr bwMode="auto">
              <a:xfrm>
                <a:off x="1341438" y="2351087"/>
                <a:ext cx="0" cy="38735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 bwMode="auto">
              <a:xfrm>
                <a:off x="4319587" y="2351087"/>
                <a:ext cx="0" cy="51990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 bwMode="auto">
              <a:xfrm>
                <a:off x="3819525" y="2870993"/>
                <a:ext cx="50006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 bwMode="auto">
              <a:xfrm>
                <a:off x="3819525" y="3418194"/>
                <a:ext cx="9271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/>
                  <p:cNvSpPr txBox="1"/>
                  <p:nvPr/>
                </p:nvSpPr>
                <p:spPr>
                  <a:xfrm>
                    <a:off x="4719945" y="3187456"/>
                    <a:ext cx="527004" cy="524118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zh-CN" alt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8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文本框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9945" y="3187456"/>
                    <a:ext cx="527004" cy="52411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000" r="-5000" b="-20000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/>
                  <p:cNvSpPr txBox="1"/>
                  <p:nvPr/>
                </p:nvSpPr>
                <p:spPr>
                  <a:xfrm>
                    <a:off x="4835269" y="2620487"/>
                    <a:ext cx="342337" cy="43088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5269" y="2620487"/>
                    <a:ext cx="342337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4615" r="-34615" b="-35294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本框 54"/>
                  <p:cNvSpPr txBox="1"/>
                  <p:nvPr/>
                </p:nvSpPr>
                <p:spPr>
                  <a:xfrm>
                    <a:off x="3483819" y="2655549"/>
                    <a:ext cx="342337" cy="43088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文本框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3819" y="2655549"/>
                    <a:ext cx="342337" cy="43088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3333" r="-33333" b="-36364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本框 55"/>
                  <p:cNvSpPr txBox="1"/>
                  <p:nvPr/>
                </p:nvSpPr>
                <p:spPr>
                  <a:xfrm>
                    <a:off x="2889961" y="2655548"/>
                    <a:ext cx="348750" cy="43088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文本框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9961" y="2655548"/>
                    <a:ext cx="348750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2222" r="-22222" b="-15152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本框 56"/>
                  <p:cNvSpPr txBox="1"/>
                  <p:nvPr/>
                </p:nvSpPr>
                <p:spPr>
                  <a:xfrm>
                    <a:off x="3039203" y="3202750"/>
                    <a:ext cx="320344" cy="43088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文本框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39203" y="3202750"/>
                    <a:ext cx="320344" cy="43088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4000" r="-24000" b="-15152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57"/>
                  <p:cNvSpPr txBox="1"/>
                  <p:nvPr/>
                </p:nvSpPr>
                <p:spPr>
                  <a:xfrm>
                    <a:off x="2070419" y="3180217"/>
                    <a:ext cx="320344" cy="43088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文本框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0419" y="3180217"/>
                    <a:ext cx="320344" cy="43088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4000" r="-24000" b="-15152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/>
                  <p:cNvSpPr txBox="1"/>
                  <p:nvPr/>
                </p:nvSpPr>
                <p:spPr>
                  <a:xfrm>
                    <a:off x="691115" y="2517100"/>
                    <a:ext cx="310854" cy="430887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文本框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115" y="2517100"/>
                    <a:ext cx="310854" cy="43088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9167" r="-25000" b="-15152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8" name="下箭头 67"/>
            <p:cNvSpPr/>
            <p:nvPr/>
          </p:nvSpPr>
          <p:spPr bwMode="auto">
            <a:xfrm>
              <a:off x="2669126" y="3835519"/>
              <a:ext cx="668548" cy="533400"/>
            </a:xfrm>
            <a:prstGeom prst="downArrow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0" name="表格 69"/>
              <p:cNvGraphicFramePr>
                <a:graphicFrameLocks noGrp="1"/>
              </p:cNvGraphicFramePr>
              <p:nvPr/>
            </p:nvGraphicFramePr>
            <p:xfrm>
              <a:off x="5486400" y="3222199"/>
              <a:ext cx="3263776" cy="23299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5944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815944">
                      <a:extLst>
                        <a:ext uri="{9D8B030D-6E8A-4147-A177-3AD203B41FA5}">
                          <a16:colId xmlns:a16="http://schemas.microsoft.com/office/drawing/2014/main" val="1800681593"/>
                        </a:ext>
                      </a:extLst>
                    </a:gridCol>
                    <a:gridCol w="815944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  <a:gridCol w="815944">
                      <a:extLst>
                        <a:ext uri="{9D8B030D-6E8A-4147-A177-3AD203B41FA5}">
                          <a16:colId xmlns:a16="http://schemas.microsoft.com/office/drawing/2014/main" val="2546997368"/>
                        </a:ext>
                      </a:extLst>
                    </a:gridCol>
                  </a:tblGrid>
                  <a:tr h="4659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altLang="zh-CN" sz="24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3764505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3582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0" name="表格 6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9252693"/>
                  </p:ext>
                </p:extLst>
              </p:nvPr>
            </p:nvGraphicFramePr>
            <p:xfrm>
              <a:off x="5486400" y="3222199"/>
              <a:ext cx="3263776" cy="23299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5944">
                      <a:extLst>
                        <a:ext uri="{9D8B030D-6E8A-4147-A177-3AD203B41FA5}">
                          <a16:colId xmlns:a16="http://schemas.microsoft.com/office/drawing/2014/main" val="2076892537"/>
                        </a:ext>
                      </a:extLst>
                    </a:gridCol>
                    <a:gridCol w="815944">
                      <a:extLst>
                        <a:ext uri="{9D8B030D-6E8A-4147-A177-3AD203B41FA5}">
                          <a16:colId xmlns:a16="http://schemas.microsoft.com/office/drawing/2014/main" val="1800681593"/>
                        </a:ext>
                      </a:extLst>
                    </a:gridCol>
                    <a:gridCol w="815944">
                      <a:extLst>
                        <a:ext uri="{9D8B030D-6E8A-4147-A177-3AD203B41FA5}">
                          <a16:colId xmlns:a16="http://schemas.microsoft.com/office/drawing/2014/main" val="855638771"/>
                        </a:ext>
                      </a:extLst>
                    </a:gridCol>
                    <a:gridCol w="815944">
                      <a:extLst>
                        <a:ext uri="{9D8B030D-6E8A-4147-A177-3AD203B41FA5}">
                          <a16:colId xmlns:a16="http://schemas.microsoft.com/office/drawing/2014/main" val="2546997368"/>
                        </a:ext>
                      </a:extLst>
                    </a:gridCol>
                  </a:tblGrid>
                  <a:tr h="4659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1563" t="-2703" r="-304688" b="-4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100000" t="-2703" r="-200000" b="-4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203125" t="-2703" r="-103125" b="-4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303125" t="-2703" r="-3125" b="-427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3397397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203125" t="-102703" r="-103125" b="-3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303125" t="-102703" r="-3125" b="-327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1600866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203125" t="-202703" r="-103125" b="-2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303125" t="-202703" r="-3125" b="-227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781919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203125" t="-302703" r="-103125" b="-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303125" t="-302703" r="-3125" b="-127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764505"/>
                      </a:ext>
                    </a:extLst>
                  </a:tr>
                  <a:tr h="46598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203125" t="-402703" r="-103125" b="-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"/>
                          <a:stretch>
                            <a:fillRect l="-303125" t="-402703" r="-3125" b="-27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3582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931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4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</a:t>
            </a:r>
            <a:r>
              <a:rPr lang="en-US" altLang="zh-CN" dirty="0"/>
              <a:t>DFF</a:t>
            </a:r>
            <a:r>
              <a:rPr lang="zh-CN" altLang="en-US" dirty="0"/>
              <a:t>构造其他触发器</a:t>
            </a:r>
            <a:endParaRPr lang="en-US" altLang="zh-CN" sz="4400" dirty="0">
              <a:sym typeface="Symbol" pitchFamily="18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7EAE7-77A8-BB40-818F-B2E0D03A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8132" name="AutoShape 3"/>
          <p:cNvSpPr>
            <a:spLocks noChangeAspect="1" noChangeArrowheads="1" noTextEdit="1"/>
          </p:cNvSpPr>
          <p:nvPr/>
        </p:nvSpPr>
        <p:spPr bwMode="auto">
          <a:xfrm>
            <a:off x="914400" y="3048000"/>
            <a:ext cx="6980237" cy="333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5284787" y="3744913"/>
            <a:ext cx="1028700" cy="1663700"/>
          </a:xfrm>
          <a:prstGeom prst="rect">
            <a:avLst/>
          </a:prstGeom>
          <a:noFill/>
          <a:ln w="190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4" name="Rectangle 5"/>
          <p:cNvSpPr>
            <a:spLocks noChangeArrowheads="1"/>
          </p:cNvSpPr>
          <p:nvPr/>
        </p:nvSpPr>
        <p:spPr bwMode="auto">
          <a:xfrm>
            <a:off x="5367336" y="3879850"/>
            <a:ext cx="328613" cy="473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100" b="0" i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8135" name="Rectangle 6"/>
          <p:cNvSpPr>
            <a:spLocks noChangeArrowheads="1"/>
          </p:cNvSpPr>
          <p:nvPr/>
        </p:nvSpPr>
        <p:spPr bwMode="auto">
          <a:xfrm>
            <a:off x="5910262" y="3879850"/>
            <a:ext cx="328613" cy="473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100" b="0" i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8136" name="Line 7"/>
          <p:cNvSpPr>
            <a:spLocks noChangeShapeType="1"/>
          </p:cNvSpPr>
          <p:nvPr/>
        </p:nvSpPr>
        <p:spPr bwMode="auto">
          <a:xfrm>
            <a:off x="4814887" y="4114800"/>
            <a:ext cx="454025" cy="0"/>
          </a:xfrm>
          <a:prstGeom prst="line">
            <a:avLst/>
          </a:prstGeom>
          <a:noFill/>
          <a:ln w="190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7" name="Line 8"/>
          <p:cNvSpPr>
            <a:spLocks noChangeShapeType="1"/>
          </p:cNvSpPr>
          <p:nvPr/>
        </p:nvSpPr>
        <p:spPr bwMode="auto">
          <a:xfrm>
            <a:off x="6313487" y="4114800"/>
            <a:ext cx="1163638" cy="1588"/>
          </a:xfrm>
          <a:prstGeom prst="line">
            <a:avLst/>
          </a:prstGeom>
          <a:noFill/>
          <a:ln w="190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8" name="Freeform 9"/>
          <p:cNvSpPr>
            <a:spLocks/>
          </p:cNvSpPr>
          <p:nvPr/>
        </p:nvSpPr>
        <p:spPr bwMode="auto">
          <a:xfrm>
            <a:off x="2370137" y="3097213"/>
            <a:ext cx="4457700" cy="1941512"/>
          </a:xfrm>
          <a:custGeom>
            <a:avLst/>
            <a:gdLst>
              <a:gd name="T0" fmla="*/ 2147483647 w 3042"/>
              <a:gd name="T1" fmla="*/ 2147483647 h 1223"/>
              <a:gd name="T2" fmla="*/ 2147483647 w 3042"/>
              <a:gd name="T3" fmla="*/ 0 h 1223"/>
              <a:gd name="T4" fmla="*/ 0 w 3042"/>
              <a:gd name="T5" fmla="*/ 0 h 1223"/>
              <a:gd name="T6" fmla="*/ 0 w 3042"/>
              <a:gd name="T7" fmla="*/ 2147483647 h 1223"/>
              <a:gd name="T8" fmla="*/ 0 60000 65536"/>
              <a:gd name="T9" fmla="*/ 0 60000 65536"/>
              <a:gd name="T10" fmla="*/ 0 60000 65536"/>
              <a:gd name="T11" fmla="*/ 0 60000 65536"/>
              <a:gd name="T12" fmla="*/ 0 w 3042"/>
              <a:gd name="T13" fmla="*/ 0 h 1223"/>
              <a:gd name="T14" fmla="*/ 3042 w 3042"/>
              <a:gd name="T15" fmla="*/ 1223 h 12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2" h="1223">
                <a:moveTo>
                  <a:pt x="3042" y="1223"/>
                </a:moveTo>
                <a:lnTo>
                  <a:pt x="3042" y="0"/>
                </a:lnTo>
                <a:lnTo>
                  <a:pt x="0" y="0"/>
                </a:lnTo>
                <a:lnTo>
                  <a:pt x="0" y="204"/>
                </a:ln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9" name="Freeform 10"/>
          <p:cNvSpPr>
            <a:spLocks/>
          </p:cNvSpPr>
          <p:nvPr/>
        </p:nvSpPr>
        <p:spPr bwMode="auto">
          <a:xfrm>
            <a:off x="6754812" y="4959350"/>
            <a:ext cx="147638" cy="158750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1"/>
                  <a:pt x="104" y="52"/>
                </a:cubicBezTo>
                <a:cubicBezTo>
                  <a:pt x="104" y="24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1" name="Oval 12"/>
          <p:cNvSpPr>
            <a:spLocks noChangeArrowheads="1"/>
          </p:cNvSpPr>
          <p:nvPr/>
        </p:nvSpPr>
        <p:spPr bwMode="auto">
          <a:xfrm>
            <a:off x="6313487" y="4948238"/>
            <a:ext cx="153988" cy="18415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2" name="Freeform 13"/>
          <p:cNvSpPr>
            <a:spLocks/>
          </p:cNvSpPr>
          <p:nvPr/>
        </p:nvSpPr>
        <p:spPr bwMode="auto">
          <a:xfrm>
            <a:off x="6313487" y="4948238"/>
            <a:ext cx="153988" cy="184150"/>
          </a:xfrm>
          <a:custGeom>
            <a:avLst/>
            <a:gdLst>
              <a:gd name="T0" fmla="*/ 2147483647 w 105"/>
              <a:gd name="T1" fmla="*/ 2147483647 h 116"/>
              <a:gd name="T2" fmla="*/ 2147483647 w 105"/>
              <a:gd name="T3" fmla="*/ 0 h 116"/>
              <a:gd name="T4" fmla="*/ 0 w 105"/>
              <a:gd name="T5" fmla="*/ 2147483647 h 116"/>
              <a:gd name="T6" fmla="*/ 2147483647 w 105"/>
              <a:gd name="T7" fmla="*/ 2147483647 h 116"/>
              <a:gd name="T8" fmla="*/ 2147483647 w 105"/>
              <a:gd name="T9" fmla="*/ 2147483647 h 1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"/>
              <a:gd name="T16" fmla="*/ 0 h 116"/>
              <a:gd name="T17" fmla="*/ 105 w 105"/>
              <a:gd name="T18" fmla="*/ 116 h 1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" h="116">
                <a:moveTo>
                  <a:pt x="105" y="57"/>
                </a:moveTo>
                <a:cubicBezTo>
                  <a:pt x="105" y="26"/>
                  <a:pt x="81" y="0"/>
                  <a:pt x="52" y="0"/>
                </a:cubicBezTo>
                <a:cubicBezTo>
                  <a:pt x="24" y="0"/>
                  <a:pt x="0" y="26"/>
                  <a:pt x="0" y="57"/>
                </a:cubicBezTo>
                <a:cubicBezTo>
                  <a:pt x="0" y="90"/>
                  <a:pt x="24" y="116"/>
                  <a:pt x="52" y="116"/>
                </a:cubicBezTo>
                <a:cubicBezTo>
                  <a:pt x="81" y="116"/>
                  <a:pt x="105" y="90"/>
                  <a:pt x="105" y="57"/>
                </a:cubicBez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3" name="Rectangle 14"/>
          <p:cNvSpPr>
            <a:spLocks noChangeArrowheads="1"/>
          </p:cNvSpPr>
          <p:nvPr/>
        </p:nvSpPr>
        <p:spPr bwMode="auto">
          <a:xfrm>
            <a:off x="5570537" y="4443413"/>
            <a:ext cx="293688" cy="473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100" b="0" i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8144" name="Freeform 15"/>
          <p:cNvSpPr>
            <a:spLocks/>
          </p:cNvSpPr>
          <p:nvPr/>
        </p:nvSpPr>
        <p:spPr bwMode="auto">
          <a:xfrm>
            <a:off x="4814887" y="4668838"/>
            <a:ext cx="469900" cy="1527175"/>
          </a:xfrm>
          <a:custGeom>
            <a:avLst/>
            <a:gdLst>
              <a:gd name="T0" fmla="*/ 0 w 321"/>
              <a:gd name="T1" fmla="*/ 2147483647 h 962"/>
              <a:gd name="T2" fmla="*/ 0 w 321"/>
              <a:gd name="T3" fmla="*/ 0 h 962"/>
              <a:gd name="T4" fmla="*/ 2147483647 w 321"/>
              <a:gd name="T5" fmla="*/ 0 h 962"/>
              <a:gd name="T6" fmla="*/ 0 60000 65536"/>
              <a:gd name="T7" fmla="*/ 0 60000 65536"/>
              <a:gd name="T8" fmla="*/ 0 60000 65536"/>
              <a:gd name="T9" fmla="*/ 0 w 321"/>
              <a:gd name="T10" fmla="*/ 0 h 962"/>
              <a:gd name="T11" fmla="*/ 321 w 321"/>
              <a:gd name="T12" fmla="*/ 962 h 9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1" h="962">
                <a:moveTo>
                  <a:pt x="0" y="962"/>
                </a:moveTo>
                <a:lnTo>
                  <a:pt x="0" y="0"/>
                </a:lnTo>
                <a:lnTo>
                  <a:pt x="321" y="0"/>
                </a:lnTo>
              </a:path>
            </a:pathLst>
          </a:custGeom>
          <a:noFill/>
          <a:ln w="238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5" name="Freeform 16"/>
          <p:cNvSpPr>
            <a:spLocks/>
          </p:cNvSpPr>
          <p:nvPr/>
        </p:nvSpPr>
        <p:spPr bwMode="auto">
          <a:xfrm>
            <a:off x="5284787" y="4484688"/>
            <a:ext cx="257175" cy="369887"/>
          </a:xfrm>
          <a:custGeom>
            <a:avLst/>
            <a:gdLst>
              <a:gd name="T0" fmla="*/ 0 w 175"/>
              <a:gd name="T1" fmla="*/ 2147483647 h 233"/>
              <a:gd name="T2" fmla="*/ 2147483647 w 175"/>
              <a:gd name="T3" fmla="*/ 2147483647 h 233"/>
              <a:gd name="T4" fmla="*/ 0 w 175"/>
              <a:gd name="T5" fmla="*/ 0 h 233"/>
              <a:gd name="T6" fmla="*/ 0 60000 65536"/>
              <a:gd name="T7" fmla="*/ 0 60000 65536"/>
              <a:gd name="T8" fmla="*/ 0 60000 65536"/>
              <a:gd name="T9" fmla="*/ 0 w 175"/>
              <a:gd name="T10" fmla="*/ 0 h 233"/>
              <a:gd name="T11" fmla="*/ 175 w 175"/>
              <a:gd name="T12" fmla="*/ 233 h 2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5" h="233">
                <a:moveTo>
                  <a:pt x="0" y="233"/>
                </a:moveTo>
                <a:lnTo>
                  <a:pt x="175" y="116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6" name="Rectangle 17"/>
          <p:cNvSpPr>
            <a:spLocks noChangeArrowheads="1"/>
          </p:cNvSpPr>
          <p:nvPr/>
        </p:nvSpPr>
        <p:spPr bwMode="auto">
          <a:xfrm>
            <a:off x="7513637" y="3856038"/>
            <a:ext cx="342900" cy="473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100" b="0" i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8147" name="Freeform 18"/>
          <p:cNvSpPr>
            <a:spLocks noEditPoints="1"/>
          </p:cNvSpPr>
          <p:nvPr/>
        </p:nvSpPr>
        <p:spPr bwMode="auto">
          <a:xfrm>
            <a:off x="2370137" y="3421063"/>
            <a:ext cx="1028700" cy="277812"/>
          </a:xfrm>
          <a:custGeom>
            <a:avLst/>
            <a:gdLst>
              <a:gd name="T0" fmla="*/ 0 w 702"/>
              <a:gd name="T1" fmla="*/ 0 h 175"/>
              <a:gd name="T2" fmla="*/ 2147483647 w 702"/>
              <a:gd name="T3" fmla="*/ 0 h 175"/>
              <a:gd name="T4" fmla="*/ 0 w 702"/>
              <a:gd name="T5" fmla="*/ 2147483647 h 175"/>
              <a:gd name="T6" fmla="*/ 2147483647 w 702"/>
              <a:gd name="T7" fmla="*/ 2147483647 h 175"/>
              <a:gd name="T8" fmla="*/ 2147483647 w 702"/>
              <a:gd name="T9" fmla="*/ 2147483647 h 175"/>
              <a:gd name="T10" fmla="*/ 2147483647 w 702"/>
              <a:gd name="T11" fmla="*/ 2147483647 h 1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2"/>
              <a:gd name="T19" fmla="*/ 0 h 175"/>
              <a:gd name="T20" fmla="*/ 702 w 702"/>
              <a:gd name="T21" fmla="*/ 175 h 1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2" h="175">
                <a:moveTo>
                  <a:pt x="0" y="0"/>
                </a:moveTo>
                <a:lnTo>
                  <a:pt x="351" y="0"/>
                </a:lnTo>
                <a:moveTo>
                  <a:pt x="0" y="175"/>
                </a:moveTo>
                <a:lnTo>
                  <a:pt x="351" y="175"/>
                </a:lnTo>
                <a:moveTo>
                  <a:pt x="702" y="87"/>
                </a:moveTo>
                <a:lnTo>
                  <a:pt x="351" y="87"/>
                </a:ln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8" name="Freeform 19"/>
          <p:cNvSpPr>
            <a:spLocks/>
          </p:cNvSpPr>
          <p:nvPr/>
        </p:nvSpPr>
        <p:spPr bwMode="auto">
          <a:xfrm>
            <a:off x="2552700" y="3281363"/>
            <a:ext cx="666750" cy="555625"/>
          </a:xfrm>
          <a:custGeom>
            <a:avLst/>
            <a:gdLst>
              <a:gd name="T0" fmla="*/ 2147483647 w 473"/>
              <a:gd name="T1" fmla="*/ 2147483647 h 363"/>
              <a:gd name="T2" fmla="*/ 2147483647 w 473"/>
              <a:gd name="T3" fmla="*/ 2147483647 h 363"/>
              <a:gd name="T4" fmla="*/ 2147483647 w 473"/>
              <a:gd name="T5" fmla="*/ 2147483647 h 363"/>
              <a:gd name="T6" fmla="*/ 0 w 473"/>
              <a:gd name="T7" fmla="*/ 2147483647 h 363"/>
              <a:gd name="T8" fmla="*/ 0 w 473"/>
              <a:gd name="T9" fmla="*/ 0 h 363"/>
              <a:gd name="T10" fmla="*/ 0 w 473"/>
              <a:gd name="T11" fmla="*/ 0 h 363"/>
              <a:gd name="T12" fmla="*/ 2147483647 w 473"/>
              <a:gd name="T13" fmla="*/ 0 h 363"/>
              <a:gd name="T14" fmla="*/ 2147483647 w 473"/>
              <a:gd name="T15" fmla="*/ 2147483647 h 3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3"/>
              <a:gd name="T25" fmla="*/ 0 h 363"/>
              <a:gd name="T26" fmla="*/ 473 w 473"/>
              <a:gd name="T27" fmla="*/ 363 h 36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3" h="363">
                <a:moveTo>
                  <a:pt x="473" y="182"/>
                </a:moveTo>
                <a:cubicBezTo>
                  <a:pt x="416" y="271"/>
                  <a:pt x="293" y="339"/>
                  <a:pt x="142" y="363"/>
                </a:cubicBezTo>
                <a:lnTo>
                  <a:pt x="0" y="363"/>
                </a:lnTo>
                <a:cubicBezTo>
                  <a:pt x="88" y="248"/>
                  <a:pt x="88" y="115"/>
                  <a:pt x="0" y="0"/>
                </a:cubicBezTo>
                <a:lnTo>
                  <a:pt x="142" y="0"/>
                </a:lnTo>
                <a:cubicBezTo>
                  <a:pt x="294" y="24"/>
                  <a:pt x="417" y="92"/>
                  <a:pt x="473" y="182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9" name="Freeform 20"/>
          <p:cNvSpPr>
            <a:spLocks/>
          </p:cNvSpPr>
          <p:nvPr/>
        </p:nvSpPr>
        <p:spPr bwMode="auto">
          <a:xfrm>
            <a:off x="2552700" y="3281363"/>
            <a:ext cx="666750" cy="555625"/>
          </a:xfrm>
          <a:custGeom>
            <a:avLst/>
            <a:gdLst>
              <a:gd name="T0" fmla="*/ 2147483647 w 473"/>
              <a:gd name="T1" fmla="*/ 2147483647 h 363"/>
              <a:gd name="T2" fmla="*/ 2147483647 w 473"/>
              <a:gd name="T3" fmla="*/ 2147483647 h 363"/>
              <a:gd name="T4" fmla="*/ 2147483647 w 473"/>
              <a:gd name="T5" fmla="*/ 2147483647 h 363"/>
              <a:gd name="T6" fmla="*/ 0 w 473"/>
              <a:gd name="T7" fmla="*/ 2147483647 h 363"/>
              <a:gd name="T8" fmla="*/ 0 w 473"/>
              <a:gd name="T9" fmla="*/ 0 h 363"/>
              <a:gd name="T10" fmla="*/ 0 w 473"/>
              <a:gd name="T11" fmla="*/ 0 h 363"/>
              <a:gd name="T12" fmla="*/ 2147483647 w 473"/>
              <a:gd name="T13" fmla="*/ 0 h 363"/>
              <a:gd name="T14" fmla="*/ 2147483647 w 473"/>
              <a:gd name="T15" fmla="*/ 2147483647 h 3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3"/>
              <a:gd name="T25" fmla="*/ 0 h 363"/>
              <a:gd name="T26" fmla="*/ 473 w 473"/>
              <a:gd name="T27" fmla="*/ 363 h 36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3" h="363">
                <a:moveTo>
                  <a:pt x="473" y="182"/>
                </a:moveTo>
                <a:cubicBezTo>
                  <a:pt x="416" y="271"/>
                  <a:pt x="293" y="339"/>
                  <a:pt x="142" y="363"/>
                </a:cubicBezTo>
                <a:lnTo>
                  <a:pt x="0" y="363"/>
                </a:lnTo>
                <a:cubicBezTo>
                  <a:pt x="88" y="248"/>
                  <a:pt x="88" y="115"/>
                  <a:pt x="0" y="0"/>
                </a:cubicBezTo>
                <a:lnTo>
                  <a:pt x="142" y="0"/>
                </a:lnTo>
                <a:cubicBezTo>
                  <a:pt x="294" y="24"/>
                  <a:pt x="417" y="92"/>
                  <a:pt x="473" y="182"/>
                </a:cubicBezTo>
                <a:close/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0" name="Freeform 21"/>
          <p:cNvSpPr>
            <a:spLocks/>
          </p:cNvSpPr>
          <p:nvPr/>
        </p:nvSpPr>
        <p:spPr bwMode="auto">
          <a:xfrm>
            <a:off x="2552700" y="3281363"/>
            <a:ext cx="666750" cy="555625"/>
          </a:xfrm>
          <a:custGeom>
            <a:avLst/>
            <a:gdLst>
              <a:gd name="T0" fmla="*/ 2147483647 w 473"/>
              <a:gd name="T1" fmla="*/ 2147483647 h 363"/>
              <a:gd name="T2" fmla="*/ 0 w 473"/>
              <a:gd name="T3" fmla="*/ 2147483647 h 363"/>
              <a:gd name="T4" fmla="*/ 0 w 473"/>
              <a:gd name="T5" fmla="*/ 0 h 363"/>
              <a:gd name="T6" fmla="*/ 2147483647 w 473"/>
              <a:gd name="T7" fmla="*/ 0 h 363"/>
              <a:gd name="T8" fmla="*/ 2147483647 w 473"/>
              <a:gd name="T9" fmla="*/ 2147483647 h 363"/>
              <a:gd name="T10" fmla="*/ 2147483647 w 473"/>
              <a:gd name="T11" fmla="*/ 2147483647 h 363"/>
              <a:gd name="T12" fmla="*/ 2147483647 w 473"/>
              <a:gd name="T13" fmla="*/ 2147483647 h 3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3"/>
              <a:gd name="T22" fmla="*/ 0 h 363"/>
              <a:gd name="T23" fmla="*/ 473 w 473"/>
              <a:gd name="T24" fmla="*/ 363 h 3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3" h="363">
                <a:moveTo>
                  <a:pt x="291" y="363"/>
                </a:moveTo>
                <a:lnTo>
                  <a:pt x="0" y="363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3" y="82"/>
                  <a:pt x="473" y="182"/>
                </a:cubicBezTo>
                <a:cubicBezTo>
                  <a:pt x="473" y="282"/>
                  <a:pt x="391" y="363"/>
                  <a:pt x="291" y="363"/>
                </a:cubicBezTo>
                <a:cubicBezTo>
                  <a:pt x="291" y="363"/>
                  <a:pt x="291" y="363"/>
                  <a:pt x="291" y="36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1" name="Freeform 22"/>
          <p:cNvSpPr>
            <a:spLocks/>
          </p:cNvSpPr>
          <p:nvPr/>
        </p:nvSpPr>
        <p:spPr bwMode="auto">
          <a:xfrm>
            <a:off x="2552700" y="3281363"/>
            <a:ext cx="666750" cy="555625"/>
          </a:xfrm>
          <a:custGeom>
            <a:avLst/>
            <a:gdLst>
              <a:gd name="T0" fmla="*/ 2147483647 w 473"/>
              <a:gd name="T1" fmla="*/ 2147483647 h 363"/>
              <a:gd name="T2" fmla="*/ 0 w 473"/>
              <a:gd name="T3" fmla="*/ 2147483647 h 363"/>
              <a:gd name="T4" fmla="*/ 0 w 473"/>
              <a:gd name="T5" fmla="*/ 0 h 363"/>
              <a:gd name="T6" fmla="*/ 2147483647 w 473"/>
              <a:gd name="T7" fmla="*/ 0 h 363"/>
              <a:gd name="T8" fmla="*/ 2147483647 w 473"/>
              <a:gd name="T9" fmla="*/ 2147483647 h 363"/>
              <a:gd name="T10" fmla="*/ 2147483647 w 473"/>
              <a:gd name="T11" fmla="*/ 2147483647 h 363"/>
              <a:gd name="T12" fmla="*/ 2147483647 w 473"/>
              <a:gd name="T13" fmla="*/ 2147483647 h 3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3"/>
              <a:gd name="T22" fmla="*/ 0 h 363"/>
              <a:gd name="T23" fmla="*/ 473 w 473"/>
              <a:gd name="T24" fmla="*/ 363 h 3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3" h="363">
                <a:moveTo>
                  <a:pt x="291" y="363"/>
                </a:moveTo>
                <a:lnTo>
                  <a:pt x="0" y="363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3" y="82"/>
                  <a:pt x="473" y="182"/>
                </a:cubicBezTo>
                <a:cubicBezTo>
                  <a:pt x="473" y="282"/>
                  <a:pt x="391" y="363"/>
                  <a:pt x="291" y="363"/>
                </a:cubicBezTo>
                <a:cubicBezTo>
                  <a:pt x="291" y="363"/>
                  <a:pt x="291" y="363"/>
                  <a:pt x="291" y="363"/>
                </a:cubicBezTo>
                <a:close/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2" name="Freeform 23"/>
          <p:cNvSpPr>
            <a:spLocks noEditPoints="1"/>
          </p:cNvSpPr>
          <p:nvPr/>
        </p:nvSpPr>
        <p:spPr bwMode="auto">
          <a:xfrm>
            <a:off x="3784600" y="3975100"/>
            <a:ext cx="1030287" cy="277813"/>
          </a:xfrm>
          <a:custGeom>
            <a:avLst/>
            <a:gdLst>
              <a:gd name="T0" fmla="*/ 0 w 703"/>
              <a:gd name="T1" fmla="*/ 0 h 175"/>
              <a:gd name="T2" fmla="*/ 2147483647 w 703"/>
              <a:gd name="T3" fmla="*/ 0 h 175"/>
              <a:gd name="T4" fmla="*/ 0 w 703"/>
              <a:gd name="T5" fmla="*/ 2147483647 h 175"/>
              <a:gd name="T6" fmla="*/ 2147483647 w 703"/>
              <a:gd name="T7" fmla="*/ 2147483647 h 175"/>
              <a:gd name="T8" fmla="*/ 2147483647 w 703"/>
              <a:gd name="T9" fmla="*/ 2147483647 h 175"/>
              <a:gd name="T10" fmla="*/ 2147483647 w 703"/>
              <a:gd name="T11" fmla="*/ 2147483647 h 1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3"/>
              <a:gd name="T19" fmla="*/ 0 h 175"/>
              <a:gd name="T20" fmla="*/ 703 w 703"/>
              <a:gd name="T21" fmla="*/ 175 h 1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3" h="175">
                <a:moveTo>
                  <a:pt x="0" y="0"/>
                </a:moveTo>
                <a:lnTo>
                  <a:pt x="352" y="0"/>
                </a:lnTo>
                <a:moveTo>
                  <a:pt x="0" y="175"/>
                </a:moveTo>
                <a:lnTo>
                  <a:pt x="352" y="175"/>
                </a:lnTo>
                <a:moveTo>
                  <a:pt x="703" y="88"/>
                </a:moveTo>
                <a:lnTo>
                  <a:pt x="352" y="88"/>
                </a:ln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3" name="Freeform 24"/>
          <p:cNvSpPr>
            <a:spLocks/>
          </p:cNvSpPr>
          <p:nvPr/>
        </p:nvSpPr>
        <p:spPr bwMode="auto">
          <a:xfrm>
            <a:off x="3965575" y="3836988"/>
            <a:ext cx="668337" cy="555625"/>
          </a:xfrm>
          <a:custGeom>
            <a:avLst/>
            <a:gdLst>
              <a:gd name="T0" fmla="*/ 2147483647 w 473"/>
              <a:gd name="T1" fmla="*/ 2147483647 h 364"/>
              <a:gd name="T2" fmla="*/ 2147483647 w 473"/>
              <a:gd name="T3" fmla="*/ 2147483647 h 364"/>
              <a:gd name="T4" fmla="*/ 2147483647 w 473"/>
              <a:gd name="T5" fmla="*/ 2147483647 h 364"/>
              <a:gd name="T6" fmla="*/ 0 w 473"/>
              <a:gd name="T7" fmla="*/ 2147483647 h 364"/>
              <a:gd name="T8" fmla="*/ 0 w 473"/>
              <a:gd name="T9" fmla="*/ 0 h 364"/>
              <a:gd name="T10" fmla="*/ 0 w 473"/>
              <a:gd name="T11" fmla="*/ 0 h 364"/>
              <a:gd name="T12" fmla="*/ 2147483647 w 473"/>
              <a:gd name="T13" fmla="*/ 0 h 364"/>
              <a:gd name="T14" fmla="*/ 2147483647 w 473"/>
              <a:gd name="T15" fmla="*/ 2147483647 h 3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3"/>
              <a:gd name="T25" fmla="*/ 0 h 364"/>
              <a:gd name="T26" fmla="*/ 473 w 473"/>
              <a:gd name="T27" fmla="*/ 364 h 36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3" h="364">
                <a:moveTo>
                  <a:pt x="473" y="182"/>
                </a:moveTo>
                <a:cubicBezTo>
                  <a:pt x="417" y="271"/>
                  <a:pt x="293" y="339"/>
                  <a:pt x="142" y="364"/>
                </a:cubicBezTo>
                <a:lnTo>
                  <a:pt x="0" y="364"/>
                </a:lnTo>
                <a:cubicBezTo>
                  <a:pt x="88" y="249"/>
                  <a:pt x="88" y="116"/>
                  <a:pt x="0" y="0"/>
                </a:cubicBezTo>
                <a:lnTo>
                  <a:pt x="142" y="0"/>
                </a:lnTo>
                <a:cubicBezTo>
                  <a:pt x="294" y="24"/>
                  <a:pt x="418" y="92"/>
                  <a:pt x="473" y="182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4" name="Freeform 25"/>
          <p:cNvSpPr>
            <a:spLocks/>
          </p:cNvSpPr>
          <p:nvPr/>
        </p:nvSpPr>
        <p:spPr bwMode="auto">
          <a:xfrm>
            <a:off x="3965575" y="3836988"/>
            <a:ext cx="668337" cy="555625"/>
          </a:xfrm>
          <a:custGeom>
            <a:avLst/>
            <a:gdLst>
              <a:gd name="T0" fmla="*/ 2147483647 w 473"/>
              <a:gd name="T1" fmla="*/ 2147483647 h 364"/>
              <a:gd name="T2" fmla="*/ 2147483647 w 473"/>
              <a:gd name="T3" fmla="*/ 2147483647 h 364"/>
              <a:gd name="T4" fmla="*/ 2147483647 w 473"/>
              <a:gd name="T5" fmla="*/ 2147483647 h 364"/>
              <a:gd name="T6" fmla="*/ 0 w 473"/>
              <a:gd name="T7" fmla="*/ 2147483647 h 364"/>
              <a:gd name="T8" fmla="*/ 0 w 473"/>
              <a:gd name="T9" fmla="*/ 0 h 364"/>
              <a:gd name="T10" fmla="*/ 0 w 473"/>
              <a:gd name="T11" fmla="*/ 0 h 364"/>
              <a:gd name="T12" fmla="*/ 2147483647 w 473"/>
              <a:gd name="T13" fmla="*/ 0 h 364"/>
              <a:gd name="T14" fmla="*/ 2147483647 w 473"/>
              <a:gd name="T15" fmla="*/ 2147483647 h 3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3"/>
              <a:gd name="T25" fmla="*/ 0 h 364"/>
              <a:gd name="T26" fmla="*/ 473 w 473"/>
              <a:gd name="T27" fmla="*/ 364 h 36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3" h="364">
                <a:moveTo>
                  <a:pt x="473" y="182"/>
                </a:moveTo>
                <a:cubicBezTo>
                  <a:pt x="417" y="271"/>
                  <a:pt x="293" y="339"/>
                  <a:pt x="142" y="364"/>
                </a:cubicBezTo>
                <a:lnTo>
                  <a:pt x="0" y="364"/>
                </a:lnTo>
                <a:cubicBezTo>
                  <a:pt x="88" y="249"/>
                  <a:pt x="88" y="116"/>
                  <a:pt x="0" y="0"/>
                </a:cubicBezTo>
                <a:lnTo>
                  <a:pt x="142" y="0"/>
                </a:lnTo>
                <a:cubicBezTo>
                  <a:pt x="294" y="24"/>
                  <a:pt x="418" y="92"/>
                  <a:pt x="473" y="182"/>
                </a:cubicBezTo>
                <a:close/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5" name="Freeform 26"/>
          <p:cNvSpPr>
            <a:spLocks noEditPoints="1"/>
          </p:cNvSpPr>
          <p:nvPr/>
        </p:nvSpPr>
        <p:spPr bwMode="auto">
          <a:xfrm>
            <a:off x="2370137" y="4578350"/>
            <a:ext cx="1028700" cy="276225"/>
          </a:xfrm>
          <a:custGeom>
            <a:avLst/>
            <a:gdLst>
              <a:gd name="T0" fmla="*/ 0 w 702"/>
              <a:gd name="T1" fmla="*/ 0 h 174"/>
              <a:gd name="T2" fmla="*/ 2147483647 w 702"/>
              <a:gd name="T3" fmla="*/ 0 h 174"/>
              <a:gd name="T4" fmla="*/ 0 w 702"/>
              <a:gd name="T5" fmla="*/ 2147483647 h 174"/>
              <a:gd name="T6" fmla="*/ 2147483647 w 702"/>
              <a:gd name="T7" fmla="*/ 2147483647 h 174"/>
              <a:gd name="T8" fmla="*/ 2147483647 w 702"/>
              <a:gd name="T9" fmla="*/ 2147483647 h 174"/>
              <a:gd name="T10" fmla="*/ 2147483647 w 702"/>
              <a:gd name="T11" fmla="*/ 2147483647 h 17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2"/>
              <a:gd name="T19" fmla="*/ 0 h 174"/>
              <a:gd name="T20" fmla="*/ 702 w 702"/>
              <a:gd name="T21" fmla="*/ 174 h 17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2" h="174">
                <a:moveTo>
                  <a:pt x="0" y="0"/>
                </a:moveTo>
                <a:lnTo>
                  <a:pt x="351" y="0"/>
                </a:lnTo>
                <a:moveTo>
                  <a:pt x="0" y="174"/>
                </a:moveTo>
                <a:lnTo>
                  <a:pt x="351" y="174"/>
                </a:lnTo>
                <a:moveTo>
                  <a:pt x="702" y="86"/>
                </a:moveTo>
                <a:lnTo>
                  <a:pt x="351" y="86"/>
                </a:ln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6" name="Freeform 27"/>
          <p:cNvSpPr>
            <a:spLocks/>
          </p:cNvSpPr>
          <p:nvPr/>
        </p:nvSpPr>
        <p:spPr bwMode="auto">
          <a:xfrm>
            <a:off x="2552700" y="4438650"/>
            <a:ext cx="666750" cy="554038"/>
          </a:xfrm>
          <a:custGeom>
            <a:avLst/>
            <a:gdLst>
              <a:gd name="T0" fmla="*/ 2147483647 w 473"/>
              <a:gd name="T1" fmla="*/ 2147483647 h 363"/>
              <a:gd name="T2" fmla="*/ 2147483647 w 473"/>
              <a:gd name="T3" fmla="*/ 2147483647 h 363"/>
              <a:gd name="T4" fmla="*/ 0 w 473"/>
              <a:gd name="T5" fmla="*/ 2147483647 h 363"/>
              <a:gd name="T6" fmla="*/ 0 w 473"/>
              <a:gd name="T7" fmla="*/ 0 h 363"/>
              <a:gd name="T8" fmla="*/ 0 w 473"/>
              <a:gd name="T9" fmla="*/ 0 h 363"/>
              <a:gd name="T10" fmla="*/ 2147483647 w 473"/>
              <a:gd name="T11" fmla="*/ 0 h 363"/>
              <a:gd name="T12" fmla="*/ 2147483647 w 473"/>
              <a:gd name="T13" fmla="*/ 2147483647 h 3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3"/>
              <a:gd name="T22" fmla="*/ 0 h 363"/>
              <a:gd name="T23" fmla="*/ 473 w 473"/>
              <a:gd name="T24" fmla="*/ 363 h 3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3" h="363">
                <a:moveTo>
                  <a:pt x="473" y="182"/>
                </a:moveTo>
                <a:cubicBezTo>
                  <a:pt x="416" y="271"/>
                  <a:pt x="293" y="338"/>
                  <a:pt x="142" y="363"/>
                </a:cubicBezTo>
                <a:lnTo>
                  <a:pt x="0" y="363"/>
                </a:lnTo>
                <a:cubicBezTo>
                  <a:pt x="88" y="248"/>
                  <a:pt x="88" y="115"/>
                  <a:pt x="0" y="0"/>
                </a:cubicBezTo>
                <a:lnTo>
                  <a:pt x="142" y="0"/>
                </a:lnTo>
                <a:cubicBezTo>
                  <a:pt x="294" y="24"/>
                  <a:pt x="417" y="92"/>
                  <a:pt x="473" y="182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7" name="Freeform 28"/>
          <p:cNvSpPr>
            <a:spLocks/>
          </p:cNvSpPr>
          <p:nvPr/>
        </p:nvSpPr>
        <p:spPr bwMode="auto">
          <a:xfrm>
            <a:off x="2552700" y="4438650"/>
            <a:ext cx="666750" cy="554038"/>
          </a:xfrm>
          <a:custGeom>
            <a:avLst/>
            <a:gdLst>
              <a:gd name="T0" fmla="*/ 2147483647 w 473"/>
              <a:gd name="T1" fmla="*/ 2147483647 h 363"/>
              <a:gd name="T2" fmla="*/ 2147483647 w 473"/>
              <a:gd name="T3" fmla="*/ 2147483647 h 363"/>
              <a:gd name="T4" fmla="*/ 0 w 473"/>
              <a:gd name="T5" fmla="*/ 2147483647 h 363"/>
              <a:gd name="T6" fmla="*/ 0 w 473"/>
              <a:gd name="T7" fmla="*/ 0 h 363"/>
              <a:gd name="T8" fmla="*/ 0 w 473"/>
              <a:gd name="T9" fmla="*/ 0 h 363"/>
              <a:gd name="T10" fmla="*/ 2147483647 w 473"/>
              <a:gd name="T11" fmla="*/ 0 h 363"/>
              <a:gd name="T12" fmla="*/ 2147483647 w 473"/>
              <a:gd name="T13" fmla="*/ 2147483647 h 3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3"/>
              <a:gd name="T22" fmla="*/ 0 h 363"/>
              <a:gd name="T23" fmla="*/ 473 w 473"/>
              <a:gd name="T24" fmla="*/ 363 h 3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3" h="363">
                <a:moveTo>
                  <a:pt x="473" y="182"/>
                </a:moveTo>
                <a:cubicBezTo>
                  <a:pt x="416" y="271"/>
                  <a:pt x="293" y="338"/>
                  <a:pt x="142" y="363"/>
                </a:cubicBezTo>
                <a:lnTo>
                  <a:pt x="0" y="363"/>
                </a:lnTo>
                <a:cubicBezTo>
                  <a:pt x="88" y="248"/>
                  <a:pt x="88" y="115"/>
                  <a:pt x="0" y="0"/>
                </a:cubicBezTo>
                <a:lnTo>
                  <a:pt x="142" y="0"/>
                </a:lnTo>
                <a:cubicBezTo>
                  <a:pt x="294" y="24"/>
                  <a:pt x="417" y="92"/>
                  <a:pt x="473" y="182"/>
                </a:cubicBezTo>
                <a:close/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8" name="Freeform 29"/>
          <p:cNvSpPr>
            <a:spLocks/>
          </p:cNvSpPr>
          <p:nvPr/>
        </p:nvSpPr>
        <p:spPr bwMode="auto">
          <a:xfrm>
            <a:off x="2552700" y="4438650"/>
            <a:ext cx="666750" cy="554038"/>
          </a:xfrm>
          <a:custGeom>
            <a:avLst/>
            <a:gdLst>
              <a:gd name="T0" fmla="*/ 2147483647 w 473"/>
              <a:gd name="T1" fmla="*/ 2147483647 h 363"/>
              <a:gd name="T2" fmla="*/ 0 w 473"/>
              <a:gd name="T3" fmla="*/ 2147483647 h 363"/>
              <a:gd name="T4" fmla="*/ 0 w 473"/>
              <a:gd name="T5" fmla="*/ 0 h 363"/>
              <a:gd name="T6" fmla="*/ 2147483647 w 473"/>
              <a:gd name="T7" fmla="*/ 0 h 363"/>
              <a:gd name="T8" fmla="*/ 2147483647 w 473"/>
              <a:gd name="T9" fmla="*/ 2147483647 h 363"/>
              <a:gd name="T10" fmla="*/ 2147483647 w 473"/>
              <a:gd name="T11" fmla="*/ 2147483647 h 363"/>
              <a:gd name="T12" fmla="*/ 2147483647 w 473"/>
              <a:gd name="T13" fmla="*/ 2147483647 h 3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3"/>
              <a:gd name="T22" fmla="*/ 0 h 363"/>
              <a:gd name="T23" fmla="*/ 473 w 473"/>
              <a:gd name="T24" fmla="*/ 363 h 3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3" h="363">
                <a:moveTo>
                  <a:pt x="291" y="363"/>
                </a:moveTo>
                <a:lnTo>
                  <a:pt x="0" y="363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3" y="81"/>
                  <a:pt x="473" y="181"/>
                </a:cubicBezTo>
                <a:cubicBezTo>
                  <a:pt x="473" y="282"/>
                  <a:pt x="391" y="363"/>
                  <a:pt x="291" y="363"/>
                </a:cubicBezTo>
                <a:cubicBezTo>
                  <a:pt x="291" y="363"/>
                  <a:pt x="291" y="363"/>
                  <a:pt x="291" y="36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9" name="Freeform 30"/>
          <p:cNvSpPr>
            <a:spLocks/>
          </p:cNvSpPr>
          <p:nvPr/>
        </p:nvSpPr>
        <p:spPr bwMode="auto">
          <a:xfrm>
            <a:off x="2552700" y="4438650"/>
            <a:ext cx="666750" cy="554038"/>
          </a:xfrm>
          <a:custGeom>
            <a:avLst/>
            <a:gdLst>
              <a:gd name="T0" fmla="*/ 2147483647 w 473"/>
              <a:gd name="T1" fmla="*/ 2147483647 h 363"/>
              <a:gd name="T2" fmla="*/ 0 w 473"/>
              <a:gd name="T3" fmla="*/ 2147483647 h 363"/>
              <a:gd name="T4" fmla="*/ 0 w 473"/>
              <a:gd name="T5" fmla="*/ 0 h 363"/>
              <a:gd name="T6" fmla="*/ 2147483647 w 473"/>
              <a:gd name="T7" fmla="*/ 0 h 363"/>
              <a:gd name="T8" fmla="*/ 2147483647 w 473"/>
              <a:gd name="T9" fmla="*/ 2147483647 h 363"/>
              <a:gd name="T10" fmla="*/ 2147483647 w 473"/>
              <a:gd name="T11" fmla="*/ 2147483647 h 363"/>
              <a:gd name="T12" fmla="*/ 2147483647 w 473"/>
              <a:gd name="T13" fmla="*/ 2147483647 h 3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3"/>
              <a:gd name="T22" fmla="*/ 0 h 363"/>
              <a:gd name="T23" fmla="*/ 473 w 473"/>
              <a:gd name="T24" fmla="*/ 363 h 3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3" h="363">
                <a:moveTo>
                  <a:pt x="291" y="363"/>
                </a:moveTo>
                <a:lnTo>
                  <a:pt x="0" y="363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3" y="81"/>
                  <a:pt x="473" y="181"/>
                </a:cubicBezTo>
                <a:cubicBezTo>
                  <a:pt x="473" y="282"/>
                  <a:pt x="391" y="363"/>
                  <a:pt x="291" y="363"/>
                </a:cubicBezTo>
                <a:cubicBezTo>
                  <a:pt x="291" y="363"/>
                  <a:pt x="291" y="363"/>
                  <a:pt x="291" y="363"/>
                </a:cubicBezTo>
                <a:close/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0" name="Freeform 31"/>
          <p:cNvSpPr>
            <a:spLocks/>
          </p:cNvSpPr>
          <p:nvPr/>
        </p:nvSpPr>
        <p:spPr bwMode="auto">
          <a:xfrm>
            <a:off x="3398837" y="3559175"/>
            <a:ext cx="385763" cy="415925"/>
          </a:xfrm>
          <a:custGeom>
            <a:avLst/>
            <a:gdLst>
              <a:gd name="T0" fmla="*/ 0 w 263"/>
              <a:gd name="T1" fmla="*/ 0 h 262"/>
              <a:gd name="T2" fmla="*/ 2147483647 w 263"/>
              <a:gd name="T3" fmla="*/ 0 h 262"/>
              <a:gd name="T4" fmla="*/ 2147483647 w 263"/>
              <a:gd name="T5" fmla="*/ 2147483647 h 262"/>
              <a:gd name="T6" fmla="*/ 2147483647 w 263"/>
              <a:gd name="T7" fmla="*/ 2147483647 h 262"/>
              <a:gd name="T8" fmla="*/ 0 60000 65536"/>
              <a:gd name="T9" fmla="*/ 0 60000 65536"/>
              <a:gd name="T10" fmla="*/ 0 60000 65536"/>
              <a:gd name="T11" fmla="*/ 0 60000 65536"/>
              <a:gd name="T12" fmla="*/ 0 w 263"/>
              <a:gd name="T13" fmla="*/ 0 h 262"/>
              <a:gd name="T14" fmla="*/ 263 w 263"/>
              <a:gd name="T15" fmla="*/ 262 h 2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" h="262">
                <a:moveTo>
                  <a:pt x="0" y="0"/>
                </a:moveTo>
                <a:lnTo>
                  <a:pt x="141" y="0"/>
                </a:lnTo>
                <a:lnTo>
                  <a:pt x="141" y="262"/>
                </a:lnTo>
                <a:lnTo>
                  <a:pt x="263" y="262"/>
                </a:ln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1" name="Freeform 32"/>
          <p:cNvSpPr>
            <a:spLocks/>
          </p:cNvSpPr>
          <p:nvPr/>
        </p:nvSpPr>
        <p:spPr bwMode="auto">
          <a:xfrm>
            <a:off x="3398837" y="4252913"/>
            <a:ext cx="385763" cy="461962"/>
          </a:xfrm>
          <a:custGeom>
            <a:avLst/>
            <a:gdLst>
              <a:gd name="T0" fmla="*/ 2147483647 w 263"/>
              <a:gd name="T1" fmla="*/ 0 h 291"/>
              <a:gd name="T2" fmla="*/ 2147483647 w 263"/>
              <a:gd name="T3" fmla="*/ 0 h 291"/>
              <a:gd name="T4" fmla="*/ 2147483647 w 263"/>
              <a:gd name="T5" fmla="*/ 2147483647 h 291"/>
              <a:gd name="T6" fmla="*/ 0 w 263"/>
              <a:gd name="T7" fmla="*/ 2147483647 h 291"/>
              <a:gd name="T8" fmla="*/ 0 60000 65536"/>
              <a:gd name="T9" fmla="*/ 0 60000 65536"/>
              <a:gd name="T10" fmla="*/ 0 60000 65536"/>
              <a:gd name="T11" fmla="*/ 0 60000 65536"/>
              <a:gd name="T12" fmla="*/ 0 w 263"/>
              <a:gd name="T13" fmla="*/ 0 h 291"/>
              <a:gd name="T14" fmla="*/ 263 w 263"/>
              <a:gd name="T15" fmla="*/ 291 h 2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" h="291">
                <a:moveTo>
                  <a:pt x="263" y="0"/>
                </a:moveTo>
                <a:lnTo>
                  <a:pt x="146" y="0"/>
                </a:lnTo>
                <a:lnTo>
                  <a:pt x="146" y="291"/>
                </a:lnTo>
                <a:lnTo>
                  <a:pt x="0" y="291"/>
                </a:ln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2" name="Line 33"/>
          <p:cNvSpPr>
            <a:spLocks noChangeShapeType="1"/>
          </p:cNvSpPr>
          <p:nvPr/>
        </p:nvSpPr>
        <p:spPr bwMode="auto">
          <a:xfrm>
            <a:off x="6467475" y="5038725"/>
            <a:ext cx="996950" cy="1588"/>
          </a:xfrm>
          <a:prstGeom prst="line">
            <a:avLst/>
          </a:prstGeom>
          <a:noFill/>
          <a:ln w="190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3" name="Freeform 34"/>
          <p:cNvSpPr>
            <a:spLocks/>
          </p:cNvSpPr>
          <p:nvPr/>
        </p:nvSpPr>
        <p:spPr bwMode="auto">
          <a:xfrm>
            <a:off x="2370137" y="4114800"/>
            <a:ext cx="4629150" cy="1527175"/>
          </a:xfrm>
          <a:custGeom>
            <a:avLst/>
            <a:gdLst>
              <a:gd name="T0" fmla="*/ 2147483647 w 3159"/>
              <a:gd name="T1" fmla="*/ 0 h 962"/>
              <a:gd name="T2" fmla="*/ 2147483647 w 3159"/>
              <a:gd name="T3" fmla="*/ 2147483647 h 962"/>
              <a:gd name="T4" fmla="*/ 0 w 3159"/>
              <a:gd name="T5" fmla="*/ 2147483647 h 962"/>
              <a:gd name="T6" fmla="*/ 0 w 3159"/>
              <a:gd name="T7" fmla="*/ 2147483647 h 962"/>
              <a:gd name="T8" fmla="*/ 0 60000 65536"/>
              <a:gd name="T9" fmla="*/ 0 60000 65536"/>
              <a:gd name="T10" fmla="*/ 0 60000 65536"/>
              <a:gd name="T11" fmla="*/ 0 60000 65536"/>
              <a:gd name="T12" fmla="*/ 0 w 3159"/>
              <a:gd name="T13" fmla="*/ 0 h 962"/>
              <a:gd name="T14" fmla="*/ 3159 w 3159"/>
              <a:gd name="T15" fmla="*/ 962 h 9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59" h="962">
                <a:moveTo>
                  <a:pt x="3159" y="0"/>
                </a:moveTo>
                <a:lnTo>
                  <a:pt x="3159" y="962"/>
                </a:lnTo>
                <a:lnTo>
                  <a:pt x="0" y="962"/>
                </a:lnTo>
                <a:lnTo>
                  <a:pt x="0" y="466"/>
                </a:lnTo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4" name="Freeform 35"/>
          <p:cNvSpPr>
            <a:spLocks/>
          </p:cNvSpPr>
          <p:nvPr/>
        </p:nvSpPr>
        <p:spPr bwMode="auto">
          <a:xfrm>
            <a:off x="6926262" y="4035425"/>
            <a:ext cx="147638" cy="158750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5" name="Line 36"/>
          <p:cNvSpPr>
            <a:spLocks noChangeShapeType="1"/>
          </p:cNvSpPr>
          <p:nvPr/>
        </p:nvSpPr>
        <p:spPr bwMode="auto">
          <a:xfrm flipH="1">
            <a:off x="1257299" y="3700463"/>
            <a:ext cx="1112837" cy="0"/>
          </a:xfrm>
          <a:prstGeom prst="line">
            <a:avLst/>
          </a:prstGeom>
          <a:noFill/>
          <a:ln w="190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6" name="Freeform 37"/>
          <p:cNvSpPr>
            <a:spLocks noEditPoints="1"/>
          </p:cNvSpPr>
          <p:nvPr/>
        </p:nvSpPr>
        <p:spPr bwMode="auto">
          <a:xfrm>
            <a:off x="1685925" y="4344988"/>
            <a:ext cx="493712" cy="463550"/>
          </a:xfrm>
          <a:custGeom>
            <a:avLst/>
            <a:gdLst>
              <a:gd name="T0" fmla="*/ 2147483647 w 349"/>
              <a:gd name="T1" fmla="*/ 2147483647 h 303"/>
              <a:gd name="T2" fmla="*/ 2147483647 w 349"/>
              <a:gd name="T3" fmla="*/ 2147483647 h 303"/>
              <a:gd name="T4" fmla="*/ 2147483647 w 349"/>
              <a:gd name="T5" fmla="*/ 2147483647 h 303"/>
              <a:gd name="T6" fmla="*/ 2147483647 w 349"/>
              <a:gd name="T7" fmla="*/ 2147483647 h 303"/>
              <a:gd name="T8" fmla="*/ 2147483647 w 349"/>
              <a:gd name="T9" fmla="*/ 2147483647 h 303"/>
              <a:gd name="T10" fmla="*/ 2147483647 w 349"/>
              <a:gd name="T11" fmla="*/ 2147483647 h 303"/>
              <a:gd name="T12" fmla="*/ 0 w 349"/>
              <a:gd name="T13" fmla="*/ 0 h 303"/>
              <a:gd name="T14" fmla="*/ 2147483647 w 349"/>
              <a:gd name="T15" fmla="*/ 2147483647 h 303"/>
              <a:gd name="T16" fmla="*/ 0 w 349"/>
              <a:gd name="T17" fmla="*/ 2147483647 h 303"/>
              <a:gd name="T18" fmla="*/ 0 w 349"/>
              <a:gd name="T19" fmla="*/ 0 h 30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49"/>
              <a:gd name="T31" fmla="*/ 0 h 303"/>
              <a:gd name="T32" fmla="*/ 349 w 349"/>
              <a:gd name="T33" fmla="*/ 303 h 303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49" h="303">
                <a:moveTo>
                  <a:pt x="303" y="152"/>
                </a:moveTo>
                <a:cubicBezTo>
                  <a:pt x="303" y="164"/>
                  <a:pt x="313" y="174"/>
                  <a:pt x="326" y="174"/>
                </a:cubicBezTo>
                <a:cubicBezTo>
                  <a:pt x="338" y="174"/>
                  <a:pt x="349" y="164"/>
                  <a:pt x="349" y="152"/>
                </a:cubicBezTo>
                <a:cubicBezTo>
                  <a:pt x="349" y="152"/>
                  <a:pt x="349" y="152"/>
                  <a:pt x="349" y="152"/>
                </a:cubicBezTo>
                <a:cubicBezTo>
                  <a:pt x="349" y="139"/>
                  <a:pt x="338" y="129"/>
                  <a:pt x="326" y="129"/>
                </a:cubicBezTo>
                <a:cubicBezTo>
                  <a:pt x="313" y="129"/>
                  <a:pt x="303" y="139"/>
                  <a:pt x="303" y="152"/>
                </a:cubicBezTo>
                <a:close/>
                <a:moveTo>
                  <a:pt x="0" y="0"/>
                </a:moveTo>
                <a:lnTo>
                  <a:pt x="303" y="152"/>
                </a:lnTo>
                <a:lnTo>
                  <a:pt x="0" y="3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7" name="Freeform 38"/>
          <p:cNvSpPr>
            <a:spLocks noEditPoints="1"/>
          </p:cNvSpPr>
          <p:nvPr/>
        </p:nvSpPr>
        <p:spPr bwMode="auto">
          <a:xfrm>
            <a:off x="1685925" y="4344988"/>
            <a:ext cx="493712" cy="463550"/>
          </a:xfrm>
          <a:custGeom>
            <a:avLst/>
            <a:gdLst>
              <a:gd name="T0" fmla="*/ 2147483647 w 349"/>
              <a:gd name="T1" fmla="*/ 2147483647 h 303"/>
              <a:gd name="T2" fmla="*/ 2147483647 w 349"/>
              <a:gd name="T3" fmla="*/ 2147483647 h 303"/>
              <a:gd name="T4" fmla="*/ 2147483647 w 349"/>
              <a:gd name="T5" fmla="*/ 2147483647 h 303"/>
              <a:gd name="T6" fmla="*/ 2147483647 w 349"/>
              <a:gd name="T7" fmla="*/ 2147483647 h 303"/>
              <a:gd name="T8" fmla="*/ 2147483647 w 349"/>
              <a:gd name="T9" fmla="*/ 2147483647 h 303"/>
              <a:gd name="T10" fmla="*/ 2147483647 w 349"/>
              <a:gd name="T11" fmla="*/ 2147483647 h 303"/>
              <a:gd name="T12" fmla="*/ 0 w 349"/>
              <a:gd name="T13" fmla="*/ 0 h 303"/>
              <a:gd name="T14" fmla="*/ 2147483647 w 349"/>
              <a:gd name="T15" fmla="*/ 2147483647 h 303"/>
              <a:gd name="T16" fmla="*/ 0 w 349"/>
              <a:gd name="T17" fmla="*/ 2147483647 h 303"/>
              <a:gd name="T18" fmla="*/ 0 w 349"/>
              <a:gd name="T19" fmla="*/ 0 h 30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49"/>
              <a:gd name="T31" fmla="*/ 0 h 303"/>
              <a:gd name="T32" fmla="*/ 349 w 349"/>
              <a:gd name="T33" fmla="*/ 303 h 303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49" h="303">
                <a:moveTo>
                  <a:pt x="303" y="152"/>
                </a:moveTo>
                <a:cubicBezTo>
                  <a:pt x="303" y="164"/>
                  <a:pt x="313" y="174"/>
                  <a:pt x="326" y="174"/>
                </a:cubicBezTo>
                <a:cubicBezTo>
                  <a:pt x="338" y="174"/>
                  <a:pt x="349" y="164"/>
                  <a:pt x="349" y="152"/>
                </a:cubicBezTo>
                <a:cubicBezTo>
                  <a:pt x="349" y="152"/>
                  <a:pt x="349" y="152"/>
                  <a:pt x="349" y="152"/>
                </a:cubicBezTo>
                <a:cubicBezTo>
                  <a:pt x="349" y="139"/>
                  <a:pt x="338" y="129"/>
                  <a:pt x="326" y="129"/>
                </a:cubicBezTo>
                <a:cubicBezTo>
                  <a:pt x="313" y="129"/>
                  <a:pt x="303" y="139"/>
                  <a:pt x="303" y="152"/>
                </a:cubicBezTo>
                <a:close/>
                <a:moveTo>
                  <a:pt x="0" y="0"/>
                </a:moveTo>
                <a:lnTo>
                  <a:pt x="303" y="152"/>
                </a:lnTo>
                <a:lnTo>
                  <a:pt x="0" y="303"/>
                </a:lnTo>
                <a:lnTo>
                  <a:pt x="0" y="0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8" name="Line 39"/>
          <p:cNvSpPr>
            <a:spLocks noChangeShapeType="1"/>
          </p:cNvSpPr>
          <p:nvPr/>
        </p:nvSpPr>
        <p:spPr bwMode="auto">
          <a:xfrm flipH="1">
            <a:off x="2146299" y="4579938"/>
            <a:ext cx="252412" cy="0"/>
          </a:xfrm>
          <a:prstGeom prst="line">
            <a:avLst/>
          </a:prstGeom>
          <a:noFill/>
          <a:ln w="190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9" name="Line 40"/>
          <p:cNvSpPr>
            <a:spLocks noChangeShapeType="1"/>
          </p:cNvSpPr>
          <p:nvPr/>
        </p:nvSpPr>
        <p:spPr bwMode="auto">
          <a:xfrm flipH="1">
            <a:off x="1300161" y="4578350"/>
            <a:ext cx="385763" cy="0"/>
          </a:xfrm>
          <a:prstGeom prst="line">
            <a:avLst/>
          </a:prstGeom>
          <a:noFill/>
          <a:ln w="1905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70" name="Rectangle 41"/>
          <p:cNvSpPr>
            <a:spLocks noChangeArrowheads="1"/>
          </p:cNvSpPr>
          <p:nvPr/>
        </p:nvSpPr>
        <p:spPr bwMode="auto">
          <a:xfrm>
            <a:off x="960437" y="3463925"/>
            <a:ext cx="288926" cy="473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100" b="0" i="1" dirty="0">
                <a:solidFill>
                  <a:srgbClr val="000000"/>
                </a:solidFill>
                <a:latin typeface="Times New Roman" pitchFamily="18" charset="0"/>
              </a:rPr>
              <a:t>J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8171" name="Rectangle 42"/>
          <p:cNvSpPr>
            <a:spLocks noChangeArrowheads="1"/>
          </p:cNvSpPr>
          <p:nvPr/>
        </p:nvSpPr>
        <p:spPr bwMode="auto">
          <a:xfrm>
            <a:off x="960436" y="4344988"/>
            <a:ext cx="311149" cy="473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100" b="0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8172" name="Rectangle 43"/>
          <p:cNvSpPr>
            <a:spLocks noChangeArrowheads="1"/>
          </p:cNvSpPr>
          <p:nvPr/>
        </p:nvSpPr>
        <p:spPr bwMode="auto">
          <a:xfrm>
            <a:off x="4464050" y="5884863"/>
            <a:ext cx="2413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100" b="0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60437" y="1556941"/>
            <a:ext cx="6933713" cy="1290902"/>
            <a:chOff x="960437" y="1556941"/>
            <a:chExt cx="6933713" cy="1290902"/>
          </a:xfrm>
        </p:grpSpPr>
        <p:graphicFrame>
          <p:nvGraphicFramePr>
            <p:cNvPr id="475145" name="Object 9"/>
            <p:cNvGraphicFramePr>
              <a:graphicFrameLocks noChangeAspect="1"/>
            </p:cNvGraphicFramePr>
            <p:nvPr/>
          </p:nvGraphicFramePr>
          <p:xfrm>
            <a:off x="960437" y="2169980"/>
            <a:ext cx="2667000" cy="677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3" name="Equation" r:id="rId3" imgW="799920" imgH="203040" progId="">
                    <p:embed/>
                  </p:oleObj>
                </mc:Choice>
                <mc:Fallback>
                  <p:oleObj name="Equation" r:id="rId3" imgW="799920" imgH="203040" progId="">
                    <p:embed/>
                    <p:pic>
                      <p:nvPicPr>
                        <p:cNvPr id="475145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437" y="2169980"/>
                          <a:ext cx="2667000" cy="677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5147" name="Object 11"/>
            <p:cNvGraphicFramePr>
              <a:graphicFrameLocks noChangeAspect="1"/>
            </p:cNvGraphicFramePr>
            <p:nvPr/>
          </p:nvGraphicFramePr>
          <p:xfrm>
            <a:off x="5326135" y="1815307"/>
            <a:ext cx="2568015" cy="708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4" name="Equation" r:id="rId5" imgW="736560" imgH="203040" progId="">
                    <p:embed/>
                  </p:oleObj>
                </mc:Choice>
                <mc:Fallback>
                  <p:oleObj name="Equation" r:id="rId5" imgW="736560" imgH="203040" progId="">
                    <p:embed/>
                    <p:pic>
                      <p:nvPicPr>
                        <p:cNvPr id="47514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6135" y="1815307"/>
                          <a:ext cx="2568015" cy="70881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5143" name="Object 7"/>
            <p:cNvGraphicFramePr>
              <a:graphicFrameLocks noChangeAspect="1"/>
            </p:cNvGraphicFramePr>
            <p:nvPr/>
          </p:nvGraphicFramePr>
          <p:xfrm>
            <a:off x="960437" y="1556941"/>
            <a:ext cx="1383557" cy="6859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5" name="Equation" r:id="rId7" imgW="444240" imgH="203040" progId="">
                    <p:embed/>
                  </p:oleObj>
                </mc:Choice>
                <mc:Fallback>
                  <p:oleObj name="Equation" r:id="rId7" imgW="444240" imgH="203040" progId="">
                    <p:embed/>
                    <p:pic>
                      <p:nvPicPr>
                        <p:cNvPr id="47514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437" y="1556941"/>
                          <a:ext cx="1383557" cy="68594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右箭头 1"/>
            <p:cNvSpPr/>
            <p:nvPr/>
          </p:nvSpPr>
          <p:spPr bwMode="auto">
            <a:xfrm>
              <a:off x="3965575" y="1898650"/>
              <a:ext cx="1063625" cy="542925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6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17"/>
              <p:cNvSpPr txBox="1"/>
              <p:nvPr/>
            </p:nvSpPr>
            <p:spPr>
              <a:xfrm>
                <a:off x="5930900" y="4724400"/>
                <a:ext cx="469900" cy="58593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zh-CN" altLang="en-US" sz="2800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900" y="4724400"/>
                <a:ext cx="469900" cy="585930"/>
              </a:xfrm>
              <a:prstGeom prst="rect">
                <a:avLst/>
              </a:prstGeom>
              <a:blipFill>
                <a:blip r:embed="rId9"/>
                <a:stretch>
                  <a:fillRect l="-21053" r="-15789" b="-1702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17"/>
              <p:cNvSpPr txBox="1"/>
              <p:nvPr/>
            </p:nvSpPr>
            <p:spPr>
              <a:xfrm>
                <a:off x="7464344" y="4746041"/>
                <a:ext cx="587853" cy="58593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zh-CN" altLang="en-US" sz="2800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344" y="4746041"/>
                <a:ext cx="587853" cy="585930"/>
              </a:xfrm>
              <a:prstGeom prst="rect">
                <a:avLst/>
              </a:prstGeom>
              <a:blipFill>
                <a:blip r:embed="rId10"/>
                <a:stretch>
                  <a:fillRect l="-4167" r="-2083" b="-1666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3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</a:t>
            </a:r>
            <a:r>
              <a:rPr lang="en-US" altLang="zh-CN" dirty="0"/>
              <a:t>DFF</a:t>
            </a:r>
            <a:r>
              <a:rPr lang="zh-CN" altLang="en-US" dirty="0"/>
              <a:t>构造其他触发器</a:t>
            </a:r>
            <a:endParaRPr lang="en-US" altLang="zh-CN" sz="4400" dirty="0">
              <a:sym typeface="Symbol" pitchFamily="18" charset="2"/>
            </a:endParaRPr>
          </a:p>
        </p:txBody>
      </p:sp>
      <p:graphicFrame>
        <p:nvGraphicFramePr>
          <p:cNvPr id="477220" name="Object 36"/>
          <p:cNvGraphicFramePr>
            <a:graphicFrameLocks noGrp="1" noChangeAspect="1"/>
          </p:cNvGraphicFramePr>
          <p:nvPr>
            <p:ph idx="1"/>
          </p:nvPr>
        </p:nvGraphicFramePr>
        <p:xfrm>
          <a:off x="4495800" y="3700463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47722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700463"/>
                        <a:ext cx="1524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490F3-F53C-4A48-8CB8-3B75CB85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77187" name="AutoShape 3"/>
          <p:cNvSpPr>
            <a:spLocks noChangeAspect="1" noChangeArrowheads="1" noTextEdit="1"/>
          </p:cNvSpPr>
          <p:nvPr/>
        </p:nvSpPr>
        <p:spPr bwMode="auto">
          <a:xfrm>
            <a:off x="762000" y="3234250"/>
            <a:ext cx="7604125" cy="297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188" name="Rectangle 4"/>
          <p:cNvSpPr>
            <a:spLocks noChangeArrowheads="1"/>
          </p:cNvSpPr>
          <p:nvPr/>
        </p:nvSpPr>
        <p:spPr bwMode="auto">
          <a:xfrm>
            <a:off x="5522913" y="3342200"/>
            <a:ext cx="1122362" cy="1816100"/>
          </a:xfrm>
          <a:prstGeom prst="rect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189" name="Rectangle 5"/>
          <p:cNvSpPr>
            <a:spLocks noChangeArrowheads="1"/>
          </p:cNvSpPr>
          <p:nvPr/>
        </p:nvSpPr>
        <p:spPr bwMode="auto">
          <a:xfrm>
            <a:off x="5613400" y="3500950"/>
            <a:ext cx="3111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4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77190" name="Rectangle 6"/>
          <p:cNvSpPr>
            <a:spLocks noChangeArrowheads="1"/>
          </p:cNvSpPr>
          <p:nvPr/>
        </p:nvSpPr>
        <p:spPr bwMode="auto">
          <a:xfrm>
            <a:off x="6278563" y="3473962"/>
            <a:ext cx="3111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400" b="0" i="1" dirty="0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77191" name="Line 7"/>
          <p:cNvSpPr>
            <a:spLocks noChangeShapeType="1"/>
          </p:cNvSpPr>
          <p:nvPr/>
        </p:nvSpPr>
        <p:spPr bwMode="auto">
          <a:xfrm>
            <a:off x="4814888" y="3745425"/>
            <a:ext cx="708025" cy="1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192" name="Line 8"/>
          <p:cNvSpPr>
            <a:spLocks noChangeShapeType="1"/>
          </p:cNvSpPr>
          <p:nvPr/>
        </p:nvSpPr>
        <p:spPr bwMode="auto">
          <a:xfrm>
            <a:off x="6645275" y="3745425"/>
            <a:ext cx="1266825" cy="1587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193" name="Rectangle 9"/>
          <p:cNvSpPr>
            <a:spLocks noChangeArrowheads="1"/>
          </p:cNvSpPr>
          <p:nvPr/>
        </p:nvSpPr>
        <p:spPr bwMode="auto">
          <a:xfrm>
            <a:off x="6302375" y="4459800"/>
            <a:ext cx="3111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4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77194" name="Oval 10"/>
          <p:cNvSpPr>
            <a:spLocks noChangeArrowheads="1"/>
          </p:cNvSpPr>
          <p:nvPr/>
        </p:nvSpPr>
        <p:spPr bwMode="auto">
          <a:xfrm>
            <a:off x="6645275" y="4653475"/>
            <a:ext cx="168275" cy="201612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195" name="Oval 11"/>
          <p:cNvSpPr>
            <a:spLocks noChangeArrowheads="1"/>
          </p:cNvSpPr>
          <p:nvPr/>
        </p:nvSpPr>
        <p:spPr bwMode="auto">
          <a:xfrm>
            <a:off x="6645275" y="4653475"/>
            <a:ext cx="168275" cy="201612"/>
          </a:xfrm>
          <a:prstGeom prst="ellips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196" name="Rectangle 12"/>
          <p:cNvSpPr>
            <a:spLocks noChangeArrowheads="1"/>
          </p:cNvSpPr>
          <p:nvPr/>
        </p:nvSpPr>
        <p:spPr bwMode="auto">
          <a:xfrm>
            <a:off x="5835650" y="4113725"/>
            <a:ext cx="287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400" b="0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77197" name="Freeform 13"/>
          <p:cNvSpPr>
            <a:spLocks/>
          </p:cNvSpPr>
          <p:nvPr/>
        </p:nvSpPr>
        <p:spPr bwMode="auto">
          <a:xfrm>
            <a:off x="5011738" y="4351850"/>
            <a:ext cx="511175" cy="1662112"/>
          </a:xfrm>
          <a:custGeom>
            <a:avLst/>
            <a:gdLst>
              <a:gd name="T0" fmla="*/ 0 w 349"/>
              <a:gd name="T1" fmla="*/ 2147483647 h 1047"/>
              <a:gd name="T2" fmla="*/ 0 w 349"/>
              <a:gd name="T3" fmla="*/ 0 h 1047"/>
              <a:gd name="T4" fmla="*/ 2147483647 w 349"/>
              <a:gd name="T5" fmla="*/ 0 h 1047"/>
              <a:gd name="T6" fmla="*/ 0 60000 65536"/>
              <a:gd name="T7" fmla="*/ 0 60000 65536"/>
              <a:gd name="T8" fmla="*/ 0 60000 65536"/>
              <a:gd name="T9" fmla="*/ 0 w 349"/>
              <a:gd name="T10" fmla="*/ 0 h 1047"/>
              <a:gd name="T11" fmla="*/ 349 w 349"/>
              <a:gd name="T12" fmla="*/ 1047 h 10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9" h="1047">
                <a:moveTo>
                  <a:pt x="0" y="1047"/>
                </a:moveTo>
                <a:lnTo>
                  <a:pt x="0" y="0"/>
                </a:lnTo>
                <a:lnTo>
                  <a:pt x="349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198" name="Freeform 14"/>
          <p:cNvSpPr>
            <a:spLocks/>
          </p:cNvSpPr>
          <p:nvPr/>
        </p:nvSpPr>
        <p:spPr bwMode="auto">
          <a:xfrm>
            <a:off x="5522913" y="4150237"/>
            <a:ext cx="282575" cy="403225"/>
          </a:xfrm>
          <a:custGeom>
            <a:avLst/>
            <a:gdLst>
              <a:gd name="T0" fmla="*/ 0 w 192"/>
              <a:gd name="T1" fmla="*/ 2147483647 h 254"/>
              <a:gd name="T2" fmla="*/ 2147483647 w 192"/>
              <a:gd name="T3" fmla="*/ 2147483647 h 254"/>
              <a:gd name="T4" fmla="*/ 0 w 192"/>
              <a:gd name="T5" fmla="*/ 0 h 254"/>
              <a:gd name="T6" fmla="*/ 0 60000 65536"/>
              <a:gd name="T7" fmla="*/ 0 60000 65536"/>
              <a:gd name="T8" fmla="*/ 0 60000 65536"/>
              <a:gd name="T9" fmla="*/ 0 w 192"/>
              <a:gd name="T10" fmla="*/ 0 h 254"/>
              <a:gd name="T11" fmla="*/ 192 w 192"/>
              <a:gd name="T12" fmla="*/ 254 h 2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254">
                <a:moveTo>
                  <a:pt x="0" y="254"/>
                </a:moveTo>
                <a:lnTo>
                  <a:pt x="192" y="127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199" name="Rectangle 15"/>
          <p:cNvSpPr>
            <a:spLocks noChangeArrowheads="1"/>
          </p:cNvSpPr>
          <p:nvPr/>
        </p:nvSpPr>
        <p:spPr bwMode="auto">
          <a:xfrm>
            <a:off x="7953375" y="3473962"/>
            <a:ext cx="3111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4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77200" name="Freeform 16"/>
          <p:cNvSpPr>
            <a:spLocks noEditPoints="1"/>
          </p:cNvSpPr>
          <p:nvPr/>
        </p:nvSpPr>
        <p:spPr bwMode="auto">
          <a:xfrm>
            <a:off x="3889375" y="3596200"/>
            <a:ext cx="1122363" cy="301625"/>
          </a:xfrm>
          <a:custGeom>
            <a:avLst/>
            <a:gdLst>
              <a:gd name="T0" fmla="*/ 0 w 766"/>
              <a:gd name="T1" fmla="*/ 0 h 190"/>
              <a:gd name="T2" fmla="*/ 2147483647 w 766"/>
              <a:gd name="T3" fmla="*/ 0 h 190"/>
              <a:gd name="T4" fmla="*/ 0 w 766"/>
              <a:gd name="T5" fmla="*/ 2147483647 h 190"/>
              <a:gd name="T6" fmla="*/ 2147483647 w 766"/>
              <a:gd name="T7" fmla="*/ 2147483647 h 190"/>
              <a:gd name="T8" fmla="*/ 2147483647 w 766"/>
              <a:gd name="T9" fmla="*/ 2147483647 h 190"/>
              <a:gd name="T10" fmla="*/ 2147483647 w 766"/>
              <a:gd name="T11" fmla="*/ 2147483647 h 19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66"/>
              <a:gd name="T19" fmla="*/ 0 h 190"/>
              <a:gd name="T20" fmla="*/ 766 w 766"/>
              <a:gd name="T21" fmla="*/ 190 h 19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66" h="190">
                <a:moveTo>
                  <a:pt x="0" y="0"/>
                </a:moveTo>
                <a:lnTo>
                  <a:pt x="384" y="0"/>
                </a:lnTo>
                <a:moveTo>
                  <a:pt x="0" y="190"/>
                </a:moveTo>
                <a:lnTo>
                  <a:pt x="384" y="190"/>
                </a:lnTo>
                <a:moveTo>
                  <a:pt x="766" y="94"/>
                </a:moveTo>
                <a:lnTo>
                  <a:pt x="384" y="94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1" name="Freeform 17"/>
          <p:cNvSpPr>
            <a:spLocks/>
          </p:cNvSpPr>
          <p:nvPr/>
        </p:nvSpPr>
        <p:spPr bwMode="auto">
          <a:xfrm>
            <a:off x="4087812" y="3443800"/>
            <a:ext cx="720000" cy="604837"/>
          </a:xfrm>
          <a:custGeom>
            <a:avLst/>
            <a:gdLst>
              <a:gd name="T0" fmla="*/ 2147483647 w 473"/>
              <a:gd name="T1" fmla="*/ 2147483647 h 363"/>
              <a:gd name="T2" fmla="*/ 2147483647 w 473"/>
              <a:gd name="T3" fmla="*/ 2147483647 h 363"/>
              <a:gd name="T4" fmla="*/ 2147483647 w 473"/>
              <a:gd name="T5" fmla="*/ 2147483647 h 363"/>
              <a:gd name="T6" fmla="*/ 0 w 473"/>
              <a:gd name="T7" fmla="*/ 2147483647 h 363"/>
              <a:gd name="T8" fmla="*/ 0 w 473"/>
              <a:gd name="T9" fmla="*/ 0 h 363"/>
              <a:gd name="T10" fmla="*/ 0 w 473"/>
              <a:gd name="T11" fmla="*/ 0 h 363"/>
              <a:gd name="T12" fmla="*/ 2147483647 w 473"/>
              <a:gd name="T13" fmla="*/ 0 h 363"/>
              <a:gd name="T14" fmla="*/ 2147483647 w 473"/>
              <a:gd name="T15" fmla="*/ 2147483647 h 3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3"/>
              <a:gd name="T25" fmla="*/ 0 h 363"/>
              <a:gd name="T26" fmla="*/ 473 w 473"/>
              <a:gd name="T27" fmla="*/ 363 h 36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3" h="363">
                <a:moveTo>
                  <a:pt x="473" y="181"/>
                </a:moveTo>
                <a:cubicBezTo>
                  <a:pt x="417" y="271"/>
                  <a:pt x="293" y="338"/>
                  <a:pt x="142" y="363"/>
                </a:cubicBezTo>
                <a:lnTo>
                  <a:pt x="0" y="363"/>
                </a:lnTo>
                <a:cubicBezTo>
                  <a:pt x="88" y="248"/>
                  <a:pt x="88" y="115"/>
                  <a:pt x="0" y="0"/>
                </a:cubicBezTo>
                <a:lnTo>
                  <a:pt x="142" y="0"/>
                </a:lnTo>
                <a:cubicBezTo>
                  <a:pt x="294" y="24"/>
                  <a:pt x="418" y="92"/>
                  <a:pt x="473" y="181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2" name="Freeform 18"/>
          <p:cNvSpPr>
            <a:spLocks/>
          </p:cNvSpPr>
          <p:nvPr/>
        </p:nvSpPr>
        <p:spPr bwMode="auto">
          <a:xfrm>
            <a:off x="4087813" y="3443800"/>
            <a:ext cx="727075" cy="604837"/>
          </a:xfrm>
          <a:custGeom>
            <a:avLst/>
            <a:gdLst>
              <a:gd name="T0" fmla="*/ 2147483647 w 473"/>
              <a:gd name="T1" fmla="*/ 2147483647 h 363"/>
              <a:gd name="T2" fmla="*/ 2147483647 w 473"/>
              <a:gd name="T3" fmla="*/ 2147483647 h 363"/>
              <a:gd name="T4" fmla="*/ 2147483647 w 473"/>
              <a:gd name="T5" fmla="*/ 2147483647 h 363"/>
              <a:gd name="T6" fmla="*/ 0 w 473"/>
              <a:gd name="T7" fmla="*/ 2147483647 h 363"/>
              <a:gd name="T8" fmla="*/ 0 w 473"/>
              <a:gd name="T9" fmla="*/ 0 h 363"/>
              <a:gd name="T10" fmla="*/ 0 w 473"/>
              <a:gd name="T11" fmla="*/ 0 h 363"/>
              <a:gd name="T12" fmla="*/ 2147483647 w 473"/>
              <a:gd name="T13" fmla="*/ 0 h 363"/>
              <a:gd name="T14" fmla="*/ 2147483647 w 473"/>
              <a:gd name="T15" fmla="*/ 2147483647 h 3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3"/>
              <a:gd name="T25" fmla="*/ 0 h 363"/>
              <a:gd name="T26" fmla="*/ 473 w 473"/>
              <a:gd name="T27" fmla="*/ 363 h 36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3" h="363">
                <a:moveTo>
                  <a:pt x="473" y="181"/>
                </a:moveTo>
                <a:cubicBezTo>
                  <a:pt x="417" y="271"/>
                  <a:pt x="293" y="338"/>
                  <a:pt x="142" y="363"/>
                </a:cubicBezTo>
                <a:lnTo>
                  <a:pt x="0" y="363"/>
                </a:lnTo>
                <a:cubicBezTo>
                  <a:pt x="88" y="248"/>
                  <a:pt x="88" y="115"/>
                  <a:pt x="0" y="0"/>
                </a:cubicBezTo>
                <a:lnTo>
                  <a:pt x="142" y="0"/>
                </a:lnTo>
                <a:cubicBezTo>
                  <a:pt x="294" y="24"/>
                  <a:pt x="418" y="92"/>
                  <a:pt x="473" y="181"/>
                </a:cubicBez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3" name="Freeform 19"/>
          <p:cNvSpPr>
            <a:spLocks noEditPoints="1"/>
          </p:cNvSpPr>
          <p:nvPr/>
        </p:nvSpPr>
        <p:spPr bwMode="auto">
          <a:xfrm>
            <a:off x="2349500" y="4250250"/>
            <a:ext cx="1120775" cy="303212"/>
          </a:xfrm>
          <a:custGeom>
            <a:avLst/>
            <a:gdLst>
              <a:gd name="T0" fmla="*/ 0 w 765"/>
              <a:gd name="T1" fmla="*/ 0 h 191"/>
              <a:gd name="T2" fmla="*/ 2147483647 w 765"/>
              <a:gd name="T3" fmla="*/ 0 h 191"/>
              <a:gd name="T4" fmla="*/ 0 w 765"/>
              <a:gd name="T5" fmla="*/ 2147483647 h 191"/>
              <a:gd name="T6" fmla="*/ 2147483647 w 765"/>
              <a:gd name="T7" fmla="*/ 2147483647 h 191"/>
              <a:gd name="T8" fmla="*/ 2147483647 w 765"/>
              <a:gd name="T9" fmla="*/ 2147483647 h 191"/>
              <a:gd name="T10" fmla="*/ 2147483647 w 765"/>
              <a:gd name="T11" fmla="*/ 2147483647 h 19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65"/>
              <a:gd name="T19" fmla="*/ 0 h 191"/>
              <a:gd name="T20" fmla="*/ 765 w 765"/>
              <a:gd name="T21" fmla="*/ 191 h 19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65" h="191">
                <a:moveTo>
                  <a:pt x="0" y="0"/>
                </a:moveTo>
                <a:lnTo>
                  <a:pt x="382" y="0"/>
                </a:lnTo>
                <a:moveTo>
                  <a:pt x="0" y="191"/>
                </a:moveTo>
                <a:lnTo>
                  <a:pt x="382" y="191"/>
                </a:lnTo>
                <a:moveTo>
                  <a:pt x="765" y="96"/>
                </a:moveTo>
                <a:lnTo>
                  <a:pt x="382" y="96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4" name="Freeform 20"/>
          <p:cNvSpPr>
            <a:spLocks/>
          </p:cNvSpPr>
          <p:nvPr/>
        </p:nvSpPr>
        <p:spPr bwMode="auto">
          <a:xfrm>
            <a:off x="2546350" y="4099437"/>
            <a:ext cx="727075" cy="604838"/>
          </a:xfrm>
          <a:custGeom>
            <a:avLst/>
            <a:gdLst>
              <a:gd name="T0" fmla="*/ 2147483647 w 473"/>
              <a:gd name="T1" fmla="*/ 2147483647 h 364"/>
              <a:gd name="T2" fmla="*/ 2147483647 w 473"/>
              <a:gd name="T3" fmla="*/ 2147483647 h 364"/>
              <a:gd name="T4" fmla="*/ 2147483647 w 473"/>
              <a:gd name="T5" fmla="*/ 2147483647 h 364"/>
              <a:gd name="T6" fmla="*/ 0 w 473"/>
              <a:gd name="T7" fmla="*/ 2147483647 h 364"/>
              <a:gd name="T8" fmla="*/ 0 w 473"/>
              <a:gd name="T9" fmla="*/ 0 h 364"/>
              <a:gd name="T10" fmla="*/ 0 w 473"/>
              <a:gd name="T11" fmla="*/ 0 h 364"/>
              <a:gd name="T12" fmla="*/ 2147483647 w 473"/>
              <a:gd name="T13" fmla="*/ 0 h 364"/>
              <a:gd name="T14" fmla="*/ 2147483647 w 473"/>
              <a:gd name="T15" fmla="*/ 2147483647 h 3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3"/>
              <a:gd name="T25" fmla="*/ 0 h 364"/>
              <a:gd name="T26" fmla="*/ 473 w 473"/>
              <a:gd name="T27" fmla="*/ 364 h 36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3" h="364">
                <a:moveTo>
                  <a:pt x="473" y="182"/>
                </a:moveTo>
                <a:cubicBezTo>
                  <a:pt x="416" y="271"/>
                  <a:pt x="293" y="339"/>
                  <a:pt x="142" y="364"/>
                </a:cubicBezTo>
                <a:lnTo>
                  <a:pt x="0" y="364"/>
                </a:lnTo>
                <a:cubicBezTo>
                  <a:pt x="88" y="248"/>
                  <a:pt x="88" y="115"/>
                  <a:pt x="0" y="0"/>
                </a:cubicBezTo>
                <a:lnTo>
                  <a:pt x="142" y="0"/>
                </a:lnTo>
                <a:cubicBezTo>
                  <a:pt x="294" y="24"/>
                  <a:pt x="417" y="92"/>
                  <a:pt x="473" y="182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5" name="Freeform 21"/>
          <p:cNvSpPr>
            <a:spLocks/>
          </p:cNvSpPr>
          <p:nvPr/>
        </p:nvSpPr>
        <p:spPr bwMode="auto">
          <a:xfrm>
            <a:off x="2546350" y="4099437"/>
            <a:ext cx="727075" cy="604838"/>
          </a:xfrm>
          <a:custGeom>
            <a:avLst/>
            <a:gdLst>
              <a:gd name="T0" fmla="*/ 2147483647 w 473"/>
              <a:gd name="T1" fmla="*/ 2147483647 h 364"/>
              <a:gd name="T2" fmla="*/ 2147483647 w 473"/>
              <a:gd name="T3" fmla="*/ 2147483647 h 364"/>
              <a:gd name="T4" fmla="*/ 2147483647 w 473"/>
              <a:gd name="T5" fmla="*/ 2147483647 h 364"/>
              <a:gd name="T6" fmla="*/ 0 w 473"/>
              <a:gd name="T7" fmla="*/ 2147483647 h 364"/>
              <a:gd name="T8" fmla="*/ 0 w 473"/>
              <a:gd name="T9" fmla="*/ 0 h 364"/>
              <a:gd name="T10" fmla="*/ 0 w 473"/>
              <a:gd name="T11" fmla="*/ 0 h 364"/>
              <a:gd name="T12" fmla="*/ 2147483647 w 473"/>
              <a:gd name="T13" fmla="*/ 0 h 364"/>
              <a:gd name="T14" fmla="*/ 2147483647 w 473"/>
              <a:gd name="T15" fmla="*/ 2147483647 h 3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3"/>
              <a:gd name="T25" fmla="*/ 0 h 364"/>
              <a:gd name="T26" fmla="*/ 473 w 473"/>
              <a:gd name="T27" fmla="*/ 364 h 36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3" h="364">
                <a:moveTo>
                  <a:pt x="473" y="182"/>
                </a:moveTo>
                <a:cubicBezTo>
                  <a:pt x="416" y="271"/>
                  <a:pt x="293" y="339"/>
                  <a:pt x="142" y="364"/>
                </a:cubicBezTo>
                <a:lnTo>
                  <a:pt x="0" y="364"/>
                </a:lnTo>
                <a:cubicBezTo>
                  <a:pt x="88" y="248"/>
                  <a:pt x="88" y="115"/>
                  <a:pt x="0" y="0"/>
                </a:cubicBezTo>
                <a:lnTo>
                  <a:pt x="142" y="0"/>
                </a:lnTo>
                <a:cubicBezTo>
                  <a:pt x="294" y="24"/>
                  <a:pt x="417" y="92"/>
                  <a:pt x="473" y="182"/>
                </a:cubicBez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6" name="Freeform 22"/>
          <p:cNvSpPr>
            <a:spLocks/>
          </p:cNvSpPr>
          <p:nvPr/>
        </p:nvSpPr>
        <p:spPr bwMode="auto">
          <a:xfrm>
            <a:off x="2546350" y="4099437"/>
            <a:ext cx="727075" cy="604838"/>
          </a:xfrm>
          <a:custGeom>
            <a:avLst/>
            <a:gdLst>
              <a:gd name="T0" fmla="*/ 2147483647 w 473"/>
              <a:gd name="T1" fmla="*/ 2147483647 h 364"/>
              <a:gd name="T2" fmla="*/ 0 w 473"/>
              <a:gd name="T3" fmla="*/ 2147483647 h 364"/>
              <a:gd name="T4" fmla="*/ 0 w 473"/>
              <a:gd name="T5" fmla="*/ 0 h 364"/>
              <a:gd name="T6" fmla="*/ 2147483647 w 473"/>
              <a:gd name="T7" fmla="*/ 0 h 364"/>
              <a:gd name="T8" fmla="*/ 2147483647 w 473"/>
              <a:gd name="T9" fmla="*/ 2147483647 h 364"/>
              <a:gd name="T10" fmla="*/ 2147483647 w 473"/>
              <a:gd name="T11" fmla="*/ 2147483647 h 364"/>
              <a:gd name="T12" fmla="*/ 2147483647 w 473"/>
              <a:gd name="T13" fmla="*/ 2147483647 h 3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3"/>
              <a:gd name="T22" fmla="*/ 0 h 364"/>
              <a:gd name="T23" fmla="*/ 473 w 473"/>
              <a:gd name="T24" fmla="*/ 364 h 3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3" h="364">
                <a:moveTo>
                  <a:pt x="291" y="364"/>
                </a:moveTo>
                <a:lnTo>
                  <a:pt x="0" y="364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3" y="82"/>
                  <a:pt x="473" y="182"/>
                </a:cubicBezTo>
                <a:cubicBezTo>
                  <a:pt x="473" y="282"/>
                  <a:pt x="391" y="364"/>
                  <a:pt x="291" y="364"/>
                </a:cubicBezTo>
                <a:cubicBezTo>
                  <a:pt x="291" y="364"/>
                  <a:pt x="291" y="364"/>
                  <a:pt x="291" y="364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7" name="Freeform 23"/>
          <p:cNvSpPr>
            <a:spLocks/>
          </p:cNvSpPr>
          <p:nvPr/>
        </p:nvSpPr>
        <p:spPr bwMode="auto">
          <a:xfrm>
            <a:off x="2546350" y="4099437"/>
            <a:ext cx="727075" cy="604838"/>
          </a:xfrm>
          <a:custGeom>
            <a:avLst/>
            <a:gdLst>
              <a:gd name="T0" fmla="*/ 2147483647 w 473"/>
              <a:gd name="T1" fmla="*/ 2147483647 h 364"/>
              <a:gd name="T2" fmla="*/ 0 w 473"/>
              <a:gd name="T3" fmla="*/ 2147483647 h 364"/>
              <a:gd name="T4" fmla="*/ 0 w 473"/>
              <a:gd name="T5" fmla="*/ 0 h 364"/>
              <a:gd name="T6" fmla="*/ 2147483647 w 473"/>
              <a:gd name="T7" fmla="*/ 0 h 364"/>
              <a:gd name="T8" fmla="*/ 2147483647 w 473"/>
              <a:gd name="T9" fmla="*/ 2147483647 h 364"/>
              <a:gd name="T10" fmla="*/ 2147483647 w 473"/>
              <a:gd name="T11" fmla="*/ 2147483647 h 364"/>
              <a:gd name="T12" fmla="*/ 2147483647 w 473"/>
              <a:gd name="T13" fmla="*/ 2147483647 h 3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3"/>
              <a:gd name="T22" fmla="*/ 0 h 364"/>
              <a:gd name="T23" fmla="*/ 473 w 473"/>
              <a:gd name="T24" fmla="*/ 364 h 3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3" h="364">
                <a:moveTo>
                  <a:pt x="291" y="364"/>
                </a:moveTo>
                <a:lnTo>
                  <a:pt x="0" y="364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3" y="82"/>
                  <a:pt x="473" y="182"/>
                </a:cubicBezTo>
                <a:cubicBezTo>
                  <a:pt x="473" y="282"/>
                  <a:pt x="391" y="364"/>
                  <a:pt x="291" y="364"/>
                </a:cubicBezTo>
                <a:cubicBezTo>
                  <a:pt x="291" y="364"/>
                  <a:pt x="291" y="364"/>
                  <a:pt x="291" y="364"/>
                </a:cubicBez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8" name="Freeform 24"/>
          <p:cNvSpPr>
            <a:spLocks/>
          </p:cNvSpPr>
          <p:nvPr/>
        </p:nvSpPr>
        <p:spPr bwMode="auto">
          <a:xfrm>
            <a:off x="3470275" y="3897825"/>
            <a:ext cx="419100" cy="504825"/>
          </a:xfrm>
          <a:custGeom>
            <a:avLst/>
            <a:gdLst>
              <a:gd name="T0" fmla="*/ 2147483647 w 286"/>
              <a:gd name="T1" fmla="*/ 0 h 318"/>
              <a:gd name="T2" fmla="*/ 2147483647 w 286"/>
              <a:gd name="T3" fmla="*/ 0 h 318"/>
              <a:gd name="T4" fmla="*/ 2147483647 w 286"/>
              <a:gd name="T5" fmla="*/ 2147483647 h 318"/>
              <a:gd name="T6" fmla="*/ 0 w 286"/>
              <a:gd name="T7" fmla="*/ 2147483647 h 318"/>
              <a:gd name="T8" fmla="*/ 0 60000 65536"/>
              <a:gd name="T9" fmla="*/ 0 60000 65536"/>
              <a:gd name="T10" fmla="*/ 0 60000 65536"/>
              <a:gd name="T11" fmla="*/ 0 60000 65536"/>
              <a:gd name="T12" fmla="*/ 0 w 286"/>
              <a:gd name="T13" fmla="*/ 0 h 318"/>
              <a:gd name="T14" fmla="*/ 286 w 286"/>
              <a:gd name="T15" fmla="*/ 318 h 3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6" h="318">
                <a:moveTo>
                  <a:pt x="286" y="0"/>
                </a:moveTo>
                <a:lnTo>
                  <a:pt x="159" y="0"/>
                </a:lnTo>
                <a:lnTo>
                  <a:pt x="159" y="318"/>
                </a:lnTo>
                <a:lnTo>
                  <a:pt x="0" y="318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09" name="Line 25"/>
          <p:cNvSpPr>
            <a:spLocks noChangeShapeType="1"/>
          </p:cNvSpPr>
          <p:nvPr/>
        </p:nvSpPr>
        <p:spPr bwMode="auto">
          <a:xfrm>
            <a:off x="6813550" y="4745550"/>
            <a:ext cx="1085850" cy="9525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10" name="Freeform 26"/>
          <p:cNvSpPr>
            <a:spLocks/>
          </p:cNvSpPr>
          <p:nvPr/>
        </p:nvSpPr>
        <p:spPr bwMode="auto">
          <a:xfrm>
            <a:off x="2349500" y="3756537"/>
            <a:ext cx="4856163" cy="1652588"/>
          </a:xfrm>
          <a:custGeom>
            <a:avLst/>
            <a:gdLst>
              <a:gd name="T0" fmla="*/ 2147483647 w 3314"/>
              <a:gd name="T1" fmla="*/ 0 h 1041"/>
              <a:gd name="T2" fmla="*/ 2147483647 w 3314"/>
              <a:gd name="T3" fmla="*/ 2147483647 h 1041"/>
              <a:gd name="T4" fmla="*/ 0 w 3314"/>
              <a:gd name="T5" fmla="*/ 2147483647 h 1041"/>
              <a:gd name="T6" fmla="*/ 0 w 3314"/>
              <a:gd name="T7" fmla="*/ 2147483647 h 1041"/>
              <a:gd name="T8" fmla="*/ 0 60000 65536"/>
              <a:gd name="T9" fmla="*/ 0 60000 65536"/>
              <a:gd name="T10" fmla="*/ 0 60000 65536"/>
              <a:gd name="T11" fmla="*/ 0 60000 65536"/>
              <a:gd name="T12" fmla="*/ 0 w 3314"/>
              <a:gd name="T13" fmla="*/ 0 h 1041"/>
              <a:gd name="T14" fmla="*/ 3314 w 3314"/>
              <a:gd name="T15" fmla="*/ 1041 h 10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14" h="1041">
                <a:moveTo>
                  <a:pt x="3314" y="0"/>
                </a:moveTo>
                <a:lnTo>
                  <a:pt x="3314" y="1041"/>
                </a:lnTo>
                <a:lnTo>
                  <a:pt x="0" y="1041"/>
                </a:lnTo>
                <a:lnTo>
                  <a:pt x="0" y="522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11" name="Freeform 27"/>
          <p:cNvSpPr>
            <a:spLocks/>
          </p:cNvSpPr>
          <p:nvPr/>
        </p:nvSpPr>
        <p:spPr bwMode="auto">
          <a:xfrm>
            <a:off x="7126288" y="3670812"/>
            <a:ext cx="160337" cy="173038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4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12" name="Line 28"/>
          <p:cNvSpPr>
            <a:spLocks noChangeShapeType="1"/>
          </p:cNvSpPr>
          <p:nvPr/>
        </p:nvSpPr>
        <p:spPr bwMode="auto">
          <a:xfrm flipH="1">
            <a:off x="2646360" y="3595768"/>
            <a:ext cx="1487489" cy="431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13" name="Freeform 29"/>
          <p:cNvSpPr>
            <a:spLocks noEditPoints="1"/>
          </p:cNvSpPr>
          <p:nvPr/>
        </p:nvSpPr>
        <p:spPr bwMode="auto">
          <a:xfrm>
            <a:off x="1603375" y="3999425"/>
            <a:ext cx="536575" cy="501650"/>
          </a:xfrm>
          <a:custGeom>
            <a:avLst/>
            <a:gdLst>
              <a:gd name="T0" fmla="*/ 2147483647 w 349"/>
              <a:gd name="T1" fmla="*/ 2147483647 h 302"/>
              <a:gd name="T2" fmla="*/ 2147483647 w 349"/>
              <a:gd name="T3" fmla="*/ 2147483647 h 302"/>
              <a:gd name="T4" fmla="*/ 2147483647 w 349"/>
              <a:gd name="T5" fmla="*/ 2147483647 h 302"/>
              <a:gd name="T6" fmla="*/ 2147483647 w 349"/>
              <a:gd name="T7" fmla="*/ 2147483647 h 302"/>
              <a:gd name="T8" fmla="*/ 2147483647 w 349"/>
              <a:gd name="T9" fmla="*/ 2147483647 h 302"/>
              <a:gd name="T10" fmla="*/ 2147483647 w 349"/>
              <a:gd name="T11" fmla="*/ 2147483647 h 302"/>
              <a:gd name="T12" fmla="*/ 0 w 349"/>
              <a:gd name="T13" fmla="*/ 0 h 302"/>
              <a:gd name="T14" fmla="*/ 2147483647 w 349"/>
              <a:gd name="T15" fmla="*/ 2147483647 h 302"/>
              <a:gd name="T16" fmla="*/ 0 w 349"/>
              <a:gd name="T17" fmla="*/ 2147483647 h 302"/>
              <a:gd name="T18" fmla="*/ 0 w 349"/>
              <a:gd name="T19" fmla="*/ 0 h 30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49"/>
              <a:gd name="T31" fmla="*/ 0 h 302"/>
              <a:gd name="T32" fmla="*/ 349 w 349"/>
              <a:gd name="T33" fmla="*/ 302 h 30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49" h="302">
                <a:moveTo>
                  <a:pt x="303" y="151"/>
                </a:moveTo>
                <a:cubicBezTo>
                  <a:pt x="303" y="164"/>
                  <a:pt x="313" y="174"/>
                  <a:pt x="326" y="174"/>
                </a:cubicBezTo>
                <a:cubicBezTo>
                  <a:pt x="338" y="174"/>
                  <a:pt x="349" y="164"/>
                  <a:pt x="349" y="151"/>
                </a:cubicBezTo>
                <a:cubicBezTo>
                  <a:pt x="349" y="151"/>
                  <a:pt x="349" y="151"/>
                  <a:pt x="349" y="151"/>
                </a:cubicBezTo>
                <a:cubicBezTo>
                  <a:pt x="349" y="139"/>
                  <a:pt x="338" y="128"/>
                  <a:pt x="326" y="128"/>
                </a:cubicBezTo>
                <a:cubicBezTo>
                  <a:pt x="313" y="128"/>
                  <a:pt x="303" y="139"/>
                  <a:pt x="303" y="151"/>
                </a:cubicBezTo>
                <a:close/>
                <a:moveTo>
                  <a:pt x="0" y="0"/>
                </a:moveTo>
                <a:lnTo>
                  <a:pt x="303" y="151"/>
                </a:lnTo>
                <a:lnTo>
                  <a:pt x="0" y="3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14" name="Freeform 30"/>
          <p:cNvSpPr>
            <a:spLocks noEditPoints="1"/>
          </p:cNvSpPr>
          <p:nvPr/>
        </p:nvSpPr>
        <p:spPr bwMode="auto">
          <a:xfrm>
            <a:off x="1601510" y="4015044"/>
            <a:ext cx="536575" cy="501650"/>
          </a:xfrm>
          <a:custGeom>
            <a:avLst/>
            <a:gdLst>
              <a:gd name="T0" fmla="*/ 2147483647 w 349"/>
              <a:gd name="T1" fmla="*/ 2147483647 h 302"/>
              <a:gd name="T2" fmla="*/ 2147483647 w 349"/>
              <a:gd name="T3" fmla="*/ 2147483647 h 302"/>
              <a:gd name="T4" fmla="*/ 2147483647 w 349"/>
              <a:gd name="T5" fmla="*/ 2147483647 h 302"/>
              <a:gd name="T6" fmla="*/ 2147483647 w 349"/>
              <a:gd name="T7" fmla="*/ 2147483647 h 302"/>
              <a:gd name="T8" fmla="*/ 2147483647 w 349"/>
              <a:gd name="T9" fmla="*/ 2147483647 h 302"/>
              <a:gd name="T10" fmla="*/ 2147483647 w 349"/>
              <a:gd name="T11" fmla="*/ 2147483647 h 302"/>
              <a:gd name="T12" fmla="*/ 0 w 349"/>
              <a:gd name="T13" fmla="*/ 0 h 302"/>
              <a:gd name="T14" fmla="*/ 2147483647 w 349"/>
              <a:gd name="T15" fmla="*/ 2147483647 h 302"/>
              <a:gd name="T16" fmla="*/ 0 w 349"/>
              <a:gd name="T17" fmla="*/ 2147483647 h 302"/>
              <a:gd name="T18" fmla="*/ 0 w 349"/>
              <a:gd name="T19" fmla="*/ 0 h 30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49"/>
              <a:gd name="T31" fmla="*/ 0 h 302"/>
              <a:gd name="T32" fmla="*/ 349 w 349"/>
              <a:gd name="T33" fmla="*/ 302 h 30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49" h="302">
                <a:moveTo>
                  <a:pt x="303" y="151"/>
                </a:moveTo>
                <a:cubicBezTo>
                  <a:pt x="303" y="164"/>
                  <a:pt x="313" y="174"/>
                  <a:pt x="326" y="174"/>
                </a:cubicBezTo>
                <a:cubicBezTo>
                  <a:pt x="338" y="174"/>
                  <a:pt x="349" y="164"/>
                  <a:pt x="349" y="151"/>
                </a:cubicBezTo>
                <a:cubicBezTo>
                  <a:pt x="349" y="151"/>
                  <a:pt x="349" y="151"/>
                  <a:pt x="349" y="151"/>
                </a:cubicBezTo>
                <a:cubicBezTo>
                  <a:pt x="349" y="139"/>
                  <a:pt x="338" y="128"/>
                  <a:pt x="326" y="128"/>
                </a:cubicBezTo>
                <a:cubicBezTo>
                  <a:pt x="313" y="128"/>
                  <a:pt x="303" y="139"/>
                  <a:pt x="303" y="151"/>
                </a:cubicBezTo>
                <a:close/>
                <a:moveTo>
                  <a:pt x="0" y="0"/>
                </a:moveTo>
                <a:lnTo>
                  <a:pt x="303" y="151"/>
                </a:lnTo>
                <a:lnTo>
                  <a:pt x="0" y="302"/>
                </a:ln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77215" name="Line 31"/>
          <p:cNvSpPr>
            <a:spLocks noChangeShapeType="1"/>
          </p:cNvSpPr>
          <p:nvPr/>
        </p:nvSpPr>
        <p:spPr bwMode="auto">
          <a:xfrm flipH="1">
            <a:off x="2139948" y="4250250"/>
            <a:ext cx="406401" cy="1587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16" name="Line 32"/>
          <p:cNvSpPr>
            <a:spLocks noChangeShapeType="1"/>
          </p:cNvSpPr>
          <p:nvPr/>
        </p:nvSpPr>
        <p:spPr bwMode="auto">
          <a:xfrm flipH="1">
            <a:off x="1209997" y="4250251"/>
            <a:ext cx="39337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217" name="Rectangle 33"/>
          <p:cNvSpPr>
            <a:spLocks noChangeArrowheads="1"/>
          </p:cNvSpPr>
          <p:nvPr/>
        </p:nvSpPr>
        <p:spPr bwMode="auto">
          <a:xfrm>
            <a:off x="2339975" y="3340612"/>
            <a:ext cx="2159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400" b="0" i="1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77218" name="Rectangle 34"/>
          <p:cNvSpPr>
            <a:spLocks noChangeArrowheads="1"/>
          </p:cNvSpPr>
          <p:nvPr/>
        </p:nvSpPr>
        <p:spPr bwMode="auto">
          <a:xfrm>
            <a:off x="812800" y="4007362"/>
            <a:ext cx="2635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400" b="0" i="1">
                <a:solidFill>
                  <a:srgbClr val="000000"/>
                </a:solidFill>
                <a:latin typeface="Times New Roman" pitchFamily="18" charset="0"/>
              </a:rPr>
              <a:t>R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77219" name="Rectangle 35"/>
          <p:cNvSpPr>
            <a:spLocks noChangeArrowheads="1"/>
          </p:cNvSpPr>
          <p:nvPr/>
        </p:nvSpPr>
        <p:spPr bwMode="auto">
          <a:xfrm>
            <a:off x="4627563" y="5659950"/>
            <a:ext cx="287337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3400" b="0" i="1" dirty="0">
                <a:solidFill>
                  <a:srgbClr val="000000"/>
                </a:solidFill>
                <a:latin typeface="Times New Roman" pitchFamily="18" charset="0"/>
              </a:rPr>
              <a:t>C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93817" y="1749652"/>
            <a:ext cx="6515460" cy="1103216"/>
            <a:chOff x="1017245" y="1839951"/>
            <a:chExt cx="6515460" cy="1103216"/>
          </a:xfrm>
        </p:grpSpPr>
        <p:sp>
          <p:nvSpPr>
            <p:cNvPr id="41" name="右箭头 40"/>
            <p:cNvSpPr/>
            <p:nvPr/>
          </p:nvSpPr>
          <p:spPr bwMode="auto">
            <a:xfrm>
              <a:off x="3809897" y="2078356"/>
              <a:ext cx="1063625" cy="542925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4400" b="1" i="0" u="none" strike="noStrike" cap="none" normalizeH="0" baseline="0">
                <a:ln>
                  <a:noFill/>
                </a:ln>
                <a:solidFill>
                  <a:srgbClr val="FF3300"/>
                </a:solidFill>
                <a:effectLst/>
                <a:latin typeface="Garamond" pitchFamily="18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5322869" y="2128838"/>
                  <a:ext cx="2209836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zh-CN" altLang="en-US" sz="32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2869" y="2128838"/>
                  <a:ext cx="2209836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/>
                <p:cNvSpPr txBox="1"/>
                <p:nvPr/>
              </p:nvSpPr>
              <p:spPr>
                <a:xfrm>
                  <a:off x="1017245" y="1839951"/>
                  <a:ext cx="2438488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zh-CN" altLang="en-US" sz="32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245" y="1839951"/>
                  <a:ext cx="2438488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/>
                <p:cNvSpPr txBox="1"/>
                <p:nvPr/>
              </p:nvSpPr>
              <p:spPr>
                <a:xfrm>
                  <a:off x="1033426" y="2450724"/>
                  <a:ext cx="1457002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CN" altLang="en-US" sz="32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426" y="2450724"/>
                  <a:ext cx="1457002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Line 31">
            <a:extLst>
              <a:ext uri="{FF2B5EF4-FFF2-40B4-BE49-F238E27FC236}">
                <a16:creationId xmlns:a16="http://schemas.microsoft.com/office/drawing/2014/main" id="{FE59C50F-2080-ED4B-A8EB-E641261C23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1100" y="3907349"/>
            <a:ext cx="436736" cy="2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Line 31">
            <a:extLst>
              <a:ext uri="{FF2B5EF4-FFF2-40B4-BE49-F238E27FC236}">
                <a16:creationId xmlns:a16="http://schemas.microsoft.com/office/drawing/2014/main" id="{2FA9B476-C628-FB4E-B96D-1A2F9F5F38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6963" y="4553461"/>
            <a:ext cx="188912" cy="7943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Line 31">
            <a:extLst>
              <a:ext uri="{FF2B5EF4-FFF2-40B4-BE49-F238E27FC236}">
                <a16:creationId xmlns:a16="http://schemas.microsoft.com/office/drawing/2014/main" id="{93B6E449-85BE-5B4A-9311-2197527A6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2455" y="3925422"/>
            <a:ext cx="7765" cy="465138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id="{779B14C2-7272-2C47-BA62-95435F6FD8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714" y="4403081"/>
            <a:ext cx="436736" cy="2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D07B1E9-213D-442D-8989-187984C356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89000" y="1057275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/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请问哪个用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JK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触发器实现了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触发器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?</a:t>
            </a:r>
          </a:p>
          <a:p>
            <a:pPr algn="l"/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提示：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JK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触发器的特征方程：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51D9935-8963-4F3A-BD81-565F916FD6E5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371599" y="314325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F03DCEE-3FD3-4F9B-953E-287D8DFC777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4191000" y="31432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DA56CB4-2D6C-4271-925F-A47F3C9D6A4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858000" y="31432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  <a:sym typeface="Microsoft Yahei" panose="020B0503020204020204" pitchFamily="34" charset="-122"/>
            </a:endParaRPr>
          </a:p>
        </p:txBody>
      </p:sp>
      <p:graphicFrame>
        <p:nvGraphicFramePr>
          <p:cNvPr id="23" name="Object 9">
            <a:extLst>
              <a:ext uri="{FF2B5EF4-FFF2-40B4-BE49-F238E27FC236}">
                <a16:creationId xmlns:a16="http://schemas.microsoft.com/office/drawing/2014/main" id="{822AFA58-CAFE-4CEC-9339-6BB412B03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246535"/>
              </p:ext>
            </p:extLst>
          </p:nvPr>
        </p:nvGraphicFramePr>
        <p:xfrm>
          <a:off x="5334000" y="2297113"/>
          <a:ext cx="20574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15" imgW="799920" imgH="203040" progId="">
                  <p:embed/>
                </p:oleObj>
              </mc:Choice>
              <mc:Fallback>
                <p:oleObj name="Equation" r:id="rId15" imgW="799920" imgH="203040" progId="">
                  <p:embed/>
                  <p:pic>
                    <p:nvPicPr>
                      <p:cNvPr id="23" name="Object 9">
                        <a:extLst>
                          <a:ext uri="{FF2B5EF4-FFF2-40B4-BE49-F238E27FC236}">
                            <a16:creationId xmlns:a16="http://schemas.microsoft.com/office/drawing/2014/main" id="{822AFA58-CAFE-4CEC-9339-6BB412B033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97113"/>
                        <a:ext cx="2057400" cy="5222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71D167D6-5C14-4096-95F4-3EF29CC914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7536" y="4038600"/>
            <a:ext cx="2348127" cy="129322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D201AA9-1782-4F55-824B-525E3409F05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39138" y="4038600"/>
            <a:ext cx="2351324" cy="129322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701E324-EF10-43B1-B7A2-F877EDFD840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77587" y="4098838"/>
            <a:ext cx="2132275" cy="1172751"/>
          </a:xfrm>
          <a:prstGeom prst="rect">
            <a:avLst/>
          </a:prstGeom>
        </p:spPr>
      </p:pic>
      <p:sp>
        <p:nvSpPr>
          <p:cNvPr id="6" name="Rounded Rectangle 5"/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  <a:sym typeface="Microsoft Yahei" panose="020B0503020204020204" pitchFamily="34" charset="-122"/>
              </a:rPr>
              <a:t>提交</a:t>
            </a:r>
            <a:endParaRPr 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  <a:sym typeface="Microsoft Yahei" panose="020B0503020204020204" pitchFamily="34" charset="-122"/>
            </a:endParaRPr>
          </a:p>
        </p:txBody>
      </p:sp>
      <p:grpSp>
        <p:nvGrpSpPr>
          <p:cNvPr id="5" name="Group 4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EA8B5092-0F8C-4A04-91C4-84F07070B2A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A448A4B7-29CA-4A87-8B12-0C562F90277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C6CD4500-9DF7-4236-8DFC-DCE9BFFFA0E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3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Picture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4694224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CEF6B-F923-274E-8D16-FE0CD19CB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78</a:t>
            </a:fld>
            <a:endParaRPr 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2D82DC7-023D-4185-9D12-0BA2835A2E52}"/>
                  </a:ext>
                </a:extLst>
              </p:cNvPr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5732" y="3660541"/>
                <a:ext cx="4866867" cy="1978259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marL="457200" marR="0" lvl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zh-CN" altLang="en-US" sz="2800" b="1" dirty="0">
                    <a:solidFill>
                      <a:srgbClr val="3333FF"/>
                    </a:solidFill>
                    <a:latin typeface="+mn-ea"/>
                    <a:ea typeface="+mn-ea"/>
                    <a:sym typeface="Microsoft Yahei" panose="020B0503020204020204" pitchFamily="34" charset="-122"/>
                  </a:rPr>
                  <a:t>解答：</a:t>
                </a: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Microsoft Yahei" panose="020B0503020204020204" pitchFamily="34" charset="-122"/>
                  </a:rPr>
                  <a:t>A</a:t>
                </a:r>
                <a:endParaRPr lang="en-MY" altLang="zh-CN" sz="2800" b="1" dirty="0">
                  <a:solidFill>
                    <a:srgbClr val="000000"/>
                  </a:solidFill>
                  <a:latin typeface="+mn-ea"/>
                  <a:ea typeface="+mn-ea"/>
                  <a:sym typeface="Microsoft Yahei" panose="020B0503020204020204" pitchFamily="34" charset="-122"/>
                </a:endParaRPr>
              </a:p>
              <a:p>
                <a:pPr marL="914400" lvl="1" indent="-457200">
                  <a:spcBef>
                    <a:spcPts val="600"/>
                  </a:spcBef>
                  <a:buFont typeface="System Font Regular"/>
                  <a:buChar char="-"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+mn-ea"/>
                    <a:ea typeface="+mn-ea"/>
                    <a:sym typeface="Microsoft Yahei" panose="020B0503020204020204" pitchFamily="34" charset="-122"/>
                  </a:rPr>
                  <a:t>当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+mn-lt"/>
                    <a:ea typeface="+mn-ea"/>
                    <a:sym typeface="Microsoft Yahei" panose="020B0503020204020204" pitchFamily="34" charset="-122"/>
                  </a:rPr>
                  <a:t>J=D, K=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altLang="zh-CN" sz="24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sym typeface="Microsoft Yahei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sym typeface="Microsoft Yahei" panose="020B0503020204020204" pitchFamily="34" charset="-122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+mn-lt"/>
                    <a:ea typeface="+mn-ea"/>
                    <a:sym typeface="Microsoft Yahei" panose="020B0503020204020204" pitchFamily="34" charset="-122"/>
                  </a:rPr>
                  <a:t>, JK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+mn-ea"/>
                    <a:ea typeface="+mn-ea"/>
                    <a:sym typeface="Microsoft Yahei" panose="020B0503020204020204" pitchFamily="34" charset="-122"/>
                  </a:rPr>
                  <a:t>触发器的输出是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+mn-lt"/>
                    <a:ea typeface="+mn-ea"/>
                    <a:sym typeface="Microsoft Yahei" panose="020B0503020204020204" pitchFamily="34" charset="-122"/>
                  </a:rPr>
                  <a:t>D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+mn-ea"/>
                    <a:ea typeface="+mn-ea"/>
                    <a:sym typeface="Microsoft Yahei" panose="020B0503020204020204" pitchFamily="34" charset="-122"/>
                  </a:rPr>
                  <a:t>，和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+mn-lt"/>
                    <a:ea typeface="+mn-ea"/>
                    <a:sym typeface="Microsoft Yahei" panose="020B0503020204020204" pitchFamily="34" charset="-122"/>
                  </a:rPr>
                  <a:t>D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+mn-ea"/>
                    <a:ea typeface="+mn-ea"/>
                    <a:sym typeface="Microsoft Yahei" panose="020B0503020204020204" pitchFamily="34" charset="-122"/>
                  </a:rPr>
                  <a:t>触发器一样。</a:t>
                </a:r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sym typeface="Microsoft Yahei" panose="020B0503020204020204" pitchFamily="34" charset="-122"/>
                </a:endParaRPr>
              </a:p>
              <a:p>
                <a:pPr marL="914400" lvl="1" indent="-457200">
                  <a:buFont typeface="System Font Regular"/>
                  <a:buChar char="-"/>
                  <a:defRPr/>
                </a:pPr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cs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2D82DC7-023D-4185-9D12-0BA2835A2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695732" y="3660541"/>
                <a:ext cx="4866867" cy="1978259"/>
              </a:xfrm>
              <a:prstGeom prst="rect">
                <a:avLst/>
              </a:prstGeom>
              <a:blipFill>
                <a:blip r:embed="rId7"/>
                <a:stretch>
                  <a:fillRect l="-208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C5263A2-1A48-40CE-A9D3-1D0A6E1EEA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3965341"/>
            <a:ext cx="2920985" cy="197825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DE236052-7F77-48E3-8F1E-57BDCB42ED9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629400" y="5910785"/>
            <a:ext cx="1676400" cy="41381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D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触发器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8">
                <a:extLst>
                  <a:ext uri="{FF2B5EF4-FFF2-40B4-BE49-F238E27FC236}">
                    <a16:creationId xmlns:a16="http://schemas.microsoft.com/office/drawing/2014/main" id="{4117CE61-178C-7441-8C81-773B05D21E3E}"/>
                  </a:ext>
                </a:extLst>
              </p:cNvPr>
              <p:cNvSpPr txBox="1"/>
              <p:nvPr/>
            </p:nvSpPr>
            <p:spPr>
              <a:xfrm>
                <a:off x="666749" y="5457313"/>
                <a:ext cx="5105052" cy="486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</m:acc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2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8">
                <a:extLst>
                  <a:ext uri="{FF2B5EF4-FFF2-40B4-BE49-F238E27FC236}">
                    <a16:creationId xmlns:a16="http://schemas.microsoft.com/office/drawing/2014/main" id="{4117CE61-178C-7441-8C81-773B05D21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49" y="5457313"/>
                <a:ext cx="5105052" cy="486287"/>
              </a:xfrm>
              <a:prstGeom prst="rect">
                <a:avLst/>
              </a:prstGeom>
              <a:blipFill>
                <a:blip r:embed="rId9"/>
                <a:stretch>
                  <a:fillRect l="-1737" r="-744" b="-2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53">
            <a:extLst>
              <a:ext uri="{FF2B5EF4-FFF2-40B4-BE49-F238E27FC236}">
                <a16:creationId xmlns:a16="http://schemas.microsoft.com/office/drawing/2014/main" id="{5D6CD724-770A-4548-A4F6-61AC22F0643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5799" y="1154906"/>
            <a:ext cx="7239001" cy="135969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algn="l"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Microsoft Yahei" panose="020B0503020204020204" pitchFamily="34" charset="-122"/>
              </a:rPr>
              <a:t>请问哪个用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Microsoft Yahei" panose="020B0503020204020204" pitchFamily="34" charset="-122"/>
              </a:rPr>
              <a:t>JK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Microsoft Yahei" panose="020B0503020204020204" pitchFamily="34" charset="-122"/>
              </a:rPr>
              <a:t>触发器实现了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D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触发器？</a:t>
            </a:r>
            <a:endParaRPr lang="en-MY" altLang="zh-CN" sz="2800" dirty="0">
              <a:solidFill>
                <a:srgbClr val="000000"/>
              </a:solidFill>
              <a:latin typeface="+mn-lt"/>
              <a:ea typeface="+mn-ea"/>
              <a:sym typeface="Microsoft Yahei" panose="020B0503020204020204" pitchFamily="34" charset="-122"/>
            </a:endParaRPr>
          </a:p>
          <a:p>
            <a:pPr marL="342900" lvl="0" indent="-342900" algn="l">
              <a:spcBef>
                <a:spcPts val="600"/>
              </a:spcBef>
              <a:buFont typeface="System Font Regular"/>
              <a:buChar char="-"/>
              <a:defRPr/>
            </a:pP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  <a:sym typeface="Microsoft Yahei" panose="020B0503020204020204" pitchFamily="34" charset="-122"/>
              </a:rPr>
              <a:t>A.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  <a:sym typeface="Microsoft Yahei" panose="020B0503020204020204" pitchFamily="34" charset="-122"/>
              </a:rPr>
              <a:t> </a:t>
            </a:r>
            <a:r>
              <a:rPr lang="en-MY" altLang="zh-CN" sz="2400" dirty="0">
                <a:solidFill>
                  <a:srgbClr val="0432FF"/>
                </a:solidFill>
                <a:latin typeface="+mn-lt"/>
                <a:ea typeface="+mn-ea"/>
                <a:sym typeface="Microsoft Yahei" panose="020B0503020204020204" pitchFamily="34" charset="-122"/>
              </a:rPr>
              <a:t>			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B.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 </a:t>
            </a:r>
            <a:r>
              <a:rPr lang="en-MY" altLang="zh-CN" sz="24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			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+mn-ea"/>
                <a:sym typeface="Microsoft Yahei" panose="020B0503020204020204" pitchFamily="34" charset="-122"/>
              </a:rPr>
              <a:t>C.</a:t>
            </a:r>
            <a:endParaRPr kumimoji="0" lang="en-MY" altLang="zh-CN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Microsoft Yahei" panose="020B0503020204020204" pitchFamily="34" charset="-122"/>
            </a:endParaRPr>
          </a:p>
        </p:txBody>
      </p:sp>
      <p:pic>
        <p:nvPicPr>
          <p:cNvPr id="15" name="图片 23">
            <a:extLst>
              <a:ext uri="{FF2B5EF4-FFF2-40B4-BE49-F238E27FC236}">
                <a16:creationId xmlns:a16="http://schemas.microsoft.com/office/drawing/2014/main" id="{13A27EEB-3C9E-E94B-B034-0753AA1210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1" y="2362200"/>
            <a:ext cx="2348127" cy="1293228"/>
          </a:xfrm>
          <a:prstGeom prst="rect">
            <a:avLst/>
          </a:prstGeom>
        </p:spPr>
      </p:pic>
      <p:pic>
        <p:nvPicPr>
          <p:cNvPr id="16" name="图片 24">
            <a:extLst>
              <a:ext uri="{FF2B5EF4-FFF2-40B4-BE49-F238E27FC236}">
                <a16:creationId xmlns:a16="http://schemas.microsoft.com/office/drawing/2014/main" id="{8EAC862D-2EA7-0E4C-A53B-F236F4B962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2275" y="2362200"/>
            <a:ext cx="2351324" cy="1293228"/>
          </a:xfrm>
          <a:prstGeom prst="rect">
            <a:avLst/>
          </a:prstGeom>
        </p:spPr>
      </p:pic>
      <p:pic>
        <p:nvPicPr>
          <p:cNvPr id="17" name="图片 25">
            <a:extLst>
              <a:ext uri="{FF2B5EF4-FFF2-40B4-BE49-F238E27FC236}">
                <a16:creationId xmlns:a16="http://schemas.microsoft.com/office/drawing/2014/main" id="{AAF2E342-25C2-8249-AC03-F535260117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3262" y="2394571"/>
            <a:ext cx="2132275" cy="117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147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不同的</a:t>
            </a:r>
            <a:r>
              <a:rPr lang="en-US" altLang="zh-CN" dirty="0"/>
              <a:t>DFF</a:t>
            </a:r>
            <a:r>
              <a:rPr lang="zh-CN" altLang="en-US" dirty="0"/>
              <a:t>实现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9A5B7-2DAB-8541-85D2-B108BF9B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79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3" name="Rectangle 4"/>
          <p:cNvSpPr>
            <a:spLocks noChangeArrowheads="1"/>
          </p:cNvSpPr>
          <p:nvPr/>
        </p:nvSpPr>
        <p:spPr bwMode="auto">
          <a:xfrm>
            <a:off x="3130960" y="6400800"/>
            <a:ext cx="33489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基于传输门逻辑的锁存器对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28D6F61-4311-4BE3-890B-AC4EF67818EE}"/>
              </a:ext>
            </a:extLst>
          </p:cNvPr>
          <p:cNvSpPr txBox="1"/>
          <p:nvPr/>
        </p:nvSpPr>
        <p:spPr>
          <a:xfrm>
            <a:off x="609600" y="1659480"/>
            <a:ext cx="3348994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rgbClr val="0000FF"/>
                </a:solidFill>
                <a:latin typeface="+mj-lt"/>
              </a:rPr>
              <a:t>module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+mj-lt"/>
              </a:rPr>
              <a:t>D_ff</a:t>
            </a:r>
            <a:r>
              <a:rPr lang="en-US" altLang="zh-CN" dirty="0">
                <a:solidFill>
                  <a:srgbClr val="000080"/>
                </a:solidFill>
                <a:latin typeface="+mj-lt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j-lt"/>
              </a:rPr>
              <a:t>clk</a:t>
            </a:r>
            <a:r>
              <a:rPr lang="en-US" altLang="zh-CN" dirty="0" err="1">
                <a:solidFill>
                  <a:srgbClr val="000080"/>
                </a:solidFill>
                <a:latin typeface="+mj-lt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+mj-lt"/>
              </a:rPr>
              <a:t>D</a:t>
            </a:r>
            <a:r>
              <a:rPr lang="en-US" altLang="zh-CN" dirty="0" err="1">
                <a:solidFill>
                  <a:srgbClr val="000080"/>
                </a:solidFill>
                <a:latin typeface="+mj-lt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+mj-lt"/>
              </a:rPr>
              <a:t>Q</a:t>
            </a:r>
            <a:r>
              <a:rPr lang="en-US" altLang="zh-CN" dirty="0">
                <a:solidFill>
                  <a:srgbClr val="000080"/>
                </a:solidFill>
                <a:latin typeface="+mj-lt"/>
              </a:rPr>
              <a:t>);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  <a:latin typeface="+mj-lt"/>
              </a:rPr>
              <a:t>      input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+mj-lt"/>
              </a:rPr>
              <a:t>clk</a:t>
            </a:r>
            <a:r>
              <a:rPr lang="en-US" altLang="zh-CN" dirty="0" err="1">
                <a:solidFill>
                  <a:srgbClr val="000080"/>
                </a:solidFill>
                <a:latin typeface="+mj-lt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+mj-lt"/>
              </a:rPr>
              <a:t>D</a:t>
            </a:r>
            <a:r>
              <a:rPr lang="en-US" altLang="zh-CN" dirty="0">
                <a:solidFill>
                  <a:srgbClr val="000080"/>
                </a:solidFill>
                <a:latin typeface="+mj-lt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  <a:latin typeface="+mj-lt"/>
              </a:rPr>
              <a:t>      output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j-lt"/>
              </a:rPr>
              <a:t>reg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Q</a:t>
            </a:r>
            <a:r>
              <a:rPr lang="en-US" altLang="zh-CN" dirty="0">
                <a:solidFill>
                  <a:srgbClr val="000080"/>
                </a:solidFill>
                <a:latin typeface="+mj-lt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  <a:latin typeface="+mj-lt"/>
              </a:rPr>
              <a:t>      always</a:t>
            </a:r>
            <a:r>
              <a:rPr lang="en-US" altLang="zh-CN" dirty="0">
                <a:solidFill>
                  <a:srgbClr val="000080"/>
                </a:solidFill>
                <a:latin typeface="+mj-lt"/>
              </a:rPr>
              <a:t>@(</a:t>
            </a:r>
            <a:r>
              <a:rPr lang="en-US" altLang="zh-CN" dirty="0" err="1">
                <a:solidFill>
                  <a:srgbClr val="0000FF"/>
                </a:solidFill>
                <a:latin typeface="+mj-lt"/>
              </a:rPr>
              <a:t>posedge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+mj-lt"/>
              </a:rPr>
              <a:t>clk</a:t>
            </a:r>
            <a:r>
              <a:rPr lang="en-US" altLang="zh-CN" dirty="0">
                <a:solidFill>
                  <a:srgbClr val="000080"/>
                </a:solidFill>
                <a:latin typeface="+mj-lt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altLang="zh-CN" dirty="0">
                <a:solidFill>
                  <a:srgbClr val="0000FF"/>
                </a:solidFill>
                <a:latin typeface="+mj-lt"/>
              </a:rPr>
              <a:t>begin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+mj-lt"/>
              </a:rPr>
              <a:t>        Q </a:t>
            </a:r>
            <a:r>
              <a:rPr lang="en-US" altLang="zh-CN" dirty="0">
                <a:solidFill>
                  <a:srgbClr val="000080"/>
                </a:solidFill>
                <a:latin typeface="+mj-lt"/>
              </a:rPr>
              <a:t>&lt;=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D</a:t>
            </a:r>
            <a:r>
              <a:rPr lang="en-US" altLang="zh-CN" dirty="0">
                <a:solidFill>
                  <a:srgbClr val="000080"/>
                </a:solidFill>
                <a:latin typeface="+mj-lt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altLang="zh-CN" dirty="0">
                <a:solidFill>
                  <a:srgbClr val="0000FF"/>
                </a:solidFill>
                <a:latin typeface="+mj-lt"/>
              </a:rPr>
              <a:t>end</a:t>
            </a:r>
            <a:r>
              <a:rPr lang="en-US" altLang="zh-CN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algn="l"/>
            <a:r>
              <a:rPr lang="en-US" altLang="zh-CN" dirty="0" err="1">
                <a:solidFill>
                  <a:srgbClr val="0000FF"/>
                </a:solidFill>
                <a:latin typeface="+mj-lt"/>
              </a:rPr>
              <a:t>endmodule</a:t>
            </a:r>
            <a:endParaRPr lang="en-US" altLang="zh-CN" dirty="0"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351CBF-26FE-9846-B038-9F942394E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57" y="1489271"/>
            <a:ext cx="3495485" cy="24785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4FD01E0-23E4-1E4A-893C-7CD343448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768" y="4191000"/>
            <a:ext cx="6820464" cy="22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37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：主从</a:t>
            </a:r>
            <a:r>
              <a:rPr lang="en-US" altLang="zh-CN" dirty="0"/>
              <a:t>SR</a:t>
            </a:r>
            <a:r>
              <a:rPr lang="zh-CN" altLang="en-US" dirty="0"/>
              <a:t>触发器</a:t>
            </a:r>
            <a:endParaRPr lang="en-US" altLang="zh-CN" dirty="0"/>
          </a:p>
        </p:txBody>
      </p:sp>
      <p:graphicFrame>
        <p:nvGraphicFramePr>
          <p:cNvPr id="24578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022091"/>
              </p:ext>
            </p:extLst>
          </p:nvPr>
        </p:nvGraphicFramePr>
        <p:xfrm>
          <a:off x="611188" y="4154967"/>
          <a:ext cx="5522912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Visio" r:id="rId4" imgW="3902885" imgH="1469887" progId="Visio.Drawing.11">
                  <p:embed/>
                </p:oleObj>
              </mc:Choice>
              <mc:Fallback>
                <p:oleObj name="Visio" r:id="rId4" imgW="3902885" imgH="1469887" progId="Visio.Drawing.11">
                  <p:embed/>
                  <p:pic>
                    <p:nvPicPr>
                      <p:cNvPr id="2457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154967"/>
                        <a:ext cx="5522912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0D32E-C7CD-4B4A-AC90-830C4095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3C754-6832-6F46-A7D6-C63D478C95C7}"/>
              </a:ext>
            </a:extLst>
          </p:cNvPr>
          <p:cNvSpPr/>
          <p:nvPr/>
        </p:nvSpPr>
        <p:spPr>
          <a:xfrm>
            <a:off x="611188" y="1383282"/>
            <a:ext cx="7903089" cy="1821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图示锁存器的整体行为是输出在时钟</a:t>
            </a:r>
            <a:r>
              <a:rPr lang="zh-CN" altLang="en-US" sz="2400" dirty="0">
                <a:solidFill>
                  <a:srgbClr val="0432FF"/>
                </a:solidFill>
                <a:latin typeface="+mn-ea"/>
                <a:ea typeface="+mn-ea"/>
                <a:cs typeface="Arial" panose="020B0604020202020204" pitchFamily="34" charset="0"/>
              </a:rPr>
              <a:t>下降沿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与输入相同，其他时间保持不变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概述：所有使用的锁存器只能在输入使能信号为</a:t>
            </a:r>
            <a:r>
              <a:rPr lang="zh-CN" altLang="en-US" sz="2400" dirty="0">
                <a:solidFill>
                  <a:srgbClr val="0432FF"/>
                </a:solidFill>
                <a:latin typeface="+mn-ea"/>
                <a:ea typeface="+mn-ea"/>
                <a:cs typeface="Arial" panose="020B0604020202020204" pitchFamily="34" charset="0"/>
              </a:rPr>
              <a:t>高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时才可以改变状态</a:t>
            </a:r>
            <a:endParaRPr lang="en-CN" sz="2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5CBFDB97-39AA-5442-A2AE-988E097181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5256310"/>
            <a:ext cx="126598" cy="5491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ED183C33-8A04-2E49-B107-2D418B215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861716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b="0" dirty="0">
                <a:solidFill>
                  <a:schemeClr val="tx1"/>
                </a:solidFill>
                <a:latin typeface="+mj-lt"/>
                <a:ea typeface="SimHei" panose="02010609060101010101" pitchFamily="49" charset="-122"/>
              </a:rPr>
              <a:t>输出延时指示</a:t>
            </a:r>
            <a:endParaRPr lang="en-US" altLang="zh-CN" sz="1800" b="0" dirty="0">
              <a:solidFill>
                <a:schemeClr val="tx1"/>
              </a:solidFill>
              <a:latin typeface="+mj-lt"/>
              <a:ea typeface="SimHei" panose="02010609060101010101" pitchFamily="49" charset="-122"/>
            </a:endParaRPr>
          </a:p>
        </p:txBody>
      </p:sp>
      <p:graphicFrame>
        <p:nvGraphicFramePr>
          <p:cNvPr id="9" name="Object 60">
            <a:extLst>
              <a:ext uri="{FF2B5EF4-FFF2-40B4-BE49-F238E27FC236}">
                <a16:creationId xmlns:a16="http://schemas.microsoft.com/office/drawing/2014/main" id="{9D8081A1-1F05-4E4F-A1AD-996B09145E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379135"/>
              </p:ext>
            </p:extLst>
          </p:nvPr>
        </p:nvGraphicFramePr>
        <p:xfrm>
          <a:off x="2644775" y="3274829"/>
          <a:ext cx="1927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6" imgW="711000" imgH="203040" progId="">
                  <p:embed/>
                </p:oleObj>
              </mc:Choice>
              <mc:Fallback>
                <p:oleObj name="Equation" r:id="rId6" imgW="711000" imgH="203040" progId="">
                  <p:embed/>
                  <p:pic>
                    <p:nvPicPr>
                      <p:cNvPr id="9" name="Object 60">
                        <a:extLst>
                          <a:ext uri="{FF2B5EF4-FFF2-40B4-BE49-F238E27FC236}">
                            <a16:creationId xmlns:a16="http://schemas.microsoft.com/office/drawing/2014/main" id="{9D8081A1-1F05-4E4F-A1AD-996B09145E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3274829"/>
                        <a:ext cx="192722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607C5FB-B208-ED4B-8DB5-BED84D8B51B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4363"/>
          <a:stretch/>
        </p:blipFill>
        <p:spPr>
          <a:xfrm>
            <a:off x="6600547" y="3124200"/>
            <a:ext cx="1280892" cy="1219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813428-AD9C-F64C-8EB2-9A0C30C3ADA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4363"/>
          <a:stretch/>
        </p:blipFill>
        <p:spPr>
          <a:xfrm>
            <a:off x="6550981" y="4572085"/>
            <a:ext cx="1280893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532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F24C0AF2-B658-BF4E-B221-B13FCA735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851729"/>
              </p:ext>
            </p:extLst>
          </p:nvPr>
        </p:nvGraphicFramePr>
        <p:xfrm>
          <a:off x="457200" y="3519597"/>
          <a:ext cx="7696200" cy="3139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Visio" r:id="rId4" imgW="3902885" imgH="1469887" progId="Visio.Drawing.11">
                  <p:embed/>
                </p:oleObj>
              </mc:Choice>
              <mc:Fallback>
                <p:oleObj name="Visio" r:id="rId4" imgW="3902885" imgH="1469887" progId="Visio.Drawing.11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F24C0AF2-B658-BF4E-B221-B13FCA735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19597"/>
                        <a:ext cx="7696200" cy="3139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主从</a:t>
            </a:r>
            <a:r>
              <a:rPr lang="en-US" altLang="zh-CN" dirty="0"/>
              <a:t>SR</a:t>
            </a:r>
            <a:r>
              <a:rPr lang="zh-CN" altLang="en-US" dirty="0"/>
              <a:t>触发器的工作流程</a:t>
            </a:r>
            <a:r>
              <a:rPr lang="en-US" altLang="zh-CN" sz="4000" dirty="0"/>
              <a:t>(</a:t>
            </a:r>
            <a:r>
              <a:rPr lang="zh-CN" altLang="en-US" sz="4000" dirty="0"/>
              <a:t>下降沿触发</a:t>
            </a:r>
            <a:r>
              <a:rPr lang="en-US" altLang="zh-CN" sz="40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A7658-D17A-084D-B8D2-1CC148FB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16468" name="Text Box 20"/>
          <p:cNvSpPr txBox="1">
            <a:spLocks noChangeArrowheads="1"/>
          </p:cNvSpPr>
          <p:nvPr/>
        </p:nvSpPr>
        <p:spPr bwMode="auto">
          <a:xfrm>
            <a:off x="685801" y="2802566"/>
            <a:ext cx="31242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432FF"/>
                </a:solidFill>
                <a:latin typeface="+mj-lt"/>
                <a:ea typeface="SimHei" panose="02010609060101010101" pitchFamily="49" charset="-122"/>
                <a:sym typeface="Symbol" pitchFamily="18" charset="2"/>
              </a:rPr>
              <a:t>主锁存器锁定：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Q</a:t>
            </a:r>
            <a:r>
              <a:rPr lang="en-US" altLang="zh-CN" sz="2000" b="1" baseline="30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+</a:t>
            </a:r>
            <a:r>
              <a:rPr lang="en-US" altLang="zh-CN" sz="2000" b="1" i="1" baseline="-25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M</a:t>
            </a:r>
            <a:r>
              <a:rPr lang="en-US" altLang="zh-CN" sz="2000" b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Q</a:t>
            </a:r>
            <a:r>
              <a:rPr lang="en-US" altLang="zh-CN" sz="2000" b="1" i="1" baseline="-25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M,0</a:t>
            </a:r>
          </a:p>
        </p:txBody>
      </p:sp>
      <p:sp>
        <p:nvSpPr>
          <p:cNvPr id="34" name="Text Box 18">
            <a:extLst>
              <a:ext uri="{FF2B5EF4-FFF2-40B4-BE49-F238E27FC236}">
                <a16:creationId xmlns:a16="http://schemas.microsoft.com/office/drawing/2014/main" id="{82183149-2832-6140-B347-7E4092F72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085" y="4251766"/>
            <a:ext cx="8382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sym typeface="Symbol" pitchFamily="18" charset="2"/>
              </a:rPr>
              <a:t>0</a:t>
            </a:r>
          </a:p>
        </p:txBody>
      </p:sp>
      <p:sp>
        <p:nvSpPr>
          <p:cNvPr id="35" name="Text Box 21">
            <a:extLst>
              <a:ext uri="{FF2B5EF4-FFF2-40B4-BE49-F238E27FC236}">
                <a16:creationId xmlns:a16="http://schemas.microsoft.com/office/drawing/2014/main" id="{7D1ADB2E-B974-4D46-B233-A47F965D7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980" y="2800570"/>
            <a:ext cx="34290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432FF"/>
                </a:solidFill>
                <a:latin typeface="+mj-lt"/>
                <a:ea typeface="SimHei" panose="02010609060101010101" pitchFamily="49" charset="-122"/>
                <a:sym typeface="Symbol" pitchFamily="18" charset="2"/>
              </a:rPr>
              <a:t>从锁存器跟踪：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Q</a:t>
            </a:r>
            <a:r>
              <a:rPr lang="en-US" altLang="zh-CN" sz="2000" b="1" baseline="30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+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=Q</a:t>
            </a:r>
            <a:r>
              <a:rPr lang="en-US" altLang="zh-CN" sz="2000" b="1" baseline="30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+</a:t>
            </a:r>
            <a:r>
              <a:rPr lang="en-US" altLang="zh-CN" sz="2000" b="1" i="1" baseline="-25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s</a:t>
            </a:r>
            <a:r>
              <a:rPr lang="en-US" altLang="zh-CN" sz="2000" b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Q</a:t>
            </a:r>
            <a:r>
              <a:rPr lang="en-US" altLang="zh-CN" sz="2000" b="1" i="1" baseline="-25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M</a:t>
            </a:r>
          </a:p>
        </p:txBody>
      </p:sp>
      <p:sp>
        <p:nvSpPr>
          <p:cNvPr id="36" name="Text Box 19">
            <a:extLst>
              <a:ext uri="{FF2B5EF4-FFF2-40B4-BE49-F238E27FC236}">
                <a16:creationId xmlns:a16="http://schemas.microsoft.com/office/drawing/2014/main" id="{FC6A7F4F-089D-984E-B015-5130BAC44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8985" y="5756670"/>
            <a:ext cx="2286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sym typeface="Symbol" pitchFamily="18" charset="2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09DC4-0556-4E45-BA7E-9C32E2C14113}"/>
              </a:ext>
            </a:extLst>
          </p:cNvPr>
          <p:cNvSpPr/>
          <p:nvPr/>
        </p:nvSpPr>
        <p:spPr>
          <a:xfrm>
            <a:off x="304800" y="1387252"/>
            <a:ext cx="855810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概述：所有使用的锁存器只能在输入使能信号为</a:t>
            </a:r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高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时才可以改变状态</a:t>
            </a:r>
            <a:endParaRPr lang="en-CN" altLang="zh-CN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indent="-342900" algn="l">
              <a:buFont typeface="System Font Regular"/>
              <a:buChar char="-"/>
            </a:pP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当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Clock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为低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(0)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，主锁存器锁定并保持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en-US" altLang="zh-CN" sz="2000" b="1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从锁存器跟踪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(Q</a:t>
            </a:r>
            <a:r>
              <a:rPr lang="en-US" altLang="zh-CN" sz="2000" b="1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</a:t>
            </a:r>
            <a:r>
              <a:rPr lang="en-US" altLang="zh-CN" sz="2000" b="1" baseline="30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=Q</a:t>
            </a:r>
            <a:r>
              <a:rPr lang="en-US" altLang="zh-CN" sz="2000" b="1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)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，触发器整体表现为锁定</a:t>
            </a:r>
            <a:r>
              <a:rPr lang="en-US" altLang="zh-CN" sz="2000" b="1" i="1" dirty="0">
                <a:solidFill>
                  <a:srgbClr val="0432FF"/>
                </a:solidFill>
                <a:sym typeface="Symbol" pitchFamily="18" charset="2"/>
              </a:rPr>
              <a:t>Q</a:t>
            </a:r>
            <a:r>
              <a:rPr lang="en-US" altLang="zh-CN" sz="2000" b="1" baseline="30000" dirty="0">
                <a:solidFill>
                  <a:srgbClr val="0432FF"/>
                </a:solidFill>
                <a:sym typeface="Symbol" pitchFamily="18" charset="2"/>
              </a:rPr>
              <a:t>+</a:t>
            </a:r>
            <a:r>
              <a:rPr lang="en-US" altLang="zh-CN" sz="2000" b="1" i="1" dirty="0">
                <a:solidFill>
                  <a:srgbClr val="0432FF"/>
                </a:solidFill>
                <a:sym typeface="Symbol" pitchFamily="18" charset="2"/>
              </a:rPr>
              <a:t>=Q</a:t>
            </a:r>
            <a:r>
              <a:rPr lang="en-US" altLang="zh-CN" sz="2000" b="1" i="1" baseline="-25000" dirty="0">
                <a:solidFill>
                  <a:srgbClr val="0432FF"/>
                </a:solidFill>
                <a:sym typeface="Symbol" pitchFamily="18" charset="2"/>
              </a:rPr>
              <a:t>M, 0</a:t>
            </a:r>
            <a:endParaRPr lang="en-US" altLang="zh-CN" sz="2000" b="1" dirty="0">
              <a:solidFill>
                <a:srgbClr val="0432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38F5BE-5BB6-8A47-8FEB-3DF56D5F0BC3}"/>
              </a:ext>
            </a:extLst>
          </p:cNvPr>
          <p:cNvCxnSpPr/>
          <p:nvPr/>
        </p:nvCxnSpPr>
        <p:spPr>
          <a:xfrm>
            <a:off x="3886200" y="4158854"/>
            <a:ext cx="38347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>
            <a:extLst>
              <a:ext uri="{FF2B5EF4-FFF2-40B4-BE49-F238E27FC236}">
                <a16:creationId xmlns:a16="http://schemas.microsoft.com/office/drawing/2014/main" id="{0F8C284F-62B9-4D3A-8902-8FBC6ABEF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022" y="4837945"/>
            <a:ext cx="188595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r>
              <a:rPr lang="zh-CN" altLang="en-US" sz="4000" dirty="0">
                <a:solidFill>
                  <a:srgbClr val="0432FF"/>
                </a:solidFill>
                <a:sym typeface="Wingdings" panose="05000000000000000000" pitchFamily="2" charset="2"/>
              </a:rPr>
              <a:t>→</a:t>
            </a:r>
            <a:r>
              <a:rPr lang="en-US" altLang="zh-CN" sz="40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endParaRPr lang="en-US" altLang="zh-CN" sz="4000" dirty="0">
              <a:solidFill>
                <a:srgbClr val="0432FF"/>
              </a:solidFill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B706873-BCB1-427F-81EB-881BC8512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402" y="4837945"/>
            <a:ext cx="17526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r>
              <a:rPr lang="zh-CN" altLang="en-US" sz="4000" dirty="0">
                <a:solidFill>
                  <a:srgbClr val="0432FF"/>
                </a:solidFill>
                <a:sym typeface="Wingdings" panose="05000000000000000000" pitchFamily="2" charset="2"/>
              </a:rPr>
              <a:t>→</a:t>
            </a:r>
            <a:r>
              <a:rPr lang="en-US" altLang="zh-CN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endParaRPr lang="en-US" altLang="zh-CN" sz="4000" dirty="0">
              <a:solidFill>
                <a:srgbClr val="0432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975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68" grpId="0"/>
      <p:bldP spid="35" grpId="0"/>
      <p:bldP spid="16" grpId="0"/>
      <p:bldP spid="1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4B8D01DF-7BBC-EA48-BEE5-F7C504EEFE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750925"/>
              </p:ext>
            </p:extLst>
          </p:nvPr>
        </p:nvGraphicFramePr>
        <p:xfrm>
          <a:off x="457200" y="3519597"/>
          <a:ext cx="7696200" cy="3139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Visio" r:id="rId4" imgW="3902885" imgH="1469887" progId="Visio.Drawing.11">
                  <p:embed/>
                </p:oleObj>
              </mc:Choice>
              <mc:Fallback>
                <p:oleObj name="Visio" r:id="rId4" imgW="3902885" imgH="1469887" progId="Visio.Drawing.11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F24C0AF2-B658-BF4E-B221-B13FCA735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19597"/>
                        <a:ext cx="7696200" cy="3139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主从</a:t>
            </a:r>
            <a:r>
              <a:rPr lang="en-US" altLang="zh-CN" dirty="0"/>
              <a:t>SR</a:t>
            </a:r>
            <a:r>
              <a:rPr lang="zh-CN" altLang="en-US" dirty="0"/>
              <a:t>触发器的工作流程</a:t>
            </a:r>
            <a:r>
              <a:rPr lang="en-US" altLang="zh-CN" dirty="0"/>
              <a:t>(</a:t>
            </a:r>
            <a:r>
              <a:rPr lang="zh-CN" altLang="en-US" dirty="0"/>
              <a:t>下降沿触发</a:t>
            </a:r>
            <a:r>
              <a:rPr lang="en-US" altLang="zh-CN" dirty="0"/>
              <a:t>)</a:t>
            </a:r>
            <a:endParaRPr lang="en-US" altLang="zh-CN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5B496-E800-9646-B4E5-876FA3B5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09DC4-0556-4E45-BA7E-9C32E2C14113}"/>
              </a:ext>
            </a:extLst>
          </p:cNvPr>
          <p:cNvSpPr/>
          <p:nvPr/>
        </p:nvSpPr>
        <p:spPr>
          <a:xfrm>
            <a:off x="304800" y="1385808"/>
            <a:ext cx="863485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概述：所有使用的锁存器只能在输入使能信号为</a:t>
            </a:r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高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时才可以改变状态</a:t>
            </a:r>
            <a:endParaRPr lang="en-CN" altLang="zh-CN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indent="-342900" algn="l">
              <a:buFont typeface="System Font Regular"/>
              <a:buChar char="-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当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Clock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为低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(0)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，主锁存器锁定并保持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从锁存器跟踪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</a:t>
            </a:r>
            <a:r>
              <a:rPr lang="en-US" altLang="zh-CN" sz="2000" baseline="30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，触发器整体表现为锁定</a:t>
            </a:r>
            <a:r>
              <a:rPr lang="en-US" altLang="zh-CN" sz="2000" i="1" dirty="0">
                <a:solidFill>
                  <a:schemeClr val="tx1"/>
                </a:solidFill>
                <a:sym typeface="Symbol" pitchFamily="18" charset="2"/>
              </a:rPr>
              <a:t>Q</a:t>
            </a:r>
            <a:r>
              <a:rPr lang="en-US" altLang="zh-CN" sz="2000" baseline="30000" dirty="0">
                <a:solidFill>
                  <a:schemeClr val="tx1"/>
                </a:solidFill>
                <a:sym typeface="Symbol" pitchFamily="18" charset="2"/>
              </a:rPr>
              <a:t>+</a:t>
            </a:r>
            <a:r>
              <a:rPr lang="en-US" altLang="zh-CN" sz="2000" i="1" dirty="0">
                <a:solidFill>
                  <a:schemeClr val="tx1"/>
                </a:solidFill>
                <a:sym typeface="Symbol" pitchFamily="18" charset="2"/>
              </a:rPr>
              <a:t>=Q</a:t>
            </a:r>
            <a:r>
              <a:rPr lang="en-US" altLang="zh-CN" sz="2000" i="1" baseline="-25000" dirty="0">
                <a:solidFill>
                  <a:schemeClr val="tx1"/>
                </a:solidFill>
                <a:sym typeface="Symbol" pitchFamily="18" charset="2"/>
              </a:rPr>
              <a:t>M, 0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indent="-342900" algn="l">
              <a:buFont typeface="System Font Regular"/>
              <a:buChar char="-"/>
            </a:pP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时钟从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变为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，从锁存器锁定，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首先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保存上一时刻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Q</a:t>
            </a:r>
            <a:r>
              <a:rPr lang="en-US" altLang="zh-CN" sz="2000" b="1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M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的值；主锁存器变为跟踪状态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并且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一直更新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Q</a:t>
            </a:r>
            <a:r>
              <a:rPr lang="en-US" altLang="zh-CN" sz="2000" b="1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M</a:t>
            </a:r>
            <a:r>
              <a:rPr lang="en-US" altLang="zh-CN" sz="2000" b="1" baseline="30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+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的状态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EAF9B0FF-6FA6-1746-8EAE-0E48EBE0E7AA}"/>
              </a:ext>
            </a:extLst>
          </p:cNvPr>
          <p:cNvGrpSpPr>
            <a:grpSpLocks/>
          </p:cNvGrpSpPr>
          <p:nvPr/>
        </p:nvGrpSpPr>
        <p:grpSpPr bwMode="auto">
          <a:xfrm>
            <a:off x="1656837" y="4503176"/>
            <a:ext cx="685800" cy="533400"/>
            <a:chOff x="480" y="3504"/>
            <a:chExt cx="624" cy="336"/>
          </a:xfrm>
        </p:grpSpPr>
        <p:sp>
          <p:nvSpPr>
            <p:cNvPr id="12" name="Line 5">
              <a:extLst>
                <a:ext uri="{FF2B5EF4-FFF2-40B4-BE49-F238E27FC236}">
                  <a16:creationId xmlns:a16="http://schemas.microsoft.com/office/drawing/2014/main" id="{23EAF249-248D-2448-9EDC-B13B543E6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840"/>
              <a:ext cx="240" cy="0"/>
            </a:xfrm>
            <a:prstGeom prst="line">
              <a:avLst/>
            </a:prstGeom>
            <a:noFill/>
            <a:ln w="28575">
              <a:solidFill>
                <a:srgbClr val="0432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2C3C2348-8626-CC4F-87CC-77C44D8DC8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3504"/>
              <a:ext cx="144" cy="336"/>
            </a:xfrm>
            <a:prstGeom prst="line">
              <a:avLst/>
            </a:prstGeom>
            <a:noFill/>
            <a:ln w="28575">
              <a:solidFill>
                <a:srgbClr val="0432FF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012528F0-5451-E24F-90F4-3497ABDE9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504"/>
              <a:ext cx="240" cy="0"/>
            </a:xfrm>
            <a:prstGeom prst="line">
              <a:avLst/>
            </a:prstGeom>
            <a:noFill/>
            <a:ln w="28575">
              <a:solidFill>
                <a:srgbClr val="0432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80081D24-C9E9-1A48-8371-DBEC847025B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038600" y="5852472"/>
            <a:ext cx="552773" cy="533400"/>
            <a:chOff x="480" y="3504"/>
            <a:chExt cx="624" cy="336"/>
          </a:xfrm>
        </p:grpSpPr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92F101C7-1433-824A-A2D9-BF76A666F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840"/>
              <a:ext cx="240" cy="0"/>
            </a:xfrm>
            <a:prstGeom prst="line">
              <a:avLst/>
            </a:prstGeom>
            <a:noFill/>
            <a:ln w="28575">
              <a:solidFill>
                <a:srgbClr val="0432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1350DE01-86A1-7C42-8CDB-8E7B16DDD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3504"/>
              <a:ext cx="144" cy="336"/>
            </a:xfrm>
            <a:prstGeom prst="line">
              <a:avLst/>
            </a:prstGeom>
            <a:noFill/>
            <a:ln w="28575">
              <a:solidFill>
                <a:srgbClr val="0432FF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D96CFA81-7841-F949-802E-A56F792CC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504"/>
              <a:ext cx="240" cy="0"/>
            </a:xfrm>
            <a:prstGeom prst="line">
              <a:avLst/>
            </a:prstGeom>
            <a:noFill/>
            <a:ln w="28575">
              <a:solidFill>
                <a:srgbClr val="0432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Text Box 15">
            <a:extLst>
              <a:ext uri="{FF2B5EF4-FFF2-40B4-BE49-F238E27FC236}">
                <a16:creationId xmlns:a16="http://schemas.microsoft.com/office/drawing/2014/main" id="{4A537192-5079-3B40-9254-12313FC83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222" y="5740962"/>
            <a:ext cx="8382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sym typeface="Symbol" pitchFamily="18" charset="2"/>
              </a:rPr>
              <a:t>0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0DE3364E-B2EA-5649-B27F-670D1A0D1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881" y="4126357"/>
            <a:ext cx="8382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sym typeface="Symbol" pitchFamily="18" charset="2"/>
              </a:rPr>
              <a:t>1</a:t>
            </a: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461ED543-B561-1544-A611-46ABEB064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366" y="3013156"/>
            <a:ext cx="504883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432FF"/>
                </a:solidFill>
                <a:ea typeface="SimHei" panose="02010609060101010101" pitchFamily="49" charset="-122"/>
                <a:sym typeface="Symbol" pitchFamily="18" charset="2"/>
              </a:rPr>
              <a:t>主锁存器跟踪</a:t>
            </a:r>
            <a:r>
              <a:rPr lang="zh-CN" altLang="en-US" sz="2000" b="1" dirty="0">
                <a:solidFill>
                  <a:srgbClr val="0432FF"/>
                </a:solidFill>
                <a:latin typeface="+mj-lt"/>
                <a:ea typeface="SimHei" panose="02010609060101010101" pitchFamily="49" charset="-122"/>
                <a:sym typeface="Symbol" pitchFamily="18" charset="2"/>
              </a:rPr>
              <a:t>：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Q</a:t>
            </a:r>
            <a:r>
              <a:rPr lang="en-US" altLang="zh-CN" sz="2000" b="1" baseline="30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+</a:t>
            </a:r>
            <a:r>
              <a:rPr lang="en-US" altLang="zh-CN" sz="2000" b="1" i="1" baseline="-25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M</a:t>
            </a:r>
            <a:r>
              <a:rPr lang="en-US" altLang="zh-CN" sz="2000" b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S</a:t>
            </a:r>
            <a:r>
              <a:rPr lang="en-US" altLang="zh-CN" sz="2000" b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+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R’Q</a:t>
            </a:r>
            <a:r>
              <a:rPr lang="en-US" altLang="zh-CN" sz="2000" b="1" i="1" baseline="-25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M</a:t>
            </a: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6BAD1A76-90A0-284F-B000-51E3FF4B7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3768" y="3008631"/>
            <a:ext cx="3188232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b="1" dirty="0">
                <a:solidFill>
                  <a:srgbClr val="0432FF"/>
                </a:solidFill>
                <a:ea typeface="SimHei" panose="02010609060101010101" pitchFamily="49" charset="-122"/>
                <a:sym typeface="Symbol" pitchFamily="18" charset="2"/>
              </a:rPr>
              <a:t>从锁存器锁定</a:t>
            </a:r>
            <a:r>
              <a:rPr lang="zh-CN" altLang="en-US" sz="2000" b="1" dirty="0">
                <a:solidFill>
                  <a:srgbClr val="0432FF"/>
                </a:solidFill>
                <a:latin typeface="+mj-lt"/>
                <a:ea typeface="SimHei" panose="02010609060101010101" pitchFamily="49" charset="-122"/>
                <a:sym typeface="Symbol" pitchFamily="18" charset="2"/>
              </a:rPr>
              <a:t>：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Q</a:t>
            </a:r>
            <a:r>
              <a:rPr lang="en-US" altLang="zh-CN" sz="2000" b="1" baseline="30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+</a:t>
            </a:r>
            <a:r>
              <a:rPr lang="en-US" altLang="zh-CN" sz="2000" b="1" i="1" baseline="-25000" dirty="0">
                <a:solidFill>
                  <a:srgbClr val="0432FF"/>
                </a:solidFill>
                <a:latin typeface="+mj-lt"/>
                <a:sym typeface="Symbol" pitchFamily="18" charset="2"/>
              </a:rPr>
              <a:t>s</a:t>
            </a:r>
            <a:r>
              <a:rPr lang="en-US" altLang="zh-CN" sz="2000" b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rgbClr val="0432FF"/>
                </a:solidFill>
                <a:latin typeface="+mj-lt"/>
                <a:sym typeface="Symbol" pitchFamily="18" charset="2"/>
              </a:rPr>
              <a:t>Q</a:t>
            </a:r>
            <a:endParaRPr lang="en-US" altLang="zh-CN" sz="2000" b="1" i="1" baseline="-25000" dirty="0">
              <a:solidFill>
                <a:srgbClr val="0432FF"/>
              </a:solidFill>
              <a:latin typeface="+mj-lt"/>
              <a:sym typeface="Symbol" pitchFamily="18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A24605-6945-9D4A-9F42-A5D852EA048D}"/>
              </a:ext>
            </a:extLst>
          </p:cNvPr>
          <p:cNvSpPr/>
          <p:nvPr/>
        </p:nvSpPr>
        <p:spPr>
          <a:xfrm>
            <a:off x="5139304" y="5638800"/>
            <a:ext cx="3242696" cy="110799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zh-CN" altLang="en-US" sz="2200" kern="0" dirty="0">
                <a:solidFill>
                  <a:srgbClr val="C00000"/>
                </a:solidFill>
                <a:latin typeface="+mn-lt"/>
                <a:ea typeface="黑体"/>
              </a:rPr>
              <a:t>时序约束：</a:t>
            </a:r>
            <a:r>
              <a:rPr lang="en-US" altLang="zh-CN" sz="2200" kern="0" dirty="0">
                <a:solidFill>
                  <a:srgbClr val="C00000"/>
                </a:solidFill>
                <a:latin typeface="+mn-lt"/>
                <a:ea typeface="黑体"/>
              </a:rPr>
              <a:t>S/R/Clock</a:t>
            </a:r>
            <a:r>
              <a:rPr lang="zh-CN" altLang="en-US" sz="2200" kern="0" dirty="0">
                <a:solidFill>
                  <a:srgbClr val="C00000"/>
                </a:solidFill>
                <a:latin typeface="+mn-lt"/>
                <a:ea typeface="黑体"/>
              </a:rPr>
              <a:t>到</a:t>
            </a:r>
            <a:r>
              <a:rPr lang="en-US" altLang="zh-CN" sz="2200" kern="0" dirty="0">
                <a:solidFill>
                  <a:srgbClr val="C00000"/>
                </a:solidFill>
                <a:latin typeface="+mn-lt"/>
                <a:ea typeface="黑体"/>
              </a:rPr>
              <a:t>QM/QM’ </a:t>
            </a:r>
            <a:r>
              <a:rPr lang="zh-CN" altLang="en-US" sz="2200" kern="0" dirty="0">
                <a:solidFill>
                  <a:srgbClr val="C00000"/>
                </a:solidFill>
                <a:latin typeface="+mn-lt"/>
                <a:ea typeface="黑体"/>
              </a:rPr>
              <a:t>的时间比</a:t>
            </a:r>
            <a:r>
              <a:rPr lang="en-US" altLang="zh-CN" sz="2200" kern="0" dirty="0">
                <a:solidFill>
                  <a:srgbClr val="C00000"/>
                </a:solidFill>
                <a:latin typeface="+mn-lt"/>
                <a:ea typeface="黑体"/>
              </a:rPr>
              <a:t>Clock</a:t>
            </a:r>
            <a:r>
              <a:rPr lang="zh-CN" altLang="en-US" sz="2200" kern="0" dirty="0">
                <a:solidFill>
                  <a:srgbClr val="C00000"/>
                </a:solidFill>
                <a:latin typeface="+mn-lt"/>
                <a:ea typeface="黑体"/>
              </a:rPr>
              <a:t>到</a:t>
            </a:r>
            <a:r>
              <a:rPr lang="en-US" altLang="zh-CN" sz="2200" kern="0" dirty="0">
                <a:solidFill>
                  <a:srgbClr val="C00000"/>
                </a:solidFill>
                <a:latin typeface="+mn-lt"/>
                <a:ea typeface="黑体"/>
              </a:rPr>
              <a:t>Q</a:t>
            </a:r>
            <a:r>
              <a:rPr lang="en-US" altLang="zh-CN" sz="2200" kern="0" baseline="-25000" dirty="0">
                <a:solidFill>
                  <a:srgbClr val="C00000"/>
                </a:solidFill>
                <a:latin typeface="+mn-lt"/>
                <a:ea typeface="黑体"/>
              </a:rPr>
              <a:t>S</a:t>
            </a:r>
            <a:r>
              <a:rPr lang="en-US" altLang="zh-CN" sz="2200" kern="0" dirty="0">
                <a:solidFill>
                  <a:srgbClr val="C00000"/>
                </a:solidFill>
                <a:latin typeface="+mn-lt"/>
                <a:ea typeface="黑体"/>
              </a:rPr>
              <a:t> </a:t>
            </a:r>
            <a:r>
              <a:rPr lang="zh-CN" altLang="en-US" sz="2200" kern="0" dirty="0">
                <a:solidFill>
                  <a:srgbClr val="C00000"/>
                </a:solidFill>
                <a:latin typeface="+mn-lt"/>
                <a:ea typeface="黑体"/>
              </a:rPr>
              <a:t>锁定的延时</a:t>
            </a:r>
            <a:endParaRPr lang="en-CN" sz="2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F5E9E474-78A4-4B35-954B-AE1720502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256" y="4816687"/>
            <a:ext cx="188595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</a:t>
            </a:r>
            <a:r>
              <a:rPr lang="zh-CN" altLang="en-US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→</a:t>
            </a:r>
            <a:r>
              <a:rPr lang="en-US" altLang="zh-CN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</a:t>
            </a:r>
            <a:endParaRPr lang="en-US" altLang="zh-CN" sz="4000" dirty="0">
              <a:solidFill>
                <a:srgbClr val="0432FF"/>
              </a:solidFill>
              <a:latin typeface="+mj-lt"/>
            </a:endParaRPr>
          </a:p>
        </p:txBody>
      </p:sp>
      <p:sp>
        <p:nvSpPr>
          <p:cNvPr id="28" name="Text Box 15">
            <a:extLst>
              <a:ext uri="{FF2B5EF4-FFF2-40B4-BE49-F238E27FC236}">
                <a16:creationId xmlns:a16="http://schemas.microsoft.com/office/drawing/2014/main" id="{71D5DD74-9873-4F0A-A65B-8A46170B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4848" y="4816687"/>
            <a:ext cx="17526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r>
              <a:rPr lang="zh-CN" altLang="en-US" sz="4000" dirty="0">
                <a:solidFill>
                  <a:srgbClr val="0432FF"/>
                </a:solidFill>
                <a:sym typeface="Wingdings" panose="05000000000000000000" pitchFamily="2" charset="2"/>
              </a:rPr>
              <a:t>→</a:t>
            </a:r>
            <a:r>
              <a:rPr lang="en-US" altLang="zh-CN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endParaRPr lang="en-US" altLang="zh-CN" sz="4000" dirty="0">
              <a:solidFill>
                <a:srgbClr val="0432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570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3" grpId="1"/>
      <p:bldP spid="24" grpId="0"/>
      <p:bldP spid="24" grpId="1"/>
      <p:bldP spid="4" grpId="0" animBg="1"/>
      <p:bldP spid="4" grpId="1" animBg="1"/>
      <p:bldP spid="27" grpId="0"/>
      <p:bldP spid="27" grpId="1"/>
      <p:bldP spid="28" grpId="0"/>
      <p:bldP spid="28" grpId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31868E3B-9124-9340-97A3-B194757466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017970"/>
              </p:ext>
            </p:extLst>
          </p:nvPr>
        </p:nvGraphicFramePr>
        <p:xfrm>
          <a:off x="457200" y="3519597"/>
          <a:ext cx="7696200" cy="3139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Visio" r:id="rId4" imgW="3902885" imgH="1469887" progId="Visio.Drawing.11">
                  <p:embed/>
                </p:oleObj>
              </mc:Choice>
              <mc:Fallback>
                <p:oleObj name="Visio" r:id="rId4" imgW="3902885" imgH="1469887" progId="Visio.Drawing.11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F24C0AF2-B658-BF4E-B221-B13FCA735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19597"/>
                        <a:ext cx="7696200" cy="3139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366803" y="136525"/>
            <a:ext cx="8410394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主从</a:t>
            </a:r>
            <a:r>
              <a:rPr lang="en-US" altLang="zh-CN" dirty="0"/>
              <a:t>SR</a:t>
            </a:r>
            <a:r>
              <a:rPr lang="zh-CN" altLang="en-US" dirty="0"/>
              <a:t>触发器的工作流程</a:t>
            </a:r>
            <a:r>
              <a:rPr lang="en-US" altLang="zh-CN" dirty="0"/>
              <a:t>(</a:t>
            </a:r>
            <a:r>
              <a:rPr lang="zh-CN" altLang="en-US" dirty="0"/>
              <a:t>下降沿触发</a:t>
            </a:r>
            <a:r>
              <a:rPr lang="en-US" altLang="zh-C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B3844-3502-B947-8B0E-B8862C0B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09DC4-0556-4E45-BA7E-9C32E2C14113}"/>
              </a:ext>
            </a:extLst>
          </p:cNvPr>
          <p:cNvSpPr/>
          <p:nvPr/>
        </p:nvSpPr>
        <p:spPr>
          <a:xfrm>
            <a:off x="304800" y="1385808"/>
            <a:ext cx="87913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概述：所有使用的锁存器只能在输入使能信号为</a:t>
            </a:r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高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时才可以改变状态</a:t>
            </a:r>
            <a:endParaRPr lang="en-CN" altLang="zh-CN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indent="-342900" algn="l">
              <a:buFont typeface="System Font Regular"/>
              <a:buChar char="-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当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Clock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为低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(0)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，主锁存器锁定并保持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从锁存器跟踪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</a:t>
            </a:r>
            <a:r>
              <a:rPr lang="en-US" altLang="zh-CN" sz="2000" baseline="30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，触发器整体表现为锁定</a:t>
            </a:r>
            <a:r>
              <a:rPr lang="en-US" altLang="zh-CN" sz="2000" i="1" dirty="0">
                <a:solidFill>
                  <a:schemeClr val="tx1"/>
                </a:solidFill>
                <a:sym typeface="Symbol" pitchFamily="18" charset="2"/>
              </a:rPr>
              <a:t>Q</a:t>
            </a:r>
            <a:r>
              <a:rPr lang="en-US" altLang="zh-CN" sz="2000" baseline="30000" dirty="0">
                <a:solidFill>
                  <a:schemeClr val="tx1"/>
                </a:solidFill>
                <a:sym typeface="Symbol" pitchFamily="18" charset="2"/>
              </a:rPr>
              <a:t>+</a:t>
            </a:r>
            <a:r>
              <a:rPr lang="en-US" altLang="zh-CN" sz="2000" i="1" dirty="0">
                <a:solidFill>
                  <a:schemeClr val="tx1"/>
                </a:solidFill>
                <a:sym typeface="Symbol" pitchFamily="18" charset="2"/>
              </a:rPr>
              <a:t>=Q</a:t>
            </a:r>
            <a:r>
              <a:rPr lang="en-US" altLang="zh-CN" sz="2000" i="1" baseline="-25000" dirty="0">
                <a:solidFill>
                  <a:schemeClr val="tx1"/>
                </a:solidFill>
                <a:sym typeface="Symbol" pitchFamily="18" charset="2"/>
              </a:rPr>
              <a:t>M, 0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indent="-342900" algn="l">
              <a:buFont typeface="System Font Regular"/>
              <a:buChar char="-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时钟从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变为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，从锁存器锁定，首先保存上一时刻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M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的值；主锁存器变为跟踪状态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并且一直更新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Q</a:t>
            </a:r>
            <a:r>
              <a:rPr lang="en-US" altLang="zh-CN" sz="2000" baseline="-25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M</a:t>
            </a:r>
            <a:r>
              <a:rPr lang="en-US" altLang="zh-CN" sz="2000" baseline="30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+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的状态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pPr marL="342900" indent="-342900" algn="l">
              <a:buFont typeface="System Font Regular"/>
              <a:buChar char="-"/>
            </a:pP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Clock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从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到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，主锁存器变回锁定状态，从锁存器变回跟踪状态，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 Q</a:t>
            </a:r>
            <a:r>
              <a:rPr lang="en-US" altLang="zh-CN" sz="2000" b="1" baseline="-25000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S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输出是主锁存器锁定前的最后一个采样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SR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值。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7" name="Group 22">
            <a:extLst>
              <a:ext uri="{FF2B5EF4-FFF2-40B4-BE49-F238E27FC236}">
                <a16:creationId xmlns:a16="http://schemas.microsoft.com/office/drawing/2014/main" id="{A33080AB-20B5-7141-AA13-9D8119530E81}"/>
              </a:ext>
            </a:extLst>
          </p:cNvPr>
          <p:cNvGrpSpPr>
            <a:grpSpLocks/>
          </p:cNvGrpSpPr>
          <p:nvPr/>
        </p:nvGrpSpPr>
        <p:grpSpPr bwMode="auto">
          <a:xfrm>
            <a:off x="4499337" y="6233287"/>
            <a:ext cx="606063" cy="457200"/>
            <a:chOff x="480" y="3504"/>
            <a:chExt cx="624" cy="336"/>
          </a:xfrm>
        </p:grpSpPr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1A69FC75-29D6-6E4E-A61E-410C229F4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840"/>
              <a:ext cx="24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23F02B39-733A-4B42-B882-D95BE629C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3504"/>
              <a:ext cx="144" cy="336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4F3E643A-E9A5-6B45-8FA3-85785BD96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504"/>
              <a:ext cx="24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26">
            <a:extLst>
              <a:ext uri="{FF2B5EF4-FFF2-40B4-BE49-F238E27FC236}">
                <a16:creationId xmlns:a16="http://schemas.microsoft.com/office/drawing/2014/main" id="{6EFB39BD-6DA5-2046-8BF6-892AE1B2F3D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667000" y="5045043"/>
            <a:ext cx="802468" cy="446309"/>
            <a:chOff x="480" y="3504"/>
            <a:chExt cx="624" cy="336"/>
          </a:xfrm>
        </p:grpSpPr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74BA1C5A-8815-F44F-81F2-927699076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840"/>
              <a:ext cx="24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FD444940-3665-5A45-90AE-F6A7A7B987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3504"/>
              <a:ext cx="144" cy="336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9">
              <a:extLst>
                <a:ext uri="{FF2B5EF4-FFF2-40B4-BE49-F238E27FC236}">
                  <a16:creationId xmlns:a16="http://schemas.microsoft.com/office/drawing/2014/main" id="{2DA7E582-E981-B54D-A2E4-390E2BF77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504"/>
              <a:ext cx="24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15">
            <a:extLst>
              <a:ext uri="{FF2B5EF4-FFF2-40B4-BE49-F238E27FC236}">
                <a16:creationId xmlns:a16="http://schemas.microsoft.com/office/drawing/2014/main" id="{9523EB0F-ABC2-4A42-97CE-10B7E1901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141" y="5050217"/>
            <a:ext cx="188595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r>
              <a:rPr lang="zh-CN" altLang="en-US" sz="4000" dirty="0">
                <a:solidFill>
                  <a:srgbClr val="0432FF"/>
                </a:solidFill>
                <a:sym typeface="Wingdings" panose="05000000000000000000" pitchFamily="2" charset="2"/>
              </a:rPr>
              <a:t>→</a:t>
            </a:r>
            <a:r>
              <a:rPr lang="en-US" altLang="zh-CN" sz="4000" dirty="0">
                <a:solidFill>
                  <a:srgbClr val="0432FF"/>
                </a:solidFill>
                <a:sym typeface="Wingdings" panose="05000000000000000000" pitchFamily="2" charset="2"/>
              </a:rPr>
              <a:t></a:t>
            </a:r>
            <a:endParaRPr lang="en-US" altLang="zh-CN" sz="4000" dirty="0">
              <a:solidFill>
                <a:srgbClr val="0432FF"/>
              </a:solidFill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03A6424-F635-488F-9612-7ADC2E92A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316" y="5050217"/>
            <a:ext cx="17526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r>
              <a:rPr lang="zh-CN" altLang="en-US" sz="4000" dirty="0">
                <a:solidFill>
                  <a:srgbClr val="0432FF"/>
                </a:solidFill>
                <a:sym typeface="Wingdings" panose="05000000000000000000" pitchFamily="2" charset="2"/>
              </a:rPr>
              <a:t>→</a:t>
            </a:r>
            <a:r>
              <a:rPr lang="en-US" altLang="zh-CN" sz="4000" dirty="0">
                <a:solidFill>
                  <a:srgbClr val="0432FF"/>
                </a:solidFill>
                <a:latin typeface="+mj-lt"/>
                <a:sym typeface="Wingdings" panose="05000000000000000000" pitchFamily="2" charset="2"/>
              </a:rPr>
              <a:t></a:t>
            </a:r>
            <a:endParaRPr lang="en-US" altLang="zh-CN" sz="4000" dirty="0">
              <a:solidFill>
                <a:srgbClr val="0432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324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graphicFrame>
        <p:nvGraphicFramePr>
          <p:cNvPr id="37891" name="Object 7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6962562"/>
              </p:ext>
            </p:extLst>
          </p:nvPr>
        </p:nvGraphicFramePr>
        <p:xfrm>
          <a:off x="4822956" y="4354312"/>
          <a:ext cx="288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37891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956" y="4354312"/>
                        <a:ext cx="288000" cy="43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372A6-1861-DC45-BA37-F3263A2E0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7894" name="AutoShape 5"/>
          <p:cNvSpPr>
            <a:spLocks noChangeAspect="1" noChangeArrowheads="1" noTextEdit="1"/>
          </p:cNvSpPr>
          <p:nvPr/>
        </p:nvSpPr>
        <p:spPr bwMode="auto">
          <a:xfrm>
            <a:off x="76200" y="1904638"/>
            <a:ext cx="5324475" cy="380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5" name="Line 6"/>
          <p:cNvSpPr>
            <a:spLocks noChangeShapeType="1"/>
          </p:cNvSpPr>
          <p:nvPr/>
        </p:nvSpPr>
        <p:spPr bwMode="auto">
          <a:xfrm>
            <a:off x="4075113" y="3425825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4075113" y="4603750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7" name="Freeform 8"/>
          <p:cNvSpPr>
            <a:spLocks/>
          </p:cNvSpPr>
          <p:nvPr/>
        </p:nvSpPr>
        <p:spPr bwMode="auto">
          <a:xfrm>
            <a:off x="3076575" y="3556000"/>
            <a:ext cx="1211263" cy="1047750"/>
          </a:xfrm>
          <a:custGeom>
            <a:avLst/>
            <a:gdLst>
              <a:gd name="T0" fmla="*/ 2147483647 w 827"/>
              <a:gd name="T1" fmla="*/ 0 h 660"/>
              <a:gd name="T2" fmla="*/ 0 w 827"/>
              <a:gd name="T3" fmla="*/ 0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2147483647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0"/>
                </a:moveTo>
                <a:lnTo>
                  <a:pt x="0" y="0"/>
                </a:lnTo>
                <a:lnTo>
                  <a:pt x="0" y="220"/>
                </a:lnTo>
                <a:lnTo>
                  <a:pt x="827" y="440"/>
                </a:lnTo>
                <a:lnTo>
                  <a:pt x="827" y="66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8" name="Freeform 9"/>
          <p:cNvSpPr>
            <a:spLocks/>
          </p:cNvSpPr>
          <p:nvPr/>
        </p:nvSpPr>
        <p:spPr bwMode="auto">
          <a:xfrm>
            <a:off x="4237038" y="4548187"/>
            <a:ext cx="103187" cy="112713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0"/>
                  <a:pt x="104" y="52"/>
                </a:cubicBezTo>
                <a:cubicBezTo>
                  <a:pt x="104" y="23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9" name="Freeform 10"/>
          <p:cNvSpPr>
            <a:spLocks/>
          </p:cNvSpPr>
          <p:nvPr/>
        </p:nvSpPr>
        <p:spPr bwMode="auto">
          <a:xfrm>
            <a:off x="3076575" y="3425825"/>
            <a:ext cx="1211263" cy="1047750"/>
          </a:xfrm>
          <a:custGeom>
            <a:avLst/>
            <a:gdLst>
              <a:gd name="T0" fmla="*/ 2147483647 w 827"/>
              <a:gd name="T1" fmla="*/ 2147483647 h 660"/>
              <a:gd name="T2" fmla="*/ 0 w 827"/>
              <a:gd name="T3" fmla="*/ 2147483647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0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660"/>
                </a:moveTo>
                <a:lnTo>
                  <a:pt x="0" y="660"/>
                </a:lnTo>
                <a:lnTo>
                  <a:pt x="0" y="440"/>
                </a:lnTo>
                <a:lnTo>
                  <a:pt x="827" y="220"/>
                </a:lnTo>
                <a:lnTo>
                  <a:pt x="827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0" name="Freeform 11"/>
          <p:cNvSpPr>
            <a:spLocks/>
          </p:cNvSpPr>
          <p:nvPr/>
        </p:nvSpPr>
        <p:spPr bwMode="auto">
          <a:xfrm>
            <a:off x="4237038" y="3368675"/>
            <a:ext cx="103187" cy="112712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3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1" name="Rectangle 12"/>
          <p:cNvSpPr>
            <a:spLocks noChangeArrowheads="1"/>
          </p:cNvSpPr>
          <p:nvPr/>
        </p:nvSpPr>
        <p:spPr bwMode="auto">
          <a:xfrm>
            <a:off x="4856163" y="3267075"/>
            <a:ext cx="1857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7902" name="Freeform 13"/>
          <p:cNvSpPr>
            <a:spLocks noEditPoints="1"/>
          </p:cNvSpPr>
          <p:nvPr/>
        </p:nvSpPr>
        <p:spPr bwMode="auto">
          <a:xfrm>
            <a:off x="3060700" y="3294062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2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3" name="Freeform 14"/>
          <p:cNvSpPr>
            <a:spLocks/>
          </p:cNvSpPr>
          <p:nvPr/>
        </p:nvSpPr>
        <p:spPr bwMode="auto">
          <a:xfrm>
            <a:off x="3235325" y="315912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4" name="Freeform 15"/>
          <p:cNvSpPr>
            <a:spLocks/>
          </p:cNvSpPr>
          <p:nvPr/>
        </p:nvSpPr>
        <p:spPr bwMode="auto">
          <a:xfrm>
            <a:off x="3235325" y="315912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5" name="Freeform 16"/>
          <p:cNvSpPr>
            <a:spLocks/>
          </p:cNvSpPr>
          <p:nvPr/>
        </p:nvSpPr>
        <p:spPr bwMode="auto">
          <a:xfrm>
            <a:off x="3883025" y="3387725"/>
            <a:ext cx="74613" cy="82550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6" name="Freeform 17"/>
          <p:cNvSpPr>
            <a:spLocks/>
          </p:cNvSpPr>
          <p:nvPr/>
        </p:nvSpPr>
        <p:spPr bwMode="auto">
          <a:xfrm>
            <a:off x="3883025" y="3387725"/>
            <a:ext cx="74613" cy="82550"/>
          </a:xfrm>
          <a:custGeom>
            <a:avLst/>
            <a:gdLst>
              <a:gd name="T0" fmla="*/ 2147483647 w 51"/>
              <a:gd name="T1" fmla="*/ 2147483647 h 52"/>
              <a:gd name="T2" fmla="*/ 2147483647 w 51"/>
              <a:gd name="T3" fmla="*/ 0 h 52"/>
              <a:gd name="T4" fmla="*/ 0 w 51"/>
              <a:gd name="T5" fmla="*/ 2147483647 h 52"/>
              <a:gd name="T6" fmla="*/ 2147483647 w 51"/>
              <a:gd name="T7" fmla="*/ 2147483647 h 52"/>
              <a:gd name="T8" fmla="*/ 2147483647 w 51"/>
              <a:gd name="T9" fmla="*/ 2147483647 h 52"/>
              <a:gd name="T10" fmla="*/ 2147483647 w 51"/>
              <a:gd name="T11" fmla="*/ 2147483647 h 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2"/>
              <a:gd name="T20" fmla="*/ 51 w 51"/>
              <a:gd name="T21" fmla="*/ 52 h 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2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40"/>
                  <a:pt x="12" y="52"/>
                  <a:pt x="25" y="52"/>
                </a:cubicBezTo>
                <a:cubicBezTo>
                  <a:pt x="40" y="52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7" name="Freeform 18"/>
          <p:cNvSpPr>
            <a:spLocks/>
          </p:cNvSpPr>
          <p:nvPr/>
        </p:nvSpPr>
        <p:spPr bwMode="auto">
          <a:xfrm>
            <a:off x="3235325" y="315912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8" name="Freeform 19"/>
          <p:cNvSpPr>
            <a:spLocks/>
          </p:cNvSpPr>
          <p:nvPr/>
        </p:nvSpPr>
        <p:spPr bwMode="auto">
          <a:xfrm>
            <a:off x="3235325" y="315912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9" name="Freeform 20"/>
          <p:cNvSpPr>
            <a:spLocks noEditPoints="1"/>
          </p:cNvSpPr>
          <p:nvPr/>
        </p:nvSpPr>
        <p:spPr bwMode="auto">
          <a:xfrm>
            <a:off x="3092450" y="4468812"/>
            <a:ext cx="996950" cy="269875"/>
          </a:xfrm>
          <a:custGeom>
            <a:avLst/>
            <a:gdLst>
              <a:gd name="T0" fmla="*/ 0 w 681"/>
              <a:gd name="T1" fmla="*/ 0 h 170"/>
              <a:gd name="T2" fmla="*/ 2147483647 w 681"/>
              <a:gd name="T3" fmla="*/ 0 h 170"/>
              <a:gd name="T4" fmla="*/ 0 w 681"/>
              <a:gd name="T5" fmla="*/ 2147483647 h 170"/>
              <a:gd name="T6" fmla="*/ 2147483647 w 681"/>
              <a:gd name="T7" fmla="*/ 2147483647 h 170"/>
              <a:gd name="T8" fmla="*/ 2147483647 w 681"/>
              <a:gd name="T9" fmla="*/ 2147483647 h 170"/>
              <a:gd name="T10" fmla="*/ 2147483647 w 681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1"/>
              <a:gd name="T19" fmla="*/ 0 h 170"/>
              <a:gd name="T20" fmla="*/ 681 w 681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1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1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0" name="Freeform 21"/>
          <p:cNvSpPr>
            <a:spLocks/>
          </p:cNvSpPr>
          <p:nvPr/>
        </p:nvSpPr>
        <p:spPr bwMode="auto">
          <a:xfrm>
            <a:off x="3267075" y="433387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1" name="Freeform 22"/>
          <p:cNvSpPr>
            <a:spLocks/>
          </p:cNvSpPr>
          <p:nvPr/>
        </p:nvSpPr>
        <p:spPr bwMode="auto">
          <a:xfrm>
            <a:off x="3267075" y="433387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2" name="Freeform 23"/>
          <p:cNvSpPr>
            <a:spLocks/>
          </p:cNvSpPr>
          <p:nvPr/>
        </p:nvSpPr>
        <p:spPr bwMode="auto">
          <a:xfrm>
            <a:off x="3914775" y="4562475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59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3" name="Freeform 24"/>
          <p:cNvSpPr>
            <a:spLocks/>
          </p:cNvSpPr>
          <p:nvPr/>
        </p:nvSpPr>
        <p:spPr bwMode="auto">
          <a:xfrm>
            <a:off x="3914775" y="4562475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4" name="Freeform 25"/>
          <p:cNvSpPr>
            <a:spLocks/>
          </p:cNvSpPr>
          <p:nvPr/>
        </p:nvSpPr>
        <p:spPr bwMode="auto">
          <a:xfrm>
            <a:off x="3267075" y="433387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5" name="Freeform 26"/>
          <p:cNvSpPr>
            <a:spLocks/>
          </p:cNvSpPr>
          <p:nvPr/>
        </p:nvSpPr>
        <p:spPr bwMode="auto">
          <a:xfrm>
            <a:off x="3267075" y="433387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6" name="Freeform 27"/>
          <p:cNvSpPr>
            <a:spLocks/>
          </p:cNvSpPr>
          <p:nvPr/>
        </p:nvSpPr>
        <p:spPr bwMode="auto">
          <a:xfrm>
            <a:off x="2867025" y="3294062"/>
            <a:ext cx="193675" cy="4763"/>
          </a:xfrm>
          <a:custGeom>
            <a:avLst/>
            <a:gdLst>
              <a:gd name="T0" fmla="*/ 2147483647 w 133"/>
              <a:gd name="T1" fmla="*/ 0 h 3"/>
              <a:gd name="T2" fmla="*/ 2147483647 w 133"/>
              <a:gd name="T3" fmla="*/ 0 h 3"/>
              <a:gd name="T4" fmla="*/ 2147483647 w 133"/>
              <a:gd name="T5" fmla="*/ 2147483647 h 3"/>
              <a:gd name="T6" fmla="*/ 0 w 133"/>
              <a:gd name="T7" fmla="*/ 2147483647 h 3"/>
              <a:gd name="T8" fmla="*/ 0 60000 65536"/>
              <a:gd name="T9" fmla="*/ 0 60000 65536"/>
              <a:gd name="T10" fmla="*/ 0 60000 65536"/>
              <a:gd name="T11" fmla="*/ 0 60000 65536"/>
              <a:gd name="T12" fmla="*/ 0 w 133"/>
              <a:gd name="T13" fmla="*/ 0 h 3"/>
              <a:gd name="T14" fmla="*/ 133 w 133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" h="3">
                <a:moveTo>
                  <a:pt x="133" y="0"/>
                </a:moveTo>
                <a:lnTo>
                  <a:pt x="53" y="0"/>
                </a:lnTo>
                <a:lnTo>
                  <a:pt x="53" y="3"/>
                </a:lnTo>
                <a:lnTo>
                  <a:pt x="0" y="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7" name="Freeform 28"/>
          <p:cNvSpPr>
            <a:spLocks/>
          </p:cNvSpPr>
          <p:nvPr/>
        </p:nvSpPr>
        <p:spPr bwMode="auto">
          <a:xfrm>
            <a:off x="2867025" y="4738687"/>
            <a:ext cx="225425" cy="1588"/>
          </a:xfrm>
          <a:custGeom>
            <a:avLst/>
            <a:gdLst>
              <a:gd name="T0" fmla="*/ 2147483647 w 154"/>
              <a:gd name="T1" fmla="*/ 0 h 1588"/>
              <a:gd name="T2" fmla="*/ 2147483647 w 154"/>
              <a:gd name="T3" fmla="*/ 0 h 1588"/>
              <a:gd name="T4" fmla="*/ 2147483647 w 154"/>
              <a:gd name="T5" fmla="*/ 0 h 1588"/>
              <a:gd name="T6" fmla="*/ 0 w 154"/>
              <a:gd name="T7" fmla="*/ 0 h 158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1588"/>
              <a:gd name="T14" fmla="*/ 154 w 154"/>
              <a:gd name="T15" fmla="*/ 1588 h 1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1588">
                <a:moveTo>
                  <a:pt x="154" y="0"/>
                </a:moveTo>
                <a:lnTo>
                  <a:pt x="115" y="0"/>
                </a:ln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8" name="Rectangle 29"/>
          <p:cNvSpPr>
            <a:spLocks noChangeArrowheads="1"/>
          </p:cNvSpPr>
          <p:nvPr/>
        </p:nvSpPr>
        <p:spPr bwMode="auto">
          <a:xfrm>
            <a:off x="762000" y="5491162"/>
            <a:ext cx="2016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7922" name="Freeform 33"/>
          <p:cNvSpPr>
            <a:spLocks noEditPoints="1"/>
          </p:cNvSpPr>
          <p:nvPr/>
        </p:nvSpPr>
        <p:spPr bwMode="auto">
          <a:xfrm>
            <a:off x="1866900" y="3163887"/>
            <a:ext cx="1000125" cy="268288"/>
          </a:xfrm>
          <a:custGeom>
            <a:avLst/>
            <a:gdLst>
              <a:gd name="T0" fmla="*/ 0 w 682"/>
              <a:gd name="T1" fmla="*/ 0 h 169"/>
              <a:gd name="T2" fmla="*/ 2147483647 w 682"/>
              <a:gd name="T3" fmla="*/ 0 h 169"/>
              <a:gd name="T4" fmla="*/ 0 w 682"/>
              <a:gd name="T5" fmla="*/ 2147483647 h 169"/>
              <a:gd name="T6" fmla="*/ 2147483647 w 682"/>
              <a:gd name="T7" fmla="*/ 2147483647 h 169"/>
              <a:gd name="T8" fmla="*/ 2147483647 w 682"/>
              <a:gd name="T9" fmla="*/ 2147483647 h 169"/>
              <a:gd name="T10" fmla="*/ 2147483647 w 682"/>
              <a:gd name="T11" fmla="*/ 2147483647 h 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69"/>
              <a:gd name="T20" fmla="*/ 682 w 682"/>
              <a:gd name="T21" fmla="*/ 169 h 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69">
                <a:moveTo>
                  <a:pt x="0" y="0"/>
                </a:moveTo>
                <a:lnTo>
                  <a:pt x="340" y="0"/>
                </a:lnTo>
                <a:moveTo>
                  <a:pt x="0" y="169"/>
                </a:moveTo>
                <a:lnTo>
                  <a:pt x="340" y="169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3" name="Freeform 34"/>
          <p:cNvSpPr>
            <a:spLocks/>
          </p:cNvSpPr>
          <p:nvPr/>
        </p:nvSpPr>
        <p:spPr bwMode="auto">
          <a:xfrm>
            <a:off x="2041525" y="302895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4" name="Freeform 35"/>
          <p:cNvSpPr>
            <a:spLocks/>
          </p:cNvSpPr>
          <p:nvPr/>
        </p:nvSpPr>
        <p:spPr bwMode="auto">
          <a:xfrm>
            <a:off x="2041525" y="302895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5" name="Freeform 36"/>
          <p:cNvSpPr>
            <a:spLocks/>
          </p:cNvSpPr>
          <p:nvPr/>
        </p:nvSpPr>
        <p:spPr bwMode="auto">
          <a:xfrm>
            <a:off x="2689225" y="325755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6" name="Freeform 37"/>
          <p:cNvSpPr>
            <a:spLocks/>
          </p:cNvSpPr>
          <p:nvPr/>
        </p:nvSpPr>
        <p:spPr bwMode="auto">
          <a:xfrm>
            <a:off x="2689225" y="325755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7" name="Freeform 38"/>
          <p:cNvSpPr>
            <a:spLocks/>
          </p:cNvSpPr>
          <p:nvPr/>
        </p:nvSpPr>
        <p:spPr bwMode="auto">
          <a:xfrm>
            <a:off x="2041525" y="302895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28" name="Freeform 39"/>
          <p:cNvSpPr>
            <a:spLocks/>
          </p:cNvSpPr>
          <p:nvPr/>
        </p:nvSpPr>
        <p:spPr bwMode="auto">
          <a:xfrm>
            <a:off x="2041525" y="302895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9" name="Freeform 40"/>
          <p:cNvSpPr>
            <a:spLocks noEditPoints="1"/>
          </p:cNvSpPr>
          <p:nvPr/>
        </p:nvSpPr>
        <p:spPr bwMode="auto">
          <a:xfrm>
            <a:off x="1866900" y="4602162"/>
            <a:ext cx="1000125" cy="271463"/>
          </a:xfrm>
          <a:custGeom>
            <a:avLst/>
            <a:gdLst>
              <a:gd name="T0" fmla="*/ 0 w 682"/>
              <a:gd name="T1" fmla="*/ 0 h 171"/>
              <a:gd name="T2" fmla="*/ 2147483647 w 682"/>
              <a:gd name="T3" fmla="*/ 0 h 171"/>
              <a:gd name="T4" fmla="*/ 0 w 682"/>
              <a:gd name="T5" fmla="*/ 2147483647 h 171"/>
              <a:gd name="T6" fmla="*/ 2147483647 w 682"/>
              <a:gd name="T7" fmla="*/ 2147483647 h 171"/>
              <a:gd name="T8" fmla="*/ 0 w 682"/>
              <a:gd name="T9" fmla="*/ 2147483647 h 171"/>
              <a:gd name="T10" fmla="*/ 2147483647 w 682"/>
              <a:gd name="T11" fmla="*/ 2147483647 h 171"/>
              <a:gd name="T12" fmla="*/ 2147483647 w 682"/>
              <a:gd name="T13" fmla="*/ 2147483647 h 171"/>
              <a:gd name="T14" fmla="*/ 2147483647 w 682"/>
              <a:gd name="T15" fmla="*/ 2147483647 h 1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82"/>
              <a:gd name="T25" fmla="*/ 0 h 171"/>
              <a:gd name="T26" fmla="*/ 682 w 682"/>
              <a:gd name="T27" fmla="*/ 171 h 1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82" h="171">
                <a:moveTo>
                  <a:pt x="0" y="0"/>
                </a:moveTo>
                <a:lnTo>
                  <a:pt x="340" y="0"/>
                </a:lnTo>
                <a:moveTo>
                  <a:pt x="0" y="86"/>
                </a:moveTo>
                <a:lnTo>
                  <a:pt x="340" y="86"/>
                </a:lnTo>
                <a:moveTo>
                  <a:pt x="0" y="171"/>
                </a:moveTo>
                <a:lnTo>
                  <a:pt x="340" y="171"/>
                </a:lnTo>
                <a:moveTo>
                  <a:pt x="682" y="86"/>
                </a:moveTo>
                <a:lnTo>
                  <a:pt x="340" y="86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0" name="Freeform 41"/>
          <p:cNvSpPr>
            <a:spLocks/>
          </p:cNvSpPr>
          <p:nvPr/>
        </p:nvSpPr>
        <p:spPr bwMode="auto">
          <a:xfrm>
            <a:off x="2041525" y="446881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1" name="Freeform 42"/>
          <p:cNvSpPr>
            <a:spLocks/>
          </p:cNvSpPr>
          <p:nvPr/>
        </p:nvSpPr>
        <p:spPr bwMode="auto">
          <a:xfrm>
            <a:off x="2041525" y="446881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2" name="Freeform 43"/>
          <p:cNvSpPr>
            <a:spLocks/>
          </p:cNvSpPr>
          <p:nvPr/>
        </p:nvSpPr>
        <p:spPr bwMode="auto">
          <a:xfrm>
            <a:off x="2689225" y="4697412"/>
            <a:ext cx="74613" cy="80963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7"/>
                </a:cubicBezTo>
                <a:cubicBezTo>
                  <a:pt x="75" y="37"/>
                  <a:pt x="75" y="37"/>
                  <a:pt x="75" y="37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3" name="Freeform 44"/>
          <p:cNvSpPr>
            <a:spLocks/>
          </p:cNvSpPr>
          <p:nvPr/>
        </p:nvSpPr>
        <p:spPr bwMode="auto">
          <a:xfrm>
            <a:off x="2689225" y="4697412"/>
            <a:ext cx="74613" cy="80963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4" name="Freeform 45"/>
          <p:cNvSpPr>
            <a:spLocks/>
          </p:cNvSpPr>
          <p:nvPr/>
        </p:nvSpPr>
        <p:spPr bwMode="auto">
          <a:xfrm>
            <a:off x="2041525" y="446881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35" name="Freeform 46"/>
          <p:cNvSpPr>
            <a:spLocks/>
          </p:cNvSpPr>
          <p:nvPr/>
        </p:nvSpPr>
        <p:spPr bwMode="auto">
          <a:xfrm>
            <a:off x="2041525" y="446881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6" name="Freeform 47"/>
          <p:cNvSpPr>
            <a:spLocks noEditPoints="1"/>
          </p:cNvSpPr>
          <p:nvPr/>
        </p:nvSpPr>
        <p:spPr bwMode="auto">
          <a:xfrm>
            <a:off x="1866900" y="2255837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7" name="Freeform 48"/>
          <p:cNvSpPr>
            <a:spLocks/>
          </p:cNvSpPr>
          <p:nvPr/>
        </p:nvSpPr>
        <p:spPr bwMode="auto">
          <a:xfrm>
            <a:off x="2041525" y="211931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8" name="Freeform 49"/>
          <p:cNvSpPr>
            <a:spLocks/>
          </p:cNvSpPr>
          <p:nvPr/>
        </p:nvSpPr>
        <p:spPr bwMode="auto">
          <a:xfrm>
            <a:off x="2041525" y="211931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9" name="Freeform 50"/>
          <p:cNvSpPr>
            <a:spLocks/>
          </p:cNvSpPr>
          <p:nvPr/>
        </p:nvSpPr>
        <p:spPr bwMode="auto">
          <a:xfrm>
            <a:off x="2689225" y="234950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0" name="Freeform 51"/>
          <p:cNvSpPr>
            <a:spLocks/>
          </p:cNvSpPr>
          <p:nvPr/>
        </p:nvSpPr>
        <p:spPr bwMode="auto">
          <a:xfrm>
            <a:off x="2689225" y="234950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1"/>
                  <a:pt x="40" y="0"/>
                  <a:pt x="25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39"/>
                  <a:pt x="11" y="51"/>
                  <a:pt x="25" y="51"/>
                </a:cubicBezTo>
                <a:cubicBezTo>
                  <a:pt x="40" y="51"/>
                  <a:pt x="51" y="39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1" name="Freeform 52"/>
          <p:cNvSpPr>
            <a:spLocks/>
          </p:cNvSpPr>
          <p:nvPr/>
        </p:nvSpPr>
        <p:spPr bwMode="auto">
          <a:xfrm>
            <a:off x="2041525" y="211931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2" name="Freeform 53"/>
          <p:cNvSpPr>
            <a:spLocks/>
          </p:cNvSpPr>
          <p:nvPr/>
        </p:nvSpPr>
        <p:spPr bwMode="auto">
          <a:xfrm>
            <a:off x="2041525" y="211931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43" name="Freeform 54"/>
          <p:cNvSpPr>
            <a:spLocks noEditPoints="1"/>
          </p:cNvSpPr>
          <p:nvPr/>
        </p:nvSpPr>
        <p:spPr bwMode="auto">
          <a:xfrm>
            <a:off x="1866900" y="5462587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4" name="Freeform 55"/>
          <p:cNvSpPr>
            <a:spLocks/>
          </p:cNvSpPr>
          <p:nvPr/>
        </p:nvSpPr>
        <p:spPr bwMode="auto">
          <a:xfrm>
            <a:off x="2041525" y="532765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5" name="Freeform 56"/>
          <p:cNvSpPr>
            <a:spLocks/>
          </p:cNvSpPr>
          <p:nvPr/>
        </p:nvSpPr>
        <p:spPr bwMode="auto">
          <a:xfrm>
            <a:off x="2041525" y="532765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6" name="Freeform 57"/>
          <p:cNvSpPr>
            <a:spLocks/>
          </p:cNvSpPr>
          <p:nvPr/>
        </p:nvSpPr>
        <p:spPr bwMode="auto">
          <a:xfrm>
            <a:off x="2689225" y="555625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7" name="Freeform 58"/>
          <p:cNvSpPr>
            <a:spLocks/>
          </p:cNvSpPr>
          <p:nvPr/>
        </p:nvSpPr>
        <p:spPr bwMode="auto">
          <a:xfrm>
            <a:off x="2689225" y="555625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8" name="Freeform 59"/>
          <p:cNvSpPr>
            <a:spLocks/>
          </p:cNvSpPr>
          <p:nvPr/>
        </p:nvSpPr>
        <p:spPr bwMode="auto">
          <a:xfrm>
            <a:off x="2041525" y="532765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49" name="Freeform 60"/>
          <p:cNvSpPr>
            <a:spLocks/>
          </p:cNvSpPr>
          <p:nvPr/>
        </p:nvSpPr>
        <p:spPr bwMode="auto">
          <a:xfrm>
            <a:off x="2041525" y="532765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0" name="Freeform 61"/>
          <p:cNvSpPr>
            <a:spLocks/>
          </p:cNvSpPr>
          <p:nvPr/>
        </p:nvSpPr>
        <p:spPr bwMode="auto">
          <a:xfrm>
            <a:off x="1654175" y="2516187"/>
            <a:ext cx="1212850" cy="782638"/>
          </a:xfrm>
          <a:custGeom>
            <a:avLst/>
            <a:gdLst>
              <a:gd name="T0" fmla="*/ 2147483647 w 827"/>
              <a:gd name="T1" fmla="*/ 0 h 493"/>
              <a:gd name="T2" fmla="*/ 0 w 827"/>
              <a:gd name="T3" fmla="*/ 0 h 493"/>
              <a:gd name="T4" fmla="*/ 0 w 827"/>
              <a:gd name="T5" fmla="*/ 2147483647 h 493"/>
              <a:gd name="T6" fmla="*/ 2147483647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145" y="0"/>
                </a:moveTo>
                <a:lnTo>
                  <a:pt x="0" y="0"/>
                </a:lnTo>
                <a:lnTo>
                  <a:pt x="0" y="106"/>
                </a:lnTo>
                <a:lnTo>
                  <a:pt x="827" y="353"/>
                </a:lnTo>
                <a:lnTo>
                  <a:pt x="827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1" name="Freeform 62"/>
          <p:cNvSpPr>
            <a:spLocks/>
          </p:cNvSpPr>
          <p:nvPr/>
        </p:nvSpPr>
        <p:spPr bwMode="auto">
          <a:xfrm>
            <a:off x="2813050" y="3241675"/>
            <a:ext cx="104775" cy="112712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1" y="104"/>
                  <a:pt x="104" y="80"/>
                  <a:pt x="104" y="52"/>
                </a:cubicBezTo>
                <a:cubicBezTo>
                  <a:pt x="104" y="23"/>
                  <a:pt x="81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2" name="Freeform 63"/>
          <p:cNvSpPr>
            <a:spLocks/>
          </p:cNvSpPr>
          <p:nvPr/>
        </p:nvSpPr>
        <p:spPr bwMode="auto">
          <a:xfrm>
            <a:off x="1654175" y="2381250"/>
            <a:ext cx="1212850" cy="782637"/>
          </a:xfrm>
          <a:custGeom>
            <a:avLst/>
            <a:gdLst>
              <a:gd name="T0" fmla="*/ 2147483647 w 827"/>
              <a:gd name="T1" fmla="*/ 0 h 493"/>
              <a:gd name="T2" fmla="*/ 2147483647 w 827"/>
              <a:gd name="T3" fmla="*/ 2147483647 h 493"/>
              <a:gd name="T4" fmla="*/ 0 w 827"/>
              <a:gd name="T5" fmla="*/ 2147483647 h 493"/>
              <a:gd name="T6" fmla="*/ 0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827" y="0"/>
                </a:moveTo>
                <a:lnTo>
                  <a:pt x="827" y="191"/>
                </a:lnTo>
                <a:lnTo>
                  <a:pt x="0" y="397"/>
                </a:lnTo>
                <a:lnTo>
                  <a:pt x="0" y="490"/>
                </a:lnTo>
                <a:lnTo>
                  <a:pt x="145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3" name="Freeform 64"/>
          <p:cNvSpPr>
            <a:spLocks/>
          </p:cNvSpPr>
          <p:nvPr/>
        </p:nvSpPr>
        <p:spPr bwMode="auto">
          <a:xfrm>
            <a:off x="1639888" y="3432175"/>
            <a:ext cx="227012" cy="1306512"/>
          </a:xfrm>
          <a:custGeom>
            <a:avLst/>
            <a:gdLst>
              <a:gd name="T0" fmla="*/ 2147483647 w 155"/>
              <a:gd name="T1" fmla="*/ 0 h 823"/>
              <a:gd name="T2" fmla="*/ 0 w 155"/>
              <a:gd name="T3" fmla="*/ 0 h 823"/>
              <a:gd name="T4" fmla="*/ 0 w 155"/>
              <a:gd name="T5" fmla="*/ 2147483647 h 823"/>
              <a:gd name="T6" fmla="*/ 2147483647 w 155"/>
              <a:gd name="T7" fmla="*/ 2147483647 h 823"/>
              <a:gd name="T8" fmla="*/ 0 60000 65536"/>
              <a:gd name="T9" fmla="*/ 0 60000 65536"/>
              <a:gd name="T10" fmla="*/ 0 60000 65536"/>
              <a:gd name="T11" fmla="*/ 0 60000 65536"/>
              <a:gd name="T12" fmla="*/ 0 w 155"/>
              <a:gd name="T13" fmla="*/ 0 h 823"/>
              <a:gd name="T14" fmla="*/ 155 w 155"/>
              <a:gd name="T15" fmla="*/ 823 h 8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" h="823">
                <a:moveTo>
                  <a:pt x="155" y="0"/>
                </a:moveTo>
                <a:lnTo>
                  <a:pt x="0" y="0"/>
                </a:lnTo>
                <a:lnTo>
                  <a:pt x="0" y="823"/>
                </a:lnTo>
                <a:lnTo>
                  <a:pt x="155" y="82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4" name="Freeform 65"/>
          <p:cNvSpPr>
            <a:spLocks/>
          </p:cNvSpPr>
          <p:nvPr/>
        </p:nvSpPr>
        <p:spPr bwMode="auto">
          <a:xfrm>
            <a:off x="1749425" y="3298825"/>
            <a:ext cx="1117600" cy="1303337"/>
          </a:xfrm>
          <a:custGeom>
            <a:avLst/>
            <a:gdLst>
              <a:gd name="T0" fmla="*/ 2147483647 w 762"/>
              <a:gd name="T1" fmla="*/ 2147483647 h 821"/>
              <a:gd name="T2" fmla="*/ 0 w 762"/>
              <a:gd name="T3" fmla="*/ 2147483647 h 821"/>
              <a:gd name="T4" fmla="*/ 0 w 762"/>
              <a:gd name="T5" fmla="*/ 2147483647 h 821"/>
              <a:gd name="T6" fmla="*/ 2147483647 w 762"/>
              <a:gd name="T7" fmla="*/ 2147483647 h 821"/>
              <a:gd name="T8" fmla="*/ 2147483647 w 762"/>
              <a:gd name="T9" fmla="*/ 0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2"/>
              <a:gd name="T16" fmla="*/ 0 h 821"/>
              <a:gd name="T17" fmla="*/ 762 w 762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2" h="821">
                <a:moveTo>
                  <a:pt x="80" y="821"/>
                </a:moveTo>
                <a:lnTo>
                  <a:pt x="0" y="821"/>
                </a:lnTo>
                <a:lnTo>
                  <a:pt x="0" y="657"/>
                </a:lnTo>
                <a:lnTo>
                  <a:pt x="762" y="657"/>
                </a:lnTo>
                <a:lnTo>
                  <a:pt x="762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5" name="Freeform 66"/>
          <p:cNvSpPr>
            <a:spLocks/>
          </p:cNvSpPr>
          <p:nvPr/>
        </p:nvSpPr>
        <p:spPr bwMode="auto">
          <a:xfrm>
            <a:off x="1654175" y="4738687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2147483647 w 827"/>
              <a:gd name="T3" fmla="*/ 2147483647 h 456"/>
              <a:gd name="T4" fmla="*/ 0 w 827"/>
              <a:gd name="T5" fmla="*/ 2147483647 h 456"/>
              <a:gd name="T6" fmla="*/ 0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827" y="0"/>
                </a:moveTo>
                <a:lnTo>
                  <a:pt x="827" y="149"/>
                </a:lnTo>
                <a:lnTo>
                  <a:pt x="0" y="355"/>
                </a:lnTo>
                <a:lnTo>
                  <a:pt x="0" y="453"/>
                </a:lnTo>
                <a:lnTo>
                  <a:pt x="145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6" name="Freeform 67"/>
          <p:cNvSpPr>
            <a:spLocks/>
          </p:cNvSpPr>
          <p:nvPr/>
        </p:nvSpPr>
        <p:spPr bwMode="auto">
          <a:xfrm>
            <a:off x="2813050" y="4681537"/>
            <a:ext cx="104775" cy="112713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4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7" name="Freeform 68"/>
          <p:cNvSpPr>
            <a:spLocks/>
          </p:cNvSpPr>
          <p:nvPr/>
        </p:nvSpPr>
        <p:spPr bwMode="auto">
          <a:xfrm>
            <a:off x="1654175" y="4873625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0 w 827"/>
              <a:gd name="T3" fmla="*/ 0 h 456"/>
              <a:gd name="T4" fmla="*/ 0 w 827"/>
              <a:gd name="T5" fmla="*/ 2147483647 h 456"/>
              <a:gd name="T6" fmla="*/ 2147483647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145" y="0"/>
                </a:moveTo>
                <a:lnTo>
                  <a:pt x="0" y="0"/>
                </a:lnTo>
                <a:lnTo>
                  <a:pt x="0" y="116"/>
                </a:lnTo>
                <a:lnTo>
                  <a:pt x="827" y="312"/>
                </a:lnTo>
                <a:lnTo>
                  <a:pt x="827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8" name="Line 69"/>
          <p:cNvSpPr>
            <a:spLocks noChangeShapeType="1"/>
          </p:cNvSpPr>
          <p:nvPr/>
        </p:nvSpPr>
        <p:spPr bwMode="auto">
          <a:xfrm flipH="1">
            <a:off x="1101725" y="5719762"/>
            <a:ext cx="765175" cy="1588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9" name="Freeform 70"/>
          <p:cNvSpPr>
            <a:spLocks/>
          </p:cNvSpPr>
          <p:nvPr/>
        </p:nvSpPr>
        <p:spPr bwMode="auto">
          <a:xfrm>
            <a:off x="1503363" y="2259012"/>
            <a:ext cx="363537" cy="2798763"/>
          </a:xfrm>
          <a:custGeom>
            <a:avLst/>
            <a:gdLst>
              <a:gd name="T0" fmla="*/ 2147483647 w 248"/>
              <a:gd name="T1" fmla="*/ 2147483647 h 1763"/>
              <a:gd name="T2" fmla="*/ 0 w 248"/>
              <a:gd name="T3" fmla="*/ 2147483647 h 1763"/>
              <a:gd name="T4" fmla="*/ 0 w 248"/>
              <a:gd name="T5" fmla="*/ 0 h 1763"/>
              <a:gd name="T6" fmla="*/ 2147483647 w 248"/>
              <a:gd name="T7" fmla="*/ 0 h 1763"/>
              <a:gd name="T8" fmla="*/ 0 60000 65536"/>
              <a:gd name="T9" fmla="*/ 0 60000 65536"/>
              <a:gd name="T10" fmla="*/ 0 60000 65536"/>
              <a:gd name="T11" fmla="*/ 0 60000 65536"/>
              <a:gd name="T12" fmla="*/ 0 w 248"/>
              <a:gd name="T13" fmla="*/ 0 h 1763"/>
              <a:gd name="T14" fmla="*/ 248 w 248"/>
              <a:gd name="T15" fmla="*/ 1763 h 17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" h="1763">
                <a:moveTo>
                  <a:pt x="103" y="1763"/>
                </a:moveTo>
                <a:lnTo>
                  <a:pt x="0" y="1763"/>
                </a:lnTo>
                <a:lnTo>
                  <a:pt x="0" y="0"/>
                </a:lnTo>
                <a:lnTo>
                  <a:pt x="248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0" name="Freeform 71"/>
          <p:cNvSpPr>
            <a:spLocks/>
          </p:cNvSpPr>
          <p:nvPr/>
        </p:nvSpPr>
        <p:spPr bwMode="auto">
          <a:xfrm>
            <a:off x="1601788" y="5002212"/>
            <a:ext cx="103187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1"/>
                </a:moveTo>
                <a:cubicBezTo>
                  <a:pt x="0" y="80"/>
                  <a:pt x="24" y="103"/>
                  <a:pt x="52" y="103"/>
                </a:cubicBezTo>
                <a:cubicBezTo>
                  <a:pt x="81" y="103"/>
                  <a:pt x="104" y="80"/>
                  <a:pt x="104" y="51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23"/>
                  <a:pt x="81" y="0"/>
                  <a:pt x="52" y="0"/>
                </a:cubicBezTo>
                <a:cubicBezTo>
                  <a:pt x="24" y="0"/>
                  <a:pt x="0" y="23"/>
                  <a:pt x="0" y="51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1" name="Line 72"/>
          <p:cNvSpPr>
            <a:spLocks noChangeShapeType="1"/>
          </p:cNvSpPr>
          <p:nvPr/>
        </p:nvSpPr>
        <p:spPr bwMode="auto">
          <a:xfrm flipH="1">
            <a:off x="1047750" y="4092575"/>
            <a:ext cx="592138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2" name="Freeform 73"/>
          <p:cNvSpPr>
            <a:spLocks/>
          </p:cNvSpPr>
          <p:nvPr/>
        </p:nvSpPr>
        <p:spPr bwMode="auto">
          <a:xfrm>
            <a:off x="1587500" y="4037012"/>
            <a:ext cx="103188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2"/>
                </a:moveTo>
                <a:cubicBezTo>
                  <a:pt x="0" y="80"/>
                  <a:pt x="23" y="103"/>
                  <a:pt x="52" y="103"/>
                </a:cubicBezTo>
                <a:cubicBezTo>
                  <a:pt x="81" y="103"/>
                  <a:pt x="104" y="80"/>
                  <a:pt x="104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23" y="0"/>
                  <a:pt x="0" y="23"/>
                  <a:pt x="0" y="52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947" name="Text Box 75"/>
          <p:cNvSpPr txBox="1">
            <a:spLocks noChangeArrowheads="1"/>
          </p:cNvSpPr>
          <p:nvPr/>
        </p:nvSpPr>
        <p:spPr bwMode="auto">
          <a:xfrm>
            <a:off x="990600" y="3586162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463948" name="Text Box 76"/>
          <p:cNvSpPr txBox="1">
            <a:spLocks noChangeArrowheads="1"/>
          </p:cNvSpPr>
          <p:nvPr/>
        </p:nvSpPr>
        <p:spPr bwMode="auto">
          <a:xfrm>
            <a:off x="2819400" y="2671762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463949" name="Text Box 77"/>
          <p:cNvSpPr txBox="1">
            <a:spLocks noChangeArrowheads="1"/>
          </p:cNvSpPr>
          <p:nvPr/>
        </p:nvSpPr>
        <p:spPr bwMode="auto">
          <a:xfrm>
            <a:off x="2819400" y="4606925"/>
            <a:ext cx="5334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28D6F61-4311-4BE3-890B-AC4EF67818EE}"/>
              </a:ext>
            </a:extLst>
          </p:cNvPr>
          <p:cNvSpPr txBox="1"/>
          <p:nvPr/>
        </p:nvSpPr>
        <p:spPr>
          <a:xfrm>
            <a:off x="5590795" y="1447800"/>
            <a:ext cx="355320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module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D_flip_flop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16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16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Q</a:t>
            </a:r>
            <a:r>
              <a:rPr lang="en-US" altLang="zh-CN" sz="16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Q_bar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input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16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output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Q</a:t>
            </a:r>
            <a:r>
              <a:rPr lang="en-US" altLang="zh-CN" sz="16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Q_bar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wire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g1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g2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g3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g4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n1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g1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g2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n2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g2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g1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g3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n3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g3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g4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n4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g4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g1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g3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n5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g3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Q_bar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nand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n6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Q_bar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g2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Q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endmodule</a:t>
            </a:r>
            <a:endParaRPr lang="en-US" altLang="zh-CN" sz="1600" dirty="0">
              <a:solidFill>
                <a:srgbClr val="0000FF"/>
              </a:solidFill>
              <a:latin typeface="+mn-lt"/>
            </a:endParaRPr>
          </a:p>
          <a:p>
            <a:pPr algn="l"/>
            <a:endParaRPr lang="en-US" altLang="zh-CN" sz="1600" dirty="0">
              <a:latin typeface="+mn-lt"/>
            </a:endParaRP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module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D_ff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16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16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Q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input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1600" dirty="0" err="1">
                <a:solidFill>
                  <a:srgbClr val="000080"/>
                </a:solidFill>
                <a:latin typeface="+mn-lt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output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reg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Q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    always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@(</a:t>
            </a:r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posedge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</a:rPr>
              <a:t>clk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begin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       Q 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&lt;=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D</a:t>
            </a:r>
            <a:r>
              <a:rPr lang="en-US" altLang="zh-CN" sz="1600" dirty="0">
                <a:solidFill>
                  <a:srgbClr val="000080"/>
                </a:solidFill>
                <a:latin typeface="+mn-lt"/>
              </a:rPr>
              <a:t>;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lt"/>
              </a:rPr>
              <a:t>end</a:t>
            </a:r>
            <a:r>
              <a:rPr lang="en-US" altLang="zh-CN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sz="1600" dirty="0" err="1">
                <a:solidFill>
                  <a:srgbClr val="0000FF"/>
                </a:solidFill>
                <a:latin typeface="+mn-lt"/>
              </a:rPr>
              <a:t>endmodule</a:t>
            </a:r>
            <a:endParaRPr lang="en-US" altLang="zh-CN" sz="1600" dirty="0">
              <a:latin typeface="+mn-lt"/>
            </a:endParaRPr>
          </a:p>
        </p:txBody>
      </p:sp>
      <p:sp>
        <p:nvSpPr>
          <p:cNvPr id="106" name="Text Box 78">
            <a:extLst>
              <a:ext uri="{FF2B5EF4-FFF2-40B4-BE49-F238E27FC236}">
                <a16:creationId xmlns:a16="http://schemas.microsoft.com/office/drawing/2014/main" id="{D11A6A7C-2422-C748-8149-5EEF81861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235575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47CF9F-1C35-5841-A979-1F38894AC4E6}"/>
              </a:ext>
            </a:extLst>
          </p:cNvPr>
          <p:cNvSpPr txBox="1"/>
          <p:nvPr/>
        </p:nvSpPr>
        <p:spPr>
          <a:xfrm>
            <a:off x="208321" y="384904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altLang="zh-CN" sz="2400" dirty="0">
                <a:solidFill>
                  <a:srgbClr val="FF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CLK</a:t>
            </a:r>
            <a:endParaRPr lang="en-CN" sz="2400" dirty="0">
              <a:solidFill>
                <a:srgbClr val="FF0000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99528A-B2AF-3E41-ABC1-7234A0C00974}"/>
              </a:ext>
            </a:extLst>
          </p:cNvPr>
          <p:cNvGrpSpPr/>
          <p:nvPr/>
        </p:nvGrpSpPr>
        <p:grpSpPr>
          <a:xfrm>
            <a:off x="1667562" y="3463522"/>
            <a:ext cx="457200" cy="532214"/>
            <a:chOff x="4250425" y="5310981"/>
            <a:chExt cx="457200" cy="59055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03FD644-FCC0-9B4F-8779-A6A1D467B957}"/>
                </a:ext>
              </a:extLst>
            </p:cNvPr>
            <p:cNvCxnSpPr/>
            <p:nvPr/>
          </p:nvCxnSpPr>
          <p:spPr>
            <a:xfrm>
              <a:off x="4250425" y="5317735"/>
              <a:ext cx="4572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3F170E-60AE-D844-9A7B-0EFAE90CCF09}"/>
                </a:ext>
              </a:extLst>
            </p:cNvPr>
            <p:cNvCxnSpPr>
              <a:cxnSpLocks/>
            </p:cNvCxnSpPr>
            <p:nvPr/>
          </p:nvCxnSpPr>
          <p:spPr>
            <a:xfrm>
              <a:off x="4264025" y="5310981"/>
              <a:ext cx="0" cy="59055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C9F2C1B-D02E-B145-8556-604E6C52AC85}"/>
              </a:ext>
            </a:extLst>
          </p:cNvPr>
          <p:cNvGrpSpPr/>
          <p:nvPr/>
        </p:nvGrpSpPr>
        <p:grpSpPr>
          <a:xfrm flipV="1">
            <a:off x="1662967" y="4189412"/>
            <a:ext cx="496200" cy="507998"/>
            <a:chOff x="4250425" y="5310981"/>
            <a:chExt cx="457200" cy="590551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780CE68-53FA-6444-950F-268BC8C55B98}"/>
                </a:ext>
              </a:extLst>
            </p:cNvPr>
            <p:cNvCxnSpPr/>
            <p:nvPr/>
          </p:nvCxnSpPr>
          <p:spPr>
            <a:xfrm>
              <a:off x="4250425" y="5317735"/>
              <a:ext cx="4572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EF64467-0102-9A43-9198-015668412E93}"/>
                </a:ext>
              </a:extLst>
            </p:cNvPr>
            <p:cNvCxnSpPr>
              <a:cxnSpLocks/>
            </p:cNvCxnSpPr>
            <p:nvPr/>
          </p:nvCxnSpPr>
          <p:spPr>
            <a:xfrm>
              <a:off x="4264025" y="5310981"/>
              <a:ext cx="0" cy="59055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3F93B16-628E-ABAD-815A-C088EBF4FF33}"/>
              </a:ext>
            </a:extLst>
          </p:cNvPr>
          <p:cNvCxnSpPr/>
          <p:nvPr/>
        </p:nvCxnSpPr>
        <p:spPr>
          <a:xfrm flipV="1">
            <a:off x="3235325" y="2525712"/>
            <a:ext cx="346075" cy="293688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840AB3-F433-6A4B-C2DF-1EDBF3B4F11D}"/>
              </a:ext>
            </a:extLst>
          </p:cNvPr>
          <p:cNvCxnSpPr>
            <a:cxnSpLocks/>
          </p:cNvCxnSpPr>
          <p:nvPr/>
        </p:nvCxnSpPr>
        <p:spPr>
          <a:xfrm flipV="1">
            <a:off x="3267075" y="2516187"/>
            <a:ext cx="615950" cy="2262188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CDD40-8B96-FCE8-6FC7-D7E154445647}"/>
              </a:ext>
            </a:extLst>
          </p:cNvPr>
          <p:cNvSpPr txBox="1"/>
          <p:nvPr/>
        </p:nvSpPr>
        <p:spPr>
          <a:xfrm>
            <a:off x="2880933" y="1289071"/>
            <a:ext cx="2434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dirty="0" err="1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初始状态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：假定这两个节点为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Q‘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保持）</a:t>
            </a:r>
            <a:endParaRPr lang="en-CN" sz="2400" dirty="0">
              <a:solidFill>
                <a:srgbClr val="0432FF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4070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graphicFrame>
        <p:nvGraphicFramePr>
          <p:cNvPr id="37891" name="Object 7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616848"/>
              </p:ext>
            </p:extLst>
          </p:nvPr>
        </p:nvGraphicFramePr>
        <p:xfrm>
          <a:off x="6217708" y="4265152"/>
          <a:ext cx="285220" cy="42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37891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708" y="4265152"/>
                        <a:ext cx="285220" cy="427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0BAE80-5D9C-F848-B402-B9CCED4B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7894" name="AutoShape 5"/>
          <p:cNvSpPr>
            <a:spLocks noChangeAspect="1" noChangeArrowheads="1" noTextEdit="1"/>
          </p:cNvSpPr>
          <p:nvPr/>
        </p:nvSpPr>
        <p:spPr bwMode="auto">
          <a:xfrm>
            <a:off x="1487487" y="1948195"/>
            <a:ext cx="5324475" cy="380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5" name="Line 6"/>
          <p:cNvSpPr>
            <a:spLocks noChangeShapeType="1"/>
          </p:cNvSpPr>
          <p:nvPr/>
        </p:nvSpPr>
        <p:spPr bwMode="auto">
          <a:xfrm>
            <a:off x="5486400" y="3311858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5486400" y="4489783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7" name="Freeform 8"/>
          <p:cNvSpPr>
            <a:spLocks/>
          </p:cNvSpPr>
          <p:nvPr/>
        </p:nvSpPr>
        <p:spPr bwMode="auto">
          <a:xfrm>
            <a:off x="4487862" y="3442033"/>
            <a:ext cx="1211263" cy="1047750"/>
          </a:xfrm>
          <a:custGeom>
            <a:avLst/>
            <a:gdLst>
              <a:gd name="T0" fmla="*/ 2147483647 w 827"/>
              <a:gd name="T1" fmla="*/ 0 h 660"/>
              <a:gd name="T2" fmla="*/ 0 w 827"/>
              <a:gd name="T3" fmla="*/ 0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2147483647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0"/>
                </a:moveTo>
                <a:lnTo>
                  <a:pt x="0" y="0"/>
                </a:lnTo>
                <a:lnTo>
                  <a:pt x="0" y="220"/>
                </a:lnTo>
                <a:lnTo>
                  <a:pt x="827" y="440"/>
                </a:lnTo>
                <a:lnTo>
                  <a:pt x="827" y="66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8" name="Freeform 9"/>
          <p:cNvSpPr>
            <a:spLocks/>
          </p:cNvSpPr>
          <p:nvPr/>
        </p:nvSpPr>
        <p:spPr bwMode="auto">
          <a:xfrm>
            <a:off x="5648325" y="4434220"/>
            <a:ext cx="103187" cy="112713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0"/>
                  <a:pt x="104" y="52"/>
                </a:cubicBezTo>
                <a:cubicBezTo>
                  <a:pt x="104" y="23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9" name="Freeform 10"/>
          <p:cNvSpPr>
            <a:spLocks/>
          </p:cNvSpPr>
          <p:nvPr/>
        </p:nvSpPr>
        <p:spPr bwMode="auto">
          <a:xfrm>
            <a:off x="4487862" y="3311858"/>
            <a:ext cx="1211263" cy="1047750"/>
          </a:xfrm>
          <a:custGeom>
            <a:avLst/>
            <a:gdLst>
              <a:gd name="T0" fmla="*/ 2147483647 w 827"/>
              <a:gd name="T1" fmla="*/ 2147483647 h 660"/>
              <a:gd name="T2" fmla="*/ 0 w 827"/>
              <a:gd name="T3" fmla="*/ 2147483647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0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660"/>
                </a:moveTo>
                <a:lnTo>
                  <a:pt x="0" y="660"/>
                </a:lnTo>
                <a:lnTo>
                  <a:pt x="0" y="440"/>
                </a:lnTo>
                <a:lnTo>
                  <a:pt x="827" y="220"/>
                </a:lnTo>
                <a:lnTo>
                  <a:pt x="827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0" name="Freeform 11"/>
          <p:cNvSpPr>
            <a:spLocks/>
          </p:cNvSpPr>
          <p:nvPr/>
        </p:nvSpPr>
        <p:spPr bwMode="auto">
          <a:xfrm>
            <a:off x="5648325" y="3254708"/>
            <a:ext cx="103187" cy="112712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3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1" name="Rectangle 12"/>
          <p:cNvSpPr>
            <a:spLocks noChangeArrowheads="1"/>
          </p:cNvSpPr>
          <p:nvPr/>
        </p:nvSpPr>
        <p:spPr bwMode="auto">
          <a:xfrm>
            <a:off x="6267450" y="3153108"/>
            <a:ext cx="1857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7902" name="Freeform 13"/>
          <p:cNvSpPr>
            <a:spLocks noEditPoints="1"/>
          </p:cNvSpPr>
          <p:nvPr/>
        </p:nvSpPr>
        <p:spPr bwMode="auto">
          <a:xfrm>
            <a:off x="4471987" y="3180095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2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3" name="Freeform 14"/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4" name="Freeform 15"/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5" name="Freeform 16"/>
          <p:cNvSpPr>
            <a:spLocks/>
          </p:cNvSpPr>
          <p:nvPr/>
        </p:nvSpPr>
        <p:spPr bwMode="auto">
          <a:xfrm>
            <a:off x="5294312" y="3273758"/>
            <a:ext cx="74613" cy="82550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6" name="Freeform 17"/>
          <p:cNvSpPr>
            <a:spLocks/>
          </p:cNvSpPr>
          <p:nvPr/>
        </p:nvSpPr>
        <p:spPr bwMode="auto">
          <a:xfrm>
            <a:off x="5294312" y="3273758"/>
            <a:ext cx="74613" cy="82550"/>
          </a:xfrm>
          <a:custGeom>
            <a:avLst/>
            <a:gdLst>
              <a:gd name="T0" fmla="*/ 2147483647 w 51"/>
              <a:gd name="T1" fmla="*/ 2147483647 h 52"/>
              <a:gd name="T2" fmla="*/ 2147483647 w 51"/>
              <a:gd name="T3" fmla="*/ 0 h 52"/>
              <a:gd name="T4" fmla="*/ 0 w 51"/>
              <a:gd name="T5" fmla="*/ 2147483647 h 52"/>
              <a:gd name="T6" fmla="*/ 2147483647 w 51"/>
              <a:gd name="T7" fmla="*/ 2147483647 h 52"/>
              <a:gd name="T8" fmla="*/ 2147483647 w 51"/>
              <a:gd name="T9" fmla="*/ 2147483647 h 52"/>
              <a:gd name="T10" fmla="*/ 2147483647 w 51"/>
              <a:gd name="T11" fmla="*/ 2147483647 h 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2"/>
              <a:gd name="T20" fmla="*/ 51 w 51"/>
              <a:gd name="T21" fmla="*/ 52 h 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2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40"/>
                  <a:pt x="12" y="52"/>
                  <a:pt x="25" y="52"/>
                </a:cubicBezTo>
                <a:cubicBezTo>
                  <a:pt x="40" y="52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7" name="Freeform 18"/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8" name="Freeform 19"/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9" name="Freeform 20"/>
          <p:cNvSpPr>
            <a:spLocks noEditPoints="1"/>
          </p:cNvSpPr>
          <p:nvPr/>
        </p:nvSpPr>
        <p:spPr bwMode="auto">
          <a:xfrm>
            <a:off x="4503737" y="4354845"/>
            <a:ext cx="996950" cy="269875"/>
          </a:xfrm>
          <a:custGeom>
            <a:avLst/>
            <a:gdLst>
              <a:gd name="T0" fmla="*/ 0 w 681"/>
              <a:gd name="T1" fmla="*/ 0 h 170"/>
              <a:gd name="T2" fmla="*/ 2147483647 w 681"/>
              <a:gd name="T3" fmla="*/ 0 h 170"/>
              <a:gd name="T4" fmla="*/ 0 w 681"/>
              <a:gd name="T5" fmla="*/ 2147483647 h 170"/>
              <a:gd name="T6" fmla="*/ 2147483647 w 681"/>
              <a:gd name="T7" fmla="*/ 2147483647 h 170"/>
              <a:gd name="T8" fmla="*/ 2147483647 w 681"/>
              <a:gd name="T9" fmla="*/ 2147483647 h 170"/>
              <a:gd name="T10" fmla="*/ 2147483647 w 681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1"/>
              <a:gd name="T19" fmla="*/ 0 h 170"/>
              <a:gd name="T20" fmla="*/ 681 w 681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1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1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0" name="Freeform 21"/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1" name="Freeform 22"/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2" name="Freeform 23"/>
          <p:cNvSpPr>
            <a:spLocks/>
          </p:cNvSpPr>
          <p:nvPr/>
        </p:nvSpPr>
        <p:spPr bwMode="auto">
          <a:xfrm>
            <a:off x="5326062" y="4448508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59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3" name="Freeform 24"/>
          <p:cNvSpPr>
            <a:spLocks/>
          </p:cNvSpPr>
          <p:nvPr/>
        </p:nvSpPr>
        <p:spPr bwMode="auto">
          <a:xfrm>
            <a:off x="5326062" y="4448508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4" name="Freeform 25"/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5" name="Freeform 26"/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6" name="Freeform 27"/>
          <p:cNvSpPr>
            <a:spLocks/>
          </p:cNvSpPr>
          <p:nvPr/>
        </p:nvSpPr>
        <p:spPr bwMode="auto">
          <a:xfrm>
            <a:off x="4278312" y="3180095"/>
            <a:ext cx="193675" cy="4763"/>
          </a:xfrm>
          <a:custGeom>
            <a:avLst/>
            <a:gdLst>
              <a:gd name="T0" fmla="*/ 2147483647 w 133"/>
              <a:gd name="T1" fmla="*/ 0 h 3"/>
              <a:gd name="T2" fmla="*/ 2147483647 w 133"/>
              <a:gd name="T3" fmla="*/ 0 h 3"/>
              <a:gd name="T4" fmla="*/ 2147483647 w 133"/>
              <a:gd name="T5" fmla="*/ 2147483647 h 3"/>
              <a:gd name="T6" fmla="*/ 0 w 133"/>
              <a:gd name="T7" fmla="*/ 2147483647 h 3"/>
              <a:gd name="T8" fmla="*/ 0 60000 65536"/>
              <a:gd name="T9" fmla="*/ 0 60000 65536"/>
              <a:gd name="T10" fmla="*/ 0 60000 65536"/>
              <a:gd name="T11" fmla="*/ 0 60000 65536"/>
              <a:gd name="T12" fmla="*/ 0 w 133"/>
              <a:gd name="T13" fmla="*/ 0 h 3"/>
              <a:gd name="T14" fmla="*/ 133 w 133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" h="3">
                <a:moveTo>
                  <a:pt x="133" y="0"/>
                </a:moveTo>
                <a:lnTo>
                  <a:pt x="53" y="0"/>
                </a:lnTo>
                <a:lnTo>
                  <a:pt x="53" y="3"/>
                </a:lnTo>
                <a:lnTo>
                  <a:pt x="0" y="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7" name="Freeform 28"/>
          <p:cNvSpPr>
            <a:spLocks/>
          </p:cNvSpPr>
          <p:nvPr/>
        </p:nvSpPr>
        <p:spPr bwMode="auto">
          <a:xfrm>
            <a:off x="4278312" y="4624720"/>
            <a:ext cx="225425" cy="1588"/>
          </a:xfrm>
          <a:custGeom>
            <a:avLst/>
            <a:gdLst>
              <a:gd name="T0" fmla="*/ 2147483647 w 154"/>
              <a:gd name="T1" fmla="*/ 0 h 1588"/>
              <a:gd name="T2" fmla="*/ 2147483647 w 154"/>
              <a:gd name="T3" fmla="*/ 0 h 1588"/>
              <a:gd name="T4" fmla="*/ 2147483647 w 154"/>
              <a:gd name="T5" fmla="*/ 0 h 1588"/>
              <a:gd name="T6" fmla="*/ 0 w 154"/>
              <a:gd name="T7" fmla="*/ 0 h 158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1588"/>
              <a:gd name="T14" fmla="*/ 154 w 154"/>
              <a:gd name="T15" fmla="*/ 1588 h 1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1588">
                <a:moveTo>
                  <a:pt x="154" y="0"/>
                </a:moveTo>
                <a:lnTo>
                  <a:pt x="115" y="0"/>
                </a:ln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8" name="Rectangle 29"/>
          <p:cNvSpPr>
            <a:spLocks noChangeArrowheads="1"/>
          </p:cNvSpPr>
          <p:nvPr/>
        </p:nvSpPr>
        <p:spPr bwMode="auto">
          <a:xfrm>
            <a:off x="2173287" y="5377195"/>
            <a:ext cx="2016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7922" name="Freeform 33"/>
          <p:cNvSpPr>
            <a:spLocks noEditPoints="1"/>
          </p:cNvSpPr>
          <p:nvPr/>
        </p:nvSpPr>
        <p:spPr bwMode="auto">
          <a:xfrm>
            <a:off x="3278187" y="3049920"/>
            <a:ext cx="1000125" cy="268288"/>
          </a:xfrm>
          <a:custGeom>
            <a:avLst/>
            <a:gdLst>
              <a:gd name="T0" fmla="*/ 0 w 682"/>
              <a:gd name="T1" fmla="*/ 0 h 169"/>
              <a:gd name="T2" fmla="*/ 2147483647 w 682"/>
              <a:gd name="T3" fmla="*/ 0 h 169"/>
              <a:gd name="T4" fmla="*/ 0 w 682"/>
              <a:gd name="T5" fmla="*/ 2147483647 h 169"/>
              <a:gd name="T6" fmla="*/ 2147483647 w 682"/>
              <a:gd name="T7" fmla="*/ 2147483647 h 169"/>
              <a:gd name="T8" fmla="*/ 2147483647 w 682"/>
              <a:gd name="T9" fmla="*/ 2147483647 h 169"/>
              <a:gd name="T10" fmla="*/ 2147483647 w 682"/>
              <a:gd name="T11" fmla="*/ 2147483647 h 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69"/>
              <a:gd name="T20" fmla="*/ 682 w 682"/>
              <a:gd name="T21" fmla="*/ 169 h 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69">
                <a:moveTo>
                  <a:pt x="0" y="0"/>
                </a:moveTo>
                <a:lnTo>
                  <a:pt x="340" y="0"/>
                </a:lnTo>
                <a:moveTo>
                  <a:pt x="0" y="169"/>
                </a:moveTo>
                <a:lnTo>
                  <a:pt x="340" y="169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3" name="Freeform 34"/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4" name="Freeform 35"/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5" name="Freeform 36"/>
          <p:cNvSpPr>
            <a:spLocks/>
          </p:cNvSpPr>
          <p:nvPr/>
        </p:nvSpPr>
        <p:spPr bwMode="auto">
          <a:xfrm>
            <a:off x="4100512" y="314358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6" name="Freeform 37"/>
          <p:cNvSpPr>
            <a:spLocks/>
          </p:cNvSpPr>
          <p:nvPr/>
        </p:nvSpPr>
        <p:spPr bwMode="auto">
          <a:xfrm>
            <a:off x="4100512" y="314358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7" name="Freeform 38"/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28" name="Freeform 39"/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9" name="Freeform 40"/>
          <p:cNvSpPr>
            <a:spLocks noEditPoints="1"/>
          </p:cNvSpPr>
          <p:nvPr/>
        </p:nvSpPr>
        <p:spPr bwMode="auto">
          <a:xfrm>
            <a:off x="3278187" y="4488195"/>
            <a:ext cx="1000125" cy="271463"/>
          </a:xfrm>
          <a:custGeom>
            <a:avLst/>
            <a:gdLst>
              <a:gd name="T0" fmla="*/ 0 w 682"/>
              <a:gd name="T1" fmla="*/ 0 h 171"/>
              <a:gd name="T2" fmla="*/ 2147483647 w 682"/>
              <a:gd name="T3" fmla="*/ 0 h 171"/>
              <a:gd name="T4" fmla="*/ 0 w 682"/>
              <a:gd name="T5" fmla="*/ 2147483647 h 171"/>
              <a:gd name="T6" fmla="*/ 2147483647 w 682"/>
              <a:gd name="T7" fmla="*/ 2147483647 h 171"/>
              <a:gd name="T8" fmla="*/ 0 w 682"/>
              <a:gd name="T9" fmla="*/ 2147483647 h 171"/>
              <a:gd name="T10" fmla="*/ 2147483647 w 682"/>
              <a:gd name="T11" fmla="*/ 2147483647 h 171"/>
              <a:gd name="T12" fmla="*/ 2147483647 w 682"/>
              <a:gd name="T13" fmla="*/ 2147483647 h 171"/>
              <a:gd name="T14" fmla="*/ 2147483647 w 682"/>
              <a:gd name="T15" fmla="*/ 2147483647 h 1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82"/>
              <a:gd name="T25" fmla="*/ 0 h 171"/>
              <a:gd name="T26" fmla="*/ 682 w 682"/>
              <a:gd name="T27" fmla="*/ 171 h 1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82" h="171">
                <a:moveTo>
                  <a:pt x="0" y="0"/>
                </a:moveTo>
                <a:lnTo>
                  <a:pt x="340" y="0"/>
                </a:lnTo>
                <a:moveTo>
                  <a:pt x="0" y="86"/>
                </a:moveTo>
                <a:lnTo>
                  <a:pt x="340" y="86"/>
                </a:lnTo>
                <a:moveTo>
                  <a:pt x="0" y="171"/>
                </a:moveTo>
                <a:lnTo>
                  <a:pt x="340" y="171"/>
                </a:lnTo>
                <a:moveTo>
                  <a:pt x="682" y="86"/>
                </a:moveTo>
                <a:lnTo>
                  <a:pt x="340" y="86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0" name="Freeform 41"/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1" name="Freeform 42"/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2" name="Freeform 43"/>
          <p:cNvSpPr>
            <a:spLocks/>
          </p:cNvSpPr>
          <p:nvPr/>
        </p:nvSpPr>
        <p:spPr bwMode="auto">
          <a:xfrm>
            <a:off x="4100512" y="4583445"/>
            <a:ext cx="74613" cy="80963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7"/>
                </a:cubicBezTo>
                <a:cubicBezTo>
                  <a:pt x="75" y="37"/>
                  <a:pt x="75" y="37"/>
                  <a:pt x="75" y="37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3" name="Freeform 44"/>
          <p:cNvSpPr>
            <a:spLocks/>
          </p:cNvSpPr>
          <p:nvPr/>
        </p:nvSpPr>
        <p:spPr bwMode="auto">
          <a:xfrm>
            <a:off x="4100512" y="4583445"/>
            <a:ext cx="74613" cy="80963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4" name="Freeform 45"/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35" name="Freeform 46"/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6" name="Freeform 47"/>
          <p:cNvSpPr>
            <a:spLocks noEditPoints="1"/>
          </p:cNvSpPr>
          <p:nvPr/>
        </p:nvSpPr>
        <p:spPr bwMode="auto">
          <a:xfrm>
            <a:off x="3278187" y="2141870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7" name="Freeform 48"/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8" name="Freeform 49"/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9" name="Freeform 50"/>
          <p:cNvSpPr>
            <a:spLocks/>
          </p:cNvSpPr>
          <p:nvPr/>
        </p:nvSpPr>
        <p:spPr bwMode="auto">
          <a:xfrm>
            <a:off x="4100512" y="223553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0" name="Freeform 51"/>
          <p:cNvSpPr>
            <a:spLocks/>
          </p:cNvSpPr>
          <p:nvPr/>
        </p:nvSpPr>
        <p:spPr bwMode="auto">
          <a:xfrm>
            <a:off x="4100512" y="223553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1"/>
                  <a:pt x="40" y="0"/>
                  <a:pt x="25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39"/>
                  <a:pt x="11" y="51"/>
                  <a:pt x="25" y="51"/>
                </a:cubicBezTo>
                <a:cubicBezTo>
                  <a:pt x="40" y="51"/>
                  <a:pt x="51" y="39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1" name="Freeform 52"/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2" name="Freeform 53"/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43" name="Freeform 54"/>
          <p:cNvSpPr>
            <a:spLocks noEditPoints="1"/>
          </p:cNvSpPr>
          <p:nvPr/>
        </p:nvSpPr>
        <p:spPr bwMode="auto">
          <a:xfrm>
            <a:off x="3278187" y="5348620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4" name="Freeform 55"/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5" name="Freeform 56"/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6" name="Freeform 57"/>
          <p:cNvSpPr>
            <a:spLocks/>
          </p:cNvSpPr>
          <p:nvPr/>
        </p:nvSpPr>
        <p:spPr bwMode="auto">
          <a:xfrm>
            <a:off x="4100512" y="544228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7" name="Freeform 58"/>
          <p:cNvSpPr>
            <a:spLocks/>
          </p:cNvSpPr>
          <p:nvPr/>
        </p:nvSpPr>
        <p:spPr bwMode="auto">
          <a:xfrm>
            <a:off x="4100512" y="544228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8" name="Freeform 59"/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49" name="Freeform 60"/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0" name="Freeform 61"/>
          <p:cNvSpPr>
            <a:spLocks/>
          </p:cNvSpPr>
          <p:nvPr/>
        </p:nvSpPr>
        <p:spPr bwMode="auto">
          <a:xfrm>
            <a:off x="3065462" y="2402220"/>
            <a:ext cx="1212850" cy="782638"/>
          </a:xfrm>
          <a:custGeom>
            <a:avLst/>
            <a:gdLst>
              <a:gd name="T0" fmla="*/ 2147483647 w 827"/>
              <a:gd name="T1" fmla="*/ 0 h 493"/>
              <a:gd name="T2" fmla="*/ 0 w 827"/>
              <a:gd name="T3" fmla="*/ 0 h 493"/>
              <a:gd name="T4" fmla="*/ 0 w 827"/>
              <a:gd name="T5" fmla="*/ 2147483647 h 493"/>
              <a:gd name="T6" fmla="*/ 2147483647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145" y="0"/>
                </a:moveTo>
                <a:lnTo>
                  <a:pt x="0" y="0"/>
                </a:lnTo>
                <a:lnTo>
                  <a:pt x="0" y="106"/>
                </a:lnTo>
                <a:lnTo>
                  <a:pt x="827" y="353"/>
                </a:lnTo>
                <a:lnTo>
                  <a:pt x="827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1" name="Freeform 62"/>
          <p:cNvSpPr>
            <a:spLocks/>
          </p:cNvSpPr>
          <p:nvPr/>
        </p:nvSpPr>
        <p:spPr bwMode="auto">
          <a:xfrm>
            <a:off x="4224337" y="3127708"/>
            <a:ext cx="104775" cy="112712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1" y="104"/>
                  <a:pt x="104" y="80"/>
                  <a:pt x="104" y="52"/>
                </a:cubicBezTo>
                <a:cubicBezTo>
                  <a:pt x="104" y="23"/>
                  <a:pt x="81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2" name="Freeform 63"/>
          <p:cNvSpPr>
            <a:spLocks/>
          </p:cNvSpPr>
          <p:nvPr/>
        </p:nvSpPr>
        <p:spPr bwMode="auto">
          <a:xfrm>
            <a:off x="3065462" y="2267283"/>
            <a:ext cx="1212850" cy="782637"/>
          </a:xfrm>
          <a:custGeom>
            <a:avLst/>
            <a:gdLst>
              <a:gd name="T0" fmla="*/ 2147483647 w 827"/>
              <a:gd name="T1" fmla="*/ 0 h 493"/>
              <a:gd name="T2" fmla="*/ 2147483647 w 827"/>
              <a:gd name="T3" fmla="*/ 2147483647 h 493"/>
              <a:gd name="T4" fmla="*/ 0 w 827"/>
              <a:gd name="T5" fmla="*/ 2147483647 h 493"/>
              <a:gd name="T6" fmla="*/ 0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827" y="0"/>
                </a:moveTo>
                <a:lnTo>
                  <a:pt x="827" y="191"/>
                </a:lnTo>
                <a:lnTo>
                  <a:pt x="0" y="397"/>
                </a:lnTo>
                <a:lnTo>
                  <a:pt x="0" y="490"/>
                </a:lnTo>
                <a:lnTo>
                  <a:pt x="145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3" name="Freeform 64"/>
          <p:cNvSpPr>
            <a:spLocks/>
          </p:cNvSpPr>
          <p:nvPr/>
        </p:nvSpPr>
        <p:spPr bwMode="auto">
          <a:xfrm>
            <a:off x="3051175" y="3318208"/>
            <a:ext cx="227012" cy="1306512"/>
          </a:xfrm>
          <a:custGeom>
            <a:avLst/>
            <a:gdLst>
              <a:gd name="T0" fmla="*/ 2147483647 w 155"/>
              <a:gd name="T1" fmla="*/ 0 h 823"/>
              <a:gd name="T2" fmla="*/ 0 w 155"/>
              <a:gd name="T3" fmla="*/ 0 h 823"/>
              <a:gd name="T4" fmla="*/ 0 w 155"/>
              <a:gd name="T5" fmla="*/ 2147483647 h 823"/>
              <a:gd name="T6" fmla="*/ 2147483647 w 155"/>
              <a:gd name="T7" fmla="*/ 2147483647 h 823"/>
              <a:gd name="T8" fmla="*/ 0 60000 65536"/>
              <a:gd name="T9" fmla="*/ 0 60000 65536"/>
              <a:gd name="T10" fmla="*/ 0 60000 65536"/>
              <a:gd name="T11" fmla="*/ 0 60000 65536"/>
              <a:gd name="T12" fmla="*/ 0 w 155"/>
              <a:gd name="T13" fmla="*/ 0 h 823"/>
              <a:gd name="T14" fmla="*/ 155 w 155"/>
              <a:gd name="T15" fmla="*/ 823 h 8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" h="823">
                <a:moveTo>
                  <a:pt x="155" y="0"/>
                </a:moveTo>
                <a:lnTo>
                  <a:pt x="0" y="0"/>
                </a:lnTo>
                <a:lnTo>
                  <a:pt x="0" y="823"/>
                </a:lnTo>
                <a:lnTo>
                  <a:pt x="155" y="82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4" name="Freeform 65"/>
          <p:cNvSpPr>
            <a:spLocks/>
          </p:cNvSpPr>
          <p:nvPr/>
        </p:nvSpPr>
        <p:spPr bwMode="auto">
          <a:xfrm>
            <a:off x="3160712" y="3184858"/>
            <a:ext cx="1117600" cy="1303337"/>
          </a:xfrm>
          <a:custGeom>
            <a:avLst/>
            <a:gdLst>
              <a:gd name="T0" fmla="*/ 2147483647 w 762"/>
              <a:gd name="T1" fmla="*/ 2147483647 h 821"/>
              <a:gd name="T2" fmla="*/ 0 w 762"/>
              <a:gd name="T3" fmla="*/ 2147483647 h 821"/>
              <a:gd name="T4" fmla="*/ 0 w 762"/>
              <a:gd name="T5" fmla="*/ 2147483647 h 821"/>
              <a:gd name="T6" fmla="*/ 2147483647 w 762"/>
              <a:gd name="T7" fmla="*/ 2147483647 h 821"/>
              <a:gd name="T8" fmla="*/ 2147483647 w 762"/>
              <a:gd name="T9" fmla="*/ 0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2"/>
              <a:gd name="T16" fmla="*/ 0 h 821"/>
              <a:gd name="T17" fmla="*/ 762 w 762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2" h="821">
                <a:moveTo>
                  <a:pt x="80" y="821"/>
                </a:moveTo>
                <a:lnTo>
                  <a:pt x="0" y="821"/>
                </a:lnTo>
                <a:lnTo>
                  <a:pt x="0" y="657"/>
                </a:lnTo>
                <a:lnTo>
                  <a:pt x="762" y="657"/>
                </a:lnTo>
                <a:lnTo>
                  <a:pt x="762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5" name="Freeform 66"/>
          <p:cNvSpPr>
            <a:spLocks/>
          </p:cNvSpPr>
          <p:nvPr/>
        </p:nvSpPr>
        <p:spPr bwMode="auto">
          <a:xfrm>
            <a:off x="3065462" y="4624720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2147483647 w 827"/>
              <a:gd name="T3" fmla="*/ 2147483647 h 456"/>
              <a:gd name="T4" fmla="*/ 0 w 827"/>
              <a:gd name="T5" fmla="*/ 2147483647 h 456"/>
              <a:gd name="T6" fmla="*/ 0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827" y="0"/>
                </a:moveTo>
                <a:lnTo>
                  <a:pt x="827" y="149"/>
                </a:lnTo>
                <a:lnTo>
                  <a:pt x="0" y="355"/>
                </a:lnTo>
                <a:lnTo>
                  <a:pt x="0" y="453"/>
                </a:lnTo>
                <a:lnTo>
                  <a:pt x="145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6" name="Freeform 67"/>
          <p:cNvSpPr>
            <a:spLocks/>
          </p:cNvSpPr>
          <p:nvPr/>
        </p:nvSpPr>
        <p:spPr bwMode="auto">
          <a:xfrm>
            <a:off x="4224337" y="4567570"/>
            <a:ext cx="104775" cy="112713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4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7" name="Freeform 68"/>
          <p:cNvSpPr>
            <a:spLocks/>
          </p:cNvSpPr>
          <p:nvPr/>
        </p:nvSpPr>
        <p:spPr bwMode="auto">
          <a:xfrm>
            <a:off x="3065462" y="4759658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0 w 827"/>
              <a:gd name="T3" fmla="*/ 0 h 456"/>
              <a:gd name="T4" fmla="*/ 0 w 827"/>
              <a:gd name="T5" fmla="*/ 2147483647 h 456"/>
              <a:gd name="T6" fmla="*/ 2147483647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145" y="0"/>
                </a:moveTo>
                <a:lnTo>
                  <a:pt x="0" y="0"/>
                </a:lnTo>
                <a:lnTo>
                  <a:pt x="0" y="116"/>
                </a:lnTo>
                <a:lnTo>
                  <a:pt x="827" y="312"/>
                </a:lnTo>
                <a:lnTo>
                  <a:pt x="827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8" name="Line 69"/>
          <p:cNvSpPr>
            <a:spLocks noChangeShapeType="1"/>
          </p:cNvSpPr>
          <p:nvPr/>
        </p:nvSpPr>
        <p:spPr bwMode="auto">
          <a:xfrm flipH="1">
            <a:off x="2513012" y="5605795"/>
            <a:ext cx="765175" cy="1588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9" name="Freeform 70"/>
          <p:cNvSpPr>
            <a:spLocks/>
          </p:cNvSpPr>
          <p:nvPr/>
        </p:nvSpPr>
        <p:spPr bwMode="auto">
          <a:xfrm>
            <a:off x="2914650" y="2145045"/>
            <a:ext cx="363537" cy="2798763"/>
          </a:xfrm>
          <a:custGeom>
            <a:avLst/>
            <a:gdLst>
              <a:gd name="T0" fmla="*/ 2147483647 w 248"/>
              <a:gd name="T1" fmla="*/ 2147483647 h 1763"/>
              <a:gd name="T2" fmla="*/ 0 w 248"/>
              <a:gd name="T3" fmla="*/ 2147483647 h 1763"/>
              <a:gd name="T4" fmla="*/ 0 w 248"/>
              <a:gd name="T5" fmla="*/ 0 h 1763"/>
              <a:gd name="T6" fmla="*/ 2147483647 w 248"/>
              <a:gd name="T7" fmla="*/ 0 h 1763"/>
              <a:gd name="T8" fmla="*/ 0 60000 65536"/>
              <a:gd name="T9" fmla="*/ 0 60000 65536"/>
              <a:gd name="T10" fmla="*/ 0 60000 65536"/>
              <a:gd name="T11" fmla="*/ 0 60000 65536"/>
              <a:gd name="T12" fmla="*/ 0 w 248"/>
              <a:gd name="T13" fmla="*/ 0 h 1763"/>
              <a:gd name="T14" fmla="*/ 248 w 248"/>
              <a:gd name="T15" fmla="*/ 1763 h 17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" h="1763">
                <a:moveTo>
                  <a:pt x="103" y="1763"/>
                </a:moveTo>
                <a:lnTo>
                  <a:pt x="0" y="1763"/>
                </a:lnTo>
                <a:lnTo>
                  <a:pt x="0" y="0"/>
                </a:lnTo>
                <a:lnTo>
                  <a:pt x="248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0" name="Freeform 71"/>
          <p:cNvSpPr>
            <a:spLocks/>
          </p:cNvSpPr>
          <p:nvPr/>
        </p:nvSpPr>
        <p:spPr bwMode="auto">
          <a:xfrm>
            <a:off x="3013075" y="4888245"/>
            <a:ext cx="103187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1"/>
                </a:moveTo>
                <a:cubicBezTo>
                  <a:pt x="0" y="80"/>
                  <a:pt x="24" y="103"/>
                  <a:pt x="52" y="103"/>
                </a:cubicBezTo>
                <a:cubicBezTo>
                  <a:pt x="81" y="103"/>
                  <a:pt x="104" y="80"/>
                  <a:pt x="104" y="51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23"/>
                  <a:pt x="81" y="0"/>
                  <a:pt x="52" y="0"/>
                </a:cubicBezTo>
                <a:cubicBezTo>
                  <a:pt x="24" y="0"/>
                  <a:pt x="0" y="23"/>
                  <a:pt x="0" y="51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1" name="Line 72"/>
          <p:cNvSpPr>
            <a:spLocks noChangeShapeType="1"/>
          </p:cNvSpPr>
          <p:nvPr/>
        </p:nvSpPr>
        <p:spPr bwMode="auto">
          <a:xfrm flipH="1">
            <a:off x="2459037" y="3978608"/>
            <a:ext cx="592138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2" name="Freeform 73"/>
          <p:cNvSpPr>
            <a:spLocks/>
          </p:cNvSpPr>
          <p:nvPr/>
        </p:nvSpPr>
        <p:spPr bwMode="auto">
          <a:xfrm>
            <a:off x="2998787" y="3923045"/>
            <a:ext cx="103188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2"/>
                </a:moveTo>
                <a:cubicBezTo>
                  <a:pt x="0" y="80"/>
                  <a:pt x="23" y="103"/>
                  <a:pt x="52" y="103"/>
                </a:cubicBezTo>
                <a:cubicBezTo>
                  <a:pt x="81" y="103"/>
                  <a:pt x="104" y="80"/>
                  <a:pt x="104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23" y="0"/>
                  <a:pt x="0" y="23"/>
                  <a:pt x="0" y="52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947" name="Text Box 75"/>
          <p:cNvSpPr txBox="1">
            <a:spLocks noChangeArrowheads="1"/>
          </p:cNvSpPr>
          <p:nvPr/>
        </p:nvSpPr>
        <p:spPr bwMode="auto">
          <a:xfrm>
            <a:off x="2283193" y="3472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3948" name="Text Box 76"/>
          <p:cNvSpPr txBox="1">
            <a:spLocks noChangeArrowheads="1"/>
          </p:cNvSpPr>
          <p:nvPr/>
        </p:nvSpPr>
        <p:spPr bwMode="auto">
          <a:xfrm>
            <a:off x="4230687" y="25577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49" name="Text Box 77"/>
          <p:cNvSpPr txBox="1">
            <a:spLocks noChangeArrowheads="1"/>
          </p:cNvSpPr>
          <p:nvPr/>
        </p:nvSpPr>
        <p:spPr bwMode="auto">
          <a:xfrm>
            <a:off x="4230687" y="4492958"/>
            <a:ext cx="5334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50" name="Text Box 78"/>
          <p:cNvSpPr txBox="1">
            <a:spLocks noChangeArrowheads="1"/>
          </p:cNvSpPr>
          <p:nvPr/>
        </p:nvSpPr>
        <p:spPr bwMode="auto">
          <a:xfrm>
            <a:off x="2616200" y="5058901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51" name="Text Box 79"/>
          <p:cNvSpPr txBox="1">
            <a:spLocks noChangeArrowheads="1"/>
          </p:cNvSpPr>
          <p:nvPr/>
        </p:nvSpPr>
        <p:spPr bwMode="auto">
          <a:xfrm>
            <a:off x="4230687" y="1948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54" name="Text Box 82"/>
          <p:cNvSpPr txBox="1">
            <a:spLocks noChangeArrowheads="1"/>
          </p:cNvSpPr>
          <p:nvPr/>
        </p:nvSpPr>
        <p:spPr bwMode="auto">
          <a:xfrm>
            <a:off x="4230687" y="5148595"/>
            <a:ext cx="381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3955" name="Text Box 83"/>
          <p:cNvSpPr txBox="1">
            <a:spLocks noChangeArrowheads="1"/>
          </p:cNvSpPr>
          <p:nvPr/>
        </p:nvSpPr>
        <p:spPr bwMode="auto">
          <a:xfrm>
            <a:off x="2616200" y="1651793"/>
            <a:ext cx="381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3956" name="Text Box 84"/>
          <p:cNvSpPr txBox="1">
            <a:spLocks noChangeArrowheads="1"/>
          </p:cNvSpPr>
          <p:nvPr/>
        </p:nvSpPr>
        <p:spPr bwMode="auto">
          <a:xfrm>
            <a:off x="4459287" y="2557795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463962" name="Text Box 90"/>
          <p:cNvSpPr txBox="1">
            <a:spLocks noChangeArrowheads="1"/>
          </p:cNvSpPr>
          <p:nvPr/>
        </p:nvSpPr>
        <p:spPr bwMode="auto">
          <a:xfrm>
            <a:off x="2548306" y="3449708"/>
            <a:ext cx="838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" name="Text Box 94">
            <a:extLst>
              <a:ext uri="{FF2B5EF4-FFF2-40B4-BE49-F238E27FC236}">
                <a16:creationId xmlns:a16="http://schemas.microsoft.com/office/drawing/2014/main" id="{64B10FA8-DF5E-654B-B971-209F38A0C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7" y="4492958"/>
            <a:ext cx="838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766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956" grpId="0"/>
      <p:bldP spid="463962" grpId="0"/>
      <p:bldP spid="108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CB8CC3-4488-3D49-9FE1-4A3D5308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86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87" name="Object 74">
            <a:extLst>
              <a:ext uri="{FF2B5EF4-FFF2-40B4-BE49-F238E27FC236}">
                <a16:creationId xmlns:a16="http://schemas.microsoft.com/office/drawing/2014/main" id="{2BBA8AE8-F8DD-4263-B50A-B51F917E1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686895"/>
              </p:ext>
            </p:extLst>
          </p:nvPr>
        </p:nvGraphicFramePr>
        <p:xfrm>
          <a:off x="6217708" y="4265152"/>
          <a:ext cx="285220" cy="42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37891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708" y="4265152"/>
                        <a:ext cx="285220" cy="427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AutoShape 5">
            <a:extLst>
              <a:ext uri="{FF2B5EF4-FFF2-40B4-BE49-F238E27FC236}">
                <a16:creationId xmlns:a16="http://schemas.microsoft.com/office/drawing/2014/main" id="{8093D75C-1F45-435F-950F-C732CE8E988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487487" y="1948195"/>
            <a:ext cx="5324475" cy="380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Line 6">
            <a:extLst>
              <a:ext uri="{FF2B5EF4-FFF2-40B4-BE49-F238E27FC236}">
                <a16:creationId xmlns:a16="http://schemas.microsoft.com/office/drawing/2014/main" id="{24B714FB-AEBA-494E-8120-7B79DCA2B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311858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Line 7">
            <a:extLst>
              <a:ext uri="{FF2B5EF4-FFF2-40B4-BE49-F238E27FC236}">
                <a16:creationId xmlns:a16="http://schemas.microsoft.com/office/drawing/2014/main" id="{141110F8-0B55-44C9-A6E6-CE1364A3D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489783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8">
            <a:extLst>
              <a:ext uri="{FF2B5EF4-FFF2-40B4-BE49-F238E27FC236}">
                <a16:creationId xmlns:a16="http://schemas.microsoft.com/office/drawing/2014/main" id="{68102076-48BC-41AC-B521-B50732F88096}"/>
              </a:ext>
            </a:extLst>
          </p:cNvPr>
          <p:cNvSpPr>
            <a:spLocks/>
          </p:cNvSpPr>
          <p:nvPr/>
        </p:nvSpPr>
        <p:spPr bwMode="auto">
          <a:xfrm>
            <a:off x="4487862" y="3442033"/>
            <a:ext cx="1211263" cy="1047750"/>
          </a:xfrm>
          <a:custGeom>
            <a:avLst/>
            <a:gdLst>
              <a:gd name="T0" fmla="*/ 2147483647 w 827"/>
              <a:gd name="T1" fmla="*/ 0 h 660"/>
              <a:gd name="T2" fmla="*/ 0 w 827"/>
              <a:gd name="T3" fmla="*/ 0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2147483647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0"/>
                </a:moveTo>
                <a:lnTo>
                  <a:pt x="0" y="0"/>
                </a:lnTo>
                <a:lnTo>
                  <a:pt x="0" y="220"/>
                </a:lnTo>
                <a:lnTo>
                  <a:pt x="827" y="440"/>
                </a:lnTo>
                <a:lnTo>
                  <a:pt x="827" y="66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9">
            <a:extLst>
              <a:ext uri="{FF2B5EF4-FFF2-40B4-BE49-F238E27FC236}">
                <a16:creationId xmlns:a16="http://schemas.microsoft.com/office/drawing/2014/main" id="{60600316-4E01-4AE2-A76B-6CC830FDBF1F}"/>
              </a:ext>
            </a:extLst>
          </p:cNvPr>
          <p:cNvSpPr>
            <a:spLocks/>
          </p:cNvSpPr>
          <p:nvPr/>
        </p:nvSpPr>
        <p:spPr bwMode="auto">
          <a:xfrm>
            <a:off x="5648325" y="4434220"/>
            <a:ext cx="103187" cy="112713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0"/>
                  <a:pt x="104" y="52"/>
                </a:cubicBezTo>
                <a:cubicBezTo>
                  <a:pt x="104" y="23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0">
            <a:extLst>
              <a:ext uri="{FF2B5EF4-FFF2-40B4-BE49-F238E27FC236}">
                <a16:creationId xmlns:a16="http://schemas.microsoft.com/office/drawing/2014/main" id="{00583B22-412A-4AD4-A266-FC8A1339565C}"/>
              </a:ext>
            </a:extLst>
          </p:cNvPr>
          <p:cNvSpPr>
            <a:spLocks/>
          </p:cNvSpPr>
          <p:nvPr/>
        </p:nvSpPr>
        <p:spPr bwMode="auto">
          <a:xfrm>
            <a:off x="4487862" y="3311858"/>
            <a:ext cx="1211263" cy="1047750"/>
          </a:xfrm>
          <a:custGeom>
            <a:avLst/>
            <a:gdLst>
              <a:gd name="T0" fmla="*/ 2147483647 w 827"/>
              <a:gd name="T1" fmla="*/ 2147483647 h 660"/>
              <a:gd name="T2" fmla="*/ 0 w 827"/>
              <a:gd name="T3" fmla="*/ 2147483647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0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660"/>
                </a:moveTo>
                <a:lnTo>
                  <a:pt x="0" y="660"/>
                </a:lnTo>
                <a:lnTo>
                  <a:pt x="0" y="440"/>
                </a:lnTo>
                <a:lnTo>
                  <a:pt x="827" y="220"/>
                </a:lnTo>
                <a:lnTo>
                  <a:pt x="827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1">
            <a:extLst>
              <a:ext uri="{FF2B5EF4-FFF2-40B4-BE49-F238E27FC236}">
                <a16:creationId xmlns:a16="http://schemas.microsoft.com/office/drawing/2014/main" id="{95B26D5A-64CD-4283-B781-092306B3476C}"/>
              </a:ext>
            </a:extLst>
          </p:cNvPr>
          <p:cNvSpPr>
            <a:spLocks/>
          </p:cNvSpPr>
          <p:nvPr/>
        </p:nvSpPr>
        <p:spPr bwMode="auto">
          <a:xfrm>
            <a:off x="5648325" y="3254708"/>
            <a:ext cx="103187" cy="112712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3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Rectangle 12">
            <a:extLst>
              <a:ext uri="{FF2B5EF4-FFF2-40B4-BE49-F238E27FC236}">
                <a16:creationId xmlns:a16="http://schemas.microsoft.com/office/drawing/2014/main" id="{EBF6A571-BE60-4C3F-99A5-0D7266D05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450" y="3153108"/>
            <a:ext cx="1857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96" name="Freeform 13">
            <a:extLst>
              <a:ext uri="{FF2B5EF4-FFF2-40B4-BE49-F238E27FC236}">
                <a16:creationId xmlns:a16="http://schemas.microsoft.com/office/drawing/2014/main" id="{A1B6E669-3224-4F68-B711-B18B575FCA4E}"/>
              </a:ext>
            </a:extLst>
          </p:cNvPr>
          <p:cNvSpPr>
            <a:spLocks noEditPoints="1"/>
          </p:cNvSpPr>
          <p:nvPr/>
        </p:nvSpPr>
        <p:spPr bwMode="auto">
          <a:xfrm>
            <a:off x="4471987" y="3180095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2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4">
            <a:extLst>
              <a:ext uri="{FF2B5EF4-FFF2-40B4-BE49-F238E27FC236}">
                <a16:creationId xmlns:a16="http://schemas.microsoft.com/office/drawing/2014/main" id="{44A0B755-CC26-4EFA-A91A-66ACF16FD51F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5">
            <a:extLst>
              <a:ext uri="{FF2B5EF4-FFF2-40B4-BE49-F238E27FC236}">
                <a16:creationId xmlns:a16="http://schemas.microsoft.com/office/drawing/2014/main" id="{9CF318C2-2525-4496-82E6-A031B8FEC018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6">
            <a:extLst>
              <a:ext uri="{FF2B5EF4-FFF2-40B4-BE49-F238E27FC236}">
                <a16:creationId xmlns:a16="http://schemas.microsoft.com/office/drawing/2014/main" id="{DDB69F71-A1F8-469F-B797-5F31470FBD94}"/>
              </a:ext>
            </a:extLst>
          </p:cNvPr>
          <p:cNvSpPr>
            <a:spLocks/>
          </p:cNvSpPr>
          <p:nvPr/>
        </p:nvSpPr>
        <p:spPr bwMode="auto">
          <a:xfrm>
            <a:off x="5294312" y="3273758"/>
            <a:ext cx="74613" cy="82550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7">
            <a:extLst>
              <a:ext uri="{FF2B5EF4-FFF2-40B4-BE49-F238E27FC236}">
                <a16:creationId xmlns:a16="http://schemas.microsoft.com/office/drawing/2014/main" id="{A63C20BB-F908-4988-BE94-5F7CDA34E73C}"/>
              </a:ext>
            </a:extLst>
          </p:cNvPr>
          <p:cNvSpPr>
            <a:spLocks/>
          </p:cNvSpPr>
          <p:nvPr/>
        </p:nvSpPr>
        <p:spPr bwMode="auto">
          <a:xfrm>
            <a:off x="5294312" y="3273758"/>
            <a:ext cx="74613" cy="82550"/>
          </a:xfrm>
          <a:custGeom>
            <a:avLst/>
            <a:gdLst>
              <a:gd name="T0" fmla="*/ 2147483647 w 51"/>
              <a:gd name="T1" fmla="*/ 2147483647 h 52"/>
              <a:gd name="T2" fmla="*/ 2147483647 w 51"/>
              <a:gd name="T3" fmla="*/ 0 h 52"/>
              <a:gd name="T4" fmla="*/ 0 w 51"/>
              <a:gd name="T5" fmla="*/ 2147483647 h 52"/>
              <a:gd name="T6" fmla="*/ 2147483647 w 51"/>
              <a:gd name="T7" fmla="*/ 2147483647 h 52"/>
              <a:gd name="T8" fmla="*/ 2147483647 w 51"/>
              <a:gd name="T9" fmla="*/ 2147483647 h 52"/>
              <a:gd name="T10" fmla="*/ 2147483647 w 51"/>
              <a:gd name="T11" fmla="*/ 2147483647 h 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2"/>
              <a:gd name="T20" fmla="*/ 51 w 51"/>
              <a:gd name="T21" fmla="*/ 52 h 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2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40"/>
                  <a:pt x="12" y="52"/>
                  <a:pt x="25" y="52"/>
                </a:cubicBezTo>
                <a:cubicBezTo>
                  <a:pt x="40" y="52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">
            <a:extLst>
              <a:ext uri="{FF2B5EF4-FFF2-40B4-BE49-F238E27FC236}">
                <a16:creationId xmlns:a16="http://schemas.microsoft.com/office/drawing/2014/main" id="{55207015-9634-40B1-9795-0964AB1CC3DC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Freeform 19">
            <a:extLst>
              <a:ext uri="{FF2B5EF4-FFF2-40B4-BE49-F238E27FC236}">
                <a16:creationId xmlns:a16="http://schemas.microsoft.com/office/drawing/2014/main" id="{0BCF2E09-D6E0-4171-9616-A6EC06A366C2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20">
            <a:extLst>
              <a:ext uri="{FF2B5EF4-FFF2-40B4-BE49-F238E27FC236}">
                <a16:creationId xmlns:a16="http://schemas.microsoft.com/office/drawing/2014/main" id="{63BCCD78-8EBE-411A-BCFC-188DB0C083C5}"/>
              </a:ext>
            </a:extLst>
          </p:cNvPr>
          <p:cNvSpPr>
            <a:spLocks noEditPoints="1"/>
          </p:cNvSpPr>
          <p:nvPr/>
        </p:nvSpPr>
        <p:spPr bwMode="auto">
          <a:xfrm>
            <a:off x="4503737" y="4354845"/>
            <a:ext cx="996950" cy="269875"/>
          </a:xfrm>
          <a:custGeom>
            <a:avLst/>
            <a:gdLst>
              <a:gd name="T0" fmla="*/ 0 w 681"/>
              <a:gd name="T1" fmla="*/ 0 h 170"/>
              <a:gd name="T2" fmla="*/ 2147483647 w 681"/>
              <a:gd name="T3" fmla="*/ 0 h 170"/>
              <a:gd name="T4" fmla="*/ 0 w 681"/>
              <a:gd name="T5" fmla="*/ 2147483647 h 170"/>
              <a:gd name="T6" fmla="*/ 2147483647 w 681"/>
              <a:gd name="T7" fmla="*/ 2147483647 h 170"/>
              <a:gd name="T8" fmla="*/ 2147483647 w 681"/>
              <a:gd name="T9" fmla="*/ 2147483647 h 170"/>
              <a:gd name="T10" fmla="*/ 2147483647 w 681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1"/>
              <a:gd name="T19" fmla="*/ 0 h 170"/>
              <a:gd name="T20" fmla="*/ 681 w 681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1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1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21">
            <a:extLst>
              <a:ext uri="{FF2B5EF4-FFF2-40B4-BE49-F238E27FC236}">
                <a16:creationId xmlns:a16="http://schemas.microsoft.com/office/drawing/2014/main" id="{FE0A2145-4E0F-47D6-B331-2F7EF635410C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22">
            <a:extLst>
              <a:ext uri="{FF2B5EF4-FFF2-40B4-BE49-F238E27FC236}">
                <a16:creationId xmlns:a16="http://schemas.microsoft.com/office/drawing/2014/main" id="{906061C1-C7F5-4216-9D8D-43B8BE49F058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3">
            <a:extLst>
              <a:ext uri="{FF2B5EF4-FFF2-40B4-BE49-F238E27FC236}">
                <a16:creationId xmlns:a16="http://schemas.microsoft.com/office/drawing/2014/main" id="{24EE9EFD-7C77-4EE7-8A62-4141CBC30E7F}"/>
              </a:ext>
            </a:extLst>
          </p:cNvPr>
          <p:cNvSpPr>
            <a:spLocks/>
          </p:cNvSpPr>
          <p:nvPr/>
        </p:nvSpPr>
        <p:spPr bwMode="auto">
          <a:xfrm>
            <a:off x="5326062" y="4448508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59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24">
            <a:extLst>
              <a:ext uri="{FF2B5EF4-FFF2-40B4-BE49-F238E27FC236}">
                <a16:creationId xmlns:a16="http://schemas.microsoft.com/office/drawing/2014/main" id="{93D2022A-8D13-4D27-8CD1-03B48078E48D}"/>
              </a:ext>
            </a:extLst>
          </p:cNvPr>
          <p:cNvSpPr>
            <a:spLocks/>
          </p:cNvSpPr>
          <p:nvPr/>
        </p:nvSpPr>
        <p:spPr bwMode="auto">
          <a:xfrm>
            <a:off x="5326062" y="4448508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25">
            <a:extLst>
              <a:ext uri="{FF2B5EF4-FFF2-40B4-BE49-F238E27FC236}">
                <a16:creationId xmlns:a16="http://schemas.microsoft.com/office/drawing/2014/main" id="{2FCEFACF-3D22-40F0-B74A-7C298DF40E7A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26">
            <a:extLst>
              <a:ext uri="{FF2B5EF4-FFF2-40B4-BE49-F238E27FC236}">
                <a16:creationId xmlns:a16="http://schemas.microsoft.com/office/drawing/2014/main" id="{17ECF210-D09C-4C10-A13B-A17D902D9F2C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27">
            <a:extLst>
              <a:ext uri="{FF2B5EF4-FFF2-40B4-BE49-F238E27FC236}">
                <a16:creationId xmlns:a16="http://schemas.microsoft.com/office/drawing/2014/main" id="{C7BE8695-43D3-48E9-A426-8FCA08D9FEF1}"/>
              </a:ext>
            </a:extLst>
          </p:cNvPr>
          <p:cNvSpPr>
            <a:spLocks/>
          </p:cNvSpPr>
          <p:nvPr/>
        </p:nvSpPr>
        <p:spPr bwMode="auto">
          <a:xfrm>
            <a:off x="4278312" y="3180095"/>
            <a:ext cx="193675" cy="4763"/>
          </a:xfrm>
          <a:custGeom>
            <a:avLst/>
            <a:gdLst>
              <a:gd name="T0" fmla="*/ 2147483647 w 133"/>
              <a:gd name="T1" fmla="*/ 0 h 3"/>
              <a:gd name="T2" fmla="*/ 2147483647 w 133"/>
              <a:gd name="T3" fmla="*/ 0 h 3"/>
              <a:gd name="T4" fmla="*/ 2147483647 w 133"/>
              <a:gd name="T5" fmla="*/ 2147483647 h 3"/>
              <a:gd name="T6" fmla="*/ 0 w 133"/>
              <a:gd name="T7" fmla="*/ 2147483647 h 3"/>
              <a:gd name="T8" fmla="*/ 0 60000 65536"/>
              <a:gd name="T9" fmla="*/ 0 60000 65536"/>
              <a:gd name="T10" fmla="*/ 0 60000 65536"/>
              <a:gd name="T11" fmla="*/ 0 60000 65536"/>
              <a:gd name="T12" fmla="*/ 0 w 133"/>
              <a:gd name="T13" fmla="*/ 0 h 3"/>
              <a:gd name="T14" fmla="*/ 133 w 133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" h="3">
                <a:moveTo>
                  <a:pt x="133" y="0"/>
                </a:moveTo>
                <a:lnTo>
                  <a:pt x="53" y="0"/>
                </a:lnTo>
                <a:lnTo>
                  <a:pt x="53" y="3"/>
                </a:lnTo>
                <a:lnTo>
                  <a:pt x="0" y="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28">
            <a:extLst>
              <a:ext uri="{FF2B5EF4-FFF2-40B4-BE49-F238E27FC236}">
                <a16:creationId xmlns:a16="http://schemas.microsoft.com/office/drawing/2014/main" id="{66EABBB6-CD0E-4F7A-82BA-BACA53A425D4}"/>
              </a:ext>
            </a:extLst>
          </p:cNvPr>
          <p:cNvSpPr>
            <a:spLocks/>
          </p:cNvSpPr>
          <p:nvPr/>
        </p:nvSpPr>
        <p:spPr bwMode="auto">
          <a:xfrm>
            <a:off x="4278312" y="4624720"/>
            <a:ext cx="225425" cy="1588"/>
          </a:xfrm>
          <a:custGeom>
            <a:avLst/>
            <a:gdLst>
              <a:gd name="T0" fmla="*/ 2147483647 w 154"/>
              <a:gd name="T1" fmla="*/ 0 h 1588"/>
              <a:gd name="T2" fmla="*/ 2147483647 w 154"/>
              <a:gd name="T3" fmla="*/ 0 h 1588"/>
              <a:gd name="T4" fmla="*/ 2147483647 w 154"/>
              <a:gd name="T5" fmla="*/ 0 h 1588"/>
              <a:gd name="T6" fmla="*/ 0 w 154"/>
              <a:gd name="T7" fmla="*/ 0 h 158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1588"/>
              <a:gd name="T14" fmla="*/ 154 w 154"/>
              <a:gd name="T15" fmla="*/ 1588 h 1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1588">
                <a:moveTo>
                  <a:pt x="154" y="0"/>
                </a:moveTo>
                <a:lnTo>
                  <a:pt x="115" y="0"/>
                </a:ln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Rectangle 29">
            <a:extLst>
              <a:ext uri="{FF2B5EF4-FFF2-40B4-BE49-F238E27FC236}">
                <a16:creationId xmlns:a16="http://schemas.microsoft.com/office/drawing/2014/main" id="{B7EC5222-9159-4C77-B623-E00001D60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87" y="5377195"/>
            <a:ext cx="2016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14" name="Freeform 33">
            <a:extLst>
              <a:ext uri="{FF2B5EF4-FFF2-40B4-BE49-F238E27FC236}">
                <a16:creationId xmlns:a16="http://schemas.microsoft.com/office/drawing/2014/main" id="{278BAC1B-C642-467A-ACA7-BD52D3E846D4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3049920"/>
            <a:ext cx="1000125" cy="268288"/>
          </a:xfrm>
          <a:custGeom>
            <a:avLst/>
            <a:gdLst>
              <a:gd name="T0" fmla="*/ 0 w 682"/>
              <a:gd name="T1" fmla="*/ 0 h 169"/>
              <a:gd name="T2" fmla="*/ 2147483647 w 682"/>
              <a:gd name="T3" fmla="*/ 0 h 169"/>
              <a:gd name="T4" fmla="*/ 0 w 682"/>
              <a:gd name="T5" fmla="*/ 2147483647 h 169"/>
              <a:gd name="T6" fmla="*/ 2147483647 w 682"/>
              <a:gd name="T7" fmla="*/ 2147483647 h 169"/>
              <a:gd name="T8" fmla="*/ 2147483647 w 682"/>
              <a:gd name="T9" fmla="*/ 2147483647 h 169"/>
              <a:gd name="T10" fmla="*/ 2147483647 w 682"/>
              <a:gd name="T11" fmla="*/ 2147483647 h 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69"/>
              <a:gd name="T20" fmla="*/ 682 w 682"/>
              <a:gd name="T21" fmla="*/ 169 h 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69">
                <a:moveTo>
                  <a:pt x="0" y="0"/>
                </a:moveTo>
                <a:lnTo>
                  <a:pt x="340" y="0"/>
                </a:lnTo>
                <a:moveTo>
                  <a:pt x="0" y="169"/>
                </a:moveTo>
                <a:lnTo>
                  <a:pt x="340" y="169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34">
            <a:extLst>
              <a:ext uri="{FF2B5EF4-FFF2-40B4-BE49-F238E27FC236}">
                <a16:creationId xmlns:a16="http://schemas.microsoft.com/office/drawing/2014/main" id="{FFFA1133-599A-4D7C-8C71-DCDAD64DD7CD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35">
            <a:extLst>
              <a:ext uri="{FF2B5EF4-FFF2-40B4-BE49-F238E27FC236}">
                <a16:creationId xmlns:a16="http://schemas.microsoft.com/office/drawing/2014/main" id="{5791B2A9-AAC8-445A-BF99-AB6EEFC4AA82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36">
            <a:extLst>
              <a:ext uri="{FF2B5EF4-FFF2-40B4-BE49-F238E27FC236}">
                <a16:creationId xmlns:a16="http://schemas.microsoft.com/office/drawing/2014/main" id="{7F085AF6-C652-4842-B580-B71A4F7C57EE}"/>
              </a:ext>
            </a:extLst>
          </p:cNvPr>
          <p:cNvSpPr>
            <a:spLocks/>
          </p:cNvSpPr>
          <p:nvPr/>
        </p:nvSpPr>
        <p:spPr bwMode="auto">
          <a:xfrm>
            <a:off x="4100512" y="314358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37">
            <a:extLst>
              <a:ext uri="{FF2B5EF4-FFF2-40B4-BE49-F238E27FC236}">
                <a16:creationId xmlns:a16="http://schemas.microsoft.com/office/drawing/2014/main" id="{E6B4E567-CEAF-476B-86E7-3E0B55000B3F}"/>
              </a:ext>
            </a:extLst>
          </p:cNvPr>
          <p:cNvSpPr>
            <a:spLocks/>
          </p:cNvSpPr>
          <p:nvPr/>
        </p:nvSpPr>
        <p:spPr bwMode="auto">
          <a:xfrm>
            <a:off x="4100512" y="314358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38">
            <a:extLst>
              <a:ext uri="{FF2B5EF4-FFF2-40B4-BE49-F238E27FC236}">
                <a16:creationId xmlns:a16="http://schemas.microsoft.com/office/drawing/2014/main" id="{9286FBDB-123D-488C-B585-344EE0997638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0" name="Freeform 39">
            <a:extLst>
              <a:ext uri="{FF2B5EF4-FFF2-40B4-BE49-F238E27FC236}">
                <a16:creationId xmlns:a16="http://schemas.microsoft.com/office/drawing/2014/main" id="{F5368BB4-AE89-4A78-9E96-24F96A08677D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40">
            <a:extLst>
              <a:ext uri="{FF2B5EF4-FFF2-40B4-BE49-F238E27FC236}">
                <a16:creationId xmlns:a16="http://schemas.microsoft.com/office/drawing/2014/main" id="{03D9D900-2381-40E1-ADC6-81B9829CC60E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4488195"/>
            <a:ext cx="1000125" cy="271463"/>
          </a:xfrm>
          <a:custGeom>
            <a:avLst/>
            <a:gdLst>
              <a:gd name="T0" fmla="*/ 0 w 682"/>
              <a:gd name="T1" fmla="*/ 0 h 171"/>
              <a:gd name="T2" fmla="*/ 2147483647 w 682"/>
              <a:gd name="T3" fmla="*/ 0 h 171"/>
              <a:gd name="T4" fmla="*/ 0 w 682"/>
              <a:gd name="T5" fmla="*/ 2147483647 h 171"/>
              <a:gd name="T6" fmla="*/ 2147483647 w 682"/>
              <a:gd name="T7" fmla="*/ 2147483647 h 171"/>
              <a:gd name="T8" fmla="*/ 0 w 682"/>
              <a:gd name="T9" fmla="*/ 2147483647 h 171"/>
              <a:gd name="T10" fmla="*/ 2147483647 w 682"/>
              <a:gd name="T11" fmla="*/ 2147483647 h 171"/>
              <a:gd name="T12" fmla="*/ 2147483647 w 682"/>
              <a:gd name="T13" fmla="*/ 2147483647 h 171"/>
              <a:gd name="T14" fmla="*/ 2147483647 w 682"/>
              <a:gd name="T15" fmla="*/ 2147483647 h 1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82"/>
              <a:gd name="T25" fmla="*/ 0 h 171"/>
              <a:gd name="T26" fmla="*/ 682 w 682"/>
              <a:gd name="T27" fmla="*/ 171 h 1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82" h="171">
                <a:moveTo>
                  <a:pt x="0" y="0"/>
                </a:moveTo>
                <a:lnTo>
                  <a:pt x="340" y="0"/>
                </a:lnTo>
                <a:moveTo>
                  <a:pt x="0" y="86"/>
                </a:moveTo>
                <a:lnTo>
                  <a:pt x="340" y="86"/>
                </a:lnTo>
                <a:moveTo>
                  <a:pt x="0" y="171"/>
                </a:moveTo>
                <a:lnTo>
                  <a:pt x="340" y="171"/>
                </a:lnTo>
                <a:moveTo>
                  <a:pt x="682" y="86"/>
                </a:moveTo>
                <a:lnTo>
                  <a:pt x="340" y="86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41">
            <a:extLst>
              <a:ext uri="{FF2B5EF4-FFF2-40B4-BE49-F238E27FC236}">
                <a16:creationId xmlns:a16="http://schemas.microsoft.com/office/drawing/2014/main" id="{BA2748D8-587A-4746-A3A8-132788D0B60F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Freeform 42">
            <a:extLst>
              <a:ext uri="{FF2B5EF4-FFF2-40B4-BE49-F238E27FC236}">
                <a16:creationId xmlns:a16="http://schemas.microsoft.com/office/drawing/2014/main" id="{E6484C37-37D0-474A-825F-1A6D79D278DC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Freeform 43">
            <a:extLst>
              <a:ext uri="{FF2B5EF4-FFF2-40B4-BE49-F238E27FC236}">
                <a16:creationId xmlns:a16="http://schemas.microsoft.com/office/drawing/2014/main" id="{E62B573B-2A15-408B-BEDE-AC178A4C7AA4}"/>
              </a:ext>
            </a:extLst>
          </p:cNvPr>
          <p:cNvSpPr>
            <a:spLocks/>
          </p:cNvSpPr>
          <p:nvPr/>
        </p:nvSpPr>
        <p:spPr bwMode="auto">
          <a:xfrm>
            <a:off x="4100512" y="4583445"/>
            <a:ext cx="74613" cy="80963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7"/>
                </a:cubicBezTo>
                <a:cubicBezTo>
                  <a:pt x="75" y="37"/>
                  <a:pt x="75" y="37"/>
                  <a:pt x="75" y="37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Freeform 44">
            <a:extLst>
              <a:ext uri="{FF2B5EF4-FFF2-40B4-BE49-F238E27FC236}">
                <a16:creationId xmlns:a16="http://schemas.microsoft.com/office/drawing/2014/main" id="{2AB61842-0B3A-4AC9-836E-B7553F6D10A7}"/>
              </a:ext>
            </a:extLst>
          </p:cNvPr>
          <p:cNvSpPr>
            <a:spLocks/>
          </p:cNvSpPr>
          <p:nvPr/>
        </p:nvSpPr>
        <p:spPr bwMode="auto">
          <a:xfrm>
            <a:off x="4100512" y="4583445"/>
            <a:ext cx="74613" cy="80963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Freeform 45">
            <a:extLst>
              <a:ext uri="{FF2B5EF4-FFF2-40B4-BE49-F238E27FC236}">
                <a16:creationId xmlns:a16="http://schemas.microsoft.com/office/drawing/2014/main" id="{F1A7E1A3-5846-4A6D-98F1-4909C22D0F7A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7" name="Freeform 46">
            <a:extLst>
              <a:ext uri="{FF2B5EF4-FFF2-40B4-BE49-F238E27FC236}">
                <a16:creationId xmlns:a16="http://schemas.microsoft.com/office/drawing/2014/main" id="{5BC53A54-5671-4060-93FF-4DB878C74636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Freeform 47">
            <a:extLst>
              <a:ext uri="{FF2B5EF4-FFF2-40B4-BE49-F238E27FC236}">
                <a16:creationId xmlns:a16="http://schemas.microsoft.com/office/drawing/2014/main" id="{98940116-509A-4457-9DA2-17FA9C457DD4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2141870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Freeform 48">
            <a:extLst>
              <a:ext uri="{FF2B5EF4-FFF2-40B4-BE49-F238E27FC236}">
                <a16:creationId xmlns:a16="http://schemas.microsoft.com/office/drawing/2014/main" id="{ABF575B2-9F9B-4070-A80D-6D14D88299B3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Freeform 49">
            <a:extLst>
              <a:ext uri="{FF2B5EF4-FFF2-40B4-BE49-F238E27FC236}">
                <a16:creationId xmlns:a16="http://schemas.microsoft.com/office/drawing/2014/main" id="{2609DEFC-1B6C-4804-B0BB-52063A3061B5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Freeform 50">
            <a:extLst>
              <a:ext uri="{FF2B5EF4-FFF2-40B4-BE49-F238E27FC236}">
                <a16:creationId xmlns:a16="http://schemas.microsoft.com/office/drawing/2014/main" id="{9E5895F6-4197-4723-87FA-C4469F0201C7}"/>
              </a:ext>
            </a:extLst>
          </p:cNvPr>
          <p:cNvSpPr>
            <a:spLocks/>
          </p:cNvSpPr>
          <p:nvPr/>
        </p:nvSpPr>
        <p:spPr bwMode="auto">
          <a:xfrm>
            <a:off x="4100512" y="223553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Freeform 51">
            <a:extLst>
              <a:ext uri="{FF2B5EF4-FFF2-40B4-BE49-F238E27FC236}">
                <a16:creationId xmlns:a16="http://schemas.microsoft.com/office/drawing/2014/main" id="{83F1A51A-5B5D-4328-BC1D-EBCB73C32528}"/>
              </a:ext>
            </a:extLst>
          </p:cNvPr>
          <p:cNvSpPr>
            <a:spLocks/>
          </p:cNvSpPr>
          <p:nvPr/>
        </p:nvSpPr>
        <p:spPr bwMode="auto">
          <a:xfrm>
            <a:off x="4100512" y="223553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1"/>
                  <a:pt x="40" y="0"/>
                  <a:pt x="25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39"/>
                  <a:pt x="11" y="51"/>
                  <a:pt x="25" y="51"/>
                </a:cubicBezTo>
                <a:cubicBezTo>
                  <a:pt x="40" y="51"/>
                  <a:pt x="51" y="39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Freeform 52">
            <a:extLst>
              <a:ext uri="{FF2B5EF4-FFF2-40B4-BE49-F238E27FC236}">
                <a16:creationId xmlns:a16="http://schemas.microsoft.com/office/drawing/2014/main" id="{97E7B9B8-38AD-47CF-827F-B979E67D8514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Freeform 53">
            <a:extLst>
              <a:ext uri="{FF2B5EF4-FFF2-40B4-BE49-F238E27FC236}">
                <a16:creationId xmlns:a16="http://schemas.microsoft.com/office/drawing/2014/main" id="{E9A2D466-4FA6-4903-BF15-1C24D7868491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5" name="Freeform 54">
            <a:extLst>
              <a:ext uri="{FF2B5EF4-FFF2-40B4-BE49-F238E27FC236}">
                <a16:creationId xmlns:a16="http://schemas.microsoft.com/office/drawing/2014/main" id="{B463F515-AB3F-4A2D-A725-DB150063CA80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5348620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Freeform 55">
            <a:extLst>
              <a:ext uri="{FF2B5EF4-FFF2-40B4-BE49-F238E27FC236}">
                <a16:creationId xmlns:a16="http://schemas.microsoft.com/office/drawing/2014/main" id="{24226C77-A3A4-4C06-BAD8-3F1106C01C46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Freeform 56">
            <a:extLst>
              <a:ext uri="{FF2B5EF4-FFF2-40B4-BE49-F238E27FC236}">
                <a16:creationId xmlns:a16="http://schemas.microsoft.com/office/drawing/2014/main" id="{521736ED-CB98-4B69-8B0E-3E2AB6BF827B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Freeform 57">
            <a:extLst>
              <a:ext uri="{FF2B5EF4-FFF2-40B4-BE49-F238E27FC236}">
                <a16:creationId xmlns:a16="http://schemas.microsoft.com/office/drawing/2014/main" id="{0F2DB347-1155-4114-86A2-B7DCD8B9F0EE}"/>
              </a:ext>
            </a:extLst>
          </p:cNvPr>
          <p:cNvSpPr>
            <a:spLocks/>
          </p:cNvSpPr>
          <p:nvPr/>
        </p:nvSpPr>
        <p:spPr bwMode="auto">
          <a:xfrm>
            <a:off x="4100512" y="544228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Freeform 58">
            <a:extLst>
              <a:ext uri="{FF2B5EF4-FFF2-40B4-BE49-F238E27FC236}">
                <a16:creationId xmlns:a16="http://schemas.microsoft.com/office/drawing/2014/main" id="{0927FA33-3437-4E27-ADF0-41102E4337D9}"/>
              </a:ext>
            </a:extLst>
          </p:cNvPr>
          <p:cNvSpPr>
            <a:spLocks/>
          </p:cNvSpPr>
          <p:nvPr/>
        </p:nvSpPr>
        <p:spPr bwMode="auto">
          <a:xfrm>
            <a:off x="4100512" y="544228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Freeform 59">
            <a:extLst>
              <a:ext uri="{FF2B5EF4-FFF2-40B4-BE49-F238E27FC236}">
                <a16:creationId xmlns:a16="http://schemas.microsoft.com/office/drawing/2014/main" id="{80B7AFCF-7970-4D9B-8043-31D91F3097DF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1" name="Freeform 60">
            <a:extLst>
              <a:ext uri="{FF2B5EF4-FFF2-40B4-BE49-F238E27FC236}">
                <a16:creationId xmlns:a16="http://schemas.microsoft.com/office/drawing/2014/main" id="{906D4E93-23DC-40A2-B8D9-C26854A1ACC9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Freeform 61">
            <a:extLst>
              <a:ext uri="{FF2B5EF4-FFF2-40B4-BE49-F238E27FC236}">
                <a16:creationId xmlns:a16="http://schemas.microsoft.com/office/drawing/2014/main" id="{15F15807-1ABC-4F1F-A36D-EBF55BB75C91}"/>
              </a:ext>
            </a:extLst>
          </p:cNvPr>
          <p:cNvSpPr>
            <a:spLocks/>
          </p:cNvSpPr>
          <p:nvPr/>
        </p:nvSpPr>
        <p:spPr bwMode="auto">
          <a:xfrm>
            <a:off x="3065462" y="2402220"/>
            <a:ext cx="1212850" cy="782638"/>
          </a:xfrm>
          <a:custGeom>
            <a:avLst/>
            <a:gdLst>
              <a:gd name="T0" fmla="*/ 2147483647 w 827"/>
              <a:gd name="T1" fmla="*/ 0 h 493"/>
              <a:gd name="T2" fmla="*/ 0 w 827"/>
              <a:gd name="T3" fmla="*/ 0 h 493"/>
              <a:gd name="T4" fmla="*/ 0 w 827"/>
              <a:gd name="T5" fmla="*/ 2147483647 h 493"/>
              <a:gd name="T6" fmla="*/ 2147483647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145" y="0"/>
                </a:moveTo>
                <a:lnTo>
                  <a:pt x="0" y="0"/>
                </a:lnTo>
                <a:lnTo>
                  <a:pt x="0" y="106"/>
                </a:lnTo>
                <a:lnTo>
                  <a:pt x="827" y="353"/>
                </a:lnTo>
                <a:lnTo>
                  <a:pt x="827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Freeform 62">
            <a:extLst>
              <a:ext uri="{FF2B5EF4-FFF2-40B4-BE49-F238E27FC236}">
                <a16:creationId xmlns:a16="http://schemas.microsoft.com/office/drawing/2014/main" id="{5C127427-9635-41CD-83FC-97240656A2D5}"/>
              </a:ext>
            </a:extLst>
          </p:cNvPr>
          <p:cNvSpPr>
            <a:spLocks/>
          </p:cNvSpPr>
          <p:nvPr/>
        </p:nvSpPr>
        <p:spPr bwMode="auto">
          <a:xfrm>
            <a:off x="4224337" y="3127708"/>
            <a:ext cx="104775" cy="112712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1" y="104"/>
                  <a:pt x="104" y="80"/>
                  <a:pt x="104" y="52"/>
                </a:cubicBezTo>
                <a:cubicBezTo>
                  <a:pt x="104" y="23"/>
                  <a:pt x="81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Freeform 63">
            <a:extLst>
              <a:ext uri="{FF2B5EF4-FFF2-40B4-BE49-F238E27FC236}">
                <a16:creationId xmlns:a16="http://schemas.microsoft.com/office/drawing/2014/main" id="{DC27FC0F-AD8D-4F82-B265-E64DADE7A590}"/>
              </a:ext>
            </a:extLst>
          </p:cNvPr>
          <p:cNvSpPr>
            <a:spLocks/>
          </p:cNvSpPr>
          <p:nvPr/>
        </p:nvSpPr>
        <p:spPr bwMode="auto">
          <a:xfrm>
            <a:off x="3065462" y="2267283"/>
            <a:ext cx="1212850" cy="782637"/>
          </a:xfrm>
          <a:custGeom>
            <a:avLst/>
            <a:gdLst>
              <a:gd name="T0" fmla="*/ 2147483647 w 827"/>
              <a:gd name="T1" fmla="*/ 0 h 493"/>
              <a:gd name="T2" fmla="*/ 2147483647 w 827"/>
              <a:gd name="T3" fmla="*/ 2147483647 h 493"/>
              <a:gd name="T4" fmla="*/ 0 w 827"/>
              <a:gd name="T5" fmla="*/ 2147483647 h 493"/>
              <a:gd name="T6" fmla="*/ 0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827" y="0"/>
                </a:moveTo>
                <a:lnTo>
                  <a:pt x="827" y="191"/>
                </a:lnTo>
                <a:lnTo>
                  <a:pt x="0" y="397"/>
                </a:lnTo>
                <a:lnTo>
                  <a:pt x="0" y="490"/>
                </a:lnTo>
                <a:lnTo>
                  <a:pt x="145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Freeform 64">
            <a:extLst>
              <a:ext uri="{FF2B5EF4-FFF2-40B4-BE49-F238E27FC236}">
                <a16:creationId xmlns:a16="http://schemas.microsoft.com/office/drawing/2014/main" id="{3B33EC8A-7EB5-42C7-97F0-1FE6718B0F1A}"/>
              </a:ext>
            </a:extLst>
          </p:cNvPr>
          <p:cNvSpPr>
            <a:spLocks/>
          </p:cNvSpPr>
          <p:nvPr/>
        </p:nvSpPr>
        <p:spPr bwMode="auto">
          <a:xfrm>
            <a:off x="3051175" y="3318208"/>
            <a:ext cx="227012" cy="1306512"/>
          </a:xfrm>
          <a:custGeom>
            <a:avLst/>
            <a:gdLst>
              <a:gd name="T0" fmla="*/ 2147483647 w 155"/>
              <a:gd name="T1" fmla="*/ 0 h 823"/>
              <a:gd name="T2" fmla="*/ 0 w 155"/>
              <a:gd name="T3" fmla="*/ 0 h 823"/>
              <a:gd name="T4" fmla="*/ 0 w 155"/>
              <a:gd name="T5" fmla="*/ 2147483647 h 823"/>
              <a:gd name="T6" fmla="*/ 2147483647 w 155"/>
              <a:gd name="T7" fmla="*/ 2147483647 h 823"/>
              <a:gd name="T8" fmla="*/ 0 60000 65536"/>
              <a:gd name="T9" fmla="*/ 0 60000 65536"/>
              <a:gd name="T10" fmla="*/ 0 60000 65536"/>
              <a:gd name="T11" fmla="*/ 0 60000 65536"/>
              <a:gd name="T12" fmla="*/ 0 w 155"/>
              <a:gd name="T13" fmla="*/ 0 h 823"/>
              <a:gd name="T14" fmla="*/ 155 w 155"/>
              <a:gd name="T15" fmla="*/ 823 h 8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" h="823">
                <a:moveTo>
                  <a:pt x="155" y="0"/>
                </a:moveTo>
                <a:lnTo>
                  <a:pt x="0" y="0"/>
                </a:lnTo>
                <a:lnTo>
                  <a:pt x="0" y="823"/>
                </a:lnTo>
                <a:lnTo>
                  <a:pt x="155" y="82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Freeform 65">
            <a:extLst>
              <a:ext uri="{FF2B5EF4-FFF2-40B4-BE49-F238E27FC236}">
                <a16:creationId xmlns:a16="http://schemas.microsoft.com/office/drawing/2014/main" id="{A63ACFBC-8EC6-42FF-82E3-E7F13C9747E4}"/>
              </a:ext>
            </a:extLst>
          </p:cNvPr>
          <p:cNvSpPr>
            <a:spLocks/>
          </p:cNvSpPr>
          <p:nvPr/>
        </p:nvSpPr>
        <p:spPr bwMode="auto">
          <a:xfrm>
            <a:off x="3160712" y="3184858"/>
            <a:ext cx="1117600" cy="1303337"/>
          </a:xfrm>
          <a:custGeom>
            <a:avLst/>
            <a:gdLst>
              <a:gd name="T0" fmla="*/ 2147483647 w 762"/>
              <a:gd name="T1" fmla="*/ 2147483647 h 821"/>
              <a:gd name="T2" fmla="*/ 0 w 762"/>
              <a:gd name="T3" fmla="*/ 2147483647 h 821"/>
              <a:gd name="T4" fmla="*/ 0 w 762"/>
              <a:gd name="T5" fmla="*/ 2147483647 h 821"/>
              <a:gd name="T6" fmla="*/ 2147483647 w 762"/>
              <a:gd name="T7" fmla="*/ 2147483647 h 821"/>
              <a:gd name="T8" fmla="*/ 2147483647 w 762"/>
              <a:gd name="T9" fmla="*/ 0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2"/>
              <a:gd name="T16" fmla="*/ 0 h 821"/>
              <a:gd name="T17" fmla="*/ 762 w 762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2" h="821">
                <a:moveTo>
                  <a:pt x="80" y="821"/>
                </a:moveTo>
                <a:lnTo>
                  <a:pt x="0" y="821"/>
                </a:lnTo>
                <a:lnTo>
                  <a:pt x="0" y="657"/>
                </a:lnTo>
                <a:lnTo>
                  <a:pt x="762" y="657"/>
                </a:lnTo>
                <a:lnTo>
                  <a:pt x="762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Freeform 66">
            <a:extLst>
              <a:ext uri="{FF2B5EF4-FFF2-40B4-BE49-F238E27FC236}">
                <a16:creationId xmlns:a16="http://schemas.microsoft.com/office/drawing/2014/main" id="{9C06F2B6-1AD6-4102-A4AF-62BEA557347F}"/>
              </a:ext>
            </a:extLst>
          </p:cNvPr>
          <p:cNvSpPr>
            <a:spLocks/>
          </p:cNvSpPr>
          <p:nvPr/>
        </p:nvSpPr>
        <p:spPr bwMode="auto">
          <a:xfrm>
            <a:off x="3065462" y="4624720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2147483647 w 827"/>
              <a:gd name="T3" fmla="*/ 2147483647 h 456"/>
              <a:gd name="T4" fmla="*/ 0 w 827"/>
              <a:gd name="T5" fmla="*/ 2147483647 h 456"/>
              <a:gd name="T6" fmla="*/ 0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827" y="0"/>
                </a:moveTo>
                <a:lnTo>
                  <a:pt x="827" y="149"/>
                </a:lnTo>
                <a:lnTo>
                  <a:pt x="0" y="355"/>
                </a:lnTo>
                <a:lnTo>
                  <a:pt x="0" y="453"/>
                </a:lnTo>
                <a:lnTo>
                  <a:pt x="145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Freeform 67">
            <a:extLst>
              <a:ext uri="{FF2B5EF4-FFF2-40B4-BE49-F238E27FC236}">
                <a16:creationId xmlns:a16="http://schemas.microsoft.com/office/drawing/2014/main" id="{34BB58DC-37A2-4C23-95B8-7EE08955FD50}"/>
              </a:ext>
            </a:extLst>
          </p:cNvPr>
          <p:cNvSpPr>
            <a:spLocks/>
          </p:cNvSpPr>
          <p:nvPr/>
        </p:nvSpPr>
        <p:spPr bwMode="auto">
          <a:xfrm>
            <a:off x="4224337" y="4567570"/>
            <a:ext cx="104775" cy="112713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4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Freeform 68">
            <a:extLst>
              <a:ext uri="{FF2B5EF4-FFF2-40B4-BE49-F238E27FC236}">
                <a16:creationId xmlns:a16="http://schemas.microsoft.com/office/drawing/2014/main" id="{BF092162-CF8C-467C-A86A-EC347D457435}"/>
              </a:ext>
            </a:extLst>
          </p:cNvPr>
          <p:cNvSpPr>
            <a:spLocks/>
          </p:cNvSpPr>
          <p:nvPr/>
        </p:nvSpPr>
        <p:spPr bwMode="auto">
          <a:xfrm>
            <a:off x="3065462" y="4759658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0 w 827"/>
              <a:gd name="T3" fmla="*/ 0 h 456"/>
              <a:gd name="T4" fmla="*/ 0 w 827"/>
              <a:gd name="T5" fmla="*/ 2147483647 h 456"/>
              <a:gd name="T6" fmla="*/ 2147483647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145" y="0"/>
                </a:moveTo>
                <a:lnTo>
                  <a:pt x="0" y="0"/>
                </a:lnTo>
                <a:lnTo>
                  <a:pt x="0" y="116"/>
                </a:lnTo>
                <a:lnTo>
                  <a:pt x="827" y="312"/>
                </a:lnTo>
                <a:lnTo>
                  <a:pt x="827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Line 69">
            <a:extLst>
              <a:ext uri="{FF2B5EF4-FFF2-40B4-BE49-F238E27FC236}">
                <a16:creationId xmlns:a16="http://schemas.microsoft.com/office/drawing/2014/main" id="{B8A0899D-61DC-43CF-94C7-D5B8A8E551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3012" y="5605795"/>
            <a:ext cx="765175" cy="1588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Freeform 70">
            <a:extLst>
              <a:ext uri="{FF2B5EF4-FFF2-40B4-BE49-F238E27FC236}">
                <a16:creationId xmlns:a16="http://schemas.microsoft.com/office/drawing/2014/main" id="{B81E283E-CC67-4637-A427-C6231F77432A}"/>
              </a:ext>
            </a:extLst>
          </p:cNvPr>
          <p:cNvSpPr>
            <a:spLocks/>
          </p:cNvSpPr>
          <p:nvPr/>
        </p:nvSpPr>
        <p:spPr bwMode="auto">
          <a:xfrm>
            <a:off x="2914650" y="2145045"/>
            <a:ext cx="363537" cy="2798763"/>
          </a:xfrm>
          <a:custGeom>
            <a:avLst/>
            <a:gdLst>
              <a:gd name="T0" fmla="*/ 2147483647 w 248"/>
              <a:gd name="T1" fmla="*/ 2147483647 h 1763"/>
              <a:gd name="T2" fmla="*/ 0 w 248"/>
              <a:gd name="T3" fmla="*/ 2147483647 h 1763"/>
              <a:gd name="T4" fmla="*/ 0 w 248"/>
              <a:gd name="T5" fmla="*/ 0 h 1763"/>
              <a:gd name="T6" fmla="*/ 2147483647 w 248"/>
              <a:gd name="T7" fmla="*/ 0 h 1763"/>
              <a:gd name="T8" fmla="*/ 0 60000 65536"/>
              <a:gd name="T9" fmla="*/ 0 60000 65536"/>
              <a:gd name="T10" fmla="*/ 0 60000 65536"/>
              <a:gd name="T11" fmla="*/ 0 60000 65536"/>
              <a:gd name="T12" fmla="*/ 0 w 248"/>
              <a:gd name="T13" fmla="*/ 0 h 1763"/>
              <a:gd name="T14" fmla="*/ 248 w 248"/>
              <a:gd name="T15" fmla="*/ 1763 h 17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" h="1763">
                <a:moveTo>
                  <a:pt x="103" y="1763"/>
                </a:moveTo>
                <a:lnTo>
                  <a:pt x="0" y="1763"/>
                </a:lnTo>
                <a:lnTo>
                  <a:pt x="0" y="0"/>
                </a:lnTo>
                <a:lnTo>
                  <a:pt x="248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Freeform 71">
            <a:extLst>
              <a:ext uri="{FF2B5EF4-FFF2-40B4-BE49-F238E27FC236}">
                <a16:creationId xmlns:a16="http://schemas.microsoft.com/office/drawing/2014/main" id="{D1538869-F054-4003-ABDE-4B2ED8C553B3}"/>
              </a:ext>
            </a:extLst>
          </p:cNvPr>
          <p:cNvSpPr>
            <a:spLocks/>
          </p:cNvSpPr>
          <p:nvPr/>
        </p:nvSpPr>
        <p:spPr bwMode="auto">
          <a:xfrm>
            <a:off x="3013075" y="4888245"/>
            <a:ext cx="103187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1"/>
                </a:moveTo>
                <a:cubicBezTo>
                  <a:pt x="0" y="80"/>
                  <a:pt x="24" y="103"/>
                  <a:pt x="52" y="103"/>
                </a:cubicBezTo>
                <a:cubicBezTo>
                  <a:pt x="81" y="103"/>
                  <a:pt x="104" y="80"/>
                  <a:pt x="104" y="51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23"/>
                  <a:pt x="81" y="0"/>
                  <a:pt x="52" y="0"/>
                </a:cubicBezTo>
                <a:cubicBezTo>
                  <a:pt x="24" y="0"/>
                  <a:pt x="0" y="23"/>
                  <a:pt x="0" y="51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Line 72">
            <a:extLst>
              <a:ext uri="{FF2B5EF4-FFF2-40B4-BE49-F238E27FC236}">
                <a16:creationId xmlns:a16="http://schemas.microsoft.com/office/drawing/2014/main" id="{E41AC1B6-404A-4447-96E1-AE60EECF69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9037" y="3978608"/>
            <a:ext cx="592138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Freeform 73">
            <a:extLst>
              <a:ext uri="{FF2B5EF4-FFF2-40B4-BE49-F238E27FC236}">
                <a16:creationId xmlns:a16="http://schemas.microsoft.com/office/drawing/2014/main" id="{ABAF9F49-E92A-4E3C-81CE-7C32F4FE0FE9}"/>
              </a:ext>
            </a:extLst>
          </p:cNvPr>
          <p:cNvSpPr>
            <a:spLocks/>
          </p:cNvSpPr>
          <p:nvPr/>
        </p:nvSpPr>
        <p:spPr bwMode="auto">
          <a:xfrm>
            <a:off x="2998787" y="3923045"/>
            <a:ext cx="103188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2"/>
                </a:moveTo>
                <a:cubicBezTo>
                  <a:pt x="0" y="80"/>
                  <a:pt x="23" y="103"/>
                  <a:pt x="52" y="103"/>
                </a:cubicBezTo>
                <a:cubicBezTo>
                  <a:pt x="81" y="103"/>
                  <a:pt x="104" y="80"/>
                  <a:pt x="104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23" y="0"/>
                  <a:pt x="0" y="23"/>
                  <a:pt x="0" y="52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Text Box 75">
            <a:extLst>
              <a:ext uri="{FF2B5EF4-FFF2-40B4-BE49-F238E27FC236}">
                <a16:creationId xmlns:a16="http://schemas.microsoft.com/office/drawing/2014/main" id="{37022D0E-93BB-437A-929C-4CB45DAF3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193" y="3472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6" name="Text Box 76">
            <a:extLst>
              <a:ext uri="{FF2B5EF4-FFF2-40B4-BE49-F238E27FC236}">
                <a16:creationId xmlns:a16="http://schemas.microsoft.com/office/drawing/2014/main" id="{2A4C52B4-02A4-4A17-AC5D-2E565E43F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25577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7" name="Text Box 77">
            <a:extLst>
              <a:ext uri="{FF2B5EF4-FFF2-40B4-BE49-F238E27FC236}">
                <a16:creationId xmlns:a16="http://schemas.microsoft.com/office/drawing/2014/main" id="{71B4DD1A-9492-4216-B461-9283FDD55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4492958"/>
            <a:ext cx="5334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8" name="Text Box 78">
            <a:extLst>
              <a:ext uri="{FF2B5EF4-FFF2-40B4-BE49-F238E27FC236}">
                <a16:creationId xmlns:a16="http://schemas.microsoft.com/office/drawing/2014/main" id="{F027678E-F405-4174-9906-B0B040F1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0" y="5058901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9" name="Text Box 79">
            <a:extLst>
              <a:ext uri="{FF2B5EF4-FFF2-40B4-BE49-F238E27FC236}">
                <a16:creationId xmlns:a16="http://schemas.microsoft.com/office/drawing/2014/main" id="{569C0A1C-3C6C-4CB5-986C-9320E6723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1948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0" name="Text Box 82">
            <a:extLst>
              <a:ext uri="{FF2B5EF4-FFF2-40B4-BE49-F238E27FC236}">
                <a16:creationId xmlns:a16="http://schemas.microsoft.com/office/drawing/2014/main" id="{DFC5F067-272B-4AE8-9028-A1BC744D7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7" y="5148595"/>
            <a:ext cx="381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1" name="Text Box 83">
            <a:extLst>
              <a:ext uri="{FF2B5EF4-FFF2-40B4-BE49-F238E27FC236}">
                <a16:creationId xmlns:a16="http://schemas.microsoft.com/office/drawing/2014/main" id="{051BAFF7-08E0-4BE6-B20F-38F5B37DA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0" y="1651793"/>
            <a:ext cx="381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2" name="Text Box 84">
            <a:extLst>
              <a:ext uri="{FF2B5EF4-FFF2-40B4-BE49-F238E27FC236}">
                <a16:creationId xmlns:a16="http://schemas.microsoft.com/office/drawing/2014/main" id="{1CC3CBCE-7181-4532-A667-957E6066A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7" y="2557795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ym typeface="Symbol" pitchFamily="18" charset="2"/>
              </a:rPr>
              <a:t></a:t>
            </a:r>
            <a:r>
              <a:rPr lang="en-US" altLang="zh-CN" sz="3200" dirty="0"/>
              <a:t>0</a:t>
            </a:r>
          </a:p>
        </p:txBody>
      </p:sp>
      <p:sp>
        <p:nvSpPr>
          <p:cNvPr id="163" name="Text Box 90">
            <a:extLst>
              <a:ext uri="{FF2B5EF4-FFF2-40B4-BE49-F238E27FC236}">
                <a16:creationId xmlns:a16="http://schemas.microsoft.com/office/drawing/2014/main" id="{1039B5D3-3384-48EA-A196-FFA7FE598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306" y="3449708"/>
            <a:ext cx="838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4" name="Text Box 94">
            <a:extLst>
              <a:ext uri="{FF2B5EF4-FFF2-40B4-BE49-F238E27FC236}">
                <a16:creationId xmlns:a16="http://schemas.microsoft.com/office/drawing/2014/main" id="{D328C5D2-058D-41FD-B334-AA46364B5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7" y="4492958"/>
            <a:ext cx="838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ym typeface="Symbol" pitchFamily="18" charset="2"/>
              </a:rPr>
              <a:t></a:t>
            </a:r>
            <a:r>
              <a:rPr lang="en-US" altLang="zh-CN" sz="3200" dirty="0"/>
              <a:t>1</a:t>
            </a:r>
          </a:p>
        </p:txBody>
      </p:sp>
      <p:sp>
        <p:nvSpPr>
          <p:cNvPr id="165" name="Text Box 79">
            <a:extLst>
              <a:ext uri="{FF2B5EF4-FFF2-40B4-BE49-F238E27FC236}">
                <a16:creationId xmlns:a16="http://schemas.microsoft.com/office/drawing/2014/main" id="{456335B2-FFCB-422D-854D-732200B00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8388" y="3011358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66" name="Text Box 79">
            <a:extLst>
              <a:ext uri="{FF2B5EF4-FFF2-40B4-BE49-F238E27FC236}">
                <a16:creationId xmlns:a16="http://schemas.microsoft.com/office/drawing/2014/main" id="{E0826967-ABB4-4A78-AA6B-F52772829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549" y="4219908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167" name="Rectangle 3">
            <a:extLst>
              <a:ext uri="{FF2B5EF4-FFF2-40B4-BE49-F238E27FC236}">
                <a16:creationId xmlns:a16="http://schemas.microsoft.com/office/drawing/2014/main" id="{DF1F351D-2FA2-4EDD-956C-50BD9EBE6FFE}"/>
              </a:ext>
            </a:extLst>
          </p:cNvPr>
          <p:cNvSpPr/>
          <p:nvPr/>
        </p:nvSpPr>
        <p:spPr>
          <a:xfrm>
            <a:off x="5189026" y="1588283"/>
            <a:ext cx="380257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D=1</a:t>
            </a:r>
            <a:r>
              <a:rPr lang="zh-CN" altLang="en-US" sz="2400" kern="0" dirty="0">
                <a:solidFill>
                  <a:srgbClr val="0432FF"/>
                </a:solidFill>
                <a:latin typeface="+mn-lt"/>
                <a:ea typeface="黑体"/>
              </a:rPr>
              <a:t>，</a:t>
            </a:r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CLK</a:t>
            </a:r>
            <a:r>
              <a:rPr lang="zh-CN" altLang="en-US" sz="2400" kern="0" dirty="0">
                <a:solidFill>
                  <a:srgbClr val="0432FF"/>
                </a:solidFill>
                <a:latin typeface="+mn-lt"/>
                <a:ea typeface="黑体"/>
              </a:rPr>
              <a:t>上升沿时</a:t>
            </a:r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Q</a:t>
            </a:r>
            <a:r>
              <a:rPr lang="en-US" altLang="zh-CN" sz="2400" kern="0" baseline="30000" dirty="0">
                <a:solidFill>
                  <a:srgbClr val="0432FF"/>
                </a:solidFill>
                <a:latin typeface="+mn-lt"/>
                <a:ea typeface="黑体"/>
              </a:rPr>
              <a:t>+</a:t>
            </a:r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=1</a:t>
            </a:r>
            <a:endParaRPr lang="en-CN" sz="2400" dirty="0">
              <a:solidFill>
                <a:srgbClr val="0432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619598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B3C031-72B5-B946-BF4C-E0EB2D24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87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80" name="Object 74">
            <a:extLst>
              <a:ext uri="{FF2B5EF4-FFF2-40B4-BE49-F238E27FC236}">
                <a16:creationId xmlns:a16="http://schemas.microsoft.com/office/drawing/2014/main" id="{181E6EC9-0D9F-40E1-8209-39C1289325F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380160"/>
              </p:ext>
            </p:extLst>
          </p:nvPr>
        </p:nvGraphicFramePr>
        <p:xfrm>
          <a:off x="6217708" y="4265152"/>
          <a:ext cx="285220" cy="42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37891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708" y="4265152"/>
                        <a:ext cx="285220" cy="427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Line 6">
            <a:extLst>
              <a:ext uri="{FF2B5EF4-FFF2-40B4-BE49-F238E27FC236}">
                <a16:creationId xmlns:a16="http://schemas.microsoft.com/office/drawing/2014/main" id="{44F914EA-96B7-4E33-8436-BC6AB3D7F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311858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Line 7">
            <a:extLst>
              <a:ext uri="{FF2B5EF4-FFF2-40B4-BE49-F238E27FC236}">
                <a16:creationId xmlns:a16="http://schemas.microsoft.com/office/drawing/2014/main" id="{A4971FBB-2A2F-47EB-BBE2-C91E0B203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489783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8">
            <a:extLst>
              <a:ext uri="{FF2B5EF4-FFF2-40B4-BE49-F238E27FC236}">
                <a16:creationId xmlns:a16="http://schemas.microsoft.com/office/drawing/2014/main" id="{C30010FC-F1DB-4C82-B6B7-74D4431EBA3B}"/>
              </a:ext>
            </a:extLst>
          </p:cNvPr>
          <p:cNvSpPr>
            <a:spLocks/>
          </p:cNvSpPr>
          <p:nvPr/>
        </p:nvSpPr>
        <p:spPr bwMode="auto">
          <a:xfrm>
            <a:off x="4487862" y="3442033"/>
            <a:ext cx="1211263" cy="1047750"/>
          </a:xfrm>
          <a:custGeom>
            <a:avLst/>
            <a:gdLst>
              <a:gd name="T0" fmla="*/ 2147483647 w 827"/>
              <a:gd name="T1" fmla="*/ 0 h 660"/>
              <a:gd name="T2" fmla="*/ 0 w 827"/>
              <a:gd name="T3" fmla="*/ 0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2147483647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0"/>
                </a:moveTo>
                <a:lnTo>
                  <a:pt x="0" y="0"/>
                </a:lnTo>
                <a:lnTo>
                  <a:pt x="0" y="220"/>
                </a:lnTo>
                <a:lnTo>
                  <a:pt x="827" y="440"/>
                </a:lnTo>
                <a:lnTo>
                  <a:pt x="827" y="66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id="{71228F9F-0A89-4149-804D-53D32CA72868}"/>
              </a:ext>
            </a:extLst>
          </p:cNvPr>
          <p:cNvSpPr>
            <a:spLocks/>
          </p:cNvSpPr>
          <p:nvPr/>
        </p:nvSpPr>
        <p:spPr bwMode="auto">
          <a:xfrm>
            <a:off x="5648325" y="4434220"/>
            <a:ext cx="103187" cy="112713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0"/>
                  <a:pt x="104" y="52"/>
                </a:cubicBezTo>
                <a:cubicBezTo>
                  <a:pt x="104" y="23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0">
            <a:extLst>
              <a:ext uri="{FF2B5EF4-FFF2-40B4-BE49-F238E27FC236}">
                <a16:creationId xmlns:a16="http://schemas.microsoft.com/office/drawing/2014/main" id="{0ECECD1E-68A6-40AC-96CF-0A2FF1922311}"/>
              </a:ext>
            </a:extLst>
          </p:cNvPr>
          <p:cNvSpPr>
            <a:spLocks/>
          </p:cNvSpPr>
          <p:nvPr/>
        </p:nvSpPr>
        <p:spPr bwMode="auto">
          <a:xfrm>
            <a:off x="4487862" y="3311858"/>
            <a:ext cx="1211263" cy="1047750"/>
          </a:xfrm>
          <a:custGeom>
            <a:avLst/>
            <a:gdLst>
              <a:gd name="T0" fmla="*/ 2147483647 w 827"/>
              <a:gd name="T1" fmla="*/ 2147483647 h 660"/>
              <a:gd name="T2" fmla="*/ 0 w 827"/>
              <a:gd name="T3" fmla="*/ 2147483647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0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660"/>
                </a:moveTo>
                <a:lnTo>
                  <a:pt x="0" y="660"/>
                </a:lnTo>
                <a:lnTo>
                  <a:pt x="0" y="440"/>
                </a:lnTo>
                <a:lnTo>
                  <a:pt x="827" y="220"/>
                </a:lnTo>
                <a:lnTo>
                  <a:pt x="827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1">
            <a:extLst>
              <a:ext uri="{FF2B5EF4-FFF2-40B4-BE49-F238E27FC236}">
                <a16:creationId xmlns:a16="http://schemas.microsoft.com/office/drawing/2014/main" id="{D8F4BC1A-D669-4256-9B21-D217749A17B1}"/>
              </a:ext>
            </a:extLst>
          </p:cNvPr>
          <p:cNvSpPr>
            <a:spLocks/>
          </p:cNvSpPr>
          <p:nvPr/>
        </p:nvSpPr>
        <p:spPr bwMode="auto">
          <a:xfrm>
            <a:off x="5648325" y="3254708"/>
            <a:ext cx="103187" cy="112712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3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Rectangle 12">
            <a:extLst>
              <a:ext uri="{FF2B5EF4-FFF2-40B4-BE49-F238E27FC236}">
                <a16:creationId xmlns:a16="http://schemas.microsoft.com/office/drawing/2014/main" id="{F3486D8E-F5BE-4913-A0CD-9B94EB4B1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450" y="3153108"/>
            <a:ext cx="1857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88" name="Freeform 13">
            <a:extLst>
              <a:ext uri="{FF2B5EF4-FFF2-40B4-BE49-F238E27FC236}">
                <a16:creationId xmlns:a16="http://schemas.microsoft.com/office/drawing/2014/main" id="{0C917217-4EDB-4976-9538-26A29A0BC24A}"/>
              </a:ext>
            </a:extLst>
          </p:cNvPr>
          <p:cNvSpPr>
            <a:spLocks noEditPoints="1"/>
          </p:cNvSpPr>
          <p:nvPr/>
        </p:nvSpPr>
        <p:spPr bwMode="auto">
          <a:xfrm>
            <a:off x="4471987" y="3180095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2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14">
            <a:extLst>
              <a:ext uri="{FF2B5EF4-FFF2-40B4-BE49-F238E27FC236}">
                <a16:creationId xmlns:a16="http://schemas.microsoft.com/office/drawing/2014/main" id="{C7349B87-9836-406A-A959-AE6435058232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15">
            <a:extLst>
              <a:ext uri="{FF2B5EF4-FFF2-40B4-BE49-F238E27FC236}">
                <a16:creationId xmlns:a16="http://schemas.microsoft.com/office/drawing/2014/main" id="{C61BDEFE-75BC-479D-A7E8-6CAB5AE20BE4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16">
            <a:extLst>
              <a:ext uri="{FF2B5EF4-FFF2-40B4-BE49-F238E27FC236}">
                <a16:creationId xmlns:a16="http://schemas.microsoft.com/office/drawing/2014/main" id="{2F0F760A-4AC5-49B9-A63B-FFBA6B8B717F}"/>
              </a:ext>
            </a:extLst>
          </p:cNvPr>
          <p:cNvSpPr>
            <a:spLocks/>
          </p:cNvSpPr>
          <p:nvPr/>
        </p:nvSpPr>
        <p:spPr bwMode="auto">
          <a:xfrm>
            <a:off x="5294312" y="3273758"/>
            <a:ext cx="74613" cy="82550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17">
            <a:extLst>
              <a:ext uri="{FF2B5EF4-FFF2-40B4-BE49-F238E27FC236}">
                <a16:creationId xmlns:a16="http://schemas.microsoft.com/office/drawing/2014/main" id="{B29AF890-51DA-4132-9C9D-17D94DBEF813}"/>
              </a:ext>
            </a:extLst>
          </p:cNvPr>
          <p:cNvSpPr>
            <a:spLocks/>
          </p:cNvSpPr>
          <p:nvPr/>
        </p:nvSpPr>
        <p:spPr bwMode="auto">
          <a:xfrm>
            <a:off x="5294312" y="3273758"/>
            <a:ext cx="74613" cy="82550"/>
          </a:xfrm>
          <a:custGeom>
            <a:avLst/>
            <a:gdLst>
              <a:gd name="T0" fmla="*/ 2147483647 w 51"/>
              <a:gd name="T1" fmla="*/ 2147483647 h 52"/>
              <a:gd name="T2" fmla="*/ 2147483647 w 51"/>
              <a:gd name="T3" fmla="*/ 0 h 52"/>
              <a:gd name="T4" fmla="*/ 0 w 51"/>
              <a:gd name="T5" fmla="*/ 2147483647 h 52"/>
              <a:gd name="T6" fmla="*/ 2147483647 w 51"/>
              <a:gd name="T7" fmla="*/ 2147483647 h 52"/>
              <a:gd name="T8" fmla="*/ 2147483647 w 51"/>
              <a:gd name="T9" fmla="*/ 2147483647 h 52"/>
              <a:gd name="T10" fmla="*/ 2147483647 w 51"/>
              <a:gd name="T11" fmla="*/ 2147483647 h 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2"/>
              <a:gd name="T20" fmla="*/ 51 w 51"/>
              <a:gd name="T21" fmla="*/ 52 h 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2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40"/>
                  <a:pt x="12" y="52"/>
                  <a:pt x="25" y="52"/>
                </a:cubicBezTo>
                <a:cubicBezTo>
                  <a:pt x="40" y="52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8">
            <a:extLst>
              <a:ext uri="{FF2B5EF4-FFF2-40B4-BE49-F238E27FC236}">
                <a16:creationId xmlns:a16="http://schemas.microsoft.com/office/drawing/2014/main" id="{47F390C6-3055-42FD-BD11-024EBF1419BF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9">
            <a:extLst>
              <a:ext uri="{FF2B5EF4-FFF2-40B4-BE49-F238E27FC236}">
                <a16:creationId xmlns:a16="http://schemas.microsoft.com/office/drawing/2014/main" id="{C4A13EC4-ACF1-432A-9892-F4A73AE11376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20">
            <a:extLst>
              <a:ext uri="{FF2B5EF4-FFF2-40B4-BE49-F238E27FC236}">
                <a16:creationId xmlns:a16="http://schemas.microsoft.com/office/drawing/2014/main" id="{824227B0-953A-4068-8E35-C5C013AAB758}"/>
              </a:ext>
            </a:extLst>
          </p:cNvPr>
          <p:cNvSpPr>
            <a:spLocks noEditPoints="1"/>
          </p:cNvSpPr>
          <p:nvPr/>
        </p:nvSpPr>
        <p:spPr bwMode="auto">
          <a:xfrm>
            <a:off x="4503737" y="4354845"/>
            <a:ext cx="996950" cy="269875"/>
          </a:xfrm>
          <a:custGeom>
            <a:avLst/>
            <a:gdLst>
              <a:gd name="T0" fmla="*/ 0 w 681"/>
              <a:gd name="T1" fmla="*/ 0 h 170"/>
              <a:gd name="T2" fmla="*/ 2147483647 w 681"/>
              <a:gd name="T3" fmla="*/ 0 h 170"/>
              <a:gd name="T4" fmla="*/ 0 w 681"/>
              <a:gd name="T5" fmla="*/ 2147483647 h 170"/>
              <a:gd name="T6" fmla="*/ 2147483647 w 681"/>
              <a:gd name="T7" fmla="*/ 2147483647 h 170"/>
              <a:gd name="T8" fmla="*/ 2147483647 w 681"/>
              <a:gd name="T9" fmla="*/ 2147483647 h 170"/>
              <a:gd name="T10" fmla="*/ 2147483647 w 681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1"/>
              <a:gd name="T19" fmla="*/ 0 h 170"/>
              <a:gd name="T20" fmla="*/ 681 w 681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1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1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21">
            <a:extLst>
              <a:ext uri="{FF2B5EF4-FFF2-40B4-BE49-F238E27FC236}">
                <a16:creationId xmlns:a16="http://schemas.microsoft.com/office/drawing/2014/main" id="{4D33DB9A-8073-456A-BB4C-2A2358AF6AF9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22">
            <a:extLst>
              <a:ext uri="{FF2B5EF4-FFF2-40B4-BE49-F238E27FC236}">
                <a16:creationId xmlns:a16="http://schemas.microsoft.com/office/drawing/2014/main" id="{5B9B7068-DB68-4307-8721-5473649BACE0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23">
            <a:extLst>
              <a:ext uri="{FF2B5EF4-FFF2-40B4-BE49-F238E27FC236}">
                <a16:creationId xmlns:a16="http://schemas.microsoft.com/office/drawing/2014/main" id="{E2B03D64-985F-4E6F-9CFB-8D0BC3E4FACA}"/>
              </a:ext>
            </a:extLst>
          </p:cNvPr>
          <p:cNvSpPr>
            <a:spLocks/>
          </p:cNvSpPr>
          <p:nvPr/>
        </p:nvSpPr>
        <p:spPr bwMode="auto">
          <a:xfrm>
            <a:off x="5326062" y="4448508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59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24">
            <a:extLst>
              <a:ext uri="{FF2B5EF4-FFF2-40B4-BE49-F238E27FC236}">
                <a16:creationId xmlns:a16="http://schemas.microsoft.com/office/drawing/2014/main" id="{96428BD7-24BB-4A2D-B799-19A36C7CF384}"/>
              </a:ext>
            </a:extLst>
          </p:cNvPr>
          <p:cNvSpPr>
            <a:spLocks/>
          </p:cNvSpPr>
          <p:nvPr/>
        </p:nvSpPr>
        <p:spPr bwMode="auto">
          <a:xfrm>
            <a:off x="5326062" y="4448508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25">
            <a:extLst>
              <a:ext uri="{FF2B5EF4-FFF2-40B4-BE49-F238E27FC236}">
                <a16:creationId xmlns:a16="http://schemas.microsoft.com/office/drawing/2014/main" id="{8F8D29C6-61A8-4D9A-9F2C-779D73F11D78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26">
            <a:extLst>
              <a:ext uri="{FF2B5EF4-FFF2-40B4-BE49-F238E27FC236}">
                <a16:creationId xmlns:a16="http://schemas.microsoft.com/office/drawing/2014/main" id="{3AD74A5E-488A-4078-8A02-483F3D8D7F2E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Freeform 27">
            <a:extLst>
              <a:ext uri="{FF2B5EF4-FFF2-40B4-BE49-F238E27FC236}">
                <a16:creationId xmlns:a16="http://schemas.microsoft.com/office/drawing/2014/main" id="{57E69B5F-F407-4356-86DB-FDDD582710A8}"/>
              </a:ext>
            </a:extLst>
          </p:cNvPr>
          <p:cNvSpPr>
            <a:spLocks/>
          </p:cNvSpPr>
          <p:nvPr/>
        </p:nvSpPr>
        <p:spPr bwMode="auto">
          <a:xfrm>
            <a:off x="4278312" y="3180095"/>
            <a:ext cx="193675" cy="4763"/>
          </a:xfrm>
          <a:custGeom>
            <a:avLst/>
            <a:gdLst>
              <a:gd name="T0" fmla="*/ 2147483647 w 133"/>
              <a:gd name="T1" fmla="*/ 0 h 3"/>
              <a:gd name="T2" fmla="*/ 2147483647 w 133"/>
              <a:gd name="T3" fmla="*/ 0 h 3"/>
              <a:gd name="T4" fmla="*/ 2147483647 w 133"/>
              <a:gd name="T5" fmla="*/ 2147483647 h 3"/>
              <a:gd name="T6" fmla="*/ 0 w 133"/>
              <a:gd name="T7" fmla="*/ 2147483647 h 3"/>
              <a:gd name="T8" fmla="*/ 0 60000 65536"/>
              <a:gd name="T9" fmla="*/ 0 60000 65536"/>
              <a:gd name="T10" fmla="*/ 0 60000 65536"/>
              <a:gd name="T11" fmla="*/ 0 60000 65536"/>
              <a:gd name="T12" fmla="*/ 0 w 133"/>
              <a:gd name="T13" fmla="*/ 0 h 3"/>
              <a:gd name="T14" fmla="*/ 133 w 133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" h="3">
                <a:moveTo>
                  <a:pt x="133" y="0"/>
                </a:moveTo>
                <a:lnTo>
                  <a:pt x="53" y="0"/>
                </a:lnTo>
                <a:lnTo>
                  <a:pt x="53" y="3"/>
                </a:lnTo>
                <a:lnTo>
                  <a:pt x="0" y="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28">
            <a:extLst>
              <a:ext uri="{FF2B5EF4-FFF2-40B4-BE49-F238E27FC236}">
                <a16:creationId xmlns:a16="http://schemas.microsoft.com/office/drawing/2014/main" id="{E9F09525-3AA1-495F-A8C1-67D2A0A12781}"/>
              </a:ext>
            </a:extLst>
          </p:cNvPr>
          <p:cNvSpPr>
            <a:spLocks/>
          </p:cNvSpPr>
          <p:nvPr/>
        </p:nvSpPr>
        <p:spPr bwMode="auto">
          <a:xfrm>
            <a:off x="4278312" y="4624720"/>
            <a:ext cx="225425" cy="1588"/>
          </a:xfrm>
          <a:custGeom>
            <a:avLst/>
            <a:gdLst>
              <a:gd name="T0" fmla="*/ 2147483647 w 154"/>
              <a:gd name="T1" fmla="*/ 0 h 1588"/>
              <a:gd name="T2" fmla="*/ 2147483647 w 154"/>
              <a:gd name="T3" fmla="*/ 0 h 1588"/>
              <a:gd name="T4" fmla="*/ 2147483647 w 154"/>
              <a:gd name="T5" fmla="*/ 0 h 1588"/>
              <a:gd name="T6" fmla="*/ 0 w 154"/>
              <a:gd name="T7" fmla="*/ 0 h 158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1588"/>
              <a:gd name="T14" fmla="*/ 154 w 154"/>
              <a:gd name="T15" fmla="*/ 1588 h 1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1588">
                <a:moveTo>
                  <a:pt x="154" y="0"/>
                </a:moveTo>
                <a:lnTo>
                  <a:pt x="115" y="0"/>
                </a:ln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Rectangle 29">
            <a:extLst>
              <a:ext uri="{FF2B5EF4-FFF2-40B4-BE49-F238E27FC236}">
                <a16:creationId xmlns:a16="http://schemas.microsoft.com/office/drawing/2014/main" id="{375E26AA-BD13-4BBA-AB75-23150EFDC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87" y="5377195"/>
            <a:ext cx="2016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5" name="Freeform 33">
            <a:extLst>
              <a:ext uri="{FF2B5EF4-FFF2-40B4-BE49-F238E27FC236}">
                <a16:creationId xmlns:a16="http://schemas.microsoft.com/office/drawing/2014/main" id="{3CA0CB4E-0FF7-4338-ACD1-800C83849BE5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3049920"/>
            <a:ext cx="1000125" cy="268288"/>
          </a:xfrm>
          <a:custGeom>
            <a:avLst/>
            <a:gdLst>
              <a:gd name="T0" fmla="*/ 0 w 682"/>
              <a:gd name="T1" fmla="*/ 0 h 169"/>
              <a:gd name="T2" fmla="*/ 2147483647 w 682"/>
              <a:gd name="T3" fmla="*/ 0 h 169"/>
              <a:gd name="T4" fmla="*/ 0 w 682"/>
              <a:gd name="T5" fmla="*/ 2147483647 h 169"/>
              <a:gd name="T6" fmla="*/ 2147483647 w 682"/>
              <a:gd name="T7" fmla="*/ 2147483647 h 169"/>
              <a:gd name="T8" fmla="*/ 2147483647 w 682"/>
              <a:gd name="T9" fmla="*/ 2147483647 h 169"/>
              <a:gd name="T10" fmla="*/ 2147483647 w 682"/>
              <a:gd name="T11" fmla="*/ 2147483647 h 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69"/>
              <a:gd name="T20" fmla="*/ 682 w 682"/>
              <a:gd name="T21" fmla="*/ 169 h 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69">
                <a:moveTo>
                  <a:pt x="0" y="0"/>
                </a:moveTo>
                <a:lnTo>
                  <a:pt x="340" y="0"/>
                </a:lnTo>
                <a:moveTo>
                  <a:pt x="0" y="169"/>
                </a:moveTo>
                <a:lnTo>
                  <a:pt x="340" y="169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34">
            <a:extLst>
              <a:ext uri="{FF2B5EF4-FFF2-40B4-BE49-F238E27FC236}">
                <a16:creationId xmlns:a16="http://schemas.microsoft.com/office/drawing/2014/main" id="{3ECB1386-00F2-4E52-A0EE-930E1E121B05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35">
            <a:extLst>
              <a:ext uri="{FF2B5EF4-FFF2-40B4-BE49-F238E27FC236}">
                <a16:creationId xmlns:a16="http://schemas.microsoft.com/office/drawing/2014/main" id="{33185779-BF8F-4078-A548-BFC51F18ED02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36">
            <a:extLst>
              <a:ext uri="{FF2B5EF4-FFF2-40B4-BE49-F238E27FC236}">
                <a16:creationId xmlns:a16="http://schemas.microsoft.com/office/drawing/2014/main" id="{5A54B3B9-D795-46A5-9100-33A94B7C3A71}"/>
              </a:ext>
            </a:extLst>
          </p:cNvPr>
          <p:cNvSpPr>
            <a:spLocks/>
          </p:cNvSpPr>
          <p:nvPr/>
        </p:nvSpPr>
        <p:spPr bwMode="auto">
          <a:xfrm>
            <a:off x="4100512" y="314358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37">
            <a:extLst>
              <a:ext uri="{FF2B5EF4-FFF2-40B4-BE49-F238E27FC236}">
                <a16:creationId xmlns:a16="http://schemas.microsoft.com/office/drawing/2014/main" id="{EBC10E61-E50E-47C0-BD08-C0C16D3FE202}"/>
              </a:ext>
            </a:extLst>
          </p:cNvPr>
          <p:cNvSpPr>
            <a:spLocks/>
          </p:cNvSpPr>
          <p:nvPr/>
        </p:nvSpPr>
        <p:spPr bwMode="auto">
          <a:xfrm>
            <a:off x="4100512" y="314358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38">
            <a:extLst>
              <a:ext uri="{FF2B5EF4-FFF2-40B4-BE49-F238E27FC236}">
                <a16:creationId xmlns:a16="http://schemas.microsoft.com/office/drawing/2014/main" id="{BD1E66B0-EC32-4858-8400-416E404C3571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2" name="Freeform 39">
            <a:extLst>
              <a:ext uri="{FF2B5EF4-FFF2-40B4-BE49-F238E27FC236}">
                <a16:creationId xmlns:a16="http://schemas.microsoft.com/office/drawing/2014/main" id="{4C1D5C08-4A32-48CA-BE41-E5FDA662C30F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40">
            <a:extLst>
              <a:ext uri="{FF2B5EF4-FFF2-40B4-BE49-F238E27FC236}">
                <a16:creationId xmlns:a16="http://schemas.microsoft.com/office/drawing/2014/main" id="{D5225C80-CF8F-44F8-AF46-0B90A96D33C2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4488195"/>
            <a:ext cx="1000125" cy="271463"/>
          </a:xfrm>
          <a:custGeom>
            <a:avLst/>
            <a:gdLst>
              <a:gd name="T0" fmla="*/ 0 w 682"/>
              <a:gd name="T1" fmla="*/ 0 h 171"/>
              <a:gd name="T2" fmla="*/ 2147483647 w 682"/>
              <a:gd name="T3" fmla="*/ 0 h 171"/>
              <a:gd name="T4" fmla="*/ 0 w 682"/>
              <a:gd name="T5" fmla="*/ 2147483647 h 171"/>
              <a:gd name="T6" fmla="*/ 2147483647 w 682"/>
              <a:gd name="T7" fmla="*/ 2147483647 h 171"/>
              <a:gd name="T8" fmla="*/ 0 w 682"/>
              <a:gd name="T9" fmla="*/ 2147483647 h 171"/>
              <a:gd name="T10" fmla="*/ 2147483647 w 682"/>
              <a:gd name="T11" fmla="*/ 2147483647 h 171"/>
              <a:gd name="T12" fmla="*/ 2147483647 w 682"/>
              <a:gd name="T13" fmla="*/ 2147483647 h 171"/>
              <a:gd name="T14" fmla="*/ 2147483647 w 682"/>
              <a:gd name="T15" fmla="*/ 2147483647 h 1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82"/>
              <a:gd name="T25" fmla="*/ 0 h 171"/>
              <a:gd name="T26" fmla="*/ 682 w 682"/>
              <a:gd name="T27" fmla="*/ 171 h 1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82" h="171">
                <a:moveTo>
                  <a:pt x="0" y="0"/>
                </a:moveTo>
                <a:lnTo>
                  <a:pt x="340" y="0"/>
                </a:lnTo>
                <a:moveTo>
                  <a:pt x="0" y="86"/>
                </a:moveTo>
                <a:lnTo>
                  <a:pt x="340" y="86"/>
                </a:lnTo>
                <a:moveTo>
                  <a:pt x="0" y="171"/>
                </a:moveTo>
                <a:lnTo>
                  <a:pt x="340" y="171"/>
                </a:lnTo>
                <a:moveTo>
                  <a:pt x="682" y="86"/>
                </a:moveTo>
                <a:lnTo>
                  <a:pt x="340" y="86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41">
            <a:extLst>
              <a:ext uri="{FF2B5EF4-FFF2-40B4-BE49-F238E27FC236}">
                <a16:creationId xmlns:a16="http://schemas.microsoft.com/office/drawing/2014/main" id="{9DDF6A29-2E34-4403-BA8C-F4069D053B35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42">
            <a:extLst>
              <a:ext uri="{FF2B5EF4-FFF2-40B4-BE49-F238E27FC236}">
                <a16:creationId xmlns:a16="http://schemas.microsoft.com/office/drawing/2014/main" id="{4162D690-5A55-44DE-AC8B-CB2544DE6832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43">
            <a:extLst>
              <a:ext uri="{FF2B5EF4-FFF2-40B4-BE49-F238E27FC236}">
                <a16:creationId xmlns:a16="http://schemas.microsoft.com/office/drawing/2014/main" id="{3BC7DB95-CE2B-4BC6-ABB5-8CE3E3A56CF5}"/>
              </a:ext>
            </a:extLst>
          </p:cNvPr>
          <p:cNvSpPr>
            <a:spLocks/>
          </p:cNvSpPr>
          <p:nvPr/>
        </p:nvSpPr>
        <p:spPr bwMode="auto">
          <a:xfrm>
            <a:off x="4100512" y="4583445"/>
            <a:ext cx="74613" cy="80963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7"/>
                </a:cubicBezTo>
                <a:cubicBezTo>
                  <a:pt x="75" y="37"/>
                  <a:pt x="75" y="37"/>
                  <a:pt x="75" y="37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44">
            <a:extLst>
              <a:ext uri="{FF2B5EF4-FFF2-40B4-BE49-F238E27FC236}">
                <a16:creationId xmlns:a16="http://schemas.microsoft.com/office/drawing/2014/main" id="{5F8CE70D-33A4-4EB2-9F37-E85F24A66148}"/>
              </a:ext>
            </a:extLst>
          </p:cNvPr>
          <p:cNvSpPr>
            <a:spLocks/>
          </p:cNvSpPr>
          <p:nvPr/>
        </p:nvSpPr>
        <p:spPr bwMode="auto">
          <a:xfrm>
            <a:off x="4100512" y="4583445"/>
            <a:ext cx="74613" cy="80963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45">
            <a:extLst>
              <a:ext uri="{FF2B5EF4-FFF2-40B4-BE49-F238E27FC236}">
                <a16:creationId xmlns:a16="http://schemas.microsoft.com/office/drawing/2014/main" id="{4335DE0E-9ADF-4A51-8DBE-D1DE683F093F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9" name="Freeform 46">
            <a:extLst>
              <a:ext uri="{FF2B5EF4-FFF2-40B4-BE49-F238E27FC236}">
                <a16:creationId xmlns:a16="http://schemas.microsoft.com/office/drawing/2014/main" id="{C67A50B5-2CC8-466D-A547-65D841CECBB6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47">
            <a:extLst>
              <a:ext uri="{FF2B5EF4-FFF2-40B4-BE49-F238E27FC236}">
                <a16:creationId xmlns:a16="http://schemas.microsoft.com/office/drawing/2014/main" id="{48238FDC-06BF-402B-99AB-30820F4408A3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2141870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48">
            <a:extLst>
              <a:ext uri="{FF2B5EF4-FFF2-40B4-BE49-F238E27FC236}">
                <a16:creationId xmlns:a16="http://schemas.microsoft.com/office/drawing/2014/main" id="{1CB1A91D-5354-4447-8330-589F0DA117CF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49">
            <a:extLst>
              <a:ext uri="{FF2B5EF4-FFF2-40B4-BE49-F238E27FC236}">
                <a16:creationId xmlns:a16="http://schemas.microsoft.com/office/drawing/2014/main" id="{0F4F19D4-167B-40D5-9841-9A952A502C6B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Freeform 50">
            <a:extLst>
              <a:ext uri="{FF2B5EF4-FFF2-40B4-BE49-F238E27FC236}">
                <a16:creationId xmlns:a16="http://schemas.microsoft.com/office/drawing/2014/main" id="{777427A4-2B2F-46AE-B11D-B767503D1C88}"/>
              </a:ext>
            </a:extLst>
          </p:cNvPr>
          <p:cNvSpPr>
            <a:spLocks/>
          </p:cNvSpPr>
          <p:nvPr/>
        </p:nvSpPr>
        <p:spPr bwMode="auto">
          <a:xfrm>
            <a:off x="4100512" y="223553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Freeform 51">
            <a:extLst>
              <a:ext uri="{FF2B5EF4-FFF2-40B4-BE49-F238E27FC236}">
                <a16:creationId xmlns:a16="http://schemas.microsoft.com/office/drawing/2014/main" id="{089FA95A-4C5F-45FC-9107-111288C7BF7F}"/>
              </a:ext>
            </a:extLst>
          </p:cNvPr>
          <p:cNvSpPr>
            <a:spLocks/>
          </p:cNvSpPr>
          <p:nvPr/>
        </p:nvSpPr>
        <p:spPr bwMode="auto">
          <a:xfrm>
            <a:off x="4100512" y="223553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1"/>
                  <a:pt x="40" y="0"/>
                  <a:pt x="25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39"/>
                  <a:pt x="11" y="51"/>
                  <a:pt x="25" y="51"/>
                </a:cubicBezTo>
                <a:cubicBezTo>
                  <a:pt x="40" y="51"/>
                  <a:pt x="51" y="39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Freeform 52">
            <a:extLst>
              <a:ext uri="{FF2B5EF4-FFF2-40B4-BE49-F238E27FC236}">
                <a16:creationId xmlns:a16="http://schemas.microsoft.com/office/drawing/2014/main" id="{C657C911-3525-41A9-B4B2-E13E03223DE4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Freeform 53">
            <a:extLst>
              <a:ext uri="{FF2B5EF4-FFF2-40B4-BE49-F238E27FC236}">
                <a16:creationId xmlns:a16="http://schemas.microsoft.com/office/drawing/2014/main" id="{A1AFA194-2DA4-4DE0-BD3A-B5F770EC5C23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7" name="Freeform 54">
            <a:extLst>
              <a:ext uri="{FF2B5EF4-FFF2-40B4-BE49-F238E27FC236}">
                <a16:creationId xmlns:a16="http://schemas.microsoft.com/office/drawing/2014/main" id="{00580B4C-9D6C-4382-87E5-C9B709B94772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5348620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Freeform 55">
            <a:extLst>
              <a:ext uri="{FF2B5EF4-FFF2-40B4-BE49-F238E27FC236}">
                <a16:creationId xmlns:a16="http://schemas.microsoft.com/office/drawing/2014/main" id="{529BA5E4-6C6C-4EC7-B17D-ED7A344F834C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Freeform 56">
            <a:extLst>
              <a:ext uri="{FF2B5EF4-FFF2-40B4-BE49-F238E27FC236}">
                <a16:creationId xmlns:a16="http://schemas.microsoft.com/office/drawing/2014/main" id="{CEC64A16-63D4-4266-AA1C-2EED6FA71F51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Freeform 57">
            <a:extLst>
              <a:ext uri="{FF2B5EF4-FFF2-40B4-BE49-F238E27FC236}">
                <a16:creationId xmlns:a16="http://schemas.microsoft.com/office/drawing/2014/main" id="{91D66426-75C2-47DF-9DDA-58542F619EFE}"/>
              </a:ext>
            </a:extLst>
          </p:cNvPr>
          <p:cNvSpPr>
            <a:spLocks/>
          </p:cNvSpPr>
          <p:nvPr/>
        </p:nvSpPr>
        <p:spPr bwMode="auto">
          <a:xfrm>
            <a:off x="4100512" y="544228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Freeform 58">
            <a:extLst>
              <a:ext uri="{FF2B5EF4-FFF2-40B4-BE49-F238E27FC236}">
                <a16:creationId xmlns:a16="http://schemas.microsoft.com/office/drawing/2014/main" id="{95F66B9C-854C-4E22-AE85-416823832BB9}"/>
              </a:ext>
            </a:extLst>
          </p:cNvPr>
          <p:cNvSpPr>
            <a:spLocks/>
          </p:cNvSpPr>
          <p:nvPr/>
        </p:nvSpPr>
        <p:spPr bwMode="auto">
          <a:xfrm>
            <a:off x="4100512" y="544228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Freeform 59">
            <a:extLst>
              <a:ext uri="{FF2B5EF4-FFF2-40B4-BE49-F238E27FC236}">
                <a16:creationId xmlns:a16="http://schemas.microsoft.com/office/drawing/2014/main" id="{B1CCBEE9-3235-4805-A35D-1E83A03CA537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3" name="Freeform 60">
            <a:extLst>
              <a:ext uri="{FF2B5EF4-FFF2-40B4-BE49-F238E27FC236}">
                <a16:creationId xmlns:a16="http://schemas.microsoft.com/office/drawing/2014/main" id="{662C27E5-ADC4-4BF5-9047-7EF3C4C58464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Freeform 61">
            <a:extLst>
              <a:ext uri="{FF2B5EF4-FFF2-40B4-BE49-F238E27FC236}">
                <a16:creationId xmlns:a16="http://schemas.microsoft.com/office/drawing/2014/main" id="{9D0AC6EF-C5B4-469B-8CDF-6DB7D18C7F78}"/>
              </a:ext>
            </a:extLst>
          </p:cNvPr>
          <p:cNvSpPr>
            <a:spLocks/>
          </p:cNvSpPr>
          <p:nvPr/>
        </p:nvSpPr>
        <p:spPr bwMode="auto">
          <a:xfrm>
            <a:off x="3065462" y="2402220"/>
            <a:ext cx="1212850" cy="782638"/>
          </a:xfrm>
          <a:custGeom>
            <a:avLst/>
            <a:gdLst>
              <a:gd name="T0" fmla="*/ 2147483647 w 827"/>
              <a:gd name="T1" fmla="*/ 0 h 493"/>
              <a:gd name="T2" fmla="*/ 0 w 827"/>
              <a:gd name="T3" fmla="*/ 0 h 493"/>
              <a:gd name="T4" fmla="*/ 0 w 827"/>
              <a:gd name="T5" fmla="*/ 2147483647 h 493"/>
              <a:gd name="T6" fmla="*/ 2147483647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145" y="0"/>
                </a:moveTo>
                <a:lnTo>
                  <a:pt x="0" y="0"/>
                </a:lnTo>
                <a:lnTo>
                  <a:pt x="0" y="106"/>
                </a:lnTo>
                <a:lnTo>
                  <a:pt x="827" y="353"/>
                </a:lnTo>
                <a:lnTo>
                  <a:pt x="827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Freeform 62">
            <a:extLst>
              <a:ext uri="{FF2B5EF4-FFF2-40B4-BE49-F238E27FC236}">
                <a16:creationId xmlns:a16="http://schemas.microsoft.com/office/drawing/2014/main" id="{A9CB6F01-10CA-46F8-9729-F09B79F759D2}"/>
              </a:ext>
            </a:extLst>
          </p:cNvPr>
          <p:cNvSpPr>
            <a:spLocks/>
          </p:cNvSpPr>
          <p:nvPr/>
        </p:nvSpPr>
        <p:spPr bwMode="auto">
          <a:xfrm>
            <a:off x="4224337" y="3127708"/>
            <a:ext cx="104775" cy="112712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1" y="104"/>
                  <a:pt x="104" y="80"/>
                  <a:pt x="104" y="52"/>
                </a:cubicBezTo>
                <a:cubicBezTo>
                  <a:pt x="104" y="23"/>
                  <a:pt x="81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Freeform 63">
            <a:extLst>
              <a:ext uri="{FF2B5EF4-FFF2-40B4-BE49-F238E27FC236}">
                <a16:creationId xmlns:a16="http://schemas.microsoft.com/office/drawing/2014/main" id="{0B68D7A4-B103-40CB-A5B1-1BCC129CCDA2}"/>
              </a:ext>
            </a:extLst>
          </p:cNvPr>
          <p:cNvSpPr>
            <a:spLocks/>
          </p:cNvSpPr>
          <p:nvPr/>
        </p:nvSpPr>
        <p:spPr bwMode="auto">
          <a:xfrm>
            <a:off x="3065462" y="2267283"/>
            <a:ext cx="1212850" cy="782637"/>
          </a:xfrm>
          <a:custGeom>
            <a:avLst/>
            <a:gdLst>
              <a:gd name="T0" fmla="*/ 2147483647 w 827"/>
              <a:gd name="T1" fmla="*/ 0 h 493"/>
              <a:gd name="T2" fmla="*/ 2147483647 w 827"/>
              <a:gd name="T3" fmla="*/ 2147483647 h 493"/>
              <a:gd name="T4" fmla="*/ 0 w 827"/>
              <a:gd name="T5" fmla="*/ 2147483647 h 493"/>
              <a:gd name="T6" fmla="*/ 0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827" y="0"/>
                </a:moveTo>
                <a:lnTo>
                  <a:pt x="827" y="191"/>
                </a:lnTo>
                <a:lnTo>
                  <a:pt x="0" y="397"/>
                </a:lnTo>
                <a:lnTo>
                  <a:pt x="0" y="490"/>
                </a:lnTo>
                <a:lnTo>
                  <a:pt x="145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Freeform 64">
            <a:extLst>
              <a:ext uri="{FF2B5EF4-FFF2-40B4-BE49-F238E27FC236}">
                <a16:creationId xmlns:a16="http://schemas.microsoft.com/office/drawing/2014/main" id="{2E98331F-1C2E-4000-8162-B4D742299136}"/>
              </a:ext>
            </a:extLst>
          </p:cNvPr>
          <p:cNvSpPr>
            <a:spLocks/>
          </p:cNvSpPr>
          <p:nvPr/>
        </p:nvSpPr>
        <p:spPr bwMode="auto">
          <a:xfrm>
            <a:off x="3051175" y="3318208"/>
            <a:ext cx="227012" cy="1306512"/>
          </a:xfrm>
          <a:custGeom>
            <a:avLst/>
            <a:gdLst>
              <a:gd name="T0" fmla="*/ 2147483647 w 155"/>
              <a:gd name="T1" fmla="*/ 0 h 823"/>
              <a:gd name="T2" fmla="*/ 0 w 155"/>
              <a:gd name="T3" fmla="*/ 0 h 823"/>
              <a:gd name="T4" fmla="*/ 0 w 155"/>
              <a:gd name="T5" fmla="*/ 2147483647 h 823"/>
              <a:gd name="T6" fmla="*/ 2147483647 w 155"/>
              <a:gd name="T7" fmla="*/ 2147483647 h 823"/>
              <a:gd name="T8" fmla="*/ 0 60000 65536"/>
              <a:gd name="T9" fmla="*/ 0 60000 65536"/>
              <a:gd name="T10" fmla="*/ 0 60000 65536"/>
              <a:gd name="T11" fmla="*/ 0 60000 65536"/>
              <a:gd name="T12" fmla="*/ 0 w 155"/>
              <a:gd name="T13" fmla="*/ 0 h 823"/>
              <a:gd name="T14" fmla="*/ 155 w 155"/>
              <a:gd name="T15" fmla="*/ 823 h 8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" h="823">
                <a:moveTo>
                  <a:pt x="155" y="0"/>
                </a:moveTo>
                <a:lnTo>
                  <a:pt x="0" y="0"/>
                </a:lnTo>
                <a:lnTo>
                  <a:pt x="0" y="823"/>
                </a:lnTo>
                <a:lnTo>
                  <a:pt x="155" y="82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Freeform 65">
            <a:extLst>
              <a:ext uri="{FF2B5EF4-FFF2-40B4-BE49-F238E27FC236}">
                <a16:creationId xmlns:a16="http://schemas.microsoft.com/office/drawing/2014/main" id="{8FC94798-A731-420F-A573-AA5E17AAA65E}"/>
              </a:ext>
            </a:extLst>
          </p:cNvPr>
          <p:cNvSpPr>
            <a:spLocks/>
          </p:cNvSpPr>
          <p:nvPr/>
        </p:nvSpPr>
        <p:spPr bwMode="auto">
          <a:xfrm>
            <a:off x="3160712" y="3184858"/>
            <a:ext cx="1117600" cy="1303337"/>
          </a:xfrm>
          <a:custGeom>
            <a:avLst/>
            <a:gdLst>
              <a:gd name="T0" fmla="*/ 2147483647 w 762"/>
              <a:gd name="T1" fmla="*/ 2147483647 h 821"/>
              <a:gd name="T2" fmla="*/ 0 w 762"/>
              <a:gd name="T3" fmla="*/ 2147483647 h 821"/>
              <a:gd name="T4" fmla="*/ 0 w 762"/>
              <a:gd name="T5" fmla="*/ 2147483647 h 821"/>
              <a:gd name="T6" fmla="*/ 2147483647 w 762"/>
              <a:gd name="T7" fmla="*/ 2147483647 h 821"/>
              <a:gd name="T8" fmla="*/ 2147483647 w 762"/>
              <a:gd name="T9" fmla="*/ 0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2"/>
              <a:gd name="T16" fmla="*/ 0 h 821"/>
              <a:gd name="T17" fmla="*/ 762 w 762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2" h="821">
                <a:moveTo>
                  <a:pt x="80" y="821"/>
                </a:moveTo>
                <a:lnTo>
                  <a:pt x="0" y="821"/>
                </a:lnTo>
                <a:lnTo>
                  <a:pt x="0" y="657"/>
                </a:lnTo>
                <a:lnTo>
                  <a:pt x="762" y="657"/>
                </a:lnTo>
                <a:lnTo>
                  <a:pt x="762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Freeform 66">
            <a:extLst>
              <a:ext uri="{FF2B5EF4-FFF2-40B4-BE49-F238E27FC236}">
                <a16:creationId xmlns:a16="http://schemas.microsoft.com/office/drawing/2014/main" id="{B7C27BC7-0EC3-4DA1-9CD4-ED90B2C8C6FC}"/>
              </a:ext>
            </a:extLst>
          </p:cNvPr>
          <p:cNvSpPr>
            <a:spLocks/>
          </p:cNvSpPr>
          <p:nvPr/>
        </p:nvSpPr>
        <p:spPr bwMode="auto">
          <a:xfrm>
            <a:off x="3065462" y="4624720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2147483647 w 827"/>
              <a:gd name="T3" fmla="*/ 2147483647 h 456"/>
              <a:gd name="T4" fmla="*/ 0 w 827"/>
              <a:gd name="T5" fmla="*/ 2147483647 h 456"/>
              <a:gd name="T6" fmla="*/ 0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827" y="0"/>
                </a:moveTo>
                <a:lnTo>
                  <a:pt x="827" y="149"/>
                </a:lnTo>
                <a:lnTo>
                  <a:pt x="0" y="355"/>
                </a:lnTo>
                <a:lnTo>
                  <a:pt x="0" y="453"/>
                </a:lnTo>
                <a:lnTo>
                  <a:pt x="145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Freeform 67">
            <a:extLst>
              <a:ext uri="{FF2B5EF4-FFF2-40B4-BE49-F238E27FC236}">
                <a16:creationId xmlns:a16="http://schemas.microsoft.com/office/drawing/2014/main" id="{CCE18643-FF99-439F-B5B2-208EA44A95D2}"/>
              </a:ext>
            </a:extLst>
          </p:cNvPr>
          <p:cNvSpPr>
            <a:spLocks/>
          </p:cNvSpPr>
          <p:nvPr/>
        </p:nvSpPr>
        <p:spPr bwMode="auto">
          <a:xfrm>
            <a:off x="4224337" y="4567570"/>
            <a:ext cx="104775" cy="112713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4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Freeform 68">
            <a:extLst>
              <a:ext uri="{FF2B5EF4-FFF2-40B4-BE49-F238E27FC236}">
                <a16:creationId xmlns:a16="http://schemas.microsoft.com/office/drawing/2014/main" id="{2C479C75-536A-4182-81E3-2A142B42F6DB}"/>
              </a:ext>
            </a:extLst>
          </p:cNvPr>
          <p:cNvSpPr>
            <a:spLocks/>
          </p:cNvSpPr>
          <p:nvPr/>
        </p:nvSpPr>
        <p:spPr bwMode="auto">
          <a:xfrm>
            <a:off x="3065462" y="4759658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0 w 827"/>
              <a:gd name="T3" fmla="*/ 0 h 456"/>
              <a:gd name="T4" fmla="*/ 0 w 827"/>
              <a:gd name="T5" fmla="*/ 2147483647 h 456"/>
              <a:gd name="T6" fmla="*/ 2147483647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145" y="0"/>
                </a:moveTo>
                <a:lnTo>
                  <a:pt x="0" y="0"/>
                </a:lnTo>
                <a:lnTo>
                  <a:pt x="0" y="116"/>
                </a:lnTo>
                <a:lnTo>
                  <a:pt x="827" y="312"/>
                </a:lnTo>
                <a:lnTo>
                  <a:pt x="827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Line 69">
            <a:extLst>
              <a:ext uri="{FF2B5EF4-FFF2-40B4-BE49-F238E27FC236}">
                <a16:creationId xmlns:a16="http://schemas.microsoft.com/office/drawing/2014/main" id="{A9B5F321-B640-4D33-914B-30A9CC2B67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3012" y="5605795"/>
            <a:ext cx="765175" cy="1588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Freeform 70">
            <a:extLst>
              <a:ext uri="{FF2B5EF4-FFF2-40B4-BE49-F238E27FC236}">
                <a16:creationId xmlns:a16="http://schemas.microsoft.com/office/drawing/2014/main" id="{CE280181-DF24-4CDA-A8AC-1397FA093BE6}"/>
              </a:ext>
            </a:extLst>
          </p:cNvPr>
          <p:cNvSpPr>
            <a:spLocks/>
          </p:cNvSpPr>
          <p:nvPr/>
        </p:nvSpPr>
        <p:spPr bwMode="auto">
          <a:xfrm>
            <a:off x="2914650" y="2145045"/>
            <a:ext cx="363537" cy="2798763"/>
          </a:xfrm>
          <a:custGeom>
            <a:avLst/>
            <a:gdLst>
              <a:gd name="T0" fmla="*/ 2147483647 w 248"/>
              <a:gd name="T1" fmla="*/ 2147483647 h 1763"/>
              <a:gd name="T2" fmla="*/ 0 w 248"/>
              <a:gd name="T3" fmla="*/ 2147483647 h 1763"/>
              <a:gd name="T4" fmla="*/ 0 w 248"/>
              <a:gd name="T5" fmla="*/ 0 h 1763"/>
              <a:gd name="T6" fmla="*/ 2147483647 w 248"/>
              <a:gd name="T7" fmla="*/ 0 h 1763"/>
              <a:gd name="T8" fmla="*/ 0 60000 65536"/>
              <a:gd name="T9" fmla="*/ 0 60000 65536"/>
              <a:gd name="T10" fmla="*/ 0 60000 65536"/>
              <a:gd name="T11" fmla="*/ 0 60000 65536"/>
              <a:gd name="T12" fmla="*/ 0 w 248"/>
              <a:gd name="T13" fmla="*/ 0 h 1763"/>
              <a:gd name="T14" fmla="*/ 248 w 248"/>
              <a:gd name="T15" fmla="*/ 1763 h 17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" h="1763">
                <a:moveTo>
                  <a:pt x="103" y="1763"/>
                </a:moveTo>
                <a:lnTo>
                  <a:pt x="0" y="1763"/>
                </a:lnTo>
                <a:lnTo>
                  <a:pt x="0" y="0"/>
                </a:lnTo>
                <a:lnTo>
                  <a:pt x="248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Freeform 71">
            <a:extLst>
              <a:ext uri="{FF2B5EF4-FFF2-40B4-BE49-F238E27FC236}">
                <a16:creationId xmlns:a16="http://schemas.microsoft.com/office/drawing/2014/main" id="{DB462399-C129-416B-8FFA-2F08CF4C22D6}"/>
              </a:ext>
            </a:extLst>
          </p:cNvPr>
          <p:cNvSpPr>
            <a:spLocks/>
          </p:cNvSpPr>
          <p:nvPr/>
        </p:nvSpPr>
        <p:spPr bwMode="auto">
          <a:xfrm>
            <a:off x="3013075" y="4888245"/>
            <a:ext cx="103187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1"/>
                </a:moveTo>
                <a:cubicBezTo>
                  <a:pt x="0" y="80"/>
                  <a:pt x="24" y="103"/>
                  <a:pt x="52" y="103"/>
                </a:cubicBezTo>
                <a:cubicBezTo>
                  <a:pt x="81" y="103"/>
                  <a:pt x="104" y="80"/>
                  <a:pt x="104" y="51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23"/>
                  <a:pt x="81" y="0"/>
                  <a:pt x="52" y="0"/>
                </a:cubicBezTo>
                <a:cubicBezTo>
                  <a:pt x="24" y="0"/>
                  <a:pt x="0" y="23"/>
                  <a:pt x="0" y="51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Line 72">
            <a:extLst>
              <a:ext uri="{FF2B5EF4-FFF2-40B4-BE49-F238E27FC236}">
                <a16:creationId xmlns:a16="http://schemas.microsoft.com/office/drawing/2014/main" id="{3B43BF8D-E121-411D-B17F-A342226BE8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9037" y="3978608"/>
            <a:ext cx="592138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Freeform 73">
            <a:extLst>
              <a:ext uri="{FF2B5EF4-FFF2-40B4-BE49-F238E27FC236}">
                <a16:creationId xmlns:a16="http://schemas.microsoft.com/office/drawing/2014/main" id="{27602F84-5934-4B97-BF27-284BCCC3CD23}"/>
              </a:ext>
            </a:extLst>
          </p:cNvPr>
          <p:cNvSpPr>
            <a:spLocks/>
          </p:cNvSpPr>
          <p:nvPr/>
        </p:nvSpPr>
        <p:spPr bwMode="auto">
          <a:xfrm>
            <a:off x="2998787" y="3923045"/>
            <a:ext cx="103188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2"/>
                </a:moveTo>
                <a:cubicBezTo>
                  <a:pt x="0" y="80"/>
                  <a:pt x="23" y="103"/>
                  <a:pt x="52" y="103"/>
                </a:cubicBezTo>
                <a:cubicBezTo>
                  <a:pt x="81" y="103"/>
                  <a:pt x="104" y="80"/>
                  <a:pt x="104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23" y="0"/>
                  <a:pt x="0" y="23"/>
                  <a:pt x="0" y="52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Text Box 75">
            <a:extLst>
              <a:ext uri="{FF2B5EF4-FFF2-40B4-BE49-F238E27FC236}">
                <a16:creationId xmlns:a16="http://schemas.microsoft.com/office/drawing/2014/main" id="{2D1C4E4C-4002-4F02-A4E6-6E7B20BA3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2218" y="3472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148" name="Text Box 76">
            <a:extLst>
              <a:ext uri="{FF2B5EF4-FFF2-40B4-BE49-F238E27FC236}">
                <a16:creationId xmlns:a16="http://schemas.microsoft.com/office/drawing/2014/main" id="{283D3AE0-A422-4944-A642-7BB6BAB48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25577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49" name="Text Box 77">
            <a:extLst>
              <a:ext uri="{FF2B5EF4-FFF2-40B4-BE49-F238E27FC236}">
                <a16:creationId xmlns:a16="http://schemas.microsoft.com/office/drawing/2014/main" id="{331D0581-6BCA-47DE-8F4E-26853BF09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4492958"/>
            <a:ext cx="5334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50" name="Text Box 78">
            <a:extLst>
              <a:ext uri="{FF2B5EF4-FFF2-40B4-BE49-F238E27FC236}">
                <a16:creationId xmlns:a16="http://schemas.microsoft.com/office/drawing/2014/main" id="{24486016-829A-49FF-8C42-A8C4F3875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0318" y="5058901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1" name="Text Box 79">
            <a:extLst>
              <a:ext uri="{FF2B5EF4-FFF2-40B4-BE49-F238E27FC236}">
                <a16:creationId xmlns:a16="http://schemas.microsoft.com/office/drawing/2014/main" id="{E95087DA-7137-4317-8BB8-AEFD9C852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1948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2" name="Text Box 82">
            <a:extLst>
              <a:ext uri="{FF2B5EF4-FFF2-40B4-BE49-F238E27FC236}">
                <a16:creationId xmlns:a16="http://schemas.microsoft.com/office/drawing/2014/main" id="{36431835-8763-4F23-95B1-EA8C507A3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7" y="5148595"/>
            <a:ext cx="381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3" name="Text Box 83">
            <a:extLst>
              <a:ext uri="{FF2B5EF4-FFF2-40B4-BE49-F238E27FC236}">
                <a16:creationId xmlns:a16="http://schemas.microsoft.com/office/drawing/2014/main" id="{D9793C3F-A079-4B65-8B62-54612270A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8418" y="1651793"/>
            <a:ext cx="381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7" name="Rectangle 3">
            <a:extLst>
              <a:ext uri="{FF2B5EF4-FFF2-40B4-BE49-F238E27FC236}">
                <a16:creationId xmlns:a16="http://schemas.microsoft.com/office/drawing/2014/main" id="{42E0A362-A7EE-4800-9244-222DCB234BDB}"/>
              </a:ext>
            </a:extLst>
          </p:cNvPr>
          <p:cNvSpPr/>
          <p:nvPr/>
        </p:nvSpPr>
        <p:spPr>
          <a:xfrm>
            <a:off x="5189026" y="1588283"/>
            <a:ext cx="380257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CLK=0</a:t>
            </a:r>
            <a:r>
              <a:rPr lang="zh-CN" altLang="en-US" sz="2400" kern="0" dirty="0">
                <a:solidFill>
                  <a:srgbClr val="0432FF"/>
                </a:solidFill>
                <a:latin typeface="+mn-lt"/>
                <a:ea typeface="黑体"/>
              </a:rPr>
              <a:t>时保持</a:t>
            </a:r>
            <a:endParaRPr lang="en-CN" sz="2400" dirty="0">
              <a:solidFill>
                <a:srgbClr val="0432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596880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EB00D-FCD1-5E48-A29A-3E1A8D1D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88</a:t>
            </a:fld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81" name="Object 74">
            <a:extLst>
              <a:ext uri="{FF2B5EF4-FFF2-40B4-BE49-F238E27FC236}">
                <a16:creationId xmlns:a16="http://schemas.microsoft.com/office/drawing/2014/main" id="{13792279-117C-4E7E-A07C-B70B3A88592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132734"/>
              </p:ext>
            </p:extLst>
          </p:nvPr>
        </p:nvGraphicFramePr>
        <p:xfrm>
          <a:off x="6217708" y="4265152"/>
          <a:ext cx="285220" cy="42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80" name="Object 74">
                        <a:extLst>
                          <a:ext uri="{FF2B5EF4-FFF2-40B4-BE49-F238E27FC236}">
                            <a16:creationId xmlns:a16="http://schemas.microsoft.com/office/drawing/2014/main" id="{181E6EC9-0D9F-40E1-8209-39C1289325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708" y="4265152"/>
                        <a:ext cx="285220" cy="427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Line 6">
            <a:extLst>
              <a:ext uri="{FF2B5EF4-FFF2-40B4-BE49-F238E27FC236}">
                <a16:creationId xmlns:a16="http://schemas.microsoft.com/office/drawing/2014/main" id="{718E9FD1-CE37-4B03-A60B-5EDDB82E9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311858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Line 7">
            <a:extLst>
              <a:ext uri="{FF2B5EF4-FFF2-40B4-BE49-F238E27FC236}">
                <a16:creationId xmlns:a16="http://schemas.microsoft.com/office/drawing/2014/main" id="{6F181096-24CD-4261-BD34-29D26C95B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489783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8">
            <a:extLst>
              <a:ext uri="{FF2B5EF4-FFF2-40B4-BE49-F238E27FC236}">
                <a16:creationId xmlns:a16="http://schemas.microsoft.com/office/drawing/2014/main" id="{68FDB69B-52DA-43CB-A832-849BBCE02742}"/>
              </a:ext>
            </a:extLst>
          </p:cNvPr>
          <p:cNvSpPr>
            <a:spLocks/>
          </p:cNvSpPr>
          <p:nvPr/>
        </p:nvSpPr>
        <p:spPr bwMode="auto">
          <a:xfrm>
            <a:off x="4487862" y="3442033"/>
            <a:ext cx="1211263" cy="1047750"/>
          </a:xfrm>
          <a:custGeom>
            <a:avLst/>
            <a:gdLst>
              <a:gd name="T0" fmla="*/ 2147483647 w 827"/>
              <a:gd name="T1" fmla="*/ 0 h 660"/>
              <a:gd name="T2" fmla="*/ 0 w 827"/>
              <a:gd name="T3" fmla="*/ 0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2147483647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0"/>
                </a:moveTo>
                <a:lnTo>
                  <a:pt x="0" y="0"/>
                </a:lnTo>
                <a:lnTo>
                  <a:pt x="0" y="220"/>
                </a:lnTo>
                <a:lnTo>
                  <a:pt x="827" y="440"/>
                </a:lnTo>
                <a:lnTo>
                  <a:pt x="827" y="66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9">
            <a:extLst>
              <a:ext uri="{FF2B5EF4-FFF2-40B4-BE49-F238E27FC236}">
                <a16:creationId xmlns:a16="http://schemas.microsoft.com/office/drawing/2014/main" id="{9D3BFCA9-ACED-4F3E-A4C9-AB70551B4059}"/>
              </a:ext>
            </a:extLst>
          </p:cNvPr>
          <p:cNvSpPr>
            <a:spLocks/>
          </p:cNvSpPr>
          <p:nvPr/>
        </p:nvSpPr>
        <p:spPr bwMode="auto">
          <a:xfrm>
            <a:off x="5648325" y="4434220"/>
            <a:ext cx="103187" cy="112713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0"/>
                  <a:pt x="104" y="52"/>
                </a:cubicBezTo>
                <a:cubicBezTo>
                  <a:pt x="104" y="23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328CBC9C-3CD1-4E4B-A481-EF0D6794C443}"/>
              </a:ext>
            </a:extLst>
          </p:cNvPr>
          <p:cNvSpPr>
            <a:spLocks/>
          </p:cNvSpPr>
          <p:nvPr/>
        </p:nvSpPr>
        <p:spPr bwMode="auto">
          <a:xfrm>
            <a:off x="4487862" y="3311858"/>
            <a:ext cx="1211263" cy="1047750"/>
          </a:xfrm>
          <a:custGeom>
            <a:avLst/>
            <a:gdLst>
              <a:gd name="T0" fmla="*/ 2147483647 w 827"/>
              <a:gd name="T1" fmla="*/ 2147483647 h 660"/>
              <a:gd name="T2" fmla="*/ 0 w 827"/>
              <a:gd name="T3" fmla="*/ 2147483647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0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660"/>
                </a:moveTo>
                <a:lnTo>
                  <a:pt x="0" y="660"/>
                </a:lnTo>
                <a:lnTo>
                  <a:pt x="0" y="440"/>
                </a:lnTo>
                <a:lnTo>
                  <a:pt x="827" y="220"/>
                </a:lnTo>
                <a:lnTo>
                  <a:pt x="827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1">
            <a:extLst>
              <a:ext uri="{FF2B5EF4-FFF2-40B4-BE49-F238E27FC236}">
                <a16:creationId xmlns:a16="http://schemas.microsoft.com/office/drawing/2014/main" id="{9F8C39A2-B972-4F14-9CEE-6999A2E0454E}"/>
              </a:ext>
            </a:extLst>
          </p:cNvPr>
          <p:cNvSpPr>
            <a:spLocks/>
          </p:cNvSpPr>
          <p:nvPr/>
        </p:nvSpPr>
        <p:spPr bwMode="auto">
          <a:xfrm>
            <a:off x="5648325" y="3254708"/>
            <a:ext cx="103187" cy="112712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3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5653AEBD-BE23-4517-A827-4119446F0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450" y="3153108"/>
            <a:ext cx="1857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89" name="Freeform 13">
            <a:extLst>
              <a:ext uri="{FF2B5EF4-FFF2-40B4-BE49-F238E27FC236}">
                <a16:creationId xmlns:a16="http://schemas.microsoft.com/office/drawing/2014/main" id="{1ECC4560-323D-407F-81E1-4E32522F269D}"/>
              </a:ext>
            </a:extLst>
          </p:cNvPr>
          <p:cNvSpPr>
            <a:spLocks noEditPoints="1"/>
          </p:cNvSpPr>
          <p:nvPr/>
        </p:nvSpPr>
        <p:spPr bwMode="auto">
          <a:xfrm>
            <a:off x="4471987" y="3180095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2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14">
            <a:extLst>
              <a:ext uri="{FF2B5EF4-FFF2-40B4-BE49-F238E27FC236}">
                <a16:creationId xmlns:a16="http://schemas.microsoft.com/office/drawing/2014/main" id="{A7AA2CCD-48CD-459A-97D5-0FBB1698C000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15">
            <a:extLst>
              <a:ext uri="{FF2B5EF4-FFF2-40B4-BE49-F238E27FC236}">
                <a16:creationId xmlns:a16="http://schemas.microsoft.com/office/drawing/2014/main" id="{5ACDBFC8-FC8B-485A-8EB2-BBAB7924E566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16">
            <a:extLst>
              <a:ext uri="{FF2B5EF4-FFF2-40B4-BE49-F238E27FC236}">
                <a16:creationId xmlns:a16="http://schemas.microsoft.com/office/drawing/2014/main" id="{81D31C7A-0543-439D-8285-8148DEEE2868}"/>
              </a:ext>
            </a:extLst>
          </p:cNvPr>
          <p:cNvSpPr>
            <a:spLocks/>
          </p:cNvSpPr>
          <p:nvPr/>
        </p:nvSpPr>
        <p:spPr bwMode="auto">
          <a:xfrm>
            <a:off x="5294312" y="3273758"/>
            <a:ext cx="74613" cy="82550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7">
            <a:extLst>
              <a:ext uri="{FF2B5EF4-FFF2-40B4-BE49-F238E27FC236}">
                <a16:creationId xmlns:a16="http://schemas.microsoft.com/office/drawing/2014/main" id="{1D7A3E2B-FF9F-4D29-8661-77F4558988E1}"/>
              </a:ext>
            </a:extLst>
          </p:cNvPr>
          <p:cNvSpPr>
            <a:spLocks/>
          </p:cNvSpPr>
          <p:nvPr/>
        </p:nvSpPr>
        <p:spPr bwMode="auto">
          <a:xfrm>
            <a:off x="5294312" y="3273758"/>
            <a:ext cx="74613" cy="82550"/>
          </a:xfrm>
          <a:custGeom>
            <a:avLst/>
            <a:gdLst>
              <a:gd name="T0" fmla="*/ 2147483647 w 51"/>
              <a:gd name="T1" fmla="*/ 2147483647 h 52"/>
              <a:gd name="T2" fmla="*/ 2147483647 w 51"/>
              <a:gd name="T3" fmla="*/ 0 h 52"/>
              <a:gd name="T4" fmla="*/ 0 w 51"/>
              <a:gd name="T5" fmla="*/ 2147483647 h 52"/>
              <a:gd name="T6" fmla="*/ 2147483647 w 51"/>
              <a:gd name="T7" fmla="*/ 2147483647 h 52"/>
              <a:gd name="T8" fmla="*/ 2147483647 w 51"/>
              <a:gd name="T9" fmla="*/ 2147483647 h 52"/>
              <a:gd name="T10" fmla="*/ 2147483647 w 51"/>
              <a:gd name="T11" fmla="*/ 2147483647 h 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2"/>
              <a:gd name="T20" fmla="*/ 51 w 51"/>
              <a:gd name="T21" fmla="*/ 52 h 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2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40"/>
                  <a:pt x="12" y="52"/>
                  <a:pt x="25" y="52"/>
                </a:cubicBezTo>
                <a:cubicBezTo>
                  <a:pt x="40" y="52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8">
            <a:extLst>
              <a:ext uri="{FF2B5EF4-FFF2-40B4-BE49-F238E27FC236}">
                <a16:creationId xmlns:a16="http://schemas.microsoft.com/office/drawing/2014/main" id="{E8D997D3-F5E5-42D9-A96F-CC8BD8DBB123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9">
            <a:extLst>
              <a:ext uri="{FF2B5EF4-FFF2-40B4-BE49-F238E27FC236}">
                <a16:creationId xmlns:a16="http://schemas.microsoft.com/office/drawing/2014/main" id="{6EA46481-2E08-4A32-8049-05C453DB20D5}"/>
              </a:ext>
            </a:extLst>
          </p:cNvPr>
          <p:cNvSpPr>
            <a:spLocks/>
          </p:cNvSpPr>
          <p:nvPr/>
        </p:nvSpPr>
        <p:spPr bwMode="auto">
          <a:xfrm>
            <a:off x="4646612" y="3045158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20">
            <a:extLst>
              <a:ext uri="{FF2B5EF4-FFF2-40B4-BE49-F238E27FC236}">
                <a16:creationId xmlns:a16="http://schemas.microsoft.com/office/drawing/2014/main" id="{2DCD4CDF-2342-402C-ACDD-103A5EC4837E}"/>
              </a:ext>
            </a:extLst>
          </p:cNvPr>
          <p:cNvSpPr>
            <a:spLocks noEditPoints="1"/>
          </p:cNvSpPr>
          <p:nvPr/>
        </p:nvSpPr>
        <p:spPr bwMode="auto">
          <a:xfrm>
            <a:off x="4503737" y="4354845"/>
            <a:ext cx="996950" cy="269875"/>
          </a:xfrm>
          <a:custGeom>
            <a:avLst/>
            <a:gdLst>
              <a:gd name="T0" fmla="*/ 0 w 681"/>
              <a:gd name="T1" fmla="*/ 0 h 170"/>
              <a:gd name="T2" fmla="*/ 2147483647 w 681"/>
              <a:gd name="T3" fmla="*/ 0 h 170"/>
              <a:gd name="T4" fmla="*/ 0 w 681"/>
              <a:gd name="T5" fmla="*/ 2147483647 h 170"/>
              <a:gd name="T6" fmla="*/ 2147483647 w 681"/>
              <a:gd name="T7" fmla="*/ 2147483647 h 170"/>
              <a:gd name="T8" fmla="*/ 2147483647 w 681"/>
              <a:gd name="T9" fmla="*/ 2147483647 h 170"/>
              <a:gd name="T10" fmla="*/ 2147483647 w 681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1"/>
              <a:gd name="T19" fmla="*/ 0 h 170"/>
              <a:gd name="T20" fmla="*/ 681 w 681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1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1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21">
            <a:extLst>
              <a:ext uri="{FF2B5EF4-FFF2-40B4-BE49-F238E27FC236}">
                <a16:creationId xmlns:a16="http://schemas.microsoft.com/office/drawing/2014/main" id="{564699B6-416A-4D6A-8B46-82D8ACB8D9CF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22">
            <a:extLst>
              <a:ext uri="{FF2B5EF4-FFF2-40B4-BE49-F238E27FC236}">
                <a16:creationId xmlns:a16="http://schemas.microsoft.com/office/drawing/2014/main" id="{A8DED569-E892-4276-8912-4D451BFB75CD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23">
            <a:extLst>
              <a:ext uri="{FF2B5EF4-FFF2-40B4-BE49-F238E27FC236}">
                <a16:creationId xmlns:a16="http://schemas.microsoft.com/office/drawing/2014/main" id="{6CB59CF2-1831-4D56-8DFD-0564B043FCA1}"/>
              </a:ext>
            </a:extLst>
          </p:cNvPr>
          <p:cNvSpPr>
            <a:spLocks/>
          </p:cNvSpPr>
          <p:nvPr/>
        </p:nvSpPr>
        <p:spPr bwMode="auto">
          <a:xfrm>
            <a:off x="5326062" y="4448508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59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24">
            <a:extLst>
              <a:ext uri="{FF2B5EF4-FFF2-40B4-BE49-F238E27FC236}">
                <a16:creationId xmlns:a16="http://schemas.microsoft.com/office/drawing/2014/main" id="{A3168342-F0E3-4423-B1EB-DB3989113BC4}"/>
              </a:ext>
            </a:extLst>
          </p:cNvPr>
          <p:cNvSpPr>
            <a:spLocks/>
          </p:cNvSpPr>
          <p:nvPr/>
        </p:nvSpPr>
        <p:spPr bwMode="auto">
          <a:xfrm>
            <a:off x="5326062" y="4448508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25">
            <a:extLst>
              <a:ext uri="{FF2B5EF4-FFF2-40B4-BE49-F238E27FC236}">
                <a16:creationId xmlns:a16="http://schemas.microsoft.com/office/drawing/2014/main" id="{530C3D6D-7C95-43E0-8974-AA8D3481114B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Freeform 26">
            <a:extLst>
              <a:ext uri="{FF2B5EF4-FFF2-40B4-BE49-F238E27FC236}">
                <a16:creationId xmlns:a16="http://schemas.microsoft.com/office/drawing/2014/main" id="{3AFE24DE-77CD-4B31-85DC-0534B8560262}"/>
              </a:ext>
            </a:extLst>
          </p:cNvPr>
          <p:cNvSpPr>
            <a:spLocks/>
          </p:cNvSpPr>
          <p:nvPr/>
        </p:nvSpPr>
        <p:spPr bwMode="auto">
          <a:xfrm>
            <a:off x="4678362" y="4219908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27">
            <a:extLst>
              <a:ext uri="{FF2B5EF4-FFF2-40B4-BE49-F238E27FC236}">
                <a16:creationId xmlns:a16="http://schemas.microsoft.com/office/drawing/2014/main" id="{A530EB1D-7E18-412A-931B-352A40270F15}"/>
              </a:ext>
            </a:extLst>
          </p:cNvPr>
          <p:cNvSpPr>
            <a:spLocks/>
          </p:cNvSpPr>
          <p:nvPr/>
        </p:nvSpPr>
        <p:spPr bwMode="auto">
          <a:xfrm>
            <a:off x="4278312" y="3180095"/>
            <a:ext cx="193675" cy="4763"/>
          </a:xfrm>
          <a:custGeom>
            <a:avLst/>
            <a:gdLst>
              <a:gd name="T0" fmla="*/ 2147483647 w 133"/>
              <a:gd name="T1" fmla="*/ 0 h 3"/>
              <a:gd name="T2" fmla="*/ 2147483647 w 133"/>
              <a:gd name="T3" fmla="*/ 0 h 3"/>
              <a:gd name="T4" fmla="*/ 2147483647 w 133"/>
              <a:gd name="T5" fmla="*/ 2147483647 h 3"/>
              <a:gd name="T6" fmla="*/ 0 w 133"/>
              <a:gd name="T7" fmla="*/ 2147483647 h 3"/>
              <a:gd name="T8" fmla="*/ 0 60000 65536"/>
              <a:gd name="T9" fmla="*/ 0 60000 65536"/>
              <a:gd name="T10" fmla="*/ 0 60000 65536"/>
              <a:gd name="T11" fmla="*/ 0 60000 65536"/>
              <a:gd name="T12" fmla="*/ 0 w 133"/>
              <a:gd name="T13" fmla="*/ 0 h 3"/>
              <a:gd name="T14" fmla="*/ 133 w 133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" h="3">
                <a:moveTo>
                  <a:pt x="133" y="0"/>
                </a:moveTo>
                <a:lnTo>
                  <a:pt x="53" y="0"/>
                </a:lnTo>
                <a:lnTo>
                  <a:pt x="53" y="3"/>
                </a:lnTo>
                <a:lnTo>
                  <a:pt x="0" y="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28">
            <a:extLst>
              <a:ext uri="{FF2B5EF4-FFF2-40B4-BE49-F238E27FC236}">
                <a16:creationId xmlns:a16="http://schemas.microsoft.com/office/drawing/2014/main" id="{A99459DA-83C0-41B6-B9DA-DE8E7B713874}"/>
              </a:ext>
            </a:extLst>
          </p:cNvPr>
          <p:cNvSpPr>
            <a:spLocks/>
          </p:cNvSpPr>
          <p:nvPr/>
        </p:nvSpPr>
        <p:spPr bwMode="auto">
          <a:xfrm>
            <a:off x="4278312" y="4624720"/>
            <a:ext cx="225425" cy="1588"/>
          </a:xfrm>
          <a:custGeom>
            <a:avLst/>
            <a:gdLst>
              <a:gd name="T0" fmla="*/ 2147483647 w 154"/>
              <a:gd name="T1" fmla="*/ 0 h 1588"/>
              <a:gd name="T2" fmla="*/ 2147483647 w 154"/>
              <a:gd name="T3" fmla="*/ 0 h 1588"/>
              <a:gd name="T4" fmla="*/ 2147483647 w 154"/>
              <a:gd name="T5" fmla="*/ 0 h 1588"/>
              <a:gd name="T6" fmla="*/ 0 w 154"/>
              <a:gd name="T7" fmla="*/ 0 h 158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1588"/>
              <a:gd name="T14" fmla="*/ 154 w 154"/>
              <a:gd name="T15" fmla="*/ 1588 h 1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1588">
                <a:moveTo>
                  <a:pt x="154" y="0"/>
                </a:moveTo>
                <a:lnTo>
                  <a:pt x="115" y="0"/>
                </a:ln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Rectangle 29">
            <a:extLst>
              <a:ext uri="{FF2B5EF4-FFF2-40B4-BE49-F238E27FC236}">
                <a16:creationId xmlns:a16="http://schemas.microsoft.com/office/drawing/2014/main" id="{19D1499E-3C35-4080-A7D2-BC0B041FD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87" y="5377195"/>
            <a:ext cx="2016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6" name="Freeform 33">
            <a:extLst>
              <a:ext uri="{FF2B5EF4-FFF2-40B4-BE49-F238E27FC236}">
                <a16:creationId xmlns:a16="http://schemas.microsoft.com/office/drawing/2014/main" id="{2CA991DE-409F-4AB6-87FF-145382653F8D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3049920"/>
            <a:ext cx="1000125" cy="268288"/>
          </a:xfrm>
          <a:custGeom>
            <a:avLst/>
            <a:gdLst>
              <a:gd name="T0" fmla="*/ 0 w 682"/>
              <a:gd name="T1" fmla="*/ 0 h 169"/>
              <a:gd name="T2" fmla="*/ 2147483647 w 682"/>
              <a:gd name="T3" fmla="*/ 0 h 169"/>
              <a:gd name="T4" fmla="*/ 0 w 682"/>
              <a:gd name="T5" fmla="*/ 2147483647 h 169"/>
              <a:gd name="T6" fmla="*/ 2147483647 w 682"/>
              <a:gd name="T7" fmla="*/ 2147483647 h 169"/>
              <a:gd name="T8" fmla="*/ 2147483647 w 682"/>
              <a:gd name="T9" fmla="*/ 2147483647 h 169"/>
              <a:gd name="T10" fmla="*/ 2147483647 w 682"/>
              <a:gd name="T11" fmla="*/ 2147483647 h 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69"/>
              <a:gd name="T20" fmla="*/ 682 w 682"/>
              <a:gd name="T21" fmla="*/ 169 h 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69">
                <a:moveTo>
                  <a:pt x="0" y="0"/>
                </a:moveTo>
                <a:lnTo>
                  <a:pt x="340" y="0"/>
                </a:lnTo>
                <a:moveTo>
                  <a:pt x="0" y="169"/>
                </a:moveTo>
                <a:lnTo>
                  <a:pt x="340" y="169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34">
            <a:extLst>
              <a:ext uri="{FF2B5EF4-FFF2-40B4-BE49-F238E27FC236}">
                <a16:creationId xmlns:a16="http://schemas.microsoft.com/office/drawing/2014/main" id="{4BCED856-E052-4D21-AF33-700E56C0A1F9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35">
            <a:extLst>
              <a:ext uri="{FF2B5EF4-FFF2-40B4-BE49-F238E27FC236}">
                <a16:creationId xmlns:a16="http://schemas.microsoft.com/office/drawing/2014/main" id="{6E1D0827-630B-41FD-928C-E21DA0F2A15A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36">
            <a:extLst>
              <a:ext uri="{FF2B5EF4-FFF2-40B4-BE49-F238E27FC236}">
                <a16:creationId xmlns:a16="http://schemas.microsoft.com/office/drawing/2014/main" id="{32E0D008-7AF3-4229-A353-235E20140F30}"/>
              </a:ext>
            </a:extLst>
          </p:cNvPr>
          <p:cNvSpPr>
            <a:spLocks/>
          </p:cNvSpPr>
          <p:nvPr/>
        </p:nvSpPr>
        <p:spPr bwMode="auto">
          <a:xfrm>
            <a:off x="4100512" y="314358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37">
            <a:extLst>
              <a:ext uri="{FF2B5EF4-FFF2-40B4-BE49-F238E27FC236}">
                <a16:creationId xmlns:a16="http://schemas.microsoft.com/office/drawing/2014/main" id="{51C1E3C5-84D1-4C3A-BBA6-6BE9F883ECFB}"/>
              </a:ext>
            </a:extLst>
          </p:cNvPr>
          <p:cNvSpPr>
            <a:spLocks/>
          </p:cNvSpPr>
          <p:nvPr/>
        </p:nvSpPr>
        <p:spPr bwMode="auto">
          <a:xfrm>
            <a:off x="4100512" y="314358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38">
            <a:extLst>
              <a:ext uri="{FF2B5EF4-FFF2-40B4-BE49-F238E27FC236}">
                <a16:creationId xmlns:a16="http://schemas.microsoft.com/office/drawing/2014/main" id="{CF25DF51-F64B-451F-A653-B3660A463F8B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2" name="Freeform 39">
            <a:extLst>
              <a:ext uri="{FF2B5EF4-FFF2-40B4-BE49-F238E27FC236}">
                <a16:creationId xmlns:a16="http://schemas.microsoft.com/office/drawing/2014/main" id="{978F7631-C506-4962-97EC-7B316D489DE9}"/>
              </a:ext>
            </a:extLst>
          </p:cNvPr>
          <p:cNvSpPr>
            <a:spLocks/>
          </p:cNvSpPr>
          <p:nvPr/>
        </p:nvSpPr>
        <p:spPr bwMode="auto">
          <a:xfrm>
            <a:off x="3452812" y="2914983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40">
            <a:extLst>
              <a:ext uri="{FF2B5EF4-FFF2-40B4-BE49-F238E27FC236}">
                <a16:creationId xmlns:a16="http://schemas.microsoft.com/office/drawing/2014/main" id="{673C0DFF-16DB-4CDC-B9AA-63722D579208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4488195"/>
            <a:ext cx="1000125" cy="271463"/>
          </a:xfrm>
          <a:custGeom>
            <a:avLst/>
            <a:gdLst>
              <a:gd name="T0" fmla="*/ 0 w 682"/>
              <a:gd name="T1" fmla="*/ 0 h 171"/>
              <a:gd name="T2" fmla="*/ 2147483647 w 682"/>
              <a:gd name="T3" fmla="*/ 0 h 171"/>
              <a:gd name="T4" fmla="*/ 0 w 682"/>
              <a:gd name="T5" fmla="*/ 2147483647 h 171"/>
              <a:gd name="T6" fmla="*/ 2147483647 w 682"/>
              <a:gd name="T7" fmla="*/ 2147483647 h 171"/>
              <a:gd name="T8" fmla="*/ 0 w 682"/>
              <a:gd name="T9" fmla="*/ 2147483647 h 171"/>
              <a:gd name="T10" fmla="*/ 2147483647 w 682"/>
              <a:gd name="T11" fmla="*/ 2147483647 h 171"/>
              <a:gd name="T12" fmla="*/ 2147483647 w 682"/>
              <a:gd name="T13" fmla="*/ 2147483647 h 171"/>
              <a:gd name="T14" fmla="*/ 2147483647 w 682"/>
              <a:gd name="T15" fmla="*/ 2147483647 h 1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82"/>
              <a:gd name="T25" fmla="*/ 0 h 171"/>
              <a:gd name="T26" fmla="*/ 682 w 682"/>
              <a:gd name="T27" fmla="*/ 171 h 1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82" h="171">
                <a:moveTo>
                  <a:pt x="0" y="0"/>
                </a:moveTo>
                <a:lnTo>
                  <a:pt x="340" y="0"/>
                </a:lnTo>
                <a:moveTo>
                  <a:pt x="0" y="86"/>
                </a:moveTo>
                <a:lnTo>
                  <a:pt x="340" y="86"/>
                </a:lnTo>
                <a:moveTo>
                  <a:pt x="0" y="171"/>
                </a:moveTo>
                <a:lnTo>
                  <a:pt x="340" y="171"/>
                </a:lnTo>
                <a:moveTo>
                  <a:pt x="682" y="86"/>
                </a:moveTo>
                <a:lnTo>
                  <a:pt x="340" y="86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41">
            <a:extLst>
              <a:ext uri="{FF2B5EF4-FFF2-40B4-BE49-F238E27FC236}">
                <a16:creationId xmlns:a16="http://schemas.microsoft.com/office/drawing/2014/main" id="{9A842EBC-1A91-4B0E-9F97-2DE331CE3BB1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42">
            <a:extLst>
              <a:ext uri="{FF2B5EF4-FFF2-40B4-BE49-F238E27FC236}">
                <a16:creationId xmlns:a16="http://schemas.microsoft.com/office/drawing/2014/main" id="{A9C133F4-EE0B-48C9-A0A3-FA8B6DC25CB0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43">
            <a:extLst>
              <a:ext uri="{FF2B5EF4-FFF2-40B4-BE49-F238E27FC236}">
                <a16:creationId xmlns:a16="http://schemas.microsoft.com/office/drawing/2014/main" id="{F9B02E9D-BBDC-4AE4-A310-E6E6ECFC27E1}"/>
              </a:ext>
            </a:extLst>
          </p:cNvPr>
          <p:cNvSpPr>
            <a:spLocks/>
          </p:cNvSpPr>
          <p:nvPr/>
        </p:nvSpPr>
        <p:spPr bwMode="auto">
          <a:xfrm>
            <a:off x="4100512" y="4583445"/>
            <a:ext cx="74613" cy="80963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7"/>
                </a:cubicBezTo>
                <a:cubicBezTo>
                  <a:pt x="75" y="37"/>
                  <a:pt x="75" y="37"/>
                  <a:pt x="75" y="37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44">
            <a:extLst>
              <a:ext uri="{FF2B5EF4-FFF2-40B4-BE49-F238E27FC236}">
                <a16:creationId xmlns:a16="http://schemas.microsoft.com/office/drawing/2014/main" id="{E08E6ACD-C704-469C-828A-543308593E7F}"/>
              </a:ext>
            </a:extLst>
          </p:cNvPr>
          <p:cNvSpPr>
            <a:spLocks/>
          </p:cNvSpPr>
          <p:nvPr/>
        </p:nvSpPr>
        <p:spPr bwMode="auto">
          <a:xfrm>
            <a:off x="4100512" y="4583445"/>
            <a:ext cx="74613" cy="80963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45">
            <a:extLst>
              <a:ext uri="{FF2B5EF4-FFF2-40B4-BE49-F238E27FC236}">
                <a16:creationId xmlns:a16="http://schemas.microsoft.com/office/drawing/2014/main" id="{4B9BBA43-F942-4222-8C99-FBD3769EFE53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19" name="Freeform 46">
            <a:extLst>
              <a:ext uri="{FF2B5EF4-FFF2-40B4-BE49-F238E27FC236}">
                <a16:creationId xmlns:a16="http://schemas.microsoft.com/office/drawing/2014/main" id="{75B80A31-D66E-434B-8BBE-0C066EC3F14C}"/>
              </a:ext>
            </a:extLst>
          </p:cNvPr>
          <p:cNvSpPr>
            <a:spLocks/>
          </p:cNvSpPr>
          <p:nvPr/>
        </p:nvSpPr>
        <p:spPr bwMode="auto">
          <a:xfrm>
            <a:off x="3452812" y="43548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47">
            <a:extLst>
              <a:ext uri="{FF2B5EF4-FFF2-40B4-BE49-F238E27FC236}">
                <a16:creationId xmlns:a16="http://schemas.microsoft.com/office/drawing/2014/main" id="{EEC2483C-1E03-408E-A23C-2E2466568FA9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2141870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48">
            <a:extLst>
              <a:ext uri="{FF2B5EF4-FFF2-40B4-BE49-F238E27FC236}">
                <a16:creationId xmlns:a16="http://schemas.microsoft.com/office/drawing/2014/main" id="{CEF7D2DA-114D-455A-A711-095622791020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49">
            <a:extLst>
              <a:ext uri="{FF2B5EF4-FFF2-40B4-BE49-F238E27FC236}">
                <a16:creationId xmlns:a16="http://schemas.microsoft.com/office/drawing/2014/main" id="{457B7C61-CE72-4C08-AAA6-798458978F56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Freeform 50">
            <a:extLst>
              <a:ext uri="{FF2B5EF4-FFF2-40B4-BE49-F238E27FC236}">
                <a16:creationId xmlns:a16="http://schemas.microsoft.com/office/drawing/2014/main" id="{B393D307-E662-4764-926B-6FDAA72A5FD5}"/>
              </a:ext>
            </a:extLst>
          </p:cNvPr>
          <p:cNvSpPr>
            <a:spLocks/>
          </p:cNvSpPr>
          <p:nvPr/>
        </p:nvSpPr>
        <p:spPr bwMode="auto">
          <a:xfrm>
            <a:off x="4100512" y="223553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Freeform 51">
            <a:extLst>
              <a:ext uri="{FF2B5EF4-FFF2-40B4-BE49-F238E27FC236}">
                <a16:creationId xmlns:a16="http://schemas.microsoft.com/office/drawing/2014/main" id="{7072C90C-E4F0-41A9-BE65-D501C79A464E}"/>
              </a:ext>
            </a:extLst>
          </p:cNvPr>
          <p:cNvSpPr>
            <a:spLocks/>
          </p:cNvSpPr>
          <p:nvPr/>
        </p:nvSpPr>
        <p:spPr bwMode="auto">
          <a:xfrm>
            <a:off x="4100512" y="223553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1"/>
                  <a:pt x="40" y="0"/>
                  <a:pt x="25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39"/>
                  <a:pt x="11" y="51"/>
                  <a:pt x="25" y="51"/>
                </a:cubicBezTo>
                <a:cubicBezTo>
                  <a:pt x="40" y="51"/>
                  <a:pt x="51" y="39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Freeform 52">
            <a:extLst>
              <a:ext uri="{FF2B5EF4-FFF2-40B4-BE49-F238E27FC236}">
                <a16:creationId xmlns:a16="http://schemas.microsoft.com/office/drawing/2014/main" id="{88D48B07-BE3D-40D2-BC77-35113CF67390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Freeform 53">
            <a:extLst>
              <a:ext uri="{FF2B5EF4-FFF2-40B4-BE49-F238E27FC236}">
                <a16:creationId xmlns:a16="http://schemas.microsoft.com/office/drawing/2014/main" id="{D7E98D6F-563A-4151-8A75-65A00373A6EB}"/>
              </a:ext>
            </a:extLst>
          </p:cNvPr>
          <p:cNvSpPr>
            <a:spLocks/>
          </p:cNvSpPr>
          <p:nvPr/>
        </p:nvSpPr>
        <p:spPr bwMode="auto">
          <a:xfrm>
            <a:off x="3452812" y="2005345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7" name="Freeform 54">
            <a:extLst>
              <a:ext uri="{FF2B5EF4-FFF2-40B4-BE49-F238E27FC236}">
                <a16:creationId xmlns:a16="http://schemas.microsoft.com/office/drawing/2014/main" id="{F4DA2FE9-E46E-4CA1-9131-4F7CD4966900}"/>
              </a:ext>
            </a:extLst>
          </p:cNvPr>
          <p:cNvSpPr>
            <a:spLocks noEditPoints="1"/>
          </p:cNvSpPr>
          <p:nvPr/>
        </p:nvSpPr>
        <p:spPr bwMode="auto">
          <a:xfrm>
            <a:off x="3278187" y="5348620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Freeform 55">
            <a:extLst>
              <a:ext uri="{FF2B5EF4-FFF2-40B4-BE49-F238E27FC236}">
                <a16:creationId xmlns:a16="http://schemas.microsoft.com/office/drawing/2014/main" id="{0AD83631-2F2F-46E5-9663-E73487BD6560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Freeform 56">
            <a:extLst>
              <a:ext uri="{FF2B5EF4-FFF2-40B4-BE49-F238E27FC236}">
                <a16:creationId xmlns:a16="http://schemas.microsoft.com/office/drawing/2014/main" id="{8E20E1B6-A3B7-495F-BF74-8549A067D0A5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Freeform 57">
            <a:extLst>
              <a:ext uri="{FF2B5EF4-FFF2-40B4-BE49-F238E27FC236}">
                <a16:creationId xmlns:a16="http://schemas.microsoft.com/office/drawing/2014/main" id="{A6949B3F-7DCB-4F99-A3DD-94F5D2B0DB08}"/>
              </a:ext>
            </a:extLst>
          </p:cNvPr>
          <p:cNvSpPr>
            <a:spLocks/>
          </p:cNvSpPr>
          <p:nvPr/>
        </p:nvSpPr>
        <p:spPr bwMode="auto">
          <a:xfrm>
            <a:off x="4100512" y="5442283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Freeform 58">
            <a:extLst>
              <a:ext uri="{FF2B5EF4-FFF2-40B4-BE49-F238E27FC236}">
                <a16:creationId xmlns:a16="http://schemas.microsoft.com/office/drawing/2014/main" id="{2E5232BE-5975-4BB1-BACD-6BAB3DEF41FD}"/>
              </a:ext>
            </a:extLst>
          </p:cNvPr>
          <p:cNvSpPr>
            <a:spLocks/>
          </p:cNvSpPr>
          <p:nvPr/>
        </p:nvSpPr>
        <p:spPr bwMode="auto">
          <a:xfrm>
            <a:off x="4100512" y="5442283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Freeform 59">
            <a:extLst>
              <a:ext uri="{FF2B5EF4-FFF2-40B4-BE49-F238E27FC236}">
                <a16:creationId xmlns:a16="http://schemas.microsoft.com/office/drawing/2014/main" id="{1C1AAD36-B873-4F37-9E48-AC888725D35C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3" name="Freeform 60">
            <a:extLst>
              <a:ext uri="{FF2B5EF4-FFF2-40B4-BE49-F238E27FC236}">
                <a16:creationId xmlns:a16="http://schemas.microsoft.com/office/drawing/2014/main" id="{71D14070-E474-4093-9BEC-E162745CCD20}"/>
              </a:ext>
            </a:extLst>
          </p:cNvPr>
          <p:cNvSpPr>
            <a:spLocks/>
          </p:cNvSpPr>
          <p:nvPr/>
        </p:nvSpPr>
        <p:spPr bwMode="auto">
          <a:xfrm>
            <a:off x="3452812" y="5213683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Freeform 61">
            <a:extLst>
              <a:ext uri="{FF2B5EF4-FFF2-40B4-BE49-F238E27FC236}">
                <a16:creationId xmlns:a16="http://schemas.microsoft.com/office/drawing/2014/main" id="{22D41A86-ECCA-4B94-9856-AF1D85C39CA8}"/>
              </a:ext>
            </a:extLst>
          </p:cNvPr>
          <p:cNvSpPr>
            <a:spLocks/>
          </p:cNvSpPr>
          <p:nvPr/>
        </p:nvSpPr>
        <p:spPr bwMode="auto">
          <a:xfrm>
            <a:off x="3065462" y="2402220"/>
            <a:ext cx="1212850" cy="782638"/>
          </a:xfrm>
          <a:custGeom>
            <a:avLst/>
            <a:gdLst>
              <a:gd name="T0" fmla="*/ 2147483647 w 827"/>
              <a:gd name="T1" fmla="*/ 0 h 493"/>
              <a:gd name="T2" fmla="*/ 0 w 827"/>
              <a:gd name="T3" fmla="*/ 0 h 493"/>
              <a:gd name="T4" fmla="*/ 0 w 827"/>
              <a:gd name="T5" fmla="*/ 2147483647 h 493"/>
              <a:gd name="T6" fmla="*/ 2147483647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145" y="0"/>
                </a:moveTo>
                <a:lnTo>
                  <a:pt x="0" y="0"/>
                </a:lnTo>
                <a:lnTo>
                  <a:pt x="0" y="106"/>
                </a:lnTo>
                <a:lnTo>
                  <a:pt x="827" y="353"/>
                </a:lnTo>
                <a:lnTo>
                  <a:pt x="827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Freeform 62">
            <a:extLst>
              <a:ext uri="{FF2B5EF4-FFF2-40B4-BE49-F238E27FC236}">
                <a16:creationId xmlns:a16="http://schemas.microsoft.com/office/drawing/2014/main" id="{1C203E1C-EA79-4C5C-8CEB-217B20ACEBF3}"/>
              </a:ext>
            </a:extLst>
          </p:cNvPr>
          <p:cNvSpPr>
            <a:spLocks/>
          </p:cNvSpPr>
          <p:nvPr/>
        </p:nvSpPr>
        <p:spPr bwMode="auto">
          <a:xfrm>
            <a:off x="4224337" y="3127708"/>
            <a:ext cx="104775" cy="112712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1" y="104"/>
                  <a:pt x="104" y="80"/>
                  <a:pt x="104" y="52"/>
                </a:cubicBezTo>
                <a:cubicBezTo>
                  <a:pt x="104" y="23"/>
                  <a:pt x="81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Freeform 63">
            <a:extLst>
              <a:ext uri="{FF2B5EF4-FFF2-40B4-BE49-F238E27FC236}">
                <a16:creationId xmlns:a16="http://schemas.microsoft.com/office/drawing/2014/main" id="{D0A484C5-44AF-4445-A557-D2087625B8A6}"/>
              </a:ext>
            </a:extLst>
          </p:cNvPr>
          <p:cNvSpPr>
            <a:spLocks/>
          </p:cNvSpPr>
          <p:nvPr/>
        </p:nvSpPr>
        <p:spPr bwMode="auto">
          <a:xfrm>
            <a:off x="3065462" y="2267283"/>
            <a:ext cx="1212850" cy="782637"/>
          </a:xfrm>
          <a:custGeom>
            <a:avLst/>
            <a:gdLst>
              <a:gd name="T0" fmla="*/ 2147483647 w 827"/>
              <a:gd name="T1" fmla="*/ 0 h 493"/>
              <a:gd name="T2" fmla="*/ 2147483647 w 827"/>
              <a:gd name="T3" fmla="*/ 2147483647 h 493"/>
              <a:gd name="T4" fmla="*/ 0 w 827"/>
              <a:gd name="T5" fmla="*/ 2147483647 h 493"/>
              <a:gd name="T6" fmla="*/ 0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827" y="0"/>
                </a:moveTo>
                <a:lnTo>
                  <a:pt x="827" y="191"/>
                </a:lnTo>
                <a:lnTo>
                  <a:pt x="0" y="397"/>
                </a:lnTo>
                <a:lnTo>
                  <a:pt x="0" y="490"/>
                </a:lnTo>
                <a:lnTo>
                  <a:pt x="145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Freeform 64">
            <a:extLst>
              <a:ext uri="{FF2B5EF4-FFF2-40B4-BE49-F238E27FC236}">
                <a16:creationId xmlns:a16="http://schemas.microsoft.com/office/drawing/2014/main" id="{24519F9C-DA20-453A-BDE1-C9538510B414}"/>
              </a:ext>
            </a:extLst>
          </p:cNvPr>
          <p:cNvSpPr>
            <a:spLocks/>
          </p:cNvSpPr>
          <p:nvPr/>
        </p:nvSpPr>
        <p:spPr bwMode="auto">
          <a:xfrm>
            <a:off x="3051175" y="3318208"/>
            <a:ext cx="227012" cy="1306512"/>
          </a:xfrm>
          <a:custGeom>
            <a:avLst/>
            <a:gdLst>
              <a:gd name="T0" fmla="*/ 2147483647 w 155"/>
              <a:gd name="T1" fmla="*/ 0 h 823"/>
              <a:gd name="T2" fmla="*/ 0 w 155"/>
              <a:gd name="T3" fmla="*/ 0 h 823"/>
              <a:gd name="T4" fmla="*/ 0 w 155"/>
              <a:gd name="T5" fmla="*/ 2147483647 h 823"/>
              <a:gd name="T6" fmla="*/ 2147483647 w 155"/>
              <a:gd name="T7" fmla="*/ 2147483647 h 823"/>
              <a:gd name="T8" fmla="*/ 0 60000 65536"/>
              <a:gd name="T9" fmla="*/ 0 60000 65536"/>
              <a:gd name="T10" fmla="*/ 0 60000 65536"/>
              <a:gd name="T11" fmla="*/ 0 60000 65536"/>
              <a:gd name="T12" fmla="*/ 0 w 155"/>
              <a:gd name="T13" fmla="*/ 0 h 823"/>
              <a:gd name="T14" fmla="*/ 155 w 155"/>
              <a:gd name="T15" fmla="*/ 823 h 8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" h="823">
                <a:moveTo>
                  <a:pt x="155" y="0"/>
                </a:moveTo>
                <a:lnTo>
                  <a:pt x="0" y="0"/>
                </a:lnTo>
                <a:lnTo>
                  <a:pt x="0" y="823"/>
                </a:lnTo>
                <a:lnTo>
                  <a:pt x="155" y="82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Freeform 65">
            <a:extLst>
              <a:ext uri="{FF2B5EF4-FFF2-40B4-BE49-F238E27FC236}">
                <a16:creationId xmlns:a16="http://schemas.microsoft.com/office/drawing/2014/main" id="{EB0FFC24-356B-44B5-AF27-9D89A9106D48}"/>
              </a:ext>
            </a:extLst>
          </p:cNvPr>
          <p:cNvSpPr>
            <a:spLocks/>
          </p:cNvSpPr>
          <p:nvPr/>
        </p:nvSpPr>
        <p:spPr bwMode="auto">
          <a:xfrm>
            <a:off x="3160712" y="3184858"/>
            <a:ext cx="1117600" cy="1303337"/>
          </a:xfrm>
          <a:custGeom>
            <a:avLst/>
            <a:gdLst>
              <a:gd name="T0" fmla="*/ 2147483647 w 762"/>
              <a:gd name="T1" fmla="*/ 2147483647 h 821"/>
              <a:gd name="T2" fmla="*/ 0 w 762"/>
              <a:gd name="T3" fmla="*/ 2147483647 h 821"/>
              <a:gd name="T4" fmla="*/ 0 w 762"/>
              <a:gd name="T5" fmla="*/ 2147483647 h 821"/>
              <a:gd name="T6" fmla="*/ 2147483647 w 762"/>
              <a:gd name="T7" fmla="*/ 2147483647 h 821"/>
              <a:gd name="T8" fmla="*/ 2147483647 w 762"/>
              <a:gd name="T9" fmla="*/ 0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2"/>
              <a:gd name="T16" fmla="*/ 0 h 821"/>
              <a:gd name="T17" fmla="*/ 762 w 762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2" h="821">
                <a:moveTo>
                  <a:pt x="80" y="821"/>
                </a:moveTo>
                <a:lnTo>
                  <a:pt x="0" y="821"/>
                </a:lnTo>
                <a:lnTo>
                  <a:pt x="0" y="657"/>
                </a:lnTo>
                <a:lnTo>
                  <a:pt x="762" y="657"/>
                </a:lnTo>
                <a:lnTo>
                  <a:pt x="762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Freeform 66">
            <a:extLst>
              <a:ext uri="{FF2B5EF4-FFF2-40B4-BE49-F238E27FC236}">
                <a16:creationId xmlns:a16="http://schemas.microsoft.com/office/drawing/2014/main" id="{A43C6244-4DD2-46A5-A8CD-0C1DA6578732}"/>
              </a:ext>
            </a:extLst>
          </p:cNvPr>
          <p:cNvSpPr>
            <a:spLocks/>
          </p:cNvSpPr>
          <p:nvPr/>
        </p:nvSpPr>
        <p:spPr bwMode="auto">
          <a:xfrm>
            <a:off x="3065462" y="4624720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2147483647 w 827"/>
              <a:gd name="T3" fmla="*/ 2147483647 h 456"/>
              <a:gd name="T4" fmla="*/ 0 w 827"/>
              <a:gd name="T5" fmla="*/ 2147483647 h 456"/>
              <a:gd name="T6" fmla="*/ 0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827" y="0"/>
                </a:moveTo>
                <a:lnTo>
                  <a:pt x="827" y="149"/>
                </a:lnTo>
                <a:lnTo>
                  <a:pt x="0" y="355"/>
                </a:lnTo>
                <a:lnTo>
                  <a:pt x="0" y="453"/>
                </a:lnTo>
                <a:lnTo>
                  <a:pt x="145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Freeform 67">
            <a:extLst>
              <a:ext uri="{FF2B5EF4-FFF2-40B4-BE49-F238E27FC236}">
                <a16:creationId xmlns:a16="http://schemas.microsoft.com/office/drawing/2014/main" id="{27DDA28A-4259-49D0-9CC9-4986C71CF8A9}"/>
              </a:ext>
            </a:extLst>
          </p:cNvPr>
          <p:cNvSpPr>
            <a:spLocks/>
          </p:cNvSpPr>
          <p:nvPr/>
        </p:nvSpPr>
        <p:spPr bwMode="auto">
          <a:xfrm>
            <a:off x="4224337" y="4567570"/>
            <a:ext cx="104775" cy="112713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4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Freeform 68">
            <a:extLst>
              <a:ext uri="{FF2B5EF4-FFF2-40B4-BE49-F238E27FC236}">
                <a16:creationId xmlns:a16="http://schemas.microsoft.com/office/drawing/2014/main" id="{4E7410F9-0271-435A-A0FB-3BBD97912155}"/>
              </a:ext>
            </a:extLst>
          </p:cNvPr>
          <p:cNvSpPr>
            <a:spLocks/>
          </p:cNvSpPr>
          <p:nvPr/>
        </p:nvSpPr>
        <p:spPr bwMode="auto">
          <a:xfrm>
            <a:off x="3065462" y="4759658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0 w 827"/>
              <a:gd name="T3" fmla="*/ 0 h 456"/>
              <a:gd name="T4" fmla="*/ 0 w 827"/>
              <a:gd name="T5" fmla="*/ 2147483647 h 456"/>
              <a:gd name="T6" fmla="*/ 2147483647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145" y="0"/>
                </a:moveTo>
                <a:lnTo>
                  <a:pt x="0" y="0"/>
                </a:lnTo>
                <a:lnTo>
                  <a:pt x="0" y="116"/>
                </a:lnTo>
                <a:lnTo>
                  <a:pt x="827" y="312"/>
                </a:lnTo>
                <a:lnTo>
                  <a:pt x="827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Line 69">
            <a:extLst>
              <a:ext uri="{FF2B5EF4-FFF2-40B4-BE49-F238E27FC236}">
                <a16:creationId xmlns:a16="http://schemas.microsoft.com/office/drawing/2014/main" id="{2E08FC6C-8A08-4614-AD5A-5A542E381E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3012" y="5605795"/>
            <a:ext cx="765175" cy="1588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Freeform 70">
            <a:extLst>
              <a:ext uri="{FF2B5EF4-FFF2-40B4-BE49-F238E27FC236}">
                <a16:creationId xmlns:a16="http://schemas.microsoft.com/office/drawing/2014/main" id="{5C8CC082-ABA5-4378-88C7-FC54CE49A86E}"/>
              </a:ext>
            </a:extLst>
          </p:cNvPr>
          <p:cNvSpPr>
            <a:spLocks/>
          </p:cNvSpPr>
          <p:nvPr/>
        </p:nvSpPr>
        <p:spPr bwMode="auto">
          <a:xfrm>
            <a:off x="2914650" y="2145045"/>
            <a:ext cx="363537" cy="2798763"/>
          </a:xfrm>
          <a:custGeom>
            <a:avLst/>
            <a:gdLst>
              <a:gd name="T0" fmla="*/ 2147483647 w 248"/>
              <a:gd name="T1" fmla="*/ 2147483647 h 1763"/>
              <a:gd name="T2" fmla="*/ 0 w 248"/>
              <a:gd name="T3" fmla="*/ 2147483647 h 1763"/>
              <a:gd name="T4" fmla="*/ 0 w 248"/>
              <a:gd name="T5" fmla="*/ 0 h 1763"/>
              <a:gd name="T6" fmla="*/ 2147483647 w 248"/>
              <a:gd name="T7" fmla="*/ 0 h 1763"/>
              <a:gd name="T8" fmla="*/ 0 60000 65536"/>
              <a:gd name="T9" fmla="*/ 0 60000 65536"/>
              <a:gd name="T10" fmla="*/ 0 60000 65536"/>
              <a:gd name="T11" fmla="*/ 0 60000 65536"/>
              <a:gd name="T12" fmla="*/ 0 w 248"/>
              <a:gd name="T13" fmla="*/ 0 h 1763"/>
              <a:gd name="T14" fmla="*/ 248 w 248"/>
              <a:gd name="T15" fmla="*/ 1763 h 17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" h="1763">
                <a:moveTo>
                  <a:pt x="103" y="1763"/>
                </a:moveTo>
                <a:lnTo>
                  <a:pt x="0" y="1763"/>
                </a:lnTo>
                <a:lnTo>
                  <a:pt x="0" y="0"/>
                </a:lnTo>
                <a:lnTo>
                  <a:pt x="248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Freeform 71">
            <a:extLst>
              <a:ext uri="{FF2B5EF4-FFF2-40B4-BE49-F238E27FC236}">
                <a16:creationId xmlns:a16="http://schemas.microsoft.com/office/drawing/2014/main" id="{AB772ECC-F1E1-4BAD-96D7-2B0C063C33B3}"/>
              </a:ext>
            </a:extLst>
          </p:cNvPr>
          <p:cNvSpPr>
            <a:spLocks/>
          </p:cNvSpPr>
          <p:nvPr/>
        </p:nvSpPr>
        <p:spPr bwMode="auto">
          <a:xfrm>
            <a:off x="3013075" y="4888245"/>
            <a:ext cx="103187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1"/>
                </a:moveTo>
                <a:cubicBezTo>
                  <a:pt x="0" y="80"/>
                  <a:pt x="24" y="103"/>
                  <a:pt x="52" y="103"/>
                </a:cubicBezTo>
                <a:cubicBezTo>
                  <a:pt x="81" y="103"/>
                  <a:pt x="104" y="80"/>
                  <a:pt x="104" y="51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23"/>
                  <a:pt x="81" y="0"/>
                  <a:pt x="52" y="0"/>
                </a:cubicBezTo>
                <a:cubicBezTo>
                  <a:pt x="24" y="0"/>
                  <a:pt x="0" y="23"/>
                  <a:pt x="0" y="51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Line 72">
            <a:extLst>
              <a:ext uri="{FF2B5EF4-FFF2-40B4-BE49-F238E27FC236}">
                <a16:creationId xmlns:a16="http://schemas.microsoft.com/office/drawing/2014/main" id="{D599BF91-DAAD-42D9-8AF3-0EBF36259D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9037" y="3978608"/>
            <a:ext cx="592138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Freeform 73">
            <a:extLst>
              <a:ext uri="{FF2B5EF4-FFF2-40B4-BE49-F238E27FC236}">
                <a16:creationId xmlns:a16="http://schemas.microsoft.com/office/drawing/2014/main" id="{96248368-5424-437D-91F7-68370BDFF9A1}"/>
              </a:ext>
            </a:extLst>
          </p:cNvPr>
          <p:cNvSpPr>
            <a:spLocks/>
          </p:cNvSpPr>
          <p:nvPr/>
        </p:nvSpPr>
        <p:spPr bwMode="auto">
          <a:xfrm>
            <a:off x="2998787" y="3923045"/>
            <a:ext cx="103188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2"/>
                </a:moveTo>
                <a:cubicBezTo>
                  <a:pt x="0" y="80"/>
                  <a:pt x="23" y="103"/>
                  <a:pt x="52" y="103"/>
                </a:cubicBezTo>
                <a:cubicBezTo>
                  <a:pt x="81" y="103"/>
                  <a:pt x="104" y="80"/>
                  <a:pt x="104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23" y="0"/>
                  <a:pt x="0" y="23"/>
                  <a:pt x="0" y="52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Text Box 76">
            <a:extLst>
              <a:ext uri="{FF2B5EF4-FFF2-40B4-BE49-F238E27FC236}">
                <a16:creationId xmlns:a16="http://schemas.microsoft.com/office/drawing/2014/main" id="{6C0DE475-DD77-4AE9-B435-1DA02B5A8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25577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/>
              <a:t>1</a:t>
            </a:r>
          </a:p>
        </p:txBody>
      </p:sp>
      <p:sp>
        <p:nvSpPr>
          <p:cNvPr id="149" name="Text Box 77">
            <a:extLst>
              <a:ext uri="{FF2B5EF4-FFF2-40B4-BE49-F238E27FC236}">
                <a16:creationId xmlns:a16="http://schemas.microsoft.com/office/drawing/2014/main" id="{BD7453E5-D779-4A46-B99C-44DBFC633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4492958"/>
            <a:ext cx="5334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/>
              <a:t>1</a:t>
            </a:r>
          </a:p>
        </p:txBody>
      </p:sp>
      <p:sp>
        <p:nvSpPr>
          <p:cNvPr id="150" name="Text Box 78">
            <a:extLst>
              <a:ext uri="{FF2B5EF4-FFF2-40B4-BE49-F238E27FC236}">
                <a16:creationId xmlns:a16="http://schemas.microsoft.com/office/drawing/2014/main" id="{2C579B93-DC74-42DB-AA89-FECA6746E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0318" y="5058901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151" name="Text Box 79">
            <a:extLst>
              <a:ext uri="{FF2B5EF4-FFF2-40B4-BE49-F238E27FC236}">
                <a16:creationId xmlns:a16="http://schemas.microsoft.com/office/drawing/2014/main" id="{F57CDF5A-29C1-46F6-9BF7-8CB75FDF2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7" y="1948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152" name="Text Box 82">
            <a:extLst>
              <a:ext uri="{FF2B5EF4-FFF2-40B4-BE49-F238E27FC236}">
                <a16:creationId xmlns:a16="http://schemas.microsoft.com/office/drawing/2014/main" id="{19EF00F4-820D-49C9-BDE7-D1D6E3992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7" y="5148595"/>
            <a:ext cx="381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54" name="Text Box 75">
            <a:extLst>
              <a:ext uri="{FF2B5EF4-FFF2-40B4-BE49-F238E27FC236}">
                <a16:creationId xmlns:a16="http://schemas.microsoft.com/office/drawing/2014/main" id="{5C203D8C-9676-4004-A526-2BE3DBAA0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193" y="3472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5" name="Text Box 90">
            <a:extLst>
              <a:ext uri="{FF2B5EF4-FFF2-40B4-BE49-F238E27FC236}">
                <a16:creationId xmlns:a16="http://schemas.microsoft.com/office/drawing/2014/main" id="{F3741492-B540-4DB9-BCED-5EE992A44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306" y="3449708"/>
            <a:ext cx="838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2" name="Text Box 83">
            <a:extLst>
              <a:ext uri="{FF2B5EF4-FFF2-40B4-BE49-F238E27FC236}">
                <a16:creationId xmlns:a16="http://schemas.microsoft.com/office/drawing/2014/main" id="{CBC857E7-A21A-99B9-57F2-14363526B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8418" y="1651793"/>
            <a:ext cx="381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139258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119AB-E061-4A45-B1AF-AE5908EA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89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7894" name="AutoShape 5"/>
          <p:cNvSpPr>
            <a:spLocks noChangeAspect="1" noChangeArrowheads="1" noTextEdit="1"/>
          </p:cNvSpPr>
          <p:nvPr/>
        </p:nvSpPr>
        <p:spPr bwMode="auto">
          <a:xfrm>
            <a:off x="1877863" y="1860699"/>
            <a:ext cx="5324475" cy="380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5" name="Line 6"/>
          <p:cNvSpPr>
            <a:spLocks noChangeShapeType="1"/>
          </p:cNvSpPr>
          <p:nvPr/>
        </p:nvSpPr>
        <p:spPr bwMode="auto">
          <a:xfrm>
            <a:off x="5481835" y="3307455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5481835" y="4485380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7" name="Freeform 8"/>
          <p:cNvSpPr>
            <a:spLocks/>
          </p:cNvSpPr>
          <p:nvPr/>
        </p:nvSpPr>
        <p:spPr bwMode="auto">
          <a:xfrm>
            <a:off x="4483297" y="3437630"/>
            <a:ext cx="1211263" cy="1047750"/>
          </a:xfrm>
          <a:custGeom>
            <a:avLst/>
            <a:gdLst>
              <a:gd name="T0" fmla="*/ 2147483647 w 827"/>
              <a:gd name="T1" fmla="*/ 0 h 660"/>
              <a:gd name="T2" fmla="*/ 0 w 827"/>
              <a:gd name="T3" fmla="*/ 0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2147483647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0"/>
                </a:moveTo>
                <a:lnTo>
                  <a:pt x="0" y="0"/>
                </a:lnTo>
                <a:lnTo>
                  <a:pt x="0" y="220"/>
                </a:lnTo>
                <a:lnTo>
                  <a:pt x="827" y="440"/>
                </a:lnTo>
                <a:lnTo>
                  <a:pt x="827" y="66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8" name="Freeform 9"/>
          <p:cNvSpPr>
            <a:spLocks/>
          </p:cNvSpPr>
          <p:nvPr/>
        </p:nvSpPr>
        <p:spPr bwMode="auto">
          <a:xfrm>
            <a:off x="5643760" y="4429817"/>
            <a:ext cx="103187" cy="112713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0"/>
                  <a:pt x="104" y="52"/>
                </a:cubicBezTo>
                <a:cubicBezTo>
                  <a:pt x="104" y="23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9" name="Freeform 10"/>
          <p:cNvSpPr>
            <a:spLocks/>
          </p:cNvSpPr>
          <p:nvPr/>
        </p:nvSpPr>
        <p:spPr bwMode="auto">
          <a:xfrm>
            <a:off x="4483297" y="3307455"/>
            <a:ext cx="1211263" cy="1047750"/>
          </a:xfrm>
          <a:custGeom>
            <a:avLst/>
            <a:gdLst>
              <a:gd name="T0" fmla="*/ 2147483647 w 827"/>
              <a:gd name="T1" fmla="*/ 2147483647 h 660"/>
              <a:gd name="T2" fmla="*/ 0 w 827"/>
              <a:gd name="T3" fmla="*/ 2147483647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0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660"/>
                </a:moveTo>
                <a:lnTo>
                  <a:pt x="0" y="660"/>
                </a:lnTo>
                <a:lnTo>
                  <a:pt x="0" y="440"/>
                </a:lnTo>
                <a:lnTo>
                  <a:pt x="827" y="220"/>
                </a:lnTo>
                <a:lnTo>
                  <a:pt x="827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0" name="Freeform 11"/>
          <p:cNvSpPr>
            <a:spLocks/>
          </p:cNvSpPr>
          <p:nvPr/>
        </p:nvSpPr>
        <p:spPr bwMode="auto">
          <a:xfrm>
            <a:off x="5643760" y="3250305"/>
            <a:ext cx="103187" cy="112712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3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1" name="Rectangle 12"/>
          <p:cNvSpPr>
            <a:spLocks noChangeArrowheads="1"/>
          </p:cNvSpPr>
          <p:nvPr/>
        </p:nvSpPr>
        <p:spPr bwMode="auto">
          <a:xfrm>
            <a:off x="6262885" y="3148705"/>
            <a:ext cx="1857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7902" name="Freeform 13"/>
          <p:cNvSpPr>
            <a:spLocks noEditPoints="1"/>
          </p:cNvSpPr>
          <p:nvPr/>
        </p:nvSpPr>
        <p:spPr bwMode="auto">
          <a:xfrm>
            <a:off x="4467422" y="3175692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2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3" name="Freeform 14"/>
          <p:cNvSpPr>
            <a:spLocks/>
          </p:cNvSpPr>
          <p:nvPr/>
        </p:nvSpPr>
        <p:spPr bwMode="auto">
          <a:xfrm>
            <a:off x="4642047" y="304075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4" name="Freeform 15"/>
          <p:cNvSpPr>
            <a:spLocks/>
          </p:cNvSpPr>
          <p:nvPr/>
        </p:nvSpPr>
        <p:spPr bwMode="auto">
          <a:xfrm>
            <a:off x="4642047" y="304075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5" name="Freeform 16"/>
          <p:cNvSpPr>
            <a:spLocks/>
          </p:cNvSpPr>
          <p:nvPr/>
        </p:nvSpPr>
        <p:spPr bwMode="auto">
          <a:xfrm>
            <a:off x="5289747" y="3269355"/>
            <a:ext cx="74613" cy="82550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6" name="Freeform 17"/>
          <p:cNvSpPr>
            <a:spLocks/>
          </p:cNvSpPr>
          <p:nvPr/>
        </p:nvSpPr>
        <p:spPr bwMode="auto">
          <a:xfrm>
            <a:off x="5289747" y="3269355"/>
            <a:ext cx="74613" cy="82550"/>
          </a:xfrm>
          <a:custGeom>
            <a:avLst/>
            <a:gdLst>
              <a:gd name="T0" fmla="*/ 2147483647 w 51"/>
              <a:gd name="T1" fmla="*/ 2147483647 h 52"/>
              <a:gd name="T2" fmla="*/ 2147483647 w 51"/>
              <a:gd name="T3" fmla="*/ 0 h 52"/>
              <a:gd name="T4" fmla="*/ 0 w 51"/>
              <a:gd name="T5" fmla="*/ 2147483647 h 52"/>
              <a:gd name="T6" fmla="*/ 2147483647 w 51"/>
              <a:gd name="T7" fmla="*/ 2147483647 h 52"/>
              <a:gd name="T8" fmla="*/ 2147483647 w 51"/>
              <a:gd name="T9" fmla="*/ 2147483647 h 52"/>
              <a:gd name="T10" fmla="*/ 2147483647 w 51"/>
              <a:gd name="T11" fmla="*/ 2147483647 h 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2"/>
              <a:gd name="T20" fmla="*/ 51 w 51"/>
              <a:gd name="T21" fmla="*/ 52 h 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2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40"/>
                  <a:pt x="12" y="52"/>
                  <a:pt x="25" y="52"/>
                </a:cubicBezTo>
                <a:cubicBezTo>
                  <a:pt x="40" y="52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7" name="Freeform 18"/>
          <p:cNvSpPr>
            <a:spLocks/>
          </p:cNvSpPr>
          <p:nvPr/>
        </p:nvSpPr>
        <p:spPr bwMode="auto">
          <a:xfrm>
            <a:off x="4642047" y="304075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8" name="Freeform 19"/>
          <p:cNvSpPr>
            <a:spLocks/>
          </p:cNvSpPr>
          <p:nvPr/>
        </p:nvSpPr>
        <p:spPr bwMode="auto">
          <a:xfrm>
            <a:off x="4642047" y="304075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9" name="Freeform 20"/>
          <p:cNvSpPr>
            <a:spLocks noEditPoints="1"/>
          </p:cNvSpPr>
          <p:nvPr/>
        </p:nvSpPr>
        <p:spPr bwMode="auto">
          <a:xfrm>
            <a:off x="4499172" y="4350442"/>
            <a:ext cx="996950" cy="269875"/>
          </a:xfrm>
          <a:custGeom>
            <a:avLst/>
            <a:gdLst>
              <a:gd name="T0" fmla="*/ 0 w 681"/>
              <a:gd name="T1" fmla="*/ 0 h 170"/>
              <a:gd name="T2" fmla="*/ 2147483647 w 681"/>
              <a:gd name="T3" fmla="*/ 0 h 170"/>
              <a:gd name="T4" fmla="*/ 0 w 681"/>
              <a:gd name="T5" fmla="*/ 2147483647 h 170"/>
              <a:gd name="T6" fmla="*/ 2147483647 w 681"/>
              <a:gd name="T7" fmla="*/ 2147483647 h 170"/>
              <a:gd name="T8" fmla="*/ 2147483647 w 681"/>
              <a:gd name="T9" fmla="*/ 2147483647 h 170"/>
              <a:gd name="T10" fmla="*/ 2147483647 w 681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1"/>
              <a:gd name="T19" fmla="*/ 0 h 170"/>
              <a:gd name="T20" fmla="*/ 681 w 681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1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1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0" name="Freeform 21"/>
          <p:cNvSpPr>
            <a:spLocks/>
          </p:cNvSpPr>
          <p:nvPr/>
        </p:nvSpPr>
        <p:spPr bwMode="auto">
          <a:xfrm>
            <a:off x="4673797" y="421550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1" name="Freeform 22"/>
          <p:cNvSpPr>
            <a:spLocks/>
          </p:cNvSpPr>
          <p:nvPr/>
        </p:nvSpPr>
        <p:spPr bwMode="auto">
          <a:xfrm>
            <a:off x="4673797" y="421550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2" name="Freeform 23"/>
          <p:cNvSpPr>
            <a:spLocks/>
          </p:cNvSpPr>
          <p:nvPr/>
        </p:nvSpPr>
        <p:spPr bwMode="auto">
          <a:xfrm>
            <a:off x="5321497" y="4444105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59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3" name="Freeform 24"/>
          <p:cNvSpPr>
            <a:spLocks/>
          </p:cNvSpPr>
          <p:nvPr/>
        </p:nvSpPr>
        <p:spPr bwMode="auto">
          <a:xfrm>
            <a:off x="5321497" y="4444105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4" name="Freeform 25"/>
          <p:cNvSpPr>
            <a:spLocks/>
          </p:cNvSpPr>
          <p:nvPr/>
        </p:nvSpPr>
        <p:spPr bwMode="auto">
          <a:xfrm>
            <a:off x="4673797" y="421550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5" name="Freeform 26"/>
          <p:cNvSpPr>
            <a:spLocks/>
          </p:cNvSpPr>
          <p:nvPr/>
        </p:nvSpPr>
        <p:spPr bwMode="auto">
          <a:xfrm>
            <a:off x="4673797" y="421550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6" name="Freeform 27"/>
          <p:cNvSpPr>
            <a:spLocks/>
          </p:cNvSpPr>
          <p:nvPr/>
        </p:nvSpPr>
        <p:spPr bwMode="auto">
          <a:xfrm>
            <a:off x="4273747" y="3175692"/>
            <a:ext cx="193675" cy="4763"/>
          </a:xfrm>
          <a:custGeom>
            <a:avLst/>
            <a:gdLst>
              <a:gd name="T0" fmla="*/ 2147483647 w 133"/>
              <a:gd name="T1" fmla="*/ 0 h 3"/>
              <a:gd name="T2" fmla="*/ 2147483647 w 133"/>
              <a:gd name="T3" fmla="*/ 0 h 3"/>
              <a:gd name="T4" fmla="*/ 2147483647 w 133"/>
              <a:gd name="T5" fmla="*/ 2147483647 h 3"/>
              <a:gd name="T6" fmla="*/ 0 w 133"/>
              <a:gd name="T7" fmla="*/ 2147483647 h 3"/>
              <a:gd name="T8" fmla="*/ 0 60000 65536"/>
              <a:gd name="T9" fmla="*/ 0 60000 65536"/>
              <a:gd name="T10" fmla="*/ 0 60000 65536"/>
              <a:gd name="T11" fmla="*/ 0 60000 65536"/>
              <a:gd name="T12" fmla="*/ 0 w 133"/>
              <a:gd name="T13" fmla="*/ 0 h 3"/>
              <a:gd name="T14" fmla="*/ 133 w 133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" h="3">
                <a:moveTo>
                  <a:pt x="133" y="0"/>
                </a:moveTo>
                <a:lnTo>
                  <a:pt x="53" y="0"/>
                </a:lnTo>
                <a:lnTo>
                  <a:pt x="53" y="3"/>
                </a:lnTo>
                <a:lnTo>
                  <a:pt x="0" y="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7" name="Freeform 28"/>
          <p:cNvSpPr>
            <a:spLocks/>
          </p:cNvSpPr>
          <p:nvPr/>
        </p:nvSpPr>
        <p:spPr bwMode="auto">
          <a:xfrm>
            <a:off x="4273747" y="4620317"/>
            <a:ext cx="225425" cy="1588"/>
          </a:xfrm>
          <a:custGeom>
            <a:avLst/>
            <a:gdLst>
              <a:gd name="T0" fmla="*/ 2147483647 w 154"/>
              <a:gd name="T1" fmla="*/ 0 h 1588"/>
              <a:gd name="T2" fmla="*/ 2147483647 w 154"/>
              <a:gd name="T3" fmla="*/ 0 h 1588"/>
              <a:gd name="T4" fmla="*/ 2147483647 w 154"/>
              <a:gd name="T5" fmla="*/ 0 h 1588"/>
              <a:gd name="T6" fmla="*/ 0 w 154"/>
              <a:gd name="T7" fmla="*/ 0 h 158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1588"/>
              <a:gd name="T14" fmla="*/ 154 w 154"/>
              <a:gd name="T15" fmla="*/ 1588 h 1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1588">
                <a:moveTo>
                  <a:pt x="154" y="0"/>
                </a:moveTo>
                <a:lnTo>
                  <a:pt x="115" y="0"/>
                </a:ln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8" name="Rectangle 29"/>
          <p:cNvSpPr>
            <a:spLocks noChangeArrowheads="1"/>
          </p:cNvSpPr>
          <p:nvPr/>
        </p:nvSpPr>
        <p:spPr bwMode="auto">
          <a:xfrm>
            <a:off x="2168722" y="5372792"/>
            <a:ext cx="2016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7922" name="Freeform 33"/>
          <p:cNvSpPr>
            <a:spLocks noEditPoints="1"/>
          </p:cNvSpPr>
          <p:nvPr/>
        </p:nvSpPr>
        <p:spPr bwMode="auto">
          <a:xfrm>
            <a:off x="3273622" y="3045517"/>
            <a:ext cx="1000125" cy="268288"/>
          </a:xfrm>
          <a:custGeom>
            <a:avLst/>
            <a:gdLst>
              <a:gd name="T0" fmla="*/ 0 w 682"/>
              <a:gd name="T1" fmla="*/ 0 h 169"/>
              <a:gd name="T2" fmla="*/ 2147483647 w 682"/>
              <a:gd name="T3" fmla="*/ 0 h 169"/>
              <a:gd name="T4" fmla="*/ 0 w 682"/>
              <a:gd name="T5" fmla="*/ 2147483647 h 169"/>
              <a:gd name="T6" fmla="*/ 2147483647 w 682"/>
              <a:gd name="T7" fmla="*/ 2147483647 h 169"/>
              <a:gd name="T8" fmla="*/ 2147483647 w 682"/>
              <a:gd name="T9" fmla="*/ 2147483647 h 169"/>
              <a:gd name="T10" fmla="*/ 2147483647 w 682"/>
              <a:gd name="T11" fmla="*/ 2147483647 h 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69"/>
              <a:gd name="T20" fmla="*/ 682 w 682"/>
              <a:gd name="T21" fmla="*/ 169 h 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69">
                <a:moveTo>
                  <a:pt x="0" y="0"/>
                </a:moveTo>
                <a:lnTo>
                  <a:pt x="340" y="0"/>
                </a:lnTo>
                <a:moveTo>
                  <a:pt x="0" y="169"/>
                </a:moveTo>
                <a:lnTo>
                  <a:pt x="340" y="169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3" name="Freeform 34"/>
          <p:cNvSpPr>
            <a:spLocks/>
          </p:cNvSpPr>
          <p:nvPr/>
        </p:nvSpPr>
        <p:spPr bwMode="auto">
          <a:xfrm>
            <a:off x="3448247" y="291058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4" name="Freeform 35"/>
          <p:cNvSpPr>
            <a:spLocks/>
          </p:cNvSpPr>
          <p:nvPr/>
        </p:nvSpPr>
        <p:spPr bwMode="auto">
          <a:xfrm>
            <a:off x="3448247" y="291058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5" name="Freeform 36"/>
          <p:cNvSpPr>
            <a:spLocks/>
          </p:cNvSpPr>
          <p:nvPr/>
        </p:nvSpPr>
        <p:spPr bwMode="auto">
          <a:xfrm>
            <a:off x="4095947" y="313918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6" name="Freeform 37"/>
          <p:cNvSpPr>
            <a:spLocks/>
          </p:cNvSpPr>
          <p:nvPr/>
        </p:nvSpPr>
        <p:spPr bwMode="auto">
          <a:xfrm>
            <a:off x="4095947" y="313918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7" name="Freeform 38"/>
          <p:cNvSpPr>
            <a:spLocks/>
          </p:cNvSpPr>
          <p:nvPr/>
        </p:nvSpPr>
        <p:spPr bwMode="auto">
          <a:xfrm>
            <a:off x="3448247" y="291058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28" name="Freeform 39"/>
          <p:cNvSpPr>
            <a:spLocks/>
          </p:cNvSpPr>
          <p:nvPr/>
        </p:nvSpPr>
        <p:spPr bwMode="auto">
          <a:xfrm>
            <a:off x="3448247" y="291058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9" name="Freeform 40"/>
          <p:cNvSpPr>
            <a:spLocks noEditPoints="1"/>
          </p:cNvSpPr>
          <p:nvPr/>
        </p:nvSpPr>
        <p:spPr bwMode="auto">
          <a:xfrm>
            <a:off x="3273622" y="4483792"/>
            <a:ext cx="1000125" cy="271463"/>
          </a:xfrm>
          <a:custGeom>
            <a:avLst/>
            <a:gdLst>
              <a:gd name="T0" fmla="*/ 0 w 682"/>
              <a:gd name="T1" fmla="*/ 0 h 171"/>
              <a:gd name="T2" fmla="*/ 2147483647 w 682"/>
              <a:gd name="T3" fmla="*/ 0 h 171"/>
              <a:gd name="T4" fmla="*/ 0 w 682"/>
              <a:gd name="T5" fmla="*/ 2147483647 h 171"/>
              <a:gd name="T6" fmla="*/ 2147483647 w 682"/>
              <a:gd name="T7" fmla="*/ 2147483647 h 171"/>
              <a:gd name="T8" fmla="*/ 0 w 682"/>
              <a:gd name="T9" fmla="*/ 2147483647 h 171"/>
              <a:gd name="T10" fmla="*/ 2147483647 w 682"/>
              <a:gd name="T11" fmla="*/ 2147483647 h 171"/>
              <a:gd name="T12" fmla="*/ 2147483647 w 682"/>
              <a:gd name="T13" fmla="*/ 2147483647 h 171"/>
              <a:gd name="T14" fmla="*/ 2147483647 w 682"/>
              <a:gd name="T15" fmla="*/ 2147483647 h 1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82"/>
              <a:gd name="T25" fmla="*/ 0 h 171"/>
              <a:gd name="T26" fmla="*/ 682 w 682"/>
              <a:gd name="T27" fmla="*/ 171 h 1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82" h="171">
                <a:moveTo>
                  <a:pt x="0" y="0"/>
                </a:moveTo>
                <a:lnTo>
                  <a:pt x="340" y="0"/>
                </a:lnTo>
                <a:moveTo>
                  <a:pt x="0" y="86"/>
                </a:moveTo>
                <a:lnTo>
                  <a:pt x="340" y="86"/>
                </a:lnTo>
                <a:moveTo>
                  <a:pt x="0" y="171"/>
                </a:moveTo>
                <a:lnTo>
                  <a:pt x="340" y="171"/>
                </a:lnTo>
                <a:moveTo>
                  <a:pt x="682" y="86"/>
                </a:moveTo>
                <a:lnTo>
                  <a:pt x="340" y="86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0" name="Freeform 41"/>
          <p:cNvSpPr>
            <a:spLocks/>
          </p:cNvSpPr>
          <p:nvPr/>
        </p:nvSpPr>
        <p:spPr bwMode="auto">
          <a:xfrm>
            <a:off x="3448247" y="435044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1" name="Freeform 42"/>
          <p:cNvSpPr>
            <a:spLocks/>
          </p:cNvSpPr>
          <p:nvPr/>
        </p:nvSpPr>
        <p:spPr bwMode="auto">
          <a:xfrm>
            <a:off x="3448247" y="435044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2" name="Freeform 43"/>
          <p:cNvSpPr>
            <a:spLocks/>
          </p:cNvSpPr>
          <p:nvPr/>
        </p:nvSpPr>
        <p:spPr bwMode="auto">
          <a:xfrm>
            <a:off x="4095947" y="4579042"/>
            <a:ext cx="74613" cy="80963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7"/>
                </a:cubicBezTo>
                <a:cubicBezTo>
                  <a:pt x="75" y="37"/>
                  <a:pt x="75" y="37"/>
                  <a:pt x="75" y="37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3" name="Freeform 44"/>
          <p:cNvSpPr>
            <a:spLocks/>
          </p:cNvSpPr>
          <p:nvPr/>
        </p:nvSpPr>
        <p:spPr bwMode="auto">
          <a:xfrm>
            <a:off x="4095947" y="4579042"/>
            <a:ext cx="74613" cy="80963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4" name="Freeform 45"/>
          <p:cNvSpPr>
            <a:spLocks/>
          </p:cNvSpPr>
          <p:nvPr/>
        </p:nvSpPr>
        <p:spPr bwMode="auto">
          <a:xfrm>
            <a:off x="3448247" y="435044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35" name="Freeform 46"/>
          <p:cNvSpPr>
            <a:spLocks/>
          </p:cNvSpPr>
          <p:nvPr/>
        </p:nvSpPr>
        <p:spPr bwMode="auto">
          <a:xfrm>
            <a:off x="3448247" y="435044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6" name="Freeform 47"/>
          <p:cNvSpPr>
            <a:spLocks noEditPoints="1"/>
          </p:cNvSpPr>
          <p:nvPr/>
        </p:nvSpPr>
        <p:spPr bwMode="auto">
          <a:xfrm>
            <a:off x="3273622" y="2137467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7" name="Freeform 48"/>
          <p:cNvSpPr>
            <a:spLocks/>
          </p:cNvSpPr>
          <p:nvPr/>
        </p:nvSpPr>
        <p:spPr bwMode="auto">
          <a:xfrm>
            <a:off x="3448247" y="200094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8" name="Freeform 49"/>
          <p:cNvSpPr>
            <a:spLocks/>
          </p:cNvSpPr>
          <p:nvPr/>
        </p:nvSpPr>
        <p:spPr bwMode="auto">
          <a:xfrm>
            <a:off x="3448247" y="200094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9" name="Freeform 50"/>
          <p:cNvSpPr>
            <a:spLocks/>
          </p:cNvSpPr>
          <p:nvPr/>
        </p:nvSpPr>
        <p:spPr bwMode="auto">
          <a:xfrm>
            <a:off x="4095947" y="223113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0" name="Freeform 51"/>
          <p:cNvSpPr>
            <a:spLocks/>
          </p:cNvSpPr>
          <p:nvPr/>
        </p:nvSpPr>
        <p:spPr bwMode="auto">
          <a:xfrm>
            <a:off x="4095947" y="223113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1"/>
                  <a:pt x="40" y="0"/>
                  <a:pt x="25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39"/>
                  <a:pt x="11" y="51"/>
                  <a:pt x="25" y="51"/>
                </a:cubicBezTo>
                <a:cubicBezTo>
                  <a:pt x="40" y="51"/>
                  <a:pt x="51" y="39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1" name="Freeform 52"/>
          <p:cNvSpPr>
            <a:spLocks/>
          </p:cNvSpPr>
          <p:nvPr/>
        </p:nvSpPr>
        <p:spPr bwMode="auto">
          <a:xfrm>
            <a:off x="3448247" y="200094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2" name="Freeform 53"/>
          <p:cNvSpPr>
            <a:spLocks/>
          </p:cNvSpPr>
          <p:nvPr/>
        </p:nvSpPr>
        <p:spPr bwMode="auto">
          <a:xfrm>
            <a:off x="3448247" y="200094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43" name="Freeform 54"/>
          <p:cNvSpPr>
            <a:spLocks noEditPoints="1"/>
          </p:cNvSpPr>
          <p:nvPr/>
        </p:nvSpPr>
        <p:spPr bwMode="auto">
          <a:xfrm>
            <a:off x="3273622" y="5344217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4" name="Freeform 55"/>
          <p:cNvSpPr>
            <a:spLocks/>
          </p:cNvSpPr>
          <p:nvPr/>
        </p:nvSpPr>
        <p:spPr bwMode="auto">
          <a:xfrm>
            <a:off x="3448247" y="520928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5" name="Freeform 56"/>
          <p:cNvSpPr>
            <a:spLocks/>
          </p:cNvSpPr>
          <p:nvPr/>
        </p:nvSpPr>
        <p:spPr bwMode="auto">
          <a:xfrm>
            <a:off x="3448247" y="520928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6" name="Freeform 57"/>
          <p:cNvSpPr>
            <a:spLocks/>
          </p:cNvSpPr>
          <p:nvPr/>
        </p:nvSpPr>
        <p:spPr bwMode="auto">
          <a:xfrm>
            <a:off x="4095947" y="543788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7" name="Freeform 58"/>
          <p:cNvSpPr>
            <a:spLocks/>
          </p:cNvSpPr>
          <p:nvPr/>
        </p:nvSpPr>
        <p:spPr bwMode="auto">
          <a:xfrm>
            <a:off x="4095947" y="543788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8" name="Freeform 59"/>
          <p:cNvSpPr>
            <a:spLocks/>
          </p:cNvSpPr>
          <p:nvPr/>
        </p:nvSpPr>
        <p:spPr bwMode="auto">
          <a:xfrm>
            <a:off x="3448247" y="520928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49" name="Freeform 60"/>
          <p:cNvSpPr>
            <a:spLocks/>
          </p:cNvSpPr>
          <p:nvPr/>
        </p:nvSpPr>
        <p:spPr bwMode="auto">
          <a:xfrm>
            <a:off x="3448247" y="520928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0" name="Freeform 61"/>
          <p:cNvSpPr>
            <a:spLocks/>
          </p:cNvSpPr>
          <p:nvPr/>
        </p:nvSpPr>
        <p:spPr bwMode="auto">
          <a:xfrm>
            <a:off x="3060897" y="2397817"/>
            <a:ext cx="1212850" cy="782638"/>
          </a:xfrm>
          <a:custGeom>
            <a:avLst/>
            <a:gdLst>
              <a:gd name="T0" fmla="*/ 2147483647 w 827"/>
              <a:gd name="T1" fmla="*/ 0 h 493"/>
              <a:gd name="T2" fmla="*/ 0 w 827"/>
              <a:gd name="T3" fmla="*/ 0 h 493"/>
              <a:gd name="T4" fmla="*/ 0 w 827"/>
              <a:gd name="T5" fmla="*/ 2147483647 h 493"/>
              <a:gd name="T6" fmla="*/ 2147483647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145" y="0"/>
                </a:moveTo>
                <a:lnTo>
                  <a:pt x="0" y="0"/>
                </a:lnTo>
                <a:lnTo>
                  <a:pt x="0" y="106"/>
                </a:lnTo>
                <a:lnTo>
                  <a:pt x="827" y="353"/>
                </a:lnTo>
                <a:lnTo>
                  <a:pt x="827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1" name="Freeform 62"/>
          <p:cNvSpPr>
            <a:spLocks/>
          </p:cNvSpPr>
          <p:nvPr/>
        </p:nvSpPr>
        <p:spPr bwMode="auto">
          <a:xfrm>
            <a:off x="4219772" y="3123305"/>
            <a:ext cx="104775" cy="112712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1" y="104"/>
                  <a:pt x="104" y="80"/>
                  <a:pt x="104" y="52"/>
                </a:cubicBezTo>
                <a:cubicBezTo>
                  <a:pt x="104" y="23"/>
                  <a:pt x="81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2" name="Freeform 63"/>
          <p:cNvSpPr>
            <a:spLocks/>
          </p:cNvSpPr>
          <p:nvPr/>
        </p:nvSpPr>
        <p:spPr bwMode="auto">
          <a:xfrm>
            <a:off x="3060897" y="2262880"/>
            <a:ext cx="1212850" cy="782637"/>
          </a:xfrm>
          <a:custGeom>
            <a:avLst/>
            <a:gdLst>
              <a:gd name="T0" fmla="*/ 2147483647 w 827"/>
              <a:gd name="T1" fmla="*/ 0 h 493"/>
              <a:gd name="T2" fmla="*/ 2147483647 w 827"/>
              <a:gd name="T3" fmla="*/ 2147483647 h 493"/>
              <a:gd name="T4" fmla="*/ 0 w 827"/>
              <a:gd name="T5" fmla="*/ 2147483647 h 493"/>
              <a:gd name="T6" fmla="*/ 0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827" y="0"/>
                </a:moveTo>
                <a:lnTo>
                  <a:pt x="827" y="191"/>
                </a:lnTo>
                <a:lnTo>
                  <a:pt x="0" y="397"/>
                </a:lnTo>
                <a:lnTo>
                  <a:pt x="0" y="490"/>
                </a:lnTo>
                <a:lnTo>
                  <a:pt x="145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3" name="Freeform 64"/>
          <p:cNvSpPr>
            <a:spLocks/>
          </p:cNvSpPr>
          <p:nvPr/>
        </p:nvSpPr>
        <p:spPr bwMode="auto">
          <a:xfrm>
            <a:off x="3046610" y="3313805"/>
            <a:ext cx="227012" cy="1306512"/>
          </a:xfrm>
          <a:custGeom>
            <a:avLst/>
            <a:gdLst>
              <a:gd name="T0" fmla="*/ 2147483647 w 155"/>
              <a:gd name="T1" fmla="*/ 0 h 823"/>
              <a:gd name="T2" fmla="*/ 0 w 155"/>
              <a:gd name="T3" fmla="*/ 0 h 823"/>
              <a:gd name="T4" fmla="*/ 0 w 155"/>
              <a:gd name="T5" fmla="*/ 2147483647 h 823"/>
              <a:gd name="T6" fmla="*/ 2147483647 w 155"/>
              <a:gd name="T7" fmla="*/ 2147483647 h 823"/>
              <a:gd name="T8" fmla="*/ 0 60000 65536"/>
              <a:gd name="T9" fmla="*/ 0 60000 65536"/>
              <a:gd name="T10" fmla="*/ 0 60000 65536"/>
              <a:gd name="T11" fmla="*/ 0 60000 65536"/>
              <a:gd name="T12" fmla="*/ 0 w 155"/>
              <a:gd name="T13" fmla="*/ 0 h 823"/>
              <a:gd name="T14" fmla="*/ 155 w 155"/>
              <a:gd name="T15" fmla="*/ 823 h 8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" h="823">
                <a:moveTo>
                  <a:pt x="155" y="0"/>
                </a:moveTo>
                <a:lnTo>
                  <a:pt x="0" y="0"/>
                </a:lnTo>
                <a:lnTo>
                  <a:pt x="0" y="823"/>
                </a:lnTo>
                <a:lnTo>
                  <a:pt x="155" y="82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4" name="Freeform 65"/>
          <p:cNvSpPr>
            <a:spLocks/>
          </p:cNvSpPr>
          <p:nvPr/>
        </p:nvSpPr>
        <p:spPr bwMode="auto">
          <a:xfrm>
            <a:off x="3156147" y="3180455"/>
            <a:ext cx="1117600" cy="1303337"/>
          </a:xfrm>
          <a:custGeom>
            <a:avLst/>
            <a:gdLst>
              <a:gd name="T0" fmla="*/ 2147483647 w 762"/>
              <a:gd name="T1" fmla="*/ 2147483647 h 821"/>
              <a:gd name="T2" fmla="*/ 0 w 762"/>
              <a:gd name="T3" fmla="*/ 2147483647 h 821"/>
              <a:gd name="T4" fmla="*/ 0 w 762"/>
              <a:gd name="T5" fmla="*/ 2147483647 h 821"/>
              <a:gd name="T6" fmla="*/ 2147483647 w 762"/>
              <a:gd name="T7" fmla="*/ 2147483647 h 821"/>
              <a:gd name="T8" fmla="*/ 2147483647 w 762"/>
              <a:gd name="T9" fmla="*/ 0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2"/>
              <a:gd name="T16" fmla="*/ 0 h 821"/>
              <a:gd name="T17" fmla="*/ 762 w 762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2" h="821">
                <a:moveTo>
                  <a:pt x="80" y="821"/>
                </a:moveTo>
                <a:lnTo>
                  <a:pt x="0" y="821"/>
                </a:lnTo>
                <a:lnTo>
                  <a:pt x="0" y="657"/>
                </a:lnTo>
                <a:lnTo>
                  <a:pt x="762" y="657"/>
                </a:lnTo>
                <a:lnTo>
                  <a:pt x="762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5" name="Freeform 66"/>
          <p:cNvSpPr>
            <a:spLocks/>
          </p:cNvSpPr>
          <p:nvPr/>
        </p:nvSpPr>
        <p:spPr bwMode="auto">
          <a:xfrm>
            <a:off x="3060897" y="4620317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2147483647 w 827"/>
              <a:gd name="T3" fmla="*/ 2147483647 h 456"/>
              <a:gd name="T4" fmla="*/ 0 w 827"/>
              <a:gd name="T5" fmla="*/ 2147483647 h 456"/>
              <a:gd name="T6" fmla="*/ 0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827" y="0"/>
                </a:moveTo>
                <a:lnTo>
                  <a:pt x="827" y="149"/>
                </a:lnTo>
                <a:lnTo>
                  <a:pt x="0" y="355"/>
                </a:lnTo>
                <a:lnTo>
                  <a:pt x="0" y="453"/>
                </a:lnTo>
                <a:lnTo>
                  <a:pt x="145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6" name="Freeform 67"/>
          <p:cNvSpPr>
            <a:spLocks/>
          </p:cNvSpPr>
          <p:nvPr/>
        </p:nvSpPr>
        <p:spPr bwMode="auto">
          <a:xfrm>
            <a:off x="4219772" y="4563167"/>
            <a:ext cx="104775" cy="112713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4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7" name="Freeform 68"/>
          <p:cNvSpPr>
            <a:spLocks/>
          </p:cNvSpPr>
          <p:nvPr/>
        </p:nvSpPr>
        <p:spPr bwMode="auto">
          <a:xfrm>
            <a:off x="3060897" y="4755255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0 w 827"/>
              <a:gd name="T3" fmla="*/ 0 h 456"/>
              <a:gd name="T4" fmla="*/ 0 w 827"/>
              <a:gd name="T5" fmla="*/ 2147483647 h 456"/>
              <a:gd name="T6" fmla="*/ 2147483647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145" y="0"/>
                </a:moveTo>
                <a:lnTo>
                  <a:pt x="0" y="0"/>
                </a:lnTo>
                <a:lnTo>
                  <a:pt x="0" y="116"/>
                </a:lnTo>
                <a:lnTo>
                  <a:pt x="827" y="312"/>
                </a:lnTo>
                <a:lnTo>
                  <a:pt x="827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8" name="Line 69"/>
          <p:cNvSpPr>
            <a:spLocks noChangeShapeType="1"/>
          </p:cNvSpPr>
          <p:nvPr/>
        </p:nvSpPr>
        <p:spPr bwMode="auto">
          <a:xfrm flipH="1">
            <a:off x="2508447" y="5601392"/>
            <a:ext cx="765175" cy="1588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9" name="Freeform 70"/>
          <p:cNvSpPr>
            <a:spLocks/>
          </p:cNvSpPr>
          <p:nvPr/>
        </p:nvSpPr>
        <p:spPr bwMode="auto">
          <a:xfrm>
            <a:off x="2910085" y="2140642"/>
            <a:ext cx="363537" cy="2798763"/>
          </a:xfrm>
          <a:custGeom>
            <a:avLst/>
            <a:gdLst>
              <a:gd name="T0" fmla="*/ 2147483647 w 248"/>
              <a:gd name="T1" fmla="*/ 2147483647 h 1763"/>
              <a:gd name="T2" fmla="*/ 0 w 248"/>
              <a:gd name="T3" fmla="*/ 2147483647 h 1763"/>
              <a:gd name="T4" fmla="*/ 0 w 248"/>
              <a:gd name="T5" fmla="*/ 0 h 1763"/>
              <a:gd name="T6" fmla="*/ 2147483647 w 248"/>
              <a:gd name="T7" fmla="*/ 0 h 1763"/>
              <a:gd name="T8" fmla="*/ 0 60000 65536"/>
              <a:gd name="T9" fmla="*/ 0 60000 65536"/>
              <a:gd name="T10" fmla="*/ 0 60000 65536"/>
              <a:gd name="T11" fmla="*/ 0 60000 65536"/>
              <a:gd name="T12" fmla="*/ 0 w 248"/>
              <a:gd name="T13" fmla="*/ 0 h 1763"/>
              <a:gd name="T14" fmla="*/ 248 w 248"/>
              <a:gd name="T15" fmla="*/ 1763 h 17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" h="1763">
                <a:moveTo>
                  <a:pt x="103" y="1763"/>
                </a:moveTo>
                <a:lnTo>
                  <a:pt x="0" y="1763"/>
                </a:lnTo>
                <a:lnTo>
                  <a:pt x="0" y="0"/>
                </a:lnTo>
                <a:lnTo>
                  <a:pt x="248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0" name="Freeform 71"/>
          <p:cNvSpPr>
            <a:spLocks/>
          </p:cNvSpPr>
          <p:nvPr/>
        </p:nvSpPr>
        <p:spPr bwMode="auto">
          <a:xfrm>
            <a:off x="3008510" y="4883842"/>
            <a:ext cx="103187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1"/>
                </a:moveTo>
                <a:cubicBezTo>
                  <a:pt x="0" y="80"/>
                  <a:pt x="24" y="103"/>
                  <a:pt x="52" y="103"/>
                </a:cubicBezTo>
                <a:cubicBezTo>
                  <a:pt x="81" y="103"/>
                  <a:pt x="104" y="80"/>
                  <a:pt x="104" y="51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23"/>
                  <a:pt x="81" y="0"/>
                  <a:pt x="52" y="0"/>
                </a:cubicBezTo>
                <a:cubicBezTo>
                  <a:pt x="24" y="0"/>
                  <a:pt x="0" y="23"/>
                  <a:pt x="0" y="51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1" name="Line 72"/>
          <p:cNvSpPr>
            <a:spLocks noChangeShapeType="1"/>
          </p:cNvSpPr>
          <p:nvPr/>
        </p:nvSpPr>
        <p:spPr bwMode="auto">
          <a:xfrm flipH="1">
            <a:off x="2454472" y="3974205"/>
            <a:ext cx="592138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2" name="Freeform 73"/>
          <p:cNvSpPr>
            <a:spLocks/>
          </p:cNvSpPr>
          <p:nvPr/>
        </p:nvSpPr>
        <p:spPr bwMode="auto">
          <a:xfrm>
            <a:off x="2994222" y="3918642"/>
            <a:ext cx="103188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2"/>
                </a:moveTo>
                <a:cubicBezTo>
                  <a:pt x="0" y="80"/>
                  <a:pt x="23" y="103"/>
                  <a:pt x="52" y="103"/>
                </a:cubicBezTo>
                <a:cubicBezTo>
                  <a:pt x="81" y="103"/>
                  <a:pt x="104" y="80"/>
                  <a:pt x="104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23" y="0"/>
                  <a:pt x="0" y="23"/>
                  <a:pt x="0" y="52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948" name="Text Box 76"/>
          <p:cNvSpPr txBox="1">
            <a:spLocks noChangeArrowheads="1"/>
          </p:cNvSpPr>
          <p:nvPr/>
        </p:nvSpPr>
        <p:spPr bwMode="auto">
          <a:xfrm>
            <a:off x="4226122" y="2553392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49" name="Text Box 77"/>
          <p:cNvSpPr txBox="1">
            <a:spLocks noChangeArrowheads="1"/>
          </p:cNvSpPr>
          <p:nvPr/>
        </p:nvSpPr>
        <p:spPr bwMode="auto">
          <a:xfrm>
            <a:off x="4226122" y="4488555"/>
            <a:ext cx="5334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50" name="Text Box 78"/>
          <p:cNvSpPr txBox="1">
            <a:spLocks noChangeArrowheads="1"/>
          </p:cNvSpPr>
          <p:nvPr/>
        </p:nvSpPr>
        <p:spPr bwMode="auto">
          <a:xfrm>
            <a:off x="2577504" y="5140656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3951" name="Text Box 79"/>
          <p:cNvSpPr txBox="1">
            <a:spLocks noChangeArrowheads="1"/>
          </p:cNvSpPr>
          <p:nvPr/>
        </p:nvSpPr>
        <p:spPr bwMode="auto">
          <a:xfrm>
            <a:off x="4236755" y="1943792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3954" name="Text Box 82"/>
          <p:cNvSpPr txBox="1">
            <a:spLocks noChangeArrowheads="1"/>
          </p:cNvSpPr>
          <p:nvPr/>
        </p:nvSpPr>
        <p:spPr bwMode="auto">
          <a:xfrm>
            <a:off x="4302322" y="5144192"/>
            <a:ext cx="381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56" name="Text Box 84"/>
          <p:cNvSpPr txBox="1">
            <a:spLocks noChangeArrowheads="1"/>
          </p:cNvSpPr>
          <p:nvPr/>
        </p:nvSpPr>
        <p:spPr bwMode="auto">
          <a:xfrm>
            <a:off x="4454722" y="2553392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1</a:t>
            </a:r>
            <a:endParaRPr lang="en-US" altLang="zh-CN" sz="3200" dirty="0">
              <a:solidFill>
                <a:srgbClr val="0432FF"/>
              </a:solidFill>
            </a:endParaRPr>
          </a:p>
        </p:txBody>
      </p:sp>
      <p:sp>
        <p:nvSpPr>
          <p:cNvPr id="108" name="Text Box 94">
            <a:extLst>
              <a:ext uri="{FF2B5EF4-FFF2-40B4-BE49-F238E27FC236}">
                <a16:creationId xmlns:a16="http://schemas.microsoft.com/office/drawing/2014/main" id="{64B10FA8-DF5E-654B-B971-209F38A0C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722" y="4488555"/>
            <a:ext cx="838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0</a:t>
            </a:r>
            <a:endParaRPr lang="en-US" altLang="zh-CN" sz="3200" dirty="0">
              <a:solidFill>
                <a:srgbClr val="0432FF"/>
              </a:solidFill>
            </a:endParaRPr>
          </a:p>
        </p:txBody>
      </p:sp>
      <p:sp>
        <p:nvSpPr>
          <p:cNvPr id="83" name="Text Box 95">
            <a:extLst>
              <a:ext uri="{FF2B5EF4-FFF2-40B4-BE49-F238E27FC236}">
                <a16:creationId xmlns:a16="http://schemas.microsoft.com/office/drawing/2014/main" id="{931CA177-D0A8-834D-9CB3-F41C6C6A8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972" y="275897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84" name="Text Box 96">
            <a:extLst>
              <a:ext uri="{FF2B5EF4-FFF2-40B4-BE49-F238E27FC236}">
                <a16:creationId xmlns:a16="http://schemas.microsoft.com/office/drawing/2014/main" id="{55D0E283-734C-6F4B-996D-065088C98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998" y="374560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4A917-A6AB-8147-892F-B7349C8F8B3D}"/>
              </a:ext>
            </a:extLst>
          </p:cNvPr>
          <p:cNvSpPr txBox="1"/>
          <p:nvPr/>
        </p:nvSpPr>
        <p:spPr>
          <a:xfrm>
            <a:off x="1615043" y="37306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altLang="zh-CN" sz="2400" dirty="0">
                <a:solidFill>
                  <a:srgbClr val="FF0000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rPr>
              <a:t>CLK</a:t>
            </a:r>
            <a:endParaRPr lang="en-CN" sz="2400" dirty="0">
              <a:solidFill>
                <a:srgbClr val="FF0000"/>
              </a:solidFill>
              <a:latin typeface="Arial" panose="020B0604020202020204" pitchFamily="34" charset="0"/>
              <a:ea typeface="STHeiti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1189A6-7F4C-9F47-8273-2D6C30A94398}"/>
              </a:ext>
            </a:extLst>
          </p:cNvPr>
          <p:cNvCxnSpPr/>
          <p:nvPr/>
        </p:nvCxnSpPr>
        <p:spPr>
          <a:xfrm>
            <a:off x="5289747" y="2843110"/>
            <a:ext cx="860225" cy="2817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569AF60-CC7D-A54C-98A2-FE5DD608DEA3}"/>
              </a:ext>
            </a:extLst>
          </p:cNvPr>
          <p:cNvCxnSpPr>
            <a:cxnSpLocks/>
          </p:cNvCxnSpPr>
          <p:nvPr/>
        </p:nvCxnSpPr>
        <p:spPr>
          <a:xfrm flipV="1">
            <a:off x="5354116" y="4375842"/>
            <a:ext cx="845269" cy="4460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08CCF3C-9BC8-7946-BF83-B16C2F07BEF9}"/>
              </a:ext>
            </a:extLst>
          </p:cNvPr>
          <p:cNvGrpSpPr/>
          <p:nvPr/>
        </p:nvGrpSpPr>
        <p:grpSpPr>
          <a:xfrm>
            <a:off x="3074284" y="3345152"/>
            <a:ext cx="457200" cy="532214"/>
            <a:chOff x="4250425" y="5310981"/>
            <a:chExt cx="457200" cy="590551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A2D192AD-A8A2-7443-AFA8-17833C50FFE6}"/>
                </a:ext>
              </a:extLst>
            </p:cNvPr>
            <p:cNvCxnSpPr/>
            <p:nvPr/>
          </p:nvCxnSpPr>
          <p:spPr>
            <a:xfrm>
              <a:off x="4250425" y="5317735"/>
              <a:ext cx="4572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C1FB869-2CB5-E54A-AB99-AD2A756E1C17}"/>
                </a:ext>
              </a:extLst>
            </p:cNvPr>
            <p:cNvCxnSpPr>
              <a:cxnSpLocks/>
            </p:cNvCxnSpPr>
            <p:nvPr/>
          </p:nvCxnSpPr>
          <p:spPr>
            <a:xfrm>
              <a:off x="4264025" y="5310981"/>
              <a:ext cx="0" cy="59055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33F96E7-5CFB-5346-B313-9421BB8A69B9}"/>
              </a:ext>
            </a:extLst>
          </p:cNvPr>
          <p:cNvGrpSpPr/>
          <p:nvPr/>
        </p:nvGrpSpPr>
        <p:grpSpPr>
          <a:xfrm flipV="1">
            <a:off x="3069689" y="4071042"/>
            <a:ext cx="496200" cy="507998"/>
            <a:chOff x="4250425" y="5310981"/>
            <a:chExt cx="457200" cy="590551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9324B3A8-63C9-6948-850F-B0EB435C0FF4}"/>
                </a:ext>
              </a:extLst>
            </p:cNvPr>
            <p:cNvCxnSpPr/>
            <p:nvPr/>
          </p:nvCxnSpPr>
          <p:spPr>
            <a:xfrm>
              <a:off x="4250425" y="5317735"/>
              <a:ext cx="4572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721A961-4E33-0041-8B98-012F13BD6BD4}"/>
                </a:ext>
              </a:extLst>
            </p:cNvPr>
            <p:cNvCxnSpPr>
              <a:cxnSpLocks/>
            </p:cNvCxnSpPr>
            <p:nvPr/>
          </p:nvCxnSpPr>
          <p:spPr>
            <a:xfrm>
              <a:off x="4264025" y="5310981"/>
              <a:ext cx="0" cy="59055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962A803-A176-5F4D-A306-344BC903D45F}"/>
              </a:ext>
            </a:extLst>
          </p:cNvPr>
          <p:cNvCxnSpPr>
            <a:cxnSpLocks/>
          </p:cNvCxnSpPr>
          <p:nvPr/>
        </p:nvCxnSpPr>
        <p:spPr>
          <a:xfrm>
            <a:off x="4226122" y="2233511"/>
            <a:ext cx="0" cy="4206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D76EFD-660D-784A-8214-C54E9E12E2FB}"/>
              </a:ext>
            </a:extLst>
          </p:cNvPr>
          <p:cNvCxnSpPr/>
          <p:nvPr/>
        </p:nvCxnSpPr>
        <p:spPr>
          <a:xfrm flipH="1">
            <a:off x="3108522" y="2635489"/>
            <a:ext cx="1114425" cy="3298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BD1FF72-A20D-1A42-BEE9-16DB11EFA73A}"/>
              </a:ext>
            </a:extLst>
          </p:cNvPr>
          <p:cNvCxnSpPr>
            <a:cxnSpLocks/>
          </p:cNvCxnSpPr>
          <p:nvPr/>
        </p:nvCxnSpPr>
        <p:spPr>
          <a:xfrm>
            <a:off x="3115779" y="2965348"/>
            <a:ext cx="0" cy="1579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27C4BC-A11A-DA4E-8E4B-C136C777C3B2}"/>
              </a:ext>
            </a:extLst>
          </p:cNvPr>
          <p:cNvCxnSpPr/>
          <p:nvPr/>
        </p:nvCxnSpPr>
        <p:spPr>
          <a:xfrm>
            <a:off x="3099450" y="3114461"/>
            <a:ext cx="33246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B958529-B0A9-BC4B-846B-56077D7E86FE}"/>
              </a:ext>
            </a:extLst>
          </p:cNvPr>
          <p:cNvCxnSpPr>
            <a:cxnSpLocks/>
          </p:cNvCxnSpPr>
          <p:nvPr/>
        </p:nvCxnSpPr>
        <p:spPr>
          <a:xfrm>
            <a:off x="4226122" y="3257448"/>
            <a:ext cx="0" cy="9441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A90472A-8BC8-144A-B0EC-4208EDA26872}"/>
              </a:ext>
            </a:extLst>
          </p:cNvPr>
          <p:cNvCxnSpPr>
            <a:cxnSpLocks/>
          </p:cNvCxnSpPr>
          <p:nvPr/>
        </p:nvCxnSpPr>
        <p:spPr>
          <a:xfrm flipH="1">
            <a:off x="3186635" y="4188158"/>
            <a:ext cx="1049077" cy="341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39C92F0-2B8E-BA4A-8442-8AE243DB3FAA}"/>
              </a:ext>
            </a:extLst>
          </p:cNvPr>
          <p:cNvCxnSpPr>
            <a:cxnSpLocks/>
          </p:cNvCxnSpPr>
          <p:nvPr/>
        </p:nvCxnSpPr>
        <p:spPr>
          <a:xfrm>
            <a:off x="3193893" y="4184202"/>
            <a:ext cx="6445" cy="2540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21736FA-0B11-8F47-99F1-C4713CBF6025}"/>
              </a:ext>
            </a:extLst>
          </p:cNvPr>
          <p:cNvCxnSpPr/>
          <p:nvPr/>
        </p:nvCxnSpPr>
        <p:spPr>
          <a:xfrm>
            <a:off x="3186635" y="4433674"/>
            <a:ext cx="33246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267BB-34F2-9245-A6ED-818E7D815F7F}"/>
              </a:ext>
            </a:extLst>
          </p:cNvPr>
          <p:cNvGrpSpPr/>
          <p:nvPr/>
        </p:nvGrpSpPr>
        <p:grpSpPr>
          <a:xfrm rot="10800000" flipH="1">
            <a:off x="3172265" y="4710483"/>
            <a:ext cx="1103637" cy="487816"/>
            <a:chOff x="5304615" y="4556466"/>
            <a:chExt cx="1123497" cy="487816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045D4B8B-90E8-944A-A207-8A862C33BD71}"/>
                </a:ext>
              </a:extLst>
            </p:cNvPr>
            <p:cNvCxnSpPr/>
            <p:nvPr/>
          </p:nvCxnSpPr>
          <p:spPr>
            <a:xfrm flipH="1">
              <a:off x="5313687" y="4556466"/>
              <a:ext cx="1114425" cy="32980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7569DA3-DB80-434E-8C44-7700E493A87D}"/>
                </a:ext>
              </a:extLst>
            </p:cNvPr>
            <p:cNvCxnSpPr>
              <a:cxnSpLocks/>
            </p:cNvCxnSpPr>
            <p:nvPr/>
          </p:nvCxnSpPr>
          <p:spPr>
            <a:xfrm>
              <a:off x="5320944" y="4886325"/>
              <a:ext cx="0" cy="15795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E9BE9AE4-5CBC-CB44-812E-A5A64B621507}"/>
                </a:ext>
              </a:extLst>
            </p:cNvPr>
            <p:cNvCxnSpPr/>
            <p:nvPr/>
          </p:nvCxnSpPr>
          <p:spPr>
            <a:xfrm>
              <a:off x="5304615" y="5035438"/>
              <a:ext cx="33246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78C21B1-EAF4-E54E-AE94-C093D699FD74}"/>
              </a:ext>
            </a:extLst>
          </p:cNvPr>
          <p:cNvCxnSpPr>
            <a:cxnSpLocks/>
          </p:cNvCxnSpPr>
          <p:nvPr/>
        </p:nvCxnSpPr>
        <p:spPr>
          <a:xfrm>
            <a:off x="4273747" y="5180705"/>
            <a:ext cx="0" cy="2984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5B637AB-71E0-5843-B531-9DF0B77E3F55}"/>
              </a:ext>
            </a:extLst>
          </p:cNvPr>
          <p:cNvGrpSpPr/>
          <p:nvPr/>
        </p:nvGrpSpPr>
        <p:grpSpPr>
          <a:xfrm rot="10800000" flipH="1">
            <a:off x="4515548" y="3533888"/>
            <a:ext cx="1103637" cy="487816"/>
            <a:chOff x="5304615" y="4556466"/>
            <a:chExt cx="1123497" cy="487816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7429713A-4510-5D41-95D4-B821C7D4DE35}"/>
                </a:ext>
              </a:extLst>
            </p:cNvPr>
            <p:cNvCxnSpPr/>
            <p:nvPr/>
          </p:nvCxnSpPr>
          <p:spPr>
            <a:xfrm flipH="1">
              <a:off x="5313687" y="4556466"/>
              <a:ext cx="1114425" cy="32980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0A43C9E-E62C-6649-B1D8-A06F00D4A239}"/>
                </a:ext>
              </a:extLst>
            </p:cNvPr>
            <p:cNvCxnSpPr>
              <a:cxnSpLocks/>
            </p:cNvCxnSpPr>
            <p:nvPr/>
          </p:nvCxnSpPr>
          <p:spPr>
            <a:xfrm>
              <a:off x="5320944" y="4886325"/>
              <a:ext cx="0" cy="15795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EC6D9E3B-0627-2C48-8335-4A7AA2C506D1}"/>
                </a:ext>
              </a:extLst>
            </p:cNvPr>
            <p:cNvCxnSpPr/>
            <p:nvPr/>
          </p:nvCxnSpPr>
          <p:spPr>
            <a:xfrm>
              <a:off x="5304615" y="5035438"/>
              <a:ext cx="33246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B842CE35-A239-5841-A3A4-A6EE921D52D8}"/>
              </a:ext>
            </a:extLst>
          </p:cNvPr>
          <p:cNvCxnSpPr>
            <a:cxnSpLocks/>
          </p:cNvCxnSpPr>
          <p:nvPr/>
        </p:nvCxnSpPr>
        <p:spPr>
          <a:xfrm>
            <a:off x="5619185" y="4001192"/>
            <a:ext cx="0" cy="2984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 Box 79">
            <a:extLst>
              <a:ext uri="{FF2B5EF4-FFF2-40B4-BE49-F238E27FC236}">
                <a16:creationId xmlns:a16="http://schemas.microsoft.com/office/drawing/2014/main" id="{FC7A3D78-80BD-2343-B24C-8C53D9CDB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268" y="2743200"/>
            <a:ext cx="34424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59" name="Text Box 79">
            <a:extLst>
              <a:ext uri="{FF2B5EF4-FFF2-40B4-BE49-F238E27FC236}">
                <a16:creationId xmlns:a16="http://schemas.microsoft.com/office/drawing/2014/main" id="{A2DF5555-AD2A-8040-BD6F-9D323FBDA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637" y="3262805"/>
            <a:ext cx="34424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0" name="Text Box 79">
            <a:extLst>
              <a:ext uri="{FF2B5EF4-FFF2-40B4-BE49-F238E27FC236}">
                <a16:creationId xmlns:a16="http://schemas.microsoft.com/office/drawing/2014/main" id="{22340361-EA0D-9B47-BD75-E64D72113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1156" y="3333690"/>
            <a:ext cx="34424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94" name="Rectangle 3">
            <a:extLst>
              <a:ext uri="{FF2B5EF4-FFF2-40B4-BE49-F238E27FC236}">
                <a16:creationId xmlns:a16="http://schemas.microsoft.com/office/drawing/2014/main" id="{83576257-E094-4E14-95FE-0A5466EA8D06}"/>
              </a:ext>
            </a:extLst>
          </p:cNvPr>
          <p:cNvSpPr/>
          <p:nvPr/>
        </p:nvSpPr>
        <p:spPr>
          <a:xfrm>
            <a:off x="5189026" y="1588283"/>
            <a:ext cx="380257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D=0</a:t>
            </a:r>
            <a:r>
              <a:rPr lang="zh-CN" altLang="en-US" sz="2400" kern="0" dirty="0">
                <a:solidFill>
                  <a:srgbClr val="0432FF"/>
                </a:solidFill>
                <a:latin typeface="+mn-lt"/>
                <a:ea typeface="黑体"/>
              </a:rPr>
              <a:t>，</a:t>
            </a:r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CLK</a:t>
            </a:r>
            <a:r>
              <a:rPr lang="zh-CN" altLang="en-US" sz="2400" kern="0" dirty="0">
                <a:solidFill>
                  <a:srgbClr val="0432FF"/>
                </a:solidFill>
                <a:latin typeface="+mn-lt"/>
                <a:ea typeface="黑体"/>
              </a:rPr>
              <a:t>上升沿时</a:t>
            </a:r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Q</a:t>
            </a:r>
            <a:r>
              <a:rPr lang="en-US" altLang="zh-CN" sz="2400" kern="0" baseline="30000" dirty="0">
                <a:solidFill>
                  <a:srgbClr val="0432FF"/>
                </a:solidFill>
                <a:latin typeface="+mn-lt"/>
                <a:ea typeface="黑体"/>
              </a:rPr>
              <a:t>+</a:t>
            </a:r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=0</a:t>
            </a:r>
            <a:endParaRPr lang="en-CN" sz="2400" dirty="0">
              <a:solidFill>
                <a:srgbClr val="0432FF"/>
              </a:solidFill>
              <a:latin typeface="+mn-lt"/>
            </a:endParaRPr>
          </a:p>
        </p:txBody>
      </p:sp>
      <p:graphicFrame>
        <p:nvGraphicFramePr>
          <p:cNvPr id="5" name="Object 74">
            <a:extLst>
              <a:ext uri="{FF2B5EF4-FFF2-40B4-BE49-F238E27FC236}">
                <a16:creationId xmlns:a16="http://schemas.microsoft.com/office/drawing/2014/main" id="{B5594634-5A03-525A-0F58-45576D3441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998156"/>
              </p:ext>
            </p:extLst>
          </p:nvPr>
        </p:nvGraphicFramePr>
        <p:xfrm>
          <a:off x="6217708" y="4265152"/>
          <a:ext cx="285220" cy="42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81" name="Object 74">
                        <a:extLst>
                          <a:ext uri="{FF2B5EF4-FFF2-40B4-BE49-F238E27FC236}">
                            <a16:creationId xmlns:a16="http://schemas.microsoft.com/office/drawing/2014/main" id="{13792279-117C-4E7E-A07C-B70B3A885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708" y="4265152"/>
                        <a:ext cx="285220" cy="427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3">
            <a:extLst>
              <a:ext uri="{FF2B5EF4-FFF2-40B4-BE49-F238E27FC236}">
                <a16:creationId xmlns:a16="http://schemas.microsoft.com/office/drawing/2014/main" id="{FE6EFF66-1234-3A15-44EF-24B55909F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8418" y="1651793"/>
            <a:ext cx="381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 Box 75">
            <a:extLst>
              <a:ext uri="{FF2B5EF4-FFF2-40B4-BE49-F238E27FC236}">
                <a16:creationId xmlns:a16="http://schemas.microsoft.com/office/drawing/2014/main" id="{3F8F74C6-8779-57D6-7C1D-34AFAB521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193" y="3472195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Text Box 90">
            <a:extLst>
              <a:ext uri="{FF2B5EF4-FFF2-40B4-BE49-F238E27FC236}">
                <a16:creationId xmlns:a16="http://schemas.microsoft.com/office/drawing/2014/main" id="{9D1256AC-1907-93DB-753F-4E223454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306" y="3449708"/>
            <a:ext cx="838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ym typeface="Symbol" pitchFamily="18" charset="2"/>
              </a:rPr>
              <a:t></a:t>
            </a:r>
            <a:r>
              <a:rPr lang="en-US" altLang="zh-CN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362853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BBE6FE-E334-E047-BE81-D333D32F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90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7894" name="AutoShape 5"/>
          <p:cNvSpPr>
            <a:spLocks noChangeAspect="1" noChangeArrowheads="1" noTextEdit="1"/>
          </p:cNvSpPr>
          <p:nvPr/>
        </p:nvSpPr>
        <p:spPr bwMode="auto">
          <a:xfrm>
            <a:off x="1480364" y="1947532"/>
            <a:ext cx="5324475" cy="380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5" name="Line 6"/>
          <p:cNvSpPr>
            <a:spLocks noChangeShapeType="1"/>
          </p:cNvSpPr>
          <p:nvPr/>
        </p:nvSpPr>
        <p:spPr bwMode="auto">
          <a:xfrm>
            <a:off x="5479277" y="3311195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5479277" y="4489120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7" name="Freeform 8"/>
          <p:cNvSpPr>
            <a:spLocks/>
          </p:cNvSpPr>
          <p:nvPr/>
        </p:nvSpPr>
        <p:spPr bwMode="auto">
          <a:xfrm>
            <a:off x="4480739" y="3441370"/>
            <a:ext cx="1211263" cy="1047750"/>
          </a:xfrm>
          <a:custGeom>
            <a:avLst/>
            <a:gdLst>
              <a:gd name="T0" fmla="*/ 2147483647 w 827"/>
              <a:gd name="T1" fmla="*/ 0 h 660"/>
              <a:gd name="T2" fmla="*/ 0 w 827"/>
              <a:gd name="T3" fmla="*/ 0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2147483647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0"/>
                </a:moveTo>
                <a:lnTo>
                  <a:pt x="0" y="0"/>
                </a:lnTo>
                <a:lnTo>
                  <a:pt x="0" y="220"/>
                </a:lnTo>
                <a:lnTo>
                  <a:pt x="827" y="440"/>
                </a:lnTo>
                <a:lnTo>
                  <a:pt x="827" y="66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8" name="Freeform 9"/>
          <p:cNvSpPr>
            <a:spLocks/>
          </p:cNvSpPr>
          <p:nvPr/>
        </p:nvSpPr>
        <p:spPr bwMode="auto">
          <a:xfrm>
            <a:off x="5641202" y="4433557"/>
            <a:ext cx="103187" cy="112713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0"/>
                  <a:pt x="104" y="52"/>
                </a:cubicBezTo>
                <a:cubicBezTo>
                  <a:pt x="104" y="23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9" name="Freeform 10"/>
          <p:cNvSpPr>
            <a:spLocks/>
          </p:cNvSpPr>
          <p:nvPr/>
        </p:nvSpPr>
        <p:spPr bwMode="auto">
          <a:xfrm>
            <a:off x="4480739" y="3311195"/>
            <a:ext cx="1211263" cy="1047750"/>
          </a:xfrm>
          <a:custGeom>
            <a:avLst/>
            <a:gdLst>
              <a:gd name="T0" fmla="*/ 2147483647 w 827"/>
              <a:gd name="T1" fmla="*/ 2147483647 h 660"/>
              <a:gd name="T2" fmla="*/ 0 w 827"/>
              <a:gd name="T3" fmla="*/ 2147483647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0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660"/>
                </a:moveTo>
                <a:lnTo>
                  <a:pt x="0" y="660"/>
                </a:lnTo>
                <a:lnTo>
                  <a:pt x="0" y="440"/>
                </a:lnTo>
                <a:lnTo>
                  <a:pt x="827" y="220"/>
                </a:lnTo>
                <a:lnTo>
                  <a:pt x="827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0" name="Freeform 11"/>
          <p:cNvSpPr>
            <a:spLocks/>
          </p:cNvSpPr>
          <p:nvPr/>
        </p:nvSpPr>
        <p:spPr bwMode="auto">
          <a:xfrm>
            <a:off x="5641202" y="3254045"/>
            <a:ext cx="103187" cy="112712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3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1" name="Rectangle 12"/>
          <p:cNvSpPr>
            <a:spLocks noChangeArrowheads="1"/>
          </p:cNvSpPr>
          <p:nvPr/>
        </p:nvSpPr>
        <p:spPr bwMode="auto">
          <a:xfrm>
            <a:off x="6260327" y="3152445"/>
            <a:ext cx="1857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7902" name="Freeform 13"/>
          <p:cNvSpPr>
            <a:spLocks noEditPoints="1"/>
          </p:cNvSpPr>
          <p:nvPr/>
        </p:nvSpPr>
        <p:spPr bwMode="auto">
          <a:xfrm>
            <a:off x="4464864" y="3179432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2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3" name="Freeform 14"/>
          <p:cNvSpPr>
            <a:spLocks/>
          </p:cNvSpPr>
          <p:nvPr/>
        </p:nvSpPr>
        <p:spPr bwMode="auto">
          <a:xfrm>
            <a:off x="4639489" y="304449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4" name="Freeform 15"/>
          <p:cNvSpPr>
            <a:spLocks/>
          </p:cNvSpPr>
          <p:nvPr/>
        </p:nvSpPr>
        <p:spPr bwMode="auto">
          <a:xfrm>
            <a:off x="4639489" y="304449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5" name="Freeform 16"/>
          <p:cNvSpPr>
            <a:spLocks/>
          </p:cNvSpPr>
          <p:nvPr/>
        </p:nvSpPr>
        <p:spPr bwMode="auto">
          <a:xfrm>
            <a:off x="5287189" y="3273095"/>
            <a:ext cx="74613" cy="82550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6" name="Freeform 17"/>
          <p:cNvSpPr>
            <a:spLocks/>
          </p:cNvSpPr>
          <p:nvPr/>
        </p:nvSpPr>
        <p:spPr bwMode="auto">
          <a:xfrm>
            <a:off x="5287189" y="3273095"/>
            <a:ext cx="74613" cy="82550"/>
          </a:xfrm>
          <a:custGeom>
            <a:avLst/>
            <a:gdLst>
              <a:gd name="T0" fmla="*/ 2147483647 w 51"/>
              <a:gd name="T1" fmla="*/ 2147483647 h 52"/>
              <a:gd name="T2" fmla="*/ 2147483647 w 51"/>
              <a:gd name="T3" fmla="*/ 0 h 52"/>
              <a:gd name="T4" fmla="*/ 0 w 51"/>
              <a:gd name="T5" fmla="*/ 2147483647 h 52"/>
              <a:gd name="T6" fmla="*/ 2147483647 w 51"/>
              <a:gd name="T7" fmla="*/ 2147483647 h 52"/>
              <a:gd name="T8" fmla="*/ 2147483647 w 51"/>
              <a:gd name="T9" fmla="*/ 2147483647 h 52"/>
              <a:gd name="T10" fmla="*/ 2147483647 w 51"/>
              <a:gd name="T11" fmla="*/ 2147483647 h 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2"/>
              <a:gd name="T20" fmla="*/ 51 w 51"/>
              <a:gd name="T21" fmla="*/ 52 h 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2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40"/>
                  <a:pt x="12" y="52"/>
                  <a:pt x="25" y="52"/>
                </a:cubicBezTo>
                <a:cubicBezTo>
                  <a:pt x="40" y="52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7" name="Freeform 18"/>
          <p:cNvSpPr>
            <a:spLocks/>
          </p:cNvSpPr>
          <p:nvPr/>
        </p:nvSpPr>
        <p:spPr bwMode="auto">
          <a:xfrm>
            <a:off x="4639489" y="304449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8" name="Freeform 19"/>
          <p:cNvSpPr>
            <a:spLocks/>
          </p:cNvSpPr>
          <p:nvPr/>
        </p:nvSpPr>
        <p:spPr bwMode="auto">
          <a:xfrm>
            <a:off x="4639489" y="304449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9" name="Freeform 20"/>
          <p:cNvSpPr>
            <a:spLocks noEditPoints="1"/>
          </p:cNvSpPr>
          <p:nvPr/>
        </p:nvSpPr>
        <p:spPr bwMode="auto">
          <a:xfrm>
            <a:off x="4496614" y="4354182"/>
            <a:ext cx="996950" cy="269875"/>
          </a:xfrm>
          <a:custGeom>
            <a:avLst/>
            <a:gdLst>
              <a:gd name="T0" fmla="*/ 0 w 681"/>
              <a:gd name="T1" fmla="*/ 0 h 170"/>
              <a:gd name="T2" fmla="*/ 2147483647 w 681"/>
              <a:gd name="T3" fmla="*/ 0 h 170"/>
              <a:gd name="T4" fmla="*/ 0 w 681"/>
              <a:gd name="T5" fmla="*/ 2147483647 h 170"/>
              <a:gd name="T6" fmla="*/ 2147483647 w 681"/>
              <a:gd name="T7" fmla="*/ 2147483647 h 170"/>
              <a:gd name="T8" fmla="*/ 2147483647 w 681"/>
              <a:gd name="T9" fmla="*/ 2147483647 h 170"/>
              <a:gd name="T10" fmla="*/ 2147483647 w 681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1"/>
              <a:gd name="T19" fmla="*/ 0 h 170"/>
              <a:gd name="T20" fmla="*/ 681 w 681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1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1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0" name="Freeform 21"/>
          <p:cNvSpPr>
            <a:spLocks/>
          </p:cNvSpPr>
          <p:nvPr/>
        </p:nvSpPr>
        <p:spPr bwMode="auto">
          <a:xfrm>
            <a:off x="4671239" y="421924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1" name="Freeform 22"/>
          <p:cNvSpPr>
            <a:spLocks/>
          </p:cNvSpPr>
          <p:nvPr/>
        </p:nvSpPr>
        <p:spPr bwMode="auto">
          <a:xfrm>
            <a:off x="4671239" y="421924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2" name="Freeform 23"/>
          <p:cNvSpPr>
            <a:spLocks/>
          </p:cNvSpPr>
          <p:nvPr/>
        </p:nvSpPr>
        <p:spPr bwMode="auto">
          <a:xfrm>
            <a:off x="5318939" y="4447845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59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3" name="Freeform 24"/>
          <p:cNvSpPr>
            <a:spLocks/>
          </p:cNvSpPr>
          <p:nvPr/>
        </p:nvSpPr>
        <p:spPr bwMode="auto">
          <a:xfrm>
            <a:off x="5318939" y="4447845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4" name="Freeform 25"/>
          <p:cNvSpPr>
            <a:spLocks/>
          </p:cNvSpPr>
          <p:nvPr/>
        </p:nvSpPr>
        <p:spPr bwMode="auto">
          <a:xfrm>
            <a:off x="4671239" y="421924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5" name="Freeform 26"/>
          <p:cNvSpPr>
            <a:spLocks/>
          </p:cNvSpPr>
          <p:nvPr/>
        </p:nvSpPr>
        <p:spPr bwMode="auto">
          <a:xfrm>
            <a:off x="4671239" y="421924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6" name="Freeform 27"/>
          <p:cNvSpPr>
            <a:spLocks/>
          </p:cNvSpPr>
          <p:nvPr/>
        </p:nvSpPr>
        <p:spPr bwMode="auto">
          <a:xfrm>
            <a:off x="4271189" y="3179432"/>
            <a:ext cx="193675" cy="4763"/>
          </a:xfrm>
          <a:custGeom>
            <a:avLst/>
            <a:gdLst>
              <a:gd name="T0" fmla="*/ 2147483647 w 133"/>
              <a:gd name="T1" fmla="*/ 0 h 3"/>
              <a:gd name="T2" fmla="*/ 2147483647 w 133"/>
              <a:gd name="T3" fmla="*/ 0 h 3"/>
              <a:gd name="T4" fmla="*/ 2147483647 w 133"/>
              <a:gd name="T5" fmla="*/ 2147483647 h 3"/>
              <a:gd name="T6" fmla="*/ 0 w 133"/>
              <a:gd name="T7" fmla="*/ 2147483647 h 3"/>
              <a:gd name="T8" fmla="*/ 0 60000 65536"/>
              <a:gd name="T9" fmla="*/ 0 60000 65536"/>
              <a:gd name="T10" fmla="*/ 0 60000 65536"/>
              <a:gd name="T11" fmla="*/ 0 60000 65536"/>
              <a:gd name="T12" fmla="*/ 0 w 133"/>
              <a:gd name="T13" fmla="*/ 0 h 3"/>
              <a:gd name="T14" fmla="*/ 133 w 133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" h="3">
                <a:moveTo>
                  <a:pt x="133" y="0"/>
                </a:moveTo>
                <a:lnTo>
                  <a:pt x="53" y="0"/>
                </a:lnTo>
                <a:lnTo>
                  <a:pt x="53" y="3"/>
                </a:lnTo>
                <a:lnTo>
                  <a:pt x="0" y="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7" name="Freeform 28"/>
          <p:cNvSpPr>
            <a:spLocks/>
          </p:cNvSpPr>
          <p:nvPr/>
        </p:nvSpPr>
        <p:spPr bwMode="auto">
          <a:xfrm>
            <a:off x="4271189" y="4624057"/>
            <a:ext cx="225425" cy="1588"/>
          </a:xfrm>
          <a:custGeom>
            <a:avLst/>
            <a:gdLst>
              <a:gd name="T0" fmla="*/ 2147483647 w 154"/>
              <a:gd name="T1" fmla="*/ 0 h 1588"/>
              <a:gd name="T2" fmla="*/ 2147483647 w 154"/>
              <a:gd name="T3" fmla="*/ 0 h 1588"/>
              <a:gd name="T4" fmla="*/ 2147483647 w 154"/>
              <a:gd name="T5" fmla="*/ 0 h 1588"/>
              <a:gd name="T6" fmla="*/ 0 w 154"/>
              <a:gd name="T7" fmla="*/ 0 h 158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1588"/>
              <a:gd name="T14" fmla="*/ 154 w 154"/>
              <a:gd name="T15" fmla="*/ 1588 h 1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1588">
                <a:moveTo>
                  <a:pt x="154" y="0"/>
                </a:moveTo>
                <a:lnTo>
                  <a:pt x="115" y="0"/>
                </a:ln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8" name="Rectangle 29"/>
          <p:cNvSpPr>
            <a:spLocks noChangeArrowheads="1"/>
          </p:cNvSpPr>
          <p:nvPr/>
        </p:nvSpPr>
        <p:spPr bwMode="auto">
          <a:xfrm>
            <a:off x="2166164" y="5376532"/>
            <a:ext cx="2016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7922" name="Freeform 33"/>
          <p:cNvSpPr>
            <a:spLocks noEditPoints="1"/>
          </p:cNvSpPr>
          <p:nvPr/>
        </p:nvSpPr>
        <p:spPr bwMode="auto">
          <a:xfrm>
            <a:off x="3271064" y="3049257"/>
            <a:ext cx="1000125" cy="268288"/>
          </a:xfrm>
          <a:custGeom>
            <a:avLst/>
            <a:gdLst>
              <a:gd name="T0" fmla="*/ 0 w 682"/>
              <a:gd name="T1" fmla="*/ 0 h 169"/>
              <a:gd name="T2" fmla="*/ 2147483647 w 682"/>
              <a:gd name="T3" fmla="*/ 0 h 169"/>
              <a:gd name="T4" fmla="*/ 0 w 682"/>
              <a:gd name="T5" fmla="*/ 2147483647 h 169"/>
              <a:gd name="T6" fmla="*/ 2147483647 w 682"/>
              <a:gd name="T7" fmla="*/ 2147483647 h 169"/>
              <a:gd name="T8" fmla="*/ 2147483647 w 682"/>
              <a:gd name="T9" fmla="*/ 2147483647 h 169"/>
              <a:gd name="T10" fmla="*/ 2147483647 w 682"/>
              <a:gd name="T11" fmla="*/ 2147483647 h 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69"/>
              <a:gd name="T20" fmla="*/ 682 w 682"/>
              <a:gd name="T21" fmla="*/ 169 h 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69">
                <a:moveTo>
                  <a:pt x="0" y="0"/>
                </a:moveTo>
                <a:lnTo>
                  <a:pt x="340" y="0"/>
                </a:lnTo>
                <a:moveTo>
                  <a:pt x="0" y="169"/>
                </a:moveTo>
                <a:lnTo>
                  <a:pt x="340" y="169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3" name="Freeform 34"/>
          <p:cNvSpPr>
            <a:spLocks/>
          </p:cNvSpPr>
          <p:nvPr/>
        </p:nvSpPr>
        <p:spPr bwMode="auto">
          <a:xfrm>
            <a:off x="3445689" y="291432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4" name="Freeform 35"/>
          <p:cNvSpPr>
            <a:spLocks/>
          </p:cNvSpPr>
          <p:nvPr/>
        </p:nvSpPr>
        <p:spPr bwMode="auto">
          <a:xfrm>
            <a:off x="3445689" y="291432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5" name="Freeform 36"/>
          <p:cNvSpPr>
            <a:spLocks/>
          </p:cNvSpPr>
          <p:nvPr/>
        </p:nvSpPr>
        <p:spPr bwMode="auto">
          <a:xfrm>
            <a:off x="4093389" y="314292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6" name="Freeform 37"/>
          <p:cNvSpPr>
            <a:spLocks/>
          </p:cNvSpPr>
          <p:nvPr/>
        </p:nvSpPr>
        <p:spPr bwMode="auto">
          <a:xfrm>
            <a:off x="4093389" y="314292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7" name="Freeform 38"/>
          <p:cNvSpPr>
            <a:spLocks/>
          </p:cNvSpPr>
          <p:nvPr/>
        </p:nvSpPr>
        <p:spPr bwMode="auto">
          <a:xfrm>
            <a:off x="3445689" y="291432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28" name="Freeform 39"/>
          <p:cNvSpPr>
            <a:spLocks/>
          </p:cNvSpPr>
          <p:nvPr/>
        </p:nvSpPr>
        <p:spPr bwMode="auto">
          <a:xfrm>
            <a:off x="3445689" y="291432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9" name="Freeform 40"/>
          <p:cNvSpPr>
            <a:spLocks noEditPoints="1"/>
          </p:cNvSpPr>
          <p:nvPr/>
        </p:nvSpPr>
        <p:spPr bwMode="auto">
          <a:xfrm>
            <a:off x="3271064" y="4487532"/>
            <a:ext cx="1000125" cy="271463"/>
          </a:xfrm>
          <a:custGeom>
            <a:avLst/>
            <a:gdLst>
              <a:gd name="T0" fmla="*/ 0 w 682"/>
              <a:gd name="T1" fmla="*/ 0 h 171"/>
              <a:gd name="T2" fmla="*/ 2147483647 w 682"/>
              <a:gd name="T3" fmla="*/ 0 h 171"/>
              <a:gd name="T4" fmla="*/ 0 w 682"/>
              <a:gd name="T5" fmla="*/ 2147483647 h 171"/>
              <a:gd name="T6" fmla="*/ 2147483647 w 682"/>
              <a:gd name="T7" fmla="*/ 2147483647 h 171"/>
              <a:gd name="T8" fmla="*/ 0 w 682"/>
              <a:gd name="T9" fmla="*/ 2147483647 h 171"/>
              <a:gd name="T10" fmla="*/ 2147483647 w 682"/>
              <a:gd name="T11" fmla="*/ 2147483647 h 171"/>
              <a:gd name="T12" fmla="*/ 2147483647 w 682"/>
              <a:gd name="T13" fmla="*/ 2147483647 h 171"/>
              <a:gd name="T14" fmla="*/ 2147483647 w 682"/>
              <a:gd name="T15" fmla="*/ 2147483647 h 1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82"/>
              <a:gd name="T25" fmla="*/ 0 h 171"/>
              <a:gd name="T26" fmla="*/ 682 w 682"/>
              <a:gd name="T27" fmla="*/ 171 h 1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82" h="171">
                <a:moveTo>
                  <a:pt x="0" y="0"/>
                </a:moveTo>
                <a:lnTo>
                  <a:pt x="340" y="0"/>
                </a:lnTo>
                <a:moveTo>
                  <a:pt x="0" y="86"/>
                </a:moveTo>
                <a:lnTo>
                  <a:pt x="340" y="86"/>
                </a:lnTo>
                <a:moveTo>
                  <a:pt x="0" y="171"/>
                </a:moveTo>
                <a:lnTo>
                  <a:pt x="340" y="171"/>
                </a:lnTo>
                <a:moveTo>
                  <a:pt x="682" y="86"/>
                </a:moveTo>
                <a:lnTo>
                  <a:pt x="340" y="86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0" name="Freeform 41"/>
          <p:cNvSpPr>
            <a:spLocks/>
          </p:cNvSpPr>
          <p:nvPr/>
        </p:nvSpPr>
        <p:spPr bwMode="auto">
          <a:xfrm>
            <a:off x="3445689" y="43541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1" name="Freeform 42"/>
          <p:cNvSpPr>
            <a:spLocks/>
          </p:cNvSpPr>
          <p:nvPr/>
        </p:nvSpPr>
        <p:spPr bwMode="auto">
          <a:xfrm>
            <a:off x="3445689" y="43541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2" name="Freeform 43"/>
          <p:cNvSpPr>
            <a:spLocks/>
          </p:cNvSpPr>
          <p:nvPr/>
        </p:nvSpPr>
        <p:spPr bwMode="auto">
          <a:xfrm>
            <a:off x="4093389" y="4582782"/>
            <a:ext cx="74613" cy="80963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7"/>
                </a:cubicBezTo>
                <a:cubicBezTo>
                  <a:pt x="75" y="37"/>
                  <a:pt x="75" y="37"/>
                  <a:pt x="75" y="37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3" name="Freeform 44"/>
          <p:cNvSpPr>
            <a:spLocks/>
          </p:cNvSpPr>
          <p:nvPr/>
        </p:nvSpPr>
        <p:spPr bwMode="auto">
          <a:xfrm>
            <a:off x="4093389" y="4582782"/>
            <a:ext cx="74613" cy="80963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4" name="Freeform 45"/>
          <p:cNvSpPr>
            <a:spLocks/>
          </p:cNvSpPr>
          <p:nvPr/>
        </p:nvSpPr>
        <p:spPr bwMode="auto">
          <a:xfrm>
            <a:off x="3445689" y="43541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35" name="Freeform 46"/>
          <p:cNvSpPr>
            <a:spLocks/>
          </p:cNvSpPr>
          <p:nvPr/>
        </p:nvSpPr>
        <p:spPr bwMode="auto">
          <a:xfrm>
            <a:off x="3445689" y="43541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6" name="Freeform 47"/>
          <p:cNvSpPr>
            <a:spLocks noEditPoints="1"/>
          </p:cNvSpPr>
          <p:nvPr/>
        </p:nvSpPr>
        <p:spPr bwMode="auto">
          <a:xfrm>
            <a:off x="3271064" y="2141207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7" name="Freeform 48"/>
          <p:cNvSpPr>
            <a:spLocks/>
          </p:cNvSpPr>
          <p:nvPr/>
        </p:nvSpPr>
        <p:spPr bwMode="auto">
          <a:xfrm>
            <a:off x="3445689" y="20046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8" name="Freeform 49"/>
          <p:cNvSpPr>
            <a:spLocks/>
          </p:cNvSpPr>
          <p:nvPr/>
        </p:nvSpPr>
        <p:spPr bwMode="auto">
          <a:xfrm>
            <a:off x="3445689" y="20046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9" name="Freeform 50"/>
          <p:cNvSpPr>
            <a:spLocks/>
          </p:cNvSpPr>
          <p:nvPr/>
        </p:nvSpPr>
        <p:spPr bwMode="auto">
          <a:xfrm>
            <a:off x="4093389" y="223487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0" name="Freeform 51"/>
          <p:cNvSpPr>
            <a:spLocks/>
          </p:cNvSpPr>
          <p:nvPr/>
        </p:nvSpPr>
        <p:spPr bwMode="auto">
          <a:xfrm>
            <a:off x="4093389" y="223487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1"/>
                  <a:pt x="40" y="0"/>
                  <a:pt x="25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39"/>
                  <a:pt x="11" y="51"/>
                  <a:pt x="25" y="51"/>
                </a:cubicBezTo>
                <a:cubicBezTo>
                  <a:pt x="40" y="51"/>
                  <a:pt x="51" y="39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1" name="Freeform 52"/>
          <p:cNvSpPr>
            <a:spLocks/>
          </p:cNvSpPr>
          <p:nvPr/>
        </p:nvSpPr>
        <p:spPr bwMode="auto">
          <a:xfrm>
            <a:off x="3445689" y="20046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2" name="Freeform 53"/>
          <p:cNvSpPr>
            <a:spLocks/>
          </p:cNvSpPr>
          <p:nvPr/>
        </p:nvSpPr>
        <p:spPr bwMode="auto">
          <a:xfrm>
            <a:off x="3445689" y="20046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43" name="Freeform 54"/>
          <p:cNvSpPr>
            <a:spLocks noEditPoints="1"/>
          </p:cNvSpPr>
          <p:nvPr/>
        </p:nvSpPr>
        <p:spPr bwMode="auto">
          <a:xfrm>
            <a:off x="3271064" y="5347957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4" name="Freeform 55"/>
          <p:cNvSpPr>
            <a:spLocks/>
          </p:cNvSpPr>
          <p:nvPr/>
        </p:nvSpPr>
        <p:spPr bwMode="auto">
          <a:xfrm>
            <a:off x="3445689" y="521302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5" name="Freeform 56"/>
          <p:cNvSpPr>
            <a:spLocks/>
          </p:cNvSpPr>
          <p:nvPr/>
        </p:nvSpPr>
        <p:spPr bwMode="auto">
          <a:xfrm>
            <a:off x="3445689" y="521302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6" name="Freeform 57"/>
          <p:cNvSpPr>
            <a:spLocks/>
          </p:cNvSpPr>
          <p:nvPr/>
        </p:nvSpPr>
        <p:spPr bwMode="auto">
          <a:xfrm>
            <a:off x="4093389" y="544162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7" name="Freeform 58"/>
          <p:cNvSpPr>
            <a:spLocks/>
          </p:cNvSpPr>
          <p:nvPr/>
        </p:nvSpPr>
        <p:spPr bwMode="auto">
          <a:xfrm>
            <a:off x="4093389" y="544162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8" name="Freeform 59"/>
          <p:cNvSpPr>
            <a:spLocks/>
          </p:cNvSpPr>
          <p:nvPr/>
        </p:nvSpPr>
        <p:spPr bwMode="auto">
          <a:xfrm>
            <a:off x="3445689" y="521302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7949" name="Freeform 60"/>
          <p:cNvSpPr>
            <a:spLocks/>
          </p:cNvSpPr>
          <p:nvPr/>
        </p:nvSpPr>
        <p:spPr bwMode="auto">
          <a:xfrm>
            <a:off x="3445689" y="521302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0" name="Freeform 61"/>
          <p:cNvSpPr>
            <a:spLocks/>
          </p:cNvSpPr>
          <p:nvPr/>
        </p:nvSpPr>
        <p:spPr bwMode="auto">
          <a:xfrm>
            <a:off x="3058339" y="2401557"/>
            <a:ext cx="1212850" cy="782638"/>
          </a:xfrm>
          <a:custGeom>
            <a:avLst/>
            <a:gdLst>
              <a:gd name="T0" fmla="*/ 2147483647 w 827"/>
              <a:gd name="T1" fmla="*/ 0 h 493"/>
              <a:gd name="T2" fmla="*/ 0 w 827"/>
              <a:gd name="T3" fmla="*/ 0 h 493"/>
              <a:gd name="T4" fmla="*/ 0 w 827"/>
              <a:gd name="T5" fmla="*/ 2147483647 h 493"/>
              <a:gd name="T6" fmla="*/ 2147483647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145" y="0"/>
                </a:moveTo>
                <a:lnTo>
                  <a:pt x="0" y="0"/>
                </a:lnTo>
                <a:lnTo>
                  <a:pt x="0" y="106"/>
                </a:lnTo>
                <a:lnTo>
                  <a:pt x="827" y="353"/>
                </a:lnTo>
                <a:lnTo>
                  <a:pt x="827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1" name="Freeform 62"/>
          <p:cNvSpPr>
            <a:spLocks/>
          </p:cNvSpPr>
          <p:nvPr/>
        </p:nvSpPr>
        <p:spPr bwMode="auto">
          <a:xfrm>
            <a:off x="4217214" y="3127045"/>
            <a:ext cx="104775" cy="112712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1" y="104"/>
                  <a:pt x="104" y="80"/>
                  <a:pt x="104" y="52"/>
                </a:cubicBezTo>
                <a:cubicBezTo>
                  <a:pt x="104" y="23"/>
                  <a:pt x="81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2" name="Freeform 63"/>
          <p:cNvSpPr>
            <a:spLocks/>
          </p:cNvSpPr>
          <p:nvPr/>
        </p:nvSpPr>
        <p:spPr bwMode="auto">
          <a:xfrm>
            <a:off x="3058339" y="2266620"/>
            <a:ext cx="1212850" cy="782637"/>
          </a:xfrm>
          <a:custGeom>
            <a:avLst/>
            <a:gdLst>
              <a:gd name="T0" fmla="*/ 2147483647 w 827"/>
              <a:gd name="T1" fmla="*/ 0 h 493"/>
              <a:gd name="T2" fmla="*/ 2147483647 w 827"/>
              <a:gd name="T3" fmla="*/ 2147483647 h 493"/>
              <a:gd name="T4" fmla="*/ 0 w 827"/>
              <a:gd name="T5" fmla="*/ 2147483647 h 493"/>
              <a:gd name="T6" fmla="*/ 0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827" y="0"/>
                </a:moveTo>
                <a:lnTo>
                  <a:pt x="827" y="191"/>
                </a:lnTo>
                <a:lnTo>
                  <a:pt x="0" y="397"/>
                </a:lnTo>
                <a:lnTo>
                  <a:pt x="0" y="490"/>
                </a:lnTo>
                <a:lnTo>
                  <a:pt x="145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3" name="Freeform 64"/>
          <p:cNvSpPr>
            <a:spLocks/>
          </p:cNvSpPr>
          <p:nvPr/>
        </p:nvSpPr>
        <p:spPr bwMode="auto">
          <a:xfrm>
            <a:off x="3044052" y="3317545"/>
            <a:ext cx="227012" cy="1306512"/>
          </a:xfrm>
          <a:custGeom>
            <a:avLst/>
            <a:gdLst>
              <a:gd name="T0" fmla="*/ 2147483647 w 155"/>
              <a:gd name="T1" fmla="*/ 0 h 823"/>
              <a:gd name="T2" fmla="*/ 0 w 155"/>
              <a:gd name="T3" fmla="*/ 0 h 823"/>
              <a:gd name="T4" fmla="*/ 0 w 155"/>
              <a:gd name="T5" fmla="*/ 2147483647 h 823"/>
              <a:gd name="T6" fmla="*/ 2147483647 w 155"/>
              <a:gd name="T7" fmla="*/ 2147483647 h 823"/>
              <a:gd name="T8" fmla="*/ 0 60000 65536"/>
              <a:gd name="T9" fmla="*/ 0 60000 65536"/>
              <a:gd name="T10" fmla="*/ 0 60000 65536"/>
              <a:gd name="T11" fmla="*/ 0 60000 65536"/>
              <a:gd name="T12" fmla="*/ 0 w 155"/>
              <a:gd name="T13" fmla="*/ 0 h 823"/>
              <a:gd name="T14" fmla="*/ 155 w 155"/>
              <a:gd name="T15" fmla="*/ 823 h 8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" h="823">
                <a:moveTo>
                  <a:pt x="155" y="0"/>
                </a:moveTo>
                <a:lnTo>
                  <a:pt x="0" y="0"/>
                </a:lnTo>
                <a:lnTo>
                  <a:pt x="0" y="823"/>
                </a:lnTo>
                <a:lnTo>
                  <a:pt x="155" y="82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4" name="Freeform 65"/>
          <p:cNvSpPr>
            <a:spLocks/>
          </p:cNvSpPr>
          <p:nvPr/>
        </p:nvSpPr>
        <p:spPr bwMode="auto">
          <a:xfrm>
            <a:off x="3153589" y="3184195"/>
            <a:ext cx="1117600" cy="1303337"/>
          </a:xfrm>
          <a:custGeom>
            <a:avLst/>
            <a:gdLst>
              <a:gd name="T0" fmla="*/ 2147483647 w 762"/>
              <a:gd name="T1" fmla="*/ 2147483647 h 821"/>
              <a:gd name="T2" fmla="*/ 0 w 762"/>
              <a:gd name="T3" fmla="*/ 2147483647 h 821"/>
              <a:gd name="T4" fmla="*/ 0 w 762"/>
              <a:gd name="T5" fmla="*/ 2147483647 h 821"/>
              <a:gd name="T6" fmla="*/ 2147483647 w 762"/>
              <a:gd name="T7" fmla="*/ 2147483647 h 821"/>
              <a:gd name="T8" fmla="*/ 2147483647 w 762"/>
              <a:gd name="T9" fmla="*/ 0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2"/>
              <a:gd name="T16" fmla="*/ 0 h 821"/>
              <a:gd name="T17" fmla="*/ 762 w 762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2" h="821">
                <a:moveTo>
                  <a:pt x="80" y="821"/>
                </a:moveTo>
                <a:lnTo>
                  <a:pt x="0" y="821"/>
                </a:lnTo>
                <a:lnTo>
                  <a:pt x="0" y="657"/>
                </a:lnTo>
                <a:lnTo>
                  <a:pt x="762" y="657"/>
                </a:lnTo>
                <a:lnTo>
                  <a:pt x="762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5" name="Freeform 66"/>
          <p:cNvSpPr>
            <a:spLocks/>
          </p:cNvSpPr>
          <p:nvPr/>
        </p:nvSpPr>
        <p:spPr bwMode="auto">
          <a:xfrm>
            <a:off x="3058339" y="4624057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2147483647 w 827"/>
              <a:gd name="T3" fmla="*/ 2147483647 h 456"/>
              <a:gd name="T4" fmla="*/ 0 w 827"/>
              <a:gd name="T5" fmla="*/ 2147483647 h 456"/>
              <a:gd name="T6" fmla="*/ 0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827" y="0"/>
                </a:moveTo>
                <a:lnTo>
                  <a:pt x="827" y="149"/>
                </a:lnTo>
                <a:lnTo>
                  <a:pt x="0" y="355"/>
                </a:lnTo>
                <a:lnTo>
                  <a:pt x="0" y="453"/>
                </a:lnTo>
                <a:lnTo>
                  <a:pt x="145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6" name="Freeform 67"/>
          <p:cNvSpPr>
            <a:spLocks/>
          </p:cNvSpPr>
          <p:nvPr/>
        </p:nvSpPr>
        <p:spPr bwMode="auto">
          <a:xfrm>
            <a:off x="4217214" y="4566907"/>
            <a:ext cx="104775" cy="112713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4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7" name="Freeform 68"/>
          <p:cNvSpPr>
            <a:spLocks/>
          </p:cNvSpPr>
          <p:nvPr/>
        </p:nvSpPr>
        <p:spPr bwMode="auto">
          <a:xfrm>
            <a:off x="3058339" y="4758995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0 w 827"/>
              <a:gd name="T3" fmla="*/ 0 h 456"/>
              <a:gd name="T4" fmla="*/ 0 w 827"/>
              <a:gd name="T5" fmla="*/ 2147483647 h 456"/>
              <a:gd name="T6" fmla="*/ 2147483647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145" y="0"/>
                </a:moveTo>
                <a:lnTo>
                  <a:pt x="0" y="0"/>
                </a:lnTo>
                <a:lnTo>
                  <a:pt x="0" y="116"/>
                </a:lnTo>
                <a:lnTo>
                  <a:pt x="827" y="312"/>
                </a:lnTo>
                <a:lnTo>
                  <a:pt x="827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8" name="Line 69"/>
          <p:cNvSpPr>
            <a:spLocks noChangeShapeType="1"/>
          </p:cNvSpPr>
          <p:nvPr/>
        </p:nvSpPr>
        <p:spPr bwMode="auto">
          <a:xfrm flipH="1">
            <a:off x="2505889" y="5605132"/>
            <a:ext cx="765175" cy="1588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59" name="Freeform 70"/>
          <p:cNvSpPr>
            <a:spLocks/>
          </p:cNvSpPr>
          <p:nvPr/>
        </p:nvSpPr>
        <p:spPr bwMode="auto">
          <a:xfrm>
            <a:off x="2907527" y="2144382"/>
            <a:ext cx="363537" cy="2798763"/>
          </a:xfrm>
          <a:custGeom>
            <a:avLst/>
            <a:gdLst>
              <a:gd name="T0" fmla="*/ 2147483647 w 248"/>
              <a:gd name="T1" fmla="*/ 2147483647 h 1763"/>
              <a:gd name="T2" fmla="*/ 0 w 248"/>
              <a:gd name="T3" fmla="*/ 2147483647 h 1763"/>
              <a:gd name="T4" fmla="*/ 0 w 248"/>
              <a:gd name="T5" fmla="*/ 0 h 1763"/>
              <a:gd name="T6" fmla="*/ 2147483647 w 248"/>
              <a:gd name="T7" fmla="*/ 0 h 1763"/>
              <a:gd name="T8" fmla="*/ 0 60000 65536"/>
              <a:gd name="T9" fmla="*/ 0 60000 65536"/>
              <a:gd name="T10" fmla="*/ 0 60000 65536"/>
              <a:gd name="T11" fmla="*/ 0 60000 65536"/>
              <a:gd name="T12" fmla="*/ 0 w 248"/>
              <a:gd name="T13" fmla="*/ 0 h 1763"/>
              <a:gd name="T14" fmla="*/ 248 w 248"/>
              <a:gd name="T15" fmla="*/ 1763 h 17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" h="1763">
                <a:moveTo>
                  <a:pt x="103" y="1763"/>
                </a:moveTo>
                <a:lnTo>
                  <a:pt x="0" y="1763"/>
                </a:lnTo>
                <a:lnTo>
                  <a:pt x="0" y="0"/>
                </a:lnTo>
                <a:lnTo>
                  <a:pt x="248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0" name="Freeform 71"/>
          <p:cNvSpPr>
            <a:spLocks/>
          </p:cNvSpPr>
          <p:nvPr/>
        </p:nvSpPr>
        <p:spPr bwMode="auto">
          <a:xfrm>
            <a:off x="3005952" y="4887582"/>
            <a:ext cx="103187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1"/>
                </a:moveTo>
                <a:cubicBezTo>
                  <a:pt x="0" y="80"/>
                  <a:pt x="24" y="103"/>
                  <a:pt x="52" y="103"/>
                </a:cubicBezTo>
                <a:cubicBezTo>
                  <a:pt x="81" y="103"/>
                  <a:pt x="104" y="80"/>
                  <a:pt x="104" y="51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23"/>
                  <a:pt x="81" y="0"/>
                  <a:pt x="52" y="0"/>
                </a:cubicBezTo>
                <a:cubicBezTo>
                  <a:pt x="24" y="0"/>
                  <a:pt x="0" y="23"/>
                  <a:pt x="0" y="51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1" name="Line 72"/>
          <p:cNvSpPr>
            <a:spLocks noChangeShapeType="1"/>
          </p:cNvSpPr>
          <p:nvPr/>
        </p:nvSpPr>
        <p:spPr bwMode="auto">
          <a:xfrm flipH="1">
            <a:off x="2451914" y="3977945"/>
            <a:ext cx="592138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62" name="Freeform 73"/>
          <p:cNvSpPr>
            <a:spLocks/>
          </p:cNvSpPr>
          <p:nvPr/>
        </p:nvSpPr>
        <p:spPr bwMode="auto">
          <a:xfrm>
            <a:off x="2991664" y="3922382"/>
            <a:ext cx="103188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2"/>
                </a:moveTo>
                <a:cubicBezTo>
                  <a:pt x="0" y="80"/>
                  <a:pt x="23" y="103"/>
                  <a:pt x="52" y="103"/>
                </a:cubicBezTo>
                <a:cubicBezTo>
                  <a:pt x="81" y="103"/>
                  <a:pt x="104" y="80"/>
                  <a:pt x="104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23" y="0"/>
                  <a:pt x="0" y="23"/>
                  <a:pt x="0" y="52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947" name="Text Box 75"/>
          <p:cNvSpPr txBox="1">
            <a:spLocks noChangeArrowheads="1"/>
          </p:cNvSpPr>
          <p:nvPr/>
        </p:nvSpPr>
        <p:spPr bwMode="auto">
          <a:xfrm>
            <a:off x="2585264" y="3471532"/>
            <a:ext cx="386536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48" name="Text Box 76"/>
          <p:cNvSpPr txBox="1">
            <a:spLocks noChangeArrowheads="1"/>
          </p:cNvSpPr>
          <p:nvPr/>
        </p:nvSpPr>
        <p:spPr bwMode="auto">
          <a:xfrm>
            <a:off x="4223564" y="2557132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3949" name="Text Box 77"/>
          <p:cNvSpPr txBox="1">
            <a:spLocks noChangeArrowheads="1"/>
          </p:cNvSpPr>
          <p:nvPr/>
        </p:nvSpPr>
        <p:spPr bwMode="auto">
          <a:xfrm>
            <a:off x="4223564" y="4492295"/>
            <a:ext cx="5334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3950" name="Text Box 78"/>
          <p:cNvSpPr txBox="1">
            <a:spLocks noChangeArrowheads="1"/>
          </p:cNvSpPr>
          <p:nvPr/>
        </p:nvSpPr>
        <p:spPr bwMode="auto">
          <a:xfrm>
            <a:off x="2300994" y="5125708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3951" name="Text Box 79"/>
          <p:cNvSpPr txBox="1">
            <a:spLocks noChangeArrowheads="1"/>
          </p:cNvSpPr>
          <p:nvPr/>
        </p:nvSpPr>
        <p:spPr bwMode="auto">
          <a:xfrm>
            <a:off x="4223564" y="1947532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3954" name="Text Box 82"/>
          <p:cNvSpPr txBox="1">
            <a:spLocks noChangeArrowheads="1"/>
          </p:cNvSpPr>
          <p:nvPr/>
        </p:nvSpPr>
        <p:spPr bwMode="auto">
          <a:xfrm>
            <a:off x="4299764" y="5147932"/>
            <a:ext cx="381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" name="Text Box 97">
            <a:extLst>
              <a:ext uri="{FF2B5EF4-FFF2-40B4-BE49-F238E27FC236}">
                <a16:creationId xmlns:a16="http://schemas.microsoft.com/office/drawing/2014/main" id="{5ACE14C0-0845-C44B-BBA6-8C636F37C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794" y="5125707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82" name="Rectangle 3">
            <a:extLst>
              <a:ext uri="{FF2B5EF4-FFF2-40B4-BE49-F238E27FC236}">
                <a16:creationId xmlns:a16="http://schemas.microsoft.com/office/drawing/2014/main" id="{2EDA2198-600C-4279-9F5E-AE85A80BCBEA}"/>
              </a:ext>
            </a:extLst>
          </p:cNvPr>
          <p:cNvSpPr/>
          <p:nvPr/>
        </p:nvSpPr>
        <p:spPr>
          <a:xfrm>
            <a:off x="5422900" y="1585880"/>
            <a:ext cx="380257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CLK=1</a:t>
            </a:r>
            <a:r>
              <a:rPr lang="zh-CN" altLang="en-US" sz="2400" kern="0" dirty="0">
                <a:solidFill>
                  <a:srgbClr val="0432FF"/>
                </a:solidFill>
                <a:latin typeface="+mn-lt"/>
                <a:ea typeface="黑体"/>
              </a:rPr>
              <a:t>时保持</a:t>
            </a:r>
            <a:endParaRPr lang="en-CN" sz="2400" dirty="0">
              <a:solidFill>
                <a:srgbClr val="0432FF"/>
              </a:solidFill>
              <a:latin typeface="+mn-lt"/>
            </a:endParaRPr>
          </a:p>
        </p:txBody>
      </p:sp>
      <p:sp>
        <p:nvSpPr>
          <p:cNvPr id="532" name="文本框 1">
            <a:extLst>
              <a:ext uri="{FF2B5EF4-FFF2-40B4-BE49-F238E27FC236}">
                <a16:creationId xmlns:a16="http://schemas.microsoft.com/office/drawing/2014/main" id="{70FD8397-58F2-4CA1-8C23-1D6E8B7A5A7D}"/>
              </a:ext>
            </a:extLst>
          </p:cNvPr>
          <p:cNvSpPr txBox="1"/>
          <p:nvPr/>
        </p:nvSpPr>
        <p:spPr>
          <a:xfrm>
            <a:off x="5766620" y="5283425"/>
            <a:ext cx="3546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rgbClr val="0432FF"/>
                </a:solidFill>
                <a:latin typeface="+mn-lt"/>
                <a:ea typeface="+mn-ea"/>
                <a:sym typeface="Wingdings" pitchFamily="2" charset="2"/>
              </a:rPr>
              <a:t>D: 01</a:t>
            </a:r>
            <a:r>
              <a:rPr kumimoji="1" lang="zh-CN" altLang="en-US" sz="2400" dirty="0">
                <a:solidFill>
                  <a:srgbClr val="0432FF"/>
                </a:solidFill>
                <a:latin typeface="+mn-lt"/>
                <a:ea typeface="+mn-ea"/>
                <a:sym typeface="Wingdings" pitchFamily="2" charset="2"/>
              </a:rPr>
              <a:t>，非时钟沿</a:t>
            </a:r>
            <a:r>
              <a:rPr kumimoji="1" lang="en-US" altLang="zh-CN" sz="2400" dirty="0">
                <a:solidFill>
                  <a:srgbClr val="0432FF"/>
                </a:solidFill>
                <a:latin typeface="+mn-lt"/>
                <a:ea typeface="+mn-ea"/>
                <a:sym typeface="Wingdings" pitchFamily="2" charset="2"/>
              </a:rPr>
              <a:t>D</a:t>
            </a:r>
            <a:r>
              <a:rPr kumimoji="1" lang="zh-CN" altLang="en-US" sz="2400" dirty="0">
                <a:solidFill>
                  <a:srgbClr val="0432FF"/>
                </a:solidFill>
                <a:latin typeface="+mn-lt"/>
                <a:ea typeface="+mn-ea"/>
                <a:sym typeface="Wingdings" pitchFamily="2" charset="2"/>
              </a:rPr>
              <a:t>的改变不会影响输出</a:t>
            </a:r>
            <a:endParaRPr kumimoji="1" lang="zh-CN" altLang="en-US" sz="2400" dirty="0">
              <a:solidFill>
                <a:srgbClr val="0432FF"/>
              </a:solidFill>
              <a:latin typeface="+mn-lt"/>
              <a:ea typeface="+mn-ea"/>
            </a:endParaRPr>
          </a:p>
        </p:txBody>
      </p:sp>
      <p:graphicFrame>
        <p:nvGraphicFramePr>
          <p:cNvPr id="5" name="Object 74">
            <a:extLst>
              <a:ext uri="{FF2B5EF4-FFF2-40B4-BE49-F238E27FC236}">
                <a16:creationId xmlns:a16="http://schemas.microsoft.com/office/drawing/2014/main" id="{509EDD27-E7CB-7E55-710C-4370B53950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998156"/>
              </p:ext>
            </p:extLst>
          </p:nvPr>
        </p:nvGraphicFramePr>
        <p:xfrm>
          <a:off x="6217708" y="4265152"/>
          <a:ext cx="285220" cy="42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81" name="Object 74">
                        <a:extLst>
                          <a:ext uri="{FF2B5EF4-FFF2-40B4-BE49-F238E27FC236}">
                            <a16:creationId xmlns:a16="http://schemas.microsoft.com/office/drawing/2014/main" id="{13792279-117C-4E7E-A07C-B70B3A885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708" y="4265152"/>
                        <a:ext cx="285220" cy="427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3">
            <a:extLst>
              <a:ext uri="{FF2B5EF4-FFF2-40B4-BE49-F238E27FC236}">
                <a16:creationId xmlns:a16="http://schemas.microsoft.com/office/drawing/2014/main" id="{8BAB2369-6F2B-7BA2-8C9F-411BB3D6C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651793"/>
            <a:ext cx="381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 Box 95">
            <a:extLst>
              <a:ext uri="{FF2B5EF4-FFF2-40B4-BE49-F238E27FC236}">
                <a16:creationId xmlns:a16="http://schemas.microsoft.com/office/drawing/2014/main" id="{DDD5175B-08B3-1725-A349-65792B804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972" y="275897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/>
              <a:t>0</a:t>
            </a:r>
          </a:p>
        </p:txBody>
      </p:sp>
      <p:sp>
        <p:nvSpPr>
          <p:cNvPr id="8" name="Text Box 96">
            <a:extLst>
              <a:ext uri="{FF2B5EF4-FFF2-40B4-BE49-F238E27FC236}">
                <a16:creationId xmlns:a16="http://schemas.microsoft.com/office/drawing/2014/main" id="{352BDD8F-A372-A67E-9A00-C7CFA5743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998" y="374560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210176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2E8DB-FC99-ED49-9E9A-07239BBB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91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7894" name="AutoShape 5"/>
          <p:cNvSpPr>
            <a:spLocks noChangeAspect="1" noChangeArrowheads="1" noTextEdit="1"/>
          </p:cNvSpPr>
          <p:nvPr/>
        </p:nvSpPr>
        <p:spPr bwMode="auto">
          <a:xfrm>
            <a:off x="457200" y="1676400"/>
            <a:ext cx="5324475" cy="380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AutoShape 5">
            <a:extLst>
              <a:ext uri="{FF2B5EF4-FFF2-40B4-BE49-F238E27FC236}">
                <a16:creationId xmlns:a16="http://schemas.microsoft.com/office/drawing/2014/main" id="{DD1F8129-4ED0-4384-A6B6-907403DEB40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480364" y="1947532"/>
            <a:ext cx="5324475" cy="380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Line 6">
            <a:extLst>
              <a:ext uri="{FF2B5EF4-FFF2-40B4-BE49-F238E27FC236}">
                <a16:creationId xmlns:a16="http://schemas.microsoft.com/office/drawing/2014/main" id="{C695CC6E-8196-401A-8320-E797626CD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9277" y="3311195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Line 7">
            <a:extLst>
              <a:ext uri="{FF2B5EF4-FFF2-40B4-BE49-F238E27FC236}">
                <a16:creationId xmlns:a16="http://schemas.microsoft.com/office/drawing/2014/main" id="{D48900AB-791D-4518-ABF2-55C84D3BB7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9277" y="4489120"/>
            <a:ext cx="746125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8">
            <a:extLst>
              <a:ext uri="{FF2B5EF4-FFF2-40B4-BE49-F238E27FC236}">
                <a16:creationId xmlns:a16="http://schemas.microsoft.com/office/drawing/2014/main" id="{E8617136-9D4F-427F-B4A0-8529D9FC745D}"/>
              </a:ext>
            </a:extLst>
          </p:cNvPr>
          <p:cNvSpPr>
            <a:spLocks/>
          </p:cNvSpPr>
          <p:nvPr/>
        </p:nvSpPr>
        <p:spPr bwMode="auto">
          <a:xfrm>
            <a:off x="4480739" y="3441370"/>
            <a:ext cx="1211263" cy="1047750"/>
          </a:xfrm>
          <a:custGeom>
            <a:avLst/>
            <a:gdLst>
              <a:gd name="T0" fmla="*/ 2147483647 w 827"/>
              <a:gd name="T1" fmla="*/ 0 h 660"/>
              <a:gd name="T2" fmla="*/ 0 w 827"/>
              <a:gd name="T3" fmla="*/ 0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2147483647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0"/>
                </a:moveTo>
                <a:lnTo>
                  <a:pt x="0" y="0"/>
                </a:lnTo>
                <a:lnTo>
                  <a:pt x="0" y="220"/>
                </a:lnTo>
                <a:lnTo>
                  <a:pt x="827" y="440"/>
                </a:lnTo>
                <a:lnTo>
                  <a:pt x="827" y="66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9">
            <a:extLst>
              <a:ext uri="{FF2B5EF4-FFF2-40B4-BE49-F238E27FC236}">
                <a16:creationId xmlns:a16="http://schemas.microsoft.com/office/drawing/2014/main" id="{3801D9C8-5D67-44FB-BAD5-22DF63D105E7}"/>
              </a:ext>
            </a:extLst>
          </p:cNvPr>
          <p:cNvSpPr>
            <a:spLocks/>
          </p:cNvSpPr>
          <p:nvPr/>
        </p:nvSpPr>
        <p:spPr bwMode="auto">
          <a:xfrm>
            <a:off x="5641202" y="4433557"/>
            <a:ext cx="103187" cy="112713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0" y="104"/>
                  <a:pt x="104" y="80"/>
                  <a:pt x="104" y="52"/>
                </a:cubicBezTo>
                <a:cubicBezTo>
                  <a:pt x="104" y="23"/>
                  <a:pt x="80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0">
            <a:extLst>
              <a:ext uri="{FF2B5EF4-FFF2-40B4-BE49-F238E27FC236}">
                <a16:creationId xmlns:a16="http://schemas.microsoft.com/office/drawing/2014/main" id="{969E7B8D-84D2-4D74-B1C6-8260FCBC8904}"/>
              </a:ext>
            </a:extLst>
          </p:cNvPr>
          <p:cNvSpPr>
            <a:spLocks/>
          </p:cNvSpPr>
          <p:nvPr/>
        </p:nvSpPr>
        <p:spPr bwMode="auto">
          <a:xfrm>
            <a:off x="4480739" y="3311195"/>
            <a:ext cx="1211263" cy="1047750"/>
          </a:xfrm>
          <a:custGeom>
            <a:avLst/>
            <a:gdLst>
              <a:gd name="T0" fmla="*/ 2147483647 w 827"/>
              <a:gd name="T1" fmla="*/ 2147483647 h 660"/>
              <a:gd name="T2" fmla="*/ 0 w 827"/>
              <a:gd name="T3" fmla="*/ 2147483647 h 660"/>
              <a:gd name="T4" fmla="*/ 0 w 827"/>
              <a:gd name="T5" fmla="*/ 2147483647 h 660"/>
              <a:gd name="T6" fmla="*/ 2147483647 w 827"/>
              <a:gd name="T7" fmla="*/ 2147483647 h 660"/>
              <a:gd name="T8" fmla="*/ 2147483647 w 827"/>
              <a:gd name="T9" fmla="*/ 0 h 6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660"/>
              <a:gd name="T17" fmla="*/ 827 w 827"/>
              <a:gd name="T18" fmla="*/ 660 h 6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660">
                <a:moveTo>
                  <a:pt x="248" y="660"/>
                </a:moveTo>
                <a:lnTo>
                  <a:pt x="0" y="660"/>
                </a:lnTo>
                <a:lnTo>
                  <a:pt x="0" y="440"/>
                </a:lnTo>
                <a:lnTo>
                  <a:pt x="827" y="220"/>
                </a:lnTo>
                <a:lnTo>
                  <a:pt x="827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1">
            <a:extLst>
              <a:ext uri="{FF2B5EF4-FFF2-40B4-BE49-F238E27FC236}">
                <a16:creationId xmlns:a16="http://schemas.microsoft.com/office/drawing/2014/main" id="{662C17DB-3F5C-413B-A402-CBCFEAD7E39F}"/>
              </a:ext>
            </a:extLst>
          </p:cNvPr>
          <p:cNvSpPr>
            <a:spLocks/>
          </p:cNvSpPr>
          <p:nvPr/>
        </p:nvSpPr>
        <p:spPr bwMode="auto">
          <a:xfrm>
            <a:off x="5641202" y="3254045"/>
            <a:ext cx="103187" cy="112712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0" y="104"/>
                  <a:pt x="104" y="81"/>
                  <a:pt x="104" y="52"/>
                </a:cubicBezTo>
                <a:cubicBezTo>
                  <a:pt x="104" y="23"/>
                  <a:pt x="80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978CBFE2-80FB-4D36-9808-AEA17B5A6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327" y="3152445"/>
            <a:ext cx="18573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>
                <a:solidFill>
                  <a:srgbClr val="000000"/>
                </a:solidFill>
                <a:latin typeface="Times New Roman" pitchFamily="18" charset="0"/>
              </a:rPr>
              <a:t>Q</a:t>
            </a:r>
            <a:endParaRPr lang="en-US" altLang="zh-CN" sz="18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2" name="Freeform 13">
            <a:extLst>
              <a:ext uri="{FF2B5EF4-FFF2-40B4-BE49-F238E27FC236}">
                <a16:creationId xmlns:a16="http://schemas.microsoft.com/office/drawing/2014/main" id="{89F8CF9E-5CE2-40C2-9834-F15988C74D25}"/>
              </a:ext>
            </a:extLst>
          </p:cNvPr>
          <p:cNvSpPr>
            <a:spLocks noEditPoints="1"/>
          </p:cNvSpPr>
          <p:nvPr/>
        </p:nvSpPr>
        <p:spPr bwMode="auto">
          <a:xfrm>
            <a:off x="4464864" y="3179432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2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4">
            <a:extLst>
              <a:ext uri="{FF2B5EF4-FFF2-40B4-BE49-F238E27FC236}">
                <a16:creationId xmlns:a16="http://schemas.microsoft.com/office/drawing/2014/main" id="{07B3B8FE-9AC2-483D-B1EB-56540FB32E3D}"/>
              </a:ext>
            </a:extLst>
          </p:cNvPr>
          <p:cNvSpPr>
            <a:spLocks/>
          </p:cNvSpPr>
          <p:nvPr/>
        </p:nvSpPr>
        <p:spPr bwMode="auto">
          <a:xfrm>
            <a:off x="4639489" y="304449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5">
            <a:extLst>
              <a:ext uri="{FF2B5EF4-FFF2-40B4-BE49-F238E27FC236}">
                <a16:creationId xmlns:a16="http://schemas.microsoft.com/office/drawing/2014/main" id="{A00F4705-1915-40B2-9708-1AE9FE8CF35A}"/>
              </a:ext>
            </a:extLst>
          </p:cNvPr>
          <p:cNvSpPr>
            <a:spLocks/>
          </p:cNvSpPr>
          <p:nvPr/>
        </p:nvSpPr>
        <p:spPr bwMode="auto">
          <a:xfrm>
            <a:off x="4639489" y="304449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5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6">
            <a:extLst>
              <a:ext uri="{FF2B5EF4-FFF2-40B4-BE49-F238E27FC236}">
                <a16:creationId xmlns:a16="http://schemas.microsoft.com/office/drawing/2014/main" id="{727E8412-1CCB-4654-85B7-096B58F51331}"/>
              </a:ext>
            </a:extLst>
          </p:cNvPr>
          <p:cNvSpPr>
            <a:spLocks/>
          </p:cNvSpPr>
          <p:nvPr/>
        </p:nvSpPr>
        <p:spPr bwMode="auto">
          <a:xfrm>
            <a:off x="5287189" y="3273095"/>
            <a:ext cx="74613" cy="82550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17">
            <a:extLst>
              <a:ext uri="{FF2B5EF4-FFF2-40B4-BE49-F238E27FC236}">
                <a16:creationId xmlns:a16="http://schemas.microsoft.com/office/drawing/2014/main" id="{0AE1D458-969B-41E5-80AA-F1165BD6A34F}"/>
              </a:ext>
            </a:extLst>
          </p:cNvPr>
          <p:cNvSpPr>
            <a:spLocks/>
          </p:cNvSpPr>
          <p:nvPr/>
        </p:nvSpPr>
        <p:spPr bwMode="auto">
          <a:xfrm>
            <a:off x="5287189" y="3273095"/>
            <a:ext cx="74613" cy="82550"/>
          </a:xfrm>
          <a:custGeom>
            <a:avLst/>
            <a:gdLst>
              <a:gd name="T0" fmla="*/ 2147483647 w 51"/>
              <a:gd name="T1" fmla="*/ 2147483647 h 52"/>
              <a:gd name="T2" fmla="*/ 2147483647 w 51"/>
              <a:gd name="T3" fmla="*/ 0 h 52"/>
              <a:gd name="T4" fmla="*/ 0 w 51"/>
              <a:gd name="T5" fmla="*/ 2147483647 h 52"/>
              <a:gd name="T6" fmla="*/ 2147483647 w 51"/>
              <a:gd name="T7" fmla="*/ 2147483647 h 52"/>
              <a:gd name="T8" fmla="*/ 2147483647 w 51"/>
              <a:gd name="T9" fmla="*/ 2147483647 h 52"/>
              <a:gd name="T10" fmla="*/ 2147483647 w 51"/>
              <a:gd name="T11" fmla="*/ 2147483647 h 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2"/>
              <a:gd name="T20" fmla="*/ 51 w 51"/>
              <a:gd name="T21" fmla="*/ 52 h 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2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40"/>
                  <a:pt x="12" y="52"/>
                  <a:pt x="25" y="52"/>
                </a:cubicBezTo>
                <a:cubicBezTo>
                  <a:pt x="40" y="52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8">
            <a:extLst>
              <a:ext uri="{FF2B5EF4-FFF2-40B4-BE49-F238E27FC236}">
                <a16:creationId xmlns:a16="http://schemas.microsoft.com/office/drawing/2014/main" id="{84E7C27E-14B4-4E0B-810B-C797B1982CAC}"/>
              </a:ext>
            </a:extLst>
          </p:cNvPr>
          <p:cNvSpPr>
            <a:spLocks/>
          </p:cNvSpPr>
          <p:nvPr/>
        </p:nvSpPr>
        <p:spPr bwMode="auto">
          <a:xfrm>
            <a:off x="4639489" y="304449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9">
            <a:extLst>
              <a:ext uri="{FF2B5EF4-FFF2-40B4-BE49-F238E27FC236}">
                <a16:creationId xmlns:a16="http://schemas.microsoft.com/office/drawing/2014/main" id="{BCE70DF4-AF94-4DC9-95B2-1D0EB5DE55C5}"/>
              </a:ext>
            </a:extLst>
          </p:cNvPr>
          <p:cNvSpPr>
            <a:spLocks/>
          </p:cNvSpPr>
          <p:nvPr/>
        </p:nvSpPr>
        <p:spPr bwMode="auto">
          <a:xfrm>
            <a:off x="4639489" y="3044495"/>
            <a:ext cx="650875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20">
            <a:extLst>
              <a:ext uri="{FF2B5EF4-FFF2-40B4-BE49-F238E27FC236}">
                <a16:creationId xmlns:a16="http://schemas.microsoft.com/office/drawing/2014/main" id="{55745937-A3D6-41D2-807E-C58221B98FA9}"/>
              </a:ext>
            </a:extLst>
          </p:cNvPr>
          <p:cNvSpPr>
            <a:spLocks noEditPoints="1"/>
          </p:cNvSpPr>
          <p:nvPr/>
        </p:nvSpPr>
        <p:spPr bwMode="auto">
          <a:xfrm>
            <a:off x="4496614" y="4354182"/>
            <a:ext cx="996950" cy="269875"/>
          </a:xfrm>
          <a:custGeom>
            <a:avLst/>
            <a:gdLst>
              <a:gd name="T0" fmla="*/ 0 w 681"/>
              <a:gd name="T1" fmla="*/ 0 h 170"/>
              <a:gd name="T2" fmla="*/ 2147483647 w 681"/>
              <a:gd name="T3" fmla="*/ 0 h 170"/>
              <a:gd name="T4" fmla="*/ 0 w 681"/>
              <a:gd name="T5" fmla="*/ 2147483647 h 170"/>
              <a:gd name="T6" fmla="*/ 2147483647 w 681"/>
              <a:gd name="T7" fmla="*/ 2147483647 h 170"/>
              <a:gd name="T8" fmla="*/ 2147483647 w 681"/>
              <a:gd name="T9" fmla="*/ 2147483647 h 170"/>
              <a:gd name="T10" fmla="*/ 2147483647 w 681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1"/>
              <a:gd name="T19" fmla="*/ 0 h 170"/>
              <a:gd name="T20" fmla="*/ 681 w 681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1" h="170">
                <a:moveTo>
                  <a:pt x="0" y="0"/>
                </a:moveTo>
                <a:lnTo>
                  <a:pt x="341" y="0"/>
                </a:lnTo>
                <a:moveTo>
                  <a:pt x="0" y="170"/>
                </a:moveTo>
                <a:lnTo>
                  <a:pt x="341" y="170"/>
                </a:lnTo>
                <a:moveTo>
                  <a:pt x="681" y="85"/>
                </a:moveTo>
                <a:lnTo>
                  <a:pt x="341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21">
            <a:extLst>
              <a:ext uri="{FF2B5EF4-FFF2-40B4-BE49-F238E27FC236}">
                <a16:creationId xmlns:a16="http://schemas.microsoft.com/office/drawing/2014/main" id="{E931F08F-2953-48CA-AC69-C75F3BEA4037}"/>
              </a:ext>
            </a:extLst>
          </p:cNvPr>
          <p:cNvSpPr>
            <a:spLocks/>
          </p:cNvSpPr>
          <p:nvPr/>
        </p:nvSpPr>
        <p:spPr bwMode="auto">
          <a:xfrm>
            <a:off x="4671239" y="421924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22">
            <a:extLst>
              <a:ext uri="{FF2B5EF4-FFF2-40B4-BE49-F238E27FC236}">
                <a16:creationId xmlns:a16="http://schemas.microsoft.com/office/drawing/2014/main" id="{6CC3C7FA-25D5-4A78-B9EB-71E591F57126}"/>
              </a:ext>
            </a:extLst>
          </p:cNvPr>
          <p:cNvSpPr>
            <a:spLocks/>
          </p:cNvSpPr>
          <p:nvPr/>
        </p:nvSpPr>
        <p:spPr bwMode="auto">
          <a:xfrm>
            <a:off x="4671239" y="421924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4" y="373"/>
                  <a:pt x="404" y="465"/>
                  <a:pt x="196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6" y="0"/>
                </a:lnTo>
                <a:cubicBezTo>
                  <a:pt x="405" y="33"/>
                  <a:pt x="575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23">
            <a:extLst>
              <a:ext uri="{FF2B5EF4-FFF2-40B4-BE49-F238E27FC236}">
                <a16:creationId xmlns:a16="http://schemas.microsoft.com/office/drawing/2014/main" id="{7F725B2F-F8A8-4AF1-A94F-97C3176D3B95}"/>
              </a:ext>
            </a:extLst>
          </p:cNvPr>
          <p:cNvSpPr>
            <a:spLocks/>
          </p:cNvSpPr>
          <p:nvPr/>
        </p:nvSpPr>
        <p:spPr bwMode="auto">
          <a:xfrm>
            <a:off x="5318939" y="4447845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59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24">
            <a:extLst>
              <a:ext uri="{FF2B5EF4-FFF2-40B4-BE49-F238E27FC236}">
                <a16:creationId xmlns:a16="http://schemas.microsoft.com/office/drawing/2014/main" id="{FAAF9170-487C-4DFB-A2DE-7D9BDF16987F}"/>
              </a:ext>
            </a:extLst>
          </p:cNvPr>
          <p:cNvSpPr>
            <a:spLocks/>
          </p:cNvSpPr>
          <p:nvPr/>
        </p:nvSpPr>
        <p:spPr bwMode="auto">
          <a:xfrm>
            <a:off x="5318939" y="4447845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6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25">
            <a:extLst>
              <a:ext uri="{FF2B5EF4-FFF2-40B4-BE49-F238E27FC236}">
                <a16:creationId xmlns:a16="http://schemas.microsoft.com/office/drawing/2014/main" id="{D85E2064-3D14-4144-90FA-825099FB457E}"/>
              </a:ext>
            </a:extLst>
          </p:cNvPr>
          <p:cNvSpPr>
            <a:spLocks/>
          </p:cNvSpPr>
          <p:nvPr/>
        </p:nvSpPr>
        <p:spPr bwMode="auto">
          <a:xfrm>
            <a:off x="4671239" y="421924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26">
            <a:extLst>
              <a:ext uri="{FF2B5EF4-FFF2-40B4-BE49-F238E27FC236}">
                <a16:creationId xmlns:a16="http://schemas.microsoft.com/office/drawing/2014/main" id="{6E98B2C8-74F4-4823-815F-5466E19241C7}"/>
              </a:ext>
            </a:extLst>
          </p:cNvPr>
          <p:cNvSpPr>
            <a:spLocks/>
          </p:cNvSpPr>
          <p:nvPr/>
        </p:nvSpPr>
        <p:spPr bwMode="auto">
          <a:xfrm>
            <a:off x="4671239" y="4219245"/>
            <a:ext cx="647700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1" y="499"/>
                </a:moveTo>
                <a:lnTo>
                  <a:pt x="0" y="499"/>
                </a:lnTo>
                <a:lnTo>
                  <a:pt x="0" y="0"/>
                </a:lnTo>
                <a:lnTo>
                  <a:pt x="401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1" y="499"/>
                </a:cubicBezTo>
                <a:cubicBezTo>
                  <a:pt x="401" y="499"/>
                  <a:pt x="401" y="499"/>
                  <a:pt x="401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27">
            <a:extLst>
              <a:ext uri="{FF2B5EF4-FFF2-40B4-BE49-F238E27FC236}">
                <a16:creationId xmlns:a16="http://schemas.microsoft.com/office/drawing/2014/main" id="{4FDF14E8-0079-4C6D-BD59-BF28C5BC9097}"/>
              </a:ext>
            </a:extLst>
          </p:cNvPr>
          <p:cNvSpPr>
            <a:spLocks/>
          </p:cNvSpPr>
          <p:nvPr/>
        </p:nvSpPr>
        <p:spPr bwMode="auto">
          <a:xfrm>
            <a:off x="4271189" y="3179432"/>
            <a:ext cx="193675" cy="4763"/>
          </a:xfrm>
          <a:custGeom>
            <a:avLst/>
            <a:gdLst>
              <a:gd name="T0" fmla="*/ 2147483647 w 133"/>
              <a:gd name="T1" fmla="*/ 0 h 3"/>
              <a:gd name="T2" fmla="*/ 2147483647 w 133"/>
              <a:gd name="T3" fmla="*/ 0 h 3"/>
              <a:gd name="T4" fmla="*/ 2147483647 w 133"/>
              <a:gd name="T5" fmla="*/ 2147483647 h 3"/>
              <a:gd name="T6" fmla="*/ 0 w 133"/>
              <a:gd name="T7" fmla="*/ 2147483647 h 3"/>
              <a:gd name="T8" fmla="*/ 0 60000 65536"/>
              <a:gd name="T9" fmla="*/ 0 60000 65536"/>
              <a:gd name="T10" fmla="*/ 0 60000 65536"/>
              <a:gd name="T11" fmla="*/ 0 60000 65536"/>
              <a:gd name="T12" fmla="*/ 0 w 133"/>
              <a:gd name="T13" fmla="*/ 0 h 3"/>
              <a:gd name="T14" fmla="*/ 133 w 133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" h="3">
                <a:moveTo>
                  <a:pt x="133" y="0"/>
                </a:moveTo>
                <a:lnTo>
                  <a:pt x="53" y="0"/>
                </a:lnTo>
                <a:lnTo>
                  <a:pt x="53" y="3"/>
                </a:lnTo>
                <a:lnTo>
                  <a:pt x="0" y="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28">
            <a:extLst>
              <a:ext uri="{FF2B5EF4-FFF2-40B4-BE49-F238E27FC236}">
                <a16:creationId xmlns:a16="http://schemas.microsoft.com/office/drawing/2014/main" id="{1AEC9077-B22D-4942-A5B9-A86941A229B2}"/>
              </a:ext>
            </a:extLst>
          </p:cNvPr>
          <p:cNvSpPr>
            <a:spLocks/>
          </p:cNvSpPr>
          <p:nvPr/>
        </p:nvSpPr>
        <p:spPr bwMode="auto">
          <a:xfrm>
            <a:off x="4271189" y="4624057"/>
            <a:ext cx="225425" cy="1588"/>
          </a:xfrm>
          <a:custGeom>
            <a:avLst/>
            <a:gdLst>
              <a:gd name="T0" fmla="*/ 2147483647 w 154"/>
              <a:gd name="T1" fmla="*/ 0 h 1588"/>
              <a:gd name="T2" fmla="*/ 2147483647 w 154"/>
              <a:gd name="T3" fmla="*/ 0 h 1588"/>
              <a:gd name="T4" fmla="*/ 2147483647 w 154"/>
              <a:gd name="T5" fmla="*/ 0 h 1588"/>
              <a:gd name="T6" fmla="*/ 0 w 154"/>
              <a:gd name="T7" fmla="*/ 0 h 1588"/>
              <a:gd name="T8" fmla="*/ 0 60000 65536"/>
              <a:gd name="T9" fmla="*/ 0 60000 65536"/>
              <a:gd name="T10" fmla="*/ 0 60000 65536"/>
              <a:gd name="T11" fmla="*/ 0 60000 65536"/>
              <a:gd name="T12" fmla="*/ 0 w 154"/>
              <a:gd name="T13" fmla="*/ 0 h 1588"/>
              <a:gd name="T14" fmla="*/ 154 w 154"/>
              <a:gd name="T15" fmla="*/ 1588 h 1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" h="1588">
                <a:moveTo>
                  <a:pt x="154" y="0"/>
                </a:moveTo>
                <a:lnTo>
                  <a:pt x="115" y="0"/>
                </a:ln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Rectangle 29">
            <a:extLst>
              <a:ext uri="{FF2B5EF4-FFF2-40B4-BE49-F238E27FC236}">
                <a16:creationId xmlns:a16="http://schemas.microsoft.com/office/drawing/2014/main" id="{51E6C6C6-5B2F-4D3F-8CCF-579FAD369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164" y="5376532"/>
            <a:ext cx="2016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200" b="0" i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sz="18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20" name="Freeform 33">
            <a:extLst>
              <a:ext uri="{FF2B5EF4-FFF2-40B4-BE49-F238E27FC236}">
                <a16:creationId xmlns:a16="http://schemas.microsoft.com/office/drawing/2014/main" id="{629C8239-E5AE-4336-9F0D-A4FAF2BCC83B}"/>
              </a:ext>
            </a:extLst>
          </p:cNvPr>
          <p:cNvSpPr>
            <a:spLocks noEditPoints="1"/>
          </p:cNvSpPr>
          <p:nvPr/>
        </p:nvSpPr>
        <p:spPr bwMode="auto">
          <a:xfrm>
            <a:off x="3271064" y="3049257"/>
            <a:ext cx="1000125" cy="268288"/>
          </a:xfrm>
          <a:custGeom>
            <a:avLst/>
            <a:gdLst>
              <a:gd name="T0" fmla="*/ 0 w 682"/>
              <a:gd name="T1" fmla="*/ 0 h 169"/>
              <a:gd name="T2" fmla="*/ 2147483647 w 682"/>
              <a:gd name="T3" fmla="*/ 0 h 169"/>
              <a:gd name="T4" fmla="*/ 0 w 682"/>
              <a:gd name="T5" fmla="*/ 2147483647 h 169"/>
              <a:gd name="T6" fmla="*/ 2147483647 w 682"/>
              <a:gd name="T7" fmla="*/ 2147483647 h 169"/>
              <a:gd name="T8" fmla="*/ 2147483647 w 682"/>
              <a:gd name="T9" fmla="*/ 2147483647 h 169"/>
              <a:gd name="T10" fmla="*/ 2147483647 w 682"/>
              <a:gd name="T11" fmla="*/ 2147483647 h 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69"/>
              <a:gd name="T20" fmla="*/ 682 w 682"/>
              <a:gd name="T21" fmla="*/ 169 h 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69">
                <a:moveTo>
                  <a:pt x="0" y="0"/>
                </a:moveTo>
                <a:lnTo>
                  <a:pt x="340" y="0"/>
                </a:lnTo>
                <a:moveTo>
                  <a:pt x="0" y="169"/>
                </a:moveTo>
                <a:lnTo>
                  <a:pt x="340" y="169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34">
            <a:extLst>
              <a:ext uri="{FF2B5EF4-FFF2-40B4-BE49-F238E27FC236}">
                <a16:creationId xmlns:a16="http://schemas.microsoft.com/office/drawing/2014/main" id="{1651A1F7-4B00-4F9B-93B4-86BFE45864C0}"/>
              </a:ext>
            </a:extLst>
          </p:cNvPr>
          <p:cNvSpPr>
            <a:spLocks/>
          </p:cNvSpPr>
          <p:nvPr/>
        </p:nvSpPr>
        <p:spPr bwMode="auto">
          <a:xfrm>
            <a:off x="3445689" y="291432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35">
            <a:extLst>
              <a:ext uri="{FF2B5EF4-FFF2-40B4-BE49-F238E27FC236}">
                <a16:creationId xmlns:a16="http://schemas.microsoft.com/office/drawing/2014/main" id="{A4402ADC-ED2A-4F3C-A70E-5007BDD8D88A}"/>
              </a:ext>
            </a:extLst>
          </p:cNvPr>
          <p:cNvSpPr>
            <a:spLocks/>
          </p:cNvSpPr>
          <p:nvPr/>
        </p:nvSpPr>
        <p:spPr bwMode="auto">
          <a:xfrm>
            <a:off x="3445689" y="291432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50"/>
                </a:moveTo>
                <a:cubicBezTo>
                  <a:pt x="573" y="373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Freeform 36">
            <a:extLst>
              <a:ext uri="{FF2B5EF4-FFF2-40B4-BE49-F238E27FC236}">
                <a16:creationId xmlns:a16="http://schemas.microsoft.com/office/drawing/2014/main" id="{AB5A7301-57C7-4FFB-8A01-DD6D6A04442B}"/>
              </a:ext>
            </a:extLst>
          </p:cNvPr>
          <p:cNvSpPr>
            <a:spLocks/>
          </p:cNvSpPr>
          <p:nvPr/>
        </p:nvSpPr>
        <p:spPr bwMode="auto">
          <a:xfrm>
            <a:off x="4093389" y="314292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Freeform 37">
            <a:extLst>
              <a:ext uri="{FF2B5EF4-FFF2-40B4-BE49-F238E27FC236}">
                <a16:creationId xmlns:a16="http://schemas.microsoft.com/office/drawing/2014/main" id="{BA34B860-8ED6-4D53-9EDF-A3AD5B857C8F}"/>
              </a:ext>
            </a:extLst>
          </p:cNvPr>
          <p:cNvSpPr>
            <a:spLocks/>
          </p:cNvSpPr>
          <p:nvPr/>
        </p:nvSpPr>
        <p:spPr bwMode="auto">
          <a:xfrm>
            <a:off x="4093389" y="314292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Freeform 38">
            <a:extLst>
              <a:ext uri="{FF2B5EF4-FFF2-40B4-BE49-F238E27FC236}">
                <a16:creationId xmlns:a16="http://schemas.microsoft.com/office/drawing/2014/main" id="{41586CE7-751B-4E85-AC6E-C4C660F78979}"/>
              </a:ext>
            </a:extLst>
          </p:cNvPr>
          <p:cNvSpPr>
            <a:spLocks/>
          </p:cNvSpPr>
          <p:nvPr/>
        </p:nvSpPr>
        <p:spPr bwMode="auto">
          <a:xfrm>
            <a:off x="3445689" y="291432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7" name="Freeform 39">
            <a:extLst>
              <a:ext uri="{FF2B5EF4-FFF2-40B4-BE49-F238E27FC236}">
                <a16:creationId xmlns:a16="http://schemas.microsoft.com/office/drawing/2014/main" id="{CBF7542A-31BE-47F9-BCEB-10278BBF4865}"/>
              </a:ext>
            </a:extLst>
          </p:cNvPr>
          <p:cNvSpPr>
            <a:spLocks/>
          </p:cNvSpPr>
          <p:nvPr/>
        </p:nvSpPr>
        <p:spPr bwMode="auto">
          <a:xfrm>
            <a:off x="3445689" y="2914320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Freeform 40">
            <a:extLst>
              <a:ext uri="{FF2B5EF4-FFF2-40B4-BE49-F238E27FC236}">
                <a16:creationId xmlns:a16="http://schemas.microsoft.com/office/drawing/2014/main" id="{52263EBB-4383-477D-87DA-AF749FC1AE3B}"/>
              </a:ext>
            </a:extLst>
          </p:cNvPr>
          <p:cNvSpPr>
            <a:spLocks noEditPoints="1"/>
          </p:cNvSpPr>
          <p:nvPr/>
        </p:nvSpPr>
        <p:spPr bwMode="auto">
          <a:xfrm>
            <a:off x="3271064" y="4487532"/>
            <a:ext cx="1000125" cy="271463"/>
          </a:xfrm>
          <a:custGeom>
            <a:avLst/>
            <a:gdLst>
              <a:gd name="T0" fmla="*/ 0 w 682"/>
              <a:gd name="T1" fmla="*/ 0 h 171"/>
              <a:gd name="T2" fmla="*/ 2147483647 w 682"/>
              <a:gd name="T3" fmla="*/ 0 h 171"/>
              <a:gd name="T4" fmla="*/ 0 w 682"/>
              <a:gd name="T5" fmla="*/ 2147483647 h 171"/>
              <a:gd name="T6" fmla="*/ 2147483647 w 682"/>
              <a:gd name="T7" fmla="*/ 2147483647 h 171"/>
              <a:gd name="T8" fmla="*/ 0 w 682"/>
              <a:gd name="T9" fmla="*/ 2147483647 h 171"/>
              <a:gd name="T10" fmla="*/ 2147483647 w 682"/>
              <a:gd name="T11" fmla="*/ 2147483647 h 171"/>
              <a:gd name="T12" fmla="*/ 2147483647 w 682"/>
              <a:gd name="T13" fmla="*/ 2147483647 h 171"/>
              <a:gd name="T14" fmla="*/ 2147483647 w 682"/>
              <a:gd name="T15" fmla="*/ 2147483647 h 1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82"/>
              <a:gd name="T25" fmla="*/ 0 h 171"/>
              <a:gd name="T26" fmla="*/ 682 w 682"/>
              <a:gd name="T27" fmla="*/ 171 h 1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82" h="171">
                <a:moveTo>
                  <a:pt x="0" y="0"/>
                </a:moveTo>
                <a:lnTo>
                  <a:pt x="340" y="0"/>
                </a:lnTo>
                <a:moveTo>
                  <a:pt x="0" y="86"/>
                </a:moveTo>
                <a:lnTo>
                  <a:pt x="340" y="86"/>
                </a:lnTo>
                <a:moveTo>
                  <a:pt x="0" y="171"/>
                </a:moveTo>
                <a:lnTo>
                  <a:pt x="340" y="171"/>
                </a:lnTo>
                <a:moveTo>
                  <a:pt x="682" y="86"/>
                </a:moveTo>
                <a:lnTo>
                  <a:pt x="340" y="86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Freeform 41">
            <a:extLst>
              <a:ext uri="{FF2B5EF4-FFF2-40B4-BE49-F238E27FC236}">
                <a16:creationId xmlns:a16="http://schemas.microsoft.com/office/drawing/2014/main" id="{AA30CE0B-F1E2-4050-9B40-B432E3AB7E3E}"/>
              </a:ext>
            </a:extLst>
          </p:cNvPr>
          <p:cNvSpPr>
            <a:spLocks/>
          </p:cNvSpPr>
          <p:nvPr/>
        </p:nvSpPr>
        <p:spPr bwMode="auto">
          <a:xfrm>
            <a:off x="3445689" y="43541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Freeform 42">
            <a:extLst>
              <a:ext uri="{FF2B5EF4-FFF2-40B4-BE49-F238E27FC236}">
                <a16:creationId xmlns:a16="http://schemas.microsoft.com/office/drawing/2014/main" id="{EF85E7A1-D9DB-4611-90A5-F4CA8685E316}"/>
              </a:ext>
            </a:extLst>
          </p:cNvPr>
          <p:cNvSpPr>
            <a:spLocks/>
          </p:cNvSpPr>
          <p:nvPr/>
        </p:nvSpPr>
        <p:spPr bwMode="auto">
          <a:xfrm>
            <a:off x="3445689" y="43541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0 w 651"/>
              <a:gd name="T5" fmla="*/ 2147483647 h 499"/>
              <a:gd name="T6" fmla="*/ 0 w 651"/>
              <a:gd name="T7" fmla="*/ 0 h 499"/>
              <a:gd name="T8" fmla="*/ 0 w 651"/>
              <a:gd name="T9" fmla="*/ 0 h 499"/>
              <a:gd name="T10" fmla="*/ 2147483647 w 651"/>
              <a:gd name="T11" fmla="*/ 0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651" y="249"/>
                </a:moveTo>
                <a:cubicBezTo>
                  <a:pt x="573" y="372"/>
                  <a:pt x="404" y="465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4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Freeform 43">
            <a:extLst>
              <a:ext uri="{FF2B5EF4-FFF2-40B4-BE49-F238E27FC236}">
                <a16:creationId xmlns:a16="http://schemas.microsoft.com/office/drawing/2014/main" id="{80888ADA-5359-4294-9214-EE8ECA43FF43}"/>
              </a:ext>
            </a:extLst>
          </p:cNvPr>
          <p:cNvSpPr>
            <a:spLocks/>
          </p:cNvSpPr>
          <p:nvPr/>
        </p:nvSpPr>
        <p:spPr bwMode="auto">
          <a:xfrm>
            <a:off x="4093389" y="4582782"/>
            <a:ext cx="74613" cy="80963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7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7"/>
                </a:cubicBezTo>
                <a:cubicBezTo>
                  <a:pt x="75" y="37"/>
                  <a:pt x="75" y="37"/>
                  <a:pt x="75" y="37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Freeform 44">
            <a:extLst>
              <a:ext uri="{FF2B5EF4-FFF2-40B4-BE49-F238E27FC236}">
                <a16:creationId xmlns:a16="http://schemas.microsoft.com/office/drawing/2014/main" id="{FB0E847C-5757-45B1-92F3-059DF93CEBF2}"/>
              </a:ext>
            </a:extLst>
          </p:cNvPr>
          <p:cNvSpPr>
            <a:spLocks/>
          </p:cNvSpPr>
          <p:nvPr/>
        </p:nvSpPr>
        <p:spPr bwMode="auto">
          <a:xfrm>
            <a:off x="4093389" y="4582782"/>
            <a:ext cx="74613" cy="80963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Freeform 45">
            <a:extLst>
              <a:ext uri="{FF2B5EF4-FFF2-40B4-BE49-F238E27FC236}">
                <a16:creationId xmlns:a16="http://schemas.microsoft.com/office/drawing/2014/main" id="{399EBF79-2D7F-49B7-ACE6-822567199120}"/>
              </a:ext>
            </a:extLst>
          </p:cNvPr>
          <p:cNvSpPr>
            <a:spLocks/>
          </p:cNvSpPr>
          <p:nvPr/>
        </p:nvSpPr>
        <p:spPr bwMode="auto">
          <a:xfrm>
            <a:off x="3445689" y="43541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5" name="Freeform 46">
            <a:extLst>
              <a:ext uri="{FF2B5EF4-FFF2-40B4-BE49-F238E27FC236}">
                <a16:creationId xmlns:a16="http://schemas.microsoft.com/office/drawing/2014/main" id="{A9BC801C-5B3A-4288-ACE5-FAB353958830}"/>
              </a:ext>
            </a:extLst>
          </p:cNvPr>
          <p:cNvSpPr>
            <a:spLocks/>
          </p:cNvSpPr>
          <p:nvPr/>
        </p:nvSpPr>
        <p:spPr bwMode="auto">
          <a:xfrm>
            <a:off x="3445689" y="43541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1"/>
                  <a:pt x="651" y="249"/>
                </a:cubicBezTo>
                <a:cubicBezTo>
                  <a:pt x="651" y="387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Freeform 47">
            <a:extLst>
              <a:ext uri="{FF2B5EF4-FFF2-40B4-BE49-F238E27FC236}">
                <a16:creationId xmlns:a16="http://schemas.microsoft.com/office/drawing/2014/main" id="{A20EDEEE-F12F-47A3-9286-E96EDA04E0B4}"/>
              </a:ext>
            </a:extLst>
          </p:cNvPr>
          <p:cNvSpPr>
            <a:spLocks noEditPoints="1"/>
          </p:cNvSpPr>
          <p:nvPr/>
        </p:nvSpPr>
        <p:spPr bwMode="auto">
          <a:xfrm>
            <a:off x="3271064" y="2141207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Freeform 48">
            <a:extLst>
              <a:ext uri="{FF2B5EF4-FFF2-40B4-BE49-F238E27FC236}">
                <a16:creationId xmlns:a16="http://schemas.microsoft.com/office/drawing/2014/main" id="{DA4E2D61-B99F-4CA1-BFC9-8FB5B63403CB}"/>
              </a:ext>
            </a:extLst>
          </p:cNvPr>
          <p:cNvSpPr>
            <a:spLocks/>
          </p:cNvSpPr>
          <p:nvPr/>
        </p:nvSpPr>
        <p:spPr bwMode="auto">
          <a:xfrm>
            <a:off x="3445689" y="20046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Freeform 49">
            <a:extLst>
              <a:ext uri="{FF2B5EF4-FFF2-40B4-BE49-F238E27FC236}">
                <a16:creationId xmlns:a16="http://schemas.microsoft.com/office/drawing/2014/main" id="{610AA2DB-8EA9-4F38-AAD7-20D885475220}"/>
              </a:ext>
            </a:extLst>
          </p:cNvPr>
          <p:cNvSpPr>
            <a:spLocks/>
          </p:cNvSpPr>
          <p:nvPr/>
        </p:nvSpPr>
        <p:spPr bwMode="auto">
          <a:xfrm>
            <a:off x="3445689" y="20046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2147483647 w 651"/>
              <a:gd name="T3" fmla="*/ 2147483647 h 499"/>
              <a:gd name="T4" fmla="*/ 2147483647 w 651"/>
              <a:gd name="T5" fmla="*/ 2147483647 h 499"/>
              <a:gd name="T6" fmla="*/ 0 w 651"/>
              <a:gd name="T7" fmla="*/ 2147483647 h 499"/>
              <a:gd name="T8" fmla="*/ 0 w 651"/>
              <a:gd name="T9" fmla="*/ 0 h 499"/>
              <a:gd name="T10" fmla="*/ 0 w 651"/>
              <a:gd name="T11" fmla="*/ 0 h 499"/>
              <a:gd name="T12" fmla="*/ 2147483647 w 651"/>
              <a:gd name="T13" fmla="*/ 0 h 499"/>
              <a:gd name="T14" fmla="*/ 2147483647 w 651"/>
              <a:gd name="T15" fmla="*/ 2147483647 h 4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1"/>
              <a:gd name="T25" fmla="*/ 0 h 499"/>
              <a:gd name="T26" fmla="*/ 651 w 651"/>
              <a:gd name="T27" fmla="*/ 499 h 49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1" h="499">
                <a:moveTo>
                  <a:pt x="651" y="250"/>
                </a:moveTo>
                <a:cubicBezTo>
                  <a:pt x="573" y="373"/>
                  <a:pt x="404" y="466"/>
                  <a:pt x="195" y="499"/>
                </a:cubicBezTo>
                <a:lnTo>
                  <a:pt x="0" y="499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Freeform 50">
            <a:extLst>
              <a:ext uri="{FF2B5EF4-FFF2-40B4-BE49-F238E27FC236}">
                <a16:creationId xmlns:a16="http://schemas.microsoft.com/office/drawing/2014/main" id="{4047BC1E-0F73-438B-9839-8D484A327583}"/>
              </a:ext>
            </a:extLst>
          </p:cNvPr>
          <p:cNvSpPr>
            <a:spLocks/>
          </p:cNvSpPr>
          <p:nvPr/>
        </p:nvSpPr>
        <p:spPr bwMode="auto">
          <a:xfrm>
            <a:off x="4093389" y="223487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Freeform 51">
            <a:extLst>
              <a:ext uri="{FF2B5EF4-FFF2-40B4-BE49-F238E27FC236}">
                <a16:creationId xmlns:a16="http://schemas.microsoft.com/office/drawing/2014/main" id="{A9FB90BB-41C8-4C21-BF3E-0D54DC04A8A3}"/>
              </a:ext>
            </a:extLst>
          </p:cNvPr>
          <p:cNvSpPr>
            <a:spLocks/>
          </p:cNvSpPr>
          <p:nvPr/>
        </p:nvSpPr>
        <p:spPr bwMode="auto">
          <a:xfrm>
            <a:off x="4093389" y="223487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1"/>
                  <a:pt x="40" y="0"/>
                  <a:pt x="25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39"/>
                  <a:pt x="11" y="51"/>
                  <a:pt x="25" y="51"/>
                </a:cubicBezTo>
                <a:cubicBezTo>
                  <a:pt x="40" y="51"/>
                  <a:pt x="51" y="39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Freeform 52">
            <a:extLst>
              <a:ext uri="{FF2B5EF4-FFF2-40B4-BE49-F238E27FC236}">
                <a16:creationId xmlns:a16="http://schemas.microsoft.com/office/drawing/2014/main" id="{4EEEDA26-534B-4C80-B6CC-2211349E8F01}"/>
              </a:ext>
            </a:extLst>
          </p:cNvPr>
          <p:cNvSpPr>
            <a:spLocks/>
          </p:cNvSpPr>
          <p:nvPr/>
        </p:nvSpPr>
        <p:spPr bwMode="auto">
          <a:xfrm>
            <a:off x="3445689" y="20046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Freeform 53">
            <a:extLst>
              <a:ext uri="{FF2B5EF4-FFF2-40B4-BE49-F238E27FC236}">
                <a16:creationId xmlns:a16="http://schemas.microsoft.com/office/drawing/2014/main" id="{08BA3F0B-87BE-40EC-A287-0DC7EDA14964}"/>
              </a:ext>
            </a:extLst>
          </p:cNvPr>
          <p:cNvSpPr>
            <a:spLocks/>
          </p:cNvSpPr>
          <p:nvPr/>
        </p:nvSpPr>
        <p:spPr bwMode="auto">
          <a:xfrm>
            <a:off x="3445689" y="2004682"/>
            <a:ext cx="649288" cy="539750"/>
          </a:xfrm>
          <a:custGeom>
            <a:avLst/>
            <a:gdLst>
              <a:gd name="T0" fmla="*/ 2147483647 w 651"/>
              <a:gd name="T1" fmla="*/ 2147483647 h 499"/>
              <a:gd name="T2" fmla="*/ 0 w 651"/>
              <a:gd name="T3" fmla="*/ 2147483647 h 499"/>
              <a:gd name="T4" fmla="*/ 0 w 651"/>
              <a:gd name="T5" fmla="*/ 0 h 499"/>
              <a:gd name="T6" fmla="*/ 2147483647 w 651"/>
              <a:gd name="T7" fmla="*/ 0 h 499"/>
              <a:gd name="T8" fmla="*/ 2147483647 w 651"/>
              <a:gd name="T9" fmla="*/ 2147483647 h 499"/>
              <a:gd name="T10" fmla="*/ 2147483647 w 651"/>
              <a:gd name="T11" fmla="*/ 2147483647 h 499"/>
              <a:gd name="T12" fmla="*/ 2147483647 w 651"/>
              <a:gd name="T13" fmla="*/ 2147483647 h 4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499"/>
              <a:gd name="T23" fmla="*/ 651 w 651"/>
              <a:gd name="T24" fmla="*/ 499 h 4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499">
                <a:moveTo>
                  <a:pt x="400" y="499"/>
                </a:moveTo>
                <a:lnTo>
                  <a:pt x="0" y="499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499"/>
                  <a:pt x="400" y="499"/>
                </a:cubicBezTo>
                <a:cubicBezTo>
                  <a:pt x="400" y="499"/>
                  <a:pt x="400" y="499"/>
                  <a:pt x="400" y="499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3" name="Freeform 54">
            <a:extLst>
              <a:ext uri="{FF2B5EF4-FFF2-40B4-BE49-F238E27FC236}">
                <a16:creationId xmlns:a16="http://schemas.microsoft.com/office/drawing/2014/main" id="{46921568-E1E0-4206-B7B6-8896DF3E8753}"/>
              </a:ext>
            </a:extLst>
          </p:cNvPr>
          <p:cNvSpPr>
            <a:spLocks noEditPoints="1"/>
          </p:cNvSpPr>
          <p:nvPr/>
        </p:nvSpPr>
        <p:spPr bwMode="auto">
          <a:xfrm>
            <a:off x="3271064" y="5347957"/>
            <a:ext cx="1000125" cy="269875"/>
          </a:xfrm>
          <a:custGeom>
            <a:avLst/>
            <a:gdLst>
              <a:gd name="T0" fmla="*/ 0 w 682"/>
              <a:gd name="T1" fmla="*/ 0 h 170"/>
              <a:gd name="T2" fmla="*/ 2147483647 w 682"/>
              <a:gd name="T3" fmla="*/ 0 h 170"/>
              <a:gd name="T4" fmla="*/ 0 w 682"/>
              <a:gd name="T5" fmla="*/ 2147483647 h 170"/>
              <a:gd name="T6" fmla="*/ 2147483647 w 682"/>
              <a:gd name="T7" fmla="*/ 2147483647 h 170"/>
              <a:gd name="T8" fmla="*/ 2147483647 w 682"/>
              <a:gd name="T9" fmla="*/ 2147483647 h 170"/>
              <a:gd name="T10" fmla="*/ 2147483647 w 682"/>
              <a:gd name="T11" fmla="*/ 2147483647 h 1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2"/>
              <a:gd name="T19" fmla="*/ 0 h 170"/>
              <a:gd name="T20" fmla="*/ 682 w 682"/>
              <a:gd name="T21" fmla="*/ 170 h 1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2" h="170">
                <a:moveTo>
                  <a:pt x="0" y="0"/>
                </a:moveTo>
                <a:lnTo>
                  <a:pt x="340" y="0"/>
                </a:lnTo>
                <a:moveTo>
                  <a:pt x="0" y="170"/>
                </a:moveTo>
                <a:lnTo>
                  <a:pt x="340" y="170"/>
                </a:lnTo>
                <a:moveTo>
                  <a:pt x="682" y="85"/>
                </a:moveTo>
                <a:lnTo>
                  <a:pt x="340" y="85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Freeform 55">
            <a:extLst>
              <a:ext uri="{FF2B5EF4-FFF2-40B4-BE49-F238E27FC236}">
                <a16:creationId xmlns:a16="http://schemas.microsoft.com/office/drawing/2014/main" id="{4BA479CF-CCC7-470D-8DEE-4D3C456DA2DA}"/>
              </a:ext>
            </a:extLst>
          </p:cNvPr>
          <p:cNvSpPr>
            <a:spLocks/>
          </p:cNvSpPr>
          <p:nvPr/>
        </p:nvSpPr>
        <p:spPr bwMode="auto">
          <a:xfrm>
            <a:off x="3445689" y="521302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Freeform 56">
            <a:extLst>
              <a:ext uri="{FF2B5EF4-FFF2-40B4-BE49-F238E27FC236}">
                <a16:creationId xmlns:a16="http://schemas.microsoft.com/office/drawing/2014/main" id="{6E785DFD-FBE2-4DCA-8F43-867F3EF5A400}"/>
              </a:ext>
            </a:extLst>
          </p:cNvPr>
          <p:cNvSpPr>
            <a:spLocks/>
          </p:cNvSpPr>
          <p:nvPr/>
        </p:nvSpPr>
        <p:spPr bwMode="auto">
          <a:xfrm>
            <a:off x="3445689" y="521302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2147483647 w 651"/>
              <a:gd name="T3" fmla="*/ 2147483647 h 500"/>
              <a:gd name="T4" fmla="*/ 0 w 651"/>
              <a:gd name="T5" fmla="*/ 2147483647 h 500"/>
              <a:gd name="T6" fmla="*/ 0 w 651"/>
              <a:gd name="T7" fmla="*/ 0 h 500"/>
              <a:gd name="T8" fmla="*/ 0 w 651"/>
              <a:gd name="T9" fmla="*/ 0 h 500"/>
              <a:gd name="T10" fmla="*/ 2147483647 w 651"/>
              <a:gd name="T11" fmla="*/ 0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651" y="250"/>
                </a:moveTo>
                <a:cubicBezTo>
                  <a:pt x="573" y="373"/>
                  <a:pt x="404" y="466"/>
                  <a:pt x="195" y="500"/>
                </a:cubicBezTo>
                <a:lnTo>
                  <a:pt x="0" y="500"/>
                </a:lnTo>
                <a:cubicBezTo>
                  <a:pt x="121" y="341"/>
                  <a:pt x="121" y="158"/>
                  <a:pt x="0" y="0"/>
                </a:cubicBezTo>
                <a:lnTo>
                  <a:pt x="195" y="0"/>
                </a:lnTo>
                <a:cubicBezTo>
                  <a:pt x="404" y="33"/>
                  <a:pt x="574" y="126"/>
                  <a:pt x="651" y="25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Freeform 57">
            <a:extLst>
              <a:ext uri="{FF2B5EF4-FFF2-40B4-BE49-F238E27FC236}">
                <a16:creationId xmlns:a16="http://schemas.microsoft.com/office/drawing/2014/main" id="{4CA18432-513E-4F0A-8445-7ACA93008F87}"/>
              </a:ext>
            </a:extLst>
          </p:cNvPr>
          <p:cNvSpPr>
            <a:spLocks/>
          </p:cNvSpPr>
          <p:nvPr/>
        </p:nvSpPr>
        <p:spPr bwMode="auto">
          <a:xfrm>
            <a:off x="4093389" y="5441620"/>
            <a:ext cx="74613" cy="80962"/>
          </a:xfrm>
          <a:custGeom>
            <a:avLst/>
            <a:gdLst>
              <a:gd name="T0" fmla="*/ 2147483647 w 75"/>
              <a:gd name="T1" fmla="*/ 2147483647 h 75"/>
              <a:gd name="T2" fmla="*/ 2147483647 w 75"/>
              <a:gd name="T3" fmla="*/ 0 h 75"/>
              <a:gd name="T4" fmla="*/ 0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"/>
              <a:gd name="T19" fmla="*/ 0 h 75"/>
              <a:gd name="T20" fmla="*/ 75 w 75"/>
              <a:gd name="T21" fmla="*/ 75 h 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" h="75">
                <a:moveTo>
                  <a:pt x="75" y="38"/>
                </a:moveTo>
                <a:cubicBezTo>
                  <a:pt x="75" y="17"/>
                  <a:pt x="58" y="0"/>
                  <a:pt x="37" y="0"/>
                </a:cubicBezTo>
                <a:cubicBezTo>
                  <a:pt x="16" y="0"/>
                  <a:pt x="0" y="17"/>
                  <a:pt x="0" y="38"/>
                </a:cubicBezTo>
                <a:cubicBezTo>
                  <a:pt x="0" y="58"/>
                  <a:pt x="16" y="75"/>
                  <a:pt x="37" y="75"/>
                </a:cubicBezTo>
                <a:cubicBezTo>
                  <a:pt x="58" y="75"/>
                  <a:pt x="75" y="58"/>
                  <a:pt x="75" y="38"/>
                </a:cubicBezTo>
                <a:cubicBezTo>
                  <a:pt x="75" y="38"/>
                  <a:pt x="75" y="38"/>
                  <a:pt x="75" y="38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Freeform 58">
            <a:extLst>
              <a:ext uri="{FF2B5EF4-FFF2-40B4-BE49-F238E27FC236}">
                <a16:creationId xmlns:a16="http://schemas.microsoft.com/office/drawing/2014/main" id="{A51E26BD-1C34-4156-8DAD-2C88CBBEC955}"/>
              </a:ext>
            </a:extLst>
          </p:cNvPr>
          <p:cNvSpPr>
            <a:spLocks/>
          </p:cNvSpPr>
          <p:nvPr/>
        </p:nvSpPr>
        <p:spPr bwMode="auto">
          <a:xfrm>
            <a:off x="4093389" y="5441620"/>
            <a:ext cx="74613" cy="80962"/>
          </a:xfrm>
          <a:custGeom>
            <a:avLst/>
            <a:gdLst>
              <a:gd name="T0" fmla="*/ 2147483647 w 51"/>
              <a:gd name="T1" fmla="*/ 2147483647 h 51"/>
              <a:gd name="T2" fmla="*/ 2147483647 w 51"/>
              <a:gd name="T3" fmla="*/ 0 h 51"/>
              <a:gd name="T4" fmla="*/ 0 w 51"/>
              <a:gd name="T5" fmla="*/ 2147483647 h 51"/>
              <a:gd name="T6" fmla="*/ 2147483647 w 51"/>
              <a:gd name="T7" fmla="*/ 2147483647 h 51"/>
              <a:gd name="T8" fmla="*/ 2147483647 w 51"/>
              <a:gd name="T9" fmla="*/ 2147483647 h 51"/>
              <a:gd name="T10" fmla="*/ 2147483647 w 51"/>
              <a:gd name="T11" fmla="*/ 2147483647 h 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"/>
              <a:gd name="T19" fmla="*/ 0 h 51"/>
              <a:gd name="T20" fmla="*/ 51 w 51"/>
              <a:gd name="T21" fmla="*/ 51 h 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" h="51">
                <a:moveTo>
                  <a:pt x="51" y="26"/>
                </a:moveTo>
                <a:cubicBezTo>
                  <a:pt x="51" y="12"/>
                  <a:pt x="40" y="0"/>
                  <a:pt x="25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40"/>
                  <a:pt x="11" y="51"/>
                  <a:pt x="25" y="51"/>
                </a:cubicBezTo>
                <a:cubicBezTo>
                  <a:pt x="40" y="51"/>
                  <a:pt x="51" y="40"/>
                  <a:pt x="51" y="26"/>
                </a:cubicBezTo>
                <a:cubicBezTo>
                  <a:pt x="51" y="26"/>
                  <a:pt x="51" y="26"/>
                  <a:pt x="51" y="26"/>
                </a:cubicBez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Freeform 59">
            <a:extLst>
              <a:ext uri="{FF2B5EF4-FFF2-40B4-BE49-F238E27FC236}">
                <a16:creationId xmlns:a16="http://schemas.microsoft.com/office/drawing/2014/main" id="{C9F530D2-0274-4F39-8AE7-435D2E7A6F77}"/>
              </a:ext>
            </a:extLst>
          </p:cNvPr>
          <p:cNvSpPr>
            <a:spLocks/>
          </p:cNvSpPr>
          <p:nvPr/>
        </p:nvSpPr>
        <p:spPr bwMode="auto">
          <a:xfrm>
            <a:off x="3445689" y="521302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G1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9" name="Freeform 60">
            <a:extLst>
              <a:ext uri="{FF2B5EF4-FFF2-40B4-BE49-F238E27FC236}">
                <a16:creationId xmlns:a16="http://schemas.microsoft.com/office/drawing/2014/main" id="{A2670A1B-AD41-4C29-B1FF-F8B1FEEAA686}"/>
              </a:ext>
            </a:extLst>
          </p:cNvPr>
          <p:cNvSpPr>
            <a:spLocks/>
          </p:cNvSpPr>
          <p:nvPr/>
        </p:nvSpPr>
        <p:spPr bwMode="auto">
          <a:xfrm>
            <a:off x="3445689" y="5213020"/>
            <a:ext cx="649288" cy="539750"/>
          </a:xfrm>
          <a:custGeom>
            <a:avLst/>
            <a:gdLst>
              <a:gd name="T0" fmla="*/ 2147483647 w 651"/>
              <a:gd name="T1" fmla="*/ 2147483647 h 500"/>
              <a:gd name="T2" fmla="*/ 0 w 651"/>
              <a:gd name="T3" fmla="*/ 2147483647 h 500"/>
              <a:gd name="T4" fmla="*/ 0 w 651"/>
              <a:gd name="T5" fmla="*/ 0 h 500"/>
              <a:gd name="T6" fmla="*/ 2147483647 w 651"/>
              <a:gd name="T7" fmla="*/ 0 h 500"/>
              <a:gd name="T8" fmla="*/ 2147483647 w 651"/>
              <a:gd name="T9" fmla="*/ 2147483647 h 500"/>
              <a:gd name="T10" fmla="*/ 2147483647 w 651"/>
              <a:gd name="T11" fmla="*/ 2147483647 h 500"/>
              <a:gd name="T12" fmla="*/ 2147483647 w 651"/>
              <a:gd name="T13" fmla="*/ 2147483647 h 5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1"/>
              <a:gd name="T22" fmla="*/ 0 h 500"/>
              <a:gd name="T23" fmla="*/ 651 w 651"/>
              <a:gd name="T24" fmla="*/ 500 h 5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1" h="500">
                <a:moveTo>
                  <a:pt x="400" y="500"/>
                </a:moveTo>
                <a:lnTo>
                  <a:pt x="0" y="500"/>
                </a:lnTo>
                <a:lnTo>
                  <a:pt x="0" y="0"/>
                </a:lnTo>
                <a:lnTo>
                  <a:pt x="400" y="0"/>
                </a:lnTo>
                <a:cubicBezTo>
                  <a:pt x="539" y="0"/>
                  <a:pt x="651" y="112"/>
                  <a:pt x="651" y="250"/>
                </a:cubicBezTo>
                <a:cubicBezTo>
                  <a:pt x="651" y="388"/>
                  <a:pt x="539" y="500"/>
                  <a:pt x="400" y="500"/>
                </a:cubicBezTo>
                <a:cubicBezTo>
                  <a:pt x="400" y="500"/>
                  <a:pt x="400" y="500"/>
                  <a:pt x="400" y="500"/>
                </a:cubicBezTo>
                <a:close/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Freeform 61">
            <a:extLst>
              <a:ext uri="{FF2B5EF4-FFF2-40B4-BE49-F238E27FC236}">
                <a16:creationId xmlns:a16="http://schemas.microsoft.com/office/drawing/2014/main" id="{D0B1E437-FFD4-4576-803C-8DFF324C2881}"/>
              </a:ext>
            </a:extLst>
          </p:cNvPr>
          <p:cNvSpPr>
            <a:spLocks/>
          </p:cNvSpPr>
          <p:nvPr/>
        </p:nvSpPr>
        <p:spPr bwMode="auto">
          <a:xfrm>
            <a:off x="3058339" y="2401557"/>
            <a:ext cx="1212850" cy="782638"/>
          </a:xfrm>
          <a:custGeom>
            <a:avLst/>
            <a:gdLst>
              <a:gd name="T0" fmla="*/ 2147483647 w 827"/>
              <a:gd name="T1" fmla="*/ 0 h 493"/>
              <a:gd name="T2" fmla="*/ 0 w 827"/>
              <a:gd name="T3" fmla="*/ 0 h 493"/>
              <a:gd name="T4" fmla="*/ 0 w 827"/>
              <a:gd name="T5" fmla="*/ 2147483647 h 493"/>
              <a:gd name="T6" fmla="*/ 2147483647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145" y="0"/>
                </a:moveTo>
                <a:lnTo>
                  <a:pt x="0" y="0"/>
                </a:lnTo>
                <a:lnTo>
                  <a:pt x="0" y="106"/>
                </a:lnTo>
                <a:lnTo>
                  <a:pt x="827" y="353"/>
                </a:lnTo>
                <a:lnTo>
                  <a:pt x="827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Freeform 62">
            <a:extLst>
              <a:ext uri="{FF2B5EF4-FFF2-40B4-BE49-F238E27FC236}">
                <a16:creationId xmlns:a16="http://schemas.microsoft.com/office/drawing/2014/main" id="{C59B5CD8-256A-4A36-9C44-890653BBCED7}"/>
              </a:ext>
            </a:extLst>
          </p:cNvPr>
          <p:cNvSpPr>
            <a:spLocks/>
          </p:cNvSpPr>
          <p:nvPr/>
        </p:nvSpPr>
        <p:spPr bwMode="auto">
          <a:xfrm>
            <a:off x="4217214" y="3127045"/>
            <a:ext cx="104775" cy="112712"/>
          </a:xfrm>
          <a:custGeom>
            <a:avLst/>
            <a:gdLst>
              <a:gd name="T0" fmla="*/ 2147483647 w 104"/>
              <a:gd name="T1" fmla="*/ 0 h 104"/>
              <a:gd name="T2" fmla="*/ 0 w 104"/>
              <a:gd name="T3" fmla="*/ 2147483647 h 104"/>
              <a:gd name="T4" fmla="*/ 2147483647 w 104"/>
              <a:gd name="T5" fmla="*/ 2147483647 h 104"/>
              <a:gd name="T6" fmla="*/ 2147483647 w 104"/>
              <a:gd name="T7" fmla="*/ 2147483647 h 104"/>
              <a:gd name="T8" fmla="*/ 2147483647 w 104"/>
              <a:gd name="T9" fmla="*/ 2147483647 h 104"/>
              <a:gd name="T10" fmla="*/ 2147483647 w 104"/>
              <a:gd name="T11" fmla="*/ 0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0"/>
                </a:moveTo>
                <a:cubicBezTo>
                  <a:pt x="23" y="0"/>
                  <a:pt x="0" y="23"/>
                  <a:pt x="0" y="52"/>
                </a:cubicBezTo>
                <a:cubicBezTo>
                  <a:pt x="0" y="80"/>
                  <a:pt x="23" y="104"/>
                  <a:pt x="5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81" y="104"/>
                  <a:pt x="104" y="80"/>
                  <a:pt x="104" y="52"/>
                </a:cubicBezTo>
                <a:cubicBezTo>
                  <a:pt x="104" y="23"/>
                  <a:pt x="81" y="0"/>
                  <a:pt x="52" y="0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Freeform 63">
            <a:extLst>
              <a:ext uri="{FF2B5EF4-FFF2-40B4-BE49-F238E27FC236}">
                <a16:creationId xmlns:a16="http://schemas.microsoft.com/office/drawing/2014/main" id="{60895C2D-C6A4-46A9-96A6-6EE8FEE2AF94}"/>
              </a:ext>
            </a:extLst>
          </p:cNvPr>
          <p:cNvSpPr>
            <a:spLocks/>
          </p:cNvSpPr>
          <p:nvPr/>
        </p:nvSpPr>
        <p:spPr bwMode="auto">
          <a:xfrm>
            <a:off x="3058339" y="2266620"/>
            <a:ext cx="1212850" cy="782637"/>
          </a:xfrm>
          <a:custGeom>
            <a:avLst/>
            <a:gdLst>
              <a:gd name="T0" fmla="*/ 2147483647 w 827"/>
              <a:gd name="T1" fmla="*/ 0 h 493"/>
              <a:gd name="T2" fmla="*/ 2147483647 w 827"/>
              <a:gd name="T3" fmla="*/ 2147483647 h 493"/>
              <a:gd name="T4" fmla="*/ 0 w 827"/>
              <a:gd name="T5" fmla="*/ 2147483647 h 493"/>
              <a:gd name="T6" fmla="*/ 0 w 827"/>
              <a:gd name="T7" fmla="*/ 2147483647 h 493"/>
              <a:gd name="T8" fmla="*/ 2147483647 w 827"/>
              <a:gd name="T9" fmla="*/ 2147483647 h 4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93"/>
              <a:gd name="T17" fmla="*/ 827 w 827"/>
              <a:gd name="T18" fmla="*/ 493 h 4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93">
                <a:moveTo>
                  <a:pt x="827" y="0"/>
                </a:moveTo>
                <a:lnTo>
                  <a:pt x="827" y="191"/>
                </a:lnTo>
                <a:lnTo>
                  <a:pt x="0" y="397"/>
                </a:lnTo>
                <a:lnTo>
                  <a:pt x="0" y="490"/>
                </a:lnTo>
                <a:lnTo>
                  <a:pt x="145" y="493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Freeform 64">
            <a:extLst>
              <a:ext uri="{FF2B5EF4-FFF2-40B4-BE49-F238E27FC236}">
                <a16:creationId xmlns:a16="http://schemas.microsoft.com/office/drawing/2014/main" id="{653B9E54-02DE-4C9A-8B77-BC5AA34A370A}"/>
              </a:ext>
            </a:extLst>
          </p:cNvPr>
          <p:cNvSpPr>
            <a:spLocks/>
          </p:cNvSpPr>
          <p:nvPr/>
        </p:nvSpPr>
        <p:spPr bwMode="auto">
          <a:xfrm>
            <a:off x="3044052" y="3317545"/>
            <a:ext cx="227012" cy="1306512"/>
          </a:xfrm>
          <a:custGeom>
            <a:avLst/>
            <a:gdLst>
              <a:gd name="T0" fmla="*/ 2147483647 w 155"/>
              <a:gd name="T1" fmla="*/ 0 h 823"/>
              <a:gd name="T2" fmla="*/ 0 w 155"/>
              <a:gd name="T3" fmla="*/ 0 h 823"/>
              <a:gd name="T4" fmla="*/ 0 w 155"/>
              <a:gd name="T5" fmla="*/ 2147483647 h 823"/>
              <a:gd name="T6" fmla="*/ 2147483647 w 155"/>
              <a:gd name="T7" fmla="*/ 2147483647 h 823"/>
              <a:gd name="T8" fmla="*/ 0 60000 65536"/>
              <a:gd name="T9" fmla="*/ 0 60000 65536"/>
              <a:gd name="T10" fmla="*/ 0 60000 65536"/>
              <a:gd name="T11" fmla="*/ 0 60000 65536"/>
              <a:gd name="T12" fmla="*/ 0 w 155"/>
              <a:gd name="T13" fmla="*/ 0 h 823"/>
              <a:gd name="T14" fmla="*/ 155 w 155"/>
              <a:gd name="T15" fmla="*/ 823 h 8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" h="823">
                <a:moveTo>
                  <a:pt x="155" y="0"/>
                </a:moveTo>
                <a:lnTo>
                  <a:pt x="0" y="0"/>
                </a:lnTo>
                <a:lnTo>
                  <a:pt x="0" y="823"/>
                </a:lnTo>
                <a:lnTo>
                  <a:pt x="155" y="823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Freeform 65">
            <a:extLst>
              <a:ext uri="{FF2B5EF4-FFF2-40B4-BE49-F238E27FC236}">
                <a16:creationId xmlns:a16="http://schemas.microsoft.com/office/drawing/2014/main" id="{ED043BFB-3646-4907-AA3C-70D006BC9F6E}"/>
              </a:ext>
            </a:extLst>
          </p:cNvPr>
          <p:cNvSpPr>
            <a:spLocks/>
          </p:cNvSpPr>
          <p:nvPr/>
        </p:nvSpPr>
        <p:spPr bwMode="auto">
          <a:xfrm>
            <a:off x="3153589" y="3184195"/>
            <a:ext cx="1117600" cy="1303337"/>
          </a:xfrm>
          <a:custGeom>
            <a:avLst/>
            <a:gdLst>
              <a:gd name="T0" fmla="*/ 2147483647 w 762"/>
              <a:gd name="T1" fmla="*/ 2147483647 h 821"/>
              <a:gd name="T2" fmla="*/ 0 w 762"/>
              <a:gd name="T3" fmla="*/ 2147483647 h 821"/>
              <a:gd name="T4" fmla="*/ 0 w 762"/>
              <a:gd name="T5" fmla="*/ 2147483647 h 821"/>
              <a:gd name="T6" fmla="*/ 2147483647 w 762"/>
              <a:gd name="T7" fmla="*/ 2147483647 h 821"/>
              <a:gd name="T8" fmla="*/ 2147483647 w 762"/>
              <a:gd name="T9" fmla="*/ 0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2"/>
              <a:gd name="T16" fmla="*/ 0 h 821"/>
              <a:gd name="T17" fmla="*/ 762 w 762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2" h="821">
                <a:moveTo>
                  <a:pt x="80" y="821"/>
                </a:moveTo>
                <a:lnTo>
                  <a:pt x="0" y="821"/>
                </a:lnTo>
                <a:lnTo>
                  <a:pt x="0" y="657"/>
                </a:lnTo>
                <a:lnTo>
                  <a:pt x="762" y="657"/>
                </a:lnTo>
                <a:lnTo>
                  <a:pt x="762" y="0"/>
                </a:lnTo>
              </a:path>
            </a:pathLst>
          </a:custGeom>
          <a:noFill/>
          <a:ln w="476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Freeform 66">
            <a:extLst>
              <a:ext uri="{FF2B5EF4-FFF2-40B4-BE49-F238E27FC236}">
                <a16:creationId xmlns:a16="http://schemas.microsoft.com/office/drawing/2014/main" id="{FFFB0E87-D7C4-4581-BEAC-AE744B7054FF}"/>
              </a:ext>
            </a:extLst>
          </p:cNvPr>
          <p:cNvSpPr>
            <a:spLocks/>
          </p:cNvSpPr>
          <p:nvPr/>
        </p:nvSpPr>
        <p:spPr bwMode="auto">
          <a:xfrm>
            <a:off x="3058339" y="4624057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2147483647 w 827"/>
              <a:gd name="T3" fmla="*/ 2147483647 h 456"/>
              <a:gd name="T4" fmla="*/ 0 w 827"/>
              <a:gd name="T5" fmla="*/ 2147483647 h 456"/>
              <a:gd name="T6" fmla="*/ 0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827" y="0"/>
                </a:moveTo>
                <a:lnTo>
                  <a:pt x="827" y="149"/>
                </a:lnTo>
                <a:lnTo>
                  <a:pt x="0" y="355"/>
                </a:lnTo>
                <a:lnTo>
                  <a:pt x="0" y="453"/>
                </a:lnTo>
                <a:lnTo>
                  <a:pt x="145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Freeform 67">
            <a:extLst>
              <a:ext uri="{FF2B5EF4-FFF2-40B4-BE49-F238E27FC236}">
                <a16:creationId xmlns:a16="http://schemas.microsoft.com/office/drawing/2014/main" id="{FC58F0F3-8407-413E-ACAF-078CD305DE59}"/>
              </a:ext>
            </a:extLst>
          </p:cNvPr>
          <p:cNvSpPr>
            <a:spLocks/>
          </p:cNvSpPr>
          <p:nvPr/>
        </p:nvSpPr>
        <p:spPr bwMode="auto">
          <a:xfrm>
            <a:off x="4217214" y="4566907"/>
            <a:ext cx="104775" cy="112713"/>
          </a:xfrm>
          <a:custGeom>
            <a:avLst/>
            <a:gdLst>
              <a:gd name="T0" fmla="*/ 2147483647 w 104"/>
              <a:gd name="T1" fmla="*/ 2147483647 h 104"/>
              <a:gd name="T2" fmla="*/ 2147483647 w 104"/>
              <a:gd name="T3" fmla="*/ 2147483647 h 104"/>
              <a:gd name="T4" fmla="*/ 2147483647 w 104"/>
              <a:gd name="T5" fmla="*/ 0 h 104"/>
              <a:gd name="T6" fmla="*/ 2147483647 w 104"/>
              <a:gd name="T7" fmla="*/ 0 h 104"/>
              <a:gd name="T8" fmla="*/ 0 w 104"/>
              <a:gd name="T9" fmla="*/ 2147483647 h 104"/>
              <a:gd name="T10" fmla="*/ 2147483647 w 104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4"/>
              <a:gd name="T20" fmla="*/ 104 w 104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4">
                <a:moveTo>
                  <a:pt x="52" y="104"/>
                </a:moveTo>
                <a:cubicBezTo>
                  <a:pt x="81" y="104"/>
                  <a:pt x="104" y="81"/>
                  <a:pt x="104" y="52"/>
                </a:cubicBezTo>
                <a:cubicBezTo>
                  <a:pt x="104" y="24"/>
                  <a:pt x="81" y="0"/>
                  <a:pt x="5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4"/>
                  <a:pt x="0" y="52"/>
                </a:cubicBezTo>
                <a:cubicBezTo>
                  <a:pt x="0" y="81"/>
                  <a:pt x="23" y="104"/>
                  <a:pt x="52" y="104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Freeform 68">
            <a:extLst>
              <a:ext uri="{FF2B5EF4-FFF2-40B4-BE49-F238E27FC236}">
                <a16:creationId xmlns:a16="http://schemas.microsoft.com/office/drawing/2014/main" id="{94AFFAD0-98DE-4E2B-8088-5F24CDE3B0F4}"/>
              </a:ext>
            </a:extLst>
          </p:cNvPr>
          <p:cNvSpPr>
            <a:spLocks/>
          </p:cNvSpPr>
          <p:nvPr/>
        </p:nvSpPr>
        <p:spPr bwMode="auto">
          <a:xfrm>
            <a:off x="3058339" y="4758995"/>
            <a:ext cx="1212850" cy="723900"/>
          </a:xfrm>
          <a:custGeom>
            <a:avLst/>
            <a:gdLst>
              <a:gd name="T0" fmla="*/ 2147483647 w 827"/>
              <a:gd name="T1" fmla="*/ 0 h 456"/>
              <a:gd name="T2" fmla="*/ 0 w 827"/>
              <a:gd name="T3" fmla="*/ 0 h 456"/>
              <a:gd name="T4" fmla="*/ 0 w 827"/>
              <a:gd name="T5" fmla="*/ 2147483647 h 456"/>
              <a:gd name="T6" fmla="*/ 2147483647 w 827"/>
              <a:gd name="T7" fmla="*/ 2147483647 h 456"/>
              <a:gd name="T8" fmla="*/ 2147483647 w 827"/>
              <a:gd name="T9" fmla="*/ 2147483647 h 4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27"/>
              <a:gd name="T16" fmla="*/ 0 h 456"/>
              <a:gd name="T17" fmla="*/ 827 w 827"/>
              <a:gd name="T18" fmla="*/ 456 h 4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27" h="456">
                <a:moveTo>
                  <a:pt x="145" y="0"/>
                </a:moveTo>
                <a:lnTo>
                  <a:pt x="0" y="0"/>
                </a:lnTo>
                <a:lnTo>
                  <a:pt x="0" y="116"/>
                </a:lnTo>
                <a:lnTo>
                  <a:pt x="827" y="312"/>
                </a:lnTo>
                <a:lnTo>
                  <a:pt x="827" y="456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Line 69">
            <a:extLst>
              <a:ext uri="{FF2B5EF4-FFF2-40B4-BE49-F238E27FC236}">
                <a16:creationId xmlns:a16="http://schemas.microsoft.com/office/drawing/2014/main" id="{EEFCBFB5-7792-49F6-AB41-A3A0ECE814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5889" y="5605132"/>
            <a:ext cx="765175" cy="1588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Freeform 70">
            <a:extLst>
              <a:ext uri="{FF2B5EF4-FFF2-40B4-BE49-F238E27FC236}">
                <a16:creationId xmlns:a16="http://schemas.microsoft.com/office/drawing/2014/main" id="{6B91C80F-0206-4006-A632-F69F4240E28D}"/>
              </a:ext>
            </a:extLst>
          </p:cNvPr>
          <p:cNvSpPr>
            <a:spLocks/>
          </p:cNvSpPr>
          <p:nvPr/>
        </p:nvSpPr>
        <p:spPr bwMode="auto">
          <a:xfrm>
            <a:off x="2907527" y="2144382"/>
            <a:ext cx="363537" cy="2798763"/>
          </a:xfrm>
          <a:custGeom>
            <a:avLst/>
            <a:gdLst>
              <a:gd name="T0" fmla="*/ 2147483647 w 248"/>
              <a:gd name="T1" fmla="*/ 2147483647 h 1763"/>
              <a:gd name="T2" fmla="*/ 0 w 248"/>
              <a:gd name="T3" fmla="*/ 2147483647 h 1763"/>
              <a:gd name="T4" fmla="*/ 0 w 248"/>
              <a:gd name="T5" fmla="*/ 0 h 1763"/>
              <a:gd name="T6" fmla="*/ 2147483647 w 248"/>
              <a:gd name="T7" fmla="*/ 0 h 1763"/>
              <a:gd name="T8" fmla="*/ 0 60000 65536"/>
              <a:gd name="T9" fmla="*/ 0 60000 65536"/>
              <a:gd name="T10" fmla="*/ 0 60000 65536"/>
              <a:gd name="T11" fmla="*/ 0 60000 65536"/>
              <a:gd name="T12" fmla="*/ 0 w 248"/>
              <a:gd name="T13" fmla="*/ 0 h 1763"/>
              <a:gd name="T14" fmla="*/ 248 w 248"/>
              <a:gd name="T15" fmla="*/ 1763 h 17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" h="1763">
                <a:moveTo>
                  <a:pt x="103" y="1763"/>
                </a:moveTo>
                <a:lnTo>
                  <a:pt x="0" y="1763"/>
                </a:lnTo>
                <a:lnTo>
                  <a:pt x="0" y="0"/>
                </a:lnTo>
                <a:lnTo>
                  <a:pt x="248" y="0"/>
                </a:lnTo>
              </a:path>
            </a:pathLst>
          </a:cu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Freeform 71">
            <a:extLst>
              <a:ext uri="{FF2B5EF4-FFF2-40B4-BE49-F238E27FC236}">
                <a16:creationId xmlns:a16="http://schemas.microsoft.com/office/drawing/2014/main" id="{A3485B19-7C5C-4CC4-9B85-CDEC90A88676}"/>
              </a:ext>
            </a:extLst>
          </p:cNvPr>
          <p:cNvSpPr>
            <a:spLocks/>
          </p:cNvSpPr>
          <p:nvPr/>
        </p:nvSpPr>
        <p:spPr bwMode="auto">
          <a:xfrm>
            <a:off x="3005952" y="4887582"/>
            <a:ext cx="103187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1"/>
                </a:moveTo>
                <a:cubicBezTo>
                  <a:pt x="0" y="80"/>
                  <a:pt x="24" y="103"/>
                  <a:pt x="52" y="103"/>
                </a:cubicBezTo>
                <a:cubicBezTo>
                  <a:pt x="81" y="103"/>
                  <a:pt x="104" y="80"/>
                  <a:pt x="104" y="51"/>
                </a:cubicBezTo>
                <a:cubicBezTo>
                  <a:pt x="104" y="51"/>
                  <a:pt x="104" y="51"/>
                  <a:pt x="104" y="51"/>
                </a:cubicBezTo>
                <a:cubicBezTo>
                  <a:pt x="104" y="23"/>
                  <a:pt x="81" y="0"/>
                  <a:pt x="52" y="0"/>
                </a:cubicBezTo>
                <a:cubicBezTo>
                  <a:pt x="24" y="0"/>
                  <a:pt x="0" y="23"/>
                  <a:pt x="0" y="51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Line 72">
            <a:extLst>
              <a:ext uri="{FF2B5EF4-FFF2-40B4-BE49-F238E27FC236}">
                <a16:creationId xmlns:a16="http://schemas.microsoft.com/office/drawing/2014/main" id="{9F974EF9-446A-4513-BB1A-D099993DAC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1914" y="3977945"/>
            <a:ext cx="592138" cy="1587"/>
          </a:xfrm>
          <a:prstGeom prst="line">
            <a:avLst/>
          </a:prstGeom>
          <a:noFill/>
          <a:ln w="158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Freeform 73">
            <a:extLst>
              <a:ext uri="{FF2B5EF4-FFF2-40B4-BE49-F238E27FC236}">
                <a16:creationId xmlns:a16="http://schemas.microsoft.com/office/drawing/2014/main" id="{C4365590-C244-46B9-8EBA-3A9F95C6C945}"/>
              </a:ext>
            </a:extLst>
          </p:cNvPr>
          <p:cNvSpPr>
            <a:spLocks/>
          </p:cNvSpPr>
          <p:nvPr/>
        </p:nvSpPr>
        <p:spPr bwMode="auto">
          <a:xfrm>
            <a:off x="2991664" y="3922382"/>
            <a:ext cx="103188" cy="111125"/>
          </a:xfrm>
          <a:custGeom>
            <a:avLst/>
            <a:gdLst>
              <a:gd name="T0" fmla="*/ 0 w 104"/>
              <a:gd name="T1" fmla="*/ 2147483647 h 103"/>
              <a:gd name="T2" fmla="*/ 2147483647 w 104"/>
              <a:gd name="T3" fmla="*/ 2147483647 h 103"/>
              <a:gd name="T4" fmla="*/ 2147483647 w 104"/>
              <a:gd name="T5" fmla="*/ 2147483647 h 103"/>
              <a:gd name="T6" fmla="*/ 2147483647 w 104"/>
              <a:gd name="T7" fmla="*/ 2147483647 h 103"/>
              <a:gd name="T8" fmla="*/ 2147483647 w 104"/>
              <a:gd name="T9" fmla="*/ 0 h 103"/>
              <a:gd name="T10" fmla="*/ 0 w 104"/>
              <a:gd name="T11" fmla="*/ 2147483647 h 1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"/>
              <a:gd name="T19" fmla="*/ 0 h 103"/>
              <a:gd name="T20" fmla="*/ 104 w 104"/>
              <a:gd name="T21" fmla="*/ 103 h 1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" h="103">
                <a:moveTo>
                  <a:pt x="0" y="52"/>
                </a:moveTo>
                <a:cubicBezTo>
                  <a:pt x="0" y="80"/>
                  <a:pt x="23" y="103"/>
                  <a:pt x="52" y="103"/>
                </a:cubicBezTo>
                <a:cubicBezTo>
                  <a:pt x="81" y="103"/>
                  <a:pt x="104" y="80"/>
                  <a:pt x="104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23"/>
                  <a:pt x="81" y="0"/>
                  <a:pt x="52" y="0"/>
                </a:cubicBezTo>
                <a:cubicBezTo>
                  <a:pt x="23" y="0"/>
                  <a:pt x="0" y="23"/>
                  <a:pt x="0" y="52"/>
                </a:cubicBezTo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Text Box 75">
            <a:extLst>
              <a:ext uri="{FF2B5EF4-FFF2-40B4-BE49-F238E27FC236}">
                <a16:creationId xmlns:a16="http://schemas.microsoft.com/office/drawing/2014/main" id="{2B8456A6-8325-4BE5-9F83-BAD2325E2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471532"/>
            <a:ext cx="533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6" name="Text Box 78">
            <a:extLst>
              <a:ext uri="{FF2B5EF4-FFF2-40B4-BE49-F238E27FC236}">
                <a16:creationId xmlns:a16="http://schemas.microsoft.com/office/drawing/2014/main" id="{30741106-01EE-4DF1-9893-2A50BE79E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994" y="5125708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2" name="Text Box 97">
            <a:extLst>
              <a:ext uri="{FF2B5EF4-FFF2-40B4-BE49-F238E27FC236}">
                <a16:creationId xmlns:a16="http://schemas.microsoft.com/office/drawing/2014/main" id="{1CAF10E4-CCF0-4A17-A0A5-C4200F508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0" y="5125707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175" name="Text Box 78">
            <a:extLst>
              <a:ext uri="{FF2B5EF4-FFF2-40B4-BE49-F238E27FC236}">
                <a16:creationId xmlns:a16="http://schemas.microsoft.com/office/drawing/2014/main" id="{B9B233F7-4B93-484F-B3D8-70EC29D25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707" y="1657814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6" name="Text Box 97">
            <a:extLst>
              <a:ext uri="{FF2B5EF4-FFF2-40B4-BE49-F238E27FC236}">
                <a16:creationId xmlns:a16="http://schemas.microsoft.com/office/drawing/2014/main" id="{541D9A6C-6184-41E0-9311-4B2421595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0713" y="1657813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77" name="Text Box 78">
            <a:extLst>
              <a:ext uri="{FF2B5EF4-FFF2-40B4-BE49-F238E27FC236}">
                <a16:creationId xmlns:a16="http://schemas.microsoft.com/office/drawing/2014/main" id="{7A9DCD65-F4D5-42C3-82B7-75A424CA7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08" y="1873847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8" name="Text Box 97">
            <a:extLst>
              <a:ext uri="{FF2B5EF4-FFF2-40B4-BE49-F238E27FC236}">
                <a16:creationId xmlns:a16="http://schemas.microsoft.com/office/drawing/2014/main" id="{9C325D19-A32B-4C75-9EDE-8FE16442C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6614" y="1873846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79" name="Text Box 78">
            <a:extLst>
              <a:ext uri="{FF2B5EF4-FFF2-40B4-BE49-F238E27FC236}">
                <a16:creationId xmlns:a16="http://schemas.microsoft.com/office/drawing/2014/main" id="{53A6765D-45BF-4A38-84EB-82A530672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197" y="2625066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0" name="Text Box 97">
            <a:extLst>
              <a:ext uri="{FF2B5EF4-FFF2-40B4-BE49-F238E27FC236}">
                <a16:creationId xmlns:a16="http://schemas.microsoft.com/office/drawing/2014/main" id="{67CF1629-75D9-40D4-99FE-7157D709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6203" y="2625065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181" name="Text Box 78">
            <a:extLst>
              <a:ext uri="{FF2B5EF4-FFF2-40B4-BE49-F238E27FC236}">
                <a16:creationId xmlns:a16="http://schemas.microsoft.com/office/drawing/2014/main" id="{4614CCAB-2467-46CC-B861-36DC37F07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130" y="4630078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2" name="Text Box 97">
            <a:extLst>
              <a:ext uri="{FF2B5EF4-FFF2-40B4-BE49-F238E27FC236}">
                <a16:creationId xmlns:a16="http://schemas.microsoft.com/office/drawing/2014/main" id="{6011BC18-28AC-475D-BE3F-FF5CEE45E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6136" y="4630077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83" name="Text Box 78">
            <a:extLst>
              <a:ext uri="{FF2B5EF4-FFF2-40B4-BE49-F238E27FC236}">
                <a16:creationId xmlns:a16="http://schemas.microsoft.com/office/drawing/2014/main" id="{3EC72821-454D-4313-BA01-02BBC5DF3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130" y="5189670"/>
            <a:ext cx="45720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4" name="Text Box 97">
            <a:extLst>
              <a:ext uri="{FF2B5EF4-FFF2-40B4-BE49-F238E27FC236}">
                <a16:creationId xmlns:a16="http://schemas.microsoft.com/office/drawing/2014/main" id="{F1D8D234-DED0-4E21-83B3-5E4286D22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6136" y="5189669"/>
            <a:ext cx="838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432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0432FF"/>
                </a:solidFill>
              </a:rPr>
              <a:t>1</a:t>
            </a:r>
          </a:p>
        </p:txBody>
      </p:sp>
      <p:sp>
        <p:nvSpPr>
          <p:cNvPr id="185" name="文本框 1">
            <a:extLst>
              <a:ext uri="{FF2B5EF4-FFF2-40B4-BE49-F238E27FC236}">
                <a16:creationId xmlns:a16="http://schemas.microsoft.com/office/drawing/2014/main" id="{48E75143-2319-416C-9292-B427BA8979B9}"/>
              </a:ext>
            </a:extLst>
          </p:cNvPr>
          <p:cNvSpPr txBox="1"/>
          <p:nvPr/>
        </p:nvSpPr>
        <p:spPr>
          <a:xfrm>
            <a:off x="5766620" y="5283425"/>
            <a:ext cx="3546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rgbClr val="0432FF"/>
                </a:solidFill>
                <a:latin typeface="+mn-lt"/>
                <a:ea typeface="+mn-ea"/>
                <a:sym typeface="Wingdings" pitchFamily="2" charset="2"/>
              </a:rPr>
              <a:t>D: 01</a:t>
            </a:r>
            <a:r>
              <a:rPr kumimoji="1" lang="zh-CN" altLang="en-US" sz="2400" dirty="0">
                <a:solidFill>
                  <a:srgbClr val="0432FF"/>
                </a:solidFill>
                <a:latin typeface="+mn-lt"/>
                <a:ea typeface="+mn-ea"/>
                <a:sym typeface="Wingdings" pitchFamily="2" charset="2"/>
              </a:rPr>
              <a:t>，非时钟沿</a:t>
            </a:r>
            <a:r>
              <a:rPr kumimoji="1" lang="en-US" altLang="zh-CN" sz="2400" dirty="0">
                <a:solidFill>
                  <a:srgbClr val="0432FF"/>
                </a:solidFill>
                <a:latin typeface="+mn-lt"/>
                <a:ea typeface="+mn-ea"/>
                <a:sym typeface="Wingdings" pitchFamily="2" charset="2"/>
              </a:rPr>
              <a:t>D</a:t>
            </a:r>
            <a:r>
              <a:rPr kumimoji="1" lang="zh-CN" altLang="en-US" sz="2400" dirty="0">
                <a:solidFill>
                  <a:srgbClr val="0432FF"/>
                </a:solidFill>
                <a:latin typeface="+mn-lt"/>
                <a:ea typeface="+mn-ea"/>
                <a:sym typeface="Wingdings" pitchFamily="2" charset="2"/>
              </a:rPr>
              <a:t>的改变不会影响输出</a:t>
            </a:r>
            <a:endParaRPr kumimoji="1" lang="zh-CN" altLang="en-US" sz="2400" dirty="0">
              <a:solidFill>
                <a:srgbClr val="0432FF"/>
              </a:solidFill>
              <a:latin typeface="+mn-lt"/>
              <a:ea typeface="+mn-ea"/>
            </a:endParaRPr>
          </a:p>
        </p:txBody>
      </p:sp>
      <p:sp>
        <p:nvSpPr>
          <p:cNvPr id="186" name="Rectangle 3">
            <a:extLst>
              <a:ext uri="{FF2B5EF4-FFF2-40B4-BE49-F238E27FC236}">
                <a16:creationId xmlns:a16="http://schemas.microsoft.com/office/drawing/2014/main" id="{03FEC354-844F-4D56-9608-AA0B31223CCA}"/>
              </a:ext>
            </a:extLst>
          </p:cNvPr>
          <p:cNvSpPr/>
          <p:nvPr/>
        </p:nvSpPr>
        <p:spPr>
          <a:xfrm>
            <a:off x="5422900" y="1585880"/>
            <a:ext cx="380257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kern="0" dirty="0">
                <a:solidFill>
                  <a:srgbClr val="0432FF"/>
                </a:solidFill>
                <a:latin typeface="+mn-lt"/>
                <a:ea typeface="黑体"/>
              </a:rPr>
              <a:t>CLK=1</a:t>
            </a:r>
            <a:r>
              <a:rPr lang="zh-CN" altLang="en-US" sz="2400" kern="0" dirty="0">
                <a:solidFill>
                  <a:srgbClr val="0432FF"/>
                </a:solidFill>
                <a:latin typeface="+mn-lt"/>
                <a:ea typeface="黑体"/>
              </a:rPr>
              <a:t>时保持</a:t>
            </a:r>
            <a:endParaRPr lang="en-CN" sz="2400" dirty="0">
              <a:solidFill>
                <a:srgbClr val="0432FF"/>
              </a:solidFill>
              <a:latin typeface="+mn-lt"/>
            </a:endParaRPr>
          </a:p>
        </p:txBody>
      </p:sp>
      <p:cxnSp>
        <p:nvCxnSpPr>
          <p:cNvPr id="187" name="Straight Connector 33">
            <a:extLst>
              <a:ext uri="{FF2B5EF4-FFF2-40B4-BE49-F238E27FC236}">
                <a16:creationId xmlns:a16="http://schemas.microsoft.com/office/drawing/2014/main" id="{2212B05B-25F7-4FFD-B994-0000593F080A}"/>
              </a:ext>
            </a:extLst>
          </p:cNvPr>
          <p:cNvCxnSpPr>
            <a:cxnSpLocks/>
          </p:cNvCxnSpPr>
          <p:nvPr/>
        </p:nvCxnSpPr>
        <p:spPr>
          <a:xfrm flipH="1" flipV="1">
            <a:off x="2846038" y="4798682"/>
            <a:ext cx="1425945" cy="3889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18">
            <a:extLst>
              <a:ext uri="{FF2B5EF4-FFF2-40B4-BE49-F238E27FC236}">
                <a16:creationId xmlns:a16="http://schemas.microsoft.com/office/drawing/2014/main" id="{51579E0A-0405-4B69-8FBC-0360D8533441}"/>
              </a:ext>
            </a:extLst>
          </p:cNvPr>
          <p:cNvCxnSpPr>
            <a:cxnSpLocks/>
          </p:cNvCxnSpPr>
          <p:nvPr/>
        </p:nvCxnSpPr>
        <p:spPr>
          <a:xfrm>
            <a:off x="2854594" y="2224086"/>
            <a:ext cx="0" cy="25841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37">
            <a:extLst>
              <a:ext uri="{FF2B5EF4-FFF2-40B4-BE49-F238E27FC236}">
                <a16:creationId xmlns:a16="http://schemas.microsoft.com/office/drawing/2014/main" id="{3017E8A8-E352-43E5-A3A3-8E450FBBBC4C}"/>
              </a:ext>
            </a:extLst>
          </p:cNvPr>
          <p:cNvCxnSpPr/>
          <p:nvPr/>
        </p:nvCxnSpPr>
        <p:spPr>
          <a:xfrm flipV="1">
            <a:off x="2867295" y="2224086"/>
            <a:ext cx="1382712" cy="143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23">
            <a:extLst>
              <a:ext uri="{FF2B5EF4-FFF2-40B4-BE49-F238E27FC236}">
                <a16:creationId xmlns:a16="http://schemas.microsoft.com/office/drawing/2014/main" id="{6AD9A9E0-5378-419D-AD78-802671D99E2D}"/>
              </a:ext>
            </a:extLst>
          </p:cNvPr>
          <p:cNvCxnSpPr>
            <a:cxnSpLocks/>
          </p:cNvCxnSpPr>
          <p:nvPr/>
        </p:nvCxnSpPr>
        <p:spPr>
          <a:xfrm flipV="1">
            <a:off x="2862125" y="4708466"/>
            <a:ext cx="1297532" cy="33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74">
            <a:extLst>
              <a:ext uri="{FF2B5EF4-FFF2-40B4-BE49-F238E27FC236}">
                <a16:creationId xmlns:a16="http://schemas.microsoft.com/office/drawing/2014/main" id="{2701AEF0-C133-D16A-6237-CA3683F03204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0998156"/>
              </p:ext>
            </p:extLst>
          </p:nvPr>
        </p:nvGraphicFramePr>
        <p:xfrm>
          <a:off x="6217708" y="4265152"/>
          <a:ext cx="285220" cy="42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4" imgW="152280" imgH="228600" progId="">
                  <p:embed/>
                </p:oleObj>
              </mc:Choice>
              <mc:Fallback>
                <p:oleObj name="Equation" r:id="rId4" imgW="152280" imgH="228600" progId="">
                  <p:embed/>
                  <p:pic>
                    <p:nvPicPr>
                      <p:cNvPr id="81" name="Object 74">
                        <a:extLst>
                          <a:ext uri="{FF2B5EF4-FFF2-40B4-BE49-F238E27FC236}">
                            <a16:creationId xmlns:a16="http://schemas.microsoft.com/office/drawing/2014/main" id="{13792279-117C-4E7E-A07C-B70B3A885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708" y="4265152"/>
                        <a:ext cx="285220" cy="4278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5">
            <a:extLst>
              <a:ext uri="{FF2B5EF4-FFF2-40B4-BE49-F238E27FC236}">
                <a16:creationId xmlns:a16="http://schemas.microsoft.com/office/drawing/2014/main" id="{481E8171-A036-7A3C-C14F-6B3A1BFB6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972" y="275897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/>
              <a:t>1</a:t>
            </a:r>
          </a:p>
        </p:txBody>
      </p:sp>
      <p:sp>
        <p:nvSpPr>
          <p:cNvPr id="4" name="Text Box 96">
            <a:extLst>
              <a:ext uri="{FF2B5EF4-FFF2-40B4-BE49-F238E27FC236}">
                <a16:creationId xmlns:a16="http://schemas.microsoft.com/office/drawing/2014/main" id="{3DB2D880-DBE0-FB23-D133-CF5162A4B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998" y="3745603"/>
            <a:ext cx="457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8783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  <p:bldP spid="178" grpId="0"/>
      <p:bldP spid="180" grpId="0"/>
      <p:bldP spid="182" grpId="0"/>
      <p:bldP spid="184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Object 3">
            <a:extLst>
              <a:ext uri="{FF2B5EF4-FFF2-40B4-BE49-F238E27FC236}">
                <a16:creationId xmlns:a16="http://schemas.microsoft.com/office/drawing/2014/main" id="{E9921EEC-06DF-A646-A62B-75CE79B94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376430"/>
              </p:ext>
            </p:extLst>
          </p:nvPr>
        </p:nvGraphicFramePr>
        <p:xfrm>
          <a:off x="4635500" y="3459772"/>
          <a:ext cx="130333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Visio" r:id="rId4" imgW="709830" imgH="304620" progId="Visio.Drawing.11">
                  <p:embed/>
                </p:oleObj>
              </mc:Choice>
              <mc:Fallback>
                <p:oleObj name="Visio" r:id="rId4" imgW="709830" imgH="304620" progId="Visio.Drawing.11">
                  <p:embed/>
                  <p:pic>
                    <p:nvPicPr>
                      <p:cNvPr id="213" name="Object 3">
                        <a:extLst>
                          <a:ext uri="{FF2B5EF4-FFF2-40B4-BE49-F238E27FC236}">
                            <a16:creationId xmlns:a16="http://schemas.microsoft.com/office/drawing/2014/main" id="{E9921EEC-06DF-A646-A62B-75CE79B944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0" y="3459772"/>
                        <a:ext cx="130333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边沿触发</a:t>
            </a:r>
            <a:r>
              <a:rPr lang="en-US" altLang="zh-CN" dirty="0"/>
              <a:t>DFF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33A61-354C-004D-96E3-16B23B3E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CFD1-D213-4B9C-817B-45486DBF105A}" type="slidenum">
              <a:rPr lang="en-US" smtClean="0">
                <a:solidFill>
                  <a:prstClr val="black"/>
                </a:solidFill>
              </a:rPr>
              <a:pPr/>
              <a:t>92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7894" name="AutoShape 5"/>
          <p:cNvSpPr>
            <a:spLocks noChangeAspect="1" noChangeArrowheads="1" noTextEdit="1"/>
          </p:cNvSpPr>
          <p:nvPr/>
        </p:nvSpPr>
        <p:spPr bwMode="auto">
          <a:xfrm>
            <a:off x="457200" y="1556976"/>
            <a:ext cx="5324475" cy="380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1985676-0AE8-F144-B38B-C2AD3C350DBE}"/>
              </a:ext>
            </a:extLst>
          </p:cNvPr>
          <p:cNvGrpSpPr/>
          <p:nvPr/>
        </p:nvGrpSpPr>
        <p:grpSpPr>
          <a:xfrm>
            <a:off x="509468" y="1771845"/>
            <a:ext cx="3816350" cy="3766317"/>
            <a:chOff x="1428750" y="1614126"/>
            <a:chExt cx="3816350" cy="3766317"/>
          </a:xfrm>
        </p:grpSpPr>
        <p:sp>
          <p:nvSpPr>
            <p:cNvPr id="75" name="Line 6">
              <a:extLst>
                <a:ext uri="{FF2B5EF4-FFF2-40B4-BE49-F238E27FC236}">
                  <a16:creationId xmlns:a16="http://schemas.microsoft.com/office/drawing/2014/main" id="{5B573857-2CCD-8C41-80E1-6B0803A97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6113" y="2920640"/>
              <a:ext cx="396081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">
              <a:extLst>
                <a:ext uri="{FF2B5EF4-FFF2-40B4-BE49-F238E27FC236}">
                  <a16:creationId xmlns:a16="http://schemas.microsoft.com/office/drawing/2014/main" id="{18E57556-DF3C-224A-A5E5-6BC3126FB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6114" y="4098565"/>
              <a:ext cx="384174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423F122C-F6F7-2D47-A61D-683414827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575" y="3050814"/>
              <a:ext cx="1211263" cy="1047750"/>
            </a:xfrm>
            <a:custGeom>
              <a:avLst/>
              <a:gdLst>
                <a:gd name="T0" fmla="*/ 2147483647 w 827"/>
                <a:gd name="T1" fmla="*/ 0 h 660"/>
                <a:gd name="T2" fmla="*/ 0 w 827"/>
                <a:gd name="T3" fmla="*/ 0 h 660"/>
                <a:gd name="T4" fmla="*/ 0 w 827"/>
                <a:gd name="T5" fmla="*/ 2147483647 h 660"/>
                <a:gd name="T6" fmla="*/ 2147483647 w 827"/>
                <a:gd name="T7" fmla="*/ 2147483647 h 660"/>
                <a:gd name="T8" fmla="*/ 2147483647 w 827"/>
                <a:gd name="T9" fmla="*/ 2147483647 h 6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660"/>
                <a:gd name="T17" fmla="*/ 827 w 827"/>
                <a:gd name="T18" fmla="*/ 660 h 6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660">
                  <a:moveTo>
                    <a:pt x="248" y="0"/>
                  </a:moveTo>
                  <a:lnTo>
                    <a:pt x="0" y="0"/>
                  </a:lnTo>
                  <a:lnTo>
                    <a:pt x="0" y="220"/>
                  </a:lnTo>
                  <a:lnTo>
                    <a:pt x="827" y="440"/>
                  </a:lnTo>
                  <a:lnTo>
                    <a:pt x="827" y="66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0C6D0BB3-A46D-9E48-B0DC-9CCAD68DD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038" y="4043001"/>
              <a:ext cx="103187" cy="112713"/>
            </a:xfrm>
            <a:custGeom>
              <a:avLst/>
              <a:gdLst>
                <a:gd name="T0" fmla="*/ 2147483647 w 104"/>
                <a:gd name="T1" fmla="*/ 0 h 104"/>
                <a:gd name="T2" fmla="*/ 0 w 104"/>
                <a:gd name="T3" fmla="*/ 2147483647 h 104"/>
                <a:gd name="T4" fmla="*/ 2147483647 w 104"/>
                <a:gd name="T5" fmla="*/ 2147483647 h 104"/>
                <a:gd name="T6" fmla="*/ 2147483647 w 104"/>
                <a:gd name="T7" fmla="*/ 2147483647 h 104"/>
                <a:gd name="T8" fmla="*/ 2147483647 w 104"/>
                <a:gd name="T9" fmla="*/ 2147483647 h 104"/>
                <a:gd name="T10" fmla="*/ 2147483647 w 104"/>
                <a:gd name="T11" fmla="*/ 0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4"/>
                <a:gd name="T20" fmla="*/ 104 w 104"/>
                <a:gd name="T21" fmla="*/ 104 h 1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80" y="104"/>
                    <a:pt x="104" y="80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C0C046E0-D754-DA4A-86AB-B08A1AA72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575" y="2920639"/>
              <a:ext cx="1211263" cy="1047750"/>
            </a:xfrm>
            <a:custGeom>
              <a:avLst/>
              <a:gdLst>
                <a:gd name="T0" fmla="*/ 2147483647 w 827"/>
                <a:gd name="T1" fmla="*/ 2147483647 h 660"/>
                <a:gd name="T2" fmla="*/ 0 w 827"/>
                <a:gd name="T3" fmla="*/ 2147483647 h 660"/>
                <a:gd name="T4" fmla="*/ 0 w 827"/>
                <a:gd name="T5" fmla="*/ 2147483647 h 660"/>
                <a:gd name="T6" fmla="*/ 2147483647 w 827"/>
                <a:gd name="T7" fmla="*/ 2147483647 h 660"/>
                <a:gd name="T8" fmla="*/ 2147483647 w 827"/>
                <a:gd name="T9" fmla="*/ 0 h 6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660"/>
                <a:gd name="T17" fmla="*/ 827 w 827"/>
                <a:gd name="T18" fmla="*/ 660 h 6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660">
                  <a:moveTo>
                    <a:pt x="248" y="660"/>
                  </a:moveTo>
                  <a:lnTo>
                    <a:pt x="0" y="660"/>
                  </a:lnTo>
                  <a:lnTo>
                    <a:pt x="0" y="440"/>
                  </a:lnTo>
                  <a:lnTo>
                    <a:pt x="827" y="220"/>
                  </a:lnTo>
                  <a:lnTo>
                    <a:pt x="827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B754FC85-061C-BF48-B87C-E851DF133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038" y="2863489"/>
              <a:ext cx="103187" cy="112712"/>
            </a:xfrm>
            <a:custGeom>
              <a:avLst/>
              <a:gdLst>
                <a:gd name="T0" fmla="*/ 2147483647 w 104"/>
                <a:gd name="T1" fmla="*/ 2147483647 h 104"/>
                <a:gd name="T2" fmla="*/ 2147483647 w 104"/>
                <a:gd name="T3" fmla="*/ 2147483647 h 104"/>
                <a:gd name="T4" fmla="*/ 2147483647 w 104"/>
                <a:gd name="T5" fmla="*/ 0 h 104"/>
                <a:gd name="T6" fmla="*/ 2147483647 w 104"/>
                <a:gd name="T7" fmla="*/ 0 h 104"/>
                <a:gd name="T8" fmla="*/ 0 w 104"/>
                <a:gd name="T9" fmla="*/ 2147483647 h 104"/>
                <a:gd name="T10" fmla="*/ 2147483647 w 104"/>
                <a:gd name="T11" fmla="*/ 2147483647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4"/>
                <a:gd name="T20" fmla="*/ 104 w 104"/>
                <a:gd name="T21" fmla="*/ 104 h 1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4">
                  <a:moveTo>
                    <a:pt x="52" y="104"/>
                  </a:moveTo>
                  <a:cubicBezTo>
                    <a:pt x="80" y="104"/>
                    <a:pt x="104" y="81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81"/>
                    <a:pt x="23" y="104"/>
                    <a:pt x="52" y="104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Rectangle 12">
              <a:extLst>
                <a:ext uri="{FF2B5EF4-FFF2-40B4-BE49-F238E27FC236}">
                  <a16:creationId xmlns:a16="http://schemas.microsoft.com/office/drawing/2014/main" id="{FA97E32A-8443-C746-8281-1DF320A92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9663" y="2726358"/>
              <a:ext cx="185737" cy="334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200" b="0" i="1" dirty="0">
                  <a:solidFill>
                    <a:srgbClr val="000000"/>
                  </a:solidFill>
                  <a:latin typeface="Times New Roman" pitchFamily="18" charset="0"/>
                </a:rPr>
                <a:t>Q</a:t>
              </a:r>
              <a:endParaRPr lang="en-US" altLang="zh-CN" sz="1800" b="0" dirty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91E21302-81D1-114C-BE6F-E1089315BD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1700" y="2788876"/>
              <a:ext cx="1000125" cy="269875"/>
            </a:xfrm>
            <a:custGeom>
              <a:avLst/>
              <a:gdLst>
                <a:gd name="T0" fmla="*/ 0 w 682"/>
                <a:gd name="T1" fmla="*/ 0 h 170"/>
                <a:gd name="T2" fmla="*/ 2147483647 w 682"/>
                <a:gd name="T3" fmla="*/ 0 h 170"/>
                <a:gd name="T4" fmla="*/ 0 w 682"/>
                <a:gd name="T5" fmla="*/ 2147483647 h 170"/>
                <a:gd name="T6" fmla="*/ 2147483647 w 682"/>
                <a:gd name="T7" fmla="*/ 2147483647 h 170"/>
                <a:gd name="T8" fmla="*/ 2147483647 w 682"/>
                <a:gd name="T9" fmla="*/ 2147483647 h 170"/>
                <a:gd name="T10" fmla="*/ 2147483647 w 682"/>
                <a:gd name="T11" fmla="*/ 2147483647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2"/>
                <a:gd name="T19" fmla="*/ 0 h 170"/>
                <a:gd name="T20" fmla="*/ 682 w 682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2" h="170">
                  <a:moveTo>
                    <a:pt x="0" y="0"/>
                  </a:moveTo>
                  <a:lnTo>
                    <a:pt x="341" y="0"/>
                  </a:lnTo>
                  <a:moveTo>
                    <a:pt x="0" y="170"/>
                  </a:moveTo>
                  <a:lnTo>
                    <a:pt x="341" y="170"/>
                  </a:lnTo>
                  <a:moveTo>
                    <a:pt x="682" y="85"/>
                  </a:moveTo>
                  <a:lnTo>
                    <a:pt x="341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14">
              <a:extLst>
                <a:ext uri="{FF2B5EF4-FFF2-40B4-BE49-F238E27FC236}">
                  <a16:creationId xmlns:a16="http://schemas.microsoft.com/office/drawing/2014/main" id="{56FD7213-4BC7-0D45-97EE-ECDAC4A00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653939"/>
              <a:ext cx="650875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2147483647 w 651"/>
                <a:gd name="T5" fmla="*/ 2147483647 h 499"/>
                <a:gd name="T6" fmla="*/ 0 w 651"/>
                <a:gd name="T7" fmla="*/ 2147483647 h 499"/>
                <a:gd name="T8" fmla="*/ 0 w 651"/>
                <a:gd name="T9" fmla="*/ 0 h 499"/>
                <a:gd name="T10" fmla="*/ 0 w 651"/>
                <a:gd name="T11" fmla="*/ 0 h 499"/>
                <a:gd name="T12" fmla="*/ 2147483647 w 651"/>
                <a:gd name="T13" fmla="*/ 0 h 499"/>
                <a:gd name="T14" fmla="*/ 2147483647 w 651"/>
                <a:gd name="T15" fmla="*/ 2147483647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499"/>
                <a:gd name="T26" fmla="*/ 651 w 651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6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5" y="33"/>
                    <a:pt x="574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15">
              <a:extLst>
                <a:ext uri="{FF2B5EF4-FFF2-40B4-BE49-F238E27FC236}">
                  <a16:creationId xmlns:a16="http://schemas.microsoft.com/office/drawing/2014/main" id="{FD801BB3-0AB8-3344-81CB-3A8BEBBE7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653939"/>
              <a:ext cx="650875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2147483647 w 651"/>
                <a:gd name="T5" fmla="*/ 2147483647 h 499"/>
                <a:gd name="T6" fmla="*/ 0 w 651"/>
                <a:gd name="T7" fmla="*/ 2147483647 h 499"/>
                <a:gd name="T8" fmla="*/ 0 w 651"/>
                <a:gd name="T9" fmla="*/ 0 h 499"/>
                <a:gd name="T10" fmla="*/ 0 w 651"/>
                <a:gd name="T11" fmla="*/ 0 h 499"/>
                <a:gd name="T12" fmla="*/ 2147483647 w 651"/>
                <a:gd name="T13" fmla="*/ 0 h 499"/>
                <a:gd name="T14" fmla="*/ 2147483647 w 651"/>
                <a:gd name="T15" fmla="*/ 2147483647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499"/>
                <a:gd name="T26" fmla="*/ 651 w 651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6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5" y="33"/>
                    <a:pt x="574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BD07DAA4-92C3-F649-901E-F5882E677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025" y="2882539"/>
              <a:ext cx="74613" cy="82550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58"/>
                    <a:pt x="17" y="75"/>
                    <a:pt x="37" y="75"/>
                  </a:cubicBezTo>
                  <a:cubicBezTo>
                    <a:pt x="58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17">
              <a:extLst>
                <a:ext uri="{FF2B5EF4-FFF2-40B4-BE49-F238E27FC236}">
                  <a16:creationId xmlns:a16="http://schemas.microsoft.com/office/drawing/2014/main" id="{733C41CB-A294-CA4B-8431-69BB10DF0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025" y="2882539"/>
              <a:ext cx="74613" cy="82550"/>
            </a:xfrm>
            <a:custGeom>
              <a:avLst/>
              <a:gdLst>
                <a:gd name="T0" fmla="*/ 2147483647 w 51"/>
                <a:gd name="T1" fmla="*/ 2147483647 h 52"/>
                <a:gd name="T2" fmla="*/ 2147483647 w 51"/>
                <a:gd name="T3" fmla="*/ 0 h 52"/>
                <a:gd name="T4" fmla="*/ 0 w 51"/>
                <a:gd name="T5" fmla="*/ 2147483647 h 52"/>
                <a:gd name="T6" fmla="*/ 2147483647 w 51"/>
                <a:gd name="T7" fmla="*/ 2147483647 h 52"/>
                <a:gd name="T8" fmla="*/ 2147483647 w 51"/>
                <a:gd name="T9" fmla="*/ 2147483647 h 52"/>
                <a:gd name="T10" fmla="*/ 2147483647 w 51"/>
                <a:gd name="T11" fmla="*/ 2147483647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2"/>
                <a:gd name="T20" fmla="*/ 51 w 51"/>
                <a:gd name="T21" fmla="*/ 52 h 5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2">
                  <a:moveTo>
                    <a:pt x="51" y="26"/>
                  </a:moveTo>
                  <a:cubicBezTo>
                    <a:pt x="51" y="12"/>
                    <a:pt x="40" y="0"/>
                    <a:pt x="25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5" y="52"/>
                  </a:cubicBezTo>
                  <a:cubicBezTo>
                    <a:pt x="40" y="52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95ADF005-D422-1B4A-98BD-445388107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653939"/>
              <a:ext cx="650875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1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1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1" y="499"/>
                  </a:cubicBezTo>
                  <a:cubicBezTo>
                    <a:pt x="401" y="499"/>
                    <a:pt x="401" y="499"/>
                    <a:pt x="401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9">
              <a:extLst>
                <a:ext uri="{FF2B5EF4-FFF2-40B4-BE49-F238E27FC236}">
                  <a16:creationId xmlns:a16="http://schemas.microsoft.com/office/drawing/2014/main" id="{A710C7AA-4C27-5944-8957-BFEFE0A4A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653939"/>
              <a:ext cx="650875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1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1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1" y="499"/>
                  </a:cubicBezTo>
                  <a:cubicBezTo>
                    <a:pt x="401" y="499"/>
                    <a:pt x="401" y="499"/>
                    <a:pt x="401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E7325777-8325-754A-BD4B-5653B6B116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73450" y="3963626"/>
              <a:ext cx="996950" cy="269875"/>
            </a:xfrm>
            <a:custGeom>
              <a:avLst/>
              <a:gdLst>
                <a:gd name="T0" fmla="*/ 0 w 681"/>
                <a:gd name="T1" fmla="*/ 0 h 170"/>
                <a:gd name="T2" fmla="*/ 2147483647 w 681"/>
                <a:gd name="T3" fmla="*/ 0 h 170"/>
                <a:gd name="T4" fmla="*/ 0 w 681"/>
                <a:gd name="T5" fmla="*/ 2147483647 h 170"/>
                <a:gd name="T6" fmla="*/ 2147483647 w 681"/>
                <a:gd name="T7" fmla="*/ 2147483647 h 170"/>
                <a:gd name="T8" fmla="*/ 2147483647 w 681"/>
                <a:gd name="T9" fmla="*/ 2147483647 h 170"/>
                <a:gd name="T10" fmla="*/ 2147483647 w 681"/>
                <a:gd name="T11" fmla="*/ 2147483647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1"/>
                <a:gd name="T19" fmla="*/ 0 h 170"/>
                <a:gd name="T20" fmla="*/ 681 w 681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1" h="170">
                  <a:moveTo>
                    <a:pt x="0" y="0"/>
                  </a:moveTo>
                  <a:lnTo>
                    <a:pt x="341" y="0"/>
                  </a:lnTo>
                  <a:moveTo>
                    <a:pt x="0" y="170"/>
                  </a:moveTo>
                  <a:lnTo>
                    <a:pt x="341" y="170"/>
                  </a:lnTo>
                  <a:moveTo>
                    <a:pt x="681" y="85"/>
                  </a:moveTo>
                  <a:lnTo>
                    <a:pt x="341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21">
              <a:extLst>
                <a:ext uri="{FF2B5EF4-FFF2-40B4-BE49-F238E27FC236}">
                  <a16:creationId xmlns:a16="http://schemas.microsoft.com/office/drawing/2014/main" id="{06DD7AEA-60A6-1746-BAA8-D8F202B38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5" y="3828689"/>
              <a:ext cx="647700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50"/>
                  </a:moveTo>
                  <a:cubicBezTo>
                    <a:pt x="574" y="373"/>
                    <a:pt x="404" y="465"/>
                    <a:pt x="196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6" y="0"/>
                  </a:lnTo>
                  <a:cubicBezTo>
                    <a:pt x="405" y="33"/>
                    <a:pt x="575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22">
              <a:extLst>
                <a:ext uri="{FF2B5EF4-FFF2-40B4-BE49-F238E27FC236}">
                  <a16:creationId xmlns:a16="http://schemas.microsoft.com/office/drawing/2014/main" id="{5DBDC997-9306-CA42-B313-52B872105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5" y="3828689"/>
              <a:ext cx="647700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50"/>
                  </a:moveTo>
                  <a:cubicBezTo>
                    <a:pt x="574" y="373"/>
                    <a:pt x="404" y="465"/>
                    <a:pt x="196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6" y="0"/>
                  </a:lnTo>
                  <a:cubicBezTo>
                    <a:pt x="405" y="33"/>
                    <a:pt x="575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23">
              <a:extLst>
                <a:ext uri="{FF2B5EF4-FFF2-40B4-BE49-F238E27FC236}">
                  <a16:creationId xmlns:a16="http://schemas.microsoft.com/office/drawing/2014/main" id="{0BFC891E-7079-4045-8BC4-010D90E19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4057289"/>
              <a:ext cx="74613" cy="80962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9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58"/>
                    <a:pt x="17" y="75"/>
                    <a:pt x="38" y="75"/>
                  </a:cubicBezTo>
                  <a:cubicBezTo>
                    <a:pt x="59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24">
              <a:extLst>
                <a:ext uri="{FF2B5EF4-FFF2-40B4-BE49-F238E27FC236}">
                  <a16:creationId xmlns:a16="http://schemas.microsoft.com/office/drawing/2014/main" id="{6CAD9CFA-AE13-D840-862E-FF4AE319C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4057289"/>
              <a:ext cx="74613" cy="80962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2"/>
                    <a:pt x="40" y="0"/>
                    <a:pt x="26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40"/>
                    <a:pt x="11" y="51"/>
                    <a:pt x="26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25">
              <a:extLst>
                <a:ext uri="{FF2B5EF4-FFF2-40B4-BE49-F238E27FC236}">
                  <a16:creationId xmlns:a16="http://schemas.microsoft.com/office/drawing/2014/main" id="{E2CA29E3-BF10-5D4F-AC04-08ED4676A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5" y="3828689"/>
              <a:ext cx="647700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1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1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1" y="499"/>
                  </a:cubicBezTo>
                  <a:cubicBezTo>
                    <a:pt x="401" y="499"/>
                    <a:pt x="401" y="499"/>
                    <a:pt x="401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26">
              <a:extLst>
                <a:ext uri="{FF2B5EF4-FFF2-40B4-BE49-F238E27FC236}">
                  <a16:creationId xmlns:a16="http://schemas.microsoft.com/office/drawing/2014/main" id="{D64F920A-F2A7-9F4A-A872-70C4D7A59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5" y="3828689"/>
              <a:ext cx="647700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1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1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1" y="499"/>
                  </a:cubicBezTo>
                  <a:cubicBezTo>
                    <a:pt x="401" y="499"/>
                    <a:pt x="401" y="499"/>
                    <a:pt x="401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27">
              <a:extLst>
                <a:ext uri="{FF2B5EF4-FFF2-40B4-BE49-F238E27FC236}">
                  <a16:creationId xmlns:a16="http://schemas.microsoft.com/office/drawing/2014/main" id="{2FB460A6-3EF8-6545-9119-3196AFF11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025" y="2788876"/>
              <a:ext cx="193675" cy="4763"/>
            </a:xfrm>
            <a:custGeom>
              <a:avLst/>
              <a:gdLst>
                <a:gd name="T0" fmla="*/ 2147483647 w 133"/>
                <a:gd name="T1" fmla="*/ 0 h 3"/>
                <a:gd name="T2" fmla="*/ 2147483647 w 133"/>
                <a:gd name="T3" fmla="*/ 0 h 3"/>
                <a:gd name="T4" fmla="*/ 2147483647 w 133"/>
                <a:gd name="T5" fmla="*/ 2147483647 h 3"/>
                <a:gd name="T6" fmla="*/ 0 w 133"/>
                <a:gd name="T7" fmla="*/ 2147483647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3"/>
                <a:gd name="T13" fmla="*/ 0 h 3"/>
                <a:gd name="T14" fmla="*/ 133 w 133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3" h="3">
                  <a:moveTo>
                    <a:pt x="133" y="0"/>
                  </a:moveTo>
                  <a:lnTo>
                    <a:pt x="53" y="0"/>
                  </a:lnTo>
                  <a:lnTo>
                    <a:pt x="53" y="3"/>
                  </a:lnTo>
                  <a:lnTo>
                    <a:pt x="0" y="3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8" name="Freeform 28">
              <a:extLst>
                <a:ext uri="{FF2B5EF4-FFF2-40B4-BE49-F238E27FC236}">
                  <a16:creationId xmlns:a16="http://schemas.microsoft.com/office/drawing/2014/main" id="{8BB90443-6480-6949-A42D-BB7FFC1CB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025" y="4233501"/>
              <a:ext cx="225425" cy="1588"/>
            </a:xfrm>
            <a:custGeom>
              <a:avLst/>
              <a:gdLst>
                <a:gd name="T0" fmla="*/ 2147483647 w 154"/>
                <a:gd name="T1" fmla="*/ 0 h 1588"/>
                <a:gd name="T2" fmla="*/ 2147483647 w 154"/>
                <a:gd name="T3" fmla="*/ 0 h 1588"/>
                <a:gd name="T4" fmla="*/ 2147483647 w 154"/>
                <a:gd name="T5" fmla="*/ 0 h 1588"/>
                <a:gd name="T6" fmla="*/ 0 w 154"/>
                <a:gd name="T7" fmla="*/ 0 h 15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1588"/>
                <a:gd name="T14" fmla="*/ 154 w 154"/>
                <a:gd name="T15" fmla="*/ 1588 h 15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1588">
                  <a:moveTo>
                    <a:pt x="154" y="0"/>
                  </a:moveTo>
                  <a:lnTo>
                    <a:pt x="115" y="0"/>
                  </a:ln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9" name="Rectangle 29">
              <a:extLst>
                <a:ext uri="{FF2B5EF4-FFF2-40B4-BE49-F238E27FC236}">
                  <a16:creationId xmlns:a16="http://schemas.microsoft.com/office/drawing/2014/main" id="{52691F08-669A-DA42-BEF1-E13979713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237" y="5041889"/>
              <a:ext cx="20358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200" b="0" i="1" dirty="0">
                  <a:solidFill>
                    <a:schemeClr val="tx1"/>
                  </a:solidFill>
                  <a:latin typeface="Times New Roman" pitchFamily="18" charset="0"/>
                </a:rPr>
                <a:t>D</a:t>
              </a:r>
              <a:endParaRPr lang="en-US" altLang="zh-CN" sz="1800" b="0" dirty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100" name="Freeform 33">
              <a:extLst>
                <a:ext uri="{FF2B5EF4-FFF2-40B4-BE49-F238E27FC236}">
                  <a16:creationId xmlns:a16="http://schemas.microsoft.com/office/drawing/2014/main" id="{11CBAEDF-BA55-C945-9171-D634C7ADE1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7900" y="2658701"/>
              <a:ext cx="1000125" cy="268288"/>
            </a:xfrm>
            <a:custGeom>
              <a:avLst/>
              <a:gdLst>
                <a:gd name="T0" fmla="*/ 0 w 682"/>
                <a:gd name="T1" fmla="*/ 0 h 169"/>
                <a:gd name="T2" fmla="*/ 2147483647 w 682"/>
                <a:gd name="T3" fmla="*/ 0 h 169"/>
                <a:gd name="T4" fmla="*/ 0 w 682"/>
                <a:gd name="T5" fmla="*/ 2147483647 h 169"/>
                <a:gd name="T6" fmla="*/ 2147483647 w 682"/>
                <a:gd name="T7" fmla="*/ 2147483647 h 169"/>
                <a:gd name="T8" fmla="*/ 2147483647 w 682"/>
                <a:gd name="T9" fmla="*/ 2147483647 h 169"/>
                <a:gd name="T10" fmla="*/ 2147483647 w 682"/>
                <a:gd name="T11" fmla="*/ 2147483647 h 1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2"/>
                <a:gd name="T19" fmla="*/ 0 h 169"/>
                <a:gd name="T20" fmla="*/ 682 w 682"/>
                <a:gd name="T21" fmla="*/ 169 h 1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2" h="169">
                  <a:moveTo>
                    <a:pt x="0" y="0"/>
                  </a:moveTo>
                  <a:lnTo>
                    <a:pt x="340" y="0"/>
                  </a:lnTo>
                  <a:moveTo>
                    <a:pt x="0" y="169"/>
                  </a:moveTo>
                  <a:lnTo>
                    <a:pt x="340" y="169"/>
                  </a:lnTo>
                  <a:moveTo>
                    <a:pt x="682" y="85"/>
                  </a:moveTo>
                  <a:lnTo>
                    <a:pt x="340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" name="Freeform 34">
              <a:extLst>
                <a:ext uri="{FF2B5EF4-FFF2-40B4-BE49-F238E27FC236}">
                  <a16:creationId xmlns:a16="http://schemas.microsoft.com/office/drawing/2014/main" id="{5ACA56E1-CD7E-9143-BA73-603D906C0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523764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5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" name="Freeform 35">
              <a:extLst>
                <a:ext uri="{FF2B5EF4-FFF2-40B4-BE49-F238E27FC236}">
                  <a16:creationId xmlns:a16="http://schemas.microsoft.com/office/drawing/2014/main" id="{7D4D9D25-E62C-D844-A32B-0323AEA45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523764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5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Freeform 36">
              <a:extLst>
                <a:ext uri="{FF2B5EF4-FFF2-40B4-BE49-F238E27FC236}">
                  <a16:creationId xmlns:a16="http://schemas.microsoft.com/office/drawing/2014/main" id="{E6D4CF8E-E6D9-2742-BDB5-22CD7A37C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2752364"/>
              <a:ext cx="74613" cy="80962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6" y="0"/>
                    <a:pt x="0" y="17"/>
                    <a:pt x="0" y="38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8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Freeform 37">
              <a:extLst>
                <a:ext uri="{FF2B5EF4-FFF2-40B4-BE49-F238E27FC236}">
                  <a16:creationId xmlns:a16="http://schemas.microsoft.com/office/drawing/2014/main" id="{0A3698AF-DC3A-6642-A11B-230C97CAE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2752364"/>
              <a:ext cx="74613" cy="80962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2"/>
                    <a:pt x="40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40"/>
                    <a:pt x="11" y="51"/>
                    <a:pt x="25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Freeform 38">
              <a:extLst>
                <a:ext uri="{FF2B5EF4-FFF2-40B4-BE49-F238E27FC236}">
                  <a16:creationId xmlns:a16="http://schemas.microsoft.com/office/drawing/2014/main" id="{580A90F2-7041-2D44-91B8-FC12DA8C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523764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400" dirty="0">
                  <a:solidFill>
                    <a:schemeClr val="tx1"/>
                  </a:solidFill>
                </a:rPr>
                <a:t>G3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7" name="Freeform 39">
              <a:extLst>
                <a:ext uri="{FF2B5EF4-FFF2-40B4-BE49-F238E27FC236}">
                  <a16:creationId xmlns:a16="http://schemas.microsoft.com/office/drawing/2014/main" id="{34EFF534-63F4-334F-A52B-585397268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523764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8" name="Freeform 40">
              <a:extLst>
                <a:ext uri="{FF2B5EF4-FFF2-40B4-BE49-F238E27FC236}">
                  <a16:creationId xmlns:a16="http://schemas.microsoft.com/office/drawing/2014/main" id="{D6BF251A-86E1-694A-8EB3-6EB22CAB06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7900" y="4096976"/>
              <a:ext cx="1000125" cy="271463"/>
            </a:xfrm>
            <a:custGeom>
              <a:avLst/>
              <a:gdLst>
                <a:gd name="T0" fmla="*/ 0 w 682"/>
                <a:gd name="T1" fmla="*/ 0 h 171"/>
                <a:gd name="T2" fmla="*/ 2147483647 w 682"/>
                <a:gd name="T3" fmla="*/ 0 h 171"/>
                <a:gd name="T4" fmla="*/ 0 w 682"/>
                <a:gd name="T5" fmla="*/ 2147483647 h 171"/>
                <a:gd name="T6" fmla="*/ 2147483647 w 682"/>
                <a:gd name="T7" fmla="*/ 2147483647 h 171"/>
                <a:gd name="T8" fmla="*/ 0 w 682"/>
                <a:gd name="T9" fmla="*/ 2147483647 h 171"/>
                <a:gd name="T10" fmla="*/ 2147483647 w 682"/>
                <a:gd name="T11" fmla="*/ 2147483647 h 171"/>
                <a:gd name="T12" fmla="*/ 2147483647 w 682"/>
                <a:gd name="T13" fmla="*/ 2147483647 h 171"/>
                <a:gd name="T14" fmla="*/ 2147483647 w 682"/>
                <a:gd name="T15" fmla="*/ 2147483647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82"/>
                <a:gd name="T25" fmla="*/ 0 h 171"/>
                <a:gd name="T26" fmla="*/ 682 w 682"/>
                <a:gd name="T27" fmla="*/ 171 h 17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82" h="171">
                  <a:moveTo>
                    <a:pt x="0" y="0"/>
                  </a:moveTo>
                  <a:lnTo>
                    <a:pt x="340" y="0"/>
                  </a:lnTo>
                  <a:moveTo>
                    <a:pt x="0" y="86"/>
                  </a:moveTo>
                  <a:lnTo>
                    <a:pt x="340" y="86"/>
                  </a:lnTo>
                  <a:moveTo>
                    <a:pt x="0" y="171"/>
                  </a:moveTo>
                  <a:lnTo>
                    <a:pt x="340" y="171"/>
                  </a:lnTo>
                  <a:moveTo>
                    <a:pt x="682" y="86"/>
                  </a:moveTo>
                  <a:lnTo>
                    <a:pt x="340" y="86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Freeform 41">
              <a:extLst>
                <a:ext uri="{FF2B5EF4-FFF2-40B4-BE49-F238E27FC236}">
                  <a16:creationId xmlns:a16="http://schemas.microsoft.com/office/drawing/2014/main" id="{19518FEF-4627-BA48-B766-7A318F2E8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39636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49"/>
                  </a:moveTo>
                  <a:cubicBezTo>
                    <a:pt x="573" y="372"/>
                    <a:pt x="404" y="465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4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0" name="Freeform 42">
              <a:extLst>
                <a:ext uri="{FF2B5EF4-FFF2-40B4-BE49-F238E27FC236}">
                  <a16:creationId xmlns:a16="http://schemas.microsoft.com/office/drawing/2014/main" id="{37A146E1-54A0-1D44-97AA-3F40BD71F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39636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49"/>
                  </a:moveTo>
                  <a:cubicBezTo>
                    <a:pt x="573" y="372"/>
                    <a:pt x="404" y="465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4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1" name="Freeform 43">
              <a:extLst>
                <a:ext uri="{FF2B5EF4-FFF2-40B4-BE49-F238E27FC236}">
                  <a16:creationId xmlns:a16="http://schemas.microsoft.com/office/drawing/2014/main" id="{58508A24-2D81-6247-A9EB-EDB451040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4192226"/>
              <a:ext cx="74613" cy="80963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7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8" y="75"/>
                    <a:pt x="75" y="58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Freeform 44">
              <a:extLst>
                <a:ext uri="{FF2B5EF4-FFF2-40B4-BE49-F238E27FC236}">
                  <a16:creationId xmlns:a16="http://schemas.microsoft.com/office/drawing/2014/main" id="{7BCCE8F1-3CE2-EC4F-98E4-D0D5E930F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4192226"/>
              <a:ext cx="74613" cy="80963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2"/>
                    <a:pt x="40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40"/>
                    <a:pt x="11" y="51"/>
                    <a:pt x="25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3" name="Freeform 45">
              <a:extLst>
                <a:ext uri="{FF2B5EF4-FFF2-40B4-BE49-F238E27FC236}">
                  <a16:creationId xmlns:a16="http://schemas.microsoft.com/office/drawing/2014/main" id="{A598FB70-8DC0-AD4A-B172-57B142605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39636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1"/>
                    <a:pt x="651" y="249"/>
                  </a:cubicBezTo>
                  <a:cubicBezTo>
                    <a:pt x="651" y="387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400" dirty="0">
                  <a:solidFill>
                    <a:schemeClr val="tx1"/>
                  </a:solidFill>
                </a:rPr>
                <a:t>G2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4" name="Freeform 46">
              <a:extLst>
                <a:ext uri="{FF2B5EF4-FFF2-40B4-BE49-F238E27FC236}">
                  <a16:creationId xmlns:a16="http://schemas.microsoft.com/office/drawing/2014/main" id="{4818F6C4-D991-C64A-A73F-9DCF68A44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39636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1"/>
                    <a:pt x="651" y="249"/>
                  </a:cubicBezTo>
                  <a:cubicBezTo>
                    <a:pt x="651" y="387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Freeform 47">
              <a:extLst>
                <a:ext uri="{FF2B5EF4-FFF2-40B4-BE49-F238E27FC236}">
                  <a16:creationId xmlns:a16="http://schemas.microsoft.com/office/drawing/2014/main" id="{DE6C81B0-9990-4B42-8587-782B6C2D0D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7900" y="1750651"/>
              <a:ext cx="1000125" cy="269875"/>
            </a:xfrm>
            <a:custGeom>
              <a:avLst/>
              <a:gdLst>
                <a:gd name="T0" fmla="*/ 0 w 682"/>
                <a:gd name="T1" fmla="*/ 0 h 170"/>
                <a:gd name="T2" fmla="*/ 2147483647 w 682"/>
                <a:gd name="T3" fmla="*/ 0 h 170"/>
                <a:gd name="T4" fmla="*/ 0 w 682"/>
                <a:gd name="T5" fmla="*/ 2147483647 h 170"/>
                <a:gd name="T6" fmla="*/ 2147483647 w 682"/>
                <a:gd name="T7" fmla="*/ 2147483647 h 170"/>
                <a:gd name="T8" fmla="*/ 2147483647 w 682"/>
                <a:gd name="T9" fmla="*/ 2147483647 h 170"/>
                <a:gd name="T10" fmla="*/ 2147483647 w 682"/>
                <a:gd name="T11" fmla="*/ 2147483647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2"/>
                <a:gd name="T19" fmla="*/ 0 h 170"/>
                <a:gd name="T20" fmla="*/ 682 w 682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2" h="170">
                  <a:moveTo>
                    <a:pt x="0" y="0"/>
                  </a:moveTo>
                  <a:lnTo>
                    <a:pt x="340" y="0"/>
                  </a:lnTo>
                  <a:moveTo>
                    <a:pt x="0" y="170"/>
                  </a:moveTo>
                  <a:lnTo>
                    <a:pt x="340" y="170"/>
                  </a:lnTo>
                  <a:moveTo>
                    <a:pt x="682" y="85"/>
                  </a:moveTo>
                  <a:lnTo>
                    <a:pt x="340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Freeform 48">
              <a:extLst>
                <a:ext uri="{FF2B5EF4-FFF2-40B4-BE49-F238E27FC236}">
                  <a16:creationId xmlns:a16="http://schemas.microsoft.com/office/drawing/2014/main" id="{C67386C9-10C2-4C48-AA03-505FA1B79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16141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2147483647 w 651"/>
                <a:gd name="T5" fmla="*/ 2147483647 h 499"/>
                <a:gd name="T6" fmla="*/ 0 w 651"/>
                <a:gd name="T7" fmla="*/ 2147483647 h 499"/>
                <a:gd name="T8" fmla="*/ 0 w 651"/>
                <a:gd name="T9" fmla="*/ 0 h 499"/>
                <a:gd name="T10" fmla="*/ 0 w 651"/>
                <a:gd name="T11" fmla="*/ 0 h 499"/>
                <a:gd name="T12" fmla="*/ 2147483647 w 651"/>
                <a:gd name="T13" fmla="*/ 0 h 499"/>
                <a:gd name="T14" fmla="*/ 2147483647 w 651"/>
                <a:gd name="T15" fmla="*/ 2147483647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499"/>
                <a:gd name="T26" fmla="*/ 651 w 651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6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Freeform 49">
              <a:extLst>
                <a:ext uri="{FF2B5EF4-FFF2-40B4-BE49-F238E27FC236}">
                  <a16:creationId xmlns:a16="http://schemas.microsoft.com/office/drawing/2014/main" id="{26C3B836-6699-884F-A672-FF3CEEC58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16141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2147483647 w 651"/>
                <a:gd name="T5" fmla="*/ 2147483647 h 499"/>
                <a:gd name="T6" fmla="*/ 0 w 651"/>
                <a:gd name="T7" fmla="*/ 2147483647 h 499"/>
                <a:gd name="T8" fmla="*/ 0 w 651"/>
                <a:gd name="T9" fmla="*/ 0 h 499"/>
                <a:gd name="T10" fmla="*/ 0 w 651"/>
                <a:gd name="T11" fmla="*/ 0 h 499"/>
                <a:gd name="T12" fmla="*/ 2147483647 w 651"/>
                <a:gd name="T13" fmla="*/ 0 h 499"/>
                <a:gd name="T14" fmla="*/ 2147483647 w 651"/>
                <a:gd name="T15" fmla="*/ 2147483647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499"/>
                <a:gd name="T26" fmla="*/ 651 w 651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6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Freeform 50">
              <a:extLst>
                <a:ext uri="{FF2B5EF4-FFF2-40B4-BE49-F238E27FC236}">
                  <a16:creationId xmlns:a16="http://schemas.microsoft.com/office/drawing/2014/main" id="{50837E64-CD4E-064B-9A09-88EAD1CC3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1844314"/>
              <a:ext cx="74613" cy="80962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6" y="0"/>
                    <a:pt x="0" y="17"/>
                    <a:pt x="0" y="38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8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9" name="Freeform 51">
              <a:extLst>
                <a:ext uri="{FF2B5EF4-FFF2-40B4-BE49-F238E27FC236}">
                  <a16:creationId xmlns:a16="http://schemas.microsoft.com/office/drawing/2014/main" id="{55C931C3-5E28-0348-A116-153FD5D56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1844314"/>
              <a:ext cx="74613" cy="80962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1"/>
                    <a:pt x="40" y="0"/>
                    <a:pt x="25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39"/>
                    <a:pt x="11" y="51"/>
                    <a:pt x="25" y="51"/>
                  </a:cubicBezTo>
                  <a:cubicBezTo>
                    <a:pt x="40" y="51"/>
                    <a:pt x="51" y="39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0" name="Freeform 52">
              <a:extLst>
                <a:ext uri="{FF2B5EF4-FFF2-40B4-BE49-F238E27FC236}">
                  <a16:creationId xmlns:a16="http://schemas.microsoft.com/office/drawing/2014/main" id="{CCBCE7FB-0397-5D41-A1D3-41BE42963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16141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1" name="Freeform 53">
              <a:extLst>
                <a:ext uri="{FF2B5EF4-FFF2-40B4-BE49-F238E27FC236}">
                  <a16:creationId xmlns:a16="http://schemas.microsoft.com/office/drawing/2014/main" id="{E6EE8A3E-EFE6-0E46-9ABC-5766F2334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16141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400" dirty="0">
                  <a:solidFill>
                    <a:schemeClr val="tx1"/>
                  </a:solidFill>
                </a:rPr>
                <a:t>G4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2" name="Freeform 54">
              <a:extLst>
                <a:ext uri="{FF2B5EF4-FFF2-40B4-BE49-F238E27FC236}">
                  <a16:creationId xmlns:a16="http://schemas.microsoft.com/office/drawing/2014/main" id="{423C11CE-F3A0-E841-9CC4-43D8795D60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7900" y="4957401"/>
              <a:ext cx="1000125" cy="269875"/>
            </a:xfrm>
            <a:custGeom>
              <a:avLst/>
              <a:gdLst>
                <a:gd name="T0" fmla="*/ 0 w 682"/>
                <a:gd name="T1" fmla="*/ 0 h 170"/>
                <a:gd name="T2" fmla="*/ 2147483647 w 682"/>
                <a:gd name="T3" fmla="*/ 0 h 170"/>
                <a:gd name="T4" fmla="*/ 0 w 682"/>
                <a:gd name="T5" fmla="*/ 2147483647 h 170"/>
                <a:gd name="T6" fmla="*/ 2147483647 w 682"/>
                <a:gd name="T7" fmla="*/ 2147483647 h 170"/>
                <a:gd name="T8" fmla="*/ 2147483647 w 682"/>
                <a:gd name="T9" fmla="*/ 2147483647 h 170"/>
                <a:gd name="T10" fmla="*/ 2147483647 w 682"/>
                <a:gd name="T11" fmla="*/ 2147483647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2"/>
                <a:gd name="T19" fmla="*/ 0 h 170"/>
                <a:gd name="T20" fmla="*/ 682 w 682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2" h="170">
                  <a:moveTo>
                    <a:pt x="0" y="0"/>
                  </a:moveTo>
                  <a:lnTo>
                    <a:pt x="340" y="0"/>
                  </a:lnTo>
                  <a:moveTo>
                    <a:pt x="0" y="170"/>
                  </a:moveTo>
                  <a:lnTo>
                    <a:pt x="340" y="170"/>
                  </a:lnTo>
                  <a:moveTo>
                    <a:pt x="682" y="85"/>
                  </a:moveTo>
                  <a:lnTo>
                    <a:pt x="340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3" name="Freeform 55">
              <a:extLst>
                <a:ext uri="{FF2B5EF4-FFF2-40B4-BE49-F238E27FC236}">
                  <a16:creationId xmlns:a16="http://schemas.microsoft.com/office/drawing/2014/main" id="{9C0C16A2-A59A-AA45-862E-D4F88672B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4822464"/>
              <a:ext cx="649288" cy="539750"/>
            </a:xfrm>
            <a:custGeom>
              <a:avLst/>
              <a:gdLst>
                <a:gd name="T0" fmla="*/ 2147483647 w 651"/>
                <a:gd name="T1" fmla="*/ 2147483647 h 500"/>
                <a:gd name="T2" fmla="*/ 2147483647 w 651"/>
                <a:gd name="T3" fmla="*/ 2147483647 h 500"/>
                <a:gd name="T4" fmla="*/ 0 w 651"/>
                <a:gd name="T5" fmla="*/ 2147483647 h 500"/>
                <a:gd name="T6" fmla="*/ 0 w 651"/>
                <a:gd name="T7" fmla="*/ 0 h 500"/>
                <a:gd name="T8" fmla="*/ 0 w 651"/>
                <a:gd name="T9" fmla="*/ 0 h 500"/>
                <a:gd name="T10" fmla="*/ 2147483647 w 651"/>
                <a:gd name="T11" fmla="*/ 0 h 500"/>
                <a:gd name="T12" fmla="*/ 2147483647 w 651"/>
                <a:gd name="T13" fmla="*/ 2147483647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500"/>
                <a:gd name="T23" fmla="*/ 651 w 651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500">
                  <a:moveTo>
                    <a:pt x="651" y="250"/>
                  </a:moveTo>
                  <a:cubicBezTo>
                    <a:pt x="573" y="373"/>
                    <a:pt x="404" y="466"/>
                    <a:pt x="195" y="500"/>
                  </a:cubicBezTo>
                  <a:lnTo>
                    <a:pt x="0" y="500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4" name="Freeform 56">
              <a:extLst>
                <a:ext uri="{FF2B5EF4-FFF2-40B4-BE49-F238E27FC236}">
                  <a16:creationId xmlns:a16="http://schemas.microsoft.com/office/drawing/2014/main" id="{CA6B38F1-28C7-3A42-9E19-ED4312F88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4822464"/>
              <a:ext cx="649288" cy="539750"/>
            </a:xfrm>
            <a:custGeom>
              <a:avLst/>
              <a:gdLst>
                <a:gd name="T0" fmla="*/ 2147483647 w 651"/>
                <a:gd name="T1" fmla="*/ 2147483647 h 500"/>
                <a:gd name="T2" fmla="*/ 2147483647 w 651"/>
                <a:gd name="T3" fmla="*/ 2147483647 h 500"/>
                <a:gd name="T4" fmla="*/ 0 w 651"/>
                <a:gd name="T5" fmla="*/ 2147483647 h 500"/>
                <a:gd name="T6" fmla="*/ 0 w 651"/>
                <a:gd name="T7" fmla="*/ 0 h 500"/>
                <a:gd name="T8" fmla="*/ 0 w 651"/>
                <a:gd name="T9" fmla="*/ 0 h 500"/>
                <a:gd name="T10" fmla="*/ 2147483647 w 651"/>
                <a:gd name="T11" fmla="*/ 0 h 500"/>
                <a:gd name="T12" fmla="*/ 2147483647 w 651"/>
                <a:gd name="T13" fmla="*/ 2147483647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500"/>
                <a:gd name="T23" fmla="*/ 651 w 651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500">
                  <a:moveTo>
                    <a:pt x="651" y="250"/>
                  </a:moveTo>
                  <a:cubicBezTo>
                    <a:pt x="573" y="373"/>
                    <a:pt x="404" y="466"/>
                    <a:pt x="195" y="500"/>
                  </a:cubicBezTo>
                  <a:lnTo>
                    <a:pt x="0" y="500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Freeform 57">
              <a:extLst>
                <a:ext uri="{FF2B5EF4-FFF2-40B4-BE49-F238E27FC236}">
                  <a16:creationId xmlns:a16="http://schemas.microsoft.com/office/drawing/2014/main" id="{36FD1616-50A9-4846-BFB1-F46768DE5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5051064"/>
              <a:ext cx="74613" cy="80962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6" y="0"/>
                    <a:pt x="0" y="17"/>
                    <a:pt x="0" y="38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8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Freeform 58">
              <a:extLst>
                <a:ext uri="{FF2B5EF4-FFF2-40B4-BE49-F238E27FC236}">
                  <a16:creationId xmlns:a16="http://schemas.microsoft.com/office/drawing/2014/main" id="{E4DAA686-F495-C84F-8095-195F5CEBD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5051064"/>
              <a:ext cx="74613" cy="80962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2"/>
                    <a:pt x="40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40"/>
                    <a:pt x="11" y="51"/>
                    <a:pt x="25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7" name="Freeform 59">
              <a:extLst>
                <a:ext uri="{FF2B5EF4-FFF2-40B4-BE49-F238E27FC236}">
                  <a16:creationId xmlns:a16="http://schemas.microsoft.com/office/drawing/2014/main" id="{30A9643A-B03B-6845-A8A3-072402909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4822464"/>
              <a:ext cx="649288" cy="539750"/>
            </a:xfrm>
            <a:custGeom>
              <a:avLst/>
              <a:gdLst>
                <a:gd name="T0" fmla="*/ 2147483647 w 651"/>
                <a:gd name="T1" fmla="*/ 2147483647 h 500"/>
                <a:gd name="T2" fmla="*/ 0 w 651"/>
                <a:gd name="T3" fmla="*/ 2147483647 h 500"/>
                <a:gd name="T4" fmla="*/ 0 w 651"/>
                <a:gd name="T5" fmla="*/ 0 h 500"/>
                <a:gd name="T6" fmla="*/ 2147483647 w 651"/>
                <a:gd name="T7" fmla="*/ 0 h 500"/>
                <a:gd name="T8" fmla="*/ 2147483647 w 651"/>
                <a:gd name="T9" fmla="*/ 2147483647 h 500"/>
                <a:gd name="T10" fmla="*/ 2147483647 w 651"/>
                <a:gd name="T11" fmla="*/ 2147483647 h 500"/>
                <a:gd name="T12" fmla="*/ 2147483647 w 651"/>
                <a:gd name="T13" fmla="*/ 2147483647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500"/>
                <a:gd name="T23" fmla="*/ 651 w 651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500">
                  <a:moveTo>
                    <a:pt x="400" y="500"/>
                  </a:moveTo>
                  <a:lnTo>
                    <a:pt x="0" y="500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500"/>
                    <a:pt x="400" y="500"/>
                  </a:cubicBezTo>
                  <a:cubicBezTo>
                    <a:pt x="400" y="500"/>
                    <a:pt x="400" y="500"/>
                    <a:pt x="400" y="50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400" dirty="0">
                  <a:solidFill>
                    <a:schemeClr val="tx1"/>
                  </a:solidFill>
                </a:rPr>
                <a:t>G1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8" name="Freeform 60">
              <a:extLst>
                <a:ext uri="{FF2B5EF4-FFF2-40B4-BE49-F238E27FC236}">
                  <a16:creationId xmlns:a16="http://schemas.microsoft.com/office/drawing/2014/main" id="{8FCFBAA1-EEA6-4048-8A00-A826D799B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4822464"/>
              <a:ext cx="649288" cy="539750"/>
            </a:xfrm>
            <a:custGeom>
              <a:avLst/>
              <a:gdLst>
                <a:gd name="T0" fmla="*/ 2147483647 w 651"/>
                <a:gd name="T1" fmla="*/ 2147483647 h 500"/>
                <a:gd name="T2" fmla="*/ 0 w 651"/>
                <a:gd name="T3" fmla="*/ 2147483647 h 500"/>
                <a:gd name="T4" fmla="*/ 0 w 651"/>
                <a:gd name="T5" fmla="*/ 0 h 500"/>
                <a:gd name="T6" fmla="*/ 2147483647 w 651"/>
                <a:gd name="T7" fmla="*/ 0 h 500"/>
                <a:gd name="T8" fmla="*/ 2147483647 w 651"/>
                <a:gd name="T9" fmla="*/ 2147483647 h 500"/>
                <a:gd name="T10" fmla="*/ 2147483647 w 651"/>
                <a:gd name="T11" fmla="*/ 2147483647 h 500"/>
                <a:gd name="T12" fmla="*/ 2147483647 w 651"/>
                <a:gd name="T13" fmla="*/ 2147483647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500"/>
                <a:gd name="T23" fmla="*/ 651 w 651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500">
                  <a:moveTo>
                    <a:pt x="400" y="500"/>
                  </a:moveTo>
                  <a:lnTo>
                    <a:pt x="0" y="500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500"/>
                    <a:pt x="400" y="500"/>
                  </a:cubicBezTo>
                  <a:cubicBezTo>
                    <a:pt x="400" y="500"/>
                    <a:pt x="400" y="500"/>
                    <a:pt x="400" y="50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Freeform 61">
              <a:extLst>
                <a:ext uri="{FF2B5EF4-FFF2-40B4-BE49-F238E27FC236}">
                  <a16:creationId xmlns:a16="http://schemas.microsoft.com/office/drawing/2014/main" id="{325E93CD-6195-8E4E-8C68-5BABBF6C9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175" y="2011001"/>
              <a:ext cx="1212850" cy="782638"/>
            </a:xfrm>
            <a:custGeom>
              <a:avLst/>
              <a:gdLst>
                <a:gd name="T0" fmla="*/ 2147483647 w 827"/>
                <a:gd name="T1" fmla="*/ 0 h 493"/>
                <a:gd name="T2" fmla="*/ 0 w 827"/>
                <a:gd name="T3" fmla="*/ 0 h 493"/>
                <a:gd name="T4" fmla="*/ 0 w 827"/>
                <a:gd name="T5" fmla="*/ 2147483647 h 493"/>
                <a:gd name="T6" fmla="*/ 2147483647 w 827"/>
                <a:gd name="T7" fmla="*/ 2147483647 h 493"/>
                <a:gd name="T8" fmla="*/ 2147483647 w 827"/>
                <a:gd name="T9" fmla="*/ 2147483647 h 4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493"/>
                <a:gd name="T17" fmla="*/ 827 w 827"/>
                <a:gd name="T18" fmla="*/ 493 h 4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493">
                  <a:moveTo>
                    <a:pt x="145" y="0"/>
                  </a:moveTo>
                  <a:lnTo>
                    <a:pt x="0" y="0"/>
                  </a:lnTo>
                  <a:lnTo>
                    <a:pt x="0" y="106"/>
                  </a:lnTo>
                  <a:lnTo>
                    <a:pt x="827" y="353"/>
                  </a:lnTo>
                  <a:lnTo>
                    <a:pt x="827" y="493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Freeform 62">
              <a:extLst>
                <a:ext uri="{FF2B5EF4-FFF2-40B4-BE49-F238E27FC236}">
                  <a16:creationId xmlns:a16="http://schemas.microsoft.com/office/drawing/2014/main" id="{7878BA61-2AE5-9D4D-94E2-7199B3799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0" y="2736489"/>
              <a:ext cx="104775" cy="112712"/>
            </a:xfrm>
            <a:custGeom>
              <a:avLst/>
              <a:gdLst>
                <a:gd name="T0" fmla="*/ 2147483647 w 104"/>
                <a:gd name="T1" fmla="*/ 0 h 104"/>
                <a:gd name="T2" fmla="*/ 0 w 104"/>
                <a:gd name="T3" fmla="*/ 2147483647 h 104"/>
                <a:gd name="T4" fmla="*/ 2147483647 w 104"/>
                <a:gd name="T5" fmla="*/ 2147483647 h 104"/>
                <a:gd name="T6" fmla="*/ 2147483647 w 104"/>
                <a:gd name="T7" fmla="*/ 2147483647 h 104"/>
                <a:gd name="T8" fmla="*/ 2147483647 w 104"/>
                <a:gd name="T9" fmla="*/ 2147483647 h 104"/>
                <a:gd name="T10" fmla="*/ 2147483647 w 104"/>
                <a:gd name="T11" fmla="*/ 0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4"/>
                <a:gd name="T20" fmla="*/ 104 w 104"/>
                <a:gd name="T21" fmla="*/ 104 h 1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81" y="104"/>
                    <a:pt x="104" y="80"/>
                    <a:pt x="104" y="52"/>
                  </a:cubicBezTo>
                  <a:cubicBezTo>
                    <a:pt x="104" y="23"/>
                    <a:pt x="81" y="0"/>
                    <a:pt x="52" y="0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1" name="Freeform 63">
              <a:extLst>
                <a:ext uri="{FF2B5EF4-FFF2-40B4-BE49-F238E27FC236}">
                  <a16:creationId xmlns:a16="http://schemas.microsoft.com/office/drawing/2014/main" id="{B03FFB16-ECD8-FA4B-8359-B29C42FA9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175" y="1876064"/>
              <a:ext cx="1212850" cy="782637"/>
            </a:xfrm>
            <a:custGeom>
              <a:avLst/>
              <a:gdLst>
                <a:gd name="T0" fmla="*/ 2147483647 w 827"/>
                <a:gd name="T1" fmla="*/ 0 h 493"/>
                <a:gd name="T2" fmla="*/ 2147483647 w 827"/>
                <a:gd name="T3" fmla="*/ 2147483647 h 493"/>
                <a:gd name="T4" fmla="*/ 0 w 827"/>
                <a:gd name="T5" fmla="*/ 2147483647 h 493"/>
                <a:gd name="T6" fmla="*/ 0 w 827"/>
                <a:gd name="T7" fmla="*/ 2147483647 h 493"/>
                <a:gd name="T8" fmla="*/ 2147483647 w 827"/>
                <a:gd name="T9" fmla="*/ 2147483647 h 4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493"/>
                <a:gd name="T17" fmla="*/ 827 w 827"/>
                <a:gd name="T18" fmla="*/ 493 h 4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493">
                  <a:moveTo>
                    <a:pt x="827" y="0"/>
                  </a:moveTo>
                  <a:lnTo>
                    <a:pt x="827" y="191"/>
                  </a:lnTo>
                  <a:lnTo>
                    <a:pt x="0" y="397"/>
                  </a:lnTo>
                  <a:lnTo>
                    <a:pt x="0" y="490"/>
                  </a:lnTo>
                  <a:lnTo>
                    <a:pt x="145" y="493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2" name="Freeform 64">
              <a:extLst>
                <a:ext uri="{FF2B5EF4-FFF2-40B4-BE49-F238E27FC236}">
                  <a16:creationId xmlns:a16="http://schemas.microsoft.com/office/drawing/2014/main" id="{985184E2-8DB1-E842-8D95-B3C3B5E70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888" y="2926989"/>
              <a:ext cx="227012" cy="1306512"/>
            </a:xfrm>
            <a:custGeom>
              <a:avLst/>
              <a:gdLst>
                <a:gd name="T0" fmla="*/ 2147483647 w 155"/>
                <a:gd name="T1" fmla="*/ 0 h 823"/>
                <a:gd name="T2" fmla="*/ 0 w 155"/>
                <a:gd name="T3" fmla="*/ 0 h 823"/>
                <a:gd name="T4" fmla="*/ 0 w 155"/>
                <a:gd name="T5" fmla="*/ 2147483647 h 823"/>
                <a:gd name="T6" fmla="*/ 2147483647 w 155"/>
                <a:gd name="T7" fmla="*/ 2147483647 h 8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5"/>
                <a:gd name="T13" fmla="*/ 0 h 823"/>
                <a:gd name="T14" fmla="*/ 155 w 155"/>
                <a:gd name="T15" fmla="*/ 823 h 8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5" h="823">
                  <a:moveTo>
                    <a:pt x="155" y="0"/>
                  </a:moveTo>
                  <a:lnTo>
                    <a:pt x="0" y="0"/>
                  </a:lnTo>
                  <a:lnTo>
                    <a:pt x="0" y="823"/>
                  </a:lnTo>
                  <a:lnTo>
                    <a:pt x="155" y="823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Freeform 65">
              <a:extLst>
                <a:ext uri="{FF2B5EF4-FFF2-40B4-BE49-F238E27FC236}">
                  <a16:creationId xmlns:a16="http://schemas.microsoft.com/office/drawing/2014/main" id="{F67E9804-4A1E-FD4A-89BF-1EAE0190C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425" y="2793639"/>
              <a:ext cx="1117600" cy="1303337"/>
            </a:xfrm>
            <a:custGeom>
              <a:avLst/>
              <a:gdLst>
                <a:gd name="T0" fmla="*/ 2147483647 w 762"/>
                <a:gd name="T1" fmla="*/ 2147483647 h 821"/>
                <a:gd name="T2" fmla="*/ 0 w 762"/>
                <a:gd name="T3" fmla="*/ 2147483647 h 821"/>
                <a:gd name="T4" fmla="*/ 0 w 762"/>
                <a:gd name="T5" fmla="*/ 2147483647 h 821"/>
                <a:gd name="T6" fmla="*/ 2147483647 w 762"/>
                <a:gd name="T7" fmla="*/ 2147483647 h 821"/>
                <a:gd name="T8" fmla="*/ 2147483647 w 762"/>
                <a:gd name="T9" fmla="*/ 0 h 8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2"/>
                <a:gd name="T16" fmla="*/ 0 h 821"/>
                <a:gd name="T17" fmla="*/ 762 w 762"/>
                <a:gd name="T18" fmla="*/ 821 h 8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2" h="821">
                  <a:moveTo>
                    <a:pt x="80" y="821"/>
                  </a:moveTo>
                  <a:lnTo>
                    <a:pt x="0" y="821"/>
                  </a:lnTo>
                  <a:lnTo>
                    <a:pt x="0" y="657"/>
                  </a:lnTo>
                  <a:lnTo>
                    <a:pt x="762" y="657"/>
                  </a:lnTo>
                  <a:lnTo>
                    <a:pt x="762" y="0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Freeform 66">
              <a:extLst>
                <a:ext uri="{FF2B5EF4-FFF2-40B4-BE49-F238E27FC236}">
                  <a16:creationId xmlns:a16="http://schemas.microsoft.com/office/drawing/2014/main" id="{81C42A3E-BCC3-C843-95A5-176876BCD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175" y="4233501"/>
              <a:ext cx="1212850" cy="723900"/>
            </a:xfrm>
            <a:custGeom>
              <a:avLst/>
              <a:gdLst>
                <a:gd name="T0" fmla="*/ 2147483647 w 827"/>
                <a:gd name="T1" fmla="*/ 0 h 456"/>
                <a:gd name="T2" fmla="*/ 2147483647 w 827"/>
                <a:gd name="T3" fmla="*/ 2147483647 h 456"/>
                <a:gd name="T4" fmla="*/ 0 w 827"/>
                <a:gd name="T5" fmla="*/ 2147483647 h 456"/>
                <a:gd name="T6" fmla="*/ 0 w 827"/>
                <a:gd name="T7" fmla="*/ 2147483647 h 456"/>
                <a:gd name="T8" fmla="*/ 2147483647 w 827"/>
                <a:gd name="T9" fmla="*/ 2147483647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456"/>
                <a:gd name="T17" fmla="*/ 827 w 827"/>
                <a:gd name="T18" fmla="*/ 456 h 4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456">
                  <a:moveTo>
                    <a:pt x="827" y="0"/>
                  </a:moveTo>
                  <a:lnTo>
                    <a:pt x="827" y="149"/>
                  </a:lnTo>
                  <a:lnTo>
                    <a:pt x="0" y="355"/>
                  </a:lnTo>
                  <a:lnTo>
                    <a:pt x="0" y="453"/>
                  </a:lnTo>
                  <a:lnTo>
                    <a:pt x="145" y="456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5" name="Freeform 67">
              <a:extLst>
                <a:ext uri="{FF2B5EF4-FFF2-40B4-BE49-F238E27FC236}">
                  <a16:creationId xmlns:a16="http://schemas.microsoft.com/office/drawing/2014/main" id="{5E4AE9C1-8623-F543-B832-4420926C1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0" y="4176351"/>
              <a:ext cx="104775" cy="112713"/>
            </a:xfrm>
            <a:custGeom>
              <a:avLst/>
              <a:gdLst>
                <a:gd name="T0" fmla="*/ 2147483647 w 104"/>
                <a:gd name="T1" fmla="*/ 2147483647 h 104"/>
                <a:gd name="T2" fmla="*/ 2147483647 w 104"/>
                <a:gd name="T3" fmla="*/ 2147483647 h 104"/>
                <a:gd name="T4" fmla="*/ 2147483647 w 104"/>
                <a:gd name="T5" fmla="*/ 0 h 104"/>
                <a:gd name="T6" fmla="*/ 2147483647 w 104"/>
                <a:gd name="T7" fmla="*/ 0 h 104"/>
                <a:gd name="T8" fmla="*/ 0 w 104"/>
                <a:gd name="T9" fmla="*/ 2147483647 h 104"/>
                <a:gd name="T10" fmla="*/ 2147483647 w 104"/>
                <a:gd name="T11" fmla="*/ 2147483647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4"/>
                <a:gd name="T20" fmla="*/ 104 w 104"/>
                <a:gd name="T21" fmla="*/ 104 h 1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4">
                  <a:moveTo>
                    <a:pt x="52" y="104"/>
                  </a:moveTo>
                  <a:cubicBezTo>
                    <a:pt x="81" y="104"/>
                    <a:pt x="104" y="81"/>
                    <a:pt x="104" y="52"/>
                  </a:cubicBezTo>
                  <a:cubicBezTo>
                    <a:pt x="104" y="24"/>
                    <a:pt x="81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23" y="0"/>
                    <a:pt x="0" y="24"/>
                    <a:pt x="0" y="52"/>
                  </a:cubicBezTo>
                  <a:cubicBezTo>
                    <a:pt x="0" y="81"/>
                    <a:pt x="23" y="104"/>
                    <a:pt x="52" y="104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6" name="Freeform 68">
              <a:extLst>
                <a:ext uri="{FF2B5EF4-FFF2-40B4-BE49-F238E27FC236}">
                  <a16:creationId xmlns:a16="http://schemas.microsoft.com/office/drawing/2014/main" id="{E2E6330C-6BAD-AF41-A122-14FBCF5D3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175" y="4368439"/>
              <a:ext cx="1212850" cy="723900"/>
            </a:xfrm>
            <a:custGeom>
              <a:avLst/>
              <a:gdLst>
                <a:gd name="T0" fmla="*/ 2147483647 w 827"/>
                <a:gd name="T1" fmla="*/ 0 h 456"/>
                <a:gd name="T2" fmla="*/ 0 w 827"/>
                <a:gd name="T3" fmla="*/ 0 h 456"/>
                <a:gd name="T4" fmla="*/ 0 w 827"/>
                <a:gd name="T5" fmla="*/ 2147483647 h 456"/>
                <a:gd name="T6" fmla="*/ 2147483647 w 827"/>
                <a:gd name="T7" fmla="*/ 2147483647 h 456"/>
                <a:gd name="T8" fmla="*/ 2147483647 w 827"/>
                <a:gd name="T9" fmla="*/ 2147483647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456"/>
                <a:gd name="T17" fmla="*/ 827 w 827"/>
                <a:gd name="T18" fmla="*/ 456 h 4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456">
                  <a:moveTo>
                    <a:pt x="145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827" y="312"/>
                  </a:lnTo>
                  <a:lnTo>
                    <a:pt x="827" y="456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7" name="Line 69">
              <a:extLst>
                <a:ext uri="{FF2B5EF4-FFF2-40B4-BE49-F238E27FC236}">
                  <a16:creationId xmlns:a16="http://schemas.microsoft.com/office/drawing/2014/main" id="{EAC6AB0F-158E-0444-A400-1124068605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58949" y="5227276"/>
              <a:ext cx="554837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8" name="Freeform 70">
              <a:extLst>
                <a:ext uri="{FF2B5EF4-FFF2-40B4-BE49-F238E27FC236}">
                  <a16:creationId xmlns:a16="http://schemas.microsoft.com/office/drawing/2014/main" id="{874661C5-599A-D24F-A4DD-3754312BA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63" y="1753826"/>
              <a:ext cx="363537" cy="2798763"/>
            </a:xfrm>
            <a:custGeom>
              <a:avLst/>
              <a:gdLst>
                <a:gd name="T0" fmla="*/ 2147483647 w 248"/>
                <a:gd name="T1" fmla="*/ 2147483647 h 1763"/>
                <a:gd name="T2" fmla="*/ 0 w 248"/>
                <a:gd name="T3" fmla="*/ 2147483647 h 1763"/>
                <a:gd name="T4" fmla="*/ 0 w 248"/>
                <a:gd name="T5" fmla="*/ 0 h 1763"/>
                <a:gd name="T6" fmla="*/ 2147483647 w 248"/>
                <a:gd name="T7" fmla="*/ 0 h 17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8"/>
                <a:gd name="T13" fmla="*/ 0 h 1763"/>
                <a:gd name="T14" fmla="*/ 248 w 248"/>
                <a:gd name="T15" fmla="*/ 1763 h 17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8" h="1763">
                  <a:moveTo>
                    <a:pt x="103" y="1763"/>
                  </a:moveTo>
                  <a:lnTo>
                    <a:pt x="0" y="1763"/>
                  </a:lnTo>
                  <a:lnTo>
                    <a:pt x="0" y="0"/>
                  </a:lnTo>
                  <a:lnTo>
                    <a:pt x="248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9" name="Freeform 71">
              <a:extLst>
                <a:ext uri="{FF2B5EF4-FFF2-40B4-BE49-F238E27FC236}">
                  <a16:creationId xmlns:a16="http://schemas.microsoft.com/office/drawing/2014/main" id="{47AA535A-493D-2D46-B071-EBDEDB285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788" y="4497026"/>
              <a:ext cx="103187" cy="111125"/>
            </a:xfrm>
            <a:custGeom>
              <a:avLst/>
              <a:gdLst>
                <a:gd name="T0" fmla="*/ 0 w 104"/>
                <a:gd name="T1" fmla="*/ 2147483647 h 103"/>
                <a:gd name="T2" fmla="*/ 2147483647 w 104"/>
                <a:gd name="T3" fmla="*/ 2147483647 h 103"/>
                <a:gd name="T4" fmla="*/ 2147483647 w 104"/>
                <a:gd name="T5" fmla="*/ 2147483647 h 103"/>
                <a:gd name="T6" fmla="*/ 2147483647 w 104"/>
                <a:gd name="T7" fmla="*/ 2147483647 h 103"/>
                <a:gd name="T8" fmla="*/ 2147483647 w 104"/>
                <a:gd name="T9" fmla="*/ 0 h 103"/>
                <a:gd name="T10" fmla="*/ 0 w 104"/>
                <a:gd name="T11" fmla="*/ 2147483647 h 1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3"/>
                <a:gd name="T20" fmla="*/ 104 w 104"/>
                <a:gd name="T21" fmla="*/ 103 h 1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3">
                  <a:moveTo>
                    <a:pt x="0" y="51"/>
                  </a:moveTo>
                  <a:cubicBezTo>
                    <a:pt x="0" y="80"/>
                    <a:pt x="24" y="103"/>
                    <a:pt x="52" y="103"/>
                  </a:cubicBezTo>
                  <a:cubicBezTo>
                    <a:pt x="81" y="103"/>
                    <a:pt x="104" y="80"/>
                    <a:pt x="104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104" y="23"/>
                    <a:pt x="81" y="0"/>
                    <a:pt x="52" y="0"/>
                  </a:cubicBezTo>
                  <a:cubicBezTo>
                    <a:pt x="24" y="0"/>
                    <a:pt x="0" y="23"/>
                    <a:pt x="0" y="51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0" name="Line 72">
              <a:extLst>
                <a:ext uri="{FF2B5EF4-FFF2-40B4-BE49-F238E27FC236}">
                  <a16:creationId xmlns:a16="http://schemas.microsoft.com/office/drawing/2014/main" id="{6F853538-D027-C54E-8BE3-5B5177A37A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8750" y="3587389"/>
              <a:ext cx="592138" cy="158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1" name="Freeform 73">
              <a:extLst>
                <a:ext uri="{FF2B5EF4-FFF2-40B4-BE49-F238E27FC236}">
                  <a16:creationId xmlns:a16="http://schemas.microsoft.com/office/drawing/2014/main" id="{E416B03E-21D4-FA45-AB2C-749EE4D37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500" y="3531826"/>
              <a:ext cx="103188" cy="111125"/>
            </a:xfrm>
            <a:custGeom>
              <a:avLst/>
              <a:gdLst>
                <a:gd name="T0" fmla="*/ 0 w 104"/>
                <a:gd name="T1" fmla="*/ 2147483647 h 103"/>
                <a:gd name="T2" fmla="*/ 2147483647 w 104"/>
                <a:gd name="T3" fmla="*/ 2147483647 h 103"/>
                <a:gd name="T4" fmla="*/ 2147483647 w 104"/>
                <a:gd name="T5" fmla="*/ 2147483647 h 103"/>
                <a:gd name="T6" fmla="*/ 2147483647 w 104"/>
                <a:gd name="T7" fmla="*/ 2147483647 h 103"/>
                <a:gd name="T8" fmla="*/ 2147483647 w 104"/>
                <a:gd name="T9" fmla="*/ 0 h 103"/>
                <a:gd name="T10" fmla="*/ 0 w 104"/>
                <a:gd name="T11" fmla="*/ 2147483647 h 1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3"/>
                <a:gd name="T20" fmla="*/ 104 w 104"/>
                <a:gd name="T21" fmla="*/ 103 h 1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3">
                  <a:moveTo>
                    <a:pt x="0" y="52"/>
                  </a:moveTo>
                  <a:cubicBezTo>
                    <a:pt x="0" y="80"/>
                    <a:pt x="23" y="103"/>
                    <a:pt x="52" y="103"/>
                  </a:cubicBezTo>
                  <a:cubicBezTo>
                    <a:pt x="81" y="103"/>
                    <a:pt x="104" y="80"/>
                    <a:pt x="104" y="52"/>
                  </a:cubicBezTo>
                  <a:cubicBezTo>
                    <a:pt x="104" y="52"/>
                    <a:pt x="104" y="52"/>
                    <a:pt x="104" y="52"/>
                  </a:cubicBezTo>
                  <a:cubicBezTo>
                    <a:pt x="104" y="23"/>
                    <a:pt x="81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142" name="Object 74">
              <a:extLst>
                <a:ext uri="{FF2B5EF4-FFF2-40B4-BE49-F238E27FC236}">
                  <a16:creationId xmlns:a16="http://schemas.microsoft.com/office/drawing/2014/main" id="{6C2E5F9B-6B3A-2F44-BE09-9182FA1613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9175" y="3883645"/>
            <a:ext cx="415925" cy="439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4" name="Equation" r:id="rId6" imgW="152280" imgH="228600" progId="">
                    <p:embed/>
                  </p:oleObj>
                </mc:Choice>
                <mc:Fallback>
                  <p:oleObj name="Equation" r:id="rId6" imgW="152280" imgH="228600" progId="">
                    <p:embed/>
                    <p:pic>
                      <p:nvPicPr>
                        <p:cNvPr id="142" name="Object 74">
                          <a:extLst>
                            <a:ext uri="{FF2B5EF4-FFF2-40B4-BE49-F238E27FC236}">
                              <a16:creationId xmlns:a16="http://schemas.microsoft.com/office/drawing/2014/main" id="{6C2E5F9B-6B3A-2F44-BE09-9182FA1613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175" y="3883645"/>
                          <a:ext cx="415925" cy="4397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" name="Rectangle 29">
              <a:extLst>
                <a:ext uri="{FF2B5EF4-FFF2-40B4-BE49-F238E27FC236}">
                  <a16:creationId xmlns:a16="http://schemas.microsoft.com/office/drawing/2014/main" id="{D5A56A17-1E32-1840-BEA8-2011CEF0E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975" y="3290318"/>
              <a:ext cx="18755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200" b="0" i="1" dirty="0">
                  <a:solidFill>
                    <a:schemeClr val="tx1"/>
                  </a:solidFill>
                  <a:latin typeface="Times New Roman" pitchFamily="18" charset="0"/>
                </a:rPr>
                <a:t>C</a:t>
              </a:r>
              <a:endParaRPr lang="en-US" altLang="zh-CN" sz="1800" b="0" dirty="0">
                <a:solidFill>
                  <a:schemeClr val="tx1"/>
                </a:solidFill>
                <a:latin typeface="Arial" pitchFamily="34" charset="0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2B0D2B4-58D4-2243-9CE2-A1E0DFEF309D}"/>
              </a:ext>
            </a:extLst>
          </p:cNvPr>
          <p:cNvGrpSpPr/>
          <p:nvPr/>
        </p:nvGrpSpPr>
        <p:grpSpPr>
          <a:xfrm>
            <a:off x="4776561" y="1770883"/>
            <a:ext cx="4246110" cy="3766317"/>
            <a:chOff x="998990" y="1614126"/>
            <a:chExt cx="4246110" cy="3766317"/>
          </a:xfrm>
        </p:grpSpPr>
        <p:sp>
          <p:nvSpPr>
            <p:cNvPr id="145" name="Line 6">
              <a:extLst>
                <a:ext uri="{FF2B5EF4-FFF2-40B4-BE49-F238E27FC236}">
                  <a16:creationId xmlns:a16="http://schemas.microsoft.com/office/drawing/2014/main" id="{66F252C6-E03B-4B49-9606-C3E1AE0A1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6113" y="2920640"/>
              <a:ext cx="396081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7">
              <a:extLst>
                <a:ext uri="{FF2B5EF4-FFF2-40B4-BE49-F238E27FC236}">
                  <a16:creationId xmlns:a16="http://schemas.microsoft.com/office/drawing/2014/main" id="{E98E0FAC-4CAC-DE4D-8C9D-5804B8ABF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6114" y="4098565"/>
              <a:ext cx="384174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8">
              <a:extLst>
                <a:ext uri="{FF2B5EF4-FFF2-40B4-BE49-F238E27FC236}">
                  <a16:creationId xmlns:a16="http://schemas.microsoft.com/office/drawing/2014/main" id="{080345C6-CA83-BB47-B86C-346ACCB70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575" y="3050814"/>
              <a:ext cx="1211263" cy="1047750"/>
            </a:xfrm>
            <a:custGeom>
              <a:avLst/>
              <a:gdLst>
                <a:gd name="T0" fmla="*/ 2147483647 w 827"/>
                <a:gd name="T1" fmla="*/ 0 h 660"/>
                <a:gd name="T2" fmla="*/ 0 w 827"/>
                <a:gd name="T3" fmla="*/ 0 h 660"/>
                <a:gd name="T4" fmla="*/ 0 w 827"/>
                <a:gd name="T5" fmla="*/ 2147483647 h 660"/>
                <a:gd name="T6" fmla="*/ 2147483647 w 827"/>
                <a:gd name="T7" fmla="*/ 2147483647 h 660"/>
                <a:gd name="T8" fmla="*/ 2147483647 w 827"/>
                <a:gd name="T9" fmla="*/ 2147483647 h 6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660"/>
                <a:gd name="T17" fmla="*/ 827 w 827"/>
                <a:gd name="T18" fmla="*/ 660 h 6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660">
                  <a:moveTo>
                    <a:pt x="248" y="0"/>
                  </a:moveTo>
                  <a:lnTo>
                    <a:pt x="0" y="0"/>
                  </a:lnTo>
                  <a:lnTo>
                    <a:pt x="0" y="220"/>
                  </a:lnTo>
                  <a:lnTo>
                    <a:pt x="827" y="440"/>
                  </a:lnTo>
                  <a:lnTo>
                    <a:pt x="827" y="66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9">
              <a:extLst>
                <a:ext uri="{FF2B5EF4-FFF2-40B4-BE49-F238E27FC236}">
                  <a16:creationId xmlns:a16="http://schemas.microsoft.com/office/drawing/2014/main" id="{75CA8FE6-04F7-B24D-944D-82A816332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038" y="4043001"/>
              <a:ext cx="103187" cy="112713"/>
            </a:xfrm>
            <a:custGeom>
              <a:avLst/>
              <a:gdLst>
                <a:gd name="T0" fmla="*/ 2147483647 w 104"/>
                <a:gd name="T1" fmla="*/ 0 h 104"/>
                <a:gd name="T2" fmla="*/ 0 w 104"/>
                <a:gd name="T3" fmla="*/ 2147483647 h 104"/>
                <a:gd name="T4" fmla="*/ 2147483647 w 104"/>
                <a:gd name="T5" fmla="*/ 2147483647 h 104"/>
                <a:gd name="T6" fmla="*/ 2147483647 w 104"/>
                <a:gd name="T7" fmla="*/ 2147483647 h 104"/>
                <a:gd name="T8" fmla="*/ 2147483647 w 104"/>
                <a:gd name="T9" fmla="*/ 2147483647 h 104"/>
                <a:gd name="T10" fmla="*/ 2147483647 w 104"/>
                <a:gd name="T11" fmla="*/ 0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4"/>
                <a:gd name="T20" fmla="*/ 104 w 104"/>
                <a:gd name="T21" fmla="*/ 104 h 1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80" y="104"/>
                    <a:pt x="104" y="80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10">
              <a:extLst>
                <a:ext uri="{FF2B5EF4-FFF2-40B4-BE49-F238E27FC236}">
                  <a16:creationId xmlns:a16="http://schemas.microsoft.com/office/drawing/2014/main" id="{10E4A10B-4868-474C-A763-B128D6BAE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575" y="2920639"/>
              <a:ext cx="1211263" cy="1047750"/>
            </a:xfrm>
            <a:custGeom>
              <a:avLst/>
              <a:gdLst>
                <a:gd name="T0" fmla="*/ 2147483647 w 827"/>
                <a:gd name="T1" fmla="*/ 2147483647 h 660"/>
                <a:gd name="T2" fmla="*/ 0 w 827"/>
                <a:gd name="T3" fmla="*/ 2147483647 h 660"/>
                <a:gd name="T4" fmla="*/ 0 w 827"/>
                <a:gd name="T5" fmla="*/ 2147483647 h 660"/>
                <a:gd name="T6" fmla="*/ 2147483647 w 827"/>
                <a:gd name="T7" fmla="*/ 2147483647 h 660"/>
                <a:gd name="T8" fmla="*/ 2147483647 w 827"/>
                <a:gd name="T9" fmla="*/ 0 h 6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660"/>
                <a:gd name="T17" fmla="*/ 827 w 827"/>
                <a:gd name="T18" fmla="*/ 660 h 6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660">
                  <a:moveTo>
                    <a:pt x="248" y="660"/>
                  </a:moveTo>
                  <a:lnTo>
                    <a:pt x="0" y="660"/>
                  </a:lnTo>
                  <a:lnTo>
                    <a:pt x="0" y="440"/>
                  </a:lnTo>
                  <a:lnTo>
                    <a:pt x="827" y="220"/>
                  </a:lnTo>
                  <a:lnTo>
                    <a:pt x="827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11">
              <a:extLst>
                <a:ext uri="{FF2B5EF4-FFF2-40B4-BE49-F238E27FC236}">
                  <a16:creationId xmlns:a16="http://schemas.microsoft.com/office/drawing/2014/main" id="{406E2751-5802-9645-9A7B-97D48407E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038" y="2863489"/>
              <a:ext cx="103187" cy="112712"/>
            </a:xfrm>
            <a:custGeom>
              <a:avLst/>
              <a:gdLst>
                <a:gd name="T0" fmla="*/ 2147483647 w 104"/>
                <a:gd name="T1" fmla="*/ 2147483647 h 104"/>
                <a:gd name="T2" fmla="*/ 2147483647 w 104"/>
                <a:gd name="T3" fmla="*/ 2147483647 h 104"/>
                <a:gd name="T4" fmla="*/ 2147483647 w 104"/>
                <a:gd name="T5" fmla="*/ 0 h 104"/>
                <a:gd name="T6" fmla="*/ 2147483647 w 104"/>
                <a:gd name="T7" fmla="*/ 0 h 104"/>
                <a:gd name="T8" fmla="*/ 0 w 104"/>
                <a:gd name="T9" fmla="*/ 2147483647 h 104"/>
                <a:gd name="T10" fmla="*/ 2147483647 w 104"/>
                <a:gd name="T11" fmla="*/ 2147483647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4"/>
                <a:gd name="T20" fmla="*/ 104 w 104"/>
                <a:gd name="T21" fmla="*/ 104 h 1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4">
                  <a:moveTo>
                    <a:pt x="52" y="104"/>
                  </a:moveTo>
                  <a:cubicBezTo>
                    <a:pt x="80" y="104"/>
                    <a:pt x="104" y="81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81"/>
                    <a:pt x="23" y="104"/>
                    <a:pt x="52" y="104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Rectangle 12">
              <a:extLst>
                <a:ext uri="{FF2B5EF4-FFF2-40B4-BE49-F238E27FC236}">
                  <a16:creationId xmlns:a16="http://schemas.microsoft.com/office/drawing/2014/main" id="{117A9ECC-817B-F248-86FE-965410F2C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9663" y="2726358"/>
              <a:ext cx="185737" cy="334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200" b="0" i="1" dirty="0">
                  <a:solidFill>
                    <a:srgbClr val="000000"/>
                  </a:solidFill>
                  <a:latin typeface="Times New Roman" pitchFamily="18" charset="0"/>
                </a:rPr>
                <a:t>Q</a:t>
              </a:r>
              <a:endParaRPr lang="en-US" altLang="zh-CN" sz="1800" b="0" dirty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152" name="Freeform 13">
              <a:extLst>
                <a:ext uri="{FF2B5EF4-FFF2-40B4-BE49-F238E27FC236}">
                  <a16:creationId xmlns:a16="http://schemas.microsoft.com/office/drawing/2014/main" id="{740B1821-85CA-3141-8A1D-B6152BBC8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1700" y="2788876"/>
              <a:ext cx="1000125" cy="269875"/>
            </a:xfrm>
            <a:custGeom>
              <a:avLst/>
              <a:gdLst>
                <a:gd name="T0" fmla="*/ 0 w 682"/>
                <a:gd name="T1" fmla="*/ 0 h 170"/>
                <a:gd name="T2" fmla="*/ 2147483647 w 682"/>
                <a:gd name="T3" fmla="*/ 0 h 170"/>
                <a:gd name="T4" fmla="*/ 0 w 682"/>
                <a:gd name="T5" fmla="*/ 2147483647 h 170"/>
                <a:gd name="T6" fmla="*/ 2147483647 w 682"/>
                <a:gd name="T7" fmla="*/ 2147483647 h 170"/>
                <a:gd name="T8" fmla="*/ 2147483647 w 682"/>
                <a:gd name="T9" fmla="*/ 2147483647 h 170"/>
                <a:gd name="T10" fmla="*/ 2147483647 w 682"/>
                <a:gd name="T11" fmla="*/ 2147483647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2"/>
                <a:gd name="T19" fmla="*/ 0 h 170"/>
                <a:gd name="T20" fmla="*/ 682 w 682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2" h="170">
                  <a:moveTo>
                    <a:pt x="0" y="0"/>
                  </a:moveTo>
                  <a:lnTo>
                    <a:pt x="341" y="0"/>
                  </a:lnTo>
                  <a:moveTo>
                    <a:pt x="0" y="170"/>
                  </a:moveTo>
                  <a:lnTo>
                    <a:pt x="341" y="170"/>
                  </a:lnTo>
                  <a:moveTo>
                    <a:pt x="682" y="85"/>
                  </a:moveTo>
                  <a:lnTo>
                    <a:pt x="341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14">
              <a:extLst>
                <a:ext uri="{FF2B5EF4-FFF2-40B4-BE49-F238E27FC236}">
                  <a16:creationId xmlns:a16="http://schemas.microsoft.com/office/drawing/2014/main" id="{BD56CCB4-F6A1-CF46-B941-A6DD97962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653939"/>
              <a:ext cx="650875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2147483647 w 651"/>
                <a:gd name="T5" fmla="*/ 2147483647 h 499"/>
                <a:gd name="T6" fmla="*/ 0 w 651"/>
                <a:gd name="T7" fmla="*/ 2147483647 h 499"/>
                <a:gd name="T8" fmla="*/ 0 w 651"/>
                <a:gd name="T9" fmla="*/ 0 h 499"/>
                <a:gd name="T10" fmla="*/ 0 w 651"/>
                <a:gd name="T11" fmla="*/ 0 h 499"/>
                <a:gd name="T12" fmla="*/ 2147483647 w 651"/>
                <a:gd name="T13" fmla="*/ 0 h 499"/>
                <a:gd name="T14" fmla="*/ 2147483647 w 651"/>
                <a:gd name="T15" fmla="*/ 2147483647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499"/>
                <a:gd name="T26" fmla="*/ 651 w 651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6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5" y="33"/>
                    <a:pt x="574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15">
              <a:extLst>
                <a:ext uri="{FF2B5EF4-FFF2-40B4-BE49-F238E27FC236}">
                  <a16:creationId xmlns:a16="http://schemas.microsoft.com/office/drawing/2014/main" id="{8B1B1D9A-3F29-4D4E-BC04-9D4626ACA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653939"/>
              <a:ext cx="650875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2147483647 w 651"/>
                <a:gd name="T5" fmla="*/ 2147483647 h 499"/>
                <a:gd name="T6" fmla="*/ 0 w 651"/>
                <a:gd name="T7" fmla="*/ 2147483647 h 499"/>
                <a:gd name="T8" fmla="*/ 0 w 651"/>
                <a:gd name="T9" fmla="*/ 0 h 499"/>
                <a:gd name="T10" fmla="*/ 0 w 651"/>
                <a:gd name="T11" fmla="*/ 0 h 499"/>
                <a:gd name="T12" fmla="*/ 2147483647 w 651"/>
                <a:gd name="T13" fmla="*/ 0 h 499"/>
                <a:gd name="T14" fmla="*/ 2147483647 w 651"/>
                <a:gd name="T15" fmla="*/ 2147483647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499"/>
                <a:gd name="T26" fmla="*/ 651 w 651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6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5" y="33"/>
                    <a:pt x="574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CA0E0FB2-B636-674A-B763-C8FD4817C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025" y="2882539"/>
              <a:ext cx="74613" cy="82550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58"/>
                    <a:pt x="17" y="75"/>
                    <a:pt x="37" y="75"/>
                  </a:cubicBezTo>
                  <a:cubicBezTo>
                    <a:pt x="58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17">
              <a:extLst>
                <a:ext uri="{FF2B5EF4-FFF2-40B4-BE49-F238E27FC236}">
                  <a16:creationId xmlns:a16="http://schemas.microsoft.com/office/drawing/2014/main" id="{0C9AC393-342A-6A4E-BEF9-464BDC8B3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025" y="2882539"/>
              <a:ext cx="74613" cy="82550"/>
            </a:xfrm>
            <a:custGeom>
              <a:avLst/>
              <a:gdLst>
                <a:gd name="T0" fmla="*/ 2147483647 w 51"/>
                <a:gd name="T1" fmla="*/ 2147483647 h 52"/>
                <a:gd name="T2" fmla="*/ 2147483647 w 51"/>
                <a:gd name="T3" fmla="*/ 0 h 52"/>
                <a:gd name="T4" fmla="*/ 0 w 51"/>
                <a:gd name="T5" fmla="*/ 2147483647 h 52"/>
                <a:gd name="T6" fmla="*/ 2147483647 w 51"/>
                <a:gd name="T7" fmla="*/ 2147483647 h 52"/>
                <a:gd name="T8" fmla="*/ 2147483647 w 51"/>
                <a:gd name="T9" fmla="*/ 2147483647 h 52"/>
                <a:gd name="T10" fmla="*/ 2147483647 w 51"/>
                <a:gd name="T11" fmla="*/ 2147483647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2"/>
                <a:gd name="T20" fmla="*/ 51 w 51"/>
                <a:gd name="T21" fmla="*/ 52 h 5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2">
                  <a:moveTo>
                    <a:pt x="51" y="26"/>
                  </a:moveTo>
                  <a:cubicBezTo>
                    <a:pt x="51" y="12"/>
                    <a:pt x="40" y="0"/>
                    <a:pt x="25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5" y="52"/>
                  </a:cubicBezTo>
                  <a:cubicBezTo>
                    <a:pt x="40" y="52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Freeform 18">
              <a:extLst>
                <a:ext uri="{FF2B5EF4-FFF2-40B4-BE49-F238E27FC236}">
                  <a16:creationId xmlns:a16="http://schemas.microsoft.com/office/drawing/2014/main" id="{3E5E7979-B7CD-D743-8B69-523F79624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653939"/>
              <a:ext cx="650875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1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1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1" y="499"/>
                  </a:cubicBezTo>
                  <a:cubicBezTo>
                    <a:pt x="401" y="499"/>
                    <a:pt x="401" y="499"/>
                    <a:pt x="401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19">
              <a:extLst>
                <a:ext uri="{FF2B5EF4-FFF2-40B4-BE49-F238E27FC236}">
                  <a16:creationId xmlns:a16="http://schemas.microsoft.com/office/drawing/2014/main" id="{35EFC652-0835-7743-8CD8-2AB6CD16C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653939"/>
              <a:ext cx="650875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1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1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1" y="499"/>
                  </a:cubicBezTo>
                  <a:cubicBezTo>
                    <a:pt x="401" y="499"/>
                    <a:pt x="401" y="499"/>
                    <a:pt x="401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Freeform 20">
              <a:extLst>
                <a:ext uri="{FF2B5EF4-FFF2-40B4-BE49-F238E27FC236}">
                  <a16:creationId xmlns:a16="http://schemas.microsoft.com/office/drawing/2014/main" id="{1733421A-7BE4-0745-B845-F60A2724AD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73450" y="3963626"/>
              <a:ext cx="996950" cy="269875"/>
            </a:xfrm>
            <a:custGeom>
              <a:avLst/>
              <a:gdLst>
                <a:gd name="T0" fmla="*/ 0 w 681"/>
                <a:gd name="T1" fmla="*/ 0 h 170"/>
                <a:gd name="T2" fmla="*/ 2147483647 w 681"/>
                <a:gd name="T3" fmla="*/ 0 h 170"/>
                <a:gd name="T4" fmla="*/ 0 w 681"/>
                <a:gd name="T5" fmla="*/ 2147483647 h 170"/>
                <a:gd name="T6" fmla="*/ 2147483647 w 681"/>
                <a:gd name="T7" fmla="*/ 2147483647 h 170"/>
                <a:gd name="T8" fmla="*/ 2147483647 w 681"/>
                <a:gd name="T9" fmla="*/ 2147483647 h 170"/>
                <a:gd name="T10" fmla="*/ 2147483647 w 681"/>
                <a:gd name="T11" fmla="*/ 2147483647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1"/>
                <a:gd name="T19" fmla="*/ 0 h 170"/>
                <a:gd name="T20" fmla="*/ 681 w 681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1" h="170">
                  <a:moveTo>
                    <a:pt x="0" y="0"/>
                  </a:moveTo>
                  <a:lnTo>
                    <a:pt x="341" y="0"/>
                  </a:lnTo>
                  <a:moveTo>
                    <a:pt x="0" y="170"/>
                  </a:moveTo>
                  <a:lnTo>
                    <a:pt x="341" y="170"/>
                  </a:lnTo>
                  <a:moveTo>
                    <a:pt x="681" y="85"/>
                  </a:moveTo>
                  <a:lnTo>
                    <a:pt x="341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Freeform 21">
              <a:extLst>
                <a:ext uri="{FF2B5EF4-FFF2-40B4-BE49-F238E27FC236}">
                  <a16:creationId xmlns:a16="http://schemas.microsoft.com/office/drawing/2014/main" id="{8A41C2D8-0F9D-294B-93B2-E5105B7F6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5" y="3828689"/>
              <a:ext cx="647700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50"/>
                  </a:moveTo>
                  <a:cubicBezTo>
                    <a:pt x="574" y="373"/>
                    <a:pt x="404" y="465"/>
                    <a:pt x="196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6" y="0"/>
                  </a:lnTo>
                  <a:cubicBezTo>
                    <a:pt x="405" y="33"/>
                    <a:pt x="575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22">
              <a:extLst>
                <a:ext uri="{FF2B5EF4-FFF2-40B4-BE49-F238E27FC236}">
                  <a16:creationId xmlns:a16="http://schemas.microsoft.com/office/drawing/2014/main" id="{11F40BC3-4DFD-E346-B790-62C850887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5" y="3828689"/>
              <a:ext cx="647700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50"/>
                  </a:moveTo>
                  <a:cubicBezTo>
                    <a:pt x="574" y="373"/>
                    <a:pt x="404" y="465"/>
                    <a:pt x="196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6" y="0"/>
                  </a:lnTo>
                  <a:cubicBezTo>
                    <a:pt x="405" y="33"/>
                    <a:pt x="575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23">
              <a:extLst>
                <a:ext uri="{FF2B5EF4-FFF2-40B4-BE49-F238E27FC236}">
                  <a16:creationId xmlns:a16="http://schemas.microsoft.com/office/drawing/2014/main" id="{753A01DC-CEB4-3D4C-ACD5-E4790ADDE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4057289"/>
              <a:ext cx="74613" cy="80962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9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58"/>
                    <a:pt x="17" y="75"/>
                    <a:pt x="38" y="75"/>
                  </a:cubicBezTo>
                  <a:cubicBezTo>
                    <a:pt x="59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Freeform 24">
              <a:extLst>
                <a:ext uri="{FF2B5EF4-FFF2-40B4-BE49-F238E27FC236}">
                  <a16:creationId xmlns:a16="http://schemas.microsoft.com/office/drawing/2014/main" id="{B42F932B-1AF0-BA47-A9FD-46458FCD3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4057289"/>
              <a:ext cx="74613" cy="80962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2"/>
                    <a:pt x="40" y="0"/>
                    <a:pt x="26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40"/>
                    <a:pt x="11" y="51"/>
                    <a:pt x="26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reeform 25">
              <a:extLst>
                <a:ext uri="{FF2B5EF4-FFF2-40B4-BE49-F238E27FC236}">
                  <a16:creationId xmlns:a16="http://schemas.microsoft.com/office/drawing/2014/main" id="{7199D91F-0AB7-7F41-845D-697D79A3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5" y="3828689"/>
              <a:ext cx="647700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1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1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1" y="499"/>
                  </a:cubicBezTo>
                  <a:cubicBezTo>
                    <a:pt x="401" y="499"/>
                    <a:pt x="401" y="499"/>
                    <a:pt x="401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Freeform 26">
              <a:extLst>
                <a:ext uri="{FF2B5EF4-FFF2-40B4-BE49-F238E27FC236}">
                  <a16:creationId xmlns:a16="http://schemas.microsoft.com/office/drawing/2014/main" id="{211534A8-EE88-1E49-A11E-6CF129F43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5" y="3828689"/>
              <a:ext cx="647700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1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1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1" y="499"/>
                  </a:cubicBezTo>
                  <a:cubicBezTo>
                    <a:pt x="401" y="499"/>
                    <a:pt x="401" y="499"/>
                    <a:pt x="401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Freeform 27">
              <a:extLst>
                <a:ext uri="{FF2B5EF4-FFF2-40B4-BE49-F238E27FC236}">
                  <a16:creationId xmlns:a16="http://schemas.microsoft.com/office/drawing/2014/main" id="{6AAF9CA3-15F9-B945-B90E-4733B9044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025" y="2788876"/>
              <a:ext cx="193675" cy="4763"/>
            </a:xfrm>
            <a:custGeom>
              <a:avLst/>
              <a:gdLst>
                <a:gd name="T0" fmla="*/ 2147483647 w 133"/>
                <a:gd name="T1" fmla="*/ 0 h 3"/>
                <a:gd name="T2" fmla="*/ 2147483647 w 133"/>
                <a:gd name="T3" fmla="*/ 0 h 3"/>
                <a:gd name="T4" fmla="*/ 2147483647 w 133"/>
                <a:gd name="T5" fmla="*/ 2147483647 h 3"/>
                <a:gd name="T6" fmla="*/ 0 w 133"/>
                <a:gd name="T7" fmla="*/ 2147483647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3"/>
                <a:gd name="T13" fmla="*/ 0 h 3"/>
                <a:gd name="T14" fmla="*/ 133 w 133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3" h="3">
                  <a:moveTo>
                    <a:pt x="133" y="0"/>
                  </a:moveTo>
                  <a:lnTo>
                    <a:pt x="53" y="0"/>
                  </a:lnTo>
                  <a:lnTo>
                    <a:pt x="53" y="3"/>
                  </a:lnTo>
                  <a:lnTo>
                    <a:pt x="0" y="3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7" name="Freeform 28">
              <a:extLst>
                <a:ext uri="{FF2B5EF4-FFF2-40B4-BE49-F238E27FC236}">
                  <a16:creationId xmlns:a16="http://schemas.microsoft.com/office/drawing/2014/main" id="{3B21EDFB-52BB-0C41-829C-C25B364D9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025" y="4233501"/>
              <a:ext cx="225425" cy="1588"/>
            </a:xfrm>
            <a:custGeom>
              <a:avLst/>
              <a:gdLst>
                <a:gd name="T0" fmla="*/ 2147483647 w 154"/>
                <a:gd name="T1" fmla="*/ 0 h 1588"/>
                <a:gd name="T2" fmla="*/ 2147483647 w 154"/>
                <a:gd name="T3" fmla="*/ 0 h 1588"/>
                <a:gd name="T4" fmla="*/ 2147483647 w 154"/>
                <a:gd name="T5" fmla="*/ 0 h 1588"/>
                <a:gd name="T6" fmla="*/ 0 w 154"/>
                <a:gd name="T7" fmla="*/ 0 h 15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1588"/>
                <a:gd name="T14" fmla="*/ 154 w 154"/>
                <a:gd name="T15" fmla="*/ 1588 h 15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1588">
                  <a:moveTo>
                    <a:pt x="154" y="0"/>
                  </a:moveTo>
                  <a:lnTo>
                    <a:pt x="115" y="0"/>
                  </a:ln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8" name="Rectangle 29">
              <a:extLst>
                <a:ext uri="{FF2B5EF4-FFF2-40B4-BE49-F238E27FC236}">
                  <a16:creationId xmlns:a16="http://schemas.microsoft.com/office/drawing/2014/main" id="{764EF12C-3CBA-3E43-A049-140B80FB7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237" y="5041889"/>
              <a:ext cx="20358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200" b="0" i="1" dirty="0">
                  <a:solidFill>
                    <a:schemeClr val="tx1"/>
                  </a:solidFill>
                  <a:latin typeface="Times New Roman" pitchFamily="18" charset="0"/>
                </a:rPr>
                <a:t>D</a:t>
              </a:r>
              <a:endParaRPr lang="en-US" altLang="zh-CN" sz="1800" b="0" dirty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169" name="Freeform 33">
              <a:extLst>
                <a:ext uri="{FF2B5EF4-FFF2-40B4-BE49-F238E27FC236}">
                  <a16:creationId xmlns:a16="http://schemas.microsoft.com/office/drawing/2014/main" id="{A2002EB0-F9B7-4342-AABC-65F1A8BE10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7900" y="2658701"/>
              <a:ext cx="1000125" cy="268288"/>
            </a:xfrm>
            <a:custGeom>
              <a:avLst/>
              <a:gdLst>
                <a:gd name="T0" fmla="*/ 0 w 682"/>
                <a:gd name="T1" fmla="*/ 0 h 169"/>
                <a:gd name="T2" fmla="*/ 2147483647 w 682"/>
                <a:gd name="T3" fmla="*/ 0 h 169"/>
                <a:gd name="T4" fmla="*/ 0 w 682"/>
                <a:gd name="T5" fmla="*/ 2147483647 h 169"/>
                <a:gd name="T6" fmla="*/ 2147483647 w 682"/>
                <a:gd name="T7" fmla="*/ 2147483647 h 169"/>
                <a:gd name="T8" fmla="*/ 2147483647 w 682"/>
                <a:gd name="T9" fmla="*/ 2147483647 h 169"/>
                <a:gd name="T10" fmla="*/ 2147483647 w 682"/>
                <a:gd name="T11" fmla="*/ 2147483647 h 1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2"/>
                <a:gd name="T19" fmla="*/ 0 h 169"/>
                <a:gd name="T20" fmla="*/ 682 w 682"/>
                <a:gd name="T21" fmla="*/ 169 h 1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2" h="169">
                  <a:moveTo>
                    <a:pt x="0" y="0"/>
                  </a:moveTo>
                  <a:lnTo>
                    <a:pt x="340" y="0"/>
                  </a:lnTo>
                  <a:moveTo>
                    <a:pt x="0" y="169"/>
                  </a:moveTo>
                  <a:lnTo>
                    <a:pt x="340" y="169"/>
                  </a:lnTo>
                  <a:moveTo>
                    <a:pt x="682" y="85"/>
                  </a:moveTo>
                  <a:lnTo>
                    <a:pt x="340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0" name="Freeform 34">
              <a:extLst>
                <a:ext uri="{FF2B5EF4-FFF2-40B4-BE49-F238E27FC236}">
                  <a16:creationId xmlns:a16="http://schemas.microsoft.com/office/drawing/2014/main" id="{E06AA2B7-4B63-2049-9915-FDF257085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523764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5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1" name="Freeform 35">
              <a:extLst>
                <a:ext uri="{FF2B5EF4-FFF2-40B4-BE49-F238E27FC236}">
                  <a16:creationId xmlns:a16="http://schemas.microsoft.com/office/drawing/2014/main" id="{948EBC2C-E262-BF4D-87D0-06018DEB4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523764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5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2" name="Freeform 36">
              <a:extLst>
                <a:ext uri="{FF2B5EF4-FFF2-40B4-BE49-F238E27FC236}">
                  <a16:creationId xmlns:a16="http://schemas.microsoft.com/office/drawing/2014/main" id="{97D586A1-AA42-7742-B68F-7D4AB062A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2752364"/>
              <a:ext cx="74613" cy="80962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6" y="0"/>
                    <a:pt x="0" y="17"/>
                    <a:pt x="0" y="38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8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D131FE5E-60D0-DC4F-A27D-802920ECA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2752364"/>
              <a:ext cx="74613" cy="80962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2"/>
                    <a:pt x="40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40"/>
                    <a:pt x="11" y="51"/>
                    <a:pt x="25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1A06C9D1-D332-6040-BCD0-4210946F7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523764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400" dirty="0">
                  <a:solidFill>
                    <a:schemeClr val="tx1"/>
                  </a:solidFill>
                </a:rPr>
                <a:t>G3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75" name="Freeform 39">
              <a:extLst>
                <a:ext uri="{FF2B5EF4-FFF2-40B4-BE49-F238E27FC236}">
                  <a16:creationId xmlns:a16="http://schemas.microsoft.com/office/drawing/2014/main" id="{D42DF063-6B8D-B545-AF30-0A87AE37B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2523764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6" name="Freeform 40">
              <a:extLst>
                <a:ext uri="{FF2B5EF4-FFF2-40B4-BE49-F238E27FC236}">
                  <a16:creationId xmlns:a16="http://schemas.microsoft.com/office/drawing/2014/main" id="{30EF4AC5-7B8A-E745-8DD0-761E91F095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7900" y="4096976"/>
              <a:ext cx="1000125" cy="271463"/>
            </a:xfrm>
            <a:custGeom>
              <a:avLst/>
              <a:gdLst>
                <a:gd name="T0" fmla="*/ 0 w 682"/>
                <a:gd name="T1" fmla="*/ 0 h 171"/>
                <a:gd name="T2" fmla="*/ 2147483647 w 682"/>
                <a:gd name="T3" fmla="*/ 0 h 171"/>
                <a:gd name="T4" fmla="*/ 0 w 682"/>
                <a:gd name="T5" fmla="*/ 2147483647 h 171"/>
                <a:gd name="T6" fmla="*/ 2147483647 w 682"/>
                <a:gd name="T7" fmla="*/ 2147483647 h 171"/>
                <a:gd name="T8" fmla="*/ 0 w 682"/>
                <a:gd name="T9" fmla="*/ 2147483647 h 171"/>
                <a:gd name="T10" fmla="*/ 2147483647 w 682"/>
                <a:gd name="T11" fmla="*/ 2147483647 h 171"/>
                <a:gd name="T12" fmla="*/ 2147483647 w 682"/>
                <a:gd name="T13" fmla="*/ 2147483647 h 171"/>
                <a:gd name="T14" fmla="*/ 2147483647 w 682"/>
                <a:gd name="T15" fmla="*/ 2147483647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82"/>
                <a:gd name="T25" fmla="*/ 0 h 171"/>
                <a:gd name="T26" fmla="*/ 682 w 682"/>
                <a:gd name="T27" fmla="*/ 171 h 17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82" h="171">
                  <a:moveTo>
                    <a:pt x="0" y="0"/>
                  </a:moveTo>
                  <a:lnTo>
                    <a:pt x="340" y="0"/>
                  </a:lnTo>
                  <a:moveTo>
                    <a:pt x="0" y="86"/>
                  </a:moveTo>
                  <a:lnTo>
                    <a:pt x="340" y="86"/>
                  </a:lnTo>
                  <a:moveTo>
                    <a:pt x="0" y="171"/>
                  </a:moveTo>
                  <a:lnTo>
                    <a:pt x="340" y="171"/>
                  </a:lnTo>
                  <a:moveTo>
                    <a:pt x="682" y="86"/>
                  </a:moveTo>
                  <a:lnTo>
                    <a:pt x="340" y="86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7" name="Freeform 41">
              <a:extLst>
                <a:ext uri="{FF2B5EF4-FFF2-40B4-BE49-F238E27FC236}">
                  <a16:creationId xmlns:a16="http://schemas.microsoft.com/office/drawing/2014/main" id="{DB2E2FA7-01C4-4E47-9A02-8C3AC5662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39636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49"/>
                  </a:moveTo>
                  <a:cubicBezTo>
                    <a:pt x="573" y="372"/>
                    <a:pt x="404" y="465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4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8" name="Freeform 42">
              <a:extLst>
                <a:ext uri="{FF2B5EF4-FFF2-40B4-BE49-F238E27FC236}">
                  <a16:creationId xmlns:a16="http://schemas.microsoft.com/office/drawing/2014/main" id="{91A57F7C-1D5D-004B-BAB0-FEB536297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39636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0 w 651"/>
                <a:gd name="T5" fmla="*/ 2147483647 h 499"/>
                <a:gd name="T6" fmla="*/ 0 w 651"/>
                <a:gd name="T7" fmla="*/ 0 h 499"/>
                <a:gd name="T8" fmla="*/ 0 w 651"/>
                <a:gd name="T9" fmla="*/ 0 h 499"/>
                <a:gd name="T10" fmla="*/ 2147483647 w 651"/>
                <a:gd name="T11" fmla="*/ 0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651" y="249"/>
                  </a:moveTo>
                  <a:cubicBezTo>
                    <a:pt x="573" y="372"/>
                    <a:pt x="404" y="465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4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9" name="Freeform 43">
              <a:extLst>
                <a:ext uri="{FF2B5EF4-FFF2-40B4-BE49-F238E27FC236}">
                  <a16:creationId xmlns:a16="http://schemas.microsoft.com/office/drawing/2014/main" id="{137C78B1-C53A-734C-B566-0252E2C1E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4192226"/>
              <a:ext cx="74613" cy="80963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7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8" y="75"/>
                    <a:pt x="75" y="58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0" name="Freeform 44">
              <a:extLst>
                <a:ext uri="{FF2B5EF4-FFF2-40B4-BE49-F238E27FC236}">
                  <a16:creationId xmlns:a16="http://schemas.microsoft.com/office/drawing/2014/main" id="{C8A1821C-8E93-7C42-8E4C-45A8AAFEA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4192226"/>
              <a:ext cx="74613" cy="80963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2"/>
                    <a:pt x="40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40"/>
                    <a:pt x="11" y="51"/>
                    <a:pt x="25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1" name="Freeform 45">
              <a:extLst>
                <a:ext uri="{FF2B5EF4-FFF2-40B4-BE49-F238E27FC236}">
                  <a16:creationId xmlns:a16="http://schemas.microsoft.com/office/drawing/2014/main" id="{7F2F4B2A-30D9-DA41-A3EA-3289C1488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39636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1"/>
                    <a:pt x="651" y="249"/>
                  </a:cubicBezTo>
                  <a:cubicBezTo>
                    <a:pt x="651" y="387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400" dirty="0">
                  <a:solidFill>
                    <a:schemeClr val="tx1"/>
                  </a:solidFill>
                </a:rPr>
                <a:t>G2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82" name="Freeform 46">
              <a:extLst>
                <a:ext uri="{FF2B5EF4-FFF2-40B4-BE49-F238E27FC236}">
                  <a16:creationId xmlns:a16="http://schemas.microsoft.com/office/drawing/2014/main" id="{07C8054B-A745-544A-89CB-706FFBD5D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39636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1"/>
                    <a:pt x="651" y="249"/>
                  </a:cubicBezTo>
                  <a:cubicBezTo>
                    <a:pt x="651" y="387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3" name="Freeform 47">
              <a:extLst>
                <a:ext uri="{FF2B5EF4-FFF2-40B4-BE49-F238E27FC236}">
                  <a16:creationId xmlns:a16="http://schemas.microsoft.com/office/drawing/2014/main" id="{9B794CC1-E905-BF47-910B-A23323C6A3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7900" y="1750651"/>
              <a:ext cx="1000125" cy="269875"/>
            </a:xfrm>
            <a:custGeom>
              <a:avLst/>
              <a:gdLst>
                <a:gd name="T0" fmla="*/ 0 w 682"/>
                <a:gd name="T1" fmla="*/ 0 h 170"/>
                <a:gd name="T2" fmla="*/ 2147483647 w 682"/>
                <a:gd name="T3" fmla="*/ 0 h 170"/>
                <a:gd name="T4" fmla="*/ 0 w 682"/>
                <a:gd name="T5" fmla="*/ 2147483647 h 170"/>
                <a:gd name="T6" fmla="*/ 2147483647 w 682"/>
                <a:gd name="T7" fmla="*/ 2147483647 h 170"/>
                <a:gd name="T8" fmla="*/ 2147483647 w 682"/>
                <a:gd name="T9" fmla="*/ 2147483647 h 170"/>
                <a:gd name="T10" fmla="*/ 2147483647 w 682"/>
                <a:gd name="T11" fmla="*/ 2147483647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2"/>
                <a:gd name="T19" fmla="*/ 0 h 170"/>
                <a:gd name="T20" fmla="*/ 682 w 682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2" h="170">
                  <a:moveTo>
                    <a:pt x="0" y="0"/>
                  </a:moveTo>
                  <a:lnTo>
                    <a:pt x="340" y="0"/>
                  </a:lnTo>
                  <a:moveTo>
                    <a:pt x="0" y="170"/>
                  </a:moveTo>
                  <a:lnTo>
                    <a:pt x="340" y="170"/>
                  </a:lnTo>
                  <a:moveTo>
                    <a:pt x="682" y="85"/>
                  </a:moveTo>
                  <a:lnTo>
                    <a:pt x="340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4" name="Freeform 48">
              <a:extLst>
                <a:ext uri="{FF2B5EF4-FFF2-40B4-BE49-F238E27FC236}">
                  <a16:creationId xmlns:a16="http://schemas.microsoft.com/office/drawing/2014/main" id="{3BC2AC3E-4EC2-344D-832D-26AAE25DD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16141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2147483647 w 651"/>
                <a:gd name="T5" fmla="*/ 2147483647 h 499"/>
                <a:gd name="T6" fmla="*/ 0 w 651"/>
                <a:gd name="T7" fmla="*/ 2147483647 h 499"/>
                <a:gd name="T8" fmla="*/ 0 w 651"/>
                <a:gd name="T9" fmla="*/ 0 h 499"/>
                <a:gd name="T10" fmla="*/ 0 w 651"/>
                <a:gd name="T11" fmla="*/ 0 h 499"/>
                <a:gd name="T12" fmla="*/ 2147483647 w 651"/>
                <a:gd name="T13" fmla="*/ 0 h 499"/>
                <a:gd name="T14" fmla="*/ 2147483647 w 651"/>
                <a:gd name="T15" fmla="*/ 2147483647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499"/>
                <a:gd name="T26" fmla="*/ 651 w 651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6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5" name="Freeform 49">
              <a:extLst>
                <a:ext uri="{FF2B5EF4-FFF2-40B4-BE49-F238E27FC236}">
                  <a16:creationId xmlns:a16="http://schemas.microsoft.com/office/drawing/2014/main" id="{400C659E-34F6-C04D-8999-7A630D591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16141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2147483647 w 651"/>
                <a:gd name="T3" fmla="*/ 2147483647 h 499"/>
                <a:gd name="T4" fmla="*/ 2147483647 w 651"/>
                <a:gd name="T5" fmla="*/ 2147483647 h 499"/>
                <a:gd name="T6" fmla="*/ 0 w 651"/>
                <a:gd name="T7" fmla="*/ 2147483647 h 499"/>
                <a:gd name="T8" fmla="*/ 0 w 651"/>
                <a:gd name="T9" fmla="*/ 0 h 499"/>
                <a:gd name="T10" fmla="*/ 0 w 651"/>
                <a:gd name="T11" fmla="*/ 0 h 499"/>
                <a:gd name="T12" fmla="*/ 2147483647 w 651"/>
                <a:gd name="T13" fmla="*/ 0 h 499"/>
                <a:gd name="T14" fmla="*/ 2147483647 w 651"/>
                <a:gd name="T15" fmla="*/ 2147483647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499"/>
                <a:gd name="T26" fmla="*/ 651 w 651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499">
                  <a:moveTo>
                    <a:pt x="651" y="250"/>
                  </a:moveTo>
                  <a:cubicBezTo>
                    <a:pt x="573" y="373"/>
                    <a:pt x="404" y="466"/>
                    <a:pt x="195" y="499"/>
                  </a:cubicBezTo>
                  <a:lnTo>
                    <a:pt x="0" y="499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6" name="Freeform 50">
              <a:extLst>
                <a:ext uri="{FF2B5EF4-FFF2-40B4-BE49-F238E27FC236}">
                  <a16:creationId xmlns:a16="http://schemas.microsoft.com/office/drawing/2014/main" id="{3915CFF7-DC22-854F-8E45-9D1BCB459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1844314"/>
              <a:ext cx="74613" cy="80962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6" y="0"/>
                    <a:pt x="0" y="17"/>
                    <a:pt x="0" y="38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8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7" name="Freeform 51">
              <a:extLst>
                <a:ext uri="{FF2B5EF4-FFF2-40B4-BE49-F238E27FC236}">
                  <a16:creationId xmlns:a16="http://schemas.microsoft.com/office/drawing/2014/main" id="{2FC45175-AF34-814C-AFFE-905779DB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1844314"/>
              <a:ext cx="74613" cy="80962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1"/>
                    <a:pt x="40" y="0"/>
                    <a:pt x="25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39"/>
                    <a:pt x="11" y="51"/>
                    <a:pt x="25" y="51"/>
                  </a:cubicBezTo>
                  <a:cubicBezTo>
                    <a:pt x="40" y="51"/>
                    <a:pt x="51" y="39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8" name="Freeform 52">
              <a:extLst>
                <a:ext uri="{FF2B5EF4-FFF2-40B4-BE49-F238E27FC236}">
                  <a16:creationId xmlns:a16="http://schemas.microsoft.com/office/drawing/2014/main" id="{6D89863A-A91A-C04D-8ABE-C769992ED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16141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9" name="Freeform 53">
              <a:extLst>
                <a:ext uri="{FF2B5EF4-FFF2-40B4-BE49-F238E27FC236}">
                  <a16:creationId xmlns:a16="http://schemas.microsoft.com/office/drawing/2014/main" id="{BDA28D27-0D1E-5B4A-84E0-9BF4E2214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1614126"/>
              <a:ext cx="649288" cy="539750"/>
            </a:xfrm>
            <a:custGeom>
              <a:avLst/>
              <a:gdLst>
                <a:gd name="T0" fmla="*/ 2147483647 w 651"/>
                <a:gd name="T1" fmla="*/ 2147483647 h 499"/>
                <a:gd name="T2" fmla="*/ 0 w 651"/>
                <a:gd name="T3" fmla="*/ 2147483647 h 499"/>
                <a:gd name="T4" fmla="*/ 0 w 651"/>
                <a:gd name="T5" fmla="*/ 0 h 499"/>
                <a:gd name="T6" fmla="*/ 2147483647 w 651"/>
                <a:gd name="T7" fmla="*/ 0 h 499"/>
                <a:gd name="T8" fmla="*/ 2147483647 w 651"/>
                <a:gd name="T9" fmla="*/ 2147483647 h 499"/>
                <a:gd name="T10" fmla="*/ 2147483647 w 651"/>
                <a:gd name="T11" fmla="*/ 2147483647 h 499"/>
                <a:gd name="T12" fmla="*/ 2147483647 w 651"/>
                <a:gd name="T13" fmla="*/ 2147483647 h 4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499"/>
                <a:gd name="T23" fmla="*/ 651 w 651"/>
                <a:gd name="T24" fmla="*/ 499 h 4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499">
                  <a:moveTo>
                    <a:pt x="400" y="499"/>
                  </a:moveTo>
                  <a:lnTo>
                    <a:pt x="0" y="499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499"/>
                    <a:pt x="400" y="499"/>
                  </a:cubicBezTo>
                  <a:cubicBezTo>
                    <a:pt x="400" y="499"/>
                    <a:pt x="400" y="499"/>
                    <a:pt x="400" y="499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400" dirty="0">
                  <a:solidFill>
                    <a:schemeClr val="tx1"/>
                  </a:solidFill>
                </a:rPr>
                <a:t>G4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90" name="Freeform 54">
              <a:extLst>
                <a:ext uri="{FF2B5EF4-FFF2-40B4-BE49-F238E27FC236}">
                  <a16:creationId xmlns:a16="http://schemas.microsoft.com/office/drawing/2014/main" id="{7B6F6AAA-9B44-A24B-9FCE-2BDDD71FCC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7900" y="4957401"/>
              <a:ext cx="1000125" cy="269875"/>
            </a:xfrm>
            <a:custGeom>
              <a:avLst/>
              <a:gdLst>
                <a:gd name="T0" fmla="*/ 0 w 682"/>
                <a:gd name="T1" fmla="*/ 0 h 170"/>
                <a:gd name="T2" fmla="*/ 2147483647 w 682"/>
                <a:gd name="T3" fmla="*/ 0 h 170"/>
                <a:gd name="T4" fmla="*/ 0 w 682"/>
                <a:gd name="T5" fmla="*/ 2147483647 h 170"/>
                <a:gd name="T6" fmla="*/ 2147483647 w 682"/>
                <a:gd name="T7" fmla="*/ 2147483647 h 170"/>
                <a:gd name="T8" fmla="*/ 2147483647 w 682"/>
                <a:gd name="T9" fmla="*/ 2147483647 h 170"/>
                <a:gd name="T10" fmla="*/ 2147483647 w 682"/>
                <a:gd name="T11" fmla="*/ 2147483647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2"/>
                <a:gd name="T19" fmla="*/ 0 h 170"/>
                <a:gd name="T20" fmla="*/ 682 w 682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2" h="170">
                  <a:moveTo>
                    <a:pt x="0" y="0"/>
                  </a:moveTo>
                  <a:lnTo>
                    <a:pt x="340" y="0"/>
                  </a:lnTo>
                  <a:moveTo>
                    <a:pt x="0" y="170"/>
                  </a:moveTo>
                  <a:lnTo>
                    <a:pt x="340" y="170"/>
                  </a:lnTo>
                  <a:moveTo>
                    <a:pt x="682" y="85"/>
                  </a:moveTo>
                  <a:lnTo>
                    <a:pt x="340" y="85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1" name="Freeform 55">
              <a:extLst>
                <a:ext uri="{FF2B5EF4-FFF2-40B4-BE49-F238E27FC236}">
                  <a16:creationId xmlns:a16="http://schemas.microsoft.com/office/drawing/2014/main" id="{6844DAEB-84B9-244B-8C36-C52DDC2AA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4822464"/>
              <a:ext cx="649288" cy="539750"/>
            </a:xfrm>
            <a:custGeom>
              <a:avLst/>
              <a:gdLst>
                <a:gd name="T0" fmla="*/ 2147483647 w 651"/>
                <a:gd name="T1" fmla="*/ 2147483647 h 500"/>
                <a:gd name="T2" fmla="*/ 2147483647 w 651"/>
                <a:gd name="T3" fmla="*/ 2147483647 h 500"/>
                <a:gd name="T4" fmla="*/ 0 w 651"/>
                <a:gd name="T5" fmla="*/ 2147483647 h 500"/>
                <a:gd name="T6" fmla="*/ 0 w 651"/>
                <a:gd name="T7" fmla="*/ 0 h 500"/>
                <a:gd name="T8" fmla="*/ 0 w 651"/>
                <a:gd name="T9" fmla="*/ 0 h 500"/>
                <a:gd name="T10" fmla="*/ 2147483647 w 651"/>
                <a:gd name="T11" fmla="*/ 0 h 500"/>
                <a:gd name="T12" fmla="*/ 2147483647 w 651"/>
                <a:gd name="T13" fmla="*/ 2147483647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500"/>
                <a:gd name="T23" fmla="*/ 651 w 651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500">
                  <a:moveTo>
                    <a:pt x="651" y="250"/>
                  </a:moveTo>
                  <a:cubicBezTo>
                    <a:pt x="573" y="373"/>
                    <a:pt x="404" y="466"/>
                    <a:pt x="195" y="500"/>
                  </a:cubicBezTo>
                  <a:lnTo>
                    <a:pt x="0" y="500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2" name="Freeform 56">
              <a:extLst>
                <a:ext uri="{FF2B5EF4-FFF2-40B4-BE49-F238E27FC236}">
                  <a16:creationId xmlns:a16="http://schemas.microsoft.com/office/drawing/2014/main" id="{7023A160-0DBF-F64B-B19A-A1BF22B86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4822464"/>
              <a:ext cx="649288" cy="539750"/>
            </a:xfrm>
            <a:custGeom>
              <a:avLst/>
              <a:gdLst>
                <a:gd name="T0" fmla="*/ 2147483647 w 651"/>
                <a:gd name="T1" fmla="*/ 2147483647 h 500"/>
                <a:gd name="T2" fmla="*/ 2147483647 w 651"/>
                <a:gd name="T3" fmla="*/ 2147483647 h 500"/>
                <a:gd name="T4" fmla="*/ 0 w 651"/>
                <a:gd name="T5" fmla="*/ 2147483647 h 500"/>
                <a:gd name="T6" fmla="*/ 0 w 651"/>
                <a:gd name="T7" fmla="*/ 0 h 500"/>
                <a:gd name="T8" fmla="*/ 0 w 651"/>
                <a:gd name="T9" fmla="*/ 0 h 500"/>
                <a:gd name="T10" fmla="*/ 2147483647 w 651"/>
                <a:gd name="T11" fmla="*/ 0 h 500"/>
                <a:gd name="T12" fmla="*/ 2147483647 w 651"/>
                <a:gd name="T13" fmla="*/ 2147483647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500"/>
                <a:gd name="T23" fmla="*/ 651 w 651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500">
                  <a:moveTo>
                    <a:pt x="651" y="250"/>
                  </a:moveTo>
                  <a:cubicBezTo>
                    <a:pt x="573" y="373"/>
                    <a:pt x="404" y="466"/>
                    <a:pt x="195" y="500"/>
                  </a:cubicBezTo>
                  <a:lnTo>
                    <a:pt x="0" y="500"/>
                  </a:lnTo>
                  <a:cubicBezTo>
                    <a:pt x="121" y="341"/>
                    <a:pt x="121" y="158"/>
                    <a:pt x="0" y="0"/>
                  </a:cubicBezTo>
                  <a:lnTo>
                    <a:pt x="195" y="0"/>
                  </a:lnTo>
                  <a:cubicBezTo>
                    <a:pt x="404" y="33"/>
                    <a:pt x="574" y="126"/>
                    <a:pt x="651" y="25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3" name="Freeform 57">
              <a:extLst>
                <a:ext uri="{FF2B5EF4-FFF2-40B4-BE49-F238E27FC236}">
                  <a16:creationId xmlns:a16="http://schemas.microsoft.com/office/drawing/2014/main" id="{4AC64E5A-9E0C-B545-8854-2451A6B14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5051064"/>
              <a:ext cx="74613" cy="80962"/>
            </a:xfrm>
            <a:custGeom>
              <a:avLst/>
              <a:gdLst>
                <a:gd name="T0" fmla="*/ 2147483647 w 75"/>
                <a:gd name="T1" fmla="*/ 2147483647 h 75"/>
                <a:gd name="T2" fmla="*/ 2147483647 w 75"/>
                <a:gd name="T3" fmla="*/ 0 h 75"/>
                <a:gd name="T4" fmla="*/ 0 w 75"/>
                <a:gd name="T5" fmla="*/ 2147483647 h 75"/>
                <a:gd name="T6" fmla="*/ 2147483647 w 75"/>
                <a:gd name="T7" fmla="*/ 2147483647 h 75"/>
                <a:gd name="T8" fmla="*/ 2147483647 w 75"/>
                <a:gd name="T9" fmla="*/ 2147483647 h 75"/>
                <a:gd name="T10" fmla="*/ 2147483647 w 75"/>
                <a:gd name="T11" fmla="*/ 2147483647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"/>
                <a:gd name="T19" fmla="*/ 0 h 75"/>
                <a:gd name="T20" fmla="*/ 75 w 75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" h="75"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6" y="0"/>
                    <a:pt x="0" y="17"/>
                    <a:pt x="0" y="38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8" y="75"/>
                    <a:pt x="75" y="58"/>
                    <a:pt x="75" y="38"/>
                  </a:cubicBezTo>
                  <a:cubicBezTo>
                    <a:pt x="75" y="38"/>
                    <a:pt x="75" y="38"/>
                    <a:pt x="75" y="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4" name="Freeform 58">
              <a:extLst>
                <a:ext uri="{FF2B5EF4-FFF2-40B4-BE49-F238E27FC236}">
                  <a16:creationId xmlns:a16="http://schemas.microsoft.com/office/drawing/2014/main" id="{BA9313D5-8707-FD4F-AEF5-AE7F08C40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225" y="5051064"/>
              <a:ext cx="74613" cy="80962"/>
            </a:xfrm>
            <a:custGeom>
              <a:avLst/>
              <a:gdLst>
                <a:gd name="T0" fmla="*/ 2147483647 w 51"/>
                <a:gd name="T1" fmla="*/ 2147483647 h 51"/>
                <a:gd name="T2" fmla="*/ 2147483647 w 51"/>
                <a:gd name="T3" fmla="*/ 0 h 51"/>
                <a:gd name="T4" fmla="*/ 0 w 51"/>
                <a:gd name="T5" fmla="*/ 2147483647 h 51"/>
                <a:gd name="T6" fmla="*/ 2147483647 w 51"/>
                <a:gd name="T7" fmla="*/ 2147483647 h 51"/>
                <a:gd name="T8" fmla="*/ 2147483647 w 51"/>
                <a:gd name="T9" fmla="*/ 2147483647 h 51"/>
                <a:gd name="T10" fmla="*/ 2147483647 w 51"/>
                <a:gd name="T11" fmla="*/ 214748364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51"/>
                <a:gd name="T20" fmla="*/ 51 w 51"/>
                <a:gd name="T21" fmla="*/ 51 h 5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51">
                  <a:moveTo>
                    <a:pt x="51" y="26"/>
                  </a:moveTo>
                  <a:cubicBezTo>
                    <a:pt x="51" y="12"/>
                    <a:pt x="40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40"/>
                    <a:pt x="11" y="51"/>
                    <a:pt x="25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5" name="Freeform 59">
              <a:extLst>
                <a:ext uri="{FF2B5EF4-FFF2-40B4-BE49-F238E27FC236}">
                  <a16:creationId xmlns:a16="http://schemas.microsoft.com/office/drawing/2014/main" id="{B03738A0-3244-5841-9D68-57A83206B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4822464"/>
              <a:ext cx="649288" cy="539750"/>
            </a:xfrm>
            <a:custGeom>
              <a:avLst/>
              <a:gdLst>
                <a:gd name="T0" fmla="*/ 2147483647 w 651"/>
                <a:gd name="T1" fmla="*/ 2147483647 h 500"/>
                <a:gd name="T2" fmla="*/ 0 w 651"/>
                <a:gd name="T3" fmla="*/ 2147483647 h 500"/>
                <a:gd name="T4" fmla="*/ 0 w 651"/>
                <a:gd name="T5" fmla="*/ 0 h 500"/>
                <a:gd name="T6" fmla="*/ 2147483647 w 651"/>
                <a:gd name="T7" fmla="*/ 0 h 500"/>
                <a:gd name="T8" fmla="*/ 2147483647 w 651"/>
                <a:gd name="T9" fmla="*/ 2147483647 h 500"/>
                <a:gd name="T10" fmla="*/ 2147483647 w 651"/>
                <a:gd name="T11" fmla="*/ 2147483647 h 500"/>
                <a:gd name="T12" fmla="*/ 2147483647 w 651"/>
                <a:gd name="T13" fmla="*/ 2147483647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500"/>
                <a:gd name="T23" fmla="*/ 651 w 651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500">
                  <a:moveTo>
                    <a:pt x="400" y="500"/>
                  </a:moveTo>
                  <a:lnTo>
                    <a:pt x="0" y="500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500"/>
                    <a:pt x="400" y="500"/>
                  </a:cubicBezTo>
                  <a:cubicBezTo>
                    <a:pt x="400" y="500"/>
                    <a:pt x="400" y="500"/>
                    <a:pt x="400" y="50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400" dirty="0">
                  <a:solidFill>
                    <a:schemeClr val="tx1"/>
                  </a:solidFill>
                </a:rPr>
                <a:t>G1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96" name="Freeform 60">
              <a:extLst>
                <a:ext uri="{FF2B5EF4-FFF2-40B4-BE49-F238E27FC236}">
                  <a16:creationId xmlns:a16="http://schemas.microsoft.com/office/drawing/2014/main" id="{04D76B93-16EE-AD47-84CB-E9FEC83F3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525" y="4822464"/>
              <a:ext cx="649288" cy="539750"/>
            </a:xfrm>
            <a:custGeom>
              <a:avLst/>
              <a:gdLst>
                <a:gd name="T0" fmla="*/ 2147483647 w 651"/>
                <a:gd name="T1" fmla="*/ 2147483647 h 500"/>
                <a:gd name="T2" fmla="*/ 0 w 651"/>
                <a:gd name="T3" fmla="*/ 2147483647 h 500"/>
                <a:gd name="T4" fmla="*/ 0 w 651"/>
                <a:gd name="T5" fmla="*/ 0 h 500"/>
                <a:gd name="T6" fmla="*/ 2147483647 w 651"/>
                <a:gd name="T7" fmla="*/ 0 h 500"/>
                <a:gd name="T8" fmla="*/ 2147483647 w 651"/>
                <a:gd name="T9" fmla="*/ 2147483647 h 500"/>
                <a:gd name="T10" fmla="*/ 2147483647 w 651"/>
                <a:gd name="T11" fmla="*/ 2147483647 h 500"/>
                <a:gd name="T12" fmla="*/ 2147483647 w 651"/>
                <a:gd name="T13" fmla="*/ 2147483647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1"/>
                <a:gd name="T22" fmla="*/ 0 h 500"/>
                <a:gd name="T23" fmla="*/ 651 w 651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1" h="500">
                  <a:moveTo>
                    <a:pt x="400" y="500"/>
                  </a:moveTo>
                  <a:lnTo>
                    <a:pt x="0" y="500"/>
                  </a:lnTo>
                  <a:lnTo>
                    <a:pt x="0" y="0"/>
                  </a:lnTo>
                  <a:lnTo>
                    <a:pt x="400" y="0"/>
                  </a:lnTo>
                  <a:cubicBezTo>
                    <a:pt x="539" y="0"/>
                    <a:pt x="651" y="112"/>
                    <a:pt x="651" y="250"/>
                  </a:cubicBezTo>
                  <a:cubicBezTo>
                    <a:pt x="651" y="388"/>
                    <a:pt x="539" y="500"/>
                    <a:pt x="400" y="500"/>
                  </a:cubicBezTo>
                  <a:cubicBezTo>
                    <a:pt x="400" y="500"/>
                    <a:pt x="400" y="500"/>
                    <a:pt x="400" y="50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7" name="Freeform 61">
              <a:extLst>
                <a:ext uri="{FF2B5EF4-FFF2-40B4-BE49-F238E27FC236}">
                  <a16:creationId xmlns:a16="http://schemas.microsoft.com/office/drawing/2014/main" id="{500A1B9B-1377-F541-BCF8-BECEA1CEF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175" y="2011001"/>
              <a:ext cx="1212850" cy="782638"/>
            </a:xfrm>
            <a:custGeom>
              <a:avLst/>
              <a:gdLst>
                <a:gd name="T0" fmla="*/ 2147483647 w 827"/>
                <a:gd name="T1" fmla="*/ 0 h 493"/>
                <a:gd name="T2" fmla="*/ 0 w 827"/>
                <a:gd name="T3" fmla="*/ 0 h 493"/>
                <a:gd name="T4" fmla="*/ 0 w 827"/>
                <a:gd name="T5" fmla="*/ 2147483647 h 493"/>
                <a:gd name="T6" fmla="*/ 2147483647 w 827"/>
                <a:gd name="T7" fmla="*/ 2147483647 h 493"/>
                <a:gd name="T8" fmla="*/ 2147483647 w 827"/>
                <a:gd name="T9" fmla="*/ 2147483647 h 4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493"/>
                <a:gd name="T17" fmla="*/ 827 w 827"/>
                <a:gd name="T18" fmla="*/ 493 h 4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493">
                  <a:moveTo>
                    <a:pt x="145" y="0"/>
                  </a:moveTo>
                  <a:lnTo>
                    <a:pt x="0" y="0"/>
                  </a:lnTo>
                  <a:lnTo>
                    <a:pt x="0" y="106"/>
                  </a:lnTo>
                  <a:lnTo>
                    <a:pt x="827" y="353"/>
                  </a:lnTo>
                  <a:lnTo>
                    <a:pt x="827" y="493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8" name="Freeform 62">
              <a:extLst>
                <a:ext uri="{FF2B5EF4-FFF2-40B4-BE49-F238E27FC236}">
                  <a16:creationId xmlns:a16="http://schemas.microsoft.com/office/drawing/2014/main" id="{B3B48E9F-D115-814A-9414-DDF5CF5FA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0" y="2736489"/>
              <a:ext cx="104775" cy="112712"/>
            </a:xfrm>
            <a:custGeom>
              <a:avLst/>
              <a:gdLst>
                <a:gd name="T0" fmla="*/ 2147483647 w 104"/>
                <a:gd name="T1" fmla="*/ 0 h 104"/>
                <a:gd name="T2" fmla="*/ 0 w 104"/>
                <a:gd name="T3" fmla="*/ 2147483647 h 104"/>
                <a:gd name="T4" fmla="*/ 2147483647 w 104"/>
                <a:gd name="T5" fmla="*/ 2147483647 h 104"/>
                <a:gd name="T6" fmla="*/ 2147483647 w 104"/>
                <a:gd name="T7" fmla="*/ 2147483647 h 104"/>
                <a:gd name="T8" fmla="*/ 2147483647 w 104"/>
                <a:gd name="T9" fmla="*/ 2147483647 h 104"/>
                <a:gd name="T10" fmla="*/ 2147483647 w 104"/>
                <a:gd name="T11" fmla="*/ 0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4"/>
                <a:gd name="T20" fmla="*/ 104 w 104"/>
                <a:gd name="T21" fmla="*/ 104 h 1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81" y="104"/>
                    <a:pt x="104" y="80"/>
                    <a:pt x="104" y="52"/>
                  </a:cubicBezTo>
                  <a:cubicBezTo>
                    <a:pt x="104" y="23"/>
                    <a:pt x="81" y="0"/>
                    <a:pt x="52" y="0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9" name="Freeform 63">
              <a:extLst>
                <a:ext uri="{FF2B5EF4-FFF2-40B4-BE49-F238E27FC236}">
                  <a16:creationId xmlns:a16="http://schemas.microsoft.com/office/drawing/2014/main" id="{B67B6B43-BB9D-064F-A0E4-00162F60F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175" y="1876064"/>
              <a:ext cx="1212850" cy="782637"/>
            </a:xfrm>
            <a:custGeom>
              <a:avLst/>
              <a:gdLst>
                <a:gd name="T0" fmla="*/ 2147483647 w 827"/>
                <a:gd name="T1" fmla="*/ 0 h 493"/>
                <a:gd name="T2" fmla="*/ 2147483647 w 827"/>
                <a:gd name="T3" fmla="*/ 2147483647 h 493"/>
                <a:gd name="T4" fmla="*/ 0 w 827"/>
                <a:gd name="T5" fmla="*/ 2147483647 h 493"/>
                <a:gd name="T6" fmla="*/ 0 w 827"/>
                <a:gd name="T7" fmla="*/ 2147483647 h 493"/>
                <a:gd name="T8" fmla="*/ 2147483647 w 827"/>
                <a:gd name="T9" fmla="*/ 2147483647 h 4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493"/>
                <a:gd name="T17" fmla="*/ 827 w 827"/>
                <a:gd name="T18" fmla="*/ 493 h 4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493">
                  <a:moveTo>
                    <a:pt x="827" y="0"/>
                  </a:moveTo>
                  <a:lnTo>
                    <a:pt x="827" y="191"/>
                  </a:lnTo>
                  <a:lnTo>
                    <a:pt x="0" y="397"/>
                  </a:lnTo>
                  <a:lnTo>
                    <a:pt x="0" y="490"/>
                  </a:lnTo>
                  <a:lnTo>
                    <a:pt x="145" y="493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0" name="Freeform 64">
              <a:extLst>
                <a:ext uri="{FF2B5EF4-FFF2-40B4-BE49-F238E27FC236}">
                  <a16:creationId xmlns:a16="http://schemas.microsoft.com/office/drawing/2014/main" id="{41ABBFB0-2941-2C4D-ABF8-ACC205FF0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888" y="2926989"/>
              <a:ext cx="227012" cy="1306512"/>
            </a:xfrm>
            <a:custGeom>
              <a:avLst/>
              <a:gdLst>
                <a:gd name="T0" fmla="*/ 2147483647 w 155"/>
                <a:gd name="T1" fmla="*/ 0 h 823"/>
                <a:gd name="T2" fmla="*/ 0 w 155"/>
                <a:gd name="T3" fmla="*/ 0 h 823"/>
                <a:gd name="T4" fmla="*/ 0 w 155"/>
                <a:gd name="T5" fmla="*/ 2147483647 h 823"/>
                <a:gd name="T6" fmla="*/ 2147483647 w 155"/>
                <a:gd name="T7" fmla="*/ 2147483647 h 8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5"/>
                <a:gd name="T13" fmla="*/ 0 h 823"/>
                <a:gd name="T14" fmla="*/ 155 w 155"/>
                <a:gd name="T15" fmla="*/ 823 h 8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5" h="823">
                  <a:moveTo>
                    <a:pt x="155" y="0"/>
                  </a:moveTo>
                  <a:lnTo>
                    <a:pt x="0" y="0"/>
                  </a:lnTo>
                  <a:lnTo>
                    <a:pt x="0" y="823"/>
                  </a:lnTo>
                  <a:lnTo>
                    <a:pt x="155" y="823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1" name="Freeform 65">
              <a:extLst>
                <a:ext uri="{FF2B5EF4-FFF2-40B4-BE49-F238E27FC236}">
                  <a16:creationId xmlns:a16="http://schemas.microsoft.com/office/drawing/2014/main" id="{E25659B7-8D60-F440-B114-51EE6AB8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425" y="2793639"/>
              <a:ext cx="1117600" cy="1303337"/>
            </a:xfrm>
            <a:custGeom>
              <a:avLst/>
              <a:gdLst>
                <a:gd name="T0" fmla="*/ 2147483647 w 762"/>
                <a:gd name="T1" fmla="*/ 2147483647 h 821"/>
                <a:gd name="T2" fmla="*/ 0 w 762"/>
                <a:gd name="T3" fmla="*/ 2147483647 h 821"/>
                <a:gd name="T4" fmla="*/ 0 w 762"/>
                <a:gd name="T5" fmla="*/ 2147483647 h 821"/>
                <a:gd name="T6" fmla="*/ 2147483647 w 762"/>
                <a:gd name="T7" fmla="*/ 2147483647 h 821"/>
                <a:gd name="T8" fmla="*/ 2147483647 w 762"/>
                <a:gd name="T9" fmla="*/ 0 h 8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2"/>
                <a:gd name="T16" fmla="*/ 0 h 821"/>
                <a:gd name="T17" fmla="*/ 762 w 762"/>
                <a:gd name="T18" fmla="*/ 821 h 8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2" h="821">
                  <a:moveTo>
                    <a:pt x="80" y="821"/>
                  </a:moveTo>
                  <a:lnTo>
                    <a:pt x="0" y="821"/>
                  </a:lnTo>
                  <a:lnTo>
                    <a:pt x="0" y="657"/>
                  </a:lnTo>
                  <a:lnTo>
                    <a:pt x="762" y="657"/>
                  </a:lnTo>
                  <a:lnTo>
                    <a:pt x="762" y="0"/>
                  </a:ln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2" name="Freeform 66">
              <a:extLst>
                <a:ext uri="{FF2B5EF4-FFF2-40B4-BE49-F238E27FC236}">
                  <a16:creationId xmlns:a16="http://schemas.microsoft.com/office/drawing/2014/main" id="{8387A033-6DF2-2444-B1A1-0AB2D2A22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175" y="4233501"/>
              <a:ext cx="1212850" cy="723900"/>
            </a:xfrm>
            <a:custGeom>
              <a:avLst/>
              <a:gdLst>
                <a:gd name="T0" fmla="*/ 2147483647 w 827"/>
                <a:gd name="T1" fmla="*/ 0 h 456"/>
                <a:gd name="T2" fmla="*/ 2147483647 w 827"/>
                <a:gd name="T3" fmla="*/ 2147483647 h 456"/>
                <a:gd name="T4" fmla="*/ 0 w 827"/>
                <a:gd name="T5" fmla="*/ 2147483647 h 456"/>
                <a:gd name="T6" fmla="*/ 0 w 827"/>
                <a:gd name="T7" fmla="*/ 2147483647 h 456"/>
                <a:gd name="T8" fmla="*/ 2147483647 w 827"/>
                <a:gd name="T9" fmla="*/ 2147483647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456"/>
                <a:gd name="T17" fmla="*/ 827 w 827"/>
                <a:gd name="T18" fmla="*/ 456 h 4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456">
                  <a:moveTo>
                    <a:pt x="827" y="0"/>
                  </a:moveTo>
                  <a:lnTo>
                    <a:pt x="827" y="149"/>
                  </a:lnTo>
                  <a:lnTo>
                    <a:pt x="0" y="355"/>
                  </a:lnTo>
                  <a:lnTo>
                    <a:pt x="0" y="453"/>
                  </a:lnTo>
                  <a:lnTo>
                    <a:pt x="145" y="456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3" name="Freeform 67">
              <a:extLst>
                <a:ext uri="{FF2B5EF4-FFF2-40B4-BE49-F238E27FC236}">
                  <a16:creationId xmlns:a16="http://schemas.microsoft.com/office/drawing/2014/main" id="{E610E1E7-914C-AD43-B6C8-C8B82DF25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0" y="4176351"/>
              <a:ext cx="104775" cy="112713"/>
            </a:xfrm>
            <a:custGeom>
              <a:avLst/>
              <a:gdLst>
                <a:gd name="T0" fmla="*/ 2147483647 w 104"/>
                <a:gd name="T1" fmla="*/ 2147483647 h 104"/>
                <a:gd name="T2" fmla="*/ 2147483647 w 104"/>
                <a:gd name="T3" fmla="*/ 2147483647 h 104"/>
                <a:gd name="T4" fmla="*/ 2147483647 w 104"/>
                <a:gd name="T5" fmla="*/ 0 h 104"/>
                <a:gd name="T6" fmla="*/ 2147483647 w 104"/>
                <a:gd name="T7" fmla="*/ 0 h 104"/>
                <a:gd name="T8" fmla="*/ 0 w 104"/>
                <a:gd name="T9" fmla="*/ 2147483647 h 104"/>
                <a:gd name="T10" fmla="*/ 2147483647 w 104"/>
                <a:gd name="T11" fmla="*/ 2147483647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4"/>
                <a:gd name="T20" fmla="*/ 104 w 104"/>
                <a:gd name="T21" fmla="*/ 104 h 1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4">
                  <a:moveTo>
                    <a:pt x="52" y="104"/>
                  </a:moveTo>
                  <a:cubicBezTo>
                    <a:pt x="81" y="104"/>
                    <a:pt x="104" y="81"/>
                    <a:pt x="104" y="52"/>
                  </a:cubicBezTo>
                  <a:cubicBezTo>
                    <a:pt x="104" y="24"/>
                    <a:pt x="81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23" y="0"/>
                    <a:pt x="0" y="24"/>
                    <a:pt x="0" y="52"/>
                  </a:cubicBezTo>
                  <a:cubicBezTo>
                    <a:pt x="0" y="81"/>
                    <a:pt x="23" y="104"/>
                    <a:pt x="52" y="104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4" name="Freeform 68">
              <a:extLst>
                <a:ext uri="{FF2B5EF4-FFF2-40B4-BE49-F238E27FC236}">
                  <a16:creationId xmlns:a16="http://schemas.microsoft.com/office/drawing/2014/main" id="{419A7A58-2959-4F4A-8983-39E41DA6A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175" y="4368439"/>
              <a:ext cx="1212850" cy="723900"/>
            </a:xfrm>
            <a:custGeom>
              <a:avLst/>
              <a:gdLst>
                <a:gd name="T0" fmla="*/ 2147483647 w 827"/>
                <a:gd name="T1" fmla="*/ 0 h 456"/>
                <a:gd name="T2" fmla="*/ 0 w 827"/>
                <a:gd name="T3" fmla="*/ 0 h 456"/>
                <a:gd name="T4" fmla="*/ 0 w 827"/>
                <a:gd name="T5" fmla="*/ 2147483647 h 456"/>
                <a:gd name="T6" fmla="*/ 2147483647 w 827"/>
                <a:gd name="T7" fmla="*/ 2147483647 h 456"/>
                <a:gd name="T8" fmla="*/ 2147483647 w 827"/>
                <a:gd name="T9" fmla="*/ 2147483647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7"/>
                <a:gd name="T16" fmla="*/ 0 h 456"/>
                <a:gd name="T17" fmla="*/ 827 w 827"/>
                <a:gd name="T18" fmla="*/ 456 h 4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7" h="456">
                  <a:moveTo>
                    <a:pt x="145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827" y="312"/>
                  </a:lnTo>
                  <a:lnTo>
                    <a:pt x="827" y="456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5" name="Line 69">
              <a:extLst>
                <a:ext uri="{FF2B5EF4-FFF2-40B4-BE49-F238E27FC236}">
                  <a16:creationId xmlns:a16="http://schemas.microsoft.com/office/drawing/2014/main" id="{B3F271C5-756E-144F-9D14-F2DB29F587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58949" y="5227276"/>
              <a:ext cx="554837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6" name="Freeform 70">
              <a:extLst>
                <a:ext uri="{FF2B5EF4-FFF2-40B4-BE49-F238E27FC236}">
                  <a16:creationId xmlns:a16="http://schemas.microsoft.com/office/drawing/2014/main" id="{9A3D5331-9E77-924E-ABE5-652D7F99B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63" y="1753826"/>
              <a:ext cx="363537" cy="2798763"/>
            </a:xfrm>
            <a:custGeom>
              <a:avLst/>
              <a:gdLst>
                <a:gd name="T0" fmla="*/ 2147483647 w 248"/>
                <a:gd name="T1" fmla="*/ 2147483647 h 1763"/>
                <a:gd name="T2" fmla="*/ 0 w 248"/>
                <a:gd name="T3" fmla="*/ 2147483647 h 1763"/>
                <a:gd name="T4" fmla="*/ 0 w 248"/>
                <a:gd name="T5" fmla="*/ 0 h 1763"/>
                <a:gd name="T6" fmla="*/ 2147483647 w 248"/>
                <a:gd name="T7" fmla="*/ 0 h 17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8"/>
                <a:gd name="T13" fmla="*/ 0 h 1763"/>
                <a:gd name="T14" fmla="*/ 248 w 248"/>
                <a:gd name="T15" fmla="*/ 1763 h 17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8" h="1763">
                  <a:moveTo>
                    <a:pt x="103" y="1763"/>
                  </a:moveTo>
                  <a:lnTo>
                    <a:pt x="0" y="1763"/>
                  </a:lnTo>
                  <a:lnTo>
                    <a:pt x="0" y="0"/>
                  </a:lnTo>
                  <a:lnTo>
                    <a:pt x="248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7" name="Freeform 71">
              <a:extLst>
                <a:ext uri="{FF2B5EF4-FFF2-40B4-BE49-F238E27FC236}">
                  <a16:creationId xmlns:a16="http://schemas.microsoft.com/office/drawing/2014/main" id="{76BBAA29-C74B-9941-835D-BFA96B746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788" y="4497026"/>
              <a:ext cx="103187" cy="111125"/>
            </a:xfrm>
            <a:custGeom>
              <a:avLst/>
              <a:gdLst>
                <a:gd name="T0" fmla="*/ 0 w 104"/>
                <a:gd name="T1" fmla="*/ 2147483647 h 103"/>
                <a:gd name="T2" fmla="*/ 2147483647 w 104"/>
                <a:gd name="T3" fmla="*/ 2147483647 h 103"/>
                <a:gd name="T4" fmla="*/ 2147483647 w 104"/>
                <a:gd name="T5" fmla="*/ 2147483647 h 103"/>
                <a:gd name="T6" fmla="*/ 2147483647 w 104"/>
                <a:gd name="T7" fmla="*/ 2147483647 h 103"/>
                <a:gd name="T8" fmla="*/ 2147483647 w 104"/>
                <a:gd name="T9" fmla="*/ 0 h 103"/>
                <a:gd name="T10" fmla="*/ 0 w 104"/>
                <a:gd name="T11" fmla="*/ 2147483647 h 1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3"/>
                <a:gd name="T20" fmla="*/ 104 w 104"/>
                <a:gd name="T21" fmla="*/ 103 h 1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3">
                  <a:moveTo>
                    <a:pt x="0" y="51"/>
                  </a:moveTo>
                  <a:cubicBezTo>
                    <a:pt x="0" y="80"/>
                    <a:pt x="24" y="103"/>
                    <a:pt x="52" y="103"/>
                  </a:cubicBezTo>
                  <a:cubicBezTo>
                    <a:pt x="81" y="103"/>
                    <a:pt x="104" y="80"/>
                    <a:pt x="104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104" y="23"/>
                    <a:pt x="81" y="0"/>
                    <a:pt x="52" y="0"/>
                  </a:cubicBezTo>
                  <a:cubicBezTo>
                    <a:pt x="24" y="0"/>
                    <a:pt x="0" y="23"/>
                    <a:pt x="0" y="51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9" name="Freeform 73">
              <a:extLst>
                <a:ext uri="{FF2B5EF4-FFF2-40B4-BE49-F238E27FC236}">
                  <a16:creationId xmlns:a16="http://schemas.microsoft.com/office/drawing/2014/main" id="{F57AF642-8951-FB44-A7BD-B931185A5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500" y="3531826"/>
              <a:ext cx="103188" cy="111125"/>
            </a:xfrm>
            <a:custGeom>
              <a:avLst/>
              <a:gdLst>
                <a:gd name="T0" fmla="*/ 0 w 104"/>
                <a:gd name="T1" fmla="*/ 2147483647 h 103"/>
                <a:gd name="T2" fmla="*/ 2147483647 w 104"/>
                <a:gd name="T3" fmla="*/ 2147483647 h 103"/>
                <a:gd name="T4" fmla="*/ 2147483647 w 104"/>
                <a:gd name="T5" fmla="*/ 2147483647 h 103"/>
                <a:gd name="T6" fmla="*/ 2147483647 w 104"/>
                <a:gd name="T7" fmla="*/ 2147483647 h 103"/>
                <a:gd name="T8" fmla="*/ 2147483647 w 104"/>
                <a:gd name="T9" fmla="*/ 0 h 103"/>
                <a:gd name="T10" fmla="*/ 0 w 104"/>
                <a:gd name="T11" fmla="*/ 2147483647 h 1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103"/>
                <a:gd name="T20" fmla="*/ 104 w 104"/>
                <a:gd name="T21" fmla="*/ 103 h 1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103">
                  <a:moveTo>
                    <a:pt x="0" y="52"/>
                  </a:moveTo>
                  <a:cubicBezTo>
                    <a:pt x="0" y="80"/>
                    <a:pt x="23" y="103"/>
                    <a:pt x="52" y="103"/>
                  </a:cubicBezTo>
                  <a:cubicBezTo>
                    <a:pt x="81" y="103"/>
                    <a:pt x="104" y="80"/>
                    <a:pt x="104" y="52"/>
                  </a:cubicBezTo>
                  <a:cubicBezTo>
                    <a:pt x="104" y="52"/>
                    <a:pt x="104" y="52"/>
                    <a:pt x="104" y="52"/>
                  </a:cubicBezTo>
                  <a:cubicBezTo>
                    <a:pt x="104" y="23"/>
                    <a:pt x="81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210" name="Object 74">
              <a:extLst>
                <a:ext uri="{FF2B5EF4-FFF2-40B4-BE49-F238E27FC236}">
                  <a16:creationId xmlns:a16="http://schemas.microsoft.com/office/drawing/2014/main" id="{67B99688-6294-9E4A-AC6D-0C5E5FE0AF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9175" y="3883645"/>
            <a:ext cx="415925" cy="439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5" name="Equation" r:id="rId6" imgW="152280" imgH="228600" progId="">
                    <p:embed/>
                  </p:oleObj>
                </mc:Choice>
                <mc:Fallback>
                  <p:oleObj name="Equation" r:id="rId6" imgW="152280" imgH="228600" progId="">
                    <p:embed/>
                    <p:pic>
                      <p:nvPicPr>
                        <p:cNvPr id="210" name="Object 74">
                          <a:extLst>
                            <a:ext uri="{FF2B5EF4-FFF2-40B4-BE49-F238E27FC236}">
                              <a16:creationId xmlns:a16="http://schemas.microsoft.com/office/drawing/2014/main" id="{67B99688-6294-9E4A-AC6D-0C5E5FE0AF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175" y="3883645"/>
                          <a:ext cx="415925" cy="4397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1" name="Rectangle 29">
              <a:extLst>
                <a:ext uri="{FF2B5EF4-FFF2-40B4-BE49-F238E27FC236}">
                  <a16:creationId xmlns:a16="http://schemas.microsoft.com/office/drawing/2014/main" id="{D030884D-C2C3-A34A-A6B3-99F32E728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990" y="3249796"/>
              <a:ext cx="18755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zh-CN" sz="2200" b="0" i="1" dirty="0">
                  <a:solidFill>
                    <a:schemeClr val="tx1"/>
                  </a:solidFill>
                  <a:latin typeface="Times New Roman" pitchFamily="18" charset="0"/>
                </a:rPr>
                <a:t>C</a:t>
              </a:r>
              <a:endParaRPr lang="en-US" altLang="zh-CN" sz="1800" b="0" dirty="0">
                <a:solidFill>
                  <a:schemeClr val="tx1"/>
                </a:solidFill>
                <a:latin typeface="Arial" pitchFamily="34" charset="0"/>
              </a:endParaRPr>
            </a:p>
          </p:txBody>
        </p:sp>
      </p:grpSp>
      <p:sp>
        <p:nvSpPr>
          <p:cNvPr id="6" name="Right Arrow 5">
            <a:extLst>
              <a:ext uri="{FF2B5EF4-FFF2-40B4-BE49-F238E27FC236}">
                <a16:creationId xmlns:a16="http://schemas.microsoft.com/office/drawing/2014/main" id="{CE92C4DE-3055-2C40-A1A7-7C28C2915D74}"/>
              </a:ext>
            </a:extLst>
          </p:cNvPr>
          <p:cNvSpPr/>
          <p:nvPr/>
        </p:nvSpPr>
        <p:spPr bwMode="auto">
          <a:xfrm>
            <a:off x="4213959" y="3429000"/>
            <a:ext cx="457200" cy="443387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sz="4600" b="1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E943E-EAD0-054D-A90E-4E8C70E32C20}"/>
              </a:ext>
            </a:extLst>
          </p:cNvPr>
          <p:cNvSpPr/>
          <p:nvPr/>
        </p:nvSpPr>
        <p:spPr>
          <a:xfrm>
            <a:off x="5016500" y="3119572"/>
            <a:ext cx="533400" cy="1295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8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RAINPROBLEMTYPE" val="MultipleChoice"/>
  <p:tag name="RAINPROBLEM" val="MultipleChoice"/>
  <p:tag name="PROBLEMHASREMARK" val="False"/>
  <p:tag name="PROBLEMSCORE" val="5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5.0"/>
  <p:tag name="PROBLEMSCORE_HALF" val="0.0"/>
  <p:tag name="RAINPROBLEMTYPE" val="MultipleChoice"/>
  <p:tag name="RAINPROBLEM" val="MultipleChoice"/>
  <p:tag name="PROBLEMHASREMARK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5.0"/>
  <p:tag name="PROBLEMSCORE_HALF" val="0.0"/>
  <p:tag name="RAINPROBLEMTYPE" val="MultipleChoice"/>
  <p:tag name="RAINPROBLEM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1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[240302] 02_数的表示与布尔代数_李老师班 [Read-only]" id="{365CAED1-FF77-674F-A33F-F8195B5FBC4B}" vid="{FAAF97D1-D811-774D-AFD3-52AAEF1876F8}"/>
    </a:ext>
  </a:extLst>
</a:theme>
</file>

<file path=ppt/theme/theme2.xml><?xml version="1.0" encoding="utf-8"?>
<a:theme xmlns:a="http://schemas.openxmlformats.org/drawingml/2006/main" name="2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[240302] 02_数的表示与布尔代数_李老师班 [Read-only]" id="{365CAED1-FF77-674F-A33F-F8195B5FBC4B}" vid="{FAAF97D1-D811-774D-AFD3-52AAEF1876F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46410</TotalTime>
  <Words>7419</Words>
  <Application>Microsoft Office PowerPoint</Application>
  <PresentationFormat>全屏显示(4:3)</PresentationFormat>
  <Paragraphs>1746</Paragraphs>
  <Slides>92</Slides>
  <Notes>81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92</vt:i4>
      </vt:variant>
    </vt:vector>
  </HeadingPairs>
  <TitlesOfParts>
    <vt:vector size="112" baseType="lpstr">
      <vt:lpstr>System Font Regular</vt:lpstr>
      <vt:lpstr>SimHei</vt:lpstr>
      <vt:lpstr>SimHei</vt:lpstr>
      <vt:lpstr>Microsoft Yahei</vt:lpstr>
      <vt:lpstr>Arial</vt:lpstr>
      <vt:lpstr>Calibri</vt:lpstr>
      <vt:lpstr>Calibri Light</vt:lpstr>
      <vt:lpstr>Cambria Math</vt:lpstr>
      <vt:lpstr>Garamond</vt:lpstr>
      <vt:lpstr>Tahoma</vt:lpstr>
      <vt:lpstr>Times New Roman</vt:lpstr>
      <vt:lpstr>Verdana</vt:lpstr>
      <vt:lpstr>Wingdings</vt:lpstr>
      <vt:lpstr>1_默认设计模板</vt:lpstr>
      <vt:lpstr>2_默认设计模板</vt:lpstr>
      <vt:lpstr>Office Theme</vt:lpstr>
      <vt:lpstr>Visio</vt:lpstr>
      <vt:lpstr>Equation</vt:lpstr>
      <vt:lpstr>Document</vt:lpstr>
      <vt:lpstr>文档</vt:lpstr>
      <vt:lpstr>PowerPoint 演示文稿</vt:lpstr>
      <vt:lpstr>时序逻辑的作用</vt:lpstr>
      <vt:lpstr>问题</vt:lpstr>
      <vt:lpstr>问题</vt:lpstr>
      <vt:lpstr>本节课学习目标</vt:lpstr>
      <vt:lpstr>本节课目录</vt:lpstr>
      <vt:lpstr>更多原因 – 为什么使用时序逻辑？</vt:lpstr>
      <vt:lpstr>从组合逻辑到时序逻辑</vt:lpstr>
      <vt:lpstr>触发与节拍信号：时钟</vt:lpstr>
      <vt:lpstr>时钟生成：环形振荡器</vt:lpstr>
      <vt:lpstr>PowerPoint 演示文稿</vt:lpstr>
      <vt:lpstr>答案解析</vt:lpstr>
      <vt:lpstr>其他时钟信号发生器</vt:lpstr>
      <vt:lpstr>时钟触发：在边缘采样</vt:lpstr>
      <vt:lpstr>时钟域 (Clock domain)</vt:lpstr>
      <vt:lpstr>“状态”的定义与FSM</vt:lpstr>
      <vt:lpstr>FSM 类型: Mealy vs. Moore</vt:lpstr>
      <vt:lpstr>FSM描述: 状态转换表(State transition table)</vt:lpstr>
      <vt:lpstr>FSM描述: 状态图(State diagram)</vt:lpstr>
      <vt:lpstr>PowerPoint 演示文稿</vt:lpstr>
      <vt:lpstr>答案解析</vt:lpstr>
      <vt:lpstr>本节课目录</vt:lpstr>
      <vt:lpstr>存储1bit状态的双稳态单元</vt:lpstr>
      <vt:lpstr>怎么使用这个电路？</vt:lpstr>
      <vt:lpstr>SR锁存器(SR latch)</vt:lpstr>
      <vt:lpstr>SR锁存器：复位</vt:lpstr>
      <vt:lpstr>SR锁存器：置位</vt:lpstr>
      <vt:lpstr>SR锁存器: 保持</vt:lpstr>
      <vt:lpstr>SR锁存器: 如果SR=1?</vt:lpstr>
      <vt:lpstr>SR锁存器: 为什么要求SR=0?</vt:lpstr>
      <vt:lpstr>SR锁存器的状态图</vt:lpstr>
      <vt:lpstr> 门控SR锁存器</vt:lpstr>
      <vt:lpstr> (门控) D锁存器</vt:lpstr>
      <vt:lpstr>(门控) D锁存器：另一种实现方法</vt:lpstr>
      <vt:lpstr>(门控) D锁存器：另一种实现方法</vt:lpstr>
      <vt:lpstr>时序差异：门控SR锁存器 vs D锁存器</vt:lpstr>
      <vt:lpstr>锁存器的时序参数</vt:lpstr>
      <vt:lpstr>锁存器的时序参数</vt:lpstr>
      <vt:lpstr>锁存器的时序参数</vt:lpstr>
      <vt:lpstr>亚稳态</vt:lpstr>
      <vt:lpstr>亚稳态</vt:lpstr>
      <vt:lpstr>亚稳态</vt:lpstr>
      <vt:lpstr>锁存器总结</vt:lpstr>
      <vt:lpstr>本节课目录</vt:lpstr>
      <vt:lpstr>从锁存器到触发器</vt:lpstr>
      <vt:lpstr>DFF：功能和符号</vt:lpstr>
      <vt:lpstr>PowerPoint 演示文稿</vt:lpstr>
      <vt:lpstr>DFF：常见的一种实现方式</vt:lpstr>
      <vt:lpstr>DFF：常见的一种实现方式</vt:lpstr>
      <vt:lpstr>DFF：常见的一种实现方式</vt:lpstr>
      <vt:lpstr>DFF: 时序考虑</vt:lpstr>
      <vt:lpstr>DFF: 时序考虑</vt:lpstr>
      <vt:lpstr>DFF: 时序考虑</vt:lpstr>
      <vt:lpstr>DFF：实际的时序，存在tsu, th, tc-q</vt:lpstr>
      <vt:lpstr>问题：再来看一下阳光长跑计数</vt:lpstr>
      <vt:lpstr>为什么需要时序?</vt:lpstr>
      <vt:lpstr>建立时间约束</vt:lpstr>
      <vt:lpstr>保持时间约束</vt:lpstr>
      <vt:lpstr>真值表与状态图</vt:lpstr>
      <vt:lpstr>特征方程 (Characteristic equations)</vt:lpstr>
      <vt:lpstr>激励表</vt:lpstr>
      <vt:lpstr>本讲主要内容</vt:lpstr>
      <vt:lpstr>作业</vt:lpstr>
      <vt:lpstr>谢谢大家！</vt:lpstr>
      <vt:lpstr>环形振荡器相位</vt:lpstr>
      <vt:lpstr>四种触发器：DFF和T-FF</vt:lpstr>
      <vt:lpstr>四种触发器：JK-FF和RS-FF</vt:lpstr>
      <vt:lpstr>状态图 (State diagram)</vt:lpstr>
      <vt:lpstr>真值表</vt:lpstr>
      <vt:lpstr>特征方程 (Characteristic equations)</vt:lpstr>
      <vt:lpstr>特征方程</vt:lpstr>
      <vt:lpstr>激励表</vt:lpstr>
      <vt:lpstr>用DFF构造其他触发器</vt:lpstr>
      <vt:lpstr>用DFF构造其他触发器</vt:lpstr>
      <vt:lpstr>用DFF构造其他触发器</vt:lpstr>
      <vt:lpstr>用DFF构造其他触发器</vt:lpstr>
      <vt:lpstr>PowerPoint 演示文稿</vt:lpstr>
      <vt:lpstr>答案解析</vt:lpstr>
      <vt:lpstr>不同的DFF实现</vt:lpstr>
      <vt:lpstr>例1：主从SR触发器</vt:lpstr>
      <vt:lpstr>主从SR触发器的工作流程(下降沿触发)</vt:lpstr>
      <vt:lpstr>主从SR触发器的工作流程(下降沿触发)</vt:lpstr>
      <vt:lpstr>主从SR触发器的工作流程(下降沿触发)</vt:lpstr>
      <vt:lpstr>边沿触发DFF</vt:lpstr>
      <vt:lpstr>边沿触发DFF</vt:lpstr>
      <vt:lpstr>边沿触发DFF</vt:lpstr>
      <vt:lpstr>边沿触发DFF</vt:lpstr>
      <vt:lpstr>边沿触发DFF</vt:lpstr>
      <vt:lpstr>边沿触发DFF</vt:lpstr>
      <vt:lpstr>边沿触发DFF</vt:lpstr>
      <vt:lpstr>边沿触发DFF</vt:lpstr>
      <vt:lpstr>边沿触发DFF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luorong</dc:creator>
  <cp:keywords/>
  <dc:description/>
  <cp:lastModifiedBy>Administrator</cp:lastModifiedBy>
  <cp:revision>2782</cp:revision>
  <cp:lastPrinted>1601-01-01T00:00:00Z</cp:lastPrinted>
  <dcterms:created xsi:type="dcterms:W3CDTF">1601-01-01T00:00:00Z</dcterms:created>
  <dcterms:modified xsi:type="dcterms:W3CDTF">2024-03-19T14:10:57Z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