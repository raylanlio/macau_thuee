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m4a" ContentType="audio/mp4"/>
  <Default Extension="png" ContentType="image/png"/>
  <Default Extension="rels" ContentType="application/vnd.openxmlformats-package.relationships+xml"/>
  <Default Extension="tiff" ContentType="image/tiff"/>
  <Default Extension="tmp" ContentType="image/p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ink/ink1.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38.xml" ContentType="application/vnd.openxmlformats-officedocument.presentationml.notesSlide+xml"/>
  <Override PartName="/ppt/ink/ink2.xml" ContentType="application/inkml+xml"/>
  <Override PartName="/ppt/tags/tag50.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ink/ink3.xml" ContentType="application/inkml+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ink/ink4.xml" ContentType="application/inkml+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9" r:id="rId1"/>
  </p:sldMasterIdLst>
  <p:notesMasterIdLst>
    <p:notesMasterId r:id="rId110"/>
  </p:notesMasterIdLst>
  <p:sldIdLst>
    <p:sldId id="1089" r:id="rId2"/>
    <p:sldId id="1315" r:id="rId3"/>
    <p:sldId id="1342" r:id="rId4"/>
    <p:sldId id="1360" r:id="rId5"/>
    <p:sldId id="1416" r:id="rId6"/>
    <p:sldId id="1344" r:id="rId7"/>
    <p:sldId id="1345" r:id="rId8"/>
    <p:sldId id="1292" r:id="rId9"/>
    <p:sldId id="1346" r:id="rId10"/>
    <p:sldId id="1363" r:id="rId11"/>
    <p:sldId id="1041" r:id="rId12"/>
    <p:sldId id="1396" r:id="rId13"/>
    <p:sldId id="1043" r:id="rId14"/>
    <p:sldId id="1364" r:id="rId15"/>
    <p:sldId id="1294" r:id="rId16"/>
    <p:sldId id="1367" r:id="rId17"/>
    <p:sldId id="1047" r:id="rId18"/>
    <p:sldId id="1397" r:id="rId19"/>
    <p:sldId id="1299" r:id="rId20"/>
    <p:sldId id="1296" r:id="rId21"/>
    <p:sldId id="1430" r:id="rId22"/>
    <p:sldId id="1431" r:id="rId23"/>
    <p:sldId id="1329" r:id="rId24"/>
    <p:sldId id="1426" r:id="rId25"/>
    <p:sldId id="1418" r:id="rId26"/>
    <p:sldId id="1419" r:id="rId27"/>
    <p:sldId id="1404" r:id="rId28"/>
    <p:sldId id="1300" r:id="rId29"/>
    <p:sldId id="1399" r:id="rId30"/>
    <p:sldId id="1168" r:id="rId31"/>
    <p:sldId id="1143" r:id="rId32"/>
    <p:sldId id="1144" r:id="rId33"/>
    <p:sldId id="1169" r:id="rId34"/>
    <p:sldId id="1331" r:id="rId35"/>
    <p:sldId id="1427" r:id="rId36"/>
    <p:sldId id="1420" r:id="rId37"/>
    <p:sldId id="1421" r:id="rId38"/>
    <p:sldId id="1178" r:id="rId39"/>
    <p:sldId id="1180" r:id="rId40"/>
    <p:sldId id="1181" r:id="rId41"/>
    <p:sldId id="1183" r:id="rId42"/>
    <p:sldId id="1179" r:id="rId43"/>
    <p:sldId id="1369" r:id="rId44"/>
    <p:sldId id="1353" r:id="rId45"/>
    <p:sldId id="1422" r:id="rId46"/>
    <p:sldId id="1186" r:id="rId47"/>
    <p:sldId id="1189" r:id="rId48"/>
    <p:sldId id="1193" r:id="rId49"/>
    <p:sldId id="1333" r:id="rId50"/>
    <p:sldId id="1428" r:id="rId51"/>
    <p:sldId id="1423" r:id="rId52"/>
    <p:sldId id="1373" r:id="rId53"/>
    <p:sldId id="1198" r:id="rId54"/>
    <p:sldId id="1316" r:id="rId55"/>
    <p:sldId id="1200" r:id="rId56"/>
    <p:sldId id="1374" r:id="rId57"/>
    <p:sldId id="1400" r:id="rId58"/>
    <p:sldId id="1203" r:id="rId59"/>
    <p:sldId id="1204" r:id="rId60"/>
    <p:sldId id="1205" r:id="rId61"/>
    <p:sldId id="1207" r:id="rId62"/>
    <p:sldId id="1375" r:id="rId63"/>
    <p:sldId id="1304" r:id="rId64"/>
    <p:sldId id="1376" r:id="rId65"/>
    <p:sldId id="1401" r:id="rId66"/>
    <p:sldId id="1377" r:id="rId67"/>
    <p:sldId id="1424" r:id="rId68"/>
    <p:sldId id="1214" r:id="rId69"/>
    <p:sldId id="1378" r:id="rId70"/>
    <p:sldId id="1215" r:id="rId71"/>
    <p:sldId id="1216" r:id="rId72"/>
    <p:sldId id="1380" r:id="rId73"/>
    <p:sldId id="1218" r:id="rId74"/>
    <p:sldId id="1219" r:id="rId75"/>
    <p:sldId id="1381" r:id="rId76"/>
    <p:sldId id="1382" r:id="rId77"/>
    <p:sldId id="1335" r:id="rId78"/>
    <p:sldId id="1425" r:id="rId79"/>
    <p:sldId id="1384" r:id="rId80"/>
    <p:sldId id="1227" r:id="rId81"/>
    <p:sldId id="1226" r:id="rId82"/>
    <p:sldId id="1303" r:id="rId83"/>
    <p:sldId id="1385" r:id="rId84"/>
    <p:sldId id="1386" r:id="rId85"/>
    <p:sldId id="1387" r:id="rId86"/>
    <p:sldId id="1288" r:id="rId87"/>
    <p:sldId id="1232" r:id="rId88"/>
    <p:sldId id="1233" r:id="rId89"/>
    <p:sldId id="1273" r:id="rId90"/>
    <p:sldId id="1275" r:id="rId91"/>
    <p:sldId id="1388" r:id="rId92"/>
    <p:sldId id="1389" r:id="rId93"/>
    <p:sldId id="1390" r:id="rId94"/>
    <p:sldId id="1391" r:id="rId95"/>
    <p:sldId id="1392" r:id="rId96"/>
    <p:sldId id="1236" r:id="rId97"/>
    <p:sldId id="1337" r:id="rId98"/>
    <p:sldId id="1429" r:id="rId99"/>
    <p:sldId id="1242" r:id="rId100"/>
    <p:sldId id="1393" r:id="rId101"/>
    <p:sldId id="1394" r:id="rId102"/>
    <p:sldId id="1245" r:id="rId103"/>
    <p:sldId id="1246" r:id="rId104"/>
    <p:sldId id="1395" r:id="rId105"/>
    <p:sldId id="1402" r:id="rId106"/>
    <p:sldId id="1135" r:id="rId107"/>
    <p:sldId id="1356" r:id="rId108"/>
    <p:sldId id="1412" r:id="rId109"/>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3657"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cheng Yu" initials="JY"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333399"/>
    <a:srgbClr val="B4C6E8"/>
    <a:srgbClr val="F2F2F2"/>
    <a:srgbClr val="CCCCCC"/>
    <a:srgbClr val="CC99FF"/>
    <a:srgbClr val="7030A0"/>
    <a:srgbClr val="FF3300"/>
    <a:srgbClr val="D4E9FA"/>
    <a:srgbClr val="B4E8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80136" autoAdjust="0"/>
  </p:normalViewPr>
  <p:slideViewPr>
    <p:cSldViewPr>
      <p:cViewPr varScale="1">
        <p:scale>
          <a:sx n="101" d="100"/>
          <a:sy n="101" d="100"/>
        </p:scale>
        <p:origin x="2224" y="192"/>
      </p:cViewPr>
      <p:guideLst>
        <p:guide orient="horz" pos="3657"/>
        <p:guide pos="2880"/>
      </p:guideLst>
    </p:cSldViewPr>
  </p:slideViewPr>
  <p:outlineViewPr>
    <p:cViewPr>
      <p:scale>
        <a:sx n="33" d="100"/>
        <a:sy n="33" d="100"/>
      </p:scale>
      <p:origin x="0" y="-46416"/>
    </p:cViewPr>
  </p:outlineViewPr>
  <p:notesTextViewPr>
    <p:cViewPr>
      <p:scale>
        <a:sx n="100" d="100"/>
        <a:sy n="100" d="100"/>
      </p:scale>
      <p:origin x="0" y="0"/>
    </p:cViewPr>
  </p:notesTextViewPr>
  <p:sorterViewPr>
    <p:cViewPr varScale="1">
      <p:scale>
        <a:sx n="1" d="1"/>
        <a:sy n="1" d="1"/>
      </p:scale>
      <p:origin x="0" y="-7560"/>
    </p:cViewPr>
  </p:sorterViewPr>
  <p:notesViewPr>
    <p:cSldViewPr>
      <p:cViewPr varScale="1">
        <p:scale>
          <a:sx n="102" d="100"/>
          <a:sy n="102" d="100"/>
        </p:scale>
        <p:origin x="4648" y="192"/>
      </p:cViewPr>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ommentAuthors" Target="commentAuthor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409.58749" units="1/cm"/>
          <inkml:channelProperty channel="Y" name="resolution" value="728.15558" units="1/cm"/>
          <inkml:channelProperty channel="F" name="resolution" value="0" units="1/dev"/>
          <inkml:channelProperty channel="T" name="resolution" value="1" units="1/dev"/>
        </inkml:channelProperties>
      </inkml:inkSource>
      <inkml:timestamp xml:id="ts0" timeString="2024-03-02T10:54:22.896"/>
    </inkml:context>
    <inkml:brush xml:id="br0">
      <inkml:brushProperty name="width" value="0.05292" units="cm"/>
      <inkml:brushProperty name="height" value="0.05292" units="cm"/>
      <inkml:brushProperty name="color" value="#FF0000"/>
    </inkml:brush>
  </inkml:definitions>
  <inkml:trace contextRef="#ctx0" brushRef="#br0">18381 13506 2535 0,'0'-5'-1368'15,"0"5"1368"1,0 0-896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409.58749" units="1/cm"/>
          <inkml:channelProperty channel="Y" name="resolution" value="728.15558" units="1/cm"/>
          <inkml:channelProperty channel="F" name="resolution" value="0" units="1/dev"/>
          <inkml:channelProperty channel="T" name="resolution" value="1" units="1/dev"/>
        </inkml:channelProperties>
      </inkml:inkSource>
      <inkml:timestamp xml:id="ts0" timeString="2023-02-28T12:20:36.064"/>
    </inkml:context>
    <inkml:brush xml:id="br0">
      <inkml:brushProperty name="width" value="0.05292" units="cm"/>
      <inkml:brushProperty name="height" value="0.05292" units="cm"/>
      <inkml:brushProperty name="color" value="#FF0000"/>
    </inkml:brush>
  </inkml:definitions>
  <inkml:trace contextRef="#ctx0" brushRef="#br0">19340 18041 159 0,'0'-14'0'16,"0"14"0"0,0 0 0-1,0 0 0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04T12:23:50.236"/>
    </inkml:context>
    <inkml:brush xml:id="br0">
      <inkml:brushProperty name="width" value="0.09071" units="cm"/>
      <inkml:brushProperty name="height" value="0.09071" units="cm"/>
      <inkml:brushProperty name="color" value="#FF0000"/>
    </inkml:brush>
  </inkml:definitions>
  <inkml:trace contextRef="#ctx0" brushRef="#br0">4497 7647 7533,'-5'-12'0,"3"-1"-1260,-9 1 1081,10 5 1078,-5 1-539,6 6-270,0-5 180,0 3-180,0-3 89,0 10 91,0 13-90,0 9 0,-5 5 180,3 27-180,-9-15-467,10 17 467,-5-12-90,1-4-180,3 0 0,-4-2 180,1-5-1080,3 27 900,-3-25-719,5 18 359,0-32 270,5-7-90,-3 0-179,9-7 89,-4-5 360,0-1 0,10-6 0,-3 0 0</inkml:trace>
  <inkml:trace contextRef="#ctx0" brushRef="#br0" timeOffset="1">4699 7572 7533,'19'0'-270,"-6"5"270,-7 3 90,-1 4 270,-3 7 449,9 33-629,-9-12 0,3 31 0,-5-31-90,0 9 0,0-10 90,-5 10-90,3-10-450,-4 4 270,6 12 90,0-19-720,0 12 270,0-23 271,-5 1-541,3-1 270,-3-6 180,5 5 270,-6-10 0,-1 4 0,-5-5 0</inkml:trace>
  <inkml:trace contextRef="#ctx0" brushRef="#br0" timeOffset="2">4296 7962 7533,'-14'-5'-180,"3"4"360,11-5 179,0 6-269,0 11 90,0-2 0,5 14 0,2-3 0,1 11 0,3 1 0,1 6 270,8 22-2743,5-11 2563,-5 12-270,3-17 0,-3-6-980,5 0 890,-5-12-1013,3 4 1013,-3-17-457,5 6 277,6-12 270,-4-2-180,4-5 270,-6 0-270,6-5 180,-5-8 0,10-6 0,-9-12-90,4 4 90,11-26-180,-7 22 180,9-22 0,-14 21-90,-5-6 90,0 6 0,1 1 0,-7 0 1363,11-12-1363,-15 13-630,3-4 271,-7 26 359,-9-3 0,3 10 0,-5-5 0</inkml:trace>
  <inkml:trace contextRef="#ctx0" brushRef="#br0" timeOffset="3">1347 8807 7533,'-13'-7'-180,"2"-4"90,11 9 450,0-14-91,0 13-89,0-14-270,5 16 0,2-11 270,6 11-180,-1-10-90,7 10 270,-5-11-90,9 10 270,25-15-360,-10 15-90,22-15 270,0 10-2474,-11 0 2204,13 1 180,-14 6 0,-3 0-180,6-5-251,-1 3 341,-5-3-90,4 5 90,-10 0 90,5 0-90,-1 5 0,-4-3 0,5 3 0,-7 1 0,-4-5 0,3 5 90,-9-6-90,3 0 0,-4 0 0,-7 0 0,5 0 0,-10 0 0,4 0 90,-11 0-90,5 0-180,-11 0 2046,5 0-1866,-1 0 319,-4 0-589,5 0 180,-6 0-539,0 0-1,-6 0 630,5 0 0,-10 5 0,4 2 0</inkml:trace>
  <inkml:trace contextRef="#ctx0" brushRef="#br0" timeOffset="4">1600 9109 6633,'-7'0'-90,"1"-6"450,1 5 270,3-10-450,-3 9-1,5-3 1,0 5 0,0-6-180,0 5 180,0-5 90,0 6-90,0 0 0,5 0 90,8 6-180,0 1-180,12 5 270,-12 1-90,12-1-90,-12 1-90,11 5 90,-10-3 179,10 8-448,-5-8 179,1 8 0,10 3-540,-9-5 360,4 2 90,-2-4 0,-8-11-629,3 9 449,0-10 0,-4 0 360,10 4 0,-10-10 0,4 4 0</inkml:trace>
  <inkml:trace contextRef="#ctx0" brushRef="#br0" timeOffset="5">2330 9109 7533,'0'-7'0,"0"1"359,0 6 91,0 0-180,-5 0-540,-2 0 180,-6 6 180,-11 6-180,3 8 90,-9 0 90,4 4 90,1-10-450,0 4 270,0-5-90,0-1-90,5 1 1,-4-1 179,5 1 0,-1 0-90,2-6 90,5 4 0,1-10 0,-1 5 0,0-1 0,6-3 0,-4 4 90,10-6-90,-4 0 0,5 0 0,0 0 0,0 5 89,0-3 1,0 3 90,5-5-180,-4 6 0,10-5 180,-9 4-90,9 1-90,-9-4 90,9 9-90,-10-4 90,10 0 0,-9 4 90,3 1 180,6 14-270,-8 0 90,8 5-180,-5 0 90,-5-5-1,11 5 1,-11 0 90,10-4-180,-9 9-90,3-9 180,-5 4 0,6-12 0,-5 5-180,5-5 0,-6 1 90,0-2 90,0-5-719,0-1 359,0-4 0,0 3-899,0-10 539,0 10 630,0-9 0,6 3 0,1-5 0</inkml:trace>
  <inkml:trace contextRef="#ctx0" brushRef="#br0" timeOffset="6">2885 9311 7533,'-35'-14'809,"7"3"-539,28 11 720,0 0-901,6 0-89,6-6 0,2 5-89,10-5 268,-5 6 91,7 0-450,4 0 180,-3 0-90,4-6-89,0 5 89,-5-4 0,17 5-180,-16 0 90,10-6 0,-18 5-180,10-5 180,-13 6 180,8 0-809,-12 0 449,1 0 0,-1 0 360,-5 6 0,-1 0 0,-6 7 0</inkml:trace>
  <inkml:trace contextRef="#ctx0" brushRef="#br0" timeOffset="7">2809 9537 7533,'-28'8'90,"6"-3"269,22-5 91,0 0-270,11 0 0,-2 0-90,14 0 180,-3-5-90,5 3-180,0-4 0,0 6 180,1 0-1,4 0-179,-3 0 90,21 0-359,-13 0 89,8 0 180,-12 0 0,-1 0-720,-3 0 360,4 0 180,-6 0 0,0 0-629,-5 0 269,4-5 540,-10 3 0,10-3 0,-5 5 0</inkml:trace>
  <inkml:trace contextRef="#ctx0" brushRef="#br0" timeOffset="8">3944 8933 7533,'-22'0'-180,"0"0"270,20 0-90,-3 0 180,5 0-270,0 0 90,5 0 90,19-6 0,-1-1-90,30-11 90,-18 10 89,31-9-2322,-19 10 2233,9 0-90,-12-5-232,-7 11 322,1-5-90,-6 6 90,5 0-270,6 0 270,-8 0-270,18 0 180,-25 0 90,3 0-90,-7 0-90,-10 0 90,10 0 0,-10 6 0,4-5 0,0 5-90,-4 0 90,4-5 0,-5 5 0,-1-6 2129,-4 0-2129,3 5 67,-10-3-67,4 3 0,1-5 0,-5 0 90,5 0-1,-6 0-59,0 0 0,0 0 0</inkml:trace>
  <inkml:trace contextRef="#ctx0" brushRef="#br0" timeOffset="9">3944 9033 7533,'-8'0'0,"3"0"0,5-5-360,0 3 180,0-3 90,0 5 90,0 0 0,-6 0 90,5 0 0,-5 0 0,6 0 540,0 0-541,0 5 91,0 2-90,0 1 0,6 3 90,1-4-90,5 5 0,1 1-90,11-1 90,-4 1 0,12-1 0,-7 1-180,22 5 180,-16-3-225,4-4 0,0 1-1420,-4 3 1555,22 3-90,-27-6 0,11 1 180,-10-6-90,3 4-90,-10-4 90,-2 0 0,-5 4-90,-1-4 90,1 6 0,-1-6-180,-5-1 180,-1-1 1645,-6-3-1735,0 9 90,0-4 0,-6 0-180,-6 9 90,-8-7-89,-16 14 179,8-8 0,-9 3-90,12-6 180,0 1-90,0-1 0,0 1 90,-12 5-180,9-4 90,-8 10 0,11-10 359,-12 10-269,9-5 90,-3 1 0,8-2-90,9-5 0,-10 0 90,10 5-90,-4-10 0,11 9-180,-4-10 90,9 6 90,-9-1 0,10-5-180,-5 4 0,6-4 90,6 0 90,1 5-90,5-11 180,12 10-180,-3-10 90,10 11 0,-6-11-90,6 5 0,1-6 90,5 0 89,1 0-179,6 0 90,-5-6 0,10 5-180,-10-5 180,5 6-90,-1 0-90,13-6 90,-8 5 0,1-4 0,-2 5 90,-23 0 0,17 0-90,-28 0 90,12 0 180,-12 0-270,0 0 0,-2 0 90,-10 0 90,5 0 90,-6 0-90,0 0 0,-6-6-1260,0-1 541,-7 0 269,0-4-1170,-5-2 1440,10-1 0,-9-4 0,10 5 0</inkml:trace>
  <inkml:trace contextRef="#ctx0" brushRef="#br0" timeOffset="10">5002 9223 7533,'-6'-7'359,"5"1"-179,-5 0-90,6 5-90,0-5 90,0 6-90,6 0 180,0 6 0,7 7-270,-6 1 90,4 9 0,-4-3-90,0 22 180,-1-13 0,-6 19-270,0-10 270,0-10-180,0 7 0,0-22 90,0 6-270,0-12 1,0-2 358,0-5-268,5 0-1,-3 0 90,3-11-180,-5-3-90,6-22 360,-4 8-90,9-9 0,1-5 0,8 8 180,11-15 0,-10 28 0,8-2 270,-9 16-180,5 0 0,-5 7 179,9 18-89,-14 3-270,9 10 180,-17 0 0,4 12-180,-9-2 180,9 19-90,-10-25-180,4 1 180,-5-12-90,0-4-180,0-6-90,0-3 180,6-11-270,-4-11 181,9 2-1,-9-14 180,9-3-360,-4-17 270,5 8 90,1-24 90,0 30-180,-1-13 0,1 23 270,11-6 360,-9 12-1,15 5-179,-11 16-180,1 5 0,-8 12 0,5 5-90,-14-2-180,14 8 180,-5-5 0,2-4-540,4 4 180,-5-6 180,-1-6-360,7 0 181,1-7 89,4-5-630,2 4 270,-1-10 540,-6 5 0,6-6 0,-6 0 0</inkml:trace>
  <inkml:trace contextRef="#ctx0" brushRef="#br0" timeOffset="11">6324 9021 7533,'-19'-14'1079,"6"3"-449,-4 16-540,9 2 90,-5 6 89,-3 16 1,7 10 90,-9 25-371,11-27 1,2 1-395,1 4 1,0-1-1853,-1 30 2167,5-9-270,11-8-530,-2-19-10,14 7 65,2-5 745,2-15-810,4 14 361,-6-28 539,0 9 0,0-10 0,1 5 0</inkml:trace>
  <inkml:trace contextRef="#ctx0" brushRef="#br0" timeOffset="12">6828 9210 7533,'-47'-14'90,"6"3"269,34 11 1,-4 0-180,4-6 180,0 5-180,-4-5 0,4 6 90,-6 11-91,6-2-179,-4 15 270,4 6-90,0 4-270,1 9-824,6-5 1094,0-6-674,0 5 404,0-11 90,0 5-180,23 5 90,-7-8-90,21-3 0,-12-14 1035,6-11-945,-5-5 90,6-7 284,-2-14-284,-9 0-90,9-11 90,-17 5 0,6 0 0,-7-4-90,-5 3 90,-1 1 180,-12-32 0,5 31 90,-16-26-270,9 33 179,-11 6-179,-4-3 90,2 14-449,-10-2 179,6 11 90,-11 11-450,7-2 90,-13 26 270,21-19-269,-2 20 179,16-17 90,1 7-540,6-1 720,0-6 0,6 5 0,1-4 0</inkml:trace>
  <inkml:trace contextRef="#ctx0" brushRef="#br0" timeOffset="13">7320 9525 7533,'-7'19'629,"1"-6"-359,6-2 450,0 2-450,-5 1-90,3 10 179,-9-10-179,4 10-360,-17 18 90,8-17 180,-13 21-1349,15-27 629,-4 1-719,-6 4 1349,9-10 0,-14 4 0,9-6 0</inkml:trace>
  <inkml:trace contextRef="#ctx0" brushRef="#br0" timeOffset="14">7975 8983 7533,'-14'-5'180,"-3"3"-1,16-3 271,-5 5-270,6 0 0,-5 0 90,3 0-90,-3 0 539,5 22-269,0 12-270,0 12 180,0 8-2167,-6-14 2076,5 9-269,-11-5-617,11 7 797,-10-1-629,4 17 449,0-12 89,1 1-808,6-14 359,0-15 180,0 3 180,0-4-809,0-7 449,6 0 90,-5-7 1907,5-5-2536,0-1 1236,-5-6-787,10 0 450,-10 0 0,11-6 0,-5-1 0</inkml:trace>
  <inkml:trace contextRef="#ctx0" brushRef="#br0" timeOffset="15">8315 9424 7533,'7'20'-1619,"-2"-8"2428,-5-6 1,0 0-451,0 0 1,0 7-180,0 0 0,0-1-90,0 1 90,-5 5 0,-2-4 0,-6 10 0,-5-10 0,4 10-1,-4-5-898,0 7 269,-7 5 360,4-5 90,-9-1 0,11-7 0,-6-5 0</inkml:trace>
  <inkml:trace contextRef="#ctx0" brushRef="#br0" timeOffset="16">8983 8983 7533,'-14'-7'449,"2"-4"-89,12 9 0,0-3-180,0 5-180,0 5 90,0 3 90,0 4 90,0 18-90,0-8-270,-5 9 90,-2-8 0,-6-3 0,1 17-90,-1-15 90,1 13 90,-1-21-270,0 10 90,7-10 90,-6 4 0,11-5-90,-10-6 0,9 4 90,-3-10-90,5 5 0,-6-6 90,5 0-180,-5 0 180,6 0-90,0 0 90,6 0 0,1 0 0,5-6-90,1 5-180,5-4 90,-4-1 270,27 4-180,-18-3 0,19 5 360,-22 0-90,4 5-180,-10 2 180,4 6 0,1-1-180,-6 1 90,0 0 0,-2 5 0,-10-4-90,11 4 90,-11 0 90,-1-4 90,-7 10-181,-5-5 91,-7 1-90,0 4 0,-7-5 0,1 1-450,-6-2 181,5 0-1,-5-4-360,0 5 270,5-7-90,-11-4-449,11-3 359,1-5 180,6 0 0,7-5 270,-1-8 0,0-12 0,1-8 0</inkml:trace>
  <inkml:trace contextRef="#ctx0" brushRef="#br0" timeOffset="17">9021 9058 7803,'0'-6'989,"0"0"-629,0 6-180,5 0 0,2 0 89,6-5-89,22 3 0,-11-9-180,12 9 180,-12-3 0,-5 5 0,7-6-270,-1 5 90,-6-5 0,5 6 0,-10 0 0,4 0 180,-5 0-360,-1 0-1529,-5 6 899,5 1 271,-11 0 539,5 4 0,-6-4 0,0 5 0</inkml:trace>
  <inkml:trace contextRef="#ctx0" brushRef="#br0" timeOffset="18">9549 9625 7533,'-6'15'449,"1"2"-89,5-16 0,0 10-270,0-4 90,-6 0 0,4 5 0,-3 0-180,5 2 180,-6 4-1,4 0-898,-14 2 269,2 5 360,-6-5-1799,-9 9 1889,8-14 0,-10 15 0,6-11 0</inkml:trace>
  <inkml:trace contextRef="#ctx0" brushRef="#br0" timeOffset="19">10318 8908 7533,'-5'-20'90,"3"7"90,-3 2 89,5 10-89,0-5 0,0 0 0,0 5 180,0-5 0,-6 6-180,5-5 89,-4 4-89,5-5 0,-6 6 0,-1 6-90,0 1 0,-10 11 90,8 1 0,-9 6-180,0 6 0,4 2-81,-10 4 171,10 7-90,-4-5 90,0 10-566,4-10 476,1 10-89,2-10 178,10 10-268,-5-15 179,6 8 0,0-16-257,0 5 167,6-6 0,1 1 0,11-7 90,-4-1-360,10-10 91,-11 3-91,23-10 90,-14 4 180,20-10 240,-16-8-240,5 0 0,-5-12 0,-1 12 924,-5-11-654,9-1-180,-14 4 269,3-3-179,-12 6 90,-1 4 189,-3-4-279,4 5 0,-12 0 0,-1 6 0,-6-4-90,1 4 90,-6 0 180,-2-4-180,-5 10 0,0-5-90,-1 6 180,1 0-180,0 0 89,0 6-89,0 1-359,-1 5 269,7-5-90,1 4 180,5-4-900,6 1 451,2-3 89,5 1-450,0-5 271,0 4 179,5-5-540,8 0 900,6-5 0,6-8 0,0-6 0</inkml:trace>
  <inkml:trace contextRef="#ctx0" brushRef="#br0" timeOffset="20">10696 8908 7533,'0'-14'719,"0"2"-539,0 12 0,6-5 90,-5 3-90,11-3 0,-11 5 180,10 0 179,7 5-539,-2 2 180,7 6 0,-4 0 90,-5 5 0,4 1-90,-6 7-1,7-1 1,-5 5 0,4 2 0,-5 6 0,-1-5-1140,1 9 1140,-1-8 0,-4 9 0,3 0-180,-10-4 0,4 5-457,-10 16 457,-2-17 0,-11 17 180,-2-22-810,-5 0 360,-6 0 180,4 0-1799,-9-6 360,-7 16 1529,2-24 0,-8 22 0,11-20 0</inkml:trace>
  <inkml:trace contextRef="#ctx0" brushRef="#br0" timeOffset="21">12838 5833 7533,'-40'-20'0,"5"2"180,17 6-360,3 5 90,-2-4 90,-2 9 180,0-3-270,-12 5 180,-1 0 0,-6 0 0,-6 5 89,-1 8-4615,-5 1 4526,5 9-90,-4 3 90,4 0 0,-5 11 0,0-5-90,-1 12 45,23-20 0,0 2 291,3-1 0,-1 2-246,-16 19 0,-1 3-180,14-14 1,1 1 134,-9 16 0,2 0-45,11-11 0,4-1 45,3-1 0,2-1 0,-1 3 0,1-1 0,2 1 0,1-1-90,1-2 0,2 1-45,2 5 0,2-1 135,-2-7 0,2 0-135,4 1 0,1 0 0,-6 26 90,12 0 0,6-11-180,8-3 180,22 0 0,-1-14-90,15 1 0,0-18 90,1-11 180,6-1-180,0-6 0,6 0 0,0-11 135,-31 5 0,0-2-90,0-4 0,0-1 45,0-2 0,-1-1 45,2-2 0,-2-2-45,-1 1 0,-2-1-45,1-7 0,-1-1 0,-2 5 0,-1 0 0,-2-7 0,-1-2 0,1 4 0,-2-1 0,-2-1 0,0-3 44,6-12 1,0-1-45,-7 11 0,-1 0 0,3-13 0,-2-1-135,-8 14 0,-2 0 45,-3-2 1,-2-1 88,0 3 1,0 0 0,1-8 0,-1 0-135,-5 7 1,0-1-1,5-9 0,-1 0 90,-7 10 0,-1 1 0,3-6 0,-1 2 0,-2-26 0,-5-3 0,-2 5 180,-6 5-180,-5 8 0,-1 6-4,-1 12 94,-9-4-90,7 15 0,-8-8-90,-1 15 2159,-12-4-1979,2 11-539,-13 1-331,14 6 600,-3 6 90,5 1 721,0 5-901,1 1-899,-7 11 809,11-3 90,2 4-450,7-1 720,16-5 0,-15 12 0,9 1 0</inkml:trace>
  <inkml:trace contextRef="#ctx0" brushRef="#br0" timeOffset="22">10268 10155 7533,'-13'-32'-270,"6"7"270,2 6 180,5 6-90,0 6-90,0 2 270,0-1-630,0 5 180,0-5 90,0 12 90,5 1 90,2 11-90,12-4 90,-6 10 180,12-4-180,-6 11 89,18 17 1,-4-6-1839,5 19 1659,-2-17 180,-4 13-1385,6-6 1250,-17-17 0,2 0-90,-1-5 0,0 0 90,3 5 0,1 1 45,-1-1 0,0 0-45,1 1 0,-2 0-90,2 6 0,-1-1 0,3-1 0,0 0 45,-2 1 0,0 1-860,2-3 1,0 0 814,0 2 0,0 1-45,-3-3 0,1 1-426,5 1 0,0 1 516,-5-3 0,0-1 0,4 1 0,2 0 45,4 11 0,2 0 45,-5-8 0,1-1 45,6 10 0,-1-2-135,-6-12 0,-2-2 89,-2 3 1,-1 0-45,0-5 0,0 1 45,9 18 0,-1 0-135,-8-15 0,0-1 90,9 14 0,-1-1 0,-14-17 0,0 1 0,9 13 0,-1 1-90,-9-14 0,0 1 90,6 12 0,0-1-135,11 8 433,0-2-433,-6-7 0,4-5-180,-9 0 180,4 0-90,-6-6 90,0 4 90,0-9 733,-5 4-823,4-6-180,-10 0 1775,10 1-1595,-11-1-269,6-5 89,-7-2 0,1-6 720,-6-5 1,4-1 0,-4-6 0</inkml:trace>
  <inkml:trace contextRef="#ctx0" brushRef="#br0" timeOffset="23">10633 10091 7533,'-19'-33'-1619,"1"-2"1978,10 21 181,-3-10-270,10 16 0,-5-9-180,6 16 90,0-5-90,0 6 89,0 0 91,11 17-180,-2-7 0,15 19 0,-10-9-504,10 5 414,-5 6 180,23 12-180,-7-2-419,-10-13 0,-1-1 509,14 12 0,0 10-90,0-5-928,5 7 1018,2-1 0,5 0-1018,-25-21 0,0-1 973,3-3 0,0 1 0,-2 5 0,0 0-315,5-5 0,0 0 270,-5 5 0,0-1 45,4-2 0,1 2 45,9 15 0,0 1-45,-9-11 0,1 0 0,10 8 0,0-1 0,-12-7 0,-3-3 0,2-2 0,0-1 0,1 4 0,1 3 90,9 9 0,0 1-90,-9-14 0,1 0-531,11 13 1,-2 0 530,-15-16 0,0-1 0,5 4 0,0-1 0,-3 1 0,1-1 0,0 1 0,0-1-45,-1-2 0,-1-1 45,-1 0 0,-1 0-37,0 0 0,0 0 82,20 24-45,-11-13 0,-2 1 45,6 16 70,-5-19 1,-2-1-71,-3 8 0,14 5 330,-10-10-510,0 5 180,5-7 0,1 18-180,-5-13 0,3 7 180,-16-18 1173,4-6-1443,-10-5 842,10 4-1022,-10-10 180,4 4 1660,-11-11-1569,4 4 550,-9-10-731,3 5-67,-5-6 67,6 0-539,-5 0 179,5 0 270,-6 0 360,0-6 0,-6-6 0,-1-8 0</inkml:trace>
  <inkml:trace contextRef="#ctx0" brushRef="#br0" timeOffset="24">8731 12070 7533,'0'-13'180,"0"7"-1,-6 0 1,5 6-90,-10 0 180,-2 0-270,-6 0-90,-12 11 270,4 3 0,-32 22-180,10-2-626,13-10 0,-2 1 716,6-3 0,1 1-135,-3 1 0,0 2 90,-1 2 0,0 0-704,-3 0 0,0 1 659,0 2 0,0 2-801,0 1 0,0 0 846,1-2 0,-1 1 0,0 1 0,0 0-45,1-2 0,-1-1 45,3-2 0,0-1-45,-2 6 0,0 0 0,2-5 0,0 1 45,0 1 0,0 1-45,3-4 0,0 0-909,-23 16 819,15 0 470,4-12-380,11-7-450,6-1 1188,6-16-828,2 9 1610,9-16-2239,-4 5 1959,12-6-1510,7-6 213,12-1-392,7-11 449,6-1 0,11-12 0,3-1 0</inkml:trace>
  <inkml:trace contextRef="#ctx0" brushRef="#br0" timeOffset="25">8920 12334 7533,'0'-7'0,"0"2"0,0 5 899,0 0-449,-6 0-270,-1 5-90,-11 2-90,-2 12 180,-5 0 90,-17 18-270,2-9-478,-16 14 658,5-10-1164,-5 11 1074,28-20 0,-1-1-90,-3 1 0,1-1-45,2 0 0,0-1 90,-4 1 0,-1 0-777,5 0 1,-1 0 686,-4 1 0,0-1 135,5 0 0,1-1-670,-28 23 760,0-5-360,4 5 90,-4-7 180,11 1 0,1-5-360,17-10 0,0 1 180,-9 6-719,-12 6 844,29-18-304,-6-5 89,12-1 551,-6 1-731,13-6 784,-6-2 0,5-5 1,-5 0-1</inkml:trace>
  <inkml:trace contextRef="#ctx0" brushRef="#br0" timeOffset="26">7837 12322 7533,'-20'-27'0,"7"3"180,8 18-1,-1-6 181,5 11-180,-5-5 0,6 6-90,-6 0 90,-1 6 0,-5 6-90,-6 8-90,-2 11 180,-11 7-1648,-1 1 1378,-11 10 90,-2 1 0,20-21 0,-1 0 90,4-1 0,0 1-90,-6 5 0,1-1-45,4-3 0,0-1 90,-5 8 0,0 0 135,3-4 0,-1-1-135,-2 5 0,0 0 0,2-2 0,0 0 0,-4 3 0,-1 0 90,5 0 0,0-1 0,1-4 0,0-2-90,2 1 0,2-2-431,-11 15 476,1-2 180,6 6-720,5-19 271,8 11 179,1-28-90,9 0-180,-3-2 90,5-9 1539,5 3-1089,2-5 313,11 0-493,8 0-180,6-5-305,11-2 575,8-6-1554,6 0 1554,6 1-45,-15 5 0,1 1-135,22-1 134,-25 4 1,-1 1-45,16 2-408,-9 0 408,4 0-180,-11 5 0,-1-3 180,-6 9-449,-6-4 179,-1 0-213,-6 4 213,0-4 28,-6 0-298,0 4 1598,-7-9-2677,-5 9 1246,4-4-256,-9 5 643,3 1 0,-5 0 1,0-1-1</inkml:trace>
  <inkml:trace contextRef="#ctx0" brushRef="#br0" timeOffset="27">3024 14023 7533,'-20'-13'0,"7"1"90,2 5 90,10-5-1,-11 11 91,5-10 0,0 10-90,-4-5-180,4 6 0,-5 0 180,-1 0 90,0 6-270,-5 0 180,-1 7 0,-7 5-180,1 2 269,-11 22-89,8-13-1040,-3 19 1040,7-16-180,10 6 180,-4-1 0,5 2 0,6-2-90,-4 1-314,10-5 224,-5 3 180,17 1-720,-2-3 360,14-3 90,3-13-359,6-5 269,6-1 90,0-5-90,0-2-720,5-5 361,-4 0 179,10 0 90,-10 0-719,4-5 539,-10 4 450,-8-5 0,-7 1 0,-5-3 0</inkml:trace>
  <inkml:trace contextRef="#ctx0" brushRef="#br0" timeOffset="28">3339 14250 7533,'-2'-22'1349,"4"0"-1169,10 21 0,1-5-180,-1 6 360,12 0-271,-3 0 91,5 0 0,-3 0 0,-9 6-90,4 1-90,-5 0 180,-1 4 0,1-4-360,-6 5 90,4 1-90,-10 11 90,5-9-90,-12 15 0,0-10 180,-7 5-90,-5 0 90,4 0-179,-4 0 179,-1-5 90,0 4-180,-1-10 180,-3 4-90,9-6 0,-10-5 179,10 4-179,-10-9 0,10 3 0,-5-5 360,7 0-270,5 0 90,1 0-90,6 0 360,0 0-540,6 0 90,1 0 90,17 0 180,3-5-180,5 3-1,-1-3-89,-1 5 90,-3 0-90,9-6 90,-9 5-180,4-4 90,-6 5 90,0 0-809,11 0 629,-13 0 0,12 0-1349,-21 0 719,4 0 270,-5 0 450,-6 0 0,4 5 0,-4 2 0</inkml:trace>
  <inkml:trace contextRef="#ctx0" brushRef="#br0" timeOffset="29">4144 14615 7533,'-13'-7'0,"2"1"0,11 6 0,0 0 449,0 6 1260,0 1-719,0 11-450,0 2-450,0 5-90,0 0 179,-6 0 1,-1 0-450,-6 0 181,1 1 178,-1-1-2067,-5 6 1528,4-10 180,-4 3-1079,11-12 539,-4 1 271,9-6 539,-4-2 0,1-10 0,-2-2 0</inkml:trace>
  <inkml:trace contextRef="#ctx0" brushRef="#br0" timeOffset="30">4737 14123 7533,'-14'-26'270,"3"8"-91,5 12 181,5 1-90,-5 3 270,6-9-180,0 10-181,0-5 1,0 6 90,0 0-90,6 0-180,1 0 0,5 6 180,1-5 0,-6 10-180,4-4 0,-4 6 0,6 0 90,-7-1-360,6 1 270,-11-1-90,5 6-90,-6-4 90,0 10-90,-6-10 180,-1 10-90,-5-10-90,-1 10 180,0-10-89,-5 10 89,4-11 0,-10 6 0,10-1-90,-9-10 90,9 9 0,-4-10 0,-1 1 90,6-3-90,-6 1 0,12-5 179,-4 4-179,4-5 0,0 0 0,2 0-90,5 0-89,0 0 89,5 0 90,2 0 0,6 0-90,5 0 180,-4 0-90,10 0 0,-5 6-90,6 1 360,0 0-91,1 4 1,-7-3 270,5 4-180,-4 1 180,10 5-181,-8 1 1,1 1 0,-10-2-360,-6-5 270,-1-1-90,-6 1 90,0-1-180,0 1-90,-6 0 270,-1 5-90,-11-4-180,-2 9 0,-5-8 180,0 8-900,-1-9 451,1 4 89,0-11 180,0 4-1080,0-9 541,0 3 179,5-5-809,2 0 179,5-5 721,6-2 359,2-6 0,5-5 0,5 4 0,3-4 0</inkml:trace>
  <inkml:trace contextRef="#ctx0" brushRef="#br0" timeOffset="31">5215 14766 10951,'0'13'1349,"0"-1"-899,0 1-1,0 0-269,0 5-539,-5-4 359,-2 10 90,-5-5-1,-7 7-1258,5-1 719,-4 0 360,0 0-1169,4 0 719,-4-5 91,5 4 269,6-11 180,-4 6 0,4-7 0,-5 1 0</inkml:trace>
  <inkml:trace contextRef="#ctx0" brushRef="#br0" timeOffset="32">6060 14237 7533,'0'-7'180,"-6"-4"-1,5 9 1,-5-3 180,0-1-90,5 5-90,-5-5 90,1 6 90,-2 0-181,-6 6 1,1 6 180,-7 13-90,0 2-90,-6 4-90,0-6-387,0 6 477,-1-4-180,1 9 270,-11 2-90,8 1-270,-8-1 90,16-13 0,-4-1 180,10-5-270,-4 1 0,10-2 90,-3-5-90,10-6 180,-4 4 476,5-4-656,0 0 0,0-2 180,5-5-180,8 0 1,6 0 89,29 0-180,-12-5-1174,24-2 1354,-20-6-90,9 6-419,-5-4 509,1 4-90,-1 0 180,-7 1-180,-4 6 90,3-5-360,-9 4-24,4-5 205,-7 6 89,-4 0-360,4 0-90,-10 0 540,4 0 92,-11 6-632,4-5 742,-9 4-561,3-5-297,-5 0 656,-5 0 0,-2 0 0,-6 0 0</inkml:trace>
  <inkml:trace contextRef="#ctx0" brushRef="#br0" timeOffset="33">6111 14287 7533,'-15'0'1799,"4"0"-1440,11 0-89,0 0 270,0 6 180,0 12-541,0 3-89,0 16 90,0-5 0,0 6-412,0 0 412,-5 5 0,3 2 0,-9-1-450,10 5 180,-11-9-269,5 14 179,0-13 90,1 2 90,6-12-360,0-6 180,0-5 90,0 4-1079,0-16 629,0 9 180,0-10 592,6 0-1851,1-2 809,6-5 810,-1 0 0,1-17 0,0-4 0</inkml:trace>
  <inkml:trace contextRef="#ctx0" brushRef="#br0" timeOffset="34">6639 14792 5914,'0'-8'4407,"0"2"-3867,0 6-180,0 0-181,-5 0 181,-2 12-180,0-4-450,-4 11 180,4-7 180,-12 7-90,5-6-270,-21 22 270,18-18-1700,-17 18 1071,20-21 89,-5 5 360,7-7-1169,-1 1 539,6-6 810,2-2 0,-1-5 0,-1 0 0</inkml:trace>
  <inkml:trace contextRef="#ctx0" brushRef="#br0" timeOffset="35">6967 14312 7533,'0'-12'0,"-6"5"90,5-4 90,-11 4-1,11 0 1,-5-4 270,1 9-90,4-9-180,-10 9 0,9-3 269,-4 5-179,1 0 90,3 0-180,-3 0 0,5 0 0,0 0-90,5 5 0,2 2-270,1 1 180,3 3 0,1-10 90,2 10-180,10-9 0,-9 9 0,8-10-540,8 5 540,-3-1-90,8-3 0,-11 3 91,-5-5 89,4 0-90,-11 6 269,12-4-179,-11 4-89,4-6 268,-5 0-89,4 5-90,-2-4 180,-3 4-180,0 1 0,-11-4 90,5 4-90,-1-6 90,-4 5-90,5-3 0,-6 9 0,0-4 0,0 0 180,0 4 90,0 2-270,0 1 90,0 4 180,-6 0 0,5 2-181,-16 22 181,9-13-696,-5 13 516,2-11-180,4 1-90,0 0 270,-4 4 90,4-9-606,0 3 336,1-4 0,1-1-629,3 6 269,-4-4 180,6-8-629,0-2 359,0-10 180,0 0 686,0-2-1495,6-5 705,-4 0 105,9-11 359,-4-2 0,11-13 0,2 1 0</inkml:trace>
  <inkml:trace contextRef="#ctx0" brushRef="#br0" timeOffset="36">7673 14098 7533,'-14'-14'899,"3"3"-539,11 11 270,0 0-450,5 0-1,2 0 1,11 11-180,2-2 180,-1 9-180,5 0 270,-10-4-90,10 15 0,-10-8-90,4 16 90,0-5-180,-4 1 90,4 3 449,1 13-449,-11-7-840,3 18 840,-11-21 180,0 5-181,-5-1-178,-8-4 89,-1 10 0,-10-10 179,5 5-988,-7-6-123,1 0 842,5-1-630,-3-4 360,3 3 180,1-10-2064,-10 16 1164,8-14 1080,-16 9 0,11-18 0,-6-1 0</inkml:trace>
  <inkml:trace contextRef="#ctx0" brushRef="#br0" timeOffset="37">4031 16013 7533,'-19'0'539,"1"-5"-359,11 3-90,1-9 180,6 10-90,11-10 0,3 9 0,12-4 0,21 6-90,-10 0-597,23 0 686,-16-5-448,7 4 359,-1-5-180,0 6 269,1 0-268,-1 0-1,1 6-748,-1-5 838,1 4 90,-7 1 0,0-4-90,-7 9-180,1-10 90,0 10 90,-6-9-270,5 9 90,-10-4 90,3 6 90,-10-7-1349,9 11 989,-13-8 180,2 9-449,-7-5 766,-10-1 1,-1 6 0,-6 2-1</inkml:trace>
  <inkml:trace contextRef="#ctx0" brushRef="#br0" timeOffset="38">4057 16354 7533,'-34'0'449,"10"-6"-269,18 5 0,6-10 180,6 4-90,1-6-90,11 0 0,2 6 179,27-9-179,-10 13-381,23-14 201,-15 10 270,5 0-90,1 2-135,-13 4 0,2 2 45,23-1-887,-23-1 1,0 2 526,22 4 270,-10-3-803,3 9 982,1-4-538,-4 5 179,-1-5 90,-2 4 90,-5-4-720,1 6 450,-7 0-98,-2-1-621,-9-5 449,9 4-90,-3 2 630,-7-5 0,4 9 0,-11-10 0</inkml:trace>
  <inkml:trace contextRef="#ctx0" brushRef="#br0" timeOffset="39">5732 15723 7533,'-28'-21'449,"5"-1"-269,23 21 0,0-5 0,0 1 0,0 3 0,0-9 0,6 9 0,1-3 0,12-1 0,-5 5-1,15-4 91,-8 5-90,15 0-540,2 0-483,7 0 933,5 0-180,7 0 270,-15 2 0,1 1-1,27 4-783,-22-1 0,0 0 784,22 2-1,0 3-89,-30-8 0,0 1-270,26 8 180,-29-8 0,0-1 0,32 8 90,-5-4-270,5 6 45,-29-6 1,0-1-226,21 7 180,6-1-90,-12 1-686,-9 0 686,-7-1 90,-9-5-89,-18 4 706,1-9-797,-6 3 1495,-2-5-1224,-5 6 535,-5-5-1076,-2 5 180,-12-1 181,0-3-1,-6 3 270,-6-5 0,-6-5 0,-8-2 0</inkml:trace>
  <inkml:trace contextRef="#ctx0" brushRef="#br0" timeOffset="40">6136 15698 7533,'-27'-14'0,"3"-2"180,17 14-90,2-9 269,-1 9-179,5-3-180,-11 5 180,11 0 0,-5 0-90,6 5 180,-6 19 0,5-1-180,-5 13 90,6 1-790,-5-3 970,4 14-180,-5-3 0,1 5-1,3 7 1,-4 0-1468,1 0 1468,3 5 0,-4-10-576,6-2 396,0-1 180,0-10-720,0 16 540,0-14 0,0-4-810,0-13 361,0-6 812,0-10-1172,0 9 1781,0-15-1242,0 3 419,6-5-1139,-4-5 990,3-8 0,-10-7 0,-3-5 0</inkml:trace>
  <inkml:trace contextRef="#ctx0" brushRef="#br0" timeOffset="41">6828 15812 7533,'-20'0'180,"3"0"-1,4 0 1,6 0 180,1 0-180,6 0 180,-5 0 90,3 0-91,-9 0-89,10 6-180,-5 6 90,6 2 0,0 10 0,0-4-180,0 10 270,0 3-90,0 4 0,0 35-1254,-5-21 1163,4-11 1,0-1 0,-4 11-90,-1 1 180,5-1-90,-5 1-485,6-13 395,0 5 180,0-11-90,0-6-900,0 15 720,6-24-1439,-5 12 810,5-22 1467,-1-1-1017,-3-6 381,9 0 1,-4-6 0,5-1-1</inkml:trace>
  <inkml:trace contextRef="#ctx0" brushRef="#br0" timeOffset="42">7899 15787 7533,'-12'-7'-180,"5"-4"180,-5 9 539,5-3-359,-5 5 0,5 0 0,-4 5 90,4 2-90,-6 12 0,6-5 0,-4 15 0,-1-3-836,-3 12 836,-3 5-180,6 2 270,-7 6-90,6-1-90,1-14 0,-1 1 0,-6 19 0,9-19 0,0-1-270,-8 9 180,6-2 0,-1 0 90,1-9-540,-1 2 270,6-11 180,1-5-630,1-2 181,3-11-811,-4-2 631,6-5 89,6-5 1105,1-7-924,6-13 359,-6-8 0,10-4 0,-3-1 0</inkml:trace>
  <inkml:trace contextRef="#ctx0" brushRef="#br0" timeOffset="43">7837 15787 7533,'13'-28'-90,"-2"-1"270,-5 28 89,-5-10-89,5 9 180,-6-3 270,6 10-270,1 8-91,6 1-89,-1 16 0,0-4 0,1 12-1165,0 6 1165,-1 0 0,1 12-90,0-4-478,5 9 433,-6-18 0,1 0-45,8 21-595,-9-23 0,0-3 775,0 5-874,12 12 604,-3-24 90,4 15-270,-6-38 986,-1 9-806,-4-15-270,21-8 271,-13-8-1,9-17 135,-7-1-315,1-11 1133,-4-2-953,8-5-655,-9-1 655,-1-5 0,0 4 270,-7-4-180,12-11 0,-8 18 360,7-6-181,-10 19-89,-1 9 270,1 2-180,-6 7 407,10 0-317,-14 10 529,13-3-709,-14 11 992,9 0-903,-4 5 1,0 2 0,4 11 180,-10 2-90,11 10 0,-11 3 449,11 27-359,-11-11-1500,10 18 1410,-10-17-90,11 0 0,-11 1-1048,10-1 688,-4-4-371,6-3 551,-6-6 180,4-4-1260,2 8 990,-5-12-539,9 1 269,-15-11 1406,9-7-1316,-10 1-30,4-6-600,-5-2 1095,0-5-2804,0 0 2609,0-5 0,-5-8 0,-2-7 0</inkml:trace>
  <inkml:trace contextRef="#ctx0" brushRef="#br0" timeOffset="44">9512 15711 7533,'-13'-20'-180,"7"8"270,-6 1-90,11 9 180,-10-9 0,9 9-1,-9-3 361,4 5-360,-5 0 0,5 0 0,-5 0-90,5 0 0,-5 5 180,-7 8-91,0 1 1,-1 10 0,-3 1 0,8 2-90,-3 15-824,6-8 914,-1 9-90,0 0 90,1 2 0,-1 6-180,6-1 0,2 6 180,5-10 0,0 9-360,0-11 180,0 2-90,5-3-270,2-6 180,12 7 90,0-11-936,6-2 757,0-13 89,6-5 90,-4-6-360,9 4 180,-4-9 0,6 3-719,-6-5 539,5-5 0,-10 3 77,3-9 373,-5-2 0,0-6 0,1-6 0</inkml:trace>
  <inkml:trace contextRef="#ctx0" brushRef="#br0" timeOffset="45">9991 15975 7533,'-34'-13'719,"10"-4"-359,19 10-180,5 0 0,0 2 0,0-1 180,5 4-91,8-3-269,1 5 180,10 0 0,7 5-270,-3-3 360,14 9-90,-21-4-360,8 6 90,-9-1 90,5 12-270,-11-9 90,3 9 180,-16-11-269,4 10 269,-5-2 0,-5 10-90,-8-6 90,-6 0 0,-6 0 0,-6 12 0,-1-9-911,-1 3 911,3-7 0,5-10-32,-1 4 122,1-5-90,5-6 0,-3 4 0,9-10 89,-10 10-89,10-9 908,-4 3-728,5-5-145,6 0 55,2 0 0,-1 0 0,5 0-90,-5 0 90,6 0-360,0 0 270,0 6 0,0-5 0,0 5 0,0-6 900,0 0-900,-6 0 0,5 0 0,-5 0 0,6 0-1125,0 0 1,6-6 0,1-1-1</inkml:trace>
  <inkml:trace contextRef="#ctx0" brushRef="#br0" timeOffset="46">10066 15951 6183,'-12'0'-269,"-1"0"718,6 0-89,-4 0-90,10 0-90,-5 0 270,1-6-360,3 4 89,-3-3-89,-1 5-180,4 0 270,-3 0-90,-1-6 90,5 5-270,-4-4 0,-1 5 270,5 0-180,-11 0 90,11 0 0,-5 0-90,0 0 90,5 0 0,-10 5 0,9-4 0,-9 10 0,10-3-90,-11 4 90,6-5 0,-7 10 0,0-9 0,1 10 0,5-5-180,-4 0 180,4-1 0,-6 6 0,0-3-90,1 3 89,5 0 1,-4-4-90,9 10 90,-3-11 0,5 11-90,0-10 90,0 10-90,0-9 90,0 8-90,0-9 90,5 4-90,2-5-180,0 0 270,5-1-90,-11 1 90,10-6-270,-10 4 0,10-10 270,-9 5-90,4-6-180,-1 0 1,-3 0-361,3 0 270,1 0 0,-5 0 180,5 0-270,-6 0 1,5 0 89,-3 0 0,3 0-540,1 0 810,-5 0 0,5-11 0,-6-3 0</inkml:trace>
  <inkml:trace contextRef="#ctx0" brushRef="#br0" timeOffset="47">10520 16429 7533,'-14'0'-1619,"2"0"2968,12 0-450,0 0 451,-5 0-901,4 0-89,-5 6 0,6 1-270,-5 5-90,3 1 180,-3 0 0,-1-1-630,4 1 270,-9-1 180,4 7-450,-5-5 360,-1 4 90,-5-6-180,4 6-1169,-4-9 450,5 8 449,1-16 0,-1 5 450,-5-6 0,-2 0 0,-5 0 0</inkml:trace>
  <inkml:trace contextRef="#ctx0" brushRef="#br0" timeOffset="48">11276 15926 7533,'2'-15'539,"2"4"-359,-10 6 540,1 3-360,3-3-1,-4 5 91,1 0-90,3 0-180,-3 5 180,5 8-1,0 6-179,-6 7 0,5 4 180,-4 2-180,-1 12-514,4-5 514,-9 10 0,4-4 0,0 5 0,-4 1-1294,10-1 1114,-5-5 90,6-2-871,0-11 601,0 5 90,0-10 0,0 3-899,0-10 539,0 3-90,0-8-268,0-3 89,6-6 1238,-5-6-1868,10 0 1078,-4-12 271,0-2 0,-1-16 0,-6-3 0</inkml:trace>
  <inkml:trace contextRef="#ctx0" brushRef="#br0" timeOffset="49">11704 16366 7533,'7'0'449,"4"0"1,-9 0 989,3 0-989,1 0 270,-4 11-361,3-8-89,-5 14 90,0-5 0,-5 3-180,3 8 0,-15-9-540,9 10 360,-10-4 0,-1 5 90,5 0-990,-9 0 361,8 0 359,-2-5-1619,4-2 899,0-5 181,1-1 359,-1 2 360,1-8 0,-7 0 0,0-6 0</inkml:trace>
  <inkml:trace contextRef="#ctx0" brushRef="#br0" timeOffset="50">12372 15900 7533,'0'-7'449,"0"2"-89,0 5 0,-5 5-90,3 8-90,-4 1 0,6 10-180,-5 6 180,-2-2-1,0 9-268,-4-12 178,4 0-89,-1 0 180,-3-5-180,4 4 0,1-11 0,0 6-180,0-12 91,5 4-1,-5-10 180,6 4-180,0 1 0,0-4 90,0 4-180,0-6 90,0 0-90,6 0 90,12-6 90,3 4 0,4-4 0,-1 6 0,-10 0-90,10 0 450,-5 6-270,1 2 90,4 4 89,1 7-89,-4 0 0,3 1-90,-11-2 0,-1-5 0,-5-1 0,-1 6 0,-1-4 90,-3 4-90,3-5 0,-10 0-270,-2-1 270,-6 1 0,-5 5-90,-13 2-90,3-1-445,-8-1-184,5-5 359,4-6 180,-4-2-256,6-5-554,0 0 361,5 0 269,2-11-540,6 3 900,-6-33 0,4 6 0,-5-21 0</inkml:trace>
  <inkml:trace contextRef="#ctx0" brushRef="#br0" timeOffset="51">12372 15913 7533,'7'19'180,"-2"-6"269,-5-2-89,6-9 90,-5 3-90,11 1-90,-5-5-1,11 4-89,2-5 0,-1 0 0,5 0-180,1 0 180,2 0 90,15 0-270,-14 0 270,8 0-90,-10 0-540,-7 0 180,5 0 180,-10 0-90,4 0-360,-5 6 270,-1-4 90,1 3-1799,-1 1 1440,1 1-1,-6 0 450,-2 4 0,1-4 0,1 5 0</inkml:trace>
  <inkml:trace contextRef="#ctx0" brushRef="#br0" timeOffset="52">13191 16542 7533,'-21'20'1619,"-1"-7"-1439,20-2 629,-9-4-359,10 5-90,-10 1-90,9-1-180,-9 1-90,9 0 179,-9-1 1,10 2-899,-5-2 449,1 1 270,3-1-1439,-3 1 809,-1-6 90,5-1-719,-5-6 1259,6 0 0,6-6 0,1-1 0</inkml:trace>
  <inkml:trace contextRef="#ctx0" brushRef="#br0" timeOffset="53">13808 15850 7533,'0'-39'180,"0"8"-1,0 13 1,0 5 450,0 0-270,0 6 0,0-4-180,0 4 269,0-6-179,0 6 90,6-4 0,-5 10-180,5-5-1,-6 6 361,0 0-360,-6 6-90,5 6-90,-10 8 180,4 5 90,-6 6-180,1 1 90,-12 34-1870,9-10 1600,0-19 0,0 0 90,1 25-845,-4-11 665,0 11 180,9-10-90,-8 4 180,16-5-270,-5-7 90,6 0 0,0-12-360,6-1 83,1-6 277,6-6-90,5 0-180,-4-7 1859,10-5-1769,-5-2 180,12-5-270,-5 0 0,11-11 181,-11-3 472,11-11-293,-10 0-90,9-6-90,-9 5 720,3-5-180,1-5-90,-10 14-91,-2-14 35,-8 23-124,-10-11 269,4 10-179,-5-10 0,0 10 0,-11-10 537,3 15-447,-16-7-180,10 9-180,-15-1 0,-3 3 180,-2 10-90,-2 3 90,5 4-90,4 1-270,-4 5 180,6-4-90,0 10 180,6-4-359,0-1 179,7-1 0,4 1 90,3-5 90,5 4-180,0-5 0,5-1 180,3-5 0,16-2 0,2-5 0</inkml:trace>
  <inkml:trace contextRef="#ctx0" brushRef="#br0" timeOffset="54">14338 15636 7533,'-21'-14'629,"4"-3"-539,17 15 270,0-3-180,6 5 270,-5 0-90,16 5-181,-9 2 1,16 11 0,-5 7 0,7 2-575,-1 10 575,0-5 90,0 6-91,0 5-1075,1 2 1076,-1 5 45,-12-14 0,-1 1-225,8 19 0,-14-19 0,0-1 90,5 8 90,-9 6-90,4-11 90,-6 10-91,-6-10 361,-7 4-180,-7 1 0,-4-5-360,-7 10 90,4-10 180,-10 4-990,-6 12 361,2-18 179,-2 10 270,12-21-2159,6-1 779,5-6 570,-3-6 810,3-7 0,-5-6 0,0 0 0</inkml:trace>
  <inkml:trace contextRef="#ctx0" brushRef="#br0" timeOffset="55">504 13683 7533,'-27'0'-180,"3"0"360,17-6 359,-4 4-179,10-3 0,-10-1-180,9 5 180,-4-4 89,6 5-269,0-6 0,6 5 0,7-5 0,1 6 90,9 0-90,3 0 0,6 0 89,22 0-89,-12 0-135,-3 2 0,-1 2-1959,6 2 1824,22 1 269,-27-1-752,10-1 483,-10-3 90,5 9-630,-7-9 360,1 3 91,-6 1 89,5 1-540,-5 5 450,0 1-629,-7-6 359,-6 4 90,-7-4 2133,1 6-2763,-6-1 627,4 1 363,-10-1 0,5-5 0,-12 5 0,-6-11 0,-8 5 0</inkml:trace>
  <inkml:trace contextRef="#ctx0" brushRef="#br0" timeOffset="56">554 13720 7533,'-21'21'180,"-1"-4"269,20-11-89,-3-5 90,5 10-90,5 7-1,2-2 181,17 25-360,-3-13-262,10 9 262,-6-6-1,0-6-268,0 6 89,1-10 89,-1 9-358,11-5 269,-8 1-450,19 5 360,-18-11 0,2-2-90,-7-6 0,-10 1 90,-2 0 90,-1-1-180,-9 1 90,-2 5 0,-7 2-89,-11-1-91,-8 5 180,0-10-90,-11 10-1483,-1-4 1573,-6-1 90,-7 5 0,-10-4-90,7 11 45,7-8 0,-1 3 180,16-3 0,0 1-45,-11 4 0,0 0 90,-13 15-90,11-11 90,2 5-180,0-10 0,9 9 360,-8-9-181,16 4 91,0-6 136,8 0-226,11-6 0,2-9-135</inkml:trace>
  <inkml:trace contextRef="#ctx0" brushRef="#br0" timeOffset="57">0 14968 8941,'5'5'41,"21"-3"48,11 3 1364,8-5-1183,11 0-930,1 0 1020,7-5-90,-2 3 0,7-9-180,-5 10-1,-27-5 1,1 1 90,5 3 0,0 2-180,26-6-270,-29 6 1,-2 0 179,7 0 0,4 0-1260,-15 0 631,8 6 359,-16-4 90,5 9-1079,-6 1 539,-5 3-449,9 8 1259,-13-3 0,7-1 0,-10 0 0</inkml:trace>
  <inkml:trace contextRef="#ctx0" brushRef="#br0" timeOffset="58">1537 14036 7533,'7'25'629,"-2"0"-359,-5 0-90,0 6 90,0 1 0,0 6-90,0-1 0,0 24-2299,0-18 2389,-5 12-90,4-19-450,-5-9 833,0 4-473,5-1-540,-5-14 526,6 6-166,0-20-180,0 3 180,0-5 1120,0 0-1210,0-5 0,6-8 0,1-12 180,0-7-539,10-23 359,-9 13-756,10-13 846,-5 18 0,-1-2 90,1 7-90,0 2 450,-1 10-90,7-4 359,0 16-269,1-9-180,3 16 90,-9-5-90,4 12 270,1 17-271,-5 0 91,4 13 0,-11-5-180,-2 13-180,-5-4 270,0 4-90,0-13-180,0-1 90,0-9-270,0 14 180,0-19 936,0 2-756,0-7-450,0-10 181,0 5-1,0-12 0,6-6 0,1-25 90,6 2-540,-1-14-1028,1 6 1388,-1 4 0,1-4-316,0 10 317,-1-3 538,7 4-179,-6 5-176,6 3 895,-12 12-449,4 5-180,-4 1 1150,6 6-880,-1 0 178,1 6-178,5 12 179,-10 3-89,9 9-270,-10 1 90,6-4 89,-1 9-269,-4-3 103,3 4-283,-10-4 0,10 3 180,-4-9-720,6 15 180,-1-14 270,1 2 90,-1-11-90,12-1 0,-3-10 90,4 3 0,-1-11 0,-4 0 0</inkml:trace>
  <inkml:trace contextRef="#ctx0" brushRef="#br0" timeOffset="59">15207 12838 7533,'-14'2'0,"-3"-4"90,10-5-90,0-4 180,1 10-270,1-5 90,4 6 90,-10 0 89,9 0-448,-9 0 179,9 0-180,-15 0 270,9 0-90,-10 0 180,5 0-180,-5 0 180,-1 0-180,-12 6 90,4-5-90,-9 5 90,9-6 90,-4 0-90,6 0 0,-6 0 0,5 0 90,-5 0-90,0 0 90,5 0-90,-28-6 0,23 5-684,-22-5 684,21 6-442,-22 0 442,12 0 90,-13 0-764,12 0 674,4 6 90,-11-5-90,11 10 90,-10-4-90,4 6-90,-5-1 180,0 1-90,-1 0-90,6 0 90,2-1 0,5-5 90,-5 4-605,4-4 515,-10 6 0,10 0 0,-5-1 0,6 1 0,-5-1 0,4-4 90,-5 3-180,6-4 180,1 5-90,-1 1 90,-6 0-90,5-1 0,-4 1 0,5-1 90,0 1-90,-5-1 90,3 6-180,-20 7 90,18-4 11,-12 3-11,22-5 0,-16 0 0,19 6 0,-13-5 90,11 4 155,4-10-245,-3 9 0,10-9 0,-4 10 0,-1 2 0,-2-5 0,2 8 0,1-15 0,11 10 0,-6-4 653,6-1-653,1 5 469,-7-10-469,6 15 854,0-8-854,2 4 0,10-1 262,-5 1-262,6-4 0,0 9 0,0-11 0,6 1 90,0 3-90,18 3 90,-3-5-90,10 3-238,-6-6 328,1-4-90,4 4 90,-3-5 0,9-1-585,2 1 675,1 0-180,10-1 90,18 1-180,-10 0-587,-18-7 0,0 0 677,13 1 90,9 4-973,-3-9 973,4 9-90,2-10-620,-1 11 440,5-11-737,2 10 1007,0-10-90,-33 2 0,1 0 0,-1-3 0,1 0 0,-2 3 0,0 0 0,6-3 0,1 1 45,-7 2 0,-1-1 0,6-2 0,0 0-45,-1 3 0,1 0 90,-3-2 0,1-1 0,1 3 0,1 0-90,-1-3 0,1 0 0,-1 3 0,3 0 0,14 0 0,1 1 44,-10 2 1,0 0-461,4-2 0,1-1 326,-10 3 0,-1 0 135,-6-3 0,-1 0-131,6 1 1,0-1-5,-1 3 0,1 0 90,-3-3 0,1 1 45,1-1 0,1 1-90,0 2 0,-1-1 331,-2-4 1,1-1-287,21 5 0,1 1 90,-16-2 0,1-1-323,12 1 0,0 0 233,-11-2 0,-2 1 0,-2 0 0,-2 0 437,3-3 0,0 1-437,0 2 0,-1 0 0,-1 0 0,-1-1 0,3-1 0,0 0 1,0 1 0,0 1-1,0-3 0,0 0 45,3 3 0,0 0-90,-5-3 0,1 1 90,6 2 0,-1 0-45,-8-4 0,-1 2 0,7 1 0,0 1 45,-4-2 0,-1 0-45,3 1 0,0 1 45,-3-3 0,1 0-180,1 3 0,0 0 90,-4-2 0,-1 0-45,6 2 0,-1 0 0,-4-3 1,-1 0 89,2-1 0,1 2 0,0 1 0,-1 1-45,-1-3 0,-1 1 90,3 2 0,0-1-45,-1-1 0,1-2-45,0 1 0,1 0 45,-2 0 0,2 0 179,21 0 1,0 0-180,-20 0 0,1 0-249,19 0 0,0 0 249,-21 0 0,-2 0 45,5 0 0,-1 0 172,-3 0 0,0 0-172,0 0 0,0 0 0,-4 0 0,1 0 0,19 0 0,1 0-90,-15 0 0,-1 0 45,13 0 0,-1 0 45,-15 0 0,-3 0-225,33 0 225,-31 0 0,0 0-45,32 0 0,-33 0 0,0 0-90,33 0 0,0 0 45,-33 0 0,1 0 45,13 1 0,1-2 0,-10-1 0,1-1-137,11 2 0,1 1 137,-18-3 0,1 1 0,13-2 0,1 2 0,-10 1 0,-1 0 90,9-1 0,-2-2-90,21-1 338,-1 3-248,-9-3-90,-23 4 0,1 2 0,22-1 0,9-6 329,-5 5-329,0-5 0,0 6 0,6-5-135,-23 1 1,0 1 134,-8-1 0,0 1-45,5-3 0,-1 1 45,26 3 0,-10-9 0,11 9 258,-12-9-348,5 4 135,-20 1 0,1 0-45,27-7-106,-24 6 0,-1 1 16,24 0 180,-5-6-220,-1 5 130,4-5-89,-13-1-1,13-5 90,-10 4 0,0-4-45,-17 9 0,-1 0 45,17-5-45,-19 2 0,-1 0 45,9-2 0,14-15 0,-17 13 0,8-8-90,-20 12 1035,-4-6-855,-7 4-90,6-4 714,-12-1-624,6 5 1786,-13-4-1876,6 5 1286,-5 0-1107,0 1-179,-2-6 0,-5 4 0,0-5-89,0 7 89,0-1-90,0-10-90,-5 1 180,-2-3 0,-6 7-180,-5-6 180,-2 3-90,1-4 90,-5 2-90,4 9 90,-5-5 0,0 1 0,0 4-259,-6-4 170,-1 0 268,0 4-269,-5-5 90,11 7 0,-17-1-618,10 0 618,-16 1 0,10-1 0,-10 1 0,4-1 0,-5 6 0,-1-4-1009,1 4 1009,-6-6 0,4 6-259,2-4 259,11 8 0,1-1 0,-14-8-278,10 5 1,0 1 277,-10-7 0,-4 6 180,0-4-180,4 4 0,-9 0 90,21-1 0,0-1 0,-29 7-90,26-7 0,1 1-90,-21 6 90,0-9 90,0 10-90,0-10 0,0 9-607,-6-9 607,5 10 90,-5-5-270,6 1 270,0 3-90,0-9-90,-5 10 90,3-11 0,-3 6 0,-1-2-45,20 3 0,0-1 45,11 3 0,-1-1 0,-13 1 0,2-1-90,-15-7 90,-3 4 0,-1-6 0,5 6 0,-5-4 0,21 8 0,0-1 0,12-2 0,0 0 0,-12-1 0,0 1 0,-16-1 0,-4-4 0,4 9 0,-5-9 0,6 10 90,-6-10-90,5 9 0,-5-9 0,1 9 90,4-9-90,16 7 0,-1 1 45,11 0 0,1-1-45,-10-2 0,1 1 0,-23 3 0,6-3 0,-5 5 0,3-6 0,-3 5-90,-1-5-90,5 1 180,-5 3 0,6-3 0,0-1 0,-6 5 0,5-5-90,-5 6 180,6-6-90,-5 5 0,4-4 0,27 4 0,-1 2 0,-26-1 0,27 0 0,0 0 0,-28 0 0,28 0 0,0 0 425,-27 0-470,16 0 1,-1 0 44,-21 0-539,25 0 1,-1 0 538,-17 0 90,6 0-11,-5 0-79,5 0 0,-1-6 180,-3 5-180,3-5 0,1 0 90,13 6 0,-1-1-90,-20-4-77,22 4 0,1 2 167,-20-1-90,10 0-153,-4 0-27,0 0 180,4 0 0,-4 0 90,0 0-270,10 0 90,-8 0 90,9 0 0,-6 0 0,1 0 0,0 0 0,5 0 870,1 0-870,1 0 0,9 0 0,-19 0 0,18 0 0,-8 0 0,18 0 216,-5-6-216,9 5 1419,-4-5-1419,13 6 782,1 0-782,3 0 134,1 6 0,-4 0 0,4 7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409.58749" units="1/cm"/>
          <inkml:channelProperty channel="Y" name="resolution" value="728.15558" units="1/cm"/>
          <inkml:channelProperty channel="F" name="resolution" value="0" units="1/dev"/>
          <inkml:channelProperty channel="T" name="resolution" value="1" units="1/dev"/>
        </inkml:channelProperties>
      </inkml:inkSource>
      <inkml:timestamp xml:id="ts0" timeString="2023-02-28T13:14:32.246"/>
    </inkml:context>
    <inkml:brush xml:id="br0">
      <inkml:brushProperty name="width" value="0.05292" units="cm"/>
      <inkml:brushProperty name="height" value="0.05292" units="cm"/>
      <inkml:brushProperty name="color" value="#FF0000"/>
    </inkml:brush>
  </inkml:definitions>
  <inkml:trace contextRef="#ctx0" brushRef="#br0">14263 8743 2175 0,'9'0'0'0,"-9"0"8"16,0 0 24-16,8 0 36 0,0 0-68 16,9 0 0-16,16 0 0 0,16-4 148 0,1 4-104 15,8 0-24 1,15-5-32-1,28 5 84 1,-10 5 80 0,24-1-148-1,-15 1 48 1,32 4-68 0,-33-9 40-1,25 5-16 1,7 4 20-1,-14-9-44 17,-26-4 68-17,17 8-52 1,7-8 208 0,1 8-212-1,-50-4 12 1,-8-4-16-1,17 18 28 1,-18-10-4 0,-15 1-28-1,-26-1 736 1,9-4-160 0,-18 0-8-1,11 5-140 1,-10-10-456 15,-8 5-4664-15,0 0 4704-1</inkml:trace>
  <inkml:trace contextRef="#ctx0" brushRef="#br0" timeOffset="91334">9086 8743 2755 0,'0'5'0'0,"-7"-5"28"0,-1 0-28 0,-9-5 120 15,-7 5-124-15,-18-4 4 0,9-1 92 16,-17-4-12-16,1 4-20 0,24 5-56 16,-25-5 84-1,9 5-16 1,-8 5 124-1,-1-5-132 17,0 9-120-17,-24 5-12 1,8 65 64 0,-25 38 40-1,16-10-4 1,-7 0 8-1,24 4 12 1,0 6-36 0,8 22-16-1,50-88-20 1,-8-4 24 0,8 4 80-1,17 107 16 1,-9-4-80-1,17 13-12 17,-17-116 0-17,33 149-12 1,-24-60 144 0,-1-61-64-1,9 37-72 1,0 5-108-1,33 74 84 1,-33-111-40 0,-9-19 28-1,34 89 52 1,8-10-228 0,24 0 108-1,-7-18 52 1,7-33-68-1,-48-93-120 17,15 4 16-17,67-36 224 1,-9-33 152 0,16-42 92-1,-14 4-176 1,-18-13 84-1,8-47-80 1,-33 10 40 0,-8-5-68-1,-17-19-8 1,-16-23-56 0,8 37 120-1,-24 5 36 16,-9 0 16-31,-25 0 68 32,8 130-144-17,1-51-52 1,-26-75 48 0,-7 5 68-1,-1 5 96 1,-8 23 68-1,42 107-180 1,-1-14 36 0,-32-37 216-1,15 5-228 1,1 13-184 0,9 15 36-1,-26-38 128 1,-8 28-72-1,9 5-92 17,7 14-12-17,1 9-8 1,-17-14-168 0,17 14-120-1,8 0-832 1,-1 5-2068-1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l" defTabSz="990600">
              <a:defRPr sz="1300">
                <a:latin typeface="Arial" charset="0"/>
                <a:ea typeface="黑体" panose="02010609060101010101" pitchFamily="49" charset="-122"/>
              </a:defRPr>
            </a:lvl1pPr>
          </a:lstStyle>
          <a:p>
            <a:pPr>
              <a:defRPr/>
            </a:pPr>
            <a:endParaRPr lang="zh-CN" altLang="en-US" dirty="0"/>
          </a:p>
        </p:txBody>
      </p:sp>
      <p:sp>
        <p:nvSpPr>
          <p:cNvPr id="157699"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ea typeface="黑体" panose="02010609060101010101" pitchFamily="49" charset="-122"/>
              </a:defRPr>
            </a:lvl1pPr>
          </a:lstStyle>
          <a:p>
            <a:pPr>
              <a:defRPr/>
            </a:pPr>
            <a:endParaRPr lang="en-US" altLang="zh-CN" dirty="0"/>
          </a:p>
        </p:txBody>
      </p:sp>
      <p:sp>
        <p:nvSpPr>
          <p:cNvPr id="43012"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p:spPr>
      </p:sp>
      <p:sp>
        <p:nvSpPr>
          <p:cNvPr id="157701"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157702"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l" defTabSz="990600">
              <a:defRPr sz="1300">
                <a:latin typeface="Arial" charset="0"/>
                <a:ea typeface="黑体" panose="02010609060101010101" pitchFamily="49" charset="-122"/>
              </a:defRPr>
            </a:lvl1pPr>
          </a:lstStyle>
          <a:p>
            <a:pPr>
              <a:defRPr/>
            </a:pPr>
            <a:endParaRPr lang="en-US" altLang="zh-CN" dirty="0"/>
          </a:p>
        </p:txBody>
      </p:sp>
      <p:sp>
        <p:nvSpPr>
          <p:cNvPr id="157703"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ea typeface="黑体" panose="02010609060101010101" pitchFamily="49" charset="-122"/>
              </a:defRPr>
            </a:lvl1pPr>
          </a:lstStyle>
          <a:p>
            <a:pPr>
              <a:defRPr/>
            </a:pPr>
            <a:fld id="{6143918E-A2CB-491E-8B36-A1C0952C99F6}" type="slidenum">
              <a:rPr lang="zh-CN" altLang="en-US" smtClean="0"/>
              <a:pPr>
                <a:defRPr/>
              </a:pPr>
              <a:t>‹#›</a:t>
            </a:fld>
            <a:endParaRPr lang="en-US" altLang="zh-CN" dirty="0"/>
          </a:p>
        </p:txBody>
      </p:sp>
    </p:spTree>
    <p:extLst>
      <p:ext uri="{BB962C8B-B14F-4D97-AF65-F5344CB8AC3E}">
        <p14:creationId xmlns:p14="http://schemas.microsoft.com/office/powerpoint/2010/main" val="34268111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黑体" panose="02010609060101010101" pitchFamily="49"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黑体" panose="02010609060101010101" pitchFamily="49"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黑体" panose="02010609060101010101" pitchFamily="49"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黑体" panose="02010609060101010101" pitchFamily="49"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黑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glish.stackexchange.com/questions/36512/k1th-or-k1st"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a:t>
            </a:fld>
            <a:endParaRPr lang="en-US" altLang="zh-CN"/>
          </a:p>
        </p:txBody>
      </p:sp>
    </p:spTree>
    <p:extLst>
      <p:ext uri="{BB962C8B-B14F-4D97-AF65-F5344CB8AC3E}">
        <p14:creationId xmlns:p14="http://schemas.microsoft.com/office/powerpoint/2010/main" val="1470669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2</a:t>
            </a:fld>
            <a:endParaRPr lang="en-US" altLang="zh-CN"/>
          </a:p>
        </p:txBody>
      </p:sp>
    </p:spTree>
    <p:extLst>
      <p:ext uri="{BB962C8B-B14F-4D97-AF65-F5344CB8AC3E}">
        <p14:creationId xmlns:p14="http://schemas.microsoft.com/office/powerpoint/2010/main" val="934003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3</a:t>
            </a:fld>
            <a:endParaRPr lang="en-US" altLang="zh-CN"/>
          </a:p>
        </p:txBody>
      </p:sp>
    </p:spTree>
    <p:extLst>
      <p:ext uri="{BB962C8B-B14F-4D97-AF65-F5344CB8AC3E}">
        <p14:creationId xmlns:p14="http://schemas.microsoft.com/office/powerpoint/2010/main" val="8838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r>
              <a:rPr lang="en-CN" sz="1200" dirty="0"/>
              <a:t>He has “100” kids </a:t>
            </a:r>
          </a:p>
          <a:p>
            <a:r>
              <a:rPr lang="en-CN" sz="1200" dirty="0"/>
              <a:t>We have “10000” lectures </a:t>
            </a:r>
          </a:p>
          <a:p>
            <a:endParaRPr lang="en-CN" sz="1200" dirty="0"/>
          </a:p>
        </p:txBody>
      </p:sp>
      <p:sp>
        <p:nvSpPr>
          <p:cNvPr id="4" name="Slide Number Placeholder 3"/>
          <p:cNvSpPr>
            <a:spLocks noGrp="1"/>
          </p:cNvSpPr>
          <p:nvPr>
            <p:ph type="sldNum" sz="quarter" idx="5"/>
          </p:nvPr>
        </p:nvSpPr>
        <p:spPr/>
        <p:txBody>
          <a:bodyPr/>
          <a:lstStyle/>
          <a:p>
            <a:pPr>
              <a:defRPr/>
            </a:pPr>
            <a:fld id="{6143918E-A2CB-491E-8B36-A1C0952C99F6}" type="slidenum">
              <a:rPr lang="zh-CN" altLang="en-US" smtClean="0"/>
              <a:pPr>
                <a:defRPr/>
              </a:pPr>
              <a:t>4</a:t>
            </a:fld>
            <a:endParaRPr lang="en-US" altLang="zh-CN"/>
          </a:p>
        </p:txBody>
      </p:sp>
    </p:spTree>
    <p:extLst>
      <p:ext uri="{BB962C8B-B14F-4D97-AF65-F5344CB8AC3E}">
        <p14:creationId xmlns:p14="http://schemas.microsoft.com/office/powerpoint/2010/main" val="1028501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a:defRPr/>
            </a:pPr>
            <a:r>
              <a:rPr lang="en-US" altLang="zh-CN" sz="1200" dirty="0"/>
              <a:t>Quick response code</a:t>
            </a:r>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6</a:t>
            </a:fld>
            <a:endParaRPr lang="en-US" altLang="zh-CN"/>
          </a:p>
        </p:txBody>
      </p:sp>
    </p:spTree>
    <p:extLst>
      <p:ext uri="{BB962C8B-B14F-4D97-AF65-F5344CB8AC3E}">
        <p14:creationId xmlns:p14="http://schemas.microsoft.com/office/powerpoint/2010/main" val="2722309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7</a:t>
            </a:fld>
            <a:endParaRPr lang="en-US" altLang="zh-CN"/>
          </a:p>
        </p:txBody>
      </p:sp>
    </p:spTree>
    <p:extLst>
      <p:ext uri="{BB962C8B-B14F-4D97-AF65-F5344CB8AC3E}">
        <p14:creationId xmlns:p14="http://schemas.microsoft.com/office/powerpoint/2010/main" val="3035283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dirty="0"/>
              <a:t>算术运算和逻辑运算是计算机的基本运算，采用二进制可以简单方便地进行这两类运算</a:t>
            </a:r>
            <a:endParaRPr lang="en-US" altLang="zh-CN" sz="1200" dirty="0"/>
          </a:p>
          <a:p>
            <a:endParaRPr lang="en-US" altLang="zh-CN"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二进制数的算术运算特别简单，加法和乘法仅各有</a:t>
            </a:r>
            <a:r>
              <a:rPr lang="en-US" altLang="zh-CN" sz="1200" dirty="0"/>
              <a:t>3</a:t>
            </a:r>
            <a:r>
              <a:rPr lang="zh-CN" altLang="en-US" sz="1200" dirty="0"/>
              <a:t>条运算规则</a:t>
            </a:r>
            <a:r>
              <a:rPr lang="en-US" altLang="zh-CN" sz="1200" dirty="0"/>
              <a:t>( 0</a:t>
            </a:r>
            <a:r>
              <a:rPr lang="zh-CN" altLang="en-US" sz="1200" dirty="0"/>
              <a:t>＋</a:t>
            </a:r>
            <a:r>
              <a:rPr lang="en-US" altLang="zh-CN" sz="1200" dirty="0"/>
              <a:t>0</a:t>
            </a:r>
            <a:r>
              <a:rPr lang="zh-CN" altLang="en-US" sz="1200" dirty="0"/>
              <a:t>＝</a:t>
            </a:r>
            <a:r>
              <a:rPr lang="en-US" altLang="zh-CN" sz="1200" dirty="0"/>
              <a:t>0</a:t>
            </a:r>
            <a:r>
              <a:rPr lang="zh-CN" altLang="en-US" sz="1200" dirty="0"/>
              <a:t>，</a:t>
            </a:r>
            <a:r>
              <a:rPr lang="en-US" altLang="zh-CN" sz="1200" dirty="0"/>
              <a:t>0</a:t>
            </a:r>
            <a:r>
              <a:rPr lang="zh-CN" altLang="en-US" sz="1200" dirty="0"/>
              <a:t>＋</a:t>
            </a:r>
            <a:r>
              <a:rPr lang="en-US" altLang="zh-CN" sz="1200" dirty="0"/>
              <a:t>1</a:t>
            </a:r>
            <a:r>
              <a:rPr lang="zh-CN" altLang="en-US" sz="1200" dirty="0"/>
              <a:t>＝</a:t>
            </a:r>
            <a:r>
              <a:rPr lang="en-US" altLang="zh-CN" sz="1200" dirty="0"/>
              <a:t>1</a:t>
            </a:r>
            <a:r>
              <a:rPr lang="zh-CN" altLang="en-US" sz="1200" dirty="0"/>
              <a:t>，</a:t>
            </a:r>
            <a:r>
              <a:rPr lang="en-US" altLang="zh-CN" sz="1200" dirty="0"/>
              <a:t>1</a:t>
            </a:r>
            <a:r>
              <a:rPr lang="zh-CN" altLang="en-US" sz="1200" dirty="0"/>
              <a:t>＋</a:t>
            </a:r>
            <a:r>
              <a:rPr lang="en-US" altLang="zh-CN" sz="1200" dirty="0"/>
              <a:t>1</a:t>
            </a:r>
            <a:r>
              <a:rPr lang="zh-CN" altLang="en-US" sz="1200" dirty="0"/>
              <a:t>＝</a:t>
            </a:r>
            <a:r>
              <a:rPr lang="en-US" altLang="zh-CN" sz="1200" dirty="0"/>
              <a:t>1 0</a:t>
            </a:r>
            <a:r>
              <a:rPr lang="zh-CN" altLang="en-US" sz="1200" dirty="0"/>
              <a:t>和</a:t>
            </a:r>
            <a:r>
              <a:rPr lang="en-US" altLang="zh-CN" sz="1200" dirty="0"/>
              <a:t>0×0</a:t>
            </a:r>
            <a:r>
              <a:rPr lang="zh-CN" altLang="en-US" sz="1200" dirty="0"/>
              <a:t>＝</a:t>
            </a:r>
            <a:r>
              <a:rPr lang="en-US" altLang="zh-CN" sz="1200" dirty="0"/>
              <a:t>0</a:t>
            </a:r>
            <a:r>
              <a:rPr lang="zh-CN" altLang="en-US" sz="1200" dirty="0"/>
              <a:t>，</a:t>
            </a:r>
            <a:r>
              <a:rPr lang="en-US" altLang="zh-CN" sz="1200" dirty="0"/>
              <a:t>0×1</a:t>
            </a:r>
            <a:r>
              <a:rPr lang="zh-CN" altLang="en-US" sz="1200" dirty="0"/>
              <a:t>＝</a:t>
            </a:r>
            <a:r>
              <a:rPr lang="en-US" altLang="zh-CN" sz="1200" dirty="0"/>
              <a:t>0</a:t>
            </a:r>
            <a:r>
              <a:rPr lang="zh-CN" altLang="en-US" sz="1200" dirty="0"/>
              <a:t>，</a:t>
            </a:r>
            <a:r>
              <a:rPr lang="en-US" altLang="zh-CN" sz="1200" dirty="0"/>
              <a:t>1×1</a:t>
            </a:r>
            <a:r>
              <a:rPr lang="zh-CN" altLang="en-US" sz="1200" dirty="0"/>
              <a:t>＝</a:t>
            </a:r>
            <a:r>
              <a:rPr lang="en-US" altLang="zh-CN" sz="1200" dirty="0"/>
              <a:t>1 )</a:t>
            </a:r>
            <a:r>
              <a:rPr lang="zh-CN" altLang="en-US" sz="1200" dirty="0"/>
              <a:t>，运算时不易出错，。</a:t>
            </a:r>
            <a:endParaRPr lang="en-US" altLang="zh-CN"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数值对应：二进制数的“</a:t>
            </a:r>
            <a:r>
              <a:rPr lang="en-US" altLang="zh-CN" sz="1200" dirty="0"/>
              <a:t>1</a:t>
            </a:r>
            <a:r>
              <a:rPr lang="zh-CN" altLang="en-US" sz="1200" dirty="0"/>
              <a:t>”和“</a:t>
            </a:r>
            <a:r>
              <a:rPr lang="en-US" altLang="zh-CN" sz="1200" dirty="0"/>
              <a:t>0</a:t>
            </a:r>
            <a:r>
              <a:rPr lang="zh-CN" altLang="en-US" sz="1200" dirty="0"/>
              <a:t>”正好可与逻辑值“真”和“假”相对应，便于计算机进行电气连接和逻辑运算</a:t>
            </a:r>
            <a:endParaRPr lang="en-US" altLang="zh-CN"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a:t>
            </a:fld>
            <a:endParaRPr lang="en-US" altLang="zh-CN"/>
          </a:p>
        </p:txBody>
      </p:sp>
    </p:spTree>
    <p:extLst>
      <p:ext uri="{BB962C8B-B14F-4D97-AF65-F5344CB8AC3E}">
        <p14:creationId xmlns:p14="http://schemas.microsoft.com/office/powerpoint/2010/main" val="728319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a:t>
            </a:fld>
            <a:endParaRPr lang="en-US" altLang="zh-CN"/>
          </a:p>
        </p:txBody>
      </p:sp>
    </p:spTree>
    <p:extLst>
      <p:ext uri="{BB962C8B-B14F-4D97-AF65-F5344CB8AC3E}">
        <p14:creationId xmlns:p14="http://schemas.microsoft.com/office/powerpoint/2010/main" val="2101861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sz="1200" dirty="0"/>
              <a:t>参考三体保存数据的方法</a:t>
            </a:r>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10</a:t>
            </a:fld>
            <a:endParaRPr lang="en-US" altLang="zh-CN"/>
          </a:p>
        </p:txBody>
      </p:sp>
    </p:spTree>
    <p:extLst>
      <p:ext uri="{BB962C8B-B14F-4D97-AF65-F5344CB8AC3E}">
        <p14:creationId xmlns:p14="http://schemas.microsoft.com/office/powerpoint/2010/main" val="53606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fontAlgn="base"/>
            <a:r>
              <a:rPr lang="en-US" sz="1200" b="0" i="0" u="none" strike="noStrike" kern="1200" dirty="0">
                <a:solidFill>
                  <a:schemeClr val="tx1"/>
                </a:solidFill>
                <a:effectLst/>
                <a:latin typeface="Arial" charset="0"/>
                <a:ea typeface="+mn-ea"/>
                <a:cs typeface="+mn-cs"/>
              </a:rPr>
              <a:t>The references say "two to the sixteenth power" or "two to the power of sixteen" but that is only done in very formal speech. Ironically, in actual mathematical usage, the formal pronunciation is not that common.</a:t>
            </a:r>
          </a:p>
          <a:p>
            <a:pPr fontAlgn="base"/>
            <a:r>
              <a:rPr lang="en-US" sz="1200" b="0" i="0" u="none" strike="noStrike" kern="1200" dirty="0">
                <a:solidFill>
                  <a:schemeClr val="tx1"/>
                </a:solidFill>
                <a:effectLst/>
                <a:latin typeface="Arial" charset="0"/>
                <a:ea typeface="+mn-ea"/>
                <a:cs typeface="+mn-cs"/>
              </a:rPr>
              <a:t>The more common way to say it (in math class or in a mathematical presentation) is a ellipsis of the first:</a:t>
            </a:r>
          </a:p>
          <a:p>
            <a:pPr fontAlgn="base"/>
            <a:r>
              <a:rPr lang="en-US" sz="1200" kern="1200" dirty="0">
                <a:solidFill>
                  <a:schemeClr val="tx1"/>
                </a:solidFill>
                <a:effectLst/>
                <a:latin typeface="Arial" charset="0"/>
                <a:ea typeface="+mn-ea"/>
                <a:cs typeface="+mn-cs"/>
              </a:rPr>
              <a:t>two to the sixteenth</a:t>
            </a:r>
          </a:p>
          <a:p>
            <a:pPr fontAlgn="base"/>
            <a:r>
              <a:rPr lang="en-US" sz="1200" b="0" i="0" u="none" strike="noStrike" kern="1200" dirty="0">
                <a:solidFill>
                  <a:schemeClr val="tx1"/>
                </a:solidFill>
                <a:effectLst/>
                <a:latin typeface="Arial" charset="0"/>
                <a:ea typeface="+mn-ea"/>
                <a:cs typeface="+mn-cs"/>
              </a:rPr>
              <a:t>or just as commonly</a:t>
            </a:r>
          </a:p>
          <a:p>
            <a:pPr fontAlgn="base"/>
            <a:r>
              <a:rPr lang="en-US" sz="1200" kern="1200" dirty="0">
                <a:solidFill>
                  <a:schemeClr val="tx1"/>
                </a:solidFill>
                <a:effectLst/>
                <a:latin typeface="Arial" charset="0"/>
                <a:ea typeface="+mn-ea"/>
                <a:cs typeface="+mn-cs"/>
              </a:rPr>
              <a:t>two to the sixteen</a:t>
            </a:r>
          </a:p>
          <a:p>
            <a:pPr fontAlgn="base"/>
            <a:r>
              <a:rPr lang="en-US" sz="1200" b="0" i="0" u="none" strike="noStrike" kern="1200" dirty="0">
                <a:solidFill>
                  <a:schemeClr val="tx1"/>
                </a:solidFill>
                <a:effectLst/>
                <a:latin typeface="Arial" charset="0"/>
                <a:ea typeface="+mn-ea"/>
                <a:cs typeface="+mn-cs"/>
              </a:rPr>
              <a:t>depending on how rapid speech you are using. </a:t>
            </a:r>
          </a:p>
          <a:p>
            <a:pPr fontAlgn="base"/>
            <a:r>
              <a:rPr lang="en-US" sz="1200" b="0" i="0" u="none" strike="noStrike" kern="1200" dirty="0">
                <a:solidFill>
                  <a:schemeClr val="tx1"/>
                </a:solidFill>
                <a:effectLst/>
                <a:latin typeface="Arial" charset="0"/>
                <a:ea typeface="+mn-ea"/>
                <a:cs typeface="+mn-cs"/>
              </a:rPr>
              <a:t>Of course there are some special cases: x</a:t>
            </a:r>
            <a:r>
              <a:rPr lang="en-US" sz="1200" b="0" i="0" u="none" strike="noStrike" kern="1200" baseline="30000" dirty="0">
                <a:solidFill>
                  <a:schemeClr val="tx1"/>
                </a:solidFill>
                <a:effectLst/>
                <a:latin typeface="Arial" charset="0"/>
                <a:ea typeface="+mn-ea"/>
                <a:cs typeface="+mn-cs"/>
              </a:rPr>
              <a:t>2</a:t>
            </a:r>
            <a:r>
              <a:rPr lang="en-US" sz="1200" b="0" i="0" u="none" strike="noStrike" kern="1200" dirty="0">
                <a:solidFill>
                  <a:schemeClr val="tx1"/>
                </a:solidFill>
                <a:effectLst/>
                <a:latin typeface="Arial" charset="0"/>
                <a:ea typeface="+mn-ea"/>
                <a:cs typeface="+mn-cs"/>
              </a:rPr>
              <a:t> is "x squared", x</a:t>
            </a:r>
            <a:r>
              <a:rPr lang="en-US" sz="1200" b="0" i="0" u="none" strike="noStrike" kern="1200" baseline="30000" dirty="0">
                <a:solidFill>
                  <a:schemeClr val="tx1"/>
                </a:solidFill>
                <a:effectLst/>
                <a:latin typeface="Arial" charset="0"/>
                <a:ea typeface="+mn-ea"/>
                <a:cs typeface="+mn-cs"/>
              </a:rPr>
              <a:t>3</a:t>
            </a:r>
            <a:r>
              <a:rPr lang="en-US" sz="1200" b="0" i="0" u="none" strike="noStrike" kern="1200" dirty="0">
                <a:solidFill>
                  <a:schemeClr val="tx1"/>
                </a:solidFill>
                <a:effectLst/>
                <a:latin typeface="Arial" charset="0"/>
                <a:ea typeface="+mn-ea"/>
                <a:cs typeface="+mn-cs"/>
              </a:rPr>
              <a:t> is "x cubed". x</a:t>
            </a:r>
            <a:r>
              <a:rPr lang="en-US" sz="1200" b="0" i="0" u="none" strike="noStrike" kern="1200" baseline="30000" dirty="0">
                <a:solidFill>
                  <a:schemeClr val="tx1"/>
                </a:solidFill>
                <a:effectLst/>
                <a:latin typeface="Arial" charset="0"/>
                <a:ea typeface="+mn-ea"/>
                <a:cs typeface="+mn-cs"/>
              </a:rPr>
              <a:t>1</a:t>
            </a:r>
            <a:r>
              <a:rPr lang="en-US" sz="1200" b="0" i="0" u="none" strike="noStrike" kern="1200" dirty="0">
                <a:solidFill>
                  <a:schemeClr val="tx1"/>
                </a:solidFill>
                <a:effectLst/>
                <a:latin typeface="Arial" charset="0"/>
                <a:ea typeface="+mn-ea"/>
                <a:cs typeface="+mn-cs"/>
              </a:rPr>
              <a:t> or x</a:t>
            </a:r>
            <a:r>
              <a:rPr lang="en-US" sz="1200" b="0" i="0" u="none" strike="noStrike" kern="1200" baseline="30000" dirty="0">
                <a:solidFill>
                  <a:schemeClr val="tx1"/>
                </a:solidFill>
                <a:effectLst/>
                <a:latin typeface="Arial" charset="0"/>
                <a:ea typeface="+mn-ea"/>
                <a:cs typeface="+mn-cs"/>
              </a:rPr>
              <a:t>0</a:t>
            </a:r>
            <a:r>
              <a:rPr lang="en-US" sz="1200" b="0" i="0" u="none" strike="noStrike" kern="1200" dirty="0">
                <a:solidFill>
                  <a:schemeClr val="tx1"/>
                </a:solidFill>
                <a:effectLst/>
                <a:latin typeface="Arial" charset="0"/>
                <a:ea typeface="+mn-ea"/>
                <a:cs typeface="+mn-cs"/>
              </a:rPr>
              <a:t> are mathematically jarring if written alone (they are often, when mathematically allowed, written just "x" and "one"), but if forced would be "x to the one" and "x to the zero", never as an ordinal (it is a solecism to say "x to the first" and way too informal to say .</a:t>
            </a:r>
          </a:p>
          <a:p>
            <a:pPr fontAlgn="base"/>
            <a:r>
              <a:rPr lang="en-US" sz="1200" b="0" i="0" u="none" strike="noStrike" kern="1200" dirty="0">
                <a:solidFill>
                  <a:schemeClr val="tx1"/>
                </a:solidFill>
                <a:effectLst/>
                <a:latin typeface="Arial" charset="0"/>
                <a:ea typeface="+mn-ea"/>
                <a:cs typeface="+mn-cs"/>
              </a:rPr>
              <a:t>For example, a polynomial x</a:t>
            </a:r>
            <a:r>
              <a:rPr lang="en-US" sz="1200" b="0" i="0" u="none" strike="noStrike" kern="1200" baseline="30000" dirty="0">
                <a:solidFill>
                  <a:schemeClr val="tx1"/>
                </a:solidFill>
                <a:effectLst/>
                <a:latin typeface="Arial" charset="0"/>
                <a:ea typeface="+mn-ea"/>
                <a:cs typeface="+mn-cs"/>
              </a:rPr>
              <a:t>109</a:t>
            </a:r>
            <a:r>
              <a:rPr lang="en-US" sz="1200" b="0" i="0" u="none" strike="noStrike" kern="1200" dirty="0">
                <a:solidFill>
                  <a:schemeClr val="tx1"/>
                </a:solidFill>
                <a:effectLst/>
                <a:latin typeface="Arial" charset="0"/>
                <a:ea typeface="+mn-ea"/>
                <a:cs typeface="+mn-cs"/>
              </a:rPr>
              <a:t> + 9x</a:t>
            </a:r>
            <a:r>
              <a:rPr lang="en-US" sz="1200" b="0" i="0" u="none" strike="noStrike" kern="1200" baseline="30000" dirty="0">
                <a:solidFill>
                  <a:schemeClr val="tx1"/>
                </a:solidFill>
                <a:effectLst/>
                <a:latin typeface="Arial" charset="0"/>
                <a:ea typeface="+mn-ea"/>
                <a:cs typeface="+mn-cs"/>
              </a:rPr>
              <a:t>5</a:t>
            </a:r>
            <a:r>
              <a:rPr lang="en-US" sz="1200" b="0" i="0" u="none" strike="noStrike" kern="1200" dirty="0">
                <a:solidFill>
                  <a:schemeClr val="tx1"/>
                </a:solidFill>
                <a:effectLst/>
                <a:latin typeface="Arial" charset="0"/>
                <a:ea typeface="+mn-ea"/>
                <a:cs typeface="+mn-cs"/>
              </a:rPr>
              <a:t> − 2x</a:t>
            </a:r>
            <a:r>
              <a:rPr lang="en-US" sz="1200" b="0" i="0" u="none" strike="noStrike" kern="1200" baseline="30000" dirty="0">
                <a:solidFill>
                  <a:schemeClr val="tx1"/>
                </a:solidFill>
                <a:effectLst/>
                <a:latin typeface="Arial" charset="0"/>
                <a:ea typeface="+mn-ea"/>
                <a:cs typeface="+mn-cs"/>
              </a:rPr>
              <a:t>2</a:t>
            </a:r>
            <a:r>
              <a:rPr lang="en-US" sz="1200" b="0" i="0" u="none" strike="noStrike" kern="1200" dirty="0">
                <a:solidFill>
                  <a:schemeClr val="tx1"/>
                </a:solidFill>
                <a:effectLst/>
                <a:latin typeface="Arial" charset="0"/>
                <a:ea typeface="+mn-ea"/>
                <a:cs typeface="+mn-cs"/>
              </a:rPr>
              <a:t> is most likely pronounced:</a:t>
            </a:r>
          </a:p>
          <a:p>
            <a:pPr fontAlgn="base"/>
            <a:r>
              <a:rPr lang="en-US" sz="1200" kern="1200" dirty="0">
                <a:solidFill>
                  <a:schemeClr val="tx1"/>
                </a:solidFill>
                <a:effectLst/>
                <a:latin typeface="Arial" charset="0"/>
                <a:ea typeface="+mn-ea"/>
                <a:cs typeface="+mn-cs"/>
              </a:rPr>
              <a:t>x to the hundred and nine plus nine x to the fifth minus two x squared.</a:t>
            </a:r>
          </a:p>
          <a:p>
            <a:pPr fontAlgn="base"/>
            <a:r>
              <a:rPr lang="en-US" sz="1200" b="0" i="0" u="none" strike="noStrike" kern="1200" dirty="0">
                <a:solidFill>
                  <a:schemeClr val="tx1"/>
                </a:solidFill>
                <a:effectLst/>
                <a:latin typeface="Arial" charset="0"/>
                <a:ea typeface="+mn-ea"/>
                <a:cs typeface="+mn-cs"/>
              </a:rPr>
              <a:t>(or "hundred and ninth"; both are equally possible here). If it were x</a:t>
            </a:r>
            <a:r>
              <a:rPr lang="en-US" sz="1200" b="0" i="0" u="none" strike="noStrike" kern="1200" baseline="30000" dirty="0">
                <a:solidFill>
                  <a:schemeClr val="tx1"/>
                </a:solidFill>
                <a:effectLst/>
                <a:latin typeface="Arial" charset="0"/>
                <a:ea typeface="+mn-ea"/>
                <a:cs typeface="+mn-cs"/>
              </a:rPr>
              <a:t>101</a:t>
            </a:r>
            <a:r>
              <a:rPr lang="en-US" sz="1200" b="0" i="0" u="none" strike="noStrike" kern="1200" dirty="0">
                <a:solidFill>
                  <a:schemeClr val="tx1"/>
                </a:solidFill>
                <a:effectLst/>
                <a:latin typeface="Arial" charset="0"/>
                <a:ea typeface="+mn-ea"/>
                <a:cs typeface="+mn-cs"/>
              </a:rPr>
              <a:t> — </a:t>
            </a:r>
            <a:r>
              <a:rPr lang="en-US" sz="1200" b="0" i="0" u="sng" strike="noStrike" kern="1200" dirty="0">
                <a:solidFill>
                  <a:schemeClr val="tx1"/>
                </a:solidFill>
                <a:effectLst/>
                <a:latin typeface="Arial" charset="0"/>
                <a:ea typeface="+mn-ea"/>
                <a:cs typeface="+mn-cs"/>
                <a:hlinkClick r:id="rId3"/>
              </a:rPr>
              <a:t>see discussion here</a:t>
            </a:r>
            <a:r>
              <a:rPr lang="en-US" sz="1200" b="0" i="0" u="none" strike="noStrike" kern="1200" dirty="0">
                <a:solidFill>
                  <a:schemeClr val="tx1"/>
                </a:solidFill>
                <a:effectLst/>
                <a:latin typeface="Arial" charset="0"/>
                <a:ea typeface="+mn-ea"/>
                <a:cs typeface="+mn-cs"/>
              </a:rPr>
              <a:t> —, you just don't say "one hundred first".)</a:t>
            </a:r>
          </a:p>
          <a:p>
            <a:pPr fontAlgn="base"/>
            <a:r>
              <a:rPr lang="en-US" sz="1200" b="0" i="0" u="none" strike="noStrike" kern="1200" dirty="0">
                <a:solidFill>
                  <a:schemeClr val="tx1"/>
                </a:solidFill>
                <a:effectLst/>
                <a:latin typeface="Arial" charset="0"/>
                <a:ea typeface="+mn-ea"/>
                <a:cs typeface="+mn-cs"/>
              </a:rPr>
              <a:t>If variables are involved, the ordinal is not used. </a:t>
            </a:r>
            <a:r>
              <a:rPr lang="en-US" sz="1200" b="0" i="0" u="none" strike="noStrike" kern="1200" dirty="0" err="1">
                <a:solidFill>
                  <a:schemeClr val="tx1"/>
                </a:solidFill>
                <a:effectLst/>
                <a:latin typeface="Arial" charset="0"/>
                <a:ea typeface="+mn-ea"/>
                <a:cs typeface="+mn-cs"/>
              </a:rPr>
              <a:t>x</a:t>
            </a:r>
            <a:r>
              <a:rPr lang="en-US" sz="1200" b="0" i="0" u="none" strike="noStrike" kern="1200" baseline="30000" dirty="0" err="1">
                <a:solidFill>
                  <a:schemeClr val="tx1"/>
                </a:solidFill>
                <a:effectLst/>
                <a:latin typeface="Arial" charset="0"/>
                <a:ea typeface="+mn-ea"/>
                <a:cs typeface="+mn-cs"/>
              </a:rPr>
              <a:t>y</a:t>
            </a:r>
            <a:r>
              <a:rPr lang="en-US" sz="1200" b="0" i="0" u="none" strike="noStrike" kern="1200" dirty="0">
                <a:solidFill>
                  <a:schemeClr val="tx1"/>
                </a:solidFill>
                <a:effectLst/>
                <a:latin typeface="Arial" charset="0"/>
                <a:ea typeface="+mn-ea"/>
                <a:cs typeface="+mn-cs"/>
              </a:rPr>
              <a:t> is</a:t>
            </a:r>
          </a:p>
          <a:p>
            <a:pPr fontAlgn="base"/>
            <a:r>
              <a:rPr lang="en-US" sz="1200" kern="1200" dirty="0">
                <a:solidFill>
                  <a:schemeClr val="tx1"/>
                </a:solidFill>
                <a:effectLst/>
                <a:latin typeface="Arial" charset="0"/>
                <a:ea typeface="+mn-ea"/>
                <a:cs typeface="+mn-cs"/>
              </a:rPr>
              <a:t>x to the y</a:t>
            </a:r>
          </a:p>
          <a:p>
            <a:pPr fontAlgn="base"/>
            <a:r>
              <a:rPr lang="en-US" sz="1200" b="0" i="0" u="none" strike="noStrike" kern="1200" dirty="0">
                <a:solidFill>
                  <a:schemeClr val="tx1"/>
                </a:solidFill>
                <a:effectLst/>
                <a:latin typeface="Arial" charset="0"/>
                <a:ea typeface="+mn-ea"/>
                <a:cs typeface="+mn-cs"/>
              </a:rPr>
              <a:t>(that is, not appending the ordinal suffix '-</a:t>
            </a:r>
            <a:r>
              <a:rPr lang="en-US" sz="1200" b="0" i="0" u="none" strike="noStrike" kern="1200" dirty="0" err="1">
                <a:solidFill>
                  <a:schemeClr val="tx1"/>
                </a:solidFill>
                <a:effectLst/>
                <a:latin typeface="Arial" charset="0"/>
                <a:ea typeface="+mn-ea"/>
                <a:cs typeface="+mn-cs"/>
              </a:rPr>
              <a:t>th</a:t>
            </a:r>
            <a:r>
              <a:rPr lang="en-US" sz="1200" b="0" i="0" u="none" strike="noStrike" kern="1200" dirty="0">
                <a:solidFill>
                  <a:schemeClr val="tx1"/>
                </a:solidFill>
                <a:effectLst/>
                <a:latin typeface="Arial" charset="0"/>
                <a:ea typeface="+mn-ea"/>
                <a:cs typeface="+mn-cs"/>
              </a:rPr>
              <a:t>').</a:t>
            </a:r>
          </a:p>
          <a:p>
            <a:endParaRPr lang="en-US" altLang="zh-CN"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11</a:t>
            </a:fld>
            <a:endParaRPr lang="en-US" altLang="zh-CN"/>
          </a:p>
        </p:txBody>
      </p:sp>
    </p:spTree>
    <p:extLst>
      <p:ext uri="{BB962C8B-B14F-4D97-AF65-F5344CB8AC3E}">
        <p14:creationId xmlns:p14="http://schemas.microsoft.com/office/powerpoint/2010/main" val="788870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12</a:t>
            </a:fld>
            <a:endParaRPr lang="en-US" altLang="zh-CN"/>
          </a:p>
        </p:txBody>
      </p:sp>
    </p:spTree>
    <p:extLst>
      <p:ext uri="{BB962C8B-B14F-4D97-AF65-F5344CB8AC3E}">
        <p14:creationId xmlns:p14="http://schemas.microsoft.com/office/powerpoint/2010/main" val="1368468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13</a:t>
            </a:fld>
            <a:endParaRPr lang="en-US" altLang="zh-CN"/>
          </a:p>
        </p:txBody>
      </p:sp>
    </p:spTree>
    <p:extLst>
      <p:ext uri="{BB962C8B-B14F-4D97-AF65-F5344CB8AC3E}">
        <p14:creationId xmlns:p14="http://schemas.microsoft.com/office/powerpoint/2010/main" val="2607893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14</a:t>
            </a:fld>
            <a:endParaRPr lang="en-US" altLang="zh-CN"/>
          </a:p>
        </p:txBody>
      </p:sp>
    </p:spTree>
    <p:extLst>
      <p:ext uri="{BB962C8B-B14F-4D97-AF65-F5344CB8AC3E}">
        <p14:creationId xmlns:p14="http://schemas.microsoft.com/office/powerpoint/2010/main" val="350066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15</a:t>
            </a:fld>
            <a:endParaRPr lang="en-US" altLang="zh-CN"/>
          </a:p>
        </p:txBody>
      </p:sp>
    </p:spTree>
    <p:extLst>
      <p:ext uri="{BB962C8B-B14F-4D97-AF65-F5344CB8AC3E}">
        <p14:creationId xmlns:p14="http://schemas.microsoft.com/office/powerpoint/2010/main" val="887385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16</a:t>
            </a:fld>
            <a:endParaRPr lang="en-US" altLang="zh-CN"/>
          </a:p>
        </p:txBody>
      </p:sp>
    </p:spTree>
    <p:extLst>
      <p:ext uri="{BB962C8B-B14F-4D97-AF65-F5344CB8AC3E}">
        <p14:creationId xmlns:p14="http://schemas.microsoft.com/office/powerpoint/2010/main" val="3779148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17</a:t>
            </a:fld>
            <a:endParaRPr lang="en-US" altLang="zh-CN"/>
          </a:p>
        </p:txBody>
      </p:sp>
    </p:spTree>
    <p:extLst>
      <p:ext uri="{BB962C8B-B14F-4D97-AF65-F5344CB8AC3E}">
        <p14:creationId xmlns:p14="http://schemas.microsoft.com/office/powerpoint/2010/main" val="2181172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18</a:t>
            </a:fld>
            <a:endParaRPr lang="en-US" altLang="zh-CN"/>
          </a:p>
        </p:txBody>
      </p:sp>
    </p:spTree>
    <p:extLst>
      <p:ext uri="{BB962C8B-B14F-4D97-AF65-F5344CB8AC3E}">
        <p14:creationId xmlns:p14="http://schemas.microsoft.com/office/powerpoint/2010/main" val="2105035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a:t>
            </a:r>
            <a:r>
              <a:rPr lang="zh-CN" altLang="en-US" dirty="0"/>
              <a:t> 源码和二补码保留，放到后面</a:t>
            </a:r>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20</a:t>
            </a:fld>
            <a:endParaRPr lang="en-US" altLang="zh-CN"/>
          </a:p>
        </p:txBody>
      </p:sp>
    </p:spTree>
    <p:extLst>
      <p:ext uri="{BB962C8B-B14F-4D97-AF65-F5344CB8AC3E}">
        <p14:creationId xmlns:p14="http://schemas.microsoft.com/office/powerpoint/2010/main" val="2298364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6143918E-A2CB-491E-8B36-A1C0952C99F6}" type="slidenum">
              <a:rPr lang="zh-CN" altLang="en-US" smtClean="0"/>
              <a:pPr>
                <a:defRPr/>
              </a:pPr>
              <a:t>22</a:t>
            </a:fld>
            <a:endParaRPr lang="en-US" altLang="zh-CN" dirty="0"/>
          </a:p>
        </p:txBody>
      </p:sp>
    </p:spTree>
    <p:extLst>
      <p:ext uri="{BB962C8B-B14F-4D97-AF65-F5344CB8AC3E}">
        <p14:creationId xmlns:p14="http://schemas.microsoft.com/office/powerpoint/2010/main" val="29115046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a:t>
            </a:r>
            <a:r>
              <a:rPr lang="zh-CN" altLang="en-US" dirty="0"/>
              <a:t> 源码和二补码保留，放到后面</a:t>
            </a:r>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25</a:t>
            </a:fld>
            <a:endParaRPr lang="en-US" altLang="zh-CN"/>
          </a:p>
        </p:txBody>
      </p:sp>
    </p:spTree>
    <p:extLst>
      <p:ext uri="{BB962C8B-B14F-4D97-AF65-F5344CB8AC3E}">
        <p14:creationId xmlns:p14="http://schemas.microsoft.com/office/powerpoint/2010/main" val="2366074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3-bit example</a:t>
            </a:r>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26</a:t>
            </a:fld>
            <a:endParaRPr lang="en-US" altLang="zh-CN"/>
          </a:p>
        </p:txBody>
      </p:sp>
    </p:spTree>
    <p:extLst>
      <p:ext uri="{BB962C8B-B14F-4D97-AF65-F5344CB8AC3E}">
        <p14:creationId xmlns:p14="http://schemas.microsoft.com/office/powerpoint/2010/main" val="19102293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sz="1200" dirty="0">
                <a:sym typeface="Symbol" pitchFamily="18" charset="2"/>
              </a:rPr>
              <a:t>-20</a:t>
            </a:r>
            <a:r>
              <a:rPr lang="zh-CN" altLang="en-US" sz="1200" dirty="0">
                <a:sym typeface="Symbol" pitchFamily="18" charset="2"/>
              </a:rPr>
              <a:t>的补码</a:t>
            </a:r>
            <a:r>
              <a:rPr kumimoji="0" lang="zh-CN" altLang="en-US" sz="1200" b="0" dirty="0">
                <a:solidFill>
                  <a:schemeClr val="tx1"/>
                </a:solidFill>
                <a:latin typeface="Arial" charset="0"/>
                <a:sym typeface="Symbol" pitchFamily="18" charset="2"/>
              </a:rPr>
              <a:t>：</a:t>
            </a:r>
            <a:r>
              <a:rPr kumimoji="1" lang="en-US" altLang="zh-CN" sz="1200" b="0" dirty="0">
                <a:solidFill>
                  <a:schemeClr val="tx1"/>
                </a:solidFill>
                <a:latin typeface="Times New Roman" pitchFamily="18" charset="0"/>
              </a:rPr>
              <a:t>010100</a:t>
            </a:r>
            <a:r>
              <a:rPr kumimoji="1" lang="zh-CN" altLang="en-US" sz="1200" b="0" dirty="0">
                <a:solidFill>
                  <a:schemeClr val="tx1"/>
                </a:solidFill>
                <a:latin typeface="Times New Roman" pitchFamily="18" charset="0"/>
              </a:rPr>
              <a:t> 按位取反</a:t>
            </a:r>
            <a:r>
              <a:rPr kumimoji="1" lang="en-US" altLang="zh-CN" sz="1200" b="0" dirty="0">
                <a:solidFill>
                  <a:srgbClr val="FF0000"/>
                </a:solidFill>
                <a:latin typeface="Times New Roman" pitchFamily="18" charset="0"/>
                <a:sym typeface="Symbol" pitchFamily="18" charset="2"/>
              </a:rPr>
              <a:t></a:t>
            </a:r>
            <a:r>
              <a:rPr kumimoji="1" lang="en-US" altLang="zh-CN" sz="1200" b="0" dirty="0">
                <a:solidFill>
                  <a:schemeClr val="tx1"/>
                </a:solidFill>
                <a:latin typeface="Times New Roman" pitchFamily="18" charset="0"/>
                <a:sym typeface="Symbol" pitchFamily="18" charset="2"/>
              </a:rPr>
              <a:t>101011</a:t>
            </a:r>
            <a:r>
              <a:rPr kumimoji="1" lang="zh-CN" altLang="en-US" sz="1200" b="0" dirty="0">
                <a:solidFill>
                  <a:schemeClr val="tx1"/>
                </a:solidFill>
                <a:latin typeface="Times New Roman" pitchFamily="18" charset="0"/>
                <a:sym typeface="Symbol" pitchFamily="18" charset="2"/>
              </a:rPr>
              <a:t> 再加</a:t>
            </a:r>
            <a:r>
              <a:rPr kumimoji="1" lang="en-US" altLang="zh-CN" sz="1200" b="0" dirty="0">
                <a:solidFill>
                  <a:schemeClr val="tx1"/>
                </a:solidFill>
                <a:latin typeface="Times New Roman" pitchFamily="18" charset="0"/>
                <a:sym typeface="Symbol" pitchFamily="18" charset="2"/>
              </a:rPr>
              <a:t>1</a:t>
            </a:r>
            <a:r>
              <a:rPr kumimoji="1" lang="en-US" altLang="zh-CN" sz="1200" b="0" dirty="0">
                <a:solidFill>
                  <a:srgbClr val="FF0000"/>
                </a:solidFill>
                <a:latin typeface="Times New Roman" pitchFamily="18" charset="0"/>
                <a:sym typeface="Symbol" pitchFamily="18" charset="2"/>
              </a:rPr>
              <a:t></a:t>
            </a:r>
            <a:r>
              <a:rPr kumimoji="1" lang="en-US" altLang="zh-CN" sz="1200" b="0" dirty="0">
                <a:solidFill>
                  <a:schemeClr val="tx1"/>
                </a:solidFill>
                <a:latin typeface="Times New Roman" pitchFamily="18" charset="0"/>
                <a:sym typeface="Symbol" pitchFamily="18" charset="2"/>
              </a:rPr>
              <a:t>101011+000001=101100</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ym typeface="Symbol" pitchFamily="18" charset="2"/>
              </a:rPr>
              <a:t>-12</a:t>
            </a:r>
            <a:r>
              <a:rPr lang="zh-CN" altLang="en-US" sz="1200" dirty="0">
                <a:sym typeface="Symbol" pitchFamily="18" charset="2"/>
              </a:rPr>
              <a:t>的补码：</a:t>
            </a:r>
            <a:r>
              <a:rPr kumimoji="1" lang="en-US" altLang="zh-CN" sz="1200" b="0" dirty="0">
                <a:solidFill>
                  <a:schemeClr val="tx1"/>
                </a:solidFill>
                <a:latin typeface="Times New Roman" pitchFamily="18" charset="0"/>
                <a:sym typeface="Symbol" pitchFamily="18" charset="2"/>
              </a:rPr>
              <a:t>001100</a:t>
            </a:r>
            <a:r>
              <a:rPr kumimoji="1" lang="en-US" altLang="zh-CN" sz="1200" b="0" dirty="0">
                <a:solidFill>
                  <a:srgbClr val="FF0000"/>
                </a:solidFill>
                <a:latin typeface="Times New Roman" pitchFamily="18" charset="0"/>
                <a:sym typeface="Symbol" pitchFamily="18" charset="2"/>
              </a:rPr>
              <a:t></a:t>
            </a:r>
            <a:r>
              <a:rPr kumimoji="1" lang="en-US" altLang="zh-CN" sz="1200" b="0" dirty="0">
                <a:solidFill>
                  <a:schemeClr val="tx1"/>
                </a:solidFill>
                <a:latin typeface="Times New Roman" pitchFamily="18" charset="0"/>
                <a:sym typeface="Symbol" pitchFamily="18" charset="2"/>
              </a:rPr>
              <a:t>110011 </a:t>
            </a:r>
            <a:r>
              <a:rPr kumimoji="1" lang="en-US" altLang="zh-CN" sz="1200" b="0" dirty="0">
                <a:solidFill>
                  <a:srgbClr val="FF0000"/>
                </a:solidFill>
                <a:latin typeface="Times New Roman" pitchFamily="18" charset="0"/>
                <a:sym typeface="Symbol" pitchFamily="18" charset="2"/>
              </a:rPr>
              <a:t></a:t>
            </a:r>
            <a:r>
              <a:rPr kumimoji="1" lang="en-US" altLang="zh-CN" sz="1200" b="0" dirty="0">
                <a:solidFill>
                  <a:schemeClr val="tx1"/>
                </a:solidFill>
                <a:latin typeface="Times New Roman" pitchFamily="18" charset="0"/>
                <a:sym typeface="Symbol" pitchFamily="18" charset="2"/>
              </a:rPr>
              <a:t> 110011+000001=</a:t>
            </a:r>
            <a:r>
              <a:rPr kumimoji="1" lang="zh-CN" altLang="en-US" sz="1200" b="0" dirty="0">
                <a:solidFill>
                  <a:schemeClr val="tx1"/>
                </a:solidFill>
                <a:latin typeface="Times New Roman" pitchFamily="18" charset="0"/>
                <a:sym typeface="Symbol" pitchFamily="18" charset="2"/>
              </a:rPr>
              <a:t> </a:t>
            </a:r>
            <a:r>
              <a:rPr kumimoji="1" lang="en-US" altLang="zh-CN" sz="1200" b="0" dirty="0">
                <a:solidFill>
                  <a:srgbClr val="FF0000"/>
                </a:solidFill>
                <a:latin typeface="Times New Roman" pitchFamily="18" charset="0"/>
              </a:rPr>
              <a:t>110100</a:t>
            </a:r>
            <a:endParaRPr kumimoji="1" lang="en-US" altLang="zh-CN" sz="1200" b="0" dirty="0">
              <a:solidFill>
                <a:srgbClr val="FF0000"/>
              </a:solidFill>
              <a:latin typeface="Times New Roman" pitchFamily="18" charset="0"/>
              <a:sym typeface="Symbol" pitchFamily="18" charset="2"/>
            </a:endParaRP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28</a:t>
            </a:fld>
            <a:endParaRPr lang="en-US" altLang="zh-CN"/>
          </a:p>
        </p:txBody>
      </p:sp>
    </p:spTree>
    <p:extLst>
      <p:ext uri="{BB962C8B-B14F-4D97-AF65-F5344CB8AC3E}">
        <p14:creationId xmlns:p14="http://schemas.microsoft.com/office/powerpoint/2010/main" val="3714878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29</a:t>
            </a:fld>
            <a:endParaRPr lang="en-US" altLang="zh-CN"/>
          </a:p>
        </p:txBody>
      </p:sp>
    </p:spTree>
    <p:extLst>
      <p:ext uri="{BB962C8B-B14F-4D97-AF65-F5344CB8AC3E}">
        <p14:creationId xmlns:p14="http://schemas.microsoft.com/office/powerpoint/2010/main" val="664699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a:t>2020010459</a:t>
            </a:r>
            <a:endParaRPr lang="zh-CN" altLang="en-US" dirty="0"/>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2FDB266C-547D-44A9-939F-5521DE07D04A}" type="slidenum">
              <a:rPr kumimoji="0" lang="en-US" altLang="zh-CN" sz="1300" b="0" i="0" u="none" strike="noStrike" kern="1200" cap="none" spc="0" normalizeH="0" baseline="0" noProof="0" smtClean="0">
                <a:ln>
                  <a:noFill/>
                </a:ln>
                <a:solidFill>
                  <a:srgbClr val="000000"/>
                </a:solidFill>
                <a:effectLst/>
                <a:uLnTx/>
                <a:uFillTx/>
                <a:latin typeface="Arial" charset="0"/>
                <a:cs typeface="+mn-cs"/>
              </a:rPr>
              <a:pPr marL="0" marR="0" lvl="0" indent="0" algn="r" defTabSz="990600" rtl="0" eaLnBrk="1" fontAlgn="base" latinLnBrk="0" hangingPunct="1">
                <a:lnSpc>
                  <a:spcPct val="100000"/>
                </a:lnSpc>
                <a:spcBef>
                  <a:spcPct val="0"/>
                </a:spcBef>
                <a:spcAft>
                  <a:spcPct val="0"/>
                </a:spcAft>
                <a:buClrTx/>
                <a:buSzTx/>
                <a:buFontTx/>
                <a:buNone/>
                <a:tabLst/>
                <a:defRPr/>
              </a:pPr>
              <a:t>30</a:t>
            </a:fld>
            <a:endParaRPr kumimoji="0" lang="en-US" altLang="zh-CN" sz="1300" b="0" i="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18792490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31</a:t>
            </a:fld>
            <a:endParaRPr lang="en-US" altLang="zh-CN"/>
          </a:p>
        </p:txBody>
      </p:sp>
    </p:spTree>
    <p:extLst>
      <p:ext uri="{BB962C8B-B14F-4D97-AF65-F5344CB8AC3E}">
        <p14:creationId xmlns:p14="http://schemas.microsoft.com/office/powerpoint/2010/main" val="1389874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32</a:t>
            </a:fld>
            <a:endParaRPr lang="en-US" altLang="zh-CN"/>
          </a:p>
        </p:txBody>
      </p:sp>
    </p:spTree>
    <p:extLst>
      <p:ext uri="{BB962C8B-B14F-4D97-AF65-F5344CB8AC3E}">
        <p14:creationId xmlns:p14="http://schemas.microsoft.com/office/powerpoint/2010/main" val="1508459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为什么做异或（正数、负数相加说明为什么）</a:t>
            </a:r>
            <a:endParaRPr lang="en-US" altLang="zh-CN" dirty="0"/>
          </a:p>
          <a:p>
            <a:r>
              <a:rPr lang="en-US" altLang="zh-CN" dirty="0" err="1"/>
              <a:t>Zhenhua</a:t>
            </a:r>
            <a:r>
              <a:rPr lang="zh-CN" altLang="en-US" dirty="0"/>
              <a:t>的习题课说明</a:t>
            </a:r>
          </a:p>
        </p:txBody>
      </p:sp>
      <p:sp>
        <p:nvSpPr>
          <p:cNvPr id="4" name="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2FDB266C-547D-44A9-939F-5521DE07D04A}" type="slidenum">
              <a:rPr kumimoji="0" lang="en-US" altLang="zh-CN" sz="1300" b="0" i="0" u="none" strike="noStrike" kern="1200" cap="none" spc="0" normalizeH="0" baseline="0" noProof="0" smtClean="0">
                <a:ln>
                  <a:noFill/>
                </a:ln>
                <a:solidFill>
                  <a:srgbClr val="000000"/>
                </a:solidFill>
                <a:effectLst/>
                <a:uLnTx/>
                <a:uFillTx/>
                <a:latin typeface="Arial" charset="0"/>
                <a:cs typeface="+mn-cs"/>
              </a:rPr>
              <a:pPr marL="0" marR="0" lvl="0" indent="0" algn="r" defTabSz="990600" rtl="0" eaLnBrk="1" fontAlgn="base" latinLnBrk="0" hangingPunct="1">
                <a:lnSpc>
                  <a:spcPct val="100000"/>
                </a:lnSpc>
                <a:spcBef>
                  <a:spcPct val="0"/>
                </a:spcBef>
                <a:spcAft>
                  <a:spcPct val="0"/>
                </a:spcAft>
                <a:buClrTx/>
                <a:buSzTx/>
                <a:buFontTx/>
                <a:buNone/>
                <a:tabLst/>
                <a:defRPr/>
              </a:pPr>
              <a:t>33</a:t>
            </a:fld>
            <a:endParaRPr kumimoji="0" lang="en-US" altLang="zh-CN" sz="1300" b="0" i="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1392328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36</a:t>
            </a:fld>
            <a:endParaRPr lang="en-US" altLang="zh-CN"/>
          </a:p>
        </p:txBody>
      </p:sp>
    </p:spTree>
    <p:extLst>
      <p:ext uri="{BB962C8B-B14F-4D97-AF65-F5344CB8AC3E}">
        <p14:creationId xmlns:p14="http://schemas.microsoft.com/office/powerpoint/2010/main" val="7484339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38</a:t>
            </a:fld>
            <a:endParaRPr lang="en-US" altLang="zh-CN"/>
          </a:p>
        </p:txBody>
      </p:sp>
    </p:spTree>
    <p:extLst>
      <p:ext uri="{BB962C8B-B14F-4D97-AF65-F5344CB8AC3E}">
        <p14:creationId xmlns:p14="http://schemas.microsoft.com/office/powerpoint/2010/main" val="1881899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39</a:t>
            </a:fld>
            <a:endParaRPr lang="en-US" altLang="zh-CN"/>
          </a:p>
        </p:txBody>
      </p:sp>
    </p:spTree>
    <p:extLst>
      <p:ext uri="{BB962C8B-B14F-4D97-AF65-F5344CB8AC3E}">
        <p14:creationId xmlns:p14="http://schemas.microsoft.com/office/powerpoint/2010/main" val="11209307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40</a:t>
            </a:fld>
            <a:endParaRPr lang="en-US" altLang="zh-CN"/>
          </a:p>
        </p:txBody>
      </p:sp>
    </p:spTree>
    <p:extLst>
      <p:ext uri="{BB962C8B-B14F-4D97-AF65-F5344CB8AC3E}">
        <p14:creationId xmlns:p14="http://schemas.microsoft.com/office/powerpoint/2010/main" val="12251969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41</a:t>
            </a:fld>
            <a:endParaRPr lang="en-US" altLang="zh-CN"/>
          </a:p>
        </p:txBody>
      </p:sp>
    </p:spTree>
    <p:extLst>
      <p:ext uri="{BB962C8B-B14F-4D97-AF65-F5344CB8AC3E}">
        <p14:creationId xmlns:p14="http://schemas.microsoft.com/office/powerpoint/2010/main" val="8189653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42</a:t>
            </a:fld>
            <a:endParaRPr lang="en-US" altLang="zh-CN"/>
          </a:p>
        </p:txBody>
      </p:sp>
    </p:spTree>
    <p:extLst>
      <p:ext uri="{BB962C8B-B14F-4D97-AF65-F5344CB8AC3E}">
        <p14:creationId xmlns:p14="http://schemas.microsoft.com/office/powerpoint/2010/main" val="8155690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43</a:t>
            </a:fld>
            <a:endParaRPr lang="en-US" altLang="zh-CN"/>
          </a:p>
        </p:txBody>
      </p:sp>
    </p:spTree>
    <p:extLst>
      <p:ext uri="{BB962C8B-B14F-4D97-AF65-F5344CB8AC3E}">
        <p14:creationId xmlns:p14="http://schemas.microsoft.com/office/powerpoint/2010/main" val="18507033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46</a:t>
            </a:fld>
            <a:endParaRPr lang="en-US" altLang="zh-CN"/>
          </a:p>
        </p:txBody>
      </p:sp>
    </p:spTree>
    <p:extLst>
      <p:ext uri="{BB962C8B-B14F-4D97-AF65-F5344CB8AC3E}">
        <p14:creationId xmlns:p14="http://schemas.microsoft.com/office/powerpoint/2010/main" val="18086192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缩小</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47</a:t>
            </a:fld>
            <a:endParaRPr lang="en-US" altLang="zh-CN"/>
          </a:p>
        </p:txBody>
      </p:sp>
    </p:spTree>
    <p:extLst>
      <p:ext uri="{BB962C8B-B14F-4D97-AF65-F5344CB8AC3E}">
        <p14:creationId xmlns:p14="http://schemas.microsoft.com/office/powerpoint/2010/main" val="2132944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48</a:t>
            </a:fld>
            <a:endParaRPr lang="en-US" altLang="zh-CN"/>
          </a:p>
        </p:txBody>
      </p:sp>
    </p:spTree>
    <p:extLst>
      <p:ext uri="{BB962C8B-B14F-4D97-AF65-F5344CB8AC3E}">
        <p14:creationId xmlns:p14="http://schemas.microsoft.com/office/powerpoint/2010/main" val="17565039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6143918E-A2CB-491E-8B36-A1C0952C99F6}" type="slidenum">
              <a:rPr lang="zh-CN" altLang="en-US" smtClean="0"/>
              <a:pPr>
                <a:defRPr/>
              </a:pPr>
              <a:t>49</a:t>
            </a:fld>
            <a:endParaRPr lang="en-US" altLang="zh-CN" dirty="0"/>
          </a:p>
        </p:txBody>
      </p:sp>
    </p:spTree>
    <p:extLst>
      <p:ext uri="{BB962C8B-B14F-4D97-AF65-F5344CB8AC3E}">
        <p14:creationId xmlns:p14="http://schemas.microsoft.com/office/powerpoint/2010/main" val="7105790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51</a:t>
            </a:fld>
            <a:endParaRPr lang="en-US" altLang="zh-CN"/>
          </a:p>
        </p:txBody>
      </p:sp>
    </p:spTree>
    <p:extLst>
      <p:ext uri="{BB962C8B-B14F-4D97-AF65-F5344CB8AC3E}">
        <p14:creationId xmlns:p14="http://schemas.microsoft.com/office/powerpoint/2010/main" val="5269073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52</a:t>
            </a:fld>
            <a:endParaRPr lang="en-US" altLang="zh-CN"/>
          </a:p>
        </p:txBody>
      </p:sp>
    </p:spTree>
    <p:extLst>
      <p:ext uri="{BB962C8B-B14F-4D97-AF65-F5344CB8AC3E}">
        <p14:creationId xmlns:p14="http://schemas.microsoft.com/office/powerpoint/2010/main" val="11504950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53</a:t>
            </a:fld>
            <a:endParaRPr lang="en-US" altLang="zh-CN"/>
          </a:p>
        </p:txBody>
      </p:sp>
    </p:spTree>
    <p:extLst>
      <p:ext uri="{BB962C8B-B14F-4D97-AF65-F5344CB8AC3E}">
        <p14:creationId xmlns:p14="http://schemas.microsoft.com/office/powerpoint/2010/main" val="18623481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54</a:t>
            </a:fld>
            <a:endParaRPr lang="en-US" altLang="zh-CN"/>
          </a:p>
        </p:txBody>
      </p:sp>
    </p:spTree>
    <p:extLst>
      <p:ext uri="{BB962C8B-B14F-4D97-AF65-F5344CB8AC3E}">
        <p14:creationId xmlns:p14="http://schemas.microsoft.com/office/powerpoint/2010/main" val="25360972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55</a:t>
            </a:fld>
            <a:endParaRPr lang="en-US" altLang="zh-CN"/>
          </a:p>
        </p:txBody>
      </p:sp>
    </p:spTree>
    <p:extLst>
      <p:ext uri="{BB962C8B-B14F-4D97-AF65-F5344CB8AC3E}">
        <p14:creationId xmlns:p14="http://schemas.microsoft.com/office/powerpoint/2010/main" val="2439471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56</a:t>
            </a:fld>
            <a:endParaRPr lang="en-US" altLang="zh-CN"/>
          </a:p>
        </p:txBody>
      </p:sp>
    </p:spTree>
    <p:extLst>
      <p:ext uri="{BB962C8B-B14F-4D97-AF65-F5344CB8AC3E}">
        <p14:creationId xmlns:p14="http://schemas.microsoft.com/office/powerpoint/2010/main" val="30084643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57</a:t>
            </a:fld>
            <a:endParaRPr lang="en-US" altLang="zh-CN"/>
          </a:p>
        </p:txBody>
      </p:sp>
    </p:spTree>
    <p:extLst>
      <p:ext uri="{BB962C8B-B14F-4D97-AF65-F5344CB8AC3E}">
        <p14:creationId xmlns:p14="http://schemas.microsoft.com/office/powerpoint/2010/main" val="7663227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58</a:t>
            </a:fld>
            <a:endParaRPr lang="en-US" altLang="zh-CN"/>
          </a:p>
        </p:txBody>
      </p:sp>
    </p:spTree>
    <p:extLst>
      <p:ext uri="{BB962C8B-B14F-4D97-AF65-F5344CB8AC3E}">
        <p14:creationId xmlns:p14="http://schemas.microsoft.com/office/powerpoint/2010/main" val="1972955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59</a:t>
            </a:fld>
            <a:endParaRPr lang="en-US" altLang="zh-CN"/>
          </a:p>
        </p:txBody>
      </p:sp>
    </p:spTree>
    <p:extLst>
      <p:ext uri="{BB962C8B-B14F-4D97-AF65-F5344CB8AC3E}">
        <p14:creationId xmlns:p14="http://schemas.microsoft.com/office/powerpoint/2010/main" val="7264700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60</a:t>
            </a:fld>
            <a:endParaRPr lang="en-US" altLang="zh-CN"/>
          </a:p>
        </p:txBody>
      </p:sp>
    </p:spTree>
    <p:extLst>
      <p:ext uri="{BB962C8B-B14F-4D97-AF65-F5344CB8AC3E}">
        <p14:creationId xmlns:p14="http://schemas.microsoft.com/office/powerpoint/2010/main" val="8507332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61</a:t>
            </a:fld>
            <a:endParaRPr lang="en-US" altLang="zh-CN"/>
          </a:p>
        </p:txBody>
      </p:sp>
    </p:spTree>
    <p:extLst>
      <p:ext uri="{BB962C8B-B14F-4D97-AF65-F5344CB8AC3E}">
        <p14:creationId xmlns:p14="http://schemas.microsoft.com/office/powerpoint/2010/main" val="3032612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62</a:t>
            </a:fld>
            <a:endParaRPr lang="en-US" altLang="zh-CN"/>
          </a:p>
        </p:txBody>
      </p:sp>
    </p:spTree>
    <p:extLst>
      <p:ext uri="{BB962C8B-B14F-4D97-AF65-F5344CB8AC3E}">
        <p14:creationId xmlns:p14="http://schemas.microsoft.com/office/powerpoint/2010/main" val="19854732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63</a:t>
            </a:fld>
            <a:endParaRPr lang="en-US" altLang="zh-CN"/>
          </a:p>
        </p:txBody>
      </p:sp>
    </p:spTree>
    <p:extLst>
      <p:ext uri="{BB962C8B-B14F-4D97-AF65-F5344CB8AC3E}">
        <p14:creationId xmlns:p14="http://schemas.microsoft.com/office/powerpoint/2010/main" val="24648690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64</a:t>
            </a:fld>
            <a:endParaRPr lang="en-US" altLang="zh-CN"/>
          </a:p>
        </p:txBody>
      </p:sp>
    </p:spTree>
    <p:extLst>
      <p:ext uri="{BB962C8B-B14F-4D97-AF65-F5344CB8AC3E}">
        <p14:creationId xmlns:p14="http://schemas.microsoft.com/office/powerpoint/2010/main" val="3063568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kumimoji="1" lang="zh-CN" altLang="en-US" dirty="0"/>
              <a:t>（改标题，都改成中文）</a:t>
            </a:r>
          </a:p>
        </p:txBody>
      </p:sp>
      <p:sp>
        <p:nvSpPr>
          <p:cNvPr id="4" name="灯片编号占位符 3"/>
          <p:cNvSpPr>
            <a:spLocks noGrp="1"/>
          </p:cNvSpPr>
          <p:nvPr>
            <p:ph type="sldNum" sz="quarter" idx="5"/>
          </p:nvPr>
        </p:nvSpPr>
        <p:spPr/>
        <p:txBody>
          <a:bodyPr/>
          <a:lstStyle/>
          <a:p>
            <a:pPr>
              <a:defRPr/>
            </a:pPr>
            <a:fld id="{6143918E-A2CB-491E-8B36-A1C0952C99F6}" type="slidenum">
              <a:rPr lang="zh-CN" altLang="en-US" smtClean="0"/>
              <a:pPr>
                <a:defRPr/>
              </a:pPr>
              <a:t>65</a:t>
            </a:fld>
            <a:endParaRPr lang="en-US" altLang="zh-CN"/>
          </a:p>
        </p:txBody>
      </p:sp>
    </p:spTree>
    <p:extLst>
      <p:ext uri="{BB962C8B-B14F-4D97-AF65-F5344CB8AC3E}">
        <p14:creationId xmlns:p14="http://schemas.microsoft.com/office/powerpoint/2010/main" val="28469486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66</a:t>
            </a:fld>
            <a:endParaRPr lang="en-US" altLang="zh-CN"/>
          </a:p>
        </p:txBody>
      </p:sp>
    </p:spTree>
    <p:extLst>
      <p:ext uri="{BB962C8B-B14F-4D97-AF65-F5344CB8AC3E}">
        <p14:creationId xmlns:p14="http://schemas.microsoft.com/office/powerpoint/2010/main" val="140756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67</a:t>
            </a:fld>
            <a:endParaRPr lang="en-US" altLang="zh-CN"/>
          </a:p>
        </p:txBody>
      </p:sp>
    </p:spTree>
    <p:extLst>
      <p:ext uri="{BB962C8B-B14F-4D97-AF65-F5344CB8AC3E}">
        <p14:creationId xmlns:p14="http://schemas.microsoft.com/office/powerpoint/2010/main" val="120867981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68</a:t>
            </a:fld>
            <a:endParaRPr lang="en-US" altLang="zh-CN"/>
          </a:p>
        </p:txBody>
      </p:sp>
    </p:spTree>
    <p:extLst>
      <p:ext uri="{BB962C8B-B14F-4D97-AF65-F5344CB8AC3E}">
        <p14:creationId xmlns:p14="http://schemas.microsoft.com/office/powerpoint/2010/main" val="2263100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69</a:t>
            </a:fld>
            <a:endParaRPr lang="en-US" altLang="zh-CN"/>
          </a:p>
        </p:txBody>
      </p:sp>
    </p:spTree>
    <p:extLst>
      <p:ext uri="{BB962C8B-B14F-4D97-AF65-F5344CB8AC3E}">
        <p14:creationId xmlns:p14="http://schemas.microsoft.com/office/powerpoint/2010/main" val="18224283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70</a:t>
            </a:fld>
            <a:endParaRPr lang="en-US" altLang="zh-CN"/>
          </a:p>
        </p:txBody>
      </p:sp>
    </p:spTree>
    <p:extLst>
      <p:ext uri="{BB962C8B-B14F-4D97-AF65-F5344CB8AC3E}">
        <p14:creationId xmlns:p14="http://schemas.microsoft.com/office/powerpoint/2010/main" val="2099283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Arial" charset="0"/>
              <a:cs typeface="+mn-cs"/>
            </a:endParaRP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71</a:t>
            </a:fld>
            <a:endParaRPr lang="en-US" altLang="zh-CN"/>
          </a:p>
        </p:txBody>
      </p:sp>
    </p:spTree>
    <p:extLst>
      <p:ext uri="{BB962C8B-B14F-4D97-AF65-F5344CB8AC3E}">
        <p14:creationId xmlns:p14="http://schemas.microsoft.com/office/powerpoint/2010/main" val="5860398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72</a:t>
            </a:fld>
            <a:endParaRPr lang="en-US" altLang="zh-CN"/>
          </a:p>
        </p:txBody>
      </p:sp>
    </p:spTree>
    <p:extLst>
      <p:ext uri="{BB962C8B-B14F-4D97-AF65-F5344CB8AC3E}">
        <p14:creationId xmlns:p14="http://schemas.microsoft.com/office/powerpoint/2010/main" val="19237770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6143918E-A2CB-491E-8B36-A1C0952C99F6}" type="slidenum">
              <a:rPr lang="zh-CN" altLang="en-US" smtClean="0"/>
              <a:pPr>
                <a:defRPr/>
              </a:pPr>
              <a:t>73</a:t>
            </a:fld>
            <a:endParaRPr lang="en-US" altLang="zh-CN"/>
          </a:p>
        </p:txBody>
      </p:sp>
    </p:spTree>
    <p:extLst>
      <p:ext uri="{BB962C8B-B14F-4D97-AF65-F5344CB8AC3E}">
        <p14:creationId xmlns:p14="http://schemas.microsoft.com/office/powerpoint/2010/main" val="9281396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75</a:t>
            </a:fld>
            <a:endParaRPr lang="en-US" altLang="zh-CN"/>
          </a:p>
        </p:txBody>
      </p:sp>
    </p:spTree>
    <p:extLst>
      <p:ext uri="{BB962C8B-B14F-4D97-AF65-F5344CB8AC3E}">
        <p14:creationId xmlns:p14="http://schemas.microsoft.com/office/powerpoint/2010/main" val="6894018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76</a:t>
            </a:fld>
            <a:endParaRPr lang="en-US" altLang="zh-CN"/>
          </a:p>
        </p:txBody>
      </p:sp>
    </p:spTree>
    <p:extLst>
      <p:ext uri="{BB962C8B-B14F-4D97-AF65-F5344CB8AC3E}">
        <p14:creationId xmlns:p14="http://schemas.microsoft.com/office/powerpoint/2010/main" val="9724224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这道题的答案是</a:t>
            </a:r>
            <a:r>
              <a:rPr lang="en-US" altLang="zh-CN" dirty="0"/>
              <a:t>ABCD</a:t>
            </a:r>
            <a:r>
              <a:rPr lang="zh-CN" altLang="en-US" dirty="0"/>
              <a:t>都有。</a:t>
            </a:r>
          </a:p>
        </p:txBody>
      </p:sp>
      <p:sp>
        <p:nvSpPr>
          <p:cNvPr id="4" name="灯片编号占位符 3"/>
          <p:cNvSpPr>
            <a:spLocks noGrp="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6143918E-A2CB-491E-8B36-A1C0952C99F6}" type="slidenum">
              <a:rPr kumimoji="0" lang="zh-CN" altLang="en-US" sz="1300" b="0" i="0" u="none" strike="noStrike" kern="1200" cap="none" spc="0" normalizeH="0" baseline="0" noProof="0" smtClean="0">
                <a:ln>
                  <a:noFill/>
                </a:ln>
                <a:solidFill>
                  <a:srgbClr val="000000"/>
                </a:solidFill>
                <a:effectLst/>
                <a:uLnTx/>
                <a:uFillTx/>
                <a:latin typeface="Arial" charset="0"/>
                <a:cs typeface="+mn-cs"/>
              </a:rPr>
              <a:pPr marL="0" marR="0" lvl="0" indent="0" algn="r" defTabSz="990600" rtl="0" eaLnBrk="1" fontAlgn="base" latinLnBrk="0" hangingPunct="1">
                <a:lnSpc>
                  <a:spcPct val="100000"/>
                </a:lnSpc>
                <a:spcBef>
                  <a:spcPct val="0"/>
                </a:spcBef>
                <a:spcAft>
                  <a:spcPct val="0"/>
                </a:spcAft>
                <a:buClrTx/>
                <a:buSzTx/>
                <a:buFontTx/>
                <a:buNone/>
                <a:tabLst/>
                <a:defRPr/>
              </a:pPr>
              <a:t>77</a:t>
            </a:fld>
            <a:endParaRPr kumimoji="0" lang="en-US" altLang="zh-CN" sz="1300" b="0" i="0" u="none" strike="noStrike" kern="1200" cap="none" spc="0" normalizeH="0" baseline="0" noProof="0" dirty="0">
              <a:ln>
                <a:noFill/>
              </a:ln>
              <a:solidFill>
                <a:srgbClr val="000000"/>
              </a:solidFill>
              <a:effectLst/>
              <a:uLnTx/>
              <a:uFillTx/>
              <a:latin typeface="Arial" charset="0"/>
              <a:cs typeface="+mn-cs"/>
            </a:endParaRPr>
          </a:p>
        </p:txBody>
      </p:sp>
    </p:spTree>
    <p:extLst>
      <p:ext uri="{BB962C8B-B14F-4D97-AF65-F5344CB8AC3E}">
        <p14:creationId xmlns:p14="http://schemas.microsoft.com/office/powerpoint/2010/main" val="42200915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蓝色部分为利用到的定理，建议学生课后对照课件自主推导每一步</a:t>
            </a:r>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79</a:t>
            </a:fld>
            <a:endParaRPr lang="en-US" altLang="zh-CN"/>
          </a:p>
        </p:txBody>
      </p:sp>
    </p:spTree>
    <p:extLst>
      <p:ext uri="{BB962C8B-B14F-4D97-AF65-F5344CB8AC3E}">
        <p14:creationId xmlns:p14="http://schemas.microsoft.com/office/powerpoint/2010/main" val="9118839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80</a:t>
            </a:fld>
            <a:endParaRPr lang="en-US" altLang="zh-CN"/>
          </a:p>
        </p:txBody>
      </p:sp>
    </p:spTree>
    <p:extLst>
      <p:ext uri="{BB962C8B-B14F-4D97-AF65-F5344CB8AC3E}">
        <p14:creationId xmlns:p14="http://schemas.microsoft.com/office/powerpoint/2010/main" val="5885059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81</a:t>
            </a:fld>
            <a:endParaRPr lang="en-US" altLang="zh-CN"/>
          </a:p>
        </p:txBody>
      </p:sp>
    </p:spTree>
    <p:extLst>
      <p:ext uri="{BB962C8B-B14F-4D97-AF65-F5344CB8AC3E}">
        <p14:creationId xmlns:p14="http://schemas.microsoft.com/office/powerpoint/2010/main" val="16407522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82</a:t>
            </a:fld>
            <a:endParaRPr lang="en-US" altLang="zh-CN"/>
          </a:p>
        </p:txBody>
      </p:sp>
    </p:spTree>
    <p:extLst>
      <p:ext uri="{BB962C8B-B14F-4D97-AF65-F5344CB8AC3E}">
        <p14:creationId xmlns:p14="http://schemas.microsoft.com/office/powerpoint/2010/main" val="68644843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83</a:t>
            </a:fld>
            <a:endParaRPr lang="en-US" altLang="zh-CN"/>
          </a:p>
        </p:txBody>
      </p:sp>
    </p:spTree>
    <p:extLst>
      <p:ext uri="{BB962C8B-B14F-4D97-AF65-F5344CB8AC3E}">
        <p14:creationId xmlns:p14="http://schemas.microsoft.com/office/powerpoint/2010/main" val="42876249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84</a:t>
            </a:fld>
            <a:endParaRPr lang="en-US" altLang="zh-CN"/>
          </a:p>
        </p:txBody>
      </p:sp>
    </p:spTree>
    <p:extLst>
      <p:ext uri="{BB962C8B-B14F-4D97-AF65-F5344CB8AC3E}">
        <p14:creationId xmlns:p14="http://schemas.microsoft.com/office/powerpoint/2010/main" val="20416627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85</a:t>
            </a:fld>
            <a:endParaRPr lang="en-US" altLang="zh-CN"/>
          </a:p>
        </p:txBody>
      </p:sp>
    </p:spTree>
    <p:extLst>
      <p:ext uri="{BB962C8B-B14F-4D97-AF65-F5344CB8AC3E}">
        <p14:creationId xmlns:p14="http://schemas.microsoft.com/office/powerpoint/2010/main" val="30918260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F1</a:t>
            </a:r>
            <a:r>
              <a:rPr lang="zh-CN" altLang="en-US"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的蕴含项</a:t>
            </a:r>
            <a:r>
              <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 </a:t>
            </a:r>
            <a:r>
              <a:rPr lang="en-US" altLang="zh-CN" sz="1200" dirty="0" err="1">
                <a:solidFill>
                  <a:schemeClr val="tx1"/>
                </a:solidFill>
                <a:latin typeface="Arial" panose="020B0604020202020204" pitchFamily="34" charset="0"/>
                <a:ea typeface="Microsoft YaHei" panose="020B0503020204020204" pitchFamily="34" charset="-122"/>
                <a:cs typeface="Arial" panose="020B0604020202020204" pitchFamily="34" charset="0"/>
              </a:rPr>
              <a:t>xy</a:t>
            </a:r>
            <a:r>
              <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 </a:t>
            </a:r>
            <a:r>
              <a:rPr lang="en-US" altLang="zh-CN" sz="1200" dirty="0" err="1">
                <a:solidFill>
                  <a:schemeClr val="tx1"/>
                </a:solidFill>
                <a:latin typeface="Arial" panose="020B0604020202020204" pitchFamily="34" charset="0"/>
                <a:ea typeface="Microsoft YaHei" panose="020B0503020204020204" pitchFamily="34" charset="-122"/>
                <a:cs typeface="Arial" panose="020B0604020202020204" pitchFamily="34" charset="0"/>
              </a:rPr>
              <a:t>x’y</a:t>
            </a:r>
            <a:endPar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F2</a:t>
            </a:r>
            <a:r>
              <a:rPr lang="zh-CN" altLang="en-US"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的蕴含项</a:t>
            </a:r>
            <a:r>
              <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 x, y, </a:t>
            </a:r>
            <a:r>
              <a:rPr lang="en-US" altLang="zh-CN" sz="1200" dirty="0" err="1">
                <a:solidFill>
                  <a:schemeClr val="tx1"/>
                </a:solidFill>
                <a:latin typeface="Arial" panose="020B0604020202020204" pitchFamily="34" charset="0"/>
                <a:ea typeface="Microsoft YaHei" panose="020B0503020204020204" pitchFamily="34" charset="-122"/>
                <a:cs typeface="Arial" panose="020B0604020202020204" pitchFamily="34" charset="0"/>
              </a:rPr>
              <a:t>xy</a:t>
            </a:r>
            <a:r>
              <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 </a:t>
            </a:r>
            <a:r>
              <a:rPr lang="en-US" altLang="zh-CN" sz="1200" dirty="0" err="1">
                <a:solidFill>
                  <a:schemeClr val="tx1"/>
                </a:solidFill>
                <a:latin typeface="Arial" panose="020B0604020202020204" pitchFamily="34" charset="0"/>
                <a:ea typeface="Microsoft YaHei" panose="020B0503020204020204" pitchFamily="34" charset="-122"/>
                <a:cs typeface="Arial" panose="020B0604020202020204" pitchFamily="34" charset="0"/>
              </a:rPr>
              <a:t>xy</a:t>
            </a:r>
            <a:r>
              <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rPr>
              <a:t>’, </a:t>
            </a:r>
            <a:r>
              <a:rPr lang="en-US" altLang="zh-CN" sz="1200" dirty="0" err="1">
                <a:solidFill>
                  <a:schemeClr val="tx1"/>
                </a:solidFill>
                <a:latin typeface="Arial" panose="020B0604020202020204" pitchFamily="34" charset="0"/>
                <a:ea typeface="Microsoft YaHei" panose="020B0503020204020204" pitchFamily="34" charset="-122"/>
                <a:cs typeface="Arial" panose="020B0604020202020204" pitchFamily="34" charset="0"/>
              </a:rPr>
              <a:t>x’y</a:t>
            </a:r>
            <a:endParaRPr lang="en-US" altLang="zh-CN" sz="12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a:p>
            <a:endParaRPr lang="en-US" altLang="zh-CN"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86</a:t>
            </a:fld>
            <a:endParaRPr lang="en-US" altLang="zh-CN"/>
          </a:p>
        </p:txBody>
      </p:sp>
    </p:spTree>
    <p:extLst>
      <p:ext uri="{BB962C8B-B14F-4D97-AF65-F5344CB8AC3E}">
        <p14:creationId xmlns:p14="http://schemas.microsoft.com/office/powerpoint/2010/main" val="44763800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87</a:t>
            </a:fld>
            <a:endParaRPr lang="en-US" altLang="zh-CN"/>
          </a:p>
        </p:txBody>
      </p:sp>
    </p:spTree>
    <p:extLst>
      <p:ext uri="{BB962C8B-B14F-4D97-AF65-F5344CB8AC3E}">
        <p14:creationId xmlns:p14="http://schemas.microsoft.com/office/powerpoint/2010/main" val="11970513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88</a:t>
            </a:fld>
            <a:endParaRPr lang="en-US" altLang="zh-CN"/>
          </a:p>
        </p:txBody>
      </p:sp>
    </p:spTree>
    <p:extLst>
      <p:ext uri="{BB962C8B-B14F-4D97-AF65-F5344CB8AC3E}">
        <p14:creationId xmlns:p14="http://schemas.microsoft.com/office/powerpoint/2010/main" val="13638339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89</a:t>
            </a:fld>
            <a:endParaRPr lang="en-US" altLang="zh-CN"/>
          </a:p>
        </p:txBody>
      </p:sp>
    </p:spTree>
    <p:extLst>
      <p:ext uri="{BB962C8B-B14F-4D97-AF65-F5344CB8AC3E}">
        <p14:creationId xmlns:p14="http://schemas.microsoft.com/office/powerpoint/2010/main" val="1485364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90</a:t>
            </a:fld>
            <a:endParaRPr lang="en-US" altLang="zh-CN"/>
          </a:p>
        </p:txBody>
      </p:sp>
    </p:spTree>
    <p:extLst>
      <p:ext uri="{BB962C8B-B14F-4D97-AF65-F5344CB8AC3E}">
        <p14:creationId xmlns:p14="http://schemas.microsoft.com/office/powerpoint/2010/main" val="91373091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91</a:t>
            </a:fld>
            <a:endParaRPr lang="en-US" altLang="zh-CN"/>
          </a:p>
        </p:txBody>
      </p:sp>
    </p:spTree>
    <p:extLst>
      <p:ext uri="{BB962C8B-B14F-4D97-AF65-F5344CB8AC3E}">
        <p14:creationId xmlns:p14="http://schemas.microsoft.com/office/powerpoint/2010/main" val="10898055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92</a:t>
            </a:fld>
            <a:endParaRPr lang="en-US" altLang="zh-CN"/>
          </a:p>
        </p:txBody>
      </p:sp>
    </p:spTree>
    <p:extLst>
      <p:ext uri="{BB962C8B-B14F-4D97-AF65-F5344CB8AC3E}">
        <p14:creationId xmlns:p14="http://schemas.microsoft.com/office/powerpoint/2010/main" val="61167769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93</a:t>
            </a:fld>
            <a:endParaRPr lang="en-US" altLang="zh-CN"/>
          </a:p>
        </p:txBody>
      </p:sp>
    </p:spTree>
    <p:extLst>
      <p:ext uri="{BB962C8B-B14F-4D97-AF65-F5344CB8AC3E}">
        <p14:creationId xmlns:p14="http://schemas.microsoft.com/office/powerpoint/2010/main" val="20723893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94</a:t>
            </a:fld>
            <a:endParaRPr lang="en-US" altLang="zh-CN"/>
          </a:p>
        </p:txBody>
      </p:sp>
    </p:spTree>
    <p:extLst>
      <p:ext uri="{BB962C8B-B14F-4D97-AF65-F5344CB8AC3E}">
        <p14:creationId xmlns:p14="http://schemas.microsoft.com/office/powerpoint/2010/main" val="131254416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95</a:t>
            </a:fld>
            <a:endParaRPr lang="en-US" altLang="zh-CN"/>
          </a:p>
        </p:txBody>
      </p:sp>
    </p:spTree>
    <p:extLst>
      <p:ext uri="{BB962C8B-B14F-4D97-AF65-F5344CB8AC3E}">
        <p14:creationId xmlns:p14="http://schemas.microsoft.com/office/powerpoint/2010/main" val="9598441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96</a:t>
            </a:fld>
            <a:endParaRPr lang="en-US" altLang="zh-CN"/>
          </a:p>
        </p:txBody>
      </p:sp>
    </p:spTree>
    <p:extLst>
      <p:ext uri="{BB962C8B-B14F-4D97-AF65-F5344CB8AC3E}">
        <p14:creationId xmlns:p14="http://schemas.microsoft.com/office/powerpoint/2010/main" val="1089805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lvl="1" eaLnBrk="1" hangingPunct="1"/>
            <a:endParaRPr lang="zh-CN" altLang="en-US" dirty="0"/>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99</a:t>
            </a:fld>
            <a:endParaRPr lang="en-US" altLang="zh-CN"/>
          </a:p>
        </p:txBody>
      </p:sp>
    </p:spTree>
    <p:extLst>
      <p:ext uri="{BB962C8B-B14F-4D97-AF65-F5344CB8AC3E}">
        <p14:creationId xmlns:p14="http://schemas.microsoft.com/office/powerpoint/2010/main" val="85685483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100</a:t>
            </a:fld>
            <a:endParaRPr lang="en-US" altLang="zh-CN"/>
          </a:p>
        </p:txBody>
      </p:sp>
    </p:spTree>
    <p:extLst>
      <p:ext uri="{BB962C8B-B14F-4D97-AF65-F5344CB8AC3E}">
        <p14:creationId xmlns:p14="http://schemas.microsoft.com/office/powerpoint/2010/main" val="21042918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101</a:t>
            </a:fld>
            <a:endParaRPr lang="en-US" altLang="zh-CN"/>
          </a:p>
        </p:txBody>
      </p:sp>
    </p:spTree>
    <p:extLst>
      <p:ext uri="{BB962C8B-B14F-4D97-AF65-F5344CB8AC3E}">
        <p14:creationId xmlns:p14="http://schemas.microsoft.com/office/powerpoint/2010/main" val="175824088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102</a:t>
            </a:fld>
            <a:endParaRPr lang="en-US" altLang="zh-CN"/>
          </a:p>
        </p:txBody>
      </p:sp>
    </p:spTree>
    <p:extLst>
      <p:ext uri="{BB962C8B-B14F-4D97-AF65-F5344CB8AC3E}">
        <p14:creationId xmlns:p14="http://schemas.microsoft.com/office/powerpoint/2010/main" val="8119510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6143918E-A2CB-491E-8B36-A1C0952C99F6}" type="slidenum">
              <a:rPr lang="zh-CN" altLang="en-US" smtClean="0"/>
              <a:pPr>
                <a:defRPr/>
              </a:pPr>
              <a:t>103</a:t>
            </a:fld>
            <a:endParaRPr lang="en-US" altLang="zh-CN"/>
          </a:p>
        </p:txBody>
      </p:sp>
    </p:spTree>
    <p:extLst>
      <p:ext uri="{BB962C8B-B14F-4D97-AF65-F5344CB8AC3E}">
        <p14:creationId xmlns:p14="http://schemas.microsoft.com/office/powerpoint/2010/main" val="121376112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43918E-A2CB-491E-8B36-A1C0952C99F6}" type="slidenum">
              <a:rPr lang="zh-CN" altLang="en-US" smtClean="0"/>
              <a:pPr>
                <a:defRPr/>
              </a:pPr>
              <a:t>104</a:t>
            </a:fld>
            <a:endParaRPr lang="en-US" altLang="zh-CN"/>
          </a:p>
        </p:txBody>
      </p:sp>
    </p:spTree>
    <p:extLst>
      <p:ext uri="{BB962C8B-B14F-4D97-AF65-F5344CB8AC3E}">
        <p14:creationId xmlns:p14="http://schemas.microsoft.com/office/powerpoint/2010/main" val="3535180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en-US" altLang="zh-CN" dirty="0"/>
              <a:t>-</a:t>
            </a:r>
            <a:r>
              <a:rPr lang="zh-CN" altLang="en-US" dirty="0"/>
              <a:t> 源码和二补码保留，放到后面</a:t>
            </a:r>
          </a:p>
        </p:txBody>
      </p:sp>
      <p:sp>
        <p:nvSpPr>
          <p:cNvPr id="4" name="灯片编号占位符 3"/>
          <p:cNvSpPr>
            <a:spLocks noGrp="1"/>
          </p:cNvSpPr>
          <p:nvPr>
            <p:ph type="sldNum" sz="quarter" idx="10"/>
          </p:nvPr>
        </p:nvSpPr>
        <p:spPr/>
        <p:txBody>
          <a:bodyPr/>
          <a:lstStyle/>
          <a:p>
            <a:pPr>
              <a:defRPr/>
            </a:pPr>
            <a:fld id="{2FDB266C-547D-44A9-939F-5521DE07D04A}" type="slidenum">
              <a:rPr lang="en-US" altLang="zh-CN" smtClean="0"/>
              <a:pPr>
                <a:defRPr/>
              </a:pPr>
              <a:t>108</a:t>
            </a:fld>
            <a:endParaRPr lang="en-US" altLang="zh-CN"/>
          </a:p>
        </p:txBody>
      </p:sp>
    </p:spTree>
    <p:extLst>
      <p:ext uri="{BB962C8B-B14F-4D97-AF65-F5344CB8AC3E}">
        <p14:creationId xmlns:p14="http://schemas.microsoft.com/office/powerpoint/2010/main" val="2606484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0E919B8-A1B4-420E-AADF-E63307EE92DF}" type="slidenum">
              <a:rPr lang="en-US" altLang="zh-CN"/>
              <a:pPr/>
              <a:t>‹#›</a:t>
            </a:fld>
            <a:endParaRPr lang="en-US" altLang="zh-CN"/>
          </a:p>
        </p:txBody>
      </p:sp>
      <p:pic>
        <p:nvPicPr>
          <p:cNvPr id="11" name="Picture 6">
            <a:extLst>
              <a:ext uri="{FF2B5EF4-FFF2-40B4-BE49-F238E27FC236}">
                <a16:creationId xmlns:a16="http://schemas.microsoft.com/office/drawing/2014/main" id="{37208F54-42C8-22EF-69A4-AE45819566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30429" y="10392"/>
            <a:ext cx="1313572" cy="1313572"/>
          </a:xfrm>
          <a:prstGeom prst="rect">
            <a:avLst/>
          </a:prstGeom>
        </p:spPr>
      </p:pic>
      <p:pic>
        <p:nvPicPr>
          <p:cNvPr id="12" name="Picture 7">
            <a:extLst>
              <a:ext uri="{FF2B5EF4-FFF2-40B4-BE49-F238E27FC236}">
                <a16:creationId xmlns:a16="http://schemas.microsoft.com/office/drawing/2014/main" id="{5E99BBB1-8EEB-46FB-201E-508C9D0759BB}"/>
              </a:ext>
            </a:extLst>
          </p:cNvPr>
          <p:cNvPicPr>
            <a:picLocks noChangeAspect="1"/>
          </p:cNvPicPr>
          <p:nvPr userDrawn="1"/>
        </p:nvPicPr>
        <p:blipFill rotWithShape="1">
          <a:blip r:embed="rId3"/>
          <a:srcRect l="7528" t="909" r="12068" b="1273"/>
          <a:stretch/>
        </p:blipFill>
        <p:spPr>
          <a:xfrm>
            <a:off x="31172" y="10392"/>
            <a:ext cx="1340427" cy="1313572"/>
          </a:xfrm>
          <a:prstGeom prst="rect">
            <a:avLst/>
          </a:prstGeom>
        </p:spPr>
      </p:pic>
    </p:spTree>
    <p:extLst>
      <p:ext uri="{BB962C8B-B14F-4D97-AF65-F5344CB8AC3E}">
        <p14:creationId xmlns:p14="http://schemas.microsoft.com/office/powerpoint/2010/main" val="2011739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000"/>
            </a:lvl1pPr>
          </a:lstStyle>
          <a:p>
            <a:r>
              <a:rPr lang="zh-CN" altLang="en-US"/>
              <a:t>单击此处编辑母版标题样式</a:t>
            </a:r>
          </a:p>
        </p:txBody>
      </p:sp>
      <p:sp>
        <p:nvSpPr>
          <p:cNvPr id="3" name="内容占位符 2"/>
          <p:cNvSpPr>
            <a:spLocks noGrp="1"/>
          </p:cNvSpPr>
          <p:nvPr>
            <p:ph idx="1"/>
          </p:nvPr>
        </p:nvSpPr>
        <p:spPr>
          <a:xfrm>
            <a:off x="457200" y="1551432"/>
            <a:ext cx="8229600" cy="45259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4659731-6BD7-46E7-8D3C-2F3AC07E20B1}" type="slidenum">
              <a:rPr lang="en-US" altLang="zh-CN"/>
              <a:pPr/>
              <a:t>‹#›</a:t>
            </a:fld>
            <a:endParaRPr lang="en-US" altLang="zh-CN"/>
          </a:p>
        </p:txBody>
      </p:sp>
    </p:spTree>
    <p:extLst>
      <p:ext uri="{BB962C8B-B14F-4D97-AF65-F5344CB8AC3E}">
        <p14:creationId xmlns:p14="http://schemas.microsoft.com/office/powerpoint/2010/main" val="1898018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F8AC4FE-4EB1-4196-830A-993FA99EEC9B}" type="slidenum">
              <a:rPr lang="en-US" altLang="zh-CN"/>
              <a:pPr/>
              <a:t>‹#›</a:t>
            </a:fld>
            <a:endParaRPr lang="en-US" altLang="zh-CN"/>
          </a:p>
        </p:txBody>
      </p:sp>
    </p:spTree>
    <p:extLst>
      <p:ext uri="{BB962C8B-B14F-4D97-AF65-F5344CB8AC3E}">
        <p14:creationId xmlns:p14="http://schemas.microsoft.com/office/powerpoint/2010/main" val="2275206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B93EBDF-DAB8-41D8-86B3-1BFF07A18FF9}" type="slidenum">
              <a:rPr lang="en-US" altLang="zh-CN"/>
              <a:pPr/>
              <a:t>‹#›</a:t>
            </a:fld>
            <a:endParaRPr lang="en-US" altLang="zh-CN"/>
          </a:p>
        </p:txBody>
      </p:sp>
    </p:spTree>
    <p:extLst>
      <p:ext uri="{BB962C8B-B14F-4D97-AF65-F5344CB8AC3E}">
        <p14:creationId xmlns:p14="http://schemas.microsoft.com/office/powerpoint/2010/main" val="417482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E7C22BC1-7FC1-4B65-8DCC-88E2F449497B}" type="slidenum">
              <a:rPr lang="en-US" altLang="zh-CN"/>
              <a:pPr/>
              <a:t>‹#›</a:t>
            </a:fld>
            <a:endParaRPr lang="en-US" altLang="zh-CN"/>
          </a:p>
        </p:txBody>
      </p:sp>
    </p:spTree>
    <p:extLst>
      <p:ext uri="{BB962C8B-B14F-4D97-AF65-F5344CB8AC3E}">
        <p14:creationId xmlns:p14="http://schemas.microsoft.com/office/powerpoint/2010/main" val="2490569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6C23D995-88A0-46FA-B356-FA459EF841CD}" type="slidenum">
              <a:rPr lang="en-US" altLang="zh-CN"/>
              <a:pPr/>
              <a:t>‹#›</a:t>
            </a:fld>
            <a:endParaRPr lang="en-US" altLang="zh-CN"/>
          </a:p>
        </p:txBody>
      </p:sp>
    </p:spTree>
    <p:extLst>
      <p:ext uri="{BB962C8B-B14F-4D97-AF65-F5344CB8AC3E}">
        <p14:creationId xmlns:p14="http://schemas.microsoft.com/office/powerpoint/2010/main" val="112682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3F2AB43A-8F39-40F7-AB51-66BE5F0EDC88}" type="slidenum">
              <a:rPr lang="en-US" altLang="zh-CN"/>
              <a:pPr/>
              <a:t>‹#›</a:t>
            </a:fld>
            <a:endParaRPr lang="en-US" altLang="zh-CN"/>
          </a:p>
        </p:txBody>
      </p:sp>
    </p:spTree>
    <p:extLst>
      <p:ext uri="{BB962C8B-B14F-4D97-AF65-F5344CB8AC3E}">
        <p14:creationId xmlns:p14="http://schemas.microsoft.com/office/powerpoint/2010/main" val="1036751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2D2373F-9A07-4B83-AD01-C0E1FFF861AA}" type="slidenum">
              <a:rPr lang="en-US" altLang="zh-CN"/>
              <a:pPr/>
              <a:t>‹#›</a:t>
            </a:fld>
            <a:endParaRPr lang="en-US" altLang="zh-CN"/>
          </a:p>
        </p:txBody>
      </p:sp>
    </p:spTree>
    <p:extLst>
      <p:ext uri="{BB962C8B-B14F-4D97-AF65-F5344CB8AC3E}">
        <p14:creationId xmlns:p14="http://schemas.microsoft.com/office/powerpoint/2010/main" val="3839291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FA0F13C-7485-4D41-9A6D-469650A33C06}" type="slidenum">
              <a:rPr lang="en-US" altLang="zh-CN"/>
              <a:pPr/>
              <a:t>‹#›</a:t>
            </a:fld>
            <a:endParaRPr lang="en-US" altLang="zh-CN"/>
          </a:p>
        </p:txBody>
      </p:sp>
    </p:spTree>
    <p:extLst>
      <p:ext uri="{BB962C8B-B14F-4D97-AF65-F5344CB8AC3E}">
        <p14:creationId xmlns:p14="http://schemas.microsoft.com/office/powerpoint/2010/main" val="3901360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73C9E0C-B70F-4EE2-835C-E91EA4A4E95C}" type="slidenum">
              <a:rPr lang="en-US" altLang="zh-CN"/>
              <a:pPr/>
              <a:t>‹#›</a:t>
            </a:fld>
            <a:endParaRPr lang="en-US" altLang="zh-CN"/>
          </a:p>
        </p:txBody>
      </p:sp>
    </p:spTree>
    <p:extLst>
      <p:ext uri="{BB962C8B-B14F-4D97-AF65-F5344CB8AC3E}">
        <p14:creationId xmlns:p14="http://schemas.microsoft.com/office/powerpoint/2010/main" val="117206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7AE7160-E460-44BC-A56A-E2A6D1A944F5}" type="slidenum">
              <a:rPr lang="en-US" altLang="zh-CN"/>
              <a:pPr/>
              <a:t>‹#›</a:t>
            </a:fld>
            <a:endParaRPr lang="en-US" altLang="zh-CN"/>
          </a:p>
        </p:txBody>
      </p:sp>
    </p:spTree>
    <p:extLst>
      <p:ext uri="{BB962C8B-B14F-4D97-AF65-F5344CB8AC3E}">
        <p14:creationId xmlns:p14="http://schemas.microsoft.com/office/powerpoint/2010/main" val="2675603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4609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zh-CN" altLang="en-US"/>
              <a:t>单击此处编辑母版标题样式</a:t>
            </a:r>
          </a:p>
        </p:txBody>
      </p:sp>
      <p:sp>
        <p:nvSpPr>
          <p:cNvPr id="3" name="表格占位符 2"/>
          <p:cNvSpPr>
            <a:spLocks noGrp="1"/>
          </p:cNvSpPr>
          <p:nvPr>
            <p:ph type="tbl" idx="1"/>
          </p:nvPr>
        </p:nvSpPr>
        <p:spPr>
          <a:xfrm>
            <a:off x="457200" y="1447800"/>
            <a:ext cx="8229600" cy="4716463"/>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2EA1E184-7EFF-4B48-9C82-609CF6442F2C}" type="slidenum">
              <a:rPr lang="zh-CN" altLang="en-US"/>
              <a:pPr>
                <a:defRPr/>
              </a:pPr>
              <a:t>‹#›</a:t>
            </a:fld>
            <a:endParaRPr lang="en-US" altLang="zh-CN"/>
          </a:p>
        </p:txBody>
      </p:sp>
    </p:spTree>
    <p:extLst>
      <p:ext uri="{BB962C8B-B14F-4D97-AF65-F5344CB8AC3E}">
        <p14:creationId xmlns:p14="http://schemas.microsoft.com/office/powerpoint/2010/main" val="3434593032"/>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95263" y="228600"/>
            <a:ext cx="8015287" cy="914400"/>
          </a:xfrm>
        </p:spPr>
        <p:txBody>
          <a:bodyPr/>
          <a:lstStyle/>
          <a:p>
            <a:r>
              <a:rPr lang="zh-CN" altLang="en-US"/>
              <a:t>单击此处编辑母版标题样式</a:t>
            </a:r>
          </a:p>
        </p:txBody>
      </p:sp>
      <p:sp>
        <p:nvSpPr>
          <p:cNvPr id="3" name="内容占位符 2"/>
          <p:cNvSpPr>
            <a:spLocks noGrp="1"/>
          </p:cNvSpPr>
          <p:nvPr>
            <p:ph sz="half" idx="1"/>
          </p:nvPr>
        </p:nvSpPr>
        <p:spPr>
          <a:xfrm>
            <a:off x="457200" y="1447800"/>
            <a:ext cx="39624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572000" y="1447800"/>
            <a:ext cx="3962400" cy="2438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0" y="4038600"/>
            <a:ext cx="3962400" cy="2438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8" name="Rectangle 10"/>
          <p:cNvSpPr>
            <a:spLocks noGrp="1" noChangeArrowheads="1"/>
          </p:cNvSpPr>
          <p:nvPr>
            <p:ph type="sldNum" sz="quarter" idx="12"/>
          </p:nvPr>
        </p:nvSpPr>
        <p:spPr>
          <a:ln/>
        </p:spPr>
        <p:txBody>
          <a:bodyPr/>
          <a:lstStyle>
            <a:lvl1pPr>
              <a:defRPr/>
            </a:lvl1pPr>
          </a:lstStyle>
          <a:p>
            <a:pPr>
              <a:defRPr/>
            </a:pPr>
            <a:fld id="{A338B9D4-5D11-464B-BDF0-A23355FE4558}" type="slidenum">
              <a:rPr lang="en-US" altLang="zh-CN"/>
              <a:pPr>
                <a:defRPr/>
              </a:pPr>
              <a:t>‹#›</a:t>
            </a:fld>
            <a:endParaRPr lang="en-US" altLang="zh-CN" dirty="0"/>
          </a:p>
        </p:txBody>
      </p:sp>
    </p:spTree>
    <p:extLst>
      <p:ext uri="{BB962C8B-B14F-4D97-AF65-F5344CB8AC3E}">
        <p14:creationId xmlns:p14="http://schemas.microsoft.com/office/powerpoint/2010/main" val="1311105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5470525" cy="9366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447800"/>
            <a:ext cx="4038600" cy="47164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47800"/>
            <a:ext cx="4038600" cy="47164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C1262F62-C03C-45EC-8E1C-78F85E4B8487}" type="slidenum">
              <a:rPr lang="zh-CN" altLang="en-US"/>
              <a:pPr>
                <a:defRPr/>
              </a:pPr>
              <a:t>‹#›</a:t>
            </a:fld>
            <a:endParaRPr lang="en-US" altLang="zh-CN"/>
          </a:p>
        </p:txBody>
      </p:sp>
    </p:spTree>
    <p:extLst>
      <p:ext uri="{BB962C8B-B14F-4D97-AF65-F5344CB8AC3E}">
        <p14:creationId xmlns:p14="http://schemas.microsoft.com/office/powerpoint/2010/main" val="965095663"/>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36525"/>
            <a:ext cx="82296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368552"/>
            <a:ext cx="8229600" cy="4525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1">
                <a:ea typeface="黑体" panose="02010609060101010101" pitchFamily="49" charset="-122"/>
              </a:defRPr>
            </a:lvl1pPr>
          </a:lstStyle>
          <a:p>
            <a:endParaRPr lang="en-US" altLang="zh-CN"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1">
                <a:ea typeface="黑体" panose="02010609060101010101" pitchFamily="49" charset="-122"/>
              </a:defRPr>
            </a:lvl1pPr>
          </a:lstStyle>
          <a:p>
            <a:endParaRPr lang="en-US" altLang="zh-CN"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1">
                <a:ea typeface="黑体" panose="02010609060101010101" pitchFamily="49" charset="-122"/>
              </a:defRPr>
            </a:lvl1pPr>
          </a:lstStyle>
          <a:p>
            <a:fld id="{B36EB2BA-E18C-44D4-9F8D-4FCE250BF3FA}" type="slidenum">
              <a:rPr lang="en-US" altLang="zh-CN" smtClean="0"/>
              <a:pPr/>
              <a:t>‹#›</a:t>
            </a:fld>
            <a:endParaRPr lang="en-US" altLang="zh-CN" dirty="0"/>
          </a:p>
        </p:txBody>
      </p:sp>
      <p:grpSp>
        <p:nvGrpSpPr>
          <p:cNvPr id="1031" name="Group 7"/>
          <p:cNvGrpSpPr>
            <a:grpSpLocks/>
          </p:cNvGrpSpPr>
          <p:nvPr userDrawn="1"/>
        </p:nvGrpSpPr>
        <p:grpSpPr bwMode="auto">
          <a:xfrm>
            <a:off x="684213" y="1110456"/>
            <a:ext cx="8459787" cy="152400"/>
            <a:chOff x="431" y="799"/>
            <a:chExt cx="5329" cy="96"/>
          </a:xfrm>
        </p:grpSpPr>
        <p:sp>
          <p:nvSpPr>
            <p:cNvPr id="1032" name="Rectangle 8"/>
            <p:cNvSpPr>
              <a:spLocks noChangeArrowheads="1"/>
            </p:cNvSpPr>
            <p:nvPr/>
          </p:nvSpPr>
          <p:spPr bwMode="auto">
            <a:xfrm>
              <a:off x="431" y="799"/>
              <a:ext cx="1488" cy="96"/>
            </a:xfrm>
            <a:prstGeom prst="rect">
              <a:avLst/>
            </a:prstGeom>
            <a:solidFill>
              <a:srgbClr val="FF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ea typeface="黑体" panose="02010609060101010101" pitchFamily="49" charset="-122"/>
              </a:endParaRPr>
            </a:p>
          </p:txBody>
        </p:sp>
        <p:sp>
          <p:nvSpPr>
            <p:cNvPr id="1033" name="Rectangle 9"/>
            <p:cNvSpPr>
              <a:spLocks noChangeArrowheads="1"/>
            </p:cNvSpPr>
            <p:nvPr/>
          </p:nvSpPr>
          <p:spPr bwMode="auto">
            <a:xfrm>
              <a:off x="1920" y="799"/>
              <a:ext cx="3840" cy="96"/>
            </a:xfrm>
            <a:prstGeom prst="rect">
              <a:avLst/>
            </a:prstGeom>
            <a:solidFill>
              <a:schemeClr val="accent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b="1" dirty="0">
                <a:solidFill>
                  <a:schemeClr val="accent2"/>
                </a:solidFill>
                <a:latin typeface="Times New Roman" pitchFamily="18" charset="0"/>
                <a:ea typeface="黑体" panose="02010609060101010101" pitchFamily="49" charset="-122"/>
              </a:endParaRPr>
            </a:p>
          </p:txBody>
        </p:sp>
      </p:grpSp>
    </p:spTree>
    <p:extLst>
      <p:ext uri="{BB962C8B-B14F-4D97-AF65-F5344CB8AC3E}">
        <p14:creationId xmlns:p14="http://schemas.microsoft.com/office/powerpoint/2010/main" val="1164859091"/>
      </p:ext>
    </p:extLst>
  </p:cSld>
  <p:clrMap bg1="lt1" tx1="dk1" bg2="lt2" tx2="dk2" accent1="accent1" accent2="accent2" accent3="accent3" accent4="accent4" accent5="accent5" accent6="accent6" hlink="hlink" folHlink="folHlink"/>
  <p:sldLayoutIdLst>
    <p:sldLayoutId id="2147484240" r:id="rId1"/>
    <p:sldLayoutId id="2147484241" r:id="rId2"/>
    <p:sldLayoutId id="2147484242" r:id="rId3"/>
    <p:sldLayoutId id="2147484243" r:id="rId4"/>
    <p:sldLayoutId id="2147484244" r:id="rId5"/>
    <p:sldLayoutId id="2147484245" r:id="rId6"/>
    <p:sldLayoutId id="2147484246" r:id="rId7"/>
    <p:sldLayoutId id="2147484247" r:id="rId8"/>
    <p:sldLayoutId id="2147484248" r:id="rId9"/>
    <p:sldLayoutId id="2147484249" r:id="rId10"/>
    <p:sldLayoutId id="2147484250" r:id="rId11"/>
    <p:sldLayoutId id="2147484251" r:id="rId12"/>
    <p:sldLayoutId id="2147484252" r:id="rId13"/>
    <p:sldLayoutId id="2147484253" r:id="rId14"/>
    <p:sldLayoutId id="2147484254" r:id="rId15"/>
  </p:sldLayoutIdLst>
  <p:hf hdr="0" ftr="0" dt="0"/>
  <p:txStyles>
    <p:titleStyle>
      <a:lvl1pPr algn="ctr" rtl="0" fontAlgn="base">
        <a:spcBef>
          <a:spcPct val="0"/>
        </a:spcBef>
        <a:spcAft>
          <a:spcPct val="0"/>
        </a:spcAft>
        <a:defRPr sz="4000" b="1">
          <a:solidFill>
            <a:schemeClr val="tx2"/>
          </a:solidFill>
          <a:latin typeface="+mj-lt"/>
          <a:ea typeface="黑体" panose="02010609060101010101" pitchFamily="49" charset="-122"/>
          <a:cs typeface="+mj-cs"/>
        </a:defRPr>
      </a:lvl1pPr>
      <a:lvl2pPr algn="ctr" rtl="0" fontAlgn="base">
        <a:spcBef>
          <a:spcPct val="0"/>
        </a:spcBef>
        <a:spcAft>
          <a:spcPct val="0"/>
        </a:spcAft>
        <a:defRPr sz="4400" b="1">
          <a:solidFill>
            <a:schemeClr val="tx2"/>
          </a:solidFill>
          <a:latin typeface="Arial" charset="0"/>
          <a:ea typeface="宋体" charset="-122"/>
        </a:defRPr>
      </a:lvl2pPr>
      <a:lvl3pPr algn="ctr" rtl="0" fontAlgn="base">
        <a:spcBef>
          <a:spcPct val="0"/>
        </a:spcBef>
        <a:spcAft>
          <a:spcPct val="0"/>
        </a:spcAft>
        <a:defRPr sz="4400" b="1">
          <a:solidFill>
            <a:schemeClr val="tx2"/>
          </a:solidFill>
          <a:latin typeface="Arial" charset="0"/>
          <a:ea typeface="宋体" charset="-122"/>
        </a:defRPr>
      </a:lvl3pPr>
      <a:lvl4pPr algn="ctr" rtl="0" fontAlgn="base">
        <a:spcBef>
          <a:spcPct val="0"/>
        </a:spcBef>
        <a:spcAft>
          <a:spcPct val="0"/>
        </a:spcAft>
        <a:defRPr sz="4400" b="1">
          <a:solidFill>
            <a:schemeClr val="tx2"/>
          </a:solidFill>
          <a:latin typeface="Arial" charset="0"/>
          <a:ea typeface="宋体" charset="-122"/>
        </a:defRPr>
      </a:lvl4pPr>
      <a:lvl5pPr algn="ctr" rtl="0" fontAlgn="base">
        <a:spcBef>
          <a:spcPct val="0"/>
        </a:spcBef>
        <a:spcAft>
          <a:spcPct val="0"/>
        </a:spcAft>
        <a:defRPr sz="4400" b="1">
          <a:solidFill>
            <a:schemeClr val="tx2"/>
          </a:solidFill>
          <a:latin typeface="Arial" charset="0"/>
          <a:ea typeface="宋体" charset="-122"/>
        </a:defRPr>
      </a:lvl5pPr>
      <a:lvl6pPr marL="457200" algn="ctr" rtl="0" fontAlgn="base">
        <a:spcBef>
          <a:spcPct val="0"/>
        </a:spcBef>
        <a:spcAft>
          <a:spcPct val="0"/>
        </a:spcAft>
        <a:defRPr sz="4400" b="1">
          <a:solidFill>
            <a:schemeClr val="tx2"/>
          </a:solidFill>
          <a:latin typeface="Arial" charset="0"/>
          <a:ea typeface="宋体" charset="-122"/>
        </a:defRPr>
      </a:lvl6pPr>
      <a:lvl7pPr marL="914400" algn="ctr" rtl="0" fontAlgn="base">
        <a:spcBef>
          <a:spcPct val="0"/>
        </a:spcBef>
        <a:spcAft>
          <a:spcPct val="0"/>
        </a:spcAft>
        <a:defRPr sz="4400" b="1">
          <a:solidFill>
            <a:schemeClr val="tx2"/>
          </a:solidFill>
          <a:latin typeface="Arial" charset="0"/>
          <a:ea typeface="宋体" charset="-122"/>
        </a:defRPr>
      </a:lvl7pPr>
      <a:lvl8pPr marL="1371600" algn="ctr" rtl="0" fontAlgn="base">
        <a:spcBef>
          <a:spcPct val="0"/>
        </a:spcBef>
        <a:spcAft>
          <a:spcPct val="0"/>
        </a:spcAft>
        <a:defRPr sz="4400" b="1">
          <a:solidFill>
            <a:schemeClr val="tx2"/>
          </a:solidFill>
          <a:latin typeface="Arial" charset="0"/>
          <a:ea typeface="宋体" charset="-122"/>
        </a:defRPr>
      </a:lvl8pPr>
      <a:lvl9pPr marL="1828800" algn="ctr" rtl="0" fontAlgn="base">
        <a:spcBef>
          <a:spcPct val="0"/>
        </a:spcBef>
        <a:spcAft>
          <a:spcPct val="0"/>
        </a:spcAft>
        <a:defRPr sz="4400" b="1">
          <a:solidFill>
            <a:schemeClr val="tx2"/>
          </a:solidFill>
          <a:latin typeface="Arial" charset="0"/>
          <a:ea typeface="宋体" charset="-122"/>
        </a:defRPr>
      </a:lvl9pPr>
    </p:titleStyle>
    <p:bodyStyle>
      <a:lvl1pPr marL="342900" indent="-342900" algn="l" rtl="0" fontAlgn="base">
        <a:spcBef>
          <a:spcPct val="20000"/>
        </a:spcBef>
        <a:spcAft>
          <a:spcPct val="0"/>
        </a:spcAft>
        <a:buChar char="•"/>
        <a:defRPr sz="3200" b="1">
          <a:solidFill>
            <a:schemeClr val="tx1"/>
          </a:solidFill>
          <a:latin typeface="+mn-lt"/>
          <a:ea typeface="黑体" panose="02010609060101010101" pitchFamily="49" charset="-122"/>
          <a:cs typeface="+mn-cs"/>
        </a:defRPr>
      </a:lvl1pPr>
      <a:lvl2pPr marL="742950" indent="-285750" algn="l" rtl="0" fontAlgn="base">
        <a:spcBef>
          <a:spcPct val="20000"/>
        </a:spcBef>
        <a:spcAft>
          <a:spcPct val="0"/>
        </a:spcAft>
        <a:buChar char="–"/>
        <a:defRPr sz="2800" b="1">
          <a:solidFill>
            <a:schemeClr val="tx1"/>
          </a:solidFill>
          <a:latin typeface="+mn-lt"/>
          <a:ea typeface="黑体" panose="02010609060101010101" pitchFamily="49" charset="-122"/>
        </a:defRPr>
      </a:lvl2pPr>
      <a:lvl3pPr marL="1143000" indent="-228600" algn="l" rtl="0" fontAlgn="base">
        <a:spcBef>
          <a:spcPct val="20000"/>
        </a:spcBef>
        <a:spcAft>
          <a:spcPct val="0"/>
        </a:spcAft>
        <a:buChar char="•"/>
        <a:defRPr sz="2400" b="1">
          <a:solidFill>
            <a:schemeClr val="tx1"/>
          </a:solidFill>
          <a:latin typeface="+mn-lt"/>
          <a:ea typeface="黑体" panose="02010609060101010101" pitchFamily="49" charset="-122"/>
        </a:defRPr>
      </a:lvl3pPr>
      <a:lvl4pPr marL="1600200" indent="-228600" algn="l" rtl="0" fontAlgn="base">
        <a:spcBef>
          <a:spcPct val="20000"/>
        </a:spcBef>
        <a:spcAft>
          <a:spcPct val="0"/>
        </a:spcAft>
        <a:buChar char="–"/>
        <a:defRPr sz="2000" b="1">
          <a:solidFill>
            <a:schemeClr val="tx1"/>
          </a:solidFill>
          <a:latin typeface="+mn-lt"/>
          <a:ea typeface="黑体" panose="02010609060101010101" pitchFamily="49" charset="-122"/>
        </a:defRPr>
      </a:lvl4pPr>
      <a:lvl5pPr marL="2057400" indent="-228600" algn="l" rtl="0" fontAlgn="base">
        <a:spcBef>
          <a:spcPct val="20000"/>
        </a:spcBef>
        <a:spcAft>
          <a:spcPct val="0"/>
        </a:spcAft>
        <a:buChar char="»"/>
        <a:defRPr sz="2000" b="1">
          <a:solidFill>
            <a:schemeClr val="tx1"/>
          </a:solidFill>
          <a:latin typeface="+mn-lt"/>
          <a:ea typeface="黑体" panose="02010609060101010101" pitchFamily="49" charset="-122"/>
        </a:defRPr>
      </a:lvl5pPr>
      <a:lvl6pPr marL="2514600" indent="-228600" algn="l" rtl="0" fontAlgn="base">
        <a:spcBef>
          <a:spcPct val="20000"/>
        </a:spcBef>
        <a:spcAft>
          <a:spcPct val="0"/>
        </a:spcAft>
        <a:buChar char="»"/>
        <a:defRPr sz="2000" b="1">
          <a:solidFill>
            <a:schemeClr val="tx1"/>
          </a:solidFill>
          <a:latin typeface="+mn-lt"/>
          <a:ea typeface="+mn-ea"/>
        </a:defRPr>
      </a:lvl6pPr>
      <a:lvl7pPr marL="2971800" indent="-228600" algn="l" rtl="0" fontAlgn="base">
        <a:spcBef>
          <a:spcPct val="20000"/>
        </a:spcBef>
        <a:spcAft>
          <a:spcPct val="0"/>
        </a:spcAft>
        <a:buChar char="»"/>
        <a:defRPr sz="2000" b="1">
          <a:solidFill>
            <a:schemeClr val="tx1"/>
          </a:solidFill>
          <a:latin typeface="+mn-lt"/>
          <a:ea typeface="+mn-ea"/>
        </a:defRPr>
      </a:lvl7pPr>
      <a:lvl8pPr marL="3429000" indent="-228600" algn="l" rtl="0" fontAlgn="base">
        <a:spcBef>
          <a:spcPct val="20000"/>
        </a:spcBef>
        <a:spcAft>
          <a:spcPct val="0"/>
        </a:spcAft>
        <a:buChar char="»"/>
        <a:defRPr sz="2000" b="1">
          <a:solidFill>
            <a:schemeClr val="tx1"/>
          </a:solidFill>
          <a:latin typeface="+mn-lt"/>
          <a:ea typeface="+mn-ea"/>
        </a:defRPr>
      </a:lvl8pPr>
      <a:lvl9pPr marL="3886200" indent="-228600" algn="l" rtl="0" fontAlgn="base">
        <a:spcBef>
          <a:spcPct val="20000"/>
        </a:spcBef>
        <a:spcAft>
          <a:spcPct val="0"/>
        </a:spcAft>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xueqingli@tsinghua.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slideLayout" Target="../slideLayouts/slideLayout2.xml"/><Relationship Id="rId7" Type="http://schemas.microsoft.com/office/2007/relationships/hdphoto" Target="../media/hdphoto1.wdp"/><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tiff"/><Relationship Id="rId10" Type="http://schemas.openxmlformats.org/officeDocument/2006/relationships/image" Target="../media/image7.png"/><Relationship Id="rId4" Type="http://schemas.openxmlformats.org/officeDocument/2006/relationships/notesSlide" Target="../notesSlides/notesSlide5.xml"/><Relationship Id="rId9"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12.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2.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12.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6.bin"/><Relationship Id="rId18" Type="http://schemas.openxmlformats.org/officeDocument/2006/relationships/image" Target="../media/image21.emf"/><Relationship Id="rId26" Type="http://schemas.openxmlformats.org/officeDocument/2006/relationships/image" Target="../media/image25.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18.emf"/><Relationship Id="rId17" Type="http://schemas.openxmlformats.org/officeDocument/2006/relationships/oleObject" Target="../embeddings/oleObject8.bin"/><Relationship Id="rId25" Type="http://schemas.openxmlformats.org/officeDocument/2006/relationships/oleObject" Target="../embeddings/oleObject12.bin"/><Relationship Id="rId2" Type="http://schemas.openxmlformats.org/officeDocument/2006/relationships/notesSlide" Target="../notesSlides/notesSlide36.xml"/><Relationship Id="rId16" Type="http://schemas.openxmlformats.org/officeDocument/2006/relationships/image" Target="../media/image20.emf"/><Relationship Id="rId20" Type="http://schemas.openxmlformats.org/officeDocument/2006/relationships/image" Target="../media/image22.emf"/><Relationship Id="rId1" Type="http://schemas.openxmlformats.org/officeDocument/2006/relationships/slideLayout" Target="../slideLayouts/slideLayout2.xml"/><Relationship Id="rId6" Type="http://schemas.openxmlformats.org/officeDocument/2006/relationships/image" Target="../media/image15.emf"/><Relationship Id="rId11" Type="http://schemas.openxmlformats.org/officeDocument/2006/relationships/oleObject" Target="../embeddings/oleObject5.bin"/><Relationship Id="rId24" Type="http://schemas.openxmlformats.org/officeDocument/2006/relationships/image" Target="../media/image24.w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10" Type="http://schemas.openxmlformats.org/officeDocument/2006/relationships/image" Target="../media/image17.wmf"/><Relationship Id="rId19" Type="http://schemas.openxmlformats.org/officeDocument/2006/relationships/oleObject" Target="../embeddings/oleObject9.bin"/><Relationship Id="rId4" Type="http://schemas.openxmlformats.org/officeDocument/2006/relationships/image" Target="../media/image14.emf"/><Relationship Id="rId9" Type="http://schemas.openxmlformats.org/officeDocument/2006/relationships/oleObject" Target="../embeddings/oleObject4.bin"/><Relationship Id="rId14" Type="http://schemas.openxmlformats.org/officeDocument/2006/relationships/image" Target="../media/image19.emf"/><Relationship Id="rId22" Type="http://schemas.openxmlformats.org/officeDocument/2006/relationships/image" Target="../media/image23.emf"/></Relationships>
</file>

<file path=ppt/slides/_rels/slide48.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37.xml"/><Relationship Id="rId1" Type="http://schemas.openxmlformats.org/officeDocument/2006/relationships/slideLayout" Target="../slideLayouts/slideLayout14.xml"/><Relationship Id="rId6" Type="http://schemas.openxmlformats.org/officeDocument/2006/relationships/image" Target="../media/image27.emf"/><Relationship Id="rId5" Type="http://schemas.openxmlformats.org/officeDocument/2006/relationships/oleObject" Target="../embeddings/oleObject14.bin"/><Relationship Id="rId4" Type="http://schemas.openxmlformats.org/officeDocument/2006/relationships/image" Target="../media/image26.emf"/></Relationships>
</file>

<file path=ppt/slides/_rels/slide49.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customXml" Target="../ink/ink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notesSlide" Target="../notesSlides/notesSlide38.xml"/><Relationship Id="rId2" Type="http://schemas.openxmlformats.org/officeDocument/2006/relationships/tags" Target="../tags/tag36.xml"/><Relationship Id="rId16" Type="http://schemas.openxmlformats.org/officeDocument/2006/relationships/slideLayout" Target="../slideLayouts/slideLayout12.xml"/><Relationship Id="rId20" Type="http://schemas.openxmlformats.org/officeDocument/2006/relationships/image" Target="../media/image12.tmp"/><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23.png"/><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46.xml"/><Relationship Id="rId1" Type="http://schemas.openxmlformats.org/officeDocument/2006/relationships/slideLayout" Target="../slideLayouts/slideLayout14.xml"/><Relationship Id="rId6" Type="http://schemas.openxmlformats.org/officeDocument/2006/relationships/image" Target="../media/image30.emf"/><Relationship Id="rId5" Type="http://schemas.openxmlformats.org/officeDocument/2006/relationships/oleObject" Target="../embeddings/oleObject17.bin"/><Relationship Id="rId4" Type="http://schemas.openxmlformats.org/officeDocument/2006/relationships/image" Target="../media/image29.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47.xml"/><Relationship Id="rId1" Type="http://schemas.openxmlformats.org/officeDocument/2006/relationships/slideLayout" Target="../slideLayouts/slideLayout14.xml"/><Relationship Id="rId6" Type="http://schemas.openxmlformats.org/officeDocument/2006/relationships/image" Target="../media/image32.emf"/><Relationship Id="rId5" Type="http://schemas.openxmlformats.org/officeDocument/2006/relationships/oleObject" Target="../embeddings/oleObject19.bin"/><Relationship Id="rId4" Type="http://schemas.openxmlformats.org/officeDocument/2006/relationships/image" Target="../media/image31.e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21.bin"/><Relationship Id="rId4" Type="http://schemas.openxmlformats.org/officeDocument/2006/relationships/image" Target="../media/image33.w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54.xml"/><Relationship Id="rId1" Type="http://schemas.openxmlformats.org/officeDocument/2006/relationships/slideLayout" Target="../slideLayouts/slideLayout6.xml"/><Relationship Id="rId4" Type="http://schemas.openxmlformats.org/officeDocument/2006/relationships/image" Target="../media/image35.e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8" Type="http://schemas.openxmlformats.org/officeDocument/2006/relationships/image" Target="../media/image38.emf"/><Relationship Id="rId13" Type="http://schemas.openxmlformats.org/officeDocument/2006/relationships/image" Target="../media/image42.png"/><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40.wmf"/><Relationship Id="rId2" Type="http://schemas.openxmlformats.org/officeDocument/2006/relationships/notesSlide" Target="../notesSlides/notesSlide56.xml"/><Relationship Id="rId1" Type="http://schemas.openxmlformats.org/officeDocument/2006/relationships/slideLayout" Target="../slideLayouts/slideLayout6.xml"/><Relationship Id="rId6" Type="http://schemas.openxmlformats.org/officeDocument/2006/relationships/image" Target="../media/image37.e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image" Target="../media/image43.png"/><Relationship Id="rId10" Type="http://schemas.openxmlformats.org/officeDocument/2006/relationships/image" Target="../media/image39.emf"/><Relationship Id="rId4" Type="http://schemas.openxmlformats.org/officeDocument/2006/relationships/image" Target="../media/image36.emf"/><Relationship Id="rId9" Type="http://schemas.openxmlformats.org/officeDocument/2006/relationships/oleObject" Target="../embeddings/oleObject26.bin"/><Relationship Id="rId14" Type="http://schemas.openxmlformats.org/officeDocument/2006/relationships/customXml" Target="../ink/ink3.xml"/></Relationships>
</file>

<file path=ppt/slides/_rels/slide69.xml.rels><?xml version="1.0" encoding="UTF-8" standalone="yes"?>
<Relationships xmlns="http://schemas.openxmlformats.org/package/2006/relationships"><Relationship Id="rId8" Type="http://schemas.openxmlformats.org/officeDocument/2006/relationships/image" Target="../media/image52.png"/><Relationship Id="rId7" Type="http://schemas.openxmlformats.org/officeDocument/2006/relationships/image" Target="../media/image51.png"/><Relationship Id="rId2" Type="http://schemas.openxmlformats.org/officeDocument/2006/relationships/notesSlide" Target="../notesSlides/notesSlide57.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37.emf"/><Relationship Id="rId9" Type="http://schemas.openxmlformats.org/officeDocument/2006/relationships/oleObject" Target="../embeddings/oleObject24.bin"/></Relationships>
</file>

<file path=ppt/slides/_rels/slide70.xml.rels><?xml version="1.0" encoding="UTF-8" standalone="yes"?>
<Relationships xmlns="http://schemas.openxmlformats.org/package/2006/relationships"><Relationship Id="rId3" Type="http://schemas.openxmlformats.org/officeDocument/2006/relationships/image" Target="../media/image43.tiff"/><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44.tif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slideLayout" Target="../slideLayouts/slideLayout12.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image" Target="../media/image12.tmp"/><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tags" Target="../tags/tag65.xml"/><Relationship Id="rId10" Type="http://schemas.openxmlformats.org/officeDocument/2006/relationships/tags" Target="../tags/tag60.xml"/><Relationship Id="rId19" Type="http://schemas.openxmlformats.org/officeDocument/2006/relationships/notesSlide" Target="../notesSlides/notesSlide64.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57.png"/><Relationship Id="rId7" Type="http://schemas.openxmlformats.org/officeDocument/2006/relationships/oleObject" Target="../embeddings/oleObject30.bin"/><Relationship Id="rId2" Type="http://schemas.openxmlformats.org/officeDocument/2006/relationships/notesSlide" Target="../notesSlides/notesSlide65.xml"/><Relationship Id="rId1" Type="http://schemas.openxmlformats.org/officeDocument/2006/relationships/slideLayout" Target="../slideLayouts/slideLayout6.xml"/><Relationship Id="rId6" Type="http://schemas.openxmlformats.org/officeDocument/2006/relationships/oleObject" Target="../embeddings/oleObject29.bin"/><Relationship Id="rId5" Type="http://schemas.openxmlformats.org/officeDocument/2006/relationships/image" Target="../media/image45.wmf"/><Relationship Id="rId10" Type="http://schemas.openxmlformats.org/officeDocument/2006/relationships/image" Target="../media/image47.wmf"/><Relationship Id="rId4" Type="http://schemas.openxmlformats.org/officeDocument/2006/relationships/oleObject" Target="../embeddings/oleObject28.bin"/><Relationship Id="rId9" Type="http://schemas.openxmlformats.org/officeDocument/2006/relationships/oleObject" Target="../embeddings/oleObject31.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77.xml"/><Relationship Id="rId1" Type="http://schemas.openxmlformats.org/officeDocument/2006/relationships/slideLayout" Target="../slideLayouts/slideLayout6.xml"/><Relationship Id="rId4" Type="http://schemas.openxmlformats.org/officeDocument/2006/relationships/image" Target="../media/image48.emf"/></Relationships>
</file>

<file path=ppt/slides/_rels/slide9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8.xml"/><Relationship Id="rId1" Type="http://schemas.openxmlformats.org/officeDocument/2006/relationships/slideLayout" Target="../slideLayouts/slideLayout13.xml"/><Relationship Id="rId5" Type="http://schemas.openxmlformats.org/officeDocument/2006/relationships/image" Target="../media/image66.png"/><Relationship Id="rId4" Type="http://schemas.openxmlformats.org/officeDocument/2006/relationships/image" Target="../media/image65.png"/></Relationships>
</file>

<file path=ppt/slides/_rels/slide9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80.xml"/><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69.png"/><Relationship Id="rId4" Type="http://schemas.openxmlformats.org/officeDocument/2006/relationships/image" Target="../media/image49.emf"/></Relationships>
</file>

<file path=ppt/slides/_rels/slide95.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oleObject" Target="../embeddings/oleObject34.bin"/><Relationship Id="rId7" Type="http://schemas.openxmlformats.org/officeDocument/2006/relationships/image" Target="../media/image72.png"/><Relationship Id="rId2" Type="http://schemas.openxmlformats.org/officeDocument/2006/relationships/notesSlide" Target="../notesSlides/notesSlide81.xml"/><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69.png"/><Relationship Id="rId4" Type="http://schemas.openxmlformats.org/officeDocument/2006/relationships/image" Target="../media/image49.e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82.xml"/><Relationship Id="rId1" Type="http://schemas.openxmlformats.org/officeDocument/2006/relationships/slideLayout" Target="../slideLayouts/slideLayout6.xml"/><Relationship Id="rId4" Type="http://schemas.openxmlformats.org/officeDocument/2006/relationships/image" Target="../media/image48.emf"/></Relationships>
</file>

<file path=ppt/slides/_rels/slide97.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slideLayout" Target="../slideLayouts/slideLayout12.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 Type="http://schemas.openxmlformats.org/officeDocument/2006/relationships/tags" Target="../tags/tag69.xml"/><Relationship Id="rId16" Type="http://schemas.openxmlformats.org/officeDocument/2006/relationships/tags" Target="../tags/tag83.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tags" Target="../tags/tag82.xml"/><Relationship Id="rId10" Type="http://schemas.openxmlformats.org/officeDocument/2006/relationships/tags" Target="../tags/tag77.xml"/><Relationship Id="rId19" Type="http://schemas.openxmlformats.org/officeDocument/2006/relationships/image" Target="../media/image12.tmp"/><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0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gray">
          <a:xfrm>
            <a:off x="0" y="3296363"/>
            <a:ext cx="9143999" cy="3312368"/>
          </a:xfrm>
          <a:prstGeom prst="rect">
            <a:avLst/>
          </a:prstGeom>
          <a:noFill/>
          <a:ln w="9525">
            <a:noFill/>
            <a:miter lim="800000"/>
            <a:headEnd/>
            <a:tailEnd/>
          </a:ln>
        </p:spPr>
        <p:txBody>
          <a:bodyPr/>
          <a:lstStyle/>
          <a:p>
            <a:pPr algn="ctr">
              <a:spcBef>
                <a:spcPct val="20000"/>
              </a:spcBef>
              <a:buClr>
                <a:schemeClr val="hlink"/>
              </a:buClr>
              <a:buFont typeface="Wingdings" pitchFamily="2" charset="2"/>
              <a:buNone/>
            </a:pPr>
            <a:r>
              <a:rPr lang="zh-CN" altLang="en-US" sz="3600" dirty="0">
                <a:latin typeface="Verdana" pitchFamily="34" charset="0"/>
                <a:ea typeface="黑体" pitchFamily="2" charset="-122"/>
              </a:rPr>
              <a:t>李学清</a:t>
            </a:r>
            <a:endParaRPr lang="en-US" altLang="zh-CN" sz="3600" dirty="0">
              <a:latin typeface="Verdana" pitchFamily="34" charset="0"/>
              <a:ea typeface="黑体" pitchFamily="2" charset="-122"/>
            </a:endParaRPr>
          </a:p>
          <a:p>
            <a:pPr algn="ctr">
              <a:spcBef>
                <a:spcPct val="20000"/>
              </a:spcBef>
              <a:buClr>
                <a:schemeClr val="hlink"/>
              </a:buClr>
            </a:pPr>
            <a:r>
              <a:rPr lang="en-US" altLang="zh-CN" sz="2400" dirty="0">
                <a:ea typeface="黑体" panose="02010609060101010101" pitchFamily="49" charset="-122"/>
                <a:hlinkClick r:id="rId3">
                  <a:extLst>
                    <a:ext uri="{A12FA001-AC4F-418D-AE19-62706E023703}">
                      <ahyp:hlinkClr xmlns:ahyp="http://schemas.microsoft.com/office/drawing/2018/hyperlinkcolor" val="tx"/>
                    </a:ext>
                  </a:extLst>
                </a:hlinkClick>
              </a:rPr>
              <a:t>xueqingli@tsinghua.edu.cn</a:t>
            </a:r>
            <a:endParaRPr lang="en-US" altLang="zh-CN" sz="2400" dirty="0">
              <a:ea typeface="黑体" panose="02010609060101010101" pitchFamily="49" charset="-122"/>
            </a:endParaRPr>
          </a:p>
          <a:p>
            <a:pPr algn="ctr">
              <a:spcBef>
                <a:spcPct val="20000"/>
              </a:spcBef>
              <a:buClr>
                <a:schemeClr val="hlink"/>
              </a:buClr>
              <a:buFont typeface="Wingdings" pitchFamily="2" charset="2"/>
              <a:buNone/>
            </a:pPr>
            <a:endParaRPr lang="zh-CN" altLang="en-US" sz="2800" dirty="0">
              <a:latin typeface="Verdana" pitchFamily="34" charset="0"/>
              <a:ea typeface="黑体" pitchFamily="2" charset="-122"/>
            </a:endParaRPr>
          </a:p>
          <a:p>
            <a:pPr algn="ctr">
              <a:spcBef>
                <a:spcPct val="20000"/>
              </a:spcBef>
              <a:buClr>
                <a:schemeClr val="hlink"/>
              </a:buClr>
            </a:pPr>
            <a:r>
              <a:rPr lang="en-US" altLang="zh-CN" sz="2800" dirty="0">
                <a:latin typeface="+mn-lt"/>
                <a:ea typeface="黑体" pitchFamily="2" charset="-122"/>
              </a:rPr>
              <a:t>2024</a:t>
            </a:r>
            <a:r>
              <a:rPr lang="zh-CN" altLang="en-US" sz="2800" dirty="0">
                <a:latin typeface="+mn-lt"/>
                <a:ea typeface="黑体" pitchFamily="2" charset="-122"/>
              </a:rPr>
              <a:t>年</a:t>
            </a:r>
            <a:r>
              <a:rPr lang="en-US" altLang="zh-CN" sz="2800" dirty="0">
                <a:latin typeface="+mn-lt"/>
                <a:ea typeface="黑体" pitchFamily="2" charset="-122"/>
              </a:rPr>
              <a:t>3</a:t>
            </a:r>
            <a:r>
              <a:rPr lang="zh-CN" altLang="en-US" sz="2800" dirty="0">
                <a:latin typeface="+mn-lt"/>
                <a:ea typeface="黑体" pitchFamily="2" charset="-122"/>
              </a:rPr>
              <a:t>月</a:t>
            </a:r>
            <a:r>
              <a:rPr lang="en-US" altLang="zh-CN" sz="2800" dirty="0">
                <a:latin typeface="+mn-lt"/>
                <a:ea typeface="黑体" pitchFamily="2" charset="-122"/>
              </a:rPr>
              <a:t>5</a:t>
            </a:r>
            <a:r>
              <a:rPr lang="zh-CN" altLang="en-US" sz="2800" dirty="0">
                <a:latin typeface="+mn-lt"/>
                <a:ea typeface="黑体" pitchFamily="2" charset="-122"/>
              </a:rPr>
              <a:t>日</a:t>
            </a:r>
            <a:endParaRPr lang="en-US" sz="2800" dirty="0">
              <a:latin typeface="+mn-lt"/>
              <a:ea typeface="黑体" pitchFamily="2" charset="-122"/>
            </a:endParaRPr>
          </a:p>
        </p:txBody>
      </p:sp>
      <p:sp>
        <p:nvSpPr>
          <p:cNvPr id="6" name="Rectangle 16">
            <a:extLst>
              <a:ext uri="{FF2B5EF4-FFF2-40B4-BE49-F238E27FC236}">
                <a16:creationId xmlns:a16="http://schemas.microsoft.com/office/drawing/2014/main" id="{6F8B39B3-1E39-0D5B-29D3-FDD831CD57A8}"/>
              </a:ext>
            </a:extLst>
          </p:cNvPr>
          <p:cNvSpPr>
            <a:spLocks noChangeArrowheads="1"/>
          </p:cNvSpPr>
          <p:nvPr/>
        </p:nvSpPr>
        <p:spPr bwMode="auto">
          <a:xfrm>
            <a:off x="0" y="12357"/>
            <a:ext cx="9144000" cy="13420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r>
              <a:rPr lang="zh-CN" altLang="en-US" sz="3600" dirty="0">
                <a:solidFill>
                  <a:schemeClr val="tx2"/>
                </a:solidFill>
                <a:latin typeface="SimHei" panose="02010609060101010101" pitchFamily="49" charset="-122"/>
                <a:ea typeface="SimHei" panose="02010609060101010101" pitchFamily="49" charset="-122"/>
              </a:rPr>
              <a:t>数字逻辑与处理器基础</a:t>
            </a:r>
            <a:endParaRPr lang="en-US" altLang="zh-CN" sz="3600" dirty="0">
              <a:solidFill>
                <a:schemeClr val="tx2"/>
              </a:solidFill>
              <a:latin typeface="SimHei" panose="02010609060101010101" pitchFamily="49" charset="-122"/>
              <a:ea typeface="SimHei" panose="02010609060101010101" pitchFamily="49" charset="-122"/>
            </a:endParaRPr>
          </a:p>
          <a:p>
            <a:pPr algn="ctr"/>
            <a:r>
              <a:rPr lang="en-US" altLang="zh-CN" sz="2000" dirty="0">
                <a:solidFill>
                  <a:schemeClr val="tx2"/>
                </a:solidFill>
                <a:latin typeface="Arial" panose="020B0604020202020204" pitchFamily="34" charset="0"/>
                <a:ea typeface="SimHei" panose="02010609060101010101" pitchFamily="49" charset="-122"/>
                <a:cs typeface="Arial" panose="020B0604020202020204" pitchFamily="34" charset="0"/>
              </a:rPr>
              <a:t>Fundamentals of Digital Logic and Processor</a:t>
            </a:r>
            <a:endParaRPr lang="zh-CN" altLang="en-US" sz="2000" dirty="0">
              <a:solidFill>
                <a:schemeClr val="tx2"/>
              </a:solidFill>
              <a:latin typeface="Arial" panose="020B0604020202020204" pitchFamily="34" charset="0"/>
              <a:ea typeface="SimHei" panose="02010609060101010101" pitchFamily="49" charset="-122"/>
              <a:cs typeface="Arial" panose="020B0604020202020204" pitchFamily="34" charset="0"/>
            </a:endParaRPr>
          </a:p>
        </p:txBody>
      </p:sp>
      <p:sp>
        <p:nvSpPr>
          <p:cNvPr id="7" name="Rectangle 16">
            <a:extLst>
              <a:ext uri="{FF2B5EF4-FFF2-40B4-BE49-F238E27FC236}">
                <a16:creationId xmlns:a16="http://schemas.microsoft.com/office/drawing/2014/main" id="{2ACB6101-4051-0C2F-3839-B0275EB3515C}"/>
              </a:ext>
            </a:extLst>
          </p:cNvPr>
          <p:cNvSpPr>
            <a:spLocks noChangeArrowheads="1"/>
          </p:cNvSpPr>
          <p:nvPr/>
        </p:nvSpPr>
        <p:spPr bwMode="auto">
          <a:xfrm>
            <a:off x="0" y="1484784"/>
            <a:ext cx="9144000" cy="21174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a:r>
              <a:rPr lang="zh-CN" altLang="en-US" sz="4800" dirty="0">
                <a:solidFill>
                  <a:schemeClr val="tx2"/>
                </a:solidFill>
                <a:latin typeface="SimHei" panose="02010609060101010101" pitchFamily="49" charset="-122"/>
                <a:ea typeface="SimHei" panose="02010609060101010101" pitchFamily="49" charset="-122"/>
              </a:rPr>
              <a:t>第二讲 数的表示与布尔代数</a:t>
            </a:r>
            <a:endParaRPr lang="zh-CN" altLang="en-US" sz="3600" dirty="0">
              <a:solidFill>
                <a:schemeClr val="tx2"/>
              </a:solidFill>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4180441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通知、答疑</a:t>
            </a:r>
          </a:p>
        </p:txBody>
      </p:sp>
      <p:sp>
        <p:nvSpPr>
          <p:cNvPr id="3" name="灯片编号占位符 2">
            <a:extLst>
              <a:ext uri="{FF2B5EF4-FFF2-40B4-BE49-F238E27FC236}">
                <a16:creationId xmlns:a16="http://schemas.microsoft.com/office/drawing/2014/main" id="{511518A7-3A56-1833-8ACC-3684C1CEBB91}"/>
              </a:ext>
            </a:extLst>
          </p:cNvPr>
          <p:cNvSpPr>
            <a:spLocks noGrp="1"/>
          </p:cNvSpPr>
          <p:nvPr>
            <p:ph type="sldNum" sz="quarter" idx="12"/>
          </p:nvPr>
        </p:nvSpPr>
        <p:spPr/>
        <p:txBody>
          <a:bodyPr/>
          <a:lstStyle/>
          <a:p>
            <a:fld id="{14659731-6BD7-46E7-8D3C-2F3AC07E20B1}" type="slidenum">
              <a:rPr lang="en-US" altLang="zh-CN" smtClean="0"/>
              <a:pPr/>
              <a:t>2</a:t>
            </a:fld>
            <a:endParaRPr lang="en-US" altLang="zh-CN" dirty="0"/>
          </a:p>
        </p:txBody>
      </p:sp>
      <p:sp>
        <p:nvSpPr>
          <p:cNvPr id="4" name="Rectangle 2"/>
          <p:cNvSpPr>
            <a:spLocks noChangeArrowheads="1"/>
          </p:cNvSpPr>
          <p:nvPr/>
        </p:nvSpPr>
        <p:spPr bwMode="auto">
          <a:xfrm>
            <a:off x="1439652" y="17321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dirty="0">
              <a:ea typeface="黑体" panose="02010609060101010101" pitchFamily="49" charset="-122"/>
            </a:endParaRPr>
          </a:p>
        </p:txBody>
      </p:sp>
      <p:sp>
        <p:nvSpPr>
          <p:cNvPr id="9" name="Rectangle 3">
            <a:extLst>
              <a:ext uri="{FF2B5EF4-FFF2-40B4-BE49-F238E27FC236}">
                <a16:creationId xmlns:a16="http://schemas.microsoft.com/office/drawing/2014/main" id="{C392B252-1743-D749-A5C1-394163B1ED0A}"/>
              </a:ext>
            </a:extLst>
          </p:cNvPr>
          <p:cNvSpPr txBox="1">
            <a:spLocks noChangeArrowheads="1"/>
          </p:cNvSpPr>
          <p:nvPr/>
        </p:nvSpPr>
        <p:spPr bwMode="gray">
          <a:xfrm>
            <a:off x="335178" y="1664813"/>
            <a:ext cx="8229600" cy="47525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a:lnSpc>
                <a:spcPct val="100000"/>
              </a:lnSpc>
              <a:buClrTx/>
              <a:buFont typeface="Wingdings" panose="05000000000000000000" pitchFamily="2" charset="2"/>
              <a:buChar char=""/>
            </a:pPr>
            <a:r>
              <a:rPr lang="zh-CN" altLang="en-US" sz="2800" dirty="0">
                <a:solidFill>
                  <a:schemeClr val="tx1"/>
                </a:solidFill>
                <a:ea typeface="SimHei" panose="02010609060101010101" pitchFamily="49" charset="-122"/>
              </a:rPr>
              <a:t> 后选课的同学</a:t>
            </a:r>
            <a:endParaRPr lang="en-US" altLang="zh-CN" sz="2800" dirty="0">
              <a:solidFill>
                <a:schemeClr val="tx1"/>
              </a:solidFill>
              <a:ea typeface="SimHei" panose="02010609060101010101" pitchFamily="49" charset="-122"/>
            </a:endParaRPr>
          </a:p>
          <a:p>
            <a:pPr lvl="1">
              <a:lnSpc>
                <a:spcPct val="100000"/>
              </a:lnSpc>
              <a:buClrTx/>
              <a:buFont typeface="Arial" panose="020B0604020202020204" pitchFamily="34" charset="0"/>
              <a:buChar char="–"/>
            </a:pPr>
            <a:r>
              <a:rPr lang="zh-CN" altLang="en-US" sz="2400" dirty="0"/>
              <a:t>自学、网络学堂补交第一次作业</a:t>
            </a:r>
            <a:endParaRPr lang="en-US" altLang="zh-CN" sz="2400" dirty="0"/>
          </a:p>
          <a:p>
            <a:pPr>
              <a:lnSpc>
                <a:spcPct val="100000"/>
              </a:lnSpc>
              <a:buClrTx/>
              <a:buFont typeface="Wingdings" panose="05000000000000000000" pitchFamily="2" charset="2"/>
              <a:buChar char=""/>
            </a:pPr>
            <a:r>
              <a:rPr lang="zh-CN" altLang="en-US" sz="2800" dirty="0">
                <a:solidFill>
                  <a:schemeClr val="tx1"/>
                </a:solidFill>
                <a:ea typeface="SimHei" panose="02010609060101010101" pitchFamily="49" charset="-122"/>
              </a:rPr>
              <a:t> 微信</a:t>
            </a:r>
            <a:endParaRPr lang="en-US" altLang="zh-CN" sz="2800" dirty="0">
              <a:solidFill>
                <a:schemeClr val="tx1"/>
              </a:solidFill>
              <a:ea typeface="SimHei" panose="02010609060101010101" pitchFamily="49" charset="-122"/>
            </a:endParaRPr>
          </a:p>
          <a:p>
            <a:pPr lvl="1">
              <a:lnSpc>
                <a:spcPct val="100000"/>
              </a:lnSpc>
              <a:buClrTx/>
              <a:buFont typeface="Arial" panose="020B0604020202020204" pitchFamily="34" charset="0"/>
              <a:buChar char="–"/>
            </a:pPr>
            <a:r>
              <a:rPr lang="zh-CN" altLang="en-US" sz="2400" dirty="0"/>
              <a:t>实名</a:t>
            </a:r>
            <a:endParaRPr lang="en-US" altLang="zh-CN" sz="2400" dirty="0"/>
          </a:p>
          <a:p>
            <a:pPr>
              <a:lnSpc>
                <a:spcPct val="100000"/>
              </a:lnSpc>
              <a:buClrTx/>
              <a:buFont typeface="Wingdings" panose="05000000000000000000" pitchFamily="2" charset="2"/>
              <a:buChar char=""/>
            </a:pPr>
            <a:r>
              <a:rPr lang="zh-CN" altLang="en-US" sz="2800" dirty="0">
                <a:solidFill>
                  <a:schemeClr val="tx1"/>
                </a:solidFill>
                <a:ea typeface="SimHei" panose="02010609060101010101" pitchFamily="49" charset="-122"/>
              </a:rPr>
              <a:t>课程助教</a:t>
            </a:r>
            <a:endParaRPr lang="en-US" altLang="zh-CN" sz="2800" dirty="0">
              <a:solidFill>
                <a:schemeClr val="tx1"/>
              </a:solidFill>
              <a:ea typeface="SimHei" panose="02010609060101010101" pitchFamily="49" charset="-122"/>
            </a:endParaRPr>
          </a:p>
          <a:p>
            <a:pPr lvl="1">
              <a:lnSpc>
                <a:spcPct val="100000"/>
              </a:lnSpc>
              <a:buClrTx/>
              <a:buFont typeface="Arial" panose="020B0604020202020204" pitchFamily="34" charset="0"/>
              <a:buChar char="–"/>
            </a:pPr>
            <a:r>
              <a:rPr lang="zh-CN" altLang="en-US" sz="2400" dirty="0"/>
              <a:t>陈一鸣、王健丰、杜禧瑞、李泰昕</a:t>
            </a:r>
          </a:p>
          <a:p>
            <a:pPr>
              <a:lnSpc>
                <a:spcPct val="100000"/>
              </a:lnSpc>
              <a:buClrTx/>
              <a:buFont typeface="Wingdings" panose="05000000000000000000" pitchFamily="2" charset="2"/>
              <a:buChar char=""/>
            </a:pPr>
            <a:r>
              <a:rPr lang="zh-CN" altLang="en-US" sz="2800" dirty="0">
                <a:solidFill>
                  <a:schemeClr val="tx1"/>
                </a:solidFill>
                <a:ea typeface="SimHei" panose="02010609060101010101" pitchFamily="49" charset="-122"/>
              </a:rPr>
              <a:t>答疑</a:t>
            </a:r>
            <a:endParaRPr lang="en-US" altLang="zh-CN" sz="2800" dirty="0">
              <a:solidFill>
                <a:schemeClr val="tx1"/>
              </a:solidFill>
              <a:ea typeface="SimHei" panose="02010609060101010101" pitchFamily="49" charset="-122"/>
            </a:endParaRPr>
          </a:p>
          <a:p>
            <a:pPr lvl="1">
              <a:lnSpc>
                <a:spcPct val="100000"/>
              </a:lnSpc>
              <a:buClrTx/>
              <a:buFont typeface="Arial" panose="020B0604020202020204" pitchFamily="34" charset="0"/>
              <a:buChar char="–"/>
            </a:pPr>
            <a:r>
              <a:rPr lang="zh-CN" altLang="en-US" sz="2400" dirty="0"/>
              <a:t>周六，</a:t>
            </a:r>
            <a:r>
              <a:rPr lang="en-US" altLang="zh-CN" sz="2400" dirty="0"/>
              <a:t>7pm-9pm</a:t>
            </a:r>
          </a:p>
          <a:p>
            <a:pPr lvl="1">
              <a:lnSpc>
                <a:spcPct val="100000"/>
              </a:lnSpc>
              <a:buClrTx/>
              <a:buFont typeface="Arial" panose="020B0604020202020204" pitchFamily="34" charset="0"/>
              <a:buChar char="–"/>
            </a:pPr>
            <a:r>
              <a:rPr lang="zh-CN" altLang="en-US" sz="2400" dirty="0"/>
              <a:t>罗姆电子工程系馆   </a:t>
            </a:r>
            <a:r>
              <a:rPr lang="en-US" altLang="zh-CN" sz="2400" dirty="0"/>
              <a:t>8-208</a:t>
            </a:r>
          </a:p>
        </p:txBody>
      </p:sp>
    </p:spTree>
    <p:extLst>
      <p:ext uri="{BB962C8B-B14F-4D97-AF65-F5344CB8AC3E}">
        <p14:creationId xmlns:p14="http://schemas.microsoft.com/office/powerpoint/2010/main" val="963810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53C6B-B4FF-534B-A9B0-0B60624F9B38}"/>
              </a:ext>
            </a:extLst>
          </p:cNvPr>
          <p:cNvSpPr>
            <a:spLocks noGrp="1"/>
          </p:cNvSpPr>
          <p:nvPr>
            <p:ph type="title"/>
          </p:nvPr>
        </p:nvSpPr>
        <p:spPr/>
        <p:txBody>
          <a:bodyPr/>
          <a:lstStyle/>
          <a:p>
            <a:r>
              <a:rPr kumimoji="1" lang="zh-CN" altLang="en-US" dirty="0"/>
              <a:t>课程回顾</a:t>
            </a:r>
          </a:p>
        </p:txBody>
      </p:sp>
      <p:sp>
        <p:nvSpPr>
          <p:cNvPr id="3" name="内容占位符 2">
            <a:extLst>
              <a:ext uri="{FF2B5EF4-FFF2-40B4-BE49-F238E27FC236}">
                <a16:creationId xmlns:a16="http://schemas.microsoft.com/office/drawing/2014/main" id="{3EC6B101-2298-5344-B5EF-F38AD650EFE1}"/>
              </a:ext>
            </a:extLst>
          </p:cNvPr>
          <p:cNvSpPr>
            <a:spLocks noGrp="1"/>
          </p:cNvSpPr>
          <p:nvPr>
            <p:ph idx="1"/>
          </p:nvPr>
        </p:nvSpPr>
        <p:spPr>
          <a:xfrm>
            <a:off x="457200" y="1551432"/>
            <a:ext cx="8229600" cy="4829896"/>
          </a:xfrm>
        </p:spPr>
        <p:txBody>
          <a:bodyPr/>
          <a:lstStyle/>
          <a:p>
            <a:pPr lvl="1"/>
            <a:r>
              <a:rPr kumimoji="1" lang="zh-CN" altLang="en-US" sz="2800" dirty="0"/>
              <a:t>为什么</a:t>
            </a:r>
            <a:r>
              <a:rPr kumimoji="1" lang="en-US" altLang="zh-CN" sz="2800" dirty="0"/>
              <a:t>IC</a:t>
            </a:r>
            <a:r>
              <a:rPr kumimoji="1" lang="zh-CN" altLang="en-US" sz="2800" dirty="0"/>
              <a:t>和</a:t>
            </a:r>
            <a:r>
              <a:rPr kumimoji="1" lang="en-US" altLang="zh-CN" sz="2800" dirty="0"/>
              <a:t>CPU</a:t>
            </a:r>
            <a:r>
              <a:rPr kumimoji="1" lang="zh-CN" altLang="en-US" sz="2800" dirty="0"/>
              <a:t>如此重要？有需求</a:t>
            </a:r>
            <a:endParaRPr kumimoji="1" lang="en-US" altLang="zh-CN" sz="2800" dirty="0"/>
          </a:p>
          <a:p>
            <a:pPr lvl="2"/>
            <a:r>
              <a:rPr kumimoji="1" lang="zh-CN" altLang="en-US" sz="2000" b="0" dirty="0"/>
              <a:t>用有限的电路结构解决各式各样的计算</a:t>
            </a:r>
            <a:endParaRPr kumimoji="1" lang="en-US" altLang="zh-CN" sz="2000" b="0" dirty="0"/>
          </a:p>
          <a:p>
            <a:pPr lvl="2"/>
            <a:r>
              <a:rPr kumimoji="1" lang="zh-CN" altLang="en-US" sz="2000" b="0" dirty="0"/>
              <a:t>设计约束和指标需求</a:t>
            </a:r>
            <a:endParaRPr kumimoji="1" lang="en-US" altLang="zh-CN" sz="2000" b="0" dirty="0"/>
          </a:p>
          <a:p>
            <a:pPr lvl="1"/>
            <a:r>
              <a:rPr kumimoji="1" lang="zh-CN" altLang="en-US" sz="2800" dirty="0"/>
              <a:t>如何应对这些需求</a:t>
            </a:r>
            <a:endParaRPr kumimoji="1" lang="en-US" altLang="zh-CN" sz="2800" dirty="0"/>
          </a:p>
          <a:p>
            <a:pPr lvl="2"/>
            <a:r>
              <a:rPr kumimoji="1" lang="zh-CN" altLang="en-US" sz="2000" b="0" dirty="0"/>
              <a:t>数字化、同步化、结构化</a:t>
            </a:r>
            <a:endParaRPr kumimoji="1" lang="en-US" altLang="zh-CN" sz="2000" b="0" dirty="0"/>
          </a:p>
          <a:p>
            <a:pPr lvl="2"/>
            <a:r>
              <a:rPr kumimoji="1" lang="zh-CN" altLang="en-US" sz="2000" b="0" dirty="0"/>
              <a:t>定制硬件和通用软件</a:t>
            </a:r>
            <a:endParaRPr kumimoji="1" lang="en-US" altLang="zh-CN" sz="2000" b="0" dirty="0"/>
          </a:p>
          <a:p>
            <a:pPr lvl="2"/>
            <a:r>
              <a:rPr kumimoji="1" lang="zh-CN" altLang="en-US" sz="2000" b="0" dirty="0"/>
              <a:t>使用</a:t>
            </a:r>
            <a:r>
              <a:rPr kumimoji="1" lang="en-US" altLang="zh-CN" sz="2000" b="0" dirty="0"/>
              <a:t>EDA</a:t>
            </a:r>
            <a:r>
              <a:rPr kumimoji="1" lang="zh-CN" altLang="en-US" sz="2000" b="0" dirty="0"/>
              <a:t>工具</a:t>
            </a:r>
            <a:endParaRPr kumimoji="1" lang="en-US" altLang="zh-CN" sz="2000" b="0" dirty="0"/>
          </a:p>
          <a:p>
            <a:pPr lvl="1"/>
            <a:r>
              <a:rPr kumimoji="1" lang="zh-CN" altLang="en-US" sz="2800" dirty="0"/>
              <a:t>为什么</a:t>
            </a:r>
            <a:r>
              <a:rPr kumimoji="1" lang="en-US" altLang="zh-CN" sz="2800" dirty="0"/>
              <a:t>IC</a:t>
            </a:r>
            <a:r>
              <a:rPr kumimoji="1" lang="zh-CN" altLang="en-US" sz="2800" dirty="0"/>
              <a:t>发展地如此迅猛</a:t>
            </a:r>
            <a:endParaRPr kumimoji="1" lang="en-US" altLang="zh-CN" sz="2800" dirty="0"/>
          </a:p>
          <a:p>
            <a:pPr lvl="2"/>
            <a:r>
              <a:rPr kumimoji="1" lang="zh-CN" altLang="en-US" sz="2000" b="0" dirty="0"/>
              <a:t>摩尔定律，架构创新</a:t>
            </a:r>
            <a:endParaRPr kumimoji="1" lang="en-US" altLang="zh-CN" sz="2000" b="0" dirty="0"/>
          </a:p>
          <a:p>
            <a:pPr lvl="1"/>
            <a:r>
              <a:rPr kumimoji="1" lang="zh-CN" altLang="en-US" sz="2800" dirty="0"/>
              <a:t>课程培养目标</a:t>
            </a:r>
            <a:endParaRPr kumimoji="1" lang="en-US" altLang="zh-CN" sz="2000" dirty="0"/>
          </a:p>
          <a:p>
            <a:pPr lvl="2"/>
            <a:r>
              <a:rPr kumimoji="1" lang="zh-CN" altLang="en-US" sz="2000" b="0" dirty="0"/>
              <a:t>获取知识，掌握技能，实践思想与方法论</a:t>
            </a:r>
            <a:endParaRPr kumimoji="1" lang="en-US" altLang="zh-CN" sz="2000" b="0" dirty="0"/>
          </a:p>
        </p:txBody>
      </p:sp>
      <p:sp>
        <p:nvSpPr>
          <p:cNvPr id="4" name="灯片编号占位符 3">
            <a:extLst>
              <a:ext uri="{FF2B5EF4-FFF2-40B4-BE49-F238E27FC236}">
                <a16:creationId xmlns:a16="http://schemas.microsoft.com/office/drawing/2014/main" id="{1E53930F-AE08-ABC9-AA85-F75E1416BAF2}"/>
              </a:ext>
            </a:extLst>
          </p:cNvPr>
          <p:cNvSpPr>
            <a:spLocks noGrp="1"/>
          </p:cNvSpPr>
          <p:nvPr>
            <p:ph type="sldNum" sz="quarter" idx="12"/>
          </p:nvPr>
        </p:nvSpPr>
        <p:spPr/>
        <p:txBody>
          <a:bodyPr/>
          <a:lstStyle/>
          <a:p>
            <a:fld id="{14659731-6BD7-46E7-8D3C-2F3AC07E20B1}" type="slidenum">
              <a:rPr lang="en-US" altLang="zh-CN" smtClean="0"/>
              <a:pPr/>
              <a:t>3</a:t>
            </a:fld>
            <a:endParaRPr lang="en-US" altLang="zh-CN" dirty="0"/>
          </a:p>
        </p:txBody>
      </p:sp>
    </p:spTree>
    <p:extLst>
      <p:ext uri="{BB962C8B-B14F-4D97-AF65-F5344CB8AC3E}">
        <p14:creationId xmlns:p14="http://schemas.microsoft.com/office/powerpoint/2010/main" val="4147429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4D6CF03-9B07-6A4B-85FB-680FDCDD7B92}"/>
              </a:ext>
            </a:extLst>
          </p:cNvPr>
          <p:cNvSpPr>
            <a:spLocks noGrp="1"/>
          </p:cNvSpPr>
          <p:nvPr>
            <p:ph type="title"/>
          </p:nvPr>
        </p:nvSpPr>
        <p:spPr/>
        <p:txBody>
          <a:bodyPr/>
          <a:lstStyle/>
          <a:p>
            <a:r>
              <a:rPr lang="en-CN" dirty="0"/>
              <a:t>布尔代数的定位</a:t>
            </a:r>
          </a:p>
        </p:txBody>
      </p:sp>
      <p:sp>
        <p:nvSpPr>
          <p:cNvPr id="3" name="Content Placeholder 2">
            <a:extLst>
              <a:ext uri="{FF2B5EF4-FFF2-40B4-BE49-F238E27FC236}">
                <a16:creationId xmlns:a16="http://schemas.microsoft.com/office/drawing/2014/main" id="{65C3FEC0-4990-0140-8007-734FACB7D348}"/>
              </a:ext>
            </a:extLst>
          </p:cNvPr>
          <p:cNvSpPr>
            <a:spLocks noGrp="1"/>
          </p:cNvSpPr>
          <p:nvPr>
            <p:ph idx="1"/>
          </p:nvPr>
        </p:nvSpPr>
        <p:spPr>
          <a:xfrm>
            <a:off x="342591" y="1447800"/>
            <a:ext cx="4049389" cy="4716463"/>
          </a:xfrm>
        </p:spPr>
        <p:txBody>
          <a:bodyPr/>
          <a:lstStyle/>
          <a:p>
            <a:r>
              <a:rPr lang="en-CN" sz="2800"/>
              <a:t>The </a:t>
            </a:r>
            <a:r>
              <a:rPr lang="en-CN" altLang="zh-CN" sz="2800"/>
              <a:t>‘</a:t>
            </a:r>
            <a:r>
              <a:rPr lang="en-CN" sz="2800"/>
              <a:t>big-bang</a:t>
            </a:r>
            <a:r>
              <a:rPr lang="en-CN" sz="2800" dirty="0"/>
              <a:t>’ starts with ‘0’ and ‘1’ </a:t>
            </a:r>
          </a:p>
          <a:p>
            <a:pPr lvl="1"/>
            <a:r>
              <a:rPr lang="en-US" sz="2000" dirty="0"/>
              <a:t>I</a:t>
            </a:r>
            <a:r>
              <a:rPr lang="en-CN" sz="2000" dirty="0"/>
              <a:t>n </a:t>
            </a:r>
            <a:r>
              <a:rPr lang="en-CN" sz="2000" i="1" dirty="0"/>
              <a:t>complementary metal-oxide-semiconductor (CMOS) </a:t>
            </a:r>
            <a:r>
              <a:rPr lang="en-CN" sz="2000" dirty="0"/>
              <a:t>technology</a:t>
            </a:r>
          </a:p>
        </p:txBody>
      </p:sp>
      <p:sp>
        <p:nvSpPr>
          <p:cNvPr id="4" name="灯片编号占位符 3">
            <a:extLst>
              <a:ext uri="{FF2B5EF4-FFF2-40B4-BE49-F238E27FC236}">
                <a16:creationId xmlns:a16="http://schemas.microsoft.com/office/drawing/2014/main" id="{6170A92D-3552-04CD-7F2D-4109CC7ABD90}"/>
              </a:ext>
            </a:extLst>
          </p:cNvPr>
          <p:cNvSpPr>
            <a:spLocks noGrp="1"/>
          </p:cNvSpPr>
          <p:nvPr>
            <p:ph type="sldNum" sz="quarter" idx="12"/>
          </p:nvPr>
        </p:nvSpPr>
        <p:spPr/>
        <p:txBody>
          <a:bodyPr/>
          <a:lstStyle/>
          <a:p>
            <a:fld id="{14659731-6BD7-46E7-8D3C-2F3AC07E20B1}" type="slidenum">
              <a:rPr lang="en-US" altLang="zh-CN" smtClean="0"/>
              <a:pPr/>
              <a:t>4</a:t>
            </a:fld>
            <a:endParaRPr lang="en-US" altLang="zh-CN" dirty="0"/>
          </a:p>
        </p:txBody>
      </p:sp>
      <p:graphicFrame>
        <p:nvGraphicFramePr>
          <p:cNvPr id="2" name="Table 4">
            <a:extLst>
              <a:ext uri="{FF2B5EF4-FFF2-40B4-BE49-F238E27FC236}">
                <a16:creationId xmlns:a16="http://schemas.microsoft.com/office/drawing/2014/main" id="{9D5BFB6E-F4CF-3BF2-159A-06F9ECC9DFA3}"/>
              </a:ext>
            </a:extLst>
          </p:cNvPr>
          <p:cNvGraphicFramePr>
            <a:graphicFrameLocks noGrp="1"/>
          </p:cNvGraphicFramePr>
          <p:nvPr>
            <p:extLst>
              <p:ext uri="{D42A27DB-BD31-4B8C-83A1-F6EECF244321}">
                <p14:modId xmlns:p14="http://schemas.microsoft.com/office/powerpoint/2010/main" val="1635690539"/>
              </p:ext>
            </p:extLst>
          </p:nvPr>
        </p:nvGraphicFramePr>
        <p:xfrm>
          <a:off x="4391980" y="1482388"/>
          <a:ext cx="4049389" cy="5158684"/>
        </p:xfrm>
        <a:graphic>
          <a:graphicData uri="http://schemas.openxmlformats.org/drawingml/2006/table">
            <a:tbl>
              <a:tblPr firstRow="1">
                <a:tableStyleId>{72833802-FEF1-4C79-8D5D-14CF1EAF98D9}</a:tableStyleId>
              </a:tblPr>
              <a:tblGrid>
                <a:gridCol w="772096">
                  <a:extLst>
                    <a:ext uri="{9D8B030D-6E8A-4147-A177-3AD203B41FA5}">
                      <a16:colId xmlns:a16="http://schemas.microsoft.com/office/drawing/2014/main" val="2649625643"/>
                    </a:ext>
                  </a:extLst>
                </a:gridCol>
                <a:gridCol w="723402">
                  <a:extLst>
                    <a:ext uri="{9D8B030D-6E8A-4147-A177-3AD203B41FA5}">
                      <a16:colId xmlns:a16="http://schemas.microsoft.com/office/drawing/2014/main" val="3191345124"/>
                    </a:ext>
                  </a:extLst>
                </a:gridCol>
                <a:gridCol w="2553891">
                  <a:extLst>
                    <a:ext uri="{9D8B030D-6E8A-4147-A177-3AD203B41FA5}">
                      <a16:colId xmlns:a16="http://schemas.microsoft.com/office/drawing/2014/main" val="3013045087"/>
                    </a:ext>
                  </a:extLst>
                </a:gridCol>
              </a:tblGrid>
              <a:tr h="303452">
                <a:tc>
                  <a:txBody>
                    <a:bodyPr/>
                    <a:lstStyle/>
                    <a:p>
                      <a:pPr algn="ctr" fontAlgn="ctr"/>
                      <a:r>
                        <a:rPr lang="zh-CN" altLang="en-US" sz="1800" u="none" strike="noStrike" dirty="0">
                          <a:solidFill>
                            <a:schemeClr val="tx1"/>
                          </a:solidFill>
                          <a:effectLst/>
                          <a:latin typeface="+mn-lt"/>
                          <a:ea typeface="+mn-ea"/>
                        </a:rPr>
                        <a:t>周</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日期</a:t>
                      </a:r>
                      <a:endParaRPr lang="zh-CN" altLang="en-US" sz="1800" b="0" i="0" u="none" strike="noStrike" dirty="0">
                        <a:solidFill>
                          <a:schemeClr val="tx1"/>
                        </a:solidFill>
                        <a:effectLst/>
                        <a:latin typeface="+mn-lt"/>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800" u="none" strike="noStrike" dirty="0">
                          <a:solidFill>
                            <a:schemeClr val="tx1"/>
                          </a:solidFill>
                          <a:effectLst/>
                          <a:latin typeface="+mn-lt"/>
                          <a:ea typeface="+mn-ea"/>
                        </a:rPr>
                        <a:t>暂定主要内容</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24227359"/>
                  </a:ext>
                </a:extLst>
              </a:tr>
              <a:tr h="303452">
                <a:tc>
                  <a:txBody>
                    <a:bodyPr/>
                    <a:lstStyle/>
                    <a:p>
                      <a:pPr algn="ctr">
                        <a:spcAft>
                          <a:spcPts val="0"/>
                        </a:spcAft>
                      </a:pPr>
                      <a:r>
                        <a:rPr lang="en-US" sz="1800" kern="100" dirty="0">
                          <a:effectLst/>
                          <a:latin typeface="+mn-lt"/>
                          <a:ea typeface="+mn-ea"/>
                        </a:rPr>
                        <a:t>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2/2</a:t>
                      </a:r>
                      <a:r>
                        <a:rPr lang="en-US" altLang="zh-CN" sz="1800" kern="100" dirty="0">
                          <a:effectLst/>
                          <a:latin typeface="+mn-lt"/>
                          <a:ea typeface="+mn-ea"/>
                        </a:rPr>
                        <a:t>7</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概论</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8216603"/>
                  </a:ext>
                </a:extLst>
              </a:tr>
              <a:tr h="303452">
                <a:tc>
                  <a:txBody>
                    <a:bodyPr/>
                    <a:lstStyle/>
                    <a:p>
                      <a:pPr algn="ctr">
                        <a:spcAft>
                          <a:spcPts val="0"/>
                        </a:spcAft>
                      </a:pPr>
                      <a:r>
                        <a:rPr lang="en-US" sz="1800" b="1" kern="100" dirty="0">
                          <a:solidFill>
                            <a:srgbClr val="3333FF"/>
                          </a:solidFill>
                          <a:effectLst/>
                          <a:latin typeface="+mn-lt"/>
                          <a:ea typeface="+mn-ea"/>
                        </a:rPr>
                        <a:t>2</a:t>
                      </a:r>
                      <a:endParaRPr lang="en-CN" sz="1800" b="1" kern="100" dirty="0">
                        <a:solidFill>
                          <a:srgbClr val="3333FF"/>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b="1" kern="100" dirty="0">
                          <a:solidFill>
                            <a:srgbClr val="3333FF"/>
                          </a:solidFill>
                          <a:effectLst/>
                          <a:latin typeface="+mn-lt"/>
                          <a:ea typeface="+mn-ea"/>
                        </a:rPr>
                        <a:t>3/5</a:t>
                      </a:r>
                      <a:endParaRPr lang="en-CN" sz="1800" b="1" kern="100" dirty="0">
                        <a:solidFill>
                          <a:srgbClr val="3333FF"/>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US" sz="1800" b="1" kern="100" dirty="0">
                          <a:solidFill>
                            <a:srgbClr val="3333FF"/>
                          </a:solidFill>
                          <a:effectLst/>
                          <a:latin typeface="+mn-lt"/>
                          <a:ea typeface="+mn-ea"/>
                        </a:rPr>
                        <a:t>布尔代数</a:t>
                      </a:r>
                      <a:endParaRPr lang="en-CN" sz="1800" b="1" kern="100" dirty="0">
                        <a:solidFill>
                          <a:srgbClr val="3333FF"/>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2337287"/>
                  </a:ext>
                </a:extLst>
              </a:tr>
              <a:tr h="303452">
                <a:tc>
                  <a:txBody>
                    <a:bodyPr/>
                    <a:lstStyle/>
                    <a:p>
                      <a:pPr algn="ctr">
                        <a:spcAft>
                          <a:spcPts val="0"/>
                        </a:spcAft>
                      </a:pPr>
                      <a:r>
                        <a:rPr lang="en-US" sz="1800" kern="100" dirty="0">
                          <a:effectLst/>
                          <a:latin typeface="+mn-lt"/>
                          <a:ea typeface="+mn-ea"/>
                        </a:rPr>
                        <a:t>3</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3/</a:t>
                      </a:r>
                      <a:r>
                        <a:rPr lang="en-US" altLang="zh-CN" sz="1800" kern="100" dirty="0">
                          <a:effectLst/>
                          <a:latin typeface="+mn-lt"/>
                          <a:ea typeface="+mn-ea"/>
                        </a:rPr>
                        <a:t>12</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组合逻辑</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6521860"/>
                  </a:ext>
                </a:extLst>
              </a:tr>
              <a:tr h="303452">
                <a:tc>
                  <a:txBody>
                    <a:bodyPr/>
                    <a:lstStyle/>
                    <a:p>
                      <a:pPr algn="ctr">
                        <a:spcAft>
                          <a:spcPts val="0"/>
                        </a:spcAft>
                      </a:pPr>
                      <a:r>
                        <a:rPr lang="en-US" sz="1800" kern="100" dirty="0">
                          <a:effectLst/>
                          <a:latin typeface="+mn-lt"/>
                          <a:ea typeface="+mn-ea"/>
                        </a:rPr>
                        <a:t>4</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3/1</a:t>
                      </a:r>
                      <a:r>
                        <a:rPr lang="en-US" altLang="zh-CN" sz="1800" kern="100" dirty="0">
                          <a:effectLst/>
                          <a:latin typeface="+mn-lt"/>
                          <a:ea typeface="+mn-ea"/>
                        </a:rPr>
                        <a:t>9</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时序逻辑</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502044"/>
                  </a:ext>
                </a:extLst>
              </a:tr>
              <a:tr h="303452">
                <a:tc>
                  <a:txBody>
                    <a:bodyPr/>
                    <a:lstStyle/>
                    <a:p>
                      <a:pPr algn="ctr">
                        <a:spcAft>
                          <a:spcPts val="0"/>
                        </a:spcAft>
                      </a:pPr>
                      <a:r>
                        <a:rPr lang="en-US" sz="1800" kern="100" dirty="0">
                          <a:effectLst/>
                          <a:latin typeface="+mn-lt"/>
                          <a:ea typeface="+mn-ea"/>
                        </a:rPr>
                        <a:t>5</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3/2</a:t>
                      </a:r>
                      <a:r>
                        <a:rPr lang="en-US" altLang="zh-CN" sz="1800" kern="100" dirty="0">
                          <a:effectLst/>
                          <a:latin typeface="+mn-lt"/>
                          <a:ea typeface="+mn-ea"/>
                        </a:rPr>
                        <a:t>6</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时序逻辑</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3171284"/>
                  </a:ext>
                </a:extLst>
              </a:tr>
              <a:tr h="303452">
                <a:tc>
                  <a:txBody>
                    <a:bodyPr/>
                    <a:lstStyle/>
                    <a:p>
                      <a:pPr algn="ctr">
                        <a:spcAft>
                          <a:spcPts val="0"/>
                        </a:spcAft>
                      </a:pPr>
                      <a:r>
                        <a:rPr lang="en-US" sz="1800" kern="100" dirty="0">
                          <a:effectLst/>
                          <a:latin typeface="+mn-lt"/>
                          <a:ea typeface="+mn-ea"/>
                        </a:rPr>
                        <a:t>6</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4</a:t>
                      </a:r>
                      <a:r>
                        <a:rPr lang="en-US" sz="1800" kern="100" dirty="0">
                          <a:effectLst/>
                          <a:latin typeface="+mn-lt"/>
                          <a:ea typeface="+mn-ea"/>
                        </a:rPr>
                        <a:t>/2</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计算机指令系统</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9144793"/>
                  </a:ext>
                </a:extLst>
              </a:tr>
              <a:tr h="303452">
                <a:tc>
                  <a:txBody>
                    <a:bodyPr/>
                    <a:lstStyle/>
                    <a:p>
                      <a:pPr marL="0" algn="ctr" defTabSz="914400" rtl="0" eaLnBrk="1" latinLnBrk="0" hangingPunct="1">
                        <a:spcAft>
                          <a:spcPts val="0"/>
                        </a:spcAft>
                      </a:pPr>
                      <a:r>
                        <a:rPr lang="en-US" sz="1800" kern="100" dirty="0">
                          <a:solidFill>
                            <a:schemeClr val="tx1"/>
                          </a:solidFill>
                          <a:effectLst/>
                          <a:latin typeface="+mn-lt"/>
                          <a:ea typeface="+mn-ea"/>
                          <a:cs typeface="+mn-cs"/>
                        </a:rPr>
                        <a:t>7</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spcAft>
                          <a:spcPts val="0"/>
                        </a:spcAft>
                      </a:pPr>
                      <a:r>
                        <a:rPr lang="en-US" sz="1800" kern="100" dirty="0">
                          <a:solidFill>
                            <a:schemeClr val="tx1"/>
                          </a:solidFill>
                          <a:effectLst/>
                          <a:latin typeface="+mn-lt"/>
                          <a:ea typeface="+mn-ea"/>
                          <a:cs typeface="+mn-cs"/>
                        </a:rPr>
                        <a:t>4/</a:t>
                      </a:r>
                      <a:r>
                        <a:rPr lang="en-US" altLang="zh-CN" sz="1800" kern="100" dirty="0">
                          <a:solidFill>
                            <a:schemeClr val="tx1"/>
                          </a:solidFill>
                          <a:effectLst/>
                          <a:latin typeface="+mn-lt"/>
                          <a:ea typeface="+mn-ea"/>
                          <a:cs typeface="+mn-cs"/>
                        </a:rPr>
                        <a:t>9</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mn-lt"/>
                          <a:ea typeface="+mn-ea"/>
                        </a:rPr>
                        <a:t>计算机指令系统</a:t>
                      </a:r>
                      <a:endParaRPr lang="en-CN" altLang="zh-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5838581"/>
                  </a:ext>
                </a:extLst>
              </a:tr>
              <a:tr h="303452">
                <a:tc>
                  <a:txBody>
                    <a:bodyPr/>
                    <a:lstStyle/>
                    <a:p>
                      <a:pPr algn="ctr">
                        <a:spcAft>
                          <a:spcPts val="0"/>
                        </a:spcAft>
                      </a:pPr>
                      <a:r>
                        <a:rPr lang="en-US" sz="1800" kern="100" dirty="0">
                          <a:effectLst/>
                          <a:latin typeface="+mn-lt"/>
                          <a:ea typeface="+mn-ea"/>
                        </a:rPr>
                        <a:t>8</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4/1</a:t>
                      </a:r>
                      <a:r>
                        <a:rPr lang="en-US" altLang="zh-CN" sz="1800" kern="100" dirty="0">
                          <a:solidFill>
                            <a:schemeClr val="tx1"/>
                          </a:solidFill>
                          <a:effectLst/>
                          <a:latin typeface="+mn-lt"/>
                          <a:ea typeface="+mn-ea"/>
                        </a:rPr>
                        <a:t>6</a:t>
                      </a:r>
                      <a:endParaRPr lang="en-CN"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mn-lt"/>
                          <a:ea typeface="+mn-ea"/>
                        </a:rPr>
                        <a:t>微处理器</a:t>
                      </a:r>
                      <a:endParaRPr lang="en-CN" altLang="zh-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159880"/>
                  </a:ext>
                </a:extLst>
              </a:tr>
              <a:tr h="303452">
                <a:tc>
                  <a:txBody>
                    <a:bodyPr/>
                    <a:lstStyle/>
                    <a:p>
                      <a:pPr algn="ctr">
                        <a:spcAft>
                          <a:spcPts val="0"/>
                        </a:spcAft>
                      </a:pPr>
                      <a:r>
                        <a:rPr lang="en-US" altLang="zh-CN" sz="1800" b="0" kern="100" dirty="0">
                          <a:solidFill>
                            <a:schemeClr val="tx1"/>
                          </a:solidFill>
                          <a:effectLst/>
                          <a:latin typeface="+mn-lt"/>
                          <a:ea typeface="+mn-ea"/>
                          <a:cs typeface="+mn-cs"/>
                        </a:rPr>
                        <a:t>9</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en-US" sz="1800" b="0" i="0" kern="100" dirty="0" err="1">
                          <a:solidFill>
                            <a:schemeClr val="tx1"/>
                          </a:solidFill>
                          <a:effectLst/>
                          <a:latin typeface="+mn-lt"/>
                          <a:ea typeface="+mn-ea"/>
                        </a:rPr>
                        <a:t>待定</a:t>
                      </a:r>
                      <a:endParaRPr lang="en-CN" sz="1800" b="0" i="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spcAft>
                          <a:spcPts val="0"/>
                        </a:spcAft>
                      </a:pPr>
                      <a:r>
                        <a:rPr lang="en-US" sz="1800" b="0" kern="100" dirty="0" err="1">
                          <a:solidFill>
                            <a:schemeClr val="tx1"/>
                          </a:solidFill>
                          <a:effectLst/>
                          <a:latin typeface="+mn-lt"/>
                          <a:ea typeface="+mn-ea"/>
                          <a:cs typeface="+mn-cs"/>
                        </a:rPr>
                        <a:t>期中考试</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270427551"/>
                  </a:ext>
                </a:extLst>
              </a:tr>
              <a:tr h="303452">
                <a:tc>
                  <a:txBody>
                    <a:bodyPr/>
                    <a:lstStyle/>
                    <a:p>
                      <a:pPr algn="ctr">
                        <a:spcAft>
                          <a:spcPts val="0"/>
                        </a:spcAft>
                      </a:pPr>
                      <a:r>
                        <a:rPr lang="en-US" sz="1800" b="0" kern="100" dirty="0">
                          <a:solidFill>
                            <a:schemeClr val="tx1"/>
                          </a:solidFill>
                          <a:effectLst/>
                          <a:latin typeface="+mn-lt"/>
                          <a:ea typeface="+mn-ea"/>
                          <a:cs typeface="+mn-cs"/>
                        </a:rPr>
                        <a:t>10</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en-US" sz="1800" b="0" i="0" kern="100" dirty="0">
                          <a:solidFill>
                            <a:schemeClr val="tx1"/>
                          </a:solidFill>
                          <a:effectLst/>
                          <a:latin typeface="+mn-lt"/>
                          <a:ea typeface="+mn-ea"/>
                          <a:cs typeface="+mn-cs"/>
                        </a:rPr>
                        <a:t>4/</a:t>
                      </a:r>
                      <a:r>
                        <a:rPr lang="en-US" altLang="zh-CN" sz="1800" b="0" i="0" kern="100" dirty="0">
                          <a:solidFill>
                            <a:schemeClr val="tx1"/>
                          </a:solidFill>
                          <a:effectLst/>
                          <a:latin typeface="+mn-lt"/>
                          <a:ea typeface="+mn-ea"/>
                          <a:cs typeface="+mn-cs"/>
                        </a:rPr>
                        <a:t>30</a:t>
                      </a:r>
                      <a:endParaRPr lang="en-CN" sz="1800" b="0" i="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tc>
                  <a:txBody>
                    <a:bodyPr/>
                    <a:lstStyle/>
                    <a:p>
                      <a:pPr algn="ctr">
                        <a:spcAft>
                          <a:spcPts val="0"/>
                        </a:spcAft>
                      </a:pPr>
                      <a:r>
                        <a:rPr lang="zh-CN" altLang="en-US" sz="1800" b="0" kern="100" dirty="0">
                          <a:solidFill>
                            <a:schemeClr val="tx1"/>
                          </a:solidFill>
                          <a:effectLst/>
                          <a:latin typeface="+mn-lt"/>
                          <a:ea typeface="+mn-ea"/>
                          <a:cs typeface="+mn-cs"/>
                        </a:rPr>
                        <a:t>劳动节放假</a:t>
                      </a:r>
                      <a:endParaRPr lang="en-CN" sz="1800" b="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CCCC"/>
                    </a:solidFill>
                  </a:tcPr>
                </a:tc>
                <a:extLst>
                  <a:ext uri="{0D108BD9-81ED-4DB2-BD59-A6C34878D82A}">
                    <a16:rowId xmlns:a16="http://schemas.microsoft.com/office/drawing/2014/main" val="390011716"/>
                  </a:ext>
                </a:extLst>
              </a:tr>
              <a:tr h="303452">
                <a:tc>
                  <a:txBody>
                    <a:bodyPr/>
                    <a:lstStyle/>
                    <a:p>
                      <a:pPr algn="ctr">
                        <a:spcAft>
                          <a:spcPts val="0"/>
                        </a:spcAft>
                      </a:pPr>
                      <a:r>
                        <a:rPr lang="en-US" sz="1800" kern="100" dirty="0">
                          <a:solidFill>
                            <a:schemeClr val="tx1"/>
                          </a:solidFill>
                          <a:effectLst/>
                          <a:latin typeface="+mn-lt"/>
                          <a:ea typeface="+mn-ea"/>
                          <a:cs typeface="+mn-cs"/>
                        </a:rPr>
                        <a:t>11</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cs typeface="+mn-cs"/>
                        </a:rPr>
                        <a:t>5/</a:t>
                      </a:r>
                      <a:r>
                        <a:rPr lang="en-US" altLang="zh-CN" sz="1800" kern="100" dirty="0">
                          <a:solidFill>
                            <a:schemeClr val="tx1"/>
                          </a:solidFill>
                          <a:effectLst/>
                          <a:latin typeface="+mn-lt"/>
                          <a:ea typeface="+mn-ea"/>
                          <a:cs typeface="+mn-cs"/>
                        </a:rPr>
                        <a:t>7</a:t>
                      </a:r>
                      <a:endParaRPr lang="en-CN" sz="1800" kern="100" dirty="0">
                        <a:solidFill>
                          <a:schemeClr val="tx1"/>
                        </a:solidFill>
                        <a:effectLst/>
                        <a:latin typeface="+mn-lt"/>
                        <a:ea typeface="+mn-ea"/>
                        <a:cs typeface="+mn-cs"/>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mn-lt"/>
                          <a:ea typeface="+mn-ea"/>
                          <a:cs typeface="+mn-cs"/>
                        </a:rPr>
                        <a:t>微处理器</a:t>
                      </a: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0714810"/>
                  </a:ext>
                </a:extLst>
              </a:tr>
              <a:tr h="303452">
                <a:tc>
                  <a:txBody>
                    <a:bodyPr/>
                    <a:lstStyle/>
                    <a:p>
                      <a:pPr algn="ctr">
                        <a:spcAft>
                          <a:spcPts val="0"/>
                        </a:spcAft>
                      </a:pPr>
                      <a:r>
                        <a:rPr lang="en-US" sz="1800" kern="100">
                          <a:effectLst/>
                          <a:latin typeface="+mn-lt"/>
                          <a:ea typeface="+mn-ea"/>
                        </a:rPr>
                        <a:t>12</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solidFill>
                            <a:schemeClr val="tx1"/>
                          </a:solidFill>
                          <a:effectLst/>
                          <a:latin typeface="+mn-lt"/>
                          <a:ea typeface="+mn-ea"/>
                        </a:rPr>
                        <a:t>5/</a:t>
                      </a:r>
                      <a:r>
                        <a:rPr lang="en-US" altLang="zh-CN" sz="1800" kern="100" dirty="0">
                          <a:solidFill>
                            <a:schemeClr val="tx1"/>
                          </a:solidFill>
                          <a:effectLst/>
                          <a:latin typeface="+mn-lt"/>
                          <a:ea typeface="+mn-ea"/>
                        </a:rPr>
                        <a:t>14</a:t>
                      </a:r>
                      <a:endParaRPr lang="en-CN" sz="1800" kern="100" dirty="0">
                        <a:solidFill>
                          <a:schemeClr val="tx1"/>
                        </a:solidFill>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altLang="en-CN" sz="1800" kern="100" dirty="0">
                          <a:effectLst/>
                          <a:latin typeface="+mn-lt"/>
                          <a:ea typeface="+mn-ea"/>
                        </a:rPr>
                        <a:t>微处理器</a:t>
                      </a:r>
                      <a:r>
                        <a:rPr lang="en-US" altLang="zh-CN" sz="1800" kern="100" dirty="0">
                          <a:effectLst/>
                          <a:latin typeface="+mn-lt"/>
                          <a:ea typeface="+mn-ea"/>
                        </a:rPr>
                        <a:t>/</a:t>
                      </a:r>
                      <a:r>
                        <a:rPr lang="zh-CN" altLang="en-US"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6459178"/>
                  </a:ext>
                </a:extLst>
              </a:tr>
              <a:tr h="303452">
                <a:tc>
                  <a:txBody>
                    <a:bodyPr/>
                    <a:lstStyle/>
                    <a:p>
                      <a:pPr algn="ctr">
                        <a:spcAft>
                          <a:spcPts val="0"/>
                        </a:spcAft>
                      </a:pPr>
                      <a:r>
                        <a:rPr lang="en-US" sz="1800" kern="100" dirty="0">
                          <a:effectLst/>
                          <a:latin typeface="+mn-lt"/>
                          <a:ea typeface="+mn-ea"/>
                        </a:rPr>
                        <a:t>13</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5/</a:t>
                      </a:r>
                      <a:r>
                        <a:rPr lang="en-US" altLang="zh-CN" sz="1800" kern="100" dirty="0">
                          <a:effectLst/>
                          <a:latin typeface="+mn-lt"/>
                          <a:ea typeface="+mn-ea"/>
                        </a:rPr>
                        <a:t>21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9920872"/>
                  </a:ext>
                </a:extLst>
              </a:tr>
              <a:tr h="303452">
                <a:tc>
                  <a:txBody>
                    <a:bodyPr/>
                    <a:lstStyle/>
                    <a:p>
                      <a:pPr algn="ctr">
                        <a:spcAft>
                          <a:spcPts val="0"/>
                        </a:spcAft>
                      </a:pPr>
                      <a:r>
                        <a:rPr lang="en-US" sz="1800" kern="100" dirty="0">
                          <a:effectLst/>
                          <a:latin typeface="+mn-lt"/>
                          <a:ea typeface="+mn-ea"/>
                        </a:rPr>
                        <a:t>14</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800" kern="100" dirty="0">
                          <a:effectLst/>
                          <a:latin typeface="+mn-lt"/>
                          <a:ea typeface="+mn-ea"/>
                        </a:rPr>
                        <a:t>5/</a:t>
                      </a:r>
                      <a:r>
                        <a:rPr lang="en-US" altLang="zh-CN" sz="1800" kern="100" dirty="0">
                          <a:effectLst/>
                          <a:latin typeface="+mn-lt"/>
                          <a:ea typeface="+mn-ea"/>
                        </a:rPr>
                        <a:t>28</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流水线</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7062504"/>
                  </a:ext>
                </a:extLst>
              </a:tr>
              <a:tr h="303452">
                <a:tc>
                  <a:txBody>
                    <a:bodyPr/>
                    <a:lstStyle/>
                    <a:p>
                      <a:pPr algn="ctr">
                        <a:spcAft>
                          <a:spcPts val="0"/>
                        </a:spcAft>
                      </a:pPr>
                      <a:r>
                        <a:rPr lang="en-US" sz="1800" kern="100" dirty="0">
                          <a:effectLst/>
                          <a:latin typeface="+mn-lt"/>
                          <a:ea typeface="+mn-ea"/>
                        </a:rPr>
                        <a:t>15</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a:t>
                      </a:r>
                      <a:r>
                        <a:rPr lang="en-US" sz="1800" kern="100" dirty="0">
                          <a:effectLst/>
                          <a:latin typeface="+mn-lt"/>
                          <a:ea typeface="+mn-ea"/>
                        </a:rPr>
                        <a:t>/</a:t>
                      </a:r>
                      <a:r>
                        <a:rPr lang="en-US" altLang="zh-CN" sz="1800" kern="100" dirty="0">
                          <a:effectLst/>
                          <a:latin typeface="+mn-lt"/>
                          <a:ea typeface="+mn-ea"/>
                        </a:rPr>
                        <a:t>4</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存储器</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92450"/>
                  </a:ext>
                </a:extLst>
              </a:tr>
              <a:tr h="303452">
                <a:tc>
                  <a:txBody>
                    <a:bodyPr/>
                    <a:lstStyle/>
                    <a:p>
                      <a:pPr algn="ctr">
                        <a:spcAft>
                          <a:spcPts val="0"/>
                        </a:spcAft>
                      </a:pPr>
                      <a:r>
                        <a:rPr lang="en-US" altLang="zh-CN" sz="1800" kern="100" dirty="0">
                          <a:effectLst/>
                          <a:latin typeface="+mn-lt"/>
                          <a:ea typeface="+mn-ea"/>
                        </a:rPr>
                        <a:t>16</a:t>
                      </a:r>
                      <a:endParaRPr lang="en-CN" sz="1800" kern="10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altLang="zh-CN" sz="1800" kern="100" dirty="0">
                          <a:effectLst/>
                          <a:latin typeface="+mn-lt"/>
                          <a:ea typeface="+mn-ea"/>
                        </a:rPr>
                        <a:t>6/11</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zh-CN" sz="1800" kern="100" dirty="0">
                          <a:effectLst/>
                          <a:latin typeface="+mn-lt"/>
                          <a:ea typeface="+mn-ea"/>
                        </a:rPr>
                        <a:t>存储器</a:t>
                      </a:r>
                      <a:r>
                        <a:rPr lang="en-US" altLang="zh-CN" sz="1800" kern="100" dirty="0">
                          <a:effectLst/>
                          <a:latin typeface="+mn-lt"/>
                          <a:ea typeface="+mn-ea"/>
                        </a:rPr>
                        <a:t>/IO</a:t>
                      </a:r>
                      <a:r>
                        <a:rPr lang="zh-CN" altLang="en-US" sz="1800" kern="100" dirty="0">
                          <a:effectLst/>
                          <a:latin typeface="+mn-lt"/>
                          <a:ea typeface="+mn-ea"/>
                        </a:rPr>
                        <a:t>与总线</a:t>
                      </a:r>
                      <a:r>
                        <a:rPr lang="en-US" altLang="zh-CN" sz="1800" kern="100" dirty="0">
                          <a:effectLst/>
                          <a:latin typeface="+mn-lt"/>
                          <a:ea typeface="+mn-ea"/>
                        </a:rPr>
                        <a:t>/</a:t>
                      </a:r>
                      <a:r>
                        <a:rPr lang="zh-CN" altLang="en-US" sz="1800" kern="100" dirty="0">
                          <a:effectLst/>
                          <a:latin typeface="+mn-lt"/>
                          <a:ea typeface="+mn-ea"/>
                        </a:rPr>
                        <a:t>总结</a:t>
                      </a:r>
                      <a:endParaRPr lang="en-CN" sz="1800" kern="100" dirty="0">
                        <a:effectLst/>
                        <a:latin typeface="+mn-lt"/>
                        <a:ea typeface="+mn-ea"/>
                      </a:endParaRPr>
                    </a:p>
                  </a:txBody>
                  <a:tcPr marL="17780" marR="177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1204958"/>
                  </a:ext>
                </a:extLst>
              </a:tr>
            </a:tbl>
          </a:graphicData>
        </a:graphic>
      </p:graphicFrame>
    </p:spTree>
    <p:extLst>
      <p:ext uri="{BB962C8B-B14F-4D97-AF65-F5344CB8AC3E}">
        <p14:creationId xmlns:p14="http://schemas.microsoft.com/office/powerpoint/2010/main" val="184505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309BA-871D-668C-5930-8F63A814F0EA}"/>
              </a:ext>
            </a:extLst>
          </p:cNvPr>
          <p:cNvSpPr>
            <a:spLocks noGrp="1"/>
          </p:cNvSpPr>
          <p:nvPr>
            <p:ph type="title"/>
          </p:nvPr>
        </p:nvSpPr>
        <p:spPr/>
        <p:txBody>
          <a:bodyPr/>
          <a:lstStyle/>
          <a:p>
            <a:r>
              <a:rPr kumimoji="1" lang="zh-CN" altLang="en-US" dirty="0"/>
              <a:t>本节课目录</a:t>
            </a:r>
          </a:p>
        </p:txBody>
      </p:sp>
      <p:sp>
        <p:nvSpPr>
          <p:cNvPr id="3" name="内容占位符 2">
            <a:extLst>
              <a:ext uri="{FF2B5EF4-FFF2-40B4-BE49-F238E27FC236}">
                <a16:creationId xmlns:a16="http://schemas.microsoft.com/office/drawing/2014/main" id="{0233D71A-28BC-9EF3-A365-EFF9CE09BA82}"/>
              </a:ext>
            </a:extLst>
          </p:cNvPr>
          <p:cNvSpPr>
            <a:spLocks noGrp="1"/>
          </p:cNvSpPr>
          <p:nvPr>
            <p:ph idx="1"/>
          </p:nvPr>
        </p:nvSpPr>
        <p:spPr/>
        <p:txBody>
          <a:bodyPr/>
          <a:lstStyle/>
          <a:p>
            <a:r>
              <a:rPr kumimoji="1" lang="zh-CN" altLang="en-US" dirty="0">
                <a:solidFill>
                  <a:srgbClr val="3333FF"/>
                </a:solidFill>
              </a:rPr>
              <a:t>数的编码与二进制表示</a:t>
            </a:r>
          </a:p>
          <a:p>
            <a:r>
              <a:rPr kumimoji="1" lang="zh-CN" altLang="en-US" dirty="0"/>
              <a:t>算术与函数的布尔代数表示</a:t>
            </a:r>
            <a:endParaRPr kumimoji="1" lang="en-US" altLang="zh-CN" dirty="0"/>
          </a:p>
          <a:p>
            <a:r>
              <a:rPr lang="zh-CN" altLang="en-US" b="1" dirty="0">
                <a:solidFill>
                  <a:srgbClr val="000000"/>
                </a:solidFill>
                <a:latin typeface="黑体" pitchFamily="2" charset="-122"/>
                <a:ea typeface="黑体" pitchFamily="2" charset="-122"/>
              </a:rPr>
              <a:t>布尔表达式的化简</a:t>
            </a:r>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7924AE40-C753-E5A4-F452-1455785A8083}"/>
              </a:ext>
            </a:extLst>
          </p:cNvPr>
          <p:cNvSpPr>
            <a:spLocks noGrp="1"/>
          </p:cNvSpPr>
          <p:nvPr>
            <p:ph type="sldNum" sz="quarter" idx="12"/>
          </p:nvPr>
        </p:nvSpPr>
        <p:spPr/>
        <p:txBody>
          <a:bodyPr/>
          <a:lstStyle/>
          <a:p>
            <a:fld id="{14659731-6BD7-46E7-8D3C-2F3AC07E20B1}" type="slidenum">
              <a:rPr lang="en-US" altLang="zh-CN" smtClean="0"/>
              <a:pPr/>
              <a:t>5</a:t>
            </a:fld>
            <a:endParaRPr lang="en-US" altLang="zh-CN"/>
          </a:p>
        </p:txBody>
      </p:sp>
    </p:spTree>
    <p:extLst>
      <p:ext uri="{BB962C8B-B14F-4D97-AF65-F5344CB8AC3E}">
        <p14:creationId xmlns:p14="http://schemas.microsoft.com/office/powerpoint/2010/main" val="259074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dirty="0"/>
              <a:t>编码和解码</a:t>
            </a:r>
            <a:endParaRPr lang="en-US" altLang="zh-CN" dirty="0"/>
          </a:p>
        </p:txBody>
      </p:sp>
      <p:sp>
        <p:nvSpPr>
          <p:cNvPr id="2" name="灯片编号占位符 1">
            <a:extLst>
              <a:ext uri="{FF2B5EF4-FFF2-40B4-BE49-F238E27FC236}">
                <a16:creationId xmlns:a16="http://schemas.microsoft.com/office/drawing/2014/main" id="{AB45BAC6-704B-A07B-0DCA-9D7ED86D920D}"/>
              </a:ext>
            </a:extLst>
          </p:cNvPr>
          <p:cNvSpPr>
            <a:spLocks noGrp="1"/>
          </p:cNvSpPr>
          <p:nvPr>
            <p:ph type="sldNum" sz="quarter" idx="12"/>
          </p:nvPr>
        </p:nvSpPr>
        <p:spPr/>
        <p:txBody>
          <a:bodyPr/>
          <a:lstStyle/>
          <a:p>
            <a:fld id="{14659731-6BD7-46E7-8D3C-2F3AC07E20B1}" type="slidenum">
              <a:rPr lang="en-US" altLang="zh-CN" smtClean="0"/>
              <a:pPr/>
              <a:t>6</a:t>
            </a:fld>
            <a:endParaRPr lang="en-US" altLang="zh-CN" dirty="0"/>
          </a:p>
        </p:txBody>
      </p:sp>
      <p:sp>
        <p:nvSpPr>
          <p:cNvPr id="3" name="文本框 2">
            <a:extLst>
              <a:ext uri="{FF2B5EF4-FFF2-40B4-BE49-F238E27FC236}">
                <a16:creationId xmlns:a16="http://schemas.microsoft.com/office/drawing/2014/main" id="{31B42BC1-20BE-FF46-9A23-CD30130DC62A}"/>
              </a:ext>
            </a:extLst>
          </p:cNvPr>
          <p:cNvSpPr txBox="1"/>
          <p:nvPr/>
        </p:nvSpPr>
        <p:spPr>
          <a:xfrm>
            <a:off x="7157481" y="6077820"/>
            <a:ext cx="1173637" cy="369332"/>
          </a:xfrm>
          <a:prstGeom prst="rect">
            <a:avLst/>
          </a:prstGeom>
          <a:noFill/>
        </p:spPr>
        <p:txBody>
          <a:bodyPr wrap="square" rtlCol="0">
            <a:spAutoFit/>
          </a:bodyPr>
          <a:lstStyle/>
          <a:p>
            <a:pPr algn="ctr"/>
            <a:r>
              <a:rPr kumimoji="1" lang="en-US" altLang="zh-CN" dirty="0">
                <a:ea typeface="黑体" panose="02010609060101010101" pitchFamily="49" charset="-122"/>
              </a:rPr>
              <a:t>QR code</a:t>
            </a:r>
            <a:endParaRPr kumimoji="1" lang="zh-CN" altLang="en-US" dirty="0">
              <a:ea typeface="黑体" panose="02010609060101010101" pitchFamily="49" charset="-122"/>
            </a:endParaRPr>
          </a:p>
        </p:txBody>
      </p:sp>
      <p:pic>
        <p:nvPicPr>
          <p:cNvPr id="4" name="Picture 3">
            <a:extLst>
              <a:ext uri="{FF2B5EF4-FFF2-40B4-BE49-F238E27FC236}">
                <a16:creationId xmlns:a16="http://schemas.microsoft.com/office/drawing/2014/main" id="{3A122E89-4E18-7846-96D9-E7FEFEC8857B}"/>
              </a:ext>
            </a:extLst>
          </p:cNvPr>
          <p:cNvPicPr>
            <a:picLocks noChangeAspect="1"/>
          </p:cNvPicPr>
          <p:nvPr/>
        </p:nvPicPr>
        <p:blipFill>
          <a:blip r:embed="rId5"/>
          <a:stretch>
            <a:fillRect/>
          </a:stretch>
        </p:blipFill>
        <p:spPr>
          <a:xfrm>
            <a:off x="7181340" y="4893933"/>
            <a:ext cx="1149778" cy="1149778"/>
          </a:xfrm>
          <a:prstGeom prst="rect">
            <a:avLst/>
          </a:prstGeom>
        </p:spPr>
      </p:pic>
      <p:pic>
        <p:nvPicPr>
          <p:cNvPr id="8" name="图片 5">
            <a:extLst>
              <a:ext uri="{FF2B5EF4-FFF2-40B4-BE49-F238E27FC236}">
                <a16:creationId xmlns:a16="http://schemas.microsoft.com/office/drawing/2014/main" id="{2D48A1F3-9C04-A14B-8C95-D27668D9BF25}"/>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l="9154" t="8592" r="8192" b="20124"/>
          <a:stretch/>
        </p:blipFill>
        <p:spPr bwMode="auto">
          <a:xfrm>
            <a:off x="2454233" y="4799866"/>
            <a:ext cx="1620761" cy="137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2">
            <a:extLst>
              <a:ext uri="{FF2B5EF4-FFF2-40B4-BE49-F238E27FC236}">
                <a16:creationId xmlns:a16="http://schemas.microsoft.com/office/drawing/2014/main" id="{A9038472-7400-1443-8555-F38E99E8112D}"/>
              </a:ext>
            </a:extLst>
          </p:cNvPr>
          <p:cNvSpPr txBox="1"/>
          <p:nvPr/>
        </p:nvSpPr>
        <p:spPr>
          <a:xfrm>
            <a:off x="2641589" y="6014779"/>
            <a:ext cx="1286110" cy="369332"/>
          </a:xfrm>
          <a:prstGeom prst="rect">
            <a:avLst/>
          </a:prstGeom>
          <a:noFill/>
        </p:spPr>
        <p:txBody>
          <a:bodyPr wrap="square" rtlCol="0">
            <a:spAutoFit/>
          </a:bodyPr>
          <a:lstStyle/>
          <a:p>
            <a:pPr algn="ctr"/>
            <a:r>
              <a:rPr kumimoji="1" lang="en-US" altLang="zh-CN" dirty="0">
                <a:ea typeface="黑体" panose="02010609060101010101" pitchFamily="49" charset="-122"/>
              </a:rPr>
              <a:t>Bar code</a:t>
            </a:r>
            <a:endParaRPr kumimoji="1" lang="zh-CN" altLang="en-US" dirty="0">
              <a:ea typeface="黑体" panose="02010609060101010101" pitchFamily="49" charset="-122"/>
            </a:endParaRPr>
          </a:p>
        </p:txBody>
      </p:sp>
      <p:sp>
        <p:nvSpPr>
          <p:cNvPr id="5" name="TextBox 4">
            <a:extLst>
              <a:ext uri="{FF2B5EF4-FFF2-40B4-BE49-F238E27FC236}">
                <a16:creationId xmlns:a16="http://schemas.microsoft.com/office/drawing/2014/main" id="{205F317B-6AF2-A54C-8803-D63E1778C0F7}"/>
              </a:ext>
            </a:extLst>
          </p:cNvPr>
          <p:cNvSpPr txBox="1"/>
          <p:nvPr/>
        </p:nvSpPr>
        <p:spPr>
          <a:xfrm>
            <a:off x="819277" y="1569152"/>
            <a:ext cx="2480166" cy="646331"/>
          </a:xfrm>
          <a:prstGeom prst="rect">
            <a:avLst/>
          </a:prstGeom>
          <a:noFill/>
        </p:spPr>
        <p:txBody>
          <a:bodyPr wrap="none" rtlCol="0">
            <a:spAutoFit/>
          </a:bodyPr>
          <a:lstStyle/>
          <a:p>
            <a:pPr algn="ctr"/>
            <a:r>
              <a:rPr lang="zh-CN" altLang="en-US" dirty="0">
                <a:latin typeface="Arial" panose="020B0604020202020204" pitchFamily="34" charset="0"/>
                <a:ea typeface="SimHei" panose="02010609060101010101" pitchFamily="49" charset="-122"/>
                <a:cs typeface="Arial" panose="020B0604020202020204" pitchFamily="34" charset="0"/>
              </a:rPr>
              <a:t>某种信息格式</a:t>
            </a:r>
            <a:endParaRPr lang="en-CN" dirty="0">
              <a:latin typeface="Arial" panose="020B0604020202020204" pitchFamily="34" charset="0"/>
              <a:ea typeface="SimHei" panose="02010609060101010101" pitchFamily="49" charset="-122"/>
              <a:cs typeface="Arial" panose="020B0604020202020204" pitchFamily="34" charset="0"/>
            </a:endParaRPr>
          </a:p>
          <a:p>
            <a:pPr algn="ctr"/>
            <a:r>
              <a:rPr lang="en-CN" dirty="0">
                <a:latin typeface="Arial" panose="020B0604020202020204" pitchFamily="34" charset="0"/>
                <a:ea typeface="SimHei" panose="02010609060101010101" pitchFamily="49" charset="-122"/>
                <a:cs typeface="Arial" panose="020B0604020202020204" pitchFamily="34" charset="0"/>
              </a:rPr>
              <a:t>e.g. </a:t>
            </a:r>
            <a:r>
              <a:rPr lang="zh-CN" altLang="en-US" dirty="0">
                <a:latin typeface="Arial" panose="020B0604020202020204" pitchFamily="34" charset="0"/>
                <a:ea typeface="SimHei" panose="02010609060101010101" pitchFamily="49" charset="-122"/>
                <a:cs typeface="Arial" panose="020B0604020202020204" pitchFamily="34" charset="0"/>
              </a:rPr>
              <a:t>图像、视频、音频</a:t>
            </a:r>
            <a:endParaRPr lang="en-CN" dirty="0">
              <a:latin typeface="Arial" panose="020B0604020202020204" pitchFamily="34" charset="0"/>
              <a:ea typeface="SimHei" panose="02010609060101010101" pitchFamily="49" charset="-122"/>
              <a:cs typeface="Arial" panose="020B0604020202020204" pitchFamily="34" charset="0"/>
            </a:endParaRPr>
          </a:p>
        </p:txBody>
      </p:sp>
      <p:sp>
        <p:nvSpPr>
          <p:cNvPr id="6" name="TextBox 5">
            <a:extLst>
              <a:ext uri="{FF2B5EF4-FFF2-40B4-BE49-F238E27FC236}">
                <a16:creationId xmlns:a16="http://schemas.microsoft.com/office/drawing/2014/main" id="{A7140375-1B71-8A47-AC57-22886EBC38D1}"/>
              </a:ext>
            </a:extLst>
          </p:cNvPr>
          <p:cNvSpPr txBox="1"/>
          <p:nvPr/>
        </p:nvSpPr>
        <p:spPr>
          <a:xfrm>
            <a:off x="5395381" y="1569152"/>
            <a:ext cx="3341310" cy="646331"/>
          </a:xfrm>
          <a:prstGeom prst="rect">
            <a:avLst/>
          </a:prstGeom>
          <a:noFill/>
        </p:spPr>
        <p:txBody>
          <a:bodyPr wrap="square" rtlCol="0">
            <a:spAutoFit/>
          </a:bodyPr>
          <a:lstStyle/>
          <a:p>
            <a:pPr algn="ctr"/>
            <a:r>
              <a:rPr lang="zh-CN" altLang="en-US" dirty="0">
                <a:latin typeface="Arial" panose="020B0604020202020204" pitchFamily="34" charset="0"/>
                <a:ea typeface="SimHei" panose="02010609060101010101" pitchFamily="49" charset="-122"/>
                <a:cs typeface="Arial" panose="020B0604020202020204" pitchFamily="34" charset="0"/>
              </a:rPr>
              <a:t>另一种格式</a:t>
            </a:r>
            <a:br>
              <a:rPr lang="en-CN" dirty="0">
                <a:latin typeface="Arial" panose="020B0604020202020204" pitchFamily="34" charset="0"/>
                <a:ea typeface="SimHei" panose="02010609060101010101" pitchFamily="49" charset="-122"/>
                <a:cs typeface="Arial" panose="020B0604020202020204" pitchFamily="34" charset="0"/>
              </a:rPr>
            </a:br>
            <a:r>
              <a:rPr lang="en-CN" dirty="0">
                <a:latin typeface="Arial" panose="020B0604020202020204" pitchFamily="34" charset="0"/>
                <a:ea typeface="SimHei" panose="02010609060101010101" pitchFamily="49" charset="-122"/>
                <a:cs typeface="Arial" panose="020B0604020202020204" pitchFamily="34" charset="0"/>
              </a:rPr>
              <a:t>e.g. </a:t>
            </a:r>
            <a:r>
              <a:rPr lang="zh-CN" altLang="en-US" dirty="0">
                <a:latin typeface="Arial" panose="020B0604020202020204" pitchFamily="34" charset="0"/>
                <a:ea typeface="SimHei" panose="02010609060101010101" pitchFamily="49" charset="-122"/>
                <a:cs typeface="Arial" panose="020B0604020202020204" pitchFamily="34" charset="0"/>
              </a:rPr>
              <a:t>字符串</a:t>
            </a:r>
            <a:endParaRPr lang="en-CN" dirty="0">
              <a:latin typeface="Arial" panose="020B0604020202020204" pitchFamily="34" charset="0"/>
              <a:ea typeface="SimHei" panose="02010609060101010101" pitchFamily="49" charset="-122"/>
              <a:cs typeface="Arial" panose="020B0604020202020204" pitchFamily="34" charset="0"/>
            </a:endParaRPr>
          </a:p>
        </p:txBody>
      </p:sp>
      <p:pic>
        <p:nvPicPr>
          <p:cNvPr id="79874" name="Picture 2" descr="Image result for dog">
            <a:extLst>
              <a:ext uri="{FF2B5EF4-FFF2-40B4-BE49-F238E27FC236}">
                <a16:creationId xmlns:a16="http://schemas.microsoft.com/office/drawing/2014/main" id="{6648402C-620E-674B-9258-8E306A526C4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46053" y="2670340"/>
            <a:ext cx="1849614" cy="1233076"/>
          </a:xfrm>
          <a:prstGeom prst="rect">
            <a:avLst/>
          </a:prstGeom>
          <a:noFill/>
          <a:extLst>
            <a:ext uri="{909E8E84-426E-40DD-AFC4-6F175D3DCCD1}">
              <a14:hiddenFill xmlns:a14="http://schemas.microsoft.com/office/drawing/2010/main">
                <a:solidFill>
                  <a:srgbClr val="FFFFFF"/>
                </a:solidFill>
              </a14:hiddenFill>
            </a:ext>
          </a:extLst>
        </p:spPr>
      </p:pic>
      <p:pic>
        <p:nvPicPr>
          <p:cNvPr id="79876" name="Picture 4" descr="Image result for 信号与系统">
            <a:extLst>
              <a:ext uri="{FF2B5EF4-FFF2-40B4-BE49-F238E27FC236}">
                <a16:creationId xmlns:a16="http://schemas.microsoft.com/office/drawing/2014/main" id="{0E4F7587-E417-0443-A13E-D5811F076AD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7512" y="4548807"/>
            <a:ext cx="1849614" cy="1840031"/>
          </a:xfrm>
          <a:prstGeom prst="rect">
            <a:avLst/>
          </a:prstGeom>
          <a:noFill/>
          <a:extLst>
            <a:ext uri="{909E8E84-426E-40DD-AFC4-6F175D3DCCD1}">
              <a14:hiddenFill xmlns:a14="http://schemas.microsoft.com/office/drawing/2010/main">
                <a:solidFill>
                  <a:srgbClr val="FFFFFF"/>
                </a:solidFill>
              </a14:hiddenFill>
            </a:ext>
          </a:extLst>
        </p:spPr>
      </p:pic>
      <p:pic>
        <p:nvPicPr>
          <p:cNvPr id="79878" name="Picture 6">
            <a:extLst>
              <a:ext uri="{FF2B5EF4-FFF2-40B4-BE49-F238E27FC236}">
                <a16:creationId xmlns:a16="http://schemas.microsoft.com/office/drawing/2014/main" id="{2BCFB115-1CA8-AB41-907F-2DF1DEA5B70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2308" y="2727078"/>
            <a:ext cx="4572002" cy="1176338"/>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
            <a:extLst>
              <a:ext uri="{FF2B5EF4-FFF2-40B4-BE49-F238E27FC236}">
                <a16:creationId xmlns:a16="http://schemas.microsoft.com/office/drawing/2014/main" id="{AA4C39DC-4E21-C943-A86B-D4D248E1790E}"/>
              </a:ext>
            </a:extLst>
          </p:cNvPr>
          <p:cNvSpPr txBox="1"/>
          <p:nvPr/>
        </p:nvSpPr>
        <p:spPr>
          <a:xfrm>
            <a:off x="5123502" y="3959768"/>
            <a:ext cx="1849614" cy="369332"/>
          </a:xfrm>
          <a:prstGeom prst="rect">
            <a:avLst/>
          </a:prstGeom>
          <a:noFill/>
        </p:spPr>
        <p:txBody>
          <a:bodyPr wrap="square" rtlCol="0">
            <a:spAutoFit/>
          </a:bodyPr>
          <a:lstStyle/>
          <a:p>
            <a:pPr algn="ctr"/>
            <a:r>
              <a:rPr kumimoji="1" lang="en-US" altLang="zh-CN" dirty="0">
                <a:latin typeface="Arial" panose="020B0604020202020204" pitchFamily="34" charset="0"/>
                <a:ea typeface="SimHei" panose="02010609060101010101" pitchFamily="49" charset="-122"/>
                <a:cs typeface="Arial" panose="020B0604020202020204" pitchFamily="34" charset="0"/>
              </a:rPr>
              <a:t>JPEG</a:t>
            </a:r>
            <a:r>
              <a:rPr kumimoji="1" lang="zh-CN" altLang="en-US" dirty="0">
                <a:latin typeface="Arial" panose="020B0604020202020204" pitchFamily="34" charset="0"/>
                <a:ea typeface="SimHei" panose="02010609060101010101" pitchFamily="49" charset="-122"/>
                <a:cs typeface="Arial" panose="020B0604020202020204" pitchFamily="34" charset="0"/>
              </a:rPr>
              <a:t>文件头</a:t>
            </a:r>
          </a:p>
        </p:txBody>
      </p:sp>
      <p:sp>
        <p:nvSpPr>
          <p:cNvPr id="18" name="TextBox 17">
            <a:extLst>
              <a:ext uri="{FF2B5EF4-FFF2-40B4-BE49-F238E27FC236}">
                <a16:creationId xmlns:a16="http://schemas.microsoft.com/office/drawing/2014/main" id="{F1641DAE-EE72-C743-B167-F2C882E6A06C}"/>
              </a:ext>
            </a:extLst>
          </p:cNvPr>
          <p:cNvSpPr txBox="1"/>
          <p:nvPr/>
        </p:nvSpPr>
        <p:spPr>
          <a:xfrm>
            <a:off x="5537671" y="6084004"/>
            <a:ext cx="1326004" cy="369332"/>
          </a:xfrm>
          <a:prstGeom prst="rect">
            <a:avLst/>
          </a:prstGeom>
          <a:noFill/>
        </p:spPr>
        <p:txBody>
          <a:bodyPr wrap="none" rtlCol="0">
            <a:spAutoFit/>
          </a:bodyPr>
          <a:lstStyle/>
          <a:p>
            <a:r>
              <a:rPr lang="en-CN" dirty="0">
                <a:ea typeface="黑体" panose="02010609060101010101" pitchFamily="49" charset="-122"/>
              </a:rPr>
              <a:t>Hello world</a:t>
            </a:r>
          </a:p>
        </p:txBody>
      </p:sp>
      <p:pic>
        <p:nvPicPr>
          <p:cNvPr id="19" name="Audio Recording Feb 27, 2022 at 9:18:52 AM" descr="Audio Recording Feb 27, 2022 at 9:18:52 AM">
            <a:hlinkClick r:id="" action="ppaction://media"/>
            <a:extLst>
              <a:ext uri="{FF2B5EF4-FFF2-40B4-BE49-F238E27FC236}">
                <a16:creationId xmlns:a16="http://schemas.microsoft.com/office/drawing/2014/main" id="{5CC5CBF4-7F90-4547-BB34-072618E2AF9D}"/>
              </a:ext>
            </a:extLst>
          </p:cNvPr>
          <p:cNvPicPr>
            <a:picLocks noChangeAspect="1"/>
          </p:cNvPicPr>
          <p:nvPr>
            <a:audioFile r:link="rId2"/>
            <p:extLst>
              <p:ext uri="{DAA4B4D4-6D71-4841-9C94-3DE7FCFB9230}">
                <p14:media xmlns:p14="http://schemas.microsoft.com/office/powerpoint/2010/main" r:embed="rId1"/>
              </p:ext>
            </p:extLst>
          </p:nvPr>
        </p:nvPicPr>
        <p:blipFill>
          <a:blip r:embed="rId11">
            <a:duotone>
              <a:prstClr val="black"/>
              <a:schemeClr val="accent4">
                <a:tint val="45000"/>
                <a:satMod val="400000"/>
              </a:schemeClr>
            </a:duotone>
          </a:blip>
          <a:stretch>
            <a:fillRect/>
          </a:stretch>
        </p:blipFill>
        <p:spPr>
          <a:xfrm>
            <a:off x="5782586" y="5053490"/>
            <a:ext cx="812800" cy="812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21" name="Group 20">
            <a:extLst>
              <a:ext uri="{FF2B5EF4-FFF2-40B4-BE49-F238E27FC236}">
                <a16:creationId xmlns:a16="http://schemas.microsoft.com/office/drawing/2014/main" id="{2836A2EA-D750-9C47-8D7F-68BC1F22870B}"/>
              </a:ext>
            </a:extLst>
          </p:cNvPr>
          <p:cNvGrpSpPr/>
          <p:nvPr/>
        </p:nvGrpSpPr>
        <p:grpSpPr>
          <a:xfrm>
            <a:off x="3816641" y="1415452"/>
            <a:ext cx="1800494" cy="485974"/>
            <a:chOff x="3380822" y="1241546"/>
            <a:chExt cx="1800494" cy="485974"/>
          </a:xfrm>
        </p:grpSpPr>
        <p:sp>
          <p:nvSpPr>
            <p:cNvPr id="22" name="Rectangle 21">
              <a:extLst>
                <a:ext uri="{FF2B5EF4-FFF2-40B4-BE49-F238E27FC236}">
                  <a16:creationId xmlns:a16="http://schemas.microsoft.com/office/drawing/2014/main" id="{AEB471FC-B698-9445-87C0-7A24043134A2}"/>
                </a:ext>
              </a:extLst>
            </p:cNvPr>
            <p:cNvSpPr/>
            <p:nvPr/>
          </p:nvSpPr>
          <p:spPr>
            <a:xfrm>
              <a:off x="3380822" y="1241546"/>
              <a:ext cx="1800494" cy="369332"/>
            </a:xfrm>
            <a:prstGeom prst="rect">
              <a:avLst/>
            </a:prstGeom>
          </p:spPr>
          <p:txBody>
            <a:bodyPr wrap="none">
              <a:spAutoFit/>
            </a:bodyPr>
            <a:lstStyle/>
            <a:p>
              <a:pPr algn="ctr"/>
              <a:r>
                <a:rPr lang="zh-CN" altLang="en-US" dirty="0">
                  <a:latin typeface="+mn-lt"/>
                  <a:ea typeface="SimHei" panose="02010609060101010101" pitchFamily="49" charset="-122"/>
                </a:rPr>
                <a:t>编码</a:t>
              </a:r>
              <a:r>
                <a:rPr lang="en-US" altLang="zh-CN" dirty="0">
                  <a:latin typeface="+mn-lt"/>
                  <a:ea typeface="SimHei" panose="02010609060101010101" pitchFamily="49" charset="-122"/>
                </a:rPr>
                <a:t>(Encoding)</a:t>
              </a:r>
              <a:endParaRPr lang="en-CN" dirty="0">
                <a:latin typeface="+mn-lt"/>
                <a:ea typeface="SimHei" panose="02010609060101010101" pitchFamily="49" charset="-122"/>
              </a:endParaRPr>
            </a:p>
          </p:txBody>
        </p:sp>
        <p:sp>
          <p:nvSpPr>
            <p:cNvPr id="23" name="Right Arrow 22">
              <a:extLst>
                <a:ext uri="{FF2B5EF4-FFF2-40B4-BE49-F238E27FC236}">
                  <a16:creationId xmlns:a16="http://schemas.microsoft.com/office/drawing/2014/main" id="{52C9A176-9599-754A-A918-551EF0F400AA}"/>
                </a:ext>
              </a:extLst>
            </p:cNvPr>
            <p:cNvSpPr/>
            <p:nvPr/>
          </p:nvSpPr>
          <p:spPr bwMode="auto">
            <a:xfrm>
              <a:off x="3491880" y="1542854"/>
              <a:ext cx="1687477" cy="18466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mn-lt"/>
                <a:ea typeface="SimHei" panose="02010609060101010101" pitchFamily="49" charset="-122"/>
              </a:endParaRPr>
            </a:p>
          </p:txBody>
        </p:sp>
      </p:grpSp>
      <p:grpSp>
        <p:nvGrpSpPr>
          <p:cNvPr id="24" name="Group 23">
            <a:extLst>
              <a:ext uri="{FF2B5EF4-FFF2-40B4-BE49-F238E27FC236}">
                <a16:creationId xmlns:a16="http://schemas.microsoft.com/office/drawing/2014/main" id="{81F8F0A0-3A18-FE42-A135-D794912EA41B}"/>
              </a:ext>
            </a:extLst>
          </p:cNvPr>
          <p:cNvGrpSpPr/>
          <p:nvPr/>
        </p:nvGrpSpPr>
        <p:grpSpPr>
          <a:xfrm>
            <a:off x="3888649" y="1968788"/>
            <a:ext cx="1800494" cy="481990"/>
            <a:chOff x="3452830" y="1794882"/>
            <a:chExt cx="1800494" cy="481990"/>
          </a:xfrm>
        </p:grpSpPr>
        <p:sp>
          <p:nvSpPr>
            <p:cNvPr id="26" name="Rectangle 25">
              <a:extLst>
                <a:ext uri="{FF2B5EF4-FFF2-40B4-BE49-F238E27FC236}">
                  <a16:creationId xmlns:a16="http://schemas.microsoft.com/office/drawing/2014/main" id="{8E729C6A-CF32-B742-BC1A-A6F697567F3C}"/>
                </a:ext>
              </a:extLst>
            </p:cNvPr>
            <p:cNvSpPr/>
            <p:nvPr/>
          </p:nvSpPr>
          <p:spPr>
            <a:xfrm>
              <a:off x="3452830" y="1907540"/>
              <a:ext cx="1800494" cy="369332"/>
            </a:xfrm>
            <a:prstGeom prst="rect">
              <a:avLst/>
            </a:prstGeom>
          </p:spPr>
          <p:txBody>
            <a:bodyPr wrap="none">
              <a:spAutoFit/>
            </a:bodyPr>
            <a:lstStyle/>
            <a:p>
              <a:pPr algn="ctr"/>
              <a:r>
                <a:rPr lang="zh-CN" altLang="en-US" dirty="0">
                  <a:latin typeface="+mn-lt"/>
                  <a:ea typeface="SimHei" panose="02010609060101010101" pitchFamily="49" charset="-122"/>
                </a:rPr>
                <a:t>解码</a:t>
              </a:r>
              <a:r>
                <a:rPr lang="en-US" altLang="zh-CN" dirty="0">
                  <a:latin typeface="+mn-lt"/>
                  <a:ea typeface="SimHei" panose="02010609060101010101" pitchFamily="49" charset="-122"/>
                </a:rPr>
                <a:t>(Decoding)</a:t>
              </a:r>
              <a:endParaRPr lang="en-CN" dirty="0">
                <a:latin typeface="+mn-lt"/>
                <a:ea typeface="SimHei" panose="02010609060101010101" pitchFamily="49" charset="-122"/>
              </a:endParaRPr>
            </a:p>
          </p:txBody>
        </p:sp>
        <p:sp>
          <p:nvSpPr>
            <p:cNvPr id="27" name="Right Arrow 26">
              <a:extLst>
                <a:ext uri="{FF2B5EF4-FFF2-40B4-BE49-F238E27FC236}">
                  <a16:creationId xmlns:a16="http://schemas.microsoft.com/office/drawing/2014/main" id="{361D9500-1727-7847-BDD6-A78046B03EFE}"/>
                </a:ext>
              </a:extLst>
            </p:cNvPr>
            <p:cNvSpPr/>
            <p:nvPr/>
          </p:nvSpPr>
          <p:spPr bwMode="auto">
            <a:xfrm flipH="1">
              <a:off x="3455876" y="1794882"/>
              <a:ext cx="1687477" cy="18466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mn-lt"/>
                <a:ea typeface="SimHei" panose="02010609060101010101" pitchFamily="49" charset="-122"/>
              </a:endParaRPr>
            </a:p>
          </p:txBody>
        </p:sp>
      </p:grpSp>
    </p:spTree>
    <p:extLst>
      <p:ext uri="{BB962C8B-B14F-4D97-AF65-F5344CB8AC3E}">
        <p14:creationId xmlns:p14="http://schemas.microsoft.com/office/powerpoint/2010/main" val="99934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8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8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mediacall" presetSubtype="0" fill="hold" nodeType="withEffect">
                                  <p:stCondLst>
                                    <p:cond delay="0"/>
                                  </p:stCondLst>
                                  <p:childTnLst>
                                    <p:cmd type="call" cmd="playFrom(0.0)">
                                      <p:cBhvr>
                                        <p:cTn id="34" dur="1728" fill="hold"/>
                                        <p:tgtEl>
                                          <p:spTgt spid="19"/>
                                        </p:tgtEl>
                                      </p:cBhvr>
                                    </p:cmd>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left)">
                                      <p:cBhvr>
                                        <p:cTn id="45" dur="500"/>
                                        <p:tgtEl>
                                          <p:spTgt spid="21"/>
                                        </p:tgtEl>
                                      </p:cBhvr>
                                    </p:animEffect>
                                  </p:childTnLst>
                                </p:cTn>
                              </p:par>
                            </p:childTnLst>
                          </p:cTn>
                        </p:par>
                        <p:par>
                          <p:cTn id="46" fill="hold">
                            <p:stCondLst>
                              <p:cond delay="500"/>
                            </p:stCondLst>
                            <p:childTnLst>
                              <p:par>
                                <p:cTn id="47" presetID="22" presetClass="entr" presetSubtype="2" fill="hold" nodeType="after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right)">
                                      <p:cBhvr>
                                        <p:cTn id="4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50" fill="hold" display="0">
                  <p:stCondLst>
                    <p:cond delay="indefinite"/>
                  </p:stCondLst>
                  <p:endCondLst>
                    <p:cond evt="onStopAudio" delay="0">
                      <p:tgtEl>
                        <p:sldTgt/>
                      </p:tgtEl>
                    </p:cond>
                  </p:endCondLst>
                </p:cTn>
                <p:tgtEl>
                  <p:spTgt spid="19"/>
                </p:tgtEl>
              </p:cMediaNode>
            </p:audio>
          </p:childTnLst>
        </p:cTn>
      </p:par>
    </p:tnLst>
    <p:bldLst>
      <p:bldP spid="3" grpId="0"/>
      <p:bldP spid="9" grpId="0"/>
      <p:bldP spid="5" grpId="0"/>
      <p:bldP spid="6" grpId="0"/>
      <p:bldP spid="25"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a:t>为什么用二元编码</a:t>
            </a:r>
            <a:r>
              <a:rPr lang="en-US" altLang="zh-CN" dirty="0"/>
              <a:t>/</a:t>
            </a:r>
            <a:r>
              <a:rPr lang="zh-CN" altLang="en-US" dirty="0"/>
              <a:t>二进制？</a:t>
            </a:r>
            <a:endParaRPr lang="zh-CN" altLang="en-US" b="1" dirty="0"/>
          </a:p>
        </p:txBody>
      </p:sp>
      <p:sp>
        <p:nvSpPr>
          <p:cNvPr id="33795" name="内容占位符 2"/>
          <p:cNvSpPr>
            <a:spLocks noGrp="1"/>
          </p:cNvSpPr>
          <p:nvPr>
            <p:ph idx="1"/>
          </p:nvPr>
        </p:nvSpPr>
        <p:spPr>
          <a:xfrm>
            <a:off x="431540" y="1494422"/>
            <a:ext cx="8460940" cy="5174938"/>
          </a:xfrm>
        </p:spPr>
        <p:txBody>
          <a:bodyPr/>
          <a:lstStyle/>
          <a:p>
            <a:r>
              <a:rPr lang="en-US" altLang="zh-CN" b="1" dirty="0"/>
              <a:t> </a:t>
            </a:r>
            <a:r>
              <a:rPr lang="zh-CN" altLang="en-US" b="1" dirty="0"/>
              <a:t>容易表示和存储</a:t>
            </a:r>
          </a:p>
          <a:p>
            <a:pPr>
              <a:buFont typeface="Arial" panose="020B0604020202020204" pitchFamily="34" charset="0"/>
              <a:buChar char="–"/>
            </a:pPr>
            <a:r>
              <a:rPr lang="zh-CN" altLang="en-US" sz="2400" dirty="0"/>
              <a:t>只用两种状态</a:t>
            </a:r>
            <a:r>
              <a:rPr lang="en-US" altLang="zh-CN" sz="2400" dirty="0"/>
              <a:t>(‘0’ </a:t>
            </a:r>
            <a:r>
              <a:rPr lang="zh-CN" altLang="en-US" sz="2400" dirty="0"/>
              <a:t>和</a:t>
            </a:r>
            <a:r>
              <a:rPr lang="en-US" altLang="zh-CN" sz="2400" dirty="0"/>
              <a:t> ‘1’) </a:t>
            </a:r>
          </a:p>
          <a:p>
            <a:pPr lvl="1">
              <a:buFont typeface="Arial" panose="020B0604020202020204" pitchFamily="34" charset="0"/>
              <a:buChar char="–"/>
            </a:pPr>
            <a:r>
              <a:rPr lang="zh-CN" altLang="en-US" sz="2000" dirty="0"/>
              <a:t>晶体管的导通表示“</a:t>
            </a:r>
            <a:r>
              <a:rPr lang="en-US" altLang="zh-CN" sz="2000" dirty="0"/>
              <a:t>1</a:t>
            </a:r>
            <a:r>
              <a:rPr lang="zh-CN" altLang="en-US" sz="2000" dirty="0"/>
              <a:t>”， 截止表示“</a:t>
            </a:r>
            <a:r>
              <a:rPr lang="en-US" altLang="zh-CN" sz="2000" dirty="0"/>
              <a:t>0</a:t>
            </a:r>
            <a:r>
              <a:rPr lang="zh-CN" altLang="en-US" sz="2000" dirty="0"/>
              <a:t>”</a:t>
            </a:r>
            <a:endParaRPr lang="en-US" altLang="zh-CN" sz="2000" dirty="0"/>
          </a:p>
          <a:p>
            <a:pPr lvl="1">
              <a:buFont typeface="Arial" panose="020B0604020202020204" pitchFamily="34" charset="0"/>
              <a:buChar char="–"/>
            </a:pPr>
            <a:r>
              <a:rPr lang="zh-CN" altLang="en-US" sz="2000" dirty="0"/>
              <a:t>电位的高表示“</a:t>
            </a:r>
            <a:r>
              <a:rPr lang="en-US" altLang="zh-CN" sz="2000" dirty="0"/>
              <a:t>1</a:t>
            </a:r>
            <a:r>
              <a:rPr lang="zh-CN" altLang="en-US" sz="2000" dirty="0"/>
              <a:t>”，低表示“</a:t>
            </a:r>
            <a:r>
              <a:rPr lang="en-US" altLang="zh-CN" sz="2000" dirty="0"/>
              <a:t>0</a:t>
            </a:r>
            <a:r>
              <a:rPr lang="zh-CN" altLang="en-US" sz="2000" dirty="0"/>
              <a:t>”</a:t>
            </a:r>
            <a:endParaRPr lang="en-US" altLang="zh-CN" sz="2000" dirty="0"/>
          </a:p>
          <a:p>
            <a:pPr marL="457200" lvl="1" indent="0">
              <a:buNone/>
            </a:pPr>
            <a:endParaRPr lang="en-US" altLang="zh-CN" sz="2000" dirty="0"/>
          </a:p>
          <a:p>
            <a:pPr lvl="1">
              <a:buFont typeface="Wingdings" pitchFamily="2" charset="2"/>
              <a:buChar char="ü"/>
            </a:pPr>
            <a:endParaRPr lang="en-US" altLang="zh-CN" sz="2000" dirty="0"/>
          </a:p>
          <a:p>
            <a:pPr>
              <a:buFont typeface="Arial" panose="020B0604020202020204" pitchFamily="34" charset="0"/>
              <a:buChar char="–"/>
            </a:pPr>
            <a:r>
              <a:rPr lang="zh-CN" altLang="en-US" sz="2400" dirty="0"/>
              <a:t>为什么不用十进制？</a:t>
            </a:r>
          </a:p>
        </p:txBody>
      </p:sp>
      <p:sp>
        <p:nvSpPr>
          <p:cNvPr id="2" name="灯片编号占位符 1">
            <a:extLst>
              <a:ext uri="{FF2B5EF4-FFF2-40B4-BE49-F238E27FC236}">
                <a16:creationId xmlns:a16="http://schemas.microsoft.com/office/drawing/2014/main" id="{4C178EC9-702A-5D1E-8DEC-78BF009FBA66}"/>
              </a:ext>
            </a:extLst>
          </p:cNvPr>
          <p:cNvSpPr>
            <a:spLocks noGrp="1"/>
          </p:cNvSpPr>
          <p:nvPr>
            <p:ph type="sldNum" sz="quarter" idx="12"/>
          </p:nvPr>
        </p:nvSpPr>
        <p:spPr/>
        <p:txBody>
          <a:bodyPr/>
          <a:lstStyle/>
          <a:p>
            <a:fld id="{14659731-6BD7-46E7-8D3C-2F3AC07E20B1}" type="slidenum">
              <a:rPr lang="en-US" altLang="zh-CN" smtClean="0"/>
              <a:pPr/>
              <a:t>7</a:t>
            </a:fld>
            <a:endParaRPr lang="en-US" altLang="zh-CN" dirty="0"/>
          </a:p>
        </p:txBody>
      </p:sp>
      <p:sp>
        <p:nvSpPr>
          <p:cNvPr id="6" name="TextBox 5">
            <a:extLst>
              <a:ext uri="{FF2B5EF4-FFF2-40B4-BE49-F238E27FC236}">
                <a16:creationId xmlns:a16="http://schemas.microsoft.com/office/drawing/2014/main" id="{1EEE1C2A-7038-5545-81F9-8742E5FF84C2}"/>
              </a:ext>
            </a:extLst>
          </p:cNvPr>
          <p:cNvSpPr txBox="1"/>
          <p:nvPr/>
        </p:nvSpPr>
        <p:spPr>
          <a:xfrm>
            <a:off x="6346985" y="2384884"/>
            <a:ext cx="2268570" cy="1015663"/>
          </a:xfrm>
          <a:prstGeom prst="rect">
            <a:avLst/>
          </a:prstGeom>
          <a:noFill/>
        </p:spPr>
        <p:txBody>
          <a:bodyPr wrap="none" rtlCol="0">
            <a:spAutoFit/>
          </a:bodyPr>
          <a:lstStyle/>
          <a:p>
            <a:pPr marL="285750" indent="-285750">
              <a:buFont typeface="Arial" panose="020B0604020202020204" pitchFamily="34" charset="0"/>
              <a:buChar char="•"/>
            </a:pPr>
            <a:r>
              <a:rPr lang="zh-CN" altLang="en-US" sz="2000" dirty="0">
                <a:solidFill>
                  <a:srgbClr val="080808"/>
                </a:solidFill>
                <a:latin typeface="+mn-lt"/>
                <a:ea typeface="黑体" pitchFamily="49" charset="-122"/>
              </a:rPr>
              <a:t>材料极化特性</a:t>
            </a:r>
            <a:endParaRPr lang="en-US" altLang="zh-CN" sz="2000" dirty="0">
              <a:solidFill>
                <a:srgbClr val="080808"/>
              </a:solidFill>
              <a:latin typeface="+mn-lt"/>
              <a:ea typeface="黑体" pitchFamily="49" charset="-122"/>
            </a:endParaRPr>
          </a:p>
          <a:p>
            <a:pPr marL="285750" indent="-285750">
              <a:buFont typeface="Arial" panose="020B0604020202020204" pitchFamily="34" charset="0"/>
              <a:buChar char="•"/>
            </a:pPr>
            <a:r>
              <a:rPr lang="zh-CN" altLang="en-US" sz="2000" dirty="0">
                <a:solidFill>
                  <a:srgbClr val="080808"/>
                </a:solidFill>
                <a:latin typeface="+mn-lt"/>
                <a:ea typeface="黑体" pitchFamily="49" charset="-122"/>
              </a:rPr>
              <a:t>磁场、自旋方向</a:t>
            </a:r>
            <a:endParaRPr lang="en-US" altLang="zh-CN" sz="2000" dirty="0">
              <a:solidFill>
                <a:srgbClr val="080808"/>
              </a:solidFill>
              <a:latin typeface="+mn-lt"/>
              <a:ea typeface="黑体" pitchFamily="49" charset="-122"/>
            </a:endParaRPr>
          </a:p>
          <a:p>
            <a:pPr marL="285750" indent="-285750">
              <a:buFont typeface="Arial" panose="020B0604020202020204" pitchFamily="34" charset="0"/>
              <a:buChar char="•"/>
            </a:pPr>
            <a:r>
              <a:rPr lang="en-US" altLang="zh-CN" sz="2000" dirty="0">
                <a:solidFill>
                  <a:srgbClr val="080808"/>
                </a:solidFill>
                <a:latin typeface="+mn-lt"/>
                <a:ea typeface="黑体" pitchFamily="49" charset="-122"/>
              </a:rPr>
              <a:t>……</a:t>
            </a:r>
          </a:p>
        </p:txBody>
      </p:sp>
      <p:pic>
        <p:nvPicPr>
          <p:cNvPr id="7" name="Picture 2" descr="iStock_000096264111_Full">
            <a:extLst>
              <a:ext uri="{FF2B5EF4-FFF2-40B4-BE49-F238E27FC236}">
                <a16:creationId xmlns:a16="http://schemas.microsoft.com/office/drawing/2014/main" id="{17833603-22C8-C24C-87A4-AD9B554306C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631"/>
          <a:stretch/>
        </p:blipFill>
        <p:spPr bwMode="auto">
          <a:xfrm>
            <a:off x="5546499" y="4926244"/>
            <a:ext cx="2890540" cy="131573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375FE7AE-401F-EF48-BB05-C203C79F1196}"/>
              </a:ext>
            </a:extLst>
          </p:cNvPr>
          <p:cNvGrpSpPr/>
          <p:nvPr/>
        </p:nvGrpSpPr>
        <p:grpSpPr>
          <a:xfrm>
            <a:off x="5551890" y="3729651"/>
            <a:ext cx="2890540" cy="1186732"/>
            <a:chOff x="5551890" y="3297603"/>
            <a:chExt cx="2890540" cy="1186732"/>
          </a:xfrm>
        </p:grpSpPr>
        <p:pic>
          <p:nvPicPr>
            <p:cNvPr id="9" name="Picture 4">
              <a:extLst>
                <a:ext uri="{FF2B5EF4-FFF2-40B4-BE49-F238E27FC236}">
                  <a16:creationId xmlns:a16="http://schemas.microsoft.com/office/drawing/2014/main" id="{4F5B3F8E-5876-0D48-9913-45042EB262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1890" y="3297603"/>
              <a:ext cx="2890540" cy="118673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2F12532-B157-E548-B3A2-B82F99ED0400}"/>
                </a:ext>
              </a:extLst>
            </p:cNvPr>
            <p:cNvSpPr txBox="1"/>
            <p:nvPr/>
          </p:nvSpPr>
          <p:spPr>
            <a:xfrm>
              <a:off x="7524835" y="3706303"/>
              <a:ext cx="761747" cy="369332"/>
            </a:xfrm>
            <a:prstGeom prst="rect">
              <a:avLst/>
            </a:prstGeom>
            <a:noFill/>
          </p:spPr>
          <p:txBody>
            <a:bodyPr wrap="none" rtlCol="0">
              <a:spAutoFit/>
            </a:bodyPr>
            <a:lstStyle/>
            <a:p>
              <a:r>
                <a:rPr lang="en-CN" dirty="0">
                  <a:ea typeface="黑体" panose="02010609060101010101" pitchFamily="49" charset="-122"/>
                </a:rPr>
                <a:t>Scale</a:t>
              </a:r>
            </a:p>
          </p:txBody>
        </p:sp>
      </p:grpSp>
    </p:spTree>
    <p:extLst>
      <p:ext uri="{BB962C8B-B14F-4D97-AF65-F5344CB8AC3E}">
        <p14:creationId xmlns:p14="http://schemas.microsoft.com/office/powerpoint/2010/main" val="170066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dirty="0"/>
              <a:t>为什么用二元编码</a:t>
            </a:r>
            <a:r>
              <a:rPr lang="en-US" altLang="zh-CN" dirty="0"/>
              <a:t>/</a:t>
            </a:r>
            <a:r>
              <a:rPr lang="zh-CN" altLang="en-US" dirty="0"/>
              <a:t>二进制？</a:t>
            </a:r>
          </a:p>
        </p:txBody>
      </p:sp>
      <p:sp>
        <p:nvSpPr>
          <p:cNvPr id="34819" name="内容占位符 2"/>
          <p:cNvSpPr>
            <a:spLocks noGrp="1"/>
          </p:cNvSpPr>
          <p:nvPr>
            <p:ph idx="1"/>
          </p:nvPr>
        </p:nvSpPr>
        <p:spPr>
          <a:xfrm>
            <a:off x="457200" y="1448841"/>
            <a:ext cx="8229600" cy="4716463"/>
          </a:xfrm>
        </p:spPr>
        <p:txBody>
          <a:bodyPr/>
          <a:lstStyle/>
          <a:p>
            <a:pPr>
              <a:lnSpc>
                <a:spcPct val="150000"/>
              </a:lnSpc>
              <a:spcBef>
                <a:spcPts val="0"/>
              </a:spcBef>
            </a:pPr>
            <a:r>
              <a:rPr lang="zh-CN" altLang="en-US" b="1" dirty="0"/>
              <a:t>运算简单</a:t>
            </a:r>
          </a:p>
          <a:p>
            <a:pPr>
              <a:lnSpc>
                <a:spcPct val="150000"/>
              </a:lnSpc>
              <a:spcBef>
                <a:spcPts val="0"/>
              </a:spcBef>
              <a:buFont typeface="Arial" panose="020B0604020202020204" pitchFamily="34" charset="0"/>
              <a:buChar char="–"/>
            </a:pPr>
            <a:r>
              <a:rPr lang="zh-CN" altLang="en-US" sz="2400" dirty="0"/>
              <a:t>加法和乘法</a:t>
            </a:r>
            <a:endParaRPr lang="en-US" altLang="zh-CN" sz="2400" dirty="0"/>
          </a:p>
          <a:p>
            <a:pPr lvl="1">
              <a:lnSpc>
                <a:spcPct val="150000"/>
              </a:lnSpc>
              <a:spcBef>
                <a:spcPts val="0"/>
              </a:spcBef>
              <a:buFont typeface="Arial" panose="020B0604020202020204" pitchFamily="34" charset="0"/>
              <a:buChar char="–"/>
            </a:pPr>
            <a:r>
              <a:rPr lang="en-US" altLang="zh-CN" sz="2400" dirty="0"/>
              <a:t>0</a:t>
            </a:r>
            <a:r>
              <a:rPr lang="zh-CN" altLang="en-US" sz="2400" dirty="0"/>
              <a:t>＋</a:t>
            </a:r>
            <a:r>
              <a:rPr lang="en-US" altLang="zh-CN" sz="2400" dirty="0"/>
              <a:t>0</a:t>
            </a:r>
            <a:r>
              <a:rPr lang="zh-CN" altLang="en-US" sz="2400" dirty="0"/>
              <a:t>＝</a:t>
            </a:r>
            <a:r>
              <a:rPr lang="en-US" altLang="zh-CN" sz="2400" dirty="0"/>
              <a:t>(0)0</a:t>
            </a:r>
            <a:r>
              <a:rPr lang="zh-CN" altLang="en-US" sz="2400" dirty="0"/>
              <a:t>，</a:t>
            </a:r>
            <a:r>
              <a:rPr lang="en-US" altLang="zh-CN" sz="2400" dirty="0"/>
              <a:t>0</a:t>
            </a:r>
            <a:r>
              <a:rPr lang="zh-CN" altLang="en-US" sz="2400" dirty="0"/>
              <a:t>＋</a:t>
            </a:r>
            <a:r>
              <a:rPr lang="en-US" altLang="zh-CN" sz="2400" dirty="0"/>
              <a:t>1</a:t>
            </a:r>
            <a:r>
              <a:rPr lang="zh-CN" altLang="en-US" sz="2400" dirty="0"/>
              <a:t>＝</a:t>
            </a:r>
            <a:r>
              <a:rPr lang="en-US" altLang="zh-CN" sz="2400" dirty="0"/>
              <a:t>(0)1</a:t>
            </a:r>
            <a:r>
              <a:rPr lang="zh-CN" altLang="en-US" sz="2400" dirty="0"/>
              <a:t>，</a:t>
            </a:r>
            <a:r>
              <a:rPr lang="en-US" altLang="zh-CN" sz="2400" dirty="0"/>
              <a:t>1</a:t>
            </a:r>
            <a:r>
              <a:rPr lang="zh-CN" altLang="en-US" sz="2400" dirty="0"/>
              <a:t>＋</a:t>
            </a:r>
            <a:r>
              <a:rPr lang="en-US" altLang="zh-CN" sz="2400" dirty="0"/>
              <a:t>1</a:t>
            </a:r>
            <a:r>
              <a:rPr lang="zh-CN" altLang="en-US" sz="2400" dirty="0"/>
              <a:t>＝</a:t>
            </a:r>
            <a:r>
              <a:rPr lang="en-US" altLang="zh-CN" sz="2400" dirty="0"/>
              <a:t>(1)0</a:t>
            </a:r>
          </a:p>
          <a:p>
            <a:pPr lvl="1">
              <a:lnSpc>
                <a:spcPct val="150000"/>
              </a:lnSpc>
              <a:spcBef>
                <a:spcPts val="0"/>
              </a:spcBef>
              <a:buFont typeface="Arial" panose="020B0604020202020204" pitchFamily="34" charset="0"/>
              <a:buChar char="–"/>
            </a:pPr>
            <a:r>
              <a:rPr lang="en-US" altLang="zh-CN" sz="2400" dirty="0"/>
              <a:t>0×0</a:t>
            </a:r>
            <a:r>
              <a:rPr lang="zh-CN" altLang="en-US" sz="2400" dirty="0"/>
              <a:t>＝</a:t>
            </a:r>
            <a:r>
              <a:rPr lang="en-US" altLang="zh-CN" sz="2400" dirty="0"/>
              <a:t>0</a:t>
            </a:r>
            <a:r>
              <a:rPr lang="zh-CN" altLang="en-US" sz="2400" dirty="0"/>
              <a:t>，</a:t>
            </a:r>
            <a:r>
              <a:rPr lang="en-US" altLang="zh-CN" sz="2400" dirty="0"/>
              <a:t>0×1</a:t>
            </a:r>
            <a:r>
              <a:rPr lang="zh-CN" altLang="en-US" sz="2400" dirty="0"/>
              <a:t>＝</a:t>
            </a:r>
            <a:r>
              <a:rPr lang="en-US" altLang="zh-CN" sz="2400" dirty="0"/>
              <a:t>0</a:t>
            </a:r>
            <a:r>
              <a:rPr lang="zh-CN" altLang="en-US" sz="2400" dirty="0"/>
              <a:t>，</a:t>
            </a:r>
            <a:r>
              <a:rPr lang="en-US" altLang="zh-CN" sz="2400" dirty="0"/>
              <a:t>1×1</a:t>
            </a:r>
            <a:r>
              <a:rPr lang="zh-CN" altLang="en-US" sz="2400" dirty="0"/>
              <a:t>＝</a:t>
            </a:r>
            <a:r>
              <a:rPr lang="en-US" altLang="zh-CN" sz="2400" dirty="0"/>
              <a:t>1</a:t>
            </a:r>
            <a:endParaRPr lang="en-US" altLang="zh-CN" sz="2000" dirty="0"/>
          </a:p>
          <a:p>
            <a:pPr>
              <a:lnSpc>
                <a:spcPct val="150000"/>
              </a:lnSpc>
              <a:spcBef>
                <a:spcPts val="0"/>
              </a:spcBef>
              <a:buFont typeface="Arial" panose="020B0604020202020204" pitchFamily="34" charset="0"/>
              <a:buChar char="–"/>
            </a:pPr>
            <a:r>
              <a:rPr lang="zh-CN" altLang="en-US" sz="2400" dirty="0"/>
              <a:t>逻辑对应：</a:t>
            </a:r>
            <a:endParaRPr lang="en-US" altLang="zh-CN" sz="2400" dirty="0"/>
          </a:p>
          <a:p>
            <a:pPr lvl="1">
              <a:lnSpc>
                <a:spcPct val="150000"/>
              </a:lnSpc>
              <a:spcBef>
                <a:spcPts val="0"/>
              </a:spcBef>
              <a:buFont typeface="Arial" panose="020B0604020202020204" pitchFamily="34" charset="0"/>
              <a:buChar char="–"/>
            </a:pPr>
            <a:r>
              <a:rPr lang="zh-CN" altLang="en-US" sz="2400" dirty="0"/>
              <a:t>二进制“</a:t>
            </a:r>
            <a:r>
              <a:rPr lang="en-US" altLang="zh-CN" sz="2400" dirty="0"/>
              <a:t>1/0</a:t>
            </a:r>
            <a:r>
              <a:rPr lang="zh-CN" altLang="en-US" sz="2400" dirty="0"/>
              <a:t>”与逻辑值“真</a:t>
            </a:r>
            <a:r>
              <a:rPr lang="en-US" altLang="zh-CN" sz="2400" dirty="0"/>
              <a:t>/</a:t>
            </a:r>
            <a:r>
              <a:rPr lang="zh-CN" altLang="en-US" sz="2400" dirty="0"/>
              <a:t>假”</a:t>
            </a:r>
            <a:endParaRPr lang="en-US" altLang="zh-CN" sz="2400" dirty="0"/>
          </a:p>
        </p:txBody>
      </p:sp>
      <p:sp>
        <p:nvSpPr>
          <p:cNvPr id="2" name="灯片编号占位符 1">
            <a:extLst>
              <a:ext uri="{FF2B5EF4-FFF2-40B4-BE49-F238E27FC236}">
                <a16:creationId xmlns:a16="http://schemas.microsoft.com/office/drawing/2014/main" id="{CC3A2865-139B-7613-1A0B-12B18E2A2D66}"/>
              </a:ext>
            </a:extLst>
          </p:cNvPr>
          <p:cNvSpPr>
            <a:spLocks noGrp="1"/>
          </p:cNvSpPr>
          <p:nvPr>
            <p:ph type="sldNum" sz="quarter" idx="12"/>
          </p:nvPr>
        </p:nvSpPr>
        <p:spPr/>
        <p:txBody>
          <a:bodyPr/>
          <a:lstStyle/>
          <a:p>
            <a:fld id="{14659731-6BD7-46E7-8D3C-2F3AC07E20B1}" type="slidenum">
              <a:rPr lang="en-US" altLang="zh-CN" smtClean="0"/>
              <a:pPr/>
              <a:t>8</a:t>
            </a:fld>
            <a:endParaRPr lang="en-US" altLang="zh-CN" dirty="0"/>
          </a:p>
        </p:txBody>
      </p:sp>
    </p:spTree>
    <p:extLst>
      <p:ext uri="{BB962C8B-B14F-4D97-AF65-F5344CB8AC3E}">
        <p14:creationId xmlns:p14="http://schemas.microsoft.com/office/powerpoint/2010/main" val="2556981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dirty="0"/>
              <a:t>为什么用二元编码</a:t>
            </a:r>
            <a:r>
              <a:rPr lang="en-US" altLang="zh-CN" dirty="0"/>
              <a:t>/</a:t>
            </a:r>
            <a:r>
              <a:rPr lang="zh-CN" altLang="en-US" dirty="0"/>
              <a:t>二进制？</a:t>
            </a:r>
          </a:p>
        </p:txBody>
      </p:sp>
      <p:sp>
        <p:nvSpPr>
          <p:cNvPr id="34819" name="内容占位符 2"/>
          <p:cNvSpPr>
            <a:spLocks noGrp="1"/>
          </p:cNvSpPr>
          <p:nvPr>
            <p:ph idx="1"/>
          </p:nvPr>
        </p:nvSpPr>
        <p:spPr>
          <a:xfrm>
            <a:off x="457200" y="1431114"/>
            <a:ext cx="8229600" cy="4716463"/>
          </a:xfrm>
        </p:spPr>
        <p:txBody>
          <a:bodyPr/>
          <a:lstStyle/>
          <a:p>
            <a:pPr>
              <a:lnSpc>
                <a:spcPct val="150000"/>
              </a:lnSpc>
              <a:spcBef>
                <a:spcPts val="0"/>
              </a:spcBef>
            </a:pPr>
            <a:r>
              <a:rPr lang="zh-CN" altLang="en-US" b="1" dirty="0"/>
              <a:t>传输简单</a:t>
            </a:r>
          </a:p>
          <a:p>
            <a:pPr>
              <a:lnSpc>
                <a:spcPct val="150000"/>
              </a:lnSpc>
              <a:spcBef>
                <a:spcPts val="0"/>
              </a:spcBef>
              <a:buFont typeface="Arial" panose="020B0604020202020204" pitchFamily="34" charset="0"/>
              <a:buChar char="–"/>
            </a:pPr>
            <a:r>
              <a:rPr lang="zh-CN" altLang="en-US" sz="2400" dirty="0"/>
              <a:t>噪音容限高</a:t>
            </a:r>
            <a:r>
              <a:rPr lang="en-US" altLang="zh-CN" sz="2400" dirty="0">
                <a:sym typeface="Wingdings" pitchFamily="2" charset="2"/>
              </a:rPr>
              <a:t></a:t>
            </a:r>
            <a:r>
              <a:rPr lang="zh-CN" altLang="en-US" sz="2400" dirty="0">
                <a:sym typeface="Wingdings" pitchFamily="2" charset="2"/>
              </a:rPr>
              <a:t>可靠性高</a:t>
            </a:r>
            <a:endParaRPr lang="en-US" altLang="zh-CN" sz="2400" dirty="0">
              <a:sym typeface="Wingdings" pitchFamily="2" charset="2"/>
            </a:endParaRPr>
          </a:p>
          <a:p>
            <a:pPr>
              <a:lnSpc>
                <a:spcPct val="150000"/>
              </a:lnSpc>
              <a:spcBef>
                <a:spcPts val="0"/>
              </a:spcBef>
              <a:buFont typeface="Wingdings" pitchFamily="2" charset="2"/>
              <a:buChar char="ü"/>
            </a:pPr>
            <a:endParaRPr lang="en-US" altLang="zh-CN" sz="2400" dirty="0">
              <a:sym typeface="Wingdings" pitchFamily="2" charset="2"/>
            </a:endParaRPr>
          </a:p>
          <a:p>
            <a:pPr>
              <a:lnSpc>
                <a:spcPct val="150000"/>
              </a:lnSpc>
              <a:spcBef>
                <a:spcPts val="0"/>
              </a:spcBef>
              <a:buFont typeface="Wingdings" pitchFamily="2" charset="2"/>
              <a:buChar char="ü"/>
            </a:pPr>
            <a:endParaRPr lang="en-US" altLang="zh-CN" sz="2400" dirty="0"/>
          </a:p>
        </p:txBody>
      </p:sp>
      <p:sp>
        <p:nvSpPr>
          <p:cNvPr id="2" name="灯片编号占位符 1">
            <a:extLst>
              <a:ext uri="{FF2B5EF4-FFF2-40B4-BE49-F238E27FC236}">
                <a16:creationId xmlns:a16="http://schemas.microsoft.com/office/drawing/2014/main" id="{0227FB35-7F21-ADBD-5722-9D5F23825969}"/>
              </a:ext>
            </a:extLst>
          </p:cNvPr>
          <p:cNvSpPr>
            <a:spLocks noGrp="1"/>
          </p:cNvSpPr>
          <p:nvPr>
            <p:ph type="sldNum" sz="quarter" idx="12"/>
          </p:nvPr>
        </p:nvSpPr>
        <p:spPr/>
        <p:txBody>
          <a:bodyPr/>
          <a:lstStyle/>
          <a:p>
            <a:fld id="{14659731-6BD7-46E7-8D3C-2F3AC07E20B1}" type="slidenum">
              <a:rPr lang="en-US" altLang="zh-CN" smtClean="0"/>
              <a:pPr/>
              <a:t>9</a:t>
            </a:fld>
            <a:endParaRPr lang="en-US" altLang="zh-CN" dirty="0"/>
          </a:p>
        </p:txBody>
      </p:sp>
      <p:sp>
        <p:nvSpPr>
          <p:cNvPr id="5" name="TextBox 22">
            <a:extLst>
              <a:ext uri="{FF2B5EF4-FFF2-40B4-BE49-F238E27FC236}">
                <a16:creationId xmlns:a16="http://schemas.microsoft.com/office/drawing/2014/main" id="{3A91F83D-F2D4-46F2-A2E5-D6F216C0AE68}"/>
              </a:ext>
            </a:extLst>
          </p:cNvPr>
          <p:cNvSpPr txBox="1"/>
          <p:nvPr/>
        </p:nvSpPr>
        <p:spPr>
          <a:xfrm>
            <a:off x="899592" y="5685912"/>
            <a:ext cx="4185761" cy="461665"/>
          </a:xfrm>
          <a:prstGeom prst="rect">
            <a:avLst/>
          </a:prstGeom>
          <a:noFill/>
        </p:spPr>
        <p:txBody>
          <a:bodyPr wrap="none" rtlCol="0">
            <a:spAutoFit/>
          </a:bodyPr>
          <a:lstStyle/>
          <a:p>
            <a:r>
              <a:rPr lang="zh-CN" altLang="en-US" sz="2400" dirty="0">
                <a:latin typeface="SimHei" panose="02010609060101010101" pitchFamily="49" charset="-122"/>
                <a:ea typeface="SimHei" panose="02010609060101010101" pitchFamily="49" charset="-122"/>
              </a:rPr>
              <a:t>问题：如何处理噪音的干扰？</a:t>
            </a:r>
            <a:endParaRPr lang="en-CN" sz="2400" dirty="0">
              <a:latin typeface="SimHei" panose="02010609060101010101" pitchFamily="49" charset="-122"/>
              <a:ea typeface="SimHei" panose="02010609060101010101" pitchFamily="49" charset="-122"/>
            </a:endParaRPr>
          </a:p>
        </p:txBody>
      </p:sp>
      <p:cxnSp>
        <p:nvCxnSpPr>
          <p:cNvPr id="15" name="Straight Arrow Connector 25">
            <a:extLst>
              <a:ext uri="{FF2B5EF4-FFF2-40B4-BE49-F238E27FC236}">
                <a16:creationId xmlns:a16="http://schemas.microsoft.com/office/drawing/2014/main" id="{E6742378-195E-4AA4-B7E6-A4E6E45348C8}"/>
              </a:ext>
            </a:extLst>
          </p:cNvPr>
          <p:cNvCxnSpPr>
            <a:cxnSpLocks/>
          </p:cNvCxnSpPr>
          <p:nvPr/>
        </p:nvCxnSpPr>
        <p:spPr bwMode="auto">
          <a:xfrm flipV="1">
            <a:off x="3865692" y="4652927"/>
            <a:ext cx="248054" cy="10682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 name="Straight Connector 15">
            <a:extLst>
              <a:ext uri="{FF2B5EF4-FFF2-40B4-BE49-F238E27FC236}">
                <a16:creationId xmlns:a16="http://schemas.microsoft.com/office/drawing/2014/main" id="{BB18C8D7-388F-1542-83AB-6717471C72A7}"/>
              </a:ext>
            </a:extLst>
          </p:cNvPr>
          <p:cNvCxnSpPr>
            <a:cxnSpLocks/>
          </p:cNvCxnSpPr>
          <p:nvPr/>
        </p:nvCxnSpPr>
        <p:spPr bwMode="auto">
          <a:xfrm>
            <a:off x="1598025" y="4502854"/>
            <a:ext cx="498904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7" name="Triangle 16">
            <a:extLst>
              <a:ext uri="{FF2B5EF4-FFF2-40B4-BE49-F238E27FC236}">
                <a16:creationId xmlns:a16="http://schemas.microsoft.com/office/drawing/2014/main" id="{79278D04-58C4-DF47-91C8-29E862F57FC9}"/>
              </a:ext>
            </a:extLst>
          </p:cNvPr>
          <p:cNvSpPr/>
          <p:nvPr/>
        </p:nvSpPr>
        <p:spPr bwMode="auto">
          <a:xfrm rot="5400000">
            <a:off x="2275241" y="4340643"/>
            <a:ext cx="386401" cy="324423"/>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8" name="Oval 17">
            <a:extLst>
              <a:ext uri="{FF2B5EF4-FFF2-40B4-BE49-F238E27FC236}">
                <a16:creationId xmlns:a16="http://schemas.microsoft.com/office/drawing/2014/main" id="{A533E3C4-2663-BB40-9EC9-5D986D38A914}"/>
              </a:ext>
            </a:extLst>
          </p:cNvPr>
          <p:cNvSpPr/>
          <p:nvPr/>
        </p:nvSpPr>
        <p:spPr bwMode="auto">
          <a:xfrm>
            <a:off x="2638171" y="4401874"/>
            <a:ext cx="201960" cy="20196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9" name="TextBox 18">
            <a:extLst>
              <a:ext uri="{FF2B5EF4-FFF2-40B4-BE49-F238E27FC236}">
                <a16:creationId xmlns:a16="http://schemas.microsoft.com/office/drawing/2014/main" id="{43C9FB80-65E8-0E47-956A-B8A5862CCC5E}"/>
              </a:ext>
            </a:extLst>
          </p:cNvPr>
          <p:cNvSpPr txBox="1"/>
          <p:nvPr/>
        </p:nvSpPr>
        <p:spPr>
          <a:xfrm>
            <a:off x="6644202" y="4280115"/>
            <a:ext cx="1107996" cy="461665"/>
          </a:xfrm>
          <a:prstGeom prst="rect">
            <a:avLst/>
          </a:prstGeom>
          <a:noFill/>
        </p:spPr>
        <p:txBody>
          <a:bodyPr wrap="none" rtlCol="0">
            <a:spAutoFit/>
          </a:bodyPr>
          <a:lstStyle/>
          <a:p>
            <a:r>
              <a:rPr lang="en-US" sz="2400" dirty="0">
                <a:ea typeface="黑体" panose="02010609060101010101" pitchFamily="49" charset="-122"/>
              </a:rPr>
              <a:t>Output</a:t>
            </a:r>
          </a:p>
        </p:txBody>
      </p:sp>
      <p:sp>
        <p:nvSpPr>
          <p:cNvPr id="20" name="Triangle 19">
            <a:extLst>
              <a:ext uri="{FF2B5EF4-FFF2-40B4-BE49-F238E27FC236}">
                <a16:creationId xmlns:a16="http://schemas.microsoft.com/office/drawing/2014/main" id="{F251A882-9425-3D45-BEF0-724CEBE0BA91}"/>
              </a:ext>
            </a:extLst>
          </p:cNvPr>
          <p:cNvSpPr/>
          <p:nvPr/>
        </p:nvSpPr>
        <p:spPr bwMode="auto">
          <a:xfrm rot="5400000">
            <a:off x="5521760" y="4340643"/>
            <a:ext cx="386401" cy="324423"/>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21" name="Oval 20">
            <a:extLst>
              <a:ext uri="{FF2B5EF4-FFF2-40B4-BE49-F238E27FC236}">
                <a16:creationId xmlns:a16="http://schemas.microsoft.com/office/drawing/2014/main" id="{ABFC174E-FA9A-6647-A44E-85A741756E7B}"/>
              </a:ext>
            </a:extLst>
          </p:cNvPr>
          <p:cNvSpPr/>
          <p:nvPr/>
        </p:nvSpPr>
        <p:spPr bwMode="auto">
          <a:xfrm>
            <a:off x="5884690" y="4401874"/>
            <a:ext cx="201960" cy="20196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22" name="TextBox 21">
            <a:extLst>
              <a:ext uri="{FF2B5EF4-FFF2-40B4-BE49-F238E27FC236}">
                <a16:creationId xmlns:a16="http://schemas.microsoft.com/office/drawing/2014/main" id="{DB25CC69-78F6-5F45-BCAF-F48FA12B3FA5}"/>
              </a:ext>
            </a:extLst>
          </p:cNvPr>
          <p:cNvSpPr txBox="1"/>
          <p:nvPr/>
        </p:nvSpPr>
        <p:spPr>
          <a:xfrm>
            <a:off x="670623" y="4282524"/>
            <a:ext cx="869149" cy="461665"/>
          </a:xfrm>
          <a:prstGeom prst="rect">
            <a:avLst/>
          </a:prstGeom>
          <a:noFill/>
        </p:spPr>
        <p:txBody>
          <a:bodyPr wrap="none" rtlCol="0">
            <a:spAutoFit/>
          </a:bodyPr>
          <a:lstStyle/>
          <a:p>
            <a:r>
              <a:rPr lang="en-US" sz="2400" dirty="0">
                <a:ea typeface="黑体" panose="02010609060101010101" pitchFamily="49" charset="-122"/>
              </a:rPr>
              <a:t>Input</a:t>
            </a:r>
          </a:p>
        </p:txBody>
      </p:sp>
      <p:sp>
        <p:nvSpPr>
          <p:cNvPr id="23" name="Lightning Bolt 22">
            <a:extLst>
              <a:ext uri="{FF2B5EF4-FFF2-40B4-BE49-F238E27FC236}">
                <a16:creationId xmlns:a16="http://schemas.microsoft.com/office/drawing/2014/main" id="{F1E60691-BD1B-2F45-B7AA-954FE1F4EAFA}"/>
              </a:ext>
            </a:extLst>
          </p:cNvPr>
          <p:cNvSpPr/>
          <p:nvPr/>
        </p:nvSpPr>
        <p:spPr bwMode="auto">
          <a:xfrm>
            <a:off x="3796278" y="4131977"/>
            <a:ext cx="454168" cy="216024"/>
          </a:xfrm>
          <a:prstGeom prst="lightningBol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grpSp>
        <p:nvGrpSpPr>
          <p:cNvPr id="24" name="Group 23">
            <a:extLst>
              <a:ext uri="{FF2B5EF4-FFF2-40B4-BE49-F238E27FC236}">
                <a16:creationId xmlns:a16="http://schemas.microsoft.com/office/drawing/2014/main" id="{F4E09D8F-F2EA-6940-A2C0-553722A85545}"/>
              </a:ext>
            </a:extLst>
          </p:cNvPr>
          <p:cNvGrpSpPr/>
          <p:nvPr/>
        </p:nvGrpSpPr>
        <p:grpSpPr>
          <a:xfrm>
            <a:off x="5269839" y="2719197"/>
            <a:ext cx="3043158" cy="1707134"/>
            <a:chOff x="5375369" y="1728044"/>
            <a:chExt cx="3043158" cy="1707134"/>
          </a:xfrm>
        </p:grpSpPr>
        <p:pic>
          <p:nvPicPr>
            <p:cNvPr id="25" name="Picture 24">
              <a:extLst>
                <a:ext uri="{FF2B5EF4-FFF2-40B4-BE49-F238E27FC236}">
                  <a16:creationId xmlns:a16="http://schemas.microsoft.com/office/drawing/2014/main" id="{EF15A1AB-CFCB-5442-A12A-F472FF6DF9EA}"/>
                </a:ext>
              </a:extLst>
            </p:cNvPr>
            <p:cNvPicPr>
              <a:picLocks noChangeAspect="1"/>
            </p:cNvPicPr>
            <p:nvPr/>
          </p:nvPicPr>
          <p:blipFill>
            <a:blip r:embed="rId3"/>
            <a:stretch>
              <a:fillRect/>
            </a:stretch>
          </p:blipFill>
          <p:spPr>
            <a:xfrm>
              <a:off x="5914271" y="1728044"/>
              <a:ext cx="2504256" cy="1012359"/>
            </a:xfrm>
            <a:prstGeom prst="rect">
              <a:avLst/>
            </a:prstGeom>
            <a:ln>
              <a:solidFill>
                <a:schemeClr val="tx1"/>
              </a:solidFill>
            </a:ln>
            <a:effectLst>
              <a:outerShdw blurRad="50800" dist="38100" dir="2700000" algn="tl" rotWithShape="0">
                <a:prstClr val="black">
                  <a:alpha val="40000"/>
                </a:prstClr>
              </a:outerShdw>
            </a:effectLst>
          </p:spPr>
        </p:pic>
        <p:sp>
          <p:nvSpPr>
            <p:cNvPr id="26" name="Freeform 25">
              <a:extLst>
                <a:ext uri="{FF2B5EF4-FFF2-40B4-BE49-F238E27FC236}">
                  <a16:creationId xmlns:a16="http://schemas.microsoft.com/office/drawing/2014/main" id="{61B41354-D0BF-5F4E-939F-3F933D1ED3CC}"/>
                </a:ext>
              </a:extLst>
            </p:cNvPr>
            <p:cNvSpPr/>
            <p:nvPr/>
          </p:nvSpPr>
          <p:spPr bwMode="auto">
            <a:xfrm>
              <a:off x="5375369" y="2644346"/>
              <a:ext cx="531161" cy="790832"/>
            </a:xfrm>
            <a:custGeom>
              <a:avLst/>
              <a:gdLst>
                <a:gd name="connsiteX0" fmla="*/ 531161 w 531161"/>
                <a:gd name="connsiteY0" fmla="*/ 0 h 790832"/>
                <a:gd name="connsiteX1" fmla="*/ 36890 w 531161"/>
                <a:gd name="connsiteY1" fmla="*/ 259492 h 790832"/>
                <a:gd name="connsiteX2" fmla="*/ 73961 w 531161"/>
                <a:gd name="connsiteY2" fmla="*/ 790832 h 790832"/>
              </a:gdLst>
              <a:ahLst/>
              <a:cxnLst>
                <a:cxn ang="0">
                  <a:pos x="connsiteX0" y="connsiteY0"/>
                </a:cxn>
                <a:cxn ang="0">
                  <a:pos x="connsiteX1" y="connsiteY1"/>
                </a:cxn>
                <a:cxn ang="0">
                  <a:pos x="connsiteX2" y="connsiteY2"/>
                </a:cxn>
              </a:cxnLst>
              <a:rect l="l" t="t" r="r" b="b"/>
              <a:pathLst>
                <a:path w="531161" h="790832">
                  <a:moveTo>
                    <a:pt x="531161" y="0"/>
                  </a:moveTo>
                  <a:cubicBezTo>
                    <a:pt x="322125" y="63843"/>
                    <a:pt x="113090" y="127687"/>
                    <a:pt x="36890" y="259492"/>
                  </a:cubicBezTo>
                  <a:cubicBezTo>
                    <a:pt x="-39310" y="391297"/>
                    <a:pt x="17325" y="591064"/>
                    <a:pt x="73961" y="790832"/>
                  </a:cubicBezTo>
                </a:path>
              </a:pathLst>
            </a:custGeom>
            <a:no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grpSp>
    </p:spTree>
    <p:extLst>
      <p:ext uri="{BB962C8B-B14F-4D97-AF65-F5344CB8AC3E}">
        <p14:creationId xmlns:p14="http://schemas.microsoft.com/office/powerpoint/2010/main" val="168189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mph" presetSubtype="0" repeatCount="indefinite" fill="hold" grpId="0" nodeType="withEffect">
                                  <p:stCondLst>
                                    <p:cond delay="0"/>
                                  </p:stCondLst>
                                  <p:childTnLst>
                                    <p:animClr clrSpc="hsl" dir="cw">
                                      <p:cBhvr override="childStyle">
                                        <p:cTn id="6" dur="500" fill="hold"/>
                                        <p:tgtEl>
                                          <p:spTgt spid="23"/>
                                        </p:tgtEl>
                                        <p:attrNameLst>
                                          <p:attrName>style.color</p:attrName>
                                        </p:attrNameLst>
                                      </p:cBhvr>
                                      <p:by>
                                        <p:hsl h="10842353" s="0" l="0"/>
                                      </p:by>
                                    </p:animClr>
                                    <p:animClr clrSpc="hsl" dir="cw">
                                      <p:cBhvr>
                                        <p:cTn id="7" dur="500" fill="hold"/>
                                        <p:tgtEl>
                                          <p:spTgt spid="23"/>
                                        </p:tgtEl>
                                        <p:attrNameLst>
                                          <p:attrName>fillcolor</p:attrName>
                                        </p:attrNameLst>
                                      </p:cBhvr>
                                      <p:by>
                                        <p:hsl h="10842353" s="0" l="0"/>
                                      </p:by>
                                    </p:animClr>
                                    <p:animClr clrSpc="hsl" dir="cw">
                                      <p:cBhvr>
                                        <p:cTn id="8" dur="500" fill="hold"/>
                                        <p:tgtEl>
                                          <p:spTgt spid="23"/>
                                        </p:tgtEl>
                                        <p:attrNameLst>
                                          <p:attrName>stroke.color</p:attrName>
                                        </p:attrNameLst>
                                      </p:cBhvr>
                                      <p:by>
                                        <p:hsl h="10842353" s="0" l="0"/>
                                      </p:by>
                                    </p:animClr>
                                    <p:set>
                                      <p:cBhvr>
                                        <p:cTn id="9" dur="500" fill="hold"/>
                                        <p:tgtEl>
                                          <p:spTgt spid="2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dirty="0"/>
              <a:t>为什么用二元编码</a:t>
            </a:r>
            <a:r>
              <a:rPr lang="en-US" altLang="zh-CN" dirty="0"/>
              <a:t>/</a:t>
            </a:r>
            <a:r>
              <a:rPr lang="zh-CN" altLang="en-US" dirty="0"/>
              <a:t>二进制？</a:t>
            </a:r>
          </a:p>
        </p:txBody>
      </p:sp>
      <p:sp>
        <p:nvSpPr>
          <p:cNvPr id="34819" name="内容占位符 2"/>
          <p:cNvSpPr>
            <a:spLocks noGrp="1"/>
          </p:cNvSpPr>
          <p:nvPr>
            <p:ph idx="1"/>
          </p:nvPr>
        </p:nvSpPr>
        <p:spPr>
          <a:xfrm>
            <a:off x="457200" y="1413594"/>
            <a:ext cx="8229600" cy="5111750"/>
          </a:xfrm>
        </p:spPr>
        <p:txBody>
          <a:bodyPr/>
          <a:lstStyle/>
          <a:p>
            <a:pPr>
              <a:lnSpc>
                <a:spcPct val="150000"/>
              </a:lnSpc>
              <a:spcBef>
                <a:spcPts val="0"/>
              </a:spcBef>
            </a:pPr>
            <a:r>
              <a:rPr lang="zh-CN" altLang="en-US" b="1" dirty="0"/>
              <a:t> 传输简单</a:t>
            </a:r>
          </a:p>
          <a:p>
            <a:pPr lvl="1">
              <a:lnSpc>
                <a:spcPct val="150000"/>
              </a:lnSpc>
              <a:spcBef>
                <a:spcPts val="0"/>
              </a:spcBef>
              <a:buFont typeface="Arial" panose="020B0604020202020204" pitchFamily="34" charset="0"/>
              <a:buChar char="–"/>
            </a:pPr>
            <a:r>
              <a:rPr lang="zh-CN" altLang="en-US" sz="2800" dirty="0"/>
              <a:t>噪音容限高</a:t>
            </a:r>
            <a:r>
              <a:rPr lang="en-US" altLang="zh-CN" sz="2800" dirty="0">
                <a:sym typeface="Wingdings" pitchFamily="2" charset="2"/>
              </a:rPr>
              <a:t></a:t>
            </a:r>
            <a:r>
              <a:rPr lang="zh-CN" altLang="en-US" sz="2800" dirty="0">
                <a:sym typeface="Wingdings" pitchFamily="2" charset="2"/>
              </a:rPr>
              <a:t>可靠性高</a:t>
            </a:r>
            <a:endParaRPr lang="en-US" altLang="zh-CN" sz="2800" dirty="0">
              <a:sym typeface="Wingdings" pitchFamily="2" charset="2"/>
            </a:endParaRPr>
          </a:p>
        </p:txBody>
      </p:sp>
      <p:sp>
        <p:nvSpPr>
          <p:cNvPr id="12" name="灯片编号占位符 11">
            <a:extLst>
              <a:ext uri="{FF2B5EF4-FFF2-40B4-BE49-F238E27FC236}">
                <a16:creationId xmlns:a16="http://schemas.microsoft.com/office/drawing/2014/main" id="{3E0F6FAF-C35C-32AA-6EB5-E35FFE6BDE0D}"/>
              </a:ext>
            </a:extLst>
          </p:cNvPr>
          <p:cNvSpPr>
            <a:spLocks noGrp="1"/>
          </p:cNvSpPr>
          <p:nvPr>
            <p:ph type="sldNum" sz="quarter" idx="12"/>
          </p:nvPr>
        </p:nvSpPr>
        <p:spPr/>
        <p:txBody>
          <a:bodyPr/>
          <a:lstStyle/>
          <a:p>
            <a:fld id="{14659731-6BD7-46E7-8D3C-2F3AC07E20B1}" type="slidenum">
              <a:rPr lang="en-US" altLang="zh-CN" smtClean="0"/>
              <a:pPr/>
              <a:t>10</a:t>
            </a:fld>
            <a:endParaRPr lang="en-US" altLang="zh-CN" dirty="0"/>
          </a:p>
        </p:txBody>
      </p:sp>
      <p:cxnSp>
        <p:nvCxnSpPr>
          <p:cNvPr id="49" name="Straight Connector 4">
            <a:extLst>
              <a:ext uri="{FF2B5EF4-FFF2-40B4-BE49-F238E27FC236}">
                <a16:creationId xmlns:a16="http://schemas.microsoft.com/office/drawing/2014/main" id="{31A79882-1DB2-6F84-8E22-370F7458A3DF}"/>
              </a:ext>
            </a:extLst>
          </p:cNvPr>
          <p:cNvCxnSpPr>
            <a:cxnSpLocks/>
          </p:cNvCxnSpPr>
          <p:nvPr/>
        </p:nvCxnSpPr>
        <p:spPr bwMode="auto">
          <a:xfrm>
            <a:off x="1576762" y="3944331"/>
            <a:ext cx="5328261" cy="1"/>
          </a:xfrm>
          <a:prstGeom prst="line">
            <a:avLst/>
          </a:prstGeom>
          <a:solidFill>
            <a:srgbClr val="2990E5"/>
          </a:solidFill>
          <a:ln w="38100" cap="flat" cmpd="sng" algn="ctr">
            <a:solidFill>
              <a:srgbClr val="000000"/>
            </a:solidFill>
            <a:prstDash val="solid"/>
            <a:round/>
            <a:headEnd type="none" w="med" len="med"/>
            <a:tailEnd type="none" w="med" len="med"/>
          </a:ln>
          <a:effectLst/>
        </p:spPr>
      </p:cxnSp>
      <p:sp>
        <p:nvSpPr>
          <p:cNvPr id="50" name="Triangle 1">
            <a:extLst>
              <a:ext uri="{FF2B5EF4-FFF2-40B4-BE49-F238E27FC236}">
                <a16:creationId xmlns:a16="http://schemas.microsoft.com/office/drawing/2014/main" id="{19AC66B6-9A66-96B4-7D5F-430EF81D79C2}"/>
              </a:ext>
            </a:extLst>
          </p:cNvPr>
          <p:cNvSpPr/>
          <p:nvPr/>
        </p:nvSpPr>
        <p:spPr bwMode="auto">
          <a:xfrm rot="5400000">
            <a:off x="2372406" y="3778070"/>
            <a:ext cx="386401" cy="324423"/>
          </a:xfrm>
          <a:prstGeom prst="triangle">
            <a:avLst/>
          </a:prstGeom>
          <a:solidFill>
            <a:srgbClr val="2990E5"/>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51" name="Oval 2">
            <a:extLst>
              <a:ext uri="{FF2B5EF4-FFF2-40B4-BE49-F238E27FC236}">
                <a16:creationId xmlns:a16="http://schemas.microsoft.com/office/drawing/2014/main" id="{948B6AF7-4C80-6153-4475-08BA9FCED934}"/>
              </a:ext>
            </a:extLst>
          </p:cNvPr>
          <p:cNvSpPr/>
          <p:nvPr/>
        </p:nvSpPr>
        <p:spPr bwMode="auto">
          <a:xfrm>
            <a:off x="2735336" y="3831994"/>
            <a:ext cx="201960" cy="201960"/>
          </a:xfrm>
          <a:prstGeom prst="ellipse">
            <a:avLst/>
          </a:prstGeom>
          <a:solidFill>
            <a:srgbClr val="2990E5"/>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nvGrpSpPr>
          <p:cNvPr id="52" name="Group 5">
            <a:extLst>
              <a:ext uri="{FF2B5EF4-FFF2-40B4-BE49-F238E27FC236}">
                <a16:creationId xmlns:a16="http://schemas.microsoft.com/office/drawing/2014/main" id="{F23FEC1F-5810-C36D-9B51-8BF715225D31}"/>
              </a:ext>
            </a:extLst>
          </p:cNvPr>
          <p:cNvGrpSpPr/>
          <p:nvPr/>
        </p:nvGrpSpPr>
        <p:grpSpPr>
          <a:xfrm>
            <a:off x="2058949" y="5425871"/>
            <a:ext cx="4506535" cy="370983"/>
            <a:chOff x="1019430" y="5614766"/>
            <a:chExt cx="4506535" cy="370983"/>
          </a:xfrm>
        </p:grpSpPr>
        <p:sp>
          <p:nvSpPr>
            <p:cNvPr id="53" name="TextBox 8">
              <a:extLst>
                <a:ext uri="{FF2B5EF4-FFF2-40B4-BE49-F238E27FC236}">
                  <a16:creationId xmlns:a16="http://schemas.microsoft.com/office/drawing/2014/main" id="{6878B456-D47C-0466-AA41-FAFCB4E46CEF}"/>
                </a:ext>
              </a:extLst>
            </p:cNvPr>
            <p:cNvSpPr txBox="1"/>
            <p:nvPr/>
          </p:nvSpPr>
          <p:spPr>
            <a:xfrm>
              <a:off x="1019430" y="5614766"/>
              <a:ext cx="1958912" cy="369332"/>
            </a:xfrm>
            <a:prstGeom prst="rect">
              <a:avLst/>
            </a:prstGeom>
            <a:solidFill>
              <a:srgbClr val="57AD27"/>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Calibri"/>
                </a:rPr>
                <a:t>Legal region</a:t>
              </a:r>
              <a:endParaRPr kumimoji="0" lang="en-US" sz="1800" b="1" i="0" u="none" strike="noStrike" kern="0" cap="none" spc="0" normalizeH="0" baseline="0" noProof="0" dirty="0">
                <a:ln>
                  <a:noFill/>
                </a:ln>
                <a:solidFill>
                  <a:srgbClr val="000000"/>
                </a:solidFill>
                <a:effectLst/>
                <a:uLnTx/>
                <a:uFillTx/>
                <a:latin typeface="Calibri"/>
              </a:endParaRPr>
            </a:p>
          </p:txBody>
        </p:sp>
        <p:sp>
          <p:nvSpPr>
            <p:cNvPr id="54" name="TextBox 16">
              <a:extLst>
                <a:ext uri="{FF2B5EF4-FFF2-40B4-BE49-F238E27FC236}">
                  <a16:creationId xmlns:a16="http://schemas.microsoft.com/office/drawing/2014/main" id="{DEFC7C31-212B-8943-C87E-4ABEE73191AE}"/>
                </a:ext>
              </a:extLst>
            </p:cNvPr>
            <p:cNvSpPr txBox="1"/>
            <p:nvPr/>
          </p:nvSpPr>
          <p:spPr>
            <a:xfrm>
              <a:off x="3567054" y="5616417"/>
              <a:ext cx="1958911" cy="369332"/>
            </a:xfrm>
            <a:prstGeom prst="rect">
              <a:avLst/>
            </a:prstGeom>
            <a:solidFill>
              <a:srgbClr val="FFC000"/>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000000"/>
                  </a:solidFill>
                  <a:effectLst/>
                  <a:uLnTx/>
                  <a:uFillTx/>
                  <a:latin typeface="Calibri"/>
                </a:rPr>
                <a:t>Illegal region</a:t>
              </a:r>
              <a:endParaRPr kumimoji="0" lang="en-US" sz="1800" b="1" i="0" u="none" strike="noStrike" kern="0" cap="none" spc="0" normalizeH="0" baseline="0" noProof="0" dirty="0">
                <a:ln>
                  <a:noFill/>
                </a:ln>
                <a:solidFill>
                  <a:srgbClr val="000000"/>
                </a:solidFill>
                <a:effectLst/>
                <a:uLnTx/>
                <a:uFillTx/>
                <a:latin typeface="Calibri"/>
              </a:endParaRPr>
            </a:p>
          </p:txBody>
        </p:sp>
      </p:grpSp>
      <p:sp>
        <p:nvSpPr>
          <p:cNvPr id="55" name="Triangle 18">
            <a:extLst>
              <a:ext uri="{FF2B5EF4-FFF2-40B4-BE49-F238E27FC236}">
                <a16:creationId xmlns:a16="http://schemas.microsoft.com/office/drawing/2014/main" id="{62533E87-B2A2-C656-61AB-6751AEAE2740}"/>
              </a:ext>
            </a:extLst>
          </p:cNvPr>
          <p:cNvSpPr/>
          <p:nvPr/>
        </p:nvSpPr>
        <p:spPr bwMode="auto">
          <a:xfrm rot="5400000">
            <a:off x="5478677" y="3778070"/>
            <a:ext cx="386401" cy="324423"/>
          </a:xfrm>
          <a:prstGeom prst="triangle">
            <a:avLst/>
          </a:prstGeom>
          <a:solidFill>
            <a:srgbClr val="2990E5"/>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56" name="Oval 19">
            <a:extLst>
              <a:ext uri="{FF2B5EF4-FFF2-40B4-BE49-F238E27FC236}">
                <a16:creationId xmlns:a16="http://schemas.microsoft.com/office/drawing/2014/main" id="{CE820F28-DF4F-036F-CC98-7701D86386D1}"/>
              </a:ext>
            </a:extLst>
          </p:cNvPr>
          <p:cNvSpPr/>
          <p:nvPr/>
        </p:nvSpPr>
        <p:spPr bwMode="auto">
          <a:xfrm>
            <a:off x="5841607" y="3831994"/>
            <a:ext cx="201960" cy="201960"/>
          </a:xfrm>
          <a:prstGeom prst="ellipse">
            <a:avLst/>
          </a:prstGeom>
          <a:solidFill>
            <a:srgbClr val="2990E5"/>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nvGrpSpPr>
          <p:cNvPr id="57" name="Group 3">
            <a:extLst>
              <a:ext uri="{FF2B5EF4-FFF2-40B4-BE49-F238E27FC236}">
                <a16:creationId xmlns:a16="http://schemas.microsoft.com/office/drawing/2014/main" id="{C2FDAD56-3B19-EBC3-E5C7-7571FB01F8C4}"/>
              </a:ext>
            </a:extLst>
          </p:cNvPr>
          <p:cNvGrpSpPr/>
          <p:nvPr/>
        </p:nvGrpSpPr>
        <p:grpSpPr>
          <a:xfrm>
            <a:off x="1619672" y="3257135"/>
            <a:ext cx="5285351" cy="1792887"/>
            <a:chOff x="580153" y="3446030"/>
            <a:chExt cx="5285351" cy="1792887"/>
          </a:xfrm>
        </p:grpSpPr>
        <p:sp>
          <p:nvSpPr>
            <p:cNvPr id="58" name="TextBox 6">
              <a:extLst>
                <a:ext uri="{FF2B5EF4-FFF2-40B4-BE49-F238E27FC236}">
                  <a16:creationId xmlns:a16="http://schemas.microsoft.com/office/drawing/2014/main" id="{8BC5B760-5003-5158-140E-E1085F2DB576}"/>
                </a:ext>
              </a:extLst>
            </p:cNvPr>
            <p:cNvSpPr txBox="1"/>
            <p:nvPr/>
          </p:nvSpPr>
          <p:spPr>
            <a:xfrm>
              <a:off x="580153" y="4869585"/>
              <a:ext cx="697627"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Input</a:t>
              </a:r>
            </a:p>
          </p:txBody>
        </p:sp>
        <p:sp>
          <p:nvSpPr>
            <p:cNvPr id="59" name="TextBox 10">
              <a:extLst>
                <a:ext uri="{FF2B5EF4-FFF2-40B4-BE49-F238E27FC236}">
                  <a16:creationId xmlns:a16="http://schemas.microsoft.com/office/drawing/2014/main" id="{3942D878-34A8-E835-1B58-0F3AE0814117}"/>
                </a:ext>
              </a:extLst>
            </p:cNvPr>
            <p:cNvSpPr txBox="1"/>
            <p:nvPr/>
          </p:nvSpPr>
          <p:spPr>
            <a:xfrm>
              <a:off x="1882070" y="4868880"/>
              <a:ext cx="87716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Output</a:t>
              </a:r>
            </a:p>
          </p:txBody>
        </p:sp>
        <p:sp>
          <p:nvSpPr>
            <p:cNvPr id="60" name="Rectangle 7">
              <a:extLst>
                <a:ext uri="{FF2B5EF4-FFF2-40B4-BE49-F238E27FC236}">
                  <a16:creationId xmlns:a16="http://schemas.microsoft.com/office/drawing/2014/main" id="{C59C37E2-4143-FE59-B0C3-F7F78405BAE3}"/>
                </a:ext>
              </a:extLst>
            </p:cNvPr>
            <p:cNvSpPr/>
            <p:nvPr/>
          </p:nvSpPr>
          <p:spPr bwMode="auto">
            <a:xfrm>
              <a:off x="654674" y="3446030"/>
              <a:ext cx="576064" cy="1415244"/>
            </a:xfrm>
            <a:prstGeom prst="rect">
              <a:avLst/>
            </a:prstGeom>
            <a:solidFill>
              <a:srgbClr val="57AD27"/>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61" name="Rectangle 12">
              <a:extLst>
                <a:ext uri="{FF2B5EF4-FFF2-40B4-BE49-F238E27FC236}">
                  <a16:creationId xmlns:a16="http://schemas.microsoft.com/office/drawing/2014/main" id="{B75E1079-47EF-16AC-BB1A-FE1C5A678C62}"/>
                </a:ext>
              </a:extLst>
            </p:cNvPr>
            <p:cNvSpPr/>
            <p:nvPr/>
          </p:nvSpPr>
          <p:spPr bwMode="auto">
            <a:xfrm>
              <a:off x="654674" y="3935976"/>
              <a:ext cx="576064" cy="386401"/>
            </a:xfrm>
            <a:prstGeom prst="rect">
              <a:avLst/>
            </a:prstGeom>
            <a:solidFill>
              <a:srgbClr val="FFC00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62" name="Rectangle 13">
              <a:extLst>
                <a:ext uri="{FF2B5EF4-FFF2-40B4-BE49-F238E27FC236}">
                  <a16:creationId xmlns:a16="http://schemas.microsoft.com/office/drawing/2014/main" id="{0853D653-5D03-2853-5CC3-DA14B0199B35}"/>
                </a:ext>
              </a:extLst>
            </p:cNvPr>
            <p:cNvSpPr/>
            <p:nvPr/>
          </p:nvSpPr>
          <p:spPr bwMode="auto">
            <a:xfrm>
              <a:off x="2005789" y="3446030"/>
              <a:ext cx="576064" cy="1415244"/>
            </a:xfrm>
            <a:prstGeom prst="rect">
              <a:avLst/>
            </a:prstGeom>
            <a:solidFill>
              <a:srgbClr val="57AD27"/>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63" name="Rectangle 14">
              <a:extLst>
                <a:ext uri="{FF2B5EF4-FFF2-40B4-BE49-F238E27FC236}">
                  <a16:creationId xmlns:a16="http://schemas.microsoft.com/office/drawing/2014/main" id="{F9DCE1A4-3557-085F-34F9-E9E32BF192AB}"/>
                </a:ext>
              </a:extLst>
            </p:cNvPr>
            <p:cNvSpPr/>
            <p:nvPr/>
          </p:nvSpPr>
          <p:spPr bwMode="auto">
            <a:xfrm>
              <a:off x="2005789" y="3638302"/>
              <a:ext cx="576064" cy="1044116"/>
            </a:xfrm>
            <a:prstGeom prst="rect">
              <a:avLst/>
            </a:prstGeom>
            <a:solidFill>
              <a:srgbClr val="FFC00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16" name="TextBox 20">
              <a:extLst>
                <a:ext uri="{FF2B5EF4-FFF2-40B4-BE49-F238E27FC236}">
                  <a16:creationId xmlns:a16="http://schemas.microsoft.com/office/drawing/2014/main" id="{66AC5CC4-4818-E0FD-A915-041F2E3A5C3A}"/>
                </a:ext>
              </a:extLst>
            </p:cNvPr>
            <p:cNvSpPr txBox="1"/>
            <p:nvPr/>
          </p:nvSpPr>
          <p:spPr>
            <a:xfrm>
              <a:off x="3686424" y="4869585"/>
              <a:ext cx="697627"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Input</a:t>
              </a:r>
            </a:p>
          </p:txBody>
        </p:sp>
        <p:sp>
          <p:nvSpPr>
            <p:cNvPr id="34817" name="TextBox 21">
              <a:extLst>
                <a:ext uri="{FF2B5EF4-FFF2-40B4-BE49-F238E27FC236}">
                  <a16:creationId xmlns:a16="http://schemas.microsoft.com/office/drawing/2014/main" id="{972CC209-E7AC-2D4D-6833-B38245DADB33}"/>
                </a:ext>
              </a:extLst>
            </p:cNvPr>
            <p:cNvSpPr txBox="1"/>
            <p:nvPr/>
          </p:nvSpPr>
          <p:spPr>
            <a:xfrm>
              <a:off x="4988341" y="4868880"/>
              <a:ext cx="87716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Output</a:t>
              </a:r>
            </a:p>
          </p:txBody>
        </p:sp>
        <p:sp>
          <p:nvSpPr>
            <p:cNvPr id="34820" name="Rectangle 22">
              <a:extLst>
                <a:ext uri="{FF2B5EF4-FFF2-40B4-BE49-F238E27FC236}">
                  <a16:creationId xmlns:a16="http://schemas.microsoft.com/office/drawing/2014/main" id="{50D11135-63C1-A97C-CDA0-FC4ABE647363}"/>
                </a:ext>
              </a:extLst>
            </p:cNvPr>
            <p:cNvSpPr/>
            <p:nvPr/>
          </p:nvSpPr>
          <p:spPr bwMode="auto">
            <a:xfrm>
              <a:off x="3760945" y="3446030"/>
              <a:ext cx="576064" cy="1415244"/>
            </a:xfrm>
            <a:prstGeom prst="rect">
              <a:avLst/>
            </a:prstGeom>
            <a:solidFill>
              <a:srgbClr val="57AD27"/>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21" name="Rectangle 23">
              <a:extLst>
                <a:ext uri="{FF2B5EF4-FFF2-40B4-BE49-F238E27FC236}">
                  <a16:creationId xmlns:a16="http://schemas.microsoft.com/office/drawing/2014/main" id="{37AAD84E-ADF0-2ABD-F179-C994B75642BF}"/>
                </a:ext>
              </a:extLst>
            </p:cNvPr>
            <p:cNvSpPr/>
            <p:nvPr/>
          </p:nvSpPr>
          <p:spPr bwMode="auto">
            <a:xfrm>
              <a:off x="3760945" y="3935976"/>
              <a:ext cx="576064" cy="386401"/>
            </a:xfrm>
            <a:prstGeom prst="rect">
              <a:avLst/>
            </a:prstGeom>
            <a:solidFill>
              <a:srgbClr val="FFC00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22" name="Rectangle 24">
              <a:extLst>
                <a:ext uri="{FF2B5EF4-FFF2-40B4-BE49-F238E27FC236}">
                  <a16:creationId xmlns:a16="http://schemas.microsoft.com/office/drawing/2014/main" id="{6F4AE746-73CB-7FB9-F917-DBA9D2F642DC}"/>
                </a:ext>
              </a:extLst>
            </p:cNvPr>
            <p:cNvSpPr/>
            <p:nvPr/>
          </p:nvSpPr>
          <p:spPr bwMode="auto">
            <a:xfrm>
              <a:off x="5112060" y="3446030"/>
              <a:ext cx="576064" cy="1415244"/>
            </a:xfrm>
            <a:prstGeom prst="rect">
              <a:avLst/>
            </a:prstGeom>
            <a:solidFill>
              <a:srgbClr val="57AD27"/>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34823" name="Rectangle 25">
              <a:extLst>
                <a:ext uri="{FF2B5EF4-FFF2-40B4-BE49-F238E27FC236}">
                  <a16:creationId xmlns:a16="http://schemas.microsoft.com/office/drawing/2014/main" id="{C62D9C52-6171-035E-6634-9912D6F28910}"/>
                </a:ext>
              </a:extLst>
            </p:cNvPr>
            <p:cNvSpPr/>
            <p:nvPr/>
          </p:nvSpPr>
          <p:spPr bwMode="auto">
            <a:xfrm>
              <a:off x="5112060" y="3638302"/>
              <a:ext cx="576064" cy="1044116"/>
            </a:xfrm>
            <a:prstGeom prst="rect">
              <a:avLst/>
            </a:prstGeom>
            <a:solidFill>
              <a:srgbClr val="FFC00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sp>
        <p:nvSpPr>
          <p:cNvPr id="34824" name="Lightning Bolt 28">
            <a:extLst>
              <a:ext uri="{FF2B5EF4-FFF2-40B4-BE49-F238E27FC236}">
                <a16:creationId xmlns:a16="http://schemas.microsoft.com/office/drawing/2014/main" id="{E76C56C4-86FE-0762-8D53-B2EC779A2E03}"/>
              </a:ext>
            </a:extLst>
          </p:cNvPr>
          <p:cNvSpPr/>
          <p:nvPr/>
        </p:nvSpPr>
        <p:spPr bwMode="auto">
          <a:xfrm>
            <a:off x="4100681" y="3672138"/>
            <a:ext cx="227084" cy="272169"/>
          </a:xfrm>
          <a:prstGeom prst="lightningBolt">
            <a:avLst/>
          </a:prstGeom>
          <a:solidFill>
            <a:srgbClr val="2990E5"/>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CN"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36578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mph" presetSubtype="0" repeatCount="indefinite" fill="hold" grpId="0" nodeType="withEffect">
                                  <p:stCondLst>
                                    <p:cond delay="0"/>
                                  </p:stCondLst>
                                  <p:childTnLst>
                                    <p:animClr clrSpc="hsl" dir="cw">
                                      <p:cBhvr override="childStyle">
                                        <p:cTn id="6" dur="500" fill="hold"/>
                                        <p:tgtEl>
                                          <p:spTgt spid="34824"/>
                                        </p:tgtEl>
                                        <p:attrNameLst>
                                          <p:attrName>style.color</p:attrName>
                                        </p:attrNameLst>
                                      </p:cBhvr>
                                      <p:by>
                                        <p:hsl h="10842353" s="0" l="0"/>
                                      </p:by>
                                    </p:animClr>
                                    <p:animClr clrSpc="hsl" dir="cw">
                                      <p:cBhvr>
                                        <p:cTn id="7" dur="500" fill="hold"/>
                                        <p:tgtEl>
                                          <p:spTgt spid="34824"/>
                                        </p:tgtEl>
                                        <p:attrNameLst>
                                          <p:attrName>fillcolor</p:attrName>
                                        </p:attrNameLst>
                                      </p:cBhvr>
                                      <p:by>
                                        <p:hsl h="10842353" s="0" l="0"/>
                                      </p:by>
                                    </p:animClr>
                                    <p:animClr clrSpc="hsl" dir="cw">
                                      <p:cBhvr>
                                        <p:cTn id="8" dur="500" fill="hold"/>
                                        <p:tgtEl>
                                          <p:spTgt spid="34824"/>
                                        </p:tgtEl>
                                        <p:attrNameLst>
                                          <p:attrName>stroke.color</p:attrName>
                                        </p:attrNameLst>
                                      </p:cBhvr>
                                      <p:by>
                                        <p:hsl h="10842353" s="0" l="0"/>
                                      </p:by>
                                    </p:animClr>
                                    <p:set>
                                      <p:cBhvr>
                                        <p:cTn id="9" dur="500" fill="hold"/>
                                        <p:tgtEl>
                                          <p:spTgt spid="3482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zh-CN" altLang="en-US" dirty="0"/>
              <a:t>二进制 </a:t>
            </a:r>
            <a:r>
              <a:rPr lang="en-US" altLang="zh-CN" dirty="0"/>
              <a:t>Binary System</a:t>
            </a:r>
            <a:endParaRPr lang="en-US" altLang="zh-CN" dirty="0">
              <a:latin typeface="Arial" panose="020B0604020202020204" pitchFamily="34" charset="0"/>
              <a:cs typeface="Arial" panose="020B0604020202020204" pitchFamily="34" charset="0"/>
            </a:endParaRPr>
          </a:p>
        </p:txBody>
      </p:sp>
      <p:sp>
        <p:nvSpPr>
          <p:cNvPr id="7" name="灯片编号占位符 6">
            <a:extLst>
              <a:ext uri="{FF2B5EF4-FFF2-40B4-BE49-F238E27FC236}">
                <a16:creationId xmlns:a16="http://schemas.microsoft.com/office/drawing/2014/main" id="{DD2CECAD-C1E0-0378-2666-AF75D35E4999}"/>
              </a:ext>
            </a:extLst>
          </p:cNvPr>
          <p:cNvSpPr>
            <a:spLocks noGrp="1"/>
          </p:cNvSpPr>
          <p:nvPr>
            <p:ph type="sldNum" sz="quarter" idx="12"/>
          </p:nvPr>
        </p:nvSpPr>
        <p:spPr/>
        <p:txBody>
          <a:bodyPr/>
          <a:lstStyle/>
          <a:p>
            <a:fld id="{6C23D995-88A0-46FA-B356-FA459EF841CD}" type="slidenum">
              <a:rPr lang="en-US" altLang="zh-CN" smtClean="0"/>
              <a:pPr/>
              <a:t>11</a:t>
            </a:fld>
            <a:endParaRPr lang="en-US" altLang="zh-CN" dirty="0"/>
          </a:p>
        </p:txBody>
      </p:sp>
      <p:grpSp>
        <p:nvGrpSpPr>
          <p:cNvPr id="10" name="Group 5">
            <a:extLst>
              <a:ext uri="{FF2B5EF4-FFF2-40B4-BE49-F238E27FC236}">
                <a16:creationId xmlns:a16="http://schemas.microsoft.com/office/drawing/2014/main" id="{DB612894-230C-3D40-EEA9-47A30C184ED6}"/>
              </a:ext>
            </a:extLst>
          </p:cNvPr>
          <p:cNvGrpSpPr>
            <a:grpSpLocks/>
          </p:cNvGrpSpPr>
          <p:nvPr/>
        </p:nvGrpSpPr>
        <p:grpSpPr bwMode="auto">
          <a:xfrm>
            <a:off x="2612717" y="2516753"/>
            <a:ext cx="4465638" cy="576263"/>
            <a:chOff x="1110" y="3040"/>
            <a:chExt cx="2813" cy="363"/>
          </a:xfrm>
        </p:grpSpPr>
        <p:sp>
          <p:nvSpPr>
            <p:cNvPr id="11" name="Rectangle 12">
              <a:extLst>
                <a:ext uri="{FF2B5EF4-FFF2-40B4-BE49-F238E27FC236}">
                  <a16:creationId xmlns:a16="http://schemas.microsoft.com/office/drawing/2014/main" id="{A11AC1A8-59DF-6613-4561-F6F0DF4A1280}"/>
                </a:ext>
              </a:extLst>
            </p:cNvPr>
            <p:cNvSpPr>
              <a:spLocks noChangeArrowheads="1"/>
            </p:cNvSpPr>
            <p:nvPr/>
          </p:nvSpPr>
          <p:spPr bwMode="auto">
            <a:xfrm>
              <a:off x="1110" y="3040"/>
              <a:ext cx="469" cy="363"/>
            </a:xfrm>
            <a:prstGeom prst="rect">
              <a:avLst/>
            </a:prstGeom>
            <a:solidFill>
              <a:srgbClr val="57AD27">
                <a:lumMod val="20000"/>
                <a:lumOff val="80000"/>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p>
              <a:pPr marL="742950" marR="0" lvl="0" indent="-28575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dirty="0">
                  <a:ln>
                    <a:noFill/>
                  </a:ln>
                  <a:solidFill>
                    <a:srgbClr val="4E9C22">
                      <a:lumMod val="75000"/>
                    </a:srgbClr>
                  </a:solidFill>
                  <a:effectLst/>
                  <a:uLnTx/>
                  <a:uFillTx/>
                  <a:latin typeface="Arial" panose="020B0604020202020204" pitchFamily="34" charset="0"/>
                  <a:ea typeface="黑体" pitchFamily="49" charset="-122"/>
                  <a:cs typeface="Arial" panose="020B0604020202020204" pitchFamily="34" charset="0"/>
                </a:rPr>
                <a:t>1</a:t>
              </a:r>
            </a:p>
          </p:txBody>
        </p:sp>
        <p:sp>
          <p:nvSpPr>
            <p:cNvPr id="12" name="Rectangle 13">
              <a:extLst>
                <a:ext uri="{FF2B5EF4-FFF2-40B4-BE49-F238E27FC236}">
                  <a16:creationId xmlns:a16="http://schemas.microsoft.com/office/drawing/2014/main" id="{3E1BEF02-E38D-2475-A45C-E7F1EB6C07AD}"/>
                </a:ext>
              </a:extLst>
            </p:cNvPr>
            <p:cNvSpPr>
              <a:spLocks noChangeArrowheads="1"/>
            </p:cNvSpPr>
            <p:nvPr/>
          </p:nvSpPr>
          <p:spPr bwMode="auto">
            <a:xfrm>
              <a:off x="2471" y="3040"/>
              <a:ext cx="454" cy="363"/>
            </a:xfrm>
            <a:prstGeom prst="rect">
              <a:avLst/>
            </a:prstGeom>
            <a:solidFill>
              <a:srgbClr val="57AD27">
                <a:lumMod val="20000"/>
                <a:lumOff val="80000"/>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p>
              <a:pPr marL="742950" marR="0" lvl="0" indent="-285750" algn="just" defTabSz="914400" eaLnBrk="1" fontAlgn="auto" latinLnBrk="0" hangingPunct="1">
                <a:lnSpc>
                  <a:spcPct val="100000"/>
                </a:lnSpc>
                <a:spcBef>
                  <a:spcPts val="0"/>
                </a:spcBef>
                <a:spcAft>
                  <a:spcPts val="0"/>
                </a:spcAft>
                <a:buClrTx/>
                <a:buSzTx/>
                <a:buFontTx/>
                <a:buNone/>
                <a:tabLst/>
                <a:defRPr/>
              </a:pPr>
              <a:r>
                <a:rPr kumimoji="1" lang="en-US" altLang="zh-CN" sz="3200" b="1" i="0" u="none" strike="noStrike" kern="0" cap="none" spc="0" normalizeH="0" baseline="0" noProof="0" dirty="0">
                  <a:ln>
                    <a:noFill/>
                  </a:ln>
                  <a:solidFill>
                    <a:srgbClr val="000000"/>
                  </a:solidFill>
                  <a:effectLst/>
                  <a:uLnTx/>
                  <a:uFillTx/>
                  <a:latin typeface="Arial" panose="020B0604020202020204" pitchFamily="34" charset="0"/>
                  <a:ea typeface="黑体" pitchFamily="49" charset="-122"/>
                  <a:cs typeface="Arial" panose="020B0604020202020204" pitchFamily="34" charset="0"/>
                </a:rPr>
                <a:t>.</a:t>
              </a:r>
            </a:p>
          </p:txBody>
        </p:sp>
        <p:sp>
          <p:nvSpPr>
            <p:cNvPr id="13" name="Rectangle 14">
              <a:extLst>
                <a:ext uri="{FF2B5EF4-FFF2-40B4-BE49-F238E27FC236}">
                  <a16:creationId xmlns:a16="http://schemas.microsoft.com/office/drawing/2014/main" id="{E5F979A4-6571-F7A8-C167-1EDE86AE730C}"/>
                </a:ext>
              </a:extLst>
            </p:cNvPr>
            <p:cNvSpPr>
              <a:spLocks noChangeArrowheads="1"/>
            </p:cNvSpPr>
            <p:nvPr/>
          </p:nvSpPr>
          <p:spPr bwMode="auto">
            <a:xfrm>
              <a:off x="1565" y="3040"/>
              <a:ext cx="544" cy="363"/>
            </a:xfrm>
            <a:prstGeom prst="rect">
              <a:avLst/>
            </a:prstGeom>
            <a:solidFill>
              <a:srgbClr val="57AD27">
                <a:lumMod val="20000"/>
                <a:lumOff val="80000"/>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p>
              <a:pPr marL="742950" marR="0" lvl="0" indent="-28575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dirty="0">
                  <a:ln>
                    <a:noFill/>
                  </a:ln>
                  <a:solidFill>
                    <a:srgbClr val="000000"/>
                  </a:solidFill>
                  <a:effectLst/>
                  <a:uLnTx/>
                  <a:uFillTx/>
                  <a:latin typeface="Arial" panose="020B0604020202020204" pitchFamily="34" charset="0"/>
                  <a:ea typeface="黑体" pitchFamily="49" charset="-122"/>
                  <a:cs typeface="Arial" panose="020B0604020202020204" pitchFamily="34" charset="0"/>
                </a:rPr>
                <a:t>0</a:t>
              </a:r>
            </a:p>
          </p:txBody>
        </p:sp>
        <p:sp>
          <p:nvSpPr>
            <p:cNvPr id="14" name="Rectangle 15">
              <a:extLst>
                <a:ext uri="{FF2B5EF4-FFF2-40B4-BE49-F238E27FC236}">
                  <a16:creationId xmlns:a16="http://schemas.microsoft.com/office/drawing/2014/main" id="{9A1E7A6E-9990-F90A-E9DA-33BE81DB1DF9}"/>
                </a:ext>
              </a:extLst>
            </p:cNvPr>
            <p:cNvSpPr>
              <a:spLocks noChangeArrowheads="1"/>
            </p:cNvSpPr>
            <p:nvPr/>
          </p:nvSpPr>
          <p:spPr bwMode="auto">
            <a:xfrm>
              <a:off x="2018" y="3040"/>
              <a:ext cx="544" cy="363"/>
            </a:xfrm>
            <a:prstGeom prst="rect">
              <a:avLst/>
            </a:prstGeom>
            <a:solidFill>
              <a:srgbClr val="57AD27">
                <a:lumMod val="20000"/>
                <a:lumOff val="80000"/>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p>
              <a:pPr marL="742950" marR="0" lvl="0" indent="-28575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000000"/>
                  </a:solidFill>
                  <a:effectLst/>
                  <a:uLnTx/>
                  <a:uFillTx/>
                  <a:latin typeface="Arial" panose="020B0604020202020204" pitchFamily="34" charset="0"/>
                  <a:ea typeface="黑体" pitchFamily="49" charset="-122"/>
                  <a:cs typeface="Arial" panose="020B0604020202020204" pitchFamily="34" charset="0"/>
                </a:rPr>
                <a:t>1</a:t>
              </a:r>
            </a:p>
          </p:txBody>
        </p:sp>
        <p:sp>
          <p:nvSpPr>
            <p:cNvPr id="15" name="Rectangle 16">
              <a:extLst>
                <a:ext uri="{FF2B5EF4-FFF2-40B4-BE49-F238E27FC236}">
                  <a16:creationId xmlns:a16="http://schemas.microsoft.com/office/drawing/2014/main" id="{5774EA05-BD7D-7EAE-44DF-225F0C2FC24A}"/>
                </a:ext>
              </a:extLst>
            </p:cNvPr>
            <p:cNvSpPr>
              <a:spLocks noChangeArrowheads="1"/>
            </p:cNvSpPr>
            <p:nvPr/>
          </p:nvSpPr>
          <p:spPr bwMode="auto">
            <a:xfrm>
              <a:off x="2925" y="3040"/>
              <a:ext cx="544" cy="363"/>
            </a:xfrm>
            <a:prstGeom prst="rect">
              <a:avLst/>
            </a:prstGeom>
            <a:solidFill>
              <a:srgbClr val="57AD27">
                <a:lumMod val="20000"/>
                <a:lumOff val="80000"/>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p>
              <a:pPr marL="742950" marR="0" lvl="0" indent="-28575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000000"/>
                  </a:solidFill>
                  <a:effectLst/>
                  <a:uLnTx/>
                  <a:uFillTx/>
                  <a:latin typeface="Arial" panose="020B0604020202020204" pitchFamily="34" charset="0"/>
                  <a:ea typeface="黑体" pitchFamily="49" charset="-122"/>
                  <a:cs typeface="Arial" panose="020B0604020202020204" pitchFamily="34" charset="0"/>
                </a:rPr>
                <a:t>1</a:t>
              </a:r>
            </a:p>
          </p:txBody>
        </p:sp>
        <p:sp>
          <p:nvSpPr>
            <p:cNvPr id="16" name="Rectangle 17">
              <a:extLst>
                <a:ext uri="{FF2B5EF4-FFF2-40B4-BE49-F238E27FC236}">
                  <a16:creationId xmlns:a16="http://schemas.microsoft.com/office/drawing/2014/main" id="{DBEFBCD1-7D3A-7134-7F20-83BFE907B18A}"/>
                </a:ext>
              </a:extLst>
            </p:cNvPr>
            <p:cNvSpPr>
              <a:spLocks noChangeArrowheads="1"/>
            </p:cNvSpPr>
            <p:nvPr/>
          </p:nvSpPr>
          <p:spPr bwMode="auto">
            <a:xfrm>
              <a:off x="3379" y="3040"/>
              <a:ext cx="544" cy="363"/>
            </a:xfrm>
            <a:prstGeom prst="rect">
              <a:avLst/>
            </a:prstGeom>
            <a:solidFill>
              <a:srgbClr val="57AD27">
                <a:lumMod val="20000"/>
                <a:lumOff val="80000"/>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p>
              <a:pPr marL="742950" marR="0" lvl="0" indent="-28575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dirty="0">
                  <a:ln>
                    <a:noFill/>
                  </a:ln>
                  <a:solidFill>
                    <a:srgbClr val="7030A0"/>
                  </a:solidFill>
                  <a:effectLst/>
                  <a:uLnTx/>
                  <a:uFillTx/>
                  <a:latin typeface="Arial" panose="020B0604020202020204" pitchFamily="34" charset="0"/>
                  <a:ea typeface="黑体" pitchFamily="49" charset="-122"/>
                  <a:cs typeface="Arial" panose="020B0604020202020204" pitchFamily="34" charset="0"/>
                </a:rPr>
                <a:t>1</a:t>
              </a:r>
            </a:p>
          </p:txBody>
        </p:sp>
      </p:grpSp>
      <p:grpSp>
        <p:nvGrpSpPr>
          <p:cNvPr id="17" name="Group 7">
            <a:extLst>
              <a:ext uri="{FF2B5EF4-FFF2-40B4-BE49-F238E27FC236}">
                <a16:creationId xmlns:a16="http://schemas.microsoft.com/office/drawing/2014/main" id="{9401D366-926E-0B2E-C0F5-50A52E995CFF}"/>
              </a:ext>
            </a:extLst>
          </p:cNvPr>
          <p:cNvGrpSpPr/>
          <p:nvPr/>
        </p:nvGrpSpPr>
        <p:grpSpPr>
          <a:xfrm>
            <a:off x="395536" y="3105814"/>
            <a:ext cx="6900305" cy="871875"/>
            <a:chOff x="395536" y="3105814"/>
            <a:chExt cx="6900305" cy="871875"/>
          </a:xfrm>
        </p:grpSpPr>
        <p:sp>
          <p:nvSpPr>
            <p:cNvPr id="18" name="Rectangle 5">
              <a:extLst>
                <a:ext uri="{FF2B5EF4-FFF2-40B4-BE49-F238E27FC236}">
                  <a16:creationId xmlns:a16="http://schemas.microsoft.com/office/drawing/2014/main" id="{3C49D9F4-D7AA-4CFD-CE7D-B03BA56AFD1F}"/>
                </a:ext>
              </a:extLst>
            </p:cNvPr>
            <p:cNvSpPr/>
            <p:nvPr/>
          </p:nvSpPr>
          <p:spPr bwMode="auto">
            <a:xfrm>
              <a:off x="395536" y="3398252"/>
              <a:ext cx="6718521" cy="574099"/>
            </a:xfrm>
            <a:prstGeom prst="rect">
              <a:avLst/>
            </a:prstGeom>
            <a:solidFill>
              <a:srgbClr val="2990E5">
                <a:lumMod val="20000"/>
                <a:lumOff val="8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CN" sz="1800" b="0" i="0" u="none" strike="noStrike" kern="0" cap="none" spc="0" normalizeH="0" baseline="0" noProof="0">
                <a:ln>
                  <a:noFill/>
                </a:ln>
                <a:solidFill>
                  <a:srgbClr val="000000"/>
                </a:solidFill>
                <a:effectLst/>
                <a:uLnTx/>
                <a:uFillTx/>
              </a:endParaRPr>
            </a:p>
          </p:txBody>
        </p:sp>
        <p:sp>
          <p:nvSpPr>
            <p:cNvPr id="19" name="Line 18">
              <a:extLst>
                <a:ext uri="{FF2B5EF4-FFF2-40B4-BE49-F238E27FC236}">
                  <a16:creationId xmlns:a16="http://schemas.microsoft.com/office/drawing/2014/main" id="{1D494A2D-1B0E-2D44-793C-70E7F49655E2}"/>
                </a:ext>
              </a:extLst>
            </p:cNvPr>
            <p:cNvSpPr>
              <a:spLocks noChangeShapeType="1"/>
            </p:cNvSpPr>
            <p:nvPr/>
          </p:nvSpPr>
          <p:spPr bwMode="auto">
            <a:xfrm flipV="1">
              <a:off x="3189772" y="3105814"/>
              <a:ext cx="0" cy="2873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 name="Line 19">
              <a:extLst>
                <a:ext uri="{FF2B5EF4-FFF2-40B4-BE49-F238E27FC236}">
                  <a16:creationId xmlns:a16="http://schemas.microsoft.com/office/drawing/2014/main" id="{584B47DB-4DD0-F2F6-E1E6-C3E4B6689225}"/>
                </a:ext>
              </a:extLst>
            </p:cNvPr>
            <p:cNvSpPr>
              <a:spLocks noChangeShapeType="1"/>
            </p:cNvSpPr>
            <p:nvPr/>
          </p:nvSpPr>
          <p:spPr bwMode="auto">
            <a:xfrm flipV="1">
              <a:off x="3887924" y="3105814"/>
              <a:ext cx="0" cy="2873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 name="Line 20">
              <a:extLst>
                <a:ext uri="{FF2B5EF4-FFF2-40B4-BE49-F238E27FC236}">
                  <a16:creationId xmlns:a16="http://schemas.microsoft.com/office/drawing/2014/main" id="{46C3451E-D495-F1C7-B5D3-68E9C0B447F9}"/>
                </a:ext>
              </a:extLst>
            </p:cNvPr>
            <p:cNvSpPr>
              <a:spLocks noChangeShapeType="1"/>
            </p:cNvSpPr>
            <p:nvPr/>
          </p:nvSpPr>
          <p:spPr bwMode="auto">
            <a:xfrm flipV="1">
              <a:off x="4645348" y="3105814"/>
              <a:ext cx="0" cy="2873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2" name="Line 21">
              <a:extLst>
                <a:ext uri="{FF2B5EF4-FFF2-40B4-BE49-F238E27FC236}">
                  <a16:creationId xmlns:a16="http://schemas.microsoft.com/office/drawing/2014/main" id="{54AAF5F6-A3CE-B1C4-CDC1-FCB9BAC55030}"/>
                </a:ext>
              </a:extLst>
            </p:cNvPr>
            <p:cNvSpPr>
              <a:spLocks noChangeShapeType="1"/>
            </p:cNvSpPr>
            <p:nvPr/>
          </p:nvSpPr>
          <p:spPr bwMode="auto">
            <a:xfrm flipV="1">
              <a:off x="6070291" y="3107401"/>
              <a:ext cx="0" cy="2873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3" name="Line 22">
              <a:extLst>
                <a:ext uri="{FF2B5EF4-FFF2-40B4-BE49-F238E27FC236}">
                  <a16:creationId xmlns:a16="http://schemas.microsoft.com/office/drawing/2014/main" id="{2BAF9A59-E5F7-E382-AE82-A8BB06995659}"/>
                </a:ext>
              </a:extLst>
            </p:cNvPr>
            <p:cNvSpPr>
              <a:spLocks noChangeShapeType="1"/>
            </p:cNvSpPr>
            <p:nvPr/>
          </p:nvSpPr>
          <p:spPr bwMode="auto">
            <a:xfrm flipV="1">
              <a:off x="6804248" y="3107401"/>
              <a:ext cx="0" cy="2873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4" name="Text Box 29">
              <a:extLst>
                <a:ext uri="{FF2B5EF4-FFF2-40B4-BE49-F238E27FC236}">
                  <a16:creationId xmlns:a16="http://schemas.microsoft.com/office/drawing/2014/main" id="{A960BA43-1AD5-0FF4-E8B8-FCF455AF5E4B}"/>
                </a:ext>
              </a:extLst>
            </p:cNvPr>
            <p:cNvSpPr txBox="1">
              <a:spLocks noChangeArrowheads="1"/>
            </p:cNvSpPr>
            <p:nvPr/>
          </p:nvSpPr>
          <p:spPr bwMode="auto">
            <a:xfrm>
              <a:off x="2771800" y="3357718"/>
              <a:ext cx="7921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200" b="0"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2</a:t>
              </a:r>
              <a:r>
                <a:rPr kumimoji="0" lang="en-US" altLang="zh-CN" sz="3200" b="0" i="0" u="none" strike="noStrike" kern="0" cap="none" spc="0" normalizeH="0" baseline="3000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2</a:t>
              </a:r>
              <a:endParaRPr kumimoji="0" lang="en-US" altLang="zh-CN" sz="3200" b="0"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25" name="Text Box 30">
              <a:extLst>
                <a:ext uri="{FF2B5EF4-FFF2-40B4-BE49-F238E27FC236}">
                  <a16:creationId xmlns:a16="http://schemas.microsoft.com/office/drawing/2014/main" id="{BFBCAD23-A212-13DC-38DF-4173B6EE7E4E}"/>
                </a:ext>
              </a:extLst>
            </p:cNvPr>
            <p:cNvSpPr txBox="1">
              <a:spLocks noChangeArrowheads="1"/>
            </p:cNvSpPr>
            <p:nvPr/>
          </p:nvSpPr>
          <p:spPr bwMode="auto">
            <a:xfrm>
              <a:off x="3563813" y="3357718"/>
              <a:ext cx="792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200" b="0"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2</a:t>
              </a:r>
              <a:r>
                <a:rPr kumimoji="0" lang="en-US" altLang="zh-CN" sz="3200" b="0" i="0" u="none" strike="noStrike" kern="0" cap="none" spc="0" normalizeH="0" baseline="3000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1</a:t>
              </a:r>
              <a:endParaRPr kumimoji="0" lang="en-US" altLang="zh-CN" sz="3200" b="0"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26" name="Text Box 31">
              <a:extLst>
                <a:ext uri="{FF2B5EF4-FFF2-40B4-BE49-F238E27FC236}">
                  <a16:creationId xmlns:a16="http://schemas.microsoft.com/office/drawing/2014/main" id="{1741E308-9E6F-4BDE-B078-2A102365ACF2}"/>
                </a:ext>
              </a:extLst>
            </p:cNvPr>
            <p:cNvSpPr txBox="1">
              <a:spLocks noChangeArrowheads="1"/>
            </p:cNvSpPr>
            <p:nvPr/>
          </p:nvSpPr>
          <p:spPr bwMode="auto">
            <a:xfrm>
              <a:off x="4319897" y="3357718"/>
              <a:ext cx="792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200" b="0" i="0" u="none" strike="noStrike" kern="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rPr>
                <a:t>2</a:t>
              </a:r>
              <a:r>
                <a:rPr kumimoji="0" lang="en-US" altLang="zh-CN" sz="3200" b="0" i="0" u="none" strike="noStrike" kern="0" cap="none" spc="0" normalizeH="0" baseline="30000" noProof="0">
                  <a:ln>
                    <a:noFill/>
                  </a:ln>
                  <a:solidFill>
                    <a:srgbClr val="000000"/>
                  </a:solidFill>
                  <a:effectLst/>
                  <a:uLnTx/>
                  <a:uFillTx/>
                  <a:latin typeface="Arial" panose="020B0604020202020204" pitchFamily="34" charset="0"/>
                  <a:ea typeface="宋体" pitchFamily="2" charset="-122"/>
                  <a:cs typeface="Arial" panose="020B0604020202020204" pitchFamily="34" charset="0"/>
                </a:rPr>
                <a:t>0</a:t>
              </a:r>
              <a:endParaRPr kumimoji="0" lang="en-US" altLang="zh-CN" sz="3200" b="0" i="0" u="none" strike="noStrike" kern="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27" name="Text Box 32">
              <a:extLst>
                <a:ext uri="{FF2B5EF4-FFF2-40B4-BE49-F238E27FC236}">
                  <a16:creationId xmlns:a16="http://schemas.microsoft.com/office/drawing/2014/main" id="{627F2AA3-07CC-2198-E113-EC2D38BA798C}"/>
                </a:ext>
              </a:extLst>
            </p:cNvPr>
            <p:cNvSpPr txBox="1">
              <a:spLocks noChangeArrowheads="1"/>
            </p:cNvSpPr>
            <p:nvPr/>
          </p:nvSpPr>
          <p:spPr bwMode="auto">
            <a:xfrm>
              <a:off x="5709928" y="3357718"/>
              <a:ext cx="8651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200" b="0"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2</a:t>
              </a:r>
              <a:r>
                <a:rPr kumimoji="0" lang="en-US" altLang="zh-CN" sz="3200" b="0" i="0" u="none" strike="noStrike" kern="0" cap="none" spc="0" normalizeH="0" baseline="3000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-1</a:t>
              </a:r>
              <a:endParaRPr kumimoji="0" lang="en-US" altLang="zh-CN" sz="3200" b="0"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28" name="Text Box 33">
              <a:extLst>
                <a:ext uri="{FF2B5EF4-FFF2-40B4-BE49-F238E27FC236}">
                  <a16:creationId xmlns:a16="http://schemas.microsoft.com/office/drawing/2014/main" id="{4D4C9CD6-2F81-CB02-524E-B6C99E370128}"/>
                </a:ext>
              </a:extLst>
            </p:cNvPr>
            <p:cNvSpPr txBox="1">
              <a:spLocks noChangeArrowheads="1"/>
            </p:cNvSpPr>
            <p:nvPr/>
          </p:nvSpPr>
          <p:spPr bwMode="auto">
            <a:xfrm>
              <a:off x="6430653" y="3357718"/>
              <a:ext cx="8651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200" b="0" i="0" u="none" strike="noStrike" kern="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rPr>
                <a:t>2</a:t>
              </a:r>
              <a:r>
                <a:rPr kumimoji="0" lang="en-US" altLang="zh-CN" sz="3200" b="0" i="0" u="none" strike="noStrike" kern="0" cap="none" spc="0" normalizeH="0" baseline="30000" noProof="0">
                  <a:ln>
                    <a:noFill/>
                  </a:ln>
                  <a:solidFill>
                    <a:srgbClr val="000000"/>
                  </a:solidFill>
                  <a:effectLst/>
                  <a:uLnTx/>
                  <a:uFillTx/>
                  <a:latin typeface="Arial" panose="020B0604020202020204" pitchFamily="34" charset="0"/>
                  <a:ea typeface="宋体" pitchFamily="2" charset="-122"/>
                  <a:cs typeface="Arial" panose="020B0604020202020204" pitchFamily="34" charset="0"/>
                </a:rPr>
                <a:t>-2</a:t>
              </a:r>
              <a:endParaRPr kumimoji="0" lang="en-US" altLang="zh-CN" sz="3200" b="0" i="0" u="none" strike="noStrike" kern="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p:txBody>
        </p:sp>
        <p:sp>
          <p:nvSpPr>
            <p:cNvPr id="29" name="Text Box 34">
              <a:extLst>
                <a:ext uri="{FF2B5EF4-FFF2-40B4-BE49-F238E27FC236}">
                  <a16:creationId xmlns:a16="http://schemas.microsoft.com/office/drawing/2014/main" id="{9FADEBA4-12D0-9BFA-0EE7-CD8DF6938DA9}"/>
                </a:ext>
              </a:extLst>
            </p:cNvPr>
            <p:cNvSpPr txBox="1">
              <a:spLocks noChangeArrowheads="1"/>
            </p:cNvSpPr>
            <p:nvPr/>
          </p:nvSpPr>
          <p:spPr bwMode="auto">
            <a:xfrm>
              <a:off x="537395" y="3392914"/>
              <a:ext cx="17165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32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Weight</a:t>
              </a:r>
            </a:p>
          </p:txBody>
        </p:sp>
      </p:grpSp>
      <p:sp>
        <p:nvSpPr>
          <p:cNvPr id="30" name="Rectangle 35">
            <a:extLst>
              <a:ext uri="{FF2B5EF4-FFF2-40B4-BE49-F238E27FC236}">
                <a16:creationId xmlns:a16="http://schemas.microsoft.com/office/drawing/2014/main" id="{C9631681-7AD5-E265-B567-6B44A5C22E74}"/>
              </a:ext>
            </a:extLst>
          </p:cNvPr>
          <p:cNvSpPr>
            <a:spLocks noChangeArrowheads="1"/>
          </p:cNvSpPr>
          <p:nvPr/>
        </p:nvSpPr>
        <p:spPr bwMode="auto">
          <a:xfrm>
            <a:off x="3587034" y="4226453"/>
            <a:ext cx="5140386" cy="1947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spcBef>
                <a:spcPct val="20000"/>
              </a:spcBef>
              <a:buClr>
                <a:srgbClr val="000066"/>
              </a:buClr>
              <a:buSzPct val="80000"/>
              <a:buFont typeface="Wingdings" pitchFamily="2" charset="2"/>
              <a:buNone/>
            </a:pPr>
            <a:r>
              <a:rPr lang="en-US" altLang="zh-CN" sz="2400" dirty="0">
                <a:solidFill>
                  <a:srgbClr val="000000"/>
                </a:solidFill>
                <a:latin typeface="Arial" panose="020B0604020202020204" pitchFamily="34" charset="0"/>
                <a:ea typeface="黑体" pitchFamily="49" charset="-122"/>
                <a:cs typeface="Arial" panose="020B0604020202020204" pitchFamily="34" charset="0"/>
              </a:rPr>
              <a:t>101.11</a:t>
            </a:r>
            <a:r>
              <a:rPr lang="en-US" altLang="zh-CN" sz="2400" baseline="-25000" dirty="0">
                <a:solidFill>
                  <a:srgbClr val="000000"/>
                </a:solidFill>
                <a:latin typeface="Arial" panose="020B0604020202020204" pitchFamily="34" charset="0"/>
                <a:ea typeface="黑体" pitchFamily="49" charset="-122"/>
                <a:cs typeface="Arial" panose="020B0604020202020204" pitchFamily="34" charset="0"/>
              </a:rPr>
              <a:t>2 </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 1×2</a:t>
            </a: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2</a:t>
            </a:r>
            <a:r>
              <a:rPr lang="zh-CN" altLang="en-US" sz="2400" dirty="0">
                <a:solidFill>
                  <a:srgbClr val="000000"/>
                </a:solidFill>
                <a:latin typeface="Arial" panose="020B0604020202020204" pitchFamily="34" charset="0"/>
                <a:ea typeface="黑体" pitchFamily="49" charset="-122"/>
                <a:cs typeface="Arial" panose="020B0604020202020204" pitchFamily="34" charset="0"/>
              </a:rPr>
              <a:t>＋</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0×2</a:t>
            </a: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1</a:t>
            </a:r>
            <a:r>
              <a:rPr lang="zh-CN" altLang="en-US" sz="2400" dirty="0">
                <a:solidFill>
                  <a:srgbClr val="000000"/>
                </a:solidFill>
                <a:latin typeface="Arial" panose="020B0604020202020204" pitchFamily="34" charset="0"/>
                <a:ea typeface="黑体" pitchFamily="49" charset="-122"/>
                <a:cs typeface="Arial" panose="020B0604020202020204" pitchFamily="34" charset="0"/>
              </a:rPr>
              <a:t>＋</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1×2</a:t>
            </a: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0</a:t>
            </a:r>
          </a:p>
          <a:p>
            <a:pPr marL="342900" indent="-342900" algn="just">
              <a:spcBef>
                <a:spcPct val="20000"/>
              </a:spcBef>
              <a:buClr>
                <a:srgbClr val="000066"/>
              </a:buClr>
              <a:buSzPct val="80000"/>
              <a:buFont typeface="Wingdings" pitchFamily="2" charset="2"/>
              <a:buNone/>
            </a:pPr>
            <a:r>
              <a:rPr lang="en-US" altLang="zh-CN" sz="2400" dirty="0">
                <a:solidFill>
                  <a:srgbClr val="000000"/>
                </a:solidFill>
                <a:latin typeface="Arial" panose="020B0604020202020204" pitchFamily="34" charset="0"/>
                <a:ea typeface="黑体" pitchFamily="49" charset="-122"/>
                <a:cs typeface="Arial" panose="020B0604020202020204" pitchFamily="34" charset="0"/>
              </a:rPr>
              <a:t>                </a:t>
            </a:r>
            <a:r>
              <a:rPr lang="zh-CN" altLang="en-US" sz="2400" dirty="0">
                <a:solidFill>
                  <a:srgbClr val="000000"/>
                </a:solidFill>
                <a:latin typeface="Arial" panose="020B0604020202020204" pitchFamily="34" charset="0"/>
                <a:ea typeface="黑体" pitchFamily="49" charset="-122"/>
                <a:cs typeface="Arial" panose="020B0604020202020204" pitchFamily="34" charset="0"/>
              </a:rPr>
              <a:t>＋</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1×2</a:t>
            </a:r>
            <a:r>
              <a:rPr lang="zh-CN" altLang="en-US" sz="2400" baseline="30000" dirty="0">
                <a:solidFill>
                  <a:srgbClr val="000000"/>
                </a:solidFill>
                <a:latin typeface="Arial" panose="020B0604020202020204" pitchFamily="34" charset="0"/>
                <a:ea typeface="黑体" pitchFamily="49" charset="-122"/>
                <a:cs typeface="Arial" panose="020B0604020202020204" pitchFamily="34" charset="0"/>
              </a:rPr>
              <a:t>－</a:t>
            </a: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1</a:t>
            </a:r>
            <a:r>
              <a:rPr lang="zh-CN" altLang="en-US" sz="2400" dirty="0">
                <a:solidFill>
                  <a:srgbClr val="000000"/>
                </a:solidFill>
                <a:latin typeface="Arial" panose="020B0604020202020204" pitchFamily="34" charset="0"/>
                <a:ea typeface="黑体" pitchFamily="49" charset="-122"/>
                <a:cs typeface="Arial" panose="020B0604020202020204" pitchFamily="34" charset="0"/>
              </a:rPr>
              <a:t>＋</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1×2</a:t>
            </a:r>
            <a:r>
              <a:rPr lang="zh-CN" altLang="en-US" sz="2400" baseline="30000" dirty="0">
                <a:solidFill>
                  <a:srgbClr val="000000"/>
                </a:solidFill>
                <a:latin typeface="Arial" panose="020B0604020202020204" pitchFamily="34" charset="0"/>
                <a:ea typeface="黑体" pitchFamily="49" charset="-122"/>
                <a:cs typeface="Arial" panose="020B0604020202020204" pitchFamily="34" charset="0"/>
              </a:rPr>
              <a:t>－</a:t>
            </a: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2</a:t>
            </a:r>
          </a:p>
          <a:p>
            <a:pPr marL="342900" indent="-342900" algn="just">
              <a:spcBef>
                <a:spcPct val="20000"/>
              </a:spcBef>
              <a:buClr>
                <a:srgbClr val="000066"/>
              </a:buClr>
              <a:buSzPct val="80000"/>
              <a:buFont typeface="Wingdings" pitchFamily="2" charset="2"/>
              <a:buNone/>
            </a:pP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                   </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 5.75</a:t>
            </a:r>
            <a:r>
              <a:rPr lang="en-US" altLang="zh-CN" sz="2400" baseline="-25000" dirty="0">
                <a:solidFill>
                  <a:srgbClr val="000000"/>
                </a:solidFill>
                <a:latin typeface="Arial" panose="020B0604020202020204" pitchFamily="34" charset="0"/>
                <a:ea typeface="黑体" pitchFamily="49" charset="-122"/>
                <a:cs typeface="Arial" panose="020B0604020202020204" pitchFamily="34" charset="0"/>
              </a:rPr>
              <a:t>10</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 </a:t>
            </a:r>
          </a:p>
          <a:p>
            <a:pPr marL="342900" indent="-342900" algn="just">
              <a:spcBef>
                <a:spcPct val="20000"/>
              </a:spcBef>
              <a:buClr>
                <a:srgbClr val="000066"/>
              </a:buClr>
              <a:buSzPct val="80000"/>
              <a:buFont typeface="Wingdings" pitchFamily="2" charset="2"/>
              <a:buNone/>
            </a:pPr>
            <a:r>
              <a:rPr lang="en-US" altLang="zh-CN" sz="2400" dirty="0">
                <a:solidFill>
                  <a:srgbClr val="000000"/>
                </a:solidFill>
                <a:latin typeface="Arial" panose="020B0604020202020204" pitchFamily="34" charset="0"/>
                <a:ea typeface="黑体" pitchFamily="49" charset="-122"/>
                <a:cs typeface="Arial" panose="020B0604020202020204" pitchFamily="34" charset="0"/>
              </a:rPr>
              <a:t>             = 5×10</a:t>
            </a: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1</a:t>
            </a:r>
            <a:r>
              <a:rPr lang="zh-CN" altLang="en-US" sz="2400" dirty="0">
                <a:solidFill>
                  <a:srgbClr val="000000"/>
                </a:solidFill>
                <a:latin typeface="Arial" panose="020B0604020202020204" pitchFamily="34" charset="0"/>
                <a:ea typeface="黑体" pitchFamily="49" charset="-122"/>
                <a:cs typeface="Arial" panose="020B0604020202020204" pitchFamily="34" charset="0"/>
              </a:rPr>
              <a:t>＋</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7×10</a:t>
            </a: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-1</a:t>
            </a:r>
            <a:r>
              <a:rPr lang="zh-CN" altLang="en-US" sz="2400" dirty="0">
                <a:solidFill>
                  <a:srgbClr val="000000"/>
                </a:solidFill>
                <a:latin typeface="Arial" panose="020B0604020202020204" pitchFamily="34" charset="0"/>
                <a:ea typeface="黑体" pitchFamily="49" charset="-122"/>
                <a:cs typeface="Arial" panose="020B0604020202020204" pitchFamily="34" charset="0"/>
              </a:rPr>
              <a:t>＋</a:t>
            </a:r>
            <a:r>
              <a:rPr lang="en-US" altLang="zh-CN" sz="2400" dirty="0">
                <a:solidFill>
                  <a:srgbClr val="000000"/>
                </a:solidFill>
                <a:latin typeface="Arial" panose="020B0604020202020204" pitchFamily="34" charset="0"/>
                <a:ea typeface="黑体" pitchFamily="49" charset="-122"/>
                <a:cs typeface="Arial" panose="020B0604020202020204" pitchFamily="34" charset="0"/>
              </a:rPr>
              <a:t>5×10</a:t>
            </a:r>
            <a:r>
              <a:rPr lang="en-US" altLang="zh-CN" sz="2400" baseline="30000" dirty="0">
                <a:solidFill>
                  <a:srgbClr val="000000"/>
                </a:solidFill>
                <a:latin typeface="Arial" panose="020B0604020202020204" pitchFamily="34" charset="0"/>
                <a:ea typeface="黑体" pitchFamily="49" charset="-122"/>
                <a:cs typeface="Arial" panose="020B0604020202020204" pitchFamily="34" charset="0"/>
              </a:rPr>
              <a:t>-2</a:t>
            </a:r>
            <a:endParaRPr lang="en-US" altLang="zh-CN" sz="2400" dirty="0">
              <a:solidFill>
                <a:srgbClr val="000000"/>
              </a:solidFill>
              <a:latin typeface="Arial" panose="020B0604020202020204" pitchFamily="34" charset="0"/>
              <a:ea typeface="黑体" pitchFamily="49" charset="-122"/>
              <a:cs typeface="Arial" panose="020B0604020202020204" pitchFamily="34" charset="0"/>
            </a:endParaRPr>
          </a:p>
        </p:txBody>
      </p:sp>
      <p:grpSp>
        <p:nvGrpSpPr>
          <p:cNvPr id="31" name="Group 4">
            <a:extLst>
              <a:ext uri="{FF2B5EF4-FFF2-40B4-BE49-F238E27FC236}">
                <a16:creationId xmlns:a16="http://schemas.microsoft.com/office/drawing/2014/main" id="{7CBFB69B-081B-381C-2ACB-C5A6F15A0E8D}"/>
              </a:ext>
            </a:extLst>
          </p:cNvPr>
          <p:cNvGrpSpPr/>
          <p:nvPr/>
        </p:nvGrpSpPr>
        <p:grpSpPr>
          <a:xfrm>
            <a:off x="775744" y="1340768"/>
            <a:ext cx="8112406" cy="1438864"/>
            <a:chOff x="775744" y="1340768"/>
            <a:chExt cx="8112406" cy="1438864"/>
          </a:xfrm>
        </p:grpSpPr>
        <p:sp>
          <p:nvSpPr>
            <p:cNvPr id="32" name="Line 23">
              <a:extLst>
                <a:ext uri="{FF2B5EF4-FFF2-40B4-BE49-F238E27FC236}">
                  <a16:creationId xmlns:a16="http://schemas.microsoft.com/office/drawing/2014/main" id="{3FAFBEE6-4694-D93B-CA61-88A9DEE541ED}"/>
                </a:ext>
              </a:extLst>
            </p:cNvPr>
            <p:cNvSpPr>
              <a:spLocks noChangeShapeType="1"/>
            </p:cNvSpPr>
            <p:nvPr/>
          </p:nvSpPr>
          <p:spPr bwMode="auto">
            <a:xfrm flipV="1">
              <a:off x="3189772" y="2228450"/>
              <a:ext cx="0" cy="287338"/>
            </a:xfrm>
            <a:prstGeom prst="line">
              <a:avLst/>
            </a:prstGeom>
            <a:noFill/>
            <a:ln w="9525">
              <a:solidFill>
                <a:srgbClr val="4E9C22">
                  <a:lumMod val="75000"/>
                </a:srgbClr>
              </a:solidFill>
              <a:round/>
              <a:headEnd type="triangle" w="med" len="med"/>
              <a:tailEnd/>
            </a:ln>
            <a:extLst>
              <a:ext uri="{909E8E84-426E-40DD-AFC4-6F175D3DCCD1}">
                <a14:hiddenFill xmlns:a14="http://schemas.microsoft.com/office/drawing/2010/main">
                  <a:noFill/>
                </a14:hiddenFill>
              </a:ext>
            </a:extLst>
          </p:spPr>
          <p:txBody>
            <a:bodyPr vert="eaVe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5" name="Line 24">
              <a:extLst>
                <a:ext uri="{FF2B5EF4-FFF2-40B4-BE49-F238E27FC236}">
                  <a16:creationId xmlns:a16="http://schemas.microsoft.com/office/drawing/2014/main" id="{D42212D1-47B5-DA0F-8291-FD80C43AF90E}"/>
                </a:ext>
              </a:extLst>
            </p:cNvPr>
            <p:cNvSpPr>
              <a:spLocks noChangeShapeType="1"/>
            </p:cNvSpPr>
            <p:nvPr/>
          </p:nvSpPr>
          <p:spPr bwMode="auto">
            <a:xfrm flipH="1" flipV="1">
              <a:off x="5278127" y="1842968"/>
              <a:ext cx="0" cy="936664"/>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vert="eaVert"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6" name="Line 25">
              <a:extLst>
                <a:ext uri="{FF2B5EF4-FFF2-40B4-BE49-F238E27FC236}">
                  <a16:creationId xmlns:a16="http://schemas.microsoft.com/office/drawing/2014/main" id="{EB93D27A-32E4-215B-ED9A-39A86F5ECA96}"/>
                </a:ext>
              </a:extLst>
            </p:cNvPr>
            <p:cNvSpPr>
              <a:spLocks noChangeShapeType="1"/>
            </p:cNvSpPr>
            <p:nvPr/>
          </p:nvSpPr>
          <p:spPr bwMode="auto">
            <a:xfrm flipV="1">
              <a:off x="6789899" y="2228450"/>
              <a:ext cx="0" cy="287338"/>
            </a:xfrm>
            <a:prstGeom prst="line">
              <a:avLst/>
            </a:prstGeom>
            <a:noFill/>
            <a:ln w="9525">
              <a:solidFill>
                <a:srgbClr val="7030A0"/>
              </a:solidFill>
              <a:round/>
              <a:headEnd type="triangle" w="med" len="med"/>
              <a:tailEnd/>
            </a:ln>
            <a:extLst>
              <a:ext uri="{909E8E84-426E-40DD-AFC4-6F175D3DCCD1}">
                <a14:hiddenFill xmlns:a14="http://schemas.microsoft.com/office/drawing/2010/main">
                  <a:noFill/>
                </a14:hiddenFill>
              </a:ext>
            </a:extLst>
          </p:spPr>
          <p:txBody>
            <a:bodyPr vert="eaVe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38" name="Text Box 28">
              <a:extLst>
                <a:ext uri="{FF2B5EF4-FFF2-40B4-BE49-F238E27FC236}">
                  <a16:creationId xmlns:a16="http://schemas.microsoft.com/office/drawing/2014/main" id="{BDB386F7-82CA-E365-503C-D98FB12CB6CD}"/>
                </a:ext>
              </a:extLst>
            </p:cNvPr>
            <p:cNvSpPr txBox="1">
              <a:spLocks noChangeArrowheads="1"/>
            </p:cNvSpPr>
            <p:nvPr/>
          </p:nvSpPr>
          <p:spPr bwMode="auto">
            <a:xfrm>
              <a:off x="4290581" y="1340768"/>
              <a:ext cx="19792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Radix</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 </a:t>
              </a: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宋体" pitchFamily="2" charset="-122"/>
                  <a:cs typeface="Arial" panose="020B0604020202020204" pitchFamily="34" charset="0"/>
                </a:rPr>
                <a:t>point</a:t>
              </a:r>
            </a:p>
          </p:txBody>
        </p:sp>
        <p:sp>
          <p:nvSpPr>
            <p:cNvPr id="39" name="矩形 36">
              <a:extLst>
                <a:ext uri="{FF2B5EF4-FFF2-40B4-BE49-F238E27FC236}">
                  <a16:creationId xmlns:a16="http://schemas.microsoft.com/office/drawing/2014/main" id="{3FD34FC5-6719-4B4D-4C83-38187BEDC34F}"/>
                </a:ext>
              </a:extLst>
            </p:cNvPr>
            <p:cNvSpPr>
              <a:spLocks noChangeArrowheads="1"/>
            </p:cNvSpPr>
            <p:nvPr/>
          </p:nvSpPr>
          <p:spPr bwMode="auto">
            <a:xfrm>
              <a:off x="5339963" y="1872717"/>
              <a:ext cx="35481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7030A0"/>
                  </a:solidFill>
                  <a:effectLst/>
                  <a:uLnTx/>
                  <a:uFillTx/>
                  <a:latin typeface="Arial" panose="020B0604020202020204" pitchFamily="34" charset="0"/>
                  <a:cs typeface="Arial" panose="020B0604020202020204" pitchFamily="34" charset="0"/>
                </a:rPr>
                <a:t>LSB (Least Significant Bit)</a:t>
              </a:r>
              <a:endParaRPr kumimoji="0" lang="zh-CN" altLang="en-US" sz="2000" b="1" i="0" u="none" strike="noStrike" kern="0" cap="none" spc="0" normalizeH="0" baseline="0" noProof="0" dirty="0">
                <a:ln>
                  <a:noFill/>
                </a:ln>
                <a:solidFill>
                  <a:srgbClr val="7030A0"/>
                </a:solidFill>
                <a:effectLst/>
                <a:uLnTx/>
                <a:uFillTx/>
                <a:latin typeface="Arial" panose="020B0604020202020204" pitchFamily="34" charset="0"/>
                <a:cs typeface="Arial" panose="020B0604020202020204" pitchFamily="34" charset="0"/>
              </a:endParaRPr>
            </a:p>
          </p:txBody>
        </p:sp>
        <p:sp>
          <p:nvSpPr>
            <p:cNvPr id="40" name="Rectangle 3">
              <a:extLst>
                <a:ext uri="{FF2B5EF4-FFF2-40B4-BE49-F238E27FC236}">
                  <a16:creationId xmlns:a16="http://schemas.microsoft.com/office/drawing/2014/main" id="{8435F414-A408-BB36-6586-0C2F550856DB}"/>
                </a:ext>
              </a:extLst>
            </p:cNvPr>
            <p:cNvSpPr/>
            <p:nvPr/>
          </p:nvSpPr>
          <p:spPr>
            <a:xfrm>
              <a:off x="775744" y="1872717"/>
              <a:ext cx="3385863" cy="400110"/>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4E9C22">
                      <a:lumMod val="75000"/>
                    </a:srgbClr>
                  </a:solidFill>
                  <a:effectLst/>
                  <a:uLnTx/>
                  <a:uFillTx/>
                  <a:latin typeface="Arial" panose="020B0604020202020204" pitchFamily="34" charset="0"/>
                  <a:cs typeface="Arial" panose="020B0604020202020204" pitchFamily="34" charset="0"/>
                </a:rPr>
                <a:t>MSB (Most Significant Bit)</a:t>
              </a:r>
            </a:p>
          </p:txBody>
        </p:sp>
      </p:grpSp>
      <p:grpSp>
        <p:nvGrpSpPr>
          <p:cNvPr id="41" name="Group 2">
            <a:extLst>
              <a:ext uri="{FF2B5EF4-FFF2-40B4-BE49-F238E27FC236}">
                <a16:creationId xmlns:a16="http://schemas.microsoft.com/office/drawing/2014/main" id="{6BDC2F65-C78C-5DCC-6FD9-793355A03834}"/>
              </a:ext>
            </a:extLst>
          </p:cNvPr>
          <p:cNvGrpSpPr/>
          <p:nvPr/>
        </p:nvGrpSpPr>
        <p:grpSpPr>
          <a:xfrm>
            <a:off x="416580" y="4331545"/>
            <a:ext cx="2823272" cy="1662368"/>
            <a:chOff x="322576" y="4430253"/>
            <a:chExt cx="2823272" cy="1662368"/>
          </a:xfrm>
        </p:grpSpPr>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54507DD9-F48E-F91A-26D9-A510D95FC5A3}"/>
                    </a:ext>
                  </a:extLst>
                </p:cNvPr>
                <p:cNvSpPr/>
                <p:nvPr/>
              </p:nvSpPr>
              <p:spPr>
                <a:xfrm>
                  <a:off x="322576" y="4430253"/>
                  <a:ext cx="2823272" cy="1284711"/>
                </a:xfrm>
                <a:prstGeom prst="rect">
                  <a:avLst/>
                </a:prstGeom>
                <a:solidFill>
                  <a:srgbClr val="2990E5">
                    <a:lumMod val="20000"/>
                    <a:lumOff val="80000"/>
                  </a:srgbClr>
                </a:solid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3200" b="1" i="1" u="none" strike="noStrike" kern="0" cap="none" spc="0" normalizeH="0" baseline="0" noProof="0" smtClean="0">
                            <a:ln>
                              <a:noFill/>
                            </a:ln>
                            <a:solidFill>
                              <a:srgbClr val="000000"/>
                            </a:solidFill>
                            <a:effectLst/>
                            <a:uLnTx/>
                            <a:uFillTx/>
                            <a:latin typeface="Cambria Math" panose="02040503050406030204" pitchFamily="18" charset="0"/>
                          </a:rPr>
                          <m:t>𝑩</m:t>
                        </m:r>
                        <m:r>
                          <a:rPr kumimoji="0" lang="zh-CN" altLang="en-US" sz="3200" b="0" i="0" u="none" strike="noStrike" kern="0" cap="none" spc="0" normalizeH="0" baseline="0" noProof="0" smtClean="0">
                            <a:ln>
                              <a:noFill/>
                            </a:ln>
                            <a:solidFill>
                              <a:srgbClr val="000000"/>
                            </a:solidFill>
                            <a:effectLst/>
                            <a:uLnTx/>
                            <a:uFillTx/>
                            <a:latin typeface="Cambria Math" panose="02040503050406030204" pitchFamily="18" charset="0"/>
                          </a:rPr>
                          <m:t>=</m:t>
                        </m:r>
                        <m:nary>
                          <m:naryPr>
                            <m:chr m:val="∑"/>
                            <m:grow m:val="on"/>
                            <m:subHide m:val="on"/>
                            <m:supHide m:val="on"/>
                            <m:ctrlPr>
                              <a:rPr kumimoji="0" lang="zh-CN" altLang="en-US" sz="3200" b="0" i="1" u="none" strike="noStrike" kern="0" cap="none" spc="0" normalizeH="0" baseline="0" noProof="0" smtClean="0">
                                <a:ln>
                                  <a:noFill/>
                                </a:ln>
                                <a:solidFill>
                                  <a:srgbClr val="000000"/>
                                </a:solidFill>
                                <a:effectLst/>
                                <a:uLnTx/>
                                <a:uFillTx/>
                                <a:latin typeface="Cambria Math" panose="02040503050406030204" pitchFamily="18" charset="0"/>
                              </a:rPr>
                            </m:ctrlPr>
                          </m:naryPr>
                          <m:sub/>
                          <m:sup/>
                          <m:e>
                            <m:sSub>
                              <m:sSubPr>
                                <m:ctrlPr>
                                  <a:rPr kumimoji="0" lang="zh-CN" altLang="en-US" sz="3200" b="0" i="1" u="none" strike="noStrike" kern="0" cap="none" spc="0" normalizeH="0" baseline="0" noProof="0" smtClean="0">
                                    <a:ln>
                                      <a:noFill/>
                                    </a:ln>
                                    <a:solidFill>
                                      <a:srgbClr val="3333FF"/>
                                    </a:solidFill>
                                    <a:effectLst/>
                                    <a:uLnTx/>
                                    <a:uFillTx/>
                                    <a:latin typeface="Cambria Math" panose="02040503050406030204" pitchFamily="18" charset="0"/>
                                  </a:rPr>
                                </m:ctrlPr>
                              </m:sSubPr>
                              <m:e>
                                <m:r>
                                  <a:rPr kumimoji="0" lang="zh-CN" altLang="en-US" sz="3200" b="0" i="1" u="none" strike="noStrike" kern="0" cap="none" spc="0" normalizeH="0" baseline="0" noProof="0" smtClean="0">
                                    <a:ln>
                                      <a:noFill/>
                                    </a:ln>
                                    <a:solidFill>
                                      <a:srgbClr val="3333FF"/>
                                    </a:solidFill>
                                    <a:effectLst/>
                                    <a:uLnTx/>
                                    <a:uFillTx/>
                                    <a:latin typeface="Cambria Math" panose="02040503050406030204" pitchFamily="18" charset="0"/>
                                  </a:rPr>
                                  <m:t>𝑘</m:t>
                                </m:r>
                              </m:e>
                              <m:sub>
                                <m:r>
                                  <a:rPr kumimoji="0" lang="zh-CN" altLang="en-US" sz="3200" b="0" i="1" u="none" strike="noStrike" kern="0" cap="none" spc="0" normalizeH="0" baseline="0" noProof="0" smtClean="0">
                                    <a:ln>
                                      <a:noFill/>
                                    </a:ln>
                                    <a:solidFill>
                                      <a:srgbClr val="3333FF"/>
                                    </a:solidFill>
                                    <a:effectLst/>
                                    <a:uLnTx/>
                                    <a:uFillTx/>
                                    <a:latin typeface="Cambria Math" panose="02040503050406030204" pitchFamily="18" charset="0"/>
                                  </a:rPr>
                                  <m:t>𝑖</m:t>
                                </m:r>
                              </m:sub>
                            </m:sSub>
                          </m:e>
                        </m:nary>
                        <m:r>
                          <a:rPr kumimoji="0" lang="zh-CN" altLang="en-US" sz="3200" b="0" i="0" u="none" strike="noStrike" kern="0" cap="none" spc="0" normalizeH="0" baseline="0" noProof="0" smtClean="0">
                            <a:ln>
                              <a:noFill/>
                            </a:ln>
                            <a:solidFill>
                              <a:srgbClr val="000000"/>
                            </a:solidFill>
                            <a:effectLst/>
                            <a:uLnTx/>
                            <a:uFillTx/>
                            <a:latin typeface="Cambria Math" panose="02040503050406030204" pitchFamily="18" charset="0"/>
                          </a:rPr>
                          <m:t>×</m:t>
                        </m:r>
                        <m:sSup>
                          <m:sSupPr>
                            <m:ctrlPr>
                              <a:rPr kumimoji="0" lang="zh-CN" altLang="en-US" sz="3200" b="0" i="1" u="none" strike="noStrike" kern="0" cap="none" spc="0" normalizeH="0" baseline="0" noProof="0" smtClean="0">
                                <a:ln>
                                  <a:noFill/>
                                </a:ln>
                                <a:solidFill>
                                  <a:srgbClr val="000000"/>
                                </a:solidFill>
                                <a:effectLst/>
                                <a:uLnTx/>
                                <a:uFillTx/>
                                <a:latin typeface="Cambria Math" panose="02040503050406030204" pitchFamily="18" charset="0"/>
                              </a:rPr>
                            </m:ctrlPr>
                          </m:sSupPr>
                          <m:e>
                            <m:r>
                              <a:rPr kumimoji="0" lang="zh-CN" altLang="en-US" sz="3200" b="0" i="0" u="none" strike="noStrike" kern="0" cap="none" spc="0" normalizeH="0" baseline="0" noProof="0" smtClean="0">
                                <a:ln>
                                  <a:noFill/>
                                </a:ln>
                                <a:solidFill>
                                  <a:srgbClr val="000000"/>
                                </a:solidFill>
                                <a:effectLst/>
                                <a:uLnTx/>
                                <a:uFillTx/>
                                <a:latin typeface="Cambria Math" panose="02040503050406030204" pitchFamily="18" charset="0"/>
                              </a:rPr>
                              <m:t>2</m:t>
                            </m:r>
                          </m:e>
                          <m:sup>
                            <m:r>
                              <a:rPr kumimoji="0" lang="zh-CN" altLang="en-US" sz="3200" b="0" i="1" u="none" strike="noStrike" kern="0" cap="none" spc="0" normalizeH="0" baseline="0" noProof="0" smtClean="0">
                                <a:ln>
                                  <a:noFill/>
                                </a:ln>
                                <a:solidFill>
                                  <a:srgbClr val="000000"/>
                                </a:solidFill>
                                <a:effectLst/>
                                <a:uLnTx/>
                                <a:uFillTx/>
                                <a:latin typeface="Cambria Math" panose="02040503050406030204" pitchFamily="18" charset="0"/>
                              </a:rPr>
                              <m:t>𝑖</m:t>
                            </m:r>
                          </m:sup>
                        </m:sSup>
                      </m:oMath>
                    </m:oMathPara>
                  </a14:m>
                  <a:endParaRPr kumimoji="0" lang="zh-CN" altLang="en-US" sz="40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mc:Choice>
          <mc:Fallback xmlns="">
            <p:sp>
              <p:nvSpPr>
                <p:cNvPr id="33" name="矩形 32"/>
                <p:cNvSpPr>
                  <a:spLocks noRot="1" noChangeAspect="1" noMove="1" noResize="1" noEditPoints="1" noAdjustHandles="1" noChangeArrowheads="1" noChangeShapeType="1" noTextEdit="1"/>
                </p:cNvSpPr>
                <p:nvPr/>
              </p:nvSpPr>
              <p:spPr>
                <a:xfrm>
                  <a:off x="322576" y="4430253"/>
                  <a:ext cx="2823272" cy="1284711"/>
                </a:xfrm>
                <a:prstGeom prst="rect">
                  <a:avLst/>
                </a:prstGeom>
                <a:blipFill>
                  <a:blip r:embed="rId3"/>
                  <a:stretch>
                    <a:fillRect l="-19731" t="-134314" b="-185294"/>
                  </a:stretch>
                </a:blipFill>
              </p:spPr>
              <p:txBody>
                <a:bodyPr/>
                <a:lstStyle/>
                <a:p>
                  <a:r>
                    <a:rPr lang="en-CN">
                      <a:noFill/>
                    </a:rPr>
                    <a:t> </a:t>
                  </a:r>
                </a:p>
              </p:txBody>
            </p:sp>
          </mc:Fallback>
        </mc:AlternateContent>
        <p:sp>
          <p:nvSpPr>
            <p:cNvPr id="43" name="Rectangle 4">
              <a:extLst>
                <a:ext uri="{FF2B5EF4-FFF2-40B4-BE49-F238E27FC236}">
                  <a16:creationId xmlns:a16="http://schemas.microsoft.com/office/drawing/2014/main" id="{BFD9B310-04BF-0541-B813-1B34AE8A205C}"/>
                </a:ext>
              </a:extLst>
            </p:cNvPr>
            <p:cNvSpPr>
              <a:spLocks noChangeArrowheads="1"/>
            </p:cNvSpPr>
            <p:nvPr/>
          </p:nvSpPr>
          <p:spPr bwMode="auto">
            <a:xfrm>
              <a:off x="322576" y="5557090"/>
              <a:ext cx="2823272" cy="535531"/>
            </a:xfrm>
            <a:prstGeom prst="rect">
              <a:avLst/>
            </a:prstGeom>
            <a:solidFill>
              <a:srgbClr val="2990E5">
                <a:lumMod val="20000"/>
                <a:lumOff val="80000"/>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742950" marR="0" lvl="0" indent="-285750" algn="ctr" defTabSz="914400" eaLnBrk="1" fontAlgn="auto" latinLnBrk="0" hangingPunct="1">
                <a:lnSpc>
                  <a:spcPct val="90000"/>
                </a:lnSpc>
                <a:spcBef>
                  <a:spcPct val="50000"/>
                </a:spcBef>
                <a:spcAft>
                  <a:spcPts val="0"/>
                </a:spcAft>
                <a:buClrTx/>
                <a:buSzTx/>
                <a:buFontTx/>
                <a:buNone/>
                <a:tabLst/>
                <a:defRPr/>
              </a:pPr>
              <a:r>
                <a:rPr kumimoji="1" lang="en-US" altLang="zh-CN" sz="3200" b="0" i="1" u="none" strike="noStrike" kern="0" cap="none" spc="0" normalizeH="0" baseline="0" noProof="0" dirty="0" err="1">
                  <a:ln>
                    <a:noFill/>
                  </a:ln>
                  <a:solidFill>
                    <a:srgbClr val="3333FF"/>
                  </a:solidFill>
                  <a:effectLst/>
                  <a:uLnTx/>
                  <a:uFillTx/>
                  <a:latin typeface="Times New Roman" panose="02020603050405020304" pitchFamily="18" charset="0"/>
                  <a:ea typeface="黑体" pitchFamily="49" charset="-122"/>
                  <a:cs typeface="Times New Roman" panose="02020603050405020304" pitchFamily="18" charset="0"/>
                </a:rPr>
                <a:t>k</a:t>
              </a:r>
              <a:r>
                <a:rPr kumimoji="1" lang="en-US" altLang="zh-CN" sz="3200" b="0" i="1" u="none" strike="noStrike" kern="0" cap="none" spc="0" normalizeH="0" baseline="-25000" noProof="0" dirty="0" err="1">
                  <a:ln>
                    <a:noFill/>
                  </a:ln>
                  <a:solidFill>
                    <a:srgbClr val="3333FF"/>
                  </a:solidFill>
                  <a:effectLst/>
                  <a:uLnTx/>
                  <a:uFillTx/>
                  <a:latin typeface="Times New Roman" panose="02020603050405020304" pitchFamily="18" charset="0"/>
                  <a:ea typeface="黑体" pitchFamily="49" charset="-122"/>
                  <a:cs typeface="Times New Roman" panose="02020603050405020304" pitchFamily="18" charset="0"/>
                </a:rPr>
                <a:t>i</a:t>
              </a:r>
              <a:r>
                <a:rPr kumimoji="1" lang="en-US" altLang="zh-CN" sz="3200" b="0" i="0" u="none" strike="noStrike" kern="0" cap="none" spc="0" normalizeH="0" baseline="0" noProof="0" dirty="0">
                  <a:ln>
                    <a:noFill/>
                  </a:ln>
                  <a:solidFill>
                    <a:srgbClr val="3333FF"/>
                  </a:solidFill>
                  <a:effectLst/>
                  <a:uLnTx/>
                  <a:uFillTx/>
                  <a:latin typeface="Times New Roman" panose="02020603050405020304" pitchFamily="18" charset="0"/>
                  <a:ea typeface="黑体" pitchFamily="49" charset="-122"/>
                  <a:cs typeface="Times New Roman" panose="02020603050405020304" pitchFamily="18" charset="0"/>
                </a:rPr>
                <a:t>: 0, 1</a:t>
              </a:r>
            </a:p>
          </p:txBody>
        </p:sp>
      </p:grpSp>
    </p:spTree>
    <p:extLst>
      <p:ext uri="{BB962C8B-B14F-4D97-AF65-F5344CB8AC3E}">
        <p14:creationId xmlns:p14="http://schemas.microsoft.com/office/powerpoint/2010/main" val="259213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dirty="0"/>
              <a:t>4-bit</a:t>
            </a:r>
            <a:r>
              <a:rPr lang="zh-CN" altLang="en-US" dirty="0"/>
              <a:t> 二进制整数</a:t>
            </a:r>
            <a:endParaRPr lang="en-US" altLang="zh-CN" dirty="0"/>
          </a:p>
        </p:txBody>
      </p:sp>
      <p:sp>
        <p:nvSpPr>
          <p:cNvPr id="2" name="灯片编号占位符 1">
            <a:extLst>
              <a:ext uri="{FF2B5EF4-FFF2-40B4-BE49-F238E27FC236}">
                <a16:creationId xmlns:a16="http://schemas.microsoft.com/office/drawing/2014/main" id="{3B1AED66-6C1C-ABC8-6936-95A7B58AF921}"/>
              </a:ext>
            </a:extLst>
          </p:cNvPr>
          <p:cNvSpPr>
            <a:spLocks noGrp="1"/>
          </p:cNvSpPr>
          <p:nvPr>
            <p:ph type="sldNum" sz="quarter" idx="12"/>
          </p:nvPr>
        </p:nvSpPr>
        <p:spPr/>
        <p:txBody>
          <a:bodyPr/>
          <a:lstStyle/>
          <a:p>
            <a:fld id="{6C23D995-88A0-46FA-B356-FA459EF841CD}" type="slidenum">
              <a:rPr lang="en-US" altLang="zh-CN" smtClean="0"/>
              <a:pPr/>
              <a:t>12</a:t>
            </a:fld>
            <a:endParaRPr lang="en-US" altLang="zh-CN" dirty="0"/>
          </a:p>
        </p:txBody>
      </p:sp>
      <p:graphicFrame>
        <p:nvGraphicFramePr>
          <p:cNvPr id="498692" name="Group 4"/>
          <p:cNvGraphicFramePr>
            <a:graphicFrameLocks noGrp="1"/>
          </p:cNvGraphicFramePr>
          <p:nvPr/>
        </p:nvGraphicFramePr>
        <p:xfrm>
          <a:off x="1040030" y="1765089"/>
          <a:ext cx="3168792" cy="4064000"/>
        </p:xfrm>
        <a:graphic>
          <a:graphicData uri="http://schemas.openxmlformats.org/drawingml/2006/table">
            <a:tbl>
              <a:tblPr/>
              <a:tblGrid>
                <a:gridCol w="373380">
                  <a:extLst>
                    <a:ext uri="{9D8B030D-6E8A-4147-A177-3AD203B41FA5}">
                      <a16:colId xmlns:a16="http://schemas.microsoft.com/office/drawing/2014/main" val="20000"/>
                    </a:ext>
                  </a:extLst>
                </a:gridCol>
                <a:gridCol w="373380">
                  <a:extLst>
                    <a:ext uri="{9D8B030D-6E8A-4147-A177-3AD203B41FA5}">
                      <a16:colId xmlns:a16="http://schemas.microsoft.com/office/drawing/2014/main" val="20001"/>
                    </a:ext>
                  </a:extLst>
                </a:gridCol>
                <a:gridCol w="399456">
                  <a:extLst>
                    <a:ext uri="{9D8B030D-6E8A-4147-A177-3AD203B41FA5}">
                      <a16:colId xmlns:a16="http://schemas.microsoft.com/office/drawing/2014/main" val="20002"/>
                    </a:ext>
                  </a:extLst>
                </a:gridCol>
                <a:gridCol w="438713">
                  <a:extLst>
                    <a:ext uri="{9D8B030D-6E8A-4147-A177-3AD203B41FA5}">
                      <a16:colId xmlns:a16="http://schemas.microsoft.com/office/drawing/2014/main" val="20003"/>
                    </a:ext>
                  </a:extLst>
                </a:gridCol>
                <a:gridCol w="800663">
                  <a:extLst>
                    <a:ext uri="{9D8B030D-6E8A-4147-A177-3AD203B41FA5}">
                      <a16:colId xmlns:a16="http://schemas.microsoft.com/office/drawing/2014/main" val="20004"/>
                    </a:ext>
                  </a:extLst>
                </a:gridCol>
                <a:gridCol w="783200">
                  <a:extLst>
                    <a:ext uri="{9D8B030D-6E8A-4147-A177-3AD203B41FA5}">
                      <a16:colId xmlns:a16="http://schemas.microsoft.com/office/drawing/2014/main" val="2749382943"/>
                    </a:ext>
                  </a:extLst>
                </a:gridCol>
              </a:tblGrid>
              <a:tr h="406400">
                <a:tc gridSpan="4">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BIN</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DEC</a:t>
                      </a:r>
                    </a:p>
                  </a:txBody>
                  <a:tcPr marL="36000" marR="36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HEX</a:t>
                      </a:r>
                    </a:p>
                  </a:txBody>
                  <a:tcPr marL="36000" marR="36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1063691"/>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30000" dirty="0">
                          <a:ln>
                            <a:noFill/>
                          </a:ln>
                          <a:solidFill>
                            <a:schemeClr val="tx1"/>
                          </a:solidFill>
                          <a:effectLst/>
                          <a:latin typeface="Arial" charset="0"/>
                          <a:ea typeface="黑体" panose="02010609060101010101" pitchFamily="49" charset="-122"/>
                        </a:rPr>
                        <a:t>3</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30000" dirty="0">
                          <a:ln>
                            <a:noFill/>
                          </a:ln>
                          <a:solidFill>
                            <a:schemeClr val="tx1"/>
                          </a:solidFill>
                          <a:effectLst/>
                          <a:latin typeface="Arial" charset="0"/>
                          <a:ea typeface="黑体" panose="02010609060101010101" pitchFamily="49" charset="-122"/>
                        </a:rPr>
                        <a:t>2</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3000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3000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DEC</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HEX</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3</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3</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4</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4</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5</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5</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6</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6</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7</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7</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6" name="Group 4">
            <a:extLst>
              <a:ext uri="{FF2B5EF4-FFF2-40B4-BE49-F238E27FC236}">
                <a16:creationId xmlns:a16="http://schemas.microsoft.com/office/drawing/2014/main" id="{C71C7657-579F-244C-9DCE-B0A67AC50204}"/>
              </a:ext>
            </a:extLst>
          </p:cNvPr>
          <p:cNvGraphicFramePr>
            <a:graphicFrameLocks noGrp="1"/>
          </p:cNvGraphicFramePr>
          <p:nvPr/>
        </p:nvGraphicFramePr>
        <p:xfrm>
          <a:off x="4930724" y="1753696"/>
          <a:ext cx="3168792" cy="4064000"/>
        </p:xfrm>
        <a:graphic>
          <a:graphicData uri="http://schemas.openxmlformats.org/drawingml/2006/table">
            <a:tbl>
              <a:tblPr/>
              <a:tblGrid>
                <a:gridCol w="373380">
                  <a:extLst>
                    <a:ext uri="{9D8B030D-6E8A-4147-A177-3AD203B41FA5}">
                      <a16:colId xmlns:a16="http://schemas.microsoft.com/office/drawing/2014/main" val="20000"/>
                    </a:ext>
                  </a:extLst>
                </a:gridCol>
                <a:gridCol w="373380">
                  <a:extLst>
                    <a:ext uri="{9D8B030D-6E8A-4147-A177-3AD203B41FA5}">
                      <a16:colId xmlns:a16="http://schemas.microsoft.com/office/drawing/2014/main" val="20001"/>
                    </a:ext>
                  </a:extLst>
                </a:gridCol>
                <a:gridCol w="399456">
                  <a:extLst>
                    <a:ext uri="{9D8B030D-6E8A-4147-A177-3AD203B41FA5}">
                      <a16:colId xmlns:a16="http://schemas.microsoft.com/office/drawing/2014/main" val="20002"/>
                    </a:ext>
                  </a:extLst>
                </a:gridCol>
                <a:gridCol w="438713">
                  <a:extLst>
                    <a:ext uri="{9D8B030D-6E8A-4147-A177-3AD203B41FA5}">
                      <a16:colId xmlns:a16="http://schemas.microsoft.com/office/drawing/2014/main" val="20003"/>
                    </a:ext>
                  </a:extLst>
                </a:gridCol>
                <a:gridCol w="800663">
                  <a:extLst>
                    <a:ext uri="{9D8B030D-6E8A-4147-A177-3AD203B41FA5}">
                      <a16:colId xmlns:a16="http://schemas.microsoft.com/office/drawing/2014/main" val="20004"/>
                    </a:ext>
                  </a:extLst>
                </a:gridCol>
                <a:gridCol w="783200">
                  <a:extLst>
                    <a:ext uri="{9D8B030D-6E8A-4147-A177-3AD203B41FA5}">
                      <a16:colId xmlns:a16="http://schemas.microsoft.com/office/drawing/2014/main" val="2749382943"/>
                    </a:ext>
                  </a:extLst>
                </a:gridCol>
              </a:tblGrid>
              <a:tr h="406400">
                <a:tc gridSpan="4">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BIN</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endParaRPr kumimoji="0" lang="en-US" altLang="zh-CN" sz="2400" b="0" i="0" u="none" strike="noStrike" cap="none" normalizeH="0" baseline="0" dirty="0">
                        <a:ln>
                          <a:noFill/>
                        </a:ln>
                        <a:solidFill>
                          <a:schemeClr val="tx1"/>
                        </a:solidFill>
                        <a:effectLst/>
                        <a:latin typeface="Arial" charset="0"/>
                        <a:ea typeface="宋体" pitchFamily="2"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DEC</a:t>
                      </a:r>
                    </a:p>
                  </a:txBody>
                  <a:tcPr marL="36000" marR="36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HEX</a:t>
                      </a:r>
                    </a:p>
                  </a:txBody>
                  <a:tcPr marL="36000" marR="36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1063691"/>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30000" dirty="0">
                          <a:ln>
                            <a:noFill/>
                          </a:ln>
                          <a:solidFill>
                            <a:schemeClr val="tx1"/>
                          </a:solidFill>
                          <a:effectLst/>
                          <a:latin typeface="Arial" charset="0"/>
                          <a:ea typeface="黑体" panose="02010609060101010101" pitchFamily="49" charset="-122"/>
                        </a:rPr>
                        <a:t>3</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30000" dirty="0">
                          <a:ln>
                            <a:noFill/>
                          </a:ln>
                          <a:solidFill>
                            <a:schemeClr val="tx1"/>
                          </a:solidFill>
                          <a:effectLst/>
                          <a:latin typeface="Arial" charset="0"/>
                          <a:ea typeface="黑体" panose="02010609060101010101" pitchFamily="49" charset="-122"/>
                        </a:rPr>
                        <a:t>2</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3000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3000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DEC</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宋体" pitchFamily="2" charset="-122"/>
                        </a:rPr>
                        <a:t>HEX</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8</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8</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9</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9</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B</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12</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C</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13</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D</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14</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E</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15</a:t>
                      </a:r>
                      <a:endParaRPr kumimoji="0" lang="en-US" altLang="zh-CN" sz="2400" b="0" i="0" u="none" strike="noStrike" cap="none" normalizeH="0" baseline="0" dirty="0">
                        <a:ln>
                          <a:noFill/>
                        </a:ln>
                        <a:solidFill>
                          <a:schemeClr val="tx1"/>
                        </a:solidFill>
                        <a:effectLst/>
                        <a:latin typeface="Arial" charset="0"/>
                        <a:ea typeface="黑体" panose="02010609060101010101" pitchFamily="49" charset="-122"/>
                      </a:endParaRP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F</a:t>
                      </a:r>
                    </a:p>
                  </a:txBody>
                  <a:tcPr marL="36000" marR="36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30908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CN" dirty="0">
                <a:solidFill>
                  <a:schemeClr val="tx1"/>
                </a:solidFill>
              </a:rPr>
              <a:t>左移与右移</a:t>
            </a:r>
            <a:r>
              <a:rPr lang="zh-CN" altLang="en-US" dirty="0">
                <a:solidFill>
                  <a:schemeClr val="tx1"/>
                </a:solidFill>
              </a:rPr>
              <a:t>操作</a:t>
            </a:r>
            <a:endParaRPr lang="en-US" altLang="zh-CN" dirty="0">
              <a:solidFill>
                <a:schemeClr val="tx1"/>
              </a:solidFill>
            </a:endParaRPr>
          </a:p>
        </p:txBody>
      </p:sp>
      <p:sp>
        <p:nvSpPr>
          <p:cNvPr id="2" name="灯片编号占位符 1">
            <a:extLst>
              <a:ext uri="{FF2B5EF4-FFF2-40B4-BE49-F238E27FC236}">
                <a16:creationId xmlns:a16="http://schemas.microsoft.com/office/drawing/2014/main" id="{40D251D0-69E3-57EE-B94A-4BC9FD1050D3}"/>
              </a:ext>
            </a:extLst>
          </p:cNvPr>
          <p:cNvSpPr>
            <a:spLocks noGrp="1"/>
          </p:cNvSpPr>
          <p:nvPr>
            <p:ph type="sldNum" sz="quarter" idx="12"/>
          </p:nvPr>
        </p:nvSpPr>
        <p:spPr/>
        <p:txBody>
          <a:bodyPr/>
          <a:lstStyle/>
          <a:p>
            <a:fld id="{14659731-6BD7-46E7-8D3C-2F3AC07E20B1}" type="slidenum">
              <a:rPr lang="en-US" altLang="zh-CN" smtClean="0"/>
              <a:pPr/>
              <a:t>13</a:t>
            </a:fld>
            <a:endParaRPr lang="en-US" altLang="zh-CN" dirty="0"/>
          </a:p>
        </p:txBody>
      </p:sp>
      <p:sp>
        <p:nvSpPr>
          <p:cNvPr id="782401" name="Text Box 65"/>
          <p:cNvSpPr txBox="1">
            <a:spLocks noChangeArrowheads="1"/>
          </p:cNvSpPr>
          <p:nvPr/>
        </p:nvSpPr>
        <p:spPr bwMode="auto">
          <a:xfrm>
            <a:off x="2461483" y="1595195"/>
            <a:ext cx="54802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1110.     1-bit right shift=0111.0</a:t>
            </a:r>
          </a:p>
        </p:txBody>
      </p:sp>
      <p:sp>
        <p:nvSpPr>
          <p:cNvPr id="782402" name="Text Box 66"/>
          <p:cNvSpPr txBox="1">
            <a:spLocks noChangeArrowheads="1"/>
          </p:cNvSpPr>
          <p:nvPr/>
        </p:nvSpPr>
        <p:spPr bwMode="auto">
          <a:xfrm>
            <a:off x="3886200" y="2057400"/>
            <a:ext cx="2362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14÷2</a:t>
            </a:r>
            <a:r>
              <a:rPr lang="en-US" altLang="zh-CN" sz="2400" baseline="30000" dirty="0">
                <a:solidFill>
                  <a:schemeClr val="tx1"/>
                </a:solidFill>
                <a:latin typeface="Arial" panose="020B0604020202020204" pitchFamily="34" charset="0"/>
                <a:ea typeface="SimHei" panose="02010609060101010101" pitchFamily="49" charset="-122"/>
                <a:cs typeface="Arial" panose="020B0604020202020204" pitchFamily="34" charset="0"/>
              </a:rPr>
              <a:t>1</a:t>
            </a: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=7</a:t>
            </a:r>
          </a:p>
        </p:txBody>
      </p:sp>
      <p:sp>
        <p:nvSpPr>
          <p:cNvPr id="782403" name="Text Box 67"/>
          <p:cNvSpPr txBox="1">
            <a:spLocks noChangeArrowheads="1"/>
          </p:cNvSpPr>
          <p:nvPr/>
        </p:nvSpPr>
        <p:spPr bwMode="auto">
          <a:xfrm>
            <a:off x="2445441" y="2661097"/>
            <a:ext cx="49339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1110.     2-bit right shift=0011.10</a:t>
            </a:r>
          </a:p>
        </p:txBody>
      </p:sp>
      <p:sp>
        <p:nvSpPr>
          <p:cNvPr id="782404" name="Text Box 68"/>
          <p:cNvSpPr txBox="1">
            <a:spLocks noChangeArrowheads="1"/>
          </p:cNvSpPr>
          <p:nvPr/>
        </p:nvSpPr>
        <p:spPr bwMode="auto">
          <a:xfrm>
            <a:off x="3886200" y="3124200"/>
            <a:ext cx="2362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a:solidFill>
                  <a:schemeClr val="tx1"/>
                </a:solidFill>
                <a:latin typeface="Arial" panose="020B0604020202020204" pitchFamily="34" charset="0"/>
                <a:ea typeface="SimHei" panose="02010609060101010101" pitchFamily="49" charset="-122"/>
                <a:cs typeface="Arial" panose="020B0604020202020204" pitchFamily="34" charset="0"/>
              </a:rPr>
              <a:t>14÷2</a:t>
            </a:r>
            <a:r>
              <a:rPr lang="en-US" altLang="zh-CN" sz="2400" baseline="30000">
                <a:solidFill>
                  <a:schemeClr val="tx1"/>
                </a:solidFill>
                <a:latin typeface="Arial" panose="020B0604020202020204" pitchFamily="34" charset="0"/>
                <a:ea typeface="SimHei" panose="02010609060101010101" pitchFamily="49" charset="-122"/>
                <a:cs typeface="Arial" panose="020B0604020202020204" pitchFamily="34" charset="0"/>
              </a:rPr>
              <a:t>2</a:t>
            </a:r>
            <a:r>
              <a:rPr lang="en-US" altLang="zh-CN" sz="2400">
                <a:solidFill>
                  <a:schemeClr val="tx1"/>
                </a:solidFill>
                <a:latin typeface="Arial" panose="020B0604020202020204" pitchFamily="34" charset="0"/>
                <a:ea typeface="SimHei" panose="02010609060101010101" pitchFamily="49" charset="-122"/>
                <a:cs typeface="Arial" panose="020B0604020202020204" pitchFamily="34" charset="0"/>
              </a:rPr>
              <a:t>=3 .5</a:t>
            </a:r>
          </a:p>
        </p:txBody>
      </p:sp>
      <p:sp>
        <p:nvSpPr>
          <p:cNvPr id="39943" name="矩形 69"/>
          <p:cNvSpPr>
            <a:spLocks noChangeArrowheads="1"/>
          </p:cNvSpPr>
          <p:nvPr/>
        </p:nvSpPr>
        <p:spPr bwMode="auto">
          <a:xfrm>
            <a:off x="404266" y="4417367"/>
            <a:ext cx="171072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dirty="0">
                <a:latin typeface="Arial" panose="020B0604020202020204" pitchFamily="34" charset="0"/>
                <a:ea typeface="SimHei" panose="02010609060101010101" pitchFamily="49" charset="-122"/>
                <a:cs typeface="Arial" panose="020B0604020202020204" pitchFamily="34" charset="0"/>
              </a:rPr>
              <a:t>Left shift</a:t>
            </a:r>
          </a:p>
          <a:p>
            <a:pPr algn="ctr"/>
            <a:r>
              <a:rPr lang="zh-CN" altLang="en-US" dirty="0">
                <a:latin typeface="Arial" panose="020B0604020202020204" pitchFamily="34" charset="0"/>
                <a:ea typeface="SimHei" panose="02010609060101010101" pitchFamily="49" charset="-122"/>
                <a:cs typeface="Arial" panose="020B0604020202020204" pitchFamily="34" charset="0"/>
              </a:rPr>
              <a:t>左移</a:t>
            </a:r>
            <a:endParaRPr lang="en-US" altLang="zh-CN" dirty="0">
              <a:latin typeface="Arial" panose="020B0604020202020204" pitchFamily="34" charset="0"/>
              <a:ea typeface="SimHei" panose="02010609060101010101" pitchFamily="49" charset="-122"/>
              <a:cs typeface="Arial" panose="020B0604020202020204" pitchFamily="34" charset="0"/>
            </a:endParaRPr>
          </a:p>
          <a:p>
            <a:pPr algn="ctr"/>
            <a:r>
              <a:rPr lang="zh-CN" altLang="en-US" dirty="0">
                <a:latin typeface="Arial" panose="020B0604020202020204" pitchFamily="34" charset="0"/>
                <a:ea typeface="SimHei" panose="02010609060101010101" pitchFamily="49" charset="-122"/>
                <a:cs typeface="Arial" panose="020B0604020202020204" pitchFamily="34" charset="0"/>
              </a:rPr>
              <a:t>对应十进制 </a:t>
            </a:r>
            <a:r>
              <a:rPr lang="en-US" altLang="zh-CN" dirty="0">
                <a:latin typeface="Arial" panose="020B0604020202020204" pitchFamily="34" charset="0"/>
                <a:ea typeface="SimHei" panose="02010609060101010101" pitchFamily="49" charset="-122"/>
                <a:cs typeface="Arial" panose="020B0604020202020204" pitchFamily="34" charset="0"/>
              </a:rPr>
              <a:t>x</a:t>
            </a:r>
            <a:r>
              <a:rPr lang="zh-CN" altLang="en-US" dirty="0">
                <a:latin typeface="Arial" panose="020B0604020202020204" pitchFamily="34" charset="0"/>
                <a:ea typeface="SimHei" panose="02010609060101010101" pitchFamily="49" charset="-122"/>
                <a:cs typeface="Arial" panose="020B0604020202020204" pitchFamily="34" charset="0"/>
              </a:rPr>
              <a:t> </a:t>
            </a:r>
            <a:r>
              <a:rPr lang="en-US" altLang="zh-CN" dirty="0">
                <a:latin typeface="Arial" panose="020B0604020202020204" pitchFamily="34" charset="0"/>
                <a:ea typeface="SimHei" panose="02010609060101010101" pitchFamily="49" charset="-122"/>
                <a:cs typeface="Arial" panose="020B0604020202020204" pitchFamily="34" charset="0"/>
              </a:rPr>
              <a:t>2</a:t>
            </a:r>
            <a:endParaRPr lang="zh-CN" altLang="en-US" dirty="0">
              <a:latin typeface="Arial" panose="020B0604020202020204" pitchFamily="34" charset="0"/>
              <a:ea typeface="SimHei" panose="02010609060101010101" pitchFamily="49" charset="-122"/>
              <a:cs typeface="Arial" panose="020B0604020202020204" pitchFamily="34" charset="0"/>
            </a:endParaRPr>
          </a:p>
        </p:txBody>
      </p:sp>
      <p:sp>
        <p:nvSpPr>
          <p:cNvPr id="39944" name="矩形 70"/>
          <p:cNvSpPr>
            <a:spLocks noChangeArrowheads="1"/>
          </p:cNvSpPr>
          <p:nvPr/>
        </p:nvSpPr>
        <p:spPr bwMode="auto">
          <a:xfrm>
            <a:off x="410679" y="2009079"/>
            <a:ext cx="169790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dirty="0">
                <a:latin typeface="Arial" panose="020B0604020202020204" pitchFamily="34" charset="0"/>
                <a:ea typeface="SimHei" panose="02010609060101010101" pitchFamily="49" charset="-122"/>
                <a:cs typeface="Arial" panose="020B0604020202020204" pitchFamily="34" charset="0"/>
              </a:rPr>
              <a:t>Right shift</a:t>
            </a:r>
          </a:p>
          <a:p>
            <a:pPr algn="ctr"/>
            <a:r>
              <a:rPr lang="zh-CN" altLang="en-US" dirty="0">
                <a:latin typeface="Arial" panose="020B0604020202020204" pitchFamily="34" charset="0"/>
                <a:ea typeface="SimHei" panose="02010609060101010101" pitchFamily="49" charset="-122"/>
                <a:cs typeface="Arial" panose="020B0604020202020204" pitchFamily="34" charset="0"/>
              </a:rPr>
              <a:t>右移</a:t>
            </a:r>
            <a:endParaRPr lang="en-US" altLang="zh-CN" dirty="0">
              <a:latin typeface="Arial" panose="020B0604020202020204" pitchFamily="34" charset="0"/>
              <a:ea typeface="SimHei" panose="02010609060101010101" pitchFamily="49" charset="-122"/>
              <a:cs typeface="Arial" panose="020B0604020202020204" pitchFamily="34" charset="0"/>
            </a:endParaRPr>
          </a:p>
          <a:p>
            <a:pPr algn="ctr"/>
            <a:r>
              <a:rPr lang="zh-CN" altLang="en-US" dirty="0">
                <a:latin typeface="Arial" panose="020B0604020202020204" pitchFamily="34" charset="0"/>
                <a:ea typeface="SimHei" panose="02010609060101010101" pitchFamily="49" charset="-122"/>
                <a:cs typeface="Arial" panose="020B0604020202020204" pitchFamily="34" charset="0"/>
              </a:rPr>
              <a:t>对应十进制</a:t>
            </a:r>
            <a:r>
              <a:rPr lang="en-US" altLang="zh-CN" dirty="0">
                <a:latin typeface="Arial" panose="020B0604020202020204" pitchFamily="34" charset="0"/>
                <a:ea typeface="SimHei" panose="02010609060101010101" pitchFamily="49" charset="-122"/>
                <a:cs typeface="Arial" panose="020B0604020202020204" pitchFamily="34" charset="0"/>
              </a:rPr>
              <a:t>÷2</a:t>
            </a:r>
            <a:endParaRPr lang="zh-CN" altLang="en-US" dirty="0">
              <a:latin typeface="Arial" panose="020B0604020202020204" pitchFamily="34" charset="0"/>
              <a:ea typeface="SimHei" panose="02010609060101010101" pitchFamily="49" charset="-122"/>
              <a:cs typeface="Arial" panose="020B0604020202020204" pitchFamily="34" charset="0"/>
            </a:endParaRPr>
          </a:p>
        </p:txBody>
      </p:sp>
      <p:sp>
        <p:nvSpPr>
          <p:cNvPr id="72" name="Text Box 78"/>
          <p:cNvSpPr txBox="1">
            <a:spLocks noChangeArrowheads="1"/>
          </p:cNvSpPr>
          <p:nvPr/>
        </p:nvSpPr>
        <p:spPr bwMode="auto">
          <a:xfrm>
            <a:off x="2438400" y="4186893"/>
            <a:ext cx="54459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0110.     1-bit left shift=01100.</a:t>
            </a:r>
          </a:p>
        </p:txBody>
      </p:sp>
      <p:sp>
        <p:nvSpPr>
          <p:cNvPr id="73" name="Text Box 79"/>
          <p:cNvSpPr txBox="1">
            <a:spLocks noChangeArrowheads="1"/>
          </p:cNvSpPr>
          <p:nvPr/>
        </p:nvSpPr>
        <p:spPr bwMode="auto">
          <a:xfrm>
            <a:off x="3429000" y="4648200"/>
            <a:ext cx="2362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a:solidFill>
                  <a:schemeClr val="tx1"/>
                </a:solidFill>
                <a:latin typeface="Arial" panose="020B0604020202020204" pitchFamily="34" charset="0"/>
                <a:ea typeface="SimHei" panose="02010609060101010101" pitchFamily="49" charset="-122"/>
                <a:cs typeface="Arial" panose="020B0604020202020204" pitchFamily="34" charset="0"/>
              </a:rPr>
              <a:t>6</a:t>
            </a:r>
            <a:r>
              <a:rPr lang="en-US" altLang="zh-CN" sz="2400">
                <a:solidFill>
                  <a:schemeClr val="tx1"/>
                </a:solidFill>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a:solidFill>
                  <a:schemeClr val="tx1"/>
                </a:solidFill>
                <a:latin typeface="Arial" panose="020B0604020202020204" pitchFamily="34" charset="0"/>
                <a:ea typeface="SimHei" panose="02010609060101010101" pitchFamily="49" charset="-122"/>
                <a:cs typeface="Arial" panose="020B0604020202020204" pitchFamily="34" charset="0"/>
              </a:rPr>
              <a:t>2</a:t>
            </a:r>
            <a:r>
              <a:rPr lang="en-US" altLang="zh-CN" sz="2400" baseline="30000">
                <a:solidFill>
                  <a:schemeClr val="tx1"/>
                </a:solidFill>
                <a:latin typeface="Arial" panose="020B0604020202020204" pitchFamily="34" charset="0"/>
                <a:ea typeface="SimHei" panose="02010609060101010101" pitchFamily="49" charset="-122"/>
                <a:cs typeface="Arial" panose="020B0604020202020204" pitchFamily="34" charset="0"/>
              </a:rPr>
              <a:t>1</a:t>
            </a:r>
            <a:r>
              <a:rPr lang="en-US" altLang="zh-CN" sz="2400">
                <a:solidFill>
                  <a:schemeClr val="tx1"/>
                </a:solidFill>
                <a:latin typeface="Arial" panose="020B0604020202020204" pitchFamily="34" charset="0"/>
                <a:ea typeface="SimHei" panose="02010609060101010101" pitchFamily="49" charset="-122"/>
                <a:cs typeface="Arial" panose="020B0604020202020204" pitchFamily="34" charset="0"/>
              </a:rPr>
              <a:t>=12</a:t>
            </a:r>
          </a:p>
        </p:txBody>
      </p:sp>
      <p:sp>
        <p:nvSpPr>
          <p:cNvPr id="74" name="Text Box 80"/>
          <p:cNvSpPr txBox="1">
            <a:spLocks noChangeArrowheads="1"/>
          </p:cNvSpPr>
          <p:nvPr/>
        </p:nvSpPr>
        <p:spPr bwMode="auto">
          <a:xfrm>
            <a:off x="3429000" y="5711520"/>
            <a:ext cx="2590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6</a:t>
            </a: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sym typeface="Symbol" pitchFamily="18" charset="2"/>
              </a:rPr>
              <a:t></a:t>
            </a: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2</a:t>
            </a:r>
            <a:r>
              <a:rPr lang="en-US" altLang="zh-CN" sz="2400" baseline="30000" dirty="0">
                <a:solidFill>
                  <a:schemeClr val="tx1"/>
                </a:solidFill>
                <a:latin typeface="Arial" panose="020B0604020202020204" pitchFamily="34" charset="0"/>
                <a:ea typeface="SimHei" panose="02010609060101010101" pitchFamily="49" charset="-122"/>
                <a:cs typeface="Arial" panose="020B0604020202020204" pitchFamily="34" charset="0"/>
              </a:rPr>
              <a:t>2</a:t>
            </a: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=16+8=24</a:t>
            </a:r>
          </a:p>
        </p:txBody>
      </p:sp>
      <p:sp>
        <p:nvSpPr>
          <p:cNvPr id="75" name="Text Box 81"/>
          <p:cNvSpPr txBox="1">
            <a:spLocks noChangeArrowheads="1"/>
          </p:cNvSpPr>
          <p:nvPr/>
        </p:nvSpPr>
        <p:spPr bwMode="auto">
          <a:xfrm>
            <a:off x="2438400" y="5103716"/>
            <a:ext cx="54459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solidFill>
                  <a:schemeClr val="tx1"/>
                </a:solidFill>
                <a:latin typeface="Arial" panose="020B0604020202020204" pitchFamily="34" charset="0"/>
                <a:ea typeface="SimHei" panose="02010609060101010101" pitchFamily="49" charset="-122"/>
                <a:cs typeface="Arial" panose="020B0604020202020204" pitchFamily="34" charset="0"/>
              </a:rPr>
              <a:t>0110.     2-bit left shift=011000.</a:t>
            </a:r>
          </a:p>
        </p:txBody>
      </p:sp>
    </p:spTree>
    <p:extLst>
      <p:ext uri="{BB962C8B-B14F-4D97-AF65-F5344CB8AC3E}">
        <p14:creationId xmlns:p14="http://schemas.microsoft.com/office/powerpoint/2010/main" val="3240304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dirty="0"/>
              <a:t>另一种十进制表示法？</a:t>
            </a:r>
            <a:endParaRPr lang="en-US" altLang="zh-CN" dirty="0"/>
          </a:p>
        </p:txBody>
      </p:sp>
      <p:sp>
        <p:nvSpPr>
          <p:cNvPr id="43011" name="Rectangle 3"/>
          <p:cNvSpPr>
            <a:spLocks noGrp="1" noChangeArrowheads="1"/>
          </p:cNvSpPr>
          <p:nvPr>
            <p:ph idx="1"/>
          </p:nvPr>
        </p:nvSpPr>
        <p:spPr>
          <a:xfrm>
            <a:off x="791580" y="2595857"/>
            <a:ext cx="2196244" cy="1956544"/>
          </a:xfrm>
        </p:spPr>
        <p:txBody>
          <a:bodyPr/>
          <a:lstStyle/>
          <a:p>
            <a:pPr eaLnBrk="1" hangingPunct="1">
              <a:spcBef>
                <a:spcPct val="50000"/>
              </a:spcBef>
            </a:pPr>
            <a:r>
              <a:rPr lang="en-US" altLang="zh-CN" sz="2400" b="1" dirty="0"/>
              <a:t>3</a:t>
            </a:r>
            <a:r>
              <a:rPr lang="en-US" altLang="zh-CN" sz="2400" b="1" baseline="-25000" dirty="0"/>
              <a:t>10</a:t>
            </a:r>
            <a:r>
              <a:rPr lang="en-US" altLang="zh-CN" sz="2400" b="1" dirty="0"/>
              <a:t> = 0011</a:t>
            </a:r>
            <a:r>
              <a:rPr lang="en-US" altLang="zh-CN" sz="2400" b="1" baseline="-25000" dirty="0"/>
              <a:t>2</a:t>
            </a:r>
          </a:p>
          <a:p>
            <a:pPr eaLnBrk="1" hangingPunct="1">
              <a:spcBef>
                <a:spcPct val="50000"/>
              </a:spcBef>
            </a:pPr>
            <a:r>
              <a:rPr lang="en-US" altLang="zh-CN" sz="2400" b="1" dirty="0"/>
              <a:t>9</a:t>
            </a:r>
            <a:r>
              <a:rPr lang="en-US" altLang="zh-CN" sz="2400" b="1" baseline="-25000" dirty="0"/>
              <a:t>10</a:t>
            </a:r>
            <a:r>
              <a:rPr lang="en-US" altLang="zh-CN" sz="2400" b="1" dirty="0"/>
              <a:t> = 1001</a:t>
            </a:r>
            <a:r>
              <a:rPr lang="en-US" altLang="zh-CN" sz="2400" b="1" baseline="-25000" dirty="0"/>
              <a:t>2</a:t>
            </a:r>
          </a:p>
          <a:p>
            <a:pPr eaLnBrk="1" hangingPunct="1">
              <a:spcBef>
                <a:spcPct val="50000"/>
              </a:spcBef>
            </a:pPr>
            <a:r>
              <a:rPr lang="en-US" altLang="zh-CN" sz="2400" b="1" dirty="0"/>
              <a:t>5</a:t>
            </a:r>
            <a:r>
              <a:rPr lang="en-US" altLang="zh-CN" sz="2400" b="1" baseline="-25000" dirty="0"/>
              <a:t>10</a:t>
            </a:r>
            <a:r>
              <a:rPr lang="en-US" altLang="zh-CN" sz="2400" b="1" dirty="0"/>
              <a:t> = 0101</a:t>
            </a:r>
            <a:r>
              <a:rPr lang="en-US" altLang="zh-CN" sz="2400" b="1" baseline="-25000" dirty="0"/>
              <a:t>2</a:t>
            </a:r>
            <a:endParaRPr lang="en-US" altLang="zh-CN" sz="2400" dirty="0"/>
          </a:p>
        </p:txBody>
      </p:sp>
      <p:sp>
        <p:nvSpPr>
          <p:cNvPr id="3" name="灯片编号占位符 2">
            <a:extLst>
              <a:ext uri="{FF2B5EF4-FFF2-40B4-BE49-F238E27FC236}">
                <a16:creationId xmlns:a16="http://schemas.microsoft.com/office/drawing/2014/main" id="{E4CA88D7-E0F8-4250-1B98-5CBE20FE1586}"/>
              </a:ext>
            </a:extLst>
          </p:cNvPr>
          <p:cNvSpPr>
            <a:spLocks noGrp="1"/>
          </p:cNvSpPr>
          <p:nvPr>
            <p:ph type="sldNum" sz="quarter" idx="12"/>
          </p:nvPr>
        </p:nvSpPr>
        <p:spPr/>
        <p:txBody>
          <a:bodyPr/>
          <a:lstStyle/>
          <a:p>
            <a:fld id="{14659731-6BD7-46E7-8D3C-2F3AC07E20B1}" type="slidenum">
              <a:rPr lang="en-US" altLang="zh-CN" smtClean="0"/>
              <a:pPr/>
              <a:t>14</a:t>
            </a:fld>
            <a:endParaRPr lang="en-US" altLang="zh-CN" dirty="0"/>
          </a:p>
        </p:txBody>
      </p:sp>
      <p:sp>
        <p:nvSpPr>
          <p:cNvPr id="5" name="Rectangle 4">
            <a:extLst>
              <a:ext uri="{FF2B5EF4-FFF2-40B4-BE49-F238E27FC236}">
                <a16:creationId xmlns:a16="http://schemas.microsoft.com/office/drawing/2014/main" id="{34FF8DFB-FB8C-F74B-AB98-76A385611694}"/>
              </a:ext>
            </a:extLst>
          </p:cNvPr>
          <p:cNvSpPr/>
          <p:nvPr/>
        </p:nvSpPr>
        <p:spPr>
          <a:xfrm>
            <a:off x="791580" y="1472029"/>
            <a:ext cx="7928774" cy="523220"/>
          </a:xfrm>
          <a:prstGeom prst="rect">
            <a:avLst/>
          </a:prstGeom>
        </p:spPr>
        <p:txBody>
          <a:bodyPr wrap="none">
            <a:spAutoFit/>
          </a:bodyPr>
          <a:lstStyle/>
          <a:p>
            <a:pPr lvl="0">
              <a:spcBef>
                <a:spcPct val="50000"/>
              </a:spcBef>
              <a:buClr>
                <a:srgbClr val="000066"/>
              </a:buClr>
            </a:pPr>
            <a:r>
              <a:rPr lang="en-US" altLang="zh-CN" sz="2800" b="1" kern="0" dirty="0">
                <a:solidFill>
                  <a:srgbClr val="080808"/>
                </a:solidFill>
                <a:latin typeface="Arial" panose="020B0604020202020204" pitchFamily="34" charset="0"/>
                <a:ea typeface="黑体" pitchFamily="49" charset="-122"/>
                <a:cs typeface="Arial" panose="020B0604020202020204" pitchFamily="34" charset="0"/>
              </a:rPr>
              <a:t>395</a:t>
            </a:r>
            <a:r>
              <a:rPr lang="en-US" altLang="zh-CN" sz="2800" b="1" kern="0" baseline="-25000" dirty="0">
                <a:solidFill>
                  <a:srgbClr val="080808"/>
                </a:solidFill>
                <a:latin typeface="Arial" panose="020B0604020202020204" pitchFamily="34" charset="0"/>
                <a:ea typeface="黑体" pitchFamily="49" charset="-122"/>
                <a:cs typeface="Arial" panose="020B0604020202020204" pitchFamily="34" charset="0"/>
              </a:rPr>
              <a:t>10 </a:t>
            </a:r>
            <a:r>
              <a:rPr lang="en-US" altLang="zh-CN" sz="2800" b="1" kern="0" dirty="0">
                <a:solidFill>
                  <a:srgbClr val="080808"/>
                </a:solidFill>
                <a:latin typeface="Arial" panose="020B0604020202020204" pitchFamily="34" charset="0"/>
                <a:ea typeface="黑体" pitchFamily="49" charset="-122"/>
                <a:cs typeface="Arial" panose="020B0604020202020204" pitchFamily="34" charset="0"/>
              </a:rPr>
              <a:t>= (256+128+8+2+1)</a:t>
            </a:r>
            <a:r>
              <a:rPr lang="en-US" altLang="zh-CN" sz="2800" b="1" kern="0" baseline="-25000" dirty="0">
                <a:solidFill>
                  <a:srgbClr val="080808"/>
                </a:solidFill>
                <a:latin typeface="Arial" panose="020B0604020202020204" pitchFamily="34" charset="0"/>
                <a:ea typeface="黑体" pitchFamily="49" charset="-122"/>
                <a:cs typeface="Arial" panose="020B0604020202020204" pitchFamily="34" charset="0"/>
              </a:rPr>
              <a:t>10 </a:t>
            </a:r>
            <a:r>
              <a:rPr lang="en-US" altLang="zh-CN" sz="2800" b="1" kern="0" dirty="0">
                <a:solidFill>
                  <a:srgbClr val="080808"/>
                </a:solidFill>
                <a:latin typeface="Arial" panose="020B0604020202020204" pitchFamily="34" charset="0"/>
                <a:ea typeface="黑体" pitchFamily="49" charset="-122"/>
                <a:cs typeface="Arial" panose="020B0604020202020204" pitchFamily="34" charset="0"/>
              </a:rPr>
              <a:t>= (0001 1000 1011)</a:t>
            </a:r>
            <a:r>
              <a:rPr lang="en-US" altLang="zh-CN" sz="2800" b="1" kern="0" baseline="-25000" dirty="0">
                <a:solidFill>
                  <a:srgbClr val="080808"/>
                </a:solidFill>
                <a:latin typeface="Arial" panose="020B0604020202020204" pitchFamily="34" charset="0"/>
                <a:ea typeface="黑体" pitchFamily="49" charset="-122"/>
                <a:cs typeface="Arial" panose="020B0604020202020204" pitchFamily="34" charset="0"/>
              </a:rPr>
              <a:t>2</a:t>
            </a:r>
          </a:p>
        </p:txBody>
      </p:sp>
      <p:sp>
        <p:nvSpPr>
          <p:cNvPr id="8" name="TextBox 7">
            <a:extLst>
              <a:ext uri="{FF2B5EF4-FFF2-40B4-BE49-F238E27FC236}">
                <a16:creationId xmlns:a16="http://schemas.microsoft.com/office/drawing/2014/main" id="{14998E0D-DB83-1A40-87A4-7C34E9481076}"/>
              </a:ext>
            </a:extLst>
          </p:cNvPr>
          <p:cNvSpPr txBox="1"/>
          <p:nvPr/>
        </p:nvSpPr>
        <p:spPr>
          <a:xfrm>
            <a:off x="1507689" y="5044559"/>
            <a:ext cx="6327476" cy="830997"/>
          </a:xfrm>
          <a:prstGeom prst="rect">
            <a:avLst/>
          </a:prstGeom>
          <a:solidFill>
            <a:schemeClr val="bg1">
              <a:lumMod val="95000"/>
            </a:schemeClr>
          </a:solidFill>
          <a:ln>
            <a:solidFill>
              <a:schemeClr val="tx1"/>
            </a:solidFill>
          </a:ln>
        </p:spPr>
        <p:txBody>
          <a:bodyPr wrap="square" rtlCol="0">
            <a:spAutoFit/>
          </a:bodyPr>
          <a:lstStyle/>
          <a:p>
            <a:pPr algn="ctr"/>
            <a:r>
              <a:rPr lang="en-CN" sz="2400" b="1" dirty="0">
                <a:solidFill>
                  <a:srgbClr val="3333FF"/>
                </a:solidFill>
                <a:ea typeface="黑体" panose="02010609060101010101" pitchFamily="49" charset="-122"/>
              </a:rPr>
              <a:t>Binary-coded decimal (BCD):</a:t>
            </a:r>
          </a:p>
          <a:p>
            <a:pPr algn="ctr"/>
            <a:r>
              <a:rPr lang="zh-CN" altLang="en-US" sz="2400" b="1" dirty="0">
                <a:latin typeface="SimHei" panose="02010609060101010101" pitchFamily="49" charset="-122"/>
                <a:ea typeface="SimHei" panose="02010609060101010101" pitchFamily="49" charset="-122"/>
              </a:rPr>
              <a:t>每个十进制数字都用二进制单独表示</a:t>
            </a:r>
            <a:endParaRPr lang="en-CN" sz="2400" b="1" dirty="0">
              <a:latin typeface="SimHei" panose="02010609060101010101" pitchFamily="49" charset="-122"/>
              <a:ea typeface="SimHei" panose="02010609060101010101" pitchFamily="49" charset="-122"/>
            </a:endParaRPr>
          </a:p>
        </p:txBody>
      </p:sp>
      <p:grpSp>
        <p:nvGrpSpPr>
          <p:cNvPr id="6" name="Group 8">
            <a:extLst>
              <a:ext uri="{FF2B5EF4-FFF2-40B4-BE49-F238E27FC236}">
                <a16:creationId xmlns:a16="http://schemas.microsoft.com/office/drawing/2014/main" id="{48246300-710C-8827-3509-6A4EA3982DA0}"/>
              </a:ext>
            </a:extLst>
          </p:cNvPr>
          <p:cNvGrpSpPr/>
          <p:nvPr/>
        </p:nvGrpSpPr>
        <p:grpSpPr>
          <a:xfrm>
            <a:off x="2862813" y="2737573"/>
            <a:ext cx="5857541" cy="1382664"/>
            <a:chOff x="2879812" y="2856018"/>
            <a:chExt cx="5857541" cy="1382664"/>
          </a:xfrm>
        </p:grpSpPr>
        <p:sp>
          <p:nvSpPr>
            <p:cNvPr id="7" name="Rectangle 3">
              <a:extLst>
                <a:ext uri="{FF2B5EF4-FFF2-40B4-BE49-F238E27FC236}">
                  <a16:creationId xmlns:a16="http://schemas.microsoft.com/office/drawing/2014/main" id="{55773353-5CF1-1899-911B-2E6341B94F75}"/>
                </a:ext>
              </a:extLst>
            </p:cNvPr>
            <p:cNvSpPr/>
            <p:nvPr/>
          </p:nvSpPr>
          <p:spPr>
            <a:xfrm>
              <a:off x="3419872" y="3297271"/>
              <a:ext cx="5317481" cy="523220"/>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080808"/>
                  </a:solidFill>
                  <a:effectLst/>
                  <a:uLnTx/>
                  <a:uFillTx/>
                  <a:latin typeface="Arial" panose="020B0604020202020204" pitchFamily="34" charset="0"/>
                  <a:ea typeface="黑体" pitchFamily="49" charset="-122"/>
                  <a:cs typeface="Arial" panose="020B0604020202020204" pitchFamily="34" charset="0"/>
                </a:rPr>
                <a:t>(</a:t>
              </a:r>
              <a:r>
                <a:rPr kumimoji="0" lang="en-US" altLang="zh-CN" sz="2800" b="1" i="0" u="none" strike="noStrike" kern="0" cap="none" spc="0" normalizeH="0" baseline="0" noProof="0" dirty="0">
                  <a:ln>
                    <a:noFill/>
                  </a:ln>
                  <a:solidFill>
                    <a:srgbClr val="C00000"/>
                  </a:solidFill>
                  <a:effectLst/>
                  <a:uLnTx/>
                  <a:uFillTx/>
                  <a:latin typeface="Arial" panose="020B0604020202020204" pitchFamily="34" charset="0"/>
                  <a:ea typeface="黑体" pitchFamily="49" charset="-122"/>
                  <a:cs typeface="Arial" panose="020B0604020202020204" pitchFamily="34" charset="0"/>
                </a:rPr>
                <a:t>3</a:t>
              </a:r>
              <a:r>
                <a:rPr kumimoji="0" lang="en-US" altLang="zh-CN" sz="2800" b="1" i="0" u="none" strike="noStrike" kern="0" cap="none" spc="0" normalizeH="0" baseline="0" noProof="0" dirty="0">
                  <a:ln>
                    <a:noFill/>
                  </a:ln>
                  <a:solidFill>
                    <a:srgbClr val="4E9C22"/>
                  </a:solidFill>
                  <a:effectLst/>
                  <a:uLnTx/>
                  <a:uFillTx/>
                  <a:latin typeface="Arial" panose="020B0604020202020204" pitchFamily="34" charset="0"/>
                  <a:ea typeface="黑体" pitchFamily="49" charset="-122"/>
                  <a:cs typeface="Arial" panose="020B0604020202020204" pitchFamily="34" charset="0"/>
                </a:rPr>
                <a:t>9</a:t>
              </a:r>
              <a:r>
                <a:rPr kumimoji="0" lang="en-US" altLang="zh-CN" sz="2800" b="1" i="0" u="none" strike="noStrike" kern="0" cap="none" spc="0" normalizeH="0" baseline="0" noProof="0" dirty="0">
                  <a:ln>
                    <a:noFill/>
                  </a:ln>
                  <a:solidFill>
                    <a:srgbClr val="7030A0"/>
                  </a:solidFill>
                  <a:effectLst/>
                  <a:uLnTx/>
                  <a:uFillTx/>
                  <a:latin typeface="Arial" panose="020B0604020202020204" pitchFamily="34" charset="0"/>
                  <a:ea typeface="黑体" pitchFamily="49" charset="-122"/>
                  <a:cs typeface="Arial" panose="020B0604020202020204" pitchFamily="34" charset="0"/>
                </a:rPr>
                <a:t>5</a:t>
              </a:r>
              <a:r>
                <a:rPr kumimoji="0" lang="en-US" altLang="zh-CN" sz="2800" b="1" i="0" u="none" strike="noStrike" kern="0" cap="none" spc="0" normalizeH="0" baseline="0" noProof="0" dirty="0">
                  <a:ln>
                    <a:noFill/>
                  </a:ln>
                  <a:solidFill>
                    <a:srgbClr val="080808"/>
                  </a:solidFill>
                  <a:effectLst/>
                  <a:uLnTx/>
                  <a:uFillTx/>
                  <a:latin typeface="Arial" panose="020B0604020202020204" pitchFamily="34" charset="0"/>
                  <a:ea typeface="黑体" pitchFamily="49" charset="-122"/>
                  <a:cs typeface="Arial" panose="020B0604020202020204" pitchFamily="34" charset="0"/>
                </a:rPr>
                <a:t>)</a:t>
              </a:r>
              <a:r>
                <a:rPr kumimoji="0" lang="en-US" altLang="zh-CN" sz="2800" b="1" i="0" u="none" strike="noStrike" kern="0" cap="none" spc="0" normalizeH="0" baseline="-25000" noProof="0" dirty="0">
                  <a:ln>
                    <a:noFill/>
                  </a:ln>
                  <a:solidFill>
                    <a:srgbClr val="080808"/>
                  </a:solidFill>
                  <a:effectLst/>
                  <a:uLnTx/>
                  <a:uFillTx/>
                  <a:latin typeface="Arial" panose="020B0604020202020204" pitchFamily="34" charset="0"/>
                  <a:ea typeface="黑体" pitchFamily="49" charset="-122"/>
                  <a:cs typeface="Arial" panose="020B0604020202020204" pitchFamily="34" charset="0"/>
                </a:rPr>
                <a:t>10  </a:t>
              </a:r>
              <a:r>
                <a:rPr kumimoji="0" lang="en-US" altLang="zh-CN" sz="2800" b="1" i="0" u="none" strike="noStrike" kern="0" cap="none" spc="0" normalizeH="0" baseline="0" noProof="0" dirty="0">
                  <a:ln>
                    <a:noFill/>
                  </a:ln>
                  <a:solidFill>
                    <a:srgbClr val="080808"/>
                  </a:solidFill>
                  <a:effectLst/>
                  <a:uLnTx/>
                  <a:uFillTx/>
                  <a:latin typeface="Arial" panose="020B0604020202020204" pitchFamily="34" charset="0"/>
                  <a:ea typeface="黑体" pitchFamily="49" charset="-122"/>
                  <a:cs typeface="Arial" panose="020B0604020202020204" pitchFamily="34" charset="0"/>
                  <a:sym typeface="Wingdings" pitchFamily="2" charset="2"/>
                </a:rPr>
                <a:t></a:t>
              </a:r>
              <a:r>
                <a:rPr kumimoji="0" lang="en-US" altLang="zh-CN" sz="2800" b="1" i="0" u="none" strike="noStrike" kern="0" cap="none" spc="0" normalizeH="0" baseline="0" noProof="0" dirty="0">
                  <a:ln>
                    <a:noFill/>
                  </a:ln>
                  <a:solidFill>
                    <a:srgbClr val="080808"/>
                  </a:solidFill>
                  <a:effectLst/>
                  <a:uLnTx/>
                  <a:uFillTx/>
                  <a:latin typeface="Arial" panose="020B0604020202020204" pitchFamily="34" charset="0"/>
                  <a:ea typeface="黑体" pitchFamily="49" charset="-122"/>
                  <a:cs typeface="Arial" panose="020B0604020202020204" pitchFamily="34" charset="0"/>
                </a:rPr>
                <a:t> (</a:t>
              </a:r>
              <a:r>
                <a:rPr kumimoji="0" lang="en-US" altLang="zh-CN" sz="2800" b="1" i="0" u="none" strike="noStrike" kern="0" cap="none" spc="0" normalizeH="0" baseline="0" noProof="0" dirty="0">
                  <a:ln>
                    <a:noFill/>
                  </a:ln>
                  <a:solidFill>
                    <a:srgbClr val="C00000"/>
                  </a:solidFill>
                  <a:effectLst/>
                  <a:uLnTx/>
                  <a:uFillTx/>
                  <a:latin typeface="Arial" panose="020B0604020202020204" pitchFamily="34" charset="0"/>
                  <a:ea typeface="黑体" pitchFamily="49" charset="-122"/>
                  <a:cs typeface="Arial" panose="020B0604020202020204" pitchFamily="34" charset="0"/>
                </a:rPr>
                <a:t>0011</a:t>
              </a:r>
              <a:r>
                <a:rPr kumimoji="0" lang="en-US" altLang="zh-CN" sz="2800" b="1" i="0" u="none" strike="noStrike" kern="0" cap="none" spc="0" normalizeH="0" baseline="0" noProof="0" dirty="0">
                  <a:ln>
                    <a:noFill/>
                  </a:ln>
                  <a:solidFill>
                    <a:srgbClr val="080808"/>
                  </a:solidFill>
                  <a:effectLst/>
                  <a:uLnTx/>
                  <a:uFillTx/>
                  <a:latin typeface="Arial" panose="020B0604020202020204" pitchFamily="34" charset="0"/>
                  <a:ea typeface="黑体" pitchFamily="49" charset="-122"/>
                  <a:cs typeface="Arial" panose="020B0604020202020204" pitchFamily="34" charset="0"/>
                </a:rPr>
                <a:t> </a:t>
              </a:r>
              <a:r>
                <a:rPr kumimoji="0" lang="en-US" altLang="zh-CN" sz="2800" b="1" i="0" u="none" strike="noStrike" kern="0" cap="none" spc="0" normalizeH="0" baseline="0" noProof="0" dirty="0">
                  <a:ln>
                    <a:noFill/>
                  </a:ln>
                  <a:solidFill>
                    <a:srgbClr val="4E9C22"/>
                  </a:solidFill>
                  <a:effectLst/>
                  <a:uLnTx/>
                  <a:uFillTx/>
                  <a:latin typeface="Arial" panose="020B0604020202020204" pitchFamily="34" charset="0"/>
                  <a:ea typeface="黑体" pitchFamily="49" charset="-122"/>
                  <a:cs typeface="Arial" panose="020B0604020202020204" pitchFamily="34" charset="0"/>
                </a:rPr>
                <a:t>1001</a:t>
              </a:r>
              <a:r>
                <a:rPr kumimoji="0" lang="en-US" altLang="zh-CN" sz="2800" b="1" i="0" u="none" strike="noStrike" kern="0" cap="none" spc="0" normalizeH="0" baseline="0" noProof="0" dirty="0">
                  <a:ln>
                    <a:noFill/>
                  </a:ln>
                  <a:solidFill>
                    <a:srgbClr val="080808"/>
                  </a:solidFill>
                  <a:effectLst/>
                  <a:uLnTx/>
                  <a:uFillTx/>
                  <a:latin typeface="Arial" panose="020B0604020202020204" pitchFamily="34" charset="0"/>
                  <a:ea typeface="黑体" pitchFamily="49" charset="-122"/>
                  <a:cs typeface="Arial" panose="020B0604020202020204" pitchFamily="34" charset="0"/>
                </a:rPr>
                <a:t> </a:t>
              </a:r>
              <a:r>
                <a:rPr kumimoji="0" lang="en-US" altLang="zh-CN" sz="2800" b="1" i="0" u="none" strike="noStrike" kern="0" cap="none" spc="0" normalizeH="0" baseline="0" noProof="0" dirty="0">
                  <a:ln>
                    <a:noFill/>
                  </a:ln>
                  <a:solidFill>
                    <a:srgbClr val="7030A0"/>
                  </a:solidFill>
                  <a:effectLst/>
                  <a:uLnTx/>
                  <a:uFillTx/>
                  <a:latin typeface="Arial" panose="020B0604020202020204" pitchFamily="34" charset="0"/>
                  <a:ea typeface="黑体" pitchFamily="49" charset="-122"/>
                  <a:cs typeface="Arial" panose="020B0604020202020204" pitchFamily="34" charset="0"/>
                </a:rPr>
                <a:t>0101</a:t>
              </a:r>
              <a:r>
                <a:rPr kumimoji="0" lang="en-US" altLang="zh-CN" sz="2800" b="1" i="0" u="none" strike="noStrike" kern="0" cap="none" spc="0" normalizeH="0" baseline="0" noProof="0" dirty="0">
                  <a:ln>
                    <a:noFill/>
                  </a:ln>
                  <a:solidFill>
                    <a:srgbClr val="080808"/>
                  </a:solidFill>
                  <a:effectLst/>
                  <a:uLnTx/>
                  <a:uFillTx/>
                  <a:latin typeface="Arial" panose="020B0604020202020204" pitchFamily="34" charset="0"/>
                  <a:ea typeface="黑体" pitchFamily="49" charset="-122"/>
                  <a:cs typeface="Arial" panose="020B0604020202020204" pitchFamily="34" charset="0"/>
                </a:rPr>
                <a:t>)</a:t>
              </a:r>
              <a:r>
                <a:rPr kumimoji="0" lang="en-US" altLang="zh-CN" sz="2800" b="1" i="0" u="none" strike="noStrike" kern="0" cap="none" spc="0" normalizeH="0" baseline="-25000" noProof="0" dirty="0">
                  <a:ln>
                    <a:noFill/>
                  </a:ln>
                  <a:solidFill>
                    <a:srgbClr val="3333FF"/>
                  </a:solidFill>
                  <a:effectLst/>
                  <a:uLnTx/>
                  <a:uFillTx/>
                  <a:latin typeface="Arial" panose="020B0604020202020204" pitchFamily="34" charset="0"/>
                  <a:ea typeface="黑体" pitchFamily="49" charset="-122"/>
                  <a:cs typeface="Arial" panose="020B0604020202020204" pitchFamily="34" charset="0"/>
                </a:rPr>
                <a:t>NEW</a:t>
              </a:r>
              <a:endParaRPr kumimoji="0" lang="en-CN" sz="2000" b="1" i="0" u="none" strike="noStrike" kern="0" cap="none" spc="0" normalizeH="0" baseline="0" noProof="0" dirty="0">
                <a:ln>
                  <a:noFill/>
                </a:ln>
                <a:solidFill>
                  <a:srgbClr val="3333FF"/>
                </a:solidFill>
                <a:effectLst/>
                <a:uLnTx/>
                <a:uFillTx/>
                <a:latin typeface="Arial" panose="020B0604020202020204" pitchFamily="34" charset="0"/>
                <a:cs typeface="Arial" panose="020B0604020202020204" pitchFamily="34" charset="0"/>
              </a:endParaRPr>
            </a:p>
          </p:txBody>
        </p:sp>
        <p:sp>
          <p:nvSpPr>
            <p:cNvPr id="10" name="Right Brace 1">
              <a:extLst>
                <a:ext uri="{FF2B5EF4-FFF2-40B4-BE49-F238E27FC236}">
                  <a16:creationId xmlns:a16="http://schemas.microsoft.com/office/drawing/2014/main" id="{8860CEEE-3FBE-F1A5-3D70-7D94E0819570}"/>
                </a:ext>
              </a:extLst>
            </p:cNvPr>
            <p:cNvSpPr/>
            <p:nvPr/>
          </p:nvSpPr>
          <p:spPr bwMode="auto">
            <a:xfrm>
              <a:off x="2879812" y="2856018"/>
              <a:ext cx="396044" cy="1382664"/>
            </a:xfrm>
            <a:prstGeom prst="rightBrace">
              <a:avLst>
                <a:gd name="adj1" fmla="val 26503"/>
                <a:gd name="adj2" fmla="val 50000"/>
              </a:avLst>
            </a:prstGeom>
            <a:no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en-CN" sz="1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31070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P spid="5" grpId="0"/>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dirty="0"/>
              <a:t>BCD</a:t>
            </a:r>
            <a:r>
              <a:rPr lang="zh-CN" altLang="en-US" dirty="0"/>
              <a:t>码</a:t>
            </a:r>
            <a:endParaRPr lang="en-US" altLang="zh-CN" dirty="0"/>
          </a:p>
        </p:txBody>
      </p:sp>
      <p:sp>
        <p:nvSpPr>
          <p:cNvPr id="40963" name="Rectangle 3"/>
          <p:cNvSpPr>
            <a:spLocks noGrp="1" noChangeArrowheads="1"/>
          </p:cNvSpPr>
          <p:nvPr>
            <p:ph idx="1"/>
          </p:nvPr>
        </p:nvSpPr>
        <p:spPr>
          <a:xfrm>
            <a:off x="457200" y="1448780"/>
            <a:ext cx="4510844" cy="5029200"/>
          </a:xfrm>
        </p:spPr>
        <p:txBody>
          <a:bodyPr/>
          <a:lstStyle/>
          <a:p>
            <a:pPr eaLnBrk="1" hangingPunct="1"/>
            <a:r>
              <a:rPr lang="en-US" altLang="zh-CN" sz="2800" b="1" dirty="0"/>
              <a:t>Binary-coded</a:t>
            </a:r>
            <a:r>
              <a:rPr lang="zh-CN" altLang="en-US" sz="2800" b="1" dirty="0"/>
              <a:t> </a:t>
            </a:r>
            <a:r>
              <a:rPr lang="en-US" altLang="zh-CN" sz="2800" b="1" dirty="0"/>
              <a:t>decimal</a:t>
            </a:r>
          </a:p>
          <a:p>
            <a:pPr lvl="1" hangingPunct="1"/>
            <a:r>
              <a:rPr lang="zh-CN" altLang="en-US" sz="2400" dirty="0"/>
              <a:t>每个十进制数</a:t>
            </a:r>
            <a:r>
              <a:rPr lang="zh-CN" altLang="en-US" sz="2400" b="1" dirty="0"/>
              <a:t>单独</a:t>
            </a:r>
            <a:r>
              <a:rPr lang="zh-CN" altLang="en-US" sz="2400" dirty="0"/>
              <a:t>表示</a:t>
            </a:r>
            <a:endParaRPr lang="en-US" altLang="zh-CN" sz="2400" dirty="0"/>
          </a:p>
          <a:p>
            <a:pPr lvl="1" hangingPunct="1"/>
            <a:r>
              <a:rPr lang="zh-CN" altLang="en-US" sz="2400" dirty="0"/>
              <a:t>编码方式不唯一</a:t>
            </a:r>
            <a:endParaRPr lang="en-US" altLang="zh-CN" sz="2400" dirty="0"/>
          </a:p>
          <a:p>
            <a:pPr eaLnBrk="1" hangingPunct="1"/>
            <a:r>
              <a:rPr lang="en-US" altLang="zh-CN" sz="2800" b="1" dirty="0"/>
              <a:t>8421</a:t>
            </a:r>
            <a:r>
              <a:rPr lang="zh-CN" altLang="en-US" sz="2800" b="1" dirty="0"/>
              <a:t> </a:t>
            </a:r>
            <a:r>
              <a:rPr lang="en-US" altLang="zh-CN" sz="2800" b="1" dirty="0"/>
              <a:t>BCD</a:t>
            </a:r>
            <a:r>
              <a:rPr lang="zh-CN" altLang="en-US" sz="2800" b="1" dirty="0"/>
              <a:t>码</a:t>
            </a:r>
            <a:endParaRPr lang="en-US" altLang="zh-CN" sz="2800" b="1" dirty="0"/>
          </a:p>
          <a:p>
            <a:pPr lvl="1" hangingPunct="1"/>
            <a:r>
              <a:rPr lang="zh-CN" altLang="en-US" sz="2400" dirty="0"/>
              <a:t>有权码</a:t>
            </a:r>
            <a:endParaRPr lang="en-US" altLang="zh-CN" sz="2400" dirty="0"/>
          </a:p>
          <a:p>
            <a:pPr lvl="1" eaLnBrk="1" hangingPunct="1"/>
            <a:r>
              <a:rPr lang="zh-CN" altLang="en-US" sz="2400" dirty="0"/>
              <a:t>最常用</a:t>
            </a:r>
            <a:endParaRPr lang="en-US" altLang="zh-CN" sz="2400" dirty="0"/>
          </a:p>
        </p:txBody>
      </p:sp>
      <p:sp>
        <p:nvSpPr>
          <p:cNvPr id="2" name="灯片编号占位符 1">
            <a:extLst>
              <a:ext uri="{FF2B5EF4-FFF2-40B4-BE49-F238E27FC236}">
                <a16:creationId xmlns:a16="http://schemas.microsoft.com/office/drawing/2014/main" id="{344561D6-D13C-216C-B933-03B3CF127B98}"/>
              </a:ext>
            </a:extLst>
          </p:cNvPr>
          <p:cNvSpPr>
            <a:spLocks noGrp="1"/>
          </p:cNvSpPr>
          <p:nvPr>
            <p:ph type="sldNum" sz="quarter" idx="12"/>
          </p:nvPr>
        </p:nvSpPr>
        <p:spPr/>
        <p:txBody>
          <a:bodyPr/>
          <a:lstStyle/>
          <a:p>
            <a:fld id="{14659731-6BD7-46E7-8D3C-2F3AC07E20B1}" type="slidenum">
              <a:rPr lang="en-US" altLang="zh-CN" smtClean="0"/>
              <a:pPr/>
              <a:t>15</a:t>
            </a:fld>
            <a:endParaRPr lang="en-US" altLang="zh-CN" dirty="0"/>
          </a:p>
        </p:txBody>
      </p:sp>
      <p:graphicFrame>
        <p:nvGraphicFramePr>
          <p:cNvPr id="3" name="Group 3">
            <a:extLst>
              <a:ext uri="{FF2B5EF4-FFF2-40B4-BE49-F238E27FC236}">
                <a16:creationId xmlns:a16="http://schemas.microsoft.com/office/drawing/2014/main" id="{4EC047BF-E0C2-A06D-8312-0C8BA28A7B1C}"/>
              </a:ext>
            </a:extLst>
          </p:cNvPr>
          <p:cNvGraphicFramePr>
            <a:graphicFrameLocks/>
          </p:cNvGraphicFramePr>
          <p:nvPr>
            <p:extLst>
              <p:ext uri="{D42A27DB-BD31-4B8C-83A1-F6EECF244321}">
                <p14:modId xmlns:p14="http://schemas.microsoft.com/office/powerpoint/2010/main" val="4245489829"/>
              </p:ext>
            </p:extLst>
          </p:nvPr>
        </p:nvGraphicFramePr>
        <p:xfrm>
          <a:off x="4896036" y="1448780"/>
          <a:ext cx="3987499" cy="4780800"/>
        </p:xfrm>
        <a:graphic>
          <a:graphicData uri="http://schemas.openxmlformats.org/drawingml/2006/table">
            <a:tbl>
              <a:tblPr/>
              <a:tblGrid>
                <a:gridCol w="1330937">
                  <a:extLst>
                    <a:ext uri="{9D8B030D-6E8A-4147-A177-3AD203B41FA5}">
                      <a16:colId xmlns:a16="http://schemas.microsoft.com/office/drawing/2014/main" val="20000"/>
                    </a:ext>
                  </a:extLst>
                </a:gridCol>
                <a:gridCol w="552416">
                  <a:extLst>
                    <a:ext uri="{9D8B030D-6E8A-4147-A177-3AD203B41FA5}">
                      <a16:colId xmlns:a16="http://schemas.microsoft.com/office/drawing/2014/main" val="20001"/>
                    </a:ext>
                  </a:extLst>
                </a:gridCol>
                <a:gridCol w="610347">
                  <a:extLst>
                    <a:ext uri="{9D8B030D-6E8A-4147-A177-3AD203B41FA5}">
                      <a16:colId xmlns:a16="http://schemas.microsoft.com/office/drawing/2014/main" val="20002"/>
                    </a:ext>
                  </a:extLst>
                </a:gridCol>
                <a:gridCol w="745865">
                  <a:extLst>
                    <a:ext uri="{9D8B030D-6E8A-4147-A177-3AD203B41FA5}">
                      <a16:colId xmlns:a16="http://schemas.microsoft.com/office/drawing/2014/main" val="20003"/>
                    </a:ext>
                  </a:extLst>
                </a:gridCol>
                <a:gridCol w="747934">
                  <a:extLst>
                    <a:ext uri="{9D8B030D-6E8A-4147-A177-3AD203B41FA5}">
                      <a16:colId xmlns:a16="http://schemas.microsoft.com/office/drawing/2014/main" val="20004"/>
                    </a:ext>
                  </a:extLst>
                </a:gridCol>
              </a:tblGrid>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2700" marR="0" lvl="0" indent="-127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十进制数</a:t>
                      </a:r>
                      <a:endParaRPr kumimoji="0" lang="en-US" altLang="zh-CN" sz="2000" b="1" i="0" u="none" strike="noStrike" cap="none" normalizeH="0" baseline="0" dirty="0">
                        <a:ln>
                          <a:noFill/>
                        </a:ln>
                        <a:solidFill>
                          <a:schemeClr val="tx1"/>
                        </a:solidFill>
                        <a:effectLst/>
                        <a:latin typeface="SimHei" panose="02010609060101010101" pitchFamily="49" charset="-122"/>
                        <a:ea typeface="SimHei" panose="02010609060101010101" pitchFamily="49"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7C3B7"/>
                    </a:solidFill>
                  </a:tcPr>
                </a:tc>
                <a:tc gridSpan="4">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8.4.2.1BCD</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7C3B7"/>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2</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3</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4</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5</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6</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7</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8</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9</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0</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42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zh-CN" altLang="en-US" sz="2000" b="1"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权重</a:t>
                      </a:r>
                      <a:endParaRPr kumimoji="0" lang="en-US" altLang="zh-CN" sz="2000" b="1" i="0" u="none" strike="noStrike" cap="none" normalizeH="0" baseline="0" dirty="0">
                        <a:ln>
                          <a:noFill/>
                        </a:ln>
                        <a:solidFill>
                          <a:schemeClr val="tx1"/>
                        </a:solidFill>
                        <a:effectLst/>
                        <a:latin typeface="SimHei" panose="02010609060101010101" pitchFamily="49" charset="-122"/>
                        <a:ea typeface="SimHei" panose="02010609060101010101" pitchFamily="49" charset="-122"/>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8</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4</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2</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2000" b="1" i="0" u="none" strike="noStrike" cap="none" normalizeH="0" baseline="0" dirty="0">
                          <a:ln>
                            <a:noFill/>
                          </a:ln>
                          <a:solidFill>
                            <a:schemeClr val="tx1"/>
                          </a:solidFill>
                          <a:effectLst/>
                          <a:latin typeface="Arial" charset="0"/>
                          <a:ea typeface="宋体" pitchFamily="2" charset="-122"/>
                        </a:rPr>
                        <a:t>1</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7952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dirty="0"/>
              <a:t>注意</a:t>
            </a:r>
            <a:endParaRPr lang="en-US" altLang="zh-CN" dirty="0"/>
          </a:p>
        </p:txBody>
      </p:sp>
      <p:sp>
        <p:nvSpPr>
          <p:cNvPr id="43011" name="Rectangle 3"/>
          <p:cNvSpPr>
            <a:spLocks noGrp="1" noChangeArrowheads="1"/>
          </p:cNvSpPr>
          <p:nvPr>
            <p:ph idx="1"/>
          </p:nvPr>
        </p:nvSpPr>
        <p:spPr>
          <a:xfrm>
            <a:off x="493713" y="1502106"/>
            <a:ext cx="8229600" cy="5059242"/>
          </a:xfrm>
        </p:spPr>
        <p:txBody>
          <a:bodyPr/>
          <a:lstStyle/>
          <a:p>
            <a:pPr hangingPunct="1">
              <a:spcBef>
                <a:spcPct val="50000"/>
              </a:spcBef>
            </a:pPr>
            <a:r>
              <a:rPr lang="en-US" altLang="zh-CN" sz="2400" b="1" dirty="0"/>
              <a:t>8421BCD</a:t>
            </a:r>
            <a:r>
              <a:rPr lang="zh-CN" altLang="en-US" sz="2400" b="1" dirty="0"/>
              <a:t>和二进制数</a:t>
            </a:r>
            <a:r>
              <a:rPr lang="zh-CN" altLang="en-US" sz="2400" b="1" dirty="0">
                <a:solidFill>
                  <a:srgbClr val="FF0000"/>
                </a:solidFill>
              </a:rPr>
              <a:t>有区别！</a:t>
            </a:r>
            <a:endParaRPr lang="en-US" altLang="zh-CN" sz="2400" b="1" dirty="0">
              <a:solidFill>
                <a:srgbClr val="FF0000"/>
              </a:solidFill>
            </a:endParaRPr>
          </a:p>
          <a:p>
            <a:pPr hangingPunct="1">
              <a:spcBef>
                <a:spcPct val="50000"/>
              </a:spcBef>
            </a:pPr>
            <a:r>
              <a:rPr lang="en-US" altLang="zh-CN" sz="2400" b="1" dirty="0"/>
              <a:t>(</a:t>
            </a:r>
            <a:r>
              <a:rPr lang="en-US" altLang="zh-CN" sz="2400" b="1" dirty="0">
                <a:solidFill>
                  <a:srgbClr val="C00000"/>
                </a:solidFill>
              </a:rPr>
              <a:t>3</a:t>
            </a:r>
            <a:r>
              <a:rPr lang="en-US" altLang="zh-CN" sz="2400" b="1" dirty="0">
                <a:solidFill>
                  <a:srgbClr val="4E9C22"/>
                </a:solidFill>
              </a:rPr>
              <a:t>9</a:t>
            </a:r>
            <a:r>
              <a:rPr lang="en-US" altLang="zh-CN" sz="2400" b="1" dirty="0">
                <a:solidFill>
                  <a:srgbClr val="7030A0"/>
                </a:solidFill>
              </a:rPr>
              <a:t>5</a:t>
            </a:r>
            <a:r>
              <a:rPr lang="en-US" altLang="zh-CN" sz="2400" b="1" dirty="0"/>
              <a:t>)</a:t>
            </a:r>
            <a:r>
              <a:rPr lang="en-US" altLang="zh-CN" sz="2400" b="1" baseline="-25000" dirty="0"/>
              <a:t>10  </a:t>
            </a:r>
            <a:r>
              <a:rPr lang="en-US" altLang="zh-CN" sz="2400" b="1" dirty="0">
                <a:sym typeface="Wingdings" pitchFamily="2" charset="2"/>
              </a:rPr>
              <a:t>=</a:t>
            </a:r>
            <a:r>
              <a:rPr lang="en-US" altLang="zh-CN" sz="2400" b="1" dirty="0"/>
              <a:t> (</a:t>
            </a:r>
            <a:r>
              <a:rPr lang="en-US" altLang="zh-CN" sz="2400" b="1" dirty="0">
                <a:solidFill>
                  <a:srgbClr val="C00000"/>
                </a:solidFill>
              </a:rPr>
              <a:t>0011</a:t>
            </a:r>
            <a:r>
              <a:rPr lang="en-US" altLang="zh-CN" sz="2400" b="1" dirty="0"/>
              <a:t> </a:t>
            </a:r>
            <a:r>
              <a:rPr lang="en-US" altLang="zh-CN" sz="2400" b="1" dirty="0">
                <a:solidFill>
                  <a:srgbClr val="4E9C22"/>
                </a:solidFill>
              </a:rPr>
              <a:t>1001</a:t>
            </a:r>
            <a:r>
              <a:rPr lang="en-US" altLang="zh-CN" sz="2400" b="1" dirty="0"/>
              <a:t> </a:t>
            </a:r>
            <a:r>
              <a:rPr lang="en-US" altLang="zh-CN" sz="2400" b="1" dirty="0">
                <a:solidFill>
                  <a:srgbClr val="7030A0"/>
                </a:solidFill>
              </a:rPr>
              <a:t>0101</a:t>
            </a:r>
            <a:r>
              <a:rPr lang="en-US" altLang="zh-CN" sz="2400" b="1" dirty="0"/>
              <a:t>)</a:t>
            </a:r>
            <a:r>
              <a:rPr lang="en-US" altLang="zh-CN" sz="2400" b="1" baseline="-25000" dirty="0">
                <a:solidFill>
                  <a:srgbClr val="3333FF"/>
                </a:solidFill>
              </a:rPr>
              <a:t>BCD </a:t>
            </a:r>
            <a:r>
              <a:rPr lang="en-US" altLang="zh-CN" sz="2400" dirty="0"/>
              <a:t>=(0001 1000 1011)</a:t>
            </a:r>
            <a:r>
              <a:rPr lang="en-US" altLang="zh-CN" sz="2400" baseline="-25000" dirty="0"/>
              <a:t>2</a:t>
            </a:r>
            <a:r>
              <a:rPr lang="en-US" altLang="zh-CN" sz="2400" dirty="0"/>
              <a:t> </a:t>
            </a:r>
          </a:p>
          <a:p>
            <a:pPr marL="0" indent="0" hangingPunct="1">
              <a:spcBef>
                <a:spcPct val="50000"/>
              </a:spcBef>
              <a:buNone/>
            </a:pPr>
            <a:r>
              <a:rPr lang="en-US" altLang="zh-CN" sz="2400" dirty="0">
                <a:sym typeface="Symbol" pitchFamily="18" charset="2"/>
              </a:rPr>
              <a:t>                    </a:t>
            </a:r>
            <a:r>
              <a:rPr lang="en-US" altLang="zh-CN" sz="2400" dirty="0"/>
              <a:t>(</a:t>
            </a:r>
            <a:r>
              <a:rPr lang="en-US" altLang="zh-CN" sz="2400" b="1" dirty="0">
                <a:solidFill>
                  <a:srgbClr val="C00000"/>
                </a:solidFill>
              </a:rPr>
              <a:t>0011</a:t>
            </a:r>
            <a:r>
              <a:rPr lang="en-US" altLang="zh-CN" sz="2400" b="1" dirty="0"/>
              <a:t> </a:t>
            </a:r>
            <a:r>
              <a:rPr lang="en-US" altLang="zh-CN" sz="2400" b="1" dirty="0">
                <a:solidFill>
                  <a:srgbClr val="4E9C22"/>
                </a:solidFill>
              </a:rPr>
              <a:t>1001</a:t>
            </a:r>
            <a:r>
              <a:rPr lang="en-US" altLang="zh-CN" sz="2400" b="1" dirty="0"/>
              <a:t> </a:t>
            </a:r>
            <a:r>
              <a:rPr lang="en-US" altLang="zh-CN" sz="2400" b="1" dirty="0">
                <a:solidFill>
                  <a:srgbClr val="7030A0"/>
                </a:solidFill>
              </a:rPr>
              <a:t>0101</a:t>
            </a:r>
            <a:r>
              <a:rPr lang="en-US" altLang="zh-CN" sz="2400" dirty="0"/>
              <a:t>)</a:t>
            </a:r>
            <a:r>
              <a:rPr lang="en-US" altLang="zh-CN" sz="2400" baseline="-25000" dirty="0">
                <a:solidFill>
                  <a:srgbClr val="FF0000"/>
                </a:solidFill>
              </a:rPr>
              <a:t>2</a:t>
            </a:r>
            <a:endParaRPr lang="en-US" altLang="zh-CN" sz="2400" b="1" dirty="0"/>
          </a:p>
          <a:p>
            <a:pPr hangingPunct="1"/>
            <a:r>
              <a:rPr lang="en-US" altLang="zh-CN" sz="2400" dirty="0"/>
              <a:t>(</a:t>
            </a:r>
            <a:r>
              <a:rPr lang="en-US" altLang="zh-CN" sz="2400" b="1" dirty="0">
                <a:solidFill>
                  <a:srgbClr val="C00000"/>
                </a:solidFill>
              </a:rPr>
              <a:t>0011</a:t>
            </a:r>
            <a:r>
              <a:rPr lang="en-US" altLang="zh-CN" sz="2400" b="1" dirty="0"/>
              <a:t> </a:t>
            </a:r>
            <a:r>
              <a:rPr lang="en-US" altLang="zh-CN" sz="2400" b="1" dirty="0">
                <a:solidFill>
                  <a:srgbClr val="4E9C22"/>
                </a:solidFill>
              </a:rPr>
              <a:t>1001</a:t>
            </a:r>
            <a:r>
              <a:rPr lang="en-US" altLang="zh-CN" sz="2400" b="1" dirty="0"/>
              <a:t> </a:t>
            </a:r>
            <a:r>
              <a:rPr lang="en-US" altLang="zh-CN" sz="2400" b="1" dirty="0">
                <a:solidFill>
                  <a:srgbClr val="7030A0"/>
                </a:solidFill>
              </a:rPr>
              <a:t>0101</a:t>
            </a:r>
            <a:r>
              <a:rPr lang="en-US" altLang="zh-CN" sz="2400" dirty="0"/>
              <a:t>)</a:t>
            </a:r>
            <a:r>
              <a:rPr lang="en-US" altLang="zh-CN" sz="2400" baseline="-25000" dirty="0">
                <a:solidFill>
                  <a:srgbClr val="FF0000"/>
                </a:solidFill>
              </a:rPr>
              <a:t>2</a:t>
            </a:r>
            <a:r>
              <a:rPr lang="en-US" altLang="zh-CN" sz="2400" dirty="0"/>
              <a:t>=(512+256+128+16+4+1)</a:t>
            </a:r>
            <a:r>
              <a:rPr lang="en-US" altLang="zh-CN" sz="2400" baseline="-25000" dirty="0"/>
              <a:t>10</a:t>
            </a:r>
            <a:r>
              <a:rPr lang="en-US" altLang="zh-CN" sz="2400" dirty="0"/>
              <a:t>=917</a:t>
            </a:r>
            <a:r>
              <a:rPr lang="en-US" altLang="zh-CN" sz="2400" baseline="-25000" dirty="0"/>
              <a:t>10</a:t>
            </a:r>
            <a:endParaRPr lang="en-US" altLang="zh-CN" sz="2400" dirty="0"/>
          </a:p>
          <a:p>
            <a:pPr eaLnBrk="1" hangingPunct="1"/>
            <a:r>
              <a:rPr lang="en-US" altLang="zh-CN" sz="2400" dirty="0"/>
              <a:t>BCD</a:t>
            </a:r>
            <a:r>
              <a:rPr lang="zh-CN" altLang="en-US" sz="2400" dirty="0"/>
              <a:t>加法</a:t>
            </a:r>
            <a:endParaRPr lang="en-US" altLang="zh-CN" sz="2400" dirty="0"/>
          </a:p>
          <a:p>
            <a:pPr lvl="1" hangingPunct="1"/>
            <a:r>
              <a:rPr lang="en-US" altLang="zh-CN" sz="2400" dirty="0">
                <a:solidFill>
                  <a:srgbClr val="4E9C22"/>
                </a:solidFill>
              </a:rPr>
              <a:t>3</a:t>
            </a:r>
            <a:r>
              <a:rPr lang="en-US" altLang="zh-CN" sz="2400" dirty="0">
                <a:solidFill>
                  <a:srgbClr val="3333FF"/>
                </a:solidFill>
              </a:rPr>
              <a:t>4</a:t>
            </a:r>
            <a:r>
              <a:rPr lang="en-US" altLang="zh-CN" sz="2400" baseline="-25000" dirty="0">
                <a:solidFill>
                  <a:srgbClr val="080808"/>
                </a:solidFill>
              </a:rPr>
              <a:t>10</a:t>
            </a:r>
            <a:r>
              <a:rPr lang="en-US" altLang="zh-CN" sz="2400" dirty="0">
                <a:solidFill>
                  <a:srgbClr val="080808"/>
                </a:solidFill>
              </a:rPr>
              <a:t>+</a:t>
            </a:r>
            <a:r>
              <a:rPr lang="en-US" altLang="zh-CN" sz="2400" dirty="0">
                <a:solidFill>
                  <a:srgbClr val="7030A0"/>
                </a:solidFill>
              </a:rPr>
              <a:t>4</a:t>
            </a:r>
            <a:r>
              <a:rPr lang="en-US" altLang="zh-CN" sz="2400" dirty="0">
                <a:solidFill>
                  <a:srgbClr val="080808"/>
                </a:solidFill>
              </a:rPr>
              <a:t>5</a:t>
            </a:r>
            <a:r>
              <a:rPr lang="en-US" altLang="zh-CN" sz="2400" baseline="-25000" dirty="0">
                <a:solidFill>
                  <a:srgbClr val="080808"/>
                </a:solidFill>
              </a:rPr>
              <a:t>10 </a:t>
            </a:r>
            <a:r>
              <a:rPr lang="en-US" altLang="zh-CN" sz="2400" dirty="0">
                <a:solidFill>
                  <a:srgbClr val="080808"/>
                </a:solidFill>
              </a:rPr>
              <a:t>= (</a:t>
            </a:r>
            <a:r>
              <a:rPr lang="en-US" altLang="zh-CN" sz="2400" dirty="0">
                <a:solidFill>
                  <a:srgbClr val="4E9C22"/>
                </a:solidFill>
              </a:rPr>
              <a:t>0011</a:t>
            </a:r>
            <a:r>
              <a:rPr lang="en-US" altLang="zh-CN" sz="2400" dirty="0">
                <a:solidFill>
                  <a:srgbClr val="080808"/>
                </a:solidFill>
              </a:rPr>
              <a:t> </a:t>
            </a:r>
            <a:r>
              <a:rPr lang="en-US" altLang="zh-CN" sz="2400" dirty="0">
                <a:solidFill>
                  <a:srgbClr val="3333FF"/>
                </a:solidFill>
              </a:rPr>
              <a:t>0100</a:t>
            </a:r>
            <a:r>
              <a:rPr lang="en-US" altLang="zh-CN" sz="2400" dirty="0">
                <a:solidFill>
                  <a:srgbClr val="080808"/>
                </a:solidFill>
              </a:rPr>
              <a:t>)</a:t>
            </a:r>
            <a:r>
              <a:rPr lang="en-US" altLang="zh-CN" sz="2400" baseline="-25000" dirty="0">
                <a:solidFill>
                  <a:srgbClr val="080808"/>
                </a:solidFill>
              </a:rPr>
              <a:t>BCD</a:t>
            </a:r>
            <a:r>
              <a:rPr lang="en-US" altLang="zh-CN" sz="2400" dirty="0">
                <a:solidFill>
                  <a:srgbClr val="080808"/>
                </a:solidFill>
              </a:rPr>
              <a:t>+ (</a:t>
            </a:r>
            <a:r>
              <a:rPr lang="en-US" altLang="zh-CN" sz="2400" dirty="0">
                <a:solidFill>
                  <a:srgbClr val="7030A0"/>
                </a:solidFill>
              </a:rPr>
              <a:t>0100</a:t>
            </a:r>
            <a:r>
              <a:rPr lang="en-US" altLang="zh-CN" sz="2400" dirty="0">
                <a:solidFill>
                  <a:srgbClr val="080808"/>
                </a:solidFill>
              </a:rPr>
              <a:t> 0101)</a:t>
            </a:r>
            <a:r>
              <a:rPr lang="en-US" altLang="zh-CN" sz="2400" baseline="-25000" dirty="0">
                <a:solidFill>
                  <a:srgbClr val="080808"/>
                </a:solidFill>
              </a:rPr>
              <a:t>BCD</a:t>
            </a:r>
            <a:endParaRPr lang="en" altLang="zh-CN" sz="2400" dirty="0"/>
          </a:p>
          <a:p>
            <a:pPr lvl="1" hangingPunct="1"/>
            <a:endParaRPr lang="en-US" altLang="zh-CN" sz="2400" dirty="0"/>
          </a:p>
          <a:p>
            <a:pPr lvl="1" hangingPunct="1"/>
            <a:r>
              <a:rPr lang="zh-CN" altLang="en" sz="2400" dirty="0"/>
              <a:t>进位</a:t>
            </a:r>
            <a:r>
              <a:rPr lang="zh-CN" altLang="en-US" sz="2400" dirty="0"/>
              <a:t>（</a:t>
            </a:r>
            <a:r>
              <a:rPr lang="en" altLang="zh-CN" sz="2400" dirty="0"/>
              <a:t>Carry </a:t>
            </a:r>
            <a:r>
              <a:rPr lang="zh-CN" altLang="en-US" sz="2400" dirty="0"/>
              <a:t>）</a:t>
            </a:r>
            <a:endParaRPr lang="en" altLang="zh-CN" sz="2400" dirty="0"/>
          </a:p>
          <a:p>
            <a:pPr lvl="2" hangingPunct="1"/>
            <a:r>
              <a:rPr lang="en-US" altLang="zh-CN" sz="2000" dirty="0"/>
              <a:t>Try</a:t>
            </a:r>
            <a:r>
              <a:rPr lang="zh-CN" altLang="en-US" sz="2000" dirty="0"/>
              <a:t> </a:t>
            </a:r>
            <a:r>
              <a:rPr lang="en-US" altLang="zh-CN" sz="2000" dirty="0"/>
              <a:t>(14)</a:t>
            </a:r>
            <a:r>
              <a:rPr lang="en-US" altLang="zh-CN" sz="2000" baseline="-25000" dirty="0"/>
              <a:t>D</a:t>
            </a:r>
            <a:r>
              <a:rPr lang="en-US" altLang="zh-CN" sz="2000" dirty="0"/>
              <a:t>+(28)</a:t>
            </a:r>
            <a:r>
              <a:rPr lang="en-US" altLang="zh-CN" sz="2000" baseline="-25000" dirty="0"/>
              <a:t>D</a:t>
            </a:r>
            <a:r>
              <a:rPr lang="en-US" altLang="zh-CN" sz="2000" dirty="0"/>
              <a:t>=(0001 0100)</a:t>
            </a:r>
            <a:r>
              <a:rPr lang="en-US" altLang="zh-CN" sz="2000" baseline="-25000" dirty="0"/>
              <a:t>BCD</a:t>
            </a:r>
            <a:r>
              <a:rPr lang="en-US" altLang="zh-CN" sz="2000" dirty="0"/>
              <a:t>+(0010 1000)</a:t>
            </a:r>
            <a:r>
              <a:rPr lang="en-US" altLang="zh-CN" sz="2000" baseline="-25000" dirty="0"/>
              <a:t>BCD</a:t>
            </a:r>
          </a:p>
        </p:txBody>
      </p:sp>
      <p:sp>
        <p:nvSpPr>
          <p:cNvPr id="2" name="灯片编号占位符 1">
            <a:extLst>
              <a:ext uri="{FF2B5EF4-FFF2-40B4-BE49-F238E27FC236}">
                <a16:creationId xmlns:a16="http://schemas.microsoft.com/office/drawing/2014/main" id="{19D9968B-1B6F-292B-7DBF-796D1A50ACC2}"/>
              </a:ext>
            </a:extLst>
          </p:cNvPr>
          <p:cNvSpPr>
            <a:spLocks noGrp="1"/>
          </p:cNvSpPr>
          <p:nvPr>
            <p:ph type="sldNum" sz="quarter" idx="12"/>
          </p:nvPr>
        </p:nvSpPr>
        <p:spPr/>
        <p:txBody>
          <a:bodyPr/>
          <a:lstStyle/>
          <a:p>
            <a:fld id="{14659731-6BD7-46E7-8D3C-2F3AC07E20B1}" type="slidenum">
              <a:rPr lang="en-US" altLang="zh-CN" smtClean="0"/>
              <a:pPr/>
              <a:t>16</a:t>
            </a:fld>
            <a:endParaRPr lang="en-US" altLang="zh-CN" dirty="0"/>
          </a:p>
        </p:txBody>
      </p:sp>
    </p:spTree>
    <p:extLst>
      <p:ext uri="{BB962C8B-B14F-4D97-AF65-F5344CB8AC3E}">
        <p14:creationId xmlns:p14="http://schemas.microsoft.com/office/powerpoint/2010/main" val="336584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3011">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011">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0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dirty="0">
                <a:latin typeface="Arial" panose="020B0604020202020204" pitchFamily="34" charset="0"/>
                <a:cs typeface="Arial" panose="020B0604020202020204" pitchFamily="34" charset="0"/>
              </a:rPr>
              <a:t>格雷码</a:t>
            </a:r>
            <a:endParaRPr lang="en-US" altLang="zh-CN" dirty="0">
              <a:latin typeface="Arial" panose="020B0604020202020204" pitchFamily="34" charset="0"/>
              <a:cs typeface="Arial" panose="020B0604020202020204" pitchFamily="34" charset="0"/>
            </a:endParaRPr>
          </a:p>
        </p:txBody>
      </p:sp>
      <p:sp>
        <p:nvSpPr>
          <p:cNvPr id="2" name="灯片编号占位符 1">
            <a:extLst>
              <a:ext uri="{FF2B5EF4-FFF2-40B4-BE49-F238E27FC236}">
                <a16:creationId xmlns:a16="http://schemas.microsoft.com/office/drawing/2014/main" id="{40C54E85-5166-6E4B-CD84-CC64EE181FB7}"/>
              </a:ext>
            </a:extLst>
          </p:cNvPr>
          <p:cNvSpPr>
            <a:spLocks noGrp="1"/>
          </p:cNvSpPr>
          <p:nvPr>
            <p:ph type="sldNum" sz="quarter" idx="12"/>
          </p:nvPr>
        </p:nvSpPr>
        <p:spPr/>
        <p:txBody>
          <a:bodyPr/>
          <a:lstStyle/>
          <a:p>
            <a:fld id="{14659731-6BD7-46E7-8D3C-2F3AC07E20B1}" type="slidenum">
              <a:rPr lang="en-US" altLang="zh-CN" smtClean="0"/>
              <a:pPr/>
              <a:t>17</a:t>
            </a:fld>
            <a:endParaRPr lang="en-US" altLang="zh-CN" dirty="0"/>
          </a:p>
        </p:txBody>
      </p:sp>
      <p:sp>
        <p:nvSpPr>
          <p:cNvPr id="44035" name="Text Box 3"/>
          <p:cNvSpPr txBox="1">
            <a:spLocks noChangeArrowheads="1"/>
          </p:cNvSpPr>
          <p:nvPr/>
        </p:nvSpPr>
        <p:spPr bwMode="auto">
          <a:xfrm>
            <a:off x="762000" y="1926806"/>
            <a:ext cx="984565" cy="353943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0 0 0</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0 0 1</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0 1 1</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0 1 0</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1 1 0</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1 1 1</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1 0 1</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1 0 0</a:t>
            </a:r>
          </a:p>
        </p:txBody>
      </p:sp>
      <p:sp>
        <p:nvSpPr>
          <p:cNvPr id="44036" name="Text Box 4"/>
          <p:cNvSpPr txBox="1">
            <a:spLocks noChangeArrowheads="1"/>
          </p:cNvSpPr>
          <p:nvPr/>
        </p:nvSpPr>
        <p:spPr bwMode="auto">
          <a:xfrm>
            <a:off x="762000" y="5534072"/>
            <a:ext cx="9637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r>
              <a:rPr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Gray</a:t>
            </a:r>
          </a:p>
        </p:txBody>
      </p:sp>
      <p:sp>
        <p:nvSpPr>
          <p:cNvPr id="44037" name="Text Box 5"/>
          <p:cNvSpPr txBox="1">
            <a:spLocks noChangeArrowheads="1"/>
          </p:cNvSpPr>
          <p:nvPr/>
        </p:nvSpPr>
        <p:spPr bwMode="auto">
          <a:xfrm>
            <a:off x="2705100" y="1926806"/>
            <a:ext cx="984565" cy="353943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0 0 0</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0 0 1</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0 1 0</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0 1 1</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1 0 0</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1 0 1</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1 1 0</a:t>
            </a:r>
          </a:p>
          <a:p>
            <a:pPr algn="l"/>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1 1 1</a:t>
            </a:r>
          </a:p>
        </p:txBody>
      </p:sp>
      <p:sp>
        <p:nvSpPr>
          <p:cNvPr id="44038" name="Text Box 6"/>
          <p:cNvSpPr txBox="1">
            <a:spLocks noChangeArrowheads="1"/>
          </p:cNvSpPr>
          <p:nvPr/>
        </p:nvSpPr>
        <p:spPr bwMode="auto">
          <a:xfrm>
            <a:off x="2595294" y="5534072"/>
            <a:ext cx="12041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r>
              <a:rPr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Binary</a:t>
            </a:r>
          </a:p>
        </p:txBody>
      </p:sp>
      <p:sp>
        <p:nvSpPr>
          <p:cNvPr id="44039" name="Rectangle 7"/>
          <p:cNvSpPr>
            <a:spLocks noChangeArrowheads="1"/>
          </p:cNvSpPr>
          <p:nvPr/>
        </p:nvSpPr>
        <p:spPr bwMode="auto">
          <a:xfrm>
            <a:off x="4499992" y="1462641"/>
            <a:ext cx="404812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gn="just">
              <a:spcBef>
                <a:spcPct val="20000"/>
              </a:spcBef>
              <a:buSzPct val="100000"/>
              <a:buFont typeface="Arial" panose="020B0604020202020204" pitchFamily="34" charset="0"/>
              <a:buChar char="•"/>
            </a:pPr>
            <a:r>
              <a:rPr lang="zh-CN" altLang="en-US" sz="2800" b="0" dirty="0">
                <a:solidFill>
                  <a:schemeClr val="tx1"/>
                </a:solidFill>
                <a:latin typeface="Arial" panose="020B0604020202020204" pitchFamily="34" charset="0"/>
                <a:ea typeface="SimHei" charset="-122"/>
                <a:cs typeface="Arial" panose="020B0604020202020204" pitchFamily="34" charset="0"/>
              </a:rPr>
              <a:t>相邻格雷码两个数之间仅有一位编码不同</a:t>
            </a:r>
            <a:endParaRPr lang="en-US" altLang="zh-CN" sz="2800" b="0" dirty="0">
              <a:solidFill>
                <a:schemeClr val="tx1"/>
              </a:solidFill>
              <a:latin typeface="Arial" panose="020B0604020202020204" pitchFamily="34" charset="0"/>
              <a:ea typeface="SimHei" charset="-122"/>
              <a:cs typeface="Arial" panose="020B0604020202020204" pitchFamily="34" charset="0"/>
            </a:endParaRPr>
          </a:p>
          <a:p>
            <a:pPr marL="457200" indent="-457200" algn="just">
              <a:spcBef>
                <a:spcPct val="20000"/>
              </a:spcBef>
              <a:buSzPct val="100000"/>
              <a:buFont typeface="Arial" panose="020B0604020202020204" pitchFamily="34" charset="0"/>
              <a:buChar char="•"/>
            </a:pPr>
            <a:r>
              <a:rPr lang="zh-CN" altLang="en-US" sz="2800" b="0" dirty="0">
                <a:solidFill>
                  <a:schemeClr val="tx1"/>
                </a:solidFill>
                <a:latin typeface="Arial" panose="020B0604020202020204" pitchFamily="34" charset="0"/>
                <a:ea typeface="SimHei" charset="-122"/>
                <a:cs typeface="Arial" panose="020B0604020202020204" pitchFamily="34" charset="0"/>
              </a:rPr>
              <a:t>格雷码将在</a:t>
            </a:r>
            <a:r>
              <a:rPr lang="zh-CN" altLang="en-US" sz="2800" b="1" dirty="0">
                <a:solidFill>
                  <a:schemeClr val="tx1"/>
                </a:solidFill>
                <a:latin typeface="Arial" panose="020B0604020202020204" pitchFamily="34" charset="0"/>
                <a:ea typeface="SimHei" charset="-122"/>
                <a:cs typeface="Arial" panose="020B0604020202020204" pitchFamily="34" charset="0"/>
              </a:rPr>
              <a:t>卡诺图化简</a:t>
            </a:r>
            <a:r>
              <a:rPr lang="zh-CN" altLang="en-US" sz="2800" b="0" dirty="0">
                <a:solidFill>
                  <a:schemeClr val="tx1"/>
                </a:solidFill>
                <a:latin typeface="Arial" panose="020B0604020202020204" pitchFamily="34" charset="0"/>
                <a:ea typeface="SimHei" charset="-122"/>
                <a:cs typeface="Arial" panose="020B0604020202020204" pitchFamily="34" charset="0"/>
              </a:rPr>
              <a:t>中使用</a:t>
            </a:r>
            <a:endParaRPr lang="en-US" altLang="zh-CN" sz="2800" b="0" dirty="0">
              <a:solidFill>
                <a:schemeClr val="tx1"/>
              </a:solidFill>
              <a:latin typeface="Arial" panose="020B0604020202020204" pitchFamily="34" charset="0"/>
              <a:ea typeface="SimHei" charset="-122"/>
              <a:cs typeface="Arial" panose="020B0604020202020204" pitchFamily="34" charset="0"/>
            </a:endParaRPr>
          </a:p>
        </p:txBody>
      </p:sp>
    </p:spTree>
    <p:extLst>
      <p:ext uri="{BB962C8B-B14F-4D97-AF65-F5344CB8AC3E}">
        <p14:creationId xmlns:p14="http://schemas.microsoft.com/office/powerpoint/2010/main" val="3011645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dirty="0"/>
              <a:t>减法、负数</a:t>
            </a:r>
          </a:p>
        </p:txBody>
      </p:sp>
      <p:sp>
        <p:nvSpPr>
          <p:cNvPr id="45059" name="内容占位符 2"/>
          <p:cNvSpPr>
            <a:spLocks noGrp="1"/>
          </p:cNvSpPr>
          <p:nvPr>
            <p:ph idx="1"/>
          </p:nvPr>
        </p:nvSpPr>
        <p:spPr>
          <a:xfrm>
            <a:off x="377825" y="1484784"/>
            <a:ext cx="8229600" cy="5558101"/>
          </a:xfrm>
        </p:spPr>
        <p:txBody>
          <a:bodyPr/>
          <a:lstStyle/>
          <a:p>
            <a:r>
              <a:rPr lang="zh-CN" altLang="en-US" dirty="0"/>
              <a:t>加法和减法是最基本的运算</a:t>
            </a:r>
            <a:endParaRPr lang="en-US" altLang="zh-CN" dirty="0"/>
          </a:p>
          <a:p>
            <a:endParaRPr lang="en-US" altLang="zh-CN" dirty="0"/>
          </a:p>
          <a:p>
            <a:endParaRPr lang="en-US" altLang="zh-CN" dirty="0"/>
          </a:p>
          <a:p>
            <a:endParaRPr lang="en-US" altLang="zh-CN" sz="4800" dirty="0"/>
          </a:p>
          <a:p>
            <a:endParaRPr lang="en-US" altLang="zh-CN" sz="1800" dirty="0"/>
          </a:p>
          <a:p>
            <a:endParaRPr lang="en-US" altLang="zh-CN" dirty="0"/>
          </a:p>
          <a:p>
            <a:pPr marL="0" indent="0">
              <a:buNone/>
            </a:pPr>
            <a:endParaRPr lang="en-US" altLang="zh-CN" dirty="0"/>
          </a:p>
          <a:p>
            <a:endParaRPr lang="en-US" altLang="zh-CN" sz="1600" dirty="0"/>
          </a:p>
          <a:p>
            <a:r>
              <a:rPr lang="zh-CN" altLang="en-US" sz="3200" dirty="0"/>
              <a:t>数有正有负，</a:t>
            </a:r>
            <a:r>
              <a:rPr lang="zh-CN" altLang="en-CN" sz="3200" dirty="0"/>
              <a:t>如何表示负数</a:t>
            </a:r>
            <a:r>
              <a:rPr lang="zh-CN" altLang="en-US" sz="3200" dirty="0"/>
              <a:t>？</a:t>
            </a:r>
          </a:p>
        </p:txBody>
      </p:sp>
      <p:sp>
        <p:nvSpPr>
          <p:cNvPr id="2" name="灯片编号占位符 1">
            <a:extLst>
              <a:ext uri="{FF2B5EF4-FFF2-40B4-BE49-F238E27FC236}">
                <a16:creationId xmlns:a16="http://schemas.microsoft.com/office/drawing/2014/main" id="{17A3ABFD-8A52-D078-E405-3A927C467A1B}"/>
              </a:ext>
            </a:extLst>
          </p:cNvPr>
          <p:cNvSpPr>
            <a:spLocks noGrp="1"/>
          </p:cNvSpPr>
          <p:nvPr>
            <p:ph type="sldNum" sz="quarter" idx="12"/>
          </p:nvPr>
        </p:nvSpPr>
        <p:spPr/>
        <p:txBody>
          <a:bodyPr/>
          <a:lstStyle/>
          <a:p>
            <a:fld id="{14659731-6BD7-46E7-8D3C-2F3AC07E20B1}" type="slidenum">
              <a:rPr lang="en-US" altLang="zh-CN" smtClean="0"/>
              <a:pPr/>
              <a:t>18</a:t>
            </a:fld>
            <a:endParaRPr lang="en-US" altLang="zh-CN" dirty="0"/>
          </a:p>
        </p:txBody>
      </p:sp>
      <p:grpSp>
        <p:nvGrpSpPr>
          <p:cNvPr id="57" name="Group 56">
            <a:extLst>
              <a:ext uri="{FF2B5EF4-FFF2-40B4-BE49-F238E27FC236}">
                <a16:creationId xmlns:a16="http://schemas.microsoft.com/office/drawing/2014/main" id="{DFF007D8-F974-AF4D-8DA7-CD4BD0BC53A3}"/>
              </a:ext>
            </a:extLst>
          </p:cNvPr>
          <p:cNvGrpSpPr/>
          <p:nvPr/>
        </p:nvGrpSpPr>
        <p:grpSpPr>
          <a:xfrm>
            <a:off x="1043608" y="2074333"/>
            <a:ext cx="3019425" cy="3886553"/>
            <a:chOff x="1043608" y="1738691"/>
            <a:chExt cx="3019425" cy="3886553"/>
          </a:xfrm>
        </p:grpSpPr>
        <p:sp>
          <p:nvSpPr>
            <p:cNvPr id="10" name="Text Box 8"/>
            <p:cNvSpPr txBox="1">
              <a:spLocks noChangeArrowheads="1"/>
            </p:cNvSpPr>
            <p:nvPr/>
          </p:nvSpPr>
          <p:spPr bwMode="auto">
            <a:xfrm>
              <a:off x="2426017" y="2104544"/>
              <a:ext cx="730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  44</a:t>
              </a:r>
            </a:p>
          </p:txBody>
        </p:sp>
        <p:sp>
          <p:nvSpPr>
            <p:cNvPr id="11" name="Line 9"/>
            <p:cNvSpPr>
              <a:spLocks noChangeShapeType="1"/>
            </p:cNvSpPr>
            <p:nvPr/>
          </p:nvSpPr>
          <p:spPr bwMode="auto">
            <a:xfrm>
              <a:off x="1732280" y="2553943"/>
              <a:ext cx="1820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12" name="Text Box 10"/>
            <p:cNvSpPr txBox="1">
              <a:spLocks noChangeArrowheads="1"/>
            </p:cNvSpPr>
            <p:nvPr/>
          </p:nvSpPr>
          <p:spPr bwMode="auto">
            <a:xfrm>
              <a:off x="2426017" y="1738691"/>
              <a:ext cx="8747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173</a:t>
              </a:r>
              <a:endParaRPr kumimoji="1" lang="en-US" altLang="zh-CN" sz="20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13" name="Text Box 11"/>
            <p:cNvSpPr txBox="1">
              <a:spLocks noChangeArrowheads="1"/>
            </p:cNvSpPr>
            <p:nvPr/>
          </p:nvSpPr>
          <p:spPr bwMode="auto">
            <a:xfrm>
              <a:off x="1644967" y="2135321"/>
              <a:ext cx="866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0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14" name="Text Box 12"/>
            <p:cNvSpPr txBox="1">
              <a:spLocks noChangeArrowheads="1"/>
            </p:cNvSpPr>
            <p:nvPr/>
          </p:nvSpPr>
          <p:spPr bwMode="auto">
            <a:xfrm>
              <a:off x="2426885" y="2500588"/>
              <a:ext cx="730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217</a:t>
              </a:r>
            </a:p>
          </p:txBody>
        </p:sp>
        <p:grpSp>
          <p:nvGrpSpPr>
            <p:cNvPr id="56" name="Group 55">
              <a:extLst>
                <a:ext uri="{FF2B5EF4-FFF2-40B4-BE49-F238E27FC236}">
                  <a16:creationId xmlns:a16="http://schemas.microsoft.com/office/drawing/2014/main" id="{DC2DB255-9016-1343-9459-2547AAEEB71D}"/>
                </a:ext>
              </a:extLst>
            </p:cNvPr>
            <p:cNvGrpSpPr/>
            <p:nvPr/>
          </p:nvGrpSpPr>
          <p:grpSpPr>
            <a:xfrm>
              <a:off x="1043608" y="3198176"/>
              <a:ext cx="3019425" cy="2427068"/>
              <a:chOff x="1043608" y="3198176"/>
              <a:chExt cx="3019425" cy="2427068"/>
            </a:xfrm>
          </p:grpSpPr>
          <p:sp>
            <p:nvSpPr>
              <p:cNvPr id="23" name="Text Box 21"/>
              <p:cNvSpPr txBox="1">
                <a:spLocks noChangeArrowheads="1"/>
              </p:cNvSpPr>
              <p:nvPr/>
            </p:nvSpPr>
            <p:spPr bwMode="auto">
              <a:xfrm>
                <a:off x="1677021" y="4439679"/>
                <a:ext cx="2241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0 0 1 0 1 1 0 0</a:t>
                </a:r>
              </a:p>
            </p:txBody>
          </p:sp>
          <p:sp>
            <p:nvSpPr>
              <p:cNvPr id="24" name="Line 22"/>
              <p:cNvSpPr>
                <a:spLocks noChangeShapeType="1"/>
              </p:cNvSpPr>
              <p:nvPr/>
            </p:nvSpPr>
            <p:spPr bwMode="auto">
              <a:xfrm>
                <a:off x="1181721" y="5084204"/>
                <a:ext cx="2879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25" name="Text Box 23"/>
              <p:cNvSpPr txBox="1">
                <a:spLocks noChangeArrowheads="1"/>
              </p:cNvSpPr>
              <p:nvPr/>
            </p:nvSpPr>
            <p:spPr bwMode="auto">
              <a:xfrm>
                <a:off x="1677021" y="3677679"/>
                <a:ext cx="2386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1 0 1 0 1 1 0 1</a:t>
                </a:r>
                <a:endParaRPr kumimoji="1" lang="en-US" altLang="zh-CN" sz="20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26" name="Text Box 24"/>
              <p:cNvSpPr txBox="1">
                <a:spLocks noChangeArrowheads="1"/>
              </p:cNvSpPr>
              <p:nvPr/>
            </p:nvSpPr>
            <p:spPr bwMode="auto">
              <a:xfrm>
                <a:off x="1043608" y="4380941"/>
                <a:ext cx="866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0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27" name="Text Box 25"/>
              <p:cNvSpPr txBox="1">
                <a:spLocks noChangeArrowheads="1"/>
              </p:cNvSpPr>
              <p:nvPr/>
            </p:nvSpPr>
            <p:spPr bwMode="auto">
              <a:xfrm>
                <a:off x="3548683" y="5163579"/>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33" name="Text Box 31"/>
              <p:cNvSpPr txBox="1">
                <a:spLocks noChangeArrowheads="1"/>
              </p:cNvSpPr>
              <p:nvPr/>
            </p:nvSpPr>
            <p:spPr bwMode="auto">
              <a:xfrm>
                <a:off x="3270871" y="5163579"/>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0</a:t>
                </a:r>
              </a:p>
            </p:txBody>
          </p:sp>
          <p:sp>
            <p:nvSpPr>
              <p:cNvPr id="34" name="Text Box 32"/>
              <p:cNvSpPr txBox="1">
                <a:spLocks noChangeArrowheads="1"/>
              </p:cNvSpPr>
              <p:nvPr/>
            </p:nvSpPr>
            <p:spPr bwMode="auto">
              <a:xfrm>
                <a:off x="2756521" y="3390341"/>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FF0000"/>
                    </a:solidFill>
                    <a:latin typeface="Arial" panose="020B0604020202020204" pitchFamily="34" charset="0"/>
                    <a:ea typeface="黑体" panose="02010609060101010101" pitchFamily="49" charset="-122"/>
                    <a:cs typeface="Arial" panose="020B0604020202020204" pitchFamily="34" charset="0"/>
                  </a:rPr>
                  <a:t>1</a:t>
                </a:r>
              </a:p>
            </p:txBody>
          </p:sp>
          <p:sp>
            <p:nvSpPr>
              <p:cNvPr id="35" name="Text Box 33"/>
              <p:cNvSpPr txBox="1">
                <a:spLocks noChangeArrowheads="1"/>
              </p:cNvSpPr>
              <p:nvPr/>
            </p:nvSpPr>
            <p:spPr bwMode="auto">
              <a:xfrm>
                <a:off x="2981946" y="5163579"/>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0</a:t>
                </a:r>
              </a:p>
            </p:txBody>
          </p:sp>
          <p:sp>
            <p:nvSpPr>
              <p:cNvPr id="36" name="Arc 34"/>
              <p:cNvSpPr>
                <a:spLocks/>
              </p:cNvSpPr>
              <p:nvPr/>
            </p:nvSpPr>
            <p:spPr bwMode="auto">
              <a:xfrm flipV="1">
                <a:off x="2924206" y="3198176"/>
                <a:ext cx="430887" cy="1849514"/>
              </a:xfrm>
              <a:custGeom>
                <a:avLst/>
                <a:gdLst>
                  <a:gd name="T0" fmla="*/ 2147483647 w 42770"/>
                  <a:gd name="T1" fmla="*/ 0 h 43200"/>
                  <a:gd name="T2" fmla="*/ 0 w 42770"/>
                  <a:gd name="T3" fmla="*/ 2147483647 h 43200"/>
                  <a:gd name="T4" fmla="*/ 2147483647 w 42770"/>
                  <a:gd name="T5" fmla="*/ 2147483647 h 43200"/>
                  <a:gd name="T6" fmla="*/ 0 60000 65536"/>
                  <a:gd name="T7" fmla="*/ 0 60000 65536"/>
                  <a:gd name="T8" fmla="*/ 0 60000 65536"/>
                  <a:gd name="T9" fmla="*/ 0 w 42770"/>
                  <a:gd name="T10" fmla="*/ 0 h 43200"/>
                  <a:gd name="T11" fmla="*/ 42770 w 42770"/>
                  <a:gd name="T12" fmla="*/ 43200 h 43200"/>
                </a:gdLst>
                <a:ahLst/>
                <a:cxnLst>
                  <a:cxn ang="T6">
                    <a:pos x="T0" y="T1"/>
                  </a:cxn>
                  <a:cxn ang="T7">
                    <a:pos x="T2" y="T3"/>
                  </a:cxn>
                  <a:cxn ang="T8">
                    <a:pos x="T4" y="T5"/>
                  </a:cxn>
                </a:cxnLst>
                <a:rect l="T9" t="T10" r="T11" b="T12"/>
                <a:pathLst>
                  <a:path w="42770" h="43200" fill="none" extrusionOk="0">
                    <a:moveTo>
                      <a:pt x="21169" y="0"/>
                    </a:moveTo>
                    <a:cubicBezTo>
                      <a:pt x="33099" y="0"/>
                      <a:pt x="42770" y="9670"/>
                      <a:pt x="42770" y="21600"/>
                    </a:cubicBezTo>
                    <a:cubicBezTo>
                      <a:pt x="42770" y="33529"/>
                      <a:pt x="33099" y="43200"/>
                      <a:pt x="21170" y="43200"/>
                    </a:cubicBezTo>
                    <a:cubicBezTo>
                      <a:pt x="10893" y="43200"/>
                      <a:pt x="2039" y="35959"/>
                      <a:pt x="-1" y="25888"/>
                    </a:cubicBezTo>
                  </a:path>
                  <a:path w="42770" h="43200" stroke="0" extrusionOk="0">
                    <a:moveTo>
                      <a:pt x="21169" y="0"/>
                    </a:moveTo>
                    <a:cubicBezTo>
                      <a:pt x="33099" y="0"/>
                      <a:pt x="42770" y="9670"/>
                      <a:pt x="42770" y="21600"/>
                    </a:cubicBezTo>
                    <a:cubicBezTo>
                      <a:pt x="42770" y="33529"/>
                      <a:pt x="33099" y="43200"/>
                      <a:pt x="21170" y="43200"/>
                    </a:cubicBezTo>
                    <a:cubicBezTo>
                      <a:pt x="10893" y="43200"/>
                      <a:pt x="2039" y="35959"/>
                      <a:pt x="-1" y="25888"/>
                    </a:cubicBezTo>
                    <a:lnTo>
                      <a:pt x="21170" y="21600"/>
                    </a:lnTo>
                    <a:close/>
                  </a:path>
                </a:pathLst>
              </a:custGeom>
              <a:noFill/>
              <a:ln w="9525">
                <a:solidFill>
                  <a:srgbClr val="FF3300"/>
                </a:solidFill>
                <a:round/>
                <a:headEnd/>
                <a:tailEnd type="triangle" w="med" len="med"/>
              </a:ln>
              <a:extLst>
                <a:ext uri="{909E8E84-426E-40DD-AFC4-6F175D3DCCD1}">
                  <a14:hiddenFill xmlns:a14="http://schemas.microsoft.com/office/drawing/2010/main">
                    <a:solidFill>
                      <a:srgbClr val="FFFFFF"/>
                    </a:solidFill>
                  </a14:hiddenFill>
                </a:ext>
              </a:extLst>
            </p:spPr>
            <p:txBody>
              <a:bodyPr vert="eaVert" wrap="square" anchor="ctr">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37" name="Text Box 35"/>
              <p:cNvSpPr txBox="1">
                <a:spLocks noChangeArrowheads="1"/>
              </p:cNvSpPr>
              <p:nvPr/>
            </p:nvSpPr>
            <p:spPr bwMode="auto">
              <a:xfrm>
                <a:off x="2478708" y="3390341"/>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002060"/>
                    </a:solidFill>
                    <a:latin typeface="Arial" panose="020B0604020202020204" pitchFamily="34" charset="0"/>
                    <a:ea typeface="黑体" panose="02010609060101010101" pitchFamily="49" charset="-122"/>
                    <a:cs typeface="Arial" panose="020B0604020202020204" pitchFamily="34" charset="0"/>
                  </a:rPr>
                  <a:t>1</a:t>
                </a:r>
              </a:p>
            </p:txBody>
          </p:sp>
          <p:sp>
            <p:nvSpPr>
              <p:cNvPr id="38" name="Arc 36"/>
              <p:cNvSpPr>
                <a:spLocks/>
              </p:cNvSpPr>
              <p:nvPr/>
            </p:nvSpPr>
            <p:spPr bwMode="auto">
              <a:xfrm flipV="1">
                <a:off x="2580065" y="3198177"/>
                <a:ext cx="430887" cy="1849513"/>
              </a:xfrm>
              <a:custGeom>
                <a:avLst/>
                <a:gdLst>
                  <a:gd name="T0" fmla="*/ 2147483647 w 42770"/>
                  <a:gd name="T1" fmla="*/ 0 h 43200"/>
                  <a:gd name="T2" fmla="*/ 0 w 42770"/>
                  <a:gd name="T3" fmla="*/ 2147483647 h 43200"/>
                  <a:gd name="T4" fmla="*/ 2147483647 w 42770"/>
                  <a:gd name="T5" fmla="*/ 2147483647 h 43200"/>
                  <a:gd name="T6" fmla="*/ 0 60000 65536"/>
                  <a:gd name="T7" fmla="*/ 0 60000 65536"/>
                  <a:gd name="T8" fmla="*/ 0 60000 65536"/>
                  <a:gd name="T9" fmla="*/ 0 w 42770"/>
                  <a:gd name="T10" fmla="*/ 0 h 43200"/>
                  <a:gd name="T11" fmla="*/ 42770 w 42770"/>
                  <a:gd name="T12" fmla="*/ 43200 h 43200"/>
                </a:gdLst>
                <a:ahLst/>
                <a:cxnLst>
                  <a:cxn ang="T6">
                    <a:pos x="T0" y="T1"/>
                  </a:cxn>
                  <a:cxn ang="T7">
                    <a:pos x="T2" y="T3"/>
                  </a:cxn>
                  <a:cxn ang="T8">
                    <a:pos x="T4" y="T5"/>
                  </a:cxn>
                </a:cxnLst>
                <a:rect l="T9" t="T10" r="T11" b="T12"/>
                <a:pathLst>
                  <a:path w="42770" h="43200" fill="none" extrusionOk="0">
                    <a:moveTo>
                      <a:pt x="21169" y="0"/>
                    </a:moveTo>
                    <a:cubicBezTo>
                      <a:pt x="33099" y="0"/>
                      <a:pt x="42770" y="9670"/>
                      <a:pt x="42770" y="21600"/>
                    </a:cubicBezTo>
                    <a:cubicBezTo>
                      <a:pt x="42770" y="33529"/>
                      <a:pt x="33099" y="43200"/>
                      <a:pt x="21170" y="43200"/>
                    </a:cubicBezTo>
                    <a:cubicBezTo>
                      <a:pt x="10893" y="43200"/>
                      <a:pt x="2039" y="35959"/>
                      <a:pt x="-1" y="25888"/>
                    </a:cubicBezTo>
                  </a:path>
                  <a:path w="42770" h="43200" stroke="0" extrusionOk="0">
                    <a:moveTo>
                      <a:pt x="21169" y="0"/>
                    </a:moveTo>
                    <a:cubicBezTo>
                      <a:pt x="33099" y="0"/>
                      <a:pt x="42770" y="9670"/>
                      <a:pt x="42770" y="21600"/>
                    </a:cubicBezTo>
                    <a:cubicBezTo>
                      <a:pt x="42770" y="33529"/>
                      <a:pt x="33099" y="43200"/>
                      <a:pt x="21170" y="43200"/>
                    </a:cubicBezTo>
                    <a:cubicBezTo>
                      <a:pt x="10893" y="43200"/>
                      <a:pt x="2039" y="35959"/>
                      <a:pt x="-1" y="25888"/>
                    </a:cubicBezTo>
                    <a:lnTo>
                      <a:pt x="21170" y="21600"/>
                    </a:lnTo>
                    <a:close/>
                  </a:path>
                </a:pathLst>
              </a:custGeom>
              <a:noFill/>
              <a:ln w="9525">
                <a:solidFill>
                  <a:srgbClr val="002060"/>
                </a:solidFill>
                <a:round/>
                <a:headEnd/>
                <a:tailEnd type="triangle" w="med" len="med"/>
              </a:ln>
              <a:extLst>
                <a:ext uri="{909E8E84-426E-40DD-AFC4-6F175D3DCCD1}">
                  <a14:hiddenFill xmlns:a14="http://schemas.microsoft.com/office/drawing/2010/main">
                    <a:solidFill>
                      <a:srgbClr val="FFFFFF"/>
                    </a:solidFill>
                  </a14:hiddenFill>
                </a:ext>
              </a:extLst>
            </p:spPr>
            <p:txBody>
              <a:bodyPr vert="eaVert" wrap="square" anchor="ctr">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39" name="Text Box 37"/>
              <p:cNvSpPr txBox="1">
                <a:spLocks noChangeArrowheads="1"/>
              </p:cNvSpPr>
              <p:nvPr/>
            </p:nvSpPr>
            <p:spPr bwMode="auto">
              <a:xfrm>
                <a:off x="1973883" y="3390341"/>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FF66FF"/>
                    </a:solidFill>
                    <a:latin typeface="Arial" panose="020B0604020202020204" pitchFamily="34" charset="0"/>
                    <a:ea typeface="黑体" panose="02010609060101010101" pitchFamily="49" charset="-122"/>
                    <a:cs typeface="Arial" panose="020B0604020202020204" pitchFamily="34" charset="0"/>
                  </a:rPr>
                  <a:t>1</a:t>
                </a:r>
              </a:p>
            </p:txBody>
          </p:sp>
          <p:sp>
            <p:nvSpPr>
              <p:cNvPr id="40" name="Arc 38"/>
              <p:cNvSpPr>
                <a:spLocks/>
              </p:cNvSpPr>
              <p:nvPr/>
            </p:nvSpPr>
            <p:spPr bwMode="auto">
              <a:xfrm flipV="1">
                <a:off x="2102227" y="3198178"/>
                <a:ext cx="430887" cy="1849512"/>
              </a:xfrm>
              <a:custGeom>
                <a:avLst/>
                <a:gdLst>
                  <a:gd name="T0" fmla="*/ 2147483647 w 42770"/>
                  <a:gd name="T1" fmla="*/ 0 h 43200"/>
                  <a:gd name="T2" fmla="*/ 0 w 42770"/>
                  <a:gd name="T3" fmla="*/ 2147483647 h 43200"/>
                  <a:gd name="T4" fmla="*/ 2147483647 w 42770"/>
                  <a:gd name="T5" fmla="*/ 2147483647 h 43200"/>
                  <a:gd name="T6" fmla="*/ 0 60000 65536"/>
                  <a:gd name="T7" fmla="*/ 0 60000 65536"/>
                  <a:gd name="T8" fmla="*/ 0 60000 65536"/>
                  <a:gd name="T9" fmla="*/ 0 w 42770"/>
                  <a:gd name="T10" fmla="*/ 0 h 43200"/>
                  <a:gd name="T11" fmla="*/ 42770 w 42770"/>
                  <a:gd name="T12" fmla="*/ 43200 h 43200"/>
                </a:gdLst>
                <a:ahLst/>
                <a:cxnLst>
                  <a:cxn ang="T6">
                    <a:pos x="T0" y="T1"/>
                  </a:cxn>
                  <a:cxn ang="T7">
                    <a:pos x="T2" y="T3"/>
                  </a:cxn>
                  <a:cxn ang="T8">
                    <a:pos x="T4" y="T5"/>
                  </a:cxn>
                </a:cxnLst>
                <a:rect l="T9" t="T10" r="T11" b="T12"/>
                <a:pathLst>
                  <a:path w="42770" h="43200" fill="none" extrusionOk="0">
                    <a:moveTo>
                      <a:pt x="21169" y="0"/>
                    </a:moveTo>
                    <a:cubicBezTo>
                      <a:pt x="33099" y="0"/>
                      <a:pt x="42770" y="9670"/>
                      <a:pt x="42770" y="21600"/>
                    </a:cubicBezTo>
                    <a:cubicBezTo>
                      <a:pt x="42770" y="33529"/>
                      <a:pt x="33099" y="43200"/>
                      <a:pt x="21170" y="43200"/>
                    </a:cubicBezTo>
                    <a:cubicBezTo>
                      <a:pt x="10893" y="43200"/>
                      <a:pt x="2039" y="35959"/>
                      <a:pt x="-1" y="25888"/>
                    </a:cubicBezTo>
                  </a:path>
                  <a:path w="42770" h="43200" stroke="0" extrusionOk="0">
                    <a:moveTo>
                      <a:pt x="21169" y="0"/>
                    </a:moveTo>
                    <a:cubicBezTo>
                      <a:pt x="33099" y="0"/>
                      <a:pt x="42770" y="9670"/>
                      <a:pt x="42770" y="21600"/>
                    </a:cubicBezTo>
                    <a:cubicBezTo>
                      <a:pt x="42770" y="33529"/>
                      <a:pt x="33099" y="43200"/>
                      <a:pt x="21170" y="43200"/>
                    </a:cubicBezTo>
                    <a:cubicBezTo>
                      <a:pt x="10893" y="43200"/>
                      <a:pt x="2039" y="35959"/>
                      <a:pt x="-1" y="25888"/>
                    </a:cubicBezTo>
                    <a:lnTo>
                      <a:pt x="21170" y="21600"/>
                    </a:lnTo>
                    <a:close/>
                  </a:path>
                </a:pathLst>
              </a:custGeom>
              <a:noFill/>
              <a:ln w="9525">
                <a:solidFill>
                  <a:srgbClr val="FF66FF"/>
                </a:solidFill>
                <a:round/>
                <a:headEnd/>
                <a:tailEnd type="triangle" w="med" len="med"/>
              </a:ln>
              <a:extLst>
                <a:ext uri="{909E8E84-426E-40DD-AFC4-6F175D3DCCD1}">
                  <a14:hiddenFill xmlns:a14="http://schemas.microsoft.com/office/drawing/2010/main">
                    <a:solidFill>
                      <a:srgbClr val="FFFFFF"/>
                    </a:solidFill>
                  </a14:hiddenFill>
                </a:ext>
              </a:extLst>
            </p:spPr>
            <p:txBody>
              <a:bodyPr vert="eaVert" wrap="square" anchor="ctr">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41" name="Text Box 39"/>
              <p:cNvSpPr txBox="1">
                <a:spLocks noChangeArrowheads="1"/>
              </p:cNvSpPr>
              <p:nvPr/>
            </p:nvSpPr>
            <p:spPr bwMode="auto">
              <a:xfrm>
                <a:off x="2766046" y="5163579"/>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42" name="Text Box 40"/>
              <p:cNvSpPr txBox="1">
                <a:spLocks noChangeArrowheads="1"/>
              </p:cNvSpPr>
              <p:nvPr/>
            </p:nvSpPr>
            <p:spPr bwMode="auto">
              <a:xfrm>
                <a:off x="2488233" y="5163579"/>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43" name="Text Box 41"/>
              <p:cNvSpPr txBox="1">
                <a:spLocks noChangeArrowheads="1"/>
              </p:cNvSpPr>
              <p:nvPr/>
            </p:nvSpPr>
            <p:spPr bwMode="auto">
              <a:xfrm>
                <a:off x="2189783" y="5163579"/>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0</a:t>
                </a:r>
              </a:p>
            </p:txBody>
          </p:sp>
          <p:sp>
            <p:nvSpPr>
              <p:cNvPr id="44" name="Text Box 42"/>
              <p:cNvSpPr txBox="1">
                <a:spLocks noChangeArrowheads="1"/>
              </p:cNvSpPr>
              <p:nvPr/>
            </p:nvSpPr>
            <p:spPr bwMode="auto">
              <a:xfrm>
                <a:off x="1964358" y="5163579"/>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45" name="Text Box 43"/>
              <p:cNvSpPr txBox="1">
                <a:spLocks noChangeArrowheads="1"/>
              </p:cNvSpPr>
              <p:nvPr/>
            </p:nvSpPr>
            <p:spPr bwMode="auto">
              <a:xfrm>
                <a:off x="1686546" y="5163579"/>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grpSp>
      </p:grpSp>
      <p:grpSp>
        <p:nvGrpSpPr>
          <p:cNvPr id="55" name="Group 54">
            <a:extLst>
              <a:ext uri="{FF2B5EF4-FFF2-40B4-BE49-F238E27FC236}">
                <a16:creationId xmlns:a16="http://schemas.microsoft.com/office/drawing/2014/main" id="{9920F676-FFA9-674E-8780-50DD447F6B82}"/>
              </a:ext>
            </a:extLst>
          </p:cNvPr>
          <p:cNvGrpSpPr/>
          <p:nvPr/>
        </p:nvGrpSpPr>
        <p:grpSpPr>
          <a:xfrm>
            <a:off x="5184068" y="2140263"/>
            <a:ext cx="2882900" cy="3826104"/>
            <a:chOff x="5184068" y="1804621"/>
            <a:chExt cx="2882900" cy="3826104"/>
          </a:xfrm>
        </p:grpSpPr>
        <p:sp>
          <p:nvSpPr>
            <p:cNvPr id="28" name="Text Box 26"/>
            <p:cNvSpPr txBox="1">
              <a:spLocks noChangeArrowheads="1"/>
            </p:cNvSpPr>
            <p:nvPr/>
          </p:nvSpPr>
          <p:spPr bwMode="auto">
            <a:xfrm>
              <a:off x="6368502" y="2128657"/>
              <a:ext cx="730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  46</a:t>
              </a:r>
            </a:p>
          </p:txBody>
        </p:sp>
        <p:sp>
          <p:nvSpPr>
            <p:cNvPr id="29" name="Line 27"/>
            <p:cNvSpPr>
              <a:spLocks noChangeShapeType="1"/>
            </p:cNvSpPr>
            <p:nvPr/>
          </p:nvSpPr>
          <p:spPr bwMode="auto">
            <a:xfrm>
              <a:off x="5735090" y="2560705"/>
              <a:ext cx="18208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30" name="Text Box 28"/>
            <p:cNvSpPr txBox="1">
              <a:spLocks noChangeArrowheads="1"/>
            </p:cNvSpPr>
            <p:nvPr/>
          </p:nvSpPr>
          <p:spPr bwMode="auto">
            <a:xfrm>
              <a:off x="6368502" y="1804621"/>
              <a:ext cx="8747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173</a:t>
              </a:r>
              <a:endParaRPr kumimoji="1" lang="en-US" altLang="zh-CN" sz="20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31" name="Text Box 29"/>
            <p:cNvSpPr txBox="1">
              <a:spLocks noChangeArrowheads="1"/>
            </p:cNvSpPr>
            <p:nvPr/>
          </p:nvSpPr>
          <p:spPr bwMode="auto">
            <a:xfrm>
              <a:off x="5647777" y="2159434"/>
              <a:ext cx="866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0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32" name="Text Box 30"/>
            <p:cNvSpPr txBox="1">
              <a:spLocks noChangeArrowheads="1"/>
            </p:cNvSpPr>
            <p:nvPr/>
          </p:nvSpPr>
          <p:spPr bwMode="auto">
            <a:xfrm>
              <a:off x="6428827" y="2560705"/>
              <a:ext cx="730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127</a:t>
              </a:r>
            </a:p>
          </p:txBody>
        </p:sp>
        <p:grpSp>
          <p:nvGrpSpPr>
            <p:cNvPr id="51" name="Group 50">
              <a:extLst>
                <a:ext uri="{FF2B5EF4-FFF2-40B4-BE49-F238E27FC236}">
                  <a16:creationId xmlns:a16="http://schemas.microsoft.com/office/drawing/2014/main" id="{99F6CDF5-6E23-1E4C-B05D-684BBF7857FF}"/>
                </a:ext>
              </a:extLst>
            </p:cNvPr>
            <p:cNvGrpSpPr/>
            <p:nvPr/>
          </p:nvGrpSpPr>
          <p:grpSpPr>
            <a:xfrm>
              <a:off x="5184068" y="3248980"/>
              <a:ext cx="2882900" cy="2381745"/>
              <a:chOff x="4677432" y="2847455"/>
              <a:chExt cx="2882900" cy="2381745"/>
            </a:xfrm>
          </p:grpSpPr>
          <p:sp>
            <p:nvSpPr>
              <p:cNvPr id="5" name="Text Box 3"/>
              <p:cNvSpPr txBox="1">
                <a:spLocks noChangeArrowheads="1"/>
              </p:cNvSpPr>
              <p:nvPr/>
            </p:nvSpPr>
            <p:spPr bwMode="auto">
              <a:xfrm>
                <a:off x="5174320" y="4037285"/>
                <a:ext cx="2241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0 0 1 0 1 1 1 0</a:t>
                </a:r>
              </a:p>
            </p:txBody>
          </p:sp>
          <p:sp>
            <p:nvSpPr>
              <p:cNvPr id="6" name="Line 4"/>
              <p:cNvSpPr>
                <a:spLocks noChangeShapeType="1"/>
              </p:cNvSpPr>
              <p:nvPr/>
            </p:nvSpPr>
            <p:spPr bwMode="auto">
              <a:xfrm>
                <a:off x="4679020" y="4681810"/>
                <a:ext cx="2879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7" name="Text Box 5"/>
              <p:cNvSpPr txBox="1">
                <a:spLocks noChangeArrowheads="1"/>
              </p:cNvSpPr>
              <p:nvPr/>
            </p:nvSpPr>
            <p:spPr bwMode="auto">
              <a:xfrm>
                <a:off x="5174320" y="3275285"/>
                <a:ext cx="2386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1 0 1 0 1 1 0 1</a:t>
                </a:r>
                <a:endParaRPr kumimoji="1" lang="en-US" altLang="zh-CN" sz="20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8" name="Text Box 6"/>
              <p:cNvSpPr txBox="1">
                <a:spLocks noChangeArrowheads="1"/>
              </p:cNvSpPr>
              <p:nvPr/>
            </p:nvSpPr>
            <p:spPr bwMode="auto">
              <a:xfrm>
                <a:off x="4677432" y="4069035"/>
                <a:ext cx="866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0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9" name="Text Box 7"/>
              <p:cNvSpPr txBox="1">
                <a:spLocks noChangeArrowheads="1"/>
              </p:cNvSpPr>
              <p:nvPr/>
            </p:nvSpPr>
            <p:spPr bwMode="auto">
              <a:xfrm>
                <a:off x="7045982" y="4767535"/>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22" name="Text Box 20"/>
              <p:cNvSpPr txBox="1">
                <a:spLocks noChangeArrowheads="1"/>
              </p:cNvSpPr>
              <p:nvPr/>
            </p:nvSpPr>
            <p:spPr bwMode="auto">
              <a:xfrm>
                <a:off x="5183845" y="4767535"/>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0</a:t>
                </a:r>
              </a:p>
            </p:txBody>
          </p:sp>
          <p:grpSp>
            <p:nvGrpSpPr>
              <p:cNvPr id="3" name="组合 2"/>
              <p:cNvGrpSpPr/>
              <p:nvPr/>
            </p:nvGrpSpPr>
            <p:grpSpPr>
              <a:xfrm>
                <a:off x="6466545" y="2847455"/>
                <a:ext cx="671512" cy="2381745"/>
                <a:chOff x="6221413" y="4253708"/>
                <a:chExt cx="671512" cy="2381745"/>
              </a:xfrm>
            </p:grpSpPr>
            <p:sp>
              <p:nvSpPr>
                <p:cNvPr id="15" name="Text Box 13"/>
                <p:cNvSpPr txBox="1">
                  <a:spLocks noChangeArrowheads="1"/>
                </p:cNvSpPr>
                <p:nvPr/>
              </p:nvSpPr>
              <p:spPr bwMode="auto">
                <a:xfrm>
                  <a:off x="6523038" y="6173788"/>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17" name="Text Box 15"/>
                <p:cNvSpPr txBox="1">
                  <a:spLocks noChangeArrowheads="1"/>
                </p:cNvSpPr>
                <p:nvPr/>
              </p:nvSpPr>
              <p:spPr bwMode="auto">
                <a:xfrm>
                  <a:off x="6221413" y="4253708"/>
                  <a:ext cx="396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FF66FF"/>
                      </a:solidFill>
                      <a:latin typeface="Arial" panose="020B0604020202020204" pitchFamily="34" charset="0"/>
                      <a:ea typeface="黑体" panose="02010609060101010101" pitchFamily="49" charset="-122"/>
                      <a:cs typeface="Arial" panose="020B0604020202020204" pitchFamily="34" charset="0"/>
                    </a:rPr>
                    <a:t>0</a:t>
                  </a:r>
                </a:p>
              </p:txBody>
            </p:sp>
            <p:sp>
              <p:nvSpPr>
                <p:cNvPr id="46" name="Line 44"/>
                <p:cNvSpPr>
                  <a:spLocks noChangeShapeType="1"/>
                </p:cNvSpPr>
                <p:nvPr/>
              </p:nvSpPr>
              <p:spPr bwMode="auto">
                <a:xfrm flipV="1">
                  <a:off x="6380163" y="4810125"/>
                  <a:ext cx="142875" cy="215900"/>
                </a:xfrm>
                <a:prstGeom prst="line">
                  <a:avLst/>
                </a:prstGeom>
                <a:noFill/>
                <a:ln w="9525">
                  <a:solidFill>
                    <a:srgbClr val="FF66FF"/>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grpSp>
          <p:grpSp>
            <p:nvGrpSpPr>
              <p:cNvPr id="4" name="组合 3"/>
              <p:cNvGrpSpPr/>
              <p:nvPr/>
            </p:nvGrpSpPr>
            <p:grpSpPr>
              <a:xfrm>
                <a:off x="6207688" y="2847455"/>
                <a:ext cx="641444" cy="2381745"/>
                <a:chOff x="5962556" y="4253708"/>
                <a:chExt cx="641444" cy="2381745"/>
              </a:xfrm>
            </p:grpSpPr>
            <p:sp>
              <p:nvSpPr>
                <p:cNvPr id="16" name="Text Box 14"/>
                <p:cNvSpPr txBox="1">
                  <a:spLocks noChangeArrowheads="1"/>
                </p:cNvSpPr>
                <p:nvPr/>
              </p:nvSpPr>
              <p:spPr bwMode="auto">
                <a:xfrm>
                  <a:off x="6234113" y="6173788"/>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48" name="Line 46"/>
                <p:cNvSpPr>
                  <a:spLocks noChangeShapeType="1"/>
                </p:cNvSpPr>
                <p:nvPr/>
              </p:nvSpPr>
              <p:spPr bwMode="auto">
                <a:xfrm flipV="1">
                  <a:off x="6089650" y="4810125"/>
                  <a:ext cx="142875" cy="2159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59" name="Text Box 15"/>
                <p:cNvSpPr txBox="1">
                  <a:spLocks noChangeArrowheads="1"/>
                </p:cNvSpPr>
                <p:nvPr/>
              </p:nvSpPr>
              <p:spPr bwMode="auto">
                <a:xfrm>
                  <a:off x="5962556" y="4253708"/>
                  <a:ext cx="396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FF5757"/>
                      </a:solidFill>
                      <a:latin typeface="Arial" panose="020B0604020202020204" pitchFamily="34" charset="0"/>
                      <a:ea typeface="黑体" panose="02010609060101010101" pitchFamily="49" charset="-122"/>
                      <a:cs typeface="Arial" panose="020B0604020202020204" pitchFamily="34" charset="0"/>
                    </a:rPr>
                    <a:t>0</a:t>
                  </a:r>
                </a:p>
              </p:txBody>
            </p:sp>
          </p:grpSp>
          <p:grpSp>
            <p:nvGrpSpPr>
              <p:cNvPr id="45056" name="组合 45055"/>
              <p:cNvGrpSpPr/>
              <p:nvPr/>
            </p:nvGrpSpPr>
            <p:grpSpPr>
              <a:xfrm>
                <a:off x="5969222" y="2847455"/>
                <a:ext cx="664010" cy="2381745"/>
                <a:chOff x="5724090" y="4253708"/>
                <a:chExt cx="664010" cy="2381745"/>
              </a:xfrm>
            </p:grpSpPr>
            <p:sp>
              <p:nvSpPr>
                <p:cNvPr id="18" name="Text Box 16"/>
                <p:cNvSpPr txBox="1">
                  <a:spLocks noChangeArrowheads="1"/>
                </p:cNvSpPr>
                <p:nvPr/>
              </p:nvSpPr>
              <p:spPr bwMode="auto">
                <a:xfrm>
                  <a:off x="6018213" y="6173788"/>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54" name="Line 52"/>
                <p:cNvSpPr>
                  <a:spLocks noChangeShapeType="1"/>
                </p:cNvSpPr>
                <p:nvPr/>
              </p:nvSpPr>
              <p:spPr bwMode="auto">
                <a:xfrm flipV="1">
                  <a:off x="5803900" y="4810125"/>
                  <a:ext cx="142875" cy="2159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60" name="Text Box 15"/>
                <p:cNvSpPr txBox="1">
                  <a:spLocks noChangeArrowheads="1"/>
                </p:cNvSpPr>
                <p:nvPr/>
              </p:nvSpPr>
              <p:spPr bwMode="auto">
                <a:xfrm>
                  <a:off x="5724090" y="4253708"/>
                  <a:ext cx="396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00B0F0"/>
                      </a:solidFill>
                      <a:latin typeface="Arial" panose="020B0604020202020204" pitchFamily="34" charset="0"/>
                      <a:ea typeface="黑体" panose="02010609060101010101" pitchFamily="49" charset="-122"/>
                      <a:cs typeface="Arial" panose="020B0604020202020204" pitchFamily="34" charset="0"/>
                    </a:rPr>
                    <a:t>1</a:t>
                  </a:r>
                </a:p>
              </p:txBody>
            </p:sp>
          </p:grpSp>
          <p:grpSp>
            <p:nvGrpSpPr>
              <p:cNvPr id="45057" name="组合 45056"/>
              <p:cNvGrpSpPr/>
              <p:nvPr/>
            </p:nvGrpSpPr>
            <p:grpSpPr>
              <a:xfrm>
                <a:off x="5700178" y="2847455"/>
                <a:ext cx="655242" cy="2381745"/>
                <a:chOff x="5455046" y="4253708"/>
                <a:chExt cx="655242" cy="2381745"/>
              </a:xfrm>
            </p:grpSpPr>
            <p:sp>
              <p:nvSpPr>
                <p:cNvPr id="19" name="Text Box 17"/>
                <p:cNvSpPr txBox="1">
                  <a:spLocks noChangeArrowheads="1"/>
                </p:cNvSpPr>
                <p:nvPr/>
              </p:nvSpPr>
              <p:spPr bwMode="auto">
                <a:xfrm>
                  <a:off x="5740400" y="6173788"/>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50" name="Line 48"/>
                <p:cNvSpPr>
                  <a:spLocks noChangeShapeType="1"/>
                </p:cNvSpPr>
                <p:nvPr/>
              </p:nvSpPr>
              <p:spPr bwMode="auto">
                <a:xfrm flipV="1">
                  <a:off x="5588000" y="4810125"/>
                  <a:ext cx="142875" cy="215900"/>
                </a:xfrm>
                <a:prstGeom prst="line">
                  <a:avLst/>
                </a:prstGeom>
                <a:noFill/>
                <a:ln w="9525">
                  <a:solidFill>
                    <a:schemeClr val="accent1"/>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61" name="Text Box 15"/>
                <p:cNvSpPr txBox="1">
                  <a:spLocks noChangeArrowheads="1"/>
                </p:cNvSpPr>
                <p:nvPr/>
              </p:nvSpPr>
              <p:spPr bwMode="auto">
                <a:xfrm>
                  <a:off x="5455046" y="4253708"/>
                  <a:ext cx="396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00B0F0"/>
                      </a:solidFill>
                      <a:latin typeface="Arial" panose="020B0604020202020204" pitchFamily="34" charset="0"/>
                      <a:ea typeface="黑体" panose="02010609060101010101" pitchFamily="49" charset="-122"/>
                      <a:cs typeface="Arial" panose="020B0604020202020204" pitchFamily="34" charset="0"/>
                    </a:rPr>
                    <a:t>0</a:t>
                  </a:r>
                </a:p>
              </p:txBody>
            </p:sp>
          </p:grpSp>
          <p:grpSp>
            <p:nvGrpSpPr>
              <p:cNvPr id="45061" name="组合 45060"/>
              <p:cNvGrpSpPr/>
              <p:nvPr/>
            </p:nvGrpSpPr>
            <p:grpSpPr>
              <a:xfrm>
                <a:off x="5422366" y="2847455"/>
                <a:ext cx="634604" cy="2381745"/>
                <a:chOff x="5177234" y="4253708"/>
                <a:chExt cx="634604" cy="2381745"/>
              </a:xfrm>
            </p:grpSpPr>
            <p:sp>
              <p:nvSpPr>
                <p:cNvPr id="20" name="Text Box 18"/>
                <p:cNvSpPr txBox="1">
                  <a:spLocks noChangeArrowheads="1"/>
                </p:cNvSpPr>
                <p:nvPr/>
              </p:nvSpPr>
              <p:spPr bwMode="auto">
                <a:xfrm>
                  <a:off x="5441950" y="6173788"/>
                  <a:ext cx="3698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53" name="Line 51"/>
                <p:cNvSpPr>
                  <a:spLocks noChangeShapeType="1"/>
                </p:cNvSpPr>
                <p:nvPr/>
              </p:nvSpPr>
              <p:spPr bwMode="auto">
                <a:xfrm flipV="1">
                  <a:off x="5300663" y="4810125"/>
                  <a:ext cx="142875" cy="215900"/>
                </a:xfrm>
                <a:prstGeom prst="line">
                  <a:avLst/>
                </a:prstGeom>
                <a:noFill/>
                <a:ln w="9525">
                  <a:solidFill>
                    <a:srgbClr val="3333FF"/>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62" name="Text Box 15"/>
                <p:cNvSpPr txBox="1">
                  <a:spLocks noChangeArrowheads="1"/>
                </p:cNvSpPr>
                <p:nvPr/>
              </p:nvSpPr>
              <p:spPr bwMode="auto">
                <a:xfrm>
                  <a:off x="5177234" y="4253708"/>
                  <a:ext cx="396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3333FF"/>
                      </a:solidFill>
                      <a:latin typeface="Arial" panose="020B0604020202020204" pitchFamily="34" charset="0"/>
                      <a:ea typeface="黑体" panose="02010609060101010101" pitchFamily="49" charset="-122"/>
                      <a:cs typeface="Arial" panose="020B0604020202020204" pitchFamily="34" charset="0"/>
                    </a:rPr>
                    <a:t>1</a:t>
                  </a:r>
                </a:p>
              </p:txBody>
            </p:sp>
          </p:grpSp>
          <p:grpSp>
            <p:nvGrpSpPr>
              <p:cNvPr id="45062" name="组合 45061"/>
              <p:cNvGrpSpPr/>
              <p:nvPr/>
            </p:nvGrpSpPr>
            <p:grpSpPr>
              <a:xfrm>
                <a:off x="5179981" y="2847455"/>
                <a:ext cx="662676" cy="2381745"/>
                <a:chOff x="4934849" y="4253708"/>
                <a:chExt cx="662676" cy="2381745"/>
              </a:xfrm>
            </p:grpSpPr>
            <p:sp>
              <p:nvSpPr>
                <p:cNvPr id="21" name="Text Box 19"/>
                <p:cNvSpPr txBox="1">
                  <a:spLocks noChangeArrowheads="1"/>
                </p:cNvSpPr>
                <p:nvPr/>
              </p:nvSpPr>
              <p:spPr bwMode="auto">
                <a:xfrm>
                  <a:off x="5227638" y="6173788"/>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52" name="Line 50"/>
                <p:cNvSpPr>
                  <a:spLocks noChangeShapeType="1"/>
                </p:cNvSpPr>
                <p:nvPr/>
              </p:nvSpPr>
              <p:spPr bwMode="auto">
                <a:xfrm flipV="1">
                  <a:off x="5084763" y="4810125"/>
                  <a:ext cx="142875" cy="215900"/>
                </a:xfrm>
                <a:prstGeom prst="line">
                  <a:avLst/>
                </a:prstGeom>
                <a:noFill/>
                <a:ln w="9525">
                  <a:solidFill>
                    <a:srgbClr val="FF5757"/>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63" name="Text Box 15"/>
                <p:cNvSpPr txBox="1">
                  <a:spLocks noChangeArrowheads="1"/>
                </p:cNvSpPr>
                <p:nvPr/>
              </p:nvSpPr>
              <p:spPr bwMode="auto">
                <a:xfrm>
                  <a:off x="4934849" y="4253708"/>
                  <a:ext cx="396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00B050"/>
                      </a:solidFill>
                      <a:latin typeface="Arial" panose="020B0604020202020204" pitchFamily="34" charset="0"/>
                      <a:ea typeface="黑体" panose="02010609060101010101" pitchFamily="49" charset="-122"/>
                      <a:cs typeface="Arial" panose="020B0604020202020204" pitchFamily="34" charset="0"/>
                    </a:rPr>
                    <a:t>0</a:t>
                  </a:r>
                </a:p>
              </p:txBody>
            </p:sp>
          </p:grpSp>
        </p:grpSp>
      </p:grpSp>
    </p:spTree>
    <p:extLst>
      <p:ext uri="{BB962C8B-B14F-4D97-AF65-F5344CB8AC3E}">
        <p14:creationId xmlns:p14="http://schemas.microsoft.com/office/powerpoint/2010/main" val="313506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12671-F9FA-7241-9658-E8655ABF8F73}"/>
              </a:ext>
            </a:extLst>
          </p:cNvPr>
          <p:cNvSpPr>
            <a:spLocks noGrp="1"/>
          </p:cNvSpPr>
          <p:nvPr>
            <p:ph type="title"/>
          </p:nvPr>
        </p:nvSpPr>
        <p:spPr/>
        <p:txBody>
          <a:bodyPr/>
          <a:lstStyle/>
          <a:p>
            <a:r>
              <a:rPr lang="zh-CN" altLang="en-CN" dirty="0"/>
              <a:t>数值空间</a:t>
            </a:r>
            <a:r>
              <a:rPr lang="zh-CN" altLang="en-US" dirty="0"/>
              <a:t>的划分</a:t>
            </a:r>
            <a:endParaRPr lang="en-CN" dirty="0"/>
          </a:p>
        </p:txBody>
      </p:sp>
      <p:sp>
        <p:nvSpPr>
          <p:cNvPr id="3" name="Content Placeholder 2">
            <a:extLst>
              <a:ext uri="{FF2B5EF4-FFF2-40B4-BE49-F238E27FC236}">
                <a16:creationId xmlns:a16="http://schemas.microsoft.com/office/drawing/2014/main" id="{65B87E68-CB18-D942-B108-FE76EFA4BD48}"/>
              </a:ext>
            </a:extLst>
          </p:cNvPr>
          <p:cNvSpPr>
            <a:spLocks noGrp="1"/>
          </p:cNvSpPr>
          <p:nvPr>
            <p:ph idx="1"/>
          </p:nvPr>
        </p:nvSpPr>
        <p:spPr/>
        <p:txBody>
          <a:bodyPr/>
          <a:lstStyle/>
          <a:p>
            <a:r>
              <a:rPr lang="en-US" altLang="zh-CN" dirty="0"/>
              <a:t>n</a:t>
            </a:r>
            <a:r>
              <a:rPr lang="zh-CN" altLang="en-US" dirty="0"/>
              <a:t> </a:t>
            </a:r>
            <a:r>
              <a:rPr lang="en-US" altLang="zh-CN" dirty="0"/>
              <a:t>bit</a:t>
            </a:r>
            <a:r>
              <a:rPr lang="zh-CN" altLang="en-US" dirty="0"/>
              <a:t>二进制数值空间可表示</a:t>
            </a:r>
            <a:r>
              <a:rPr lang="en-US" altLang="zh-CN" dirty="0"/>
              <a:t>2</a:t>
            </a:r>
            <a:r>
              <a:rPr lang="en-US" altLang="zh-CN" baseline="30000" dirty="0"/>
              <a:t>n</a:t>
            </a:r>
            <a:r>
              <a:rPr lang="zh-CN" altLang="en-US" dirty="0"/>
              <a:t>个数值</a:t>
            </a:r>
            <a:endParaRPr lang="en-US" altLang="zh-CN" dirty="0"/>
          </a:p>
          <a:p>
            <a:pPr lvl="1"/>
            <a:r>
              <a:rPr lang="en-US" altLang="zh-CN" dirty="0"/>
              <a:t>000</a:t>
            </a:r>
            <a:r>
              <a:rPr lang="zh-CN" altLang="en-US" dirty="0"/>
              <a:t>，</a:t>
            </a:r>
            <a:r>
              <a:rPr lang="en-US" altLang="zh-CN" dirty="0"/>
              <a:t>001</a:t>
            </a:r>
            <a:r>
              <a:rPr lang="zh-CN" altLang="en-US" dirty="0"/>
              <a:t>，</a:t>
            </a:r>
            <a:r>
              <a:rPr lang="en-US" altLang="zh-CN" dirty="0"/>
              <a:t>010</a:t>
            </a:r>
            <a:r>
              <a:rPr lang="zh-CN" altLang="en-US" dirty="0"/>
              <a:t>，</a:t>
            </a:r>
            <a:r>
              <a:rPr lang="en-US" altLang="zh-CN" dirty="0"/>
              <a:t>011</a:t>
            </a:r>
            <a:r>
              <a:rPr lang="zh-CN" altLang="en-US" dirty="0"/>
              <a:t>，</a:t>
            </a:r>
            <a:br>
              <a:rPr lang="en-US" altLang="zh-CN" dirty="0"/>
            </a:br>
            <a:r>
              <a:rPr lang="en-US" altLang="zh-CN" dirty="0"/>
              <a:t>100</a:t>
            </a:r>
            <a:r>
              <a:rPr lang="zh-CN" altLang="en-US" dirty="0"/>
              <a:t>，</a:t>
            </a:r>
            <a:r>
              <a:rPr lang="en-US" altLang="zh-CN" dirty="0"/>
              <a:t>101</a:t>
            </a:r>
            <a:r>
              <a:rPr lang="zh-CN" altLang="en-US" dirty="0"/>
              <a:t>，</a:t>
            </a:r>
            <a:r>
              <a:rPr lang="en-US" altLang="zh-CN" dirty="0"/>
              <a:t>110</a:t>
            </a:r>
            <a:r>
              <a:rPr lang="zh-CN" altLang="en-US" dirty="0"/>
              <a:t>，</a:t>
            </a:r>
            <a:r>
              <a:rPr lang="en-US" altLang="zh-CN" dirty="0"/>
              <a:t>111</a:t>
            </a:r>
          </a:p>
          <a:p>
            <a:pPr lvl="1"/>
            <a:r>
              <a:rPr lang="zh-CN" altLang="en-US" dirty="0"/>
              <a:t>哪些</a:t>
            </a:r>
            <a:r>
              <a:rPr lang="zh-CN" altLang="en-CN" dirty="0"/>
              <a:t>表示正数</a:t>
            </a:r>
            <a:r>
              <a:rPr lang="zh-CN" altLang="en-US" dirty="0"/>
              <a:t>，哪些表示负数？</a:t>
            </a:r>
            <a:endParaRPr lang="en-US" altLang="zh-CN" dirty="0"/>
          </a:p>
          <a:p>
            <a:pPr lvl="1"/>
            <a:r>
              <a:rPr lang="zh-CN" altLang="en-US" dirty="0"/>
              <a:t>划分标准如何？</a:t>
            </a:r>
            <a:endParaRPr lang="en-US" altLang="zh-CN" dirty="0"/>
          </a:p>
        </p:txBody>
      </p:sp>
      <p:sp>
        <p:nvSpPr>
          <p:cNvPr id="4" name="灯片编号占位符 3">
            <a:extLst>
              <a:ext uri="{FF2B5EF4-FFF2-40B4-BE49-F238E27FC236}">
                <a16:creationId xmlns:a16="http://schemas.microsoft.com/office/drawing/2014/main" id="{432552ED-E68D-4048-3603-B3A3F024E507}"/>
              </a:ext>
            </a:extLst>
          </p:cNvPr>
          <p:cNvSpPr>
            <a:spLocks noGrp="1"/>
          </p:cNvSpPr>
          <p:nvPr>
            <p:ph type="sldNum" sz="quarter" idx="12"/>
          </p:nvPr>
        </p:nvSpPr>
        <p:spPr/>
        <p:txBody>
          <a:bodyPr/>
          <a:lstStyle/>
          <a:p>
            <a:fld id="{14659731-6BD7-46E7-8D3C-2F3AC07E20B1}" type="slidenum">
              <a:rPr lang="en-US" altLang="zh-CN" smtClean="0"/>
              <a:pPr/>
              <a:t>19</a:t>
            </a:fld>
            <a:endParaRPr lang="en-US" altLang="zh-CN" dirty="0"/>
          </a:p>
        </p:txBody>
      </p:sp>
    </p:spTree>
    <p:extLst>
      <p:ext uri="{BB962C8B-B14F-4D97-AF65-F5344CB8AC3E}">
        <p14:creationId xmlns:p14="http://schemas.microsoft.com/office/powerpoint/2010/main" val="344389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p:txBody>
          <a:bodyPr/>
          <a:lstStyle/>
          <a:p>
            <a:pPr eaLnBrk="1" hangingPunct="1"/>
            <a:r>
              <a:rPr lang="zh-CN" altLang="en-US" dirty="0"/>
              <a:t>负数的表示方式</a:t>
            </a:r>
            <a:endParaRPr lang="en-US" altLang="zh-CN" dirty="0"/>
          </a:p>
        </p:txBody>
      </p:sp>
      <p:sp>
        <p:nvSpPr>
          <p:cNvPr id="512003" name="Rectangle 3"/>
          <p:cNvSpPr>
            <a:spLocks noGrp="1" noChangeArrowheads="1"/>
          </p:cNvSpPr>
          <p:nvPr>
            <p:ph idx="1"/>
          </p:nvPr>
        </p:nvSpPr>
        <p:spPr>
          <a:xfrm>
            <a:off x="402912" y="1356797"/>
            <a:ext cx="4626506" cy="5033834"/>
          </a:xfrm>
        </p:spPr>
        <p:txBody>
          <a:bodyPr/>
          <a:lstStyle/>
          <a:p>
            <a:pPr hangingPunct="1"/>
            <a:r>
              <a:rPr lang="zh-CN" altLang="en-US" sz="2000" dirty="0"/>
              <a:t>一种方式：有符号原码</a:t>
            </a:r>
            <a:endParaRPr lang="en-US" altLang="zh-CN" sz="2000" dirty="0"/>
          </a:p>
          <a:p>
            <a:pPr marL="457200" lvl="1" indent="0" eaLnBrk="1" hangingPunct="1">
              <a:buNone/>
            </a:pPr>
            <a:r>
              <a:rPr lang="en-US" altLang="zh-CN" sz="2400" dirty="0">
                <a:solidFill>
                  <a:srgbClr val="FF0000"/>
                </a:solidFill>
              </a:rPr>
              <a:t>0</a:t>
            </a:r>
            <a:r>
              <a:rPr lang="en-US" altLang="zh-CN" sz="2400" dirty="0"/>
              <a:t>1010101</a:t>
            </a:r>
            <a:r>
              <a:rPr lang="en-US" altLang="zh-CN" sz="2400" baseline="-25000" dirty="0"/>
              <a:t>2</a:t>
            </a:r>
            <a:r>
              <a:rPr lang="zh-CN" altLang="en-US" sz="2400" baseline="-25000" dirty="0"/>
              <a:t> </a:t>
            </a:r>
            <a:r>
              <a:rPr lang="en-US" altLang="zh-CN" sz="2400" dirty="0"/>
              <a:t>=</a:t>
            </a:r>
            <a:r>
              <a:rPr lang="zh-CN" altLang="en-US" sz="2400" dirty="0"/>
              <a:t> </a:t>
            </a:r>
            <a:r>
              <a:rPr lang="en-US" altLang="zh-CN" sz="2400" dirty="0">
                <a:solidFill>
                  <a:srgbClr val="FF0000"/>
                </a:solidFill>
              </a:rPr>
              <a:t>+</a:t>
            </a:r>
            <a:r>
              <a:rPr lang="zh-CN" altLang="en-US" sz="2400" dirty="0">
                <a:solidFill>
                  <a:srgbClr val="FF0000"/>
                </a:solidFill>
              </a:rPr>
              <a:t> </a:t>
            </a:r>
            <a:r>
              <a:rPr lang="en-US" altLang="zh-CN" sz="2400" dirty="0"/>
              <a:t>85</a:t>
            </a:r>
            <a:r>
              <a:rPr lang="en-US" altLang="zh-CN" sz="2400" baseline="-25000" dirty="0"/>
              <a:t>10</a:t>
            </a:r>
            <a:r>
              <a:rPr lang="en-US" altLang="zh-CN" sz="2400" dirty="0"/>
              <a:t> </a:t>
            </a:r>
          </a:p>
          <a:p>
            <a:pPr marL="457200" lvl="1" indent="0" hangingPunct="1">
              <a:buNone/>
            </a:pPr>
            <a:r>
              <a:rPr lang="en-US" altLang="zh-CN" sz="2400" dirty="0">
                <a:solidFill>
                  <a:srgbClr val="FF0000"/>
                </a:solidFill>
              </a:rPr>
              <a:t>1</a:t>
            </a:r>
            <a:r>
              <a:rPr lang="en-US" altLang="zh-CN" sz="2400" dirty="0"/>
              <a:t>1010101</a:t>
            </a:r>
            <a:r>
              <a:rPr lang="en-US" altLang="zh-CN" sz="2400" baseline="-25000" dirty="0"/>
              <a:t>2</a:t>
            </a:r>
            <a:r>
              <a:rPr lang="zh-CN" altLang="en-US" sz="2400" baseline="-25000" dirty="0"/>
              <a:t> </a:t>
            </a:r>
            <a:r>
              <a:rPr lang="en-US" altLang="zh-CN" sz="2400" dirty="0"/>
              <a:t>=</a:t>
            </a:r>
            <a:r>
              <a:rPr lang="zh-CN" altLang="en-US" sz="2400" dirty="0"/>
              <a:t> </a:t>
            </a:r>
            <a:r>
              <a:rPr lang="en-US" altLang="zh-CN" sz="2400" dirty="0">
                <a:solidFill>
                  <a:srgbClr val="FF0000"/>
                </a:solidFill>
              </a:rPr>
              <a:t>–</a:t>
            </a:r>
            <a:r>
              <a:rPr lang="zh-CN" altLang="en-US" sz="2400" dirty="0">
                <a:solidFill>
                  <a:srgbClr val="FF0000"/>
                </a:solidFill>
              </a:rPr>
              <a:t> </a:t>
            </a:r>
            <a:r>
              <a:rPr lang="en-US" altLang="zh-CN" sz="2400" dirty="0"/>
              <a:t>85</a:t>
            </a:r>
            <a:r>
              <a:rPr lang="en-US" altLang="zh-CN" sz="2400" baseline="-25000" dirty="0"/>
              <a:t>10</a:t>
            </a:r>
            <a:r>
              <a:rPr lang="en-US" altLang="zh-CN" sz="2400" dirty="0"/>
              <a:t> </a:t>
            </a:r>
          </a:p>
          <a:p>
            <a:pPr hangingPunct="1"/>
            <a:endParaRPr lang="en-US" altLang="zh-CN" sz="2000" dirty="0">
              <a:solidFill>
                <a:srgbClr val="00B050"/>
              </a:solidFill>
            </a:endParaRPr>
          </a:p>
          <a:p>
            <a:pPr hangingPunct="1"/>
            <a:endParaRPr lang="en-US" altLang="zh-CN" sz="2000" dirty="0">
              <a:solidFill>
                <a:srgbClr val="00B050"/>
              </a:solidFill>
            </a:endParaRPr>
          </a:p>
          <a:p>
            <a:pPr hangingPunct="1"/>
            <a:endParaRPr lang="en-US" altLang="zh-CN" sz="2000" dirty="0">
              <a:solidFill>
                <a:srgbClr val="00B050"/>
              </a:solidFill>
            </a:endParaRPr>
          </a:p>
          <a:p>
            <a:pPr hangingPunct="1"/>
            <a:endParaRPr lang="en-US" altLang="zh-CN" sz="2000" dirty="0">
              <a:solidFill>
                <a:srgbClr val="00B050"/>
              </a:solidFill>
            </a:endParaRPr>
          </a:p>
          <a:p>
            <a:pPr hangingPunct="1"/>
            <a:endParaRPr lang="en-US" altLang="zh-CN" sz="2000" dirty="0">
              <a:solidFill>
                <a:srgbClr val="00B050"/>
              </a:solidFill>
            </a:endParaRPr>
          </a:p>
          <a:p>
            <a:pPr hangingPunct="1"/>
            <a:endParaRPr lang="en-US" altLang="zh-CN" sz="2000" dirty="0">
              <a:solidFill>
                <a:srgbClr val="00B050"/>
              </a:solidFill>
            </a:endParaRPr>
          </a:p>
          <a:p>
            <a:pPr hangingPunct="1"/>
            <a:r>
              <a:rPr lang="zh-CN" altLang="en-US" sz="2000" dirty="0">
                <a:solidFill>
                  <a:srgbClr val="00B050"/>
                </a:solidFill>
              </a:rPr>
              <a:t>如何保证 </a:t>
            </a:r>
            <a:r>
              <a:rPr lang="en-US" altLang="zh-CN" sz="2000" dirty="0">
                <a:solidFill>
                  <a:srgbClr val="00B050"/>
                </a:solidFill>
              </a:rPr>
              <a:t>X+(-X)=0?</a:t>
            </a:r>
          </a:p>
          <a:p>
            <a:pPr hangingPunct="1"/>
            <a:r>
              <a:rPr lang="en-US" altLang="zh-CN" sz="2000" dirty="0">
                <a:solidFill>
                  <a:srgbClr val="3333FF"/>
                </a:solidFill>
              </a:rPr>
              <a:t>2-</a:t>
            </a:r>
            <a:r>
              <a:rPr lang="zh-CN" altLang="en-US" sz="2000" dirty="0">
                <a:solidFill>
                  <a:srgbClr val="3333FF"/>
                </a:solidFill>
              </a:rPr>
              <a:t>补码（简称补码，不同于</a:t>
            </a:r>
            <a:r>
              <a:rPr lang="en-US" altLang="zh-CN" sz="2000" dirty="0">
                <a:solidFill>
                  <a:srgbClr val="3333FF"/>
                </a:solidFill>
              </a:rPr>
              <a:t>1-</a:t>
            </a:r>
            <a:r>
              <a:rPr lang="zh-CN" altLang="en-US" sz="2000" dirty="0">
                <a:solidFill>
                  <a:srgbClr val="3333FF"/>
                </a:solidFill>
              </a:rPr>
              <a:t>补码！）</a:t>
            </a:r>
            <a:endParaRPr lang="en-US" altLang="zh-CN" sz="2000" dirty="0"/>
          </a:p>
          <a:p>
            <a:pPr lvl="1"/>
            <a:r>
              <a:rPr lang="zh-CN" altLang="en-US" sz="2000" b="0" dirty="0"/>
              <a:t>为使</a:t>
            </a:r>
            <a:r>
              <a:rPr lang="en-US" altLang="zh-CN" sz="2000" b="0" dirty="0">
                <a:solidFill>
                  <a:srgbClr val="00B050"/>
                </a:solidFill>
              </a:rPr>
              <a:t>X+(-X)=0</a:t>
            </a:r>
            <a:r>
              <a:rPr lang="zh-CN" altLang="en-US" sz="2000" b="0" dirty="0"/>
              <a:t>，补码如何表示？</a:t>
            </a:r>
            <a:endParaRPr lang="en-US" altLang="zh-CN" sz="2000" b="0" dirty="0"/>
          </a:p>
          <a:p>
            <a:pPr lvl="1"/>
            <a:r>
              <a:rPr lang="zh-CN" altLang="en-US" sz="2000" dirty="0"/>
              <a:t>翻转（</a:t>
            </a:r>
            <a:r>
              <a:rPr lang="en-US" altLang="zh-CN" sz="2000" dirty="0"/>
              <a:t>+85</a:t>
            </a:r>
            <a:r>
              <a:rPr lang="zh-CN" altLang="en-US" sz="2000" dirty="0"/>
              <a:t>）的每</a:t>
            </a:r>
            <a:r>
              <a:rPr lang="en-US" altLang="zh-CN" sz="2000" dirty="0"/>
              <a:t>bit</a:t>
            </a:r>
            <a:r>
              <a:rPr lang="zh-CN" altLang="en-US" sz="2000" dirty="0"/>
              <a:t>并加</a:t>
            </a:r>
            <a:r>
              <a:rPr lang="en-US" altLang="zh-CN" sz="2000" dirty="0"/>
              <a:t>1</a:t>
            </a:r>
            <a:r>
              <a:rPr lang="zh-CN" altLang="en-US" sz="2000" dirty="0"/>
              <a:t>，得到（</a:t>
            </a:r>
            <a:r>
              <a:rPr lang="en-US" altLang="zh-CN" sz="2000" dirty="0"/>
              <a:t>-85</a:t>
            </a:r>
            <a:r>
              <a:rPr lang="zh-CN" altLang="en-US" sz="2000" dirty="0"/>
              <a:t>）</a:t>
            </a:r>
            <a:endParaRPr lang="en-US" altLang="zh-CN" sz="2000" dirty="0"/>
          </a:p>
        </p:txBody>
      </p:sp>
      <p:sp>
        <p:nvSpPr>
          <p:cNvPr id="4" name="灯片编号占位符 3">
            <a:extLst>
              <a:ext uri="{FF2B5EF4-FFF2-40B4-BE49-F238E27FC236}">
                <a16:creationId xmlns:a16="http://schemas.microsoft.com/office/drawing/2014/main" id="{0291D10B-268B-FD97-44CF-2455C436B2A7}"/>
              </a:ext>
            </a:extLst>
          </p:cNvPr>
          <p:cNvSpPr>
            <a:spLocks noGrp="1"/>
          </p:cNvSpPr>
          <p:nvPr>
            <p:ph type="sldNum" sz="quarter" idx="12"/>
          </p:nvPr>
        </p:nvSpPr>
        <p:spPr>
          <a:xfrm>
            <a:off x="-1676400" y="6561348"/>
            <a:ext cx="2133600" cy="476250"/>
          </a:xfrm>
        </p:spPr>
        <p:txBody>
          <a:bodyPr/>
          <a:lstStyle/>
          <a:p>
            <a:fld id="{14659731-6BD7-46E7-8D3C-2F3AC07E20B1}" type="slidenum">
              <a:rPr lang="en-US" altLang="zh-CN" smtClean="0"/>
              <a:pPr/>
              <a:t>20</a:t>
            </a:fld>
            <a:endParaRPr lang="en-US" altLang="zh-CN" dirty="0"/>
          </a:p>
        </p:txBody>
      </p:sp>
      <p:grpSp>
        <p:nvGrpSpPr>
          <p:cNvPr id="32" name="组合 31">
            <a:extLst>
              <a:ext uri="{FF2B5EF4-FFF2-40B4-BE49-F238E27FC236}">
                <a16:creationId xmlns:a16="http://schemas.microsoft.com/office/drawing/2014/main" id="{AE6CB0A1-6199-C3BE-0BEA-2E633B775E73}"/>
              </a:ext>
            </a:extLst>
          </p:cNvPr>
          <p:cNvGrpSpPr/>
          <p:nvPr/>
        </p:nvGrpSpPr>
        <p:grpSpPr>
          <a:xfrm>
            <a:off x="5116515" y="5193196"/>
            <a:ext cx="3667953" cy="1025434"/>
            <a:chOff x="4847212" y="800160"/>
            <a:chExt cx="3667953" cy="1037910"/>
          </a:xfrm>
        </p:grpSpPr>
        <p:sp>
          <p:nvSpPr>
            <p:cNvPr id="33" name="文本框 32">
              <a:extLst>
                <a:ext uri="{FF2B5EF4-FFF2-40B4-BE49-F238E27FC236}">
                  <a16:creationId xmlns:a16="http://schemas.microsoft.com/office/drawing/2014/main" id="{616AC9E3-696B-85C7-8574-1DAE2CFE88E3}"/>
                </a:ext>
              </a:extLst>
            </p:cNvPr>
            <p:cNvSpPr txBox="1"/>
            <p:nvPr/>
          </p:nvSpPr>
          <p:spPr>
            <a:xfrm>
              <a:off x="5011862" y="800160"/>
              <a:ext cx="3420380" cy="404978"/>
            </a:xfrm>
            <a:prstGeom prst="rect">
              <a:avLst/>
            </a:prstGeom>
            <a:noFill/>
          </p:spPr>
          <p:txBody>
            <a:bodyPr wrap="square" rtlCol="0">
              <a:spAutoFit/>
            </a:bodyPr>
            <a:lstStyle/>
            <a:p>
              <a:pPr algn="ctr"/>
              <a:r>
                <a:rPr lang="zh-CN" altLang="en-US" sz="2000" b="1" dirty="0">
                  <a:solidFill>
                    <a:srgbClr val="00B050"/>
                  </a:solidFill>
                  <a:latin typeface="+mn-lt"/>
                  <a:ea typeface="黑体" pitchFamily="49" charset="-122"/>
                </a:rPr>
                <a:t>补码计算</a:t>
              </a:r>
            </a:p>
          </p:txBody>
        </p:sp>
        <p:sp>
          <p:nvSpPr>
            <p:cNvPr id="34" name="矩形 33">
              <a:extLst>
                <a:ext uri="{FF2B5EF4-FFF2-40B4-BE49-F238E27FC236}">
                  <a16:creationId xmlns:a16="http://schemas.microsoft.com/office/drawing/2014/main" id="{E5DB1309-ECE4-9BA9-81A6-1FE53627C2CD}"/>
                </a:ext>
              </a:extLst>
            </p:cNvPr>
            <p:cNvSpPr/>
            <p:nvPr/>
          </p:nvSpPr>
          <p:spPr bwMode="auto">
            <a:xfrm>
              <a:off x="4847212" y="824983"/>
              <a:ext cx="3667953" cy="1013087"/>
            </a:xfrm>
            <a:prstGeom prst="rect">
              <a:avLst/>
            </a:prstGeom>
            <a:noFill/>
            <a:ln w="31750" cap="flat" cmpd="sng" algn="ctr">
              <a:solidFill>
                <a:schemeClr val="accent6">
                  <a:alpha val="6012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5" name="文本框 34">
              <a:extLst>
                <a:ext uri="{FF2B5EF4-FFF2-40B4-BE49-F238E27FC236}">
                  <a16:creationId xmlns:a16="http://schemas.microsoft.com/office/drawing/2014/main" id="{8F039869-FAD2-9712-7361-488E9C6B4D17}"/>
                </a:ext>
              </a:extLst>
            </p:cNvPr>
            <p:cNvSpPr txBox="1"/>
            <p:nvPr/>
          </p:nvSpPr>
          <p:spPr>
            <a:xfrm>
              <a:off x="5240438" y="1124196"/>
              <a:ext cx="2791149" cy="461665"/>
            </a:xfrm>
            <a:prstGeom prst="rect">
              <a:avLst/>
            </a:prstGeom>
            <a:noFill/>
          </p:spPr>
          <p:txBody>
            <a:bodyPr wrap="none" rtlCol="0">
              <a:spAutoFit/>
            </a:bodyPr>
            <a:lstStyle/>
            <a:p>
              <a:r>
                <a:rPr lang="en-US" altLang="zh-CN" sz="2400" b="1" dirty="0">
                  <a:solidFill>
                    <a:srgbClr val="FF0000"/>
                  </a:solidFill>
                </a:rPr>
                <a:t>+</a:t>
              </a:r>
              <a:r>
                <a:rPr lang="en-US" altLang="zh-CN" sz="2400" dirty="0"/>
                <a:t>85</a:t>
              </a:r>
              <a:r>
                <a:rPr lang="en-US" altLang="zh-CN" sz="2400" baseline="-25000" dirty="0"/>
                <a:t>10</a:t>
              </a:r>
              <a:r>
                <a:rPr lang="zh-CN" altLang="en-US" sz="2400" b="1" dirty="0">
                  <a:solidFill>
                    <a:srgbClr val="FF0000"/>
                  </a:solidFill>
                </a:rPr>
                <a:t> </a:t>
              </a:r>
              <a:r>
                <a:rPr lang="en-US" altLang="zh-CN" sz="2400" b="1" dirty="0"/>
                <a:t>+</a:t>
              </a:r>
              <a:r>
                <a:rPr lang="zh-CN" altLang="en-US" sz="2400" b="1" dirty="0">
                  <a:solidFill>
                    <a:srgbClr val="FF0000"/>
                  </a:solidFill>
                </a:rPr>
                <a:t> </a:t>
              </a:r>
              <a:r>
                <a:rPr lang="en-US" altLang="zh-CN" sz="2400" b="1" dirty="0">
                  <a:solidFill>
                    <a:srgbClr val="FF0000"/>
                  </a:solidFill>
                </a:rPr>
                <a:t>-</a:t>
              </a:r>
              <a:r>
                <a:rPr lang="en-US" altLang="zh-CN" sz="2400" dirty="0"/>
                <a:t>85</a:t>
              </a:r>
              <a:r>
                <a:rPr lang="en-US" altLang="zh-CN" sz="2400" baseline="-25000" dirty="0"/>
                <a:t>10</a:t>
              </a:r>
              <a:r>
                <a:rPr lang="en-US" altLang="zh-CN" sz="2400" b="1" dirty="0">
                  <a:solidFill>
                    <a:srgbClr val="FF0000"/>
                  </a:solidFill>
                </a:rPr>
                <a:t> </a:t>
              </a:r>
              <a:r>
                <a:rPr lang="zh-CN" altLang="en-US" sz="2400" b="1" dirty="0">
                  <a:solidFill>
                    <a:srgbClr val="FF0000"/>
                  </a:solidFill>
                </a:rPr>
                <a:t> </a:t>
              </a:r>
              <a:r>
                <a:rPr lang="en-US" altLang="zh-CN" sz="2400" b="1" dirty="0"/>
                <a:t>=</a:t>
              </a:r>
              <a:r>
                <a:rPr lang="zh-CN" altLang="en-US" sz="2400" b="1" dirty="0"/>
                <a:t> </a:t>
              </a:r>
              <a:r>
                <a:rPr lang="en-US" altLang="zh-CN" sz="2400" dirty="0"/>
                <a:t>0</a:t>
              </a:r>
              <a:r>
                <a:rPr lang="en-US" altLang="zh-CN" sz="2400" baseline="-25000" dirty="0"/>
                <a:t>10</a:t>
              </a:r>
              <a:endParaRPr kumimoji="1" lang="zh-CN" altLang="en-US" sz="2400" dirty="0"/>
            </a:p>
          </p:txBody>
        </p:sp>
        <p:sp>
          <p:nvSpPr>
            <p:cNvPr id="36" name="文本框 35">
              <a:extLst>
                <a:ext uri="{FF2B5EF4-FFF2-40B4-BE49-F238E27FC236}">
                  <a16:creationId xmlns:a16="http://schemas.microsoft.com/office/drawing/2014/main" id="{ACA27813-AFF0-5CA4-FC6C-D14EDC9C11DE}"/>
                </a:ext>
              </a:extLst>
            </p:cNvPr>
            <p:cNvSpPr txBox="1"/>
            <p:nvPr/>
          </p:nvSpPr>
          <p:spPr>
            <a:xfrm>
              <a:off x="5102380" y="1511237"/>
              <a:ext cx="1047082" cy="307777"/>
            </a:xfrm>
            <a:prstGeom prst="rect">
              <a:avLst/>
            </a:prstGeom>
            <a:noFill/>
          </p:spPr>
          <p:txBody>
            <a:bodyPr wrap="none" rtlCol="0">
              <a:spAutoFit/>
            </a:bodyPr>
            <a:lstStyle/>
            <a:p>
              <a:r>
                <a:rPr lang="en-US" altLang="zh-CN" sz="1400" b="1" dirty="0">
                  <a:solidFill>
                    <a:srgbClr val="FF0000"/>
                  </a:solidFill>
                </a:rPr>
                <a:t>0</a:t>
              </a:r>
              <a:r>
                <a:rPr lang="en-US" altLang="zh-CN" sz="1400" dirty="0"/>
                <a:t>1010101</a:t>
              </a:r>
              <a:r>
                <a:rPr lang="en-US" altLang="zh-CN" sz="1400" baseline="-25000" dirty="0"/>
                <a:t>2</a:t>
              </a:r>
              <a:endParaRPr kumimoji="1" lang="zh-CN" altLang="en-US" sz="1400" dirty="0"/>
            </a:p>
          </p:txBody>
        </p:sp>
        <p:sp>
          <p:nvSpPr>
            <p:cNvPr id="37" name="文本框 36">
              <a:extLst>
                <a:ext uri="{FF2B5EF4-FFF2-40B4-BE49-F238E27FC236}">
                  <a16:creationId xmlns:a16="http://schemas.microsoft.com/office/drawing/2014/main" id="{768E54F0-F590-3E06-C039-F7383CB9DAB8}"/>
                </a:ext>
              </a:extLst>
            </p:cNvPr>
            <p:cNvSpPr txBox="1"/>
            <p:nvPr/>
          </p:nvSpPr>
          <p:spPr>
            <a:xfrm>
              <a:off x="6157648" y="1516132"/>
              <a:ext cx="1047083" cy="311522"/>
            </a:xfrm>
            <a:prstGeom prst="rect">
              <a:avLst/>
            </a:prstGeom>
            <a:noFill/>
          </p:spPr>
          <p:txBody>
            <a:bodyPr wrap="square">
              <a:spAutoFit/>
            </a:bodyPr>
            <a:lstStyle/>
            <a:p>
              <a:pPr algn="ctr"/>
              <a:r>
                <a:rPr lang="en-US" altLang="zh-CN" sz="1100" b="1" dirty="0">
                  <a:solidFill>
                    <a:srgbClr val="FF0000"/>
                  </a:solidFill>
                </a:rPr>
                <a:t>XXXXXXXX</a:t>
              </a:r>
              <a:r>
                <a:rPr lang="en-US" altLang="zh-CN" sz="1400" baseline="-25000" dirty="0"/>
                <a:t>2</a:t>
              </a:r>
              <a:endParaRPr lang="zh-CN" altLang="en-US" sz="1400" dirty="0"/>
            </a:p>
          </p:txBody>
        </p:sp>
        <p:sp>
          <p:nvSpPr>
            <p:cNvPr id="38" name="文本框 37">
              <a:extLst>
                <a:ext uri="{FF2B5EF4-FFF2-40B4-BE49-F238E27FC236}">
                  <a16:creationId xmlns:a16="http://schemas.microsoft.com/office/drawing/2014/main" id="{653A09E9-314F-8823-5FF6-4D545F0066A5}"/>
                </a:ext>
              </a:extLst>
            </p:cNvPr>
            <p:cNvSpPr txBox="1"/>
            <p:nvPr/>
          </p:nvSpPr>
          <p:spPr>
            <a:xfrm>
              <a:off x="7230410" y="1530293"/>
              <a:ext cx="1047082" cy="307777"/>
            </a:xfrm>
            <a:prstGeom prst="rect">
              <a:avLst/>
            </a:prstGeom>
            <a:noFill/>
          </p:spPr>
          <p:txBody>
            <a:bodyPr wrap="none" rtlCol="0">
              <a:spAutoFit/>
            </a:bodyPr>
            <a:lstStyle/>
            <a:p>
              <a:r>
                <a:rPr lang="en-US" altLang="zh-CN" sz="1400" b="1" dirty="0">
                  <a:solidFill>
                    <a:srgbClr val="FF0000"/>
                  </a:solidFill>
                </a:rPr>
                <a:t>0</a:t>
              </a:r>
              <a:r>
                <a:rPr lang="en-US" altLang="zh-CN" sz="1400" dirty="0"/>
                <a:t>0000000</a:t>
              </a:r>
              <a:r>
                <a:rPr lang="en-US" altLang="zh-CN" sz="1400" baseline="-25000" dirty="0"/>
                <a:t>2</a:t>
              </a:r>
              <a:endParaRPr kumimoji="1" lang="zh-CN" altLang="en-US" sz="1400" dirty="0"/>
            </a:p>
          </p:txBody>
        </p:sp>
      </p:grpSp>
      <p:grpSp>
        <p:nvGrpSpPr>
          <p:cNvPr id="2" name="组合 1">
            <a:extLst>
              <a:ext uri="{FF2B5EF4-FFF2-40B4-BE49-F238E27FC236}">
                <a16:creationId xmlns:a16="http://schemas.microsoft.com/office/drawing/2014/main" id="{A762B50D-378B-C959-EE89-BEBE0009647B}"/>
              </a:ext>
            </a:extLst>
          </p:cNvPr>
          <p:cNvGrpSpPr/>
          <p:nvPr/>
        </p:nvGrpSpPr>
        <p:grpSpPr>
          <a:xfrm>
            <a:off x="1981475" y="2712242"/>
            <a:ext cx="5674794" cy="1628212"/>
            <a:chOff x="200744" y="4651806"/>
            <a:chExt cx="3943286" cy="1501827"/>
          </a:xfrm>
        </p:grpSpPr>
        <p:cxnSp>
          <p:nvCxnSpPr>
            <p:cNvPr id="3" name="直线箭头连接符 13">
              <a:extLst>
                <a:ext uri="{FF2B5EF4-FFF2-40B4-BE49-F238E27FC236}">
                  <a16:creationId xmlns:a16="http://schemas.microsoft.com/office/drawing/2014/main" id="{81280C9A-E4BD-2744-7697-4568AA1346DD}"/>
                </a:ext>
              </a:extLst>
            </p:cNvPr>
            <p:cNvCxnSpPr>
              <a:cxnSpLocks/>
            </p:cNvCxnSpPr>
            <p:nvPr/>
          </p:nvCxnSpPr>
          <p:spPr bwMode="auto">
            <a:xfrm>
              <a:off x="427662" y="5612021"/>
              <a:ext cx="3716368" cy="0"/>
            </a:xfrm>
            <a:prstGeom prst="straightConnector1">
              <a:avLst/>
            </a:prstGeom>
            <a:solidFill>
              <a:schemeClr val="accent1"/>
            </a:solidFill>
            <a:ln w="28575" cap="flat" cmpd="sng" algn="ctr">
              <a:solidFill>
                <a:srgbClr val="858585"/>
              </a:solidFill>
              <a:prstDash val="solid"/>
              <a:round/>
              <a:headEnd type="none" w="med" len="med"/>
              <a:tailEnd type="triangle"/>
            </a:ln>
            <a:effectLst/>
          </p:spPr>
        </p:cxnSp>
        <p:sp>
          <p:nvSpPr>
            <p:cNvPr id="6" name="文本框 5">
              <a:extLst>
                <a:ext uri="{FF2B5EF4-FFF2-40B4-BE49-F238E27FC236}">
                  <a16:creationId xmlns:a16="http://schemas.microsoft.com/office/drawing/2014/main" id="{9A4D66E7-9127-BA2D-D72B-33CCEB0AB1C4}"/>
                </a:ext>
              </a:extLst>
            </p:cNvPr>
            <p:cNvSpPr txBox="1"/>
            <p:nvPr/>
          </p:nvSpPr>
          <p:spPr>
            <a:xfrm>
              <a:off x="200744" y="4651806"/>
              <a:ext cx="2046707" cy="482607"/>
            </a:xfrm>
            <a:prstGeom prst="rect">
              <a:avLst/>
            </a:prstGeom>
            <a:noFill/>
          </p:spPr>
          <p:txBody>
            <a:bodyPr wrap="none" rtlCol="0">
              <a:spAutoFit/>
            </a:bodyPr>
            <a:lstStyle/>
            <a:p>
              <a:pPr algn="ctr"/>
              <a:r>
                <a:rPr kumimoji="1" lang="en-US" altLang="zh-CN" sz="2800" dirty="0">
                  <a:solidFill>
                    <a:srgbClr val="3333FF"/>
                  </a:solidFill>
                  <a:latin typeface="+mj-lt"/>
                  <a:ea typeface="SimHei" panose="02010609060101010101" pitchFamily="49" charset="-122"/>
                </a:rPr>
                <a:t>Signed binary code</a:t>
              </a:r>
              <a:endParaRPr kumimoji="1" lang="zh-CN" altLang="en-US" sz="2800" dirty="0">
                <a:solidFill>
                  <a:srgbClr val="3333FF"/>
                </a:solidFill>
                <a:latin typeface="+mj-lt"/>
                <a:ea typeface="SimHei" panose="02010609060101010101" pitchFamily="49" charset="-122"/>
              </a:endParaRPr>
            </a:p>
          </p:txBody>
        </p:sp>
        <p:sp>
          <p:nvSpPr>
            <p:cNvPr id="9" name="文本框 8">
              <a:extLst>
                <a:ext uri="{FF2B5EF4-FFF2-40B4-BE49-F238E27FC236}">
                  <a16:creationId xmlns:a16="http://schemas.microsoft.com/office/drawing/2014/main" id="{3C813948-E064-D46D-6DEF-E80760CFD464}"/>
                </a:ext>
              </a:extLst>
            </p:cNvPr>
            <p:cNvSpPr txBox="1"/>
            <p:nvPr/>
          </p:nvSpPr>
          <p:spPr>
            <a:xfrm>
              <a:off x="367823" y="5137361"/>
              <a:ext cx="760353" cy="482607"/>
            </a:xfrm>
            <a:prstGeom prst="rect">
              <a:avLst/>
            </a:prstGeom>
            <a:noFill/>
          </p:spPr>
          <p:txBody>
            <a:bodyPr wrap="square" rtlCol="0">
              <a:spAutoFit/>
            </a:bodyPr>
            <a:lstStyle/>
            <a:p>
              <a:pPr algn="ctr"/>
              <a:r>
                <a:rPr kumimoji="1" lang="en-US" altLang="zh-CN" sz="1400" dirty="0">
                  <a:solidFill>
                    <a:srgbClr val="C00000"/>
                  </a:solidFill>
                  <a:latin typeface="SimHei" panose="02010609060101010101" pitchFamily="49" charset="-122"/>
                  <a:ea typeface="SimHei" panose="02010609060101010101" pitchFamily="49" charset="-122"/>
                </a:rPr>
                <a:t>+0(</a:t>
              </a:r>
              <a:r>
                <a:rPr kumimoji="1" lang="en-US" altLang="zh-CN" sz="1400" dirty="0">
                  <a:solidFill>
                    <a:srgbClr val="C00000"/>
                  </a:solidFill>
                  <a:latin typeface="+mj-lt"/>
                  <a:ea typeface="SimHei" panose="02010609060101010101" pitchFamily="49" charset="-122"/>
                </a:rPr>
                <a:t>Decimal</a:t>
              </a:r>
              <a:r>
                <a:rPr kumimoji="1" lang="en-US" altLang="zh-CN" sz="1400" dirty="0">
                  <a:solidFill>
                    <a:srgbClr val="C00000"/>
                  </a:solidFill>
                  <a:latin typeface="SimHei" panose="02010609060101010101" pitchFamily="49" charset="-122"/>
                  <a:ea typeface="SimHei" panose="02010609060101010101" pitchFamily="49" charset="-122"/>
                </a:rPr>
                <a:t>)</a:t>
              </a:r>
            </a:p>
            <a:p>
              <a:pPr algn="ctr"/>
              <a:r>
                <a:rPr lang="en-US" altLang="zh-CN" sz="1400" dirty="0">
                  <a:solidFill>
                    <a:srgbClr val="3333FF"/>
                  </a:solidFill>
                  <a:latin typeface="+mn-lt"/>
                  <a:ea typeface="黑体" pitchFamily="49" charset="-122"/>
                </a:rPr>
                <a:t>0000</a:t>
              </a:r>
              <a:endParaRPr lang="zh-CN" altLang="en-US" sz="1400" dirty="0">
                <a:solidFill>
                  <a:srgbClr val="3333FF"/>
                </a:solidFill>
                <a:latin typeface="+mn-lt"/>
                <a:ea typeface="黑体" pitchFamily="49" charset="-122"/>
              </a:endParaRPr>
            </a:p>
          </p:txBody>
        </p:sp>
        <p:sp>
          <p:nvSpPr>
            <p:cNvPr id="12" name="文本框 11">
              <a:extLst>
                <a:ext uri="{FF2B5EF4-FFF2-40B4-BE49-F238E27FC236}">
                  <a16:creationId xmlns:a16="http://schemas.microsoft.com/office/drawing/2014/main" id="{E33FFD1E-28E4-B608-6D13-99E5F6BB2045}"/>
                </a:ext>
              </a:extLst>
            </p:cNvPr>
            <p:cNvSpPr txBox="1"/>
            <p:nvPr/>
          </p:nvSpPr>
          <p:spPr>
            <a:xfrm>
              <a:off x="114362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+1</a:t>
              </a:r>
            </a:p>
            <a:p>
              <a:pPr algn="ctr"/>
              <a:r>
                <a:rPr lang="en-US" altLang="zh-CN" sz="1600" dirty="0">
                  <a:solidFill>
                    <a:srgbClr val="3333FF"/>
                  </a:solidFill>
                  <a:latin typeface="+mn-lt"/>
                  <a:ea typeface="黑体" pitchFamily="49" charset="-122"/>
                </a:rPr>
                <a:t>0001</a:t>
              </a:r>
              <a:endParaRPr lang="zh-CN" altLang="en-US" sz="1600" dirty="0">
                <a:solidFill>
                  <a:srgbClr val="3333FF"/>
                </a:solidFill>
                <a:latin typeface="+mn-lt"/>
                <a:ea typeface="黑体" pitchFamily="49" charset="-122"/>
              </a:endParaRPr>
            </a:p>
          </p:txBody>
        </p:sp>
        <p:sp>
          <p:nvSpPr>
            <p:cNvPr id="15" name="文本框 14">
              <a:extLst>
                <a:ext uri="{FF2B5EF4-FFF2-40B4-BE49-F238E27FC236}">
                  <a16:creationId xmlns:a16="http://schemas.microsoft.com/office/drawing/2014/main" id="{1DCB9B67-BD0E-B8FB-6928-CFD05064E3F7}"/>
                </a:ext>
              </a:extLst>
            </p:cNvPr>
            <p:cNvSpPr txBox="1"/>
            <p:nvPr/>
          </p:nvSpPr>
          <p:spPr>
            <a:xfrm>
              <a:off x="157241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+2</a:t>
              </a:r>
            </a:p>
            <a:p>
              <a:pPr algn="ctr"/>
              <a:r>
                <a:rPr lang="en-US" altLang="zh-CN" sz="1600" dirty="0">
                  <a:solidFill>
                    <a:srgbClr val="3333FF"/>
                  </a:solidFill>
                  <a:latin typeface="+mn-lt"/>
                  <a:ea typeface="黑体" pitchFamily="49" charset="-122"/>
                </a:rPr>
                <a:t>0010</a:t>
              </a:r>
              <a:endParaRPr lang="zh-CN" altLang="en-US" sz="1600" dirty="0">
                <a:solidFill>
                  <a:srgbClr val="3333FF"/>
                </a:solidFill>
                <a:latin typeface="+mn-lt"/>
                <a:ea typeface="黑体" pitchFamily="49" charset="-122"/>
              </a:endParaRPr>
            </a:p>
          </p:txBody>
        </p:sp>
        <p:sp>
          <p:nvSpPr>
            <p:cNvPr id="16" name="文本框 15">
              <a:extLst>
                <a:ext uri="{FF2B5EF4-FFF2-40B4-BE49-F238E27FC236}">
                  <a16:creationId xmlns:a16="http://schemas.microsoft.com/office/drawing/2014/main" id="{F61F2400-B743-313C-0ED3-9D0AA6D61A0E}"/>
                </a:ext>
              </a:extLst>
            </p:cNvPr>
            <p:cNvSpPr txBox="1"/>
            <p:nvPr/>
          </p:nvSpPr>
          <p:spPr>
            <a:xfrm>
              <a:off x="200119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+3</a:t>
              </a:r>
            </a:p>
            <a:p>
              <a:pPr algn="ctr"/>
              <a:r>
                <a:rPr lang="en-US" altLang="zh-CN" sz="1600" dirty="0">
                  <a:solidFill>
                    <a:srgbClr val="3333FF"/>
                  </a:solidFill>
                  <a:latin typeface="+mn-lt"/>
                  <a:ea typeface="黑体" pitchFamily="49" charset="-122"/>
                </a:rPr>
                <a:t>0011</a:t>
              </a:r>
              <a:endParaRPr lang="zh-CN" altLang="en-US" sz="1600" dirty="0">
                <a:solidFill>
                  <a:srgbClr val="3333FF"/>
                </a:solidFill>
                <a:latin typeface="+mn-lt"/>
                <a:ea typeface="黑体" pitchFamily="49" charset="-122"/>
              </a:endParaRPr>
            </a:p>
          </p:txBody>
        </p:sp>
        <p:sp>
          <p:nvSpPr>
            <p:cNvPr id="17" name="文本框 16">
              <a:extLst>
                <a:ext uri="{FF2B5EF4-FFF2-40B4-BE49-F238E27FC236}">
                  <a16:creationId xmlns:a16="http://schemas.microsoft.com/office/drawing/2014/main" id="{B43C3823-1679-5FD9-C7A4-047D1BB10E06}"/>
                </a:ext>
              </a:extLst>
            </p:cNvPr>
            <p:cNvSpPr txBox="1"/>
            <p:nvPr/>
          </p:nvSpPr>
          <p:spPr>
            <a:xfrm>
              <a:off x="242998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+4</a:t>
              </a:r>
            </a:p>
            <a:p>
              <a:pPr algn="ctr"/>
              <a:r>
                <a:rPr lang="en-US" altLang="zh-CN" sz="1600" dirty="0">
                  <a:solidFill>
                    <a:srgbClr val="3333FF"/>
                  </a:solidFill>
                  <a:latin typeface="+mn-lt"/>
                  <a:ea typeface="黑体" pitchFamily="49" charset="-122"/>
                </a:rPr>
                <a:t>0100</a:t>
              </a:r>
              <a:endParaRPr lang="zh-CN" altLang="en-US" sz="1600" dirty="0">
                <a:solidFill>
                  <a:srgbClr val="3333FF"/>
                </a:solidFill>
                <a:latin typeface="+mn-lt"/>
                <a:ea typeface="黑体" pitchFamily="49" charset="-122"/>
              </a:endParaRPr>
            </a:p>
          </p:txBody>
        </p:sp>
        <p:sp>
          <p:nvSpPr>
            <p:cNvPr id="18" name="文本框 17">
              <a:extLst>
                <a:ext uri="{FF2B5EF4-FFF2-40B4-BE49-F238E27FC236}">
                  <a16:creationId xmlns:a16="http://schemas.microsoft.com/office/drawing/2014/main" id="{FF64FA0E-6F97-E2E8-DBD7-CEE0CDF38EBF}"/>
                </a:ext>
              </a:extLst>
            </p:cNvPr>
            <p:cNvSpPr txBox="1"/>
            <p:nvPr/>
          </p:nvSpPr>
          <p:spPr>
            <a:xfrm>
              <a:off x="285876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+5</a:t>
              </a:r>
            </a:p>
            <a:p>
              <a:pPr algn="ctr"/>
              <a:r>
                <a:rPr lang="en-US" altLang="zh-CN" sz="1600" dirty="0">
                  <a:solidFill>
                    <a:srgbClr val="3333FF"/>
                  </a:solidFill>
                  <a:latin typeface="+mn-lt"/>
                  <a:ea typeface="黑体" pitchFamily="49" charset="-122"/>
                </a:rPr>
                <a:t>0101</a:t>
              </a:r>
              <a:endParaRPr lang="zh-CN" altLang="en-US" sz="1600" dirty="0">
                <a:solidFill>
                  <a:srgbClr val="3333FF"/>
                </a:solidFill>
                <a:latin typeface="+mn-lt"/>
                <a:ea typeface="黑体" pitchFamily="49" charset="-122"/>
              </a:endParaRPr>
            </a:p>
          </p:txBody>
        </p:sp>
        <p:sp>
          <p:nvSpPr>
            <p:cNvPr id="19" name="文本框 18">
              <a:extLst>
                <a:ext uri="{FF2B5EF4-FFF2-40B4-BE49-F238E27FC236}">
                  <a16:creationId xmlns:a16="http://schemas.microsoft.com/office/drawing/2014/main" id="{724F72B5-00FD-AE8C-4750-29C70A4D3199}"/>
                </a:ext>
              </a:extLst>
            </p:cNvPr>
            <p:cNvSpPr txBox="1"/>
            <p:nvPr/>
          </p:nvSpPr>
          <p:spPr>
            <a:xfrm>
              <a:off x="328755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+6</a:t>
              </a:r>
            </a:p>
            <a:p>
              <a:pPr algn="ctr"/>
              <a:r>
                <a:rPr lang="en-US" altLang="zh-CN" sz="1600" dirty="0">
                  <a:solidFill>
                    <a:srgbClr val="3333FF"/>
                  </a:solidFill>
                  <a:latin typeface="+mn-lt"/>
                  <a:ea typeface="黑体" pitchFamily="49" charset="-122"/>
                </a:rPr>
                <a:t>0110</a:t>
              </a:r>
              <a:endParaRPr lang="zh-CN" altLang="en-US" sz="1600" dirty="0">
                <a:solidFill>
                  <a:srgbClr val="3333FF"/>
                </a:solidFill>
                <a:latin typeface="+mn-lt"/>
                <a:ea typeface="黑体" pitchFamily="49" charset="-122"/>
              </a:endParaRPr>
            </a:p>
          </p:txBody>
        </p:sp>
        <p:sp>
          <p:nvSpPr>
            <p:cNvPr id="20" name="文本框 19">
              <a:extLst>
                <a:ext uri="{FF2B5EF4-FFF2-40B4-BE49-F238E27FC236}">
                  <a16:creationId xmlns:a16="http://schemas.microsoft.com/office/drawing/2014/main" id="{46D8BADA-A552-AFDF-243B-3E937AEA2599}"/>
                </a:ext>
              </a:extLst>
            </p:cNvPr>
            <p:cNvSpPr txBox="1"/>
            <p:nvPr/>
          </p:nvSpPr>
          <p:spPr>
            <a:xfrm>
              <a:off x="371633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+7</a:t>
              </a:r>
            </a:p>
            <a:p>
              <a:pPr algn="ctr"/>
              <a:r>
                <a:rPr lang="en-US" altLang="zh-CN" sz="1600" dirty="0">
                  <a:solidFill>
                    <a:srgbClr val="3333FF"/>
                  </a:solidFill>
                  <a:latin typeface="+mn-lt"/>
                  <a:ea typeface="黑体" pitchFamily="49" charset="-122"/>
                </a:rPr>
                <a:t>0111</a:t>
              </a:r>
              <a:endParaRPr lang="zh-CN" altLang="en-US" sz="1600" dirty="0">
                <a:solidFill>
                  <a:srgbClr val="3333FF"/>
                </a:solidFill>
                <a:latin typeface="+mn-lt"/>
                <a:ea typeface="黑体" pitchFamily="49" charset="-122"/>
              </a:endParaRPr>
            </a:p>
          </p:txBody>
        </p:sp>
        <p:sp>
          <p:nvSpPr>
            <p:cNvPr id="22" name="文本框 21">
              <a:extLst>
                <a:ext uri="{FF2B5EF4-FFF2-40B4-BE49-F238E27FC236}">
                  <a16:creationId xmlns:a16="http://schemas.microsoft.com/office/drawing/2014/main" id="{448DE24B-9656-9A39-B74A-36C23237F8D8}"/>
                </a:ext>
              </a:extLst>
            </p:cNvPr>
            <p:cNvSpPr txBox="1"/>
            <p:nvPr/>
          </p:nvSpPr>
          <p:spPr>
            <a:xfrm>
              <a:off x="1141530"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-1</a:t>
              </a:r>
            </a:p>
            <a:p>
              <a:pPr algn="ctr"/>
              <a:r>
                <a:rPr lang="en-US" altLang="zh-CN" sz="1600" dirty="0">
                  <a:solidFill>
                    <a:srgbClr val="3333FF"/>
                  </a:solidFill>
                  <a:latin typeface="+mn-lt"/>
                  <a:ea typeface="黑体" pitchFamily="49" charset="-122"/>
                </a:rPr>
                <a:t>1001</a:t>
              </a:r>
              <a:endParaRPr lang="zh-CN" altLang="en-US" sz="1600" dirty="0">
                <a:solidFill>
                  <a:srgbClr val="3333FF"/>
                </a:solidFill>
                <a:latin typeface="+mn-lt"/>
                <a:ea typeface="黑体" pitchFamily="49" charset="-122"/>
              </a:endParaRPr>
            </a:p>
          </p:txBody>
        </p:sp>
        <p:sp>
          <p:nvSpPr>
            <p:cNvPr id="23" name="文本框 22">
              <a:extLst>
                <a:ext uri="{FF2B5EF4-FFF2-40B4-BE49-F238E27FC236}">
                  <a16:creationId xmlns:a16="http://schemas.microsoft.com/office/drawing/2014/main" id="{81B370A9-32C2-467D-A4A0-29E5C967C53F}"/>
                </a:ext>
              </a:extLst>
            </p:cNvPr>
            <p:cNvSpPr txBox="1"/>
            <p:nvPr/>
          </p:nvSpPr>
          <p:spPr>
            <a:xfrm>
              <a:off x="1570316"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-2</a:t>
              </a:r>
            </a:p>
            <a:p>
              <a:pPr algn="ctr"/>
              <a:r>
                <a:rPr lang="en-US" altLang="zh-CN" sz="1600" dirty="0">
                  <a:solidFill>
                    <a:srgbClr val="3333FF"/>
                  </a:solidFill>
                  <a:latin typeface="+mn-lt"/>
                  <a:ea typeface="黑体" pitchFamily="49" charset="-122"/>
                </a:rPr>
                <a:t>1010</a:t>
              </a:r>
              <a:endParaRPr lang="zh-CN" altLang="en-US" sz="1600" dirty="0">
                <a:solidFill>
                  <a:srgbClr val="3333FF"/>
                </a:solidFill>
                <a:latin typeface="+mn-lt"/>
                <a:ea typeface="黑体" pitchFamily="49" charset="-122"/>
              </a:endParaRPr>
            </a:p>
          </p:txBody>
        </p:sp>
        <p:sp>
          <p:nvSpPr>
            <p:cNvPr id="24" name="文本框 23">
              <a:extLst>
                <a:ext uri="{FF2B5EF4-FFF2-40B4-BE49-F238E27FC236}">
                  <a16:creationId xmlns:a16="http://schemas.microsoft.com/office/drawing/2014/main" id="{16A8D4FD-4018-5A03-509C-88D424C184AB}"/>
                </a:ext>
              </a:extLst>
            </p:cNvPr>
            <p:cNvSpPr txBox="1"/>
            <p:nvPr/>
          </p:nvSpPr>
          <p:spPr>
            <a:xfrm>
              <a:off x="1999100"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-3</a:t>
              </a:r>
            </a:p>
            <a:p>
              <a:pPr algn="ctr"/>
              <a:r>
                <a:rPr lang="en-US" altLang="zh-CN" sz="1600" dirty="0">
                  <a:solidFill>
                    <a:srgbClr val="3333FF"/>
                  </a:solidFill>
                  <a:latin typeface="+mn-lt"/>
                  <a:ea typeface="黑体" pitchFamily="49" charset="-122"/>
                </a:rPr>
                <a:t>1011</a:t>
              </a:r>
              <a:endParaRPr lang="zh-CN" altLang="en-US" sz="1600" dirty="0">
                <a:solidFill>
                  <a:srgbClr val="3333FF"/>
                </a:solidFill>
                <a:latin typeface="+mn-lt"/>
                <a:ea typeface="黑体" pitchFamily="49" charset="-122"/>
              </a:endParaRPr>
            </a:p>
          </p:txBody>
        </p:sp>
        <p:sp>
          <p:nvSpPr>
            <p:cNvPr id="25" name="文本框 24">
              <a:extLst>
                <a:ext uri="{FF2B5EF4-FFF2-40B4-BE49-F238E27FC236}">
                  <a16:creationId xmlns:a16="http://schemas.microsoft.com/office/drawing/2014/main" id="{3C2171DF-1FD5-3DDB-B200-C8912C369942}"/>
                </a:ext>
              </a:extLst>
            </p:cNvPr>
            <p:cNvSpPr txBox="1"/>
            <p:nvPr/>
          </p:nvSpPr>
          <p:spPr>
            <a:xfrm>
              <a:off x="2427885"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-4</a:t>
              </a:r>
            </a:p>
            <a:p>
              <a:pPr algn="ctr"/>
              <a:r>
                <a:rPr lang="en-US" altLang="zh-CN" sz="1600" dirty="0">
                  <a:solidFill>
                    <a:srgbClr val="3333FF"/>
                  </a:solidFill>
                  <a:latin typeface="+mn-lt"/>
                  <a:ea typeface="黑体" pitchFamily="49" charset="-122"/>
                </a:rPr>
                <a:t>1100</a:t>
              </a:r>
              <a:endParaRPr lang="zh-CN" altLang="en-US" sz="1600" dirty="0">
                <a:solidFill>
                  <a:srgbClr val="3333FF"/>
                </a:solidFill>
                <a:latin typeface="+mn-lt"/>
                <a:ea typeface="黑体" pitchFamily="49" charset="-122"/>
              </a:endParaRPr>
            </a:p>
          </p:txBody>
        </p:sp>
        <p:sp>
          <p:nvSpPr>
            <p:cNvPr id="26" name="文本框 25">
              <a:extLst>
                <a:ext uri="{FF2B5EF4-FFF2-40B4-BE49-F238E27FC236}">
                  <a16:creationId xmlns:a16="http://schemas.microsoft.com/office/drawing/2014/main" id="{7AD7AB0F-5DD6-9D30-8029-AFE9C430196B}"/>
                </a:ext>
              </a:extLst>
            </p:cNvPr>
            <p:cNvSpPr txBox="1"/>
            <p:nvPr/>
          </p:nvSpPr>
          <p:spPr>
            <a:xfrm>
              <a:off x="2856670"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-5</a:t>
              </a:r>
            </a:p>
            <a:p>
              <a:pPr algn="ctr"/>
              <a:r>
                <a:rPr lang="en-US" altLang="zh-CN" sz="1600" dirty="0">
                  <a:solidFill>
                    <a:srgbClr val="3333FF"/>
                  </a:solidFill>
                  <a:latin typeface="+mn-lt"/>
                  <a:ea typeface="黑体" pitchFamily="49" charset="-122"/>
                </a:rPr>
                <a:t>1101</a:t>
              </a:r>
              <a:endParaRPr lang="zh-CN" altLang="en-US" sz="1600" dirty="0">
                <a:solidFill>
                  <a:srgbClr val="3333FF"/>
                </a:solidFill>
                <a:latin typeface="+mn-lt"/>
                <a:ea typeface="黑体" pitchFamily="49" charset="-122"/>
              </a:endParaRPr>
            </a:p>
          </p:txBody>
        </p:sp>
        <p:sp>
          <p:nvSpPr>
            <p:cNvPr id="27" name="文本框 26">
              <a:extLst>
                <a:ext uri="{FF2B5EF4-FFF2-40B4-BE49-F238E27FC236}">
                  <a16:creationId xmlns:a16="http://schemas.microsoft.com/office/drawing/2014/main" id="{42102354-9F0D-B40C-AD86-6A6AC64FDE7F}"/>
                </a:ext>
              </a:extLst>
            </p:cNvPr>
            <p:cNvSpPr txBox="1"/>
            <p:nvPr/>
          </p:nvSpPr>
          <p:spPr>
            <a:xfrm>
              <a:off x="3285455"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-6</a:t>
              </a:r>
            </a:p>
            <a:p>
              <a:pPr algn="ctr"/>
              <a:r>
                <a:rPr lang="en-US" altLang="zh-CN" sz="1600" dirty="0">
                  <a:solidFill>
                    <a:srgbClr val="3333FF"/>
                  </a:solidFill>
                  <a:latin typeface="+mn-lt"/>
                  <a:ea typeface="黑体" pitchFamily="49" charset="-122"/>
                </a:rPr>
                <a:t>1110</a:t>
              </a:r>
              <a:endParaRPr lang="zh-CN" altLang="en-US" sz="1600" dirty="0">
                <a:solidFill>
                  <a:srgbClr val="3333FF"/>
                </a:solidFill>
                <a:latin typeface="+mn-lt"/>
                <a:ea typeface="黑体" pitchFamily="49" charset="-122"/>
              </a:endParaRPr>
            </a:p>
          </p:txBody>
        </p:sp>
        <p:sp>
          <p:nvSpPr>
            <p:cNvPr id="28" name="文本框 27">
              <a:extLst>
                <a:ext uri="{FF2B5EF4-FFF2-40B4-BE49-F238E27FC236}">
                  <a16:creationId xmlns:a16="http://schemas.microsoft.com/office/drawing/2014/main" id="{360861A9-5C08-09AB-745D-ECF0A080079E}"/>
                </a:ext>
              </a:extLst>
            </p:cNvPr>
            <p:cNvSpPr txBox="1"/>
            <p:nvPr/>
          </p:nvSpPr>
          <p:spPr>
            <a:xfrm>
              <a:off x="3714239"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-7</a:t>
              </a:r>
            </a:p>
            <a:p>
              <a:pPr algn="ctr"/>
              <a:r>
                <a:rPr lang="en-US" altLang="zh-CN" sz="1600" dirty="0">
                  <a:solidFill>
                    <a:srgbClr val="3333FF"/>
                  </a:solidFill>
                  <a:latin typeface="+mn-lt"/>
                  <a:ea typeface="黑体" pitchFamily="49" charset="-122"/>
                </a:rPr>
                <a:t>1111</a:t>
              </a:r>
              <a:endParaRPr lang="zh-CN" altLang="en-US" sz="1600" dirty="0">
                <a:solidFill>
                  <a:srgbClr val="3333FF"/>
                </a:solidFill>
                <a:latin typeface="+mn-lt"/>
                <a:ea typeface="黑体" pitchFamily="49" charset="-122"/>
              </a:endParaRPr>
            </a:p>
          </p:txBody>
        </p:sp>
        <p:sp>
          <p:nvSpPr>
            <p:cNvPr id="29" name="文本框 28">
              <a:extLst>
                <a:ext uri="{FF2B5EF4-FFF2-40B4-BE49-F238E27FC236}">
                  <a16:creationId xmlns:a16="http://schemas.microsoft.com/office/drawing/2014/main" id="{FD30B98E-B2FE-0843-63BB-116539C2A3B3}"/>
                </a:ext>
              </a:extLst>
            </p:cNvPr>
            <p:cNvSpPr txBox="1"/>
            <p:nvPr/>
          </p:nvSpPr>
          <p:spPr>
            <a:xfrm>
              <a:off x="367823" y="5661249"/>
              <a:ext cx="760353" cy="482607"/>
            </a:xfrm>
            <a:prstGeom prst="rect">
              <a:avLst/>
            </a:prstGeom>
            <a:noFill/>
          </p:spPr>
          <p:txBody>
            <a:bodyPr wrap="square" rtlCol="0">
              <a:spAutoFit/>
            </a:bodyPr>
            <a:lstStyle/>
            <a:p>
              <a:pPr algn="ctr"/>
              <a:r>
                <a:rPr kumimoji="1" lang="en-US" altLang="zh-CN" sz="1400" dirty="0">
                  <a:solidFill>
                    <a:srgbClr val="C00000"/>
                  </a:solidFill>
                  <a:latin typeface="SimHei" panose="02010609060101010101" pitchFamily="49" charset="-122"/>
                  <a:ea typeface="SimHei" panose="02010609060101010101" pitchFamily="49" charset="-122"/>
                </a:rPr>
                <a:t>-0(</a:t>
              </a:r>
              <a:r>
                <a:rPr kumimoji="1" lang="en-US" altLang="zh-CN" sz="1400" dirty="0">
                  <a:solidFill>
                    <a:srgbClr val="C00000"/>
                  </a:solidFill>
                  <a:latin typeface="+mj-lt"/>
                  <a:ea typeface="SimHei" panose="02010609060101010101" pitchFamily="49" charset="-122"/>
                </a:rPr>
                <a:t>Decimal</a:t>
              </a:r>
              <a:r>
                <a:rPr kumimoji="1" lang="en-US" altLang="zh-CN" sz="1400" dirty="0">
                  <a:solidFill>
                    <a:srgbClr val="C00000"/>
                  </a:solidFill>
                  <a:latin typeface="SimHei" panose="02010609060101010101" pitchFamily="49" charset="-122"/>
                  <a:ea typeface="SimHei" panose="02010609060101010101" pitchFamily="49" charset="-122"/>
                </a:rPr>
                <a:t>)</a:t>
              </a:r>
            </a:p>
            <a:p>
              <a:pPr algn="ctr"/>
              <a:r>
                <a:rPr lang="en-US" altLang="zh-CN" sz="1400" dirty="0">
                  <a:solidFill>
                    <a:srgbClr val="3333FF"/>
                  </a:solidFill>
                  <a:latin typeface="+mn-lt"/>
                  <a:ea typeface="黑体" pitchFamily="49" charset="-122"/>
                </a:rPr>
                <a:t>1000</a:t>
              </a:r>
              <a:endParaRPr lang="zh-CN" altLang="en-US" sz="1400" dirty="0">
                <a:solidFill>
                  <a:srgbClr val="3333FF"/>
                </a:solidFill>
                <a:latin typeface="+mn-lt"/>
                <a:ea typeface="黑体" pitchFamily="49" charset="-122"/>
              </a:endParaRPr>
            </a:p>
          </p:txBody>
        </p:sp>
      </p:grpSp>
      <p:sp>
        <p:nvSpPr>
          <p:cNvPr id="30" name="文本框 29">
            <a:extLst>
              <a:ext uri="{FF2B5EF4-FFF2-40B4-BE49-F238E27FC236}">
                <a16:creationId xmlns:a16="http://schemas.microsoft.com/office/drawing/2014/main" id="{E9708F93-F411-E9DA-ADA9-37FE164325FE}"/>
              </a:ext>
            </a:extLst>
          </p:cNvPr>
          <p:cNvSpPr txBox="1"/>
          <p:nvPr/>
        </p:nvSpPr>
        <p:spPr>
          <a:xfrm>
            <a:off x="6477245" y="6289575"/>
            <a:ext cx="1047083" cy="307777"/>
          </a:xfrm>
          <a:prstGeom prst="rect">
            <a:avLst/>
          </a:prstGeom>
          <a:noFill/>
        </p:spPr>
        <p:txBody>
          <a:bodyPr wrap="square">
            <a:spAutoFit/>
          </a:bodyPr>
          <a:lstStyle/>
          <a:p>
            <a:pPr algn="ctr"/>
            <a:r>
              <a:rPr lang="en-US" altLang="zh-CN" sz="1400" b="1" dirty="0">
                <a:solidFill>
                  <a:srgbClr val="FF0000"/>
                </a:solidFill>
              </a:rPr>
              <a:t>1</a:t>
            </a:r>
            <a:r>
              <a:rPr lang="en-US" altLang="zh-CN" sz="1400" dirty="0"/>
              <a:t>0101011</a:t>
            </a:r>
            <a:r>
              <a:rPr lang="en-US" altLang="zh-CN" sz="1400" baseline="-25000" dirty="0"/>
              <a:t>2</a:t>
            </a:r>
            <a:endParaRPr lang="zh-CN" altLang="en-US" sz="1400" dirty="0"/>
          </a:p>
        </p:txBody>
      </p:sp>
      <p:sp>
        <p:nvSpPr>
          <p:cNvPr id="31" name="文本框 30">
            <a:extLst>
              <a:ext uri="{FF2B5EF4-FFF2-40B4-BE49-F238E27FC236}">
                <a16:creationId xmlns:a16="http://schemas.microsoft.com/office/drawing/2014/main" id="{2E718825-A23F-0368-8004-9F12F13038FB}"/>
              </a:ext>
            </a:extLst>
          </p:cNvPr>
          <p:cNvSpPr txBox="1"/>
          <p:nvPr/>
        </p:nvSpPr>
        <p:spPr>
          <a:xfrm>
            <a:off x="5018847" y="1306194"/>
            <a:ext cx="3658344" cy="461665"/>
          </a:xfrm>
          <a:prstGeom prst="rect">
            <a:avLst/>
          </a:prstGeom>
          <a:noFill/>
        </p:spPr>
        <p:txBody>
          <a:bodyPr wrap="square" rtlCol="0">
            <a:spAutoFit/>
          </a:bodyPr>
          <a:lstStyle/>
          <a:p>
            <a:pPr algn="ctr"/>
            <a:r>
              <a:rPr lang="en-US" altLang="zh-CN" sz="2400" b="1" dirty="0">
                <a:solidFill>
                  <a:srgbClr val="C00000"/>
                </a:solidFill>
                <a:latin typeface="+mn-lt"/>
                <a:ea typeface="黑体" pitchFamily="49" charset="-122"/>
              </a:rPr>
              <a:t>Problem??</a:t>
            </a:r>
            <a:endParaRPr lang="zh-CN" altLang="en-US" sz="2000" b="1" dirty="0">
              <a:solidFill>
                <a:srgbClr val="C00000"/>
              </a:solidFill>
              <a:latin typeface="+mn-lt"/>
              <a:ea typeface="黑体" pitchFamily="49" charset="-122"/>
            </a:endParaRPr>
          </a:p>
        </p:txBody>
      </p:sp>
      <p:grpSp>
        <p:nvGrpSpPr>
          <p:cNvPr id="39" name="组合 38">
            <a:extLst>
              <a:ext uri="{FF2B5EF4-FFF2-40B4-BE49-F238E27FC236}">
                <a16:creationId xmlns:a16="http://schemas.microsoft.com/office/drawing/2014/main" id="{A04E4BB7-34C1-CE5E-BFE8-8A19214F9B8A}"/>
              </a:ext>
            </a:extLst>
          </p:cNvPr>
          <p:cNvGrpSpPr/>
          <p:nvPr/>
        </p:nvGrpSpPr>
        <p:grpSpPr>
          <a:xfrm>
            <a:off x="5018847" y="1767859"/>
            <a:ext cx="3667953" cy="915944"/>
            <a:chOff x="4983414" y="1278959"/>
            <a:chExt cx="3667953" cy="915944"/>
          </a:xfrm>
        </p:grpSpPr>
        <p:sp>
          <p:nvSpPr>
            <p:cNvPr id="40" name="矩形 39">
              <a:extLst>
                <a:ext uri="{FF2B5EF4-FFF2-40B4-BE49-F238E27FC236}">
                  <a16:creationId xmlns:a16="http://schemas.microsoft.com/office/drawing/2014/main" id="{E78D406B-3219-A023-1E18-3DF32793AF93}"/>
                </a:ext>
              </a:extLst>
            </p:cNvPr>
            <p:cNvSpPr/>
            <p:nvPr/>
          </p:nvSpPr>
          <p:spPr bwMode="auto">
            <a:xfrm>
              <a:off x="4983414" y="1278959"/>
              <a:ext cx="3667953" cy="915944"/>
            </a:xfrm>
            <a:prstGeom prst="rect">
              <a:avLst/>
            </a:prstGeom>
            <a:noFill/>
            <a:ln w="31750" cap="flat" cmpd="sng" algn="ctr">
              <a:solidFill>
                <a:schemeClr val="accent6">
                  <a:alpha val="6012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41" name="文本框 40">
              <a:extLst>
                <a:ext uri="{FF2B5EF4-FFF2-40B4-BE49-F238E27FC236}">
                  <a16:creationId xmlns:a16="http://schemas.microsoft.com/office/drawing/2014/main" id="{F1A9EAB8-B183-9532-4393-5AD2259F5325}"/>
                </a:ext>
              </a:extLst>
            </p:cNvPr>
            <p:cNvSpPr txBox="1"/>
            <p:nvPr/>
          </p:nvSpPr>
          <p:spPr>
            <a:xfrm>
              <a:off x="5386255" y="1322975"/>
              <a:ext cx="2791149" cy="461665"/>
            </a:xfrm>
            <a:prstGeom prst="rect">
              <a:avLst/>
            </a:prstGeom>
            <a:noFill/>
          </p:spPr>
          <p:txBody>
            <a:bodyPr wrap="none" rtlCol="0">
              <a:spAutoFit/>
            </a:bodyPr>
            <a:lstStyle/>
            <a:p>
              <a:r>
                <a:rPr lang="en-US" altLang="zh-CN" sz="2400" b="1" dirty="0">
                  <a:solidFill>
                    <a:srgbClr val="FF0000"/>
                  </a:solidFill>
                </a:rPr>
                <a:t>+</a:t>
              </a:r>
              <a:r>
                <a:rPr lang="en-US" altLang="zh-CN" sz="2400" dirty="0"/>
                <a:t>85</a:t>
              </a:r>
              <a:r>
                <a:rPr lang="en-US" altLang="zh-CN" sz="2400" baseline="-25000" dirty="0"/>
                <a:t>10</a:t>
              </a:r>
              <a:r>
                <a:rPr lang="zh-CN" altLang="en-US" sz="2400" b="1" dirty="0">
                  <a:solidFill>
                    <a:srgbClr val="FF0000"/>
                  </a:solidFill>
                </a:rPr>
                <a:t> </a:t>
              </a:r>
              <a:r>
                <a:rPr lang="en-US" altLang="zh-CN" sz="2400" b="1" dirty="0"/>
                <a:t>+</a:t>
              </a:r>
              <a:r>
                <a:rPr lang="zh-CN" altLang="en-US" sz="2400" b="1" dirty="0">
                  <a:solidFill>
                    <a:srgbClr val="FF0000"/>
                  </a:solidFill>
                </a:rPr>
                <a:t> </a:t>
              </a:r>
              <a:r>
                <a:rPr lang="en-US" altLang="zh-CN" sz="2400" b="1" dirty="0">
                  <a:solidFill>
                    <a:srgbClr val="FF0000"/>
                  </a:solidFill>
                </a:rPr>
                <a:t>-</a:t>
              </a:r>
              <a:r>
                <a:rPr lang="en-US" altLang="zh-CN" sz="2400" dirty="0"/>
                <a:t>85</a:t>
              </a:r>
              <a:r>
                <a:rPr lang="en-US" altLang="zh-CN" sz="2400" baseline="-25000" dirty="0"/>
                <a:t>10</a:t>
              </a:r>
              <a:r>
                <a:rPr lang="en-US" altLang="zh-CN" sz="2400" b="1" dirty="0">
                  <a:solidFill>
                    <a:srgbClr val="FF0000"/>
                  </a:solidFill>
                </a:rPr>
                <a:t> </a:t>
              </a:r>
              <a:r>
                <a:rPr lang="zh-CN" altLang="en-US" sz="2400" b="1" dirty="0">
                  <a:solidFill>
                    <a:srgbClr val="FF0000"/>
                  </a:solidFill>
                </a:rPr>
                <a:t> </a:t>
              </a:r>
              <a:r>
                <a:rPr lang="en-US" altLang="zh-CN" sz="2400" b="1" dirty="0"/>
                <a:t>=</a:t>
              </a:r>
              <a:r>
                <a:rPr lang="zh-CN" altLang="en-US" sz="2400" b="1" dirty="0"/>
                <a:t> </a:t>
              </a:r>
              <a:r>
                <a:rPr lang="en-US" altLang="zh-CN" sz="2400" dirty="0"/>
                <a:t>0</a:t>
              </a:r>
              <a:r>
                <a:rPr lang="en-US" altLang="zh-CN" sz="2400" baseline="-25000" dirty="0"/>
                <a:t>10</a:t>
              </a:r>
              <a:endParaRPr kumimoji="1" lang="zh-CN" altLang="en-US" sz="2400" dirty="0"/>
            </a:p>
          </p:txBody>
        </p:sp>
        <p:sp>
          <p:nvSpPr>
            <p:cNvPr id="42" name="文本框 41">
              <a:extLst>
                <a:ext uri="{FF2B5EF4-FFF2-40B4-BE49-F238E27FC236}">
                  <a16:creationId xmlns:a16="http://schemas.microsoft.com/office/drawing/2014/main" id="{F8F3186E-F263-2E0D-2996-F6065B368C2D}"/>
                </a:ext>
              </a:extLst>
            </p:cNvPr>
            <p:cNvSpPr txBox="1"/>
            <p:nvPr/>
          </p:nvSpPr>
          <p:spPr>
            <a:xfrm>
              <a:off x="5170539" y="1768644"/>
              <a:ext cx="1047082" cy="307777"/>
            </a:xfrm>
            <a:prstGeom prst="rect">
              <a:avLst/>
            </a:prstGeom>
            <a:noFill/>
          </p:spPr>
          <p:txBody>
            <a:bodyPr wrap="none" rtlCol="0">
              <a:spAutoFit/>
            </a:bodyPr>
            <a:lstStyle/>
            <a:p>
              <a:r>
                <a:rPr lang="en-US" altLang="zh-CN" sz="1400" b="1" dirty="0">
                  <a:solidFill>
                    <a:srgbClr val="FF0000"/>
                  </a:solidFill>
                </a:rPr>
                <a:t>0</a:t>
              </a:r>
              <a:r>
                <a:rPr lang="en-US" altLang="zh-CN" sz="1400" dirty="0"/>
                <a:t>1010101</a:t>
              </a:r>
              <a:r>
                <a:rPr lang="en-US" altLang="zh-CN" sz="1400" baseline="-25000" dirty="0"/>
                <a:t>2</a:t>
              </a:r>
              <a:endParaRPr kumimoji="1" lang="zh-CN" altLang="en-US" sz="1400" dirty="0"/>
            </a:p>
          </p:txBody>
        </p:sp>
        <p:sp>
          <p:nvSpPr>
            <p:cNvPr id="43" name="文本框 42">
              <a:extLst>
                <a:ext uri="{FF2B5EF4-FFF2-40B4-BE49-F238E27FC236}">
                  <a16:creationId xmlns:a16="http://schemas.microsoft.com/office/drawing/2014/main" id="{F67FBFBB-5FD0-FA5A-D871-E1FD29935599}"/>
                </a:ext>
              </a:extLst>
            </p:cNvPr>
            <p:cNvSpPr txBox="1"/>
            <p:nvPr/>
          </p:nvSpPr>
          <p:spPr>
            <a:xfrm>
              <a:off x="6343354" y="1776642"/>
              <a:ext cx="1047083" cy="307777"/>
            </a:xfrm>
            <a:prstGeom prst="rect">
              <a:avLst/>
            </a:prstGeom>
            <a:noFill/>
          </p:spPr>
          <p:txBody>
            <a:bodyPr wrap="square">
              <a:spAutoFit/>
            </a:bodyPr>
            <a:lstStyle/>
            <a:p>
              <a:pPr algn="ctr"/>
              <a:r>
                <a:rPr lang="en-US" altLang="zh-CN" sz="1400" b="1" dirty="0">
                  <a:solidFill>
                    <a:srgbClr val="FF0000"/>
                  </a:solidFill>
                </a:rPr>
                <a:t>1</a:t>
              </a:r>
              <a:r>
                <a:rPr lang="en-US" altLang="zh-CN" sz="1400" dirty="0"/>
                <a:t>1010101</a:t>
              </a:r>
              <a:r>
                <a:rPr lang="en-US" altLang="zh-CN" sz="1400" baseline="-25000" dirty="0"/>
                <a:t>2</a:t>
              </a:r>
              <a:endParaRPr lang="zh-CN" altLang="en-US" sz="1400" dirty="0"/>
            </a:p>
          </p:txBody>
        </p:sp>
        <p:sp>
          <p:nvSpPr>
            <p:cNvPr id="44" name="文本框 43">
              <a:extLst>
                <a:ext uri="{FF2B5EF4-FFF2-40B4-BE49-F238E27FC236}">
                  <a16:creationId xmlns:a16="http://schemas.microsoft.com/office/drawing/2014/main" id="{58C12F75-B96C-2BF2-F187-818D4C7AB328}"/>
                </a:ext>
              </a:extLst>
            </p:cNvPr>
            <p:cNvSpPr txBox="1"/>
            <p:nvPr/>
          </p:nvSpPr>
          <p:spPr>
            <a:xfrm>
              <a:off x="7516170" y="1770491"/>
              <a:ext cx="1047082" cy="307777"/>
            </a:xfrm>
            <a:prstGeom prst="rect">
              <a:avLst/>
            </a:prstGeom>
            <a:noFill/>
          </p:spPr>
          <p:txBody>
            <a:bodyPr wrap="none" rtlCol="0">
              <a:spAutoFit/>
            </a:bodyPr>
            <a:lstStyle/>
            <a:p>
              <a:r>
                <a:rPr lang="en-US" altLang="zh-CN" sz="1400" b="1" dirty="0">
                  <a:solidFill>
                    <a:srgbClr val="FF0000"/>
                  </a:solidFill>
                </a:rPr>
                <a:t>0</a:t>
              </a:r>
              <a:r>
                <a:rPr lang="en-US" altLang="zh-CN" sz="1400" dirty="0"/>
                <a:t>0000000</a:t>
              </a:r>
              <a:r>
                <a:rPr lang="en-US" altLang="zh-CN" sz="1400" baseline="-25000" dirty="0"/>
                <a:t>2</a:t>
              </a:r>
              <a:endParaRPr kumimoji="1" lang="zh-CN" altLang="en-US" sz="1400" dirty="0"/>
            </a:p>
          </p:txBody>
        </p:sp>
        <p:sp>
          <p:nvSpPr>
            <p:cNvPr id="45" name="文本框 44">
              <a:extLst>
                <a:ext uri="{FF2B5EF4-FFF2-40B4-BE49-F238E27FC236}">
                  <a16:creationId xmlns:a16="http://schemas.microsoft.com/office/drawing/2014/main" id="{A1CB3B71-351D-D3BB-7C63-65211222754A}"/>
                </a:ext>
              </a:extLst>
            </p:cNvPr>
            <p:cNvSpPr txBox="1"/>
            <p:nvPr/>
          </p:nvSpPr>
          <p:spPr>
            <a:xfrm>
              <a:off x="6109596" y="1763414"/>
              <a:ext cx="341784" cy="369332"/>
            </a:xfrm>
            <a:prstGeom prst="rect">
              <a:avLst/>
            </a:prstGeom>
            <a:noFill/>
          </p:spPr>
          <p:txBody>
            <a:bodyPr wrap="square">
              <a:spAutoFit/>
            </a:bodyPr>
            <a:lstStyle/>
            <a:p>
              <a:r>
                <a:rPr lang="en-US" altLang="zh-CN" sz="1800" b="1" dirty="0"/>
                <a:t>+</a:t>
              </a:r>
              <a:endParaRPr lang="zh-CN" altLang="en-US" dirty="0"/>
            </a:p>
          </p:txBody>
        </p:sp>
        <p:sp>
          <p:nvSpPr>
            <p:cNvPr id="46" name="文本框 45">
              <a:extLst>
                <a:ext uri="{FF2B5EF4-FFF2-40B4-BE49-F238E27FC236}">
                  <a16:creationId xmlns:a16="http://schemas.microsoft.com/office/drawing/2014/main" id="{3C36637B-6FA5-1AA8-6C9D-E707FC221B96}"/>
                </a:ext>
              </a:extLst>
            </p:cNvPr>
            <p:cNvSpPr txBox="1"/>
            <p:nvPr/>
          </p:nvSpPr>
          <p:spPr>
            <a:xfrm>
              <a:off x="7307722" y="1749864"/>
              <a:ext cx="341784" cy="369332"/>
            </a:xfrm>
            <a:prstGeom prst="rect">
              <a:avLst/>
            </a:prstGeom>
            <a:noFill/>
          </p:spPr>
          <p:txBody>
            <a:bodyPr wrap="square">
              <a:spAutoFit/>
            </a:bodyPr>
            <a:lstStyle/>
            <a:p>
              <a:r>
                <a:rPr lang="en-US" altLang="zh-CN" sz="1800" b="1" dirty="0"/>
                <a:t>≠</a:t>
              </a:r>
              <a:endParaRPr lang="zh-CN" altLang="en-US" dirty="0"/>
            </a:p>
          </p:txBody>
        </p:sp>
      </p:grpSp>
    </p:spTree>
    <p:extLst>
      <p:ext uri="{BB962C8B-B14F-4D97-AF65-F5344CB8AC3E}">
        <p14:creationId xmlns:p14="http://schemas.microsoft.com/office/powerpoint/2010/main" val="336714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00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0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00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200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503DEB-1F5D-A2B2-903A-D376BD50CC0F}"/>
              </a:ext>
            </a:extLst>
          </p:cNvPr>
          <p:cNvSpPr>
            <a:spLocks noGrp="1"/>
          </p:cNvSpPr>
          <p:nvPr>
            <p:ph type="title"/>
          </p:nvPr>
        </p:nvSpPr>
        <p:spPr/>
        <p:txBody>
          <a:bodyPr/>
          <a:lstStyle/>
          <a:p>
            <a:r>
              <a:rPr kumimoji="1" lang="zh-CN" altLang="en-US" dirty="0"/>
              <a:t>比较</a:t>
            </a:r>
          </a:p>
        </p:txBody>
      </p:sp>
      <p:sp>
        <p:nvSpPr>
          <p:cNvPr id="4" name="灯片编号占位符 3">
            <a:extLst>
              <a:ext uri="{FF2B5EF4-FFF2-40B4-BE49-F238E27FC236}">
                <a16:creationId xmlns:a16="http://schemas.microsoft.com/office/drawing/2014/main" id="{6AF9BC6F-9254-EDC6-CCE6-2C06521C1C31}"/>
              </a:ext>
            </a:extLst>
          </p:cNvPr>
          <p:cNvSpPr>
            <a:spLocks noGrp="1"/>
          </p:cNvSpPr>
          <p:nvPr>
            <p:ph type="sldNum" sz="quarter" idx="12"/>
          </p:nvPr>
        </p:nvSpPr>
        <p:spPr/>
        <p:txBody>
          <a:bodyPr/>
          <a:lstStyle/>
          <a:p>
            <a:fld id="{14659731-6BD7-46E7-8D3C-2F3AC07E20B1}" type="slidenum">
              <a:rPr lang="en-US" altLang="zh-CN" smtClean="0"/>
              <a:pPr/>
              <a:t>21</a:t>
            </a:fld>
            <a:endParaRPr lang="en-US" altLang="zh-CN"/>
          </a:p>
        </p:txBody>
      </p:sp>
      <p:grpSp>
        <p:nvGrpSpPr>
          <p:cNvPr id="5" name="组合 4">
            <a:extLst>
              <a:ext uri="{FF2B5EF4-FFF2-40B4-BE49-F238E27FC236}">
                <a16:creationId xmlns:a16="http://schemas.microsoft.com/office/drawing/2014/main" id="{C2C52C51-6075-95D5-1D7E-2C32F38B68E0}"/>
              </a:ext>
            </a:extLst>
          </p:cNvPr>
          <p:cNvGrpSpPr/>
          <p:nvPr/>
        </p:nvGrpSpPr>
        <p:grpSpPr>
          <a:xfrm>
            <a:off x="1529829" y="1304764"/>
            <a:ext cx="5879568" cy="1679917"/>
            <a:chOff x="58450" y="4604114"/>
            <a:chExt cx="4085580" cy="1549519"/>
          </a:xfrm>
        </p:grpSpPr>
        <p:cxnSp>
          <p:nvCxnSpPr>
            <p:cNvPr id="6" name="直线箭头连接符 13">
              <a:extLst>
                <a:ext uri="{FF2B5EF4-FFF2-40B4-BE49-F238E27FC236}">
                  <a16:creationId xmlns:a16="http://schemas.microsoft.com/office/drawing/2014/main" id="{DD470FB5-8C57-EFC7-E0BB-FAF0C12BAB75}"/>
                </a:ext>
              </a:extLst>
            </p:cNvPr>
            <p:cNvCxnSpPr>
              <a:cxnSpLocks/>
            </p:cNvCxnSpPr>
            <p:nvPr/>
          </p:nvCxnSpPr>
          <p:spPr bwMode="auto">
            <a:xfrm>
              <a:off x="427662" y="5612021"/>
              <a:ext cx="3716368" cy="0"/>
            </a:xfrm>
            <a:prstGeom prst="straightConnector1">
              <a:avLst/>
            </a:prstGeom>
            <a:solidFill>
              <a:schemeClr val="accent1"/>
            </a:solidFill>
            <a:ln w="28575" cap="flat" cmpd="sng" algn="ctr">
              <a:solidFill>
                <a:srgbClr val="858585"/>
              </a:solidFill>
              <a:prstDash val="solid"/>
              <a:round/>
              <a:headEnd type="none" w="med" len="med"/>
              <a:tailEnd type="triangle"/>
            </a:ln>
            <a:effectLst/>
          </p:spPr>
        </p:cxnSp>
        <p:sp>
          <p:nvSpPr>
            <p:cNvPr id="7" name="文本框 6">
              <a:extLst>
                <a:ext uri="{FF2B5EF4-FFF2-40B4-BE49-F238E27FC236}">
                  <a16:creationId xmlns:a16="http://schemas.microsoft.com/office/drawing/2014/main" id="{D0EE1A09-A54E-D018-9933-7B9F41D23277}"/>
                </a:ext>
              </a:extLst>
            </p:cNvPr>
            <p:cNvSpPr txBox="1"/>
            <p:nvPr/>
          </p:nvSpPr>
          <p:spPr>
            <a:xfrm>
              <a:off x="58450" y="4604114"/>
              <a:ext cx="3336325" cy="482607"/>
            </a:xfrm>
            <a:prstGeom prst="rect">
              <a:avLst/>
            </a:prstGeom>
            <a:noFill/>
          </p:spPr>
          <p:txBody>
            <a:bodyPr wrap="none" rtlCol="0">
              <a:spAutoFit/>
            </a:bodyPr>
            <a:lstStyle/>
            <a:p>
              <a:pPr algn="ctr"/>
              <a:r>
                <a:rPr kumimoji="1" lang="en-US" altLang="zh-CN" sz="2800" dirty="0">
                  <a:solidFill>
                    <a:srgbClr val="3333FF"/>
                  </a:solidFill>
                  <a:latin typeface="+mj-lt"/>
                  <a:ea typeface="SimHei" panose="02010609060101010101" pitchFamily="49" charset="-122"/>
                </a:rPr>
                <a:t>Signed binary code</a:t>
              </a:r>
              <a:r>
                <a:rPr kumimoji="1" lang="zh-CN" altLang="en-US" sz="2800" dirty="0">
                  <a:solidFill>
                    <a:srgbClr val="3333FF"/>
                  </a:solidFill>
                  <a:latin typeface="+mj-lt"/>
                  <a:ea typeface="SimHei" panose="02010609060101010101" pitchFamily="49" charset="-122"/>
                </a:rPr>
                <a:t> （原码）</a:t>
              </a:r>
            </a:p>
          </p:txBody>
        </p:sp>
        <p:sp>
          <p:nvSpPr>
            <p:cNvPr id="8" name="文本框 7">
              <a:extLst>
                <a:ext uri="{FF2B5EF4-FFF2-40B4-BE49-F238E27FC236}">
                  <a16:creationId xmlns:a16="http://schemas.microsoft.com/office/drawing/2014/main" id="{823AF04A-92E7-B741-9481-C04A0AE298E3}"/>
                </a:ext>
              </a:extLst>
            </p:cNvPr>
            <p:cNvSpPr txBox="1"/>
            <p:nvPr/>
          </p:nvSpPr>
          <p:spPr>
            <a:xfrm>
              <a:off x="367823" y="5137361"/>
              <a:ext cx="760353" cy="482607"/>
            </a:xfrm>
            <a:prstGeom prst="rect">
              <a:avLst/>
            </a:prstGeom>
            <a:noFill/>
          </p:spPr>
          <p:txBody>
            <a:bodyPr wrap="square" rtlCol="0">
              <a:spAutoFit/>
            </a:bodyPr>
            <a:lstStyle/>
            <a:p>
              <a:pPr algn="ctr"/>
              <a:r>
                <a:rPr kumimoji="1" lang="en-US" altLang="zh-CN" sz="1400" dirty="0">
                  <a:solidFill>
                    <a:srgbClr val="C00000"/>
                  </a:solidFill>
                  <a:latin typeface="SimHei" panose="02010609060101010101" pitchFamily="49" charset="-122"/>
                  <a:ea typeface="SimHei" panose="02010609060101010101" pitchFamily="49" charset="-122"/>
                </a:rPr>
                <a:t>+0(</a:t>
              </a:r>
              <a:r>
                <a:rPr kumimoji="1" lang="en-US" altLang="zh-CN" sz="1400" dirty="0">
                  <a:solidFill>
                    <a:srgbClr val="C00000"/>
                  </a:solidFill>
                  <a:latin typeface="+mj-lt"/>
                  <a:ea typeface="SimHei" panose="02010609060101010101" pitchFamily="49" charset="-122"/>
                </a:rPr>
                <a:t>Decimal</a:t>
              </a:r>
              <a:r>
                <a:rPr kumimoji="1" lang="en-US" altLang="zh-CN" sz="1400" dirty="0">
                  <a:solidFill>
                    <a:srgbClr val="C00000"/>
                  </a:solidFill>
                  <a:latin typeface="SimHei" panose="02010609060101010101" pitchFamily="49" charset="-122"/>
                  <a:ea typeface="SimHei" panose="02010609060101010101" pitchFamily="49" charset="-122"/>
                </a:rPr>
                <a:t>)</a:t>
              </a:r>
            </a:p>
            <a:p>
              <a:pPr algn="ctr"/>
              <a:r>
                <a:rPr lang="en-US" altLang="zh-CN" sz="1400" dirty="0">
                  <a:solidFill>
                    <a:srgbClr val="3333FF"/>
                  </a:solidFill>
                  <a:latin typeface="+mn-lt"/>
                  <a:ea typeface="黑体" pitchFamily="49" charset="-122"/>
                </a:rPr>
                <a:t>0000</a:t>
              </a:r>
              <a:endParaRPr lang="zh-CN" altLang="en-US" sz="1400" dirty="0">
                <a:solidFill>
                  <a:srgbClr val="3333FF"/>
                </a:solidFill>
                <a:latin typeface="+mn-lt"/>
                <a:ea typeface="黑体" pitchFamily="49" charset="-122"/>
              </a:endParaRPr>
            </a:p>
          </p:txBody>
        </p:sp>
        <p:sp>
          <p:nvSpPr>
            <p:cNvPr id="9" name="文本框 8">
              <a:extLst>
                <a:ext uri="{FF2B5EF4-FFF2-40B4-BE49-F238E27FC236}">
                  <a16:creationId xmlns:a16="http://schemas.microsoft.com/office/drawing/2014/main" id="{FF8CA272-3589-70FC-8EDA-374659947EEF}"/>
                </a:ext>
              </a:extLst>
            </p:cNvPr>
            <p:cNvSpPr txBox="1"/>
            <p:nvPr/>
          </p:nvSpPr>
          <p:spPr>
            <a:xfrm>
              <a:off x="114362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+1</a:t>
              </a:r>
            </a:p>
            <a:p>
              <a:pPr algn="ctr"/>
              <a:r>
                <a:rPr lang="en-US" altLang="zh-CN" sz="1600" dirty="0">
                  <a:solidFill>
                    <a:srgbClr val="3333FF"/>
                  </a:solidFill>
                  <a:latin typeface="+mn-lt"/>
                  <a:ea typeface="黑体" pitchFamily="49" charset="-122"/>
                </a:rPr>
                <a:t>0001</a:t>
              </a:r>
              <a:endParaRPr lang="zh-CN" altLang="en-US" sz="1600" dirty="0">
                <a:solidFill>
                  <a:srgbClr val="3333FF"/>
                </a:solidFill>
                <a:latin typeface="+mn-lt"/>
                <a:ea typeface="黑体" pitchFamily="49" charset="-122"/>
              </a:endParaRPr>
            </a:p>
          </p:txBody>
        </p:sp>
        <p:sp>
          <p:nvSpPr>
            <p:cNvPr id="10" name="文本框 9">
              <a:extLst>
                <a:ext uri="{FF2B5EF4-FFF2-40B4-BE49-F238E27FC236}">
                  <a16:creationId xmlns:a16="http://schemas.microsoft.com/office/drawing/2014/main" id="{B8F62BE6-C03A-98F8-DDD3-CA63726488C8}"/>
                </a:ext>
              </a:extLst>
            </p:cNvPr>
            <p:cNvSpPr txBox="1"/>
            <p:nvPr/>
          </p:nvSpPr>
          <p:spPr>
            <a:xfrm>
              <a:off x="157241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+2</a:t>
              </a:r>
            </a:p>
            <a:p>
              <a:pPr algn="ctr"/>
              <a:r>
                <a:rPr lang="en-US" altLang="zh-CN" sz="1600" dirty="0">
                  <a:solidFill>
                    <a:srgbClr val="3333FF"/>
                  </a:solidFill>
                  <a:latin typeface="+mn-lt"/>
                  <a:ea typeface="黑体" pitchFamily="49" charset="-122"/>
                </a:rPr>
                <a:t>0010</a:t>
              </a:r>
              <a:endParaRPr lang="zh-CN" altLang="en-US" sz="1600" dirty="0">
                <a:solidFill>
                  <a:srgbClr val="3333FF"/>
                </a:solidFill>
                <a:latin typeface="+mn-lt"/>
                <a:ea typeface="黑体" pitchFamily="49" charset="-122"/>
              </a:endParaRPr>
            </a:p>
          </p:txBody>
        </p:sp>
        <p:sp>
          <p:nvSpPr>
            <p:cNvPr id="11" name="文本框 10">
              <a:extLst>
                <a:ext uri="{FF2B5EF4-FFF2-40B4-BE49-F238E27FC236}">
                  <a16:creationId xmlns:a16="http://schemas.microsoft.com/office/drawing/2014/main" id="{11155498-CCF0-00F9-8C80-B357F188D8C3}"/>
                </a:ext>
              </a:extLst>
            </p:cNvPr>
            <p:cNvSpPr txBox="1"/>
            <p:nvPr/>
          </p:nvSpPr>
          <p:spPr>
            <a:xfrm>
              <a:off x="200119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+3</a:t>
              </a:r>
            </a:p>
            <a:p>
              <a:pPr algn="ctr"/>
              <a:r>
                <a:rPr lang="en-US" altLang="zh-CN" sz="1600" dirty="0">
                  <a:solidFill>
                    <a:srgbClr val="3333FF"/>
                  </a:solidFill>
                  <a:latin typeface="+mn-lt"/>
                  <a:ea typeface="黑体" pitchFamily="49" charset="-122"/>
                </a:rPr>
                <a:t>0011</a:t>
              </a:r>
              <a:endParaRPr lang="zh-CN" altLang="en-US" sz="1600" dirty="0">
                <a:solidFill>
                  <a:srgbClr val="3333FF"/>
                </a:solidFill>
                <a:latin typeface="+mn-lt"/>
                <a:ea typeface="黑体" pitchFamily="49" charset="-122"/>
              </a:endParaRPr>
            </a:p>
          </p:txBody>
        </p:sp>
        <p:sp>
          <p:nvSpPr>
            <p:cNvPr id="12" name="文本框 11">
              <a:extLst>
                <a:ext uri="{FF2B5EF4-FFF2-40B4-BE49-F238E27FC236}">
                  <a16:creationId xmlns:a16="http://schemas.microsoft.com/office/drawing/2014/main" id="{A2C1AAA7-F604-9DE4-8461-138B13E37D0D}"/>
                </a:ext>
              </a:extLst>
            </p:cNvPr>
            <p:cNvSpPr txBox="1"/>
            <p:nvPr/>
          </p:nvSpPr>
          <p:spPr>
            <a:xfrm>
              <a:off x="242998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+4</a:t>
              </a:r>
            </a:p>
            <a:p>
              <a:pPr algn="ctr"/>
              <a:r>
                <a:rPr lang="en-US" altLang="zh-CN" sz="1600" dirty="0">
                  <a:solidFill>
                    <a:srgbClr val="3333FF"/>
                  </a:solidFill>
                  <a:latin typeface="+mn-lt"/>
                  <a:ea typeface="黑体" pitchFamily="49" charset="-122"/>
                </a:rPr>
                <a:t>0100</a:t>
              </a:r>
              <a:endParaRPr lang="zh-CN" altLang="en-US" sz="1600" dirty="0">
                <a:solidFill>
                  <a:srgbClr val="3333FF"/>
                </a:solidFill>
                <a:latin typeface="+mn-lt"/>
                <a:ea typeface="黑体" pitchFamily="49" charset="-122"/>
              </a:endParaRPr>
            </a:p>
          </p:txBody>
        </p:sp>
        <p:sp>
          <p:nvSpPr>
            <p:cNvPr id="13" name="文本框 12">
              <a:extLst>
                <a:ext uri="{FF2B5EF4-FFF2-40B4-BE49-F238E27FC236}">
                  <a16:creationId xmlns:a16="http://schemas.microsoft.com/office/drawing/2014/main" id="{09D245D6-7C97-8368-F7D1-D7200216C594}"/>
                </a:ext>
              </a:extLst>
            </p:cNvPr>
            <p:cNvSpPr txBox="1"/>
            <p:nvPr/>
          </p:nvSpPr>
          <p:spPr>
            <a:xfrm>
              <a:off x="285876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+5</a:t>
              </a:r>
            </a:p>
            <a:p>
              <a:pPr algn="ctr"/>
              <a:r>
                <a:rPr lang="en-US" altLang="zh-CN" sz="1600" dirty="0">
                  <a:solidFill>
                    <a:srgbClr val="3333FF"/>
                  </a:solidFill>
                  <a:latin typeface="+mn-lt"/>
                  <a:ea typeface="黑体" pitchFamily="49" charset="-122"/>
                </a:rPr>
                <a:t>0101</a:t>
              </a:r>
              <a:endParaRPr lang="zh-CN" altLang="en-US" sz="1600" dirty="0">
                <a:solidFill>
                  <a:srgbClr val="3333FF"/>
                </a:solidFill>
                <a:latin typeface="+mn-lt"/>
                <a:ea typeface="黑体" pitchFamily="49" charset="-122"/>
              </a:endParaRPr>
            </a:p>
          </p:txBody>
        </p:sp>
        <p:sp>
          <p:nvSpPr>
            <p:cNvPr id="14" name="文本框 13">
              <a:extLst>
                <a:ext uri="{FF2B5EF4-FFF2-40B4-BE49-F238E27FC236}">
                  <a16:creationId xmlns:a16="http://schemas.microsoft.com/office/drawing/2014/main" id="{5B5CCF8D-F1E8-0511-9A83-FDC37E984464}"/>
                </a:ext>
              </a:extLst>
            </p:cNvPr>
            <p:cNvSpPr txBox="1"/>
            <p:nvPr/>
          </p:nvSpPr>
          <p:spPr>
            <a:xfrm>
              <a:off x="328755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+6</a:t>
              </a:r>
            </a:p>
            <a:p>
              <a:pPr algn="ctr"/>
              <a:r>
                <a:rPr lang="en-US" altLang="zh-CN" sz="1600" dirty="0">
                  <a:solidFill>
                    <a:srgbClr val="3333FF"/>
                  </a:solidFill>
                  <a:latin typeface="+mn-lt"/>
                  <a:ea typeface="黑体" pitchFamily="49" charset="-122"/>
                </a:rPr>
                <a:t>0110</a:t>
              </a:r>
              <a:endParaRPr lang="zh-CN" altLang="en-US" sz="1600" dirty="0">
                <a:solidFill>
                  <a:srgbClr val="3333FF"/>
                </a:solidFill>
                <a:latin typeface="+mn-lt"/>
                <a:ea typeface="黑体" pitchFamily="49" charset="-122"/>
              </a:endParaRPr>
            </a:p>
          </p:txBody>
        </p:sp>
        <p:sp>
          <p:nvSpPr>
            <p:cNvPr id="15" name="文本框 14">
              <a:extLst>
                <a:ext uri="{FF2B5EF4-FFF2-40B4-BE49-F238E27FC236}">
                  <a16:creationId xmlns:a16="http://schemas.microsoft.com/office/drawing/2014/main" id="{787FB8BD-1BF0-A116-5ECE-ADDD95AE096D}"/>
                </a:ext>
              </a:extLst>
            </p:cNvPr>
            <p:cNvSpPr txBox="1"/>
            <p:nvPr/>
          </p:nvSpPr>
          <p:spPr>
            <a:xfrm>
              <a:off x="371633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+7</a:t>
              </a:r>
            </a:p>
            <a:p>
              <a:pPr algn="ctr"/>
              <a:r>
                <a:rPr lang="en-US" altLang="zh-CN" sz="1600" dirty="0">
                  <a:solidFill>
                    <a:srgbClr val="3333FF"/>
                  </a:solidFill>
                  <a:latin typeface="+mn-lt"/>
                  <a:ea typeface="黑体" pitchFamily="49" charset="-122"/>
                </a:rPr>
                <a:t>0111</a:t>
              </a:r>
              <a:endParaRPr lang="zh-CN" altLang="en-US" sz="1600" dirty="0">
                <a:solidFill>
                  <a:srgbClr val="3333FF"/>
                </a:solidFill>
                <a:latin typeface="+mn-lt"/>
                <a:ea typeface="黑体" pitchFamily="49" charset="-122"/>
              </a:endParaRPr>
            </a:p>
          </p:txBody>
        </p:sp>
        <p:sp>
          <p:nvSpPr>
            <p:cNvPr id="16" name="文本框 15">
              <a:extLst>
                <a:ext uri="{FF2B5EF4-FFF2-40B4-BE49-F238E27FC236}">
                  <a16:creationId xmlns:a16="http://schemas.microsoft.com/office/drawing/2014/main" id="{48BBDAAA-4A61-678C-0692-044DD96D7CA0}"/>
                </a:ext>
              </a:extLst>
            </p:cNvPr>
            <p:cNvSpPr txBox="1"/>
            <p:nvPr/>
          </p:nvSpPr>
          <p:spPr>
            <a:xfrm>
              <a:off x="1141530"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-1</a:t>
              </a:r>
            </a:p>
            <a:p>
              <a:pPr algn="ctr"/>
              <a:r>
                <a:rPr lang="en-US" altLang="zh-CN" sz="1600" dirty="0">
                  <a:solidFill>
                    <a:srgbClr val="3333FF"/>
                  </a:solidFill>
                  <a:latin typeface="+mn-lt"/>
                  <a:ea typeface="黑体" pitchFamily="49" charset="-122"/>
                </a:rPr>
                <a:t>1001</a:t>
              </a:r>
              <a:endParaRPr lang="zh-CN" altLang="en-US" sz="1600" dirty="0">
                <a:solidFill>
                  <a:srgbClr val="3333FF"/>
                </a:solidFill>
                <a:latin typeface="+mn-lt"/>
                <a:ea typeface="黑体" pitchFamily="49" charset="-122"/>
              </a:endParaRPr>
            </a:p>
          </p:txBody>
        </p:sp>
        <p:sp>
          <p:nvSpPr>
            <p:cNvPr id="17" name="文本框 16">
              <a:extLst>
                <a:ext uri="{FF2B5EF4-FFF2-40B4-BE49-F238E27FC236}">
                  <a16:creationId xmlns:a16="http://schemas.microsoft.com/office/drawing/2014/main" id="{9A658D5C-9A45-F5F2-91AF-838478292747}"/>
                </a:ext>
              </a:extLst>
            </p:cNvPr>
            <p:cNvSpPr txBox="1"/>
            <p:nvPr/>
          </p:nvSpPr>
          <p:spPr>
            <a:xfrm>
              <a:off x="1570316"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-2</a:t>
              </a:r>
            </a:p>
            <a:p>
              <a:pPr algn="ctr"/>
              <a:r>
                <a:rPr lang="en-US" altLang="zh-CN" sz="1600" dirty="0">
                  <a:solidFill>
                    <a:srgbClr val="3333FF"/>
                  </a:solidFill>
                  <a:latin typeface="+mn-lt"/>
                  <a:ea typeface="黑体" pitchFamily="49" charset="-122"/>
                </a:rPr>
                <a:t>1010</a:t>
              </a:r>
              <a:endParaRPr lang="zh-CN" altLang="en-US" sz="1600" dirty="0">
                <a:solidFill>
                  <a:srgbClr val="3333FF"/>
                </a:solidFill>
                <a:latin typeface="+mn-lt"/>
                <a:ea typeface="黑体" pitchFamily="49" charset="-122"/>
              </a:endParaRPr>
            </a:p>
          </p:txBody>
        </p:sp>
        <p:sp>
          <p:nvSpPr>
            <p:cNvPr id="18" name="文本框 17">
              <a:extLst>
                <a:ext uri="{FF2B5EF4-FFF2-40B4-BE49-F238E27FC236}">
                  <a16:creationId xmlns:a16="http://schemas.microsoft.com/office/drawing/2014/main" id="{5D2B5E45-222D-431A-FD96-9F5BC268FD78}"/>
                </a:ext>
              </a:extLst>
            </p:cNvPr>
            <p:cNvSpPr txBox="1"/>
            <p:nvPr/>
          </p:nvSpPr>
          <p:spPr>
            <a:xfrm>
              <a:off x="1999100"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-3</a:t>
              </a:r>
            </a:p>
            <a:p>
              <a:pPr algn="ctr"/>
              <a:r>
                <a:rPr lang="en-US" altLang="zh-CN" sz="1600" dirty="0">
                  <a:solidFill>
                    <a:srgbClr val="3333FF"/>
                  </a:solidFill>
                  <a:latin typeface="+mn-lt"/>
                  <a:ea typeface="黑体" pitchFamily="49" charset="-122"/>
                </a:rPr>
                <a:t>1011</a:t>
              </a:r>
              <a:endParaRPr lang="zh-CN" altLang="en-US" sz="1600" dirty="0">
                <a:solidFill>
                  <a:srgbClr val="3333FF"/>
                </a:solidFill>
                <a:latin typeface="+mn-lt"/>
                <a:ea typeface="黑体" pitchFamily="49" charset="-122"/>
              </a:endParaRPr>
            </a:p>
          </p:txBody>
        </p:sp>
        <p:sp>
          <p:nvSpPr>
            <p:cNvPr id="19" name="文本框 18">
              <a:extLst>
                <a:ext uri="{FF2B5EF4-FFF2-40B4-BE49-F238E27FC236}">
                  <a16:creationId xmlns:a16="http://schemas.microsoft.com/office/drawing/2014/main" id="{3F5A3F7B-3F0F-7CA4-DC8E-1F207D49DD68}"/>
                </a:ext>
              </a:extLst>
            </p:cNvPr>
            <p:cNvSpPr txBox="1"/>
            <p:nvPr/>
          </p:nvSpPr>
          <p:spPr>
            <a:xfrm>
              <a:off x="2427885"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-4</a:t>
              </a:r>
            </a:p>
            <a:p>
              <a:pPr algn="ctr"/>
              <a:r>
                <a:rPr lang="en-US" altLang="zh-CN" sz="1600" dirty="0">
                  <a:solidFill>
                    <a:srgbClr val="3333FF"/>
                  </a:solidFill>
                  <a:latin typeface="+mn-lt"/>
                  <a:ea typeface="黑体" pitchFamily="49" charset="-122"/>
                </a:rPr>
                <a:t>1100</a:t>
              </a:r>
              <a:endParaRPr lang="zh-CN" altLang="en-US" sz="1600" dirty="0">
                <a:solidFill>
                  <a:srgbClr val="3333FF"/>
                </a:solidFill>
                <a:latin typeface="+mn-lt"/>
                <a:ea typeface="黑体" pitchFamily="49" charset="-122"/>
              </a:endParaRPr>
            </a:p>
          </p:txBody>
        </p:sp>
        <p:sp>
          <p:nvSpPr>
            <p:cNvPr id="20" name="文本框 19">
              <a:extLst>
                <a:ext uri="{FF2B5EF4-FFF2-40B4-BE49-F238E27FC236}">
                  <a16:creationId xmlns:a16="http://schemas.microsoft.com/office/drawing/2014/main" id="{E14824B6-5EAE-AF3E-6757-8CC372CC4A9A}"/>
                </a:ext>
              </a:extLst>
            </p:cNvPr>
            <p:cNvSpPr txBox="1"/>
            <p:nvPr/>
          </p:nvSpPr>
          <p:spPr>
            <a:xfrm>
              <a:off x="2856670"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-5</a:t>
              </a:r>
            </a:p>
            <a:p>
              <a:pPr algn="ctr"/>
              <a:r>
                <a:rPr lang="en-US" altLang="zh-CN" sz="1600" dirty="0">
                  <a:solidFill>
                    <a:srgbClr val="3333FF"/>
                  </a:solidFill>
                  <a:latin typeface="+mn-lt"/>
                  <a:ea typeface="黑体" pitchFamily="49" charset="-122"/>
                </a:rPr>
                <a:t>1101</a:t>
              </a:r>
              <a:endParaRPr lang="zh-CN" altLang="en-US" sz="1600" dirty="0">
                <a:solidFill>
                  <a:srgbClr val="3333FF"/>
                </a:solidFill>
                <a:latin typeface="+mn-lt"/>
                <a:ea typeface="黑体" pitchFamily="49" charset="-122"/>
              </a:endParaRPr>
            </a:p>
          </p:txBody>
        </p:sp>
        <p:sp>
          <p:nvSpPr>
            <p:cNvPr id="21" name="文本框 20">
              <a:extLst>
                <a:ext uri="{FF2B5EF4-FFF2-40B4-BE49-F238E27FC236}">
                  <a16:creationId xmlns:a16="http://schemas.microsoft.com/office/drawing/2014/main" id="{3601CEE4-6D18-35FA-FA4D-FBC4BB5BBEEB}"/>
                </a:ext>
              </a:extLst>
            </p:cNvPr>
            <p:cNvSpPr txBox="1"/>
            <p:nvPr/>
          </p:nvSpPr>
          <p:spPr>
            <a:xfrm>
              <a:off x="3285455"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-6</a:t>
              </a:r>
            </a:p>
            <a:p>
              <a:pPr algn="ctr"/>
              <a:r>
                <a:rPr lang="en-US" altLang="zh-CN" sz="1600" dirty="0">
                  <a:solidFill>
                    <a:srgbClr val="3333FF"/>
                  </a:solidFill>
                  <a:latin typeface="+mn-lt"/>
                  <a:ea typeface="黑体" pitchFamily="49" charset="-122"/>
                </a:rPr>
                <a:t>1110</a:t>
              </a:r>
              <a:endParaRPr lang="zh-CN" altLang="en-US" sz="1600" dirty="0">
                <a:solidFill>
                  <a:srgbClr val="3333FF"/>
                </a:solidFill>
                <a:latin typeface="+mn-lt"/>
                <a:ea typeface="黑体" pitchFamily="49" charset="-122"/>
              </a:endParaRPr>
            </a:p>
          </p:txBody>
        </p:sp>
        <p:sp>
          <p:nvSpPr>
            <p:cNvPr id="22" name="文本框 21">
              <a:extLst>
                <a:ext uri="{FF2B5EF4-FFF2-40B4-BE49-F238E27FC236}">
                  <a16:creationId xmlns:a16="http://schemas.microsoft.com/office/drawing/2014/main" id="{CD157C58-D728-DBB4-6ADA-042698FE4D42}"/>
                </a:ext>
              </a:extLst>
            </p:cNvPr>
            <p:cNvSpPr txBox="1"/>
            <p:nvPr/>
          </p:nvSpPr>
          <p:spPr>
            <a:xfrm>
              <a:off x="3714239"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-7</a:t>
              </a:r>
            </a:p>
            <a:p>
              <a:pPr algn="ctr"/>
              <a:r>
                <a:rPr lang="en-US" altLang="zh-CN" sz="1600" dirty="0">
                  <a:solidFill>
                    <a:srgbClr val="3333FF"/>
                  </a:solidFill>
                  <a:latin typeface="+mn-lt"/>
                  <a:ea typeface="黑体" pitchFamily="49" charset="-122"/>
                </a:rPr>
                <a:t>1111</a:t>
              </a:r>
              <a:endParaRPr lang="zh-CN" altLang="en-US" sz="1600" dirty="0">
                <a:solidFill>
                  <a:srgbClr val="3333FF"/>
                </a:solidFill>
                <a:latin typeface="+mn-lt"/>
                <a:ea typeface="黑体" pitchFamily="49" charset="-122"/>
              </a:endParaRPr>
            </a:p>
          </p:txBody>
        </p:sp>
        <p:sp>
          <p:nvSpPr>
            <p:cNvPr id="23" name="文本框 22">
              <a:extLst>
                <a:ext uri="{FF2B5EF4-FFF2-40B4-BE49-F238E27FC236}">
                  <a16:creationId xmlns:a16="http://schemas.microsoft.com/office/drawing/2014/main" id="{00ED9AA2-AF72-BFEE-CE4A-54AC393F1F04}"/>
                </a:ext>
              </a:extLst>
            </p:cNvPr>
            <p:cNvSpPr txBox="1"/>
            <p:nvPr/>
          </p:nvSpPr>
          <p:spPr>
            <a:xfrm>
              <a:off x="367823" y="5661249"/>
              <a:ext cx="760353" cy="482607"/>
            </a:xfrm>
            <a:prstGeom prst="rect">
              <a:avLst/>
            </a:prstGeom>
            <a:noFill/>
          </p:spPr>
          <p:txBody>
            <a:bodyPr wrap="square" rtlCol="0">
              <a:spAutoFit/>
            </a:bodyPr>
            <a:lstStyle/>
            <a:p>
              <a:pPr algn="ctr"/>
              <a:r>
                <a:rPr kumimoji="1" lang="en-US" altLang="zh-CN" sz="1400" dirty="0">
                  <a:solidFill>
                    <a:srgbClr val="C00000"/>
                  </a:solidFill>
                  <a:latin typeface="SimHei" panose="02010609060101010101" pitchFamily="49" charset="-122"/>
                  <a:ea typeface="SimHei" panose="02010609060101010101" pitchFamily="49" charset="-122"/>
                </a:rPr>
                <a:t>-0(</a:t>
              </a:r>
              <a:r>
                <a:rPr kumimoji="1" lang="en-US" altLang="zh-CN" sz="1400" dirty="0">
                  <a:solidFill>
                    <a:srgbClr val="C00000"/>
                  </a:solidFill>
                  <a:latin typeface="+mj-lt"/>
                  <a:ea typeface="SimHei" panose="02010609060101010101" pitchFamily="49" charset="-122"/>
                </a:rPr>
                <a:t>Decimal</a:t>
              </a:r>
              <a:r>
                <a:rPr kumimoji="1" lang="en-US" altLang="zh-CN" sz="1400" dirty="0">
                  <a:solidFill>
                    <a:srgbClr val="C00000"/>
                  </a:solidFill>
                  <a:latin typeface="SimHei" panose="02010609060101010101" pitchFamily="49" charset="-122"/>
                  <a:ea typeface="SimHei" panose="02010609060101010101" pitchFamily="49" charset="-122"/>
                </a:rPr>
                <a:t>)</a:t>
              </a:r>
            </a:p>
            <a:p>
              <a:pPr algn="ctr"/>
              <a:r>
                <a:rPr lang="en-US" altLang="zh-CN" sz="1400" dirty="0">
                  <a:solidFill>
                    <a:srgbClr val="3333FF"/>
                  </a:solidFill>
                  <a:latin typeface="+mn-lt"/>
                  <a:ea typeface="黑体" pitchFamily="49" charset="-122"/>
                </a:rPr>
                <a:t>1000</a:t>
              </a:r>
              <a:endParaRPr lang="zh-CN" altLang="en-US" sz="1400" dirty="0">
                <a:solidFill>
                  <a:srgbClr val="3333FF"/>
                </a:solidFill>
                <a:latin typeface="+mn-lt"/>
                <a:ea typeface="黑体" pitchFamily="49" charset="-122"/>
              </a:endParaRPr>
            </a:p>
          </p:txBody>
        </p:sp>
      </p:grpSp>
      <p:grpSp>
        <p:nvGrpSpPr>
          <p:cNvPr id="24" name="组合 23">
            <a:extLst>
              <a:ext uri="{FF2B5EF4-FFF2-40B4-BE49-F238E27FC236}">
                <a16:creationId xmlns:a16="http://schemas.microsoft.com/office/drawing/2014/main" id="{53B379DC-0FF4-FF31-CED5-48A59583D4D3}"/>
              </a:ext>
            </a:extLst>
          </p:cNvPr>
          <p:cNvGrpSpPr/>
          <p:nvPr/>
        </p:nvGrpSpPr>
        <p:grpSpPr>
          <a:xfrm>
            <a:off x="1598527" y="3352081"/>
            <a:ext cx="6775096" cy="1628212"/>
            <a:chOff x="367823" y="4651806"/>
            <a:chExt cx="4707860" cy="1501827"/>
          </a:xfrm>
        </p:grpSpPr>
        <p:cxnSp>
          <p:nvCxnSpPr>
            <p:cNvPr id="25" name="直线箭头连接符 13">
              <a:extLst>
                <a:ext uri="{FF2B5EF4-FFF2-40B4-BE49-F238E27FC236}">
                  <a16:creationId xmlns:a16="http://schemas.microsoft.com/office/drawing/2014/main" id="{9D3C407C-2CC6-BA1E-59B1-AAE96BE2860D}"/>
                </a:ext>
              </a:extLst>
            </p:cNvPr>
            <p:cNvCxnSpPr>
              <a:cxnSpLocks/>
            </p:cNvCxnSpPr>
            <p:nvPr/>
          </p:nvCxnSpPr>
          <p:spPr bwMode="auto">
            <a:xfrm>
              <a:off x="427662" y="5612021"/>
              <a:ext cx="3716368" cy="0"/>
            </a:xfrm>
            <a:prstGeom prst="straightConnector1">
              <a:avLst/>
            </a:prstGeom>
            <a:solidFill>
              <a:schemeClr val="accent1"/>
            </a:solidFill>
            <a:ln w="28575" cap="flat" cmpd="sng" algn="ctr">
              <a:solidFill>
                <a:srgbClr val="858585"/>
              </a:solidFill>
              <a:prstDash val="solid"/>
              <a:round/>
              <a:headEnd type="none" w="med" len="med"/>
              <a:tailEnd type="triangle"/>
            </a:ln>
            <a:effectLst/>
          </p:spPr>
        </p:cxnSp>
        <p:sp>
          <p:nvSpPr>
            <p:cNvPr id="26" name="文本框 25">
              <a:extLst>
                <a:ext uri="{FF2B5EF4-FFF2-40B4-BE49-F238E27FC236}">
                  <a16:creationId xmlns:a16="http://schemas.microsoft.com/office/drawing/2014/main" id="{C28F6A98-59D2-A175-07D1-6A77169A3D5D}"/>
                </a:ext>
              </a:extLst>
            </p:cNvPr>
            <p:cNvSpPr txBox="1"/>
            <p:nvPr/>
          </p:nvSpPr>
          <p:spPr>
            <a:xfrm>
              <a:off x="373774" y="4651806"/>
              <a:ext cx="4701909" cy="482607"/>
            </a:xfrm>
            <a:prstGeom prst="rect">
              <a:avLst/>
            </a:prstGeom>
            <a:noFill/>
          </p:spPr>
          <p:txBody>
            <a:bodyPr wrap="none" rtlCol="0">
              <a:spAutoFit/>
            </a:bodyPr>
            <a:lstStyle/>
            <a:p>
              <a:r>
                <a:rPr kumimoji="1" lang="en-US" altLang="zh-CN" sz="2800" dirty="0">
                  <a:solidFill>
                    <a:srgbClr val="3333FF"/>
                  </a:solidFill>
                  <a:latin typeface="+mj-lt"/>
                  <a:ea typeface="SimHei" panose="02010609060101010101" pitchFamily="49" charset="-122"/>
                </a:rPr>
                <a:t>2’s complement binary code</a:t>
              </a:r>
              <a:r>
                <a:rPr kumimoji="1" lang="zh-CN" altLang="en-US" sz="2800" dirty="0">
                  <a:solidFill>
                    <a:srgbClr val="3333FF"/>
                  </a:solidFill>
                  <a:latin typeface="+mj-lt"/>
                  <a:ea typeface="SimHei" panose="02010609060101010101" pitchFamily="49" charset="-122"/>
                </a:rPr>
                <a:t> （</a:t>
              </a:r>
              <a:r>
                <a:rPr kumimoji="1" lang="en-US" altLang="zh-CN" sz="2800" dirty="0">
                  <a:solidFill>
                    <a:srgbClr val="3333FF"/>
                  </a:solidFill>
                  <a:latin typeface="+mj-lt"/>
                  <a:ea typeface="SimHei" panose="02010609060101010101" pitchFamily="49" charset="-122"/>
                </a:rPr>
                <a:t>2-</a:t>
              </a:r>
              <a:r>
                <a:rPr kumimoji="1" lang="zh-CN" altLang="en-US" sz="2800" dirty="0">
                  <a:solidFill>
                    <a:srgbClr val="3333FF"/>
                  </a:solidFill>
                  <a:latin typeface="+mj-lt"/>
                  <a:ea typeface="SimHei" panose="02010609060101010101" pitchFamily="49" charset="-122"/>
                </a:rPr>
                <a:t>补码）</a:t>
              </a:r>
            </a:p>
          </p:txBody>
        </p:sp>
        <p:sp>
          <p:nvSpPr>
            <p:cNvPr id="27" name="文本框 26">
              <a:extLst>
                <a:ext uri="{FF2B5EF4-FFF2-40B4-BE49-F238E27FC236}">
                  <a16:creationId xmlns:a16="http://schemas.microsoft.com/office/drawing/2014/main" id="{3359102B-3623-C8B9-6F78-9120309080B0}"/>
                </a:ext>
              </a:extLst>
            </p:cNvPr>
            <p:cNvSpPr txBox="1"/>
            <p:nvPr/>
          </p:nvSpPr>
          <p:spPr>
            <a:xfrm>
              <a:off x="367823" y="5137361"/>
              <a:ext cx="760353" cy="482607"/>
            </a:xfrm>
            <a:prstGeom prst="rect">
              <a:avLst/>
            </a:prstGeom>
            <a:noFill/>
          </p:spPr>
          <p:txBody>
            <a:bodyPr wrap="square" rtlCol="0">
              <a:spAutoFit/>
            </a:bodyPr>
            <a:lstStyle/>
            <a:p>
              <a:pPr algn="ctr"/>
              <a:r>
                <a:rPr kumimoji="1" lang="en-US" altLang="zh-CN" sz="1400" dirty="0">
                  <a:solidFill>
                    <a:srgbClr val="C00000"/>
                  </a:solidFill>
                  <a:latin typeface="SimHei" panose="02010609060101010101" pitchFamily="49" charset="-122"/>
                  <a:ea typeface="SimHei" panose="02010609060101010101" pitchFamily="49" charset="-122"/>
                </a:rPr>
                <a:t>0(</a:t>
              </a:r>
              <a:r>
                <a:rPr kumimoji="1" lang="en-US" altLang="zh-CN" sz="1400" dirty="0">
                  <a:solidFill>
                    <a:srgbClr val="C00000"/>
                  </a:solidFill>
                  <a:latin typeface="+mj-lt"/>
                  <a:ea typeface="SimHei" panose="02010609060101010101" pitchFamily="49" charset="-122"/>
                </a:rPr>
                <a:t>Decimal</a:t>
              </a:r>
              <a:r>
                <a:rPr kumimoji="1" lang="en-US" altLang="zh-CN" sz="1400" dirty="0">
                  <a:solidFill>
                    <a:srgbClr val="C00000"/>
                  </a:solidFill>
                  <a:latin typeface="SimHei" panose="02010609060101010101" pitchFamily="49" charset="-122"/>
                  <a:ea typeface="SimHei" panose="02010609060101010101" pitchFamily="49" charset="-122"/>
                </a:rPr>
                <a:t>)</a:t>
              </a:r>
            </a:p>
            <a:p>
              <a:pPr algn="ctr"/>
              <a:r>
                <a:rPr lang="en-US" altLang="zh-CN" sz="1400" dirty="0">
                  <a:solidFill>
                    <a:srgbClr val="3333FF"/>
                  </a:solidFill>
                  <a:latin typeface="+mn-lt"/>
                  <a:ea typeface="黑体" pitchFamily="49" charset="-122"/>
                </a:rPr>
                <a:t>0000</a:t>
              </a:r>
              <a:endParaRPr lang="zh-CN" altLang="en-US" sz="1400" dirty="0">
                <a:solidFill>
                  <a:srgbClr val="3333FF"/>
                </a:solidFill>
                <a:latin typeface="+mn-lt"/>
                <a:ea typeface="黑体" pitchFamily="49" charset="-122"/>
              </a:endParaRPr>
            </a:p>
          </p:txBody>
        </p:sp>
        <p:sp>
          <p:nvSpPr>
            <p:cNvPr id="28" name="文本框 27">
              <a:extLst>
                <a:ext uri="{FF2B5EF4-FFF2-40B4-BE49-F238E27FC236}">
                  <a16:creationId xmlns:a16="http://schemas.microsoft.com/office/drawing/2014/main" id="{1597BFA4-352E-E207-96AD-8247A5320E9E}"/>
                </a:ext>
              </a:extLst>
            </p:cNvPr>
            <p:cNvSpPr txBox="1"/>
            <p:nvPr/>
          </p:nvSpPr>
          <p:spPr>
            <a:xfrm>
              <a:off x="114362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+1</a:t>
              </a:r>
            </a:p>
            <a:p>
              <a:pPr algn="ctr"/>
              <a:r>
                <a:rPr lang="en-US" altLang="zh-CN" sz="1600" dirty="0">
                  <a:solidFill>
                    <a:srgbClr val="3333FF"/>
                  </a:solidFill>
                  <a:latin typeface="+mn-lt"/>
                  <a:ea typeface="黑体" pitchFamily="49" charset="-122"/>
                </a:rPr>
                <a:t>0001</a:t>
              </a:r>
              <a:endParaRPr lang="zh-CN" altLang="en-US" sz="1600" dirty="0">
                <a:solidFill>
                  <a:srgbClr val="3333FF"/>
                </a:solidFill>
                <a:latin typeface="+mn-lt"/>
                <a:ea typeface="黑体" pitchFamily="49" charset="-122"/>
              </a:endParaRPr>
            </a:p>
          </p:txBody>
        </p:sp>
        <p:sp>
          <p:nvSpPr>
            <p:cNvPr id="29" name="文本框 28">
              <a:extLst>
                <a:ext uri="{FF2B5EF4-FFF2-40B4-BE49-F238E27FC236}">
                  <a16:creationId xmlns:a16="http://schemas.microsoft.com/office/drawing/2014/main" id="{A65CCDA6-F3D7-984B-ABA0-2EA9505CE637}"/>
                </a:ext>
              </a:extLst>
            </p:cNvPr>
            <p:cNvSpPr txBox="1"/>
            <p:nvPr/>
          </p:nvSpPr>
          <p:spPr>
            <a:xfrm>
              <a:off x="157241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+2</a:t>
              </a:r>
            </a:p>
            <a:p>
              <a:pPr algn="ctr"/>
              <a:r>
                <a:rPr lang="en-US" altLang="zh-CN" sz="1600" dirty="0">
                  <a:solidFill>
                    <a:srgbClr val="3333FF"/>
                  </a:solidFill>
                  <a:latin typeface="+mn-lt"/>
                  <a:ea typeface="黑体" pitchFamily="49" charset="-122"/>
                </a:rPr>
                <a:t>0010</a:t>
              </a:r>
              <a:endParaRPr lang="zh-CN" altLang="en-US" sz="1600" dirty="0">
                <a:solidFill>
                  <a:srgbClr val="3333FF"/>
                </a:solidFill>
                <a:latin typeface="+mn-lt"/>
                <a:ea typeface="黑体" pitchFamily="49" charset="-122"/>
              </a:endParaRPr>
            </a:p>
          </p:txBody>
        </p:sp>
        <p:sp>
          <p:nvSpPr>
            <p:cNvPr id="30" name="文本框 29">
              <a:extLst>
                <a:ext uri="{FF2B5EF4-FFF2-40B4-BE49-F238E27FC236}">
                  <a16:creationId xmlns:a16="http://schemas.microsoft.com/office/drawing/2014/main" id="{071026F3-45E9-2D46-E5F4-A80AD0A27F8A}"/>
                </a:ext>
              </a:extLst>
            </p:cNvPr>
            <p:cNvSpPr txBox="1"/>
            <p:nvPr/>
          </p:nvSpPr>
          <p:spPr>
            <a:xfrm>
              <a:off x="200119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+3</a:t>
              </a:r>
            </a:p>
            <a:p>
              <a:pPr algn="ctr"/>
              <a:r>
                <a:rPr lang="en-US" altLang="zh-CN" sz="1600" dirty="0">
                  <a:solidFill>
                    <a:srgbClr val="3333FF"/>
                  </a:solidFill>
                  <a:latin typeface="+mn-lt"/>
                  <a:ea typeface="黑体" pitchFamily="49" charset="-122"/>
                </a:rPr>
                <a:t>0011</a:t>
              </a:r>
              <a:endParaRPr lang="zh-CN" altLang="en-US" sz="1600" dirty="0">
                <a:solidFill>
                  <a:srgbClr val="3333FF"/>
                </a:solidFill>
                <a:latin typeface="+mn-lt"/>
                <a:ea typeface="黑体" pitchFamily="49" charset="-122"/>
              </a:endParaRPr>
            </a:p>
          </p:txBody>
        </p:sp>
        <p:sp>
          <p:nvSpPr>
            <p:cNvPr id="31" name="文本框 30">
              <a:extLst>
                <a:ext uri="{FF2B5EF4-FFF2-40B4-BE49-F238E27FC236}">
                  <a16:creationId xmlns:a16="http://schemas.microsoft.com/office/drawing/2014/main" id="{445340F3-B77E-C73B-39C7-33F690D607E4}"/>
                </a:ext>
              </a:extLst>
            </p:cNvPr>
            <p:cNvSpPr txBox="1"/>
            <p:nvPr/>
          </p:nvSpPr>
          <p:spPr>
            <a:xfrm>
              <a:off x="242998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+4</a:t>
              </a:r>
            </a:p>
            <a:p>
              <a:pPr algn="ctr"/>
              <a:r>
                <a:rPr lang="en-US" altLang="zh-CN" sz="1600" dirty="0">
                  <a:solidFill>
                    <a:srgbClr val="3333FF"/>
                  </a:solidFill>
                  <a:latin typeface="+mn-lt"/>
                  <a:ea typeface="黑体" pitchFamily="49" charset="-122"/>
                </a:rPr>
                <a:t>0100</a:t>
              </a:r>
              <a:endParaRPr lang="zh-CN" altLang="en-US" sz="1600" dirty="0">
                <a:solidFill>
                  <a:srgbClr val="3333FF"/>
                </a:solidFill>
                <a:latin typeface="+mn-lt"/>
                <a:ea typeface="黑体" pitchFamily="49" charset="-122"/>
              </a:endParaRPr>
            </a:p>
          </p:txBody>
        </p:sp>
        <p:sp>
          <p:nvSpPr>
            <p:cNvPr id="32" name="文本框 31">
              <a:extLst>
                <a:ext uri="{FF2B5EF4-FFF2-40B4-BE49-F238E27FC236}">
                  <a16:creationId xmlns:a16="http://schemas.microsoft.com/office/drawing/2014/main" id="{8D8C4D56-603D-79E2-6C8F-D75E0CFAB193}"/>
                </a:ext>
              </a:extLst>
            </p:cNvPr>
            <p:cNvSpPr txBox="1"/>
            <p:nvPr/>
          </p:nvSpPr>
          <p:spPr>
            <a:xfrm>
              <a:off x="285876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+5</a:t>
              </a:r>
            </a:p>
            <a:p>
              <a:pPr algn="ctr"/>
              <a:r>
                <a:rPr lang="en-US" altLang="zh-CN" sz="1600" dirty="0">
                  <a:solidFill>
                    <a:srgbClr val="3333FF"/>
                  </a:solidFill>
                  <a:latin typeface="+mn-lt"/>
                  <a:ea typeface="黑体" pitchFamily="49" charset="-122"/>
                </a:rPr>
                <a:t>0101</a:t>
              </a:r>
              <a:endParaRPr lang="zh-CN" altLang="en-US" sz="1600" dirty="0">
                <a:solidFill>
                  <a:srgbClr val="3333FF"/>
                </a:solidFill>
                <a:latin typeface="+mn-lt"/>
                <a:ea typeface="黑体" pitchFamily="49" charset="-122"/>
              </a:endParaRPr>
            </a:p>
          </p:txBody>
        </p:sp>
        <p:sp>
          <p:nvSpPr>
            <p:cNvPr id="33" name="文本框 32">
              <a:extLst>
                <a:ext uri="{FF2B5EF4-FFF2-40B4-BE49-F238E27FC236}">
                  <a16:creationId xmlns:a16="http://schemas.microsoft.com/office/drawing/2014/main" id="{BA3B4A41-762F-C44E-C945-32BB20C1B58A}"/>
                </a:ext>
              </a:extLst>
            </p:cNvPr>
            <p:cNvSpPr txBox="1"/>
            <p:nvPr/>
          </p:nvSpPr>
          <p:spPr>
            <a:xfrm>
              <a:off x="3287554"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+6</a:t>
              </a:r>
            </a:p>
            <a:p>
              <a:pPr algn="ctr"/>
              <a:r>
                <a:rPr lang="en-US" altLang="zh-CN" sz="1600" dirty="0">
                  <a:solidFill>
                    <a:srgbClr val="3333FF"/>
                  </a:solidFill>
                  <a:latin typeface="+mn-lt"/>
                  <a:ea typeface="黑体" pitchFamily="49" charset="-122"/>
                </a:rPr>
                <a:t>0110</a:t>
              </a:r>
              <a:endParaRPr lang="zh-CN" altLang="en-US" sz="1600" dirty="0">
                <a:solidFill>
                  <a:srgbClr val="3333FF"/>
                </a:solidFill>
                <a:latin typeface="+mn-lt"/>
                <a:ea typeface="黑体" pitchFamily="49" charset="-122"/>
              </a:endParaRPr>
            </a:p>
          </p:txBody>
        </p:sp>
        <p:sp>
          <p:nvSpPr>
            <p:cNvPr id="34" name="文本框 33">
              <a:extLst>
                <a:ext uri="{FF2B5EF4-FFF2-40B4-BE49-F238E27FC236}">
                  <a16:creationId xmlns:a16="http://schemas.microsoft.com/office/drawing/2014/main" id="{F8343C84-C5D9-4BC0-7C72-7492D2D2464A}"/>
                </a:ext>
              </a:extLst>
            </p:cNvPr>
            <p:cNvSpPr txBox="1"/>
            <p:nvPr/>
          </p:nvSpPr>
          <p:spPr>
            <a:xfrm>
              <a:off x="3716339" y="5085184"/>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+7</a:t>
              </a:r>
            </a:p>
            <a:p>
              <a:pPr algn="ctr"/>
              <a:r>
                <a:rPr lang="en-US" altLang="zh-CN" sz="1600" dirty="0">
                  <a:solidFill>
                    <a:srgbClr val="3333FF"/>
                  </a:solidFill>
                  <a:latin typeface="+mn-lt"/>
                  <a:ea typeface="黑体" pitchFamily="49" charset="-122"/>
                </a:rPr>
                <a:t>0111</a:t>
              </a:r>
              <a:endParaRPr lang="zh-CN" altLang="en-US" sz="1600" dirty="0">
                <a:solidFill>
                  <a:srgbClr val="3333FF"/>
                </a:solidFill>
                <a:latin typeface="+mn-lt"/>
                <a:ea typeface="黑体" pitchFamily="49" charset="-122"/>
              </a:endParaRPr>
            </a:p>
          </p:txBody>
        </p:sp>
        <p:sp>
          <p:nvSpPr>
            <p:cNvPr id="35" name="文本框 34">
              <a:extLst>
                <a:ext uri="{FF2B5EF4-FFF2-40B4-BE49-F238E27FC236}">
                  <a16:creationId xmlns:a16="http://schemas.microsoft.com/office/drawing/2014/main" id="{853FD8BD-FD43-4494-E890-0BAFA1411D35}"/>
                </a:ext>
              </a:extLst>
            </p:cNvPr>
            <p:cNvSpPr txBox="1"/>
            <p:nvPr/>
          </p:nvSpPr>
          <p:spPr>
            <a:xfrm>
              <a:off x="1141529" y="5614249"/>
              <a:ext cx="417933"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-1</a:t>
              </a:r>
            </a:p>
            <a:p>
              <a:pPr algn="ctr"/>
              <a:r>
                <a:rPr lang="en-US" altLang="zh-CN" sz="1600" dirty="0">
                  <a:solidFill>
                    <a:srgbClr val="3333FF"/>
                  </a:solidFill>
                  <a:latin typeface="+mn-lt"/>
                  <a:ea typeface="黑体" pitchFamily="49" charset="-122"/>
                </a:rPr>
                <a:t>1111</a:t>
              </a:r>
              <a:endParaRPr lang="zh-CN" altLang="en-US" sz="1600" dirty="0">
                <a:solidFill>
                  <a:srgbClr val="3333FF"/>
                </a:solidFill>
                <a:latin typeface="+mn-lt"/>
                <a:ea typeface="黑体" pitchFamily="49" charset="-122"/>
              </a:endParaRPr>
            </a:p>
          </p:txBody>
        </p:sp>
        <p:sp>
          <p:nvSpPr>
            <p:cNvPr id="36" name="文本框 35">
              <a:extLst>
                <a:ext uri="{FF2B5EF4-FFF2-40B4-BE49-F238E27FC236}">
                  <a16:creationId xmlns:a16="http://schemas.microsoft.com/office/drawing/2014/main" id="{3D3B1693-531C-4A31-5FB1-7F4DBD1CA02D}"/>
                </a:ext>
              </a:extLst>
            </p:cNvPr>
            <p:cNvSpPr txBox="1"/>
            <p:nvPr/>
          </p:nvSpPr>
          <p:spPr>
            <a:xfrm>
              <a:off x="1570316"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-2</a:t>
              </a:r>
            </a:p>
            <a:p>
              <a:pPr algn="ctr"/>
              <a:r>
                <a:rPr lang="en-US" altLang="zh-CN" sz="1600" dirty="0">
                  <a:solidFill>
                    <a:srgbClr val="3333FF"/>
                  </a:solidFill>
                  <a:latin typeface="+mn-lt"/>
                  <a:ea typeface="黑体" pitchFamily="49" charset="-122"/>
                </a:rPr>
                <a:t>1110</a:t>
              </a:r>
              <a:endParaRPr lang="zh-CN" altLang="en-US" sz="1600" dirty="0">
                <a:solidFill>
                  <a:srgbClr val="3333FF"/>
                </a:solidFill>
                <a:latin typeface="+mn-lt"/>
                <a:ea typeface="黑体" pitchFamily="49" charset="-122"/>
              </a:endParaRPr>
            </a:p>
          </p:txBody>
        </p:sp>
        <p:sp>
          <p:nvSpPr>
            <p:cNvPr id="37" name="文本框 36">
              <a:extLst>
                <a:ext uri="{FF2B5EF4-FFF2-40B4-BE49-F238E27FC236}">
                  <a16:creationId xmlns:a16="http://schemas.microsoft.com/office/drawing/2014/main" id="{FF3BE3EF-A1C6-37DC-EF93-B10C12E8F4DE}"/>
                </a:ext>
              </a:extLst>
            </p:cNvPr>
            <p:cNvSpPr txBox="1"/>
            <p:nvPr/>
          </p:nvSpPr>
          <p:spPr>
            <a:xfrm>
              <a:off x="1999100"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-3</a:t>
              </a:r>
            </a:p>
            <a:p>
              <a:pPr algn="ctr"/>
              <a:r>
                <a:rPr lang="en-US" altLang="zh-CN" sz="1600" dirty="0">
                  <a:solidFill>
                    <a:srgbClr val="3333FF"/>
                  </a:solidFill>
                  <a:latin typeface="+mn-lt"/>
                  <a:ea typeface="黑体" pitchFamily="49" charset="-122"/>
                </a:rPr>
                <a:t>1101</a:t>
              </a:r>
              <a:endParaRPr lang="zh-CN" altLang="en-US" sz="1600" dirty="0">
                <a:solidFill>
                  <a:srgbClr val="3333FF"/>
                </a:solidFill>
                <a:latin typeface="+mn-lt"/>
                <a:ea typeface="黑体" pitchFamily="49" charset="-122"/>
              </a:endParaRPr>
            </a:p>
          </p:txBody>
        </p:sp>
        <p:sp>
          <p:nvSpPr>
            <p:cNvPr id="38" name="文本框 37">
              <a:extLst>
                <a:ext uri="{FF2B5EF4-FFF2-40B4-BE49-F238E27FC236}">
                  <a16:creationId xmlns:a16="http://schemas.microsoft.com/office/drawing/2014/main" id="{6140C1FE-72AA-8FD6-0328-E28DD24C962D}"/>
                </a:ext>
              </a:extLst>
            </p:cNvPr>
            <p:cNvSpPr txBox="1"/>
            <p:nvPr/>
          </p:nvSpPr>
          <p:spPr>
            <a:xfrm>
              <a:off x="2427885"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-4</a:t>
              </a:r>
            </a:p>
            <a:p>
              <a:pPr algn="ctr"/>
              <a:r>
                <a:rPr lang="en-US" altLang="zh-CN" sz="1600" dirty="0">
                  <a:solidFill>
                    <a:srgbClr val="3333FF"/>
                  </a:solidFill>
                  <a:latin typeface="+mn-lt"/>
                  <a:ea typeface="黑体" pitchFamily="49" charset="-122"/>
                </a:rPr>
                <a:t>1100</a:t>
              </a:r>
              <a:endParaRPr lang="zh-CN" altLang="en-US" sz="1600" dirty="0">
                <a:solidFill>
                  <a:srgbClr val="3333FF"/>
                </a:solidFill>
                <a:latin typeface="+mn-lt"/>
                <a:ea typeface="黑体" pitchFamily="49" charset="-122"/>
              </a:endParaRPr>
            </a:p>
          </p:txBody>
        </p:sp>
        <p:sp>
          <p:nvSpPr>
            <p:cNvPr id="39" name="文本框 38">
              <a:extLst>
                <a:ext uri="{FF2B5EF4-FFF2-40B4-BE49-F238E27FC236}">
                  <a16:creationId xmlns:a16="http://schemas.microsoft.com/office/drawing/2014/main" id="{DF4CAF4A-EB9E-43C4-F880-1EB38CBCA979}"/>
                </a:ext>
              </a:extLst>
            </p:cNvPr>
            <p:cNvSpPr txBox="1"/>
            <p:nvPr/>
          </p:nvSpPr>
          <p:spPr>
            <a:xfrm>
              <a:off x="2856670"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-5</a:t>
              </a:r>
            </a:p>
            <a:p>
              <a:pPr algn="ctr"/>
              <a:r>
                <a:rPr lang="en-US" altLang="zh-CN" sz="1600" dirty="0">
                  <a:solidFill>
                    <a:srgbClr val="3333FF"/>
                  </a:solidFill>
                  <a:latin typeface="+mn-lt"/>
                  <a:ea typeface="黑体" pitchFamily="49" charset="-122"/>
                </a:rPr>
                <a:t>1011</a:t>
              </a:r>
              <a:endParaRPr lang="zh-CN" altLang="en-US" sz="1600" dirty="0">
                <a:solidFill>
                  <a:srgbClr val="3333FF"/>
                </a:solidFill>
                <a:latin typeface="+mn-lt"/>
                <a:ea typeface="黑体" pitchFamily="49" charset="-122"/>
              </a:endParaRPr>
            </a:p>
          </p:txBody>
        </p:sp>
        <p:sp>
          <p:nvSpPr>
            <p:cNvPr id="40" name="文本框 39">
              <a:extLst>
                <a:ext uri="{FF2B5EF4-FFF2-40B4-BE49-F238E27FC236}">
                  <a16:creationId xmlns:a16="http://schemas.microsoft.com/office/drawing/2014/main" id="{11682573-0FB8-35B5-6F9E-79AC3526B147}"/>
                </a:ext>
              </a:extLst>
            </p:cNvPr>
            <p:cNvSpPr txBox="1"/>
            <p:nvPr/>
          </p:nvSpPr>
          <p:spPr>
            <a:xfrm>
              <a:off x="3285455"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-6</a:t>
              </a:r>
            </a:p>
            <a:p>
              <a:pPr algn="ctr"/>
              <a:r>
                <a:rPr lang="en-US" altLang="zh-CN" sz="1600" dirty="0">
                  <a:solidFill>
                    <a:srgbClr val="3333FF"/>
                  </a:solidFill>
                  <a:latin typeface="+mn-lt"/>
                  <a:ea typeface="黑体" pitchFamily="49" charset="-122"/>
                </a:rPr>
                <a:t>1010</a:t>
              </a:r>
              <a:endParaRPr lang="zh-CN" altLang="en-US" sz="1600" dirty="0">
                <a:solidFill>
                  <a:srgbClr val="3333FF"/>
                </a:solidFill>
                <a:latin typeface="+mn-lt"/>
                <a:ea typeface="黑体" pitchFamily="49" charset="-122"/>
              </a:endParaRPr>
            </a:p>
          </p:txBody>
        </p:sp>
        <p:sp>
          <p:nvSpPr>
            <p:cNvPr id="41" name="文本框 40">
              <a:extLst>
                <a:ext uri="{FF2B5EF4-FFF2-40B4-BE49-F238E27FC236}">
                  <a16:creationId xmlns:a16="http://schemas.microsoft.com/office/drawing/2014/main" id="{4A3B2323-8E29-0840-AD86-23100209914D}"/>
                </a:ext>
              </a:extLst>
            </p:cNvPr>
            <p:cNvSpPr txBox="1"/>
            <p:nvPr/>
          </p:nvSpPr>
          <p:spPr>
            <a:xfrm>
              <a:off x="3714239" y="5614249"/>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-7</a:t>
              </a:r>
            </a:p>
            <a:p>
              <a:pPr algn="ctr"/>
              <a:r>
                <a:rPr lang="en-US" altLang="zh-CN" sz="1600" dirty="0">
                  <a:solidFill>
                    <a:srgbClr val="3333FF"/>
                  </a:solidFill>
                  <a:latin typeface="+mn-lt"/>
                  <a:ea typeface="黑体" pitchFamily="49" charset="-122"/>
                </a:rPr>
                <a:t>1001</a:t>
              </a:r>
              <a:endParaRPr lang="zh-CN" altLang="en-US" sz="1600" dirty="0">
                <a:solidFill>
                  <a:srgbClr val="3333FF"/>
                </a:solidFill>
                <a:latin typeface="+mn-lt"/>
                <a:ea typeface="黑体" pitchFamily="49" charset="-122"/>
              </a:endParaRPr>
            </a:p>
          </p:txBody>
        </p:sp>
        <p:sp>
          <p:nvSpPr>
            <p:cNvPr id="42" name="文本框 41">
              <a:extLst>
                <a:ext uri="{FF2B5EF4-FFF2-40B4-BE49-F238E27FC236}">
                  <a16:creationId xmlns:a16="http://schemas.microsoft.com/office/drawing/2014/main" id="{9A38878E-B1C1-52E6-46B1-2815E3E52284}"/>
                </a:ext>
              </a:extLst>
            </p:cNvPr>
            <p:cNvSpPr txBox="1"/>
            <p:nvPr/>
          </p:nvSpPr>
          <p:spPr>
            <a:xfrm>
              <a:off x="4153645" y="5612021"/>
              <a:ext cx="417932" cy="539384"/>
            </a:xfrm>
            <a:prstGeom prst="rect">
              <a:avLst/>
            </a:prstGeom>
            <a:noFill/>
          </p:spPr>
          <p:txBody>
            <a:bodyPr wrap="none" rtlCol="0">
              <a:spAutoFit/>
            </a:bodyPr>
            <a:lstStyle/>
            <a:p>
              <a:pPr algn="ctr"/>
              <a:r>
                <a:rPr kumimoji="1" lang="en-US" altLang="zh-CN" sz="1600" dirty="0">
                  <a:solidFill>
                    <a:srgbClr val="C00000"/>
                  </a:solidFill>
                  <a:latin typeface="SimHei" panose="02010609060101010101" pitchFamily="49" charset="-122"/>
                  <a:ea typeface="SimHei" panose="02010609060101010101" pitchFamily="49" charset="-122"/>
                </a:rPr>
                <a:t>-8</a:t>
              </a:r>
            </a:p>
            <a:p>
              <a:pPr algn="ctr"/>
              <a:r>
                <a:rPr lang="en-US" altLang="zh-CN" sz="1600" dirty="0">
                  <a:solidFill>
                    <a:srgbClr val="3333FF"/>
                  </a:solidFill>
                  <a:latin typeface="+mn-lt"/>
                  <a:ea typeface="黑体" pitchFamily="49" charset="-122"/>
                </a:rPr>
                <a:t>1000</a:t>
              </a:r>
              <a:endParaRPr lang="zh-CN" altLang="en-US" sz="1600" dirty="0">
                <a:solidFill>
                  <a:srgbClr val="3333FF"/>
                </a:solidFill>
                <a:latin typeface="+mn-lt"/>
                <a:ea typeface="黑体" pitchFamily="49" charset="-122"/>
              </a:endParaRPr>
            </a:p>
          </p:txBody>
        </p:sp>
      </p:grpSp>
      <p:sp>
        <p:nvSpPr>
          <p:cNvPr id="3" name="文本框 2">
            <a:extLst>
              <a:ext uri="{FF2B5EF4-FFF2-40B4-BE49-F238E27FC236}">
                <a16:creationId xmlns:a16="http://schemas.microsoft.com/office/drawing/2014/main" id="{73D988A8-7CC5-716E-E6E1-C268C913E850}"/>
              </a:ext>
            </a:extLst>
          </p:cNvPr>
          <p:cNvSpPr txBox="1"/>
          <p:nvPr/>
        </p:nvSpPr>
        <p:spPr>
          <a:xfrm>
            <a:off x="1372723" y="5079927"/>
            <a:ext cx="6725114" cy="867930"/>
          </a:xfrm>
          <a:prstGeom prst="rect">
            <a:avLst/>
          </a:prstGeom>
          <a:noFill/>
        </p:spPr>
        <p:txBody>
          <a:bodyPr wrap="square">
            <a:spAutoFit/>
          </a:bodyPr>
          <a:lstStyle/>
          <a:p>
            <a:pPr marL="342900" marR="0" lvl="0" indent="-342900" algn="l" defTabSz="914400" rtl="0" eaLnBrk="1" fontAlgn="base" latinLnBrk="0" hangingPunct="1">
              <a:lnSpc>
                <a:spcPct val="120000"/>
              </a:lnSpc>
              <a:spcBef>
                <a:spcPct val="20000"/>
              </a:spcBef>
              <a:spcAft>
                <a:spcPct val="0"/>
              </a:spcAft>
              <a:buClr>
                <a:srgbClr val="000066"/>
              </a:buClr>
              <a:buSzTx/>
              <a:buFont typeface="Wingdings" pitchFamily="2" charset="2"/>
              <a:buChar char="v"/>
              <a:tabLst/>
              <a:defRPr/>
            </a:pPr>
            <a:r>
              <a:rPr kumimoji="0" lang="en-US" altLang="zh-CN" sz="2000" b="0" i="0" u="none" strike="noStrike" kern="0" cap="none" spc="0" normalizeH="0" baseline="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Range: [-2</a:t>
            </a:r>
            <a:r>
              <a:rPr kumimoji="0" lang="en-US" altLang="zh-CN" sz="2000" b="0" i="0" u="none" strike="noStrike" kern="0" cap="none" spc="0" normalizeH="0" baseline="3000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n-1</a:t>
            </a:r>
            <a:r>
              <a:rPr kumimoji="0" lang="en-US" altLang="zh-CN" sz="2000" b="0" i="0" u="none" strike="noStrike" kern="0" cap="none" spc="0" normalizeH="0" baseline="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 2</a:t>
            </a:r>
            <a:r>
              <a:rPr kumimoji="0" lang="en-US" altLang="zh-CN" sz="2000" b="0" i="0" u="none" strike="noStrike" kern="0" cap="none" spc="0" normalizeH="0" baseline="3000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n-1</a:t>
            </a:r>
            <a:r>
              <a:rPr kumimoji="0" lang="en-US" altLang="zh-CN" sz="2000" b="0" i="0" u="none" strike="noStrike" kern="0" cap="none" spc="0" normalizeH="0" baseline="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-1]; Only one representation for 0</a:t>
            </a:r>
          </a:p>
          <a:p>
            <a:pPr marL="342900" marR="0" lvl="0" indent="-342900" algn="l" defTabSz="914400" rtl="0" eaLnBrk="1" fontAlgn="base" latinLnBrk="0" hangingPunct="1">
              <a:lnSpc>
                <a:spcPct val="120000"/>
              </a:lnSpc>
              <a:spcBef>
                <a:spcPct val="20000"/>
              </a:spcBef>
              <a:spcAft>
                <a:spcPct val="0"/>
              </a:spcAft>
              <a:buClr>
                <a:srgbClr val="000066"/>
              </a:buClr>
              <a:buSzTx/>
              <a:buFont typeface="Wingdings" pitchFamily="2" charset="2"/>
              <a:buChar char="v"/>
              <a:tabLst/>
              <a:defRPr/>
            </a:pPr>
            <a:r>
              <a:rPr kumimoji="0" lang="en-US" altLang="zh-CN" sz="2000" b="0" i="0" u="none" strike="noStrike" kern="0" cap="none" spc="0" normalizeH="0" baseline="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MSB</a:t>
            </a:r>
            <a:r>
              <a:rPr kumimoji="0" lang="zh-CN" altLang="en-US" sz="2000" b="0" i="0" u="none" strike="noStrike" kern="0" cap="none" spc="0" normalizeH="0" baseline="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 </a:t>
            </a:r>
            <a:r>
              <a:rPr kumimoji="0" lang="en-US" altLang="zh-CN" sz="2000" b="0" i="0" u="none" strike="noStrike" kern="0" cap="none" spc="0" normalizeH="0" baseline="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is the sign bit (</a:t>
            </a:r>
            <a:r>
              <a:rPr kumimoji="0" lang="en-US" altLang="zh-CN" sz="2000" b="1" i="0" u="none" strike="noStrike" kern="0" cap="none" spc="0" normalizeH="0" baseline="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MSB=0, positive;</a:t>
            </a:r>
            <a:r>
              <a:rPr kumimoji="0" lang="en-US" altLang="zh-CN" sz="2000" b="1" i="0" u="none" strike="noStrike" kern="0" cap="none" spc="0" normalizeH="0" baseline="0" noProof="0" dirty="0">
                <a:ln>
                  <a:noFill/>
                </a:ln>
                <a:solidFill>
                  <a:srgbClr val="3333FF"/>
                </a:solidFill>
                <a:effectLst/>
                <a:uLnTx/>
                <a:uFillTx/>
                <a:latin typeface="Calibri" panose="020F0502020204030204" pitchFamily="34" charset="0"/>
                <a:ea typeface="黑体" pitchFamily="49" charset="-122"/>
                <a:cs typeface="Calibri" panose="020F0502020204030204" pitchFamily="34" charset="0"/>
              </a:rPr>
              <a:t> </a:t>
            </a:r>
            <a:r>
              <a:rPr kumimoji="0" lang="en-US" altLang="zh-CN" sz="2000" b="1" i="0" u="none" strike="noStrike" kern="0" cap="none" spc="0" normalizeH="0" baseline="0" noProof="0" dirty="0">
                <a:ln>
                  <a:noFill/>
                </a:ln>
                <a:solidFill>
                  <a:srgbClr val="000000"/>
                </a:solidFill>
                <a:effectLst/>
                <a:uLnTx/>
                <a:uFillTx/>
                <a:latin typeface="Calibri" panose="020F0502020204030204" pitchFamily="34" charset="0"/>
                <a:ea typeface="黑体" pitchFamily="49" charset="-122"/>
                <a:cs typeface="Calibri" panose="020F0502020204030204" pitchFamily="34" charset="0"/>
              </a:rPr>
              <a:t>MSB=1, negative.)</a:t>
            </a:r>
            <a:endParaRPr kumimoji="0" lang="en-US" altLang="zh-CN" sz="2000" b="1" i="0" u="none" strike="noStrike" kern="0" cap="none" spc="0" normalizeH="0" baseline="0" noProof="0" dirty="0">
              <a:ln>
                <a:noFill/>
              </a:ln>
              <a:solidFill>
                <a:srgbClr val="3333FF"/>
              </a:solidFill>
              <a:effectLst/>
              <a:uLnTx/>
              <a:uFillTx/>
              <a:latin typeface="Calibri" panose="020F0502020204030204" pitchFamily="34" charset="0"/>
              <a:ea typeface="黑体" pitchFamily="49" charset="-122"/>
              <a:cs typeface="Calibri" panose="020F0502020204030204" pitchFamily="34" charset="0"/>
            </a:endParaRPr>
          </a:p>
        </p:txBody>
      </p:sp>
    </p:spTree>
    <p:extLst>
      <p:ext uri="{BB962C8B-B14F-4D97-AF65-F5344CB8AC3E}">
        <p14:creationId xmlns:p14="http://schemas.microsoft.com/office/powerpoint/2010/main" val="16260813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EA0323-6CA8-177E-5336-59AD22CCA604}"/>
              </a:ext>
            </a:extLst>
          </p:cNvPr>
          <p:cNvSpPr>
            <a:spLocks noGrp="1"/>
          </p:cNvSpPr>
          <p:nvPr>
            <p:ph type="title"/>
          </p:nvPr>
        </p:nvSpPr>
        <p:spPr/>
        <p:txBody>
          <a:bodyPr/>
          <a:lstStyle/>
          <a:p>
            <a:r>
              <a:rPr kumimoji="1" lang="zh-CN" altLang="en-US" dirty="0"/>
              <a:t>理解</a:t>
            </a:r>
            <a:r>
              <a:rPr kumimoji="1" lang="en-US" altLang="zh-CN" dirty="0"/>
              <a:t>2-</a:t>
            </a:r>
            <a:r>
              <a:rPr kumimoji="1" lang="zh-CN" altLang="en-US" dirty="0"/>
              <a:t>补码</a:t>
            </a:r>
          </a:p>
        </p:txBody>
      </p:sp>
      <p:sp>
        <p:nvSpPr>
          <p:cNvPr id="4" name="灯片编号占位符 3">
            <a:extLst>
              <a:ext uri="{FF2B5EF4-FFF2-40B4-BE49-F238E27FC236}">
                <a16:creationId xmlns:a16="http://schemas.microsoft.com/office/drawing/2014/main" id="{40CF8C5A-1362-BD55-4057-B24834E582B2}"/>
              </a:ext>
            </a:extLst>
          </p:cNvPr>
          <p:cNvSpPr>
            <a:spLocks noGrp="1"/>
          </p:cNvSpPr>
          <p:nvPr>
            <p:ph type="sldNum" sz="quarter" idx="12"/>
          </p:nvPr>
        </p:nvSpPr>
        <p:spPr/>
        <p:txBody>
          <a:bodyPr/>
          <a:lstStyle/>
          <a:p>
            <a:fld id="{14659731-6BD7-46E7-8D3C-2F3AC07E20B1}" type="slidenum">
              <a:rPr lang="en-US" altLang="zh-CN" smtClean="0"/>
              <a:pPr/>
              <a:t>22</a:t>
            </a:fld>
            <a:endParaRPr lang="en-US" altLang="zh-CN"/>
          </a:p>
        </p:txBody>
      </p:sp>
      <p:sp>
        <p:nvSpPr>
          <p:cNvPr id="5" name="Rectangle 3">
            <a:extLst>
              <a:ext uri="{FF2B5EF4-FFF2-40B4-BE49-F238E27FC236}">
                <a16:creationId xmlns:a16="http://schemas.microsoft.com/office/drawing/2014/main" id="{923A4574-AE19-3BB8-3EF6-A177473FB5C2}"/>
              </a:ext>
            </a:extLst>
          </p:cNvPr>
          <p:cNvSpPr>
            <a:spLocks noGrp="1" noChangeArrowheads="1"/>
          </p:cNvSpPr>
          <p:nvPr>
            <p:ph idx="1"/>
          </p:nvPr>
        </p:nvSpPr>
        <p:spPr/>
        <p:txBody>
          <a:bodyPr/>
          <a:lstStyle/>
          <a:p>
            <a:pPr hangingPunct="1"/>
            <a:r>
              <a:rPr lang="zh-CN" altLang="en-US" sz="2400" dirty="0">
                <a:latin typeface="Calibri" panose="020F0502020204030204" pitchFamily="34" charset="0"/>
                <a:cs typeface="Calibri" panose="020F0502020204030204" pitchFamily="34" charset="0"/>
              </a:rPr>
              <a:t>十进制</a:t>
            </a:r>
            <a:r>
              <a:rPr lang="zh-CN" altLang="en-US" sz="2400" dirty="0">
                <a:solidFill>
                  <a:schemeClr val="tx1"/>
                </a:solidFill>
                <a:latin typeface="Calibri" panose="020F0502020204030204" pitchFamily="34" charset="0"/>
                <a:cs typeface="Calibri" panose="020F0502020204030204" pitchFamily="34" charset="0"/>
              </a:rPr>
              <a:t>负数和</a:t>
            </a:r>
            <a:r>
              <a:rPr lang="en-US" altLang="zh-CN" sz="2400" dirty="0">
                <a:solidFill>
                  <a:schemeClr val="tx1"/>
                </a:solidFill>
                <a:latin typeface="Calibri" panose="020F0502020204030204" pitchFamily="34" charset="0"/>
                <a:cs typeface="Calibri" panose="020F0502020204030204" pitchFamily="34" charset="0"/>
              </a:rPr>
              <a:t>2-</a:t>
            </a:r>
            <a:r>
              <a:rPr lang="zh-CN" altLang="en-US" sz="2400" dirty="0">
                <a:solidFill>
                  <a:schemeClr val="tx1"/>
                </a:solidFill>
                <a:latin typeface="Calibri" panose="020F0502020204030204" pitchFamily="34" charset="0"/>
                <a:cs typeface="Calibri" panose="020F0502020204030204" pitchFamily="34" charset="0"/>
              </a:rPr>
              <a:t>补码的转化方式？举两个例子</a:t>
            </a:r>
            <a:endParaRPr lang="en-US" altLang="zh-CN" sz="2400" dirty="0">
              <a:solidFill>
                <a:schemeClr val="tx1"/>
              </a:solidFill>
              <a:latin typeface="Calibri" panose="020F0502020204030204" pitchFamily="34" charset="0"/>
              <a:cs typeface="Calibri" panose="020F0502020204030204" pitchFamily="34" charset="0"/>
            </a:endParaRPr>
          </a:p>
          <a:p>
            <a:pPr lvl="1" hangingPunct="1"/>
            <a:r>
              <a:rPr lang="en-CN" altLang="zh-CN" sz="2000" b="1">
                <a:latin typeface="Calibri" panose="020F0502020204030204" pitchFamily="34" charset="0"/>
                <a:cs typeface="Calibri" panose="020F0502020204030204" pitchFamily="34" charset="0"/>
              </a:rPr>
              <a:t>Q: </a:t>
            </a:r>
            <a:r>
              <a:rPr lang="en-US" altLang="zh-CN" sz="2000" dirty="0">
                <a:solidFill>
                  <a:srgbClr val="3333FF"/>
                </a:solidFill>
                <a:latin typeface="Calibri" panose="020F0502020204030204" pitchFamily="34" charset="0"/>
                <a:cs typeface="Calibri" panose="020F0502020204030204" pitchFamily="34" charset="0"/>
              </a:rPr>
              <a:t>(</a:t>
            </a:r>
            <a:r>
              <a:rPr lang="en-US" altLang="zh-CN" sz="2000" b="1" dirty="0">
                <a:solidFill>
                  <a:srgbClr val="3333FF"/>
                </a:solidFill>
                <a:latin typeface="Calibri" panose="020F0502020204030204" pitchFamily="34" charset="0"/>
                <a:cs typeface="Calibri" panose="020F0502020204030204" pitchFamily="34" charset="0"/>
              </a:rPr>
              <a:t>-3)</a:t>
            </a:r>
            <a:r>
              <a:rPr lang="en-US" altLang="zh-CN" sz="2000" b="1" baseline="-25000" dirty="0">
                <a:solidFill>
                  <a:srgbClr val="3333FF"/>
                </a:solidFill>
                <a:latin typeface="Calibri" panose="020F0502020204030204" pitchFamily="34" charset="0"/>
                <a:cs typeface="Calibri" panose="020F0502020204030204" pitchFamily="34" charset="0"/>
              </a:rPr>
              <a:t>10</a:t>
            </a:r>
            <a:r>
              <a:rPr lang="zh-CN" altLang="en-US" sz="2000" b="1" dirty="0">
                <a:latin typeface="Calibri" panose="020F0502020204030204" pitchFamily="34" charset="0"/>
                <a:cs typeface="Calibri" panose="020F0502020204030204" pitchFamily="34" charset="0"/>
              </a:rPr>
              <a:t>如何转化为</a:t>
            </a:r>
            <a:r>
              <a:rPr lang="en-CN" altLang="zh-CN" sz="2000" b="1">
                <a:latin typeface="Calibri" panose="020F0502020204030204" pitchFamily="34" charset="0"/>
                <a:cs typeface="Calibri" panose="020F0502020204030204" pitchFamily="34" charset="0"/>
              </a:rPr>
              <a:t> </a:t>
            </a:r>
            <a:r>
              <a:rPr lang="en-US" altLang="zh-CN" sz="2000" b="1" dirty="0">
                <a:solidFill>
                  <a:srgbClr val="3333FF"/>
                </a:solidFill>
                <a:latin typeface="Calibri" panose="020F0502020204030204" pitchFamily="34" charset="0"/>
                <a:cs typeface="Calibri" panose="020F0502020204030204" pitchFamily="34" charset="0"/>
              </a:rPr>
              <a:t>101</a:t>
            </a:r>
            <a:r>
              <a:rPr lang="en-US" altLang="zh-CN" sz="2000" b="1" baseline="-25000" dirty="0">
                <a:solidFill>
                  <a:srgbClr val="3333FF"/>
                </a:solidFill>
                <a:latin typeface="Calibri" panose="020F0502020204030204" pitchFamily="34" charset="0"/>
                <a:cs typeface="Calibri" panose="020F0502020204030204" pitchFamily="34" charset="0"/>
              </a:rPr>
              <a:t>2</a:t>
            </a:r>
            <a:r>
              <a:rPr lang="en-CN" altLang="zh-CN" sz="2000" b="1">
                <a:latin typeface="Calibri" panose="020F0502020204030204" pitchFamily="34" charset="0"/>
                <a:cs typeface="Calibri" panose="020F0502020204030204" pitchFamily="34" charset="0"/>
              </a:rPr>
              <a:t>?</a:t>
            </a:r>
          </a:p>
          <a:p>
            <a:pPr lvl="2" hangingPunct="1"/>
            <a:r>
              <a:rPr lang="zh-CN" altLang="en-US" sz="2000" dirty="0">
                <a:solidFill>
                  <a:schemeClr val="tx1"/>
                </a:solidFill>
                <a:latin typeface="Calibri" panose="020F0502020204030204" pitchFamily="34" charset="0"/>
                <a:cs typeface="Calibri" panose="020F0502020204030204" pitchFamily="34" charset="0"/>
                <a:sym typeface="Wingdings" pitchFamily="2" charset="2"/>
              </a:rPr>
              <a:t>写出</a:t>
            </a:r>
            <a:r>
              <a:rPr lang="en-US" altLang="zh-CN" sz="2000" dirty="0">
                <a:solidFill>
                  <a:srgbClr val="3333FF"/>
                </a:solidFill>
                <a:latin typeface="Calibri" panose="020F0502020204030204" pitchFamily="34" charset="0"/>
                <a:cs typeface="Calibri" panose="020F0502020204030204" pitchFamily="34" charset="0"/>
                <a:sym typeface="Wingdings" pitchFamily="2" charset="2"/>
              </a:rPr>
              <a:t>3</a:t>
            </a:r>
            <a:r>
              <a:rPr lang="en-US" altLang="zh-CN" sz="2000" baseline="-25000" dirty="0">
                <a:solidFill>
                  <a:srgbClr val="3333FF"/>
                </a:solidFill>
                <a:latin typeface="Calibri" panose="020F0502020204030204" pitchFamily="34" charset="0"/>
                <a:cs typeface="Calibri" panose="020F0502020204030204" pitchFamily="34" charset="0"/>
                <a:sym typeface="Wingdings" pitchFamily="2" charset="2"/>
              </a:rPr>
              <a:t>10</a:t>
            </a:r>
            <a:r>
              <a:rPr lang="zh-CN" altLang="en-US" sz="2000" dirty="0">
                <a:latin typeface="Calibri" panose="020F0502020204030204" pitchFamily="34" charset="0"/>
                <a:cs typeface="Calibri" panose="020F0502020204030204" pitchFamily="34" charset="0"/>
                <a:sym typeface="Wingdings" pitchFamily="2" charset="2"/>
              </a:rPr>
              <a:t>的二补码</a:t>
            </a:r>
            <a:r>
              <a:rPr lang="en-US" altLang="zh-CN" sz="2000" dirty="0">
                <a:solidFill>
                  <a:srgbClr val="3333FF"/>
                </a:solidFill>
                <a:latin typeface="Calibri" panose="020F0502020204030204" pitchFamily="34" charset="0"/>
                <a:cs typeface="Calibri" panose="020F0502020204030204" pitchFamily="34" charset="0"/>
                <a:sym typeface="Wingdings" pitchFamily="2" charset="2"/>
              </a:rPr>
              <a:t>011</a:t>
            </a:r>
            <a:r>
              <a:rPr lang="en-US" altLang="zh-CN" sz="2000" baseline="-25000" dirty="0">
                <a:solidFill>
                  <a:srgbClr val="3333FF"/>
                </a:solidFill>
                <a:latin typeface="Calibri" panose="020F0502020204030204" pitchFamily="34" charset="0"/>
                <a:cs typeface="Calibri" panose="020F0502020204030204" pitchFamily="34" charset="0"/>
                <a:sym typeface="Wingdings" pitchFamily="2" charset="2"/>
              </a:rPr>
              <a:t>2</a:t>
            </a:r>
            <a:r>
              <a:rPr lang="en-US" altLang="zh-CN" sz="2000" dirty="0">
                <a:solidFill>
                  <a:schemeClr val="tx1"/>
                </a:solidFill>
                <a:latin typeface="Calibri" panose="020F0502020204030204" pitchFamily="34" charset="0"/>
                <a:cs typeface="Calibri" panose="020F0502020204030204" pitchFamily="34" charset="0"/>
                <a:sym typeface="Wingdings" pitchFamily="2" charset="2"/>
              </a:rPr>
              <a:t>, </a:t>
            </a:r>
            <a:r>
              <a:rPr lang="zh-CN" altLang="en-US" sz="2000" dirty="0">
                <a:solidFill>
                  <a:schemeClr val="tx1"/>
                </a:solidFill>
                <a:latin typeface="Calibri" panose="020F0502020204030204" pitchFamily="34" charset="0"/>
                <a:cs typeface="Calibri" panose="020F0502020204030204" pitchFamily="34" charset="0"/>
                <a:sym typeface="Wingdings" pitchFamily="2" charset="2"/>
              </a:rPr>
              <a:t>翻转每个</a:t>
            </a:r>
            <a:r>
              <a:rPr lang="en-US" altLang="zh-CN" sz="2000" dirty="0">
                <a:solidFill>
                  <a:schemeClr val="tx1"/>
                </a:solidFill>
                <a:latin typeface="Calibri" panose="020F0502020204030204" pitchFamily="34" charset="0"/>
                <a:cs typeface="Calibri" panose="020F0502020204030204" pitchFamily="34" charset="0"/>
                <a:sym typeface="Wingdings" pitchFamily="2" charset="2"/>
              </a:rPr>
              <a:t>bit</a:t>
            </a:r>
            <a:r>
              <a:rPr lang="zh-CN" altLang="en-US" sz="2000" dirty="0">
                <a:solidFill>
                  <a:schemeClr val="tx1"/>
                </a:solidFill>
                <a:latin typeface="Calibri" panose="020F0502020204030204" pitchFamily="34" charset="0"/>
                <a:cs typeface="Calibri" panose="020F0502020204030204" pitchFamily="34" charset="0"/>
                <a:sym typeface="Wingdings" pitchFamily="2" charset="2"/>
              </a:rPr>
              <a:t>得到</a:t>
            </a:r>
            <a:r>
              <a:rPr lang="en-US" altLang="zh-CN" sz="2000" dirty="0">
                <a:solidFill>
                  <a:srgbClr val="3333FF"/>
                </a:solidFill>
                <a:latin typeface="Calibri" panose="020F0502020204030204" pitchFamily="34" charset="0"/>
                <a:cs typeface="Calibri" panose="020F0502020204030204" pitchFamily="34" charset="0"/>
                <a:sym typeface="Wingdings" pitchFamily="2" charset="2"/>
              </a:rPr>
              <a:t>100</a:t>
            </a:r>
            <a:r>
              <a:rPr lang="en-US" altLang="zh-CN" sz="2000" baseline="-25000" dirty="0">
                <a:solidFill>
                  <a:srgbClr val="3333FF"/>
                </a:solidFill>
                <a:latin typeface="Calibri" panose="020F0502020204030204" pitchFamily="34" charset="0"/>
                <a:cs typeface="Calibri" panose="020F0502020204030204" pitchFamily="34" charset="0"/>
                <a:sym typeface="Wingdings" pitchFamily="2" charset="2"/>
              </a:rPr>
              <a:t>2</a:t>
            </a:r>
            <a:r>
              <a:rPr lang="en-US" altLang="zh-CN" sz="2000" dirty="0">
                <a:solidFill>
                  <a:schemeClr val="tx1"/>
                </a:solidFill>
                <a:latin typeface="Calibri" panose="020F0502020204030204" pitchFamily="34" charset="0"/>
                <a:cs typeface="Calibri" panose="020F0502020204030204" pitchFamily="34" charset="0"/>
                <a:sym typeface="Wingdings" pitchFamily="2" charset="2"/>
              </a:rPr>
              <a:t>, </a:t>
            </a:r>
            <a:r>
              <a:rPr lang="zh-CN" altLang="en-US" sz="2000" dirty="0">
                <a:solidFill>
                  <a:schemeClr val="tx1"/>
                </a:solidFill>
                <a:latin typeface="Calibri" panose="020F0502020204030204" pitchFamily="34" charset="0"/>
                <a:cs typeface="Calibri" panose="020F0502020204030204" pitchFamily="34" charset="0"/>
                <a:sym typeface="Wingdings" pitchFamily="2" charset="2"/>
              </a:rPr>
              <a:t>并加一</a:t>
            </a:r>
            <a:r>
              <a:rPr lang="zh-CN" altLang="en-US" sz="2000" dirty="0">
                <a:latin typeface="Calibri" panose="020F0502020204030204" pitchFamily="34" charset="0"/>
                <a:cs typeface="Calibri" panose="020F0502020204030204" pitchFamily="34" charset="0"/>
                <a:sym typeface="Wingdings" pitchFamily="2" charset="2"/>
              </a:rPr>
              <a:t>得到</a:t>
            </a:r>
            <a:r>
              <a:rPr lang="en-US" altLang="zh-CN" sz="2000" dirty="0">
                <a:solidFill>
                  <a:srgbClr val="3333FF"/>
                </a:solidFill>
                <a:latin typeface="Calibri" panose="020F0502020204030204" pitchFamily="34" charset="0"/>
                <a:cs typeface="Calibri" panose="020F0502020204030204" pitchFamily="34" charset="0"/>
                <a:sym typeface="Wingdings" pitchFamily="2" charset="2"/>
              </a:rPr>
              <a:t>101</a:t>
            </a:r>
            <a:r>
              <a:rPr lang="en-US" altLang="zh-CN" sz="2000" baseline="-25000" dirty="0">
                <a:solidFill>
                  <a:srgbClr val="3333FF"/>
                </a:solidFill>
                <a:latin typeface="Calibri" panose="020F0502020204030204" pitchFamily="34" charset="0"/>
                <a:cs typeface="Calibri" panose="020F0502020204030204" pitchFamily="34" charset="0"/>
                <a:sym typeface="Wingdings" pitchFamily="2" charset="2"/>
              </a:rPr>
              <a:t>2</a:t>
            </a:r>
          </a:p>
          <a:p>
            <a:pPr lvl="1"/>
            <a:endParaRPr lang="en-US" altLang="zh-CN" sz="2000" b="1" dirty="0">
              <a:latin typeface="Calibri" panose="020F0502020204030204" pitchFamily="34" charset="0"/>
              <a:cs typeface="Calibri" panose="020F0502020204030204" pitchFamily="34" charset="0"/>
            </a:endParaRPr>
          </a:p>
          <a:p>
            <a:pPr lvl="1"/>
            <a:r>
              <a:rPr lang="en-CN" altLang="zh-CN" sz="2000" b="1">
                <a:latin typeface="Calibri" panose="020F0502020204030204" pitchFamily="34" charset="0"/>
                <a:cs typeface="Calibri" panose="020F0502020204030204" pitchFamily="34" charset="0"/>
              </a:rPr>
              <a:t>Q: </a:t>
            </a:r>
            <a:r>
              <a:rPr lang="en-CN" altLang="zh-CN" sz="2000" b="1">
                <a:solidFill>
                  <a:srgbClr val="3333FF"/>
                </a:solidFill>
                <a:latin typeface="Calibri" panose="020F0502020204030204" pitchFamily="34" charset="0"/>
                <a:cs typeface="Calibri" panose="020F0502020204030204" pitchFamily="34" charset="0"/>
              </a:rPr>
              <a:t>101</a:t>
            </a:r>
            <a:r>
              <a:rPr lang="en-US" altLang="zh-CN" sz="2000" b="1" baseline="-25000" dirty="0">
                <a:solidFill>
                  <a:srgbClr val="3333FF"/>
                </a:solidFill>
                <a:latin typeface="Calibri" panose="020F0502020204030204" pitchFamily="34" charset="0"/>
                <a:cs typeface="Calibri" panose="020F0502020204030204" pitchFamily="34" charset="0"/>
              </a:rPr>
              <a:t>2</a:t>
            </a:r>
            <a:r>
              <a:rPr lang="zh-CN" altLang="en-US" sz="2000" b="1" dirty="0">
                <a:latin typeface="Calibri" panose="020F0502020204030204" pitchFamily="34" charset="0"/>
                <a:cs typeface="Calibri" panose="020F0502020204030204" pitchFamily="34" charset="0"/>
              </a:rPr>
              <a:t>如何转化为</a:t>
            </a:r>
            <a:r>
              <a:rPr lang="en-US" altLang="zh-CN" sz="2000" b="1" dirty="0">
                <a:solidFill>
                  <a:srgbClr val="3333FF"/>
                </a:solidFill>
                <a:latin typeface="Calibri" panose="020F0502020204030204" pitchFamily="34" charset="0"/>
                <a:cs typeface="Calibri" panose="020F0502020204030204" pitchFamily="34" charset="0"/>
              </a:rPr>
              <a:t>(-3)</a:t>
            </a:r>
            <a:r>
              <a:rPr lang="en-US" altLang="zh-CN" sz="2000" b="1" baseline="-25000" dirty="0">
                <a:solidFill>
                  <a:srgbClr val="3333FF"/>
                </a:solidFill>
                <a:latin typeface="Calibri" panose="020F0502020204030204" pitchFamily="34" charset="0"/>
                <a:cs typeface="Calibri" panose="020F0502020204030204" pitchFamily="34" charset="0"/>
              </a:rPr>
              <a:t>10</a:t>
            </a:r>
            <a:r>
              <a:rPr lang="en-CN" altLang="zh-CN" sz="2000" b="1">
                <a:latin typeface="Calibri" panose="020F0502020204030204" pitchFamily="34" charset="0"/>
                <a:cs typeface="Calibri" panose="020F0502020204030204" pitchFamily="34" charset="0"/>
              </a:rPr>
              <a:t>?</a:t>
            </a:r>
            <a:r>
              <a:rPr lang="en-US" altLang="zh-CN" sz="2000" b="1"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ea typeface="Microsoft YaHei" panose="020B0503020204020204" pitchFamily="34" charset="-122"/>
                <a:cs typeface="Calibri" panose="020F0502020204030204" pitchFamily="34" charset="0"/>
              </a:rPr>
              <a:t> </a:t>
            </a:r>
            <a:r>
              <a:rPr lang="zh-CN" altLang="en-US" sz="2000" dirty="0">
                <a:latin typeface="Calibri" panose="020F0502020204030204" pitchFamily="34" charset="0"/>
                <a:cs typeface="Calibri" panose="020F0502020204030204" pitchFamily="34" charset="0"/>
              </a:rPr>
              <a:t>一般地，对于</a:t>
            </a:r>
            <a:r>
              <a:rPr lang="en-US" altLang="zh-CN" sz="2000" dirty="0">
                <a:latin typeface="Calibri" panose="020F0502020204030204" pitchFamily="34" charset="0"/>
                <a:cs typeface="Calibri" panose="020F0502020204030204" pitchFamily="34" charset="0"/>
              </a:rPr>
              <a:t>n</a:t>
            </a:r>
            <a:r>
              <a:rPr lang="zh-CN" altLang="en-US" sz="2000" dirty="0">
                <a:latin typeface="Calibri" panose="020F0502020204030204" pitchFamily="34" charset="0"/>
                <a:cs typeface="Calibri" panose="020F0502020204030204" pitchFamily="34" charset="0"/>
              </a:rPr>
              <a:t>位负数</a:t>
            </a:r>
            <a:r>
              <a:rPr lang="en-US" altLang="zh-CN" sz="2000" dirty="0">
                <a:latin typeface="Calibri" panose="020F0502020204030204" pitchFamily="34" charset="0"/>
                <a:cs typeface="Calibri" panose="020F0502020204030204" pitchFamily="34" charset="0"/>
              </a:rPr>
              <a:t>2-</a:t>
            </a:r>
            <a:r>
              <a:rPr lang="zh-CN" altLang="en-US" sz="2000" dirty="0">
                <a:latin typeface="Calibri" panose="020F0502020204030204" pitchFamily="34" charset="0"/>
                <a:cs typeface="Calibri" panose="020F0502020204030204" pitchFamily="34" charset="0"/>
              </a:rPr>
              <a:t>补码</a:t>
            </a:r>
            <a:r>
              <a:rPr lang="en-US" altLang="zh-CN" sz="2000" dirty="0">
                <a:latin typeface="Calibri" panose="020F0502020204030204" pitchFamily="34" charset="0"/>
                <a:cs typeface="Calibri" panose="020F0502020204030204" pitchFamily="34" charset="0"/>
              </a:rPr>
              <a:t> </a:t>
            </a:r>
            <a:r>
              <a:rPr lang="en-US" altLang="zh-CN" sz="2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(k</a:t>
            </a:r>
            <a:r>
              <a:rPr lang="en-US" altLang="zh-CN" sz="2000" baseline="-25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n</a:t>
            </a:r>
            <a:r>
              <a:rPr lang="en-US" altLang="zh-CN" sz="2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k</a:t>
            </a:r>
            <a:r>
              <a:rPr lang="en-US" altLang="zh-CN" sz="2000" baseline="-25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n-1</a:t>
            </a:r>
            <a:r>
              <a:rPr lang="en-US" altLang="zh-CN" sz="2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..k</a:t>
            </a:r>
            <a:r>
              <a:rPr lang="en-US" altLang="zh-CN" sz="2000" baseline="-25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1</a:t>
            </a:r>
            <a:r>
              <a:rPr lang="en-US" altLang="zh-CN" sz="2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a:t>
            </a:r>
            <a:r>
              <a:rPr lang="en-US" altLang="zh-CN" sz="2000" baseline="-25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2</a:t>
            </a:r>
            <a:r>
              <a:rPr lang="en-US" altLang="zh-CN" sz="2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 (</a:t>
            </a:r>
            <a:r>
              <a:rPr lang="en-US" altLang="zh-CN" sz="2000" dirty="0" err="1">
                <a:solidFill>
                  <a:srgbClr val="3333FF"/>
                </a:solidFill>
                <a:latin typeface="Calibri" panose="020F0502020204030204" pitchFamily="34" charset="0"/>
                <a:ea typeface="Microsoft YaHei" panose="020B0503020204020204" pitchFamily="34" charset="-122"/>
                <a:cs typeface="Calibri" panose="020F0502020204030204" pitchFamily="34" charset="0"/>
              </a:rPr>
              <a:t>k</a:t>
            </a:r>
            <a:r>
              <a:rPr lang="en-US" altLang="zh-CN" sz="2000" baseline="-25000" dirty="0" err="1">
                <a:solidFill>
                  <a:srgbClr val="3333FF"/>
                </a:solidFill>
                <a:latin typeface="Calibri" panose="020F0502020204030204" pitchFamily="34" charset="0"/>
                <a:ea typeface="Microsoft YaHei" panose="020B0503020204020204" pitchFamily="34" charset="-122"/>
                <a:cs typeface="Calibri" panose="020F0502020204030204" pitchFamily="34" charset="0"/>
              </a:rPr>
              <a:t>n</a:t>
            </a:r>
            <a:r>
              <a:rPr lang="en-US" altLang="zh-CN" sz="2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=1) </a:t>
            </a:r>
            <a:r>
              <a:rPr lang="zh-CN" altLang="en-US" sz="2000" dirty="0">
                <a:latin typeface="SimHei" panose="02010609060101010101" pitchFamily="49" charset="-122"/>
                <a:ea typeface="SimHei" panose="02010609060101010101" pitchFamily="49" charset="-122"/>
                <a:cs typeface="Calibri" panose="020F0502020204030204" pitchFamily="34" charset="0"/>
              </a:rPr>
              <a:t>，如何转化为</a:t>
            </a:r>
            <a:r>
              <a:rPr lang="en-US" altLang="zh-CN" sz="2000" dirty="0">
                <a:latin typeface="Calibri" panose="020F0502020204030204" pitchFamily="34" charset="0"/>
                <a:ea typeface="Microsoft YaHei" panose="020B0503020204020204" pitchFamily="34" charset="-122"/>
                <a:cs typeface="Calibri" panose="020F0502020204030204" pitchFamily="34" charset="0"/>
              </a:rPr>
              <a:t> </a:t>
            </a:r>
            <a:r>
              <a:rPr lang="en-US" altLang="zh-CN" sz="2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(–N)</a:t>
            </a:r>
            <a:r>
              <a:rPr lang="en-US" altLang="zh-CN" sz="2000" baseline="-25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10</a:t>
            </a:r>
            <a:r>
              <a:rPr lang="en-US" altLang="zh-CN" sz="2000" dirty="0">
                <a:latin typeface="Calibri" panose="020F0502020204030204" pitchFamily="34" charset="0"/>
                <a:ea typeface="Microsoft YaHei" panose="020B0503020204020204" pitchFamily="34" charset="-122"/>
                <a:cs typeface="Calibri" panose="020F0502020204030204" pitchFamily="34" charset="0"/>
              </a:rPr>
              <a:t>?</a:t>
            </a:r>
            <a:endParaRPr lang="en-US" altLang="zh-CN" dirty="0">
              <a:latin typeface="Calibri" panose="020F0502020204030204" pitchFamily="34" charset="0"/>
              <a:ea typeface="Microsoft YaHei" panose="020B0503020204020204" pitchFamily="34" charset="-122"/>
              <a:cs typeface="Calibri" panose="020F0502020204030204" pitchFamily="34" charset="0"/>
            </a:endParaRPr>
          </a:p>
          <a:p>
            <a:pPr lvl="2" hangingPunct="1"/>
            <a:r>
              <a:rPr lang="zh-CN" altLang="en-US" sz="2000" dirty="0">
                <a:solidFill>
                  <a:schemeClr val="tx1"/>
                </a:solidFill>
                <a:latin typeface="Calibri" panose="020F0502020204030204" pitchFamily="34" charset="0"/>
                <a:cs typeface="Calibri" panose="020F0502020204030204" pitchFamily="34" charset="0"/>
              </a:rPr>
              <a:t>把上一问的方法逆向使用，或者</a:t>
            </a:r>
            <a:r>
              <a:rPr lang="zh-CN" altLang="en-US" sz="2000" dirty="0">
                <a:latin typeface="Calibri" panose="020F0502020204030204" pitchFamily="34" charset="0"/>
                <a:cs typeface="Calibri" panose="020F0502020204030204" pitchFamily="34" charset="0"/>
              </a:rPr>
              <a:t>：</a:t>
            </a:r>
            <a:endParaRPr lang="en-US" altLang="zh-CN" sz="2000" dirty="0">
              <a:solidFill>
                <a:schemeClr val="tx1"/>
              </a:solidFill>
              <a:latin typeface="Calibri" panose="020F0502020204030204" pitchFamily="34" charset="0"/>
              <a:cs typeface="Calibri" panose="020F0502020204030204" pitchFamily="34" charset="0"/>
            </a:endParaRPr>
          </a:p>
          <a:p>
            <a:pPr lvl="2" hangingPunct="1"/>
            <a:r>
              <a:rPr lang="zh-CN" altLang="en-US" sz="2000" dirty="0">
                <a:solidFill>
                  <a:schemeClr val="tx1"/>
                </a:solidFill>
                <a:latin typeface="Calibri" panose="020F0502020204030204" pitchFamily="34" charset="0"/>
                <a:cs typeface="Calibri" panose="020F0502020204030204" pitchFamily="34" charset="0"/>
              </a:rPr>
              <a:t>把</a:t>
            </a:r>
            <a:r>
              <a:rPr lang="en-US" altLang="zh-CN" sz="2000" dirty="0">
                <a:solidFill>
                  <a:schemeClr val="tx1"/>
                </a:solidFill>
                <a:latin typeface="Calibri" panose="020F0502020204030204" pitchFamily="34" charset="0"/>
                <a:cs typeface="Calibri" panose="020F0502020204030204" pitchFamily="34" charset="0"/>
              </a:rPr>
              <a:t> </a:t>
            </a:r>
            <a:r>
              <a:rPr lang="en-US" altLang="zh-CN" sz="2000" dirty="0">
                <a:solidFill>
                  <a:srgbClr val="3333FF"/>
                </a:solidFill>
                <a:latin typeface="Calibri" panose="020F0502020204030204" pitchFamily="34" charset="0"/>
                <a:cs typeface="Calibri" panose="020F0502020204030204" pitchFamily="34" charset="0"/>
              </a:rPr>
              <a:t>(-N)</a:t>
            </a:r>
            <a:r>
              <a:rPr lang="en-US" altLang="zh-CN" sz="2000" baseline="-25000" dirty="0">
                <a:solidFill>
                  <a:srgbClr val="3333FF"/>
                </a:solidFill>
                <a:latin typeface="Calibri" panose="020F0502020204030204" pitchFamily="34" charset="0"/>
                <a:cs typeface="Calibri" panose="020F0502020204030204" pitchFamily="34" charset="0"/>
              </a:rPr>
              <a:t>10</a:t>
            </a:r>
            <a:r>
              <a:rPr lang="zh-CN" altLang="en-US" sz="2000" dirty="0">
                <a:solidFill>
                  <a:schemeClr val="tx1"/>
                </a:solidFill>
                <a:latin typeface="Calibri" panose="020F0502020204030204" pitchFamily="34" charset="0"/>
                <a:cs typeface="Calibri" panose="020F0502020204030204" pitchFamily="34" charset="0"/>
              </a:rPr>
              <a:t>的</a:t>
            </a:r>
            <a:r>
              <a:rPr lang="en-US" altLang="zh-CN" sz="2000" dirty="0">
                <a:solidFill>
                  <a:schemeClr val="tx1"/>
                </a:solidFill>
                <a:latin typeface="Calibri" panose="020F0502020204030204" pitchFamily="34" charset="0"/>
                <a:cs typeface="Calibri" panose="020F0502020204030204" pitchFamily="34" charset="0"/>
              </a:rPr>
              <a:t>2-</a:t>
            </a:r>
            <a:r>
              <a:rPr lang="zh-CN" altLang="en-US" sz="2000" dirty="0">
                <a:solidFill>
                  <a:schemeClr val="tx1"/>
                </a:solidFill>
                <a:latin typeface="Calibri" panose="020F0502020204030204" pitchFamily="34" charset="0"/>
                <a:cs typeface="Calibri" panose="020F0502020204030204" pitchFamily="34" charset="0"/>
              </a:rPr>
              <a:t>补码理解为无符号数</a:t>
            </a:r>
            <a:r>
              <a:rPr lang="en-US" altLang="zh-CN" sz="2000" dirty="0">
                <a:solidFill>
                  <a:schemeClr val="tx1"/>
                </a:solidFill>
                <a:latin typeface="Calibri" panose="020F0502020204030204" pitchFamily="34" charset="0"/>
                <a:cs typeface="Calibri" panose="020F0502020204030204" pitchFamily="34" charset="0"/>
              </a:rPr>
              <a:t>N</a:t>
            </a:r>
            <a:r>
              <a:rPr lang="en-US" altLang="zh-CN" sz="2000" baseline="-25000" dirty="0">
                <a:solidFill>
                  <a:schemeClr val="tx1"/>
                </a:solidFill>
                <a:latin typeface="Calibri" panose="020F0502020204030204" pitchFamily="34" charset="0"/>
                <a:cs typeface="Calibri" panose="020F0502020204030204" pitchFamily="34" charset="0"/>
              </a:rPr>
              <a:t>us</a:t>
            </a:r>
            <a:r>
              <a:rPr lang="en-US" altLang="zh-CN" sz="2000" dirty="0">
                <a:solidFill>
                  <a:schemeClr val="tx1"/>
                </a:solidFill>
                <a:latin typeface="Calibri" panose="020F0502020204030204" pitchFamily="34" charset="0"/>
                <a:cs typeface="Calibri" panose="020F0502020204030204" pitchFamily="34" charset="0"/>
              </a:rPr>
              <a:t> : </a:t>
            </a:r>
          </a:p>
          <a:p>
            <a:pPr marL="914400" lvl="2" indent="0" hangingPunct="1">
              <a:buNone/>
            </a:pPr>
            <a:r>
              <a:rPr lang="en-US" altLang="zh-CN" sz="2000" dirty="0">
                <a:solidFill>
                  <a:schemeClr val="tx1"/>
                </a:solidFill>
                <a:latin typeface="Calibri" panose="020F0502020204030204" pitchFamily="34" charset="0"/>
                <a:cs typeface="Calibri" panose="020F0502020204030204" pitchFamily="34" charset="0"/>
              </a:rPr>
              <a:t>      </a:t>
            </a:r>
            <a:r>
              <a:rPr lang="en-US" altLang="zh-CN" b="0" dirty="0">
                <a:solidFill>
                  <a:schemeClr val="tx1"/>
                </a:solidFill>
                <a:latin typeface="Calibri" panose="020F0502020204030204" pitchFamily="34" charset="0"/>
                <a:cs typeface="Calibri" panose="020F0502020204030204" pitchFamily="34" charset="0"/>
              </a:rPr>
              <a:t>N</a:t>
            </a:r>
            <a:r>
              <a:rPr lang="en-US" altLang="zh-CN" b="0" baseline="-25000" dirty="0">
                <a:solidFill>
                  <a:schemeClr val="tx1"/>
                </a:solidFill>
                <a:latin typeface="Calibri" panose="020F0502020204030204" pitchFamily="34" charset="0"/>
                <a:cs typeface="Calibri" panose="020F0502020204030204" pitchFamily="34" charset="0"/>
              </a:rPr>
              <a:t>us</a:t>
            </a:r>
            <a:r>
              <a:rPr lang="en-US" altLang="zh-CN" b="0" dirty="0">
                <a:solidFill>
                  <a:schemeClr val="tx1"/>
                </a:solidFill>
                <a:latin typeface="Calibri" panose="020F0502020204030204" pitchFamily="34" charset="0"/>
                <a:cs typeface="Calibri" panose="020F0502020204030204" pitchFamily="34" charset="0"/>
              </a:rPr>
              <a:t> + N = (11…1)</a:t>
            </a:r>
            <a:r>
              <a:rPr lang="en-US" altLang="zh-CN" b="0" baseline="-25000" dirty="0">
                <a:solidFill>
                  <a:schemeClr val="tx1"/>
                </a:solidFill>
                <a:latin typeface="Calibri" panose="020F0502020204030204" pitchFamily="34" charset="0"/>
                <a:cs typeface="Calibri" panose="020F0502020204030204" pitchFamily="34" charset="0"/>
              </a:rPr>
              <a:t>2</a:t>
            </a:r>
            <a:r>
              <a:rPr lang="en-US" altLang="zh-CN" b="0" dirty="0">
                <a:solidFill>
                  <a:schemeClr val="tx1"/>
                </a:solidFill>
                <a:latin typeface="Calibri" panose="020F0502020204030204" pitchFamily="34" charset="0"/>
                <a:cs typeface="Calibri" panose="020F0502020204030204" pitchFamily="34" charset="0"/>
              </a:rPr>
              <a:t> + 1 = 2</a:t>
            </a:r>
            <a:r>
              <a:rPr lang="en-US" altLang="zh-CN" b="0" baseline="30000" dirty="0">
                <a:solidFill>
                  <a:schemeClr val="tx1"/>
                </a:solidFill>
                <a:latin typeface="Calibri" panose="020F0502020204030204" pitchFamily="34" charset="0"/>
                <a:cs typeface="Calibri" panose="020F0502020204030204" pitchFamily="34" charset="0"/>
              </a:rPr>
              <a:t>n</a:t>
            </a:r>
            <a:r>
              <a:rPr lang="en-US" altLang="zh-CN" b="0" dirty="0">
                <a:solidFill>
                  <a:schemeClr val="tx1"/>
                </a:solidFill>
                <a:latin typeface="Calibri" panose="020F0502020204030204" pitchFamily="34" charset="0"/>
                <a:cs typeface="Calibri" panose="020F0502020204030204" pitchFamily="34" charset="0"/>
              </a:rPr>
              <a:t>; </a:t>
            </a:r>
          </a:p>
          <a:p>
            <a:pPr marL="914400" lvl="2" indent="0" hangingPunct="1">
              <a:buNone/>
            </a:pPr>
            <a:r>
              <a:rPr lang="en-US" altLang="zh-CN" b="0" dirty="0">
                <a:solidFill>
                  <a:schemeClr val="tx1"/>
                </a:solidFill>
                <a:latin typeface="Calibri" panose="020F0502020204030204" pitchFamily="34" charset="0"/>
                <a:cs typeface="Calibri" panose="020F0502020204030204" pitchFamily="34" charset="0"/>
              </a:rPr>
              <a:t>     </a:t>
            </a:r>
            <a:r>
              <a:rPr lang="en-US" altLang="zh-CN" b="0" dirty="0">
                <a:solidFill>
                  <a:schemeClr val="tx1"/>
                </a:solidFill>
                <a:latin typeface="Calibri" panose="020F0502020204030204" pitchFamily="34" charset="0"/>
                <a:cs typeface="Calibri" panose="020F0502020204030204" pitchFamily="34" charset="0"/>
                <a:sym typeface="Wingdings" pitchFamily="2" charset="2"/>
              </a:rPr>
              <a:t></a:t>
            </a:r>
            <a:r>
              <a:rPr lang="en-US" altLang="zh-CN" b="0" dirty="0">
                <a:solidFill>
                  <a:schemeClr val="tx1"/>
                </a:solidFill>
                <a:latin typeface="Calibri" panose="020F0502020204030204" pitchFamily="34" charset="0"/>
                <a:cs typeface="Calibri" panose="020F0502020204030204" pitchFamily="34" charset="0"/>
              </a:rPr>
              <a:t> (– N) = N</a:t>
            </a:r>
            <a:r>
              <a:rPr lang="en-US" altLang="zh-CN" b="0" baseline="-25000" dirty="0">
                <a:solidFill>
                  <a:schemeClr val="tx1"/>
                </a:solidFill>
                <a:latin typeface="Calibri" panose="020F0502020204030204" pitchFamily="34" charset="0"/>
                <a:cs typeface="Calibri" panose="020F0502020204030204" pitchFamily="34" charset="0"/>
              </a:rPr>
              <a:t>us </a:t>
            </a:r>
            <a:r>
              <a:rPr lang="en-US" altLang="zh-CN" b="0" dirty="0">
                <a:solidFill>
                  <a:schemeClr val="tx1"/>
                </a:solidFill>
                <a:latin typeface="Calibri" panose="020F0502020204030204" pitchFamily="34" charset="0"/>
                <a:cs typeface="Calibri" panose="020F0502020204030204" pitchFamily="34" charset="0"/>
              </a:rPr>
              <a:t>– 2</a:t>
            </a:r>
            <a:r>
              <a:rPr lang="en-US" altLang="zh-CN" b="0" baseline="30000" dirty="0">
                <a:solidFill>
                  <a:schemeClr val="tx1"/>
                </a:solidFill>
                <a:latin typeface="Calibri" panose="020F0502020204030204" pitchFamily="34" charset="0"/>
                <a:cs typeface="Calibri" panose="020F0502020204030204" pitchFamily="34" charset="0"/>
              </a:rPr>
              <a:t>n</a:t>
            </a:r>
            <a:r>
              <a:rPr lang="en-US" altLang="zh-CN" b="0" dirty="0">
                <a:solidFill>
                  <a:schemeClr val="tx1"/>
                </a:solidFill>
                <a:latin typeface="Calibri" panose="020F0502020204030204" pitchFamily="34" charset="0"/>
                <a:cs typeface="Calibri" panose="020F0502020204030204" pitchFamily="34" charset="0"/>
              </a:rPr>
              <a:t> =</a:t>
            </a:r>
            <a:r>
              <a:rPr lang="en-US" altLang="zh-CN" b="0" dirty="0">
                <a:solidFill>
                  <a:srgbClr val="3333FF"/>
                </a:solidFill>
                <a:latin typeface="Calibri" panose="020F0502020204030204" pitchFamily="34" charset="0"/>
                <a:cs typeface="Calibri" panose="020F0502020204030204" pitchFamily="34" charset="0"/>
              </a:rPr>
              <a:t> </a:t>
            </a:r>
            <a:r>
              <a:rPr lang="en-US" altLang="zh-CN" b="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k</a:t>
            </a:r>
            <a:r>
              <a:rPr lang="en-US" altLang="zh-CN" b="0" baseline="-25000" dirty="0">
                <a:solidFill>
                  <a:srgbClr val="3333FF"/>
                </a:solidFill>
                <a:latin typeface="Calibri" panose="020F0502020204030204" pitchFamily="34" charset="0"/>
                <a:ea typeface="Microsoft YaHei" panose="020B0503020204020204" pitchFamily="34" charset="-122"/>
                <a:cs typeface="Calibri" panose="020F0502020204030204" pitchFamily="34" charset="0"/>
              </a:rPr>
              <a:t>n</a:t>
            </a:r>
            <a:r>
              <a:rPr lang="en-US" altLang="zh-CN" b="0" dirty="0">
                <a:solidFill>
                  <a:srgbClr val="3333FF"/>
                </a:solidFill>
                <a:latin typeface="Calibri" panose="020F0502020204030204" pitchFamily="34" charset="0"/>
                <a:cs typeface="Calibri" panose="020F0502020204030204" pitchFamily="34" charset="0"/>
              </a:rPr>
              <a:t>2</a:t>
            </a:r>
            <a:r>
              <a:rPr lang="en-US" altLang="zh-CN" b="0" baseline="30000" dirty="0">
                <a:solidFill>
                  <a:srgbClr val="3333FF"/>
                </a:solidFill>
                <a:latin typeface="Calibri" panose="020F0502020204030204" pitchFamily="34" charset="0"/>
                <a:cs typeface="Calibri" panose="020F0502020204030204" pitchFamily="34" charset="0"/>
              </a:rPr>
              <a:t>n-1</a:t>
            </a:r>
            <a:r>
              <a:rPr lang="en-US" altLang="zh-CN" b="0" dirty="0">
                <a:solidFill>
                  <a:srgbClr val="3333FF"/>
                </a:solidFill>
                <a:latin typeface="Calibri" panose="020F0502020204030204" pitchFamily="34" charset="0"/>
                <a:cs typeface="Calibri" panose="020F0502020204030204" pitchFamily="34" charset="0"/>
              </a:rPr>
              <a:t> </a:t>
            </a:r>
            <a:r>
              <a:rPr lang="en-US" altLang="zh-CN" b="0" dirty="0">
                <a:solidFill>
                  <a:schemeClr val="tx1"/>
                </a:solidFill>
                <a:latin typeface="Calibri" panose="020F0502020204030204" pitchFamily="34" charset="0"/>
                <a:cs typeface="Calibri" panose="020F0502020204030204" pitchFamily="34" charset="0"/>
              </a:rPr>
              <a:t>+ </a:t>
            </a:r>
            <a:r>
              <a:rPr lang="en-US" altLang="zh-CN" b="0" dirty="0">
                <a:latin typeface="Calibri" panose="020F0502020204030204" pitchFamily="34" charset="0"/>
                <a:ea typeface="Microsoft YaHei" panose="020B0503020204020204" pitchFamily="34" charset="-122"/>
                <a:cs typeface="Calibri" panose="020F0502020204030204" pitchFamily="34" charset="0"/>
              </a:rPr>
              <a:t>k</a:t>
            </a:r>
            <a:r>
              <a:rPr lang="en-US" altLang="zh-CN" b="0" baseline="-25000" dirty="0">
                <a:latin typeface="Calibri" panose="020F0502020204030204" pitchFamily="34" charset="0"/>
                <a:ea typeface="Microsoft YaHei" panose="020B0503020204020204" pitchFamily="34" charset="-122"/>
                <a:cs typeface="Calibri" panose="020F0502020204030204" pitchFamily="34" charset="0"/>
              </a:rPr>
              <a:t>n-1</a:t>
            </a:r>
            <a:r>
              <a:rPr lang="en-US" altLang="zh-CN" b="0" dirty="0">
                <a:solidFill>
                  <a:schemeClr val="tx1"/>
                </a:solidFill>
                <a:latin typeface="Calibri" panose="020F0502020204030204" pitchFamily="34" charset="0"/>
                <a:cs typeface="Calibri" panose="020F0502020204030204" pitchFamily="34" charset="0"/>
              </a:rPr>
              <a:t>2</a:t>
            </a:r>
            <a:r>
              <a:rPr lang="en-US" altLang="zh-CN" b="0" baseline="30000" dirty="0">
                <a:solidFill>
                  <a:schemeClr val="tx1"/>
                </a:solidFill>
                <a:latin typeface="Calibri" panose="020F0502020204030204" pitchFamily="34" charset="0"/>
                <a:cs typeface="Calibri" panose="020F0502020204030204" pitchFamily="34" charset="0"/>
              </a:rPr>
              <a:t>n-2</a:t>
            </a:r>
            <a:r>
              <a:rPr lang="en-US" altLang="zh-CN" b="0" dirty="0">
                <a:solidFill>
                  <a:schemeClr val="tx1"/>
                </a:solidFill>
                <a:latin typeface="Calibri" panose="020F0502020204030204" pitchFamily="34" charset="0"/>
                <a:cs typeface="Calibri" panose="020F0502020204030204" pitchFamily="34" charset="0"/>
              </a:rPr>
              <a:t> + … + </a:t>
            </a:r>
            <a:r>
              <a:rPr lang="en-US" altLang="zh-CN" b="0" dirty="0">
                <a:latin typeface="Calibri" panose="020F0502020204030204" pitchFamily="34" charset="0"/>
                <a:ea typeface="Microsoft YaHei" panose="020B0503020204020204" pitchFamily="34" charset="-122"/>
                <a:cs typeface="Calibri" panose="020F0502020204030204" pitchFamily="34" charset="0"/>
              </a:rPr>
              <a:t>k</a:t>
            </a:r>
            <a:r>
              <a:rPr lang="en-US" altLang="zh-CN" b="0" baseline="-25000" dirty="0">
                <a:latin typeface="Calibri" panose="020F0502020204030204" pitchFamily="34" charset="0"/>
                <a:ea typeface="Microsoft YaHei" panose="020B0503020204020204" pitchFamily="34" charset="-122"/>
                <a:cs typeface="Calibri" panose="020F0502020204030204" pitchFamily="34" charset="0"/>
              </a:rPr>
              <a:t>2</a:t>
            </a:r>
            <a:r>
              <a:rPr lang="en-US" altLang="zh-CN" b="0" dirty="0">
                <a:solidFill>
                  <a:schemeClr val="tx1"/>
                </a:solidFill>
                <a:latin typeface="Calibri" panose="020F0502020204030204" pitchFamily="34" charset="0"/>
                <a:cs typeface="Calibri" panose="020F0502020204030204" pitchFamily="34" charset="0"/>
              </a:rPr>
              <a:t>2</a:t>
            </a:r>
            <a:r>
              <a:rPr lang="en-US" altLang="zh-CN" b="0" baseline="30000" dirty="0">
                <a:solidFill>
                  <a:schemeClr val="tx1"/>
                </a:solidFill>
                <a:latin typeface="Calibri" panose="020F0502020204030204" pitchFamily="34" charset="0"/>
                <a:cs typeface="Calibri" panose="020F0502020204030204" pitchFamily="34" charset="0"/>
              </a:rPr>
              <a:t>1</a:t>
            </a:r>
            <a:r>
              <a:rPr lang="en-US" altLang="zh-CN" b="0" dirty="0">
                <a:solidFill>
                  <a:schemeClr val="tx1"/>
                </a:solidFill>
                <a:latin typeface="Calibri" panose="020F0502020204030204" pitchFamily="34" charset="0"/>
                <a:cs typeface="Calibri" panose="020F0502020204030204" pitchFamily="34" charset="0"/>
              </a:rPr>
              <a:t> + </a:t>
            </a:r>
            <a:r>
              <a:rPr lang="en-US" altLang="zh-CN" b="0" dirty="0">
                <a:latin typeface="Calibri" panose="020F0502020204030204" pitchFamily="34" charset="0"/>
                <a:ea typeface="Microsoft YaHei" panose="020B0503020204020204" pitchFamily="34" charset="-122"/>
                <a:cs typeface="Calibri" panose="020F0502020204030204" pitchFamily="34" charset="0"/>
              </a:rPr>
              <a:t>k</a:t>
            </a:r>
            <a:r>
              <a:rPr lang="en-US" altLang="zh-CN" b="0" baseline="-25000" dirty="0">
                <a:latin typeface="Calibri" panose="020F0502020204030204" pitchFamily="34" charset="0"/>
                <a:ea typeface="Microsoft YaHei" panose="020B0503020204020204" pitchFamily="34" charset="-122"/>
                <a:cs typeface="Calibri" panose="020F0502020204030204" pitchFamily="34" charset="0"/>
              </a:rPr>
              <a:t>1</a:t>
            </a:r>
            <a:r>
              <a:rPr lang="en-US" altLang="zh-CN" b="0" dirty="0">
                <a:solidFill>
                  <a:schemeClr val="tx1"/>
                </a:solidFill>
                <a:latin typeface="Calibri" panose="020F0502020204030204" pitchFamily="34" charset="0"/>
                <a:cs typeface="Calibri" panose="020F0502020204030204" pitchFamily="34" charset="0"/>
              </a:rPr>
              <a:t> </a:t>
            </a:r>
            <a:r>
              <a:rPr lang="en-US" altLang="zh-CN" b="0" dirty="0">
                <a:solidFill>
                  <a:srgbClr val="3333FF"/>
                </a:solidFill>
                <a:latin typeface="Calibri" panose="020F0502020204030204" pitchFamily="34" charset="0"/>
                <a:cs typeface="Calibri" panose="020F0502020204030204" pitchFamily="34" charset="0"/>
              </a:rPr>
              <a:t>– 2</a:t>
            </a:r>
            <a:r>
              <a:rPr lang="en-US" altLang="zh-CN" b="0" baseline="30000" dirty="0">
                <a:solidFill>
                  <a:srgbClr val="3333FF"/>
                </a:solidFill>
                <a:latin typeface="Calibri" panose="020F0502020204030204" pitchFamily="34" charset="0"/>
                <a:cs typeface="Calibri" panose="020F0502020204030204" pitchFamily="34" charset="0"/>
              </a:rPr>
              <a:t>n</a:t>
            </a:r>
            <a:r>
              <a:rPr lang="en-US" altLang="zh-CN" b="0" dirty="0">
                <a:solidFill>
                  <a:srgbClr val="3333FF"/>
                </a:solidFill>
                <a:latin typeface="Calibri" panose="020F0502020204030204" pitchFamily="34" charset="0"/>
                <a:cs typeface="Calibri" panose="020F0502020204030204" pitchFamily="34" charset="0"/>
              </a:rPr>
              <a:t> </a:t>
            </a:r>
            <a:br>
              <a:rPr lang="en-US" altLang="zh-CN" b="0" dirty="0">
                <a:solidFill>
                  <a:schemeClr val="tx1"/>
                </a:solidFill>
                <a:latin typeface="Calibri" panose="020F0502020204030204" pitchFamily="34" charset="0"/>
                <a:cs typeface="Calibri" panose="020F0502020204030204" pitchFamily="34" charset="0"/>
              </a:rPr>
            </a:br>
            <a:r>
              <a:rPr lang="en-US" altLang="zh-CN" b="0" dirty="0">
                <a:solidFill>
                  <a:schemeClr val="tx1"/>
                </a:solidFill>
                <a:latin typeface="Calibri" panose="020F0502020204030204" pitchFamily="34" charset="0"/>
                <a:cs typeface="Calibri" panose="020F0502020204030204" pitchFamily="34" charset="0"/>
              </a:rPr>
              <a:t>                                      =  </a:t>
            </a:r>
            <a:r>
              <a:rPr lang="en-US" altLang="zh-CN" b="0" dirty="0">
                <a:solidFill>
                  <a:srgbClr val="3333FF"/>
                </a:solidFill>
                <a:latin typeface="Calibri" panose="020F0502020204030204" pitchFamily="34" charset="0"/>
                <a:cs typeface="Calibri" panose="020F0502020204030204" pitchFamily="34" charset="0"/>
              </a:rPr>
              <a:t>- 2</a:t>
            </a:r>
            <a:r>
              <a:rPr lang="en-US" altLang="zh-CN" b="0" baseline="30000" dirty="0">
                <a:solidFill>
                  <a:srgbClr val="3333FF"/>
                </a:solidFill>
                <a:latin typeface="Calibri" panose="020F0502020204030204" pitchFamily="34" charset="0"/>
                <a:cs typeface="Calibri" panose="020F0502020204030204" pitchFamily="34" charset="0"/>
              </a:rPr>
              <a:t>n-1</a:t>
            </a:r>
            <a:r>
              <a:rPr lang="en-US" altLang="zh-CN" b="0" dirty="0">
                <a:solidFill>
                  <a:srgbClr val="3333FF"/>
                </a:solidFill>
                <a:latin typeface="Calibri" panose="020F0502020204030204" pitchFamily="34" charset="0"/>
                <a:cs typeface="Calibri" panose="020F0502020204030204" pitchFamily="34" charset="0"/>
              </a:rPr>
              <a:t> </a:t>
            </a:r>
            <a:r>
              <a:rPr lang="en-US" altLang="zh-CN" b="0" dirty="0">
                <a:solidFill>
                  <a:schemeClr val="tx1"/>
                </a:solidFill>
                <a:latin typeface="Calibri" panose="020F0502020204030204" pitchFamily="34" charset="0"/>
                <a:cs typeface="Calibri" panose="020F0502020204030204" pitchFamily="34" charset="0"/>
              </a:rPr>
              <a:t>+ </a:t>
            </a:r>
            <a:r>
              <a:rPr lang="en-US" altLang="zh-CN" b="0" dirty="0">
                <a:latin typeface="Calibri" panose="020F0502020204030204" pitchFamily="34" charset="0"/>
                <a:ea typeface="Microsoft YaHei" panose="020B0503020204020204" pitchFamily="34" charset="-122"/>
                <a:cs typeface="Calibri" panose="020F0502020204030204" pitchFamily="34" charset="0"/>
              </a:rPr>
              <a:t>k</a:t>
            </a:r>
            <a:r>
              <a:rPr lang="en-US" altLang="zh-CN" b="0" baseline="-25000" dirty="0">
                <a:latin typeface="Calibri" panose="020F0502020204030204" pitchFamily="34" charset="0"/>
                <a:ea typeface="Microsoft YaHei" panose="020B0503020204020204" pitchFamily="34" charset="-122"/>
                <a:cs typeface="Calibri" panose="020F0502020204030204" pitchFamily="34" charset="0"/>
              </a:rPr>
              <a:t>n-1</a:t>
            </a:r>
            <a:r>
              <a:rPr lang="en-US" altLang="zh-CN" b="0" dirty="0">
                <a:solidFill>
                  <a:schemeClr val="tx1"/>
                </a:solidFill>
                <a:latin typeface="Calibri" panose="020F0502020204030204" pitchFamily="34" charset="0"/>
                <a:cs typeface="Calibri" panose="020F0502020204030204" pitchFamily="34" charset="0"/>
              </a:rPr>
              <a:t>2</a:t>
            </a:r>
            <a:r>
              <a:rPr lang="en-US" altLang="zh-CN" b="0" baseline="30000" dirty="0">
                <a:solidFill>
                  <a:schemeClr val="tx1"/>
                </a:solidFill>
                <a:latin typeface="Calibri" panose="020F0502020204030204" pitchFamily="34" charset="0"/>
                <a:cs typeface="Calibri" panose="020F0502020204030204" pitchFamily="34" charset="0"/>
              </a:rPr>
              <a:t>n-2</a:t>
            </a:r>
            <a:r>
              <a:rPr lang="en-US" altLang="zh-CN" b="0" dirty="0">
                <a:solidFill>
                  <a:schemeClr val="tx1"/>
                </a:solidFill>
                <a:latin typeface="Calibri" panose="020F0502020204030204" pitchFamily="34" charset="0"/>
                <a:cs typeface="Calibri" panose="020F0502020204030204" pitchFamily="34" charset="0"/>
              </a:rPr>
              <a:t> + … + </a:t>
            </a:r>
            <a:r>
              <a:rPr lang="en-US" altLang="zh-CN" b="0" dirty="0">
                <a:latin typeface="Calibri" panose="020F0502020204030204" pitchFamily="34" charset="0"/>
                <a:ea typeface="Microsoft YaHei" panose="020B0503020204020204" pitchFamily="34" charset="-122"/>
                <a:cs typeface="Calibri" panose="020F0502020204030204" pitchFamily="34" charset="0"/>
              </a:rPr>
              <a:t>k</a:t>
            </a:r>
            <a:r>
              <a:rPr lang="en-US" altLang="zh-CN" b="0" baseline="-25000" dirty="0">
                <a:latin typeface="Calibri" panose="020F0502020204030204" pitchFamily="34" charset="0"/>
                <a:ea typeface="Microsoft YaHei" panose="020B0503020204020204" pitchFamily="34" charset="-122"/>
                <a:cs typeface="Calibri" panose="020F0502020204030204" pitchFamily="34" charset="0"/>
              </a:rPr>
              <a:t>2</a:t>
            </a:r>
            <a:r>
              <a:rPr lang="en-US" altLang="zh-CN" b="0" dirty="0">
                <a:solidFill>
                  <a:schemeClr val="tx1"/>
                </a:solidFill>
                <a:latin typeface="Calibri" panose="020F0502020204030204" pitchFamily="34" charset="0"/>
                <a:cs typeface="Calibri" panose="020F0502020204030204" pitchFamily="34" charset="0"/>
              </a:rPr>
              <a:t>2</a:t>
            </a:r>
            <a:r>
              <a:rPr lang="en-US" altLang="zh-CN" b="0" baseline="30000" dirty="0">
                <a:solidFill>
                  <a:schemeClr val="tx1"/>
                </a:solidFill>
                <a:latin typeface="Calibri" panose="020F0502020204030204" pitchFamily="34" charset="0"/>
                <a:cs typeface="Calibri" panose="020F0502020204030204" pitchFamily="34" charset="0"/>
              </a:rPr>
              <a:t>1</a:t>
            </a:r>
            <a:r>
              <a:rPr lang="en-US" altLang="zh-CN" b="0" dirty="0">
                <a:solidFill>
                  <a:schemeClr val="tx1"/>
                </a:solidFill>
                <a:latin typeface="Calibri" panose="020F0502020204030204" pitchFamily="34" charset="0"/>
                <a:cs typeface="Calibri" panose="020F0502020204030204" pitchFamily="34" charset="0"/>
              </a:rPr>
              <a:t> + </a:t>
            </a:r>
            <a:r>
              <a:rPr lang="en-US" altLang="zh-CN" b="0" dirty="0">
                <a:latin typeface="Calibri" panose="020F0502020204030204" pitchFamily="34" charset="0"/>
                <a:ea typeface="Microsoft YaHei" panose="020B0503020204020204" pitchFamily="34" charset="-122"/>
                <a:cs typeface="Calibri" panose="020F0502020204030204" pitchFamily="34" charset="0"/>
              </a:rPr>
              <a:t>k</a:t>
            </a:r>
            <a:r>
              <a:rPr lang="en-US" altLang="zh-CN" b="0" baseline="-25000" dirty="0">
                <a:latin typeface="Calibri" panose="020F0502020204030204" pitchFamily="34" charset="0"/>
                <a:ea typeface="Microsoft YaHei" panose="020B0503020204020204" pitchFamily="34" charset="-122"/>
                <a:cs typeface="Calibri" panose="020F0502020204030204" pitchFamily="34" charset="0"/>
              </a:rPr>
              <a:t>1</a:t>
            </a:r>
            <a:endParaRPr lang="en-US" altLang="zh-CN"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536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89A6F8E-A962-41B8-B57D-05117A42897B}"/>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以下哪组选项对</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-7</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4</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位原码和</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补码的编码是正确的：</a:t>
            </a:r>
          </a:p>
        </p:txBody>
      </p:sp>
      <p:sp>
        <p:nvSpPr>
          <p:cNvPr id="7" name="文本框 6">
            <a:extLst>
              <a:ext uri="{FF2B5EF4-FFF2-40B4-BE49-F238E27FC236}">
                <a16:creationId xmlns:a16="http://schemas.microsoft.com/office/drawing/2014/main" id="{7AC3A8D4-B35D-4206-A86E-CDE95B28EB1C}"/>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1111, 1001</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8" name="文本框 7">
            <a:extLst>
              <a:ext uri="{FF2B5EF4-FFF2-40B4-BE49-F238E27FC236}">
                <a16:creationId xmlns:a16="http://schemas.microsoft.com/office/drawing/2014/main" id="{4CB718ED-8DDB-4A2D-A0C1-731592AA834A}"/>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011</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1, 1000</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文本框 8">
            <a:extLst>
              <a:ext uri="{FF2B5EF4-FFF2-40B4-BE49-F238E27FC236}">
                <a16:creationId xmlns:a16="http://schemas.microsoft.com/office/drawing/2014/main" id="{5983CB75-6E5C-4315-AD93-E2860A85F28B}"/>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1000, 1000</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文本框 9">
            <a:extLst>
              <a:ext uri="{FF2B5EF4-FFF2-40B4-BE49-F238E27FC236}">
                <a16:creationId xmlns:a16="http://schemas.microsoft.com/office/drawing/2014/main" id="{3D168AF5-6C1A-449F-8AE6-D399B5B811D8}"/>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0111</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1001</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a:extLst>
              <a:ext uri="{FF2B5EF4-FFF2-40B4-BE49-F238E27FC236}">
                <a16:creationId xmlns:a16="http://schemas.microsoft.com/office/drawing/2014/main" id="{D799B0C5-52A8-47A9-8E2C-E16844DAC957}"/>
              </a:ext>
            </a:extLst>
          </p:cNvPr>
          <p:cNvSpPr>
            <a:spLocks noChangeAspect="1"/>
          </p:cNvSpPr>
          <p:nvPr>
            <p:custDataLst>
              <p:tags r:id="rId7"/>
            </p:custDataLst>
          </p:nvPr>
        </p:nvSpPr>
        <p:spPr bwMode="auto">
          <a:xfrm>
            <a:off x="1114425" y="285035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椭圆 11">
            <a:extLst>
              <a:ext uri="{FF2B5EF4-FFF2-40B4-BE49-F238E27FC236}">
                <a16:creationId xmlns:a16="http://schemas.microsoft.com/office/drawing/2014/main" id="{5C777A6D-C8B8-4E58-8A39-9895B958497A}"/>
              </a:ext>
            </a:extLst>
          </p:cNvPr>
          <p:cNvSpPr>
            <a:spLocks noChangeAspect="1"/>
          </p:cNvSpPr>
          <p:nvPr>
            <p:custDataLst>
              <p:tags r:id="rId8"/>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椭圆 12">
            <a:extLst>
              <a:ext uri="{FF2B5EF4-FFF2-40B4-BE49-F238E27FC236}">
                <a16:creationId xmlns:a16="http://schemas.microsoft.com/office/drawing/2014/main" id="{4C76DB07-7BC0-486C-AF58-02DBC1AF6FF1}"/>
              </a:ext>
            </a:extLst>
          </p:cNvPr>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4" name="椭圆 13">
            <a:extLst>
              <a:ext uri="{FF2B5EF4-FFF2-40B4-BE49-F238E27FC236}">
                <a16:creationId xmlns:a16="http://schemas.microsoft.com/office/drawing/2014/main" id="{A0870142-F17F-4352-9076-482870232FF3}"/>
              </a:ext>
            </a:extLst>
          </p:cNvPr>
          <p:cNvSpPr>
            <a:spLocks noChangeAspect="1"/>
          </p:cNvSpPr>
          <p:nvPr>
            <p:custDataLst>
              <p:tags r:id="rId10"/>
            </p:custDataLst>
          </p:nvPr>
        </p:nvSpPr>
        <p:spPr bwMode="auto">
          <a:xfrm>
            <a:off x="1114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4" name="矩形: 圆角 3">
            <a:extLst>
              <a:ext uri="{FF2B5EF4-FFF2-40B4-BE49-F238E27FC236}">
                <a16:creationId xmlns:a16="http://schemas.microsoft.com/office/drawing/2014/main" id="{973F2A16-9274-1CB7-0108-277E8F01E443}"/>
              </a:ext>
            </a:extLst>
          </p:cNvPr>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4" name="组合 23">
            <a:extLst>
              <a:ext uri="{FF2B5EF4-FFF2-40B4-BE49-F238E27FC236}">
                <a16:creationId xmlns:a16="http://schemas.microsoft.com/office/drawing/2014/main" id="{16B1568C-C3D3-267D-E717-7D44E26406C6}"/>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0F2A5779-95B6-4683-8A15-D1275FBA631C}"/>
                </a:ext>
              </a:extLst>
            </p:cNvPr>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17" name="ColorBlock">
              <a:extLst>
                <a:ext uri="{FF2B5EF4-FFF2-40B4-BE49-F238E27FC236}">
                  <a16:creationId xmlns:a16="http://schemas.microsoft.com/office/drawing/2014/main" id="{2E8379A1-BFD9-494E-B15E-D5F022622E0D}"/>
                </a:ext>
              </a:extLst>
            </p:cNvPr>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18" name="TypeText">
              <a:extLst>
                <a:ext uri="{FF2B5EF4-FFF2-40B4-BE49-F238E27FC236}">
                  <a16:creationId xmlns:a16="http://schemas.microsoft.com/office/drawing/2014/main" id="{A9BD2D74-8FDC-43AA-BDB7-D509B53294A7}"/>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23" name="TipText">
              <a:extLst>
                <a:ext uri="{FF2B5EF4-FFF2-40B4-BE49-F238E27FC236}">
                  <a16:creationId xmlns:a16="http://schemas.microsoft.com/office/drawing/2014/main" id="{82F64EC1-CFB4-C41E-90C7-A5C9327125A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15" name="图片 14">
            <a:extLst>
              <a:ext uri="{FF2B5EF4-FFF2-40B4-BE49-F238E27FC236}">
                <a16:creationId xmlns:a16="http://schemas.microsoft.com/office/drawing/2014/main" id="{9366E849-A514-0D35-9C52-3467B9955C25}"/>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36603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943BF-88C1-4414-4067-C85095A73E56}"/>
              </a:ext>
            </a:extLst>
          </p:cNvPr>
          <p:cNvSpPr>
            <a:spLocks noGrp="1"/>
          </p:cNvSpPr>
          <p:nvPr>
            <p:ph type="title"/>
          </p:nvPr>
        </p:nvSpPr>
        <p:spPr/>
        <p:txBody>
          <a:bodyPr/>
          <a:lstStyle/>
          <a:p>
            <a:r>
              <a:rPr kumimoji="1" lang="zh-CN" altLang="en-US" dirty="0"/>
              <a:t>答案解析</a:t>
            </a:r>
          </a:p>
        </p:txBody>
      </p:sp>
      <p:sp>
        <p:nvSpPr>
          <p:cNvPr id="3" name="内容占位符 2">
            <a:extLst>
              <a:ext uri="{FF2B5EF4-FFF2-40B4-BE49-F238E27FC236}">
                <a16:creationId xmlns:a16="http://schemas.microsoft.com/office/drawing/2014/main" id="{BBCA21A6-1EA8-F0BF-3A34-5F1B3CB6F9CB}"/>
              </a:ext>
            </a:extLst>
          </p:cNvPr>
          <p:cNvSpPr>
            <a:spLocks noGrp="1"/>
          </p:cNvSpPr>
          <p:nvPr>
            <p:ph idx="1"/>
          </p:nvPr>
        </p:nvSpPr>
        <p:spPr>
          <a:xfrm>
            <a:off x="143508" y="1283993"/>
            <a:ext cx="8856984" cy="4525963"/>
          </a:xfrm>
        </p:spPr>
        <p:txBody>
          <a:bodyPr/>
          <a:lstStyle/>
          <a:p>
            <a:r>
              <a:rPr kumimoji="1" lang="zh-CN" altLang="en-US" sz="2800" dirty="0"/>
              <a:t>以下哪组选项对</a:t>
            </a:r>
            <a:r>
              <a:rPr kumimoji="1" lang="en-US" altLang="zh-CN" sz="2800" dirty="0"/>
              <a:t>-7</a:t>
            </a:r>
            <a:r>
              <a:rPr kumimoji="1" lang="zh-CN" altLang="en-US" sz="2800" dirty="0"/>
              <a:t>的</a:t>
            </a:r>
            <a:r>
              <a:rPr kumimoji="1" lang="en-US" altLang="zh-CN" sz="2800" dirty="0"/>
              <a:t>4</a:t>
            </a:r>
            <a:r>
              <a:rPr kumimoji="1" lang="zh-CN" altLang="en-US" sz="2800" dirty="0"/>
              <a:t>位原码和</a:t>
            </a:r>
            <a:r>
              <a:rPr kumimoji="1" lang="en-US" altLang="zh-CN" sz="2800" dirty="0"/>
              <a:t>2</a:t>
            </a:r>
            <a:r>
              <a:rPr kumimoji="1" lang="zh-CN" altLang="en-US" sz="2800" dirty="0"/>
              <a:t>补码的编码是正确的</a:t>
            </a:r>
          </a:p>
          <a:p>
            <a:pPr lvl="1"/>
            <a:r>
              <a:rPr kumimoji="1" lang="en-US" altLang="zh-CN" sz="2400" dirty="0">
                <a:solidFill>
                  <a:srgbClr val="3333FF"/>
                </a:solidFill>
              </a:rPr>
              <a:t>A. 1111, 1001</a:t>
            </a:r>
          </a:p>
          <a:p>
            <a:pPr lvl="1"/>
            <a:r>
              <a:rPr kumimoji="1" lang="en-US" altLang="zh-CN" sz="2400" dirty="0"/>
              <a:t>B. 0111, 1000</a:t>
            </a:r>
          </a:p>
          <a:p>
            <a:pPr lvl="1"/>
            <a:r>
              <a:rPr kumimoji="1" lang="en-US" altLang="zh-CN" sz="2400" dirty="0"/>
              <a:t>C. 1000, 1000</a:t>
            </a:r>
          </a:p>
          <a:p>
            <a:pPr lvl="1"/>
            <a:r>
              <a:rPr kumimoji="1" lang="en-US" altLang="zh-CN" sz="2400" dirty="0"/>
              <a:t>D. 0111, 1001</a:t>
            </a:r>
          </a:p>
          <a:p>
            <a:endParaRPr kumimoji="1" lang="en-US" altLang="zh-CN" sz="2800" dirty="0"/>
          </a:p>
          <a:p>
            <a:r>
              <a:rPr kumimoji="1" lang="zh-CN" altLang="en-US" sz="2800" dirty="0">
                <a:solidFill>
                  <a:srgbClr val="3333FF"/>
                </a:solidFill>
              </a:rPr>
              <a:t>解答：</a:t>
            </a:r>
            <a:r>
              <a:rPr kumimoji="1" lang="en-US" altLang="zh-CN" sz="2800" dirty="0">
                <a:solidFill>
                  <a:srgbClr val="3333FF"/>
                </a:solidFill>
              </a:rPr>
              <a:t>A</a:t>
            </a:r>
          </a:p>
          <a:p>
            <a:pPr lvl="1"/>
            <a:r>
              <a:rPr kumimoji="1" lang="zh-CN" altLang="en-US" sz="2400" dirty="0"/>
              <a:t>利用</a:t>
            </a:r>
            <a:r>
              <a:rPr kumimoji="1" lang="en-US" altLang="zh-CN" sz="2400" dirty="0"/>
              <a:t>-7</a:t>
            </a:r>
            <a:r>
              <a:rPr kumimoji="1" lang="zh-CN" altLang="en-US" sz="2400" dirty="0"/>
              <a:t>对应的正数进行计算</a:t>
            </a:r>
          </a:p>
          <a:p>
            <a:pPr lvl="1"/>
            <a:r>
              <a:rPr kumimoji="1" lang="en-US" altLang="zh-CN" sz="2400" dirty="0"/>
              <a:t>+7</a:t>
            </a:r>
            <a:r>
              <a:rPr kumimoji="1" lang="zh-CN" altLang="en-US" sz="2400" dirty="0"/>
              <a:t>：</a:t>
            </a:r>
            <a:r>
              <a:rPr kumimoji="1" lang="en-US" altLang="zh-CN" sz="2400" dirty="0"/>
              <a:t>0111</a:t>
            </a:r>
          </a:p>
          <a:p>
            <a:pPr lvl="1"/>
            <a:r>
              <a:rPr kumimoji="1" lang="zh-CN" altLang="en-US" sz="2400" dirty="0"/>
              <a:t>原码：添加符号位</a:t>
            </a:r>
            <a:r>
              <a:rPr kumimoji="1" lang="en-US" altLang="zh-CN" sz="2400" dirty="0"/>
              <a:t>1</a:t>
            </a:r>
            <a:r>
              <a:rPr kumimoji="1" lang="zh-CN" altLang="en-US" sz="2400" dirty="0"/>
              <a:t>，即</a:t>
            </a:r>
            <a:r>
              <a:rPr kumimoji="1" lang="en-US" altLang="zh-CN" sz="2400" dirty="0"/>
              <a:t>1111</a:t>
            </a:r>
          </a:p>
          <a:p>
            <a:pPr lvl="1"/>
            <a:r>
              <a:rPr kumimoji="1" lang="en-US" altLang="zh-CN" sz="2400" dirty="0"/>
              <a:t>2</a:t>
            </a:r>
            <a:r>
              <a:rPr kumimoji="1" lang="zh-CN" altLang="en-US" sz="2400" dirty="0"/>
              <a:t>补码：按位取反加</a:t>
            </a:r>
            <a:r>
              <a:rPr kumimoji="1" lang="en-US" altLang="zh-CN" sz="2400" dirty="0"/>
              <a:t>1</a:t>
            </a:r>
            <a:r>
              <a:rPr kumimoji="1" lang="zh-CN" altLang="en-US" sz="2400" dirty="0"/>
              <a:t>，即</a:t>
            </a:r>
            <a:r>
              <a:rPr kumimoji="1" lang="en-US" altLang="zh-CN" sz="2400" dirty="0"/>
              <a:t>1001</a:t>
            </a:r>
          </a:p>
          <a:p>
            <a:endParaRPr kumimoji="1" lang="en-US" altLang="zh-CN" sz="2800" dirty="0"/>
          </a:p>
        </p:txBody>
      </p:sp>
      <p:sp>
        <p:nvSpPr>
          <p:cNvPr id="4" name="灯片编号占位符 3">
            <a:extLst>
              <a:ext uri="{FF2B5EF4-FFF2-40B4-BE49-F238E27FC236}">
                <a16:creationId xmlns:a16="http://schemas.microsoft.com/office/drawing/2014/main" id="{43BB2361-D4B9-26BE-81C0-B1B570ABEF31}"/>
              </a:ext>
            </a:extLst>
          </p:cNvPr>
          <p:cNvSpPr>
            <a:spLocks noGrp="1"/>
          </p:cNvSpPr>
          <p:nvPr>
            <p:ph type="sldNum" sz="quarter" idx="12"/>
          </p:nvPr>
        </p:nvSpPr>
        <p:spPr/>
        <p:txBody>
          <a:bodyPr/>
          <a:lstStyle/>
          <a:p>
            <a:fld id="{14659731-6BD7-46E7-8D3C-2F3AC07E20B1}" type="slidenum">
              <a:rPr lang="en-US" altLang="zh-CN" smtClean="0"/>
              <a:pPr/>
              <a:t>24</a:t>
            </a:fld>
            <a:endParaRPr lang="en-US" altLang="zh-CN"/>
          </a:p>
        </p:txBody>
      </p:sp>
    </p:spTree>
    <p:extLst>
      <p:ext uri="{BB962C8B-B14F-4D97-AF65-F5344CB8AC3E}">
        <p14:creationId xmlns:p14="http://schemas.microsoft.com/office/powerpoint/2010/main" val="1545743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p:txBody>
          <a:bodyPr/>
          <a:lstStyle/>
          <a:p>
            <a:pPr eaLnBrk="1" hangingPunct="1"/>
            <a:r>
              <a:rPr lang="zh-CN" altLang="en-US" dirty="0"/>
              <a:t>理解</a:t>
            </a:r>
            <a:r>
              <a:rPr lang="en-US" altLang="zh-CN" dirty="0"/>
              <a:t>2-</a:t>
            </a:r>
            <a:r>
              <a:rPr lang="zh-CN" altLang="en-US" dirty="0"/>
              <a:t>补码</a:t>
            </a:r>
            <a:endParaRPr lang="en-US" altLang="zh-CN" dirty="0"/>
          </a:p>
        </p:txBody>
      </p:sp>
      <p:sp>
        <p:nvSpPr>
          <p:cNvPr id="512003" name="Rectangle 3"/>
          <p:cNvSpPr>
            <a:spLocks noGrp="1" noChangeArrowheads="1"/>
          </p:cNvSpPr>
          <p:nvPr>
            <p:ph idx="1"/>
          </p:nvPr>
        </p:nvSpPr>
        <p:spPr>
          <a:xfrm>
            <a:off x="402911" y="1356797"/>
            <a:ext cx="6829742" cy="5033834"/>
          </a:xfrm>
        </p:spPr>
        <p:txBody>
          <a:bodyPr/>
          <a:lstStyle/>
          <a:p>
            <a:pPr hangingPunct="1"/>
            <a:r>
              <a:rPr lang="zh-CN" altLang="en-US" sz="2400" dirty="0"/>
              <a:t>使用无符号二进制的加</a:t>
            </a:r>
            <a:r>
              <a:rPr lang="en-US" altLang="zh-CN" sz="2400" dirty="0"/>
              <a:t>/</a:t>
            </a:r>
            <a:r>
              <a:rPr lang="zh-CN" altLang="en-US" sz="2400" dirty="0"/>
              <a:t>减逻辑</a:t>
            </a:r>
            <a:endParaRPr lang="en-US" altLang="zh-CN" sz="2400" dirty="0"/>
          </a:p>
          <a:p>
            <a:pPr lvl="1"/>
            <a:r>
              <a:rPr lang="zh-CN" altLang="en-US" sz="2000" dirty="0"/>
              <a:t>把</a:t>
            </a:r>
            <a:r>
              <a:rPr lang="en-US" altLang="zh-CN" sz="2000" dirty="0"/>
              <a:t>(1111)</a:t>
            </a:r>
            <a:r>
              <a:rPr lang="en-US" altLang="zh-CN" sz="2000" baseline="-25000" dirty="0"/>
              <a:t>2</a:t>
            </a:r>
            <a:r>
              <a:rPr lang="zh-CN" altLang="en-US" sz="2000" dirty="0"/>
              <a:t>加</a:t>
            </a:r>
            <a:r>
              <a:rPr lang="en-US" altLang="zh-CN" sz="2000" dirty="0"/>
              <a:t>1</a:t>
            </a:r>
            <a:r>
              <a:rPr lang="zh-CN" altLang="en-US" sz="2000" dirty="0"/>
              <a:t>，可以得到什么？</a:t>
            </a:r>
            <a:endParaRPr lang="en-US" altLang="zh-CN" sz="2000" dirty="0"/>
          </a:p>
          <a:p>
            <a:pPr lvl="1"/>
            <a:r>
              <a:rPr lang="zh-CN" altLang="en-US" sz="2000" dirty="0"/>
              <a:t>把</a:t>
            </a:r>
            <a:r>
              <a:rPr lang="en-US" altLang="zh-CN" sz="2000" dirty="0"/>
              <a:t>(0000)</a:t>
            </a:r>
            <a:r>
              <a:rPr lang="en-US" altLang="zh-CN" sz="2000" baseline="-25000" dirty="0"/>
              <a:t>2</a:t>
            </a:r>
            <a:r>
              <a:rPr lang="zh-CN" altLang="en-US" sz="2000" dirty="0"/>
              <a:t>减</a:t>
            </a:r>
            <a:r>
              <a:rPr lang="en-US" altLang="zh-CN" sz="2000" dirty="0"/>
              <a:t>1</a:t>
            </a:r>
            <a:r>
              <a:rPr lang="zh-CN" altLang="en-US" sz="2000" dirty="0"/>
              <a:t>，可以得到什么？</a:t>
            </a:r>
            <a:endParaRPr lang="en-US" altLang="zh-CN" sz="2000" dirty="0"/>
          </a:p>
          <a:p>
            <a:pPr lvl="1"/>
            <a:r>
              <a:rPr lang="zh-CN" altLang="en-US" sz="2000" dirty="0"/>
              <a:t>因此，把</a:t>
            </a:r>
            <a:r>
              <a:rPr lang="en-US" altLang="zh-CN" sz="2000" dirty="0"/>
              <a:t>1111</a:t>
            </a:r>
            <a:r>
              <a:rPr lang="zh-CN" altLang="en-US" sz="2000" dirty="0"/>
              <a:t>当做</a:t>
            </a:r>
            <a:r>
              <a:rPr lang="en-US" altLang="zh-CN" sz="2000" dirty="0"/>
              <a:t>-1</a:t>
            </a:r>
            <a:r>
              <a:rPr lang="zh-CN" altLang="en-US" sz="2000" dirty="0"/>
              <a:t>可以复用加法电路</a:t>
            </a:r>
            <a:endParaRPr lang="en-US" altLang="zh-CN" sz="2000" dirty="0"/>
          </a:p>
          <a:p>
            <a:r>
              <a:rPr lang="zh-CN" altLang="en-US" sz="2400" dirty="0">
                <a:solidFill>
                  <a:srgbClr val="3333FF"/>
                </a:solidFill>
              </a:rPr>
              <a:t>在此范围内的</a:t>
            </a:r>
            <a:r>
              <a:rPr lang="zh-CN" altLang="en-US" sz="2400" dirty="0"/>
              <a:t>所有加减操作都是有效的！</a:t>
            </a:r>
            <a:endParaRPr lang="en-US" altLang="zh-CN" sz="2400" dirty="0"/>
          </a:p>
        </p:txBody>
      </p:sp>
      <p:sp>
        <p:nvSpPr>
          <p:cNvPr id="4" name="灯片编号占位符 3">
            <a:extLst>
              <a:ext uri="{FF2B5EF4-FFF2-40B4-BE49-F238E27FC236}">
                <a16:creationId xmlns:a16="http://schemas.microsoft.com/office/drawing/2014/main" id="{0291D10B-268B-FD97-44CF-2455C436B2A7}"/>
              </a:ext>
            </a:extLst>
          </p:cNvPr>
          <p:cNvSpPr>
            <a:spLocks noGrp="1"/>
          </p:cNvSpPr>
          <p:nvPr>
            <p:ph type="sldNum" sz="quarter" idx="12"/>
          </p:nvPr>
        </p:nvSpPr>
        <p:spPr/>
        <p:txBody>
          <a:bodyPr/>
          <a:lstStyle/>
          <a:p>
            <a:fld id="{14659731-6BD7-46E7-8D3C-2F3AC07E20B1}" type="slidenum">
              <a:rPr lang="en-US" altLang="zh-CN" smtClean="0"/>
              <a:pPr/>
              <a:t>25</a:t>
            </a:fld>
            <a:endParaRPr lang="en-US" altLang="zh-CN" dirty="0"/>
          </a:p>
        </p:txBody>
      </p:sp>
      <p:sp>
        <p:nvSpPr>
          <p:cNvPr id="2" name="文本框 1">
            <a:extLst>
              <a:ext uri="{FF2B5EF4-FFF2-40B4-BE49-F238E27FC236}">
                <a16:creationId xmlns:a16="http://schemas.microsoft.com/office/drawing/2014/main" id="{757BE080-B973-DCC9-F194-169D222671A7}"/>
              </a:ext>
            </a:extLst>
          </p:cNvPr>
          <p:cNvSpPr txBox="1"/>
          <p:nvPr/>
        </p:nvSpPr>
        <p:spPr>
          <a:xfrm>
            <a:off x="402911" y="4401107"/>
            <a:ext cx="2184301" cy="1015663"/>
          </a:xfrm>
          <a:prstGeom prst="rect">
            <a:avLst/>
          </a:prstGeom>
          <a:noFill/>
        </p:spPr>
        <p:txBody>
          <a:bodyPr wrap="square" rtlCol="0">
            <a:spAutoFit/>
          </a:bodyPr>
          <a:lstStyle/>
          <a:p>
            <a:pPr algn="ctr"/>
            <a:r>
              <a:rPr lang="zh-CN" altLang="en-US" sz="2000" dirty="0">
                <a:latin typeface="+mn-lt"/>
                <a:ea typeface="黑体" panose="02010609060101010101" pitchFamily="49" charset="-122"/>
              </a:rPr>
              <a:t>从正数到负数：</a:t>
            </a:r>
            <a:r>
              <a:rPr lang="zh-CN" altLang="en-US" sz="2000" b="1" dirty="0">
                <a:latin typeface="+mn-lt"/>
                <a:ea typeface="黑体" panose="02010609060101010101" pitchFamily="49" charset="-122"/>
              </a:rPr>
              <a:t>翻转每个比特并加一</a:t>
            </a:r>
          </a:p>
        </p:txBody>
      </p:sp>
      <p:grpSp>
        <p:nvGrpSpPr>
          <p:cNvPr id="5" name="组合 4">
            <a:extLst>
              <a:ext uri="{FF2B5EF4-FFF2-40B4-BE49-F238E27FC236}">
                <a16:creationId xmlns:a16="http://schemas.microsoft.com/office/drawing/2014/main" id="{74B39A20-A5D6-6ADB-CB66-AF31FF4D1E45}"/>
              </a:ext>
            </a:extLst>
          </p:cNvPr>
          <p:cNvGrpSpPr/>
          <p:nvPr/>
        </p:nvGrpSpPr>
        <p:grpSpPr>
          <a:xfrm>
            <a:off x="2951820" y="3601975"/>
            <a:ext cx="5112568" cy="2810077"/>
            <a:chOff x="1907704" y="4512493"/>
            <a:chExt cx="3821321" cy="1854957"/>
          </a:xfrm>
        </p:grpSpPr>
        <p:sp>
          <p:nvSpPr>
            <p:cNvPr id="7" name="文本框 6">
              <a:extLst>
                <a:ext uri="{FF2B5EF4-FFF2-40B4-BE49-F238E27FC236}">
                  <a16:creationId xmlns:a16="http://schemas.microsoft.com/office/drawing/2014/main" id="{F3C25126-2261-8BA0-0843-2907969B1C2F}"/>
                </a:ext>
              </a:extLst>
            </p:cNvPr>
            <p:cNvSpPr txBox="1">
              <a:spLocks noChangeAspect="1"/>
            </p:cNvSpPr>
            <p:nvPr/>
          </p:nvSpPr>
          <p:spPr>
            <a:xfrm>
              <a:off x="4667298" y="5840399"/>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-8</a:t>
              </a:r>
            </a:p>
            <a:p>
              <a:r>
                <a:rPr lang="en-US" altLang="zh-CN" sz="1600" dirty="0">
                  <a:solidFill>
                    <a:srgbClr val="3333FF"/>
                  </a:solidFill>
                  <a:latin typeface="+mn-lt"/>
                  <a:ea typeface="黑体" pitchFamily="49" charset="-122"/>
                </a:rPr>
                <a:t>1000</a:t>
              </a:r>
              <a:endParaRPr lang="zh-CN" altLang="en-US" sz="1600" dirty="0">
                <a:solidFill>
                  <a:srgbClr val="3333FF"/>
                </a:solidFill>
                <a:latin typeface="+mn-lt"/>
                <a:ea typeface="黑体" pitchFamily="49" charset="-122"/>
              </a:endParaRPr>
            </a:p>
          </p:txBody>
        </p:sp>
        <p:grpSp>
          <p:nvGrpSpPr>
            <p:cNvPr id="10" name="组合 9">
              <a:extLst>
                <a:ext uri="{FF2B5EF4-FFF2-40B4-BE49-F238E27FC236}">
                  <a16:creationId xmlns:a16="http://schemas.microsoft.com/office/drawing/2014/main" id="{6AE00C15-04B4-2079-9496-2E1BDD0D6544}"/>
                </a:ext>
              </a:extLst>
            </p:cNvPr>
            <p:cNvGrpSpPr>
              <a:grpSpLocks noChangeAspect="1"/>
            </p:cNvGrpSpPr>
            <p:nvPr/>
          </p:nvGrpSpPr>
          <p:grpSpPr>
            <a:xfrm>
              <a:off x="1907704" y="4512493"/>
              <a:ext cx="3821321" cy="1854957"/>
              <a:chOff x="758076" y="4574770"/>
              <a:chExt cx="3667086" cy="1854957"/>
            </a:xfrm>
          </p:grpSpPr>
          <p:sp>
            <p:nvSpPr>
              <p:cNvPr id="48" name="圆角矩形 7">
                <a:extLst>
                  <a:ext uri="{FF2B5EF4-FFF2-40B4-BE49-F238E27FC236}">
                    <a16:creationId xmlns:a16="http://schemas.microsoft.com/office/drawing/2014/main" id="{E6FA75D6-9B36-9EC9-F14D-8F32312E1A59}"/>
                  </a:ext>
                </a:extLst>
              </p:cNvPr>
              <p:cNvSpPr/>
              <p:nvPr/>
            </p:nvSpPr>
            <p:spPr bwMode="auto">
              <a:xfrm>
                <a:off x="825903" y="4646778"/>
                <a:ext cx="3520649" cy="1710941"/>
              </a:xfrm>
              <a:prstGeom prst="roundRect">
                <a:avLst>
                  <a:gd name="adj" fmla="val 7670"/>
                </a:avLst>
              </a:prstGeom>
              <a:noFill/>
              <a:ln w="28575" cap="flat" cmpd="sng" algn="ctr">
                <a:solidFill>
                  <a:schemeClr val="tx1">
                    <a:alpha val="47935"/>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endParaRPr>
              </a:p>
            </p:txBody>
          </p:sp>
          <p:sp>
            <p:nvSpPr>
              <p:cNvPr id="49" name="三角形 9">
                <a:extLst>
                  <a:ext uri="{FF2B5EF4-FFF2-40B4-BE49-F238E27FC236}">
                    <a16:creationId xmlns:a16="http://schemas.microsoft.com/office/drawing/2014/main" id="{DD46476C-B63C-7393-D0F3-A02C262CF389}"/>
                  </a:ext>
                </a:extLst>
              </p:cNvPr>
              <p:cNvSpPr/>
              <p:nvPr/>
            </p:nvSpPr>
            <p:spPr bwMode="auto">
              <a:xfrm rot="5400000">
                <a:off x="2476970" y="4592772"/>
                <a:ext cx="144016" cy="108012"/>
              </a:xfrm>
              <a:prstGeom prst="triangle">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endParaRPr>
              </a:p>
            </p:txBody>
          </p:sp>
          <p:sp>
            <p:nvSpPr>
              <p:cNvPr id="50" name="三角形 30">
                <a:extLst>
                  <a:ext uri="{FF2B5EF4-FFF2-40B4-BE49-F238E27FC236}">
                    <a16:creationId xmlns:a16="http://schemas.microsoft.com/office/drawing/2014/main" id="{4AA55561-6BEA-D9E7-3FA6-A9C1B6A334B6}"/>
                  </a:ext>
                </a:extLst>
              </p:cNvPr>
              <p:cNvSpPr/>
              <p:nvPr/>
            </p:nvSpPr>
            <p:spPr bwMode="auto">
              <a:xfrm rot="10800000">
                <a:off x="4281146" y="5453073"/>
                <a:ext cx="144016" cy="108012"/>
              </a:xfrm>
              <a:prstGeom prst="triangle">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endParaRPr>
              </a:p>
            </p:txBody>
          </p:sp>
          <p:sp>
            <p:nvSpPr>
              <p:cNvPr id="51" name="三角形 31">
                <a:extLst>
                  <a:ext uri="{FF2B5EF4-FFF2-40B4-BE49-F238E27FC236}">
                    <a16:creationId xmlns:a16="http://schemas.microsoft.com/office/drawing/2014/main" id="{0B8CE692-C996-38D8-4346-04063452CA47}"/>
                  </a:ext>
                </a:extLst>
              </p:cNvPr>
              <p:cNvSpPr/>
              <p:nvPr/>
            </p:nvSpPr>
            <p:spPr bwMode="auto">
              <a:xfrm rot="16200000">
                <a:off x="2457741" y="6303713"/>
                <a:ext cx="144016" cy="108012"/>
              </a:xfrm>
              <a:prstGeom prst="triangle">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endParaRPr>
              </a:p>
            </p:txBody>
          </p:sp>
          <p:sp>
            <p:nvSpPr>
              <p:cNvPr id="52" name="三角形 32">
                <a:extLst>
                  <a:ext uri="{FF2B5EF4-FFF2-40B4-BE49-F238E27FC236}">
                    <a16:creationId xmlns:a16="http://schemas.microsoft.com/office/drawing/2014/main" id="{E5AE0157-F30A-0FA4-A776-78D35C1E02BA}"/>
                  </a:ext>
                </a:extLst>
              </p:cNvPr>
              <p:cNvSpPr/>
              <p:nvPr/>
            </p:nvSpPr>
            <p:spPr bwMode="auto">
              <a:xfrm>
                <a:off x="758076" y="5393823"/>
                <a:ext cx="144016" cy="108012"/>
              </a:xfrm>
              <a:prstGeom prst="triangle">
                <a:avLst/>
              </a:prstGeom>
              <a:solidFill>
                <a:schemeClr val="bg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endParaRPr>
              </a:p>
            </p:txBody>
          </p:sp>
        </p:grpSp>
        <p:sp>
          <p:nvSpPr>
            <p:cNvPr id="11" name="文本框 10">
              <a:extLst>
                <a:ext uri="{FF2B5EF4-FFF2-40B4-BE49-F238E27FC236}">
                  <a16:creationId xmlns:a16="http://schemas.microsoft.com/office/drawing/2014/main" id="{CF32B2A4-DF61-7E75-5CD2-783B54FF18F6}"/>
                </a:ext>
              </a:extLst>
            </p:cNvPr>
            <p:cNvSpPr txBox="1">
              <a:spLocks noChangeAspect="1"/>
            </p:cNvSpPr>
            <p:nvPr/>
          </p:nvSpPr>
          <p:spPr>
            <a:xfrm>
              <a:off x="1938930" y="4577577"/>
              <a:ext cx="1273875" cy="437992"/>
            </a:xfrm>
            <a:prstGeom prst="rect">
              <a:avLst/>
            </a:prstGeom>
            <a:noFill/>
          </p:spPr>
          <p:txBody>
            <a:bodyPr wrap="square" rtlCol="0">
              <a:spAutoFit/>
            </a:bodyPr>
            <a:lstStyle/>
            <a:p>
              <a:pPr algn="ctr">
                <a:lnSpc>
                  <a:spcPct val="80000"/>
                </a:lnSpc>
              </a:pPr>
              <a:r>
                <a:rPr kumimoji="1" lang="en-US" altLang="zh-CN" sz="1400" dirty="0">
                  <a:solidFill>
                    <a:srgbClr val="C00000"/>
                  </a:solidFill>
                  <a:latin typeface="+mj-lt"/>
                  <a:ea typeface="SimHei" panose="02010609060101010101" pitchFamily="49" charset="-122"/>
                </a:rPr>
                <a:t>0 (Decimal)</a:t>
              </a:r>
              <a:endParaRPr kumimoji="1" lang="en-US" altLang="zh-CN" sz="1400" dirty="0">
                <a:solidFill>
                  <a:srgbClr val="C00000"/>
                </a:solidFill>
                <a:latin typeface="SimHei" panose="02010609060101010101" pitchFamily="49" charset="-122"/>
                <a:ea typeface="SimHei" panose="02010609060101010101" pitchFamily="49" charset="-122"/>
              </a:endParaRPr>
            </a:p>
            <a:p>
              <a:pPr algn="ctr">
                <a:lnSpc>
                  <a:spcPct val="80000"/>
                </a:lnSpc>
              </a:pPr>
              <a:r>
                <a:rPr lang="en-US" altLang="zh-CN" sz="1600" dirty="0">
                  <a:solidFill>
                    <a:srgbClr val="3333FF"/>
                  </a:solidFill>
                  <a:latin typeface="+mn-lt"/>
                  <a:ea typeface="黑体" pitchFamily="49" charset="-122"/>
                </a:rPr>
                <a:t>0000</a:t>
              </a:r>
            </a:p>
            <a:p>
              <a:pPr>
                <a:lnSpc>
                  <a:spcPct val="80000"/>
                </a:lnSpc>
              </a:pPr>
              <a:r>
                <a:rPr lang="en-US" altLang="zh-CN" sz="1600" dirty="0">
                  <a:solidFill>
                    <a:srgbClr val="3333FF"/>
                  </a:solidFill>
                  <a:latin typeface="+mn-lt"/>
                  <a:ea typeface="黑体" pitchFamily="49" charset="-122"/>
                </a:rPr>
                <a:t>(2’s complement)</a:t>
              </a:r>
              <a:endParaRPr lang="zh-CN" altLang="en-US" sz="1600" dirty="0">
                <a:solidFill>
                  <a:srgbClr val="3333FF"/>
                </a:solidFill>
                <a:latin typeface="+mn-lt"/>
                <a:ea typeface="黑体" pitchFamily="49" charset="-122"/>
              </a:endParaRPr>
            </a:p>
          </p:txBody>
        </p:sp>
        <p:grpSp>
          <p:nvGrpSpPr>
            <p:cNvPr id="13" name="组合 12">
              <a:extLst>
                <a:ext uri="{FF2B5EF4-FFF2-40B4-BE49-F238E27FC236}">
                  <a16:creationId xmlns:a16="http://schemas.microsoft.com/office/drawing/2014/main" id="{809B5E42-1377-EB1E-A5C3-68BAAF6860DE}"/>
                </a:ext>
              </a:extLst>
            </p:cNvPr>
            <p:cNvGrpSpPr>
              <a:grpSpLocks noChangeAspect="1"/>
            </p:cNvGrpSpPr>
            <p:nvPr/>
          </p:nvGrpSpPr>
          <p:grpSpPr>
            <a:xfrm>
              <a:off x="2631446" y="5096618"/>
              <a:ext cx="2463298" cy="552042"/>
              <a:chOff x="1215602" y="5121188"/>
              <a:chExt cx="2672322" cy="296061"/>
            </a:xfrm>
          </p:grpSpPr>
          <p:cxnSp>
            <p:nvCxnSpPr>
              <p:cNvPr id="46" name="直线连接符 21">
                <a:extLst>
                  <a:ext uri="{FF2B5EF4-FFF2-40B4-BE49-F238E27FC236}">
                    <a16:creationId xmlns:a16="http://schemas.microsoft.com/office/drawing/2014/main" id="{3BC30D97-B21D-AFA6-0174-BEF59E85660C}"/>
                  </a:ext>
                </a:extLst>
              </p:cNvPr>
              <p:cNvCxnSpPr>
                <a:cxnSpLocks/>
              </p:cNvCxnSpPr>
              <p:nvPr/>
            </p:nvCxnSpPr>
            <p:spPr bwMode="auto">
              <a:xfrm>
                <a:off x="1215602" y="5121188"/>
                <a:ext cx="2672322" cy="0"/>
              </a:xfrm>
              <a:prstGeom prst="line">
                <a:avLst/>
              </a:prstGeom>
              <a:solidFill>
                <a:schemeClr val="accent1"/>
              </a:solidFill>
              <a:ln w="19050" cap="flat" cmpd="sng" algn="ctr">
                <a:solidFill>
                  <a:srgbClr val="3333FF">
                    <a:alpha val="34283"/>
                  </a:srgbClr>
                </a:solidFill>
                <a:prstDash val="solid"/>
                <a:round/>
                <a:headEnd type="none" w="med" len="med"/>
                <a:tailEnd type="none" w="med" len="med"/>
              </a:ln>
              <a:effectLst/>
            </p:spPr>
          </p:cxnSp>
          <p:cxnSp>
            <p:nvCxnSpPr>
              <p:cNvPr id="47" name="直线连接符 37">
                <a:extLst>
                  <a:ext uri="{FF2B5EF4-FFF2-40B4-BE49-F238E27FC236}">
                    <a16:creationId xmlns:a16="http://schemas.microsoft.com/office/drawing/2014/main" id="{CF0D3CD3-B1BD-5224-9BF4-A90686BC7BBF}"/>
                  </a:ext>
                </a:extLst>
              </p:cNvPr>
              <p:cNvCxnSpPr>
                <a:cxnSpLocks/>
              </p:cNvCxnSpPr>
              <p:nvPr/>
            </p:nvCxnSpPr>
            <p:spPr bwMode="auto">
              <a:xfrm flipV="1">
                <a:off x="3887924" y="5121188"/>
                <a:ext cx="0" cy="296061"/>
              </a:xfrm>
              <a:prstGeom prst="line">
                <a:avLst/>
              </a:prstGeom>
              <a:solidFill>
                <a:schemeClr val="accent1"/>
              </a:solidFill>
              <a:ln w="19050" cap="flat" cmpd="sng" algn="ctr">
                <a:solidFill>
                  <a:srgbClr val="3333FF">
                    <a:alpha val="34283"/>
                  </a:srgbClr>
                </a:solidFill>
                <a:prstDash val="solid"/>
                <a:round/>
                <a:headEnd type="triangle" w="med" len="med"/>
                <a:tailEnd type="none" w="med" len="med"/>
              </a:ln>
              <a:effectLst/>
            </p:spPr>
          </p:cxnSp>
        </p:grpSp>
        <p:sp>
          <p:nvSpPr>
            <p:cNvPr id="14" name="文本框 13">
              <a:extLst>
                <a:ext uri="{FF2B5EF4-FFF2-40B4-BE49-F238E27FC236}">
                  <a16:creationId xmlns:a16="http://schemas.microsoft.com/office/drawing/2014/main" id="{8B786393-8D94-65E3-8883-9D72097ABD15}"/>
                </a:ext>
              </a:extLst>
            </p:cNvPr>
            <p:cNvSpPr txBox="1">
              <a:spLocks noChangeAspect="1"/>
            </p:cNvSpPr>
            <p:nvPr/>
          </p:nvSpPr>
          <p:spPr>
            <a:xfrm>
              <a:off x="3107606" y="4626981"/>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+1</a:t>
              </a:r>
            </a:p>
            <a:p>
              <a:r>
                <a:rPr lang="en-US" altLang="zh-CN" sz="1600" dirty="0">
                  <a:solidFill>
                    <a:srgbClr val="3333FF"/>
                  </a:solidFill>
                  <a:latin typeface="+mn-lt"/>
                  <a:ea typeface="黑体" pitchFamily="49" charset="-122"/>
                </a:rPr>
                <a:t>0001</a:t>
              </a:r>
              <a:endParaRPr lang="zh-CN" altLang="en-US" sz="1600" dirty="0">
                <a:solidFill>
                  <a:srgbClr val="3333FF"/>
                </a:solidFill>
                <a:latin typeface="+mn-lt"/>
                <a:ea typeface="黑体" pitchFamily="49" charset="-122"/>
              </a:endParaRPr>
            </a:p>
          </p:txBody>
        </p:sp>
        <p:sp>
          <p:nvSpPr>
            <p:cNvPr id="21" name="文本框 20">
              <a:extLst>
                <a:ext uri="{FF2B5EF4-FFF2-40B4-BE49-F238E27FC236}">
                  <a16:creationId xmlns:a16="http://schemas.microsoft.com/office/drawing/2014/main" id="{44F15A22-CA77-688B-6A43-312196E0A3E2}"/>
                </a:ext>
              </a:extLst>
            </p:cNvPr>
            <p:cNvSpPr txBox="1">
              <a:spLocks noChangeAspect="1"/>
            </p:cNvSpPr>
            <p:nvPr/>
          </p:nvSpPr>
          <p:spPr>
            <a:xfrm>
              <a:off x="3511339" y="4634956"/>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+2</a:t>
              </a:r>
            </a:p>
            <a:p>
              <a:r>
                <a:rPr lang="en-US" altLang="zh-CN" sz="1600" dirty="0">
                  <a:solidFill>
                    <a:srgbClr val="3333FF"/>
                  </a:solidFill>
                  <a:latin typeface="+mn-lt"/>
                  <a:ea typeface="黑体" pitchFamily="49" charset="-122"/>
                </a:rPr>
                <a:t>0010</a:t>
              </a:r>
              <a:endParaRPr lang="zh-CN" altLang="en-US" sz="1200" dirty="0">
                <a:solidFill>
                  <a:srgbClr val="3333FF"/>
                </a:solidFill>
                <a:latin typeface="+mn-lt"/>
                <a:ea typeface="黑体" pitchFamily="49" charset="-122"/>
              </a:endParaRPr>
            </a:p>
          </p:txBody>
        </p:sp>
        <p:sp>
          <p:nvSpPr>
            <p:cNvPr id="22" name="文本框 21">
              <a:extLst>
                <a:ext uri="{FF2B5EF4-FFF2-40B4-BE49-F238E27FC236}">
                  <a16:creationId xmlns:a16="http://schemas.microsoft.com/office/drawing/2014/main" id="{7FADB1FA-7A1D-F372-9929-33108D05F0B8}"/>
                </a:ext>
              </a:extLst>
            </p:cNvPr>
            <p:cNvSpPr txBox="1">
              <a:spLocks noChangeAspect="1"/>
            </p:cNvSpPr>
            <p:nvPr/>
          </p:nvSpPr>
          <p:spPr>
            <a:xfrm>
              <a:off x="3931441" y="4632278"/>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+3</a:t>
              </a:r>
            </a:p>
            <a:p>
              <a:r>
                <a:rPr lang="en-US" altLang="zh-CN" sz="1600" dirty="0">
                  <a:solidFill>
                    <a:srgbClr val="3333FF"/>
                  </a:solidFill>
                  <a:latin typeface="+mn-lt"/>
                  <a:ea typeface="黑体" pitchFamily="49" charset="-122"/>
                </a:rPr>
                <a:t>0011</a:t>
              </a:r>
              <a:endParaRPr lang="zh-CN" altLang="en-US" sz="1200" dirty="0">
                <a:solidFill>
                  <a:srgbClr val="3333FF"/>
                </a:solidFill>
                <a:latin typeface="+mn-lt"/>
                <a:ea typeface="黑体" pitchFamily="49" charset="-122"/>
              </a:endParaRPr>
            </a:p>
          </p:txBody>
        </p:sp>
        <p:sp>
          <p:nvSpPr>
            <p:cNvPr id="30" name="文本框 29">
              <a:extLst>
                <a:ext uri="{FF2B5EF4-FFF2-40B4-BE49-F238E27FC236}">
                  <a16:creationId xmlns:a16="http://schemas.microsoft.com/office/drawing/2014/main" id="{3B143EA7-8DAB-64FB-2CAE-58514990B551}"/>
                </a:ext>
              </a:extLst>
            </p:cNvPr>
            <p:cNvSpPr txBox="1">
              <a:spLocks noChangeAspect="1"/>
            </p:cNvSpPr>
            <p:nvPr/>
          </p:nvSpPr>
          <p:spPr>
            <a:xfrm>
              <a:off x="4346522" y="4633617"/>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+4</a:t>
              </a:r>
            </a:p>
            <a:p>
              <a:r>
                <a:rPr lang="en-US" altLang="zh-CN" sz="1600" dirty="0">
                  <a:solidFill>
                    <a:srgbClr val="3333FF"/>
                  </a:solidFill>
                  <a:latin typeface="+mn-lt"/>
                  <a:ea typeface="黑体" pitchFamily="49" charset="-122"/>
                </a:rPr>
                <a:t>0100</a:t>
              </a:r>
              <a:endParaRPr lang="zh-CN" altLang="en-US" sz="1200" dirty="0">
                <a:solidFill>
                  <a:srgbClr val="3333FF"/>
                </a:solidFill>
                <a:latin typeface="+mn-lt"/>
                <a:ea typeface="黑体" pitchFamily="49" charset="-122"/>
              </a:endParaRPr>
            </a:p>
          </p:txBody>
        </p:sp>
        <p:sp>
          <p:nvSpPr>
            <p:cNvPr id="31" name="文本框 30">
              <a:extLst>
                <a:ext uri="{FF2B5EF4-FFF2-40B4-BE49-F238E27FC236}">
                  <a16:creationId xmlns:a16="http://schemas.microsoft.com/office/drawing/2014/main" id="{D3750BDE-4E16-FC86-5466-592EBBDED99B}"/>
                </a:ext>
              </a:extLst>
            </p:cNvPr>
            <p:cNvSpPr txBox="1">
              <a:spLocks noChangeAspect="1"/>
            </p:cNvSpPr>
            <p:nvPr/>
          </p:nvSpPr>
          <p:spPr>
            <a:xfrm>
              <a:off x="4764099" y="4626980"/>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+5</a:t>
              </a:r>
            </a:p>
            <a:p>
              <a:r>
                <a:rPr lang="en-US" altLang="zh-CN" sz="1600" dirty="0">
                  <a:solidFill>
                    <a:srgbClr val="3333FF"/>
                  </a:solidFill>
                  <a:latin typeface="+mn-lt"/>
                  <a:ea typeface="黑体" pitchFamily="49" charset="-122"/>
                </a:rPr>
                <a:t>0101</a:t>
              </a:r>
              <a:endParaRPr lang="zh-CN" altLang="en-US" sz="1200" dirty="0">
                <a:solidFill>
                  <a:srgbClr val="3333FF"/>
                </a:solidFill>
                <a:latin typeface="+mn-lt"/>
                <a:ea typeface="黑体" pitchFamily="49" charset="-122"/>
              </a:endParaRPr>
            </a:p>
          </p:txBody>
        </p:sp>
        <p:sp>
          <p:nvSpPr>
            <p:cNvPr id="32" name="文本框 31">
              <a:extLst>
                <a:ext uri="{FF2B5EF4-FFF2-40B4-BE49-F238E27FC236}">
                  <a16:creationId xmlns:a16="http://schemas.microsoft.com/office/drawing/2014/main" id="{EFDB501C-6F0A-A828-97DF-E01E1C61773A}"/>
                </a:ext>
              </a:extLst>
            </p:cNvPr>
            <p:cNvSpPr txBox="1">
              <a:spLocks noChangeAspect="1"/>
            </p:cNvSpPr>
            <p:nvPr/>
          </p:nvSpPr>
          <p:spPr>
            <a:xfrm>
              <a:off x="5118932" y="5001818"/>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+6</a:t>
              </a:r>
            </a:p>
            <a:p>
              <a:r>
                <a:rPr lang="en-US" altLang="zh-CN" sz="1600" dirty="0">
                  <a:solidFill>
                    <a:srgbClr val="3333FF"/>
                  </a:solidFill>
                  <a:latin typeface="+mn-lt"/>
                  <a:ea typeface="黑体" pitchFamily="49" charset="-122"/>
                </a:rPr>
                <a:t>0110</a:t>
              </a:r>
              <a:endParaRPr lang="zh-CN" altLang="en-US" sz="1200" dirty="0">
                <a:solidFill>
                  <a:srgbClr val="3333FF"/>
                </a:solidFill>
                <a:latin typeface="+mn-lt"/>
                <a:ea typeface="黑体" pitchFamily="49" charset="-122"/>
              </a:endParaRPr>
            </a:p>
          </p:txBody>
        </p:sp>
        <p:sp>
          <p:nvSpPr>
            <p:cNvPr id="33" name="文本框 32">
              <a:extLst>
                <a:ext uri="{FF2B5EF4-FFF2-40B4-BE49-F238E27FC236}">
                  <a16:creationId xmlns:a16="http://schemas.microsoft.com/office/drawing/2014/main" id="{07D0AD31-5DD6-82DC-5D74-71678E093998}"/>
                </a:ext>
              </a:extLst>
            </p:cNvPr>
            <p:cNvSpPr txBox="1">
              <a:spLocks noChangeAspect="1"/>
            </p:cNvSpPr>
            <p:nvPr/>
          </p:nvSpPr>
          <p:spPr>
            <a:xfrm>
              <a:off x="5147893" y="5374978"/>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+7</a:t>
              </a:r>
            </a:p>
            <a:p>
              <a:r>
                <a:rPr lang="en-US" altLang="zh-CN" sz="1600" dirty="0">
                  <a:solidFill>
                    <a:srgbClr val="3333FF"/>
                  </a:solidFill>
                  <a:latin typeface="+mn-lt"/>
                  <a:ea typeface="黑体" pitchFamily="49" charset="-122"/>
                </a:rPr>
                <a:t>0111</a:t>
              </a:r>
              <a:endParaRPr lang="zh-CN" altLang="en-US" sz="1200" dirty="0">
                <a:solidFill>
                  <a:srgbClr val="3333FF"/>
                </a:solidFill>
                <a:latin typeface="+mn-lt"/>
                <a:ea typeface="黑体" pitchFamily="49" charset="-122"/>
              </a:endParaRPr>
            </a:p>
          </p:txBody>
        </p:sp>
        <p:grpSp>
          <p:nvGrpSpPr>
            <p:cNvPr id="34" name="组合 33">
              <a:extLst>
                <a:ext uri="{FF2B5EF4-FFF2-40B4-BE49-F238E27FC236}">
                  <a16:creationId xmlns:a16="http://schemas.microsoft.com/office/drawing/2014/main" id="{B5C06C95-1897-A102-2C26-73B89A40C67A}"/>
                </a:ext>
              </a:extLst>
            </p:cNvPr>
            <p:cNvGrpSpPr>
              <a:grpSpLocks noChangeAspect="1"/>
            </p:cNvGrpSpPr>
            <p:nvPr/>
          </p:nvGrpSpPr>
          <p:grpSpPr>
            <a:xfrm rot="10800000">
              <a:off x="2621721" y="5206554"/>
              <a:ext cx="2463298" cy="665553"/>
              <a:chOff x="1215602" y="5121188"/>
              <a:chExt cx="2672322" cy="356937"/>
            </a:xfrm>
          </p:grpSpPr>
          <p:cxnSp>
            <p:nvCxnSpPr>
              <p:cNvPr id="44" name="直线连接符 58">
                <a:extLst>
                  <a:ext uri="{FF2B5EF4-FFF2-40B4-BE49-F238E27FC236}">
                    <a16:creationId xmlns:a16="http://schemas.microsoft.com/office/drawing/2014/main" id="{376BF180-6E58-DDA3-0D15-0BF6195A58A3}"/>
                  </a:ext>
                </a:extLst>
              </p:cNvPr>
              <p:cNvCxnSpPr>
                <a:cxnSpLocks/>
              </p:cNvCxnSpPr>
              <p:nvPr/>
            </p:nvCxnSpPr>
            <p:spPr bwMode="auto">
              <a:xfrm>
                <a:off x="1215602" y="5121188"/>
                <a:ext cx="2672322" cy="0"/>
              </a:xfrm>
              <a:prstGeom prst="line">
                <a:avLst/>
              </a:prstGeom>
              <a:solidFill>
                <a:schemeClr val="accent1"/>
              </a:solidFill>
              <a:ln w="19050" cap="flat" cmpd="sng" algn="ctr">
                <a:solidFill>
                  <a:srgbClr val="3333FF">
                    <a:alpha val="34283"/>
                  </a:srgbClr>
                </a:solidFill>
                <a:prstDash val="solid"/>
                <a:round/>
                <a:headEnd type="none" w="med" len="med"/>
                <a:tailEnd type="triangle" w="med" len="med"/>
              </a:ln>
              <a:effectLst/>
            </p:spPr>
          </p:cxnSp>
          <p:cxnSp>
            <p:nvCxnSpPr>
              <p:cNvPr id="45" name="直线连接符 59">
                <a:extLst>
                  <a:ext uri="{FF2B5EF4-FFF2-40B4-BE49-F238E27FC236}">
                    <a16:creationId xmlns:a16="http://schemas.microsoft.com/office/drawing/2014/main" id="{D171CE76-0294-A6F4-6964-28867C2B6391}"/>
                  </a:ext>
                </a:extLst>
              </p:cNvPr>
              <p:cNvCxnSpPr>
                <a:cxnSpLocks/>
              </p:cNvCxnSpPr>
              <p:nvPr/>
            </p:nvCxnSpPr>
            <p:spPr bwMode="auto">
              <a:xfrm flipV="1">
                <a:off x="3887924" y="5121188"/>
                <a:ext cx="0" cy="356937"/>
              </a:xfrm>
              <a:prstGeom prst="line">
                <a:avLst/>
              </a:prstGeom>
              <a:solidFill>
                <a:schemeClr val="accent1"/>
              </a:solidFill>
              <a:ln w="19050" cap="flat" cmpd="sng" algn="ctr">
                <a:solidFill>
                  <a:srgbClr val="3333FF">
                    <a:alpha val="34283"/>
                  </a:srgbClr>
                </a:solidFill>
                <a:prstDash val="solid"/>
                <a:round/>
                <a:headEnd type="triangle" w="med" len="med"/>
                <a:tailEnd type="none" w="med" len="med"/>
              </a:ln>
              <a:effectLst/>
            </p:spPr>
          </p:cxnSp>
        </p:grpSp>
        <p:sp>
          <p:nvSpPr>
            <p:cNvPr id="35" name="文本框 34">
              <a:extLst>
                <a:ext uri="{FF2B5EF4-FFF2-40B4-BE49-F238E27FC236}">
                  <a16:creationId xmlns:a16="http://schemas.microsoft.com/office/drawing/2014/main" id="{02C8C1B5-3773-C3C4-E596-C181E00F060A}"/>
                </a:ext>
              </a:extLst>
            </p:cNvPr>
            <p:cNvSpPr txBox="1">
              <a:spLocks noChangeAspect="1"/>
            </p:cNvSpPr>
            <p:nvPr/>
          </p:nvSpPr>
          <p:spPr>
            <a:xfrm>
              <a:off x="4337063" y="5090706"/>
              <a:ext cx="771621" cy="223483"/>
            </a:xfrm>
            <a:prstGeom prst="rect">
              <a:avLst/>
            </a:prstGeom>
            <a:noFill/>
          </p:spPr>
          <p:txBody>
            <a:bodyPr wrap="square" rtlCol="0">
              <a:spAutoFit/>
            </a:bodyPr>
            <a:lstStyle/>
            <a:p>
              <a:r>
                <a:rPr kumimoji="1" lang="en-US" altLang="zh-CN" sz="1600" b="1" dirty="0">
                  <a:solidFill>
                    <a:srgbClr val="7030A0"/>
                  </a:solidFill>
                  <a:latin typeface="+mj-lt"/>
                  <a:ea typeface="SimHei" panose="02010609060101010101" pitchFamily="49" charset="-122"/>
                </a:rPr>
                <a:t>Positive</a:t>
              </a:r>
              <a:endParaRPr kumimoji="1" lang="zh-CN" altLang="en-US" sz="1600" b="1" dirty="0">
                <a:solidFill>
                  <a:srgbClr val="7030A0"/>
                </a:solidFill>
                <a:latin typeface="+mj-lt"/>
                <a:ea typeface="SimHei" panose="02010609060101010101" pitchFamily="49" charset="-122"/>
              </a:endParaRPr>
            </a:p>
          </p:txBody>
        </p:sp>
        <p:sp>
          <p:nvSpPr>
            <p:cNvPr id="36" name="文本框 35">
              <a:extLst>
                <a:ext uri="{FF2B5EF4-FFF2-40B4-BE49-F238E27FC236}">
                  <a16:creationId xmlns:a16="http://schemas.microsoft.com/office/drawing/2014/main" id="{88AD6D4F-8A8D-7474-0E9D-6453948453CC}"/>
                </a:ext>
              </a:extLst>
            </p:cNvPr>
            <p:cNvSpPr txBox="1">
              <a:spLocks noChangeAspect="1"/>
            </p:cNvSpPr>
            <p:nvPr/>
          </p:nvSpPr>
          <p:spPr>
            <a:xfrm>
              <a:off x="2579193" y="5559993"/>
              <a:ext cx="841897" cy="223483"/>
            </a:xfrm>
            <a:prstGeom prst="rect">
              <a:avLst/>
            </a:prstGeom>
            <a:noFill/>
          </p:spPr>
          <p:txBody>
            <a:bodyPr wrap="square" rtlCol="0">
              <a:spAutoFit/>
            </a:bodyPr>
            <a:lstStyle/>
            <a:p>
              <a:r>
                <a:rPr kumimoji="1" lang="en-US" altLang="zh-CN" sz="1600" b="1" dirty="0">
                  <a:solidFill>
                    <a:srgbClr val="7030A0"/>
                  </a:solidFill>
                  <a:latin typeface="+mj-lt"/>
                  <a:ea typeface="SimHei" panose="02010609060101010101" pitchFamily="49" charset="-122"/>
                </a:rPr>
                <a:t>Negative</a:t>
              </a:r>
              <a:endParaRPr kumimoji="1" lang="zh-CN" altLang="en-US" sz="1600" b="1" dirty="0">
                <a:solidFill>
                  <a:srgbClr val="7030A0"/>
                </a:solidFill>
                <a:latin typeface="+mj-lt"/>
                <a:ea typeface="SimHei" panose="02010609060101010101" pitchFamily="49" charset="-122"/>
              </a:endParaRPr>
            </a:p>
          </p:txBody>
        </p:sp>
        <p:sp>
          <p:nvSpPr>
            <p:cNvPr id="37" name="文本框 36">
              <a:extLst>
                <a:ext uri="{FF2B5EF4-FFF2-40B4-BE49-F238E27FC236}">
                  <a16:creationId xmlns:a16="http://schemas.microsoft.com/office/drawing/2014/main" id="{2D3D87BB-246D-14C3-4F6D-7353F9950C3A}"/>
                </a:ext>
              </a:extLst>
            </p:cNvPr>
            <p:cNvSpPr txBox="1">
              <a:spLocks noChangeAspect="1"/>
            </p:cNvSpPr>
            <p:nvPr/>
          </p:nvSpPr>
          <p:spPr>
            <a:xfrm>
              <a:off x="2123164" y="5067812"/>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-1</a:t>
              </a:r>
            </a:p>
            <a:p>
              <a:r>
                <a:rPr lang="en-US" altLang="zh-CN" sz="1600" dirty="0">
                  <a:solidFill>
                    <a:srgbClr val="3333FF"/>
                  </a:solidFill>
                  <a:latin typeface="+mn-lt"/>
                  <a:ea typeface="黑体" pitchFamily="49" charset="-122"/>
                </a:rPr>
                <a:t>1111</a:t>
              </a:r>
              <a:endParaRPr lang="zh-CN" altLang="en-US" sz="1600" dirty="0">
                <a:solidFill>
                  <a:srgbClr val="3333FF"/>
                </a:solidFill>
                <a:latin typeface="+mn-lt"/>
                <a:ea typeface="黑体" pitchFamily="49" charset="-122"/>
              </a:endParaRPr>
            </a:p>
          </p:txBody>
        </p:sp>
        <p:sp>
          <p:nvSpPr>
            <p:cNvPr id="38" name="文本框 37">
              <a:extLst>
                <a:ext uri="{FF2B5EF4-FFF2-40B4-BE49-F238E27FC236}">
                  <a16:creationId xmlns:a16="http://schemas.microsoft.com/office/drawing/2014/main" id="{C5F1CFED-5699-5827-A195-4139F7D5CC70}"/>
                </a:ext>
              </a:extLst>
            </p:cNvPr>
            <p:cNvSpPr txBox="1">
              <a:spLocks noChangeAspect="1"/>
            </p:cNvSpPr>
            <p:nvPr/>
          </p:nvSpPr>
          <p:spPr>
            <a:xfrm>
              <a:off x="2323810" y="5836643"/>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-3</a:t>
              </a:r>
            </a:p>
            <a:p>
              <a:r>
                <a:rPr lang="en-US" altLang="zh-CN" sz="1600" dirty="0">
                  <a:solidFill>
                    <a:srgbClr val="3333FF"/>
                  </a:solidFill>
                  <a:latin typeface="+mn-lt"/>
                  <a:ea typeface="黑体" pitchFamily="49" charset="-122"/>
                </a:rPr>
                <a:t>1101</a:t>
              </a:r>
              <a:endParaRPr lang="zh-CN" altLang="en-US" sz="1600" dirty="0">
                <a:solidFill>
                  <a:srgbClr val="3333FF"/>
                </a:solidFill>
                <a:latin typeface="+mn-lt"/>
                <a:ea typeface="黑体" pitchFamily="49" charset="-122"/>
              </a:endParaRPr>
            </a:p>
          </p:txBody>
        </p:sp>
        <p:sp>
          <p:nvSpPr>
            <p:cNvPr id="39" name="文本框 38">
              <a:extLst>
                <a:ext uri="{FF2B5EF4-FFF2-40B4-BE49-F238E27FC236}">
                  <a16:creationId xmlns:a16="http://schemas.microsoft.com/office/drawing/2014/main" id="{4DA5A6B9-DBFE-7073-65B6-BE9CF2944236}"/>
                </a:ext>
              </a:extLst>
            </p:cNvPr>
            <p:cNvSpPr txBox="1">
              <a:spLocks noChangeAspect="1"/>
            </p:cNvSpPr>
            <p:nvPr/>
          </p:nvSpPr>
          <p:spPr>
            <a:xfrm>
              <a:off x="2768321" y="5844090"/>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-4</a:t>
              </a:r>
            </a:p>
            <a:p>
              <a:r>
                <a:rPr lang="en-US" altLang="zh-CN" sz="1600" dirty="0">
                  <a:solidFill>
                    <a:srgbClr val="3333FF"/>
                  </a:solidFill>
                  <a:latin typeface="+mn-lt"/>
                  <a:ea typeface="黑体" pitchFamily="49" charset="-122"/>
                </a:rPr>
                <a:t>1100</a:t>
              </a:r>
              <a:endParaRPr lang="zh-CN" altLang="en-US" sz="1600" dirty="0">
                <a:solidFill>
                  <a:srgbClr val="3333FF"/>
                </a:solidFill>
                <a:latin typeface="+mn-lt"/>
                <a:ea typeface="黑体" pitchFamily="49" charset="-122"/>
              </a:endParaRPr>
            </a:p>
          </p:txBody>
        </p:sp>
        <p:sp>
          <p:nvSpPr>
            <p:cNvPr id="40" name="文本框 39">
              <a:extLst>
                <a:ext uri="{FF2B5EF4-FFF2-40B4-BE49-F238E27FC236}">
                  <a16:creationId xmlns:a16="http://schemas.microsoft.com/office/drawing/2014/main" id="{F4986B5D-62D0-DF43-90EE-924390117D83}"/>
                </a:ext>
              </a:extLst>
            </p:cNvPr>
            <p:cNvSpPr txBox="1">
              <a:spLocks noChangeAspect="1"/>
            </p:cNvSpPr>
            <p:nvPr/>
          </p:nvSpPr>
          <p:spPr>
            <a:xfrm>
              <a:off x="3242393" y="5844090"/>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-5</a:t>
              </a:r>
            </a:p>
            <a:p>
              <a:r>
                <a:rPr lang="en-US" altLang="zh-CN" sz="1600" dirty="0">
                  <a:solidFill>
                    <a:srgbClr val="3333FF"/>
                  </a:solidFill>
                  <a:latin typeface="+mn-lt"/>
                  <a:ea typeface="黑体" pitchFamily="49" charset="-122"/>
                </a:rPr>
                <a:t>1011</a:t>
              </a:r>
              <a:endParaRPr lang="zh-CN" altLang="en-US" sz="1600" dirty="0">
                <a:solidFill>
                  <a:srgbClr val="3333FF"/>
                </a:solidFill>
                <a:latin typeface="+mn-lt"/>
                <a:ea typeface="黑体" pitchFamily="49" charset="-122"/>
              </a:endParaRPr>
            </a:p>
          </p:txBody>
        </p:sp>
        <p:sp>
          <p:nvSpPr>
            <p:cNvPr id="41" name="文本框 40">
              <a:extLst>
                <a:ext uri="{FF2B5EF4-FFF2-40B4-BE49-F238E27FC236}">
                  <a16:creationId xmlns:a16="http://schemas.microsoft.com/office/drawing/2014/main" id="{A8F40887-797C-A462-8F41-683DB6EC64C7}"/>
                </a:ext>
              </a:extLst>
            </p:cNvPr>
            <p:cNvSpPr txBox="1">
              <a:spLocks noChangeAspect="1"/>
            </p:cNvSpPr>
            <p:nvPr/>
          </p:nvSpPr>
          <p:spPr>
            <a:xfrm>
              <a:off x="3703183" y="5836642"/>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-6</a:t>
              </a:r>
            </a:p>
            <a:p>
              <a:r>
                <a:rPr lang="en-US" altLang="zh-CN" sz="1600" dirty="0">
                  <a:solidFill>
                    <a:srgbClr val="3333FF"/>
                  </a:solidFill>
                  <a:latin typeface="+mn-lt"/>
                  <a:ea typeface="黑体" pitchFamily="49" charset="-122"/>
                </a:rPr>
                <a:t>1010</a:t>
              </a:r>
              <a:endParaRPr lang="zh-CN" altLang="en-US" sz="1600" dirty="0">
                <a:solidFill>
                  <a:srgbClr val="3333FF"/>
                </a:solidFill>
                <a:latin typeface="+mn-lt"/>
                <a:ea typeface="黑体" pitchFamily="49" charset="-122"/>
              </a:endParaRPr>
            </a:p>
          </p:txBody>
        </p:sp>
        <p:sp>
          <p:nvSpPr>
            <p:cNvPr id="42" name="文本框 41">
              <a:extLst>
                <a:ext uri="{FF2B5EF4-FFF2-40B4-BE49-F238E27FC236}">
                  <a16:creationId xmlns:a16="http://schemas.microsoft.com/office/drawing/2014/main" id="{1B618C1D-F9CC-088E-58C7-4B13AAC0E68C}"/>
                </a:ext>
              </a:extLst>
            </p:cNvPr>
            <p:cNvSpPr txBox="1">
              <a:spLocks noChangeAspect="1"/>
            </p:cNvSpPr>
            <p:nvPr/>
          </p:nvSpPr>
          <p:spPr>
            <a:xfrm>
              <a:off x="4170570" y="5840399"/>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-7</a:t>
              </a:r>
            </a:p>
            <a:p>
              <a:r>
                <a:rPr lang="en-US" altLang="zh-CN" sz="1600" dirty="0">
                  <a:solidFill>
                    <a:srgbClr val="3333FF"/>
                  </a:solidFill>
                  <a:latin typeface="+mn-lt"/>
                  <a:ea typeface="黑体" pitchFamily="49" charset="-122"/>
                </a:rPr>
                <a:t>1001</a:t>
              </a:r>
              <a:endParaRPr lang="zh-CN" altLang="en-US" sz="1600" dirty="0">
                <a:solidFill>
                  <a:srgbClr val="3333FF"/>
                </a:solidFill>
                <a:latin typeface="+mn-lt"/>
                <a:ea typeface="黑体" pitchFamily="49" charset="-122"/>
              </a:endParaRPr>
            </a:p>
          </p:txBody>
        </p:sp>
        <p:sp>
          <p:nvSpPr>
            <p:cNvPr id="43" name="文本框 42">
              <a:extLst>
                <a:ext uri="{FF2B5EF4-FFF2-40B4-BE49-F238E27FC236}">
                  <a16:creationId xmlns:a16="http://schemas.microsoft.com/office/drawing/2014/main" id="{F118497F-7D83-577A-1254-128B8B4AA2DF}"/>
                </a:ext>
              </a:extLst>
            </p:cNvPr>
            <p:cNvSpPr txBox="1">
              <a:spLocks noChangeAspect="1"/>
            </p:cNvSpPr>
            <p:nvPr/>
          </p:nvSpPr>
          <p:spPr>
            <a:xfrm>
              <a:off x="2133138" y="5428983"/>
              <a:ext cx="498855" cy="386015"/>
            </a:xfrm>
            <a:prstGeom prst="rect">
              <a:avLst/>
            </a:prstGeom>
            <a:noFill/>
          </p:spPr>
          <p:txBody>
            <a:bodyPr wrap="square" rtlCol="0">
              <a:spAutoFit/>
            </a:bodyPr>
            <a:lstStyle/>
            <a:p>
              <a:r>
                <a:rPr kumimoji="1" lang="en-US" altLang="zh-CN" sz="1600" dirty="0">
                  <a:solidFill>
                    <a:srgbClr val="C00000"/>
                  </a:solidFill>
                  <a:latin typeface="SimHei" panose="02010609060101010101" pitchFamily="49" charset="-122"/>
                  <a:ea typeface="SimHei" panose="02010609060101010101" pitchFamily="49" charset="-122"/>
                </a:rPr>
                <a:t>-2</a:t>
              </a:r>
            </a:p>
            <a:p>
              <a:r>
                <a:rPr lang="en-US" altLang="zh-CN" sz="1600" dirty="0">
                  <a:solidFill>
                    <a:srgbClr val="3333FF"/>
                  </a:solidFill>
                  <a:latin typeface="+mn-lt"/>
                  <a:ea typeface="黑体" pitchFamily="49" charset="-122"/>
                </a:rPr>
                <a:t>1110</a:t>
              </a:r>
              <a:endParaRPr lang="zh-CN" altLang="en-US" sz="1600" dirty="0">
                <a:solidFill>
                  <a:srgbClr val="3333FF"/>
                </a:solidFill>
                <a:latin typeface="+mn-lt"/>
                <a:ea typeface="黑体" pitchFamily="49" charset="-122"/>
              </a:endParaRPr>
            </a:p>
          </p:txBody>
        </p:sp>
      </p:grpSp>
    </p:spTree>
    <p:extLst>
      <p:ext uri="{BB962C8B-B14F-4D97-AF65-F5344CB8AC3E}">
        <p14:creationId xmlns:p14="http://schemas.microsoft.com/office/powerpoint/2010/main" val="1610413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3" name="Rectangle 3"/>
          <p:cNvSpPr>
            <a:spLocks noGrp="1" noChangeArrowheads="1"/>
          </p:cNvSpPr>
          <p:nvPr>
            <p:ph type="body" idx="1"/>
          </p:nvPr>
        </p:nvSpPr>
        <p:spPr>
          <a:xfrm>
            <a:off x="328600" y="1521234"/>
            <a:ext cx="8424936" cy="3311476"/>
          </a:xfrm>
        </p:spPr>
        <p:txBody>
          <a:bodyPr/>
          <a:lstStyle/>
          <a:p>
            <a:pPr hangingPunct="1"/>
            <a:r>
              <a:rPr lang="en-US" altLang="zh-CN" sz="2400" b="1" dirty="0">
                <a:solidFill>
                  <a:srgbClr val="3333FF"/>
                </a:solidFill>
              </a:rPr>
              <a:t>‘</a:t>
            </a:r>
            <a:r>
              <a:rPr lang="en-US" altLang="zh-CN" sz="2400" b="1" dirty="0">
                <a:solidFill>
                  <a:srgbClr val="3333FF"/>
                </a:solidFill>
                <a:latin typeface="Arial" panose="020B0604020202020204" pitchFamily="34" charset="0"/>
                <a:ea typeface="Microsoft YaHei" panose="020B0503020204020204" pitchFamily="34" charset="-122"/>
                <a:cs typeface="Arial" panose="020B0604020202020204" pitchFamily="34" charset="0"/>
              </a:rPr>
              <a:t>–</a:t>
            </a:r>
            <a:r>
              <a:rPr lang="en-US" sz="2400" b="1" dirty="0" err="1">
                <a:solidFill>
                  <a:srgbClr val="3333FF"/>
                </a:solidFill>
              </a:rPr>
              <a:t>N’的补码</a:t>
            </a:r>
            <a:endParaRPr lang="en-US" altLang="zh-CN" sz="2400" b="1" dirty="0">
              <a:solidFill>
                <a:schemeClr val="tx1"/>
              </a:solidFill>
            </a:endParaRPr>
          </a:p>
          <a:p>
            <a:pPr lvl="1" hangingPunct="1"/>
            <a:r>
              <a:rPr lang="en-US" sz="2400" dirty="0" err="1"/>
              <a:t>无符号数值</a:t>
            </a:r>
            <a:r>
              <a:rPr lang="zh-CN" altLang="en-US" sz="2400" dirty="0"/>
              <a:t>：</a:t>
            </a:r>
            <a:r>
              <a:rPr lang="en-US" sz="2400" dirty="0"/>
              <a:t> </a:t>
            </a:r>
            <a:r>
              <a:rPr lang="en-US" sz="2400" b="1" dirty="0">
                <a:solidFill>
                  <a:srgbClr val="3333FF"/>
                </a:solidFill>
              </a:rPr>
              <a:t>N</a:t>
            </a:r>
            <a:r>
              <a:rPr lang="en-US" sz="2400" b="1" baseline="-25000" dirty="0">
                <a:solidFill>
                  <a:srgbClr val="3333FF"/>
                </a:solidFill>
              </a:rPr>
              <a:t>us</a:t>
            </a:r>
            <a:r>
              <a:rPr lang="en-US" sz="2400" b="1" dirty="0">
                <a:solidFill>
                  <a:srgbClr val="3333FF"/>
                </a:solidFill>
              </a:rPr>
              <a:t> = 2</a:t>
            </a:r>
            <a:r>
              <a:rPr lang="en-US" sz="2400" b="1" baseline="30000" dirty="0">
                <a:solidFill>
                  <a:srgbClr val="3333FF"/>
                </a:solidFill>
              </a:rPr>
              <a:t>n</a:t>
            </a:r>
            <a:r>
              <a:rPr lang="en-US" altLang="zh-CN" sz="2400" b="1" dirty="0">
                <a:solidFill>
                  <a:srgbClr val="3333FF"/>
                </a:solidFill>
                <a:latin typeface="Arial" panose="020B0604020202020204" pitchFamily="34" charset="0"/>
                <a:ea typeface="Microsoft YaHei" panose="020B0503020204020204" pitchFamily="34" charset="-122"/>
                <a:cs typeface="Arial" panose="020B0604020202020204" pitchFamily="34" charset="0"/>
              </a:rPr>
              <a:t>–</a:t>
            </a:r>
            <a:r>
              <a:rPr lang="en-US" sz="2400" b="1" dirty="0">
                <a:solidFill>
                  <a:srgbClr val="3333FF"/>
                </a:solidFill>
              </a:rPr>
              <a:t>N</a:t>
            </a:r>
            <a:endParaRPr lang="en-CN" sz="2400" b="1" kern="1200" dirty="0">
              <a:solidFill>
                <a:schemeClr val="tx1"/>
              </a:solidFill>
              <a:latin typeface="Arial" panose="020B0604020202020204" pitchFamily="34" charset="0"/>
              <a:ea typeface="SimHei" panose="02010609060101010101" pitchFamily="49" charset="-122"/>
              <a:cs typeface="Arial" panose="020B0604020202020204" pitchFamily="34" charset="0"/>
            </a:endParaRPr>
          </a:p>
          <a:p>
            <a:pPr hangingPunct="1"/>
            <a:r>
              <a:rPr lang="en-CN" sz="2400" b="1" kern="1200" dirty="0">
                <a:solidFill>
                  <a:schemeClr val="tx1"/>
                </a:solidFill>
                <a:latin typeface="Arial" panose="020B0604020202020204" pitchFamily="34" charset="0"/>
                <a:ea typeface="SimHei" panose="02010609060101010101" pitchFamily="49" charset="-122"/>
                <a:cs typeface="Arial" panose="020B0604020202020204" pitchFamily="34" charset="0"/>
              </a:rPr>
              <a:t>减法 (3-bit 例子)</a:t>
            </a:r>
          </a:p>
          <a:p>
            <a:pPr lvl="1" hangingPunct="1"/>
            <a:r>
              <a:rPr lang="en-CN" sz="2400" b="1" kern="1200" dirty="0">
                <a:solidFill>
                  <a:schemeClr val="tx1"/>
                </a:solidFill>
                <a:latin typeface="Arial" panose="020B0604020202020204" pitchFamily="34" charset="0"/>
                <a:ea typeface="SimHei" panose="02010609060101010101" pitchFamily="49" charset="-122"/>
                <a:cs typeface="Arial" panose="020B0604020202020204" pitchFamily="34" charset="0"/>
              </a:rPr>
              <a:t>2 – 1 =</a:t>
            </a:r>
          </a:p>
          <a:p>
            <a:pPr lvl="1" hangingPunct="1"/>
            <a:r>
              <a:rPr lang="en-CN" sz="2400" b="1" kern="1200" dirty="0">
                <a:solidFill>
                  <a:schemeClr val="tx1"/>
                </a:solidFill>
                <a:latin typeface="Arial" panose="020B0604020202020204" pitchFamily="34" charset="0"/>
                <a:ea typeface="SimHei" panose="02010609060101010101" pitchFamily="49" charset="-122"/>
                <a:cs typeface="Arial" panose="020B0604020202020204" pitchFamily="34" charset="0"/>
              </a:rPr>
              <a:t>A – N = A + ( – N ) = A + </a:t>
            </a:r>
            <a:r>
              <a:rPr lang="en-CN" sz="2400" b="1" kern="1200" dirty="0">
                <a:solidFill>
                  <a:srgbClr val="3333FF"/>
                </a:solidFill>
                <a:latin typeface="Arial" panose="020B0604020202020204" pitchFamily="34" charset="0"/>
                <a:ea typeface="SimHei" panose="02010609060101010101" pitchFamily="49" charset="-122"/>
                <a:cs typeface="Arial" panose="020B0604020202020204" pitchFamily="34" charset="0"/>
              </a:rPr>
              <a:t>(2</a:t>
            </a:r>
            <a:r>
              <a:rPr lang="en-CN" sz="2400" b="1" kern="1200" baseline="30000" dirty="0">
                <a:solidFill>
                  <a:srgbClr val="3333FF"/>
                </a:solidFill>
                <a:latin typeface="Arial" panose="020B0604020202020204" pitchFamily="34" charset="0"/>
                <a:ea typeface="SimHei" panose="02010609060101010101" pitchFamily="49" charset="-122"/>
                <a:cs typeface="Arial" panose="020B0604020202020204" pitchFamily="34" charset="0"/>
              </a:rPr>
              <a:t>n </a:t>
            </a:r>
            <a:r>
              <a:rPr lang="en-CN" sz="2400" b="1" kern="1200" dirty="0">
                <a:solidFill>
                  <a:srgbClr val="3333FF"/>
                </a:solidFill>
                <a:latin typeface="Arial" panose="020B0604020202020204" pitchFamily="34" charset="0"/>
                <a:ea typeface="SimHei" panose="02010609060101010101" pitchFamily="49" charset="-122"/>
                <a:cs typeface="Arial" panose="020B0604020202020204" pitchFamily="34" charset="0"/>
              </a:rPr>
              <a:t>– N)</a:t>
            </a:r>
            <a:r>
              <a:rPr lang="en-CN" sz="2400" b="1" kern="1200" dirty="0">
                <a:solidFill>
                  <a:schemeClr val="tx1"/>
                </a:solidFill>
                <a:latin typeface="Arial" panose="020B0604020202020204" pitchFamily="34" charset="0"/>
                <a:ea typeface="SimHei" panose="02010609060101010101" pitchFamily="49" charset="-122"/>
                <a:cs typeface="Arial" panose="020B0604020202020204" pitchFamily="34" charset="0"/>
              </a:rPr>
              <a:t> = A + </a:t>
            </a:r>
            <a:r>
              <a:rPr lang="en-US" sz="2400" b="1" dirty="0">
                <a:solidFill>
                  <a:srgbClr val="3333FF"/>
                </a:solidFill>
                <a:latin typeface="Arial" panose="020B0604020202020204" pitchFamily="34" charset="0"/>
                <a:cs typeface="Arial" panose="020B0604020202020204" pitchFamily="34" charset="0"/>
              </a:rPr>
              <a:t>N</a:t>
            </a:r>
            <a:r>
              <a:rPr lang="en-US" sz="2400" b="1" baseline="-25000" dirty="0">
                <a:solidFill>
                  <a:srgbClr val="3333FF"/>
                </a:solidFill>
                <a:latin typeface="Arial" panose="020B0604020202020204" pitchFamily="34" charset="0"/>
                <a:cs typeface="Arial" panose="020B0604020202020204" pitchFamily="34" charset="0"/>
              </a:rPr>
              <a:t>us</a:t>
            </a:r>
            <a:endParaRPr lang="en-US" altLang="zh-CN" sz="2100" b="1" dirty="0">
              <a:solidFill>
                <a:schemeClr val="tx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645ECC9-65F9-6844-921D-B06336D4EE4A}"/>
              </a:ext>
            </a:extLst>
          </p:cNvPr>
          <p:cNvSpPr txBox="1"/>
          <p:nvPr/>
        </p:nvSpPr>
        <p:spPr>
          <a:xfrm>
            <a:off x="6649441" y="1304764"/>
            <a:ext cx="761812" cy="923330"/>
          </a:xfrm>
          <a:prstGeom prst="rect">
            <a:avLst/>
          </a:prstGeom>
          <a:solidFill>
            <a:schemeClr val="accent2">
              <a:lumMod val="20000"/>
              <a:lumOff val="80000"/>
            </a:schemeClr>
          </a:solidFill>
        </p:spPr>
        <p:txBody>
          <a:bodyPr wrap="none" rtlCol="0">
            <a:spAutoFit/>
          </a:bodyPr>
          <a:lstStyle/>
          <a:p>
            <a:pPr algn="r"/>
            <a:r>
              <a:rPr lang="en-CN" dirty="0"/>
              <a:t>010</a:t>
            </a:r>
          </a:p>
          <a:p>
            <a:pPr algn="r"/>
            <a:r>
              <a:rPr lang="en-CN" u="sng" dirty="0"/>
              <a:t>– 001</a:t>
            </a:r>
          </a:p>
          <a:p>
            <a:pPr algn="r"/>
            <a:r>
              <a:rPr lang="en-CN" dirty="0">
                <a:solidFill>
                  <a:srgbClr val="7030A0"/>
                </a:solidFill>
              </a:rPr>
              <a:t>001</a:t>
            </a:r>
          </a:p>
        </p:txBody>
      </p:sp>
      <p:grpSp>
        <p:nvGrpSpPr>
          <p:cNvPr id="5" name="Group 4">
            <a:extLst>
              <a:ext uri="{FF2B5EF4-FFF2-40B4-BE49-F238E27FC236}">
                <a16:creationId xmlns:a16="http://schemas.microsoft.com/office/drawing/2014/main" id="{9F8AE064-F428-AF47-93AE-47B2342A73C2}"/>
              </a:ext>
            </a:extLst>
          </p:cNvPr>
          <p:cNvGrpSpPr/>
          <p:nvPr/>
        </p:nvGrpSpPr>
        <p:grpSpPr>
          <a:xfrm>
            <a:off x="7477533" y="1304764"/>
            <a:ext cx="1332148" cy="923330"/>
            <a:chOff x="7405525" y="1074096"/>
            <a:chExt cx="1332148" cy="923330"/>
          </a:xfrm>
        </p:grpSpPr>
        <p:sp>
          <p:nvSpPr>
            <p:cNvPr id="10" name="TextBox 9">
              <a:extLst>
                <a:ext uri="{FF2B5EF4-FFF2-40B4-BE49-F238E27FC236}">
                  <a16:creationId xmlns:a16="http://schemas.microsoft.com/office/drawing/2014/main" id="{6A86DFA3-31C9-5247-A1EB-3BF3507DAB79}"/>
                </a:ext>
              </a:extLst>
            </p:cNvPr>
            <p:cNvSpPr txBox="1"/>
            <p:nvPr/>
          </p:nvSpPr>
          <p:spPr>
            <a:xfrm>
              <a:off x="7847621" y="1074096"/>
              <a:ext cx="890052" cy="923330"/>
            </a:xfrm>
            <a:prstGeom prst="rect">
              <a:avLst/>
            </a:prstGeom>
            <a:solidFill>
              <a:schemeClr val="accent2">
                <a:lumMod val="20000"/>
                <a:lumOff val="80000"/>
              </a:schemeClr>
            </a:solidFill>
          </p:spPr>
          <p:txBody>
            <a:bodyPr wrap="none" rtlCol="0">
              <a:spAutoFit/>
            </a:bodyPr>
            <a:lstStyle/>
            <a:p>
              <a:pPr algn="r"/>
              <a:r>
                <a:rPr lang="en-CN" b="1" dirty="0">
                  <a:solidFill>
                    <a:srgbClr val="7030A0"/>
                  </a:solidFill>
                </a:rPr>
                <a:t>1</a:t>
              </a:r>
              <a:r>
                <a:rPr lang="en-CN" dirty="0"/>
                <a:t>010</a:t>
              </a:r>
            </a:p>
            <a:p>
              <a:pPr algn="r"/>
              <a:r>
                <a:rPr lang="en-CN" u="sng" dirty="0"/>
                <a:t>– 0001</a:t>
              </a:r>
            </a:p>
            <a:p>
              <a:pPr algn="r"/>
              <a:r>
                <a:rPr lang="en-CN" strike="sngStrike" dirty="0">
                  <a:solidFill>
                    <a:srgbClr val="7030A0"/>
                  </a:solidFill>
                </a:rPr>
                <a:t>1</a:t>
              </a:r>
              <a:r>
                <a:rPr lang="en-CN" dirty="0">
                  <a:solidFill>
                    <a:srgbClr val="7030A0"/>
                  </a:solidFill>
                </a:rPr>
                <a:t>001</a:t>
              </a:r>
            </a:p>
          </p:txBody>
        </p:sp>
        <p:sp>
          <p:nvSpPr>
            <p:cNvPr id="4" name="Left-Right Arrow 3">
              <a:extLst>
                <a:ext uri="{FF2B5EF4-FFF2-40B4-BE49-F238E27FC236}">
                  <a16:creationId xmlns:a16="http://schemas.microsoft.com/office/drawing/2014/main" id="{D8356FC8-7D8C-B44B-9712-A273D9325FA6}"/>
                </a:ext>
              </a:extLst>
            </p:cNvPr>
            <p:cNvSpPr/>
            <p:nvPr/>
          </p:nvSpPr>
          <p:spPr bwMode="auto">
            <a:xfrm>
              <a:off x="7405525" y="1434136"/>
              <a:ext cx="360040" cy="229717"/>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sp>
        <p:nvSpPr>
          <p:cNvPr id="3" name="Rectangle 2">
            <a:extLst>
              <a:ext uri="{FF2B5EF4-FFF2-40B4-BE49-F238E27FC236}">
                <a16:creationId xmlns:a16="http://schemas.microsoft.com/office/drawing/2014/main" id="{3B61F104-9D4C-3242-9697-F199BB8158D5}"/>
              </a:ext>
            </a:extLst>
          </p:cNvPr>
          <p:cNvSpPr/>
          <p:nvPr/>
        </p:nvSpPr>
        <p:spPr>
          <a:xfrm>
            <a:off x="2131746" y="2816486"/>
            <a:ext cx="1476686" cy="461665"/>
          </a:xfrm>
          <a:prstGeom prst="rect">
            <a:avLst/>
          </a:prstGeom>
        </p:spPr>
        <p:txBody>
          <a:bodyPr wrap="none">
            <a:spAutoFit/>
          </a:bodyPr>
          <a:lstStyle/>
          <a:p>
            <a:r>
              <a:rPr lang="en-CN" sz="2400" b="1" dirty="0">
                <a:solidFill>
                  <a:srgbClr val="000000"/>
                </a:solidFill>
                <a:latin typeface="Arial" panose="020B0604020202020204" pitchFamily="34" charset="0"/>
                <a:ea typeface="SimHei" panose="02010609060101010101" pitchFamily="49" charset="-122"/>
                <a:cs typeface="Arial" panose="020B0604020202020204" pitchFamily="34" charset="0"/>
              </a:rPr>
              <a:t>2 + 2</a:t>
            </a:r>
            <a:r>
              <a:rPr lang="en-CN" sz="2400" b="1" baseline="30000" dirty="0">
                <a:solidFill>
                  <a:srgbClr val="000000"/>
                </a:solidFill>
                <a:latin typeface="Arial" panose="020B0604020202020204" pitchFamily="34" charset="0"/>
                <a:ea typeface="SimHei" panose="02010609060101010101" pitchFamily="49" charset="-122"/>
                <a:cs typeface="Arial" panose="020B0604020202020204" pitchFamily="34" charset="0"/>
              </a:rPr>
              <a:t>3 </a:t>
            </a:r>
            <a:r>
              <a:rPr lang="en-CN" sz="2400" b="1" dirty="0">
                <a:solidFill>
                  <a:srgbClr val="000000"/>
                </a:solidFill>
                <a:latin typeface="Arial" panose="020B0604020202020204" pitchFamily="34" charset="0"/>
                <a:ea typeface="SimHei" panose="02010609060101010101" pitchFamily="49" charset="-122"/>
                <a:cs typeface="Arial" panose="020B0604020202020204" pitchFamily="34" charset="0"/>
              </a:rPr>
              <a:t>– 1</a:t>
            </a:r>
            <a:endParaRPr lang="en-CN" dirty="0"/>
          </a:p>
        </p:txBody>
      </p:sp>
      <p:sp>
        <p:nvSpPr>
          <p:cNvPr id="6" name="Rectangle 5">
            <a:extLst>
              <a:ext uri="{FF2B5EF4-FFF2-40B4-BE49-F238E27FC236}">
                <a16:creationId xmlns:a16="http://schemas.microsoft.com/office/drawing/2014/main" id="{31F12DDA-8259-574D-9914-A70206AAED98}"/>
              </a:ext>
            </a:extLst>
          </p:cNvPr>
          <p:cNvSpPr/>
          <p:nvPr/>
        </p:nvSpPr>
        <p:spPr>
          <a:xfrm>
            <a:off x="3508726" y="2816485"/>
            <a:ext cx="3741409" cy="461665"/>
          </a:xfrm>
          <a:prstGeom prst="rect">
            <a:avLst/>
          </a:prstGeom>
        </p:spPr>
        <p:txBody>
          <a:bodyPr wrap="none">
            <a:spAutoFit/>
          </a:bodyPr>
          <a:lstStyle/>
          <a:p>
            <a:r>
              <a:rPr lang="en-CN" sz="2400" b="1" dirty="0">
                <a:solidFill>
                  <a:srgbClr val="000000"/>
                </a:solidFill>
                <a:latin typeface="Arial" panose="020B0604020202020204" pitchFamily="34" charset="0"/>
                <a:ea typeface="SimHei" panose="02010609060101010101" pitchFamily="49" charset="-122"/>
                <a:cs typeface="Arial" panose="020B0604020202020204" pitchFamily="34" charset="0"/>
              </a:rPr>
              <a:t>= 2 + </a:t>
            </a:r>
            <a:r>
              <a:rPr lang="en-CN" sz="2400" b="1" dirty="0">
                <a:solidFill>
                  <a:srgbClr val="3333FF"/>
                </a:solidFill>
                <a:latin typeface="Arial" panose="020B0604020202020204" pitchFamily="34" charset="0"/>
                <a:ea typeface="SimHei" panose="02010609060101010101" pitchFamily="49" charset="-122"/>
                <a:cs typeface="Arial" panose="020B0604020202020204" pitchFamily="34" charset="0"/>
              </a:rPr>
              <a:t>(2</a:t>
            </a:r>
            <a:r>
              <a:rPr lang="en-CN" sz="2400" b="1" baseline="30000" dirty="0">
                <a:solidFill>
                  <a:srgbClr val="3333FF"/>
                </a:solidFill>
                <a:latin typeface="Arial" panose="020B0604020202020204" pitchFamily="34" charset="0"/>
                <a:ea typeface="SimHei" panose="02010609060101010101" pitchFamily="49" charset="-122"/>
                <a:cs typeface="Arial" panose="020B0604020202020204" pitchFamily="34" charset="0"/>
              </a:rPr>
              <a:t>3 </a:t>
            </a:r>
            <a:r>
              <a:rPr lang="en-CN" sz="2400" b="1" dirty="0">
                <a:solidFill>
                  <a:srgbClr val="3333FF"/>
                </a:solidFill>
                <a:latin typeface="Arial" panose="020B0604020202020204" pitchFamily="34" charset="0"/>
                <a:ea typeface="SimHei" panose="02010609060101010101" pitchFamily="49" charset="-122"/>
                <a:cs typeface="Arial" panose="020B0604020202020204" pitchFamily="34" charset="0"/>
              </a:rPr>
              <a:t>– 1)</a:t>
            </a:r>
            <a:r>
              <a:rPr lang="en-CN" sz="2400" b="1" dirty="0">
                <a:solidFill>
                  <a:srgbClr val="000000"/>
                </a:solidFill>
                <a:latin typeface="Arial" panose="020B0604020202020204" pitchFamily="34" charset="0"/>
                <a:ea typeface="SimHei" panose="02010609060101010101" pitchFamily="49" charset="-122"/>
                <a:cs typeface="Arial" panose="020B0604020202020204" pitchFamily="34" charset="0"/>
              </a:rPr>
              <a:t> = 2 + </a:t>
            </a:r>
            <a:r>
              <a:rPr lang="en-CN" sz="2400" b="1" dirty="0">
                <a:solidFill>
                  <a:srgbClr val="3333FF"/>
                </a:solidFill>
                <a:latin typeface="Arial" panose="020B0604020202020204" pitchFamily="34" charset="0"/>
                <a:ea typeface="SimHei" panose="02010609060101010101" pitchFamily="49" charset="-122"/>
                <a:cs typeface="Arial" panose="020B0604020202020204" pitchFamily="34" charset="0"/>
              </a:rPr>
              <a:t>(</a:t>
            </a:r>
            <a:r>
              <a:rPr lang="en-US" altLang="zh-CN" sz="2400" b="1" dirty="0">
                <a:solidFill>
                  <a:srgbClr val="3333FF"/>
                </a:solidFill>
                <a:latin typeface="Arial" panose="020B0604020202020204" pitchFamily="34" charset="0"/>
                <a:ea typeface="SimHei" panose="02010609060101010101" pitchFamily="49" charset="-122"/>
                <a:cs typeface="Arial" panose="020B0604020202020204" pitchFamily="34" charset="0"/>
              </a:rPr>
              <a:t>111</a:t>
            </a:r>
            <a:r>
              <a:rPr lang="en-CN" sz="2400" b="1" dirty="0">
                <a:solidFill>
                  <a:srgbClr val="3333FF"/>
                </a:solidFill>
                <a:latin typeface="Arial" panose="020B0604020202020204" pitchFamily="34" charset="0"/>
                <a:ea typeface="SimHei" panose="02010609060101010101" pitchFamily="49" charset="-122"/>
                <a:cs typeface="Arial" panose="020B0604020202020204" pitchFamily="34" charset="0"/>
              </a:rPr>
              <a:t>)</a:t>
            </a:r>
            <a:r>
              <a:rPr lang="en-US" altLang="zh-CN" sz="2400" b="1" baseline="-25000" dirty="0">
                <a:solidFill>
                  <a:srgbClr val="3333FF"/>
                </a:solidFill>
                <a:latin typeface="Arial" panose="020B0604020202020204" pitchFamily="34" charset="0"/>
                <a:ea typeface="SimHei" panose="02010609060101010101" pitchFamily="49" charset="-122"/>
                <a:cs typeface="Arial" panose="020B0604020202020204" pitchFamily="34" charset="0"/>
              </a:rPr>
              <a:t>us</a:t>
            </a:r>
            <a:endParaRPr lang="en-CN" dirty="0">
              <a:solidFill>
                <a:srgbClr val="3333FF"/>
              </a:solidFill>
            </a:endParaRPr>
          </a:p>
        </p:txBody>
      </p:sp>
      <p:grpSp>
        <p:nvGrpSpPr>
          <p:cNvPr id="14" name="Group 13">
            <a:extLst>
              <a:ext uri="{FF2B5EF4-FFF2-40B4-BE49-F238E27FC236}">
                <a16:creationId xmlns:a16="http://schemas.microsoft.com/office/drawing/2014/main" id="{3BEC1664-1E8C-D64D-AFB2-C8B0CB43A2F2}"/>
              </a:ext>
            </a:extLst>
          </p:cNvPr>
          <p:cNvGrpSpPr/>
          <p:nvPr/>
        </p:nvGrpSpPr>
        <p:grpSpPr>
          <a:xfrm>
            <a:off x="5652120" y="2418181"/>
            <a:ext cx="3168352" cy="923330"/>
            <a:chOff x="5580112" y="2187513"/>
            <a:chExt cx="3168352" cy="923330"/>
          </a:xfrm>
        </p:grpSpPr>
        <p:grpSp>
          <p:nvGrpSpPr>
            <p:cNvPr id="8" name="Group 7">
              <a:extLst>
                <a:ext uri="{FF2B5EF4-FFF2-40B4-BE49-F238E27FC236}">
                  <a16:creationId xmlns:a16="http://schemas.microsoft.com/office/drawing/2014/main" id="{02E40874-4903-F14B-880F-AB52AFCA96CA}"/>
                </a:ext>
              </a:extLst>
            </p:cNvPr>
            <p:cNvGrpSpPr/>
            <p:nvPr/>
          </p:nvGrpSpPr>
          <p:grpSpPr>
            <a:xfrm>
              <a:off x="7416316" y="2187513"/>
              <a:ext cx="1332148" cy="923330"/>
              <a:chOff x="7416316" y="2187513"/>
              <a:chExt cx="1332148" cy="923330"/>
            </a:xfrm>
          </p:grpSpPr>
          <p:sp>
            <p:nvSpPr>
              <p:cNvPr id="12" name="TextBox 11">
                <a:extLst>
                  <a:ext uri="{FF2B5EF4-FFF2-40B4-BE49-F238E27FC236}">
                    <a16:creationId xmlns:a16="http://schemas.microsoft.com/office/drawing/2014/main" id="{FA38D227-7400-8F46-B9FA-7D3EBAB8199B}"/>
                  </a:ext>
                </a:extLst>
              </p:cNvPr>
              <p:cNvSpPr txBox="1"/>
              <p:nvPr/>
            </p:nvSpPr>
            <p:spPr>
              <a:xfrm>
                <a:off x="8005824" y="2187513"/>
                <a:ext cx="742640" cy="923330"/>
              </a:xfrm>
              <a:prstGeom prst="rect">
                <a:avLst/>
              </a:prstGeom>
              <a:solidFill>
                <a:schemeClr val="accent2">
                  <a:lumMod val="20000"/>
                  <a:lumOff val="80000"/>
                </a:schemeClr>
              </a:solidFill>
            </p:spPr>
            <p:txBody>
              <a:bodyPr wrap="none" rtlCol="0">
                <a:spAutoFit/>
              </a:bodyPr>
              <a:lstStyle/>
              <a:p>
                <a:pPr algn="r"/>
                <a:r>
                  <a:rPr lang="en-CN" dirty="0"/>
                  <a:t>010</a:t>
                </a:r>
              </a:p>
              <a:p>
                <a:pPr algn="r"/>
                <a:r>
                  <a:rPr lang="en-CN" u="sng" dirty="0"/>
                  <a:t>+ </a:t>
                </a:r>
                <a:r>
                  <a:rPr lang="en-CN" b="1" u="sng" dirty="0">
                    <a:solidFill>
                      <a:srgbClr val="3333FF"/>
                    </a:solidFill>
                  </a:rPr>
                  <a:t>111</a:t>
                </a:r>
              </a:p>
              <a:p>
                <a:pPr algn="r"/>
                <a:r>
                  <a:rPr lang="en-CN" strike="sngStrike" dirty="0"/>
                  <a:t>1</a:t>
                </a:r>
                <a:r>
                  <a:rPr lang="en-CN" dirty="0">
                    <a:solidFill>
                      <a:srgbClr val="7030A0"/>
                    </a:solidFill>
                  </a:rPr>
                  <a:t>001</a:t>
                </a:r>
              </a:p>
            </p:txBody>
          </p:sp>
          <p:sp>
            <p:nvSpPr>
              <p:cNvPr id="13" name="Left-Right Arrow 12">
                <a:extLst>
                  <a:ext uri="{FF2B5EF4-FFF2-40B4-BE49-F238E27FC236}">
                    <a16:creationId xmlns:a16="http://schemas.microsoft.com/office/drawing/2014/main" id="{4BB5925E-69F5-9E4F-8710-D4237E22FB07}"/>
                  </a:ext>
                </a:extLst>
              </p:cNvPr>
              <p:cNvSpPr/>
              <p:nvPr/>
            </p:nvSpPr>
            <p:spPr bwMode="auto">
              <a:xfrm>
                <a:off x="7416316" y="2547553"/>
                <a:ext cx="360040" cy="229717"/>
              </a:xfrm>
              <a:prstGeom prst="lef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sp>
          <p:nvSpPr>
            <p:cNvPr id="11" name="Rounded Rectangle 10">
              <a:extLst>
                <a:ext uri="{FF2B5EF4-FFF2-40B4-BE49-F238E27FC236}">
                  <a16:creationId xmlns:a16="http://schemas.microsoft.com/office/drawing/2014/main" id="{525A9B04-9EC0-A747-A537-B29B54AA80F1}"/>
                </a:ext>
              </a:extLst>
            </p:cNvPr>
            <p:cNvSpPr/>
            <p:nvPr/>
          </p:nvSpPr>
          <p:spPr bwMode="auto">
            <a:xfrm>
              <a:off x="5580112" y="2187513"/>
              <a:ext cx="3168352" cy="923330"/>
            </a:xfrm>
            <a:prstGeom prst="roundRect">
              <a:avLst>
                <a:gd name="adj" fmla="val 8941"/>
              </a:avLst>
            </a:prstGeom>
            <a:noFill/>
            <a:ln w="38100"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a:ln>
                  <a:noFill/>
                </a:ln>
                <a:solidFill>
                  <a:schemeClr val="tx1"/>
                </a:solidFill>
                <a:effectLst/>
                <a:latin typeface="Arial" charset="0"/>
              </a:endParaRPr>
            </a:p>
          </p:txBody>
        </p:sp>
      </p:grpSp>
      <p:sp>
        <p:nvSpPr>
          <p:cNvPr id="16" name="标题 15">
            <a:extLst>
              <a:ext uri="{FF2B5EF4-FFF2-40B4-BE49-F238E27FC236}">
                <a16:creationId xmlns:a16="http://schemas.microsoft.com/office/drawing/2014/main" id="{7AF0EBA7-8D8C-9662-2B71-CBAA6321FD4A}"/>
              </a:ext>
            </a:extLst>
          </p:cNvPr>
          <p:cNvSpPr>
            <a:spLocks noGrp="1"/>
          </p:cNvSpPr>
          <p:nvPr>
            <p:ph type="title"/>
          </p:nvPr>
        </p:nvSpPr>
        <p:spPr/>
        <p:txBody>
          <a:bodyPr/>
          <a:lstStyle/>
          <a:p>
            <a:r>
              <a:rPr lang="zh-CN" altLang="en-US" dirty="0"/>
              <a:t>补码的应用：用加法来实现减法！</a:t>
            </a:r>
          </a:p>
        </p:txBody>
      </p:sp>
      <p:sp>
        <p:nvSpPr>
          <p:cNvPr id="17" name="灯片编号占位符 6">
            <a:extLst>
              <a:ext uri="{FF2B5EF4-FFF2-40B4-BE49-F238E27FC236}">
                <a16:creationId xmlns:a16="http://schemas.microsoft.com/office/drawing/2014/main" id="{96986192-B58F-75F3-38A8-FB2FE564AD4C}"/>
              </a:ext>
            </a:extLst>
          </p:cNvPr>
          <p:cNvSpPr>
            <a:spLocks noGrp="1"/>
          </p:cNvSpPr>
          <p:nvPr>
            <p:ph type="sldNum" sz="quarter" idx="12"/>
          </p:nvPr>
        </p:nvSpPr>
        <p:spPr>
          <a:xfrm>
            <a:off x="6553200" y="6245225"/>
            <a:ext cx="2133600" cy="476250"/>
          </a:xfrm>
        </p:spPr>
        <p:txBody>
          <a:bodyPr/>
          <a:lstStyle/>
          <a:p>
            <a:fld id="{14659731-6BD7-46E7-8D3C-2F3AC07E20B1}" type="slidenum">
              <a:rPr lang="en-US" altLang="zh-CN" smtClean="0"/>
              <a:pPr/>
              <a:t>26</a:t>
            </a:fld>
            <a:endParaRPr lang="en-US" altLang="zh-CN" dirty="0"/>
          </a:p>
        </p:txBody>
      </p:sp>
    </p:spTree>
    <p:extLst>
      <p:ext uri="{BB962C8B-B14F-4D97-AF65-F5344CB8AC3E}">
        <p14:creationId xmlns:p14="http://schemas.microsoft.com/office/powerpoint/2010/main" val="110025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0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0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20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C5FFA23-5DA9-CF63-5CF7-0A8C119C5B75}"/>
              </a:ext>
            </a:extLst>
          </p:cNvPr>
          <p:cNvSpPr>
            <a:spLocks noGrp="1"/>
          </p:cNvSpPr>
          <p:nvPr>
            <p:ph type="sldNum" sz="quarter" idx="12"/>
          </p:nvPr>
        </p:nvSpPr>
        <p:spPr/>
        <p:txBody>
          <a:bodyPr/>
          <a:lstStyle/>
          <a:p>
            <a:fld id="{14659731-6BD7-46E7-8D3C-2F3AC07E20B1}" type="slidenum">
              <a:rPr lang="en-US" altLang="zh-CN" smtClean="0"/>
              <a:pPr/>
              <a:t>27</a:t>
            </a:fld>
            <a:endParaRPr lang="en-US" altLang="zh-CN" dirty="0"/>
          </a:p>
        </p:txBody>
      </p:sp>
      <p:sp>
        <p:nvSpPr>
          <p:cNvPr id="23" name="Rectangle 22">
            <a:extLst>
              <a:ext uri="{FF2B5EF4-FFF2-40B4-BE49-F238E27FC236}">
                <a16:creationId xmlns:a16="http://schemas.microsoft.com/office/drawing/2014/main" id="{44E51C4B-884C-1347-9FE2-F9B50D0EC33A}"/>
              </a:ext>
            </a:extLst>
          </p:cNvPr>
          <p:cNvSpPr/>
          <p:nvPr/>
        </p:nvSpPr>
        <p:spPr>
          <a:xfrm>
            <a:off x="832141" y="1412776"/>
            <a:ext cx="7452828" cy="494751"/>
          </a:xfrm>
          <a:prstGeom prst="rect">
            <a:avLst/>
          </a:prstGeom>
          <a:solidFill>
            <a:schemeClr val="accent6">
              <a:lumMod val="20000"/>
              <a:lumOff val="80000"/>
            </a:schemeClr>
          </a:solidFill>
        </p:spPr>
        <p:txBody>
          <a:bodyPr wrap="square">
            <a:spAutoFit/>
          </a:bodyPr>
          <a:lstStyle/>
          <a:p>
            <a:pPr marR="0" lvl="1" algn="l" defTabSz="914400" rtl="0" eaLnBrk="1" fontAlgn="base" latinLnBrk="0" hangingPunct="1">
              <a:lnSpc>
                <a:spcPct val="120000"/>
              </a:lnSpc>
              <a:spcBef>
                <a:spcPct val="20000"/>
              </a:spcBef>
              <a:spcAft>
                <a:spcPct val="0"/>
              </a:spcAft>
              <a:buClr>
                <a:srgbClr val="2990E5"/>
              </a:buClr>
              <a:buSzTx/>
              <a:tabLst/>
              <a:defRPr/>
            </a:pPr>
            <a:r>
              <a:rPr kumimoji="0" lang="en-US" sz="2400" b="1"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 </a:t>
            </a:r>
            <a:r>
              <a:rPr kumimoji="0" lang="en-CN" sz="2400" b="1" i="0" u="none" strike="noStrike" kern="1200" cap="none" spc="0" normalizeH="0" baseline="0" noProof="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A </a:t>
            </a:r>
            <a:r>
              <a:rPr kumimoji="0" lang="en-CN" sz="2400" b="1"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 N = A + ( – N ) = A + </a:t>
            </a:r>
            <a:r>
              <a:rPr kumimoji="0" lang="en-CN" sz="2400" b="1" i="0" u="none" strike="noStrike" kern="1200" cap="none" spc="0" normalizeH="0" baseline="0" noProof="0" dirty="0">
                <a:ln>
                  <a:noFill/>
                </a:ln>
                <a:solidFill>
                  <a:srgbClr val="3333FF"/>
                </a:solidFill>
                <a:effectLst/>
                <a:uLnTx/>
                <a:uFillTx/>
                <a:latin typeface="Arial" panose="020B0604020202020204" pitchFamily="34" charset="0"/>
                <a:ea typeface="SimHei" panose="02010609060101010101" pitchFamily="49" charset="-122"/>
                <a:cs typeface="Arial" panose="020B0604020202020204" pitchFamily="34" charset="0"/>
              </a:rPr>
              <a:t>(2</a:t>
            </a:r>
            <a:r>
              <a:rPr kumimoji="0" lang="en-CN" sz="2400" b="1" i="0" u="none" strike="noStrike" kern="1200" cap="none" spc="0" normalizeH="0" baseline="30000" noProof="0" dirty="0">
                <a:ln>
                  <a:noFill/>
                </a:ln>
                <a:solidFill>
                  <a:srgbClr val="3333FF"/>
                </a:solidFill>
                <a:effectLst/>
                <a:uLnTx/>
                <a:uFillTx/>
                <a:latin typeface="Arial" panose="020B0604020202020204" pitchFamily="34" charset="0"/>
                <a:ea typeface="SimHei" panose="02010609060101010101" pitchFamily="49" charset="-122"/>
                <a:cs typeface="Arial" panose="020B0604020202020204" pitchFamily="34" charset="0"/>
              </a:rPr>
              <a:t>n </a:t>
            </a:r>
            <a:r>
              <a:rPr kumimoji="0" lang="en-CN" sz="2400" b="1" i="0" u="none" strike="noStrike" kern="1200" cap="none" spc="0" normalizeH="0" baseline="0" noProof="0" dirty="0">
                <a:ln>
                  <a:noFill/>
                </a:ln>
                <a:solidFill>
                  <a:srgbClr val="3333FF"/>
                </a:solidFill>
                <a:effectLst/>
                <a:uLnTx/>
                <a:uFillTx/>
                <a:latin typeface="Arial" panose="020B0604020202020204" pitchFamily="34" charset="0"/>
                <a:ea typeface="SimHei" panose="02010609060101010101" pitchFamily="49" charset="-122"/>
                <a:cs typeface="Arial" panose="020B0604020202020204" pitchFamily="34" charset="0"/>
              </a:rPr>
              <a:t>– N)</a:t>
            </a:r>
            <a:r>
              <a:rPr kumimoji="0" lang="en-CN" sz="2400" b="1" i="0" u="none" strike="noStrike" kern="1200" cap="none" spc="0" normalizeH="0" baseline="0" noProof="0" dirty="0">
                <a:ln>
                  <a:noFill/>
                </a:ln>
                <a:solidFill>
                  <a:srgbClr val="000000"/>
                </a:solidFill>
                <a:effectLst/>
                <a:uLnTx/>
                <a:uFillTx/>
                <a:latin typeface="Arial" panose="020B0604020202020204" pitchFamily="34" charset="0"/>
                <a:ea typeface="SimHei" panose="02010609060101010101" pitchFamily="49" charset="-122"/>
                <a:cs typeface="Arial" panose="020B0604020202020204" pitchFamily="34" charset="0"/>
              </a:rPr>
              <a:t> = A + </a:t>
            </a:r>
            <a:r>
              <a:rPr kumimoji="0" lang="en-US" sz="2400" b="1" i="0" u="none" strike="noStrike" kern="0" cap="none" spc="0" normalizeH="0" baseline="0" noProof="0" dirty="0">
                <a:ln>
                  <a:noFill/>
                </a:ln>
                <a:solidFill>
                  <a:srgbClr val="3333FF"/>
                </a:solidFill>
                <a:effectLst/>
                <a:uLnTx/>
                <a:uFillTx/>
                <a:latin typeface="Arial" panose="020B0604020202020204" pitchFamily="34" charset="0"/>
                <a:ea typeface="黑体" pitchFamily="49" charset="-122"/>
                <a:cs typeface="Arial" panose="020B0604020202020204" pitchFamily="34" charset="0"/>
              </a:rPr>
              <a:t>(-N)</a:t>
            </a:r>
            <a:r>
              <a:rPr kumimoji="0" lang="en-US" sz="2400" b="1" i="0" u="none" strike="noStrike" kern="0" cap="none" spc="0" normalizeH="0" baseline="-25000" noProof="0" dirty="0">
                <a:ln>
                  <a:noFill/>
                </a:ln>
                <a:solidFill>
                  <a:srgbClr val="3333FF"/>
                </a:solidFill>
                <a:effectLst/>
                <a:uLnTx/>
                <a:uFillTx/>
                <a:latin typeface="Arial" panose="020B0604020202020204" pitchFamily="34" charset="0"/>
                <a:ea typeface="黑体" pitchFamily="49" charset="-122"/>
                <a:cs typeface="Arial" panose="020B0604020202020204" pitchFamily="34" charset="0"/>
              </a:rPr>
              <a:t>2’s</a:t>
            </a:r>
            <a:endParaRPr kumimoji="0" lang="en-US" altLang="zh-CN" sz="2100" b="1" i="0" u="none" strike="noStrike" kern="0" cap="none" spc="0" normalizeH="0" baseline="-25000" noProof="0" dirty="0">
              <a:ln>
                <a:noFill/>
              </a:ln>
              <a:solidFill>
                <a:srgbClr val="000000"/>
              </a:solidFill>
              <a:effectLst/>
              <a:uLnTx/>
              <a:uFillTx/>
              <a:latin typeface="Arial" panose="020B0604020202020204" pitchFamily="34" charset="0"/>
              <a:ea typeface="黑体" pitchFamily="49" charset="-122"/>
              <a:cs typeface="Arial" panose="020B0604020202020204" pitchFamily="34" charset="0"/>
            </a:endParaRPr>
          </a:p>
        </p:txBody>
      </p:sp>
      <p:sp>
        <p:nvSpPr>
          <p:cNvPr id="17" name="标题 16">
            <a:extLst>
              <a:ext uri="{FF2B5EF4-FFF2-40B4-BE49-F238E27FC236}">
                <a16:creationId xmlns:a16="http://schemas.microsoft.com/office/drawing/2014/main" id="{1A5FD699-1CA0-20C5-8824-C4939C03F590}"/>
              </a:ext>
            </a:extLst>
          </p:cNvPr>
          <p:cNvSpPr>
            <a:spLocks noGrp="1"/>
          </p:cNvSpPr>
          <p:nvPr>
            <p:ph type="title"/>
          </p:nvPr>
        </p:nvSpPr>
        <p:spPr/>
        <p:txBody>
          <a:bodyPr/>
          <a:lstStyle/>
          <a:p>
            <a:r>
              <a:rPr lang="zh-CN" altLang="en-US" dirty="0"/>
              <a:t>减法 与 调时钟</a:t>
            </a:r>
          </a:p>
        </p:txBody>
      </p:sp>
      <p:pic>
        <p:nvPicPr>
          <p:cNvPr id="2" name="Picture 2">
            <a:extLst>
              <a:ext uri="{FF2B5EF4-FFF2-40B4-BE49-F238E27FC236}">
                <a16:creationId xmlns:a16="http://schemas.microsoft.com/office/drawing/2014/main" id="{C2B9B0A3-5C57-1B69-F254-F84A22CDBC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1319" y="2589454"/>
            <a:ext cx="3640707" cy="364070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5">
            <a:extLst>
              <a:ext uri="{FF2B5EF4-FFF2-40B4-BE49-F238E27FC236}">
                <a16:creationId xmlns:a16="http://schemas.microsoft.com/office/drawing/2014/main" id="{6FF59DC0-96BA-9DAB-2864-BC0473FEE2AF}"/>
              </a:ext>
            </a:extLst>
          </p:cNvPr>
          <p:cNvSpPr txBox="1"/>
          <p:nvPr/>
        </p:nvSpPr>
        <p:spPr>
          <a:xfrm>
            <a:off x="4497299" y="2714532"/>
            <a:ext cx="867545" cy="584775"/>
          </a:xfrm>
          <a:prstGeom prst="rect">
            <a:avLst/>
          </a:prstGeom>
          <a:noFill/>
        </p:spPr>
        <p:txBody>
          <a:bodyPr wrap="none" rtlCol="0">
            <a:spAutoFit/>
          </a:bodyPr>
          <a:lstStyle/>
          <a:p>
            <a:r>
              <a:rPr lang="en-CN" sz="3200" b="1" dirty="0"/>
              <a:t>001</a:t>
            </a:r>
          </a:p>
        </p:txBody>
      </p:sp>
      <p:sp>
        <p:nvSpPr>
          <p:cNvPr id="19" name="TextBox 6">
            <a:extLst>
              <a:ext uri="{FF2B5EF4-FFF2-40B4-BE49-F238E27FC236}">
                <a16:creationId xmlns:a16="http://schemas.microsoft.com/office/drawing/2014/main" id="{31AE4449-27EC-C11E-B6AA-E3E897EB651E}"/>
              </a:ext>
            </a:extLst>
          </p:cNvPr>
          <p:cNvSpPr txBox="1"/>
          <p:nvPr/>
        </p:nvSpPr>
        <p:spPr>
          <a:xfrm>
            <a:off x="5144615" y="4117418"/>
            <a:ext cx="867545" cy="584775"/>
          </a:xfrm>
          <a:prstGeom prst="rect">
            <a:avLst/>
          </a:prstGeom>
          <a:noFill/>
        </p:spPr>
        <p:txBody>
          <a:bodyPr wrap="none" rtlCol="0">
            <a:spAutoFit/>
          </a:bodyPr>
          <a:lstStyle/>
          <a:p>
            <a:r>
              <a:rPr lang="en-CN" sz="3200" b="1" dirty="0"/>
              <a:t>010</a:t>
            </a:r>
          </a:p>
        </p:txBody>
      </p:sp>
      <p:sp>
        <p:nvSpPr>
          <p:cNvPr id="25" name="TextBox 7">
            <a:extLst>
              <a:ext uri="{FF2B5EF4-FFF2-40B4-BE49-F238E27FC236}">
                <a16:creationId xmlns:a16="http://schemas.microsoft.com/office/drawing/2014/main" id="{70F4B6E1-0F8B-6EBD-DB5E-D4FCA87944CF}"/>
              </a:ext>
            </a:extLst>
          </p:cNvPr>
          <p:cNvSpPr txBox="1"/>
          <p:nvPr/>
        </p:nvSpPr>
        <p:spPr>
          <a:xfrm>
            <a:off x="4558555" y="5520075"/>
            <a:ext cx="844911" cy="584775"/>
          </a:xfrm>
          <a:prstGeom prst="rect">
            <a:avLst/>
          </a:prstGeom>
          <a:noFill/>
        </p:spPr>
        <p:txBody>
          <a:bodyPr wrap="none" rtlCol="0">
            <a:spAutoFit/>
          </a:bodyPr>
          <a:lstStyle/>
          <a:p>
            <a:r>
              <a:rPr lang="en-CN" sz="3200" b="1" dirty="0"/>
              <a:t>011</a:t>
            </a:r>
          </a:p>
        </p:txBody>
      </p:sp>
      <p:sp>
        <p:nvSpPr>
          <p:cNvPr id="26" name="TextBox 8">
            <a:extLst>
              <a:ext uri="{FF2B5EF4-FFF2-40B4-BE49-F238E27FC236}">
                <a16:creationId xmlns:a16="http://schemas.microsoft.com/office/drawing/2014/main" id="{15FCFAB1-F5D9-AA7B-4999-DFBD782DD974}"/>
              </a:ext>
            </a:extLst>
          </p:cNvPr>
          <p:cNvSpPr txBox="1"/>
          <p:nvPr/>
        </p:nvSpPr>
        <p:spPr>
          <a:xfrm>
            <a:off x="2857899" y="6228601"/>
            <a:ext cx="867545" cy="584775"/>
          </a:xfrm>
          <a:prstGeom prst="rect">
            <a:avLst/>
          </a:prstGeom>
          <a:noFill/>
        </p:spPr>
        <p:txBody>
          <a:bodyPr wrap="none" rtlCol="0">
            <a:spAutoFit/>
          </a:bodyPr>
          <a:lstStyle/>
          <a:p>
            <a:r>
              <a:rPr lang="en-CN" sz="3200" b="1" dirty="0"/>
              <a:t>100</a:t>
            </a:r>
          </a:p>
        </p:txBody>
      </p:sp>
      <p:sp>
        <p:nvSpPr>
          <p:cNvPr id="27" name="TextBox 9">
            <a:extLst>
              <a:ext uri="{FF2B5EF4-FFF2-40B4-BE49-F238E27FC236}">
                <a16:creationId xmlns:a16="http://schemas.microsoft.com/office/drawing/2014/main" id="{1507C298-56C4-305B-A7E6-D51A981113ED}"/>
              </a:ext>
            </a:extLst>
          </p:cNvPr>
          <p:cNvSpPr txBox="1"/>
          <p:nvPr/>
        </p:nvSpPr>
        <p:spPr>
          <a:xfrm>
            <a:off x="1199125" y="5543425"/>
            <a:ext cx="867545" cy="584775"/>
          </a:xfrm>
          <a:prstGeom prst="rect">
            <a:avLst/>
          </a:prstGeom>
          <a:noFill/>
        </p:spPr>
        <p:txBody>
          <a:bodyPr wrap="none" rtlCol="0">
            <a:spAutoFit/>
          </a:bodyPr>
          <a:lstStyle/>
          <a:p>
            <a:r>
              <a:rPr lang="en-CN" sz="3200" b="1" dirty="0"/>
              <a:t>101</a:t>
            </a:r>
          </a:p>
        </p:txBody>
      </p:sp>
      <p:sp>
        <p:nvSpPr>
          <p:cNvPr id="28" name="TextBox 10">
            <a:extLst>
              <a:ext uri="{FF2B5EF4-FFF2-40B4-BE49-F238E27FC236}">
                <a16:creationId xmlns:a16="http://schemas.microsoft.com/office/drawing/2014/main" id="{5717B942-1842-0F8E-0AF4-3264C2E7C273}"/>
              </a:ext>
            </a:extLst>
          </p:cNvPr>
          <p:cNvSpPr txBox="1"/>
          <p:nvPr/>
        </p:nvSpPr>
        <p:spPr>
          <a:xfrm>
            <a:off x="593818" y="4046385"/>
            <a:ext cx="844911" cy="584775"/>
          </a:xfrm>
          <a:prstGeom prst="rect">
            <a:avLst/>
          </a:prstGeom>
          <a:noFill/>
        </p:spPr>
        <p:txBody>
          <a:bodyPr wrap="none" rtlCol="0">
            <a:spAutoFit/>
          </a:bodyPr>
          <a:lstStyle/>
          <a:p>
            <a:r>
              <a:rPr lang="en-CN" sz="3200" b="1" dirty="0"/>
              <a:t>110</a:t>
            </a:r>
          </a:p>
        </p:txBody>
      </p:sp>
      <p:sp>
        <p:nvSpPr>
          <p:cNvPr id="29" name="TextBox 11">
            <a:extLst>
              <a:ext uri="{FF2B5EF4-FFF2-40B4-BE49-F238E27FC236}">
                <a16:creationId xmlns:a16="http://schemas.microsoft.com/office/drawing/2014/main" id="{504ECBE9-B9A0-1BC5-2266-1EAE826250A8}"/>
              </a:ext>
            </a:extLst>
          </p:cNvPr>
          <p:cNvSpPr txBox="1"/>
          <p:nvPr/>
        </p:nvSpPr>
        <p:spPr>
          <a:xfrm>
            <a:off x="1221579" y="2694404"/>
            <a:ext cx="822276" cy="584775"/>
          </a:xfrm>
          <a:prstGeom prst="rect">
            <a:avLst/>
          </a:prstGeom>
          <a:noFill/>
        </p:spPr>
        <p:txBody>
          <a:bodyPr wrap="none" rtlCol="0">
            <a:spAutoFit/>
          </a:bodyPr>
          <a:lstStyle/>
          <a:p>
            <a:r>
              <a:rPr lang="en-CN" sz="3200" b="1" dirty="0"/>
              <a:t>111</a:t>
            </a:r>
          </a:p>
        </p:txBody>
      </p:sp>
      <p:sp>
        <p:nvSpPr>
          <p:cNvPr id="30" name="TextBox 12">
            <a:extLst>
              <a:ext uri="{FF2B5EF4-FFF2-40B4-BE49-F238E27FC236}">
                <a16:creationId xmlns:a16="http://schemas.microsoft.com/office/drawing/2014/main" id="{C211781C-F390-8AA7-E1DA-AF51C5C12209}"/>
              </a:ext>
            </a:extLst>
          </p:cNvPr>
          <p:cNvSpPr txBox="1"/>
          <p:nvPr/>
        </p:nvSpPr>
        <p:spPr>
          <a:xfrm>
            <a:off x="2895629" y="2077902"/>
            <a:ext cx="867545" cy="584775"/>
          </a:xfrm>
          <a:prstGeom prst="rect">
            <a:avLst/>
          </a:prstGeom>
          <a:noFill/>
        </p:spPr>
        <p:txBody>
          <a:bodyPr wrap="none" rtlCol="0">
            <a:spAutoFit/>
          </a:bodyPr>
          <a:lstStyle/>
          <a:p>
            <a:r>
              <a:rPr lang="en-CN" sz="3200" b="1" dirty="0"/>
              <a:t>000</a:t>
            </a:r>
          </a:p>
        </p:txBody>
      </p:sp>
      <p:sp>
        <p:nvSpPr>
          <p:cNvPr id="31" name="Rectangle 13">
            <a:extLst>
              <a:ext uri="{FF2B5EF4-FFF2-40B4-BE49-F238E27FC236}">
                <a16:creationId xmlns:a16="http://schemas.microsoft.com/office/drawing/2014/main" id="{F77799C2-79B1-A139-30EC-A3CA7D22E292}"/>
              </a:ext>
            </a:extLst>
          </p:cNvPr>
          <p:cNvSpPr/>
          <p:nvPr/>
        </p:nvSpPr>
        <p:spPr bwMode="auto">
          <a:xfrm>
            <a:off x="3083718" y="3397601"/>
            <a:ext cx="970992" cy="187220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600" b="0" i="0" u="none" strike="noStrike" cap="none" normalizeH="0" baseline="0">
              <a:ln>
                <a:noFill/>
              </a:ln>
              <a:solidFill>
                <a:schemeClr val="tx1"/>
              </a:solidFill>
              <a:effectLst/>
              <a:latin typeface="Arial" charset="0"/>
            </a:endParaRPr>
          </a:p>
        </p:txBody>
      </p:sp>
      <p:cxnSp>
        <p:nvCxnSpPr>
          <p:cNvPr id="32" name="Straight Connector 15">
            <a:extLst>
              <a:ext uri="{FF2B5EF4-FFF2-40B4-BE49-F238E27FC236}">
                <a16:creationId xmlns:a16="http://schemas.microsoft.com/office/drawing/2014/main" id="{08EF8FD0-3635-87CC-DC9B-97FFDC4E4E7D}"/>
              </a:ext>
            </a:extLst>
          </p:cNvPr>
          <p:cNvCxnSpPr>
            <a:cxnSpLocks/>
          </p:cNvCxnSpPr>
          <p:nvPr/>
        </p:nvCxnSpPr>
        <p:spPr bwMode="auto">
          <a:xfrm>
            <a:off x="3304399" y="4409806"/>
            <a:ext cx="635346" cy="682337"/>
          </a:xfrm>
          <a:prstGeom prst="line">
            <a:avLst/>
          </a:prstGeom>
          <a:ln w="254000" cap="r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17">
            <a:extLst>
              <a:ext uri="{FF2B5EF4-FFF2-40B4-BE49-F238E27FC236}">
                <a16:creationId xmlns:a16="http://schemas.microsoft.com/office/drawing/2014/main" id="{F9EFAFD3-53D5-F2E5-ABB9-86FBE2655A5F}"/>
              </a:ext>
            </a:extLst>
          </p:cNvPr>
          <p:cNvCxnSpPr>
            <a:cxnSpLocks/>
          </p:cNvCxnSpPr>
          <p:nvPr/>
        </p:nvCxnSpPr>
        <p:spPr bwMode="auto">
          <a:xfrm flipV="1">
            <a:off x="3304399" y="3753036"/>
            <a:ext cx="657973" cy="656771"/>
          </a:xfrm>
          <a:prstGeom prst="line">
            <a:avLst/>
          </a:prstGeom>
          <a:ln w="254000" cap="rnd">
            <a:solidFill>
              <a:srgbClr val="7030A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4" name="Freeform 20">
            <a:extLst>
              <a:ext uri="{FF2B5EF4-FFF2-40B4-BE49-F238E27FC236}">
                <a16:creationId xmlns:a16="http://schemas.microsoft.com/office/drawing/2014/main" id="{00998544-1509-AB5C-0B8D-D002A2B85C65}"/>
              </a:ext>
            </a:extLst>
          </p:cNvPr>
          <p:cNvSpPr/>
          <p:nvPr/>
        </p:nvSpPr>
        <p:spPr bwMode="auto">
          <a:xfrm>
            <a:off x="3852505" y="4080411"/>
            <a:ext cx="219735" cy="707136"/>
          </a:xfrm>
          <a:custGeom>
            <a:avLst/>
            <a:gdLst>
              <a:gd name="connsiteX0" fmla="*/ 0 w 219735"/>
              <a:gd name="connsiteY0" fmla="*/ 707136 h 707136"/>
              <a:gd name="connsiteX1" fmla="*/ 219456 w 219735"/>
              <a:gd name="connsiteY1" fmla="*/ 329184 h 707136"/>
              <a:gd name="connsiteX2" fmla="*/ 36576 w 219735"/>
              <a:gd name="connsiteY2" fmla="*/ 0 h 707136"/>
            </a:gdLst>
            <a:ahLst/>
            <a:cxnLst>
              <a:cxn ang="0">
                <a:pos x="connsiteX0" y="connsiteY0"/>
              </a:cxn>
              <a:cxn ang="0">
                <a:pos x="connsiteX1" y="connsiteY1"/>
              </a:cxn>
              <a:cxn ang="0">
                <a:pos x="connsiteX2" y="connsiteY2"/>
              </a:cxn>
            </a:cxnLst>
            <a:rect l="l" t="t" r="r" b="b"/>
            <a:pathLst>
              <a:path w="219735" h="707136">
                <a:moveTo>
                  <a:pt x="0" y="707136"/>
                </a:moveTo>
                <a:cubicBezTo>
                  <a:pt x="106680" y="577088"/>
                  <a:pt x="213360" y="447040"/>
                  <a:pt x="219456" y="329184"/>
                </a:cubicBezTo>
                <a:cubicBezTo>
                  <a:pt x="225552" y="211328"/>
                  <a:pt x="131064" y="105664"/>
                  <a:pt x="36576" y="0"/>
                </a:cubicBezTo>
              </a:path>
            </a:pathLst>
          </a:custGeom>
          <a:ln w="38100">
            <a:headEnd type="none" w="med" len="med"/>
            <a:tailEnd type="triangl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600" b="0" i="0" u="none" strike="noStrike" cap="none" normalizeH="0" baseline="0">
              <a:ln>
                <a:noFill/>
              </a:ln>
              <a:solidFill>
                <a:schemeClr val="tx1"/>
              </a:solidFill>
              <a:effectLst/>
              <a:latin typeface="Arial" charset="0"/>
            </a:endParaRPr>
          </a:p>
        </p:txBody>
      </p:sp>
      <p:sp>
        <p:nvSpPr>
          <p:cNvPr id="35" name="TextBox 21">
            <a:extLst>
              <a:ext uri="{FF2B5EF4-FFF2-40B4-BE49-F238E27FC236}">
                <a16:creationId xmlns:a16="http://schemas.microsoft.com/office/drawing/2014/main" id="{2FD5A5DF-7ED2-05AF-6C64-846E017ED433}"/>
              </a:ext>
            </a:extLst>
          </p:cNvPr>
          <p:cNvSpPr txBox="1"/>
          <p:nvPr/>
        </p:nvSpPr>
        <p:spPr>
          <a:xfrm>
            <a:off x="6536336" y="2370289"/>
            <a:ext cx="1941942" cy="2482667"/>
          </a:xfrm>
          <a:prstGeom prst="rect">
            <a:avLst/>
          </a:prstGeom>
          <a:solidFill>
            <a:schemeClr val="bg1">
              <a:lumMod val="95000"/>
            </a:schemeClr>
          </a:solidFill>
        </p:spPr>
        <p:txBody>
          <a:bodyPr wrap="none" rtlCol="0">
            <a:spAutoFit/>
          </a:bodyPr>
          <a:lstStyle/>
          <a:p>
            <a:pPr algn="ctr">
              <a:lnSpc>
                <a:spcPct val="150000"/>
              </a:lnSpc>
            </a:pPr>
            <a:r>
              <a:rPr lang="en-US" altLang="zh-CN" sz="3600" b="1" dirty="0"/>
              <a:t>011-010</a:t>
            </a:r>
          </a:p>
          <a:p>
            <a:pPr algn="ctr">
              <a:lnSpc>
                <a:spcPct val="150000"/>
              </a:lnSpc>
            </a:pPr>
            <a:r>
              <a:rPr lang="en-US" sz="3600" b="1" dirty="0"/>
              <a:t>vs</a:t>
            </a:r>
          </a:p>
          <a:p>
            <a:pPr algn="ctr">
              <a:lnSpc>
                <a:spcPct val="150000"/>
              </a:lnSpc>
            </a:pPr>
            <a:r>
              <a:rPr lang="en-CN" sz="3600" b="1" dirty="0"/>
              <a:t>011+110</a:t>
            </a:r>
          </a:p>
        </p:txBody>
      </p:sp>
      <p:sp>
        <p:nvSpPr>
          <p:cNvPr id="36" name="TextBox 2">
            <a:extLst>
              <a:ext uri="{FF2B5EF4-FFF2-40B4-BE49-F238E27FC236}">
                <a16:creationId xmlns:a16="http://schemas.microsoft.com/office/drawing/2014/main" id="{3D226A64-90CC-E4CE-A12B-16E08620C62D}"/>
              </a:ext>
            </a:extLst>
          </p:cNvPr>
          <p:cNvSpPr txBox="1"/>
          <p:nvPr/>
        </p:nvSpPr>
        <p:spPr>
          <a:xfrm>
            <a:off x="4067944" y="4249313"/>
            <a:ext cx="351378" cy="369332"/>
          </a:xfrm>
          <a:prstGeom prst="rect">
            <a:avLst/>
          </a:prstGeom>
          <a:noFill/>
        </p:spPr>
        <p:txBody>
          <a:bodyPr wrap="none" rtlCol="0">
            <a:spAutoFit/>
          </a:bodyPr>
          <a:lstStyle/>
          <a:p>
            <a:r>
              <a:rPr lang="en-CN" dirty="0"/>
              <a:t>N</a:t>
            </a:r>
          </a:p>
        </p:txBody>
      </p:sp>
      <p:sp>
        <p:nvSpPr>
          <p:cNvPr id="37" name="Freeform 19">
            <a:extLst>
              <a:ext uri="{FF2B5EF4-FFF2-40B4-BE49-F238E27FC236}">
                <a16:creationId xmlns:a16="http://schemas.microsoft.com/office/drawing/2014/main" id="{93E55586-D316-F68C-9897-87F566ADBD81}"/>
              </a:ext>
            </a:extLst>
          </p:cNvPr>
          <p:cNvSpPr/>
          <p:nvPr/>
        </p:nvSpPr>
        <p:spPr bwMode="auto">
          <a:xfrm flipH="1">
            <a:off x="2824132" y="4064885"/>
            <a:ext cx="612022" cy="744061"/>
          </a:xfrm>
          <a:custGeom>
            <a:avLst/>
            <a:gdLst>
              <a:gd name="connsiteX0" fmla="*/ 0 w 219735"/>
              <a:gd name="connsiteY0" fmla="*/ 707136 h 707136"/>
              <a:gd name="connsiteX1" fmla="*/ 219456 w 219735"/>
              <a:gd name="connsiteY1" fmla="*/ 329184 h 707136"/>
              <a:gd name="connsiteX2" fmla="*/ 36576 w 219735"/>
              <a:gd name="connsiteY2" fmla="*/ 0 h 707136"/>
              <a:gd name="connsiteX0" fmla="*/ 0 w 219735"/>
              <a:gd name="connsiteY0" fmla="*/ 707136 h 772871"/>
              <a:gd name="connsiteX1" fmla="*/ 219456 w 219735"/>
              <a:gd name="connsiteY1" fmla="*/ 329184 h 772871"/>
              <a:gd name="connsiteX2" fmla="*/ 36576 w 219735"/>
              <a:gd name="connsiteY2" fmla="*/ 0 h 772871"/>
              <a:gd name="connsiteX0" fmla="*/ 0 w 219679"/>
              <a:gd name="connsiteY0" fmla="*/ 787426 h 853162"/>
              <a:gd name="connsiteX1" fmla="*/ 219456 w 219679"/>
              <a:gd name="connsiteY1" fmla="*/ 409474 h 853162"/>
              <a:gd name="connsiteX2" fmla="*/ 36576 w 219679"/>
              <a:gd name="connsiteY2" fmla="*/ 80290 h 853162"/>
              <a:gd name="connsiteX0" fmla="*/ 0 w 219679"/>
              <a:gd name="connsiteY0" fmla="*/ 803423 h 869159"/>
              <a:gd name="connsiteX1" fmla="*/ 219456 w 219679"/>
              <a:gd name="connsiteY1" fmla="*/ 425471 h 869159"/>
              <a:gd name="connsiteX2" fmla="*/ 36576 w 219679"/>
              <a:gd name="connsiteY2" fmla="*/ 96287 h 869159"/>
              <a:gd name="connsiteX0" fmla="*/ 0 w 219927"/>
              <a:gd name="connsiteY0" fmla="*/ 780955 h 846691"/>
              <a:gd name="connsiteX1" fmla="*/ 219456 w 219927"/>
              <a:gd name="connsiteY1" fmla="*/ 403003 h 846691"/>
              <a:gd name="connsiteX2" fmla="*/ 36576 w 219927"/>
              <a:gd name="connsiteY2" fmla="*/ 73819 h 846691"/>
              <a:gd name="connsiteX0" fmla="*/ 0 w 219927"/>
              <a:gd name="connsiteY0" fmla="*/ 780955 h 863965"/>
              <a:gd name="connsiteX1" fmla="*/ 219456 w 219927"/>
              <a:gd name="connsiteY1" fmla="*/ 403003 h 863965"/>
              <a:gd name="connsiteX2" fmla="*/ 36576 w 219927"/>
              <a:gd name="connsiteY2" fmla="*/ 73819 h 863965"/>
              <a:gd name="connsiteX0" fmla="*/ 0 w 219927"/>
              <a:gd name="connsiteY0" fmla="*/ 780955 h 886345"/>
              <a:gd name="connsiteX1" fmla="*/ 219456 w 219927"/>
              <a:gd name="connsiteY1" fmla="*/ 403003 h 886345"/>
              <a:gd name="connsiteX2" fmla="*/ 36576 w 219927"/>
              <a:gd name="connsiteY2" fmla="*/ 73819 h 886345"/>
            </a:gdLst>
            <a:ahLst/>
            <a:cxnLst>
              <a:cxn ang="0">
                <a:pos x="connsiteX0" y="connsiteY0"/>
              </a:cxn>
              <a:cxn ang="0">
                <a:pos x="connsiteX1" y="connsiteY1"/>
              </a:cxn>
              <a:cxn ang="0">
                <a:pos x="connsiteX2" y="connsiteY2"/>
              </a:cxn>
            </a:cxnLst>
            <a:rect l="l" t="t" r="r" b="b"/>
            <a:pathLst>
              <a:path w="219927" h="886345">
                <a:moveTo>
                  <a:pt x="0" y="780955"/>
                </a:moveTo>
                <a:cubicBezTo>
                  <a:pt x="138894" y="1078068"/>
                  <a:pt x="203696" y="681044"/>
                  <a:pt x="219456" y="403003"/>
                </a:cubicBezTo>
                <a:cubicBezTo>
                  <a:pt x="225552" y="157000"/>
                  <a:pt x="172943" y="-140887"/>
                  <a:pt x="36576" y="73819"/>
                </a:cubicBezTo>
              </a:path>
            </a:pathLst>
          </a:custGeom>
          <a:ln w="38100">
            <a:solidFill>
              <a:srgbClr val="3333FF"/>
            </a:solidFill>
            <a:headEnd type="none" w="med" len="med"/>
            <a:tailEnd type="triangl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600" b="0" i="0" u="none" strike="noStrike" cap="none" normalizeH="0" baseline="0">
              <a:ln>
                <a:noFill/>
              </a:ln>
              <a:solidFill>
                <a:schemeClr val="tx1"/>
              </a:solidFill>
              <a:effectLst/>
              <a:latin typeface="Arial" charset="0"/>
            </a:endParaRPr>
          </a:p>
        </p:txBody>
      </p:sp>
      <p:sp>
        <p:nvSpPr>
          <p:cNvPr id="38" name="TextBox 23">
            <a:extLst>
              <a:ext uri="{FF2B5EF4-FFF2-40B4-BE49-F238E27FC236}">
                <a16:creationId xmlns:a16="http://schemas.microsoft.com/office/drawing/2014/main" id="{553B8125-A275-A614-D62B-0F993C094751}"/>
              </a:ext>
            </a:extLst>
          </p:cNvPr>
          <p:cNvSpPr txBox="1"/>
          <p:nvPr/>
        </p:nvSpPr>
        <p:spPr>
          <a:xfrm>
            <a:off x="2152325" y="3964373"/>
            <a:ext cx="789703" cy="923330"/>
          </a:xfrm>
          <a:prstGeom prst="rect">
            <a:avLst/>
          </a:prstGeom>
          <a:noFill/>
        </p:spPr>
        <p:txBody>
          <a:bodyPr wrap="none" rtlCol="0">
            <a:spAutoFit/>
          </a:bodyPr>
          <a:lstStyle/>
          <a:p>
            <a:pPr algn="ctr"/>
            <a:r>
              <a:rPr lang="en-CN" b="1" dirty="0">
                <a:solidFill>
                  <a:srgbClr val="3333FF"/>
                </a:solidFill>
              </a:rPr>
              <a:t>2</a:t>
            </a:r>
            <a:r>
              <a:rPr lang="en-CN" b="1" baseline="30000" dirty="0">
                <a:solidFill>
                  <a:srgbClr val="3333FF"/>
                </a:solidFill>
              </a:rPr>
              <a:t>n</a:t>
            </a:r>
            <a:r>
              <a:rPr lang="en-CN" b="1" dirty="0">
                <a:solidFill>
                  <a:srgbClr val="3333FF"/>
                </a:solidFill>
              </a:rPr>
              <a:t>-N</a:t>
            </a:r>
          </a:p>
          <a:p>
            <a:pPr algn="ctr"/>
            <a:r>
              <a:rPr lang="en-US" b="1" dirty="0">
                <a:solidFill>
                  <a:srgbClr val="3333FF"/>
                </a:solidFill>
              </a:rPr>
              <a:t>o</a:t>
            </a:r>
            <a:r>
              <a:rPr lang="en-CN" b="1" dirty="0">
                <a:solidFill>
                  <a:srgbClr val="3333FF"/>
                </a:solidFill>
              </a:rPr>
              <a:t>r</a:t>
            </a:r>
          </a:p>
          <a:p>
            <a:pPr algn="ctr"/>
            <a:r>
              <a:rPr lang="en-CN" b="1" dirty="0">
                <a:solidFill>
                  <a:srgbClr val="3333FF"/>
                </a:solidFill>
              </a:rPr>
              <a:t>(-N)</a:t>
            </a:r>
            <a:r>
              <a:rPr lang="en-CN" b="1" baseline="-25000" dirty="0">
                <a:solidFill>
                  <a:srgbClr val="3333FF"/>
                </a:solidFill>
              </a:rPr>
              <a:t>2’s</a:t>
            </a:r>
          </a:p>
        </p:txBody>
      </p:sp>
      <p:cxnSp>
        <p:nvCxnSpPr>
          <p:cNvPr id="39" name="直线连接符 38">
            <a:extLst>
              <a:ext uri="{FF2B5EF4-FFF2-40B4-BE49-F238E27FC236}">
                <a16:creationId xmlns:a16="http://schemas.microsoft.com/office/drawing/2014/main" id="{EB701EE9-81CF-4198-0B34-1C9F2804E03C}"/>
              </a:ext>
            </a:extLst>
          </p:cNvPr>
          <p:cNvCxnSpPr/>
          <p:nvPr/>
        </p:nvCxnSpPr>
        <p:spPr bwMode="auto">
          <a:xfrm flipV="1">
            <a:off x="4196400" y="3318533"/>
            <a:ext cx="207362" cy="201701"/>
          </a:xfrm>
          <a:prstGeom prst="line">
            <a:avLst/>
          </a:prstGeom>
          <a:solidFill>
            <a:schemeClr val="accent1"/>
          </a:solidFill>
          <a:ln w="127000" cap="rnd" cmpd="sng" algn="ctr">
            <a:solidFill>
              <a:srgbClr val="7030A0"/>
            </a:solidFill>
            <a:prstDash val="solid"/>
            <a:round/>
            <a:headEnd type="none" w="med" len="med"/>
            <a:tailEnd type="none" w="med" len="med"/>
          </a:ln>
          <a:effectLst/>
        </p:spPr>
      </p:cxnSp>
    </p:spTree>
    <p:extLst>
      <p:ext uri="{BB962C8B-B14F-4D97-AF65-F5344CB8AC3E}">
        <p14:creationId xmlns:p14="http://schemas.microsoft.com/office/powerpoint/2010/main" val="24470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par>
                          <p:cTn id="13" fill="hold">
                            <p:stCondLst>
                              <p:cond delay="0"/>
                            </p:stCondLst>
                            <p:childTnLst>
                              <p:par>
                                <p:cTn id="14" presetID="22" presetClass="entr" presetSubtype="8" fill="hold" nodeType="after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500"/>
                                        <p:tgtEl>
                                          <p:spTgt spid="33"/>
                                        </p:tgtEl>
                                      </p:cBhvr>
                                    </p:animEffect>
                                  </p:childTnLst>
                                </p:cTn>
                              </p:par>
                            </p:childTnLst>
                          </p:cTn>
                        </p:par>
                        <p:par>
                          <p:cTn id="17" fill="hold">
                            <p:stCondLst>
                              <p:cond delay="500"/>
                            </p:stCondLst>
                            <p:childTnLst>
                              <p:par>
                                <p:cTn id="18" presetID="3" presetClass="emph" presetSubtype="2" fill="hold" grpId="0" nodeType="afterEffect">
                                  <p:stCondLst>
                                    <p:cond delay="0"/>
                                  </p:stCondLst>
                                  <p:childTnLst>
                                    <p:animClr clrSpc="rgb" dir="cw">
                                      <p:cBhvr override="childStyle">
                                        <p:cTn id="19" dur="500" fill="hold"/>
                                        <p:tgtEl>
                                          <p:spTgt spid="15"/>
                                        </p:tgtEl>
                                        <p:attrNameLst>
                                          <p:attrName>style.color</p:attrName>
                                        </p:attrNameLst>
                                      </p:cBhvr>
                                      <p:to>
                                        <a:srgbClr val="942092"/>
                                      </p:to>
                                    </p:animClr>
                                  </p:childTnLst>
                                </p:cTn>
                              </p:par>
                              <p:par>
                                <p:cTn id="20" presetID="22" presetClass="entr" presetSubtype="4"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down)">
                                      <p:cBhvr>
                                        <p:cTn id="22" dur="500"/>
                                        <p:tgtEl>
                                          <p:spTgt spid="39"/>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1" grpId="0" animBg="1"/>
      <p:bldP spid="34" grpId="0" animBg="1"/>
      <p:bldP spid="36" grpId="0"/>
      <p:bldP spid="37" grpId="0" animBg="1"/>
      <p:bldP spid="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ph type="title"/>
          </p:nvPr>
        </p:nvSpPr>
        <p:spPr/>
        <p:txBody>
          <a:bodyPr/>
          <a:lstStyle/>
          <a:p>
            <a:pPr eaLnBrk="1" hangingPunct="1"/>
            <a:r>
              <a:rPr lang="zh-CN" altLang="en-US" dirty="0"/>
              <a:t>用加法来实现减法</a:t>
            </a:r>
            <a:endParaRPr lang="en-US" altLang="zh-CN" dirty="0"/>
          </a:p>
        </p:txBody>
      </p:sp>
      <p:sp>
        <p:nvSpPr>
          <p:cNvPr id="50179" name="Rectangle 3"/>
          <p:cNvSpPr>
            <a:spLocks noGrp="1" noChangeArrowheads="1"/>
          </p:cNvSpPr>
          <p:nvPr>
            <p:ph idx="1"/>
          </p:nvPr>
        </p:nvSpPr>
        <p:spPr>
          <a:xfrm>
            <a:off x="457200" y="1420701"/>
            <a:ext cx="8077200" cy="5500687"/>
          </a:xfrm>
        </p:spPr>
        <p:txBody>
          <a:bodyPr/>
          <a:lstStyle/>
          <a:p>
            <a:pPr hangingPunct="1"/>
            <a:r>
              <a:rPr lang="en-US" altLang="zh-CN" sz="2400" dirty="0"/>
              <a:t>A</a:t>
            </a:r>
            <a:r>
              <a:rPr lang="zh-CN" altLang="en-US" sz="2400" dirty="0"/>
              <a:t> </a:t>
            </a:r>
            <a:r>
              <a:rPr lang="en-US" altLang="zh-CN" sz="2400" dirty="0"/>
              <a:t>-</a:t>
            </a:r>
            <a:r>
              <a:rPr lang="zh-CN" altLang="en-US" sz="2400" dirty="0"/>
              <a:t> </a:t>
            </a:r>
            <a:r>
              <a:rPr lang="en-US" altLang="zh-CN" sz="2400" dirty="0"/>
              <a:t>B</a:t>
            </a:r>
            <a:r>
              <a:rPr lang="zh-CN" altLang="en-US" sz="2400" dirty="0"/>
              <a:t> </a:t>
            </a:r>
            <a:r>
              <a:rPr lang="en-US" altLang="zh-CN" sz="2400" dirty="0"/>
              <a:t>=</a:t>
            </a:r>
            <a:r>
              <a:rPr lang="zh-CN" altLang="en-US" sz="2400" dirty="0"/>
              <a:t> </a:t>
            </a:r>
            <a:r>
              <a:rPr lang="en-US" altLang="zh-CN" sz="2400" dirty="0"/>
              <a:t>A</a:t>
            </a:r>
            <a:r>
              <a:rPr lang="zh-CN" altLang="en-US" sz="2400" dirty="0"/>
              <a:t> </a:t>
            </a:r>
            <a:r>
              <a:rPr lang="en-US" altLang="zh-CN" sz="2400" dirty="0"/>
              <a:t>+</a:t>
            </a:r>
            <a:r>
              <a:rPr lang="zh-CN" altLang="en-US" sz="2400" dirty="0"/>
              <a:t> </a:t>
            </a:r>
            <a:r>
              <a:rPr lang="en-US" altLang="zh-CN" sz="2400" dirty="0"/>
              <a:t>(-B)</a:t>
            </a:r>
            <a:r>
              <a:rPr lang="zh-CN" altLang="en-US" sz="2400" dirty="0"/>
              <a:t> </a:t>
            </a:r>
            <a:r>
              <a:rPr lang="en-US" altLang="zh-CN" sz="2400" dirty="0"/>
              <a:t>=</a:t>
            </a:r>
            <a:r>
              <a:rPr lang="zh-CN" altLang="en-US" sz="2400" dirty="0"/>
              <a:t> </a:t>
            </a:r>
            <a:r>
              <a:rPr lang="en-US" altLang="zh-CN" sz="2400" dirty="0"/>
              <a:t>A</a:t>
            </a:r>
            <a:r>
              <a:rPr lang="zh-CN" altLang="en-US" sz="2400" dirty="0"/>
              <a:t> </a:t>
            </a:r>
            <a:r>
              <a:rPr lang="en-US" altLang="zh-CN" sz="2400" dirty="0"/>
              <a:t>+</a:t>
            </a:r>
            <a:r>
              <a:rPr lang="zh-CN" altLang="en-US" sz="2400" dirty="0"/>
              <a:t> </a:t>
            </a:r>
            <a:r>
              <a:rPr lang="en-US" altLang="zh-CN" sz="2400" dirty="0"/>
              <a:t>(0</a:t>
            </a:r>
            <a:r>
              <a:rPr lang="zh-CN" altLang="en-US" sz="2400" dirty="0"/>
              <a:t> </a:t>
            </a:r>
            <a:r>
              <a:rPr lang="en-US" altLang="zh-CN" sz="2400" dirty="0"/>
              <a:t>–</a:t>
            </a:r>
            <a:r>
              <a:rPr lang="zh-CN" altLang="en-US" sz="2400" dirty="0"/>
              <a:t> </a:t>
            </a:r>
            <a:r>
              <a:rPr lang="en-US" altLang="zh-CN" sz="2400" dirty="0"/>
              <a:t>B)</a:t>
            </a:r>
          </a:p>
          <a:p>
            <a:pPr marL="0" indent="0" hangingPunct="1">
              <a:buNone/>
            </a:pPr>
            <a:r>
              <a:rPr lang="en-US" altLang="zh-CN" sz="2400" dirty="0"/>
              <a:t>	</a:t>
            </a:r>
            <a:r>
              <a:rPr lang="zh-CN" altLang="en-US" sz="2400" dirty="0"/>
              <a:t>例：六位二进制数的计算：</a:t>
            </a:r>
            <a:r>
              <a:rPr lang="en-US" altLang="zh-CN" sz="2400" dirty="0"/>
              <a:t>8-20</a:t>
            </a:r>
            <a:r>
              <a:rPr lang="en-US" altLang="zh-CN" sz="2400" dirty="0">
                <a:sym typeface="Symbol" pitchFamily="18" charset="2"/>
              </a:rPr>
              <a:t>8+(-20)</a:t>
            </a:r>
          </a:p>
          <a:p>
            <a:pPr eaLnBrk="1" hangingPunct="1"/>
            <a:endParaRPr lang="en-US" altLang="zh-CN" sz="2400" dirty="0">
              <a:sym typeface="Symbol" pitchFamily="18" charset="2"/>
            </a:endParaRPr>
          </a:p>
          <a:p>
            <a:pPr eaLnBrk="1" hangingPunct="1"/>
            <a:endParaRPr lang="en-US" altLang="zh-CN" sz="2400" dirty="0">
              <a:sym typeface="Symbol" pitchFamily="18" charset="2"/>
            </a:endParaRPr>
          </a:p>
          <a:p>
            <a:pPr eaLnBrk="1" hangingPunct="1"/>
            <a:endParaRPr lang="en-US" altLang="zh-CN" sz="2400" dirty="0">
              <a:sym typeface="Symbol" pitchFamily="18" charset="2"/>
            </a:endParaRPr>
          </a:p>
          <a:p>
            <a:pPr eaLnBrk="1" hangingPunct="1"/>
            <a:endParaRPr lang="en-US" altLang="zh-CN" sz="2400" dirty="0">
              <a:sym typeface="Symbol" pitchFamily="18" charset="2"/>
            </a:endParaRPr>
          </a:p>
          <a:p>
            <a:pPr eaLnBrk="1" hangingPunct="1"/>
            <a:endParaRPr lang="en-US" altLang="zh-CN" sz="2400" dirty="0">
              <a:sym typeface="Symbol" pitchFamily="18" charset="2"/>
            </a:endParaRPr>
          </a:p>
          <a:p>
            <a:pPr eaLnBrk="1" hangingPunct="1"/>
            <a:endParaRPr lang="en-US" altLang="zh-CN" sz="2400" dirty="0">
              <a:sym typeface="Symbol" pitchFamily="18" charset="2"/>
            </a:endParaRPr>
          </a:p>
        </p:txBody>
      </p:sp>
      <p:sp>
        <p:nvSpPr>
          <p:cNvPr id="6" name="灯片编号占位符 5">
            <a:extLst>
              <a:ext uri="{FF2B5EF4-FFF2-40B4-BE49-F238E27FC236}">
                <a16:creationId xmlns:a16="http://schemas.microsoft.com/office/drawing/2014/main" id="{E96E4456-2D8B-EF0D-0E15-CE4079E23F6C}"/>
              </a:ext>
            </a:extLst>
          </p:cNvPr>
          <p:cNvSpPr>
            <a:spLocks noGrp="1"/>
          </p:cNvSpPr>
          <p:nvPr>
            <p:ph type="sldNum" sz="quarter" idx="12"/>
          </p:nvPr>
        </p:nvSpPr>
        <p:spPr/>
        <p:txBody>
          <a:bodyPr/>
          <a:lstStyle/>
          <a:p>
            <a:fld id="{14659731-6BD7-46E7-8D3C-2F3AC07E20B1}" type="slidenum">
              <a:rPr lang="en-US" altLang="zh-CN" smtClean="0"/>
              <a:pPr/>
              <a:t>28</a:t>
            </a:fld>
            <a:endParaRPr lang="en-US" altLang="zh-CN" dirty="0"/>
          </a:p>
        </p:txBody>
      </p:sp>
      <p:grpSp>
        <p:nvGrpSpPr>
          <p:cNvPr id="3" name="Group 2">
            <a:extLst>
              <a:ext uri="{FF2B5EF4-FFF2-40B4-BE49-F238E27FC236}">
                <a16:creationId xmlns:a16="http://schemas.microsoft.com/office/drawing/2014/main" id="{FC8FE5E6-4874-9644-8AAE-122E5B02B1F9}"/>
              </a:ext>
            </a:extLst>
          </p:cNvPr>
          <p:cNvGrpSpPr/>
          <p:nvPr/>
        </p:nvGrpSpPr>
        <p:grpSpPr>
          <a:xfrm>
            <a:off x="4734446" y="3344733"/>
            <a:ext cx="3019425" cy="1947565"/>
            <a:chOff x="4676775" y="2490788"/>
            <a:chExt cx="3019425" cy="1947565"/>
          </a:xfrm>
        </p:grpSpPr>
        <p:sp>
          <p:nvSpPr>
            <p:cNvPr id="514056" name="Text Box 8"/>
            <p:cNvSpPr txBox="1">
              <a:spLocks noChangeArrowheads="1"/>
            </p:cNvSpPr>
            <p:nvPr/>
          </p:nvSpPr>
          <p:spPr bwMode="auto">
            <a:xfrm>
              <a:off x="5310188" y="3252788"/>
              <a:ext cx="2241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dirty="0">
                  <a:solidFill>
                    <a:srgbClr val="7030A0"/>
                  </a:solidFill>
                  <a:latin typeface="+mn-lt"/>
                  <a:ea typeface="+mn-ea"/>
                </a:rPr>
                <a:t>1</a:t>
              </a:r>
              <a:r>
                <a:rPr kumimoji="1" lang="en-US" altLang="zh-CN" sz="2400" b="0" dirty="0">
                  <a:solidFill>
                    <a:schemeClr val="tx1"/>
                  </a:solidFill>
                  <a:latin typeface="+mn-lt"/>
                  <a:ea typeface="+mn-ea"/>
                </a:rPr>
                <a:t> 0 1 1 0 0</a:t>
              </a:r>
            </a:p>
          </p:txBody>
        </p:sp>
        <p:sp>
          <p:nvSpPr>
            <p:cNvPr id="514057" name="Line 9"/>
            <p:cNvSpPr>
              <a:spLocks noChangeShapeType="1"/>
            </p:cNvSpPr>
            <p:nvPr/>
          </p:nvSpPr>
          <p:spPr bwMode="auto">
            <a:xfrm>
              <a:off x="4814888" y="3897313"/>
              <a:ext cx="2879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dirty="0">
                <a:latin typeface="+mn-lt"/>
                <a:ea typeface="+mn-ea"/>
              </a:endParaRPr>
            </a:p>
          </p:txBody>
        </p:sp>
        <p:sp>
          <p:nvSpPr>
            <p:cNvPr id="514058" name="Text Box 10"/>
            <p:cNvSpPr txBox="1">
              <a:spLocks noChangeArrowheads="1"/>
            </p:cNvSpPr>
            <p:nvPr/>
          </p:nvSpPr>
          <p:spPr bwMode="auto">
            <a:xfrm>
              <a:off x="5310188" y="2490788"/>
              <a:ext cx="2386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dirty="0">
                  <a:solidFill>
                    <a:srgbClr val="7030A0"/>
                  </a:solidFill>
                  <a:latin typeface="+mn-lt"/>
                  <a:ea typeface="+mn-ea"/>
                </a:rPr>
                <a:t>0</a:t>
              </a:r>
              <a:r>
                <a:rPr kumimoji="1" lang="en-US" altLang="zh-CN" sz="2400" b="0" dirty="0">
                  <a:solidFill>
                    <a:schemeClr val="tx1"/>
                  </a:solidFill>
                  <a:latin typeface="+mn-lt"/>
                  <a:ea typeface="+mn-ea"/>
                </a:rPr>
                <a:t> 0 1 0 0 0</a:t>
              </a:r>
              <a:endParaRPr kumimoji="1" lang="en-US" altLang="zh-CN" sz="2000" b="0" dirty="0">
                <a:solidFill>
                  <a:schemeClr val="tx1"/>
                </a:solidFill>
                <a:latin typeface="+mn-lt"/>
                <a:ea typeface="+mn-ea"/>
              </a:endParaRPr>
            </a:p>
          </p:txBody>
        </p:sp>
        <p:sp>
          <p:nvSpPr>
            <p:cNvPr id="514059" name="Text Box 11"/>
            <p:cNvSpPr txBox="1">
              <a:spLocks noChangeArrowheads="1"/>
            </p:cNvSpPr>
            <p:nvPr/>
          </p:nvSpPr>
          <p:spPr bwMode="auto">
            <a:xfrm>
              <a:off x="4676775" y="3270338"/>
              <a:ext cx="866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000" b="0" dirty="0">
                  <a:solidFill>
                    <a:schemeClr val="tx1"/>
                  </a:solidFill>
                  <a:latin typeface="+mn-lt"/>
                  <a:ea typeface="+mn-ea"/>
                </a:rPr>
                <a:t>+)</a:t>
              </a:r>
            </a:p>
          </p:txBody>
        </p:sp>
        <p:sp>
          <p:nvSpPr>
            <p:cNvPr id="514064" name="Text Box 16"/>
            <p:cNvSpPr txBox="1">
              <a:spLocks noChangeArrowheads="1"/>
            </p:cNvSpPr>
            <p:nvPr/>
          </p:nvSpPr>
          <p:spPr bwMode="auto">
            <a:xfrm>
              <a:off x="5561521" y="3976688"/>
              <a:ext cx="14370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FF0000"/>
                  </a:solidFill>
                  <a:latin typeface="+mn-lt"/>
                  <a:ea typeface="+mn-ea"/>
                </a:rPr>
                <a:t>1 0 1 0 0</a:t>
              </a:r>
            </a:p>
          </p:txBody>
        </p:sp>
        <p:sp>
          <p:nvSpPr>
            <p:cNvPr id="514065" name="Text Box 17"/>
            <p:cNvSpPr txBox="1">
              <a:spLocks noChangeArrowheads="1"/>
            </p:cNvSpPr>
            <p:nvPr/>
          </p:nvSpPr>
          <p:spPr bwMode="auto">
            <a:xfrm>
              <a:off x="5319713" y="3976688"/>
              <a:ext cx="3698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dirty="0">
                  <a:solidFill>
                    <a:srgbClr val="7030A0"/>
                  </a:solidFill>
                  <a:latin typeface="+mn-lt"/>
                  <a:ea typeface="+mn-ea"/>
                </a:rPr>
                <a:t>1</a:t>
              </a:r>
            </a:p>
          </p:txBody>
        </p:sp>
      </p:grpSp>
      <p:grpSp>
        <p:nvGrpSpPr>
          <p:cNvPr id="2" name="Group 1">
            <a:extLst>
              <a:ext uri="{FF2B5EF4-FFF2-40B4-BE49-F238E27FC236}">
                <a16:creationId xmlns:a16="http://schemas.microsoft.com/office/drawing/2014/main" id="{72414368-362F-254C-9B7A-C099BA0575E2}"/>
              </a:ext>
            </a:extLst>
          </p:cNvPr>
          <p:cNvGrpSpPr/>
          <p:nvPr/>
        </p:nvGrpSpPr>
        <p:grpSpPr>
          <a:xfrm>
            <a:off x="815926" y="3057512"/>
            <a:ext cx="3468042" cy="2286853"/>
            <a:chOff x="827584" y="2149912"/>
            <a:chExt cx="3468042" cy="2286853"/>
          </a:xfrm>
        </p:grpSpPr>
        <p:sp>
          <p:nvSpPr>
            <p:cNvPr id="514052" name="Text Box 4"/>
            <p:cNvSpPr txBox="1">
              <a:spLocks noChangeArrowheads="1"/>
            </p:cNvSpPr>
            <p:nvPr/>
          </p:nvSpPr>
          <p:spPr bwMode="auto">
            <a:xfrm>
              <a:off x="1239838" y="3240088"/>
              <a:ext cx="287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dirty="0">
                  <a:solidFill>
                    <a:schemeClr val="tx1"/>
                  </a:solidFill>
                  <a:latin typeface="+mn-lt"/>
                  <a:ea typeface="+mn-ea"/>
                </a:rPr>
                <a:t>20:</a:t>
              </a:r>
              <a:r>
                <a:rPr kumimoji="1" lang="zh-CN" altLang="en-US" sz="2400" dirty="0">
                  <a:solidFill>
                    <a:schemeClr val="tx1"/>
                  </a:solidFill>
                  <a:latin typeface="+mn-lt"/>
                  <a:ea typeface="+mn-ea"/>
                </a:rPr>
                <a:t>  </a:t>
              </a:r>
              <a:r>
                <a:rPr kumimoji="1" lang="en-US" altLang="zh-CN" sz="2400" dirty="0">
                  <a:solidFill>
                    <a:srgbClr val="7030A0"/>
                  </a:solidFill>
                  <a:latin typeface="+mn-lt"/>
                  <a:ea typeface="+mn-ea"/>
                </a:rPr>
                <a:t>0</a:t>
              </a:r>
              <a:r>
                <a:rPr kumimoji="1" lang="en-US" altLang="zh-CN" sz="2400" b="0" dirty="0">
                  <a:solidFill>
                    <a:schemeClr val="tx1"/>
                  </a:solidFill>
                  <a:latin typeface="+mn-lt"/>
                  <a:ea typeface="+mn-ea"/>
                </a:rPr>
                <a:t> 1 0 1 0 0</a:t>
              </a:r>
            </a:p>
          </p:txBody>
        </p:sp>
        <p:sp>
          <p:nvSpPr>
            <p:cNvPr id="514053" name="Line 5"/>
            <p:cNvSpPr>
              <a:spLocks noChangeShapeType="1"/>
            </p:cNvSpPr>
            <p:nvPr/>
          </p:nvSpPr>
          <p:spPr bwMode="auto">
            <a:xfrm>
              <a:off x="935597" y="3884613"/>
              <a:ext cx="29523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dirty="0">
                <a:latin typeface="+mn-lt"/>
                <a:ea typeface="+mn-ea"/>
              </a:endParaRPr>
            </a:p>
          </p:txBody>
        </p:sp>
        <p:sp>
          <p:nvSpPr>
            <p:cNvPr id="514054" name="Text Box 6"/>
            <p:cNvSpPr txBox="1">
              <a:spLocks noChangeArrowheads="1"/>
            </p:cNvSpPr>
            <p:nvPr/>
          </p:nvSpPr>
          <p:spPr bwMode="auto">
            <a:xfrm>
              <a:off x="1412726" y="2478088"/>
              <a:ext cx="2882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dirty="0">
                  <a:solidFill>
                    <a:schemeClr val="tx1"/>
                  </a:solidFill>
                  <a:latin typeface="+mn-lt"/>
                  <a:ea typeface="+mn-ea"/>
                </a:rPr>
                <a:t>8:</a:t>
              </a:r>
              <a:r>
                <a:rPr kumimoji="1" lang="zh-CN" altLang="en-US" sz="2400" dirty="0">
                  <a:solidFill>
                    <a:schemeClr val="tx1"/>
                  </a:solidFill>
                  <a:latin typeface="+mn-lt"/>
                  <a:ea typeface="+mn-ea"/>
                </a:rPr>
                <a:t>  </a:t>
              </a:r>
              <a:r>
                <a:rPr kumimoji="1" lang="en-US" altLang="zh-CN" sz="2400" dirty="0">
                  <a:solidFill>
                    <a:srgbClr val="7030A0"/>
                  </a:solidFill>
                  <a:latin typeface="+mn-lt"/>
                  <a:ea typeface="+mn-ea"/>
                </a:rPr>
                <a:t>0</a:t>
              </a:r>
              <a:r>
                <a:rPr kumimoji="1" lang="en-US" altLang="zh-CN" sz="2400" b="0" dirty="0">
                  <a:solidFill>
                    <a:schemeClr val="tx1"/>
                  </a:solidFill>
                  <a:latin typeface="+mn-lt"/>
                  <a:ea typeface="+mn-ea"/>
                </a:rPr>
                <a:t> 0 1 0 0 0</a:t>
              </a:r>
              <a:endParaRPr kumimoji="1" lang="en-US" altLang="zh-CN" sz="2000" b="0" dirty="0">
                <a:solidFill>
                  <a:schemeClr val="tx1"/>
                </a:solidFill>
                <a:latin typeface="+mn-lt"/>
                <a:ea typeface="+mn-ea"/>
              </a:endParaRPr>
            </a:p>
          </p:txBody>
        </p:sp>
        <p:sp>
          <p:nvSpPr>
            <p:cNvPr id="514070" name="Text Box 22"/>
            <p:cNvSpPr txBox="1">
              <a:spLocks noChangeArrowheads="1"/>
            </p:cNvSpPr>
            <p:nvPr/>
          </p:nvSpPr>
          <p:spPr bwMode="auto">
            <a:xfrm>
              <a:off x="2099382" y="3975100"/>
              <a:ext cx="13806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FF0000"/>
                  </a:solidFill>
                  <a:latin typeface="+mn-lt"/>
                  <a:ea typeface="+mn-ea"/>
                </a:rPr>
                <a:t>1 0 1 0 0 </a:t>
              </a:r>
            </a:p>
          </p:txBody>
        </p:sp>
        <p:sp>
          <p:nvSpPr>
            <p:cNvPr id="514071" name="Text Box 23"/>
            <p:cNvSpPr txBox="1">
              <a:spLocks noChangeArrowheads="1"/>
            </p:cNvSpPr>
            <p:nvPr/>
          </p:nvSpPr>
          <p:spPr bwMode="auto">
            <a:xfrm>
              <a:off x="1127274" y="3975100"/>
              <a:ext cx="11216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dirty="0">
                  <a:solidFill>
                    <a:schemeClr val="tx1"/>
                  </a:solidFill>
                  <a:latin typeface="+mn-lt"/>
                  <a:ea typeface="+mn-ea"/>
                </a:rPr>
                <a:t>-12:</a:t>
              </a:r>
              <a:r>
                <a:rPr kumimoji="1" lang="zh-CN" altLang="en-US" sz="2400" dirty="0">
                  <a:solidFill>
                    <a:schemeClr val="tx1"/>
                  </a:solidFill>
                  <a:latin typeface="+mn-lt"/>
                  <a:ea typeface="+mn-ea"/>
                </a:rPr>
                <a:t> </a:t>
              </a:r>
              <a:r>
                <a:rPr kumimoji="1" lang="en-US" altLang="zh-CN" sz="2400" dirty="0">
                  <a:solidFill>
                    <a:schemeClr val="tx1"/>
                  </a:solidFill>
                  <a:latin typeface="+mn-lt"/>
                  <a:ea typeface="+mn-ea"/>
                </a:rPr>
                <a:t> </a:t>
              </a:r>
              <a:r>
                <a:rPr kumimoji="1" lang="en-US" altLang="zh-CN" sz="2400" dirty="0">
                  <a:solidFill>
                    <a:srgbClr val="7030A0"/>
                  </a:solidFill>
                  <a:latin typeface="+mn-lt"/>
                  <a:ea typeface="+mn-ea"/>
                </a:rPr>
                <a:t>1</a:t>
              </a:r>
            </a:p>
          </p:txBody>
        </p:sp>
        <p:sp>
          <p:nvSpPr>
            <p:cNvPr id="514072" name="Text Box 24"/>
            <p:cNvSpPr txBox="1">
              <a:spLocks noChangeArrowheads="1"/>
            </p:cNvSpPr>
            <p:nvPr/>
          </p:nvSpPr>
          <p:spPr bwMode="auto">
            <a:xfrm>
              <a:off x="1849264" y="2149912"/>
              <a:ext cx="6572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3333FF"/>
                  </a:solidFill>
                  <a:latin typeface="+mn-lt"/>
                  <a:ea typeface="+mn-ea"/>
                </a:rPr>
                <a:t>1</a:t>
              </a:r>
              <a:r>
                <a:rPr kumimoji="1" lang="zh-CN" altLang="en-US" sz="2400" b="0" dirty="0">
                  <a:solidFill>
                    <a:srgbClr val="3333FF"/>
                  </a:solidFill>
                  <a:latin typeface="+mn-lt"/>
                  <a:ea typeface="+mn-ea"/>
                </a:rPr>
                <a:t> </a:t>
              </a:r>
              <a:r>
                <a:rPr kumimoji="1" lang="en-US" altLang="zh-CN" sz="2400" b="0" dirty="0">
                  <a:solidFill>
                    <a:srgbClr val="3333FF"/>
                  </a:solidFill>
                  <a:latin typeface="+mn-lt"/>
                  <a:ea typeface="+mn-ea"/>
                </a:rPr>
                <a:t>0</a:t>
              </a:r>
            </a:p>
          </p:txBody>
        </p:sp>
        <p:sp>
          <p:nvSpPr>
            <p:cNvPr id="514075" name="Text Box 27"/>
            <p:cNvSpPr txBox="1">
              <a:spLocks noChangeArrowheads="1"/>
            </p:cNvSpPr>
            <p:nvPr/>
          </p:nvSpPr>
          <p:spPr bwMode="auto">
            <a:xfrm>
              <a:off x="2356532" y="2149912"/>
              <a:ext cx="695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3333FF"/>
                  </a:solidFill>
                  <a:latin typeface="+mn-lt"/>
                  <a:ea typeface="+mn-ea"/>
                </a:rPr>
                <a:t>1</a:t>
              </a:r>
              <a:r>
                <a:rPr kumimoji="1" lang="zh-CN" altLang="en-US" sz="2400" b="0" dirty="0">
                  <a:solidFill>
                    <a:srgbClr val="3333FF"/>
                  </a:solidFill>
                  <a:latin typeface="+mn-lt"/>
                  <a:ea typeface="+mn-ea"/>
                </a:rPr>
                <a:t> </a:t>
              </a:r>
              <a:r>
                <a:rPr kumimoji="1" lang="en-US" altLang="zh-CN" sz="2400" b="0" dirty="0">
                  <a:solidFill>
                    <a:srgbClr val="3333FF"/>
                  </a:solidFill>
                  <a:latin typeface="+mn-lt"/>
                  <a:ea typeface="+mn-ea"/>
                </a:rPr>
                <a:t>0</a:t>
              </a:r>
            </a:p>
          </p:txBody>
        </p:sp>
        <p:sp>
          <p:nvSpPr>
            <p:cNvPr id="514055" name="Text Box 7"/>
            <p:cNvSpPr txBox="1">
              <a:spLocks noChangeArrowheads="1"/>
            </p:cNvSpPr>
            <p:nvPr/>
          </p:nvSpPr>
          <p:spPr bwMode="auto">
            <a:xfrm>
              <a:off x="827584" y="3251558"/>
              <a:ext cx="8667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000" b="0" dirty="0">
                  <a:solidFill>
                    <a:schemeClr val="tx1"/>
                  </a:solidFill>
                  <a:latin typeface="+mn-lt"/>
                  <a:ea typeface="+mn-ea"/>
                </a:rPr>
                <a:t>-)</a:t>
              </a:r>
            </a:p>
          </p:txBody>
        </p:sp>
      </p:grpSp>
      <p:sp>
        <p:nvSpPr>
          <p:cNvPr id="4" name="TextBox 3">
            <a:extLst>
              <a:ext uri="{FF2B5EF4-FFF2-40B4-BE49-F238E27FC236}">
                <a16:creationId xmlns:a16="http://schemas.microsoft.com/office/drawing/2014/main" id="{B2F46792-867B-B941-8EA1-6B15AB7CE683}"/>
              </a:ext>
            </a:extLst>
          </p:cNvPr>
          <p:cNvSpPr txBox="1"/>
          <p:nvPr/>
        </p:nvSpPr>
        <p:spPr>
          <a:xfrm>
            <a:off x="609600" y="2621069"/>
            <a:ext cx="1980029" cy="400110"/>
          </a:xfrm>
          <a:prstGeom prst="rect">
            <a:avLst/>
          </a:prstGeom>
          <a:noFill/>
        </p:spPr>
        <p:txBody>
          <a:bodyPr wrap="none" rtlCol="0">
            <a:spAutoFit/>
          </a:bodyPr>
          <a:lstStyle/>
          <a:p>
            <a:r>
              <a:rPr lang="zh-CN" altLang="en-CN" sz="2000" dirty="0">
                <a:latin typeface="+mn-lt"/>
                <a:ea typeface="+mn-ea"/>
              </a:rPr>
              <a:t>传统</a:t>
            </a:r>
            <a:r>
              <a:rPr lang="zh-CN" altLang="en-US" sz="2000" dirty="0">
                <a:latin typeface="+mn-lt"/>
                <a:ea typeface="+mn-ea"/>
              </a:rPr>
              <a:t>减法</a:t>
            </a:r>
            <a:r>
              <a:rPr lang="zh-CN" altLang="en-CN" sz="2000" dirty="0">
                <a:latin typeface="+mn-lt"/>
                <a:ea typeface="+mn-ea"/>
              </a:rPr>
              <a:t>模式</a:t>
            </a:r>
            <a:r>
              <a:rPr lang="zh-CN" altLang="en-US" sz="2000" dirty="0">
                <a:latin typeface="+mn-lt"/>
                <a:ea typeface="+mn-ea"/>
              </a:rPr>
              <a:t>：</a:t>
            </a:r>
            <a:endParaRPr lang="en-CN" sz="2000" dirty="0">
              <a:latin typeface="+mn-lt"/>
              <a:ea typeface="+mn-ea"/>
            </a:endParaRPr>
          </a:p>
        </p:txBody>
      </p:sp>
      <p:sp>
        <p:nvSpPr>
          <p:cNvPr id="32" name="TextBox 31">
            <a:extLst>
              <a:ext uri="{FF2B5EF4-FFF2-40B4-BE49-F238E27FC236}">
                <a16:creationId xmlns:a16="http://schemas.microsoft.com/office/drawing/2014/main" id="{D708EFC5-DAB5-C445-B3CD-0645523CF7A4}"/>
              </a:ext>
            </a:extLst>
          </p:cNvPr>
          <p:cNvSpPr txBox="1"/>
          <p:nvPr/>
        </p:nvSpPr>
        <p:spPr>
          <a:xfrm>
            <a:off x="4590672" y="2619289"/>
            <a:ext cx="1980029" cy="400110"/>
          </a:xfrm>
          <a:prstGeom prst="rect">
            <a:avLst/>
          </a:prstGeom>
          <a:noFill/>
        </p:spPr>
        <p:txBody>
          <a:bodyPr wrap="none" rtlCol="0">
            <a:spAutoFit/>
          </a:bodyPr>
          <a:lstStyle/>
          <a:p>
            <a:r>
              <a:rPr lang="zh-CN" altLang="en-CN" sz="2000" dirty="0">
                <a:latin typeface="+mn-lt"/>
                <a:ea typeface="+mn-ea"/>
              </a:rPr>
              <a:t>补码</a:t>
            </a:r>
            <a:r>
              <a:rPr lang="zh-CN" altLang="en-US" sz="2000" dirty="0">
                <a:latin typeface="+mn-lt"/>
                <a:ea typeface="+mn-ea"/>
              </a:rPr>
              <a:t>减法</a:t>
            </a:r>
            <a:r>
              <a:rPr lang="zh-CN" altLang="en-CN" sz="2000" dirty="0">
                <a:latin typeface="+mn-lt"/>
                <a:ea typeface="+mn-ea"/>
              </a:rPr>
              <a:t>模式</a:t>
            </a:r>
            <a:r>
              <a:rPr lang="zh-CN" altLang="en-US" sz="2000" dirty="0">
                <a:latin typeface="+mn-lt"/>
                <a:ea typeface="+mn-ea"/>
              </a:rPr>
              <a:t>：</a:t>
            </a:r>
            <a:endParaRPr lang="en-CN" sz="2000" dirty="0">
              <a:latin typeface="+mn-lt"/>
              <a:ea typeface="+mn-ea"/>
            </a:endParaRPr>
          </a:p>
        </p:txBody>
      </p:sp>
      <p:sp>
        <p:nvSpPr>
          <p:cNvPr id="5" name="TextBox 4">
            <a:extLst>
              <a:ext uri="{FF2B5EF4-FFF2-40B4-BE49-F238E27FC236}">
                <a16:creationId xmlns:a16="http://schemas.microsoft.com/office/drawing/2014/main" id="{5F9387B5-1711-804D-BA6F-1C2FDDE1F8C7}"/>
              </a:ext>
            </a:extLst>
          </p:cNvPr>
          <p:cNvSpPr txBox="1"/>
          <p:nvPr/>
        </p:nvSpPr>
        <p:spPr>
          <a:xfrm>
            <a:off x="828213" y="5646055"/>
            <a:ext cx="7263527" cy="461665"/>
          </a:xfrm>
          <a:prstGeom prst="rect">
            <a:avLst/>
          </a:prstGeom>
          <a:noFill/>
        </p:spPr>
        <p:txBody>
          <a:bodyPr wrap="none" rtlCol="0">
            <a:spAutoFit/>
          </a:bodyPr>
          <a:lstStyle/>
          <a:p>
            <a:r>
              <a:rPr lang="zh-CN" altLang="en-US" sz="2400" dirty="0">
                <a:latin typeface="+mn-lt"/>
                <a:ea typeface="+mn-ea"/>
              </a:rPr>
              <a:t>实例验证，</a:t>
            </a:r>
            <a:r>
              <a:rPr lang="zh-CN" altLang="en-CN" sz="2400" dirty="0">
                <a:latin typeface="+mn-lt"/>
                <a:ea typeface="+mn-ea"/>
              </a:rPr>
              <a:t>补码可以利用</a:t>
            </a:r>
            <a:r>
              <a:rPr lang="zh-CN" altLang="en-US" sz="2400" dirty="0">
                <a:latin typeface="+mn-lt"/>
                <a:ea typeface="+mn-ea"/>
              </a:rPr>
              <a:t>加法器实现完整的加减法！</a:t>
            </a:r>
            <a:endParaRPr lang="en-CN" sz="2400" dirty="0">
              <a:latin typeface="+mn-lt"/>
              <a:ea typeface="+mn-ea"/>
            </a:endParaRPr>
          </a:p>
        </p:txBody>
      </p:sp>
    </p:spTree>
    <p:extLst>
      <p:ext uri="{BB962C8B-B14F-4D97-AF65-F5344CB8AC3E}">
        <p14:creationId xmlns:p14="http://schemas.microsoft.com/office/powerpoint/2010/main" val="11181195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2965450" y="3155674"/>
            <a:ext cx="1757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0111</a:t>
            </a:r>
          </a:p>
        </p:txBody>
      </p:sp>
      <p:grpSp>
        <p:nvGrpSpPr>
          <p:cNvPr id="51203" name="Group 3"/>
          <p:cNvGrpSpPr>
            <a:grpSpLocks/>
          </p:cNvGrpSpPr>
          <p:nvPr/>
        </p:nvGrpSpPr>
        <p:grpSpPr bwMode="auto">
          <a:xfrm>
            <a:off x="527050" y="1714224"/>
            <a:ext cx="4171950" cy="1993900"/>
            <a:chOff x="104" y="912"/>
            <a:chExt cx="2847" cy="1256"/>
          </a:xfrm>
        </p:grpSpPr>
        <p:sp>
          <p:nvSpPr>
            <p:cNvPr id="51252" name="Text Box 4"/>
            <p:cNvSpPr txBox="1">
              <a:spLocks noChangeArrowheads="1"/>
            </p:cNvSpPr>
            <p:nvPr/>
          </p:nvSpPr>
          <p:spPr bwMode="auto">
            <a:xfrm>
              <a:off x="1768" y="1342"/>
              <a:ext cx="11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0100</a:t>
              </a:r>
            </a:p>
          </p:txBody>
        </p:sp>
        <p:sp>
          <p:nvSpPr>
            <p:cNvPr id="51253" name="Text Box 5"/>
            <p:cNvSpPr txBox="1">
              <a:spLocks noChangeArrowheads="1"/>
            </p:cNvSpPr>
            <p:nvPr/>
          </p:nvSpPr>
          <p:spPr bwMode="auto">
            <a:xfrm>
              <a:off x="1768" y="912"/>
              <a:ext cx="11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0011</a:t>
              </a:r>
              <a:endPar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grpSp>
          <p:nvGrpSpPr>
            <p:cNvPr id="51254" name="Group 6"/>
            <p:cNvGrpSpPr>
              <a:grpSpLocks/>
            </p:cNvGrpSpPr>
            <p:nvPr/>
          </p:nvGrpSpPr>
          <p:grpSpPr bwMode="auto">
            <a:xfrm>
              <a:off x="104" y="916"/>
              <a:ext cx="2652" cy="1252"/>
              <a:chOff x="104" y="916"/>
              <a:chExt cx="2652" cy="1252"/>
            </a:xfrm>
          </p:grpSpPr>
          <p:sp>
            <p:nvSpPr>
              <p:cNvPr id="51255" name="Line 7"/>
              <p:cNvSpPr>
                <a:spLocks noChangeShapeType="1"/>
              </p:cNvSpPr>
              <p:nvPr/>
            </p:nvSpPr>
            <p:spPr bwMode="auto">
              <a:xfrm>
                <a:off x="1513" y="1798"/>
                <a:ext cx="12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256" name="Text Box 8"/>
              <p:cNvSpPr txBox="1">
                <a:spLocks noChangeArrowheads="1"/>
              </p:cNvSpPr>
              <p:nvPr/>
            </p:nvSpPr>
            <p:spPr bwMode="auto">
              <a:xfrm>
                <a:off x="1336" y="1355"/>
                <a:ext cx="5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51257" name="Text Box 9"/>
              <p:cNvSpPr txBox="1">
                <a:spLocks noChangeArrowheads="1"/>
              </p:cNvSpPr>
              <p:nvPr/>
            </p:nvSpPr>
            <p:spPr bwMode="auto">
              <a:xfrm>
                <a:off x="637" y="1342"/>
                <a:ext cx="11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+4</a:t>
                </a:r>
              </a:p>
            </p:txBody>
          </p:sp>
          <p:sp>
            <p:nvSpPr>
              <p:cNvPr id="51258" name="Line 10"/>
              <p:cNvSpPr>
                <a:spLocks noChangeShapeType="1"/>
              </p:cNvSpPr>
              <p:nvPr/>
            </p:nvSpPr>
            <p:spPr bwMode="auto">
              <a:xfrm>
                <a:off x="164" y="1802"/>
                <a:ext cx="12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259" name="Text Box 11"/>
              <p:cNvSpPr txBox="1">
                <a:spLocks noChangeArrowheads="1"/>
              </p:cNvSpPr>
              <p:nvPr/>
            </p:nvSpPr>
            <p:spPr bwMode="auto">
              <a:xfrm>
                <a:off x="637" y="916"/>
                <a:ext cx="8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+3</a:t>
                </a:r>
                <a:endPar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51260" name="Text Box 12"/>
              <p:cNvSpPr txBox="1">
                <a:spLocks noChangeArrowheads="1"/>
              </p:cNvSpPr>
              <p:nvPr/>
            </p:nvSpPr>
            <p:spPr bwMode="auto">
              <a:xfrm>
                <a:off x="104" y="1359"/>
                <a:ext cx="5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51261" name="Text Box 13"/>
              <p:cNvSpPr txBox="1">
                <a:spLocks noChangeArrowheads="1"/>
              </p:cNvSpPr>
              <p:nvPr/>
            </p:nvSpPr>
            <p:spPr bwMode="auto">
              <a:xfrm>
                <a:off x="637" y="1841"/>
                <a:ext cx="8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+7</a:t>
                </a:r>
              </a:p>
            </p:txBody>
          </p:sp>
        </p:grpSp>
      </p:grpSp>
      <p:sp>
        <p:nvSpPr>
          <p:cNvPr id="515086" name="Line 14"/>
          <p:cNvSpPr>
            <a:spLocks noChangeShapeType="1"/>
          </p:cNvSpPr>
          <p:nvPr/>
        </p:nvSpPr>
        <p:spPr bwMode="auto">
          <a:xfrm>
            <a:off x="7380312" y="3649387"/>
            <a:ext cx="155658" cy="319090"/>
          </a:xfrm>
          <a:prstGeom prst="line">
            <a:avLst/>
          </a:prstGeom>
          <a:noFill/>
          <a:ln w="9525">
            <a:solidFill>
              <a:srgbClr val="3333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5087" name="Text Box 15"/>
          <p:cNvSpPr txBox="1">
            <a:spLocks noChangeArrowheads="1"/>
          </p:cNvSpPr>
          <p:nvPr/>
        </p:nvSpPr>
        <p:spPr bwMode="auto">
          <a:xfrm>
            <a:off x="7535971" y="3704948"/>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3333FF"/>
                </a:solidFill>
                <a:latin typeface="Arial" panose="020B0604020202020204" pitchFamily="34" charset="0"/>
                <a:ea typeface="黑体" panose="02010609060101010101" pitchFamily="49" charset="-122"/>
                <a:cs typeface="Arial" panose="020B0604020202020204" pitchFamily="34" charset="0"/>
              </a:rPr>
              <a:t>Ignore</a:t>
            </a:r>
          </a:p>
        </p:txBody>
      </p:sp>
      <p:sp>
        <p:nvSpPr>
          <p:cNvPr id="51206" name="Text Box 16"/>
          <p:cNvSpPr txBox="1">
            <a:spLocks noChangeArrowheads="1"/>
          </p:cNvSpPr>
          <p:nvPr/>
        </p:nvSpPr>
        <p:spPr bwMode="auto">
          <a:xfrm>
            <a:off x="7200292" y="3127099"/>
            <a:ext cx="17573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rgbClr val="3333FF"/>
                </a:solidFill>
                <a:latin typeface="Arial" panose="020B0604020202020204" pitchFamily="34" charset="0"/>
                <a:ea typeface="黑体" panose="02010609060101010101" pitchFamily="49" charset="-122"/>
                <a:cs typeface="Arial" panose="020B0604020202020204" pitchFamily="34" charset="0"/>
              </a:rPr>
              <a:t>1</a:t>
            </a: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0011</a:t>
            </a:r>
          </a:p>
        </p:txBody>
      </p:sp>
      <p:grpSp>
        <p:nvGrpSpPr>
          <p:cNvPr id="51207" name="Group 17"/>
          <p:cNvGrpSpPr>
            <a:grpSpLocks/>
          </p:cNvGrpSpPr>
          <p:nvPr/>
        </p:nvGrpSpPr>
        <p:grpSpPr bwMode="auto">
          <a:xfrm>
            <a:off x="5472100" y="1714224"/>
            <a:ext cx="3200400" cy="1957388"/>
            <a:chOff x="2608" y="436"/>
            <a:chExt cx="2628" cy="1233"/>
          </a:xfrm>
        </p:grpSpPr>
        <p:sp>
          <p:nvSpPr>
            <p:cNvPr id="51241" name="Text Box 18"/>
            <p:cNvSpPr txBox="1">
              <a:spLocks noChangeArrowheads="1"/>
            </p:cNvSpPr>
            <p:nvPr/>
          </p:nvSpPr>
          <p:spPr bwMode="auto">
            <a:xfrm>
              <a:off x="4144" y="866"/>
              <a:ext cx="10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1101</a:t>
              </a:r>
            </a:p>
          </p:txBody>
        </p:sp>
        <p:sp>
          <p:nvSpPr>
            <p:cNvPr id="51242" name="Line 19"/>
            <p:cNvSpPr>
              <a:spLocks noChangeShapeType="1"/>
            </p:cNvSpPr>
            <p:nvPr/>
          </p:nvSpPr>
          <p:spPr bwMode="auto">
            <a:xfrm>
              <a:off x="3909" y="1322"/>
              <a:ext cx="114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243" name="Text Box 20"/>
            <p:cNvSpPr txBox="1">
              <a:spLocks noChangeArrowheads="1"/>
            </p:cNvSpPr>
            <p:nvPr/>
          </p:nvSpPr>
          <p:spPr bwMode="auto">
            <a:xfrm>
              <a:off x="4144" y="436"/>
              <a:ext cx="105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0110</a:t>
              </a:r>
              <a:endPar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51244" name="Text Box 21"/>
            <p:cNvSpPr txBox="1">
              <a:spLocks noChangeArrowheads="1"/>
            </p:cNvSpPr>
            <p:nvPr/>
          </p:nvSpPr>
          <p:spPr bwMode="auto">
            <a:xfrm>
              <a:off x="3745" y="879"/>
              <a:ext cx="5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grpSp>
          <p:nvGrpSpPr>
            <p:cNvPr id="51245" name="Group 22"/>
            <p:cNvGrpSpPr>
              <a:grpSpLocks/>
            </p:cNvGrpSpPr>
            <p:nvPr/>
          </p:nvGrpSpPr>
          <p:grpSpPr bwMode="auto">
            <a:xfrm>
              <a:off x="2608" y="439"/>
              <a:ext cx="1419" cy="1230"/>
              <a:chOff x="1344" y="1824"/>
              <a:chExt cx="1247" cy="933"/>
            </a:xfrm>
          </p:grpSpPr>
          <p:sp>
            <p:nvSpPr>
              <p:cNvPr id="51246" name="Text Box 23"/>
              <p:cNvSpPr txBox="1">
                <a:spLocks noChangeArrowheads="1"/>
              </p:cNvSpPr>
              <p:nvPr/>
            </p:nvSpPr>
            <p:spPr bwMode="auto">
              <a:xfrm>
                <a:off x="1718" y="2141"/>
                <a:ext cx="8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 -3</a:t>
                </a:r>
              </a:p>
            </p:txBody>
          </p:sp>
          <p:grpSp>
            <p:nvGrpSpPr>
              <p:cNvPr id="51247" name="Group 24"/>
              <p:cNvGrpSpPr>
                <a:grpSpLocks/>
              </p:cNvGrpSpPr>
              <p:nvPr/>
            </p:nvGrpSpPr>
            <p:grpSpPr bwMode="auto">
              <a:xfrm>
                <a:off x="1344" y="1824"/>
                <a:ext cx="1152" cy="933"/>
                <a:chOff x="1344" y="1824"/>
                <a:chExt cx="1152" cy="933"/>
              </a:xfrm>
            </p:grpSpPr>
            <p:sp>
              <p:nvSpPr>
                <p:cNvPr id="51248" name="Line 25"/>
                <p:cNvSpPr>
                  <a:spLocks noChangeShapeType="1"/>
                </p:cNvSpPr>
                <p:nvPr/>
              </p:nvSpPr>
              <p:spPr bwMode="auto">
                <a:xfrm>
                  <a:off x="1392" y="249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249" name="Text Box 26"/>
                <p:cNvSpPr txBox="1">
                  <a:spLocks noChangeArrowheads="1"/>
                </p:cNvSpPr>
                <p:nvPr/>
              </p:nvSpPr>
              <p:spPr bwMode="auto">
                <a:xfrm>
                  <a:off x="1776" y="1824"/>
                  <a:ext cx="67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+6</a:t>
                  </a:r>
                  <a:endPar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51250" name="Text Box 27"/>
                <p:cNvSpPr txBox="1">
                  <a:spLocks noChangeArrowheads="1"/>
                </p:cNvSpPr>
                <p:nvPr/>
              </p:nvSpPr>
              <p:spPr bwMode="auto">
                <a:xfrm>
                  <a:off x="1344" y="2160"/>
                  <a:ext cx="48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51251" name="Text Box 28"/>
                <p:cNvSpPr txBox="1">
                  <a:spLocks noChangeArrowheads="1"/>
                </p:cNvSpPr>
                <p:nvPr/>
              </p:nvSpPr>
              <p:spPr bwMode="auto">
                <a:xfrm>
                  <a:off x="1776" y="2509"/>
                  <a:ext cx="72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+3</a:t>
                  </a:r>
                </a:p>
              </p:txBody>
            </p:sp>
          </p:grpSp>
        </p:grpSp>
      </p:grpSp>
      <p:sp>
        <p:nvSpPr>
          <p:cNvPr id="51208" name="Text Box 29"/>
          <p:cNvSpPr txBox="1">
            <a:spLocks noChangeArrowheads="1"/>
          </p:cNvSpPr>
          <p:nvPr/>
        </p:nvSpPr>
        <p:spPr bwMode="auto">
          <a:xfrm>
            <a:off x="2930525" y="5545720"/>
            <a:ext cx="1439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rgbClr val="7030A0"/>
                </a:solidFill>
                <a:latin typeface="Arial" panose="020B0604020202020204" pitchFamily="34" charset="0"/>
                <a:ea typeface="黑体" panose="02010609060101010101" pitchFamily="49" charset="-122"/>
                <a:cs typeface="Arial" panose="020B0604020202020204" pitchFamily="34" charset="0"/>
              </a:rPr>
              <a:t>1011</a:t>
            </a:r>
          </a:p>
        </p:txBody>
      </p:sp>
      <p:grpSp>
        <p:nvGrpSpPr>
          <p:cNvPr id="51209" name="Group 30"/>
          <p:cNvGrpSpPr>
            <a:grpSpLocks/>
          </p:cNvGrpSpPr>
          <p:nvPr/>
        </p:nvGrpSpPr>
        <p:grpSpPr bwMode="auto">
          <a:xfrm>
            <a:off x="482600" y="4105858"/>
            <a:ext cx="4171950" cy="1979613"/>
            <a:chOff x="104" y="912"/>
            <a:chExt cx="2847" cy="1247"/>
          </a:xfrm>
        </p:grpSpPr>
        <p:sp>
          <p:nvSpPr>
            <p:cNvPr id="51231" name="Text Box 31"/>
            <p:cNvSpPr txBox="1">
              <a:spLocks noChangeArrowheads="1"/>
            </p:cNvSpPr>
            <p:nvPr/>
          </p:nvSpPr>
          <p:spPr bwMode="auto">
            <a:xfrm>
              <a:off x="1768" y="1355"/>
              <a:ext cx="11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0110</a:t>
              </a:r>
            </a:p>
          </p:txBody>
        </p:sp>
        <p:sp>
          <p:nvSpPr>
            <p:cNvPr id="51232" name="Text Box 32"/>
            <p:cNvSpPr txBox="1">
              <a:spLocks noChangeArrowheads="1"/>
            </p:cNvSpPr>
            <p:nvPr/>
          </p:nvSpPr>
          <p:spPr bwMode="auto">
            <a:xfrm>
              <a:off x="1768" y="912"/>
              <a:ext cx="11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0101</a:t>
              </a:r>
              <a:endPar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grpSp>
          <p:nvGrpSpPr>
            <p:cNvPr id="51233" name="Group 33"/>
            <p:cNvGrpSpPr>
              <a:grpSpLocks/>
            </p:cNvGrpSpPr>
            <p:nvPr/>
          </p:nvGrpSpPr>
          <p:grpSpPr bwMode="auto">
            <a:xfrm>
              <a:off x="104" y="916"/>
              <a:ext cx="2652" cy="1243"/>
              <a:chOff x="104" y="916"/>
              <a:chExt cx="2652" cy="1243"/>
            </a:xfrm>
          </p:grpSpPr>
          <p:sp>
            <p:nvSpPr>
              <p:cNvPr id="51234" name="Line 34"/>
              <p:cNvSpPr>
                <a:spLocks noChangeShapeType="1"/>
              </p:cNvSpPr>
              <p:nvPr/>
            </p:nvSpPr>
            <p:spPr bwMode="auto">
              <a:xfrm>
                <a:off x="1513" y="1798"/>
                <a:ext cx="12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235" name="Text Box 35"/>
              <p:cNvSpPr txBox="1">
                <a:spLocks noChangeArrowheads="1"/>
              </p:cNvSpPr>
              <p:nvPr/>
            </p:nvSpPr>
            <p:spPr bwMode="auto">
              <a:xfrm>
                <a:off x="1336" y="1355"/>
                <a:ext cx="5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51236" name="Text Box 36"/>
              <p:cNvSpPr txBox="1">
                <a:spLocks noChangeArrowheads="1"/>
              </p:cNvSpPr>
              <p:nvPr/>
            </p:nvSpPr>
            <p:spPr bwMode="auto">
              <a:xfrm>
                <a:off x="637" y="1365"/>
                <a:ext cx="11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+6</a:t>
                </a:r>
              </a:p>
            </p:txBody>
          </p:sp>
          <p:sp>
            <p:nvSpPr>
              <p:cNvPr id="51237" name="Line 37"/>
              <p:cNvSpPr>
                <a:spLocks noChangeShapeType="1"/>
              </p:cNvSpPr>
              <p:nvPr/>
            </p:nvSpPr>
            <p:spPr bwMode="auto">
              <a:xfrm>
                <a:off x="164" y="1802"/>
                <a:ext cx="12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238" name="Text Box 38"/>
              <p:cNvSpPr txBox="1">
                <a:spLocks noChangeArrowheads="1"/>
              </p:cNvSpPr>
              <p:nvPr/>
            </p:nvSpPr>
            <p:spPr bwMode="auto">
              <a:xfrm>
                <a:off x="637" y="916"/>
                <a:ext cx="8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+5</a:t>
                </a:r>
                <a:endPar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51239" name="Text Box 39"/>
              <p:cNvSpPr txBox="1">
                <a:spLocks noChangeArrowheads="1"/>
              </p:cNvSpPr>
              <p:nvPr/>
            </p:nvSpPr>
            <p:spPr bwMode="auto">
              <a:xfrm>
                <a:off x="104" y="1359"/>
                <a:ext cx="5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51240" name="Text Box 40"/>
              <p:cNvSpPr txBox="1">
                <a:spLocks noChangeArrowheads="1"/>
              </p:cNvSpPr>
              <p:nvPr/>
            </p:nvSpPr>
            <p:spPr bwMode="auto">
              <a:xfrm>
                <a:off x="637" y="1832"/>
                <a:ext cx="8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+11</a:t>
                </a:r>
              </a:p>
            </p:txBody>
          </p:sp>
        </p:grpSp>
      </p:grpSp>
      <p:sp>
        <p:nvSpPr>
          <p:cNvPr id="515113" name="Line 41"/>
          <p:cNvSpPr>
            <a:spLocks noChangeShapeType="1"/>
          </p:cNvSpPr>
          <p:nvPr/>
        </p:nvSpPr>
        <p:spPr bwMode="auto">
          <a:xfrm>
            <a:off x="7004814" y="5976706"/>
            <a:ext cx="385764" cy="328612"/>
          </a:xfrm>
          <a:prstGeom prst="line">
            <a:avLst/>
          </a:prstGeom>
          <a:noFill/>
          <a:ln w="9525">
            <a:solidFill>
              <a:srgbClr val="3333FF"/>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5114" name="Text Box 42"/>
          <p:cNvSpPr txBox="1">
            <a:spLocks noChangeArrowheads="1"/>
          </p:cNvSpPr>
          <p:nvPr/>
        </p:nvSpPr>
        <p:spPr bwMode="auto">
          <a:xfrm>
            <a:off x="7346950" y="6074599"/>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3333FF"/>
                </a:solidFill>
                <a:latin typeface="Arial" panose="020B0604020202020204" pitchFamily="34" charset="0"/>
                <a:ea typeface="黑体" panose="02010609060101010101" pitchFamily="49" charset="-122"/>
                <a:cs typeface="Arial" panose="020B0604020202020204" pitchFamily="34" charset="0"/>
              </a:rPr>
              <a:t>Ignore</a:t>
            </a:r>
          </a:p>
        </p:txBody>
      </p:sp>
      <p:grpSp>
        <p:nvGrpSpPr>
          <p:cNvPr id="51212" name="Group 43"/>
          <p:cNvGrpSpPr>
            <a:grpSpLocks/>
          </p:cNvGrpSpPr>
          <p:nvPr/>
        </p:nvGrpSpPr>
        <p:grpSpPr bwMode="auto">
          <a:xfrm>
            <a:off x="4470400" y="4105858"/>
            <a:ext cx="4171950" cy="1974850"/>
            <a:chOff x="2880" y="816"/>
            <a:chExt cx="2628" cy="1244"/>
          </a:xfrm>
        </p:grpSpPr>
        <p:sp>
          <p:nvSpPr>
            <p:cNvPr id="51219" name="Text Box 44"/>
            <p:cNvSpPr txBox="1">
              <a:spLocks noChangeArrowheads="1"/>
            </p:cNvSpPr>
            <p:nvPr/>
          </p:nvSpPr>
          <p:spPr bwMode="auto">
            <a:xfrm>
              <a:off x="4416" y="1259"/>
              <a:ext cx="10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1101</a:t>
              </a:r>
            </a:p>
          </p:txBody>
        </p:sp>
        <p:sp>
          <p:nvSpPr>
            <p:cNvPr id="51220" name="Line 45"/>
            <p:cNvSpPr>
              <a:spLocks noChangeShapeType="1"/>
            </p:cNvSpPr>
            <p:nvPr/>
          </p:nvSpPr>
          <p:spPr bwMode="auto">
            <a:xfrm>
              <a:off x="4181" y="1702"/>
              <a:ext cx="114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221" name="Text Box 46"/>
            <p:cNvSpPr txBox="1">
              <a:spLocks noChangeArrowheads="1"/>
            </p:cNvSpPr>
            <p:nvPr/>
          </p:nvSpPr>
          <p:spPr bwMode="auto">
            <a:xfrm>
              <a:off x="4416" y="816"/>
              <a:ext cx="105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1010</a:t>
              </a:r>
              <a:endPar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51222" name="Text Box 47"/>
            <p:cNvSpPr txBox="1">
              <a:spLocks noChangeArrowheads="1"/>
            </p:cNvSpPr>
            <p:nvPr/>
          </p:nvSpPr>
          <p:spPr bwMode="auto">
            <a:xfrm>
              <a:off x="4017" y="1259"/>
              <a:ext cx="5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51223" name="Text Box 48"/>
            <p:cNvSpPr txBox="1">
              <a:spLocks noChangeArrowheads="1"/>
            </p:cNvSpPr>
            <p:nvPr/>
          </p:nvSpPr>
          <p:spPr bwMode="auto">
            <a:xfrm>
              <a:off x="4332" y="1722"/>
              <a:ext cx="11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rgbClr val="3333FF"/>
                  </a:solidFill>
                  <a:latin typeface="Arial" panose="020B0604020202020204" pitchFamily="34" charset="0"/>
                  <a:ea typeface="黑体" panose="02010609060101010101" pitchFamily="49" charset="-122"/>
                  <a:cs typeface="Arial" panose="020B0604020202020204" pitchFamily="34" charset="0"/>
                </a:rPr>
                <a:t>1</a:t>
              </a:r>
              <a:r>
                <a:rPr kumimoji="1" lang="en-US" altLang="zh-CN" sz="2800" b="0" dirty="0">
                  <a:solidFill>
                    <a:srgbClr val="7030A0"/>
                  </a:solidFill>
                  <a:latin typeface="Arial" panose="020B0604020202020204" pitchFamily="34" charset="0"/>
                  <a:ea typeface="黑体" panose="02010609060101010101" pitchFamily="49" charset="-122"/>
                  <a:cs typeface="Arial" panose="020B0604020202020204" pitchFamily="34" charset="0"/>
                </a:rPr>
                <a:t>0111</a:t>
              </a:r>
            </a:p>
          </p:txBody>
        </p:sp>
        <p:grpSp>
          <p:nvGrpSpPr>
            <p:cNvPr id="51224" name="Group 49"/>
            <p:cNvGrpSpPr>
              <a:grpSpLocks/>
            </p:cNvGrpSpPr>
            <p:nvPr/>
          </p:nvGrpSpPr>
          <p:grpSpPr bwMode="auto">
            <a:xfrm>
              <a:off x="2880" y="824"/>
              <a:ext cx="1584" cy="1236"/>
              <a:chOff x="1344" y="1824"/>
              <a:chExt cx="1392" cy="936"/>
            </a:xfrm>
          </p:grpSpPr>
          <p:sp>
            <p:nvSpPr>
              <p:cNvPr id="51225" name="Text Box 50"/>
              <p:cNvSpPr txBox="1">
                <a:spLocks noChangeArrowheads="1"/>
              </p:cNvSpPr>
              <p:nvPr/>
            </p:nvSpPr>
            <p:spPr bwMode="auto">
              <a:xfrm>
                <a:off x="1776" y="2157"/>
                <a:ext cx="96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-3</a:t>
                </a:r>
              </a:p>
            </p:txBody>
          </p:sp>
          <p:grpSp>
            <p:nvGrpSpPr>
              <p:cNvPr id="51226" name="Group 51"/>
              <p:cNvGrpSpPr>
                <a:grpSpLocks/>
              </p:cNvGrpSpPr>
              <p:nvPr/>
            </p:nvGrpSpPr>
            <p:grpSpPr bwMode="auto">
              <a:xfrm>
                <a:off x="1344" y="1824"/>
                <a:ext cx="1152" cy="936"/>
                <a:chOff x="1344" y="1824"/>
                <a:chExt cx="1152" cy="936"/>
              </a:xfrm>
            </p:grpSpPr>
            <p:sp>
              <p:nvSpPr>
                <p:cNvPr id="51227" name="Line 52"/>
                <p:cNvSpPr>
                  <a:spLocks noChangeShapeType="1"/>
                </p:cNvSpPr>
                <p:nvPr/>
              </p:nvSpPr>
              <p:spPr bwMode="auto">
                <a:xfrm>
                  <a:off x="1392" y="249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228" name="Text Box 53"/>
                <p:cNvSpPr txBox="1">
                  <a:spLocks noChangeArrowheads="1"/>
                </p:cNvSpPr>
                <p:nvPr/>
              </p:nvSpPr>
              <p:spPr bwMode="auto">
                <a:xfrm>
                  <a:off x="1776" y="1824"/>
                  <a:ext cx="67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-6</a:t>
                  </a:r>
                  <a:endPar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51229" name="Text Box 54"/>
                <p:cNvSpPr txBox="1">
                  <a:spLocks noChangeArrowheads="1"/>
                </p:cNvSpPr>
                <p:nvPr/>
              </p:nvSpPr>
              <p:spPr bwMode="auto">
                <a:xfrm>
                  <a:off x="1344" y="2160"/>
                  <a:ext cx="48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51230" name="Text Box 55"/>
                <p:cNvSpPr txBox="1">
                  <a:spLocks noChangeArrowheads="1"/>
                </p:cNvSpPr>
                <p:nvPr/>
              </p:nvSpPr>
              <p:spPr bwMode="auto">
                <a:xfrm>
                  <a:off x="1776" y="2512"/>
                  <a:ext cx="72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Arial" panose="020B0604020202020204" pitchFamily="34" charset="0"/>
                      <a:ea typeface="黑体" panose="02010609060101010101" pitchFamily="49" charset="-122"/>
                      <a:cs typeface="Arial" panose="020B0604020202020204" pitchFamily="34" charset="0"/>
                    </a:rPr>
                    <a:t>-9</a:t>
                  </a:r>
                </a:p>
              </p:txBody>
            </p:sp>
          </p:grpSp>
        </p:grpSp>
      </p:grpSp>
      <p:sp>
        <p:nvSpPr>
          <p:cNvPr id="515128" name="Line 56"/>
          <p:cNvSpPr>
            <a:spLocks noChangeShapeType="1"/>
          </p:cNvSpPr>
          <p:nvPr/>
        </p:nvSpPr>
        <p:spPr bwMode="auto">
          <a:xfrm flipV="1">
            <a:off x="3048000" y="5979108"/>
            <a:ext cx="385763" cy="328612"/>
          </a:xfrm>
          <a:prstGeom prst="line">
            <a:avLst/>
          </a:prstGeom>
          <a:noFill/>
          <a:ln w="9525">
            <a:solidFill>
              <a:srgbClr val="7030A0"/>
            </a:solidFill>
            <a:round/>
            <a:headEnd/>
            <a:tailEnd type="triangle" w="med" len="med"/>
          </a:ln>
          <a:extLst>
            <a:ext uri="{909E8E84-426E-40DD-AFC4-6F175D3DCCD1}">
              <a14:hiddenFill xmlns:a14="http://schemas.microsoft.com/office/drawing/2010/main">
                <a:noFill/>
              </a14:hiddenFill>
            </a:ext>
          </a:extLst>
        </p:spPr>
        <p:txBody>
          <a:bodyPr vert="eaVert">
            <a:spAutoFit/>
          </a:bodyP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5129" name="Text Box 57"/>
          <p:cNvSpPr txBox="1">
            <a:spLocks noChangeArrowheads="1"/>
          </p:cNvSpPr>
          <p:nvPr/>
        </p:nvSpPr>
        <p:spPr bwMode="auto">
          <a:xfrm>
            <a:off x="2438400" y="6155320"/>
            <a:ext cx="574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7030A0"/>
                </a:solidFill>
                <a:latin typeface="Arial" panose="020B0604020202020204" pitchFamily="34" charset="0"/>
                <a:ea typeface="黑体" panose="02010609060101010101" pitchFamily="49" charset="-122"/>
                <a:cs typeface="Arial" panose="020B0604020202020204" pitchFamily="34" charset="0"/>
              </a:rPr>
              <a:t>-5</a:t>
            </a:r>
          </a:p>
        </p:txBody>
      </p:sp>
      <p:sp>
        <p:nvSpPr>
          <p:cNvPr id="515130" name="Line 58"/>
          <p:cNvSpPr>
            <a:spLocks noChangeShapeType="1"/>
          </p:cNvSpPr>
          <p:nvPr/>
        </p:nvSpPr>
        <p:spPr bwMode="auto">
          <a:xfrm flipV="1">
            <a:off x="6400801" y="6111683"/>
            <a:ext cx="385764" cy="272235"/>
          </a:xfrm>
          <a:prstGeom prst="line">
            <a:avLst/>
          </a:prstGeom>
          <a:noFill/>
          <a:ln w="9525">
            <a:solidFill>
              <a:srgbClr val="7030A0"/>
            </a:solidFill>
            <a:round/>
            <a:headEnd/>
            <a:tailEnd type="triangle" w="med" len="med"/>
          </a:ln>
          <a:extLst>
            <a:ext uri="{909E8E84-426E-40DD-AFC4-6F175D3DCCD1}">
              <a14:hiddenFill xmlns:a14="http://schemas.microsoft.com/office/drawing/2010/main">
                <a:noFill/>
              </a14:hiddenFill>
            </a:ext>
          </a:extLst>
        </p:spPr>
        <p:txBody>
          <a:bodyPr vert="eaVert" wrap="square">
            <a:spAutoFit/>
          </a:bodyPr>
          <a:lstStyle/>
          <a:p>
            <a:endParaRPr lang="zh-CN" altLang="en-US" dirty="0">
              <a:latin typeface="Arial" panose="020B0604020202020204" pitchFamily="34" charset="0"/>
              <a:ea typeface="黑体" panose="02010609060101010101" pitchFamily="49" charset="-122"/>
              <a:cs typeface="Arial" panose="020B0604020202020204" pitchFamily="34" charset="0"/>
            </a:endParaRPr>
          </a:p>
        </p:txBody>
      </p:sp>
      <p:sp>
        <p:nvSpPr>
          <p:cNvPr id="515131" name="Text Box 59"/>
          <p:cNvSpPr txBox="1">
            <a:spLocks noChangeArrowheads="1"/>
          </p:cNvSpPr>
          <p:nvPr/>
        </p:nvSpPr>
        <p:spPr bwMode="auto">
          <a:xfrm>
            <a:off x="5867400" y="6155320"/>
            <a:ext cx="5746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rgbClr val="7030A0"/>
                </a:solidFill>
                <a:latin typeface="Arial" panose="020B0604020202020204" pitchFamily="34" charset="0"/>
                <a:ea typeface="黑体" panose="02010609060101010101" pitchFamily="49" charset="-122"/>
                <a:cs typeface="Arial" panose="020B0604020202020204" pitchFamily="34" charset="0"/>
              </a:rPr>
              <a:t>+7</a:t>
            </a:r>
          </a:p>
        </p:txBody>
      </p:sp>
      <p:sp>
        <p:nvSpPr>
          <p:cNvPr id="65" name="Rectangle 2"/>
          <p:cNvSpPr txBox="1">
            <a:spLocks noChangeArrowheads="1"/>
          </p:cNvSpPr>
          <p:nvPr/>
        </p:nvSpPr>
        <p:spPr>
          <a:xfrm>
            <a:off x="3302284" y="296652"/>
            <a:ext cx="2539433" cy="914400"/>
          </a:xfrm>
          <a:prstGeom prst="rect">
            <a:avLst/>
          </a:prstGeom>
        </p:spPr>
        <p:txBody>
          <a:bodyPr/>
          <a:lstStyle/>
          <a:p>
            <a:pPr>
              <a:defRPr/>
            </a:pPr>
            <a:r>
              <a:rPr lang="zh-CN" altLang="en-US" sz="4400" kern="0" dirty="0">
                <a:latin typeface="SimHei" panose="02010609060101010101" pitchFamily="49" charset="-122"/>
                <a:ea typeface="SimHei" panose="02010609060101010101" pitchFamily="49" charset="-122"/>
                <a:cs typeface="Arial" panose="020B0604020202020204" pitchFamily="34" charset="0"/>
              </a:rPr>
              <a:t>可有问题？</a:t>
            </a:r>
            <a:endParaRPr lang="en-US" altLang="zh-CN" sz="4400" kern="0" dirty="0">
              <a:latin typeface="SimHei" panose="02010609060101010101" pitchFamily="49" charset="-122"/>
              <a:ea typeface="SimHei" panose="02010609060101010101" pitchFamily="49" charset="-122"/>
              <a:cs typeface="Arial" panose="020B0604020202020204" pitchFamily="34" charset="0"/>
            </a:endParaRPr>
          </a:p>
        </p:txBody>
      </p:sp>
      <p:sp>
        <p:nvSpPr>
          <p:cNvPr id="2" name="TextBox 1">
            <a:extLst>
              <a:ext uri="{FF2B5EF4-FFF2-40B4-BE49-F238E27FC236}">
                <a16:creationId xmlns:a16="http://schemas.microsoft.com/office/drawing/2014/main" id="{8C1DF523-5010-F34E-8B7B-CC79EE2CC9AF}"/>
              </a:ext>
            </a:extLst>
          </p:cNvPr>
          <p:cNvSpPr txBox="1"/>
          <p:nvPr/>
        </p:nvSpPr>
        <p:spPr>
          <a:xfrm>
            <a:off x="6708275" y="1235942"/>
            <a:ext cx="2002471" cy="523220"/>
          </a:xfrm>
          <a:prstGeom prst="rect">
            <a:avLst/>
          </a:prstGeom>
          <a:noFill/>
        </p:spPr>
        <p:txBody>
          <a:bodyPr wrap="none" rtlCol="0">
            <a:spAutoFit/>
          </a:bodyPr>
          <a:lstStyle/>
          <a:p>
            <a:r>
              <a:rPr lang="en-CN" sz="2800" b="1" dirty="0">
                <a:ea typeface="黑体" panose="02010609060101010101" pitchFamily="49" charset="-122"/>
              </a:rPr>
              <a:t>4-bit digits</a:t>
            </a:r>
          </a:p>
        </p:txBody>
      </p:sp>
      <p:sp>
        <p:nvSpPr>
          <p:cNvPr id="3" name="灯片编号占位符 2">
            <a:extLst>
              <a:ext uri="{FF2B5EF4-FFF2-40B4-BE49-F238E27FC236}">
                <a16:creationId xmlns:a16="http://schemas.microsoft.com/office/drawing/2014/main" id="{81305EBF-F73F-544E-3EF0-7F704402CBE6}"/>
              </a:ext>
            </a:extLst>
          </p:cNvPr>
          <p:cNvSpPr>
            <a:spLocks noGrp="1"/>
          </p:cNvSpPr>
          <p:nvPr>
            <p:ph type="sldNum" sz="quarter" idx="12"/>
          </p:nvPr>
        </p:nvSpPr>
        <p:spPr/>
        <p:txBody>
          <a:bodyPr/>
          <a:lstStyle/>
          <a:p>
            <a:fld id="{3F2AB43A-8F39-40F7-AB51-66BE5F0EDC88}" type="slidenum">
              <a:rPr lang="en-US" altLang="zh-CN" smtClean="0"/>
              <a:pPr/>
              <a:t>29</a:t>
            </a:fld>
            <a:endParaRPr lang="en-US" altLang="zh-CN" dirty="0"/>
          </a:p>
        </p:txBody>
      </p:sp>
    </p:spTree>
    <p:extLst>
      <p:ext uri="{BB962C8B-B14F-4D97-AF65-F5344CB8AC3E}">
        <p14:creationId xmlns:p14="http://schemas.microsoft.com/office/powerpoint/2010/main" val="3906092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6"/>
          <p:cNvSpPr>
            <a:spLocks noGrp="1"/>
          </p:cNvSpPr>
          <p:nvPr>
            <p:ph type="title"/>
          </p:nvPr>
        </p:nvSpPr>
        <p:spPr/>
        <p:txBody>
          <a:bodyPr/>
          <a:lstStyle/>
          <a:p>
            <a:r>
              <a:rPr lang="zh-CN" altLang="en-US" dirty="0"/>
              <a:t>溢出</a:t>
            </a:r>
          </a:p>
        </p:txBody>
      </p:sp>
      <p:sp>
        <p:nvSpPr>
          <p:cNvPr id="8" name="内容占位符 7"/>
          <p:cNvSpPr>
            <a:spLocks noGrp="1"/>
          </p:cNvSpPr>
          <p:nvPr>
            <p:ph idx="1"/>
          </p:nvPr>
        </p:nvSpPr>
        <p:spPr>
          <a:xfrm>
            <a:off x="457200" y="1339676"/>
            <a:ext cx="7931224" cy="3633304"/>
          </a:xfrm>
        </p:spPr>
        <p:txBody>
          <a:bodyPr/>
          <a:lstStyle/>
          <a:p>
            <a:pPr hangingPunct="1">
              <a:lnSpc>
                <a:spcPct val="100000"/>
              </a:lnSpc>
            </a:pPr>
            <a:r>
              <a:rPr lang="zh-CN" altLang="en-US" sz="2800" dirty="0"/>
              <a:t>什么是溢出</a:t>
            </a:r>
            <a:endParaRPr lang="en-US" altLang="zh-CN" sz="2800" dirty="0"/>
          </a:p>
          <a:p>
            <a:pPr lvl="1" hangingPunct="1">
              <a:lnSpc>
                <a:spcPct val="100000"/>
              </a:lnSpc>
            </a:pPr>
            <a:r>
              <a:rPr lang="zh-CN" altLang="en-US" sz="2800" dirty="0"/>
              <a:t>计算结果超出了可表示数的范围</a:t>
            </a:r>
            <a:endParaRPr lang="en-US" altLang="zh-CN" sz="2800" dirty="0"/>
          </a:p>
          <a:p>
            <a:pPr lvl="2" hangingPunct="1">
              <a:lnSpc>
                <a:spcPct val="100000"/>
              </a:lnSpc>
            </a:pPr>
            <a:r>
              <a:rPr lang="en-US" altLang="zh-CN" sz="2400" dirty="0"/>
              <a:t>-2</a:t>
            </a:r>
            <a:r>
              <a:rPr lang="en-US" altLang="zh-CN" sz="2400" baseline="30000" dirty="0"/>
              <a:t>n-1 </a:t>
            </a:r>
            <a:r>
              <a:rPr lang="en-US" altLang="zh-CN" sz="2400" dirty="0"/>
              <a:t>~2</a:t>
            </a:r>
            <a:r>
              <a:rPr lang="en-US" altLang="zh-CN" sz="2400" baseline="30000" dirty="0"/>
              <a:t>n-1</a:t>
            </a:r>
            <a:r>
              <a:rPr lang="en-US" altLang="zh-CN" sz="2400" dirty="0"/>
              <a:t>-1</a:t>
            </a:r>
          </a:p>
          <a:p>
            <a:pPr hangingPunct="1">
              <a:lnSpc>
                <a:spcPct val="100000"/>
              </a:lnSpc>
            </a:pPr>
            <a:r>
              <a:rPr lang="zh-CN" altLang="en-US" sz="2800" dirty="0"/>
              <a:t>如何判断溢出（什么时候可能溢出）</a:t>
            </a:r>
            <a:endParaRPr lang="en-US" altLang="zh-CN" sz="2800" dirty="0"/>
          </a:p>
          <a:p>
            <a:pPr lvl="1" hangingPunct="1">
              <a:lnSpc>
                <a:spcPct val="100000"/>
              </a:lnSpc>
            </a:pPr>
            <a:r>
              <a:rPr lang="zh-CN" altLang="en-US" sz="2800" dirty="0"/>
              <a:t>两正数相加，结果变负数（</a:t>
            </a:r>
            <a:r>
              <a:rPr lang="zh-CN" altLang="en-CN" sz="2800" dirty="0"/>
              <a:t>或零</a:t>
            </a:r>
            <a:r>
              <a:rPr lang="zh-CN" altLang="en-US" sz="2800" dirty="0"/>
              <a:t>）</a:t>
            </a:r>
            <a:endParaRPr lang="en-US" altLang="zh-CN" sz="2800" dirty="0"/>
          </a:p>
          <a:p>
            <a:pPr lvl="1" hangingPunct="1">
              <a:lnSpc>
                <a:spcPct val="100000"/>
              </a:lnSpc>
            </a:pPr>
            <a:r>
              <a:rPr lang="zh-CN" altLang="en-US" sz="2800" dirty="0"/>
              <a:t>两负数相加，结果变正数（</a:t>
            </a:r>
            <a:r>
              <a:rPr lang="zh-CN" altLang="en-CN" sz="2800" dirty="0"/>
              <a:t>或零</a:t>
            </a:r>
            <a:r>
              <a:rPr lang="zh-CN" altLang="en-US" sz="2800" dirty="0"/>
              <a:t>）</a:t>
            </a:r>
            <a:endParaRPr lang="en-US" altLang="zh-CN" sz="2800" dirty="0"/>
          </a:p>
          <a:p>
            <a:pPr hangingPunct="1">
              <a:lnSpc>
                <a:spcPct val="100000"/>
              </a:lnSpc>
            </a:pPr>
            <a:r>
              <a:rPr lang="zh-CN" altLang="en-US" sz="2800" dirty="0"/>
              <a:t>例</a:t>
            </a:r>
            <a:r>
              <a:rPr lang="zh-CN" altLang="en-US" sz="2800" dirty="0">
                <a:sym typeface="Wingdings" pitchFamily="2" charset="2"/>
              </a:rPr>
              <a:t>： </a:t>
            </a:r>
            <a:r>
              <a:rPr lang="en-US" altLang="zh-CN" sz="2800" dirty="0">
                <a:sym typeface="Wingdings" pitchFamily="2" charset="2"/>
              </a:rPr>
              <a:t>(1)</a:t>
            </a:r>
            <a:r>
              <a:rPr lang="zh-CN" altLang="en-US" sz="2800" dirty="0">
                <a:sym typeface="Wingdings" pitchFamily="2" charset="2"/>
              </a:rPr>
              <a:t> </a:t>
            </a:r>
            <a:r>
              <a:rPr lang="en-US" altLang="zh-CN" sz="2800" dirty="0">
                <a:sym typeface="Wingdings" pitchFamily="2" charset="2"/>
              </a:rPr>
              <a:t>-96-33</a:t>
            </a:r>
            <a:r>
              <a:rPr lang="zh-CN" altLang="en-US" sz="2800" dirty="0">
                <a:sym typeface="Wingdings" pitchFamily="2" charset="2"/>
              </a:rPr>
              <a:t>                    </a:t>
            </a:r>
            <a:r>
              <a:rPr lang="en-US" altLang="zh-CN" sz="2800" dirty="0">
                <a:sym typeface="Wingdings" pitchFamily="2" charset="2"/>
              </a:rPr>
              <a:t>(2)</a:t>
            </a:r>
            <a:r>
              <a:rPr lang="zh-CN" altLang="en-US" sz="2800" dirty="0">
                <a:sym typeface="Wingdings" pitchFamily="2" charset="2"/>
              </a:rPr>
              <a:t> </a:t>
            </a:r>
            <a:r>
              <a:rPr lang="en-US" altLang="zh-CN" sz="2800" dirty="0">
                <a:sym typeface="Wingdings" pitchFamily="2" charset="2"/>
              </a:rPr>
              <a:t>-96-32</a:t>
            </a:r>
            <a:endParaRPr lang="en-US" altLang="zh-CN" sz="2800" dirty="0"/>
          </a:p>
        </p:txBody>
      </p:sp>
      <p:sp>
        <p:nvSpPr>
          <p:cNvPr id="5" name="灯片编号占位符 4">
            <a:extLst>
              <a:ext uri="{FF2B5EF4-FFF2-40B4-BE49-F238E27FC236}">
                <a16:creationId xmlns:a16="http://schemas.microsoft.com/office/drawing/2014/main" id="{1D35EFB1-FDD2-E048-6F7E-E569E9621174}"/>
              </a:ext>
            </a:extLst>
          </p:cNvPr>
          <p:cNvSpPr>
            <a:spLocks noGrp="1"/>
          </p:cNvSpPr>
          <p:nvPr>
            <p:ph type="sldNum" sz="quarter" idx="12"/>
          </p:nvPr>
        </p:nvSpPr>
        <p:spPr/>
        <p:txBody>
          <a:bodyPr/>
          <a:lstStyle/>
          <a:p>
            <a:fld id="{14659731-6BD7-46E7-8D3C-2F3AC07E20B1}" type="slidenum">
              <a:rPr lang="en-US" altLang="zh-CN" smtClean="0"/>
              <a:pPr/>
              <a:t>30</a:t>
            </a:fld>
            <a:endParaRPr lang="en-US" altLang="zh-CN" dirty="0"/>
          </a:p>
        </p:txBody>
      </p:sp>
      <p:graphicFrame>
        <p:nvGraphicFramePr>
          <p:cNvPr id="2" name="表格 1">
            <a:extLst>
              <a:ext uri="{FF2B5EF4-FFF2-40B4-BE49-F238E27FC236}">
                <a16:creationId xmlns:a16="http://schemas.microsoft.com/office/drawing/2014/main" id="{BD5F7F98-0ADE-F44C-9860-8998B8C79219}"/>
              </a:ext>
            </a:extLst>
          </p:cNvPr>
          <p:cNvGraphicFramePr>
            <a:graphicFrameLocks noGrp="1"/>
          </p:cNvGraphicFramePr>
          <p:nvPr>
            <p:extLst>
              <p:ext uri="{D42A27DB-BD31-4B8C-83A1-F6EECF244321}">
                <p14:modId xmlns:p14="http://schemas.microsoft.com/office/powerpoint/2010/main" val="1629749858"/>
              </p:ext>
            </p:extLst>
          </p:nvPr>
        </p:nvGraphicFramePr>
        <p:xfrm>
          <a:off x="1404735" y="4797153"/>
          <a:ext cx="2929140" cy="1371600"/>
        </p:xfrm>
        <a:graphic>
          <a:graphicData uri="http://schemas.openxmlformats.org/drawingml/2006/table">
            <a:tbl>
              <a:tblPr bandRow="1">
                <a:tableStyleId>{5940675A-B579-460E-94D1-54222C63F5DA}</a:tableStyleId>
              </a:tblPr>
              <a:tblGrid>
                <a:gridCol w="325460">
                  <a:extLst>
                    <a:ext uri="{9D8B030D-6E8A-4147-A177-3AD203B41FA5}">
                      <a16:colId xmlns:a16="http://schemas.microsoft.com/office/drawing/2014/main" val="4061741347"/>
                    </a:ext>
                  </a:extLst>
                </a:gridCol>
                <a:gridCol w="325460">
                  <a:extLst>
                    <a:ext uri="{9D8B030D-6E8A-4147-A177-3AD203B41FA5}">
                      <a16:colId xmlns:a16="http://schemas.microsoft.com/office/drawing/2014/main" val="3012429543"/>
                    </a:ext>
                  </a:extLst>
                </a:gridCol>
                <a:gridCol w="325460">
                  <a:extLst>
                    <a:ext uri="{9D8B030D-6E8A-4147-A177-3AD203B41FA5}">
                      <a16:colId xmlns:a16="http://schemas.microsoft.com/office/drawing/2014/main" val="3254280036"/>
                    </a:ext>
                  </a:extLst>
                </a:gridCol>
                <a:gridCol w="325460">
                  <a:extLst>
                    <a:ext uri="{9D8B030D-6E8A-4147-A177-3AD203B41FA5}">
                      <a16:colId xmlns:a16="http://schemas.microsoft.com/office/drawing/2014/main" val="3650471978"/>
                    </a:ext>
                  </a:extLst>
                </a:gridCol>
                <a:gridCol w="325460">
                  <a:extLst>
                    <a:ext uri="{9D8B030D-6E8A-4147-A177-3AD203B41FA5}">
                      <a16:colId xmlns:a16="http://schemas.microsoft.com/office/drawing/2014/main" val="3950976522"/>
                    </a:ext>
                  </a:extLst>
                </a:gridCol>
                <a:gridCol w="325460">
                  <a:extLst>
                    <a:ext uri="{9D8B030D-6E8A-4147-A177-3AD203B41FA5}">
                      <a16:colId xmlns:a16="http://schemas.microsoft.com/office/drawing/2014/main" val="2905217216"/>
                    </a:ext>
                  </a:extLst>
                </a:gridCol>
                <a:gridCol w="325460">
                  <a:extLst>
                    <a:ext uri="{9D8B030D-6E8A-4147-A177-3AD203B41FA5}">
                      <a16:colId xmlns:a16="http://schemas.microsoft.com/office/drawing/2014/main" val="2913558647"/>
                    </a:ext>
                  </a:extLst>
                </a:gridCol>
                <a:gridCol w="325460">
                  <a:extLst>
                    <a:ext uri="{9D8B030D-6E8A-4147-A177-3AD203B41FA5}">
                      <a16:colId xmlns:a16="http://schemas.microsoft.com/office/drawing/2014/main" val="3195286918"/>
                    </a:ext>
                  </a:extLst>
                </a:gridCol>
                <a:gridCol w="325460">
                  <a:extLst>
                    <a:ext uri="{9D8B030D-6E8A-4147-A177-3AD203B41FA5}">
                      <a16:colId xmlns:a16="http://schemas.microsoft.com/office/drawing/2014/main" val="2102096571"/>
                    </a:ext>
                  </a:extLst>
                </a:gridCol>
              </a:tblGrid>
              <a:tr h="370840">
                <a:tc>
                  <a:txBody>
                    <a:bodyPr/>
                    <a:lstStyle/>
                    <a:p>
                      <a:endParaRPr lang="zh-CN" altLang="en-US" sz="2400" dirty="0">
                        <a:ea typeface="黑体" panose="02010609060101010101" pitchFamily="49"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4016057"/>
                  </a:ext>
                </a:extLst>
              </a:tr>
              <a:tr h="370840">
                <a:tc>
                  <a:txBody>
                    <a:bodyPr/>
                    <a:lstStyle/>
                    <a:p>
                      <a:r>
                        <a:rPr lang="en-US" altLang="zh-CN" sz="2400" dirty="0">
                          <a:ea typeface="黑体" panose="02010609060101010101" pitchFamily="49" charset="-122"/>
                        </a:rPr>
                        <a:t>+</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7068858"/>
                  </a:ext>
                </a:extLst>
              </a:tr>
              <a:tr h="370840">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FF0000"/>
                          </a:solidFill>
                          <a:ea typeface="黑体" panose="02010609060101010101" pitchFamily="49" charset="-122"/>
                        </a:rPr>
                        <a:t>0</a:t>
                      </a:r>
                      <a:endParaRPr lang="zh-CN" altLang="en-US" sz="2400" dirty="0">
                        <a:solidFill>
                          <a:srgbClr val="FF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8189285"/>
                  </a:ext>
                </a:extLst>
              </a:tr>
            </a:tbl>
          </a:graphicData>
        </a:graphic>
      </p:graphicFrame>
      <p:sp>
        <p:nvSpPr>
          <p:cNvPr id="3" name="文本框 2">
            <a:extLst>
              <a:ext uri="{FF2B5EF4-FFF2-40B4-BE49-F238E27FC236}">
                <a16:creationId xmlns:a16="http://schemas.microsoft.com/office/drawing/2014/main" id="{718112DD-3F46-A747-A007-4C151DC7E41B}"/>
              </a:ext>
            </a:extLst>
          </p:cNvPr>
          <p:cNvSpPr txBox="1"/>
          <p:nvPr/>
        </p:nvSpPr>
        <p:spPr>
          <a:xfrm>
            <a:off x="457200" y="5324273"/>
            <a:ext cx="980661" cy="461665"/>
          </a:xfrm>
          <a:prstGeom prst="rect">
            <a:avLst/>
          </a:prstGeom>
          <a:noFill/>
        </p:spPr>
        <p:txBody>
          <a:bodyPr wrap="square" rtlCol="0">
            <a:spAutoFit/>
          </a:bodyPr>
          <a:lstStyle/>
          <a:p>
            <a:r>
              <a:rPr kumimoji="1" lang="zh-CN" altLang="en-US" sz="2400" b="1" dirty="0">
                <a:solidFill>
                  <a:srgbClr val="FF0000"/>
                </a:solidFill>
                <a:latin typeface="+mn-ea"/>
                <a:ea typeface="+mn-ea"/>
              </a:rPr>
              <a:t>溢出</a:t>
            </a:r>
          </a:p>
        </p:txBody>
      </p:sp>
      <p:graphicFrame>
        <p:nvGraphicFramePr>
          <p:cNvPr id="9" name="表格 8">
            <a:extLst>
              <a:ext uri="{FF2B5EF4-FFF2-40B4-BE49-F238E27FC236}">
                <a16:creationId xmlns:a16="http://schemas.microsoft.com/office/drawing/2014/main" id="{941A8F45-6A16-EC4B-9335-8F4DEDA17C7B}"/>
              </a:ext>
            </a:extLst>
          </p:cNvPr>
          <p:cNvGraphicFramePr>
            <a:graphicFrameLocks noGrp="1"/>
          </p:cNvGraphicFramePr>
          <p:nvPr>
            <p:extLst>
              <p:ext uri="{D42A27DB-BD31-4B8C-83A1-F6EECF244321}">
                <p14:modId xmlns:p14="http://schemas.microsoft.com/office/powerpoint/2010/main" val="45225289"/>
              </p:ext>
            </p:extLst>
          </p:nvPr>
        </p:nvGraphicFramePr>
        <p:xfrm>
          <a:off x="4909726" y="4797152"/>
          <a:ext cx="2929140" cy="1371600"/>
        </p:xfrm>
        <a:graphic>
          <a:graphicData uri="http://schemas.openxmlformats.org/drawingml/2006/table">
            <a:tbl>
              <a:tblPr bandRow="1">
                <a:tableStyleId>{5940675A-B579-460E-94D1-54222C63F5DA}</a:tableStyleId>
              </a:tblPr>
              <a:tblGrid>
                <a:gridCol w="325460">
                  <a:extLst>
                    <a:ext uri="{9D8B030D-6E8A-4147-A177-3AD203B41FA5}">
                      <a16:colId xmlns:a16="http://schemas.microsoft.com/office/drawing/2014/main" val="4061741347"/>
                    </a:ext>
                  </a:extLst>
                </a:gridCol>
                <a:gridCol w="325460">
                  <a:extLst>
                    <a:ext uri="{9D8B030D-6E8A-4147-A177-3AD203B41FA5}">
                      <a16:colId xmlns:a16="http://schemas.microsoft.com/office/drawing/2014/main" val="3012429543"/>
                    </a:ext>
                  </a:extLst>
                </a:gridCol>
                <a:gridCol w="325460">
                  <a:extLst>
                    <a:ext uri="{9D8B030D-6E8A-4147-A177-3AD203B41FA5}">
                      <a16:colId xmlns:a16="http://schemas.microsoft.com/office/drawing/2014/main" val="3254280036"/>
                    </a:ext>
                  </a:extLst>
                </a:gridCol>
                <a:gridCol w="325460">
                  <a:extLst>
                    <a:ext uri="{9D8B030D-6E8A-4147-A177-3AD203B41FA5}">
                      <a16:colId xmlns:a16="http://schemas.microsoft.com/office/drawing/2014/main" val="3650471978"/>
                    </a:ext>
                  </a:extLst>
                </a:gridCol>
                <a:gridCol w="325460">
                  <a:extLst>
                    <a:ext uri="{9D8B030D-6E8A-4147-A177-3AD203B41FA5}">
                      <a16:colId xmlns:a16="http://schemas.microsoft.com/office/drawing/2014/main" val="3950976522"/>
                    </a:ext>
                  </a:extLst>
                </a:gridCol>
                <a:gridCol w="325460">
                  <a:extLst>
                    <a:ext uri="{9D8B030D-6E8A-4147-A177-3AD203B41FA5}">
                      <a16:colId xmlns:a16="http://schemas.microsoft.com/office/drawing/2014/main" val="2905217216"/>
                    </a:ext>
                  </a:extLst>
                </a:gridCol>
                <a:gridCol w="325460">
                  <a:extLst>
                    <a:ext uri="{9D8B030D-6E8A-4147-A177-3AD203B41FA5}">
                      <a16:colId xmlns:a16="http://schemas.microsoft.com/office/drawing/2014/main" val="2913558647"/>
                    </a:ext>
                  </a:extLst>
                </a:gridCol>
                <a:gridCol w="325460">
                  <a:extLst>
                    <a:ext uri="{9D8B030D-6E8A-4147-A177-3AD203B41FA5}">
                      <a16:colId xmlns:a16="http://schemas.microsoft.com/office/drawing/2014/main" val="3195286918"/>
                    </a:ext>
                  </a:extLst>
                </a:gridCol>
                <a:gridCol w="325460">
                  <a:extLst>
                    <a:ext uri="{9D8B030D-6E8A-4147-A177-3AD203B41FA5}">
                      <a16:colId xmlns:a16="http://schemas.microsoft.com/office/drawing/2014/main" val="2102096571"/>
                    </a:ext>
                  </a:extLst>
                </a:gridCol>
              </a:tblGrid>
              <a:tr h="370840">
                <a:tc>
                  <a:txBody>
                    <a:bodyPr/>
                    <a:lstStyle/>
                    <a:p>
                      <a:endParaRPr lang="zh-CN" altLang="en-US" sz="2400" dirty="0">
                        <a:ea typeface="黑体" panose="02010609060101010101" pitchFamily="49"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4016057"/>
                  </a:ext>
                </a:extLst>
              </a:tr>
              <a:tr h="370840">
                <a:tc>
                  <a:txBody>
                    <a:bodyPr/>
                    <a:lstStyle/>
                    <a:p>
                      <a:r>
                        <a:rPr lang="en-US" altLang="zh-CN" sz="2400" dirty="0">
                          <a:ea typeface="黑体" panose="02010609060101010101" pitchFamily="49" charset="-122"/>
                        </a:rPr>
                        <a:t>+</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7068858"/>
                  </a:ext>
                </a:extLst>
              </a:tr>
              <a:tr h="370840">
                <a:tc>
                  <a:txBody>
                    <a:bodyPr/>
                    <a:lstStyle/>
                    <a:p>
                      <a:r>
                        <a:rPr lang="en-US" altLang="zh-CN" sz="2400" dirty="0">
                          <a:ea typeface="黑体" panose="02010609060101010101" pitchFamily="49" charset="-122"/>
                        </a:rPr>
                        <a:t>1</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solidFill>
                            <a:srgbClr val="FF0000"/>
                          </a:solidFill>
                          <a:ea typeface="黑体" panose="02010609060101010101" pitchFamily="49" charset="-122"/>
                        </a:rPr>
                        <a:t>1</a:t>
                      </a:r>
                      <a:endParaRPr lang="zh-CN" altLang="en-US" sz="2400" dirty="0">
                        <a:solidFill>
                          <a:srgbClr val="FF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400" dirty="0">
                          <a:ea typeface="黑体" panose="02010609060101010101" pitchFamily="49" charset="-122"/>
                        </a:rPr>
                        <a:t>0</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8189285"/>
                  </a:ext>
                </a:extLst>
              </a:tr>
            </a:tbl>
          </a:graphicData>
        </a:graphic>
      </p:graphicFrame>
      <p:sp>
        <p:nvSpPr>
          <p:cNvPr id="10" name="文本框 9">
            <a:extLst>
              <a:ext uri="{FF2B5EF4-FFF2-40B4-BE49-F238E27FC236}">
                <a16:creationId xmlns:a16="http://schemas.microsoft.com/office/drawing/2014/main" id="{3EFD95A5-1B24-0C4C-9553-C5EFA4448A72}"/>
              </a:ext>
            </a:extLst>
          </p:cNvPr>
          <p:cNvSpPr txBox="1"/>
          <p:nvPr/>
        </p:nvSpPr>
        <p:spPr>
          <a:xfrm>
            <a:off x="7924386" y="5324272"/>
            <a:ext cx="1219614" cy="461665"/>
          </a:xfrm>
          <a:prstGeom prst="rect">
            <a:avLst/>
          </a:prstGeom>
          <a:noFill/>
        </p:spPr>
        <p:txBody>
          <a:bodyPr wrap="square" rtlCol="0">
            <a:spAutoFit/>
          </a:bodyPr>
          <a:lstStyle/>
          <a:p>
            <a:r>
              <a:rPr kumimoji="1" lang="zh-CN" altLang="en-US" sz="2400" b="1" dirty="0">
                <a:solidFill>
                  <a:srgbClr val="FF0000"/>
                </a:solidFill>
                <a:latin typeface="+mn-ea"/>
                <a:ea typeface="+mn-ea"/>
              </a:rPr>
              <a:t>未溢出</a:t>
            </a:r>
          </a:p>
        </p:txBody>
      </p:sp>
      <p:sp>
        <p:nvSpPr>
          <p:cNvPr id="4" name="右大括号 3">
            <a:extLst>
              <a:ext uri="{FF2B5EF4-FFF2-40B4-BE49-F238E27FC236}">
                <a16:creationId xmlns:a16="http://schemas.microsoft.com/office/drawing/2014/main" id="{80349927-4379-AE49-BD0B-2BB6E262857D}"/>
              </a:ext>
            </a:extLst>
          </p:cNvPr>
          <p:cNvSpPr/>
          <p:nvPr/>
        </p:nvSpPr>
        <p:spPr bwMode="auto">
          <a:xfrm rot="5400000">
            <a:off x="6375384" y="4976219"/>
            <a:ext cx="357809" cy="2452409"/>
          </a:xfrm>
          <a:prstGeom prst="rightBrace">
            <a:avLst>
              <a:gd name="adj1" fmla="val 6759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1" name="文本框 10">
            <a:extLst>
              <a:ext uri="{FF2B5EF4-FFF2-40B4-BE49-F238E27FC236}">
                <a16:creationId xmlns:a16="http://schemas.microsoft.com/office/drawing/2014/main" id="{DBF24101-3E8B-E443-A6FF-BE0900DC0E85}"/>
              </a:ext>
            </a:extLst>
          </p:cNvPr>
          <p:cNvSpPr txBox="1"/>
          <p:nvPr/>
        </p:nvSpPr>
        <p:spPr>
          <a:xfrm>
            <a:off x="5897807" y="6351711"/>
            <a:ext cx="1219614" cy="461665"/>
          </a:xfrm>
          <a:prstGeom prst="rect">
            <a:avLst/>
          </a:prstGeom>
          <a:noFill/>
        </p:spPr>
        <p:txBody>
          <a:bodyPr wrap="square" rtlCol="0">
            <a:spAutoFit/>
          </a:bodyPr>
          <a:lstStyle/>
          <a:p>
            <a:pPr algn="ctr"/>
            <a:r>
              <a:rPr kumimoji="1" lang="en-US" altLang="zh-CN" sz="2400" b="1" dirty="0">
                <a:solidFill>
                  <a:srgbClr val="FF0000"/>
                </a:solidFill>
                <a:latin typeface="Arial" panose="020B0604020202020204" pitchFamily="34" charset="0"/>
                <a:ea typeface="Songti SC" panose="02010600040101010101" pitchFamily="2" charset="-122"/>
                <a:cs typeface="Arial" panose="020B0604020202020204" pitchFamily="34" charset="0"/>
              </a:rPr>
              <a:t>-128</a:t>
            </a:r>
            <a:endParaRPr kumimoji="1" lang="zh-CN" altLang="en-US" sz="2400" b="1" dirty="0">
              <a:solidFill>
                <a:srgbClr val="FF0000"/>
              </a:solidFill>
              <a:latin typeface="Arial" panose="020B0604020202020204" pitchFamily="34" charset="0"/>
              <a:ea typeface="Songti SC" panose="02010600040101010101" pitchFamily="2" charset="-122"/>
              <a:cs typeface="Arial" panose="020B0604020202020204" pitchFamily="34" charset="0"/>
            </a:endParaRPr>
          </a:p>
        </p:txBody>
      </p:sp>
      <p:sp>
        <p:nvSpPr>
          <p:cNvPr id="12" name="右大括号 11">
            <a:extLst>
              <a:ext uri="{FF2B5EF4-FFF2-40B4-BE49-F238E27FC236}">
                <a16:creationId xmlns:a16="http://schemas.microsoft.com/office/drawing/2014/main" id="{5CB978AE-032C-244B-B33B-5FAB2035F51F}"/>
              </a:ext>
            </a:extLst>
          </p:cNvPr>
          <p:cNvSpPr/>
          <p:nvPr/>
        </p:nvSpPr>
        <p:spPr bwMode="auto">
          <a:xfrm rot="5400000">
            <a:off x="2846992" y="4976219"/>
            <a:ext cx="357809" cy="2452409"/>
          </a:xfrm>
          <a:prstGeom prst="rightBrace">
            <a:avLst>
              <a:gd name="adj1" fmla="val 6759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dirty="0">
              <a:ea typeface="黑体" panose="02010609060101010101" pitchFamily="49" charset="-122"/>
            </a:endParaRPr>
          </a:p>
        </p:txBody>
      </p:sp>
      <p:sp>
        <p:nvSpPr>
          <p:cNvPr id="13" name="文本框 12">
            <a:extLst>
              <a:ext uri="{FF2B5EF4-FFF2-40B4-BE49-F238E27FC236}">
                <a16:creationId xmlns:a16="http://schemas.microsoft.com/office/drawing/2014/main" id="{2981E5CA-1DD6-B441-9DE2-64DB85DE11E0}"/>
              </a:ext>
            </a:extLst>
          </p:cNvPr>
          <p:cNvSpPr txBox="1"/>
          <p:nvPr/>
        </p:nvSpPr>
        <p:spPr>
          <a:xfrm>
            <a:off x="2432364" y="6351711"/>
            <a:ext cx="1219614" cy="461665"/>
          </a:xfrm>
          <a:prstGeom prst="rect">
            <a:avLst/>
          </a:prstGeom>
          <a:noFill/>
        </p:spPr>
        <p:txBody>
          <a:bodyPr wrap="square" rtlCol="0">
            <a:spAutoFit/>
          </a:bodyPr>
          <a:lstStyle>
            <a:defPPr>
              <a:defRPr lang="en-US"/>
            </a:defPPr>
            <a:lvl1pPr algn="ctr">
              <a:defRPr kumimoji="1" sz="2400" b="1">
                <a:solidFill>
                  <a:srgbClr val="FF0000"/>
                </a:solidFill>
                <a:latin typeface="Arial" panose="020B0604020202020204" pitchFamily="34" charset="0"/>
                <a:ea typeface="Songti SC" panose="02010600040101010101" pitchFamily="2" charset="-122"/>
                <a:cs typeface="Arial" panose="020B0604020202020204" pitchFamily="34" charset="0"/>
              </a:defRPr>
            </a:lvl1pPr>
          </a:lstStyle>
          <a:p>
            <a:r>
              <a:rPr lang="en-US" altLang="zh-CN" dirty="0"/>
              <a:t>127</a:t>
            </a:r>
            <a:endParaRPr lang="zh-CN" altLang="en-US" dirty="0"/>
          </a:p>
        </p:txBody>
      </p:sp>
    </p:spTree>
    <p:extLst>
      <p:ext uri="{BB962C8B-B14F-4D97-AF65-F5344CB8AC3E}">
        <p14:creationId xmlns:p14="http://schemas.microsoft.com/office/powerpoint/2010/main" val="8751024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zh-CN" altLang="en-US" dirty="0"/>
              <a:t>处理溢出</a:t>
            </a:r>
            <a:endParaRPr lang="en-US" altLang="zh-CN" dirty="0"/>
          </a:p>
        </p:txBody>
      </p:sp>
      <p:sp>
        <p:nvSpPr>
          <p:cNvPr id="516099" name="Rectangle 3"/>
          <p:cNvSpPr>
            <a:spLocks noGrp="1" noChangeArrowheads="1"/>
          </p:cNvSpPr>
          <p:nvPr>
            <p:ph idx="1"/>
          </p:nvPr>
        </p:nvSpPr>
        <p:spPr/>
        <p:txBody>
          <a:bodyPr/>
          <a:lstStyle/>
          <a:p>
            <a:pPr eaLnBrk="1" hangingPunct="1"/>
            <a:r>
              <a:rPr lang="zh-CN" altLang="en-US"/>
              <a:t>增加位数</a:t>
            </a:r>
            <a:endParaRPr lang="en-US" altLang="zh-CN"/>
          </a:p>
        </p:txBody>
      </p:sp>
      <p:sp>
        <p:nvSpPr>
          <p:cNvPr id="7" name="灯片编号占位符 6">
            <a:extLst>
              <a:ext uri="{FF2B5EF4-FFF2-40B4-BE49-F238E27FC236}">
                <a16:creationId xmlns:a16="http://schemas.microsoft.com/office/drawing/2014/main" id="{9499912D-A215-5C45-A448-A06FE49D4C6D}"/>
              </a:ext>
            </a:extLst>
          </p:cNvPr>
          <p:cNvSpPr>
            <a:spLocks noGrp="1"/>
          </p:cNvSpPr>
          <p:nvPr>
            <p:ph type="sldNum" sz="quarter" idx="12"/>
          </p:nvPr>
        </p:nvSpPr>
        <p:spPr/>
        <p:txBody>
          <a:bodyPr/>
          <a:lstStyle/>
          <a:p>
            <a:fld id="{14659731-6BD7-46E7-8D3C-2F3AC07E20B1}" type="slidenum">
              <a:rPr lang="en-US" altLang="zh-CN" smtClean="0"/>
              <a:pPr/>
              <a:t>31</a:t>
            </a:fld>
            <a:endParaRPr lang="en-US" altLang="zh-CN" dirty="0"/>
          </a:p>
        </p:txBody>
      </p:sp>
      <p:grpSp>
        <p:nvGrpSpPr>
          <p:cNvPr id="3" name="组合 2"/>
          <p:cNvGrpSpPr/>
          <p:nvPr/>
        </p:nvGrpSpPr>
        <p:grpSpPr>
          <a:xfrm>
            <a:off x="273304" y="3970045"/>
            <a:ext cx="4171950" cy="2012950"/>
            <a:chOff x="273304" y="3999790"/>
            <a:chExt cx="4171950" cy="2012950"/>
          </a:xfrm>
        </p:grpSpPr>
        <p:sp>
          <p:nvSpPr>
            <p:cNvPr id="94212" name="Text Box 5"/>
            <p:cNvSpPr txBox="1">
              <a:spLocks noChangeArrowheads="1"/>
            </p:cNvSpPr>
            <p:nvPr/>
          </p:nvSpPr>
          <p:spPr bwMode="auto">
            <a:xfrm>
              <a:off x="2709061" y="5467226"/>
              <a:ext cx="1439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latin typeface="+mn-lt"/>
                  <a:ea typeface="黑体" panose="02010609060101010101" pitchFamily="49" charset="-122"/>
                </a:rPr>
                <a:t>0</a:t>
              </a:r>
              <a:r>
                <a:rPr kumimoji="1" lang="en-US" altLang="zh-CN" sz="2800" b="0" dirty="0">
                  <a:solidFill>
                    <a:schemeClr val="tx1"/>
                  </a:solidFill>
                  <a:latin typeface="+mn-lt"/>
                  <a:ea typeface="黑体" panose="02010609060101010101" pitchFamily="49" charset="-122"/>
                </a:rPr>
                <a:t>1011</a:t>
              </a:r>
            </a:p>
          </p:txBody>
        </p:sp>
        <p:grpSp>
          <p:nvGrpSpPr>
            <p:cNvPr id="2" name="Group 6"/>
            <p:cNvGrpSpPr>
              <a:grpSpLocks/>
            </p:cNvGrpSpPr>
            <p:nvPr/>
          </p:nvGrpSpPr>
          <p:grpSpPr bwMode="auto">
            <a:xfrm>
              <a:off x="273304" y="3999790"/>
              <a:ext cx="4171950" cy="2012950"/>
              <a:chOff x="104" y="912"/>
              <a:chExt cx="2847" cy="1268"/>
            </a:xfrm>
          </p:grpSpPr>
          <p:sp>
            <p:nvSpPr>
              <p:cNvPr id="52246" name="Text Box 7"/>
              <p:cNvSpPr txBox="1">
                <a:spLocks noChangeArrowheads="1"/>
              </p:cNvSpPr>
              <p:nvPr/>
            </p:nvSpPr>
            <p:spPr bwMode="auto">
              <a:xfrm>
                <a:off x="1768" y="1337"/>
                <a:ext cx="11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latin typeface="+mn-lt"/>
                    <a:ea typeface="黑体" panose="02010609060101010101" pitchFamily="49" charset="-122"/>
                  </a:rPr>
                  <a:t>0</a:t>
                </a:r>
                <a:r>
                  <a:rPr kumimoji="1" lang="en-US" altLang="zh-CN" sz="2800" b="0" dirty="0">
                    <a:solidFill>
                      <a:schemeClr val="tx1"/>
                    </a:solidFill>
                    <a:latin typeface="+mn-lt"/>
                    <a:ea typeface="黑体" panose="02010609060101010101" pitchFamily="49" charset="-122"/>
                  </a:rPr>
                  <a:t>0110</a:t>
                </a:r>
              </a:p>
            </p:txBody>
          </p:sp>
          <p:sp>
            <p:nvSpPr>
              <p:cNvPr id="52247" name="Text Box 8"/>
              <p:cNvSpPr txBox="1">
                <a:spLocks noChangeArrowheads="1"/>
              </p:cNvSpPr>
              <p:nvPr/>
            </p:nvSpPr>
            <p:spPr bwMode="auto">
              <a:xfrm>
                <a:off x="1768" y="912"/>
                <a:ext cx="11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latin typeface="+mn-lt"/>
                    <a:ea typeface="黑体" panose="02010609060101010101" pitchFamily="49" charset="-122"/>
                  </a:rPr>
                  <a:t>0</a:t>
                </a:r>
                <a:r>
                  <a:rPr kumimoji="1" lang="en-US" altLang="zh-CN" sz="2800" b="0" dirty="0">
                    <a:solidFill>
                      <a:schemeClr val="tx1"/>
                    </a:solidFill>
                    <a:latin typeface="+mn-lt"/>
                    <a:ea typeface="黑体" panose="02010609060101010101" pitchFamily="49" charset="-122"/>
                  </a:rPr>
                  <a:t>0101</a:t>
                </a:r>
                <a:endParaRPr kumimoji="1" lang="en-US" altLang="zh-CN" sz="2400" b="0" dirty="0">
                  <a:solidFill>
                    <a:schemeClr val="tx1"/>
                  </a:solidFill>
                  <a:latin typeface="+mn-lt"/>
                  <a:ea typeface="黑体" panose="02010609060101010101" pitchFamily="49" charset="-122"/>
                </a:endParaRPr>
              </a:p>
            </p:txBody>
          </p:sp>
          <p:grpSp>
            <p:nvGrpSpPr>
              <p:cNvPr id="52248" name="Group 9"/>
              <p:cNvGrpSpPr>
                <a:grpSpLocks/>
              </p:cNvGrpSpPr>
              <p:nvPr/>
            </p:nvGrpSpPr>
            <p:grpSpPr bwMode="auto">
              <a:xfrm>
                <a:off x="104" y="916"/>
                <a:ext cx="2652" cy="1264"/>
                <a:chOff x="104" y="916"/>
                <a:chExt cx="2652" cy="1264"/>
              </a:xfrm>
            </p:grpSpPr>
            <p:sp>
              <p:nvSpPr>
                <p:cNvPr id="52249" name="Line 10"/>
                <p:cNvSpPr>
                  <a:spLocks noChangeShapeType="1"/>
                </p:cNvSpPr>
                <p:nvPr/>
              </p:nvSpPr>
              <p:spPr bwMode="auto">
                <a:xfrm>
                  <a:off x="1513" y="1798"/>
                  <a:ext cx="12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mn-lt"/>
                    <a:ea typeface="黑体" panose="02010609060101010101" pitchFamily="49" charset="-122"/>
                  </a:endParaRPr>
                </a:p>
              </p:txBody>
            </p:sp>
            <p:sp>
              <p:nvSpPr>
                <p:cNvPr id="52250" name="Text Box 11"/>
                <p:cNvSpPr txBox="1">
                  <a:spLocks noChangeArrowheads="1"/>
                </p:cNvSpPr>
                <p:nvPr/>
              </p:nvSpPr>
              <p:spPr bwMode="auto">
                <a:xfrm>
                  <a:off x="1336" y="1355"/>
                  <a:ext cx="5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mn-lt"/>
                      <a:ea typeface="黑体" panose="02010609060101010101" pitchFamily="49" charset="-122"/>
                    </a:rPr>
                    <a:t>+)</a:t>
                  </a:r>
                </a:p>
              </p:txBody>
            </p:sp>
            <p:sp>
              <p:nvSpPr>
                <p:cNvPr id="52251" name="Text Box 12"/>
                <p:cNvSpPr txBox="1">
                  <a:spLocks noChangeArrowheads="1"/>
                </p:cNvSpPr>
                <p:nvPr/>
              </p:nvSpPr>
              <p:spPr bwMode="auto">
                <a:xfrm>
                  <a:off x="637" y="1337"/>
                  <a:ext cx="11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+6</a:t>
                  </a:r>
                </a:p>
              </p:txBody>
            </p:sp>
            <p:sp>
              <p:nvSpPr>
                <p:cNvPr id="52252" name="Line 13"/>
                <p:cNvSpPr>
                  <a:spLocks noChangeShapeType="1"/>
                </p:cNvSpPr>
                <p:nvPr/>
              </p:nvSpPr>
              <p:spPr bwMode="auto">
                <a:xfrm>
                  <a:off x="164" y="1802"/>
                  <a:ext cx="12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mn-lt"/>
                    <a:ea typeface="黑体" panose="02010609060101010101" pitchFamily="49" charset="-122"/>
                  </a:endParaRPr>
                </a:p>
              </p:txBody>
            </p:sp>
            <p:sp>
              <p:nvSpPr>
                <p:cNvPr id="52253" name="Text Box 14"/>
                <p:cNvSpPr txBox="1">
                  <a:spLocks noChangeArrowheads="1"/>
                </p:cNvSpPr>
                <p:nvPr/>
              </p:nvSpPr>
              <p:spPr bwMode="auto">
                <a:xfrm>
                  <a:off x="637" y="916"/>
                  <a:ext cx="8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+5</a:t>
                  </a:r>
                  <a:endParaRPr kumimoji="1" lang="en-US" altLang="zh-CN" sz="2400" b="0" dirty="0">
                    <a:solidFill>
                      <a:schemeClr val="tx1"/>
                    </a:solidFill>
                    <a:latin typeface="+mn-lt"/>
                    <a:ea typeface="黑体" panose="02010609060101010101" pitchFamily="49" charset="-122"/>
                  </a:endParaRPr>
                </a:p>
              </p:txBody>
            </p:sp>
            <p:sp>
              <p:nvSpPr>
                <p:cNvPr id="52254" name="Text Box 15"/>
                <p:cNvSpPr txBox="1">
                  <a:spLocks noChangeArrowheads="1"/>
                </p:cNvSpPr>
                <p:nvPr/>
              </p:nvSpPr>
              <p:spPr bwMode="auto">
                <a:xfrm>
                  <a:off x="104" y="1359"/>
                  <a:ext cx="5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mn-lt"/>
                      <a:ea typeface="黑体" panose="02010609060101010101" pitchFamily="49" charset="-122"/>
                    </a:rPr>
                    <a:t>+)</a:t>
                  </a:r>
                </a:p>
              </p:txBody>
            </p:sp>
            <p:sp>
              <p:nvSpPr>
                <p:cNvPr id="52255" name="Text Box 16"/>
                <p:cNvSpPr txBox="1">
                  <a:spLocks noChangeArrowheads="1"/>
                </p:cNvSpPr>
                <p:nvPr/>
              </p:nvSpPr>
              <p:spPr bwMode="auto">
                <a:xfrm>
                  <a:off x="637" y="1853"/>
                  <a:ext cx="88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+11</a:t>
                  </a:r>
                </a:p>
              </p:txBody>
            </p:sp>
          </p:grpSp>
        </p:grpSp>
      </p:grpSp>
      <p:grpSp>
        <p:nvGrpSpPr>
          <p:cNvPr id="5" name="组合 4"/>
          <p:cNvGrpSpPr/>
          <p:nvPr/>
        </p:nvGrpSpPr>
        <p:grpSpPr>
          <a:xfrm>
            <a:off x="4485969" y="3955091"/>
            <a:ext cx="4210050" cy="2576512"/>
            <a:chOff x="4485969" y="3984836"/>
            <a:chExt cx="4210050" cy="2576512"/>
          </a:xfrm>
        </p:grpSpPr>
        <p:sp>
          <p:nvSpPr>
            <p:cNvPr id="516113" name="Line 17"/>
            <p:cNvSpPr>
              <a:spLocks noChangeShapeType="1"/>
            </p:cNvSpPr>
            <p:nvPr/>
          </p:nvSpPr>
          <p:spPr bwMode="auto">
            <a:xfrm>
              <a:off x="6933894" y="6046998"/>
              <a:ext cx="0" cy="457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dirty="0">
                <a:latin typeface="+mn-lt"/>
                <a:ea typeface="黑体" panose="02010609060101010101" pitchFamily="49" charset="-122"/>
              </a:endParaRPr>
            </a:p>
          </p:txBody>
        </p:sp>
        <p:sp>
          <p:nvSpPr>
            <p:cNvPr id="516114" name="Text Box 18"/>
            <p:cNvSpPr txBox="1">
              <a:spLocks noChangeArrowheads="1"/>
            </p:cNvSpPr>
            <p:nvPr/>
          </p:nvSpPr>
          <p:spPr bwMode="auto">
            <a:xfrm>
              <a:off x="6933894" y="6104148"/>
              <a:ext cx="176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zh-CN" altLang="en-US" sz="2400" b="0" dirty="0">
                  <a:solidFill>
                    <a:schemeClr val="tx1"/>
                  </a:solidFill>
                  <a:latin typeface="+mn-lt"/>
                  <a:ea typeface="黑体" panose="02010609060101010101" pitchFamily="49" charset="-122"/>
                </a:rPr>
                <a:t>忽略</a:t>
              </a:r>
              <a:endParaRPr kumimoji="1" lang="en-US" altLang="zh-CN" sz="2400" b="0" dirty="0">
                <a:solidFill>
                  <a:schemeClr val="tx1"/>
                </a:solidFill>
                <a:latin typeface="+mn-lt"/>
                <a:ea typeface="黑体" panose="02010609060101010101" pitchFamily="49" charset="-122"/>
              </a:endParaRPr>
            </a:p>
          </p:txBody>
        </p:sp>
        <p:grpSp>
          <p:nvGrpSpPr>
            <p:cNvPr id="4" name="Group 19"/>
            <p:cNvGrpSpPr>
              <a:grpSpLocks/>
            </p:cNvGrpSpPr>
            <p:nvPr/>
          </p:nvGrpSpPr>
          <p:grpSpPr bwMode="auto">
            <a:xfrm>
              <a:off x="4485969" y="3984836"/>
              <a:ext cx="4171950" cy="2022475"/>
              <a:chOff x="2880" y="816"/>
              <a:chExt cx="2628" cy="1274"/>
            </a:xfrm>
          </p:grpSpPr>
          <p:sp>
            <p:nvSpPr>
              <p:cNvPr id="52234" name="Text Box 20"/>
              <p:cNvSpPr txBox="1">
                <a:spLocks noChangeArrowheads="1"/>
              </p:cNvSpPr>
              <p:nvPr/>
            </p:nvSpPr>
            <p:spPr bwMode="auto">
              <a:xfrm>
                <a:off x="4416" y="1249"/>
                <a:ext cx="10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latin typeface="+mn-lt"/>
                    <a:ea typeface="黑体" panose="02010609060101010101" pitchFamily="49" charset="-122"/>
                  </a:rPr>
                  <a:t>1</a:t>
                </a:r>
                <a:r>
                  <a:rPr kumimoji="1" lang="en-US" altLang="zh-CN" sz="2800" b="0" dirty="0">
                    <a:solidFill>
                      <a:schemeClr val="tx1"/>
                    </a:solidFill>
                    <a:latin typeface="+mn-lt"/>
                    <a:ea typeface="黑体" panose="02010609060101010101" pitchFamily="49" charset="-122"/>
                  </a:rPr>
                  <a:t>1101</a:t>
                </a:r>
              </a:p>
            </p:txBody>
          </p:sp>
          <p:sp>
            <p:nvSpPr>
              <p:cNvPr id="52235" name="Line 21"/>
              <p:cNvSpPr>
                <a:spLocks noChangeShapeType="1"/>
              </p:cNvSpPr>
              <p:nvPr/>
            </p:nvSpPr>
            <p:spPr bwMode="auto">
              <a:xfrm>
                <a:off x="4181" y="1702"/>
                <a:ext cx="114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mn-lt"/>
                  <a:ea typeface="黑体" panose="02010609060101010101" pitchFamily="49" charset="-122"/>
                </a:endParaRPr>
              </a:p>
            </p:txBody>
          </p:sp>
          <p:sp>
            <p:nvSpPr>
              <p:cNvPr id="52236" name="Text Box 22"/>
              <p:cNvSpPr txBox="1">
                <a:spLocks noChangeArrowheads="1"/>
              </p:cNvSpPr>
              <p:nvPr/>
            </p:nvSpPr>
            <p:spPr bwMode="auto">
              <a:xfrm>
                <a:off x="4416" y="816"/>
                <a:ext cx="105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latin typeface="+mn-lt"/>
                    <a:ea typeface="黑体" panose="02010609060101010101" pitchFamily="49" charset="-122"/>
                  </a:rPr>
                  <a:t>1</a:t>
                </a:r>
                <a:r>
                  <a:rPr kumimoji="1" lang="en-US" altLang="zh-CN" sz="2800" b="0" dirty="0">
                    <a:solidFill>
                      <a:schemeClr val="tx1"/>
                    </a:solidFill>
                    <a:latin typeface="+mn-lt"/>
                    <a:ea typeface="黑体" panose="02010609060101010101" pitchFamily="49" charset="-122"/>
                  </a:rPr>
                  <a:t>1010</a:t>
                </a:r>
                <a:endParaRPr kumimoji="1" lang="en-US" altLang="zh-CN" sz="2400" b="0" dirty="0">
                  <a:solidFill>
                    <a:schemeClr val="tx1"/>
                  </a:solidFill>
                  <a:latin typeface="+mn-lt"/>
                  <a:ea typeface="黑体" panose="02010609060101010101" pitchFamily="49" charset="-122"/>
                </a:endParaRPr>
              </a:p>
            </p:txBody>
          </p:sp>
          <p:sp>
            <p:nvSpPr>
              <p:cNvPr id="52237" name="Text Box 23"/>
              <p:cNvSpPr txBox="1">
                <a:spLocks noChangeArrowheads="1"/>
              </p:cNvSpPr>
              <p:nvPr/>
            </p:nvSpPr>
            <p:spPr bwMode="auto">
              <a:xfrm>
                <a:off x="4017" y="1259"/>
                <a:ext cx="5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mn-lt"/>
                    <a:ea typeface="黑体" panose="02010609060101010101" pitchFamily="49" charset="-122"/>
                  </a:rPr>
                  <a:t>+)</a:t>
                </a:r>
              </a:p>
            </p:txBody>
          </p:sp>
          <p:sp>
            <p:nvSpPr>
              <p:cNvPr id="52238" name="Text Box 24"/>
              <p:cNvSpPr txBox="1">
                <a:spLocks noChangeArrowheads="1"/>
              </p:cNvSpPr>
              <p:nvPr/>
            </p:nvSpPr>
            <p:spPr bwMode="auto">
              <a:xfrm>
                <a:off x="4332" y="1760"/>
                <a:ext cx="11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accent6"/>
                    </a:solidFill>
                    <a:latin typeface="+mn-lt"/>
                    <a:ea typeface="黑体" panose="02010609060101010101" pitchFamily="49" charset="-122"/>
                  </a:rPr>
                  <a:t>1</a:t>
                </a:r>
                <a:r>
                  <a:rPr kumimoji="1" lang="en-US" altLang="zh-CN" sz="2800" b="0" dirty="0">
                    <a:latin typeface="+mn-lt"/>
                    <a:ea typeface="黑体" panose="02010609060101010101" pitchFamily="49" charset="-122"/>
                  </a:rPr>
                  <a:t>1</a:t>
                </a:r>
                <a:r>
                  <a:rPr kumimoji="1" lang="en-US" altLang="zh-CN" sz="2800" b="0" dirty="0">
                    <a:solidFill>
                      <a:schemeClr val="tx1"/>
                    </a:solidFill>
                    <a:latin typeface="+mn-lt"/>
                    <a:ea typeface="黑体" panose="02010609060101010101" pitchFamily="49" charset="-122"/>
                  </a:rPr>
                  <a:t>0111</a:t>
                </a:r>
              </a:p>
            </p:txBody>
          </p:sp>
          <p:grpSp>
            <p:nvGrpSpPr>
              <p:cNvPr id="52239" name="Group 25"/>
              <p:cNvGrpSpPr>
                <a:grpSpLocks/>
              </p:cNvGrpSpPr>
              <p:nvPr/>
            </p:nvGrpSpPr>
            <p:grpSpPr bwMode="auto">
              <a:xfrm>
                <a:off x="2880" y="819"/>
                <a:ext cx="1584" cy="1271"/>
                <a:chOff x="1344" y="1824"/>
                <a:chExt cx="1392" cy="964"/>
              </a:xfrm>
            </p:grpSpPr>
            <p:sp>
              <p:nvSpPr>
                <p:cNvPr id="52240" name="Text Box 26"/>
                <p:cNvSpPr txBox="1">
                  <a:spLocks noChangeArrowheads="1"/>
                </p:cNvSpPr>
                <p:nvPr/>
              </p:nvSpPr>
              <p:spPr bwMode="auto">
                <a:xfrm>
                  <a:off x="1776" y="2150"/>
                  <a:ext cx="96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-3</a:t>
                  </a:r>
                </a:p>
              </p:txBody>
            </p:sp>
            <p:grpSp>
              <p:nvGrpSpPr>
                <p:cNvPr id="52241" name="Group 27"/>
                <p:cNvGrpSpPr>
                  <a:grpSpLocks/>
                </p:cNvGrpSpPr>
                <p:nvPr/>
              </p:nvGrpSpPr>
              <p:grpSpPr bwMode="auto">
                <a:xfrm>
                  <a:off x="1344" y="1824"/>
                  <a:ext cx="1152" cy="964"/>
                  <a:chOff x="1344" y="1824"/>
                  <a:chExt cx="1152" cy="964"/>
                </a:xfrm>
              </p:grpSpPr>
              <p:sp>
                <p:nvSpPr>
                  <p:cNvPr id="52242" name="Line 28"/>
                  <p:cNvSpPr>
                    <a:spLocks noChangeShapeType="1"/>
                  </p:cNvSpPr>
                  <p:nvPr/>
                </p:nvSpPr>
                <p:spPr bwMode="auto">
                  <a:xfrm>
                    <a:off x="1392" y="249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mn-lt"/>
                      <a:ea typeface="黑体" panose="02010609060101010101" pitchFamily="49" charset="-122"/>
                    </a:endParaRPr>
                  </a:p>
                </p:txBody>
              </p:sp>
              <p:sp>
                <p:nvSpPr>
                  <p:cNvPr id="52243" name="Text Box 29"/>
                  <p:cNvSpPr txBox="1">
                    <a:spLocks noChangeArrowheads="1"/>
                  </p:cNvSpPr>
                  <p:nvPr/>
                </p:nvSpPr>
                <p:spPr bwMode="auto">
                  <a:xfrm>
                    <a:off x="1776" y="1824"/>
                    <a:ext cx="67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-6</a:t>
                    </a:r>
                    <a:endParaRPr kumimoji="1" lang="en-US" altLang="zh-CN" sz="2400" b="0" dirty="0">
                      <a:solidFill>
                        <a:schemeClr val="tx1"/>
                      </a:solidFill>
                      <a:latin typeface="+mn-lt"/>
                      <a:ea typeface="黑体" panose="02010609060101010101" pitchFamily="49" charset="-122"/>
                    </a:endParaRPr>
                  </a:p>
                </p:txBody>
              </p:sp>
              <p:sp>
                <p:nvSpPr>
                  <p:cNvPr id="52244" name="Text Box 30"/>
                  <p:cNvSpPr txBox="1">
                    <a:spLocks noChangeArrowheads="1"/>
                  </p:cNvSpPr>
                  <p:nvPr/>
                </p:nvSpPr>
                <p:spPr bwMode="auto">
                  <a:xfrm>
                    <a:off x="1344" y="2160"/>
                    <a:ext cx="48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mn-lt"/>
                        <a:ea typeface="黑体" panose="02010609060101010101" pitchFamily="49" charset="-122"/>
                      </a:rPr>
                      <a:t>+)</a:t>
                    </a:r>
                  </a:p>
                </p:txBody>
              </p:sp>
              <p:sp>
                <p:nvSpPr>
                  <p:cNvPr id="52245" name="Text Box 31"/>
                  <p:cNvSpPr txBox="1">
                    <a:spLocks noChangeArrowheads="1"/>
                  </p:cNvSpPr>
                  <p:nvPr/>
                </p:nvSpPr>
                <p:spPr bwMode="auto">
                  <a:xfrm>
                    <a:off x="1776" y="2540"/>
                    <a:ext cx="72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-9</a:t>
                    </a:r>
                  </a:p>
                </p:txBody>
              </p:sp>
            </p:grpSp>
          </p:grpSp>
        </p:grpSp>
      </p:grpSp>
      <p:grpSp>
        <p:nvGrpSpPr>
          <p:cNvPr id="6" name="组合 5"/>
          <p:cNvGrpSpPr/>
          <p:nvPr/>
        </p:nvGrpSpPr>
        <p:grpSpPr>
          <a:xfrm>
            <a:off x="4465332" y="1340768"/>
            <a:ext cx="4245057" cy="2572837"/>
            <a:chOff x="4465332" y="1370513"/>
            <a:chExt cx="4245057" cy="2572837"/>
          </a:xfrm>
        </p:grpSpPr>
        <p:grpSp>
          <p:nvGrpSpPr>
            <p:cNvPr id="32" name="Group 19"/>
            <p:cNvGrpSpPr>
              <a:grpSpLocks/>
            </p:cNvGrpSpPr>
            <p:nvPr/>
          </p:nvGrpSpPr>
          <p:grpSpPr bwMode="auto">
            <a:xfrm>
              <a:off x="4465332" y="1370513"/>
              <a:ext cx="4171950" cy="2074863"/>
              <a:chOff x="2880" y="816"/>
              <a:chExt cx="2628" cy="1307"/>
            </a:xfrm>
          </p:grpSpPr>
          <p:sp>
            <p:nvSpPr>
              <p:cNvPr id="33" name="Text Box 20"/>
              <p:cNvSpPr txBox="1">
                <a:spLocks noChangeArrowheads="1"/>
              </p:cNvSpPr>
              <p:nvPr/>
            </p:nvSpPr>
            <p:spPr bwMode="auto">
              <a:xfrm>
                <a:off x="4416" y="1255"/>
                <a:ext cx="10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latin typeface="+mn-lt"/>
                    <a:ea typeface="黑体" panose="02010609060101010101" pitchFamily="49" charset="-122"/>
                  </a:rPr>
                  <a:t>1</a:t>
                </a:r>
                <a:r>
                  <a:rPr kumimoji="1" lang="en-US" altLang="zh-CN" sz="2800" b="0" dirty="0">
                    <a:solidFill>
                      <a:schemeClr val="tx1"/>
                    </a:solidFill>
                    <a:latin typeface="+mn-lt"/>
                    <a:ea typeface="黑体" panose="02010609060101010101" pitchFamily="49" charset="-122"/>
                  </a:rPr>
                  <a:t>1101</a:t>
                </a:r>
              </a:p>
            </p:txBody>
          </p:sp>
          <p:sp>
            <p:nvSpPr>
              <p:cNvPr id="34" name="Line 21"/>
              <p:cNvSpPr>
                <a:spLocks noChangeShapeType="1"/>
              </p:cNvSpPr>
              <p:nvPr/>
            </p:nvSpPr>
            <p:spPr bwMode="auto">
              <a:xfrm>
                <a:off x="4181" y="1702"/>
                <a:ext cx="114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mn-lt"/>
                  <a:ea typeface="黑体" panose="02010609060101010101" pitchFamily="49" charset="-122"/>
                </a:endParaRPr>
              </a:p>
            </p:txBody>
          </p:sp>
          <p:sp>
            <p:nvSpPr>
              <p:cNvPr id="35" name="Text Box 22"/>
              <p:cNvSpPr txBox="1">
                <a:spLocks noChangeArrowheads="1"/>
              </p:cNvSpPr>
              <p:nvPr/>
            </p:nvSpPr>
            <p:spPr bwMode="auto">
              <a:xfrm>
                <a:off x="4416" y="816"/>
                <a:ext cx="105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latin typeface="+mn-lt"/>
                    <a:ea typeface="黑体" panose="02010609060101010101" pitchFamily="49" charset="-122"/>
                  </a:rPr>
                  <a:t>0</a:t>
                </a:r>
                <a:r>
                  <a:rPr kumimoji="1" lang="en-US" altLang="zh-CN" sz="2800" b="0" dirty="0">
                    <a:solidFill>
                      <a:schemeClr val="tx1"/>
                    </a:solidFill>
                    <a:latin typeface="+mn-lt"/>
                    <a:ea typeface="黑体" panose="02010609060101010101" pitchFamily="49" charset="-122"/>
                  </a:rPr>
                  <a:t>0110</a:t>
                </a:r>
                <a:endParaRPr kumimoji="1" lang="en-US" altLang="zh-CN" sz="2400" b="0" dirty="0">
                  <a:solidFill>
                    <a:schemeClr val="tx1"/>
                  </a:solidFill>
                  <a:latin typeface="+mn-lt"/>
                  <a:ea typeface="黑体" panose="02010609060101010101" pitchFamily="49" charset="-122"/>
                </a:endParaRPr>
              </a:p>
            </p:txBody>
          </p:sp>
          <p:sp>
            <p:nvSpPr>
              <p:cNvPr id="36" name="Text Box 23"/>
              <p:cNvSpPr txBox="1">
                <a:spLocks noChangeArrowheads="1"/>
              </p:cNvSpPr>
              <p:nvPr/>
            </p:nvSpPr>
            <p:spPr bwMode="auto">
              <a:xfrm>
                <a:off x="4017" y="1259"/>
                <a:ext cx="5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mn-lt"/>
                    <a:ea typeface="黑体" panose="02010609060101010101" pitchFamily="49" charset="-122"/>
                  </a:rPr>
                  <a:t>+)</a:t>
                </a:r>
              </a:p>
            </p:txBody>
          </p:sp>
          <p:sp>
            <p:nvSpPr>
              <p:cNvPr id="37" name="Text Box 24"/>
              <p:cNvSpPr txBox="1">
                <a:spLocks noChangeArrowheads="1"/>
              </p:cNvSpPr>
              <p:nvPr/>
            </p:nvSpPr>
            <p:spPr bwMode="auto">
              <a:xfrm>
                <a:off x="4332" y="1796"/>
                <a:ext cx="11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accent6"/>
                    </a:solidFill>
                    <a:latin typeface="+mn-lt"/>
                    <a:ea typeface="黑体" panose="02010609060101010101" pitchFamily="49" charset="-122"/>
                  </a:rPr>
                  <a:t>100</a:t>
                </a:r>
                <a:r>
                  <a:rPr kumimoji="1" lang="en-US" altLang="zh-CN" sz="2800" b="0" dirty="0">
                    <a:solidFill>
                      <a:schemeClr val="tx1"/>
                    </a:solidFill>
                    <a:latin typeface="+mn-lt"/>
                    <a:ea typeface="黑体" panose="02010609060101010101" pitchFamily="49" charset="-122"/>
                  </a:rPr>
                  <a:t>011</a:t>
                </a:r>
              </a:p>
            </p:txBody>
          </p:sp>
          <p:grpSp>
            <p:nvGrpSpPr>
              <p:cNvPr id="38" name="Group 25"/>
              <p:cNvGrpSpPr>
                <a:grpSpLocks/>
              </p:cNvGrpSpPr>
              <p:nvPr/>
            </p:nvGrpSpPr>
            <p:grpSpPr bwMode="auto">
              <a:xfrm>
                <a:off x="2880" y="820"/>
                <a:ext cx="1652" cy="1303"/>
                <a:chOff x="1344" y="1824"/>
                <a:chExt cx="1452" cy="988"/>
              </a:xfrm>
            </p:grpSpPr>
            <p:sp>
              <p:nvSpPr>
                <p:cNvPr id="39" name="Text Box 26"/>
                <p:cNvSpPr txBox="1">
                  <a:spLocks noChangeArrowheads="1"/>
                </p:cNvSpPr>
                <p:nvPr/>
              </p:nvSpPr>
              <p:spPr bwMode="auto">
                <a:xfrm>
                  <a:off x="1836" y="2154"/>
                  <a:ext cx="96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-3</a:t>
                  </a:r>
                </a:p>
              </p:txBody>
            </p:sp>
            <p:grpSp>
              <p:nvGrpSpPr>
                <p:cNvPr id="40" name="Group 27"/>
                <p:cNvGrpSpPr>
                  <a:grpSpLocks/>
                </p:cNvGrpSpPr>
                <p:nvPr/>
              </p:nvGrpSpPr>
              <p:grpSpPr bwMode="auto">
                <a:xfrm>
                  <a:off x="1344" y="1824"/>
                  <a:ext cx="1188" cy="988"/>
                  <a:chOff x="1344" y="1824"/>
                  <a:chExt cx="1188" cy="988"/>
                </a:xfrm>
              </p:grpSpPr>
              <p:sp>
                <p:nvSpPr>
                  <p:cNvPr id="41" name="Line 28"/>
                  <p:cNvSpPr>
                    <a:spLocks noChangeShapeType="1"/>
                  </p:cNvSpPr>
                  <p:nvPr/>
                </p:nvSpPr>
                <p:spPr bwMode="auto">
                  <a:xfrm>
                    <a:off x="1392" y="249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latin typeface="+mn-lt"/>
                      <a:ea typeface="黑体" panose="02010609060101010101" pitchFamily="49" charset="-122"/>
                    </a:endParaRPr>
                  </a:p>
                </p:txBody>
              </p:sp>
              <p:sp>
                <p:nvSpPr>
                  <p:cNvPr id="42" name="Text Box 29"/>
                  <p:cNvSpPr txBox="1">
                    <a:spLocks noChangeArrowheads="1"/>
                  </p:cNvSpPr>
                  <p:nvPr/>
                </p:nvSpPr>
                <p:spPr bwMode="auto">
                  <a:xfrm>
                    <a:off x="1776" y="1824"/>
                    <a:ext cx="67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+6</a:t>
                    </a:r>
                    <a:endParaRPr kumimoji="1" lang="en-US" altLang="zh-CN" sz="2400" b="0" dirty="0">
                      <a:solidFill>
                        <a:schemeClr val="tx1"/>
                      </a:solidFill>
                      <a:latin typeface="+mn-lt"/>
                      <a:ea typeface="黑体" panose="02010609060101010101" pitchFamily="49" charset="-122"/>
                    </a:endParaRPr>
                  </a:p>
                </p:txBody>
              </p:sp>
              <p:sp>
                <p:nvSpPr>
                  <p:cNvPr id="43" name="Text Box 30"/>
                  <p:cNvSpPr txBox="1">
                    <a:spLocks noChangeArrowheads="1"/>
                  </p:cNvSpPr>
                  <p:nvPr/>
                </p:nvSpPr>
                <p:spPr bwMode="auto">
                  <a:xfrm>
                    <a:off x="1344" y="2160"/>
                    <a:ext cx="48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400" b="0" dirty="0">
                        <a:solidFill>
                          <a:schemeClr val="tx1"/>
                        </a:solidFill>
                        <a:latin typeface="+mn-lt"/>
                        <a:ea typeface="黑体" panose="02010609060101010101" pitchFamily="49" charset="-122"/>
                      </a:rPr>
                      <a:t>+)</a:t>
                    </a:r>
                  </a:p>
                </p:txBody>
              </p:sp>
              <p:sp>
                <p:nvSpPr>
                  <p:cNvPr id="44" name="Text Box 31"/>
                  <p:cNvSpPr txBox="1">
                    <a:spLocks noChangeArrowheads="1"/>
                  </p:cNvSpPr>
                  <p:nvPr/>
                </p:nvSpPr>
                <p:spPr bwMode="auto">
                  <a:xfrm>
                    <a:off x="1812" y="2564"/>
                    <a:ext cx="72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en-US" altLang="zh-CN" sz="2800" b="0" dirty="0">
                        <a:solidFill>
                          <a:schemeClr val="tx1"/>
                        </a:solidFill>
                        <a:latin typeface="+mn-lt"/>
                        <a:ea typeface="黑体" panose="02010609060101010101" pitchFamily="49" charset="-122"/>
                      </a:rPr>
                      <a:t>+3</a:t>
                    </a:r>
                  </a:p>
                </p:txBody>
              </p:sp>
            </p:grpSp>
          </p:grpSp>
        </p:grpSp>
        <p:sp>
          <p:nvSpPr>
            <p:cNvPr id="47" name="Line 17"/>
            <p:cNvSpPr>
              <a:spLocks noChangeShapeType="1"/>
            </p:cNvSpPr>
            <p:nvPr/>
          </p:nvSpPr>
          <p:spPr bwMode="auto">
            <a:xfrm>
              <a:off x="6948264" y="3429000"/>
              <a:ext cx="0" cy="4572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dirty="0">
                <a:latin typeface="+mn-lt"/>
                <a:ea typeface="黑体" panose="02010609060101010101" pitchFamily="49" charset="-122"/>
              </a:endParaRPr>
            </a:p>
          </p:txBody>
        </p:sp>
        <p:sp>
          <p:nvSpPr>
            <p:cNvPr id="48" name="Text Box 18"/>
            <p:cNvSpPr txBox="1">
              <a:spLocks noChangeArrowheads="1"/>
            </p:cNvSpPr>
            <p:nvPr/>
          </p:nvSpPr>
          <p:spPr bwMode="auto">
            <a:xfrm>
              <a:off x="6948264" y="3486150"/>
              <a:ext cx="176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spcBef>
                  <a:spcPct val="50000"/>
                </a:spcBef>
              </a:pPr>
              <a:r>
                <a:rPr kumimoji="1" lang="zh-CN" altLang="en-US" sz="2400" b="0" dirty="0">
                  <a:solidFill>
                    <a:schemeClr val="tx1"/>
                  </a:solidFill>
                  <a:latin typeface="+mn-lt"/>
                  <a:ea typeface="黑体" panose="02010609060101010101" pitchFamily="49" charset="-122"/>
                </a:rPr>
                <a:t>忽略</a:t>
              </a:r>
              <a:endParaRPr kumimoji="1" lang="en-US" altLang="zh-CN" sz="2400" b="0" dirty="0">
                <a:solidFill>
                  <a:schemeClr val="tx1"/>
                </a:solidFill>
                <a:latin typeface="+mn-lt"/>
                <a:ea typeface="黑体" panose="02010609060101010101" pitchFamily="49" charset="-122"/>
              </a:endParaRPr>
            </a:p>
          </p:txBody>
        </p:sp>
      </p:grpSp>
    </p:spTree>
    <p:extLst>
      <p:ext uri="{BB962C8B-B14F-4D97-AF65-F5344CB8AC3E}">
        <p14:creationId xmlns:p14="http://schemas.microsoft.com/office/powerpoint/2010/main" val="10282733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6"/>
          <p:cNvSpPr>
            <a:spLocks noGrp="1"/>
          </p:cNvSpPr>
          <p:nvPr>
            <p:ph type="title"/>
          </p:nvPr>
        </p:nvSpPr>
        <p:spPr/>
        <p:txBody>
          <a:bodyPr/>
          <a:lstStyle/>
          <a:p>
            <a:r>
              <a:rPr lang="zh-CN" altLang="en-US" dirty="0"/>
              <a:t>处理溢出</a:t>
            </a:r>
          </a:p>
        </p:txBody>
      </p:sp>
      <p:sp>
        <p:nvSpPr>
          <p:cNvPr id="8" name="内容占位符 7"/>
          <p:cNvSpPr>
            <a:spLocks noGrp="1"/>
          </p:cNvSpPr>
          <p:nvPr>
            <p:ph idx="1"/>
          </p:nvPr>
        </p:nvSpPr>
        <p:spPr>
          <a:xfrm>
            <a:off x="457200" y="1484784"/>
            <a:ext cx="7931224" cy="4680520"/>
          </a:xfrm>
        </p:spPr>
        <p:txBody>
          <a:bodyPr>
            <a:normAutofit/>
          </a:bodyPr>
          <a:lstStyle/>
          <a:p>
            <a:pPr hangingPunct="1"/>
            <a:r>
              <a:rPr lang="zh-CN" altLang="en-US" sz="3200" dirty="0"/>
              <a:t>增加位数</a:t>
            </a:r>
            <a:endParaRPr lang="en-US" altLang="zh-CN" sz="3200" dirty="0"/>
          </a:p>
          <a:p>
            <a:pPr lvl="1" hangingPunct="1"/>
            <a:r>
              <a:rPr lang="zh-CN" altLang="en-US" sz="3200" dirty="0"/>
              <a:t>正数增加的位数补</a:t>
            </a:r>
            <a:r>
              <a:rPr lang="en-US" altLang="zh-CN" sz="3200" dirty="0"/>
              <a:t>0</a:t>
            </a:r>
          </a:p>
          <a:p>
            <a:pPr lvl="2" hangingPunct="1"/>
            <a:r>
              <a:rPr lang="en-US" altLang="zh-CN" sz="2800" dirty="0"/>
              <a:t>0110 -&gt; 00110</a:t>
            </a:r>
          </a:p>
          <a:p>
            <a:pPr lvl="2" hangingPunct="1"/>
            <a:r>
              <a:rPr lang="en-US" altLang="zh-CN" sz="2800" dirty="0"/>
              <a:t>2</a:t>
            </a:r>
            <a:r>
              <a:rPr lang="en-US" altLang="zh-CN" sz="2800" baseline="30000" dirty="0"/>
              <a:t>2</a:t>
            </a:r>
            <a:r>
              <a:rPr lang="en-US" altLang="zh-CN" sz="2800" dirty="0"/>
              <a:t>+2</a:t>
            </a:r>
            <a:r>
              <a:rPr lang="en-US" altLang="zh-CN" sz="2800" baseline="30000" dirty="0"/>
              <a:t>1</a:t>
            </a:r>
            <a:r>
              <a:rPr lang="en-US" altLang="zh-CN" sz="2800" dirty="0"/>
              <a:t> -&gt; 2</a:t>
            </a:r>
            <a:r>
              <a:rPr lang="en-US" altLang="zh-CN" sz="2800" baseline="30000" dirty="0"/>
              <a:t>2</a:t>
            </a:r>
            <a:r>
              <a:rPr lang="en-US" altLang="zh-CN" sz="2800" dirty="0"/>
              <a:t>+2</a:t>
            </a:r>
            <a:r>
              <a:rPr lang="en-US" altLang="zh-CN" sz="2800" baseline="30000" dirty="0"/>
              <a:t>1</a:t>
            </a:r>
          </a:p>
          <a:p>
            <a:pPr lvl="1" hangingPunct="1"/>
            <a:r>
              <a:rPr lang="zh-CN" altLang="en-US" sz="3200" dirty="0"/>
              <a:t>负数增加的位数补</a:t>
            </a:r>
            <a:r>
              <a:rPr lang="en-US" altLang="zh-CN" sz="3200" dirty="0"/>
              <a:t>1</a:t>
            </a:r>
          </a:p>
          <a:p>
            <a:pPr lvl="2" hangingPunct="1"/>
            <a:r>
              <a:rPr lang="en-US" altLang="zh-CN" sz="2800" dirty="0">
                <a:solidFill>
                  <a:srgbClr val="3333FF"/>
                </a:solidFill>
              </a:rPr>
              <a:t>1</a:t>
            </a:r>
            <a:r>
              <a:rPr lang="en-US" altLang="zh-CN" sz="2800" dirty="0"/>
              <a:t>101 -&gt; </a:t>
            </a:r>
            <a:r>
              <a:rPr lang="en-US" altLang="zh-CN" sz="2800" dirty="0">
                <a:solidFill>
                  <a:srgbClr val="3333FF"/>
                </a:solidFill>
              </a:rPr>
              <a:t>11</a:t>
            </a:r>
            <a:r>
              <a:rPr lang="en-US" altLang="zh-CN" sz="2800" dirty="0"/>
              <a:t>101</a:t>
            </a:r>
          </a:p>
          <a:p>
            <a:pPr lvl="2" hangingPunct="1"/>
            <a:r>
              <a:rPr lang="en-US" altLang="zh-CN" sz="2800" dirty="0">
                <a:solidFill>
                  <a:srgbClr val="3333FF"/>
                </a:solidFill>
              </a:rPr>
              <a:t>-2</a:t>
            </a:r>
            <a:r>
              <a:rPr lang="en-US" altLang="zh-CN" sz="2800" baseline="30000" dirty="0">
                <a:solidFill>
                  <a:srgbClr val="3333FF"/>
                </a:solidFill>
              </a:rPr>
              <a:t>3 </a:t>
            </a:r>
            <a:r>
              <a:rPr lang="en-US" altLang="zh-CN" sz="2800" dirty="0"/>
              <a:t>+ 2</a:t>
            </a:r>
            <a:r>
              <a:rPr lang="en-US" altLang="zh-CN" sz="2800" baseline="30000" dirty="0"/>
              <a:t>2</a:t>
            </a:r>
            <a:r>
              <a:rPr lang="en-US" altLang="zh-CN" sz="2800" dirty="0"/>
              <a:t> + 2</a:t>
            </a:r>
            <a:r>
              <a:rPr lang="en-US" altLang="zh-CN" sz="2800" baseline="30000" dirty="0"/>
              <a:t>0 </a:t>
            </a:r>
            <a:r>
              <a:rPr lang="en-US" altLang="zh-CN" sz="2800" dirty="0"/>
              <a:t>-&gt;  </a:t>
            </a:r>
            <a:r>
              <a:rPr lang="en-US" altLang="zh-CN" sz="2800" dirty="0">
                <a:solidFill>
                  <a:srgbClr val="3333FF"/>
                </a:solidFill>
              </a:rPr>
              <a:t>-2</a:t>
            </a:r>
            <a:r>
              <a:rPr lang="en-US" altLang="zh-CN" sz="2800" baseline="30000" dirty="0">
                <a:solidFill>
                  <a:srgbClr val="3333FF"/>
                </a:solidFill>
              </a:rPr>
              <a:t>4 </a:t>
            </a:r>
            <a:r>
              <a:rPr lang="en-US" altLang="zh-CN" sz="2800" dirty="0">
                <a:solidFill>
                  <a:srgbClr val="3333FF"/>
                </a:solidFill>
              </a:rPr>
              <a:t>+ 2</a:t>
            </a:r>
            <a:r>
              <a:rPr lang="en-US" altLang="zh-CN" sz="2800" baseline="30000" dirty="0">
                <a:solidFill>
                  <a:srgbClr val="3333FF"/>
                </a:solidFill>
              </a:rPr>
              <a:t>3</a:t>
            </a:r>
            <a:r>
              <a:rPr lang="en-US" altLang="zh-CN" sz="2800" dirty="0">
                <a:solidFill>
                  <a:srgbClr val="3333FF"/>
                </a:solidFill>
              </a:rPr>
              <a:t> </a:t>
            </a:r>
            <a:r>
              <a:rPr lang="en-US" altLang="zh-CN" sz="2800" dirty="0"/>
              <a:t>+ 2</a:t>
            </a:r>
            <a:r>
              <a:rPr lang="en-US" altLang="zh-CN" sz="2800" baseline="30000" dirty="0"/>
              <a:t>2</a:t>
            </a:r>
            <a:r>
              <a:rPr lang="en-US" altLang="zh-CN" sz="2800" dirty="0"/>
              <a:t> + 2</a:t>
            </a:r>
            <a:r>
              <a:rPr lang="en-US" altLang="zh-CN" sz="2800" baseline="30000" dirty="0"/>
              <a:t>0</a:t>
            </a:r>
          </a:p>
          <a:p>
            <a:pPr lvl="2" hangingPunct="1"/>
            <a:r>
              <a:rPr lang="zh-CN" altLang="en-US" sz="2800" dirty="0"/>
              <a:t>负数原来的负权重位变成正权重位</a:t>
            </a:r>
            <a:r>
              <a:rPr lang="en-US" altLang="zh-CN" sz="2800" baseline="30000" dirty="0"/>
              <a:t> </a:t>
            </a:r>
          </a:p>
          <a:p>
            <a:pPr lvl="2" hangingPunct="1"/>
            <a:endParaRPr lang="en-US" altLang="zh-CN" sz="2800" baseline="30000" dirty="0"/>
          </a:p>
          <a:p>
            <a:pPr lvl="2" hangingPunct="1"/>
            <a:endParaRPr lang="en-US" altLang="zh-CN" sz="2800" dirty="0"/>
          </a:p>
        </p:txBody>
      </p:sp>
      <p:sp>
        <p:nvSpPr>
          <p:cNvPr id="2" name="灯片编号占位符 1">
            <a:extLst>
              <a:ext uri="{FF2B5EF4-FFF2-40B4-BE49-F238E27FC236}">
                <a16:creationId xmlns:a16="http://schemas.microsoft.com/office/drawing/2014/main" id="{35CD0CE6-C0C7-9F0E-BDA3-585D614FC983}"/>
              </a:ext>
            </a:extLst>
          </p:cNvPr>
          <p:cNvSpPr>
            <a:spLocks noGrp="1"/>
          </p:cNvSpPr>
          <p:nvPr>
            <p:ph type="sldNum" sz="quarter" idx="12"/>
          </p:nvPr>
        </p:nvSpPr>
        <p:spPr/>
        <p:txBody>
          <a:bodyPr/>
          <a:lstStyle/>
          <a:p>
            <a:fld id="{14659731-6BD7-46E7-8D3C-2F3AC07E20B1}" type="slidenum">
              <a:rPr lang="en-US" altLang="zh-CN" smtClean="0"/>
              <a:pPr/>
              <a:t>32</a:t>
            </a:fld>
            <a:endParaRPr lang="en-US" altLang="zh-CN" dirty="0"/>
          </a:p>
        </p:txBody>
      </p:sp>
    </p:spTree>
    <p:extLst>
      <p:ext uri="{BB962C8B-B14F-4D97-AF65-F5344CB8AC3E}">
        <p14:creationId xmlns:p14="http://schemas.microsoft.com/office/powerpoint/2010/main" val="1354868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6"/>
          <p:cNvSpPr>
            <a:spLocks noGrp="1"/>
          </p:cNvSpPr>
          <p:nvPr>
            <p:ph type="title"/>
          </p:nvPr>
        </p:nvSpPr>
        <p:spPr/>
        <p:txBody>
          <a:bodyPr/>
          <a:lstStyle/>
          <a:p>
            <a:r>
              <a:rPr lang="zh-CN" altLang="en-US" dirty="0"/>
              <a:t>溢出的简单判断</a:t>
            </a:r>
          </a:p>
        </p:txBody>
      </p:sp>
      <p:sp>
        <p:nvSpPr>
          <p:cNvPr id="8" name="内容占位符 7"/>
          <p:cNvSpPr>
            <a:spLocks noGrp="1"/>
          </p:cNvSpPr>
          <p:nvPr>
            <p:ph idx="1"/>
          </p:nvPr>
        </p:nvSpPr>
        <p:spPr>
          <a:xfrm>
            <a:off x="457200" y="1431042"/>
            <a:ext cx="7931224" cy="3474122"/>
          </a:xfrm>
        </p:spPr>
        <p:txBody>
          <a:bodyPr/>
          <a:lstStyle/>
          <a:p>
            <a:pPr lvl="1" hangingPunct="1">
              <a:lnSpc>
                <a:spcPct val="100000"/>
              </a:lnSpc>
            </a:pPr>
            <a:r>
              <a:rPr lang="zh-CN" altLang="en-US" sz="2400" dirty="0"/>
              <a:t>判断是否超出数值范围</a:t>
            </a:r>
            <a:endParaRPr lang="en-US" altLang="zh-CN" sz="2400" dirty="0"/>
          </a:p>
          <a:p>
            <a:pPr lvl="1" hangingPunct="1">
              <a:lnSpc>
                <a:spcPct val="100000"/>
              </a:lnSpc>
            </a:pPr>
            <a:r>
              <a:rPr lang="zh-CN" altLang="en-US" sz="2400" dirty="0"/>
              <a:t>对符号位的进位输入</a:t>
            </a:r>
            <a:r>
              <a:rPr lang="en-US" altLang="zh-CN" sz="2400" dirty="0"/>
              <a:t>(</a:t>
            </a:r>
            <a:r>
              <a:rPr lang="en-US" altLang="zh-CN" sz="2400" dirty="0" err="1"/>
              <a:t>Cin</a:t>
            </a:r>
            <a:r>
              <a:rPr lang="en-US" altLang="zh-CN" sz="2400" dirty="0"/>
              <a:t>)</a:t>
            </a:r>
            <a:r>
              <a:rPr lang="zh-CN" altLang="en-US" sz="2400" dirty="0"/>
              <a:t>和输出</a:t>
            </a:r>
            <a:r>
              <a:rPr lang="en-US" altLang="zh-CN" sz="2400" dirty="0"/>
              <a:t>(</a:t>
            </a:r>
            <a:r>
              <a:rPr lang="en-US" altLang="zh-CN" sz="2400" dirty="0" err="1"/>
              <a:t>Cout</a:t>
            </a:r>
            <a:r>
              <a:rPr lang="en-US" altLang="zh-CN" sz="2400" dirty="0"/>
              <a:t>)</a:t>
            </a:r>
            <a:r>
              <a:rPr lang="zh-CN" altLang="en-US" sz="2400" dirty="0"/>
              <a:t>做异或</a:t>
            </a:r>
            <a:endParaRPr lang="en-US" altLang="zh-CN" sz="2400" dirty="0"/>
          </a:p>
        </p:txBody>
      </p:sp>
      <p:sp>
        <p:nvSpPr>
          <p:cNvPr id="2" name="灯片编号占位符 1">
            <a:extLst>
              <a:ext uri="{FF2B5EF4-FFF2-40B4-BE49-F238E27FC236}">
                <a16:creationId xmlns:a16="http://schemas.microsoft.com/office/drawing/2014/main" id="{4E60625A-4014-4C9C-9F0D-2D0AD70BB2D6}"/>
              </a:ext>
            </a:extLst>
          </p:cNvPr>
          <p:cNvSpPr>
            <a:spLocks noGrp="1"/>
          </p:cNvSpPr>
          <p:nvPr>
            <p:ph type="sldNum" sz="quarter" idx="12"/>
          </p:nvPr>
        </p:nvSpPr>
        <p:spPr/>
        <p:txBody>
          <a:bodyPr/>
          <a:lstStyle/>
          <a:p>
            <a:fld id="{14659731-6BD7-46E7-8D3C-2F3AC07E20B1}" type="slidenum">
              <a:rPr lang="en-US" altLang="zh-CN" smtClean="0"/>
              <a:pPr/>
              <a:t>33</a:t>
            </a:fld>
            <a:endParaRPr lang="en-US" altLang="zh-CN" dirty="0"/>
          </a:p>
        </p:txBody>
      </p:sp>
      <p:graphicFrame>
        <p:nvGraphicFramePr>
          <p:cNvPr id="6" name="表格 5">
            <a:extLst>
              <a:ext uri="{FF2B5EF4-FFF2-40B4-BE49-F238E27FC236}">
                <a16:creationId xmlns:a16="http://schemas.microsoft.com/office/drawing/2014/main" id="{7AB36D8E-523A-B342-AE98-6BC1839E5429}"/>
              </a:ext>
            </a:extLst>
          </p:cNvPr>
          <p:cNvGraphicFramePr>
            <a:graphicFrameLocks noGrp="1"/>
          </p:cNvGraphicFramePr>
          <p:nvPr>
            <p:extLst>
              <p:ext uri="{D42A27DB-BD31-4B8C-83A1-F6EECF244321}">
                <p14:modId xmlns:p14="http://schemas.microsoft.com/office/powerpoint/2010/main" val="1613149325"/>
              </p:ext>
            </p:extLst>
          </p:nvPr>
        </p:nvGraphicFramePr>
        <p:xfrm>
          <a:off x="2141114" y="2328664"/>
          <a:ext cx="4613495" cy="1676400"/>
        </p:xfrm>
        <a:graphic>
          <a:graphicData uri="http://schemas.openxmlformats.org/drawingml/2006/table">
            <a:tbl>
              <a:tblPr firstRow="1" bandRow="1">
                <a:tableStyleId>{5940675A-B579-460E-94D1-54222C63F5DA}</a:tableStyleId>
              </a:tblPr>
              <a:tblGrid>
                <a:gridCol w="596690">
                  <a:extLst>
                    <a:ext uri="{9D8B030D-6E8A-4147-A177-3AD203B41FA5}">
                      <a16:colId xmlns:a16="http://schemas.microsoft.com/office/drawing/2014/main" val="753173606"/>
                    </a:ext>
                  </a:extLst>
                </a:gridCol>
                <a:gridCol w="771937">
                  <a:extLst>
                    <a:ext uri="{9D8B030D-6E8A-4147-A177-3AD203B41FA5}">
                      <a16:colId xmlns:a16="http://schemas.microsoft.com/office/drawing/2014/main" val="2826336240"/>
                    </a:ext>
                  </a:extLst>
                </a:gridCol>
                <a:gridCol w="3244868">
                  <a:extLst>
                    <a:ext uri="{9D8B030D-6E8A-4147-A177-3AD203B41FA5}">
                      <a16:colId xmlns:a16="http://schemas.microsoft.com/office/drawing/2014/main" val="1365089638"/>
                    </a:ext>
                  </a:extLst>
                </a:gridCol>
              </a:tblGrid>
              <a:tr h="321988">
                <a:tc>
                  <a:txBody>
                    <a:bodyPr/>
                    <a:lstStyle/>
                    <a:p>
                      <a:pPr algn="ctr"/>
                      <a:r>
                        <a:rPr lang="en-US" altLang="zh-CN" sz="1600" dirty="0" err="1"/>
                        <a:t>Cin</a:t>
                      </a:r>
                      <a:endParaRPr lang="zh-CN" altLang="en-US" sz="1600" dirty="0">
                        <a:latin typeface="Microsoft YaHei UI" panose="020B0503020204020204" pitchFamily="34" charset="-122"/>
                        <a:ea typeface="Microsoft YaHei UI" panose="020B0503020204020204" pitchFamily="34" charset="-122"/>
                      </a:endParaRPr>
                    </a:p>
                  </a:txBody>
                  <a:tcPr>
                    <a:solidFill>
                      <a:srgbClr val="B4C6E8"/>
                    </a:solidFill>
                  </a:tcPr>
                </a:tc>
                <a:tc>
                  <a:txBody>
                    <a:bodyPr/>
                    <a:lstStyle/>
                    <a:p>
                      <a:pPr algn="ctr"/>
                      <a:r>
                        <a:rPr lang="en-US" altLang="zh-CN" sz="1600" dirty="0" err="1"/>
                        <a:t>Cout</a:t>
                      </a:r>
                      <a:endParaRPr lang="zh-CN" altLang="en-US" sz="1600" dirty="0">
                        <a:latin typeface="Microsoft YaHei UI" panose="020B0503020204020204" pitchFamily="34" charset="-122"/>
                        <a:ea typeface="Microsoft YaHei UI" panose="020B0503020204020204" pitchFamily="34" charset="-122"/>
                      </a:endParaRPr>
                    </a:p>
                  </a:txBody>
                  <a:tcPr>
                    <a:solidFill>
                      <a:srgbClr val="B4C6E8"/>
                    </a:solidFill>
                  </a:tcPr>
                </a:tc>
                <a:tc>
                  <a:txBody>
                    <a:bodyPr/>
                    <a:lstStyle/>
                    <a:p>
                      <a:pPr algn="ctr"/>
                      <a:r>
                        <a:rPr lang="zh-CN" altLang="en-US" sz="1600" dirty="0"/>
                        <a:t>结果</a:t>
                      </a:r>
                      <a:endParaRPr lang="zh-CN" altLang="en-US" sz="1600" dirty="0">
                        <a:latin typeface="Microsoft YaHei UI" panose="020B0503020204020204" pitchFamily="34" charset="-122"/>
                        <a:ea typeface="Microsoft YaHei UI" panose="020B0503020204020204" pitchFamily="34" charset="-122"/>
                      </a:endParaRPr>
                    </a:p>
                  </a:txBody>
                  <a:tcPr>
                    <a:solidFill>
                      <a:srgbClr val="B4C6E8"/>
                    </a:solidFill>
                  </a:tcPr>
                </a:tc>
                <a:extLst>
                  <a:ext uri="{0D108BD9-81ED-4DB2-BD59-A6C34878D82A}">
                    <a16:rowId xmlns:a16="http://schemas.microsoft.com/office/drawing/2014/main" val="2592433165"/>
                  </a:ext>
                </a:extLst>
              </a:tr>
              <a:tr h="321988">
                <a:tc>
                  <a:txBody>
                    <a:bodyPr/>
                    <a:lstStyle/>
                    <a:p>
                      <a:pPr algn="ctr"/>
                      <a:r>
                        <a:rPr lang="en-US" altLang="zh-CN" sz="1600" dirty="0"/>
                        <a:t>0</a:t>
                      </a:r>
                      <a:endParaRPr lang="zh-CN" altLang="en-US" sz="1600" dirty="0">
                        <a:latin typeface="Microsoft YaHei UI" panose="020B0503020204020204" pitchFamily="34" charset="-122"/>
                        <a:ea typeface="Microsoft YaHei UI" panose="020B0503020204020204" pitchFamily="34" charset="-122"/>
                      </a:endParaRPr>
                    </a:p>
                  </a:txBody>
                  <a:tcPr/>
                </a:tc>
                <a:tc>
                  <a:txBody>
                    <a:bodyPr/>
                    <a:lstStyle/>
                    <a:p>
                      <a:pPr algn="ctr"/>
                      <a:r>
                        <a:rPr lang="en-US" altLang="zh-CN" sz="1600" dirty="0"/>
                        <a:t>0</a:t>
                      </a:r>
                      <a:endParaRPr lang="zh-CN" altLang="en-US" sz="1600" dirty="0">
                        <a:latin typeface="Microsoft YaHei UI" panose="020B0503020204020204" pitchFamily="34" charset="-122"/>
                        <a:ea typeface="Microsoft YaHei UI" panose="020B0503020204020204" pitchFamily="34" charset="-122"/>
                      </a:endParaRPr>
                    </a:p>
                  </a:txBody>
                  <a:tcPr/>
                </a:tc>
                <a:tc>
                  <a:txBody>
                    <a:bodyPr/>
                    <a:lstStyle/>
                    <a:p>
                      <a:pPr algn="ctr"/>
                      <a:r>
                        <a:rPr lang="zh-CN" altLang="en-US" sz="1600" dirty="0"/>
                        <a:t>正确</a:t>
                      </a:r>
                      <a:endParaRPr lang="zh-CN" altLang="en-US" sz="1600" dirty="0">
                        <a:latin typeface="Microsoft YaHei UI" panose="020B0503020204020204" pitchFamily="34" charset="-122"/>
                        <a:ea typeface="Microsoft YaHei UI" panose="020B0503020204020204" pitchFamily="34" charset="-122"/>
                      </a:endParaRPr>
                    </a:p>
                  </a:txBody>
                  <a:tcPr/>
                </a:tc>
                <a:extLst>
                  <a:ext uri="{0D108BD9-81ED-4DB2-BD59-A6C34878D82A}">
                    <a16:rowId xmlns:a16="http://schemas.microsoft.com/office/drawing/2014/main" val="2938696627"/>
                  </a:ext>
                </a:extLst>
              </a:tr>
              <a:tr h="321988">
                <a:tc>
                  <a:txBody>
                    <a:bodyPr/>
                    <a:lstStyle/>
                    <a:p>
                      <a:pPr algn="ctr"/>
                      <a:r>
                        <a:rPr lang="en-US" altLang="zh-CN" sz="1600" dirty="0"/>
                        <a:t>1</a:t>
                      </a:r>
                      <a:endParaRPr lang="zh-CN" altLang="en-US" sz="1600" dirty="0">
                        <a:latin typeface="Microsoft YaHei UI" panose="020B0503020204020204" pitchFamily="34" charset="-122"/>
                        <a:ea typeface="Microsoft YaHei UI" panose="020B0503020204020204" pitchFamily="34" charset="-122"/>
                      </a:endParaRPr>
                    </a:p>
                  </a:txBody>
                  <a:tcPr/>
                </a:tc>
                <a:tc>
                  <a:txBody>
                    <a:bodyPr/>
                    <a:lstStyle/>
                    <a:p>
                      <a:pPr algn="ctr"/>
                      <a:r>
                        <a:rPr lang="en-US" altLang="zh-CN" sz="1600" dirty="0"/>
                        <a:t>0</a:t>
                      </a:r>
                      <a:endParaRPr lang="zh-CN" altLang="en-US" sz="1600" dirty="0">
                        <a:latin typeface="Microsoft YaHei UI" panose="020B0503020204020204" pitchFamily="34" charset="-122"/>
                        <a:ea typeface="Microsoft YaHei UI" panose="020B0503020204020204" pitchFamily="34" charset="-122"/>
                      </a:endParaRPr>
                    </a:p>
                  </a:txBody>
                  <a:tcPr/>
                </a:tc>
                <a:tc>
                  <a:txBody>
                    <a:bodyPr/>
                    <a:lstStyle/>
                    <a:p>
                      <a:pPr algn="ctr"/>
                      <a:r>
                        <a:rPr lang="zh-CN" altLang="en-US" sz="1600" dirty="0"/>
                        <a:t>溢出，上溢（正数相加变负数）</a:t>
                      </a:r>
                      <a:endParaRPr lang="zh-CN" altLang="en-US" sz="1600" dirty="0">
                        <a:latin typeface="Microsoft YaHei UI" panose="020B0503020204020204" pitchFamily="34" charset="-122"/>
                        <a:ea typeface="Microsoft YaHei UI" panose="020B0503020204020204" pitchFamily="34" charset="-122"/>
                      </a:endParaRPr>
                    </a:p>
                  </a:txBody>
                  <a:tcPr/>
                </a:tc>
                <a:extLst>
                  <a:ext uri="{0D108BD9-81ED-4DB2-BD59-A6C34878D82A}">
                    <a16:rowId xmlns:a16="http://schemas.microsoft.com/office/drawing/2014/main" val="875004506"/>
                  </a:ext>
                </a:extLst>
              </a:tr>
              <a:tr h="321988">
                <a:tc>
                  <a:txBody>
                    <a:bodyPr/>
                    <a:lstStyle/>
                    <a:p>
                      <a:pPr algn="ctr"/>
                      <a:r>
                        <a:rPr lang="en-US" altLang="zh-CN" sz="1600" dirty="0"/>
                        <a:t>0</a:t>
                      </a:r>
                      <a:endParaRPr lang="zh-CN" altLang="en-US" sz="1600" dirty="0">
                        <a:latin typeface="Microsoft YaHei UI" panose="020B0503020204020204" pitchFamily="34" charset="-122"/>
                        <a:ea typeface="Microsoft YaHei UI" panose="020B0503020204020204" pitchFamily="34" charset="-122"/>
                      </a:endParaRPr>
                    </a:p>
                  </a:txBody>
                  <a:tcPr/>
                </a:tc>
                <a:tc>
                  <a:txBody>
                    <a:bodyPr/>
                    <a:lstStyle/>
                    <a:p>
                      <a:pPr algn="ctr"/>
                      <a:r>
                        <a:rPr lang="en-US" altLang="zh-CN" sz="1600" dirty="0"/>
                        <a:t>1</a:t>
                      </a:r>
                      <a:endParaRPr lang="zh-CN" altLang="en-US" sz="1600" dirty="0">
                        <a:latin typeface="Microsoft YaHei UI" panose="020B0503020204020204" pitchFamily="34" charset="-122"/>
                        <a:ea typeface="Microsoft YaHei UI" panose="020B0503020204020204" pitchFamily="34" charset="-122"/>
                      </a:endParaRPr>
                    </a:p>
                  </a:txBody>
                  <a:tcPr/>
                </a:tc>
                <a:tc>
                  <a:txBody>
                    <a:bodyPr/>
                    <a:lstStyle/>
                    <a:p>
                      <a:pPr algn="ctr"/>
                      <a:r>
                        <a:rPr lang="zh-CN" altLang="en-US" sz="1600" dirty="0"/>
                        <a:t>溢出，下溢（负数相加变正数）</a:t>
                      </a:r>
                      <a:endParaRPr lang="zh-CN" altLang="en-US" sz="1600" dirty="0">
                        <a:latin typeface="Microsoft YaHei UI" panose="020B0503020204020204" pitchFamily="34" charset="-122"/>
                        <a:ea typeface="Microsoft YaHei UI" panose="020B0503020204020204" pitchFamily="34" charset="-122"/>
                      </a:endParaRPr>
                    </a:p>
                  </a:txBody>
                  <a:tcPr/>
                </a:tc>
                <a:extLst>
                  <a:ext uri="{0D108BD9-81ED-4DB2-BD59-A6C34878D82A}">
                    <a16:rowId xmlns:a16="http://schemas.microsoft.com/office/drawing/2014/main" val="1341580904"/>
                  </a:ext>
                </a:extLst>
              </a:tr>
              <a:tr h="321988">
                <a:tc>
                  <a:txBody>
                    <a:bodyPr/>
                    <a:lstStyle/>
                    <a:p>
                      <a:pPr algn="ctr"/>
                      <a:r>
                        <a:rPr lang="en-US" altLang="zh-CN" sz="1600" dirty="0"/>
                        <a:t>1</a:t>
                      </a:r>
                      <a:endParaRPr lang="zh-CN" altLang="en-US" sz="1600" dirty="0">
                        <a:latin typeface="Microsoft YaHei UI" panose="020B0503020204020204" pitchFamily="34" charset="-122"/>
                        <a:ea typeface="Microsoft YaHei UI" panose="020B0503020204020204" pitchFamily="34" charset="-122"/>
                      </a:endParaRPr>
                    </a:p>
                  </a:txBody>
                  <a:tcPr/>
                </a:tc>
                <a:tc>
                  <a:txBody>
                    <a:bodyPr/>
                    <a:lstStyle/>
                    <a:p>
                      <a:pPr algn="ctr"/>
                      <a:r>
                        <a:rPr lang="en-US" altLang="zh-CN" sz="1600" dirty="0"/>
                        <a:t>1</a:t>
                      </a:r>
                      <a:endParaRPr lang="zh-CN" altLang="en-US" sz="1600" dirty="0">
                        <a:latin typeface="Microsoft YaHei UI" panose="020B0503020204020204" pitchFamily="34" charset="-122"/>
                        <a:ea typeface="Microsoft YaHei UI" panose="020B0503020204020204" pitchFamily="34" charset="-122"/>
                      </a:endParaRPr>
                    </a:p>
                  </a:txBody>
                  <a:tcPr/>
                </a:tc>
                <a:tc>
                  <a:txBody>
                    <a:bodyPr/>
                    <a:lstStyle/>
                    <a:p>
                      <a:pPr algn="ctr"/>
                      <a:r>
                        <a:rPr lang="zh-CN" altLang="en-US" sz="1600" dirty="0"/>
                        <a:t>正确</a:t>
                      </a:r>
                      <a:endParaRPr lang="zh-CN" altLang="en-US" sz="1600" dirty="0">
                        <a:latin typeface="Microsoft YaHei UI" panose="020B0503020204020204" pitchFamily="34" charset="-122"/>
                        <a:ea typeface="Microsoft YaHei UI" panose="020B0503020204020204" pitchFamily="34" charset="-122"/>
                      </a:endParaRPr>
                    </a:p>
                  </a:txBody>
                  <a:tcPr/>
                </a:tc>
                <a:extLst>
                  <a:ext uri="{0D108BD9-81ED-4DB2-BD59-A6C34878D82A}">
                    <a16:rowId xmlns:a16="http://schemas.microsoft.com/office/drawing/2014/main" val="1147434934"/>
                  </a:ext>
                </a:extLst>
              </a:tr>
            </a:tbl>
          </a:graphicData>
        </a:graphic>
      </p:graphicFrame>
      <p:graphicFrame>
        <p:nvGraphicFramePr>
          <p:cNvPr id="25" name="表格 24">
            <a:extLst>
              <a:ext uri="{FF2B5EF4-FFF2-40B4-BE49-F238E27FC236}">
                <a16:creationId xmlns:a16="http://schemas.microsoft.com/office/drawing/2014/main" id="{EF10F06C-9E54-DF42-9AEF-DAB126E4CE20}"/>
              </a:ext>
            </a:extLst>
          </p:cNvPr>
          <p:cNvGraphicFramePr>
            <a:graphicFrameLocks noGrp="1"/>
          </p:cNvGraphicFramePr>
          <p:nvPr>
            <p:extLst>
              <p:ext uri="{D42A27DB-BD31-4B8C-83A1-F6EECF244321}">
                <p14:modId xmlns:p14="http://schemas.microsoft.com/office/powerpoint/2010/main" val="59381040"/>
              </p:ext>
            </p:extLst>
          </p:nvPr>
        </p:nvGraphicFramePr>
        <p:xfrm>
          <a:off x="3564241" y="4618780"/>
          <a:ext cx="2140641" cy="1204692"/>
        </p:xfrm>
        <a:graphic>
          <a:graphicData uri="http://schemas.openxmlformats.org/drawingml/2006/table">
            <a:tbl>
              <a:tblPr bandRow="1">
                <a:tableStyleId>{5940675A-B579-460E-94D1-54222C63F5DA}</a:tableStyleId>
              </a:tblPr>
              <a:tblGrid>
                <a:gridCol w="237849">
                  <a:extLst>
                    <a:ext uri="{9D8B030D-6E8A-4147-A177-3AD203B41FA5}">
                      <a16:colId xmlns:a16="http://schemas.microsoft.com/office/drawing/2014/main" val="4061741347"/>
                    </a:ext>
                  </a:extLst>
                </a:gridCol>
                <a:gridCol w="237849">
                  <a:extLst>
                    <a:ext uri="{9D8B030D-6E8A-4147-A177-3AD203B41FA5}">
                      <a16:colId xmlns:a16="http://schemas.microsoft.com/office/drawing/2014/main" val="3012429543"/>
                    </a:ext>
                  </a:extLst>
                </a:gridCol>
                <a:gridCol w="237849">
                  <a:extLst>
                    <a:ext uri="{9D8B030D-6E8A-4147-A177-3AD203B41FA5}">
                      <a16:colId xmlns:a16="http://schemas.microsoft.com/office/drawing/2014/main" val="3254280036"/>
                    </a:ext>
                  </a:extLst>
                </a:gridCol>
                <a:gridCol w="237849">
                  <a:extLst>
                    <a:ext uri="{9D8B030D-6E8A-4147-A177-3AD203B41FA5}">
                      <a16:colId xmlns:a16="http://schemas.microsoft.com/office/drawing/2014/main" val="3650471978"/>
                    </a:ext>
                  </a:extLst>
                </a:gridCol>
                <a:gridCol w="237849">
                  <a:extLst>
                    <a:ext uri="{9D8B030D-6E8A-4147-A177-3AD203B41FA5}">
                      <a16:colId xmlns:a16="http://schemas.microsoft.com/office/drawing/2014/main" val="3950976522"/>
                    </a:ext>
                  </a:extLst>
                </a:gridCol>
                <a:gridCol w="237849">
                  <a:extLst>
                    <a:ext uri="{9D8B030D-6E8A-4147-A177-3AD203B41FA5}">
                      <a16:colId xmlns:a16="http://schemas.microsoft.com/office/drawing/2014/main" val="2905217216"/>
                    </a:ext>
                  </a:extLst>
                </a:gridCol>
                <a:gridCol w="237849">
                  <a:extLst>
                    <a:ext uri="{9D8B030D-6E8A-4147-A177-3AD203B41FA5}">
                      <a16:colId xmlns:a16="http://schemas.microsoft.com/office/drawing/2014/main" val="2913558647"/>
                    </a:ext>
                  </a:extLst>
                </a:gridCol>
                <a:gridCol w="237849">
                  <a:extLst>
                    <a:ext uri="{9D8B030D-6E8A-4147-A177-3AD203B41FA5}">
                      <a16:colId xmlns:a16="http://schemas.microsoft.com/office/drawing/2014/main" val="3195286918"/>
                    </a:ext>
                  </a:extLst>
                </a:gridCol>
                <a:gridCol w="237849">
                  <a:extLst>
                    <a:ext uri="{9D8B030D-6E8A-4147-A177-3AD203B41FA5}">
                      <a16:colId xmlns:a16="http://schemas.microsoft.com/office/drawing/2014/main" val="2102096571"/>
                    </a:ext>
                  </a:extLst>
                </a:gridCol>
              </a:tblGrid>
              <a:tr h="401564">
                <a:tc>
                  <a:txBody>
                    <a:bodyPr/>
                    <a:lstStyle/>
                    <a:p>
                      <a:endParaRPr lang="zh-CN" altLang="en-US" sz="2000" dirty="0">
                        <a:ea typeface="黑体" panose="02010609060101010101" pitchFamily="49"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4016057"/>
                  </a:ext>
                </a:extLst>
              </a:tr>
              <a:tr h="401564">
                <a:tc>
                  <a:txBody>
                    <a:bodyPr/>
                    <a:lstStyle/>
                    <a:p>
                      <a:r>
                        <a:rPr lang="en-US" altLang="zh-CN" sz="2000" dirty="0">
                          <a:ea typeface="黑体" panose="02010609060101010101" pitchFamily="49" charset="-122"/>
                        </a:rPr>
                        <a:t>+</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7068858"/>
                  </a:ext>
                </a:extLst>
              </a:tr>
              <a:tr h="401564">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solidFill>
                            <a:srgbClr val="FF0000"/>
                          </a:solidFill>
                          <a:ea typeface="黑体" panose="02010609060101010101" pitchFamily="49" charset="-122"/>
                        </a:rPr>
                        <a:t>0</a:t>
                      </a:r>
                      <a:endParaRPr lang="zh-CN" altLang="en-US" sz="2000" dirty="0">
                        <a:solidFill>
                          <a:srgbClr val="FF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8189285"/>
                  </a:ext>
                </a:extLst>
              </a:tr>
            </a:tbl>
          </a:graphicData>
        </a:graphic>
      </p:graphicFrame>
      <p:sp>
        <p:nvSpPr>
          <p:cNvPr id="26" name="文本框 25">
            <a:extLst>
              <a:ext uri="{FF2B5EF4-FFF2-40B4-BE49-F238E27FC236}">
                <a16:creationId xmlns:a16="http://schemas.microsoft.com/office/drawing/2014/main" id="{71D19BD7-01F0-9C47-BF45-7D2EEB96B7A7}"/>
              </a:ext>
            </a:extLst>
          </p:cNvPr>
          <p:cNvSpPr txBox="1"/>
          <p:nvPr/>
        </p:nvSpPr>
        <p:spPr>
          <a:xfrm>
            <a:off x="3792462" y="6241356"/>
            <a:ext cx="1928824" cy="553998"/>
          </a:xfrm>
          <a:prstGeom prst="rect">
            <a:avLst/>
          </a:prstGeom>
          <a:noFill/>
        </p:spPr>
        <p:txBody>
          <a:bodyPr wrap="square" rtlCol="0">
            <a:spAutoFit/>
          </a:bodyPr>
          <a:lstStyle/>
          <a:p>
            <a:pPr algn="ctr"/>
            <a:r>
              <a:rPr kumimoji="1" lang="zh-CN" altLang="en-US" sz="1600" b="1" dirty="0">
                <a:solidFill>
                  <a:srgbClr val="FF0000"/>
                </a:solidFill>
                <a:latin typeface="+mn-lt"/>
                <a:ea typeface="+mn-ea"/>
              </a:rPr>
              <a:t>第二种溢出</a:t>
            </a:r>
            <a:endParaRPr kumimoji="1" lang="en-US" altLang="zh-CN" sz="1600" b="1" dirty="0">
              <a:solidFill>
                <a:srgbClr val="FF0000"/>
              </a:solidFill>
              <a:latin typeface="+mn-lt"/>
              <a:ea typeface="+mn-ea"/>
            </a:endParaRPr>
          </a:p>
          <a:p>
            <a:pPr algn="ctr"/>
            <a:r>
              <a:rPr kumimoji="1" lang="zh-CN" altLang="en-US" sz="1400" b="1" dirty="0">
                <a:latin typeface="+mn-lt"/>
                <a:ea typeface="+mn-ea"/>
              </a:rPr>
              <a:t>两个负数相加变正数</a:t>
            </a:r>
          </a:p>
        </p:txBody>
      </p:sp>
      <p:graphicFrame>
        <p:nvGraphicFramePr>
          <p:cNvPr id="27" name="表格 26">
            <a:extLst>
              <a:ext uri="{FF2B5EF4-FFF2-40B4-BE49-F238E27FC236}">
                <a16:creationId xmlns:a16="http://schemas.microsoft.com/office/drawing/2014/main" id="{1C9C0F26-FED4-454F-803B-358F29874F22}"/>
              </a:ext>
            </a:extLst>
          </p:cNvPr>
          <p:cNvGraphicFramePr>
            <a:graphicFrameLocks noGrp="1"/>
          </p:cNvGraphicFramePr>
          <p:nvPr>
            <p:extLst>
              <p:ext uri="{D42A27DB-BD31-4B8C-83A1-F6EECF244321}">
                <p14:modId xmlns:p14="http://schemas.microsoft.com/office/powerpoint/2010/main" val="407959295"/>
              </p:ext>
            </p:extLst>
          </p:nvPr>
        </p:nvGraphicFramePr>
        <p:xfrm>
          <a:off x="6271912" y="4673440"/>
          <a:ext cx="2240343" cy="1343247"/>
        </p:xfrm>
        <a:graphic>
          <a:graphicData uri="http://schemas.openxmlformats.org/drawingml/2006/table">
            <a:tbl>
              <a:tblPr bandRow="1">
                <a:tableStyleId>{5940675A-B579-460E-94D1-54222C63F5DA}</a:tableStyleId>
              </a:tblPr>
              <a:tblGrid>
                <a:gridCol w="248927">
                  <a:extLst>
                    <a:ext uri="{9D8B030D-6E8A-4147-A177-3AD203B41FA5}">
                      <a16:colId xmlns:a16="http://schemas.microsoft.com/office/drawing/2014/main" val="4061741347"/>
                    </a:ext>
                  </a:extLst>
                </a:gridCol>
                <a:gridCol w="248927">
                  <a:extLst>
                    <a:ext uri="{9D8B030D-6E8A-4147-A177-3AD203B41FA5}">
                      <a16:colId xmlns:a16="http://schemas.microsoft.com/office/drawing/2014/main" val="3012429543"/>
                    </a:ext>
                  </a:extLst>
                </a:gridCol>
                <a:gridCol w="248927">
                  <a:extLst>
                    <a:ext uri="{9D8B030D-6E8A-4147-A177-3AD203B41FA5}">
                      <a16:colId xmlns:a16="http://schemas.microsoft.com/office/drawing/2014/main" val="3254280036"/>
                    </a:ext>
                  </a:extLst>
                </a:gridCol>
                <a:gridCol w="248927">
                  <a:extLst>
                    <a:ext uri="{9D8B030D-6E8A-4147-A177-3AD203B41FA5}">
                      <a16:colId xmlns:a16="http://schemas.microsoft.com/office/drawing/2014/main" val="3650471978"/>
                    </a:ext>
                  </a:extLst>
                </a:gridCol>
                <a:gridCol w="248927">
                  <a:extLst>
                    <a:ext uri="{9D8B030D-6E8A-4147-A177-3AD203B41FA5}">
                      <a16:colId xmlns:a16="http://schemas.microsoft.com/office/drawing/2014/main" val="3950976522"/>
                    </a:ext>
                  </a:extLst>
                </a:gridCol>
                <a:gridCol w="248927">
                  <a:extLst>
                    <a:ext uri="{9D8B030D-6E8A-4147-A177-3AD203B41FA5}">
                      <a16:colId xmlns:a16="http://schemas.microsoft.com/office/drawing/2014/main" val="2905217216"/>
                    </a:ext>
                  </a:extLst>
                </a:gridCol>
                <a:gridCol w="248927">
                  <a:extLst>
                    <a:ext uri="{9D8B030D-6E8A-4147-A177-3AD203B41FA5}">
                      <a16:colId xmlns:a16="http://schemas.microsoft.com/office/drawing/2014/main" val="2913558647"/>
                    </a:ext>
                  </a:extLst>
                </a:gridCol>
                <a:gridCol w="248927">
                  <a:extLst>
                    <a:ext uri="{9D8B030D-6E8A-4147-A177-3AD203B41FA5}">
                      <a16:colId xmlns:a16="http://schemas.microsoft.com/office/drawing/2014/main" val="3195286918"/>
                    </a:ext>
                  </a:extLst>
                </a:gridCol>
                <a:gridCol w="248927">
                  <a:extLst>
                    <a:ext uri="{9D8B030D-6E8A-4147-A177-3AD203B41FA5}">
                      <a16:colId xmlns:a16="http://schemas.microsoft.com/office/drawing/2014/main" val="2102096571"/>
                    </a:ext>
                  </a:extLst>
                </a:gridCol>
              </a:tblGrid>
              <a:tr h="447749">
                <a:tc>
                  <a:txBody>
                    <a:bodyPr/>
                    <a:lstStyle/>
                    <a:p>
                      <a:endParaRPr lang="zh-CN" altLang="en-US" sz="2000" dirty="0">
                        <a:ea typeface="黑体" panose="02010609060101010101" pitchFamily="49"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4016057"/>
                  </a:ext>
                </a:extLst>
              </a:tr>
              <a:tr h="447749">
                <a:tc>
                  <a:txBody>
                    <a:bodyPr/>
                    <a:lstStyle/>
                    <a:p>
                      <a:r>
                        <a:rPr lang="en-US" altLang="zh-CN" sz="2000" dirty="0">
                          <a:ea typeface="黑体" panose="02010609060101010101" pitchFamily="49" charset="-122"/>
                        </a:rPr>
                        <a:t>+</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7068858"/>
                  </a:ext>
                </a:extLst>
              </a:tr>
              <a:tr h="447749">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solidFill>
                            <a:srgbClr val="FF0000"/>
                          </a:solidFill>
                          <a:ea typeface="黑体" panose="02010609060101010101" pitchFamily="49" charset="-122"/>
                        </a:rPr>
                        <a:t>1</a:t>
                      </a:r>
                      <a:endParaRPr lang="zh-CN" altLang="en-US" sz="2000" dirty="0">
                        <a:solidFill>
                          <a:srgbClr val="FF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8189285"/>
                  </a:ext>
                </a:extLst>
              </a:tr>
            </a:tbl>
          </a:graphicData>
        </a:graphic>
      </p:graphicFrame>
      <p:sp>
        <p:nvSpPr>
          <p:cNvPr id="31" name="右大括号 30">
            <a:extLst>
              <a:ext uri="{FF2B5EF4-FFF2-40B4-BE49-F238E27FC236}">
                <a16:creationId xmlns:a16="http://schemas.microsoft.com/office/drawing/2014/main" id="{CDBFC8F3-9A6D-7F49-9688-BC3BA2182494}"/>
              </a:ext>
            </a:extLst>
          </p:cNvPr>
          <p:cNvSpPr/>
          <p:nvPr/>
        </p:nvSpPr>
        <p:spPr bwMode="auto">
          <a:xfrm rot="5400000">
            <a:off x="4567885" y="4849520"/>
            <a:ext cx="173455" cy="2110037"/>
          </a:xfrm>
          <a:prstGeom prst="rightBrace">
            <a:avLst>
              <a:gd name="adj1" fmla="val 6759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b="0" i="0" u="none" strike="noStrike" cap="none" normalizeH="0" baseline="0" dirty="0">
              <a:ln>
                <a:noFill/>
              </a:ln>
              <a:solidFill>
                <a:schemeClr val="tx1"/>
              </a:solidFill>
              <a:effectLst/>
              <a:latin typeface="+mn-lt"/>
              <a:ea typeface="+mn-ea"/>
            </a:endParaRPr>
          </a:p>
        </p:txBody>
      </p:sp>
      <p:sp>
        <p:nvSpPr>
          <p:cNvPr id="32" name="文本框 31">
            <a:extLst>
              <a:ext uri="{FF2B5EF4-FFF2-40B4-BE49-F238E27FC236}">
                <a16:creationId xmlns:a16="http://schemas.microsoft.com/office/drawing/2014/main" id="{BC7B7F21-5C31-2346-A16B-13ACC1A560D8}"/>
              </a:ext>
            </a:extLst>
          </p:cNvPr>
          <p:cNvSpPr txBox="1"/>
          <p:nvPr/>
        </p:nvSpPr>
        <p:spPr>
          <a:xfrm>
            <a:off x="4067390" y="5904538"/>
            <a:ext cx="1219614" cy="461665"/>
          </a:xfrm>
          <a:prstGeom prst="rect">
            <a:avLst/>
          </a:prstGeom>
          <a:noFill/>
        </p:spPr>
        <p:txBody>
          <a:bodyPr wrap="square" rtlCol="0">
            <a:spAutoFit/>
          </a:bodyPr>
          <a:lstStyle/>
          <a:p>
            <a:pPr algn="ctr"/>
            <a:r>
              <a:rPr kumimoji="1" lang="en-US" altLang="zh-CN" b="1" dirty="0">
                <a:solidFill>
                  <a:srgbClr val="FF0000"/>
                </a:solidFill>
                <a:latin typeface="+mn-lt"/>
                <a:ea typeface="+mn-ea"/>
              </a:rPr>
              <a:t>127</a:t>
            </a:r>
            <a:endParaRPr kumimoji="1" lang="zh-CN" altLang="en-US" sz="2400" b="1" dirty="0">
              <a:solidFill>
                <a:srgbClr val="FF0000"/>
              </a:solidFill>
              <a:latin typeface="+mn-lt"/>
              <a:ea typeface="+mn-ea"/>
            </a:endParaRPr>
          </a:p>
        </p:txBody>
      </p:sp>
      <p:sp>
        <p:nvSpPr>
          <p:cNvPr id="33" name="文本框 32">
            <a:extLst>
              <a:ext uri="{FF2B5EF4-FFF2-40B4-BE49-F238E27FC236}">
                <a16:creationId xmlns:a16="http://schemas.microsoft.com/office/drawing/2014/main" id="{90E04D2A-E941-1A40-91D8-F47F1A50DF76}"/>
              </a:ext>
            </a:extLst>
          </p:cNvPr>
          <p:cNvSpPr txBox="1"/>
          <p:nvPr/>
        </p:nvSpPr>
        <p:spPr>
          <a:xfrm>
            <a:off x="3818218" y="3983394"/>
            <a:ext cx="1224076" cy="584775"/>
          </a:xfrm>
          <a:prstGeom prst="rect">
            <a:avLst/>
          </a:prstGeom>
          <a:noFill/>
        </p:spPr>
        <p:txBody>
          <a:bodyPr wrap="square" rtlCol="0">
            <a:spAutoFit/>
          </a:bodyPr>
          <a:lstStyle/>
          <a:p>
            <a:pPr algn="ctr"/>
            <a:r>
              <a:rPr kumimoji="1" lang="zh-CN" altLang="en-US" sz="1600" b="1" dirty="0">
                <a:ea typeface="黑体" panose="02010609060101010101" pitchFamily="49" charset="-122"/>
              </a:rPr>
              <a:t>最高位</a:t>
            </a:r>
            <a:endParaRPr kumimoji="1" lang="en-US" altLang="zh-CN" sz="1600" b="1" dirty="0">
              <a:ea typeface="黑体" panose="02010609060101010101" pitchFamily="49" charset="-122"/>
            </a:endParaRPr>
          </a:p>
          <a:p>
            <a:pPr algn="ctr"/>
            <a:r>
              <a:rPr kumimoji="1" lang="zh-CN" altLang="en-US" sz="1600" b="1" dirty="0">
                <a:ea typeface="黑体" panose="02010609060101010101" pitchFamily="49" charset="-122"/>
              </a:rPr>
              <a:t>无进位</a:t>
            </a:r>
          </a:p>
        </p:txBody>
      </p:sp>
      <p:sp>
        <p:nvSpPr>
          <p:cNvPr id="34" name="文本框 33">
            <a:extLst>
              <a:ext uri="{FF2B5EF4-FFF2-40B4-BE49-F238E27FC236}">
                <a16:creationId xmlns:a16="http://schemas.microsoft.com/office/drawing/2014/main" id="{5E24FF3F-122C-D843-8863-DB56A0FAD171}"/>
              </a:ext>
            </a:extLst>
          </p:cNvPr>
          <p:cNvSpPr txBox="1"/>
          <p:nvPr/>
        </p:nvSpPr>
        <p:spPr>
          <a:xfrm>
            <a:off x="3350689" y="3976098"/>
            <a:ext cx="816826" cy="584775"/>
          </a:xfrm>
          <a:prstGeom prst="rect">
            <a:avLst/>
          </a:prstGeom>
          <a:noFill/>
        </p:spPr>
        <p:txBody>
          <a:bodyPr wrap="square" rtlCol="0">
            <a:spAutoFit/>
          </a:bodyPr>
          <a:lstStyle/>
          <a:p>
            <a:pPr algn="ctr"/>
            <a:r>
              <a:rPr kumimoji="1" lang="zh-CN" altLang="en-US" sz="1600" b="1" dirty="0">
                <a:solidFill>
                  <a:srgbClr val="FF0000"/>
                </a:solidFill>
                <a:ea typeface="黑体" panose="02010609060101010101" pitchFamily="49" charset="-122"/>
              </a:rPr>
              <a:t>符号位</a:t>
            </a:r>
            <a:endParaRPr kumimoji="1" lang="en-US" altLang="zh-CN" sz="1600" b="1" dirty="0">
              <a:solidFill>
                <a:srgbClr val="FF0000"/>
              </a:solidFill>
              <a:ea typeface="黑体" panose="02010609060101010101" pitchFamily="49" charset="-122"/>
            </a:endParaRPr>
          </a:p>
          <a:p>
            <a:pPr algn="ctr"/>
            <a:r>
              <a:rPr kumimoji="1" lang="zh-CN" altLang="en-US" sz="1600" b="1" dirty="0">
                <a:solidFill>
                  <a:srgbClr val="FF0000"/>
                </a:solidFill>
                <a:ea typeface="黑体" panose="02010609060101010101" pitchFamily="49" charset="-122"/>
              </a:rPr>
              <a:t>有进位</a:t>
            </a:r>
          </a:p>
        </p:txBody>
      </p:sp>
      <p:cxnSp>
        <p:nvCxnSpPr>
          <p:cNvPr id="35" name="直线箭头连接符 34">
            <a:extLst>
              <a:ext uri="{FF2B5EF4-FFF2-40B4-BE49-F238E27FC236}">
                <a16:creationId xmlns:a16="http://schemas.microsoft.com/office/drawing/2014/main" id="{57514328-A551-2F41-84AE-F5715277F80B}"/>
              </a:ext>
            </a:extLst>
          </p:cNvPr>
          <p:cNvCxnSpPr>
            <a:cxnSpLocks/>
          </p:cNvCxnSpPr>
          <p:nvPr/>
        </p:nvCxnSpPr>
        <p:spPr bwMode="auto">
          <a:xfrm>
            <a:off x="3975473" y="4535366"/>
            <a:ext cx="0" cy="19716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36" name="直线箭头连接符 35">
            <a:extLst>
              <a:ext uri="{FF2B5EF4-FFF2-40B4-BE49-F238E27FC236}">
                <a16:creationId xmlns:a16="http://schemas.microsoft.com/office/drawing/2014/main" id="{8C07EF97-4ACA-2244-984D-5003DE11915E}"/>
              </a:ext>
            </a:extLst>
          </p:cNvPr>
          <p:cNvCxnSpPr>
            <a:cxnSpLocks/>
          </p:cNvCxnSpPr>
          <p:nvPr/>
        </p:nvCxnSpPr>
        <p:spPr bwMode="auto">
          <a:xfrm>
            <a:off x="4202677" y="4517559"/>
            <a:ext cx="0" cy="20244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43" name="右大括号 42">
            <a:extLst>
              <a:ext uri="{FF2B5EF4-FFF2-40B4-BE49-F238E27FC236}">
                <a16:creationId xmlns:a16="http://schemas.microsoft.com/office/drawing/2014/main" id="{51D75471-898C-944A-8012-EB6F36620D00}"/>
              </a:ext>
            </a:extLst>
          </p:cNvPr>
          <p:cNvSpPr/>
          <p:nvPr/>
        </p:nvSpPr>
        <p:spPr bwMode="auto">
          <a:xfrm rot="5400000">
            <a:off x="7370530" y="4977792"/>
            <a:ext cx="173455" cy="2110037"/>
          </a:xfrm>
          <a:prstGeom prst="rightBrace">
            <a:avLst>
              <a:gd name="adj1" fmla="val 6759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44" name="文本框 43">
            <a:extLst>
              <a:ext uri="{FF2B5EF4-FFF2-40B4-BE49-F238E27FC236}">
                <a16:creationId xmlns:a16="http://schemas.microsoft.com/office/drawing/2014/main" id="{9C329629-9250-CA4E-93B6-BCC0FE1610C4}"/>
              </a:ext>
            </a:extLst>
          </p:cNvPr>
          <p:cNvSpPr txBox="1"/>
          <p:nvPr/>
        </p:nvSpPr>
        <p:spPr>
          <a:xfrm>
            <a:off x="6839413" y="6019694"/>
            <a:ext cx="1219614" cy="461665"/>
          </a:xfrm>
          <a:prstGeom prst="rect">
            <a:avLst/>
          </a:prstGeom>
          <a:noFill/>
        </p:spPr>
        <p:txBody>
          <a:bodyPr wrap="square" rtlCol="0">
            <a:spAutoFit/>
          </a:bodyPr>
          <a:lstStyle/>
          <a:p>
            <a:pPr algn="ctr"/>
            <a:r>
              <a:rPr kumimoji="1" lang="en-US" altLang="zh-CN" b="1" dirty="0">
                <a:solidFill>
                  <a:srgbClr val="FF0000"/>
                </a:solidFill>
                <a:latin typeface="+mn-lt"/>
                <a:ea typeface="+mn-ea"/>
              </a:rPr>
              <a:t>-128</a:t>
            </a:r>
            <a:endParaRPr kumimoji="1" lang="zh-CN" altLang="en-US" sz="2400" b="1" dirty="0">
              <a:solidFill>
                <a:srgbClr val="FF0000"/>
              </a:solidFill>
              <a:latin typeface="+mn-lt"/>
              <a:ea typeface="+mn-ea"/>
            </a:endParaRPr>
          </a:p>
        </p:txBody>
      </p:sp>
      <p:sp>
        <p:nvSpPr>
          <p:cNvPr id="45" name="文本框 44">
            <a:extLst>
              <a:ext uri="{FF2B5EF4-FFF2-40B4-BE49-F238E27FC236}">
                <a16:creationId xmlns:a16="http://schemas.microsoft.com/office/drawing/2014/main" id="{034AAEA9-D24C-584F-86C1-1203C7F16008}"/>
              </a:ext>
            </a:extLst>
          </p:cNvPr>
          <p:cNvSpPr txBox="1"/>
          <p:nvPr/>
        </p:nvSpPr>
        <p:spPr>
          <a:xfrm>
            <a:off x="6484808" y="6400022"/>
            <a:ext cx="1928824" cy="338554"/>
          </a:xfrm>
          <a:prstGeom prst="rect">
            <a:avLst/>
          </a:prstGeom>
          <a:noFill/>
        </p:spPr>
        <p:txBody>
          <a:bodyPr wrap="square" rtlCol="0">
            <a:spAutoFit/>
          </a:bodyPr>
          <a:lstStyle/>
          <a:p>
            <a:pPr algn="ctr"/>
            <a:r>
              <a:rPr kumimoji="1" lang="zh-CN" altLang="en-US" sz="1600" b="1" dirty="0">
                <a:solidFill>
                  <a:srgbClr val="FF0000"/>
                </a:solidFill>
                <a:latin typeface="+mn-ea"/>
                <a:ea typeface="+mn-ea"/>
              </a:rPr>
              <a:t>未溢出</a:t>
            </a:r>
            <a:endParaRPr kumimoji="1" lang="en-US" altLang="zh-CN" sz="1600" b="1" dirty="0">
              <a:solidFill>
                <a:srgbClr val="FF0000"/>
              </a:solidFill>
              <a:latin typeface="+mn-ea"/>
              <a:ea typeface="+mn-ea"/>
            </a:endParaRPr>
          </a:p>
        </p:txBody>
      </p:sp>
      <p:sp>
        <p:nvSpPr>
          <p:cNvPr id="47" name="文本框 46">
            <a:extLst>
              <a:ext uri="{FF2B5EF4-FFF2-40B4-BE49-F238E27FC236}">
                <a16:creationId xmlns:a16="http://schemas.microsoft.com/office/drawing/2014/main" id="{2C006FA8-C228-4046-BFE8-910AB33826C4}"/>
              </a:ext>
            </a:extLst>
          </p:cNvPr>
          <p:cNvSpPr txBox="1"/>
          <p:nvPr/>
        </p:nvSpPr>
        <p:spPr>
          <a:xfrm>
            <a:off x="6076395" y="3977167"/>
            <a:ext cx="816826" cy="584775"/>
          </a:xfrm>
          <a:prstGeom prst="rect">
            <a:avLst/>
          </a:prstGeom>
          <a:noFill/>
        </p:spPr>
        <p:txBody>
          <a:bodyPr wrap="square" rtlCol="0">
            <a:spAutoFit/>
          </a:bodyPr>
          <a:lstStyle/>
          <a:p>
            <a:pPr algn="ctr"/>
            <a:r>
              <a:rPr kumimoji="1" lang="zh-CN" altLang="en-US" sz="1600" b="1" dirty="0">
                <a:solidFill>
                  <a:srgbClr val="FF0000"/>
                </a:solidFill>
                <a:ea typeface="黑体" panose="02010609060101010101" pitchFamily="49" charset="-122"/>
              </a:rPr>
              <a:t>符号位</a:t>
            </a:r>
            <a:endParaRPr kumimoji="1" lang="en-US" altLang="zh-CN" sz="1600" b="1" dirty="0">
              <a:solidFill>
                <a:srgbClr val="FF0000"/>
              </a:solidFill>
              <a:ea typeface="黑体" panose="02010609060101010101" pitchFamily="49" charset="-122"/>
            </a:endParaRPr>
          </a:p>
          <a:p>
            <a:pPr algn="ctr"/>
            <a:r>
              <a:rPr kumimoji="1" lang="zh-CN" altLang="en-US" sz="1600" b="1" dirty="0">
                <a:solidFill>
                  <a:srgbClr val="FF0000"/>
                </a:solidFill>
                <a:ea typeface="黑体" panose="02010609060101010101" pitchFamily="49" charset="-122"/>
              </a:rPr>
              <a:t>有进位</a:t>
            </a:r>
          </a:p>
        </p:txBody>
      </p:sp>
      <p:cxnSp>
        <p:nvCxnSpPr>
          <p:cNvPr id="48" name="直线箭头连接符 47">
            <a:extLst>
              <a:ext uri="{FF2B5EF4-FFF2-40B4-BE49-F238E27FC236}">
                <a16:creationId xmlns:a16="http://schemas.microsoft.com/office/drawing/2014/main" id="{EE037934-D625-4849-BF47-016067536211}"/>
              </a:ext>
            </a:extLst>
          </p:cNvPr>
          <p:cNvCxnSpPr>
            <a:cxnSpLocks/>
          </p:cNvCxnSpPr>
          <p:nvPr/>
        </p:nvCxnSpPr>
        <p:spPr bwMode="auto">
          <a:xfrm>
            <a:off x="6701179" y="4536435"/>
            <a:ext cx="0" cy="19716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
        <p:nvSpPr>
          <p:cNvPr id="49" name="文本框 48">
            <a:extLst>
              <a:ext uri="{FF2B5EF4-FFF2-40B4-BE49-F238E27FC236}">
                <a16:creationId xmlns:a16="http://schemas.microsoft.com/office/drawing/2014/main" id="{468FAAFE-C3D8-0747-96C3-08AE42BADC35}"/>
              </a:ext>
            </a:extLst>
          </p:cNvPr>
          <p:cNvSpPr txBox="1"/>
          <p:nvPr/>
        </p:nvSpPr>
        <p:spPr>
          <a:xfrm>
            <a:off x="6754609" y="3969060"/>
            <a:ext cx="816826" cy="584775"/>
          </a:xfrm>
          <a:prstGeom prst="rect">
            <a:avLst/>
          </a:prstGeom>
          <a:noFill/>
        </p:spPr>
        <p:txBody>
          <a:bodyPr wrap="square" rtlCol="0">
            <a:spAutoFit/>
          </a:bodyPr>
          <a:lstStyle/>
          <a:p>
            <a:pPr algn="ctr"/>
            <a:r>
              <a:rPr kumimoji="1" lang="zh-CN" altLang="en-US" sz="1600" b="1" dirty="0">
                <a:solidFill>
                  <a:srgbClr val="FF0000"/>
                </a:solidFill>
                <a:ea typeface="黑体" panose="02010609060101010101" pitchFamily="49" charset="-122"/>
              </a:rPr>
              <a:t>最高位</a:t>
            </a:r>
            <a:endParaRPr kumimoji="1" lang="en-US" altLang="zh-CN" sz="1600" b="1" dirty="0">
              <a:solidFill>
                <a:srgbClr val="FF0000"/>
              </a:solidFill>
              <a:ea typeface="黑体" panose="02010609060101010101" pitchFamily="49" charset="-122"/>
            </a:endParaRPr>
          </a:p>
          <a:p>
            <a:pPr algn="ctr"/>
            <a:r>
              <a:rPr kumimoji="1" lang="zh-CN" altLang="en-US" sz="1600" b="1" dirty="0">
                <a:solidFill>
                  <a:srgbClr val="FF0000"/>
                </a:solidFill>
                <a:ea typeface="黑体" panose="02010609060101010101" pitchFamily="49" charset="-122"/>
              </a:rPr>
              <a:t>有进位</a:t>
            </a:r>
          </a:p>
        </p:txBody>
      </p:sp>
      <p:cxnSp>
        <p:nvCxnSpPr>
          <p:cNvPr id="50" name="直线箭头连接符 49">
            <a:extLst>
              <a:ext uri="{FF2B5EF4-FFF2-40B4-BE49-F238E27FC236}">
                <a16:creationId xmlns:a16="http://schemas.microsoft.com/office/drawing/2014/main" id="{ADCD47C8-1547-AB43-B0DA-153566F91CDD}"/>
              </a:ext>
            </a:extLst>
          </p:cNvPr>
          <p:cNvCxnSpPr>
            <a:cxnSpLocks/>
          </p:cNvCxnSpPr>
          <p:nvPr/>
        </p:nvCxnSpPr>
        <p:spPr bwMode="auto">
          <a:xfrm>
            <a:off x="6970980" y="4532389"/>
            <a:ext cx="0" cy="19716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graphicFrame>
        <p:nvGraphicFramePr>
          <p:cNvPr id="51" name="表格 50">
            <a:extLst>
              <a:ext uri="{FF2B5EF4-FFF2-40B4-BE49-F238E27FC236}">
                <a16:creationId xmlns:a16="http://schemas.microsoft.com/office/drawing/2014/main" id="{C05975DE-A713-014C-B4DF-764D8093C5FD}"/>
              </a:ext>
            </a:extLst>
          </p:cNvPr>
          <p:cNvGraphicFramePr>
            <a:graphicFrameLocks noGrp="1"/>
          </p:cNvGraphicFramePr>
          <p:nvPr>
            <p:extLst>
              <p:ext uri="{D42A27DB-BD31-4B8C-83A1-F6EECF244321}">
                <p14:modId xmlns:p14="http://schemas.microsoft.com/office/powerpoint/2010/main" val="1816128604"/>
              </p:ext>
            </p:extLst>
          </p:nvPr>
        </p:nvGraphicFramePr>
        <p:xfrm>
          <a:off x="563864" y="4570229"/>
          <a:ext cx="2140641" cy="1204692"/>
        </p:xfrm>
        <a:graphic>
          <a:graphicData uri="http://schemas.openxmlformats.org/drawingml/2006/table">
            <a:tbl>
              <a:tblPr bandRow="1">
                <a:tableStyleId>{5940675A-B579-460E-94D1-54222C63F5DA}</a:tableStyleId>
              </a:tblPr>
              <a:tblGrid>
                <a:gridCol w="237849">
                  <a:extLst>
                    <a:ext uri="{9D8B030D-6E8A-4147-A177-3AD203B41FA5}">
                      <a16:colId xmlns:a16="http://schemas.microsoft.com/office/drawing/2014/main" val="4061741347"/>
                    </a:ext>
                  </a:extLst>
                </a:gridCol>
                <a:gridCol w="237849">
                  <a:extLst>
                    <a:ext uri="{9D8B030D-6E8A-4147-A177-3AD203B41FA5}">
                      <a16:colId xmlns:a16="http://schemas.microsoft.com/office/drawing/2014/main" val="3012429543"/>
                    </a:ext>
                  </a:extLst>
                </a:gridCol>
                <a:gridCol w="237849">
                  <a:extLst>
                    <a:ext uri="{9D8B030D-6E8A-4147-A177-3AD203B41FA5}">
                      <a16:colId xmlns:a16="http://schemas.microsoft.com/office/drawing/2014/main" val="3254280036"/>
                    </a:ext>
                  </a:extLst>
                </a:gridCol>
                <a:gridCol w="237849">
                  <a:extLst>
                    <a:ext uri="{9D8B030D-6E8A-4147-A177-3AD203B41FA5}">
                      <a16:colId xmlns:a16="http://schemas.microsoft.com/office/drawing/2014/main" val="3650471978"/>
                    </a:ext>
                  </a:extLst>
                </a:gridCol>
                <a:gridCol w="237849">
                  <a:extLst>
                    <a:ext uri="{9D8B030D-6E8A-4147-A177-3AD203B41FA5}">
                      <a16:colId xmlns:a16="http://schemas.microsoft.com/office/drawing/2014/main" val="3950976522"/>
                    </a:ext>
                  </a:extLst>
                </a:gridCol>
                <a:gridCol w="237849">
                  <a:extLst>
                    <a:ext uri="{9D8B030D-6E8A-4147-A177-3AD203B41FA5}">
                      <a16:colId xmlns:a16="http://schemas.microsoft.com/office/drawing/2014/main" val="2905217216"/>
                    </a:ext>
                  </a:extLst>
                </a:gridCol>
                <a:gridCol w="237849">
                  <a:extLst>
                    <a:ext uri="{9D8B030D-6E8A-4147-A177-3AD203B41FA5}">
                      <a16:colId xmlns:a16="http://schemas.microsoft.com/office/drawing/2014/main" val="2913558647"/>
                    </a:ext>
                  </a:extLst>
                </a:gridCol>
                <a:gridCol w="237849">
                  <a:extLst>
                    <a:ext uri="{9D8B030D-6E8A-4147-A177-3AD203B41FA5}">
                      <a16:colId xmlns:a16="http://schemas.microsoft.com/office/drawing/2014/main" val="3195286918"/>
                    </a:ext>
                  </a:extLst>
                </a:gridCol>
                <a:gridCol w="237849">
                  <a:extLst>
                    <a:ext uri="{9D8B030D-6E8A-4147-A177-3AD203B41FA5}">
                      <a16:colId xmlns:a16="http://schemas.microsoft.com/office/drawing/2014/main" val="2102096571"/>
                    </a:ext>
                  </a:extLst>
                </a:gridCol>
              </a:tblGrid>
              <a:tr h="401564">
                <a:tc>
                  <a:txBody>
                    <a:bodyPr/>
                    <a:lstStyle/>
                    <a:p>
                      <a:endParaRPr lang="zh-CN" altLang="en-US" sz="2000" dirty="0">
                        <a:ea typeface="黑体" panose="02010609060101010101" pitchFamily="49"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4016057"/>
                  </a:ext>
                </a:extLst>
              </a:tr>
              <a:tr h="401564">
                <a:tc>
                  <a:txBody>
                    <a:bodyPr/>
                    <a:lstStyle/>
                    <a:p>
                      <a:r>
                        <a:rPr lang="en-US" altLang="zh-CN" sz="2000" dirty="0">
                          <a:ea typeface="黑体" panose="02010609060101010101" pitchFamily="49" charset="-122"/>
                        </a:rPr>
                        <a:t>+</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7068858"/>
                  </a:ext>
                </a:extLst>
              </a:tr>
              <a:tr h="401564">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solidFill>
                            <a:srgbClr val="FF0000"/>
                          </a:solidFill>
                          <a:ea typeface="黑体" panose="02010609060101010101" pitchFamily="49" charset="-122"/>
                        </a:rPr>
                        <a:t>1</a:t>
                      </a:r>
                      <a:endParaRPr lang="zh-CN" altLang="en-US" sz="2000" dirty="0">
                        <a:solidFill>
                          <a:srgbClr val="FF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1</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dirty="0">
                          <a:ea typeface="黑体" panose="02010609060101010101" pitchFamily="49" charset="-122"/>
                        </a:rPr>
                        <a:t>0</a:t>
                      </a:r>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8189285"/>
                  </a:ext>
                </a:extLst>
              </a:tr>
            </a:tbl>
          </a:graphicData>
        </a:graphic>
      </p:graphicFrame>
      <p:sp>
        <p:nvSpPr>
          <p:cNvPr id="52" name="文本框 51">
            <a:extLst>
              <a:ext uri="{FF2B5EF4-FFF2-40B4-BE49-F238E27FC236}">
                <a16:creationId xmlns:a16="http://schemas.microsoft.com/office/drawing/2014/main" id="{35B2D793-59AC-AE4F-891C-1F8C7674DEBE}"/>
              </a:ext>
            </a:extLst>
          </p:cNvPr>
          <p:cNvSpPr txBox="1"/>
          <p:nvPr/>
        </p:nvSpPr>
        <p:spPr>
          <a:xfrm>
            <a:off x="775082" y="6267178"/>
            <a:ext cx="1928824" cy="553998"/>
          </a:xfrm>
          <a:prstGeom prst="rect">
            <a:avLst/>
          </a:prstGeom>
          <a:noFill/>
        </p:spPr>
        <p:txBody>
          <a:bodyPr wrap="square" rtlCol="0">
            <a:spAutoFit/>
          </a:bodyPr>
          <a:lstStyle/>
          <a:p>
            <a:pPr algn="ctr"/>
            <a:r>
              <a:rPr kumimoji="1" lang="zh-CN" altLang="en-US" sz="1600" b="1" dirty="0">
                <a:solidFill>
                  <a:srgbClr val="FF0000"/>
                </a:solidFill>
                <a:latin typeface="+mn-lt"/>
                <a:ea typeface="+mn-ea"/>
              </a:rPr>
              <a:t>第一种溢出</a:t>
            </a:r>
            <a:endParaRPr kumimoji="1" lang="en-US" altLang="zh-CN" sz="1600" b="1" dirty="0">
              <a:solidFill>
                <a:srgbClr val="FF0000"/>
              </a:solidFill>
              <a:latin typeface="+mn-lt"/>
              <a:ea typeface="+mn-ea"/>
            </a:endParaRPr>
          </a:p>
          <a:p>
            <a:pPr algn="ctr"/>
            <a:r>
              <a:rPr kumimoji="1" lang="zh-CN" altLang="en-US" sz="1400" b="1" dirty="0">
                <a:latin typeface="+mn-lt"/>
                <a:ea typeface="+mn-ea"/>
              </a:rPr>
              <a:t>两个正数相加变负数</a:t>
            </a:r>
          </a:p>
        </p:txBody>
      </p:sp>
      <p:sp>
        <p:nvSpPr>
          <p:cNvPr id="53" name="右大括号 52">
            <a:extLst>
              <a:ext uri="{FF2B5EF4-FFF2-40B4-BE49-F238E27FC236}">
                <a16:creationId xmlns:a16="http://schemas.microsoft.com/office/drawing/2014/main" id="{ECD669E5-8DF1-994B-B60B-AE49246A1AB6}"/>
              </a:ext>
            </a:extLst>
          </p:cNvPr>
          <p:cNvSpPr/>
          <p:nvPr/>
        </p:nvSpPr>
        <p:spPr bwMode="auto">
          <a:xfrm rot="5400000">
            <a:off x="1567508" y="4800969"/>
            <a:ext cx="173455" cy="2110037"/>
          </a:xfrm>
          <a:prstGeom prst="rightBrace">
            <a:avLst>
              <a:gd name="adj1" fmla="val 6759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b="0" i="0" u="none" strike="noStrike" cap="none" normalizeH="0" baseline="0" dirty="0">
              <a:ln>
                <a:noFill/>
              </a:ln>
              <a:solidFill>
                <a:schemeClr val="tx1"/>
              </a:solidFill>
              <a:effectLst/>
              <a:latin typeface="+mn-lt"/>
              <a:ea typeface="+mn-ea"/>
            </a:endParaRPr>
          </a:p>
        </p:txBody>
      </p:sp>
      <p:sp>
        <p:nvSpPr>
          <p:cNvPr id="54" name="文本框 53">
            <a:extLst>
              <a:ext uri="{FF2B5EF4-FFF2-40B4-BE49-F238E27FC236}">
                <a16:creationId xmlns:a16="http://schemas.microsoft.com/office/drawing/2014/main" id="{D47D2413-5AB6-C844-A847-34A305D913BF}"/>
              </a:ext>
            </a:extLst>
          </p:cNvPr>
          <p:cNvSpPr txBox="1"/>
          <p:nvPr/>
        </p:nvSpPr>
        <p:spPr>
          <a:xfrm>
            <a:off x="1031359" y="5891422"/>
            <a:ext cx="1219614" cy="461665"/>
          </a:xfrm>
          <a:prstGeom prst="rect">
            <a:avLst/>
          </a:prstGeom>
          <a:noFill/>
        </p:spPr>
        <p:txBody>
          <a:bodyPr wrap="square" rtlCol="0">
            <a:spAutoFit/>
          </a:bodyPr>
          <a:lstStyle/>
          <a:p>
            <a:pPr algn="ctr"/>
            <a:r>
              <a:rPr kumimoji="1" lang="en-US" altLang="zh-CN" b="1" dirty="0">
                <a:solidFill>
                  <a:srgbClr val="FF0000"/>
                </a:solidFill>
                <a:latin typeface="+mn-lt"/>
                <a:ea typeface="+mn-ea"/>
              </a:rPr>
              <a:t>-129</a:t>
            </a:r>
            <a:endParaRPr kumimoji="1" lang="zh-CN" altLang="en-US" sz="2400" b="1" dirty="0">
              <a:solidFill>
                <a:srgbClr val="FF0000"/>
              </a:solidFill>
              <a:latin typeface="+mn-lt"/>
              <a:ea typeface="+mn-ea"/>
            </a:endParaRPr>
          </a:p>
        </p:txBody>
      </p:sp>
      <p:sp>
        <p:nvSpPr>
          <p:cNvPr id="55" name="文本框 54">
            <a:extLst>
              <a:ext uri="{FF2B5EF4-FFF2-40B4-BE49-F238E27FC236}">
                <a16:creationId xmlns:a16="http://schemas.microsoft.com/office/drawing/2014/main" id="{D91DB2E7-5D95-4241-9982-81CA62F0EE34}"/>
              </a:ext>
            </a:extLst>
          </p:cNvPr>
          <p:cNvSpPr txBox="1"/>
          <p:nvPr/>
        </p:nvSpPr>
        <p:spPr>
          <a:xfrm>
            <a:off x="817841" y="3934843"/>
            <a:ext cx="1224076" cy="584775"/>
          </a:xfrm>
          <a:prstGeom prst="rect">
            <a:avLst/>
          </a:prstGeom>
          <a:noFill/>
        </p:spPr>
        <p:txBody>
          <a:bodyPr wrap="square" rtlCol="0">
            <a:spAutoFit/>
          </a:bodyPr>
          <a:lstStyle/>
          <a:p>
            <a:pPr algn="ctr"/>
            <a:r>
              <a:rPr kumimoji="1" lang="zh-CN" altLang="en-US" sz="1600" b="1" dirty="0">
                <a:ea typeface="黑体" panose="02010609060101010101" pitchFamily="49" charset="-122"/>
              </a:rPr>
              <a:t>最高位</a:t>
            </a:r>
            <a:endParaRPr kumimoji="1" lang="en-US" altLang="zh-CN" sz="1600" b="1" dirty="0">
              <a:ea typeface="黑体" panose="02010609060101010101" pitchFamily="49" charset="-122"/>
            </a:endParaRPr>
          </a:p>
          <a:p>
            <a:pPr algn="ctr"/>
            <a:r>
              <a:rPr kumimoji="1" lang="zh-CN" altLang="en-US" sz="1600" b="1" dirty="0">
                <a:ea typeface="黑体" panose="02010609060101010101" pitchFamily="49" charset="-122"/>
              </a:rPr>
              <a:t>有进位</a:t>
            </a:r>
          </a:p>
        </p:txBody>
      </p:sp>
      <p:sp>
        <p:nvSpPr>
          <p:cNvPr id="56" name="文本框 55">
            <a:extLst>
              <a:ext uri="{FF2B5EF4-FFF2-40B4-BE49-F238E27FC236}">
                <a16:creationId xmlns:a16="http://schemas.microsoft.com/office/drawing/2014/main" id="{0D7FE9EB-6CD9-A74E-87C1-B58874DB4D0C}"/>
              </a:ext>
            </a:extLst>
          </p:cNvPr>
          <p:cNvSpPr txBox="1"/>
          <p:nvPr/>
        </p:nvSpPr>
        <p:spPr>
          <a:xfrm>
            <a:off x="350312" y="3927547"/>
            <a:ext cx="816826" cy="584775"/>
          </a:xfrm>
          <a:prstGeom prst="rect">
            <a:avLst/>
          </a:prstGeom>
          <a:noFill/>
        </p:spPr>
        <p:txBody>
          <a:bodyPr wrap="square" rtlCol="0">
            <a:spAutoFit/>
          </a:bodyPr>
          <a:lstStyle/>
          <a:p>
            <a:pPr algn="ctr"/>
            <a:r>
              <a:rPr kumimoji="1" lang="zh-CN" altLang="en-US" sz="1600" b="1" dirty="0">
                <a:solidFill>
                  <a:srgbClr val="FF0000"/>
                </a:solidFill>
                <a:ea typeface="黑体" panose="02010609060101010101" pitchFamily="49" charset="-122"/>
              </a:rPr>
              <a:t>符号位</a:t>
            </a:r>
            <a:endParaRPr kumimoji="1" lang="en-US" altLang="zh-CN" sz="1600" b="1" dirty="0">
              <a:solidFill>
                <a:srgbClr val="FF0000"/>
              </a:solidFill>
              <a:ea typeface="黑体" panose="02010609060101010101" pitchFamily="49" charset="-122"/>
            </a:endParaRPr>
          </a:p>
          <a:p>
            <a:pPr algn="ctr"/>
            <a:r>
              <a:rPr kumimoji="1" lang="zh-CN" altLang="en-US" sz="1600" b="1" dirty="0">
                <a:solidFill>
                  <a:srgbClr val="FF0000"/>
                </a:solidFill>
                <a:ea typeface="黑体" panose="02010609060101010101" pitchFamily="49" charset="-122"/>
              </a:rPr>
              <a:t>无进位</a:t>
            </a:r>
          </a:p>
        </p:txBody>
      </p:sp>
      <p:cxnSp>
        <p:nvCxnSpPr>
          <p:cNvPr id="57" name="直线箭头连接符 56">
            <a:extLst>
              <a:ext uri="{FF2B5EF4-FFF2-40B4-BE49-F238E27FC236}">
                <a16:creationId xmlns:a16="http://schemas.microsoft.com/office/drawing/2014/main" id="{480AF507-9463-0B4C-85B2-8AE92EB854F4}"/>
              </a:ext>
            </a:extLst>
          </p:cNvPr>
          <p:cNvCxnSpPr>
            <a:cxnSpLocks/>
          </p:cNvCxnSpPr>
          <p:nvPr/>
        </p:nvCxnSpPr>
        <p:spPr bwMode="auto">
          <a:xfrm>
            <a:off x="975096" y="4486815"/>
            <a:ext cx="0" cy="19716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58" name="直线箭头连接符 57">
            <a:extLst>
              <a:ext uri="{FF2B5EF4-FFF2-40B4-BE49-F238E27FC236}">
                <a16:creationId xmlns:a16="http://schemas.microsoft.com/office/drawing/2014/main" id="{B800C9C4-0F45-5846-B0DD-0382A82253D3}"/>
              </a:ext>
            </a:extLst>
          </p:cNvPr>
          <p:cNvCxnSpPr>
            <a:cxnSpLocks/>
          </p:cNvCxnSpPr>
          <p:nvPr/>
        </p:nvCxnSpPr>
        <p:spPr bwMode="auto">
          <a:xfrm>
            <a:off x="1202300" y="4469008"/>
            <a:ext cx="0" cy="20244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60" name="直线箭头连接符 59">
            <a:extLst>
              <a:ext uri="{FF2B5EF4-FFF2-40B4-BE49-F238E27FC236}">
                <a16:creationId xmlns:a16="http://schemas.microsoft.com/office/drawing/2014/main" id="{DBD41731-CB14-4645-AC9D-E34AACD07B48}"/>
              </a:ext>
            </a:extLst>
          </p:cNvPr>
          <p:cNvCxnSpPr>
            <a:cxnSpLocks/>
          </p:cNvCxnSpPr>
          <p:nvPr/>
        </p:nvCxnSpPr>
        <p:spPr bwMode="auto">
          <a:xfrm>
            <a:off x="3700802" y="4524880"/>
            <a:ext cx="0" cy="19716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cxnSp>
        <p:nvCxnSpPr>
          <p:cNvPr id="61" name="直线箭头连接符 60">
            <a:extLst>
              <a:ext uri="{FF2B5EF4-FFF2-40B4-BE49-F238E27FC236}">
                <a16:creationId xmlns:a16="http://schemas.microsoft.com/office/drawing/2014/main" id="{6C47C6B2-AD60-2442-9A86-F713F6617E41}"/>
              </a:ext>
            </a:extLst>
          </p:cNvPr>
          <p:cNvCxnSpPr>
            <a:cxnSpLocks/>
          </p:cNvCxnSpPr>
          <p:nvPr/>
        </p:nvCxnSpPr>
        <p:spPr bwMode="auto">
          <a:xfrm>
            <a:off x="3970603" y="4520834"/>
            <a:ext cx="0" cy="197160"/>
          </a:xfrm>
          <a:prstGeom prst="straightConnector1">
            <a:avLst/>
          </a:prstGeom>
          <a:solidFill>
            <a:schemeClr val="accent1"/>
          </a:solid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496870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9BD4A044-0BA4-4958-83C2-4A6BB4AE6077}"/>
              </a:ext>
            </a:extLst>
          </p:cNvPr>
          <p:cNvSpPr txBox="1"/>
          <p:nvPr>
            <p:custDataLst>
              <p:tags r:id="rId2"/>
            </p:custDataLst>
          </p:nvPr>
        </p:nvSpPr>
        <p:spPr>
          <a:xfrm>
            <a:off x="914400" y="188640"/>
            <a:ext cx="7315200" cy="2143125"/>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以下</a:t>
            </a:r>
            <a:r>
              <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补码运算会溢出的是哪一项？</a:t>
            </a:r>
          </a:p>
        </p:txBody>
      </p:sp>
      <p:sp>
        <p:nvSpPr>
          <p:cNvPr id="8" name="文本框 7">
            <a:extLst>
              <a:ext uri="{FF2B5EF4-FFF2-40B4-BE49-F238E27FC236}">
                <a16:creationId xmlns:a16="http://schemas.microsoft.com/office/drawing/2014/main" id="{EA76772A-397A-42FB-BF1F-5AF82BAE7578}"/>
              </a:ext>
            </a:extLst>
          </p:cNvPr>
          <p:cNvSpPr txBox="1"/>
          <p:nvPr>
            <p:custDataLst>
              <p:tags r:id="rId3"/>
            </p:custDataLst>
          </p:nvPr>
        </p:nvSpPr>
        <p:spPr>
          <a:xfrm>
            <a:off x="1828800" y="1578484"/>
            <a:ext cx="2059124"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rPr>
              <a:t>1001+0110</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文本框 8">
            <a:extLst>
              <a:ext uri="{FF2B5EF4-FFF2-40B4-BE49-F238E27FC236}">
                <a16:creationId xmlns:a16="http://schemas.microsoft.com/office/drawing/2014/main" id="{8C39D382-F096-4EAB-85EC-F11B7D8716FE}"/>
              </a:ext>
            </a:extLst>
          </p:cNvPr>
          <p:cNvSpPr txBox="1"/>
          <p:nvPr>
            <p:custDataLst>
              <p:tags r:id="rId4"/>
            </p:custDataLst>
          </p:nvPr>
        </p:nvSpPr>
        <p:spPr>
          <a:xfrm>
            <a:off x="1828800" y="2188347"/>
            <a:ext cx="2059124"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rPr>
              <a:t>0011+1110</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文本框 9">
            <a:extLst>
              <a:ext uri="{FF2B5EF4-FFF2-40B4-BE49-F238E27FC236}">
                <a16:creationId xmlns:a16="http://schemas.microsoft.com/office/drawing/2014/main" id="{937B7AB1-A81F-4728-B4BE-82AE375DA505}"/>
              </a:ext>
            </a:extLst>
          </p:cNvPr>
          <p:cNvSpPr txBox="1"/>
          <p:nvPr>
            <p:custDataLst>
              <p:tags r:id="rId5"/>
            </p:custDataLst>
          </p:nvPr>
        </p:nvSpPr>
        <p:spPr>
          <a:xfrm>
            <a:off x="1828800" y="2806397"/>
            <a:ext cx="2059124"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rPr>
              <a:t>1101+1011</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文本框 10">
            <a:extLst>
              <a:ext uri="{FF2B5EF4-FFF2-40B4-BE49-F238E27FC236}">
                <a16:creationId xmlns:a16="http://schemas.microsoft.com/office/drawing/2014/main" id="{94FACFEC-3C09-4CDD-9AC2-62F466172640}"/>
              </a:ext>
            </a:extLst>
          </p:cNvPr>
          <p:cNvSpPr txBox="1"/>
          <p:nvPr>
            <p:custDataLst>
              <p:tags r:id="rId6"/>
            </p:custDataLst>
          </p:nvPr>
        </p:nvSpPr>
        <p:spPr>
          <a:xfrm>
            <a:off x="1828800" y="3421528"/>
            <a:ext cx="2059124"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rPr>
              <a:t>0101+0111</a:t>
            </a:r>
            <a:endPar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椭圆 11">
            <a:extLst>
              <a:ext uri="{FF2B5EF4-FFF2-40B4-BE49-F238E27FC236}">
                <a16:creationId xmlns:a16="http://schemas.microsoft.com/office/drawing/2014/main" id="{A434B86E-6269-4E32-9A01-FFEA3911E1D2}"/>
              </a:ext>
            </a:extLst>
          </p:cNvPr>
          <p:cNvSpPr>
            <a:spLocks noChangeAspect="1"/>
          </p:cNvSpPr>
          <p:nvPr>
            <p:custDataLst>
              <p:tags r:id="rId7"/>
            </p:custDataLst>
          </p:nvPr>
        </p:nvSpPr>
        <p:spPr bwMode="auto">
          <a:xfrm>
            <a:off x="1114425" y="1642777"/>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椭圆 12">
            <a:extLst>
              <a:ext uri="{FF2B5EF4-FFF2-40B4-BE49-F238E27FC236}">
                <a16:creationId xmlns:a16="http://schemas.microsoft.com/office/drawing/2014/main" id="{975A395F-4357-44EE-83A8-061B33220A22}"/>
              </a:ext>
            </a:extLst>
          </p:cNvPr>
          <p:cNvSpPr>
            <a:spLocks noChangeAspect="1"/>
          </p:cNvSpPr>
          <p:nvPr>
            <p:custDataLst>
              <p:tags r:id="rId8"/>
            </p:custDataLst>
          </p:nvPr>
        </p:nvSpPr>
        <p:spPr bwMode="auto">
          <a:xfrm>
            <a:off x="1114425" y="225264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4" name="椭圆 13">
            <a:extLst>
              <a:ext uri="{FF2B5EF4-FFF2-40B4-BE49-F238E27FC236}">
                <a16:creationId xmlns:a16="http://schemas.microsoft.com/office/drawing/2014/main" id="{9769AF21-C908-4AC1-8CE4-D9467E14280E}"/>
              </a:ext>
            </a:extLst>
          </p:cNvPr>
          <p:cNvSpPr>
            <a:spLocks noChangeAspect="1"/>
          </p:cNvSpPr>
          <p:nvPr>
            <p:custDataLst>
              <p:tags r:id="rId9"/>
            </p:custDataLst>
          </p:nvPr>
        </p:nvSpPr>
        <p:spPr bwMode="auto">
          <a:xfrm>
            <a:off x="1114425" y="2870690"/>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5" name="椭圆 14">
            <a:extLst>
              <a:ext uri="{FF2B5EF4-FFF2-40B4-BE49-F238E27FC236}">
                <a16:creationId xmlns:a16="http://schemas.microsoft.com/office/drawing/2014/main" id="{82EE3A88-98FC-45F0-8F2D-5C979C043D68}"/>
              </a:ext>
            </a:extLst>
          </p:cNvPr>
          <p:cNvSpPr>
            <a:spLocks noChangeAspect="1"/>
          </p:cNvSpPr>
          <p:nvPr>
            <p:custDataLst>
              <p:tags r:id="rId10"/>
            </p:custDataLst>
          </p:nvPr>
        </p:nvSpPr>
        <p:spPr bwMode="auto">
          <a:xfrm>
            <a:off x="1114425" y="3485821"/>
            <a:ext cx="53090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aphicFrame>
        <p:nvGraphicFramePr>
          <p:cNvPr id="20" name="表格 5">
            <a:extLst>
              <a:ext uri="{FF2B5EF4-FFF2-40B4-BE49-F238E27FC236}">
                <a16:creationId xmlns:a16="http://schemas.microsoft.com/office/drawing/2014/main" id="{F63C2A2A-6D22-DB44-BF4C-A194C6D94CC2}"/>
              </a:ext>
            </a:extLst>
          </p:cNvPr>
          <p:cNvGraphicFramePr>
            <a:graphicFrameLocks noGrp="1"/>
          </p:cNvGraphicFramePr>
          <p:nvPr>
            <p:extLst>
              <p:ext uri="{D42A27DB-BD31-4B8C-83A1-F6EECF244321}">
                <p14:modId xmlns:p14="http://schemas.microsoft.com/office/powerpoint/2010/main" val="3325006126"/>
              </p:ext>
            </p:extLst>
          </p:nvPr>
        </p:nvGraphicFramePr>
        <p:xfrm>
          <a:off x="1825517" y="4123520"/>
          <a:ext cx="5673539" cy="1981200"/>
        </p:xfrm>
        <a:graphic>
          <a:graphicData uri="http://schemas.openxmlformats.org/drawingml/2006/table">
            <a:tbl>
              <a:tblPr firstRow="1" bandRow="1">
                <a:tableStyleId>{5940675A-B579-460E-94D1-54222C63F5DA}</a:tableStyleId>
              </a:tblPr>
              <a:tblGrid>
                <a:gridCol w="733791">
                  <a:extLst>
                    <a:ext uri="{9D8B030D-6E8A-4147-A177-3AD203B41FA5}">
                      <a16:colId xmlns:a16="http://schemas.microsoft.com/office/drawing/2014/main" val="753173606"/>
                    </a:ext>
                  </a:extLst>
                </a:gridCol>
                <a:gridCol w="949305">
                  <a:extLst>
                    <a:ext uri="{9D8B030D-6E8A-4147-A177-3AD203B41FA5}">
                      <a16:colId xmlns:a16="http://schemas.microsoft.com/office/drawing/2014/main" val="2826336240"/>
                    </a:ext>
                  </a:extLst>
                </a:gridCol>
                <a:gridCol w="3990443">
                  <a:extLst>
                    <a:ext uri="{9D8B030D-6E8A-4147-A177-3AD203B41FA5}">
                      <a16:colId xmlns:a16="http://schemas.microsoft.com/office/drawing/2014/main" val="1365089638"/>
                    </a:ext>
                  </a:extLst>
                </a:gridCol>
              </a:tblGrid>
              <a:tr h="358544">
                <a:tc>
                  <a:txBody>
                    <a:bodyPr/>
                    <a:lstStyle/>
                    <a:p>
                      <a:pPr algn="ctr"/>
                      <a:r>
                        <a:rPr lang="en-US" altLang="zh-CN" sz="2000" dirty="0" err="1"/>
                        <a:t>Cin</a:t>
                      </a:r>
                      <a:endParaRPr lang="zh-CN" altLang="en-US" sz="2000" dirty="0">
                        <a:latin typeface="Microsoft YaHei UI" panose="020B0503020204020204" pitchFamily="34" charset="-122"/>
                        <a:ea typeface="Microsoft YaHei UI" panose="020B0503020204020204" pitchFamily="34" charset="-122"/>
                      </a:endParaRPr>
                    </a:p>
                  </a:txBody>
                  <a:tcPr>
                    <a:solidFill>
                      <a:srgbClr val="B4C6E8"/>
                    </a:solidFill>
                  </a:tcPr>
                </a:tc>
                <a:tc>
                  <a:txBody>
                    <a:bodyPr/>
                    <a:lstStyle/>
                    <a:p>
                      <a:pPr algn="ctr"/>
                      <a:r>
                        <a:rPr lang="en-US" altLang="zh-CN" sz="2000" dirty="0" err="1"/>
                        <a:t>Cout</a:t>
                      </a:r>
                      <a:endParaRPr lang="zh-CN" altLang="en-US" sz="2000" dirty="0">
                        <a:latin typeface="Microsoft YaHei UI" panose="020B0503020204020204" pitchFamily="34" charset="-122"/>
                        <a:ea typeface="Microsoft YaHei UI" panose="020B0503020204020204" pitchFamily="34" charset="-122"/>
                      </a:endParaRPr>
                    </a:p>
                  </a:txBody>
                  <a:tcPr>
                    <a:solidFill>
                      <a:srgbClr val="B4C6E8"/>
                    </a:solidFill>
                  </a:tcPr>
                </a:tc>
                <a:tc>
                  <a:txBody>
                    <a:bodyPr/>
                    <a:lstStyle/>
                    <a:p>
                      <a:pPr algn="ctr"/>
                      <a:r>
                        <a:rPr lang="zh-CN" altLang="en-US" sz="2000" dirty="0"/>
                        <a:t>结果</a:t>
                      </a:r>
                      <a:endParaRPr lang="zh-CN" altLang="en-US" sz="2000" dirty="0">
                        <a:latin typeface="Microsoft YaHei UI" panose="020B0503020204020204" pitchFamily="34" charset="-122"/>
                        <a:ea typeface="Microsoft YaHei UI" panose="020B0503020204020204" pitchFamily="34" charset="-122"/>
                      </a:endParaRPr>
                    </a:p>
                  </a:txBody>
                  <a:tcPr>
                    <a:solidFill>
                      <a:srgbClr val="B4C6E8"/>
                    </a:solidFill>
                  </a:tcPr>
                </a:tc>
                <a:extLst>
                  <a:ext uri="{0D108BD9-81ED-4DB2-BD59-A6C34878D82A}">
                    <a16:rowId xmlns:a16="http://schemas.microsoft.com/office/drawing/2014/main" val="2592433165"/>
                  </a:ext>
                </a:extLst>
              </a:tr>
              <a:tr h="358544">
                <a:tc>
                  <a:txBody>
                    <a:bodyPr/>
                    <a:lstStyle/>
                    <a:p>
                      <a:pPr algn="ctr"/>
                      <a:r>
                        <a:rPr lang="en-US" altLang="zh-CN" sz="2000" dirty="0"/>
                        <a:t>0</a:t>
                      </a:r>
                      <a:endParaRPr lang="zh-CN" altLang="en-US" sz="2000" dirty="0">
                        <a:latin typeface="Microsoft YaHei UI" panose="020B0503020204020204" pitchFamily="34" charset="-122"/>
                        <a:ea typeface="Microsoft YaHei UI" panose="020B0503020204020204" pitchFamily="34" charset="-122"/>
                      </a:endParaRPr>
                    </a:p>
                  </a:txBody>
                  <a:tcPr/>
                </a:tc>
                <a:tc>
                  <a:txBody>
                    <a:bodyPr/>
                    <a:lstStyle/>
                    <a:p>
                      <a:pPr algn="ctr"/>
                      <a:r>
                        <a:rPr lang="en-US" altLang="zh-CN" sz="2000" dirty="0"/>
                        <a:t>0</a:t>
                      </a:r>
                      <a:endParaRPr lang="zh-CN" altLang="en-US" sz="2000" dirty="0">
                        <a:latin typeface="Microsoft YaHei UI" panose="020B0503020204020204" pitchFamily="34" charset="-122"/>
                        <a:ea typeface="Microsoft YaHei UI" panose="020B0503020204020204" pitchFamily="34" charset="-122"/>
                      </a:endParaRPr>
                    </a:p>
                  </a:txBody>
                  <a:tcPr/>
                </a:tc>
                <a:tc>
                  <a:txBody>
                    <a:bodyPr/>
                    <a:lstStyle/>
                    <a:p>
                      <a:pPr algn="ctr"/>
                      <a:r>
                        <a:rPr lang="zh-CN" altLang="en-US" sz="2000" dirty="0"/>
                        <a:t>正确</a:t>
                      </a:r>
                      <a:endParaRPr lang="zh-CN" altLang="en-US" sz="2000" dirty="0">
                        <a:latin typeface="Microsoft YaHei UI" panose="020B0503020204020204" pitchFamily="34" charset="-122"/>
                        <a:ea typeface="Microsoft YaHei UI" panose="020B0503020204020204" pitchFamily="34" charset="-122"/>
                      </a:endParaRPr>
                    </a:p>
                  </a:txBody>
                  <a:tcPr/>
                </a:tc>
                <a:extLst>
                  <a:ext uri="{0D108BD9-81ED-4DB2-BD59-A6C34878D82A}">
                    <a16:rowId xmlns:a16="http://schemas.microsoft.com/office/drawing/2014/main" val="2938696627"/>
                  </a:ext>
                </a:extLst>
              </a:tr>
              <a:tr h="358544">
                <a:tc>
                  <a:txBody>
                    <a:bodyPr/>
                    <a:lstStyle/>
                    <a:p>
                      <a:pPr algn="ctr"/>
                      <a:r>
                        <a:rPr lang="en-US" altLang="zh-CN" sz="2000" dirty="0"/>
                        <a:t>1</a:t>
                      </a:r>
                      <a:endParaRPr lang="zh-CN" altLang="en-US" sz="2000" dirty="0">
                        <a:latin typeface="Microsoft YaHei UI" panose="020B0503020204020204" pitchFamily="34" charset="-122"/>
                        <a:ea typeface="Microsoft YaHei UI" panose="020B0503020204020204" pitchFamily="34" charset="-122"/>
                      </a:endParaRPr>
                    </a:p>
                  </a:txBody>
                  <a:tcPr/>
                </a:tc>
                <a:tc>
                  <a:txBody>
                    <a:bodyPr/>
                    <a:lstStyle/>
                    <a:p>
                      <a:pPr algn="ctr"/>
                      <a:r>
                        <a:rPr lang="en-US" altLang="zh-CN" sz="2000" dirty="0"/>
                        <a:t>0</a:t>
                      </a:r>
                      <a:endParaRPr lang="zh-CN" altLang="en-US" sz="2000" dirty="0">
                        <a:latin typeface="Microsoft YaHei UI" panose="020B0503020204020204" pitchFamily="34" charset="-122"/>
                        <a:ea typeface="Microsoft YaHei UI" panose="020B0503020204020204" pitchFamily="34" charset="-122"/>
                      </a:endParaRPr>
                    </a:p>
                  </a:txBody>
                  <a:tcPr/>
                </a:tc>
                <a:tc>
                  <a:txBody>
                    <a:bodyPr/>
                    <a:lstStyle/>
                    <a:p>
                      <a:pPr algn="ctr"/>
                      <a:r>
                        <a:rPr lang="zh-CN" altLang="en-US" sz="2000" dirty="0"/>
                        <a:t>溢出，上溢（正数相加变负数</a:t>
                      </a:r>
                      <a:r>
                        <a:rPr lang="en-US" altLang="zh-CN" sz="2000" dirty="0"/>
                        <a:t>/0</a:t>
                      </a:r>
                      <a:r>
                        <a:rPr lang="zh-CN" altLang="en-US" sz="2000" dirty="0"/>
                        <a:t>）</a:t>
                      </a:r>
                      <a:endParaRPr lang="zh-CN" altLang="en-US" sz="2000" dirty="0">
                        <a:latin typeface="Microsoft YaHei UI" panose="020B0503020204020204" pitchFamily="34" charset="-122"/>
                        <a:ea typeface="Microsoft YaHei UI" panose="020B0503020204020204" pitchFamily="34" charset="-122"/>
                      </a:endParaRPr>
                    </a:p>
                  </a:txBody>
                  <a:tcPr/>
                </a:tc>
                <a:extLst>
                  <a:ext uri="{0D108BD9-81ED-4DB2-BD59-A6C34878D82A}">
                    <a16:rowId xmlns:a16="http://schemas.microsoft.com/office/drawing/2014/main" val="875004506"/>
                  </a:ext>
                </a:extLst>
              </a:tr>
              <a:tr h="358544">
                <a:tc>
                  <a:txBody>
                    <a:bodyPr/>
                    <a:lstStyle/>
                    <a:p>
                      <a:pPr algn="ctr"/>
                      <a:r>
                        <a:rPr lang="en-US" altLang="zh-CN" sz="2000" dirty="0"/>
                        <a:t>0</a:t>
                      </a:r>
                      <a:endParaRPr lang="zh-CN" altLang="en-US" sz="2000" dirty="0">
                        <a:latin typeface="Microsoft YaHei UI" panose="020B0503020204020204" pitchFamily="34" charset="-122"/>
                        <a:ea typeface="Microsoft YaHei UI" panose="020B0503020204020204" pitchFamily="34" charset="-122"/>
                      </a:endParaRPr>
                    </a:p>
                  </a:txBody>
                  <a:tcPr/>
                </a:tc>
                <a:tc>
                  <a:txBody>
                    <a:bodyPr/>
                    <a:lstStyle/>
                    <a:p>
                      <a:pPr algn="ctr"/>
                      <a:r>
                        <a:rPr lang="en-US" altLang="zh-CN" sz="2000" dirty="0"/>
                        <a:t>1</a:t>
                      </a:r>
                      <a:endParaRPr lang="zh-CN" altLang="en-US" sz="2000" dirty="0">
                        <a:latin typeface="Microsoft YaHei UI" panose="020B0503020204020204" pitchFamily="34" charset="-122"/>
                        <a:ea typeface="Microsoft YaHei UI" panose="020B0503020204020204" pitchFamily="34" charset="-122"/>
                      </a:endParaRPr>
                    </a:p>
                  </a:txBody>
                  <a:tcPr/>
                </a:tc>
                <a:tc>
                  <a:txBody>
                    <a:bodyPr/>
                    <a:lstStyle/>
                    <a:p>
                      <a:pPr algn="ctr"/>
                      <a:r>
                        <a:rPr lang="zh-CN" altLang="en-US" sz="2000" dirty="0"/>
                        <a:t>溢出，下溢（负数相加变正数</a:t>
                      </a:r>
                      <a:r>
                        <a:rPr lang="en-US" altLang="zh-CN" sz="2000" dirty="0"/>
                        <a:t>/0</a:t>
                      </a:r>
                      <a:r>
                        <a:rPr lang="zh-CN" altLang="en-US" sz="2000" dirty="0"/>
                        <a:t>）</a:t>
                      </a:r>
                      <a:endParaRPr lang="zh-CN" altLang="en-US" sz="2000" dirty="0">
                        <a:latin typeface="Microsoft YaHei UI" panose="020B0503020204020204" pitchFamily="34" charset="-122"/>
                        <a:ea typeface="Microsoft YaHei UI" panose="020B0503020204020204" pitchFamily="34" charset="-122"/>
                      </a:endParaRPr>
                    </a:p>
                  </a:txBody>
                  <a:tcPr/>
                </a:tc>
                <a:extLst>
                  <a:ext uri="{0D108BD9-81ED-4DB2-BD59-A6C34878D82A}">
                    <a16:rowId xmlns:a16="http://schemas.microsoft.com/office/drawing/2014/main" val="1341580904"/>
                  </a:ext>
                </a:extLst>
              </a:tr>
              <a:tr h="358544">
                <a:tc>
                  <a:txBody>
                    <a:bodyPr/>
                    <a:lstStyle/>
                    <a:p>
                      <a:pPr algn="ctr"/>
                      <a:r>
                        <a:rPr lang="en-US" altLang="zh-CN" sz="2000" dirty="0"/>
                        <a:t>1</a:t>
                      </a:r>
                      <a:endParaRPr lang="zh-CN" altLang="en-US" sz="2000" dirty="0">
                        <a:latin typeface="Microsoft YaHei UI" panose="020B0503020204020204" pitchFamily="34" charset="-122"/>
                        <a:ea typeface="Microsoft YaHei UI" panose="020B0503020204020204" pitchFamily="34" charset="-122"/>
                      </a:endParaRPr>
                    </a:p>
                  </a:txBody>
                  <a:tcPr/>
                </a:tc>
                <a:tc>
                  <a:txBody>
                    <a:bodyPr/>
                    <a:lstStyle/>
                    <a:p>
                      <a:pPr algn="ctr"/>
                      <a:r>
                        <a:rPr lang="en-US" altLang="zh-CN" sz="2000" dirty="0"/>
                        <a:t>1</a:t>
                      </a:r>
                      <a:endParaRPr lang="zh-CN" altLang="en-US" sz="2000" dirty="0">
                        <a:latin typeface="Microsoft YaHei UI" panose="020B0503020204020204" pitchFamily="34" charset="-122"/>
                        <a:ea typeface="Microsoft YaHei UI" panose="020B0503020204020204" pitchFamily="34" charset="-122"/>
                      </a:endParaRPr>
                    </a:p>
                  </a:txBody>
                  <a:tcPr/>
                </a:tc>
                <a:tc>
                  <a:txBody>
                    <a:bodyPr/>
                    <a:lstStyle/>
                    <a:p>
                      <a:pPr algn="ctr"/>
                      <a:r>
                        <a:rPr lang="zh-CN" altLang="en-US" sz="2000" dirty="0"/>
                        <a:t>正确</a:t>
                      </a:r>
                      <a:endParaRPr lang="zh-CN" altLang="en-US" sz="2000" dirty="0">
                        <a:latin typeface="Microsoft YaHei UI" panose="020B0503020204020204" pitchFamily="34" charset="-122"/>
                        <a:ea typeface="Microsoft YaHei UI" panose="020B0503020204020204" pitchFamily="34" charset="-122"/>
                      </a:endParaRPr>
                    </a:p>
                  </a:txBody>
                  <a:tcPr/>
                </a:tc>
                <a:extLst>
                  <a:ext uri="{0D108BD9-81ED-4DB2-BD59-A6C34878D82A}">
                    <a16:rowId xmlns:a16="http://schemas.microsoft.com/office/drawing/2014/main" val="1147434934"/>
                  </a:ext>
                </a:extLst>
              </a:tr>
            </a:tbl>
          </a:graphicData>
        </a:graphic>
      </p:graphicFrame>
      <p:sp>
        <p:nvSpPr>
          <p:cNvPr id="2" name="TextBox 1">
            <a:extLst>
              <a:ext uri="{FF2B5EF4-FFF2-40B4-BE49-F238E27FC236}">
                <a16:creationId xmlns:a16="http://schemas.microsoft.com/office/drawing/2014/main" id="{B0217E56-23FE-BB4B-9574-34E884B8F312}"/>
              </a:ext>
            </a:extLst>
          </p:cNvPr>
          <p:cNvSpPr txBox="1"/>
          <p:nvPr/>
        </p:nvSpPr>
        <p:spPr>
          <a:xfrm>
            <a:off x="403333" y="4996249"/>
            <a:ext cx="1422184" cy="461665"/>
          </a:xfrm>
          <a:prstGeom prst="rect">
            <a:avLst/>
          </a:prstGeom>
          <a:noFill/>
        </p:spPr>
        <p:txBody>
          <a:bodyPr wrap="none" rtlCol="0">
            <a:spAutoFit/>
          </a:bodyPr>
          <a:lstStyle/>
          <a:p>
            <a:r>
              <a:rPr lang="en-CN" sz="2400" b="1" dirty="0">
                <a:latin typeface="SimHei" panose="02010609060101010101" pitchFamily="49" charset="-122"/>
                <a:ea typeface="SimHei" panose="02010609060101010101" pitchFamily="49" charset="-122"/>
              </a:rPr>
              <a:t>方法二</a:t>
            </a:r>
            <a:r>
              <a:rPr lang="zh-CN" altLang="en-US" sz="2400" b="1" dirty="0">
                <a:latin typeface="SimHei" panose="02010609060101010101" pitchFamily="49" charset="-122"/>
                <a:ea typeface="SimHei" panose="02010609060101010101" pitchFamily="49" charset="-122"/>
              </a:rPr>
              <a:t>：</a:t>
            </a:r>
            <a:endParaRPr lang="en-CN" sz="2400" b="1" dirty="0">
              <a:latin typeface="SimHei" panose="02010609060101010101" pitchFamily="49" charset="-122"/>
              <a:ea typeface="SimHei" panose="02010609060101010101" pitchFamily="49" charset="-122"/>
            </a:endParaRPr>
          </a:p>
        </p:txBody>
      </p:sp>
      <p:sp>
        <p:nvSpPr>
          <p:cNvPr id="5" name="矩形: 圆角 4">
            <a:extLst>
              <a:ext uri="{FF2B5EF4-FFF2-40B4-BE49-F238E27FC236}">
                <a16:creationId xmlns:a16="http://schemas.microsoft.com/office/drawing/2014/main" id="{AD5277E0-414C-0E82-0DCA-0755978E9AB4}"/>
              </a:ext>
            </a:extLst>
          </p:cNvPr>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7D6572F2-162A-AC0A-5F6B-296EC60EF6D0}"/>
              </a:ext>
            </a:extLst>
          </p:cNvPr>
          <p:cNvGrpSpPr/>
          <p:nvPr>
            <p:custDataLst>
              <p:tags r:id="rId12"/>
            </p:custDataLst>
          </p:nvPr>
        </p:nvGrpSpPr>
        <p:grpSpPr>
          <a:xfrm>
            <a:off x="0" y="0"/>
            <a:ext cx="9144000" cy="635000"/>
            <a:chOff x="0" y="0"/>
            <a:chExt cx="9144000" cy="635000"/>
          </a:xfrm>
        </p:grpSpPr>
        <p:sp>
          <p:nvSpPr>
            <p:cNvPr id="17" name="TitleBackground">
              <a:extLst>
                <a:ext uri="{FF2B5EF4-FFF2-40B4-BE49-F238E27FC236}">
                  <a16:creationId xmlns:a16="http://schemas.microsoft.com/office/drawing/2014/main" id="{F89FF7AE-86B3-44AE-B94E-7D04E349A1AC}"/>
                </a:ext>
              </a:extLst>
            </p:cNvPr>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18" name="ColorBlock">
              <a:extLst>
                <a:ext uri="{FF2B5EF4-FFF2-40B4-BE49-F238E27FC236}">
                  <a16:creationId xmlns:a16="http://schemas.microsoft.com/office/drawing/2014/main" id="{4AF66EB9-3E26-4C8F-9C33-D79408A26DF6}"/>
                </a:ext>
              </a:extLst>
            </p:cNvPr>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19" name="TypeText">
              <a:extLst>
                <a:ext uri="{FF2B5EF4-FFF2-40B4-BE49-F238E27FC236}">
                  <a16:creationId xmlns:a16="http://schemas.microsoft.com/office/drawing/2014/main" id="{75297CB5-6B9E-4090-82AA-6A2E19BA3142}"/>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22" name="TipText">
              <a:extLst>
                <a:ext uri="{FF2B5EF4-FFF2-40B4-BE49-F238E27FC236}">
                  <a16:creationId xmlns:a16="http://schemas.microsoft.com/office/drawing/2014/main" id="{E0FD07A7-4AB8-57CA-99FB-08439AC4DAC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sp>
        <p:nvSpPr>
          <p:cNvPr id="4" name="TextBox 1">
            <a:extLst>
              <a:ext uri="{FF2B5EF4-FFF2-40B4-BE49-F238E27FC236}">
                <a16:creationId xmlns:a16="http://schemas.microsoft.com/office/drawing/2014/main" id="{612065E8-60CA-90D8-42D6-38A2870D4F73}"/>
              </a:ext>
            </a:extLst>
          </p:cNvPr>
          <p:cNvSpPr txBox="1"/>
          <p:nvPr/>
        </p:nvSpPr>
        <p:spPr>
          <a:xfrm>
            <a:off x="4544986" y="2733624"/>
            <a:ext cx="3326552" cy="461665"/>
          </a:xfrm>
          <a:prstGeom prst="rect">
            <a:avLst/>
          </a:prstGeom>
          <a:noFill/>
        </p:spPr>
        <p:txBody>
          <a:bodyPr wrap="none" rtlCol="0">
            <a:spAutoFit/>
          </a:bodyPr>
          <a:lstStyle/>
          <a:p>
            <a:r>
              <a:rPr lang="en-CN" sz="2400" b="1">
                <a:latin typeface="SimHei" panose="02010609060101010101" pitchFamily="49" charset="-122"/>
                <a:ea typeface="SimHei" panose="02010609060101010101" pitchFamily="49" charset="-122"/>
              </a:rPr>
              <a:t>方法</a:t>
            </a:r>
            <a:r>
              <a:rPr lang="zh-CN" altLang="en-US" sz="2400" b="1" dirty="0">
                <a:latin typeface="SimHei" panose="02010609060101010101" pitchFamily="49" charset="-122"/>
                <a:ea typeface="SimHei" panose="02010609060101010101" pitchFamily="49" charset="-122"/>
              </a:rPr>
              <a:t>一：判断数值范围</a:t>
            </a:r>
            <a:endParaRPr lang="en-CN" sz="2400" b="1" dirty="0">
              <a:latin typeface="SimHei" panose="02010609060101010101" pitchFamily="49" charset="-122"/>
              <a:ea typeface="SimHei" panose="02010609060101010101" pitchFamily="49" charset="-122"/>
            </a:endParaRPr>
          </a:p>
        </p:txBody>
      </p:sp>
      <p:pic>
        <p:nvPicPr>
          <p:cNvPr id="21" name="图片 20">
            <a:extLst>
              <a:ext uri="{FF2B5EF4-FFF2-40B4-BE49-F238E27FC236}">
                <a16:creationId xmlns:a16="http://schemas.microsoft.com/office/drawing/2014/main" id="{12038C3B-FDEE-C3AF-7AF1-3CEC689D24C4}"/>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112377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23D112-2E3E-6A18-3AF4-C8954E7A42C5}"/>
              </a:ext>
            </a:extLst>
          </p:cNvPr>
          <p:cNvSpPr>
            <a:spLocks noGrp="1"/>
          </p:cNvSpPr>
          <p:nvPr>
            <p:ph type="title"/>
          </p:nvPr>
        </p:nvSpPr>
        <p:spPr/>
        <p:txBody>
          <a:bodyPr/>
          <a:lstStyle/>
          <a:p>
            <a:r>
              <a:rPr kumimoji="1" lang="zh-CN" altLang="en-US" dirty="0"/>
              <a:t>答案解析</a:t>
            </a:r>
          </a:p>
        </p:txBody>
      </p:sp>
      <p:sp>
        <p:nvSpPr>
          <p:cNvPr id="3" name="内容占位符 2">
            <a:extLst>
              <a:ext uri="{FF2B5EF4-FFF2-40B4-BE49-F238E27FC236}">
                <a16:creationId xmlns:a16="http://schemas.microsoft.com/office/drawing/2014/main" id="{E03D30AC-F8E2-A66F-2F8E-96D697D8E5CD}"/>
              </a:ext>
            </a:extLst>
          </p:cNvPr>
          <p:cNvSpPr>
            <a:spLocks noGrp="1"/>
          </p:cNvSpPr>
          <p:nvPr>
            <p:ph idx="1"/>
          </p:nvPr>
        </p:nvSpPr>
        <p:spPr>
          <a:xfrm>
            <a:off x="457200" y="1340768"/>
            <a:ext cx="8229600" cy="4525963"/>
          </a:xfrm>
        </p:spPr>
        <p:txBody>
          <a:bodyPr/>
          <a:lstStyle/>
          <a:p>
            <a:r>
              <a:rPr kumimoji="1" lang="zh-CN" altLang="en-US" sz="2400" dirty="0"/>
              <a:t>以下</a:t>
            </a:r>
            <a:r>
              <a:rPr kumimoji="1" lang="en-US" altLang="zh-CN" sz="2400" dirty="0"/>
              <a:t>2</a:t>
            </a:r>
            <a:r>
              <a:rPr kumimoji="1" lang="zh-CN" altLang="en-US" sz="2400" dirty="0"/>
              <a:t>补码运算会溢出的是哪一项？</a:t>
            </a:r>
          </a:p>
          <a:p>
            <a:pPr lvl="1"/>
            <a:r>
              <a:rPr kumimoji="1" lang="en-US" altLang="zh-CN" sz="2000" dirty="0"/>
              <a:t>A. 1001+0110; B. 0011+1110; C. 1101+1011; </a:t>
            </a:r>
            <a:r>
              <a:rPr kumimoji="1" lang="en-US" altLang="zh-CN" sz="2000" dirty="0">
                <a:solidFill>
                  <a:srgbClr val="3333FF"/>
                </a:solidFill>
              </a:rPr>
              <a:t>D. 0101+0111</a:t>
            </a:r>
          </a:p>
          <a:p>
            <a:pPr lvl="1"/>
            <a:endParaRPr kumimoji="1" lang="en-US" altLang="zh-CN" sz="2000" dirty="0"/>
          </a:p>
          <a:p>
            <a:r>
              <a:rPr kumimoji="1" lang="zh-CN" altLang="en-US" sz="2400" dirty="0">
                <a:solidFill>
                  <a:srgbClr val="3333FF"/>
                </a:solidFill>
              </a:rPr>
              <a:t>解答：</a:t>
            </a:r>
            <a:r>
              <a:rPr kumimoji="1" lang="en-US" altLang="zh-CN" sz="2400" dirty="0">
                <a:solidFill>
                  <a:srgbClr val="3333FF"/>
                </a:solidFill>
              </a:rPr>
              <a:t>D</a:t>
            </a:r>
          </a:p>
          <a:p>
            <a:pPr lvl="1"/>
            <a:r>
              <a:rPr kumimoji="1" lang="zh-CN" altLang="en-US" sz="2000" dirty="0"/>
              <a:t>对于</a:t>
            </a:r>
            <a:r>
              <a:rPr kumimoji="1" lang="en-US" altLang="zh-CN" sz="2000" dirty="0"/>
              <a:t>A</a:t>
            </a:r>
            <a:r>
              <a:rPr kumimoji="1" lang="zh-CN" altLang="en-US" sz="2000" dirty="0"/>
              <a:t>，</a:t>
            </a:r>
            <a:r>
              <a:rPr kumimoji="1" lang="en-US" altLang="zh-CN" sz="2000" dirty="0"/>
              <a:t>B</a:t>
            </a:r>
            <a:r>
              <a:rPr kumimoji="1" lang="zh-CN" altLang="en-US" sz="2000" dirty="0"/>
              <a:t>两项，都是一正一负相加，正数与负数相加一定不会溢出；</a:t>
            </a:r>
          </a:p>
          <a:p>
            <a:pPr lvl="1"/>
            <a:r>
              <a:rPr kumimoji="1" lang="zh-CN" altLang="en-US" sz="2000" dirty="0"/>
              <a:t>对于</a:t>
            </a:r>
            <a:r>
              <a:rPr kumimoji="1" lang="en-US" altLang="zh-CN" sz="2000" dirty="0"/>
              <a:t>C</a:t>
            </a:r>
            <a:r>
              <a:rPr kumimoji="1" lang="zh-CN" altLang="en-US" sz="2000" dirty="0"/>
              <a:t>项，</a:t>
            </a:r>
            <a:r>
              <a:rPr kumimoji="1" lang="en-US" altLang="zh-CN" sz="2000" dirty="0"/>
              <a:t>1101</a:t>
            </a:r>
            <a:r>
              <a:rPr kumimoji="1" lang="zh-CN" altLang="en-US" sz="2000" dirty="0"/>
              <a:t>即</a:t>
            </a:r>
            <a:r>
              <a:rPr kumimoji="1" lang="en-US" altLang="zh-CN" sz="2000" dirty="0"/>
              <a:t>-3</a:t>
            </a:r>
            <a:r>
              <a:rPr kumimoji="1" lang="zh-CN" altLang="en-US" sz="2000" dirty="0"/>
              <a:t>，</a:t>
            </a:r>
            <a:r>
              <a:rPr kumimoji="1" lang="en-US" altLang="zh-CN" sz="2000" dirty="0"/>
              <a:t>1011</a:t>
            </a:r>
            <a:r>
              <a:rPr kumimoji="1" lang="zh-CN" altLang="en-US" sz="2000" dirty="0"/>
              <a:t>即</a:t>
            </a:r>
            <a:r>
              <a:rPr kumimoji="1" lang="en-US" altLang="zh-CN" sz="2000" dirty="0"/>
              <a:t>-5</a:t>
            </a:r>
            <a:r>
              <a:rPr kumimoji="1" lang="zh-CN" altLang="en-US" sz="2000" dirty="0"/>
              <a:t>，二者相加为</a:t>
            </a:r>
            <a:r>
              <a:rPr kumimoji="1" lang="en-US" altLang="zh-CN" sz="2000" dirty="0"/>
              <a:t>-8</a:t>
            </a:r>
            <a:r>
              <a:rPr kumimoji="1" lang="zh-CN" altLang="en-US" sz="2000" dirty="0"/>
              <a:t>，在</a:t>
            </a:r>
            <a:r>
              <a:rPr kumimoji="1" lang="en-US" altLang="zh-CN" sz="2000" dirty="0"/>
              <a:t>4</a:t>
            </a:r>
            <a:r>
              <a:rPr kumimoji="1" lang="zh-CN" altLang="en-US" sz="2000" dirty="0"/>
              <a:t>位</a:t>
            </a:r>
            <a:r>
              <a:rPr kumimoji="1" lang="en-US" altLang="zh-CN" sz="2000" dirty="0"/>
              <a:t>2</a:t>
            </a:r>
            <a:r>
              <a:rPr kumimoji="1" lang="zh-CN" altLang="en-US" sz="2000" dirty="0"/>
              <a:t>补码数的表示范围内（</a:t>
            </a:r>
            <a:r>
              <a:rPr kumimoji="1" lang="en-US" altLang="zh-CN" sz="2000" dirty="0"/>
              <a:t>-8</a:t>
            </a:r>
            <a:r>
              <a:rPr kumimoji="1" lang="zh-CN" altLang="en-US" sz="2000" dirty="0"/>
              <a:t>至</a:t>
            </a:r>
            <a:r>
              <a:rPr kumimoji="1" lang="en-US" altLang="zh-CN" sz="2000" dirty="0"/>
              <a:t>+7</a:t>
            </a:r>
            <a:r>
              <a:rPr kumimoji="1" lang="zh-CN" altLang="en-US" sz="2000" dirty="0"/>
              <a:t>），因此不溢出。</a:t>
            </a:r>
          </a:p>
          <a:p>
            <a:pPr lvl="1"/>
            <a:r>
              <a:rPr kumimoji="1" lang="zh-CN" altLang="en-US" sz="2000" dirty="0"/>
              <a:t>对于</a:t>
            </a:r>
            <a:r>
              <a:rPr kumimoji="1" lang="en-US" altLang="zh-CN" sz="2000" dirty="0"/>
              <a:t>D</a:t>
            </a:r>
            <a:r>
              <a:rPr kumimoji="1" lang="zh-CN" altLang="en-US" sz="2000" dirty="0"/>
              <a:t>项，</a:t>
            </a:r>
            <a:r>
              <a:rPr kumimoji="1" lang="en-US" altLang="zh-CN" sz="2000" dirty="0"/>
              <a:t>0101</a:t>
            </a:r>
            <a:r>
              <a:rPr kumimoji="1" lang="zh-CN" altLang="en-US" sz="2000" dirty="0"/>
              <a:t>即</a:t>
            </a:r>
            <a:r>
              <a:rPr kumimoji="1" lang="en-US" altLang="zh-CN" sz="2000" dirty="0"/>
              <a:t>5</a:t>
            </a:r>
            <a:r>
              <a:rPr kumimoji="1" lang="zh-CN" altLang="en-US" sz="2000" dirty="0"/>
              <a:t>，</a:t>
            </a:r>
            <a:r>
              <a:rPr kumimoji="1" lang="en-US" altLang="zh-CN" sz="2000" dirty="0"/>
              <a:t>0111</a:t>
            </a:r>
            <a:r>
              <a:rPr kumimoji="1" lang="zh-CN" altLang="en-US" sz="2000" dirty="0"/>
              <a:t>即</a:t>
            </a:r>
            <a:r>
              <a:rPr kumimoji="1" lang="en-US" altLang="zh-CN" sz="2000" dirty="0"/>
              <a:t>7</a:t>
            </a:r>
            <a:r>
              <a:rPr kumimoji="1" lang="zh-CN" altLang="en-US" sz="2000" dirty="0"/>
              <a:t>，二者相加为</a:t>
            </a:r>
            <a:r>
              <a:rPr kumimoji="1" lang="en-US" altLang="zh-CN" sz="2000" dirty="0"/>
              <a:t>12</a:t>
            </a:r>
            <a:r>
              <a:rPr kumimoji="1" lang="zh-CN" altLang="en-US" sz="2000" dirty="0"/>
              <a:t>，超出</a:t>
            </a:r>
            <a:r>
              <a:rPr kumimoji="1" lang="en-US" altLang="zh-CN" sz="2000" dirty="0"/>
              <a:t>4</a:t>
            </a:r>
            <a:r>
              <a:rPr kumimoji="1" lang="zh-CN" altLang="en-US" sz="2000" dirty="0"/>
              <a:t>位</a:t>
            </a:r>
            <a:r>
              <a:rPr kumimoji="1" lang="en-US" altLang="zh-CN" sz="2000" dirty="0"/>
              <a:t>2</a:t>
            </a:r>
            <a:r>
              <a:rPr kumimoji="1" lang="zh-CN" altLang="en-US" sz="2000" dirty="0"/>
              <a:t>补码数的表示范围，因此会溢出。</a:t>
            </a:r>
          </a:p>
          <a:p>
            <a:pPr lvl="1"/>
            <a:r>
              <a:rPr kumimoji="1" lang="zh-CN" altLang="en-US" sz="2000" dirty="0"/>
              <a:t>也可以通过技巧判断：</a:t>
            </a:r>
            <a:endParaRPr kumimoji="1" lang="en-US" altLang="zh-CN" sz="2000" dirty="0"/>
          </a:p>
          <a:p>
            <a:pPr lvl="1"/>
            <a:endParaRPr kumimoji="1" lang="en-US" altLang="zh-CN" sz="2000" dirty="0"/>
          </a:p>
          <a:p>
            <a:pPr lvl="1"/>
            <a:endParaRPr kumimoji="1" lang="zh-CN" altLang="en-US" sz="2000" dirty="0"/>
          </a:p>
        </p:txBody>
      </p:sp>
      <p:sp>
        <p:nvSpPr>
          <p:cNvPr id="4" name="灯片编号占位符 3">
            <a:extLst>
              <a:ext uri="{FF2B5EF4-FFF2-40B4-BE49-F238E27FC236}">
                <a16:creationId xmlns:a16="http://schemas.microsoft.com/office/drawing/2014/main" id="{D93E3430-46CA-D6BB-7D24-811A5304A0C7}"/>
              </a:ext>
            </a:extLst>
          </p:cNvPr>
          <p:cNvSpPr>
            <a:spLocks noGrp="1"/>
          </p:cNvSpPr>
          <p:nvPr>
            <p:ph type="sldNum" sz="quarter" idx="12"/>
          </p:nvPr>
        </p:nvSpPr>
        <p:spPr/>
        <p:txBody>
          <a:bodyPr/>
          <a:lstStyle/>
          <a:p>
            <a:fld id="{14659731-6BD7-46E7-8D3C-2F3AC07E20B1}" type="slidenum">
              <a:rPr lang="en-US" altLang="zh-CN" smtClean="0"/>
              <a:pPr/>
              <a:t>35</a:t>
            </a:fld>
            <a:endParaRPr lang="en-US" altLang="zh-CN"/>
          </a:p>
        </p:txBody>
      </p:sp>
      <p:sp>
        <p:nvSpPr>
          <p:cNvPr id="5" name="文本框 4">
            <a:extLst>
              <a:ext uri="{FF2B5EF4-FFF2-40B4-BE49-F238E27FC236}">
                <a16:creationId xmlns:a16="http://schemas.microsoft.com/office/drawing/2014/main" id="{DF2C09C1-369D-457B-C284-DC7E2275AFB9}"/>
              </a:ext>
            </a:extLst>
          </p:cNvPr>
          <p:cNvSpPr txBox="1"/>
          <p:nvPr/>
        </p:nvSpPr>
        <p:spPr>
          <a:xfrm>
            <a:off x="5393580" y="4689140"/>
            <a:ext cx="847924" cy="461665"/>
          </a:xfrm>
          <a:prstGeom prst="rect">
            <a:avLst/>
          </a:prstGeom>
          <a:noFill/>
        </p:spPr>
        <p:txBody>
          <a:bodyPr wrap="none" rtlCol="0">
            <a:spAutoFit/>
          </a:bodyPr>
          <a:lstStyle/>
          <a:p>
            <a:r>
              <a:rPr kumimoji="1" lang="en-US" altLang="zh-CN" sz="2400">
                <a:latin typeface="+mn-lt"/>
                <a:ea typeface="+mn-ea"/>
              </a:rPr>
              <a:t>1101</a:t>
            </a:r>
            <a:endParaRPr kumimoji="1" lang="zh-CN" altLang="en-US" sz="2400" dirty="0">
              <a:latin typeface="+mn-lt"/>
              <a:ea typeface="+mn-ea"/>
            </a:endParaRPr>
          </a:p>
        </p:txBody>
      </p:sp>
      <p:sp>
        <p:nvSpPr>
          <p:cNvPr id="6" name="文本框 5">
            <a:extLst>
              <a:ext uri="{FF2B5EF4-FFF2-40B4-BE49-F238E27FC236}">
                <a16:creationId xmlns:a16="http://schemas.microsoft.com/office/drawing/2014/main" id="{93CFE656-FCAF-3158-FD6E-790FB9C8D35F}"/>
              </a:ext>
            </a:extLst>
          </p:cNvPr>
          <p:cNvSpPr txBox="1"/>
          <p:nvPr/>
        </p:nvSpPr>
        <p:spPr>
          <a:xfrm>
            <a:off x="5393580" y="5019686"/>
            <a:ext cx="847924" cy="461665"/>
          </a:xfrm>
          <a:prstGeom prst="rect">
            <a:avLst/>
          </a:prstGeom>
          <a:noFill/>
        </p:spPr>
        <p:txBody>
          <a:bodyPr wrap="none" rtlCol="0">
            <a:spAutoFit/>
          </a:bodyPr>
          <a:lstStyle/>
          <a:p>
            <a:r>
              <a:rPr kumimoji="1" lang="en-US" altLang="zh-CN" sz="2400" dirty="0">
                <a:latin typeface="+mn-lt"/>
                <a:ea typeface="+mn-ea"/>
              </a:rPr>
              <a:t>1011</a:t>
            </a:r>
            <a:endParaRPr kumimoji="1" lang="zh-CN" altLang="en-US" sz="2400" dirty="0">
              <a:latin typeface="+mn-lt"/>
              <a:ea typeface="+mn-ea"/>
            </a:endParaRPr>
          </a:p>
        </p:txBody>
      </p:sp>
      <p:sp>
        <p:nvSpPr>
          <p:cNvPr id="7" name="文本框 6">
            <a:extLst>
              <a:ext uri="{FF2B5EF4-FFF2-40B4-BE49-F238E27FC236}">
                <a16:creationId xmlns:a16="http://schemas.microsoft.com/office/drawing/2014/main" id="{A7FEA4D3-9CE4-D281-226B-705E064A7EF5}"/>
              </a:ext>
            </a:extLst>
          </p:cNvPr>
          <p:cNvSpPr txBox="1"/>
          <p:nvPr/>
        </p:nvSpPr>
        <p:spPr>
          <a:xfrm>
            <a:off x="5238166" y="5447379"/>
            <a:ext cx="1019446" cy="461665"/>
          </a:xfrm>
          <a:prstGeom prst="rect">
            <a:avLst/>
          </a:prstGeom>
          <a:noFill/>
        </p:spPr>
        <p:txBody>
          <a:bodyPr wrap="none" rtlCol="0">
            <a:spAutoFit/>
          </a:bodyPr>
          <a:lstStyle/>
          <a:p>
            <a:r>
              <a:rPr kumimoji="1" lang="en-US" altLang="zh-CN" sz="2400" dirty="0">
                <a:solidFill>
                  <a:srgbClr val="C00000"/>
                </a:solidFill>
                <a:latin typeface="+mn-lt"/>
                <a:ea typeface="+mn-ea"/>
              </a:rPr>
              <a:t>1</a:t>
            </a:r>
            <a:r>
              <a:rPr kumimoji="1" lang="en-US" altLang="zh-CN" sz="2400" dirty="0">
                <a:latin typeface="+mn-lt"/>
                <a:ea typeface="+mn-ea"/>
              </a:rPr>
              <a:t>1000</a:t>
            </a:r>
            <a:endParaRPr kumimoji="1" lang="zh-CN" altLang="en-US" sz="2400" dirty="0">
              <a:latin typeface="+mn-lt"/>
              <a:ea typeface="+mn-ea"/>
            </a:endParaRPr>
          </a:p>
        </p:txBody>
      </p:sp>
      <p:cxnSp>
        <p:nvCxnSpPr>
          <p:cNvPr id="8" name="直线连接符 7">
            <a:extLst>
              <a:ext uri="{FF2B5EF4-FFF2-40B4-BE49-F238E27FC236}">
                <a16:creationId xmlns:a16="http://schemas.microsoft.com/office/drawing/2014/main" id="{A9F7F260-A45F-0CDE-12C5-9FD05C2E5980}"/>
              </a:ext>
            </a:extLst>
          </p:cNvPr>
          <p:cNvCxnSpPr/>
          <p:nvPr/>
        </p:nvCxnSpPr>
        <p:spPr bwMode="auto">
          <a:xfrm>
            <a:off x="5238166" y="5447379"/>
            <a:ext cx="100340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文本框 8">
            <a:extLst>
              <a:ext uri="{FF2B5EF4-FFF2-40B4-BE49-F238E27FC236}">
                <a16:creationId xmlns:a16="http://schemas.microsoft.com/office/drawing/2014/main" id="{1FEBF95B-59D6-BD45-CBE5-B62CF9D88857}"/>
              </a:ext>
            </a:extLst>
          </p:cNvPr>
          <p:cNvSpPr txBox="1"/>
          <p:nvPr/>
        </p:nvSpPr>
        <p:spPr>
          <a:xfrm>
            <a:off x="5203065" y="5805964"/>
            <a:ext cx="1569660" cy="646331"/>
          </a:xfrm>
          <a:prstGeom prst="rect">
            <a:avLst/>
          </a:prstGeom>
          <a:noFill/>
        </p:spPr>
        <p:txBody>
          <a:bodyPr wrap="none" rtlCol="0">
            <a:spAutoFit/>
          </a:bodyPr>
          <a:lstStyle/>
          <a:p>
            <a:r>
              <a:rPr kumimoji="1" lang="zh-CN" altLang="en-US" dirty="0">
                <a:latin typeface="+mn-lt"/>
                <a:ea typeface="+mn-ea"/>
              </a:rPr>
              <a:t>符号位最高位</a:t>
            </a:r>
          </a:p>
          <a:p>
            <a:r>
              <a:rPr kumimoji="1" lang="zh-CN" altLang="en-US" dirty="0">
                <a:latin typeface="+mn-lt"/>
                <a:ea typeface="+mn-ea"/>
              </a:rPr>
              <a:t>进位都为</a:t>
            </a:r>
            <a:r>
              <a:rPr kumimoji="1" lang="en-US" altLang="zh-CN" dirty="0">
                <a:latin typeface="+mn-lt"/>
                <a:ea typeface="+mn-ea"/>
              </a:rPr>
              <a:t>1</a:t>
            </a:r>
            <a:endParaRPr kumimoji="1" lang="zh-CN" altLang="en-US" dirty="0">
              <a:latin typeface="+mn-lt"/>
              <a:ea typeface="+mn-ea"/>
            </a:endParaRPr>
          </a:p>
        </p:txBody>
      </p:sp>
      <p:sp>
        <p:nvSpPr>
          <p:cNvPr id="10" name="文本框 9">
            <a:extLst>
              <a:ext uri="{FF2B5EF4-FFF2-40B4-BE49-F238E27FC236}">
                <a16:creationId xmlns:a16="http://schemas.microsoft.com/office/drawing/2014/main" id="{C60A4B5D-4744-2EA1-6DAC-C1854F2A1CF1}"/>
              </a:ext>
            </a:extLst>
          </p:cNvPr>
          <p:cNvSpPr txBox="1"/>
          <p:nvPr/>
        </p:nvSpPr>
        <p:spPr>
          <a:xfrm>
            <a:off x="6939888" y="4689140"/>
            <a:ext cx="870751" cy="461665"/>
          </a:xfrm>
          <a:prstGeom prst="rect">
            <a:avLst/>
          </a:prstGeom>
          <a:noFill/>
        </p:spPr>
        <p:txBody>
          <a:bodyPr wrap="none" rtlCol="0">
            <a:spAutoFit/>
          </a:bodyPr>
          <a:lstStyle/>
          <a:p>
            <a:r>
              <a:rPr kumimoji="1" lang="en-US" altLang="zh-CN" sz="2400" dirty="0">
                <a:latin typeface="+mn-lt"/>
                <a:ea typeface="+mn-ea"/>
              </a:rPr>
              <a:t>0101</a:t>
            </a:r>
            <a:endParaRPr kumimoji="1" lang="zh-CN" altLang="en-US" sz="2400" dirty="0">
              <a:latin typeface="+mn-lt"/>
              <a:ea typeface="+mn-ea"/>
            </a:endParaRPr>
          </a:p>
        </p:txBody>
      </p:sp>
      <p:sp>
        <p:nvSpPr>
          <p:cNvPr id="11" name="文本框 10">
            <a:extLst>
              <a:ext uri="{FF2B5EF4-FFF2-40B4-BE49-F238E27FC236}">
                <a16:creationId xmlns:a16="http://schemas.microsoft.com/office/drawing/2014/main" id="{48299B0F-8907-2DC3-F8A7-DF0CADA9AB8F}"/>
              </a:ext>
            </a:extLst>
          </p:cNvPr>
          <p:cNvSpPr txBox="1"/>
          <p:nvPr/>
        </p:nvSpPr>
        <p:spPr>
          <a:xfrm>
            <a:off x="6939888" y="5019686"/>
            <a:ext cx="825098" cy="461665"/>
          </a:xfrm>
          <a:prstGeom prst="rect">
            <a:avLst/>
          </a:prstGeom>
          <a:noFill/>
        </p:spPr>
        <p:txBody>
          <a:bodyPr wrap="none" rtlCol="0">
            <a:spAutoFit/>
          </a:bodyPr>
          <a:lstStyle/>
          <a:p>
            <a:r>
              <a:rPr kumimoji="1" lang="en-US" altLang="zh-CN" sz="2400" dirty="0">
                <a:latin typeface="+mn-lt"/>
                <a:ea typeface="+mn-ea"/>
              </a:rPr>
              <a:t>0111</a:t>
            </a:r>
            <a:endParaRPr kumimoji="1" lang="zh-CN" altLang="en-US" sz="2400" dirty="0">
              <a:latin typeface="+mn-lt"/>
              <a:ea typeface="+mn-ea"/>
            </a:endParaRPr>
          </a:p>
        </p:txBody>
      </p:sp>
      <p:sp>
        <p:nvSpPr>
          <p:cNvPr id="12" name="文本框 11">
            <a:extLst>
              <a:ext uri="{FF2B5EF4-FFF2-40B4-BE49-F238E27FC236}">
                <a16:creationId xmlns:a16="http://schemas.microsoft.com/office/drawing/2014/main" id="{FF706ADB-781E-D6F7-F327-66DDC8A51B3C}"/>
              </a:ext>
            </a:extLst>
          </p:cNvPr>
          <p:cNvSpPr txBox="1"/>
          <p:nvPr/>
        </p:nvSpPr>
        <p:spPr>
          <a:xfrm>
            <a:off x="6784474" y="5447379"/>
            <a:ext cx="1019446" cy="461665"/>
          </a:xfrm>
          <a:prstGeom prst="rect">
            <a:avLst/>
          </a:prstGeom>
          <a:noFill/>
        </p:spPr>
        <p:txBody>
          <a:bodyPr wrap="none" rtlCol="0">
            <a:spAutoFit/>
          </a:bodyPr>
          <a:lstStyle/>
          <a:p>
            <a:r>
              <a:rPr kumimoji="1" lang="en-US" altLang="zh-CN" sz="2400" dirty="0">
                <a:solidFill>
                  <a:srgbClr val="C00000"/>
                </a:solidFill>
                <a:latin typeface="+mn-lt"/>
                <a:ea typeface="+mn-ea"/>
              </a:rPr>
              <a:t>0</a:t>
            </a:r>
            <a:r>
              <a:rPr kumimoji="1" lang="en-US" altLang="zh-CN" sz="2400" dirty="0">
                <a:latin typeface="+mn-lt"/>
                <a:ea typeface="+mn-ea"/>
              </a:rPr>
              <a:t>1100</a:t>
            </a:r>
            <a:endParaRPr kumimoji="1" lang="zh-CN" altLang="en-US" sz="2400" dirty="0">
              <a:latin typeface="+mn-lt"/>
              <a:ea typeface="+mn-ea"/>
            </a:endParaRPr>
          </a:p>
        </p:txBody>
      </p:sp>
      <p:cxnSp>
        <p:nvCxnSpPr>
          <p:cNvPr id="13" name="直线连接符 12">
            <a:extLst>
              <a:ext uri="{FF2B5EF4-FFF2-40B4-BE49-F238E27FC236}">
                <a16:creationId xmlns:a16="http://schemas.microsoft.com/office/drawing/2014/main" id="{170941E0-D383-161B-07CF-B84DF1489F23}"/>
              </a:ext>
            </a:extLst>
          </p:cNvPr>
          <p:cNvCxnSpPr/>
          <p:nvPr/>
        </p:nvCxnSpPr>
        <p:spPr bwMode="auto">
          <a:xfrm>
            <a:off x="6784474" y="5447379"/>
            <a:ext cx="100340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4" name="文本框 13">
            <a:extLst>
              <a:ext uri="{FF2B5EF4-FFF2-40B4-BE49-F238E27FC236}">
                <a16:creationId xmlns:a16="http://schemas.microsoft.com/office/drawing/2014/main" id="{223DA27C-D8B4-355D-7892-3833186441E3}"/>
              </a:ext>
            </a:extLst>
          </p:cNvPr>
          <p:cNvSpPr txBox="1"/>
          <p:nvPr/>
        </p:nvSpPr>
        <p:spPr>
          <a:xfrm>
            <a:off x="6732240" y="5801514"/>
            <a:ext cx="1697901" cy="646331"/>
          </a:xfrm>
          <a:prstGeom prst="rect">
            <a:avLst/>
          </a:prstGeom>
          <a:noFill/>
        </p:spPr>
        <p:txBody>
          <a:bodyPr wrap="none" rtlCol="0">
            <a:spAutoFit/>
          </a:bodyPr>
          <a:lstStyle/>
          <a:p>
            <a:r>
              <a:rPr kumimoji="1" lang="zh-CN" altLang="en-US" dirty="0">
                <a:latin typeface="+mn-lt"/>
                <a:ea typeface="+mn-ea"/>
              </a:rPr>
              <a:t>符号位进位</a:t>
            </a:r>
            <a:r>
              <a:rPr kumimoji="1" lang="en-US" altLang="zh-CN" dirty="0">
                <a:latin typeface="+mn-lt"/>
                <a:ea typeface="+mn-ea"/>
              </a:rPr>
              <a:t>0</a:t>
            </a:r>
            <a:r>
              <a:rPr kumimoji="1" lang="zh-CN" altLang="en-US" dirty="0">
                <a:latin typeface="+mn-lt"/>
                <a:ea typeface="+mn-ea"/>
              </a:rPr>
              <a:t>，</a:t>
            </a:r>
          </a:p>
          <a:p>
            <a:r>
              <a:rPr kumimoji="1" lang="zh-CN" altLang="en-US" dirty="0">
                <a:latin typeface="+mn-lt"/>
                <a:ea typeface="+mn-ea"/>
              </a:rPr>
              <a:t>最高位进位</a:t>
            </a:r>
            <a:r>
              <a:rPr kumimoji="1" lang="en-US" altLang="zh-CN" dirty="0">
                <a:latin typeface="+mn-lt"/>
                <a:ea typeface="+mn-ea"/>
              </a:rPr>
              <a:t>1</a:t>
            </a:r>
            <a:endParaRPr kumimoji="1" lang="zh-CN" altLang="en-US" dirty="0">
              <a:latin typeface="+mn-lt"/>
              <a:ea typeface="+mn-ea"/>
            </a:endParaRPr>
          </a:p>
        </p:txBody>
      </p:sp>
      <mc:AlternateContent xmlns:mc="http://schemas.openxmlformats.org/markup-compatibility/2006" xmlns:p14="http://schemas.microsoft.com/office/powerpoint/2010/main">
        <mc:Choice Requires="p14">
          <p:contentPart p14:bwMode="auto" r:id="rId2">
            <p14:nvContentPartPr>
              <p14:cNvPr id="15" name="墨迹 14">
                <a:extLst>
                  <a:ext uri="{FF2B5EF4-FFF2-40B4-BE49-F238E27FC236}">
                    <a16:creationId xmlns:a16="http://schemas.microsoft.com/office/drawing/2014/main" id="{6001239D-C0FC-7E8E-75AD-111DE8FAC343}"/>
                  </a:ext>
                </a:extLst>
              </p14:cNvPr>
              <p14:cNvContentPartPr/>
              <p14:nvPr/>
            </p14:nvContentPartPr>
            <p14:xfrm>
              <a:off x="6460283" y="5148392"/>
              <a:ext cx="360" cy="2160"/>
            </p14:xfrm>
          </p:contentPart>
        </mc:Choice>
        <mc:Fallback xmlns="">
          <p:pic>
            <p:nvPicPr>
              <p:cNvPr id="15" name="墨迹 14">
                <a:extLst>
                  <a:ext uri="{FF2B5EF4-FFF2-40B4-BE49-F238E27FC236}">
                    <a16:creationId xmlns:a16="http://schemas.microsoft.com/office/drawing/2014/main" id="{6001239D-C0FC-7E8E-75AD-111DE8FAC343}"/>
                  </a:ext>
                </a:extLst>
              </p:cNvPr>
              <p:cNvPicPr/>
              <p:nvPr/>
            </p:nvPicPr>
            <p:blipFill>
              <a:blip r:embed="rId3"/>
              <a:stretch>
                <a:fillRect/>
              </a:stretch>
            </p:blipFill>
            <p:spPr>
              <a:xfrm>
                <a:off x="6450923" y="5139032"/>
                <a:ext cx="19080" cy="20880"/>
              </a:xfrm>
              <a:prstGeom prst="rect">
                <a:avLst/>
              </a:prstGeom>
            </p:spPr>
          </p:pic>
        </mc:Fallback>
      </mc:AlternateContent>
      <p:sp>
        <p:nvSpPr>
          <p:cNvPr id="16" name="Rectangle 1">
            <a:extLst>
              <a:ext uri="{FF2B5EF4-FFF2-40B4-BE49-F238E27FC236}">
                <a16:creationId xmlns:a16="http://schemas.microsoft.com/office/drawing/2014/main" id="{686DE09F-9DCF-B322-C1D5-39859E85BE95}"/>
              </a:ext>
            </a:extLst>
          </p:cNvPr>
          <p:cNvSpPr/>
          <p:nvPr/>
        </p:nvSpPr>
        <p:spPr>
          <a:xfrm>
            <a:off x="640859" y="5530766"/>
            <a:ext cx="4169740" cy="923330"/>
          </a:xfrm>
          <a:prstGeom prst="rect">
            <a:avLst/>
          </a:prstGeom>
          <a:solidFill>
            <a:schemeClr val="bg1">
              <a:lumMod val="85000"/>
            </a:schemeClr>
          </a:solidFill>
        </p:spPr>
        <p:txBody>
          <a:bodyPr wrap="square">
            <a:spAutoFit/>
          </a:bodyPr>
          <a:lstStyle/>
          <a:p>
            <a:r>
              <a:rPr lang="zh-CN" altLang="en-US" dirty="0">
                <a:solidFill>
                  <a:srgbClr val="000000"/>
                </a:solidFill>
                <a:latin typeface="+mn-lt"/>
                <a:ea typeface="+mn-ea"/>
                <a:sym typeface="Microsoft Yahei" panose="020B0503020204020204" pitchFamily="34" charset="-122"/>
              </a:rPr>
              <a:t>课后思考</a:t>
            </a:r>
            <a:endParaRPr lang="en-US" altLang="zh-CN" dirty="0">
              <a:solidFill>
                <a:srgbClr val="000000"/>
              </a:solidFill>
              <a:latin typeface="+mn-lt"/>
              <a:ea typeface="+mn-ea"/>
              <a:sym typeface="Microsoft Yahei" panose="020B0503020204020204" pitchFamily="34" charset="-122"/>
            </a:endParaRPr>
          </a:p>
          <a:p>
            <a:r>
              <a:rPr lang="zh-CN" altLang="en-US" dirty="0">
                <a:solidFill>
                  <a:srgbClr val="000000"/>
                </a:solidFill>
                <a:latin typeface="+mn-lt"/>
                <a:ea typeface="+mn-ea"/>
                <a:sym typeface="Microsoft Yahei" panose="020B0503020204020204" pitchFamily="34" charset="-122"/>
              </a:rPr>
              <a:t>已知</a:t>
            </a:r>
            <a:r>
              <a:rPr lang="en-US" altLang="zh-CN" dirty="0">
                <a:solidFill>
                  <a:srgbClr val="000000"/>
                </a:solidFill>
                <a:latin typeface="+mn-lt"/>
                <a:ea typeface="+mn-ea"/>
                <a:sym typeface="Microsoft Yahei" panose="020B0503020204020204" pitchFamily="34" charset="-122"/>
              </a:rPr>
              <a:t>A</a:t>
            </a:r>
            <a:r>
              <a:rPr lang="zh-CN" altLang="en-US" dirty="0">
                <a:solidFill>
                  <a:srgbClr val="000000"/>
                </a:solidFill>
                <a:latin typeface="+mn-lt"/>
                <a:ea typeface="+mn-ea"/>
                <a:sym typeface="Microsoft Yahei" panose="020B0503020204020204" pitchFamily="34" charset="-122"/>
              </a:rPr>
              <a:t>和</a:t>
            </a:r>
            <a:r>
              <a:rPr lang="en-US" altLang="zh-CN" dirty="0">
                <a:solidFill>
                  <a:srgbClr val="000000"/>
                </a:solidFill>
                <a:latin typeface="+mn-lt"/>
                <a:ea typeface="+mn-ea"/>
                <a:sym typeface="Microsoft Yahei" panose="020B0503020204020204" pitchFamily="34" charset="-122"/>
              </a:rPr>
              <a:t>B</a:t>
            </a:r>
            <a:r>
              <a:rPr lang="zh-CN" altLang="en-US" dirty="0">
                <a:solidFill>
                  <a:srgbClr val="000000"/>
                </a:solidFill>
                <a:latin typeface="+mn-lt"/>
                <a:ea typeface="+mn-ea"/>
                <a:sym typeface="Microsoft Yahei" panose="020B0503020204020204" pitchFamily="34" charset="-122"/>
              </a:rPr>
              <a:t>的</a:t>
            </a:r>
            <a:r>
              <a:rPr lang="en-US" altLang="zh-CN" dirty="0">
                <a:solidFill>
                  <a:srgbClr val="000000"/>
                </a:solidFill>
                <a:latin typeface="+mn-lt"/>
                <a:ea typeface="+mn-ea"/>
                <a:sym typeface="Microsoft Yahei" panose="020B0503020204020204" pitchFamily="34" charset="-122"/>
              </a:rPr>
              <a:t>4</a:t>
            </a:r>
            <a:r>
              <a:rPr lang="zh-CN" altLang="en-US" dirty="0">
                <a:solidFill>
                  <a:srgbClr val="000000"/>
                </a:solidFill>
                <a:latin typeface="+mn-lt"/>
                <a:ea typeface="+mn-ea"/>
                <a:sym typeface="Microsoft Yahei" panose="020B0503020204020204" pitchFamily="34" charset="-122"/>
              </a:rPr>
              <a:t>比特</a:t>
            </a:r>
            <a:r>
              <a:rPr lang="en-US" altLang="zh-CN" dirty="0">
                <a:solidFill>
                  <a:srgbClr val="000000"/>
                </a:solidFill>
                <a:latin typeface="+mn-lt"/>
                <a:ea typeface="+mn-ea"/>
                <a:sym typeface="Microsoft Yahei" panose="020B0503020204020204" pitchFamily="34" charset="-122"/>
              </a:rPr>
              <a:t>2</a:t>
            </a:r>
            <a:r>
              <a:rPr lang="zh-CN" altLang="en-US" dirty="0">
                <a:solidFill>
                  <a:srgbClr val="000000"/>
                </a:solidFill>
                <a:latin typeface="+mn-lt"/>
                <a:ea typeface="+mn-ea"/>
                <a:sym typeface="Microsoft Yahei" panose="020B0503020204020204" pitchFamily="34" charset="-122"/>
              </a:rPr>
              <a:t>补码分别为</a:t>
            </a:r>
            <a:r>
              <a:rPr lang="en-US" altLang="zh-CN" dirty="0">
                <a:solidFill>
                  <a:srgbClr val="000000"/>
                </a:solidFill>
                <a:latin typeface="+mn-lt"/>
                <a:ea typeface="+mn-ea"/>
                <a:sym typeface="Microsoft Yahei" panose="020B0503020204020204" pitchFamily="34" charset="-122"/>
              </a:rPr>
              <a:t>A=1011</a:t>
            </a:r>
            <a:r>
              <a:rPr lang="zh-CN" altLang="en-US" dirty="0">
                <a:solidFill>
                  <a:srgbClr val="000000"/>
                </a:solidFill>
                <a:latin typeface="+mn-lt"/>
                <a:ea typeface="+mn-ea"/>
                <a:sym typeface="Microsoft Yahei" panose="020B0503020204020204" pitchFamily="34" charset="-122"/>
              </a:rPr>
              <a:t>和</a:t>
            </a:r>
            <a:r>
              <a:rPr lang="en-US" altLang="zh-CN" dirty="0">
                <a:solidFill>
                  <a:srgbClr val="000000"/>
                </a:solidFill>
                <a:latin typeface="+mn-lt"/>
                <a:ea typeface="+mn-ea"/>
                <a:sym typeface="Microsoft Yahei" panose="020B0503020204020204" pitchFamily="34" charset="-122"/>
              </a:rPr>
              <a:t>B=0011</a:t>
            </a:r>
            <a:r>
              <a:rPr lang="zh-CN" altLang="en-US" dirty="0">
                <a:solidFill>
                  <a:srgbClr val="000000"/>
                </a:solidFill>
                <a:latin typeface="+mn-lt"/>
                <a:ea typeface="+mn-ea"/>
                <a:sym typeface="Microsoft Yahei" panose="020B0503020204020204" pitchFamily="34" charset="-122"/>
              </a:rPr>
              <a:t>，请问</a:t>
            </a:r>
            <a:r>
              <a:rPr lang="en-US" altLang="zh-CN" dirty="0">
                <a:solidFill>
                  <a:srgbClr val="000000"/>
                </a:solidFill>
                <a:latin typeface="+mn-lt"/>
                <a:ea typeface="+mn-ea"/>
                <a:sym typeface="Microsoft Yahei" panose="020B0503020204020204" pitchFamily="34" charset="-122"/>
              </a:rPr>
              <a:t>A-B</a:t>
            </a:r>
            <a:r>
              <a:rPr lang="zh-CN" altLang="en-US" dirty="0">
                <a:solidFill>
                  <a:srgbClr val="000000"/>
                </a:solidFill>
                <a:latin typeface="+mn-lt"/>
                <a:ea typeface="+mn-ea"/>
                <a:sym typeface="Microsoft Yahei" panose="020B0503020204020204" pitchFamily="34" charset="-122"/>
              </a:rPr>
              <a:t>是否会发生溢出？</a:t>
            </a:r>
          </a:p>
        </p:txBody>
      </p:sp>
    </p:spTree>
    <p:extLst>
      <p:ext uri="{BB962C8B-B14F-4D97-AF65-F5344CB8AC3E}">
        <p14:creationId xmlns:p14="http://schemas.microsoft.com/office/powerpoint/2010/main" val="2328586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kern="0" dirty="0">
                <a:latin typeface="Arial" panose="020B0604020202020204" pitchFamily="34" charset="0"/>
                <a:ea typeface="SimHei" panose="02010609060101010101" pitchFamily="49" charset="-122"/>
                <a:cs typeface="Arial" panose="020B0604020202020204" pitchFamily="34" charset="0"/>
              </a:rPr>
              <a:t>数的表示与布尔代数</a:t>
            </a:r>
          </a:p>
        </p:txBody>
      </p:sp>
      <p:sp>
        <p:nvSpPr>
          <p:cNvPr id="2" name="灯片编号占位符 1">
            <a:extLst>
              <a:ext uri="{FF2B5EF4-FFF2-40B4-BE49-F238E27FC236}">
                <a16:creationId xmlns:a16="http://schemas.microsoft.com/office/drawing/2014/main" id="{B81ED8BA-4BCA-641E-A544-4632AD6DDA7A}"/>
              </a:ext>
            </a:extLst>
          </p:cNvPr>
          <p:cNvSpPr>
            <a:spLocks noGrp="1"/>
          </p:cNvSpPr>
          <p:nvPr>
            <p:ph type="sldNum" sz="quarter" idx="12"/>
          </p:nvPr>
        </p:nvSpPr>
        <p:spPr/>
        <p:txBody>
          <a:bodyPr/>
          <a:lstStyle/>
          <a:p>
            <a:fld id="{14659731-6BD7-46E7-8D3C-2F3AC07E20B1}" type="slidenum">
              <a:rPr lang="en-US" altLang="zh-CN" smtClean="0"/>
              <a:pPr/>
              <a:t>36</a:t>
            </a:fld>
            <a:endParaRPr lang="en-US" altLang="zh-CN" dirty="0"/>
          </a:p>
        </p:txBody>
      </p:sp>
      <p:sp>
        <p:nvSpPr>
          <p:cNvPr id="5" name="圆角矩形 4">
            <a:extLst>
              <a:ext uri="{FF2B5EF4-FFF2-40B4-BE49-F238E27FC236}">
                <a16:creationId xmlns:a16="http://schemas.microsoft.com/office/drawing/2014/main" id="{D4ABA6EC-33F6-96BA-30CF-C560060877E9}"/>
              </a:ext>
            </a:extLst>
          </p:cNvPr>
          <p:cNvSpPr/>
          <p:nvPr/>
        </p:nvSpPr>
        <p:spPr bwMode="auto">
          <a:xfrm>
            <a:off x="539552" y="4771531"/>
            <a:ext cx="1120806" cy="524226"/>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布尔代数</a:t>
            </a:r>
          </a:p>
        </p:txBody>
      </p:sp>
      <p:sp>
        <p:nvSpPr>
          <p:cNvPr id="6" name="圆角矩形 5">
            <a:extLst>
              <a:ext uri="{FF2B5EF4-FFF2-40B4-BE49-F238E27FC236}">
                <a16:creationId xmlns:a16="http://schemas.microsoft.com/office/drawing/2014/main" id="{C3E3FFB0-1C2C-C930-E2F1-511467A7465D}"/>
              </a:ext>
            </a:extLst>
          </p:cNvPr>
          <p:cNvSpPr/>
          <p:nvPr/>
        </p:nvSpPr>
        <p:spPr bwMode="auto">
          <a:xfrm>
            <a:off x="2036273" y="3935158"/>
            <a:ext cx="999100" cy="524226"/>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布尔代数</a:t>
            </a:r>
          </a:p>
        </p:txBody>
      </p:sp>
      <p:sp>
        <p:nvSpPr>
          <p:cNvPr id="7" name="圆角矩形 6">
            <a:extLst>
              <a:ext uri="{FF2B5EF4-FFF2-40B4-BE49-F238E27FC236}">
                <a16:creationId xmlns:a16="http://schemas.microsoft.com/office/drawing/2014/main" id="{A3E8B5C3-9B96-2A4F-6757-A5A91DACA37D}"/>
              </a:ext>
            </a:extLst>
          </p:cNvPr>
          <p:cNvSpPr/>
          <p:nvPr/>
        </p:nvSpPr>
        <p:spPr bwMode="auto">
          <a:xfrm>
            <a:off x="2042075" y="4772311"/>
            <a:ext cx="1011205" cy="524228"/>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描述</a:t>
            </a:r>
          </a:p>
        </p:txBody>
      </p:sp>
      <p:sp>
        <p:nvSpPr>
          <p:cNvPr id="8" name="圆角矩形 7">
            <a:extLst>
              <a:ext uri="{FF2B5EF4-FFF2-40B4-BE49-F238E27FC236}">
                <a16:creationId xmlns:a16="http://schemas.microsoft.com/office/drawing/2014/main" id="{15D53BD0-FBD3-286F-0255-DD67BA0988DE}"/>
              </a:ext>
            </a:extLst>
          </p:cNvPr>
          <p:cNvSpPr/>
          <p:nvPr/>
        </p:nvSpPr>
        <p:spPr bwMode="auto">
          <a:xfrm>
            <a:off x="2043186" y="6001116"/>
            <a:ext cx="1050783" cy="524228"/>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化简</a:t>
            </a:r>
          </a:p>
        </p:txBody>
      </p:sp>
      <p:sp>
        <p:nvSpPr>
          <p:cNvPr id="9" name="圆角矩形 8">
            <a:extLst>
              <a:ext uri="{FF2B5EF4-FFF2-40B4-BE49-F238E27FC236}">
                <a16:creationId xmlns:a16="http://schemas.microsoft.com/office/drawing/2014/main" id="{95EFD0B4-729B-858D-19E7-5CFCBA8129A5}"/>
              </a:ext>
            </a:extLst>
          </p:cNvPr>
          <p:cNvSpPr/>
          <p:nvPr/>
        </p:nvSpPr>
        <p:spPr bwMode="auto">
          <a:xfrm>
            <a:off x="539552" y="2272713"/>
            <a:ext cx="1120806" cy="524226"/>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数的表示</a:t>
            </a:r>
          </a:p>
        </p:txBody>
      </p:sp>
      <p:sp>
        <p:nvSpPr>
          <p:cNvPr id="10" name="圆角矩形 9">
            <a:extLst>
              <a:ext uri="{FF2B5EF4-FFF2-40B4-BE49-F238E27FC236}">
                <a16:creationId xmlns:a16="http://schemas.microsoft.com/office/drawing/2014/main" id="{C4E5C186-A583-42D2-646E-3044EC670813}"/>
              </a:ext>
            </a:extLst>
          </p:cNvPr>
          <p:cNvSpPr/>
          <p:nvPr/>
        </p:nvSpPr>
        <p:spPr bwMode="auto">
          <a:xfrm>
            <a:off x="3652676" y="2615817"/>
            <a:ext cx="877789"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54000" tIns="45720" rIns="5400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ASCII</a:t>
            </a:r>
            <a:endParaRPr kumimoji="0" lang="zh-CN" altLang="en-US"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sp>
        <p:nvSpPr>
          <p:cNvPr id="11" name="圆角矩形 10">
            <a:extLst>
              <a:ext uri="{FF2B5EF4-FFF2-40B4-BE49-F238E27FC236}">
                <a16:creationId xmlns:a16="http://schemas.microsoft.com/office/drawing/2014/main" id="{266E6CF3-85E1-8A49-3D14-B6516F38F5DD}"/>
              </a:ext>
            </a:extLst>
          </p:cNvPr>
          <p:cNvSpPr/>
          <p:nvPr/>
        </p:nvSpPr>
        <p:spPr bwMode="auto">
          <a:xfrm>
            <a:off x="2117062" y="1877675"/>
            <a:ext cx="918311" cy="535949"/>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二进制</a:t>
            </a:r>
          </a:p>
        </p:txBody>
      </p:sp>
      <p:sp>
        <p:nvSpPr>
          <p:cNvPr id="12" name="圆角矩形 11">
            <a:extLst>
              <a:ext uri="{FF2B5EF4-FFF2-40B4-BE49-F238E27FC236}">
                <a16:creationId xmlns:a16="http://schemas.microsoft.com/office/drawing/2014/main" id="{13EF2D6B-B927-D228-6BEA-2AE5D72326A8}"/>
              </a:ext>
            </a:extLst>
          </p:cNvPr>
          <p:cNvSpPr/>
          <p:nvPr/>
        </p:nvSpPr>
        <p:spPr bwMode="auto">
          <a:xfrm>
            <a:off x="3659385" y="3059161"/>
            <a:ext cx="871081"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Gray</a:t>
            </a:r>
            <a:endParaRPr kumimoji="0" lang="zh-CN" altLang="en-US"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sp>
        <p:nvSpPr>
          <p:cNvPr id="13" name="圆角矩形 12">
            <a:extLst>
              <a:ext uri="{FF2B5EF4-FFF2-40B4-BE49-F238E27FC236}">
                <a16:creationId xmlns:a16="http://schemas.microsoft.com/office/drawing/2014/main" id="{C1906D45-F038-9D4F-DCF2-3D4BA1C92C4E}"/>
              </a:ext>
            </a:extLst>
          </p:cNvPr>
          <p:cNvSpPr/>
          <p:nvPr/>
        </p:nvSpPr>
        <p:spPr bwMode="auto">
          <a:xfrm>
            <a:off x="3709904" y="2161837"/>
            <a:ext cx="918311" cy="346797"/>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小数</a:t>
            </a:r>
          </a:p>
        </p:txBody>
      </p:sp>
      <p:sp>
        <p:nvSpPr>
          <p:cNvPr id="14" name="圆角矩形 13">
            <a:extLst>
              <a:ext uri="{FF2B5EF4-FFF2-40B4-BE49-F238E27FC236}">
                <a16:creationId xmlns:a16="http://schemas.microsoft.com/office/drawing/2014/main" id="{B30807B8-C35E-007C-E0DC-676D7BC599B9}"/>
              </a:ext>
            </a:extLst>
          </p:cNvPr>
          <p:cNvSpPr/>
          <p:nvPr/>
        </p:nvSpPr>
        <p:spPr bwMode="auto">
          <a:xfrm>
            <a:off x="6838055" y="2363564"/>
            <a:ext cx="1689245" cy="48122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latin typeface="Arial" panose="020B0604020202020204" pitchFamily="34" charset="0"/>
                <a:ea typeface="SimHei" panose="02010609060101010101" pitchFamily="49" charset="-122"/>
                <a:cs typeface="Arial" panose="020B0604020202020204" pitchFamily="34" charset="0"/>
              </a:rPr>
              <a:t>减法与溢出</a:t>
            </a:r>
          </a:p>
        </p:txBody>
      </p:sp>
      <p:sp>
        <p:nvSpPr>
          <p:cNvPr id="15" name="圆角矩形 14">
            <a:extLst>
              <a:ext uri="{FF2B5EF4-FFF2-40B4-BE49-F238E27FC236}">
                <a16:creationId xmlns:a16="http://schemas.microsoft.com/office/drawing/2014/main" id="{723FC989-2140-65D6-527F-B71061823A64}"/>
              </a:ext>
            </a:extLst>
          </p:cNvPr>
          <p:cNvSpPr/>
          <p:nvPr/>
        </p:nvSpPr>
        <p:spPr bwMode="auto">
          <a:xfrm>
            <a:off x="6843195" y="1805667"/>
            <a:ext cx="1689245"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latin typeface="Arial" panose="020B0604020202020204" pitchFamily="34" charset="0"/>
                <a:ea typeface="SimHei" panose="02010609060101010101" pitchFamily="49" charset="-122"/>
                <a:cs typeface="Arial" panose="020B0604020202020204" pitchFamily="34" charset="0"/>
              </a:rPr>
              <a:t>补码（</a:t>
            </a:r>
            <a:r>
              <a:rPr lang="en-US" altLang="zh-CN" sz="1600" b="1" dirty="0">
                <a:latin typeface="Arial" panose="020B0604020202020204" pitchFamily="34" charset="0"/>
                <a:ea typeface="SimHei" panose="02010609060101010101" pitchFamily="49" charset="-122"/>
                <a:cs typeface="Arial" panose="020B0604020202020204" pitchFamily="34" charset="0"/>
              </a:rPr>
              <a:t>2</a:t>
            </a:r>
            <a:r>
              <a:rPr lang="zh-CN" altLang="en-US" sz="1600" b="1" dirty="0">
                <a:latin typeface="Arial" panose="020B0604020202020204" pitchFamily="34" charset="0"/>
                <a:ea typeface="SimHei" panose="02010609060101010101" pitchFamily="49" charset="-122"/>
                <a:cs typeface="Arial" panose="020B0604020202020204" pitchFamily="34" charset="0"/>
              </a:rPr>
              <a:t>补码）</a:t>
            </a:r>
            <a:endParaRPr lang="en-US" sz="1600" b="1" dirty="0">
              <a:latin typeface="Arial" panose="020B0604020202020204" pitchFamily="34" charset="0"/>
              <a:ea typeface="SimHei" panose="02010609060101010101" pitchFamily="49" charset="-122"/>
              <a:cs typeface="Arial" panose="020B0604020202020204" pitchFamily="34" charset="0"/>
            </a:endParaRPr>
          </a:p>
        </p:txBody>
      </p:sp>
      <p:cxnSp>
        <p:nvCxnSpPr>
          <p:cNvPr id="16" name="肘形连接符 15">
            <a:extLst>
              <a:ext uri="{FF2B5EF4-FFF2-40B4-BE49-F238E27FC236}">
                <a16:creationId xmlns:a16="http://schemas.microsoft.com/office/drawing/2014/main" id="{B4D7FC9F-803F-03CF-A614-5359D1B13937}"/>
              </a:ext>
            </a:extLst>
          </p:cNvPr>
          <p:cNvCxnSpPr>
            <a:cxnSpLocks/>
            <a:stCxn id="9" idx="3"/>
            <a:endCxn id="11" idx="1"/>
          </p:cNvCxnSpPr>
          <p:nvPr/>
        </p:nvCxnSpPr>
        <p:spPr bwMode="auto">
          <a:xfrm flipV="1">
            <a:off x="1660358" y="2145650"/>
            <a:ext cx="456704" cy="389176"/>
          </a:xfrm>
          <a:prstGeom prst="bentConnector3">
            <a:avLst/>
          </a:prstGeom>
          <a:solidFill>
            <a:schemeClr val="accent1"/>
          </a:solidFill>
          <a:ln w="38100" cap="flat" cmpd="sng" algn="ctr">
            <a:solidFill>
              <a:schemeClr val="tx1"/>
            </a:solidFill>
            <a:prstDash val="solid"/>
            <a:round/>
            <a:headEnd type="none" w="med" len="med"/>
            <a:tailEnd type="triangle"/>
          </a:ln>
          <a:effectLst/>
        </p:spPr>
      </p:cxnSp>
      <p:cxnSp>
        <p:nvCxnSpPr>
          <p:cNvPr id="17" name="肘形连接符 16">
            <a:extLst>
              <a:ext uri="{FF2B5EF4-FFF2-40B4-BE49-F238E27FC236}">
                <a16:creationId xmlns:a16="http://schemas.microsoft.com/office/drawing/2014/main" id="{702E0191-3382-9084-4145-86E7C94DB053}"/>
              </a:ext>
            </a:extLst>
          </p:cNvPr>
          <p:cNvCxnSpPr>
            <a:cxnSpLocks/>
            <a:stCxn id="9" idx="3"/>
            <a:endCxn id="25" idx="1"/>
          </p:cNvCxnSpPr>
          <p:nvPr/>
        </p:nvCxnSpPr>
        <p:spPr bwMode="auto">
          <a:xfrm>
            <a:off x="1660358" y="2534826"/>
            <a:ext cx="456704" cy="507952"/>
          </a:xfrm>
          <a:prstGeom prst="bentConnector3">
            <a:avLst/>
          </a:prstGeom>
          <a:solidFill>
            <a:schemeClr val="accent1"/>
          </a:solidFill>
          <a:ln w="38100" cap="flat" cmpd="sng" algn="ctr">
            <a:solidFill>
              <a:schemeClr val="tx1"/>
            </a:solidFill>
            <a:prstDash val="solid"/>
            <a:round/>
            <a:headEnd type="none" w="med" len="med"/>
            <a:tailEnd type="triangle"/>
          </a:ln>
          <a:effectLst/>
        </p:spPr>
      </p:cxnSp>
      <p:cxnSp>
        <p:nvCxnSpPr>
          <p:cNvPr id="18" name="肘形连接符 17">
            <a:extLst>
              <a:ext uri="{FF2B5EF4-FFF2-40B4-BE49-F238E27FC236}">
                <a16:creationId xmlns:a16="http://schemas.microsoft.com/office/drawing/2014/main" id="{A90DE68F-8252-AA56-D6D4-A43F7BAB6B9A}"/>
              </a:ext>
            </a:extLst>
          </p:cNvPr>
          <p:cNvCxnSpPr>
            <a:cxnSpLocks/>
            <a:stCxn id="11" idx="3"/>
            <a:endCxn id="13" idx="1"/>
          </p:cNvCxnSpPr>
          <p:nvPr/>
        </p:nvCxnSpPr>
        <p:spPr bwMode="auto">
          <a:xfrm>
            <a:off x="3035373" y="2145650"/>
            <a:ext cx="674531" cy="18958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9" name="肘形连接符 18">
            <a:extLst>
              <a:ext uri="{FF2B5EF4-FFF2-40B4-BE49-F238E27FC236}">
                <a16:creationId xmlns:a16="http://schemas.microsoft.com/office/drawing/2014/main" id="{E66336A4-A06B-9080-2470-AEB7183E2B73}"/>
              </a:ext>
            </a:extLst>
          </p:cNvPr>
          <p:cNvCxnSpPr>
            <a:cxnSpLocks/>
            <a:stCxn id="28" idx="3"/>
            <a:endCxn id="15" idx="1"/>
          </p:cNvCxnSpPr>
          <p:nvPr/>
        </p:nvCxnSpPr>
        <p:spPr bwMode="auto">
          <a:xfrm>
            <a:off x="6288061" y="1787776"/>
            <a:ext cx="555134" cy="16305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20" name="肘形连接符 19">
            <a:extLst>
              <a:ext uri="{FF2B5EF4-FFF2-40B4-BE49-F238E27FC236}">
                <a16:creationId xmlns:a16="http://schemas.microsoft.com/office/drawing/2014/main" id="{6136668D-925F-2EAE-F1B6-4C6090CCD208}"/>
              </a:ext>
            </a:extLst>
          </p:cNvPr>
          <p:cNvCxnSpPr>
            <a:cxnSpLocks/>
            <a:stCxn id="5" idx="3"/>
            <a:endCxn id="6" idx="1"/>
          </p:cNvCxnSpPr>
          <p:nvPr/>
        </p:nvCxnSpPr>
        <p:spPr bwMode="auto">
          <a:xfrm flipV="1">
            <a:off x="1660358" y="4197271"/>
            <a:ext cx="375915" cy="836373"/>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21" name="肘形连接符 20">
            <a:extLst>
              <a:ext uri="{FF2B5EF4-FFF2-40B4-BE49-F238E27FC236}">
                <a16:creationId xmlns:a16="http://schemas.microsoft.com/office/drawing/2014/main" id="{3EAEED2A-5BEB-AAB1-360C-8A76752E2AB9}"/>
              </a:ext>
            </a:extLst>
          </p:cNvPr>
          <p:cNvCxnSpPr>
            <a:cxnSpLocks/>
            <a:stCxn id="5" idx="3"/>
            <a:endCxn id="8" idx="1"/>
          </p:cNvCxnSpPr>
          <p:nvPr/>
        </p:nvCxnSpPr>
        <p:spPr bwMode="auto">
          <a:xfrm>
            <a:off x="1660358" y="5033644"/>
            <a:ext cx="382828" cy="1229586"/>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22" name="肘形连接符 21">
            <a:extLst>
              <a:ext uri="{FF2B5EF4-FFF2-40B4-BE49-F238E27FC236}">
                <a16:creationId xmlns:a16="http://schemas.microsoft.com/office/drawing/2014/main" id="{B2699720-5B3F-3431-411A-932AFB615E9A}"/>
              </a:ext>
            </a:extLst>
          </p:cNvPr>
          <p:cNvCxnSpPr>
            <a:cxnSpLocks/>
            <a:stCxn id="5" idx="3"/>
            <a:endCxn id="7" idx="1"/>
          </p:cNvCxnSpPr>
          <p:nvPr/>
        </p:nvCxnSpPr>
        <p:spPr bwMode="auto">
          <a:xfrm>
            <a:off x="1660358" y="5033644"/>
            <a:ext cx="381717" cy="781"/>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23" name="肘形连接符 22">
            <a:extLst>
              <a:ext uri="{FF2B5EF4-FFF2-40B4-BE49-F238E27FC236}">
                <a16:creationId xmlns:a16="http://schemas.microsoft.com/office/drawing/2014/main" id="{E34035F3-AAEC-E866-5098-0698CA96AAD8}"/>
              </a:ext>
            </a:extLst>
          </p:cNvPr>
          <p:cNvCxnSpPr>
            <a:cxnSpLocks/>
            <a:stCxn id="11" idx="3"/>
            <a:endCxn id="24" idx="1"/>
          </p:cNvCxnSpPr>
          <p:nvPr/>
        </p:nvCxnSpPr>
        <p:spPr bwMode="auto">
          <a:xfrm flipV="1">
            <a:off x="3035373" y="1923028"/>
            <a:ext cx="674531" cy="222622"/>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24" name="圆角矩形 23">
            <a:extLst>
              <a:ext uri="{FF2B5EF4-FFF2-40B4-BE49-F238E27FC236}">
                <a16:creationId xmlns:a16="http://schemas.microsoft.com/office/drawing/2014/main" id="{3FF51BED-FAFA-FC8B-273C-AC0DAC8C7F56}"/>
              </a:ext>
            </a:extLst>
          </p:cNvPr>
          <p:cNvSpPr/>
          <p:nvPr/>
        </p:nvSpPr>
        <p:spPr bwMode="auto">
          <a:xfrm>
            <a:off x="3709904" y="1749629"/>
            <a:ext cx="922425" cy="346797"/>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整数</a:t>
            </a:r>
          </a:p>
        </p:txBody>
      </p:sp>
      <p:sp>
        <p:nvSpPr>
          <p:cNvPr id="25" name="圆角矩形 24">
            <a:extLst>
              <a:ext uri="{FF2B5EF4-FFF2-40B4-BE49-F238E27FC236}">
                <a16:creationId xmlns:a16="http://schemas.microsoft.com/office/drawing/2014/main" id="{E9EE602F-F973-44C6-05F9-0BF257F071E0}"/>
              </a:ext>
            </a:extLst>
          </p:cNvPr>
          <p:cNvSpPr/>
          <p:nvPr/>
        </p:nvSpPr>
        <p:spPr bwMode="auto">
          <a:xfrm>
            <a:off x="2117062" y="2774803"/>
            <a:ext cx="1050782" cy="535949"/>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其他表示</a:t>
            </a:r>
          </a:p>
        </p:txBody>
      </p:sp>
      <p:cxnSp>
        <p:nvCxnSpPr>
          <p:cNvPr id="26" name="肘形连接符 25">
            <a:extLst>
              <a:ext uri="{FF2B5EF4-FFF2-40B4-BE49-F238E27FC236}">
                <a16:creationId xmlns:a16="http://schemas.microsoft.com/office/drawing/2014/main" id="{CDFBC7F0-1CD5-0314-A4F7-8BA4898C9B29}"/>
              </a:ext>
            </a:extLst>
          </p:cNvPr>
          <p:cNvCxnSpPr>
            <a:cxnSpLocks/>
            <a:stCxn id="25" idx="3"/>
            <a:endCxn id="12" idx="1"/>
          </p:cNvCxnSpPr>
          <p:nvPr/>
        </p:nvCxnSpPr>
        <p:spPr bwMode="auto">
          <a:xfrm>
            <a:off x="3167844" y="3042778"/>
            <a:ext cx="491541" cy="197505"/>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27" name="肘形连接符 26">
            <a:extLst>
              <a:ext uri="{FF2B5EF4-FFF2-40B4-BE49-F238E27FC236}">
                <a16:creationId xmlns:a16="http://schemas.microsoft.com/office/drawing/2014/main" id="{27C70E1B-71A2-E983-530A-DB118F6CB62E}"/>
              </a:ext>
            </a:extLst>
          </p:cNvPr>
          <p:cNvCxnSpPr>
            <a:cxnSpLocks/>
            <a:stCxn id="25" idx="3"/>
            <a:endCxn id="10" idx="1"/>
          </p:cNvCxnSpPr>
          <p:nvPr/>
        </p:nvCxnSpPr>
        <p:spPr bwMode="auto">
          <a:xfrm flipV="1">
            <a:off x="3167844" y="2796939"/>
            <a:ext cx="484832" cy="24583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28" name="圆角矩形 27">
            <a:extLst>
              <a:ext uri="{FF2B5EF4-FFF2-40B4-BE49-F238E27FC236}">
                <a16:creationId xmlns:a16="http://schemas.microsoft.com/office/drawing/2014/main" id="{A3163767-DF1D-7D2D-55B4-84A252860017}"/>
              </a:ext>
            </a:extLst>
          </p:cNvPr>
          <p:cNvSpPr/>
          <p:nvPr/>
        </p:nvSpPr>
        <p:spPr bwMode="auto">
          <a:xfrm>
            <a:off x="5128071" y="1642611"/>
            <a:ext cx="1159990"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eaLnBrk="1" latinLnBrk="0" hangingPunct="1">
              <a:lnSpc>
                <a:spcPct val="100000"/>
              </a:lnSpc>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有符号数</a:t>
            </a:r>
          </a:p>
        </p:txBody>
      </p:sp>
      <p:sp>
        <p:nvSpPr>
          <p:cNvPr id="29" name="圆角矩形 28">
            <a:extLst>
              <a:ext uri="{FF2B5EF4-FFF2-40B4-BE49-F238E27FC236}">
                <a16:creationId xmlns:a16="http://schemas.microsoft.com/office/drawing/2014/main" id="{E53F1F4C-0796-9B09-529B-DB7782383DC2}"/>
              </a:ext>
            </a:extLst>
          </p:cNvPr>
          <p:cNvSpPr/>
          <p:nvPr/>
        </p:nvSpPr>
        <p:spPr bwMode="auto">
          <a:xfrm>
            <a:off x="5138650" y="2034984"/>
            <a:ext cx="1159990" cy="299563"/>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无符号数</a:t>
            </a:r>
          </a:p>
        </p:txBody>
      </p:sp>
      <p:cxnSp>
        <p:nvCxnSpPr>
          <p:cNvPr id="30" name="肘形连接符 29">
            <a:extLst>
              <a:ext uri="{FF2B5EF4-FFF2-40B4-BE49-F238E27FC236}">
                <a16:creationId xmlns:a16="http://schemas.microsoft.com/office/drawing/2014/main" id="{6D703383-F1BC-35E6-A860-E78F56F10CE5}"/>
              </a:ext>
            </a:extLst>
          </p:cNvPr>
          <p:cNvCxnSpPr>
            <a:cxnSpLocks/>
            <a:stCxn id="24" idx="3"/>
            <a:endCxn id="28" idx="1"/>
          </p:cNvCxnSpPr>
          <p:nvPr/>
        </p:nvCxnSpPr>
        <p:spPr bwMode="auto">
          <a:xfrm flipV="1">
            <a:off x="4632329" y="1787776"/>
            <a:ext cx="495742" cy="135252"/>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31" name="肘形连接符 30">
            <a:extLst>
              <a:ext uri="{FF2B5EF4-FFF2-40B4-BE49-F238E27FC236}">
                <a16:creationId xmlns:a16="http://schemas.microsoft.com/office/drawing/2014/main" id="{DBB7CDAA-C6EC-4FC7-E3BF-113F2FC3148D}"/>
              </a:ext>
            </a:extLst>
          </p:cNvPr>
          <p:cNvCxnSpPr>
            <a:cxnSpLocks/>
            <a:stCxn id="24" idx="3"/>
            <a:endCxn id="29" idx="1"/>
          </p:cNvCxnSpPr>
          <p:nvPr/>
        </p:nvCxnSpPr>
        <p:spPr bwMode="auto">
          <a:xfrm>
            <a:off x="4632329" y="1923028"/>
            <a:ext cx="506321" cy="261738"/>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32" name="圆角矩形 31">
            <a:extLst>
              <a:ext uri="{FF2B5EF4-FFF2-40B4-BE49-F238E27FC236}">
                <a16:creationId xmlns:a16="http://schemas.microsoft.com/office/drawing/2014/main" id="{320015E2-9579-2BA6-C166-635706CE7EE1}"/>
              </a:ext>
            </a:extLst>
          </p:cNvPr>
          <p:cNvSpPr/>
          <p:nvPr/>
        </p:nvSpPr>
        <p:spPr bwMode="auto">
          <a:xfrm>
            <a:off x="6843195" y="1407325"/>
            <a:ext cx="1689245"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latin typeface="Arial" panose="020B0604020202020204" pitchFamily="34" charset="0"/>
                <a:ea typeface="SimHei" panose="02010609060101010101" pitchFamily="49" charset="-122"/>
                <a:cs typeface="Arial" panose="020B0604020202020204" pitchFamily="34" charset="0"/>
              </a:rPr>
              <a:t>反码（</a:t>
            </a:r>
            <a:r>
              <a:rPr lang="en-US" altLang="zh-CN" sz="1600" b="1" dirty="0">
                <a:latin typeface="Arial" panose="020B0604020202020204" pitchFamily="34" charset="0"/>
                <a:ea typeface="SimHei" panose="02010609060101010101" pitchFamily="49" charset="-122"/>
                <a:cs typeface="Arial" panose="020B0604020202020204" pitchFamily="34" charset="0"/>
              </a:rPr>
              <a:t>1</a:t>
            </a:r>
            <a:r>
              <a:rPr lang="zh-CN" altLang="en-US" sz="1600" b="1" dirty="0">
                <a:latin typeface="Arial" panose="020B0604020202020204" pitchFamily="34" charset="0"/>
                <a:ea typeface="SimHei" panose="02010609060101010101" pitchFamily="49" charset="-122"/>
                <a:cs typeface="Arial" panose="020B0604020202020204" pitchFamily="34" charset="0"/>
              </a:rPr>
              <a:t>补码）</a:t>
            </a:r>
            <a:endParaRPr kumimoji="0" lang="zh-CN" altLang="en-US"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33" name="肘形连接符 32">
            <a:extLst>
              <a:ext uri="{FF2B5EF4-FFF2-40B4-BE49-F238E27FC236}">
                <a16:creationId xmlns:a16="http://schemas.microsoft.com/office/drawing/2014/main" id="{E448A917-BCD8-12D9-C0F8-181FB9C26DDA}"/>
              </a:ext>
            </a:extLst>
          </p:cNvPr>
          <p:cNvCxnSpPr>
            <a:cxnSpLocks/>
            <a:stCxn id="28" idx="3"/>
            <a:endCxn id="32" idx="1"/>
          </p:cNvCxnSpPr>
          <p:nvPr/>
        </p:nvCxnSpPr>
        <p:spPr bwMode="auto">
          <a:xfrm flipV="1">
            <a:off x="6288061" y="1552490"/>
            <a:ext cx="555134" cy="23528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34" name="圆角矩形 33">
            <a:extLst>
              <a:ext uri="{FF2B5EF4-FFF2-40B4-BE49-F238E27FC236}">
                <a16:creationId xmlns:a16="http://schemas.microsoft.com/office/drawing/2014/main" id="{AB4F0048-251F-420F-DAB3-B9A78870FCE2}"/>
              </a:ext>
            </a:extLst>
          </p:cNvPr>
          <p:cNvSpPr/>
          <p:nvPr/>
        </p:nvSpPr>
        <p:spPr bwMode="auto">
          <a:xfrm>
            <a:off x="5161112" y="2442778"/>
            <a:ext cx="1538410" cy="290330"/>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定点数</a:t>
            </a:r>
          </a:p>
        </p:txBody>
      </p:sp>
      <p:sp>
        <p:nvSpPr>
          <p:cNvPr id="35" name="圆角矩形 34">
            <a:extLst>
              <a:ext uri="{FF2B5EF4-FFF2-40B4-BE49-F238E27FC236}">
                <a16:creationId xmlns:a16="http://schemas.microsoft.com/office/drawing/2014/main" id="{345522E7-E201-9F7D-3363-02A905524651}"/>
              </a:ext>
            </a:extLst>
          </p:cNvPr>
          <p:cNvSpPr/>
          <p:nvPr/>
        </p:nvSpPr>
        <p:spPr bwMode="auto">
          <a:xfrm>
            <a:off x="5161113" y="2770954"/>
            <a:ext cx="1538410" cy="290330"/>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浮点数</a:t>
            </a:r>
          </a:p>
        </p:txBody>
      </p:sp>
      <p:sp>
        <p:nvSpPr>
          <p:cNvPr id="36" name="圆角矩形 35">
            <a:extLst>
              <a:ext uri="{FF2B5EF4-FFF2-40B4-BE49-F238E27FC236}">
                <a16:creationId xmlns:a16="http://schemas.microsoft.com/office/drawing/2014/main" id="{5C14276B-FA9D-3807-7F92-87E738032125}"/>
              </a:ext>
            </a:extLst>
          </p:cNvPr>
          <p:cNvSpPr/>
          <p:nvPr/>
        </p:nvSpPr>
        <p:spPr bwMode="auto">
          <a:xfrm>
            <a:off x="3659385" y="3498295"/>
            <a:ext cx="871081"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BCD</a:t>
            </a:r>
            <a:endParaRPr kumimoji="0" lang="zh-CN" altLang="en-US"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37" name="肘形连接符 36">
            <a:extLst>
              <a:ext uri="{FF2B5EF4-FFF2-40B4-BE49-F238E27FC236}">
                <a16:creationId xmlns:a16="http://schemas.microsoft.com/office/drawing/2014/main" id="{966264CD-2807-8727-E13D-5E01FF26EDFC}"/>
              </a:ext>
            </a:extLst>
          </p:cNvPr>
          <p:cNvCxnSpPr>
            <a:cxnSpLocks/>
            <a:stCxn id="25" idx="3"/>
            <a:endCxn id="36" idx="1"/>
          </p:cNvCxnSpPr>
          <p:nvPr/>
        </p:nvCxnSpPr>
        <p:spPr bwMode="auto">
          <a:xfrm>
            <a:off x="3167844" y="3042778"/>
            <a:ext cx="491541" cy="63663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38" name="肘形连接符 37">
            <a:extLst>
              <a:ext uri="{FF2B5EF4-FFF2-40B4-BE49-F238E27FC236}">
                <a16:creationId xmlns:a16="http://schemas.microsoft.com/office/drawing/2014/main" id="{8234B04B-F9EB-6230-46DC-032AD8975A63}"/>
              </a:ext>
            </a:extLst>
          </p:cNvPr>
          <p:cNvCxnSpPr>
            <a:cxnSpLocks/>
            <a:stCxn id="15" idx="2"/>
          </p:cNvCxnSpPr>
          <p:nvPr/>
        </p:nvCxnSpPr>
        <p:spPr bwMode="auto">
          <a:xfrm rot="16200000" flipH="1">
            <a:off x="7555109" y="2228705"/>
            <a:ext cx="267567" cy="214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39" name="肘形连接符 38">
            <a:extLst>
              <a:ext uri="{FF2B5EF4-FFF2-40B4-BE49-F238E27FC236}">
                <a16:creationId xmlns:a16="http://schemas.microsoft.com/office/drawing/2014/main" id="{AC6EB0BE-39D5-805B-8551-9E83CF72EADA}"/>
              </a:ext>
            </a:extLst>
          </p:cNvPr>
          <p:cNvCxnSpPr>
            <a:cxnSpLocks/>
            <a:stCxn id="13" idx="3"/>
            <a:endCxn id="34" idx="1"/>
          </p:cNvCxnSpPr>
          <p:nvPr/>
        </p:nvCxnSpPr>
        <p:spPr bwMode="auto">
          <a:xfrm>
            <a:off x="4628215" y="2335236"/>
            <a:ext cx="532897" cy="252707"/>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40" name="肘形连接符 39">
            <a:extLst>
              <a:ext uri="{FF2B5EF4-FFF2-40B4-BE49-F238E27FC236}">
                <a16:creationId xmlns:a16="http://schemas.microsoft.com/office/drawing/2014/main" id="{3E8B2E6C-EA71-8A91-38DD-B7E56B53D1C3}"/>
              </a:ext>
            </a:extLst>
          </p:cNvPr>
          <p:cNvCxnSpPr>
            <a:cxnSpLocks/>
            <a:stCxn id="13" idx="3"/>
            <a:endCxn id="35" idx="1"/>
          </p:cNvCxnSpPr>
          <p:nvPr/>
        </p:nvCxnSpPr>
        <p:spPr bwMode="auto">
          <a:xfrm>
            <a:off x="4628215" y="2335236"/>
            <a:ext cx="532898" cy="580883"/>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41" name="圆角矩形 40">
            <a:extLst>
              <a:ext uri="{FF2B5EF4-FFF2-40B4-BE49-F238E27FC236}">
                <a16:creationId xmlns:a16="http://schemas.microsoft.com/office/drawing/2014/main" id="{B03B5505-927C-387E-FF07-B6F85B9C20AE}"/>
              </a:ext>
            </a:extLst>
          </p:cNvPr>
          <p:cNvSpPr/>
          <p:nvPr/>
        </p:nvSpPr>
        <p:spPr bwMode="auto">
          <a:xfrm>
            <a:off x="6413723" y="3112354"/>
            <a:ext cx="2113576" cy="358054"/>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600" dirty="0">
                <a:solidFill>
                  <a:schemeClr val="tx1"/>
                </a:solidFill>
                <a:latin typeface="Arial" panose="020B0604020202020204" pitchFamily="34" charset="0"/>
                <a:ea typeface="SimHei" panose="02010609060101010101" pitchFamily="49" charset="-122"/>
                <a:cs typeface="Arial" panose="020B0604020202020204" pitchFamily="34" charset="0"/>
              </a:rPr>
              <a:t>IEEE 754</a:t>
            </a: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标准</a:t>
            </a:r>
          </a:p>
        </p:txBody>
      </p:sp>
      <p:cxnSp>
        <p:nvCxnSpPr>
          <p:cNvPr id="42" name="肘形连接符 41">
            <a:extLst>
              <a:ext uri="{FF2B5EF4-FFF2-40B4-BE49-F238E27FC236}">
                <a16:creationId xmlns:a16="http://schemas.microsoft.com/office/drawing/2014/main" id="{A501F830-B3C9-A7F5-8E41-51382EC37991}"/>
              </a:ext>
            </a:extLst>
          </p:cNvPr>
          <p:cNvCxnSpPr>
            <a:cxnSpLocks/>
            <a:stCxn id="35" idx="2"/>
            <a:endCxn id="41" idx="1"/>
          </p:cNvCxnSpPr>
          <p:nvPr/>
        </p:nvCxnSpPr>
        <p:spPr bwMode="auto">
          <a:xfrm rot="16200000" flipH="1">
            <a:off x="6056972" y="2934629"/>
            <a:ext cx="230097" cy="483405"/>
          </a:xfrm>
          <a:prstGeom prst="bentConnector2">
            <a:avLst/>
          </a:prstGeom>
          <a:solidFill>
            <a:schemeClr val="accent1"/>
          </a:solidFill>
          <a:ln w="381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429410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309BA-871D-668C-5930-8F63A814F0EA}"/>
              </a:ext>
            </a:extLst>
          </p:cNvPr>
          <p:cNvSpPr>
            <a:spLocks noGrp="1"/>
          </p:cNvSpPr>
          <p:nvPr>
            <p:ph type="title"/>
          </p:nvPr>
        </p:nvSpPr>
        <p:spPr/>
        <p:txBody>
          <a:bodyPr/>
          <a:lstStyle/>
          <a:p>
            <a:r>
              <a:rPr kumimoji="1" lang="zh-CN" altLang="en-US" dirty="0"/>
              <a:t>本节课目录</a:t>
            </a:r>
          </a:p>
        </p:txBody>
      </p:sp>
      <p:sp>
        <p:nvSpPr>
          <p:cNvPr id="3" name="内容占位符 2">
            <a:extLst>
              <a:ext uri="{FF2B5EF4-FFF2-40B4-BE49-F238E27FC236}">
                <a16:creationId xmlns:a16="http://schemas.microsoft.com/office/drawing/2014/main" id="{0233D71A-28BC-9EF3-A365-EFF9CE09BA82}"/>
              </a:ext>
            </a:extLst>
          </p:cNvPr>
          <p:cNvSpPr>
            <a:spLocks noGrp="1"/>
          </p:cNvSpPr>
          <p:nvPr>
            <p:ph idx="1"/>
          </p:nvPr>
        </p:nvSpPr>
        <p:spPr/>
        <p:txBody>
          <a:bodyPr/>
          <a:lstStyle/>
          <a:p>
            <a:r>
              <a:rPr kumimoji="1" lang="zh-CN" altLang="en-US" dirty="0"/>
              <a:t>数的编码与二进制表示</a:t>
            </a:r>
          </a:p>
          <a:p>
            <a:r>
              <a:rPr kumimoji="1" lang="zh-CN" altLang="en-US" dirty="0">
                <a:solidFill>
                  <a:srgbClr val="3333FF"/>
                </a:solidFill>
              </a:rPr>
              <a:t>算术与函数的布尔代数表示</a:t>
            </a:r>
            <a:endParaRPr kumimoji="1" lang="en-US" altLang="zh-CN" dirty="0">
              <a:solidFill>
                <a:srgbClr val="3333FF"/>
              </a:solidFill>
            </a:endParaRPr>
          </a:p>
          <a:p>
            <a:r>
              <a:rPr lang="zh-CN" altLang="en-US" b="1" dirty="0">
                <a:solidFill>
                  <a:srgbClr val="000000"/>
                </a:solidFill>
                <a:latin typeface="黑体" pitchFamily="2" charset="-122"/>
                <a:ea typeface="黑体" pitchFamily="2" charset="-122"/>
              </a:rPr>
              <a:t>布尔表达式的化简</a:t>
            </a:r>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7924AE40-C753-E5A4-F452-1455785A8083}"/>
              </a:ext>
            </a:extLst>
          </p:cNvPr>
          <p:cNvSpPr>
            <a:spLocks noGrp="1"/>
          </p:cNvSpPr>
          <p:nvPr>
            <p:ph type="sldNum" sz="quarter" idx="12"/>
          </p:nvPr>
        </p:nvSpPr>
        <p:spPr/>
        <p:txBody>
          <a:bodyPr/>
          <a:lstStyle/>
          <a:p>
            <a:fld id="{14659731-6BD7-46E7-8D3C-2F3AC07E20B1}" type="slidenum">
              <a:rPr lang="en-US" altLang="zh-CN" smtClean="0"/>
              <a:pPr/>
              <a:t>37</a:t>
            </a:fld>
            <a:endParaRPr lang="en-US" altLang="zh-CN"/>
          </a:p>
        </p:txBody>
      </p:sp>
    </p:spTree>
    <p:extLst>
      <p:ext uri="{BB962C8B-B14F-4D97-AF65-F5344CB8AC3E}">
        <p14:creationId xmlns:p14="http://schemas.microsoft.com/office/powerpoint/2010/main" val="4881448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dirty="0"/>
              <a:t>布尔代数的定义</a:t>
            </a:r>
            <a:endParaRPr lang="en-US" altLang="zh-CN" dirty="0"/>
          </a:p>
        </p:txBody>
      </p:sp>
      <p:sp>
        <p:nvSpPr>
          <p:cNvPr id="56323" name="Rectangle 3"/>
          <p:cNvSpPr>
            <a:spLocks noGrp="1" noChangeArrowheads="1"/>
          </p:cNvSpPr>
          <p:nvPr>
            <p:ph idx="1"/>
          </p:nvPr>
        </p:nvSpPr>
        <p:spPr/>
        <p:txBody>
          <a:bodyPr/>
          <a:lstStyle/>
          <a:p>
            <a:pPr eaLnBrk="1" hangingPunct="1"/>
            <a:r>
              <a:rPr lang="zh-CN" altLang="en-US" sz="2800" dirty="0"/>
              <a:t>布尔代数是数字系统的数学基础</a:t>
            </a:r>
            <a:endParaRPr lang="en-US" altLang="zh-CN" sz="2800" dirty="0"/>
          </a:p>
          <a:p>
            <a:pPr eaLnBrk="1" hangingPunct="1"/>
            <a:r>
              <a:rPr lang="zh-CN" altLang="en-US" sz="2800" dirty="0"/>
              <a:t>用逻辑运算符表示输入逻辑变量与输出逻辑变量之间的关系</a:t>
            </a:r>
            <a:endParaRPr lang="en-US" altLang="zh-CN" sz="2800" dirty="0"/>
          </a:p>
          <a:p>
            <a:pPr lvl="1" eaLnBrk="1" hangingPunct="1"/>
            <a:r>
              <a:rPr lang="zh-CN" altLang="en-US" sz="2400" dirty="0"/>
              <a:t>运算</a:t>
            </a:r>
            <a:r>
              <a:rPr lang="en-US" altLang="zh-CN" sz="2400" dirty="0"/>
              <a:t>: NOT</a:t>
            </a:r>
            <a:r>
              <a:rPr lang="zh-CN" altLang="en-US" sz="2400" dirty="0"/>
              <a:t>（非）</a:t>
            </a:r>
            <a:r>
              <a:rPr lang="en-US" altLang="zh-CN" sz="2400" dirty="0"/>
              <a:t>, AND</a:t>
            </a:r>
            <a:r>
              <a:rPr lang="zh-CN" altLang="en-US" sz="2400" dirty="0"/>
              <a:t>（与）</a:t>
            </a:r>
            <a:r>
              <a:rPr lang="en-US" altLang="zh-CN" sz="2400" dirty="0"/>
              <a:t>, OR</a:t>
            </a:r>
            <a:r>
              <a:rPr lang="zh-CN" altLang="en-US" sz="2400" dirty="0"/>
              <a:t>（或）</a:t>
            </a:r>
            <a:endParaRPr lang="en-US" altLang="zh-CN" sz="2400" dirty="0"/>
          </a:p>
          <a:p>
            <a:pPr lvl="1" eaLnBrk="1" hangingPunct="1"/>
            <a:r>
              <a:rPr lang="zh-CN" altLang="en-US" sz="2400" dirty="0"/>
              <a:t>优先权：非最高，与次之，或最低</a:t>
            </a:r>
            <a:endParaRPr lang="en-US" altLang="zh-CN" sz="2400" dirty="0"/>
          </a:p>
          <a:p>
            <a:pPr lvl="1" eaLnBrk="1" hangingPunct="1"/>
            <a:r>
              <a:rPr lang="zh-CN" altLang="en-US" sz="2400" dirty="0"/>
              <a:t>运算符</a:t>
            </a:r>
            <a:r>
              <a:rPr lang="en-US" altLang="zh-CN" sz="2400" dirty="0"/>
              <a:t>: + (</a:t>
            </a:r>
            <a:r>
              <a:rPr lang="zh-CN" altLang="en-US" sz="2400" dirty="0"/>
              <a:t>或</a:t>
            </a:r>
            <a:r>
              <a:rPr lang="en-US" altLang="zh-CN" sz="2400" dirty="0"/>
              <a:t>/</a:t>
            </a:r>
            <a:r>
              <a:rPr lang="zh-CN" altLang="en-US" sz="2400" dirty="0"/>
              <a:t>逻辑加</a:t>
            </a:r>
            <a:r>
              <a:rPr lang="en-US" altLang="zh-CN" sz="2400" dirty="0"/>
              <a:t>), </a:t>
            </a:r>
            <a:r>
              <a:rPr lang="en-US" altLang="zh-CN" sz="2400" dirty="0">
                <a:sym typeface="Symbol" pitchFamily="18" charset="2"/>
              </a:rPr>
              <a:t>(</a:t>
            </a:r>
            <a:r>
              <a:rPr lang="zh-CN" altLang="en-US" sz="2400" dirty="0">
                <a:sym typeface="Symbol" pitchFamily="18" charset="2"/>
              </a:rPr>
              <a:t>与</a:t>
            </a:r>
            <a:r>
              <a:rPr lang="en-US" altLang="zh-CN" sz="2400" dirty="0">
                <a:sym typeface="Symbol" pitchFamily="18" charset="2"/>
              </a:rPr>
              <a:t>/</a:t>
            </a:r>
            <a:r>
              <a:rPr lang="zh-CN" altLang="en-US" sz="2400" dirty="0">
                <a:sym typeface="Symbol" pitchFamily="18" charset="2"/>
              </a:rPr>
              <a:t>逻辑乘</a:t>
            </a:r>
            <a:r>
              <a:rPr lang="en-US" altLang="zh-CN" sz="2400" dirty="0">
                <a:sym typeface="Symbol" pitchFamily="18" charset="2"/>
              </a:rPr>
              <a:t>),  ( </a:t>
            </a:r>
            <a:r>
              <a:rPr lang="en-US" altLang="zh-CN" sz="2400" baseline="30000" dirty="0">
                <a:sym typeface="Symbol" pitchFamily="18" charset="2"/>
              </a:rPr>
              <a:t>—</a:t>
            </a:r>
            <a:r>
              <a:rPr lang="en-US" altLang="zh-CN" sz="2400" dirty="0">
                <a:sym typeface="Symbol" pitchFamily="18" charset="2"/>
              </a:rPr>
              <a:t> )   (</a:t>
            </a:r>
            <a:r>
              <a:rPr lang="zh-CN" altLang="en-US" sz="2400" dirty="0">
                <a:sym typeface="Symbol" pitchFamily="18" charset="2"/>
              </a:rPr>
              <a:t>非</a:t>
            </a:r>
            <a:r>
              <a:rPr lang="en-US" altLang="zh-CN" sz="2400" dirty="0">
                <a:sym typeface="Symbol" pitchFamily="18" charset="2"/>
              </a:rPr>
              <a:t>/</a:t>
            </a:r>
            <a:r>
              <a:rPr lang="zh-CN" altLang="en-US" sz="2400" dirty="0">
                <a:sym typeface="Symbol" pitchFamily="18" charset="2"/>
              </a:rPr>
              <a:t>反</a:t>
            </a:r>
            <a:r>
              <a:rPr lang="en-US" altLang="zh-CN" sz="2400" dirty="0">
                <a:sym typeface="Symbol" pitchFamily="18" charset="2"/>
              </a:rPr>
              <a:t>)</a:t>
            </a:r>
            <a:endParaRPr lang="en-US" altLang="zh-CN" sz="2400" dirty="0"/>
          </a:p>
        </p:txBody>
      </p:sp>
      <p:sp>
        <p:nvSpPr>
          <p:cNvPr id="2" name="灯片编号占位符 1">
            <a:extLst>
              <a:ext uri="{FF2B5EF4-FFF2-40B4-BE49-F238E27FC236}">
                <a16:creationId xmlns:a16="http://schemas.microsoft.com/office/drawing/2014/main" id="{B81ED8BA-4BCA-641E-A544-4632AD6DDA7A}"/>
              </a:ext>
            </a:extLst>
          </p:cNvPr>
          <p:cNvSpPr>
            <a:spLocks noGrp="1"/>
          </p:cNvSpPr>
          <p:nvPr>
            <p:ph type="sldNum" sz="quarter" idx="12"/>
          </p:nvPr>
        </p:nvSpPr>
        <p:spPr/>
        <p:txBody>
          <a:bodyPr/>
          <a:lstStyle/>
          <a:p>
            <a:fld id="{14659731-6BD7-46E7-8D3C-2F3AC07E20B1}" type="slidenum">
              <a:rPr lang="en-US" altLang="zh-CN" smtClean="0"/>
              <a:pPr/>
              <a:t>38</a:t>
            </a:fld>
            <a:endParaRPr lang="en-US" altLang="zh-CN" dirty="0"/>
          </a:p>
        </p:txBody>
      </p:sp>
    </p:spTree>
    <p:extLst>
      <p:ext uri="{BB962C8B-B14F-4D97-AF65-F5344CB8AC3E}">
        <p14:creationId xmlns:p14="http://schemas.microsoft.com/office/powerpoint/2010/main" val="614828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dirty="0"/>
              <a:t>基本定律</a:t>
            </a:r>
            <a:r>
              <a:rPr lang="en-US" altLang="zh-CN" dirty="0"/>
              <a:t> (1)</a:t>
            </a:r>
          </a:p>
        </p:txBody>
      </p:sp>
      <p:sp>
        <p:nvSpPr>
          <p:cNvPr id="58371" name="Rectangle 3"/>
          <p:cNvSpPr>
            <a:spLocks noGrp="1" noChangeArrowheads="1"/>
          </p:cNvSpPr>
          <p:nvPr>
            <p:ph idx="1"/>
          </p:nvPr>
        </p:nvSpPr>
        <p:spPr>
          <a:xfrm>
            <a:off x="395536" y="1520849"/>
            <a:ext cx="8229600" cy="4716463"/>
          </a:xfrm>
        </p:spPr>
        <p:txBody>
          <a:bodyPr/>
          <a:lstStyle/>
          <a:p>
            <a:pPr eaLnBrk="1" hangingPunct="1"/>
            <a:r>
              <a:rPr lang="en-US" altLang="zh-CN" sz="2400" dirty="0"/>
              <a:t>Commutative Law </a:t>
            </a:r>
            <a:r>
              <a:rPr lang="zh-CN" altLang="en-US" sz="2400" dirty="0"/>
              <a:t>交换律</a:t>
            </a:r>
          </a:p>
          <a:p>
            <a:pPr lvl="1" eaLnBrk="1" hangingPunct="1"/>
            <a:r>
              <a:rPr lang="en-US" altLang="zh-CN" sz="2400" dirty="0"/>
              <a:t>X+Y=Y+X         XY=YX</a:t>
            </a:r>
          </a:p>
          <a:p>
            <a:pPr eaLnBrk="1" hangingPunct="1"/>
            <a:r>
              <a:rPr lang="en-US" altLang="zh-CN" sz="2400" dirty="0"/>
              <a:t>Associative Law </a:t>
            </a:r>
            <a:r>
              <a:rPr lang="zh-CN" altLang="en-US" sz="2400" dirty="0"/>
              <a:t>结合律</a:t>
            </a:r>
          </a:p>
          <a:p>
            <a:pPr lvl="1" eaLnBrk="1" hangingPunct="1"/>
            <a:r>
              <a:rPr lang="en-US" altLang="zh-CN" sz="2400" dirty="0"/>
              <a:t>(X+Y)+Z=X+(Y+Z)=X+Y+Z</a:t>
            </a:r>
          </a:p>
          <a:p>
            <a:pPr lvl="1" eaLnBrk="1" hangingPunct="1"/>
            <a:r>
              <a:rPr lang="en-US" altLang="zh-CN" sz="2400" dirty="0"/>
              <a:t>(XY)Z=X(YZ)=XYZ</a:t>
            </a:r>
          </a:p>
          <a:p>
            <a:pPr eaLnBrk="1" hangingPunct="1"/>
            <a:r>
              <a:rPr lang="en-US" altLang="zh-CN" sz="2400" dirty="0"/>
              <a:t>Distributive Law </a:t>
            </a:r>
            <a:r>
              <a:rPr lang="zh-CN" altLang="en-US" sz="2400" dirty="0"/>
              <a:t>分配律</a:t>
            </a:r>
          </a:p>
          <a:p>
            <a:pPr lvl="1" eaLnBrk="1" hangingPunct="1"/>
            <a:r>
              <a:rPr lang="en-US" altLang="zh-CN" sz="2400" b="1" dirty="0"/>
              <a:t>X+(Y</a:t>
            </a:r>
            <a:r>
              <a:rPr lang="en-US" altLang="zh-CN" sz="2400" b="1" dirty="0">
                <a:sym typeface="Symbol" pitchFamily="18" charset="2"/>
              </a:rPr>
              <a:t></a:t>
            </a:r>
            <a:r>
              <a:rPr lang="en-US" altLang="zh-CN" sz="2400" b="1" dirty="0"/>
              <a:t>Z)=(X+Y)(X+Z)</a:t>
            </a:r>
          </a:p>
          <a:p>
            <a:pPr lvl="1" eaLnBrk="1" hangingPunct="1"/>
            <a:r>
              <a:rPr lang="en-US" altLang="zh-CN" sz="2400" dirty="0"/>
              <a:t>X(Y+Z)=XY+XZ</a:t>
            </a:r>
          </a:p>
          <a:p>
            <a:pPr eaLnBrk="1" hangingPunct="1"/>
            <a:r>
              <a:rPr lang="en-US" altLang="zh-CN" sz="2400" dirty="0"/>
              <a:t>Complement </a:t>
            </a:r>
            <a:r>
              <a:rPr lang="zh-CN" altLang="en-US" sz="2400" dirty="0"/>
              <a:t>互补律</a:t>
            </a:r>
            <a:endParaRPr lang="en-US" altLang="zh-CN" sz="2400" dirty="0"/>
          </a:p>
          <a:p>
            <a:pPr lvl="1" eaLnBrk="1" hangingPunct="1"/>
            <a:r>
              <a:rPr lang="en-US" altLang="zh-CN" sz="2400" dirty="0"/>
              <a:t>X+X’=1           X</a:t>
            </a:r>
            <a:r>
              <a:rPr lang="en-US" altLang="zh-CN" sz="2400" dirty="0">
                <a:sym typeface="Symbol" pitchFamily="18" charset="2"/>
              </a:rPr>
              <a:t>X’=0</a:t>
            </a:r>
            <a:endParaRPr lang="en-US" altLang="zh-CN" sz="2400" dirty="0"/>
          </a:p>
          <a:p>
            <a:pPr eaLnBrk="1" hangingPunct="1"/>
            <a:endParaRPr lang="en-US" altLang="zh-CN" sz="2400" dirty="0"/>
          </a:p>
        </p:txBody>
      </p:sp>
      <p:sp>
        <p:nvSpPr>
          <p:cNvPr id="2" name="灯片编号占位符 1">
            <a:extLst>
              <a:ext uri="{FF2B5EF4-FFF2-40B4-BE49-F238E27FC236}">
                <a16:creationId xmlns:a16="http://schemas.microsoft.com/office/drawing/2014/main" id="{5246DA50-888D-717A-E6AF-01ECC5C37E7C}"/>
              </a:ext>
            </a:extLst>
          </p:cNvPr>
          <p:cNvSpPr>
            <a:spLocks noGrp="1"/>
          </p:cNvSpPr>
          <p:nvPr>
            <p:ph type="sldNum" sz="quarter" idx="12"/>
          </p:nvPr>
        </p:nvSpPr>
        <p:spPr/>
        <p:txBody>
          <a:bodyPr/>
          <a:lstStyle/>
          <a:p>
            <a:fld id="{14659731-6BD7-46E7-8D3C-2F3AC07E20B1}" type="slidenum">
              <a:rPr lang="en-US" altLang="zh-CN" smtClean="0"/>
              <a:pPr/>
              <a:t>39</a:t>
            </a:fld>
            <a:endParaRPr lang="en-US" altLang="zh-CN" dirty="0"/>
          </a:p>
        </p:txBody>
      </p:sp>
    </p:spTree>
    <p:extLst>
      <p:ext uri="{BB962C8B-B14F-4D97-AF65-F5344CB8AC3E}">
        <p14:creationId xmlns:p14="http://schemas.microsoft.com/office/powerpoint/2010/main" val="2027699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zh-CN" altLang="en-US" dirty="0"/>
              <a:t>基本定律 </a:t>
            </a:r>
            <a:r>
              <a:rPr lang="en-US" altLang="zh-CN" dirty="0"/>
              <a:t>(2)</a:t>
            </a:r>
          </a:p>
        </p:txBody>
      </p:sp>
      <p:sp>
        <p:nvSpPr>
          <p:cNvPr id="59395" name="Rectangle 3"/>
          <p:cNvSpPr>
            <a:spLocks noGrp="1" noChangeArrowheads="1"/>
          </p:cNvSpPr>
          <p:nvPr>
            <p:ph idx="1"/>
          </p:nvPr>
        </p:nvSpPr>
        <p:spPr>
          <a:xfrm>
            <a:off x="431540" y="1520849"/>
            <a:ext cx="8229600" cy="4716463"/>
          </a:xfrm>
        </p:spPr>
        <p:txBody>
          <a:bodyPr/>
          <a:lstStyle/>
          <a:p>
            <a:pPr eaLnBrk="1" hangingPunct="1"/>
            <a:r>
              <a:rPr lang="en-US" altLang="zh-CN" sz="2400" dirty="0"/>
              <a:t>Absorption</a:t>
            </a:r>
            <a:r>
              <a:rPr lang="zh-CN" altLang="en-US" sz="2400" dirty="0"/>
              <a:t> 吸收率</a:t>
            </a:r>
            <a:endParaRPr lang="en-US" altLang="zh-CN" sz="2400" dirty="0"/>
          </a:p>
          <a:p>
            <a:pPr lvl="1" hangingPunct="1"/>
            <a:r>
              <a:rPr lang="en-US" altLang="zh-CN" sz="2400" dirty="0"/>
              <a:t>X+XY=X</a:t>
            </a:r>
          </a:p>
          <a:p>
            <a:pPr lvl="1" hangingPunct="1"/>
            <a:r>
              <a:rPr lang="en-US" altLang="zh-CN" sz="2000" dirty="0"/>
              <a:t>(</a:t>
            </a:r>
            <a:r>
              <a:rPr lang="zh-CN" altLang="en-US" sz="2000" dirty="0"/>
              <a:t>可推出 </a:t>
            </a:r>
            <a:r>
              <a:rPr lang="en-US" altLang="zh-CN" sz="2000" dirty="0"/>
              <a:t>X</a:t>
            </a:r>
            <a:r>
              <a:rPr lang="zh-CN" altLang="en-US" sz="2000" dirty="0"/>
              <a:t> </a:t>
            </a:r>
            <a:r>
              <a:rPr lang="en-US" altLang="zh-CN" sz="2000" dirty="0"/>
              <a:t>+</a:t>
            </a:r>
            <a:r>
              <a:rPr lang="zh-CN" altLang="en-US" sz="2000" dirty="0"/>
              <a:t> </a:t>
            </a:r>
            <a:r>
              <a:rPr lang="en-US" altLang="zh-CN" sz="2000" dirty="0"/>
              <a:t>X’Y</a:t>
            </a:r>
            <a:r>
              <a:rPr lang="zh-CN" altLang="en-US" sz="2000" dirty="0"/>
              <a:t> </a:t>
            </a:r>
            <a:r>
              <a:rPr lang="en-US" altLang="zh-CN" sz="2000" dirty="0"/>
              <a:t>=</a:t>
            </a:r>
            <a:r>
              <a:rPr lang="zh-CN" altLang="en-US" sz="2000" dirty="0"/>
              <a:t> </a:t>
            </a:r>
            <a:r>
              <a:rPr lang="en-US" altLang="zh-CN" sz="2000" dirty="0"/>
              <a:t>X+Y)</a:t>
            </a:r>
          </a:p>
          <a:p>
            <a:pPr eaLnBrk="1" hangingPunct="1"/>
            <a:r>
              <a:rPr lang="en-US" altLang="zh-CN" sz="2400" dirty="0"/>
              <a:t>Idempotent </a:t>
            </a:r>
            <a:r>
              <a:rPr lang="zh-CN" altLang="en-US" sz="2400" dirty="0"/>
              <a:t>幂等律</a:t>
            </a:r>
          </a:p>
          <a:p>
            <a:pPr lvl="1" eaLnBrk="1" hangingPunct="1"/>
            <a:r>
              <a:rPr lang="en-US" altLang="zh-CN" sz="2400" dirty="0"/>
              <a:t>X+X=X; X</a:t>
            </a:r>
            <a:r>
              <a:rPr lang="en-US" altLang="zh-CN" sz="2400" dirty="0">
                <a:sym typeface="Symbol" pitchFamily="18" charset="2"/>
              </a:rPr>
              <a:t></a:t>
            </a:r>
            <a:r>
              <a:rPr lang="en-US" altLang="zh-CN" sz="2400" dirty="0"/>
              <a:t>X=X </a:t>
            </a:r>
          </a:p>
          <a:p>
            <a:pPr hangingPunct="1"/>
            <a:r>
              <a:rPr lang="en-US" altLang="zh-CN" sz="2400" dirty="0"/>
              <a:t>Involution </a:t>
            </a:r>
            <a:r>
              <a:rPr lang="zh-CN" altLang="en-US" sz="2400" dirty="0"/>
              <a:t>对合</a:t>
            </a:r>
          </a:p>
          <a:p>
            <a:pPr lvl="1" eaLnBrk="1" hangingPunct="1"/>
            <a:r>
              <a:rPr lang="en-US" altLang="zh-CN" sz="2400" dirty="0"/>
              <a:t>(X’)’=X</a:t>
            </a:r>
          </a:p>
          <a:p>
            <a:pPr eaLnBrk="1" hangingPunct="1"/>
            <a:r>
              <a:rPr lang="zh-CN" altLang="en-US" sz="2400" dirty="0"/>
              <a:t>与</a:t>
            </a:r>
            <a:r>
              <a:rPr lang="en-US" altLang="zh-CN" sz="2400" dirty="0"/>
              <a:t>0 &amp; 1</a:t>
            </a:r>
            <a:r>
              <a:rPr lang="zh-CN" altLang="en-US" sz="2400" dirty="0"/>
              <a:t>的运算</a:t>
            </a:r>
            <a:endParaRPr lang="en-US" altLang="zh-CN" sz="2400" dirty="0"/>
          </a:p>
          <a:p>
            <a:pPr lvl="1" eaLnBrk="1" hangingPunct="1"/>
            <a:r>
              <a:rPr lang="en-US" altLang="zh-CN" sz="2400" dirty="0"/>
              <a:t>X+0=X,</a:t>
            </a:r>
            <a:r>
              <a:rPr lang="zh-CN" altLang="en-US" sz="2400" dirty="0"/>
              <a:t> </a:t>
            </a:r>
            <a:r>
              <a:rPr lang="en-US" altLang="zh-CN" sz="2400" dirty="0"/>
              <a:t>X+1=1</a:t>
            </a:r>
          </a:p>
          <a:p>
            <a:pPr lvl="1" eaLnBrk="1" hangingPunct="1"/>
            <a:r>
              <a:rPr lang="en-US" altLang="zh-CN" sz="2400" dirty="0">
                <a:sym typeface="Symbol" pitchFamily="18" charset="2"/>
              </a:rPr>
              <a:t>X1=X, X0=0</a:t>
            </a:r>
            <a:r>
              <a:rPr lang="zh-CN" altLang="en-US" sz="2400" dirty="0">
                <a:sym typeface="Symbol" pitchFamily="18" charset="2"/>
              </a:rPr>
              <a:t> </a:t>
            </a:r>
            <a:endParaRPr lang="en-US" altLang="zh-CN" sz="2400" dirty="0"/>
          </a:p>
          <a:p>
            <a:pPr hangingPunct="1"/>
            <a:endParaRPr lang="en-US" altLang="zh-CN" sz="2400" dirty="0">
              <a:sym typeface="Symbol" pitchFamily="18" charset="2"/>
            </a:endParaRPr>
          </a:p>
          <a:p>
            <a:pPr eaLnBrk="1" hangingPunct="1"/>
            <a:endParaRPr lang="en-US" altLang="zh-CN" sz="2400" dirty="0"/>
          </a:p>
        </p:txBody>
      </p:sp>
      <p:sp>
        <p:nvSpPr>
          <p:cNvPr id="2" name="灯片编号占位符 1">
            <a:extLst>
              <a:ext uri="{FF2B5EF4-FFF2-40B4-BE49-F238E27FC236}">
                <a16:creationId xmlns:a16="http://schemas.microsoft.com/office/drawing/2014/main" id="{2D2CC81B-9B87-9030-02BE-5932684D5817}"/>
              </a:ext>
            </a:extLst>
          </p:cNvPr>
          <p:cNvSpPr>
            <a:spLocks noGrp="1"/>
          </p:cNvSpPr>
          <p:nvPr>
            <p:ph type="sldNum" sz="quarter" idx="12"/>
          </p:nvPr>
        </p:nvSpPr>
        <p:spPr/>
        <p:txBody>
          <a:bodyPr/>
          <a:lstStyle/>
          <a:p>
            <a:fld id="{14659731-6BD7-46E7-8D3C-2F3AC07E20B1}" type="slidenum">
              <a:rPr lang="en-US" altLang="zh-CN" smtClean="0"/>
              <a:pPr/>
              <a:t>40</a:t>
            </a:fld>
            <a:endParaRPr lang="en-US" altLang="zh-CN" dirty="0"/>
          </a:p>
        </p:txBody>
      </p:sp>
    </p:spTree>
    <p:extLst>
      <p:ext uri="{BB962C8B-B14F-4D97-AF65-F5344CB8AC3E}">
        <p14:creationId xmlns:p14="http://schemas.microsoft.com/office/powerpoint/2010/main" val="17560595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dirty="0"/>
              <a:t>基本定理 </a:t>
            </a:r>
            <a:r>
              <a:rPr lang="en-US" altLang="zh-CN" dirty="0"/>
              <a:t>(3)</a:t>
            </a:r>
          </a:p>
        </p:txBody>
      </p:sp>
      <p:sp>
        <p:nvSpPr>
          <p:cNvPr id="61443" name="Rectangle 3"/>
          <p:cNvSpPr>
            <a:spLocks noGrp="1" noChangeArrowheads="1"/>
          </p:cNvSpPr>
          <p:nvPr>
            <p:ph idx="1"/>
          </p:nvPr>
        </p:nvSpPr>
        <p:spPr>
          <a:xfrm>
            <a:off x="680181" y="1664804"/>
            <a:ext cx="8229600" cy="4716463"/>
          </a:xfrm>
        </p:spPr>
        <p:txBody>
          <a:bodyPr/>
          <a:lstStyle/>
          <a:p>
            <a:pPr eaLnBrk="1" hangingPunct="1"/>
            <a:r>
              <a:rPr lang="en-US" altLang="zh-CN" sz="2800" dirty="0"/>
              <a:t>Consensus theorem </a:t>
            </a:r>
            <a:r>
              <a:rPr lang="zh-CN" altLang="en-US" sz="2800" dirty="0"/>
              <a:t>一致性定理（多数定理）</a:t>
            </a:r>
          </a:p>
          <a:p>
            <a:pPr lvl="1" eaLnBrk="1" hangingPunct="1"/>
            <a:r>
              <a:rPr lang="en-US" altLang="zh-CN" sz="2800" dirty="0"/>
              <a:t>(X+Y)(Y+Z)(X’+Z)=(X+Y)(</a:t>
            </a:r>
            <a:r>
              <a:rPr lang="en-US" altLang="zh-CN" sz="2800" dirty="0">
                <a:sym typeface="Symbol" pitchFamily="18" charset="2"/>
              </a:rPr>
              <a:t>X’+Z)</a:t>
            </a:r>
          </a:p>
          <a:p>
            <a:pPr lvl="1" eaLnBrk="1" hangingPunct="1"/>
            <a:r>
              <a:rPr lang="en-US" altLang="zh-CN" sz="2800" dirty="0"/>
              <a:t>X</a:t>
            </a:r>
            <a:r>
              <a:rPr lang="en-US" altLang="zh-CN" sz="2800" dirty="0">
                <a:sym typeface="Symbol" pitchFamily="18" charset="2"/>
              </a:rPr>
              <a:t></a:t>
            </a:r>
            <a:r>
              <a:rPr lang="en-US" altLang="zh-CN" sz="2800" dirty="0"/>
              <a:t>Y+X’</a:t>
            </a:r>
            <a:r>
              <a:rPr lang="en-US" altLang="zh-CN" sz="2800" dirty="0">
                <a:sym typeface="Symbol" pitchFamily="18" charset="2"/>
              </a:rPr>
              <a:t></a:t>
            </a:r>
            <a:r>
              <a:rPr lang="en-US" altLang="zh-CN" sz="2800" dirty="0"/>
              <a:t>Z </a:t>
            </a:r>
            <a:r>
              <a:rPr lang="en-US" altLang="zh-CN" sz="2800" dirty="0">
                <a:solidFill>
                  <a:schemeClr val="tx1">
                    <a:lumMod val="50000"/>
                    <a:lumOff val="50000"/>
                  </a:schemeClr>
                </a:solidFill>
              </a:rPr>
              <a:t>+Y</a:t>
            </a:r>
            <a:r>
              <a:rPr lang="en-US" altLang="zh-CN" sz="2800" dirty="0">
                <a:solidFill>
                  <a:schemeClr val="tx1">
                    <a:lumMod val="50000"/>
                    <a:lumOff val="50000"/>
                  </a:schemeClr>
                </a:solidFill>
                <a:sym typeface="Symbol" pitchFamily="18" charset="2"/>
              </a:rPr>
              <a:t></a:t>
            </a:r>
            <a:r>
              <a:rPr lang="en-US" altLang="zh-CN" sz="2800" dirty="0">
                <a:solidFill>
                  <a:schemeClr val="tx1">
                    <a:lumMod val="50000"/>
                    <a:lumOff val="50000"/>
                  </a:schemeClr>
                </a:solidFill>
              </a:rPr>
              <a:t>Z </a:t>
            </a:r>
            <a:r>
              <a:rPr lang="en-US" altLang="zh-CN" sz="2800" dirty="0"/>
              <a:t>=XY+X’Z</a:t>
            </a:r>
          </a:p>
          <a:p>
            <a:pPr lvl="1" eaLnBrk="1" hangingPunct="1"/>
            <a:r>
              <a:rPr lang="zh-CN" altLang="en-US" sz="2800" dirty="0">
                <a:sym typeface="Symbol" pitchFamily="18" charset="2"/>
              </a:rPr>
              <a:t>用于化简逻辑表达式（代数化简法用到）</a:t>
            </a:r>
            <a:endParaRPr lang="en-US" altLang="zh-CN" sz="2800" dirty="0">
              <a:sym typeface="Symbol" pitchFamily="18" charset="2"/>
            </a:endParaRPr>
          </a:p>
          <a:p>
            <a:pPr lvl="1" eaLnBrk="1" hangingPunct="1"/>
            <a:r>
              <a:rPr lang="zh-CN" altLang="en-US" sz="2800" dirty="0">
                <a:sym typeface="Symbol" pitchFamily="18" charset="2"/>
              </a:rPr>
              <a:t>用于消除组合电路的竞争冒险（下一次课用到）</a:t>
            </a:r>
            <a:endParaRPr lang="en-US" altLang="zh-CN" sz="2800" dirty="0">
              <a:sym typeface="Symbol" pitchFamily="18" charset="2"/>
            </a:endParaRPr>
          </a:p>
          <a:p>
            <a:pPr eaLnBrk="1" hangingPunct="1"/>
            <a:endParaRPr lang="en-US" altLang="zh-CN" sz="2800" dirty="0"/>
          </a:p>
        </p:txBody>
      </p:sp>
      <p:sp>
        <p:nvSpPr>
          <p:cNvPr id="2" name="灯片编号占位符 1">
            <a:extLst>
              <a:ext uri="{FF2B5EF4-FFF2-40B4-BE49-F238E27FC236}">
                <a16:creationId xmlns:a16="http://schemas.microsoft.com/office/drawing/2014/main" id="{C352E08A-E7D0-99E8-568D-57414B5AF4CF}"/>
              </a:ext>
            </a:extLst>
          </p:cNvPr>
          <p:cNvSpPr>
            <a:spLocks noGrp="1"/>
          </p:cNvSpPr>
          <p:nvPr>
            <p:ph type="sldNum" sz="quarter" idx="12"/>
          </p:nvPr>
        </p:nvSpPr>
        <p:spPr/>
        <p:txBody>
          <a:bodyPr/>
          <a:lstStyle/>
          <a:p>
            <a:fld id="{14659731-6BD7-46E7-8D3C-2F3AC07E20B1}" type="slidenum">
              <a:rPr lang="en-US" altLang="zh-CN" smtClean="0"/>
              <a:pPr/>
              <a:t>41</a:t>
            </a:fld>
            <a:endParaRPr lang="en-US" altLang="zh-CN" dirty="0"/>
          </a:p>
        </p:txBody>
      </p:sp>
    </p:spTree>
    <p:extLst>
      <p:ext uri="{BB962C8B-B14F-4D97-AF65-F5344CB8AC3E}">
        <p14:creationId xmlns:p14="http://schemas.microsoft.com/office/powerpoint/2010/main" val="533301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dirty="0">
                <a:latin typeface="Arial" panose="020B0604020202020204" pitchFamily="34" charset="0"/>
                <a:ea typeface="黑体" pitchFamily="2" charset="-122"/>
                <a:cs typeface="Arial" panose="020B0604020202020204" pitchFamily="34" charset="0"/>
              </a:rPr>
              <a:t>布尔函数</a:t>
            </a:r>
            <a:endParaRPr lang="en-US" altLang="zh-CN" dirty="0"/>
          </a:p>
        </p:txBody>
      </p:sp>
      <p:sp>
        <p:nvSpPr>
          <p:cNvPr id="57347" name="Rectangle 3"/>
          <p:cNvSpPr>
            <a:spLocks noGrp="1" noChangeArrowheads="1"/>
          </p:cNvSpPr>
          <p:nvPr>
            <p:ph idx="1"/>
          </p:nvPr>
        </p:nvSpPr>
        <p:spPr>
          <a:xfrm>
            <a:off x="349188" y="1447800"/>
            <a:ext cx="8471284" cy="5029200"/>
          </a:xfrm>
        </p:spPr>
        <p:txBody>
          <a:bodyPr/>
          <a:lstStyle/>
          <a:p>
            <a:pPr hangingPunct="1"/>
            <a:r>
              <a:rPr lang="zh-CN" altLang="en-US" sz="2800" b="1" dirty="0">
                <a:solidFill>
                  <a:srgbClr val="3333FF"/>
                </a:solidFill>
              </a:rPr>
              <a:t>多种表现形式</a:t>
            </a:r>
            <a:endParaRPr lang="en-US" altLang="zh-CN" sz="2800" b="1" dirty="0">
              <a:solidFill>
                <a:srgbClr val="3333FF"/>
              </a:solidFill>
            </a:endParaRPr>
          </a:p>
          <a:p>
            <a:pPr lvl="1" hangingPunct="1"/>
            <a:r>
              <a:rPr lang="zh-CN" altLang="en-US" sz="2800" dirty="0"/>
              <a:t>布尔代数的表达式：</a:t>
            </a:r>
            <a:r>
              <a:rPr lang="en-US" altLang="zh-CN" sz="2800" dirty="0"/>
              <a:t>f(X</a:t>
            </a:r>
            <a:r>
              <a:rPr lang="en-US" altLang="zh-CN" sz="2800" baseline="-25000" dirty="0"/>
              <a:t>1</a:t>
            </a:r>
            <a:r>
              <a:rPr lang="en-US" altLang="zh-CN" sz="2800" dirty="0"/>
              <a:t>, X</a:t>
            </a:r>
            <a:r>
              <a:rPr lang="en-US" altLang="zh-CN" sz="2800" baseline="-25000" dirty="0"/>
              <a:t>2</a:t>
            </a:r>
            <a:r>
              <a:rPr lang="en-US" altLang="zh-CN" sz="2800" dirty="0"/>
              <a:t>, </a:t>
            </a:r>
            <a:r>
              <a:rPr lang="en-US" altLang="zh-CN" sz="2800" dirty="0">
                <a:sym typeface="Symbol" pitchFamily="18" charset="2"/>
              </a:rPr>
              <a:t></a:t>
            </a:r>
            <a:r>
              <a:rPr lang="en-US" altLang="zh-CN" sz="2800" dirty="0"/>
              <a:t>, </a:t>
            </a:r>
            <a:r>
              <a:rPr lang="en-US" altLang="zh-CN" sz="2800" dirty="0" err="1"/>
              <a:t>X</a:t>
            </a:r>
            <a:r>
              <a:rPr lang="en-US" altLang="zh-CN" sz="2800" baseline="-25000" dirty="0" err="1"/>
              <a:t>n</a:t>
            </a:r>
            <a:r>
              <a:rPr lang="en-US" altLang="zh-CN" sz="2800" dirty="0"/>
              <a:t>, 1, 0, </a:t>
            </a:r>
            <a:r>
              <a:rPr lang="en-US" altLang="zh-CN" sz="2800" dirty="0">
                <a:sym typeface="Symbol" pitchFamily="18" charset="2"/>
              </a:rPr>
              <a:t></a:t>
            </a:r>
            <a:r>
              <a:rPr lang="en-US" altLang="zh-CN" sz="2800" dirty="0"/>
              <a:t>, +) </a:t>
            </a:r>
          </a:p>
          <a:p>
            <a:pPr lvl="2" hangingPunct="1"/>
            <a:r>
              <a:rPr lang="en-US" altLang="zh-CN" sz="2400" dirty="0"/>
              <a:t>Variables and operators</a:t>
            </a:r>
          </a:p>
          <a:p>
            <a:pPr lvl="1" eaLnBrk="1" hangingPunct="1"/>
            <a:r>
              <a:rPr lang="zh-CN" altLang="en-US" sz="2800" dirty="0"/>
              <a:t>真值表（</a:t>
            </a:r>
            <a:r>
              <a:rPr lang="en-US" altLang="zh-CN" sz="2800" dirty="0"/>
              <a:t>Truth table</a:t>
            </a:r>
            <a:r>
              <a:rPr lang="zh-CN" altLang="en-US" sz="2800" dirty="0"/>
              <a:t>）</a:t>
            </a:r>
            <a:endParaRPr lang="en-US" altLang="zh-CN" sz="2800" dirty="0"/>
          </a:p>
          <a:p>
            <a:pPr lvl="1" eaLnBrk="1" hangingPunct="1"/>
            <a:r>
              <a:rPr lang="zh-CN" altLang="en-US" sz="2800" dirty="0"/>
              <a:t>电路图（</a:t>
            </a:r>
            <a:r>
              <a:rPr lang="en-US" altLang="zh-CN" sz="2800" dirty="0"/>
              <a:t>Circuit diagram</a:t>
            </a:r>
            <a:r>
              <a:rPr lang="zh-CN" altLang="en-US" sz="2800" dirty="0"/>
              <a:t>）</a:t>
            </a:r>
            <a:endParaRPr lang="en-US" altLang="zh-CN" sz="2800" dirty="0"/>
          </a:p>
        </p:txBody>
      </p:sp>
      <p:sp>
        <p:nvSpPr>
          <p:cNvPr id="2" name="灯片编号占位符 1">
            <a:extLst>
              <a:ext uri="{FF2B5EF4-FFF2-40B4-BE49-F238E27FC236}">
                <a16:creationId xmlns:a16="http://schemas.microsoft.com/office/drawing/2014/main" id="{46EF2C57-63A1-CBE3-978A-F706B55E5692}"/>
              </a:ext>
            </a:extLst>
          </p:cNvPr>
          <p:cNvSpPr>
            <a:spLocks noGrp="1"/>
          </p:cNvSpPr>
          <p:nvPr>
            <p:ph type="sldNum" sz="quarter" idx="12"/>
          </p:nvPr>
        </p:nvSpPr>
        <p:spPr/>
        <p:txBody>
          <a:bodyPr/>
          <a:lstStyle/>
          <a:p>
            <a:fld id="{14659731-6BD7-46E7-8D3C-2F3AC07E20B1}" type="slidenum">
              <a:rPr lang="en-US" altLang="zh-CN" smtClean="0"/>
              <a:pPr/>
              <a:t>42</a:t>
            </a:fld>
            <a:endParaRPr lang="en-US" altLang="zh-CN" dirty="0"/>
          </a:p>
        </p:txBody>
      </p:sp>
    </p:spTree>
    <p:extLst>
      <p:ext uri="{BB962C8B-B14F-4D97-AF65-F5344CB8AC3E}">
        <p14:creationId xmlns:p14="http://schemas.microsoft.com/office/powerpoint/2010/main" val="9522141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p:txBody>
          <a:bodyPr/>
          <a:lstStyle/>
          <a:p>
            <a:pPr algn="just"/>
            <a:r>
              <a:rPr lang="zh-CN" altLang="en-US" sz="2800" dirty="0">
                <a:solidFill>
                  <a:schemeClr val="tx1"/>
                </a:solidFill>
                <a:latin typeface="Arial" panose="020B0604020202020204" pitchFamily="34" charset="0"/>
                <a:ea typeface="SimHei" charset="-122"/>
                <a:cs typeface="Arial" panose="020B0604020202020204" pitchFamily="34" charset="0"/>
              </a:rPr>
              <a:t>函数反演的一般形式：</a:t>
            </a:r>
            <a:endParaRPr lang="en-US" altLang="zh-CN" sz="2800" dirty="0">
              <a:solidFill>
                <a:schemeClr val="tx1"/>
              </a:solidFill>
              <a:latin typeface="Arial" panose="020B0604020202020204" pitchFamily="34" charset="0"/>
              <a:ea typeface="SimHei" charset="-122"/>
              <a:cs typeface="Arial" panose="020B0604020202020204" pitchFamily="34" charset="0"/>
            </a:endParaRPr>
          </a:p>
          <a:p>
            <a:pPr lvl="1" algn="just"/>
            <a:r>
              <a:rPr lang="en-US" altLang="zh-CN" sz="2400" dirty="0">
                <a:solidFill>
                  <a:schemeClr val="tx1"/>
                </a:solidFill>
                <a:latin typeface="Arial" panose="020B0604020202020204" pitchFamily="34" charset="0"/>
                <a:ea typeface="SimHei" charset="-122"/>
                <a:cs typeface="Arial" panose="020B0604020202020204" pitchFamily="34" charset="0"/>
              </a:rPr>
              <a:t>{f(X</a:t>
            </a:r>
            <a:r>
              <a:rPr lang="en-US" altLang="zh-CN" sz="2400" baseline="-25000" dirty="0">
                <a:solidFill>
                  <a:schemeClr val="tx1"/>
                </a:solidFill>
                <a:latin typeface="Arial" panose="020B0604020202020204" pitchFamily="34" charset="0"/>
                <a:ea typeface="SimHei" charset="-122"/>
                <a:cs typeface="Arial" panose="020B0604020202020204" pitchFamily="34" charset="0"/>
              </a:rPr>
              <a:t>1</a:t>
            </a:r>
            <a:r>
              <a:rPr lang="en-US" altLang="zh-CN" sz="2400" dirty="0">
                <a:solidFill>
                  <a:schemeClr val="tx1"/>
                </a:solidFill>
                <a:latin typeface="Arial" panose="020B0604020202020204" pitchFamily="34" charset="0"/>
                <a:ea typeface="SimHei" charset="-122"/>
                <a:cs typeface="Arial" panose="020B0604020202020204" pitchFamily="34" charset="0"/>
              </a:rPr>
              <a:t>, </a:t>
            </a:r>
            <a:r>
              <a:rPr lang="en-US" altLang="zh-CN" sz="2400" dirty="0">
                <a:solidFill>
                  <a:schemeClr val="tx1"/>
                </a:solidFill>
                <a:latin typeface="Arial" panose="020B0604020202020204" pitchFamily="34" charset="0"/>
                <a:ea typeface="SimHei" charset="-122"/>
                <a:cs typeface="Arial" panose="020B0604020202020204" pitchFamily="34" charset="0"/>
                <a:sym typeface="Symbol" pitchFamily="18" charset="2"/>
              </a:rPr>
              <a:t></a:t>
            </a:r>
            <a:r>
              <a:rPr lang="en-US" altLang="zh-CN" sz="2400" dirty="0">
                <a:solidFill>
                  <a:schemeClr val="tx1"/>
                </a:solidFill>
                <a:latin typeface="Arial" panose="020B0604020202020204" pitchFamily="34" charset="0"/>
                <a:ea typeface="SimHei" charset="-122"/>
                <a:cs typeface="Arial" panose="020B0604020202020204" pitchFamily="34" charset="0"/>
              </a:rPr>
              <a:t>, </a:t>
            </a:r>
            <a:r>
              <a:rPr lang="en-US" altLang="zh-CN" sz="2400" dirty="0" err="1">
                <a:solidFill>
                  <a:schemeClr val="tx1"/>
                </a:solidFill>
                <a:latin typeface="Arial" panose="020B0604020202020204" pitchFamily="34" charset="0"/>
                <a:ea typeface="SimHei" charset="-122"/>
                <a:cs typeface="Arial" panose="020B0604020202020204" pitchFamily="34" charset="0"/>
              </a:rPr>
              <a:t>X</a:t>
            </a:r>
            <a:r>
              <a:rPr lang="en-US" altLang="zh-CN" sz="2400" baseline="-25000" dirty="0" err="1">
                <a:solidFill>
                  <a:schemeClr val="tx1"/>
                </a:solidFill>
                <a:latin typeface="Arial" panose="020B0604020202020204" pitchFamily="34" charset="0"/>
                <a:ea typeface="SimHei" charset="-122"/>
                <a:cs typeface="Arial" panose="020B0604020202020204" pitchFamily="34" charset="0"/>
              </a:rPr>
              <a:t>n</a:t>
            </a:r>
            <a:r>
              <a:rPr lang="en-US" altLang="zh-CN" sz="2400" dirty="0">
                <a:solidFill>
                  <a:schemeClr val="tx1"/>
                </a:solidFill>
                <a:latin typeface="Arial" panose="020B0604020202020204" pitchFamily="34" charset="0"/>
                <a:ea typeface="SimHei" charset="-122"/>
                <a:cs typeface="Arial" panose="020B0604020202020204" pitchFamily="34" charset="0"/>
              </a:rPr>
              <a:t>, 0, 1, +, </a:t>
            </a:r>
            <a:r>
              <a:rPr lang="en-US" altLang="zh-CN" sz="2400" dirty="0">
                <a:solidFill>
                  <a:schemeClr val="tx1"/>
                </a:solidFill>
                <a:latin typeface="Arial" panose="020B0604020202020204" pitchFamily="34" charset="0"/>
                <a:ea typeface="SimHei" charset="-122"/>
                <a:cs typeface="Arial" panose="020B0604020202020204" pitchFamily="34" charset="0"/>
                <a:sym typeface="Symbol" pitchFamily="18" charset="2"/>
              </a:rPr>
              <a:t></a:t>
            </a:r>
            <a:r>
              <a:rPr lang="en-US" altLang="zh-CN" sz="2400" dirty="0">
                <a:solidFill>
                  <a:schemeClr val="tx1"/>
                </a:solidFill>
                <a:latin typeface="Arial" panose="020B0604020202020204" pitchFamily="34" charset="0"/>
                <a:ea typeface="SimHei" charset="-122"/>
                <a:cs typeface="Arial" panose="020B0604020202020204" pitchFamily="34" charset="0"/>
              </a:rPr>
              <a:t>)}’ = f(X</a:t>
            </a:r>
            <a:r>
              <a:rPr lang="en-US" altLang="zh-CN" sz="2400" baseline="-25000" dirty="0">
                <a:solidFill>
                  <a:schemeClr val="tx1"/>
                </a:solidFill>
                <a:latin typeface="Arial" panose="020B0604020202020204" pitchFamily="34" charset="0"/>
                <a:ea typeface="SimHei" charset="-122"/>
                <a:cs typeface="Arial" panose="020B0604020202020204" pitchFamily="34" charset="0"/>
              </a:rPr>
              <a:t>1</a:t>
            </a:r>
            <a:r>
              <a:rPr lang="en-US" altLang="zh-CN" sz="2400" dirty="0">
                <a:solidFill>
                  <a:schemeClr val="tx1"/>
                </a:solidFill>
                <a:latin typeface="Arial" panose="020B0604020202020204" pitchFamily="34" charset="0"/>
                <a:ea typeface="SimHei" charset="-122"/>
                <a:cs typeface="Arial" panose="020B0604020202020204" pitchFamily="34" charset="0"/>
              </a:rPr>
              <a:t>’, </a:t>
            </a:r>
            <a:r>
              <a:rPr lang="en-US" altLang="zh-CN" sz="2400" dirty="0">
                <a:solidFill>
                  <a:schemeClr val="tx1"/>
                </a:solidFill>
                <a:latin typeface="Arial" panose="020B0604020202020204" pitchFamily="34" charset="0"/>
                <a:ea typeface="SimHei" charset="-122"/>
                <a:cs typeface="Arial" panose="020B0604020202020204" pitchFamily="34" charset="0"/>
                <a:sym typeface="Symbol" pitchFamily="18" charset="2"/>
              </a:rPr>
              <a:t></a:t>
            </a:r>
            <a:r>
              <a:rPr lang="en-US" altLang="zh-CN" sz="2400" dirty="0">
                <a:solidFill>
                  <a:schemeClr val="tx1"/>
                </a:solidFill>
                <a:latin typeface="Arial" panose="020B0604020202020204" pitchFamily="34" charset="0"/>
                <a:ea typeface="SimHei" charset="-122"/>
                <a:cs typeface="Arial" panose="020B0604020202020204" pitchFamily="34" charset="0"/>
              </a:rPr>
              <a:t>, </a:t>
            </a:r>
            <a:r>
              <a:rPr lang="en-US" altLang="zh-CN" sz="2400" dirty="0" err="1">
                <a:solidFill>
                  <a:schemeClr val="tx1"/>
                </a:solidFill>
                <a:latin typeface="Arial" panose="020B0604020202020204" pitchFamily="34" charset="0"/>
                <a:ea typeface="SimHei" charset="-122"/>
                <a:cs typeface="Arial" panose="020B0604020202020204" pitchFamily="34" charset="0"/>
              </a:rPr>
              <a:t>X</a:t>
            </a:r>
            <a:r>
              <a:rPr lang="en-US" altLang="zh-CN" sz="2400" baseline="-25000" dirty="0" err="1">
                <a:solidFill>
                  <a:schemeClr val="tx1"/>
                </a:solidFill>
                <a:latin typeface="Arial" panose="020B0604020202020204" pitchFamily="34" charset="0"/>
                <a:ea typeface="SimHei" charset="-122"/>
                <a:cs typeface="Arial" panose="020B0604020202020204" pitchFamily="34" charset="0"/>
              </a:rPr>
              <a:t>n</a:t>
            </a:r>
            <a:r>
              <a:rPr lang="en-US" altLang="zh-CN" sz="2400" dirty="0">
                <a:solidFill>
                  <a:schemeClr val="tx1"/>
                </a:solidFill>
                <a:latin typeface="Arial" panose="020B0604020202020204" pitchFamily="34" charset="0"/>
                <a:ea typeface="SimHei" charset="-122"/>
                <a:cs typeface="Arial" panose="020B0604020202020204" pitchFamily="34" charset="0"/>
              </a:rPr>
              <a:t>’, 1, 0, </a:t>
            </a:r>
            <a:r>
              <a:rPr lang="en-US" altLang="zh-CN" sz="2400" dirty="0">
                <a:solidFill>
                  <a:schemeClr val="tx1"/>
                </a:solidFill>
                <a:latin typeface="Arial" panose="020B0604020202020204" pitchFamily="34" charset="0"/>
                <a:ea typeface="SimHei" charset="-122"/>
                <a:cs typeface="Arial" panose="020B0604020202020204" pitchFamily="34" charset="0"/>
                <a:sym typeface="Symbol" pitchFamily="18" charset="2"/>
              </a:rPr>
              <a:t></a:t>
            </a:r>
            <a:r>
              <a:rPr lang="en-US" altLang="zh-CN" sz="2400" dirty="0">
                <a:solidFill>
                  <a:schemeClr val="tx1"/>
                </a:solidFill>
                <a:latin typeface="Arial" panose="020B0604020202020204" pitchFamily="34" charset="0"/>
                <a:ea typeface="SimHei" charset="-122"/>
                <a:cs typeface="Arial" panose="020B0604020202020204" pitchFamily="34" charset="0"/>
              </a:rPr>
              <a:t>, +)</a:t>
            </a:r>
            <a:endParaRPr lang="en-US" altLang="zh-CN" sz="2400" dirty="0">
              <a:solidFill>
                <a:schemeClr val="tx1"/>
              </a:solidFill>
              <a:latin typeface="Arial" panose="020B0604020202020204" pitchFamily="34" charset="0"/>
              <a:cs typeface="Arial" panose="020B0604020202020204" pitchFamily="34" charset="0"/>
            </a:endParaRPr>
          </a:p>
          <a:p>
            <a:pPr lvl="1" hangingPunct="1"/>
            <a:r>
              <a:rPr lang="en-US" altLang="zh-CN" sz="2400" dirty="0">
                <a:solidFill>
                  <a:schemeClr val="tx1"/>
                </a:solidFill>
                <a:latin typeface="Arial" panose="020B0604020202020204" pitchFamily="34" charset="0"/>
                <a:cs typeface="Arial" panose="020B0604020202020204" pitchFamily="34" charset="0"/>
              </a:rPr>
              <a:t>AND </a:t>
            </a:r>
            <a:r>
              <a:rPr lang="en-US" altLang="zh-CN" sz="2400" dirty="0">
                <a:solidFill>
                  <a:schemeClr val="tx1"/>
                </a:solidFill>
                <a:latin typeface="Arial" panose="020B0604020202020204" pitchFamily="34" charset="0"/>
                <a:cs typeface="Arial" panose="020B0604020202020204" pitchFamily="34" charset="0"/>
                <a:sym typeface="Wingdings" pitchFamily="2" charset="2"/>
              </a:rPr>
              <a:t></a:t>
            </a:r>
            <a:r>
              <a:rPr lang="en-US" altLang="zh-CN" sz="2400" dirty="0">
                <a:solidFill>
                  <a:schemeClr val="tx1"/>
                </a:solidFill>
                <a:latin typeface="Arial" panose="020B0604020202020204" pitchFamily="34" charset="0"/>
                <a:cs typeface="Arial" panose="020B0604020202020204" pitchFamily="34" charset="0"/>
              </a:rPr>
              <a:t> OR, 0 </a:t>
            </a:r>
            <a:r>
              <a:rPr lang="en-US" altLang="zh-CN" sz="2400" dirty="0">
                <a:solidFill>
                  <a:schemeClr val="tx1"/>
                </a:solidFill>
                <a:latin typeface="Arial" panose="020B0604020202020204" pitchFamily="34" charset="0"/>
                <a:cs typeface="Arial" panose="020B0604020202020204" pitchFamily="34" charset="0"/>
                <a:sym typeface="Wingdings" pitchFamily="2" charset="2"/>
              </a:rPr>
              <a:t></a:t>
            </a:r>
            <a:r>
              <a:rPr lang="en-US" altLang="zh-CN" sz="2400" dirty="0">
                <a:solidFill>
                  <a:schemeClr val="tx1"/>
                </a:solidFill>
                <a:latin typeface="Arial" panose="020B0604020202020204" pitchFamily="34" charset="0"/>
                <a:cs typeface="Arial" panose="020B0604020202020204" pitchFamily="34" charset="0"/>
              </a:rPr>
              <a:t> 1, X </a:t>
            </a:r>
            <a:r>
              <a:rPr lang="en-US" altLang="zh-CN" sz="2400" dirty="0">
                <a:solidFill>
                  <a:schemeClr val="tx1"/>
                </a:solidFill>
                <a:latin typeface="Arial" panose="020B0604020202020204" pitchFamily="34" charset="0"/>
                <a:cs typeface="Arial" panose="020B0604020202020204" pitchFamily="34" charset="0"/>
                <a:sym typeface="Wingdings" pitchFamily="2" charset="2"/>
              </a:rPr>
              <a:t></a:t>
            </a:r>
            <a:r>
              <a:rPr lang="en-US" altLang="zh-CN" sz="2400" dirty="0">
                <a:solidFill>
                  <a:schemeClr val="tx1"/>
                </a:solidFill>
                <a:latin typeface="Arial" panose="020B0604020202020204" pitchFamily="34" charset="0"/>
                <a:cs typeface="Arial" panose="020B0604020202020204" pitchFamily="34" charset="0"/>
              </a:rPr>
              <a:t> X’</a:t>
            </a:r>
          </a:p>
          <a:p>
            <a:pPr hangingPunct="1"/>
            <a:r>
              <a:rPr lang="en-US" altLang="zh-CN" sz="2800" dirty="0">
                <a:solidFill>
                  <a:schemeClr val="tx1"/>
                </a:solidFill>
                <a:latin typeface="Arial" panose="020B0604020202020204" pitchFamily="34" charset="0"/>
                <a:cs typeface="Arial" panose="020B0604020202020204" pitchFamily="34" charset="0"/>
              </a:rPr>
              <a:t> </a:t>
            </a:r>
            <a:r>
              <a:rPr lang="zh-CN" altLang="en-US" sz="2800" dirty="0">
                <a:solidFill>
                  <a:schemeClr val="tx1"/>
                </a:solidFill>
                <a:latin typeface="Arial" panose="020B0604020202020204" pitchFamily="34" charset="0"/>
                <a:cs typeface="Arial" panose="020B0604020202020204" pitchFamily="34" charset="0"/>
              </a:rPr>
              <a:t>例子</a:t>
            </a:r>
            <a:endParaRPr lang="en-US" altLang="zh-CN" sz="2800" dirty="0">
              <a:solidFill>
                <a:schemeClr val="tx1"/>
              </a:solidFill>
              <a:latin typeface="Arial" panose="020B0604020202020204" pitchFamily="34" charset="0"/>
              <a:cs typeface="Arial" panose="020B0604020202020204" pitchFamily="34" charset="0"/>
            </a:endParaRPr>
          </a:p>
          <a:p>
            <a:pPr lvl="1" hangingPunct="1"/>
            <a:r>
              <a:rPr lang="en-US" altLang="zh-CN" sz="2400" dirty="0">
                <a:solidFill>
                  <a:schemeClr val="tx1"/>
                </a:solidFill>
                <a:latin typeface="Arial" panose="020B0604020202020204" pitchFamily="34" charset="0"/>
                <a:cs typeface="Arial" panose="020B0604020202020204" pitchFamily="34" charset="0"/>
              </a:rPr>
              <a:t> </a:t>
            </a:r>
          </a:p>
          <a:p>
            <a:pPr lvl="1" hangingPunct="1"/>
            <a:r>
              <a:rPr lang="en-US" altLang="zh-CN" sz="2400" dirty="0">
                <a:solidFill>
                  <a:schemeClr val="tx1"/>
                </a:solidFill>
                <a:latin typeface="Arial" panose="020B0604020202020204" pitchFamily="34" charset="0"/>
                <a:cs typeface="Arial" panose="020B0604020202020204" pitchFamily="34" charset="0"/>
              </a:rPr>
              <a:t> </a:t>
            </a:r>
          </a:p>
          <a:p>
            <a:pPr lvl="1" hangingPunct="1"/>
            <a:r>
              <a:rPr lang="en-US" altLang="zh-CN" sz="2400" dirty="0">
                <a:solidFill>
                  <a:schemeClr val="tx1"/>
                </a:solidFill>
                <a:latin typeface="Arial" panose="020B0604020202020204" pitchFamily="34" charset="0"/>
                <a:cs typeface="Arial" panose="020B0604020202020204" pitchFamily="34" charset="0"/>
              </a:rPr>
              <a:t> </a:t>
            </a:r>
            <a:r>
              <a:rPr lang="zh-CN" altLang="en-US" sz="2400" dirty="0">
                <a:solidFill>
                  <a:schemeClr val="tx1"/>
                </a:solidFill>
                <a:latin typeface="Arial" panose="020B0604020202020204" pitchFamily="34" charset="0"/>
                <a:cs typeface="Arial" panose="020B0604020202020204" pitchFamily="34" charset="0"/>
              </a:rPr>
              <a:t>其他</a:t>
            </a:r>
            <a:r>
              <a:rPr lang="en-US" altLang="zh-CN" sz="2400" dirty="0">
                <a:solidFill>
                  <a:schemeClr val="tx1"/>
                </a:solidFill>
                <a:latin typeface="Arial" panose="020B0604020202020204" pitchFamily="34" charset="0"/>
                <a:cs typeface="Arial" panose="020B0604020202020204" pitchFamily="34" charset="0"/>
              </a:rPr>
              <a:t> </a:t>
            </a:r>
          </a:p>
        </p:txBody>
      </p:sp>
      <p:sp>
        <p:nvSpPr>
          <p:cNvPr id="2" name="灯片编号占位符 1">
            <a:extLst>
              <a:ext uri="{FF2B5EF4-FFF2-40B4-BE49-F238E27FC236}">
                <a16:creationId xmlns:a16="http://schemas.microsoft.com/office/drawing/2014/main" id="{F616E8D6-DA0D-6861-6B8B-0F758E3604EC}"/>
              </a:ext>
            </a:extLst>
          </p:cNvPr>
          <p:cNvSpPr>
            <a:spLocks noGrp="1"/>
          </p:cNvSpPr>
          <p:nvPr>
            <p:ph type="sldNum" sz="quarter" idx="12"/>
          </p:nvPr>
        </p:nvSpPr>
        <p:spPr/>
        <p:txBody>
          <a:bodyPr/>
          <a:lstStyle/>
          <a:p>
            <a:fld id="{14659731-6BD7-46E7-8D3C-2F3AC07E20B1}" type="slidenum">
              <a:rPr lang="en-US" altLang="zh-CN" smtClean="0"/>
              <a:pPr/>
              <a:t>43</a:t>
            </a:fld>
            <a:endParaRPr lang="en-US" altLang="zh-CN" dirty="0"/>
          </a:p>
        </p:txBody>
      </p:sp>
      <mc:AlternateContent xmlns:mc="http://schemas.openxmlformats.org/markup-compatibility/2006" xmlns:a14="http://schemas.microsoft.com/office/drawing/2010/main">
        <mc:Choice Requires="a14">
          <p:sp>
            <p:nvSpPr>
              <p:cNvPr id="6" name="文本框 58">
                <a:extLst>
                  <a:ext uri="{FF2B5EF4-FFF2-40B4-BE49-F238E27FC236}">
                    <a16:creationId xmlns:a16="http://schemas.microsoft.com/office/drawing/2014/main" id="{425314BE-39D1-AE43-B9EB-E34C32C2872B}"/>
                  </a:ext>
                </a:extLst>
              </p:cNvPr>
              <p:cNvSpPr txBox="1"/>
              <p:nvPr/>
            </p:nvSpPr>
            <p:spPr>
              <a:xfrm>
                <a:off x="1367644" y="3501008"/>
                <a:ext cx="1642373" cy="462434"/>
              </a:xfrm>
              <a:prstGeom prst="rect">
                <a:avLst/>
              </a:prstGeom>
              <a:noFill/>
            </p:spPr>
            <p:txBody>
              <a:bodyPr wrap="none" rtlCol="0">
                <a:spAutoFit/>
              </a:bodyPr>
              <a:lstStyle/>
              <a:p>
                <a14:m>
                  <m:oMath xmlns:m="http://schemas.openxmlformats.org/officeDocument/2006/math">
                    <m:acc>
                      <m:accPr>
                        <m:chr m:val="̅"/>
                        <m:ctrlPr>
                          <a:rPr kumimoji="1" lang="en-US" altLang="zh-CN" sz="2400" i="1" smtClean="0">
                            <a:latin typeface="Cambria Math" panose="02040503050406030204" pitchFamily="18" charset="0"/>
                          </a:rPr>
                        </m:ctrlPr>
                      </m:accPr>
                      <m:e>
                        <m:r>
                          <m:rPr>
                            <m:sty m:val="p"/>
                          </m:rPr>
                          <a:rPr kumimoji="1" lang="en-US" altLang="zh-CN" sz="2400" i="1">
                            <a:latin typeface="Cambria Math" panose="02040503050406030204" pitchFamily="18" charset="0"/>
                          </a:rPr>
                          <m:t>AB</m:t>
                        </m:r>
                      </m:e>
                    </m:acc>
                  </m:oMath>
                </a14:m>
                <a:r>
                  <a:rPr kumimoji="1" lang="zh-CN" altLang="en-US" sz="2400" dirty="0">
                    <a:ea typeface="黑体" panose="02010609060101010101" pitchFamily="49" charset="-122"/>
                  </a:rPr>
                  <a:t> </a:t>
                </a:r>
                <a:r>
                  <a:rPr kumimoji="1" lang="en-US" altLang="zh-CN" sz="2400" dirty="0">
                    <a:ea typeface="黑体" panose="02010609060101010101" pitchFamily="49" charset="-122"/>
                  </a:rPr>
                  <a:t>=</a:t>
                </a:r>
                <a14:m>
                  <m:oMath xmlns:m="http://schemas.openxmlformats.org/officeDocument/2006/math">
                    <m:acc>
                      <m:accPr>
                        <m:chr m:val="̅"/>
                        <m:ctrlPr>
                          <a:rPr kumimoji="1" lang="en-US" altLang="zh-CN" sz="2400" i="1" smtClean="0">
                            <a:latin typeface="Cambria Math" panose="02040503050406030204" pitchFamily="18" charset="0"/>
                          </a:rPr>
                        </m:ctrlPr>
                      </m:accPr>
                      <m:e>
                        <m:r>
                          <a:rPr kumimoji="1" lang="zh-CN" altLang="en-US" sz="2400" b="0" i="1" smtClean="0">
                            <a:latin typeface="Cambria Math" panose="02040503050406030204" pitchFamily="18" charset="0"/>
                          </a:rPr>
                          <m:t> </m:t>
                        </m:r>
                        <m:r>
                          <m:rPr>
                            <m:sty m:val="p"/>
                          </m:rPr>
                          <a:rPr kumimoji="1" lang="en-US" altLang="zh-CN" sz="2400" i="1">
                            <a:latin typeface="Cambria Math" panose="02040503050406030204" pitchFamily="18" charset="0"/>
                          </a:rPr>
                          <m:t>A</m:t>
                        </m:r>
                      </m:e>
                    </m:acc>
                    <m:r>
                      <a:rPr kumimoji="1" lang="en-US" altLang="zh-CN" sz="2400" i="1" smtClean="0">
                        <a:latin typeface="Cambria Math" panose="02040503050406030204" pitchFamily="18" charset="0"/>
                        <a:ea typeface="Cambria Math" panose="02040503050406030204" pitchFamily="18" charset="0"/>
                      </a:rPr>
                      <m:t>+</m:t>
                    </m:r>
                    <m:acc>
                      <m:accPr>
                        <m:chr m:val="̅"/>
                        <m:ctrlPr>
                          <a:rPr kumimoji="1" lang="en-US" altLang="zh-CN" sz="2400" i="1" smtClean="0">
                            <a:latin typeface="Cambria Math" panose="02040503050406030204" pitchFamily="18" charset="0"/>
                            <a:ea typeface="Cambria Math" panose="02040503050406030204" pitchFamily="18" charset="0"/>
                          </a:rPr>
                        </m:ctrlPr>
                      </m:accPr>
                      <m:e>
                        <m:r>
                          <m:rPr>
                            <m:sty m:val="p"/>
                          </m:rPr>
                          <a:rPr kumimoji="1" lang="en-US" altLang="zh-CN" sz="2400" i="1">
                            <a:latin typeface="Cambria Math" panose="02040503050406030204" pitchFamily="18" charset="0"/>
                            <a:ea typeface="Cambria Math" panose="02040503050406030204" pitchFamily="18" charset="0"/>
                          </a:rPr>
                          <m:t>B</m:t>
                        </m:r>
                      </m:e>
                    </m:acc>
                  </m:oMath>
                </a14:m>
                <a:endParaRPr kumimoji="1" lang="zh-CN" altLang="en-US" sz="2400" dirty="0">
                  <a:ea typeface="黑体" panose="02010609060101010101" pitchFamily="49" charset="-122"/>
                </a:endParaRPr>
              </a:p>
            </p:txBody>
          </p:sp>
        </mc:Choice>
        <mc:Fallback xmlns="">
          <p:sp>
            <p:nvSpPr>
              <p:cNvPr id="6" name="文本框 58">
                <a:extLst>
                  <a:ext uri="{FF2B5EF4-FFF2-40B4-BE49-F238E27FC236}">
                    <a16:creationId xmlns:a16="http://schemas.microsoft.com/office/drawing/2014/main" id="{425314BE-39D1-AE43-B9EB-E34C32C2872B}"/>
                  </a:ext>
                </a:extLst>
              </p:cNvPr>
              <p:cNvSpPr txBox="1">
                <a:spLocks noRot="1" noChangeAspect="1" noMove="1" noResize="1" noEditPoints="1" noAdjustHandles="1" noChangeArrowheads="1" noChangeShapeType="1" noTextEdit="1"/>
              </p:cNvSpPr>
              <p:nvPr/>
            </p:nvSpPr>
            <p:spPr>
              <a:xfrm>
                <a:off x="1367644" y="3501008"/>
                <a:ext cx="1642373" cy="462434"/>
              </a:xfrm>
              <a:prstGeom prst="rect">
                <a:avLst/>
              </a:prstGeom>
              <a:blipFill>
                <a:blip r:embed="rId3"/>
                <a:stretch>
                  <a:fillRect l="-741" t="-9211" r="-27778"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86">
                <a:extLst>
                  <a:ext uri="{FF2B5EF4-FFF2-40B4-BE49-F238E27FC236}">
                    <a16:creationId xmlns:a16="http://schemas.microsoft.com/office/drawing/2014/main" id="{7B53A842-FDE4-2742-948E-7263054B3A8B}"/>
                  </a:ext>
                </a:extLst>
              </p:cNvPr>
              <p:cNvSpPr txBox="1"/>
              <p:nvPr/>
            </p:nvSpPr>
            <p:spPr>
              <a:xfrm>
                <a:off x="1379316" y="3969060"/>
                <a:ext cx="1755289" cy="3701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zh-CN" altLang="en-US" sz="2400" i="1" smtClean="0">
                              <a:latin typeface="Cambria Math" panose="02040503050406030204" pitchFamily="18" charset="0"/>
                            </a:rPr>
                          </m:ctrlPr>
                        </m:accPr>
                        <m:e>
                          <m:r>
                            <m:rPr>
                              <m:sty m:val="p"/>
                            </m:rPr>
                            <a:rPr kumimoji="1" lang="en-US" altLang="zh-CN" sz="2400" i="1">
                              <a:latin typeface="Cambria Math" panose="02040503050406030204" pitchFamily="18" charset="0"/>
                            </a:rPr>
                            <m:t>A</m:t>
                          </m:r>
                          <m:r>
                            <a:rPr kumimoji="1" lang="en-US" altLang="zh-CN" sz="2400" i="1">
                              <a:latin typeface="Cambria Math" panose="02040503050406030204" pitchFamily="18" charset="0"/>
                            </a:rPr>
                            <m:t>+</m:t>
                          </m:r>
                          <m:r>
                            <m:rPr>
                              <m:sty m:val="p"/>
                            </m:rPr>
                            <a:rPr kumimoji="1" lang="en-US" altLang="zh-CN" sz="2400" i="1">
                              <a:latin typeface="Cambria Math" panose="02040503050406030204" pitchFamily="18" charset="0"/>
                            </a:rPr>
                            <m:t>B</m:t>
                          </m:r>
                        </m:e>
                      </m:acc>
                      <m:r>
                        <a:rPr kumimoji="1" lang="en-US" altLang="zh-CN" sz="2400" b="0" i="1" smtClean="0">
                          <a:latin typeface="Cambria Math" panose="02040503050406030204" pitchFamily="18" charset="0"/>
                        </a:rPr>
                        <m:t>=</m:t>
                      </m:r>
                      <m:r>
                        <a:rPr kumimoji="1" lang="zh-CN" altLang="en-US" sz="2400" b="0" i="1" smtClean="0">
                          <a:latin typeface="Cambria Math" panose="02040503050406030204" pitchFamily="18" charset="0"/>
                        </a:rPr>
                        <m:t> </m:t>
                      </m:r>
                      <m:acc>
                        <m:accPr>
                          <m:chr m:val="̅"/>
                          <m:ctrlPr>
                            <a:rPr kumimoji="1" lang="zh-CN" altLang="en-US" sz="2400" b="0" i="1" smtClean="0">
                              <a:latin typeface="Cambria Math" panose="02040503050406030204" pitchFamily="18" charset="0"/>
                            </a:rPr>
                          </m:ctrlPr>
                        </m:accPr>
                        <m:e>
                          <m:r>
                            <m:rPr>
                              <m:sty m:val="p"/>
                            </m:rPr>
                            <a:rPr kumimoji="1" lang="en-US" altLang="zh-CN" sz="2400" i="1">
                              <a:latin typeface="Cambria Math" panose="02040503050406030204" pitchFamily="18" charset="0"/>
                            </a:rPr>
                            <m:t>A</m:t>
                          </m:r>
                        </m:e>
                      </m:acc>
                      <m:r>
                        <m:rPr>
                          <m:nor/>
                        </m:rPr>
                        <a:rPr lang="en-US" altLang="zh-CN" sz="2400" dirty="0">
                          <a:latin typeface="Arial" panose="020B0604020202020204" pitchFamily="34" charset="0"/>
                          <a:ea typeface="SimHei" charset="-122"/>
                          <a:cs typeface="Arial" panose="020B0604020202020204" pitchFamily="34" charset="0"/>
                          <a:sym typeface="Symbol" pitchFamily="18" charset="2"/>
                        </a:rPr>
                        <m:t></m:t>
                      </m:r>
                      <m:acc>
                        <m:accPr>
                          <m:chr m:val="̅"/>
                          <m:ctrlPr>
                            <a:rPr kumimoji="1" lang="en-US" altLang="zh-CN" sz="2400" b="0" i="1" smtClean="0">
                              <a:latin typeface="Cambria Math" panose="02040503050406030204" pitchFamily="18" charset="0"/>
                            </a:rPr>
                          </m:ctrlPr>
                        </m:accPr>
                        <m:e>
                          <m:r>
                            <m:rPr>
                              <m:sty m:val="p"/>
                            </m:rPr>
                            <a:rPr kumimoji="1" lang="en-US" altLang="zh-CN" sz="2400" i="1">
                              <a:latin typeface="Cambria Math" panose="02040503050406030204" pitchFamily="18" charset="0"/>
                            </a:rPr>
                            <m:t>B</m:t>
                          </m:r>
                        </m:e>
                      </m:acc>
                    </m:oMath>
                  </m:oMathPara>
                </a14:m>
                <a:endParaRPr kumimoji="1" lang="zh-CN" altLang="en-US" sz="2400" dirty="0">
                  <a:ea typeface="黑体" panose="02010609060101010101" pitchFamily="49" charset="-122"/>
                </a:endParaRPr>
              </a:p>
            </p:txBody>
          </p:sp>
        </mc:Choice>
        <mc:Fallback xmlns="">
          <p:sp>
            <p:nvSpPr>
              <p:cNvPr id="7" name="文本框 86">
                <a:extLst>
                  <a:ext uri="{FF2B5EF4-FFF2-40B4-BE49-F238E27FC236}">
                    <a16:creationId xmlns:a16="http://schemas.microsoft.com/office/drawing/2014/main" id="{7B53A842-FDE4-2742-948E-7263054B3A8B}"/>
                  </a:ext>
                </a:extLst>
              </p:cNvPr>
              <p:cNvSpPr txBox="1">
                <a:spLocks noRot="1" noChangeAspect="1" noMove="1" noResize="1" noEditPoints="1" noAdjustHandles="1" noChangeArrowheads="1" noChangeShapeType="1" noTextEdit="1"/>
              </p:cNvSpPr>
              <p:nvPr/>
            </p:nvSpPr>
            <p:spPr>
              <a:xfrm>
                <a:off x="1379316" y="3969060"/>
                <a:ext cx="1755289" cy="370101"/>
              </a:xfrm>
              <a:prstGeom prst="rect">
                <a:avLst/>
              </a:prstGeom>
              <a:blipFill>
                <a:blip r:embed="rId4"/>
                <a:stretch>
                  <a:fillRect l="-3125" r="-29514" b="-9836"/>
                </a:stretch>
              </a:blipFill>
            </p:spPr>
            <p:txBody>
              <a:bodyPr/>
              <a:lstStyle/>
              <a:p>
                <a:r>
                  <a:rPr lang="zh-CN" altLang="en-US">
                    <a:noFill/>
                  </a:rPr>
                  <a:t> </a:t>
                </a:r>
              </a:p>
            </p:txBody>
          </p:sp>
        </mc:Fallback>
      </mc:AlternateContent>
      <p:sp>
        <p:nvSpPr>
          <p:cNvPr id="5" name="Rectangle 2">
            <a:extLst>
              <a:ext uri="{FF2B5EF4-FFF2-40B4-BE49-F238E27FC236}">
                <a16:creationId xmlns:a16="http://schemas.microsoft.com/office/drawing/2014/main" id="{F97E4CFD-110D-F794-547C-77B2B398A0F2}"/>
              </a:ext>
            </a:extLst>
          </p:cNvPr>
          <p:cNvSpPr>
            <a:spLocks noGrp="1" noChangeArrowheads="1"/>
          </p:cNvSpPr>
          <p:nvPr>
            <p:ph type="title"/>
          </p:nvPr>
        </p:nvSpPr>
        <p:spPr>
          <a:xfrm>
            <a:off x="457200" y="136525"/>
            <a:ext cx="8229600" cy="1143000"/>
          </a:xfrm>
        </p:spPr>
        <p:txBody>
          <a:bodyPr/>
          <a:lstStyle/>
          <a:p>
            <a:pPr eaLnBrk="1" hangingPunct="1"/>
            <a:r>
              <a:rPr lang="zh-CN" altLang="en-US" dirty="0">
                <a:latin typeface="Arial" panose="020B0604020202020204" pitchFamily="34" charset="0"/>
                <a:ea typeface="黑体" pitchFamily="2" charset="-122"/>
                <a:cs typeface="Arial" panose="020B0604020202020204" pitchFamily="34" charset="0"/>
              </a:rPr>
              <a:t>德摩根率</a:t>
            </a:r>
            <a:r>
              <a:rPr lang="en-US" altLang="zh-CN" dirty="0">
                <a:latin typeface="Arial" panose="020B0604020202020204" pitchFamily="34" charset="0"/>
                <a:ea typeface="黑体" pitchFamily="2" charset="-122"/>
                <a:cs typeface="Arial" panose="020B0604020202020204" pitchFamily="34" charset="0"/>
              </a:rPr>
              <a:t>(</a:t>
            </a:r>
            <a:r>
              <a:rPr lang="en" altLang="zh-CN" dirty="0">
                <a:latin typeface="Arial" panose="020B0604020202020204" pitchFamily="34" charset="0"/>
                <a:ea typeface="黑体" pitchFamily="2" charset="-122"/>
                <a:cs typeface="Arial" panose="020B0604020202020204" pitchFamily="34" charset="0"/>
              </a:rPr>
              <a:t>De Morgan’s Law)</a:t>
            </a:r>
          </a:p>
        </p:txBody>
      </p:sp>
    </p:spTree>
    <p:extLst>
      <p:ext uri="{BB962C8B-B14F-4D97-AF65-F5344CB8AC3E}">
        <p14:creationId xmlns:p14="http://schemas.microsoft.com/office/powerpoint/2010/main" val="2907807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延迟 3">
            <a:extLst>
              <a:ext uri="{FF2B5EF4-FFF2-40B4-BE49-F238E27FC236}">
                <a16:creationId xmlns:a16="http://schemas.microsoft.com/office/drawing/2014/main" id="{39C77DBD-37C9-E649-9105-2AB2D1A58EB2}"/>
              </a:ext>
            </a:extLst>
          </p:cNvPr>
          <p:cNvSpPr/>
          <p:nvPr/>
        </p:nvSpPr>
        <p:spPr bwMode="auto">
          <a:xfrm>
            <a:off x="6896855" y="2730403"/>
            <a:ext cx="792088" cy="792088"/>
          </a:xfrm>
          <a:prstGeom prst="flowChartDelay">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5" name="椭圆 4">
            <a:extLst>
              <a:ext uri="{FF2B5EF4-FFF2-40B4-BE49-F238E27FC236}">
                <a16:creationId xmlns:a16="http://schemas.microsoft.com/office/drawing/2014/main" id="{285528A7-5DA7-934A-B632-FDBADB85C54C}"/>
              </a:ext>
            </a:extLst>
          </p:cNvPr>
          <p:cNvSpPr/>
          <p:nvPr/>
        </p:nvSpPr>
        <p:spPr bwMode="auto">
          <a:xfrm>
            <a:off x="7688943" y="3018435"/>
            <a:ext cx="180020" cy="180020"/>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cxnSp>
        <p:nvCxnSpPr>
          <p:cNvPr id="10" name="直线连接符 9">
            <a:extLst>
              <a:ext uri="{FF2B5EF4-FFF2-40B4-BE49-F238E27FC236}">
                <a16:creationId xmlns:a16="http://schemas.microsoft.com/office/drawing/2014/main" id="{2CD6BF37-DB49-7F43-801C-708042391C56}"/>
              </a:ext>
            </a:extLst>
          </p:cNvPr>
          <p:cNvCxnSpPr>
            <a:cxnSpLocks/>
          </p:cNvCxnSpPr>
          <p:nvPr/>
        </p:nvCxnSpPr>
        <p:spPr bwMode="auto">
          <a:xfrm>
            <a:off x="7868963" y="3100084"/>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2" name="直线连接符 11">
            <a:extLst>
              <a:ext uri="{FF2B5EF4-FFF2-40B4-BE49-F238E27FC236}">
                <a16:creationId xmlns:a16="http://schemas.microsoft.com/office/drawing/2014/main" id="{BA933705-C6AE-D74C-A247-9991C6A35320}"/>
              </a:ext>
            </a:extLst>
          </p:cNvPr>
          <p:cNvCxnSpPr>
            <a:cxnSpLocks/>
          </p:cNvCxnSpPr>
          <p:nvPr/>
        </p:nvCxnSpPr>
        <p:spPr bwMode="auto">
          <a:xfrm>
            <a:off x="6284787" y="2874419"/>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13" name="直线连接符 12">
            <a:extLst>
              <a:ext uri="{FF2B5EF4-FFF2-40B4-BE49-F238E27FC236}">
                <a16:creationId xmlns:a16="http://schemas.microsoft.com/office/drawing/2014/main" id="{A7EAF659-E989-9B41-A85F-A6D9BC649632}"/>
              </a:ext>
            </a:extLst>
          </p:cNvPr>
          <p:cNvCxnSpPr>
            <a:cxnSpLocks/>
          </p:cNvCxnSpPr>
          <p:nvPr/>
        </p:nvCxnSpPr>
        <p:spPr bwMode="auto">
          <a:xfrm>
            <a:off x="6284787" y="3342471"/>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14" name="文本框 13">
            <a:extLst>
              <a:ext uri="{FF2B5EF4-FFF2-40B4-BE49-F238E27FC236}">
                <a16:creationId xmlns:a16="http://schemas.microsoft.com/office/drawing/2014/main" id="{FDA65065-0791-8E4F-BC8C-4E1DB8FC8F3E}"/>
              </a:ext>
            </a:extLst>
          </p:cNvPr>
          <p:cNvSpPr txBox="1"/>
          <p:nvPr/>
        </p:nvSpPr>
        <p:spPr>
          <a:xfrm>
            <a:off x="6239803" y="2455728"/>
            <a:ext cx="338554" cy="369332"/>
          </a:xfrm>
          <a:prstGeom prst="rect">
            <a:avLst/>
          </a:prstGeom>
          <a:noFill/>
        </p:spPr>
        <p:txBody>
          <a:bodyPr wrap="none" rtlCol="0">
            <a:spAutoFit/>
          </a:bodyPr>
          <a:lstStyle/>
          <a:p>
            <a:r>
              <a:rPr kumimoji="1" lang="en-US" altLang="zh-CN" dirty="0">
                <a:ea typeface="黑体" panose="02010609060101010101" pitchFamily="49" charset="-122"/>
              </a:rPr>
              <a:t>A</a:t>
            </a:r>
            <a:endParaRPr kumimoji="1" lang="zh-CN" altLang="en-US" dirty="0">
              <a:ea typeface="黑体" panose="02010609060101010101" pitchFamily="49" charset="-122"/>
            </a:endParaRPr>
          </a:p>
        </p:txBody>
      </p:sp>
      <p:sp>
        <p:nvSpPr>
          <p:cNvPr id="16" name="文本框 15">
            <a:extLst>
              <a:ext uri="{FF2B5EF4-FFF2-40B4-BE49-F238E27FC236}">
                <a16:creationId xmlns:a16="http://schemas.microsoft.com/office/drawing/2014/main" id="{FB3306D1-DA1B-9546-80AE-599BEBAB8558}"/>
              </a:ext>
            </a:extLst>
          </p:cNvPr>
          <p:cNvSpPr txBox="1"/>
          <p:nvPr/>
        </p:nvSpPr>
        <p:spPr>
          <a:xfrm>
            <a:off x="6229775" y="3337825"/>
            <a:ext cx="338554" cy="369332"/>
          </a:xfrm>
          <a:prstGeom prst="rect">
            <a:avLst/>
          </a:prstGeom>
          <a:noFill/>
        </p:spPr>
        <p:txBody>
          <a:bodyPr wrap="none" rtlCol="0">
            <a:spAutoFit/>
          </a:bodyPr>
          <a:lstStyle/>
          <a:p>
            <a:r>
              <a:rPr kumimoji="1" lang="en-US" altLang="zh-CN" dirty="0">
                <a:ea typeface="黑体" panose="02010609060101010101" pitchFamily="49" charset="-122"/>
              </a:rPr>
              <a:t>B</a:t>
            </a:r>
            <a:endParaRPr kumimoji="1" lang="zh-CN" altLang="en-US" dirty="0">
              <a:ea typeface="黑体" panose="02010609060101010101" pitchFamily="49" charset="-122"/>
            </a:endParaRPr>
          </a:p>
        </p:txBody>
      </p:sp>
      <p:sp>
        <p:nvSpPr>
          <p:cNvPr id="17" name="文本框 16">
            <a:extLst>
              <a:ext uri="{FF2B5EF4-FFF2-40B4-BE49-F238E27FC236}">
                <a16:creationId xmlns:a16="http://schemas.microsoft.com/office/drawing/2014/main" id="{63B6550D-C7DE-9E4B-B590-2CEFFC0F30A8}"/>
              </a:ext>
            </a:extLst>
          </p:cNvPr>
          <p:cNvSpPr txBox="1"/>
          <p:nvPr/>
        </p:nvSpPr>
        <p:spPr>
          <a:xfrm>
            <a:off x="8167224" y="2730403"/>
            <a:ext cx="338554" cy="369332"/>
          </a:xfrm>
          <a:prstGeom prst="rect">
            <a:avLst/>
          </a:prstGeom>
          <a:noFill/>
        </p:spPr>
        <p:txBody>
          <a:bodyPr wrap="none" rtlCol="0">
            <a:spAutoFit/>
          </a:bodyPr>
          <a:lstStyle/>
          <a:p>
            <a:r>
              <a:rPr kumimoji="1" lang="en-US" altLang="zh-CN" dirty="0">
                <a:ea typeface="黑体" panose="02010609060101010101" pitchFamily="49" charset="-122"/>
              </a:rPr>
              <a:t>Z</a:t>
            </a:r>
            <a:endParaRPr kumimoji="1" lang="zh-CN" altLang="en-US" dirty="0">
              <a:ea typeface="黑体" panose="02010609060101010101" pitchFamily="49" charset="-122"/>
            </a:endParaRPr>
          </a:p>
        </p:txBody>
      </p:sp>
      <p:sp>
        <p:nvSpPr>
          <p:cNvPr id="18" name="文本框 17">
            <a:extLst>
              <a:ext uri="{FF2B5EF4-FFF2-40B4-BE49-F238E27FC236}">
                <a16:creationId xmlns:a16="http://schemas.microsoft.com/office/drawing/2014/main" id="{2666DF29-6D60-4C47-85C9-1BAC96A86DD3}"/>
              </a:ext>
            </a:extLst>
          </p:cNvPr>
          <p:cNvSpPr txBox="1"/>
          <p:nvPr/>
        </p:nvSpPr>
        <p:spPr>
          <a:xfrm>
            <a:off x="6514121" y="2129369"/>
            <a:ext cx="1351652" cy="369332"/>
          </a:xfrm>
          <a:prstGeom prst="rect">
            <a:avLst/>
          </a:prstGeom>
          <a:noFill/>
        </p:spPr>
        <p:txBody>
          <a:bodyPr wrap="none" rtlCol="0">
            <a:spAutoFit/>
          </a:bodyPr>
          <a:lstStyle/>
          <a:p>
            <a:r>
              <a:rPr kumimoji="1" lang="en-US" altLang="zh-CN" dirty="0">
                <a:ea typeface="黑体" panose="02010609060101010101" pitchFamily="49" charset="-122"/>
              </a:rPr>
              <a:t>NAND gate</a:t>
            </a:r>
            <a:endParaRPr kumimoji="1" lang="zh-CN" altLang="en-US" dirty="0">
              <a:ea typeface="黑体" panose="02010609060101010101" pitchFamily="49" charset="-122"/>
            </a:endParaRPr>
          </a:p>
        </p:txBody>
      </p:sp>
      <p:sp>
        <p:nvSpPr>
          <p:cNvPr id="44" name="延迟 43">
            <a:extLst>
              <a:ext uri="{FF2B5EF4-FFF2-40B4-BE49-F238E27FC236}">
                <a16:creationId xmlns:a16="http://schemas.microsoft.com/office/drawing/2014/main" id="{CB419886-4168-1846-8EBD-BF3926B8C776}"/>
              </a:ext>
            </a:extLst>
          </p:cNvPr>
          <p:cNvSpPr/>
          <p:nvPr/>
        </p:nvSpPr>
        <p:spPr bwMode="auto">
          <a:xfrm>
            <a:off x="6750708" y="4031277"/>
            <a:ext cx="1044116" cy="769441"/>
          </a:xfrm>
          <a:prstGeom prst="flowChartDelay">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50" name="椭圆 49">
            <a:extLst>
              <a:ext uri="{FF2B5EF4-FFF2-40B4-BE49-F238E27FC236}">
                <a16:creationId xmlns:a16="http://schemas.microsoft.com/office/drawing/2014/main" id="{69FE5725-DD2F-554B-ADD2-D66723E792C9}"/>
              </a:ext>
            </a:extLst>
          </p:cNvPr>
          <p:cNvSpPr/>
          <p:nvPr/>
        </p:nvSpPr>
        <p:spPr bwMode="auto">
          <a:xfrm>
            <a:off x="6318659" y="3982947"/>
            <a:ext cx="648073" cy="882082"/>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48" name="椭圆 47">
            <a:extLst>
              <a:ext uri="{FF2B5EF4-FFF2-40B4-BE49-F238E27FC236}">
                <a16:creationId xmlns:a16="http://schemas.microsoft.com/office/drawing/2014/main" id="{E925BD89-5177-EC42-9771-FCD6FC77F6CA}"/>
              </a:ext>
            </a:extLst>
          </p:cNvPr>
          <p:cNvSpPr>
            <a:spLocks noChangeAspect="1"/>
          </p:cNvSpPr>
          <p:nvPr/>
        </p:nvSpPr>
        <p:spPr bwMode="auto">
          <a:xfrm>
            <a:off x="6822728" y="4140318"/>
            <a:ext cx="108000" cy="108000"/>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47" name="椭圆 46">
            <a:extLst>
              <a:ext uri="{FF2B5EF4-FFF2-40B4-BE49-F238E27FC236}">
                <a16:creationId xmlns:a16="http://schemas.microsoft.com/office/drawing/2014/main" id="{85C63B48-3498-0F4F-81D6-9A156F707C03}"/>
              </a:ext>
            </a:extLst>
          </p:cNvPr>
          <p:cNvSpPr>
            <a:spLocks noChangeAspect="1"/>
          </p:cNvSpPr>
          <p:nvPr/>
        </p:nvSpPr>
        <p:spPr bwMode="auto">
          <a:xfrm>
            <a:off x="6822716" y="4608382"/>
            <a:ext cx="108000" cy="108000"/>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cxnSp>
        <p:nvCxnSpPr>
          <p:cNvPr id="51" name="直线连接符 50">
            <a:extLst>
              <a:ext uri="{FF2B5EF4-FFF2-40B4-BE49-F238E27FC236}">
                <a16:creationId xmlns:a16="http://schemas.microsoft.com/office/drawing/2014/main" id="{91D16EE0-058B-E344-A4F5-B8488B17A5E3}"/>
              </a:ext>
            </a:extLst>
          </p:cNvPr>
          <p:cNvCxnSpPr>
            <a:cxnSpLocks/>
          </p:cNvCxnSpPr>
          <p:nvPr/>
        </p:nvCxnSpPr>
        <p:spPr bwMode="auto">
          <a:xfrm>
            <a:off x="6210648" y="4184706"/>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52" name="直线连接符 51">
            <a:extLst>
              <a:ext uri="{FF2B5EF4-FFF2-40B4-BE49-F238E27FC236}">
                <a16:creationId xmlns:a16="http://schemas.microsoft.com/office/drawing/2014/main" id="{8B45ACB4-F662-2541-81ED-B25D1D9C3ED5}"/>
              </a:ext>
            </a:extLst>
          </p:cNvPr>
          <p:cNvCxnSpPr>
            <a:cxnSpLocks/>
          </p:cNvCxnSpPr>
          <p:nvPr/>
        </p:nvCxnSpPr>
        <p:spPr bwMode="auto">
          <a:xfrm>
            <a:off x="6210648" y="4652758"/>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53" name="直线连接符 52">
            <a:extLst>
              <a:ext uri="{FF2B5EF4-FFF2-40B4-BE49-F238E27FC236}">
                <a16:creationId xmlns:a16="http://schemas.microsoft.com/office/drawing/2014/main" id="{4FC6F2A1-132F-8645-AFCE-698D985DB0BA}"/>
              </a:ext>
            </a:extLst>
          </p:cNvPr>
          <p:cNvCxnSpPr>
            <a:cxnSpLocks/>
          </p:cNvCxnSpPr>
          <p:nvPr/>
        </p:nvCxnSpPr>
        <p:spPr bwMode="auto">
          <a:xfrm>
            <a:off x="7794824" y="4392346"/>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55" name="文本框 54">
            <a:extLst>
              <a:ext uri="{FF2B5EF4-FFF2-40B4-BE49-F238E27FC236}">
                <a16:creationId xmlns:a16="http://schemas.microsoft.com/office/drawing/2014/main" id="{81B301E4-0819-BF44-AD1D-E3925CC73546}"/>
              </a:ext>
            </a:extLst>
          </p:cNvPr>
          <p:cNvSpPr txBox="1"/>
          <p:nvPr/>
        </p:nvSpPr>
        <p:spPr>
          <a:xfrm>
            <a:off x="6247856" y="3739764"/>
            <a:ext cx="338554" cy="369332"/>
          </a:xfrm>
          <a:prstGeom prst="rect">
            <a:avLst/>
          </a:prstGeom>
          <a:noFill/>
        </p:spPr>
        <p:txBody>
          <a:bodyPr wrap="none" rtlCol="0">
            <a:spAutoFit/>
          </a:bodyPr>
          <a:lstStyle/>
          <a:p>
            <a:r>
              <a:rPr kumimoji="1" lang="en-US" altLang="zh-CN" dirty="0">
                <a:ea typeface="黑体" panose="02010609060101010101" pitchFamily="49" charset="-122"/>
              </a:rPr>
              <a:t>A</a:t>
            </a:r>
            <a:endParaRPr kumimoji="1" lang="zh-CN" altLang="en-US" dirty="0">
              <a:ea typeface="黑体" panose="02010609060101010101" pitchFamily="49" charset="-122"/>
            </a:endParaRPr>
          </a:p>
        </p:txBody>
      </p:sp>
      <p:sp>
        <p:nvSpPr>
          <p:cNvPr id="56" name="文本框 55">
            <a:extLst>
              <a:ext uri="{FF2B5EF4-FFF2-40B4-BE49-F238E27FC236}">
                <a16:creationId xmlns:a16="http://schemas.microsoft.com/office/drawing/2014/main" id="{49311FEC-2896-FC40-BBA0-EB1A2B75A9EF}"/>
              </a:ext>
            </a:extLst>
          </p:cNvPr>
          <p:cNvSpPr txBox="1"/>
          <p:nvPr/>
        </p:nvSpPr>
        <p:spPr>
          <a:xfrm>
            <a:off x="6278881" y="4607840"/>
            <a:ext cx="338554" cy="369332"/>
          </a:xfrm>
          <a:prstGeom prst="rect">
            <a:avLst/>
          </a:prstGeom>
          <a:noFill/>
        </p:spPr>
        <p:txBody>
          <a:bodyPr wrap="none" rtlCol="0">
            <a:spAutoFit/>
          </a:bodyPr>
          <a:lstStyle/>
          <a:p>
            <a:r>
              <a:rPr kumimoji="1" lang="en-US" altLang="zh-CN" dirty="0">
                <a:ea typeface="黑体" panose="02010609060101010101" pitchFamily="49" charset="-122"/>
              </a:rPr>
              <a:t>B</a:t>
            </a:r>
            <a:endParaRPr kumimoji="1" lang="zh-CN" altLang="en-US" dirty="0">
              <a:ea typeface="黑体" panose="02010609060101010101" pitchFamily="49" charset="-122"/>
            </a:endParaRPr>
          </a:p>
        </p:txBody>
      </p:sp>
      <p:sp>
        <p:nvSpPr>
          <p:cNvPr id="57" name="文本框 56">
            <a:extLst>
              <a:ext uri="{FF2B5EF4-FFF2-40B4-BE49-F238E27FC236}">
                <a16:creationId xmlns:a16="http://schemas.microsoft.com/office/drawing/2014/main" id="{1937689D-7A73-C44F-A6F8-F2245F127877}"/>
              </a:ext>
            </a:extLst>
          </p:cNvPr>
          <p:cNvSpPr txBox="1"/>
          <p:nvPr/>
        </p:nvSpPr>
        <p:spPr>
          <a:xfrm>
            <a:off x="8003292" y="4006061"/>
            <a:ext cx="338554" cy="369332"/>
          </a:xfrm>
          <a:prstGeom prst="rect">
            <a:avLst/>
          </a:prstGeom>
          <a:noFill/>
        </p:spPr>
        <p:txBody>
          <a:bodyPr wrap="none" rtlCol="0">
            <a:spAutoFit/>
          </a:bodyPr>
          <a:lstStyle/>
          <a:p>
            <a:r>
              <a:rPr kumimoji="1" lang="en-US" altLang="zh-CN" dirty="0">
                <a:ea typeface="黑体" panose="02010609060101010101" pitchFamily="49" charset="-122"/>
              </a:rPr>
              <a:t>Z</a:t>
            </a:r>
            <a:endParaRPr kumimoji="1" lang="zh-CN" altLang="en-US" dirty="0">
              <a:ea typeface="黑体" panose="02010609060101010101" pitchFamily="49" charset="-122"/>
            </a:endParaRPr>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7FD7D02C-DFFD-994B-A849-145A947947D4}"/>
                  </a:ext>
                </a:extLst>
              </p:cNvPr>
              <p:cNvSpPr txBox="1"/>
              <p:nvPr/>
            </p:nvSpPr>
            <p:spPr>
              <a:xfrm>
                <a:off x="6373848" y="1497399"/>
                <a:ext cx="2131930" cy="585930"/>
              </a:xfrm>
              <a:prstGeom prst="rect">
                <a:avLst/>
              </a:prstGeom>
              <a:noFill/>
            </p:spPr>
            <p:txBody>
              <a:bodyPr wrap="none" rtlCol="0">
                <a:spAutoFit/>
              </a:bodyPr>
              <a:lstStyle/>
              <a:p>
                <a14:m>
                  <m:oMath xmlns:m="http://schemas.openxmlformats.org/officeDocument/2006/math">
                    <m:acc>
                      <m:accPr>
                        <m:chr m:val="̅"/>
                        <m:ctrlPr>
                          <a:rPr kumimoji="1" lang="en-US" altLang="zh-CN" sz="3200" i="1" smtClean="0">
                            <a:latin typeface="Cambria Math" panose="02040503050406030204" pitchFamily="18" charset="0"/>
                          </a:rPr>
                        </m:ctrlPr>
                      </m:accPr>
                      <m:e>
                        <m:r>
                          <m:rPr>
                            <m:sty m:val="p"/>
                          </m:rPr>
                          <a:rPr kumimoji="1" lang="en-US" altLang="zh-CN" sz="3200" i="1">
                            <a:latin typeface="Cambria Math" panose="02040503050406030204" pitchFamily="18" charset="0"/>
                          </a:rPr>
                          <m:t>AB</m:t>
                        </m:r>
                      </m:e>
                    </m:acc>
                  </m:oMath>
                </a14:m>
                <a:r>
                  <a:rPr kumimoji="1" lang="zh-CN" altLang="en-US" sz="3200" dirty="0">
                    <a:ea typeface="黑体" panose="02010609060101010101" pitchFamily="49" charset="-122"/>
                  </a:rPr>
                  <a:t> </a:t>
                </a:r>
                <a:r>
                  <a:rPr kumimoji="1" lang="en-US" altLang="zh-CN" sz="3200" dirty="0">
                    <a:ea typeface="黑体" panose="02010609060101010101" pitchFamily="49" charset="-122"/>
                  </a:rPr>
                  <a:t>=</a:t>
                </a:r>
                <a14:m>
                  <m:oMath xmlns:m="http://schemas.openxmlformats.org/officeDocument/2006/math">
                    <m:acc>
                      <m:accPr>
                        <m:chr m:val="̅"/>
                        <m:ctrlPr>
                          <a:rPr kumimoji="1" lang="en-US" altLang="zh-CN" sz="3200" i="1" smtClean="0">
                            <a:latin typeface="Cambria Math" panose="02040503050406030204" pitchFamily="18" charset="0"/>
                          </a:rPr>
                        </m:ctrlPr>
                      </m:accPr>
                      <m:e>
                        <m:r>
                          <a:rPr kumimoji="1" lang="zh-CN" altLang="en-US" sz="3200" b="0" i="1" smtClean="0">
                            <a:latin typeface="Cambria Math" panose="02040503050406030204" pitchFamily="18" charset="0"/>
                          </a:rPr>
                          <m:t> </m:t>
                        </m:r>
                        <m:r>
                          <m:rPr>
                            <m:sty m:val="p"/>
                          </m:rPr>
                          <a:rPr kumimoji="1" lang="en-US" altLang="zh-CN" sz="3200" i="1">
                            <a:latin typeface="Cambria Math" panose="02040503050406030204" pitchFamily="18" charset="0"/>
                          </a:rPr>
                          <m:t>A</m:t>
                        </m:r>
                      </m:e>
                    </m:acc>
                    <m:r>
                      <a:rPr kumimoji="1" lang="en-US" altLang="zh-CN" sz="3200" i="1" smtClean="0">
                        <a:latin typeface="Cambria Math" panose="02040503050406030204" pitchFamily="18" charset="0"/>
                        <a:ea typeface="Cambria Math" panose="02040503050406030204" pitchFamily="18" charset="0"/>
                      </a:rPr>
                      <m:t>+</m:t>
                    </m:r>
                    <m:acc>
                      <m:accPr>
                        <m:chr m:val="̅"/>
                        <m:ctrlPr>
                          <a:rPr kumimoji="1" lang="en-US" altLang="zh-CN" sz="3200" i="1" smtClean="0">
                            <a:latin typeface="Cambria Math" panose="02040503050406030204" pitchFamily="18" charset="0"/>
                            <a:ea typeface="Cambria Math" panose="02040503050406030204" pitchFamily="18" charset="0"/>
                          </a:rPr>
                        </m:ctrlPr>
                      </m:accPr>
                      <m:e>
                        <m:r>
                          <m:rPr>
                            <m:sty m:val="p"/>
                          </m:rPr>
                          <a:rPr kumimoji="1" lang="en-US" altLang="zh-CN" sz="3200" i="1">
                            <a:latin typeface="Cambria Math" panose="02040503050406030204" pitchFamily="18" charset="0"/>
                            <a:ea typeface="Cambria Math" panose="02040503050406030204" pitchFamily="18" charset="0"/>
                          </a:rPr>
                          <m:t>B</m:t>
                        </m:r>
                      </m:e>
                    </m:acc>
                  </m:oMath>
                </a14:m>
                <a:endParaRPr kumimoji="1" lang="zh-CN" altLang="en-US" sz="3200" dirty="0">
                  <a:ea typeface="黑体" panose="02010609060101010101" pitchFamily="49" charset="-122"/>
                </a:endParaRPr>
              </a:p>
            </p:txBody>
          </p:sp>
        </mc:Choice>
        <mc:Fallback xmlns="">
          <p:sp>
            <p:nvSpPr>
              <p:cNvPr id="59" name="文本框 58">
                <a:extLst>
                  <a:ext uri="{FF2B5EF4-FFF2-40B4-BE49-F238E27FC236}">
                    <a16:creationId xmlns:a16="http://schemas.microsoft.com/office/drawing/2014/main" id="{7FD7D02C-DFFD-994B-A849-145A947947D4}"/>
                  </a:ext>
                </a:extLst>
              </p:cNvPr>
              <p:cNvSpPr txBox="1">
                <a:spLocks noRot="1" noChangeAspect="1" noMove="1" noResize="1" noEditPoints="1" noAdjustHandles="1" noChangeArrowheads="1" noChangeShapeType="1" noTextEdit="1"/>
              </p:cNvSpPr>
              <p:nvPr/>
            </p:nvSpPr>
            <p:spPr>
              <a:xfrm>
                <a:off x="6373848" y="1497399"/>
                <a:ext cx="2131930" cy="585930"/>
              </a:xfrm>
              <a:prstGeom prst="rect">
                <a:avLst/>
              </a:prstGeom>
              <a:blipFill>
                <a:blip r:embed="rId2"/>
                <a:stretch>
                  <a:fillRect t="-13542" b="-33333"/>
                </a:stretch>
              </a:blipFill>
            </p:spPr>
            <p:txBody>
              <a:bodyPr/>
              <a:lstStyle/>
              <a:p>
                <a:r>
                  <a:rPr lang="zh-CN" altLang="en-US">
                    <a:noFill/>
                  </a:rPr>
                  <a:t> </a:t>
                </a:r>
              </a:p>
            </p:txBody>
          </p:sp>
        </mc:Fallback>
      </mc:AlternateContent>
      <p:sp>
        <p:nvSpPr>
          <p:cNvPr id="60" name="延迟 59">
            <a:extLst>
              <a:ext uri="{FF2B5EF4-FFF2-40B4-BE49-F238E27FC236}">
                <a16:creationId xmlns:a16="http://schemas.microsoft.com/office/drawing/2014/main" id="{56305A88-45A8-4548-A7E4-2FC6CB97A9F2}"/>
              </a:ext>
            </a:extLst>
          </p:cNvPr>
          <p:cNvSpPr/>
          <p:nvPr/>
        </p:nvSpPr>
        <p:spPr bwMode="auto">
          <a:xfrm>
            <a:off x="1296641" y="5364241"/>
            <a:ext cx="1044116" cy="769441"/>
          </a:xfrm>
          <a:prstGeom prst="flowChartDelay">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61" name="椭圆 60">
            <a:extLst>
              <a:ext uri="{FF2B5EF4-FFF2-40B4-BE49-F238E27FC236}">
                <a16:creationId xmlns:a16="http://schemas.microsoft.com/office/drawing/2014/main" id="{BD03D2C8-6D8A-8D43-B8E3-E155970AF39A}"/>
              </a:ext>
            </a:extLst>
          </p:cNvPr>
          <p:cNvSpPr/>
          <p:nvPr/>
        </p:nvSpPr>
        <p:spPr bwMode="auto">
          <a:xfrm>
            <a:off x="864592" y="5315911"/>
            <a:ext cx="648073" cy="882082"/>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cxnSp>
        <p:nvCxnSpPr>
          <p:cNvPr id="64" name="直线连接符 63">
            <a:extLst>
              <a:ext uri="{FF2B5EF4-FFF2-40B4-BE49-F238E27FC236}">
                <a16:creationId xmlns:a16="http://schemas.microsoft.com/office/drawing/2014/main" id="{18AA79BE-473A-C243-AB81-55CEC1B28B3A}"/>
              </a:ext>
            </a:extLst>
          </p:cNvPr>
          <p:cNvCxnSpPr>
            <a:cxnSpLocks/>
          </p:cNvCxnSpPr>
          <p:nvPr/>
        </p:nvCxnSpPr>
        <p:spPr bwMode="auto">
          <a:xfrm>
            <a:off x="756581" y="5517670"/>
            <a:ext cx="719603"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65" name="直线连接符 64">
            <a:extLst>
              <a:ext uri="{FF2B5EF4-FFF2-40B4-BE49-F238E27FC236}">
                <a16:creationId xmlns:a16="http://schemas.microsoft.com/office/drawing/2014/main" id="{08A7630F-7E85-3E40-85BE-2C4B7481C71F}"/>
              </a:ext>
            </a:extLst>
          </p:cNvPr>
          <p:cNvCxnSpPr>
            <a:cxnSpLocks/>
          </p:cNvCxnSpPr>
          <p:nvPr/>
        </p:nvCxnSpPr>
        <p:spPr bwMode="auto">
          <a:xfrm>
            <a:off x="756581" y="5985722"/>
            <a:ext cx="719603"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66" name="直线连接符 65">
            <a:extLst>
              <a:ext uri="{FF2B5EF4-FFF2-40B4-BE49-F238E27FC236}">
                <a16:creationId xmlns:a16="http://schemas.microsoft.com/office/drawing/2014/main" id="{244F6D5B-A45D-B943-BED6-163C94AD6654}"/>
              </a:ext>
            </a:extLst>
          </p:cNvPr>
          <p:cNvCxnSpPr>
            <a:cxnSpLocks/>
          </p:cNvCxnSpPr>
          <p:nvPr/>
        </p:nvCxnSpPr>
        <p:spPr bwMode="auto">
          <a:xfrm>
            <a:off x="2520300" y="5722706"/>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67" name="文本框 66">
            <a:extLst>
              <a:ext uri="{FF2B5EF4-FFF2-40B4-BE49-F238E27FC236}">
                <a16:creationId xmlns:a16="http://schemas.microsoft.com/office/drawing/2014/main" id="{157E7080-9675-B242-B1EC-14DBD23EC25C}"/>
              </a:ext>
            </a:extLst>
          </p:cNvPr>
          <p:cNvSpPr txBox="1"/>
          <p:nvPr/>
        </p:nvSpPr>
        <p:spPr>
          <a:xfrm>
            <a:off x="793789" y="5072728"/>
            <a:ext cx="338554" cy="369332"/>
          </a:xfrm>
          <a:prstGeom prst="rect">
            <a:avLst/>
          </a:prstGeom>
          <a:noFill/>
        </p:spPr>
        <p:txBody>
          <a:bodyPr wrap="none" rtlCol="0">
            <a:spAutoFit/>
          </a:bodyPr>
          <a:lstStyle/>
          <a:p>
            <a:r>
              <a:rPr kumimoji="1" lang="en-US" altLang="zh-CN" dirty="0">
                <a:ea typeface="黑体" panose="02010609060101010101" pitchFamily="49" charset="-122"/>
              </a:rPr>
              <a:t>A</a:t>
            </a:r>
            <a:endParaRPr kumimoji="1" lang="zh-CN" altLang="en-US" dirty="0">
              <a:ea typeface="黑体" panose="02010609060101010101" pitchFamily="49" charset="-122"/>
            </a:endParaRPr>
          </a:p>
        </p:txBody>
      </p:sp>
      <p:sp>
        <p:nvSpPr>
          <p:cNvPr id="68" name="文本框 67">
            <a:extLst>
              <a:ext uri="{FF2B5EF4-FFF2-40B4-BE49-F238E27FC236}">
                <a16:creationId xmlns:a16="http://schemas.microsoft.com/office/drawing/2014/main" id="{50017B53-31D7-A34E-BEBA-5096AABEC917}"/>
              </a:ext>
            </a:extLst>
          </p:cNvPr>
          <p:cNvSpPr txBox="1"/>
          <p:nvPr/>
        </p:nvSpPr>
        <p:spPr>
          <a:xfrm>
            <a:off x="792108" y="5940804"/>
            <a:ext cx="338554" cy="369332"/>
          </a:xfrm>
          <a:prstGeom prst="rect">
            <a:avLst/>
          </a:prstGeom>
          <a:noFill/>
        </p:spPr>
        <p:txBody>
          <a:bodyPr wrap="none" rtlCol="0">
            <a:spAutoFit/>
          </a:bodyPr>
          <a:lstStyle/>
          <a:p>
            <a:r>
              <a:rPr kumimoji="1" lang="en-US" altLang="zh-CN" dirty="0">
                <a:ea typeface="黑体" panose="02010609060101010101" pitchFamily="49" charset="-122"/>
              </a:rPr>
              <a:t>B</a:t>
            </a:r>
            <a:endParaRPr kumimoji="1" lang="zh-CN" altLang="en-US" dirty="0">
              <a:ea typeface="黑体" panose="02010609060101010101" pitchFamily="49" charset="-122"/>
            </a:endParaRPr>
          </a:p>
        </p:txBody>
      </p:sp>
      <p:sp>
        <p:nvSpPr>
          <p:cNvPr id="69" name="文本框 68">
            <a:extLst>
              <a:ext uri="{FF2B5EF4-FFF2-40B4-BE49-F238E27FC236}">
                <a16:creationId xmlns:a16="http://schemas.microsoft.com/office/drawing/2014/main" id="{91FF3DEE-822E-124F-9AB3-8FD5AE1F0B8A}"/>
              </a:ext>
            </a:extLst>
          </p:cNvPr>
          <p:cNvSpPr txBox="1"/>
          <p:nvPr/>
        </p:nvSpPr>
        <p:spPr>
          <a:xfrm>
            <a:off x="2639018" y="5353024"/>
            <a:ext cx="338554" cy="369332"/>
          </a:xfrm>
          <a:prstGeom prst="rect">
            <a:avLst/>
          </a:prstGeom>
          <a:noFill/>
        </p:spPr>
        <p:txBody>
          <a:bodyPr wrap="none" rtlCol="0">
            <a:spAutoFit/>
          </a:bodyPr>
          <a:lstStyle/>
          <a:p>
            <a:r>
              <a:rPr kumimoji="1" lang="en-US" altLang="zh-CN" dirty="0">
                <a:ea typeface="黑体" panose="02010609060101010101" pitchFamily="49" charset="-122"/>
              </a:rPr>
              <a:t>Z</a:t>
            </a:r>
            <a:endParaRPr kumimoji="1" lang="zh-CN" altLang="en-US" dirty="0">
              <a:ea typeface="黑体" panose="02010609060101010101" pitchFamily="49" charset="-122"/>
            </a:endParaRPr>
          </a:p>
        </p:txBody>
      </p:sp>
      <p:sp>
        <p:nvSpPr>
          <p:cNvPr id="70" name="文本框 69">
            <a:extLst>
              <a:ext uri="{FF2B5EF4-FFF2-40B4-BE49-F238E27FC236}">
                <a16:creationId xmlns:a16="http://schemas.microsoft.com/office/drawing/2014/main" id="{0A7C83A3-CD8A-8E47-B8B8-A2672E20C895}"/>
              </a:ext>
            </a:extLst>
          </p:cNvPr>
          <p:cNvSpPr txBox="1"/>
          <p:nvPr/>
        </p:nvSpPr>
        <p:spPr>
          <a:xfrm>
            <a:off x="2527074" y="6300028"/>
            <a:ext cx="1210588" cy="369332"/>
          </a:xfrm>
          <a:prstGeom prst="rect">
            <a:avLst/>
          </a:prstGeom>
          <a:noFill/>
        </p:spPr>
        <p:txBody>
          <a:bodyPr wrap="none" rtlCol="0">
            <a:spAutoFit/>
          </a:bodyPr>
          <a:lstStyle/>
          <a:p>
            <a:r>
              <a:rPr kumimoji="1" lang="en-US" altLang="zh-CN" dirty="0">
                <a:ea typeface="黑体" panose="02010609060101010101" pitchFamily="49" charset="-122"/>
              </a:rPr>
              <a:t>NOR gate</a:t>
            </a:r>
            <a:endParaRPr kumimoji="1" lang="zh-CN" altLang="en-US" dirty="0">
              <a:ea typeface="黑体" panose="02010609060101010101" pitchFamily="49" charset="-122"/>
            </a:endParaRPr>
          </a:p>
        </p:txBody>
      </p:sp>
      <p:sp>
        <p:nvSpPr>
          <p:cNvPr id="75" name="延迟 74">
            <a:extLst>
              <a:ext uri="{FF2B5EF4-FFF2-40B4-BE49-F238E27FC236}">
                <a16:creationId xmlns:a16="http://schemas.microsoft.com/office/drawing/2014/main" id="{C5C4FC84-7776-C74F-B1D8-CAD5F840593F}"/>
              </a:ext>
            </a:extLst>
          </p:cNvPr>
          <p:cNvSpPr/>
          <p:nvPr/>
        </p:nvSpPr>
        <p:spPr bwMode="auto">
          <a:xfrm>
            <a:off x="4572000" y="5393808"/>
            <a:ext cx="792088" cy="792088"/>
          </a:xfrm>
          <a:prstGeom prst="flowChartDelay">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76" name="椭圆 75">
            <a:extLst>
              <a:ext uri="{FF2B5EF4-FFF2-40B4-BE49-F238E27FC236}">
                <a16:creationId xmlns:a16="http://schemas.microsoft.com/office/drawing/2014/main" id="{6363D188-2F4C-5D4D-AE25-EEEC33741516}"/>
              </a:ext>
            </a:extLst>
          </p:cNvPr>
          <p:cNvSpPr/>
          <p:nvPr/>
        </p:nvSpPr>
        <p:spPr bwMode="auto">
          <a:xfrm>
            <a:off x="2354981" y="5632696"/>
            <a:ext cx="180020" cy="180020"/>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cxnSp>
        <p:nvCxnSpPr>
          <p:cNvPr id="77" name="直线连接符 76">
            <a:extLst>
              <a:ext uri="{FF2B5EF4-FFF2-40B4-BE49-F238E27FC236}">
                <a16:creationId xmlns:a16="http://schemas.microsoft.com/office/drawing/2014/main" id="{1CE60B58-2471-0A45-B33F-BA4AD5819736}"/>
              </a:ext>
            </a:extLst>
          </p:cNvPr>
          <p:cNvCxnSpPr>
            <a:cxnSpLocks/>
          </p:cNvCxnSpPr>
          <p:nvPr/>
        </p:nvCxnSpPr>
        <p:spPr bwMode="auto">
          <a:xfrm>
            <a:off x="5364088" y="5763489"/>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8" name="直线连接符 77">
            <a:extLst>
              <a:ext uri="{FF2B5EF4-FFF2-40B4-BE49-F238E27FC236}">
                <a16:creationId xmlns:a16="http://schemas.microsoft.com/office/drawing/2014/main" id="{BF47BBD0-4F5F-3B4A-ADDF-0E42F3FAA3DD}"/>
              </a:ext>
            </a:extLst>
          </p:cNvPr>
          <p:cNvCxnSpPr>
            <a:cxnSpLocks/>
          </p:cNvCxnSpPr>
          <p:nvPr/>
        </p:nvCxnSpPr>
        <p:spPr bwMode="auto">
          <a:xfrm>
            <a:off x="3870928" y="5537824"/>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79" name="直线连接符 78">
            <a:extLst>
              <a:ext uri="{FF2B5EF4-FFF2-40B4-BE49-F238E27FC236}">
                <a16:creationId xmlns:a16="http://schemas.microsoft.com/office/drawing/2014/main" id="{6E6A45D7-560A-1840-BE62-5FCD4C0E06ED}"/>
              </a:ext>
            </a:extLst>
          </p:cNvPr>
          <p:cNvCxnSpPr>
            <a:cxnSpLocks/>
          </p:cNvCxnSpPr>
          <p:nvPr/>
        </p:nvCxnSpPr>
        <p:spPr bwMode="auto">
          <a:xfrm>
            <a:off x="3870928" y="6005876"/>
            <a:ext cx="612068"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80" name="文本框 79">
            <a:extLst>
              <a:ext uri="{FF2B5EF4-FFF2-40B4-BE49-F238E27FC236}">
                <a16:creationId xmlns:a16="http://schemas.microsoft.com/office/drawing/2014/main" id="{516AA684-234E-F94A-B971-C740E1896AA6}"/>
              </a:ext>
            </a:extLst>
          </p:cNvPr>
          <p:cNvSpPr txBox="1"/>
          <p:nvPr/>
        </p:nvSpPr>
        <p:spPr>
          <a:xfrm>
            <a:off x="3825944" y="5119133"/>
            <a:ext cx="338554" cy="369332"/>
          </a:xfrm>
          <a:prstGeom prst="rect">
            <a:avLst/>
          </a:prstGeom>
          <a:noFill/>
        </p:spPr>
        <p:txBody>
          <a:bodyPr wrap="none" rtlCol="0">
            <a:spAutoFit/>
          </a:bodyPr>
          <a:lstStyle/>
          <a:p>
            <a:r>
              <a:rPr kumimoji="1" lang="en-US" altLang="zh-CN" dirty="0">
                <a:ea typeface="黑体" panose="02010609060101010101" pitchFamily="49" charset="-122"/>
              </a:rPr>
              <a:t>A</a:t>
            </a:r>
            <a:endParaRPr kumimoji="1" lang="zh-CN" altLang="en-US" dirty="0">
              <a:ea typeface="黑体" panose="02010609060101010101" pitchFamily="49" charset="-122"/>
            </a:endParaRPr>
          </a:p>
        </p:txBody>
      </p:sp>
      <p:sp>
        <p:nvSpPr>
          <p:cNvPr id="81" name="文本框 80">
            <a:extLst>
              <a:ext uri="{FF2B5EF4-FFF2-40B4-BE49-F238E27FC236}">
                <a16:creationId xmlns:a16="http://schemas.microsoft.com/office/drawing/2014/main" id="{543ABC1F-E19F-714E-B720-9DCF951AF832}"/>
              </a:ext>
            </a:extLst>
          </p:cNvPr>
          <p:cNvSpPr txBox="1"/>
          <p:nvPr/>
        </p:nvSpPr>
        <p:spPr>
          <a:xfrm>
            <a:off x="3815916" y="6001230"/>
            <a:ext cx="338554" cy="369332"/>
          </a:xfrm>
          <a:prstGeom prst="rect">
            <a:avLst/>
          </a:prstGeom>
          <a:noFill/>
        </p:spPr>
        <p:txBody>
          <a:bodyPr wrap="none" rtlCol="0">
            <a:spAutoFit/>
          </a:bodyPr>
          <a:lstStyle/>
          <a:p>
            <a:r>
              <a:rPr kumimoji="1" lang="en-US" altLang="zh-CN" dirty="0">
                <a:ea typeface="黑体" panose="02010609060101010101" pitchFamily="49" charset="-122"/>
              </a:rPr>
              <a:t>B</a:t>
            </a:r>
            <a:endParaRPr kumimoji="1" lang="zh-CN" altLang="en-US" dirty="0">
              <a:ea typeface="黑体" panose="02010609060101010101" pitchFamily="49" charset="-122"/>
            </a:endParaRPr>
          </a:p>
        </p:txBody>
      </p:sp>
      <p:sp>
        <p:nvSpPr>
          <p:cNvPr id="82" name="文本框 81">
            <a:extLst>
              <a:ext uri="{FF2B5EF4-FFF2-40B4-BE49-F238E27FC236}">
                <a16:creationId xmlns:a16="http://schemas.microsoft.com/office/drawing/2014/main" id="{129531AA-13BA-A543-A37B-61C0108002D7}"/>
              </a:ext>
            </a:extLst>
          </p:cNvPr>
          <p:cNvSpPr txBox="1"/>
          <p:nvPr/>
        </p:nvSpPr>
        <p:spPr>
          <a:xfrm>
            <a:off x="5662349" y="5393808"/>
            <a:ext cx="338554" cy="369332"/>
          </a:xfrm>
          <a:prstGeom prst="rect">
            <a:avLst/>
          </a:prstGeom>
          <a:noFill/>
        </p:spPr>
        <p:txBody>
          <a:bodyPr wrap="none" rtlCol="0">
            <a:spAutoFit/>
          </a:bodyPr>
          <a:lstStyle/>
          <a:p>
            <a:r>
              <a:rPr kumimoji="1" lang="en-US" altLang="zh-CN" dirty="0">
                <a:ea typeface="黑体" panose="02010609060101010101" pitchFamily="49" charset="-122"/>
              </a:rPr>
              <a:t>Z</a:t>
            </a:r>
            <a:endParaRPr kumimoji="1" lang="zh-CN" altLang="en-US" dirty="0">
              <a:ea typeface="黑体" panose="02010609060101010101" pitchFamily="49" charset="-122"/>
            </a:endParaRPr>
          </a:p>
        </p:txBody>
      </p:sp>
      <p:sp>
        <p:nvSpPr>
          <p:cNvPr id="85" name="椭圆 84">
            <a:extLst>
              <a:ext uri="{FF2B5EF4-FFF2-40B4-BE49-F238E27FC236}">
                <a16:creationId xmlns:a16="http://schemas.microsoft.com/office/drawing/2014/main" id="{59A5D817-34C5-DD44-A745-4EF1F36C9AF4}"/>
              </a:ext>
            </a:extLst>
          </p:cNvPr>
          <p:cNvSpPr>
            <a:spLocks noChangeAspect="1"/>
          </p:cNvSpPr>
          <p:nvPr/>
        </p:nvSpPr>
        <p:spPr bwMode="auto">
          <a:xfrm>
            <a:off x="4463988" y="5475159"/>
            <a:ext cx="108000" cy="108000"/>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86" name="椭圆 85">
            <a:extLst>
              <a:ext uri="{FF2B5EF4-FFF2-40B4-BE49-F238E27FC236}">
                <a16:creationId xmlns:a16="http://schemas.microsoft.com/office/drawing/2014/main" id="{13C6A207-5B32-134A-93C3-2D636601FEB9}"/>
              </a:ext>
            </a:extLst>
          </p:cNvPr>
          <p:cNvSpPr>
            <a:spLocks noChangeAspect="1"/>
          </p:cNvSpPr>
          <p:nvPr/>
        </p:nvSpPr>
        <p:spPr bwMode="auto">
          <a:xfrm>
            <a:off x="4463988" y="5943211"/>
            <a:ext cx="108000" cy="108000"/>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3D401F86-C881-A04E-9DF0-4B70F6FBC0B1}"/>
                  </a:ext>
                </a:extLst>
              </p:cNvPr>
              <p:cNvSpPr txBox="1"/>
              <p:nvPr/>
            </p:nvSpPr>
            <p:spPr>
              <a:xfrm>
                <a:off x="1675549" y="4705098"/>
                <a:ext cx="2332370" cy="493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zh-CN" altLang="en-US" sz="3200" i="1" smtClean="0">
                              <a:latin typeface="Cambria Math" panose="02040503050406030204" pitchFamily="18" charset="0"/>
                            </a:rPr>
                          </m:ctrlPr>
                        </m:accPr>
                        <m:e>
                          <m:r>
                            <m:rPr>
                              <m:sty m:val="p"/>
                            </m:rPr>
                            <a:rPr kumimoji="1" lang="en-US" altLang="zh-CN" sz="3200" i="1">
                              <a:latin typeface="Cambria Math" panose="02040503050406030204" pitchFamily="18" charset="0"/>
                            </a:rPr>
                            <m:t>A</m:t>
                          </m:r>
                          <m:r>
                            <a:rPr kumimoji="1" lang="en-US" altLang="zh-CN" sz="3200" i="1">
                              <a:latin typeface="Cambria Math" panose="02040503050406030204" pitchFamily="18" charset="0"/>
                            </a:rPr>
                            <m:t>+</m:t>
                          </m:r>
                          <m:r>
                            <m:rPr>
                              <m:sty m:val="p"/>
                            </m:rPr>
                            <a:rPr kumimoji="1" lang="en-US" altLang="zh-CN" sz="3200" i="1">
                              <a:latin typeface="Cambria Math" panose="02040503050406030204" pitchFamily="18" charset="0"/>
                            </a:rPr>
                            <m:t>B</m:t>
                          </m:r>
                        </m:e>
                      </m:acc>
                      <m:r>
                        <a:rPr kumimoji="1" lang="en-US" altLang="zh-CN" sz="3200" b="0" i="1" smtClean="0">
                          <a:latin typeface="Cambria Math" panose="02040503050406030204" pitchFamily="18" charset="0"/>
                        </a:rPr>
                        <m:t>=</m:t>
                      </m:r>
                      <m:r>
                        <a:rPr kumimoji="1" lang="zh-CN" altLang="en-US" sz="3200" b="0" i="1" smtClean="0">
                          <a:latin typeface="Cambria Math" panose="02040503050406030204" pitchFamily="18" charset="0"/>
                        </a:rPr>
                        <m:t> </m:t>
                      </m:r>
                      <m:acc>
                        <m:accPr>
                          <m:chr m:val="̅"/>
                          <m:ctrlPr>
                            <a:rPr kumimoji="1" lang="zh-CN" altLang="en-US" sz="3200" b="0" i="1" smtClean="0">
                              <a:latin typeface="Cambria Math" panose="02040503050406030204" pitchFamily="18" charset="0"/>
                            </a:rPr>
                          </m:ctrlPr>
                        </m:accPr>
                        <m:e>
                          <m:r>
                            <m:rPr>
                              <m:sty m:val="p"/>
                            </m:rPr>
                            <a:rPr kumimoji="1" lang="en-US" altLang="zh-CN" sz="3200" i="1">
                              <a:latin typeface="Cambria Math" panose="02040503050406030204" pitchFamily="18" charset="0"/>
                            </a:rPr>
                            <m:t>A</m:t>
                          </m:r>
                        </m:e>
                      </m:acc>
                      <m:r>
                        <m:rPr>
                          <m:nor/>
                        </m:rPr>
                        <a:rPr lang="en-US" altLang="zh-CN" sz="3200" b="1" dirty="0">
                          <a:solidFill>
                            <a:srgbClr val="7030A0"/>
                          </a:solidFill>
                          <a:ea typeface="黑体" panose="02010609060101010101" pitchFamily="49" charset="-122"/>
                          <a:sym typeface="Symbol" pitchFamily="18" charset="2"/>
                        </a:rPr>
                        <m:t></m:t>
                      </m:r>
                      <m:acc>
                        <m:accPr>
                          <m:chr m:val="̅"/>
                          <m:ctrlPr>
                            <a:rPr kumimoji="1" lang="en-US" altLang="zh-CN" sz="3200" b="0" i="1" smtClean="0">
                              <a:latin typeface="Cambria Math" panose="02040503050406030204" pitchFamily="18" charset="0"/>
                            </a:rPr>
                          </m:ctrlPr>
                        </m:accPr>
                        <m:e>
                          <m:r>
                            <m:rPr>
                              <m:sty m:val="p"/>
                            </m:rPr>
                            <a:rPr kumimoji="1" lang="en-US" altLang="zh-CN" sz="3200" i="1">
                              <a:latin typeface="Cambria Math" panose="02040503050406030204" pitchFamily="18" charset="0"/>
                            </a:rPr>
                            <m:t>B</m:t>
                          </m:r>
                        </m:e>
                      </m:acc>
                    </m:oMath>
                  </m:oMathPara>
                </a14:m>
                <a:endParaRPr kumimoji="1" lang="zh-CN" altLang="en-US" sz="3200" dirty="0">
                  <a:ea typeface="黑体" panose="02010609060101010101" pitchFamily="49" charset="-122"/>
                </a:endParaRPr>
              </a:p>
            </p:txBody>
          </p:sp>
        </mc:Choice>
        <mc:Fallback xmlns="">
          <p:sp>
            <p:nvSpPr>
              <p:cNvPr id="87" name="文本框 86">
                <a:extLst>
                  <a:ext uri="{FF2B5EF4-FFF2-40B4-BE49-F238E27FC236}">
                    <a16:creationId xmlns:a16="http://schemas.microsoft.com/office/drawing/2014/main" id="{3D401F86-C881-A04E-9DF0-4B70F6FBC0B1}"/>
                  </a:ext>
                </a:extLst>
              </p:cNvPr>
              <p:cNvSpPr txBox="1">
                <a:spLocks noRot="1" noChangeAspect="1" noMove="1" noResize="1" noEditPoints="1" noAdjustHandles="1" noChangeArrowheads="1" noChangeShapeType="1" noTextEdit="1"/>
              </p:cNvSpPr>
              <p:nvPr/>
            </p:nvSpPr>
            <p:spPr>
              <a:xfrm>
                <a:off x="1675549" y="4705098"/>
                <a:ext cx="2332370" cy="493597"/>
              </a:xfrm>
              <a:prstGeom prst="rect">
                <a:avLst/>
              </a:prstGeom>
              <a:blipFill>
                <a:blip r:embed="rId3"/>
                <a:stretch>
                  <a:fillRect/>
                </a:stretch>
              </a:blipFill>
            </p:spPr>
            <p:txBody>
              <a:bodyPr/>
              <a:lstStyle/>
              <a:p>
                <a:r>
                  <a:rPr lang="zh-CN" altLang="en-US">
                    <a:noFill/>
                  </a:rPr>
                  <a:t> </a:t>
                </a:r>
              </a:p>
            </p:txBody>
          </p:sp>
        </mc:Fallback>
      </mc:AlternateContent>
      <p:sp>
        <p:nvSpPr>
          <p:cNvPr id="6" name="Rectangle 5">
            <a:extLst>
              <a:ext uri="{FF2B5EF4-FFF2-40B4-BE49-F238E27FC236}">
                <a16:creationId xmlns:a16="http://schemas.microsoft.com/office/drawing/2014/main" id="{92A63D71-BD60-C342-A140-028CF5DC0787}"/>
              </a:ext>
            </a:extLst>
          </p:cNvPr>
          <p:cNvSpPr/>
          <p:nvPr/>
        </p:nvSpPr>
        <p:spPr>
          <a:xfrm>
            <a:off x="526322" y="2138551"/>
            <a:ext cx="4874501" cy="954107"/>
          </a:xfrm>
          <a:prstGeom prst="rect">
            <a:avLst/>
          </a:prstGeom>
        </p:spPr>
        <p:txBody>
          <a:bodyPr wrap="square">
            <a:spAutoFit/>
          </a:bodyPr>
          <a:lstStyle/>
          <a:p>
            <a:pPr marL="457200" indent="-457200">
              <a:buFont typeface="Arial" panose="020B0604020202020204" pitchFamily="34" charset="0"/>
              <a:buChar char="•"/>
            </a:pPr>
            <a:r>
              <a:rPr lang="en-US" altLang="zh-CN" sz="2800" b="1" dirty="0">
                <a:solidFill>
                  <a:srgbClr val="3333FF"/>
                </a:solidFill>
                <a:ea typeface="黑体" panose="02010609060101010101" pitchFamily="49" charset="-122"/>
              </a:rPr>
              <a:t>(X+Y+Z+</a:t>
            </a:r>
            <a:r>
              <a:rPr lang="en-US" altLang="zh-CN" sz="2800" b="1" dirty="0">
                <a:solidFill>
                  <a:srgbClr val="3333FF"/>
                </a:solidFill>
                <a:ea typeface="黑体" panose="02010609060101010101" pitchFamily="49" charset="-122"/>
                <a:sym typeface="Symbol" pitchFamily="18" charset="2"/>
              </a:rPr>
              <a:t></a:t>
            </a:r>
            <a:r>
              <a:rPr lang="en-US" altLang="zh-CN" sz="2800" b="1" dirty="0">
                <a:solidFill>
                  <a:srgbClr val="3333FF"/>
                </a:solidFill>
                <a:ea typeface="黑体" panose="02010609060101010101" pitchFamily="49" charset="-122"/>
              </a:rPr>
              <a:t>)’=X’</a:t>
            </a:r>
            <a:r>
              <a:rPr lang="en-US" altLang="zh-CN" sz="2800" b="1" dirty="0">
                <a:solidFill>
                  <a:srgbClr val="3333FF"/>
                </a:solidFill>
                <a:ea typeface="黑体" panose="02010609060101010101" pitchFamily="49" charset="-122"/>
                <a:sym typeface="Symbol" pitchFamily="18" charset="2"/>
              </a:rPr>
              <a:t>Y’Z’ </a:t>
            </a:r>
          </a:p>
          <a:p>
            <a:pPr marL="457200" indent="-457200">
              <a:buFont typeface="Arial" panose="020B0604020202020204" pitchFamily="34" charset="0"/>
              <a:buChar char="•"/>
            </a:pPr>
            <a:r>
              <a:rPr lang="en-US" altLang="zh-CN" sz="2800" b="1" dirty="0">
                <a:solidFill>
                  <a:srgbClr val="3333FF"/>
                </a:solidFill>
                <a:ea typeface="黑体" panose="02010609060101010101" pitchFamily="49" charset="-122"/>
              </a:rPr>
              <a:t>(X</a:t>
            </a:r>
            <a:r>
              <a:rPr lang="en-US" altLang="zh-CN" sz="2800" b="1" dirty="0">
                <a:solidFill>
                  <a:srgbClr val="3333FF"/>
                </a:solidFill>
                <a:ea typeface="黑体" panose="02010609060101010101" pitchFamily="49" charset="-122"/>
                <a:sym typeface="Symbol" pitchFamily="18" charset="2"/>
              </a:rPr>
              <a:t></a:t>
            </a:r>
            <a:r>
              <a:rPr lang="en-US" altLang="zh-CN" sz="2800" b="1" dirty="0">
                <a:solidFill>
                  <a:srgbClr val="3333FF"/>
                </a:solidFill>
                <a:ea typeface="黑体" panose="02010609060101010101" pitchFamily="49" charset="-122"/>
              </a:rPr>
              <a:t>Y</a:t>
            </a:r>
            <a:r>
              <a:rPr lang="en-US" altLang="zh-CN" sz="2800" b="1" dirty="0">
                <a:solidFill>
                  <a:srgbClr val="3333FF"/>
                </a:solidFill>
                <a:ea typeface="黑体" panose="02010609060101010101" pitchFamily="49" charset="-122"/>
                <a:sym typeface="Symbol" pitchFamily="18" charset="2"/>
              </a:rPr>
              <a:t></a:t>
            </a:r>
            <a:r>
              <a:rPr lang="en-US" altLang="zh-CN" sz="2800" b="1" dirty="0">
                <a:solidFill>
                  <a:srgbClr val="3333FF"/>
                </a:solidFill>
                <a:ea typeface="黑体" panose="02010609060101010101" pitchFamily="49" charset="-122"/>
              </a:rPr>
              <a:t>Z </a:t>
            </a:r>
            <a:r>
              <a:rPr lang="en-US" altLang="zh-CN" sz="2800" b="1" dirty="0">
                <a:solidFill>
                  <a:srgbClr val="3333FF"/>
                </a:solidFill>
                <a:ea typeface="黑体" panose="02010609060101010101" pitchFamily="49" charset="-122"/>
                <a:sym typeface="Symbol" pitchFamily="18" charset="2"/>
              </a:rPr>
              <a:t> </a:t>
            </a:r>
            <a:r>
              <a:rPr lang="en-US" altLang="zh-CN" sz="2800" b="1" dirty="0">
                <a:solidFill>
                  <a:srgbClr val="3333FF"/>
                </a:solidFill>
                <a:ea typeface="黑体" panose="02010609060101010101" pitchFamily="49" charset="-122"/>
              </a:rPr>
              <a:t>)’=X’ +</a:t>
            </a:r>
            <a:r>
              <a:rPr lang="en-US" altLang="zh-CN" sz="2800" b="1" dirty="0">
                <a:solidFill>
                  <a:srgbClr val="3333FF"/>
                </a:solidFill>
                <a:ea typeface="黑体" panose="02010609060101010101" pitchFamily="49" charset="-122"/>
                <a:sym typeface="Symbol" pitchFamily="18" charset="2"/>
              </a:rPr>
              <a:t>Y’+Z’+ </a:t>
            </a:r>
          </a:p>
        </p:txBody>
      </p:sp>
      <p:sp>
        <p:nvSpPr>
          <p:cNvPr id="3" name="灯片编号占位符 2">
            <a:extLst>
              <a:ext uri="{FF2B5EF4-FFF2-40B4-BE49-F238E27FC236}">
                <a16:creationId xmlns:a16="http://schemas.microsoft.com/office/drawing/2014/main" id="{A02BB7DD-92D7-333A-CCE8-83B0D7731A62}"/>
              </a:ext>
            </a:extLst>
          </p:cNvPr>
          <p:cNvSpPr>
            <a:spLocks noGrp="1"/>
          </p:cNvSpPr>
          <p:nvPr>
            <p:ph type="sldNum" sz="quarter" idx="12"/>
          </p:nvPr>
        </p:nvSpPr>
        <p:spPr/>
        <p:txBody>
          <a:bodyPr/>
          <a:lstStyle/>
          <a:p>
            <a:fld id="{14659731-6BD7-46E7-8D3C-2F3AC07E20B1}" type="slidenum">
              <a:rPr lang="en-US" altLang="zh-CN" smtClean="0"/>
              <a:pPr/>
              <a:t>44</a:t>
            </a:fld>
            <a:endParaRPr lang="en-US" altLang="zh-CN" dirty="0"/>
          </a:p>
        </p:txBody>
      </p:sp>
      <p:sp>
        <p:nvSpPr>
          <p:cNvPr id="7" name="Rectangle 2">
            <a:extLst>
              <a:ext uri="{FF2B5EF4-FFF2-40B4-BE49-F238E27FC236}">
                <a16:creationId xmlns:a16="http://schemas.microsoft.com/office/drawing/2014/main" id="{4617D37E-A691-6E40-A4DB-A845F1E1B91D}"/>
              </a:ext>
            </a:extLst>
          </p:cNvPr>
          <p:cNvSpPr>
            <a:spLocks noGrp="1" noChangeArrowheads="1"/>
          </p:cNvSpPr>
          <p:nvPr>
            <p:ph type="title"/>
          </p:nvPr>
        </p:nvSpPr>
        <p:spPr>
          <a:xfrm>
            <a:off x="457200" y="136525"/>
            <a:ext cx="8229600" cy="1143000"/>
          </a:xfrm>
        </p:spPr>
        <p:txBody>
          <a:bodyPr/>
          <a:lstStyle/>
          <a:p>
            <a:pPr eaLnBrk="1" hangingPunct="1"/>
            <a:r>
              <a:rPr lang="zh-CN" altLang="en-US" dirty="0">
                <a:latin typeface="Arial" panose="020B0604020202020204" pitchFamily="34" charset="0"/>
                <a:ea typeface="黑体" pitchFamily="2" charset="-122"/>
                <a:cs typeface="Arial" panose="020B0604020202020204" pitchFamily="34" charset="0"/>
              </a:rPr>
              <a:t>德摩根率</a:t>
            </a:r>
            <a:r>
              <a:rPr lang="en-US" altLang="zh-CN" dirty="0">
                <a:latin typeface="Arial" panose="020B0604020202020204" pitchFamily="34" charset="0"/>
                <a:ea typeface="黑体" pitchFamily="2" charset="-122"/>
                <a:cs typeface="Arial" panose="020B0604020202020204" pitchFamily="34" charset="0"/>
              </a:rPr>
              <a:t>(</a:t>
            </a:r>
            <a:r>
              <a:rPr lang="en" altLang="zh-CN" dirty="0">
                <a:latin typeface="Arial" panose="020B0604020202020204" pitchFamily="34" charset="0"/>
                <a:ea typeface="黑体" pitchFamily="2" charset="-122"/>
                <a:cs typeface="Arial" panose="020B0604020202020204" pitchFamily="34" charset="0"/>
              </a:rPr>
              <a:t>De Morgan’s Law)</a:t>
            </a:r>
          </a:p>
        </p:txBody>
      </p:sp>
    </p:spTree>
    <p:extLst>
      <p:ext uri="{BB962C8B-B14F-4D97-AF65-F5344CB8AC3E}">
        <p14:creationId xmlns:p14="http://schemas.microsoft.com/office/powerpoint/2010/main" val="3777647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02BB7DD-92D7-333A-CCE8-83B0D7731A62}"/>
              </a:ext>
            </a:extLst>
          </p:cNvPr>
          <p:cNvSpPr>
            <a:spLocks noGrp="1"/>
          </p:cNvSpPr>
          <p:nvPr>
            <p:ph type="sldNum" sz="quarter" idx="12"/>
          </p:nvPr>
        </p:nvSpPr>
        <p:spPr/>
        <p:txBody>
          <a:bodyPr/>
          <a:lstStyle/>
          <a:p>
            <a:fld id="{14659731-6BD7-46E7-8D3C-2F3AC07E20B1}" type="slidenum">
              <a:rPr lang="en-US" altLang="zh-CN" smtClean="0"/>
              <a:pPr/>
              <a:t>45</a:t>
            </a:fld>
            <a:endParaRPr lang="en-US" altLang="zh-CN" dirty="0"/>
          </a:p>
        </p:txBody>
      </p:sp>
      <p:sp>
        <p:nvSpPr>
          <p:cNvPr id="7" name="Rectangle 2">
            <a:extLst>
              <a:ext uri="{FF2B5EF4-FFF2-40B4-BE49-F238E27FC236}">
                <a16:creationId xmlns:a16="http://schemas.microsoft.com/office/drawing/2014/main" id="{4617D37E-A691-6E40-A4DB-A845F1E1B91D}"/>
              </a:ext>
            </a:extLst>
          </p:cNvPr>
          <p:cNvSpPr>
            <a:spLocks noGrp="1" noChangeArrowheads="1"/>
          </p:cNvSpPr>
          <p:nvPr>
            <p:ph type="title"/>
          </p:nvPr>
        </p:nvSpPr>
        <p:spPr>
          <a:xfrm>
            <a:off x="457200" y="136525"/>
            <a:ext cx="8229600" cy="1143000"/>
          </a:xfrm>
        </p:spPr>
        <p:txBody>
          <a:bodyPr/>
          <a:lstStyle/>
          <a:p>
            <a:pPr eaLnBrk="1" hangingPunct="1"/>
            <a:r>
              <a:rPr lang="zh-CN" altLang="en-US" dirty="0">
                <a:latin typeface="Arial" panose="020B0604020202020204" pitchFamily="34" charset="0"/>
                <a:ea typeface="黑体" pitchFamily="2" charset="-122"/>
                <a:cs typeface="Arial" panose="020B0604020202020204" pitchFamily="34" charset="0"/>
              </a:rPr>
              <a:t>用真值表验证德摩根定律</a:t>
            </a:r>
            <a:endParaRPr lang="en" altLang="zh-CN" dirty="0">
              <a:latin typeface="Arial" panose="020B0604020202020204" pitchFamily="34" charset="0"/>
              <a:ea typeface="黑体" pitchFamily="2" charset="-122"/>
              <a:cs typeface="Arial" panose="020B0604020202020204" pitchFamily="34" charset="0"/>
            </a:endParaRPr>
          </a:p>
        </p:txBody>
      </p:sp>
      <p:graphicFrame>
        <p:nvGraphicFramePr>
          <p:cNvPr id="9" name="Group 110">
            <a:extLst>
              <a:ext uri="{FF2B5EF4-FFF2-40B4-BE49-F238E27FC236}">
                <a16:creationId xmlns:a16="http://schemas.microsoft.com/office/drawing/2014/main" id="{27F3C681-C8F0-52C0-44C9-D16BC4DCFA48}"/>
              </a:ext>
            </a:extLst>
          </p:cNvPr>
          <p:cNvGraphicFramePr>
            <a:graphicFrameLocks/>
          </p:cNvGraphicFramePr>
          <p:nvPr>
            <p:extLst>
              <p:ext uri="{D42A27DB-BD31-4B8C-83A1-F6EECF244321}">
                <p14:modId xmlns:p14="http://schemas.microsoft.com/office/powerpoint/2010/main" val="1435520389"/>
              </p:ext>
            </p:extLst>
          </p:nvPr>
        </p:nvGraphicFramePr>
        <p:xfrm>
          <a:off x="762000" y="1828800"/>
          <a:ext cx="7620000" cy="3200402"/>
        </p:xfrm>
        <a:graphic>
          <a:graphicData uri="http://schemas.openxmlformats.org/drawingml/2006/table">
            <a:tbl>
              <a:tblPr/>
              <a:tblGrid>
                <a:gridCol w="387350">
                  <a:extLst>
                    <a:ext uri="{9D8B030D-6E8A-4147-A177-3AD203B41FA5}">
                      <a16:colId xmlns:a16="http://schemas.microsoft.com/office/drawing/2014/main" val="20000"/>
                    </a:ext>
                  </a:extLst>
                </a:gridCol>
                <a:gridCol w="452438">
                  <a:extLst>
                    <a:ext uri="{9D8B030D-6E8A-4147-A177-3AD203B41FA5}">
                      <a16:colId xmlns:a16="http://schemas.microsoft.com/office/drawing/2014/main" val="20001"/>
                    </a:ext>
                  </a:extLst>
                </a:gridCol>
                <a:gridCol w="515937">
                  <a:extLst>
                    <a:ext uri="{9D8B030D-6E8A-4147-A177-3AD203B41FA5}">
                      <a16:colId xmlns:a16="http://schemas.microsoft.com/office/drawing/2014/main" val="20002"/>
                    </a:ext>
                  </a:extLst>
                </a:gridCol>
                <a:gridCol w="511175">
                  <a:extLst>
                    <a:ext uri="{9D8B030D-6E8A-4147-A177-3AD203B41FA5}">
                      <a16:colId xmlns:a16="http://schemas.microsoft.com/office/drawing/2014/main" val="20003"/>
                    </a:ext>
                  </a:extLst>
                </a:gridCol>
                <a:gridCol w="896938">
                  <a:extLst>
                    <a:ext uri="{9D8B030D-6E8A-4147-A177-3AD203B41FA5}">
                      <a16:colId xmlns:a16="http://schemas.microsoft.com/office/drawing/2014/main" val="20004"/>
                    </a:ext>
                  </a:extLst>
                </a:gridCol>
                <a:gridCol w="673100">
                  <a:extLst>
                    <a:ext uri="{9D8B030D-6E8A-4147-A177-3AD203B41FA5}">
                      <a16:colId xmlns:a16="http://schemas.microsoft.com/office/drawing/2014/main" val="20005"/>
                    </a:ext>
                  </a:extLst>
                </a:gridCol>
                <a:gridCol w="1120775">
                  <a:extLst>
                    <a:ext uri="{9D8B030D-6E8A-4147-A177-3AD203B41FA5}">
                      <a16:colId xmlns:a16="http://schemas.microsoft.com/office/drawing/2014/main" val="20006"/>
                    </a:ext>
                  </a:extLst>
                </a:gridCol>
                <a:gridCol w="820737">
                  <a:extLst>
                    <a:ext uri="{9D8B030D-6E8A-4147-A177-3AD203B41FA5}">
                      <a16:colId xmlns:a16="http://schemas.microsoft.com/office/drawing/2014/main" val="20007"/>
                    </a:ext>
                  </a:extLst>
                </a:gridCol>
                <a:gridCol w="1046163">
                  <a:extLst>
                    <a:ext uri="{9D8B030D-6E8A-4147-A177-3AD203B41FA5}">
                      <a16:colId xmlns:a16="http://schemas.microsoft.com/office/drawing/2014/main" val="20008"/>
                    </a:ext>
                  </a:extLst>
                </a:gridCol>
                <a:gridCol w="1195387">
                  <a:extLst>
                    <a:ext uri="{9D8B030D-6E8A-4147-A177-3AD203B41FA5}">
                      <a16:colId xmlns:a16="http://schemas.microsoft.com/office/drawing/2014/main" val="20009"/>
                    </a:ext>
                  </a:extLst>
                </a:gridCol>
              </a:tblGrid>
              <a:tr h="6397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X</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X+Y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XY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0000"/>
                          </a:solidFill>
                          <a:effectLst/>
                          <a:latin typeface="Arial" charset="0"/>
                          <a:ea typeface="黑体" panose="02010609060101010101" pitchFamily="49" charset="-122"/>
                        </a:rPr>
                        <a:t>(X+Y)’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FF0000"/>
                          </a:solidFill>
                          <a:effectLst/>
                          <a:latin typeface="Arial" charset="0"/>
                          <a:ea typeface="黑体" panose="02010609060101010101" pitchFamily="49" charset="-122"/>
                        </a:rPr>
                        <a:t>X’Y’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(XY)’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3333FF"/>
                          </a:solidFill>
                          <a:effectLst/>
                          <a:latin typeface="Arial" charset="0"/>
                          <a:ea typeface="黑体" panose="02010609060101010101" pitchFamily="49" charset="-122"/>
                        </a:rPr>
                        <a:t>X’+Y’</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extLst>
                  <a:ext uri="{0D108BD9-81ED-4DB2-BD59-A6C34878D82A}">
                    <a16:rowId xmlns:a16="http://schemas.microsoft.com/office/drawing/2014/main" val="10000"/>
                  </a:ext>
                </a:extLst>
              </a:tr>
              <a:tr h="6397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000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FF000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1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0000"/>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FF0000"/>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7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0000"/>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FF0000"/>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97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0000"/>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FF0000"/>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1" u="none" strike="noStrike" cap="none" normalizeH="0" baseline="0" dirty="0">
                          <a:ln>
                            <a:noFill/>
                          </a:ln>
                          <a:solidFill>
                            <a:srgbClr val="3333FF"/>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667472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270897C-8738-7852-2887-CC91C2A620B5}"/>
              </a:ext>
            </a:extLst>
          </p:cNvPr>
          <p:cNvSpPr>
            <a:spLocks noGrp="1"/>
          </p:cNvSpPr>
          <p:nvPr>
            <p:ph type="sldNum" sz="quarter" idx="12"/>
          </p:nvPr>
        </p:nvSpPr>
        <p:spPr/>
        <p:txBody>
          <a:bodyPr/>
          <a:lstStyle/>
          <a:p>
            <a:fld id="{14659731-6BD7-46E7-8D3C-2F3AC07E20B1}" type="slidenum">
              <a:rPr lang="en-US" altLang="zh-CN" smtClean="0"/>
              <a:pPr/>
              <a:t>46</a:t>
            </a:fld>
            <a:endParaRPr lang="en-US" altLang="zh-CN" dirty="0"/>
          </a:p>
        </p:txBody>
      </p:sp>
      <p:sp>
        <p:nvSpPr>
          <p:cNvPr id="64515" name="Rectangle 5"/>
          <p:cNvSpPr>
            <a:spLocks noChangeArrowheads="1"/>
          </p:cNvSpPr>
          <p:nvPr/>
        </p:nvSpPr>
        <p:spPr bwMode="auto">
          <a:xfrm>
            <a:off x="4341167" y="3333750"/>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sp>
        <p:nvSpPr>
          <p:cNvPr id="64516" name="Rectangle 6"/>
          <p:cNvSpPr>
            <a:spLocks noChangeArrowheads="1"/>
          </p:cNvSpPr>
          <p:nvPr/>
        </p:nvSpPr>
        <p:spPr bwMode="auto">
          <a:xfrm>
            <a:off x="4341167" y="3300413"/>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sp>
        <p:nvSpPr>
          <p:cNvPr id="64517" name="Rectangle 8"/>
          <p:cNvSpPr>
            <a:spLocks noChangeArrowheads="1"/>
          </p:cNvSpPr>
          <p:nvPr/>
        </p:nvSpPr>
        <p:spPr bwMode="auto">
          <a:xfrm>
            <a:off x="4341167" y="3300413"/>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sp>
        <p:nvSpPr>
          <p:cNvPr id="64518" name="Rectangle 10"/>
          <p:cNvSpPr>
            <a:spLocks noChangeArrowheads="1"/>
          </p:cNvSpPr>
          <p:nvPr/>
        </p:nvSpPr>
        <p:spPr bwMode="auto">
          <a:xfrm>
            <a:off x="4341167" y="3309938"/>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sp>
        <p:nvSpPr>
          <p:cNvPr id="64519" name="Rectangle 12"/>
          <p:cNvSpPr>
            <a:spLocks noChangeArrowheads="1"/>
          </p:cNvSpPr>
          <p:nvPr/>
        </p:nvSpPr>
        <p:spPr bwMode="auto">
          <a:xfrm>
            <a:off x="4341167" y="3300413"/>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sp>
        <p:nvSpPr>
          <p:cNvPr id="11" name="TextBox 10"/>
          <p:cNvSpPr txBox="1">
            <a:spLocks noChangeArrowheads="1"/>
          </p:cNvSpPr>
          <p:nvPr/>
        </p:nvSpPr>
        <p:spPr bwMode="auto">
          <a:xfrm>
            <a:off x="1219200" y="1745964"/>
            <a:ext cx="51054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r>
              <a:rPr lang="en-US" altLang="zh-CN" sz="4400" dirty="0">
                <a:solidFill>
                  <a:schemeClr val="tx1"/>
                </a:solidFill>
                <a:latin typeface="+mn-lt"/>
                <a:ea typeface="黑体" panose="02010609060101010101" pitchFamily="49" charset="-122"/>
                <a:cs typeface="Times New Roman" pitchFamily="18" charset="0"/>
              </a:rPr>
              <a:t>Y=A(B+C)+CD</a:t>
            </a:r>
            <a:endParaRPr lang="zh-CN" altLang="en-US" sz="4400" dirty="0">
              <a:solidFill>
                <a:schemeClr val="tx1"/>
              </a:solidFill>
              <a:latin typeface="+mn-lt"/>
              <a:ea typeface="黑体" panose="02010609060101010101" pitchFamily="49" charset="-122"/>
              <a:cs typeface="Times New Roman" pitchFamily="18" charset="0"/>
            </a:endParaRPr>
          </a:p>
        </p:txBody>
      </p:sp>
      <p:sp>
        <p:nvSpPr>
          <p:cNvPr id="12" name="TextBox 11"/>
          <p:cNvSpPr txBox="1">
            <a:spLocks noChangeArrowheads="1"/>
          </p:cNvSpPr>
          <p:nvPr/>
        </p:nvSpPr>
        <p:spPr bwMode="auto">
          <a:xfrm>
            <a:off x="1216659" y="2896902"/>
            <a:ext cx="62484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r>
              <a:rPr lang="en-US" altLang="zh-CN" sz="4400" dirty="0">
                <a:solidFill>
                  <a:schemeClr val="tx1"/>
                </a:solidFill>
                <a:latin typeface="+mn-lt"/>
                <a:ea typeface="黑体" panose="02010609060101010101" pitchFamily="49" charset="-122"/>
                <a:cs typeface="Times New Roman" pitchFamily="18" charset="0"/>
              </a:rPr>
              <a:t>Y’=[</a:t>
            </a:r>
            <a:r>
              <a:rPr lang="en-US" altLang="zh-CN" sz="4400" dirty="0">
                <a:latin typeface="+mn-lt"/>
                <a:ea typeface="黑体" panose="02010609060101010101" pitchFamily="49" charset="-122"/>
                <a:cs typeface="Times New Roman" pitchFamily="18" charset="0"/>
              </a:rPr>
              <a:t>A(B+C)</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rgbClr val="33CC33"/>
                </a:solidFill>
                <a:latin typeface="+mn-lt"/>
                <a:ea typeface="黑体" panose="02010609060101010101" pitchFamily="49" charset="-122"/>
                <a:cs typeface="Times New Roman" pitchFamily="18" charset="0"/>
              </a:rPr>
              <a:t>CD</a:t>
            </a:r>
            <a:r>
              <a:rPr lang="en-US" altLang="zh-CN" sz="4400" dirty="0">
                <a:solidFill>
                  <a:schemeClr val="tx1"/>
                </a:solidFill>
                <a:latin typeface="+mn-lt"/>
                <a:ea typeface="黑体" panose="02010609060101010101" pitchFamily="49" charset="-122"/>
                <a:cs typeface="Times New Roman" pitchFamily="18" charset="0"/>
              </a:rPr>
              <a:t>]’</a:t>
            </a:r>
          </a:p>
          <a:p>
            <a:pPr algn="l" eaLnBrk="1" hangingPunct="1"/>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latin typeface="+mn-lt"/>
                <a:ea typeface="黑体" panose="02010609060101010101" pitchFamily="49" charset="-122"/>
                <a:cs typeface="Times New Roman" pitchFamily="18" charset="0"/>
              </a:rPr>
              <a:t> </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latin typeface="+mn-lt"/>
                <a:ea typeface="黑体" panose="02010609060101010101" pitchFamily="49" charset="-122"/>
                <a:cs typeface="Times New Roman" pitchFamily="18" charset="0"/>
              </a:rPr>
              <a:t>A</a:t>
            </a:r>
            <a:r>
              <a:rPr lang="en-US" altLang="zh-CN" sz="4400" dirty="0">
                <a:solidFill>
                  <a:srgbClr val="FF00FF"/>
                </a:solidFill>
                <a:latin typeface="+mn-lt"/>
                <a:ea typeface="黑体" panose="02010609060101010101" pitchFamily="49" charset="-122"/>
                <a:cs typeface="Times New Roman" pitchFamily="18" charset="0"/>
              </a:rPr>
              <a:t>(B+C)</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chemeClr val="tx1"/>
                </a:solidFill>
                <a:latin typeface="+mn-lt"/>
                <a:ea typeface="黑体" panose="02010609060101010101" pitchFamily="49" charset="-122"/>
                <a:cs typeface="Times New Roman" pitchFamily="18" charset="0"/>
                <a:sym typeface="Symbol" pitchFamily="18" charset="2"/>
              </a:rPr>
              <a:t></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rgbClr val="33CC33"/>
                </a:solidFill>
                <a:latin typeface="+mn-lt"/>
                <a:ea typeface="黑体" panose="02010609060101010101" pitchFamily="49" charset="-122"/>
                <a:cs typeface="Times New Roman" pitchFamily="18" charset="0"/>
              </a:rPr>
              <a:t>CD</a:t>
            </a:r>
            <a:r>
              <a:rPr lang="en-US" altLang="zh-CN" sz="4400" dirty="0">
                <a:solidFill>
                  <a:schemeClr val="tx1"/>
                </a:solidFill>
                <a:latin typeface="+mn-lt"/>
                <a:ea typeface="黑体" panose="02010609060101010101" pitchFamily="49" charset="-122"/>
                <a:cs typeface="Times New Roman" pitchFamily="18" charset="0"/>
              </a:rPr>
              <a:t>)’</a:t>
            </a:r>
          </a:p>
          <a:p>
            <a:pPr algn="l" eaLnBrk="1" hangingPunct="1"/>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latin typeface="+mn-lt"/>
                <a:ea typeface="黑体" panose="02010609060101010101" pitchFamily="49" charset="-122"/>
                <a:cs typeface="Times New Roman" pitchFamily="18" charset="0"/>
              </a:rPr>
              <a:t> </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latin typeface="+mn-lt"/>
                <a:ea typeface="黑体" panose="02010609060101010101" pitchFamily="49" charset="-122"/>
                <a:cs typeface="Times New Roman" pitchFamily="18" charset="0"/>
              </a:rPr>
              <a:t>A</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latin typeface="+mn-lt"/>
                <a:ea typeface="黑体" panose="02010609060101010101" pitchFamily="49" charset="-122"/>
                <a:cs typeface="Times New Roman" pitchFamily="18" charset="0"/>
              </a:rPr>
              <a:t>+</a:t>
            </a:r>
            <a:r>
              <a:rPr lang="en-US" altLang="zh-CN" sz="4400" dirty="0">
                <a:solidFill>
                  <a:srgbClr val="FF00FF"/>
                </a:solidFill>
                <a:latin typeface="+mn-lt"/>
                <a:ea typeface="黑体" panose="02010609060101010101" pitchFamily="49" charset="-122"/>
                <a:cs typeface="Times New Roman" pitchFamily="18" charset="0"/>
              </a:rPr>
              <a:t>(B+C)</a:t>
            </a:r>
            <a:r>
              <a:rPr lang="en-US" altLang="zh-CN" sz="4400" dirty="0">
                <a:solidFill>
                  <a:schemeClr val="tx1"/>
                </a:solidFill>
                <a:latin typeface="+mn-lt"/>
                <a:ea typeface="黑体" panose="02010609060101010101" pitchFamily="49" charset="-122"/>
                <a:cs typeface="Times New Roman" pitchFamily="18" charset="0"/>
              </a:rPr>
              <a:t>’] </a:t>
            </a:r>
            <a:r>
              <a:rPr lang="en-US" altLang="zh-CN" sz="4400" dirty="0">
                <a:solidFill>
                  <a:schemeClr val="tx1"/>
                </a:solidFill>
                <a:latin typeface="+mn-lt"/>
                <a:ea typeface="黑体" panose="02010609060101010101" pitchFamily="49" charset="-122"/>
                <a:cs typeface="Times New Roman" pitchFamily="18" charset="0"/>
                <a:sym typeface="Symbol" pitchFamily="18" charset="2"/>
              </a:rPr>
              <a:t></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rgbClr val="33CC33"/>
                </a:solidFill>
                <a:latin typeface="+mn-lt"/>
                <a:ea typeface="黑体" panose="02010609060101010101" pitchFamily="49" charset="-122"/>
                <a:cs typeface="Times New Roman" pitchFamily="18" charset="0"/>
              </a:rPr>
              <a:t>C</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rgbClr val="33CC33"/>
                </a:solidFill>
                <a:latin typeface="+mn-lt"/>
                <a:ea typeface="黑体" panose="02010609060101010101" pitchFamily="49" charset="-122"/>
                <a:cs typeface="Times New Roman" pitchFamily="18" charset="0"/>
              </a:rPr>
              <a:t>D</a:t>
            </a:r>
            <a:r>
              <a:rPr lang="en-US" altLang="zh-CN" sz="4400" dirty="0">
                <a:solidFill>
                  <a:schemeClr val="tx1"/>
                </a:solidFill>
                <a:latin typeface="+mn-lt"/>
                <a:ea typeface="黑体" panose="02010609060101010101" pitchFamily="49" charset="-122"/>
                <a:cs typeface="Times New Roman" pitchFamily="18" charset="0"/>
              </a:rPr>
              <a:t>’)</a:t>
            </a:r>
          </a:p>
          <a:p>
            <a:pPr algn="l" eaLnBrk="1" hangingPunct="1"/>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latin typeface="+mn-lt"/>
                <a:ea typeface="黑体" panose="02010609060101010101" pitchFamily="49" charset="-122"/>
                <a:cs typeface="Times New Roman" pitchFamily="18" charset="0"/>
              </a:rPr>
              <a:t> </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latin typeface="+mn-lt"/>
                <a:ea typeface="黑体" panose="02010609060101010101" pitchFamily="49" charset="-122"/>
                <a:cs typeface="Times New Roman" pitchFamily="18" charset="0"/>
              </a:rPr>
              <a:t>A</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latin typeface="+mn-lt"/>
                <a:ea typeface="黑体" panose="02010609060101010101" pitchFamily="49" charset="-122"/>
                <a:cs typeface="Times New Roman" pitchFamily="18" charset="0"/>
              </a:rPr>
              <a:t>+</a:t>
            </a:r>
            <a:r>
              <a:rPr lang="en-US" altLang="zh-CN" sz="4400" dirty="0">
                <a:solidFill>
                  <a:srgbClr val="FF00FF"/>
                </a:solidFill>
                <a:latin typeface="+mn-lt"/>
                <a:ea typeface="黑体" panose="02010609060101010101" pitchFamily="49" charset="-122"/>
                <a:cs typeface="Times New Roman" pitchFamily="18" charset="0"/>
              </a:rPr>
              <a:t>B</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rgbClr val="FF00FF"/>
                </a:solidFill>
                <a:latin typeface="+mn-lt"/>
                <a:ea typeface="黑体" panose="02010609060101010101" pitchFamily="49" charset="-122"/>
                <a:cs typeface="Times New Roman" pitchFamily="18" charset="0"/>
              </a:rPr>
              <a:t>C</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chemeClr val="tx1"/>
                </a:solidFill>
                <a:latin typeface="+mn-lt"/>
                <a:ea typeface="黑体" panose="02010609060101010101" pitchFamily="49" charset="-122"/>
                <a:cs typeface="Times New Roman" pitchFamily="18" charset="0"/>
                <a:sym typeface="Symbol" pitchFamily="18" charset="2"/>
              </a:rPr>
              <a:t></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rgbClr val="33CC33"/>
                </a:solidFill>
                <a:latin typeface="+mn-lt"/>
                <a:ea typeface="黑体" panose="02010609060101010101" pitchFamily="49" charset="-122"/>
                <a:cs typeface="Times New Roman" pitchFamily="18" charset="0"/>
              </a:rPr>
              <a:t>C</a:t>
            </a:r>
            <a:r>
              <a:rPr lang="en-US" altLang="zh-CN" sz="4400" dirty="0">
                <a:solidFill>
                  <a:schemeClr val="tx1"/>
                </a:solidFill>
                <a:latin typeface="+mn-lt"/>
                <a:ea typeface="黑体" panose="02010609060101010101" pitchFamily="49" charset="-122"/>
                <a:cs typeface="Times New Roman" pitchFamily="18" charset="0"/>
              </a:rPr>
              <a:t>’+</a:t>
            </a:r>
            <a:r>
              <a:rPr lang="en-US" altLang="zh-CN" sz="4400" dirty="0">
                <a:solidFill>
                  <a:srgbClr val="33CC33"/>
                </a:solidFill>
                <a:latin typeface="+mn-lt"/>
                <a:ea typeface="黑体" panose="02010609060101010101" pitchFamily="49" charset="-122"/>
                <a:cs typeface="Times New Roman" pitchFamily="18" charset="0"/>
              </a:rPr>
              <a:t>D</a:t>
            </a:r>
            <a:r>
              <a:rPr lang="en-US" altLang="zh-CN" sz="4400" dirty="0">
                <a:solidFill>
                  <a:schemeClr val="tx1"/>
                </a:solidFill>
                <a:latin typeface="+mn-lt"/>
                <a:ea typeface="黑体" panose="02010609060101010101" pitchFamily="49" charset="-122"/>
                <a:cs typeface="Times New Roman" pitchFamily="18" charset="0"/>
              </a:rPr>
              <a:t>’)</a:t>
            </a:r>
          </a:p>
        </p:txBody>
      </p:sp>
      <p:sp>
        <p:nvSpPr>
          <p:cNvPr id="2" name="矩形 1">
            <a:extLst>
              <a:ext uri="{FF2B5EF4-FFF2-40B4-BE49-F238E27FC236}">
                <a16:creationId xmlns:a16="http://schemas.microsoft.com/office/drawing/2014/main" id="{1498D32E-0C5E-CE4C-8B7F-0564B78B650C}"/>
              </a:ext>
            </a:extLst>
          </p:cNvPr>
          <p:cNvSpPr/>
          <p:nvPr/>
        </p:nvSpPr>
        <p:spPr>
          <a:xfrm>
            <a:off x="5645876" y="1696573"/>
            <a:ext cx="3024336" cy="1200329"/>
          </a:xfrm>
          <a:prstGeom prst="rect">
            <a:avLst/>
          </a:prstGeom>
        </p:spPr>
        <p:txBody>
          <a:bodyPr wrap="square">
            <a:spAutoFit/>
          </a:bodyPr>
          <a:lstStyle/>
          <a:p>
            <a:pPr marL="800100" lvl="1" indent="-342900" eaLnBrk="1" hangingPunct="1">
              <a:buFont typeface="Arial" panose="020B0604020202020204" pitchFamily="34" charset="0"/>
              <a:buChar char="•"/>
            </a:pPr>
            <a:r>
              <a:rPr lang="zh-CN" altLang="en-US" sz="2400" b="1" dirty="0">
                <a:solidFill>
                  <a:srgbClr val="00B050"/>
                </a:solidFill>
                <a:latin typeface="SimHei" panose="02010609060101010101" pitchFamily="49" charset="-122"/>
                <a:ea typeface="SimHei" panose="02010609060101010101" pitchFamily="49" charset="-122"/>
              </a:rPr>
              <a:t>与和或互换</a:t>
            </a:r>
            <a:endParaRPr lang="en-US" altLang="zh-CN" sz="2400" b="1" dirty="0">
              <a:solidFill>
                <a:srgbClr val="00B050"/>
              </a:solidFill>
              <a:latin typeface="SimHei" panose="02010609060101010101" pitchFamily="49" charset="-122"/>
              <a:ea typeface="SimHei" panose="02010609060101010101" pitchFamily="49" charset="-122"/>
            </a:endParaRPr>
          </a:p>
          <a:p>
            <a:pPr marL="800100" lvl="1" indent="-342900" eaLnBrk="1" hangingPunct="1">
              <a:buFont typeface="Arial" panose="020B0604020202020204" pitchFamily="34" charset="0"/>
              <a:buChar char="•"/>
            </a:pPr>
            <a:r>
              <a:rPr lang="zh-CN" altLang="en-US" sz="2400" b="1" dirty="0">
                <a:solidFill>
                  <a:srgbClr val="00B050"/>
                </a:solidFill>
                <a:latin typeface="SimHei" panose="02010609060101010101" pitchFamily="49" charset="-122"/>
                <a:ea typeface="SimHei" panose="02010609060101010101" pitchFamily="49" charset="-122"/>
              </a:rPr>
              <a:t>逻辑</a:t>
            </a:r>
            <a:r>
              <a:rPr lang="en-US" altLang="zh-CN" sz="2400" b="1" dirty="0">
                <a:solidFill>
                  <a:srgbClr val="00B050"/>
                </a:solidFill>
                <a:latin typeface="SimHei" panose="02010609060101010101" pitchFamily="49" charset="-122"/>
                <a:ea typeface="SimHei" panose="02010609060101010101" pitchFamily="49" charset="-122"/>
              </a:rPr>
              <a:t>0</a:t>
            </a:r>
            <a:r>
              <a:rPr lang="zh-CN" altLang="en-US" sz="2400" b="1" dirty="0">
                <a:solidFill>
                  <a:srgbClr val="00B050"/>
                </a:solidFill>
                <a:latin typeface="SimHei" panose="02010609060101010101" pitchFamily="49" charset="-122"/>
                <a:ea typeface="SimHei" panose="02010609060101010101" pitchFamily="49" charset="-122"/>
              </a:rPr>
              <a:t>和</a:t>
            </a:r>
            <a:r>
              <a:rPr lang="en-US" altLang="zh-CN" sz="2400" b="1" dirty="0">
                <a:solidFill>
                  <a:srgbClr val="00B050"/>
                </a:solidFill>
                <a:latin typeface="SimHei" panose="02010609060101010101" pitchFamily="49" charset="-122"/>
                <a:ea typeface="SimHei" panose="02010609060101010101" pitchFamily="49" charset="-122"/>
              </a:rPr>
              <a:t>1</a:t>
            </a:r>
            <a:r>
              <a:rPr lang="zh-CN" altLang="en-US" sz="2400" b="1" dirty="0">
                <a:solidFill>
                  <a:srgbClr val="00B050"/>
                </a:solidFill>
                <a:latin typeface="SimHei" panose="02010609060101010101" pitchFamily="49" charset="-122"/>
                <a:ea typeface="SimHei" panose="02010609060101010101" pitchFamily="49" charset="-122"/>
              </a:rPr>
              <a:t>互换</a:t>
            </a:r>
            <a:endParaRPr lang="en-US" altLang="zh-CN" sz="2400" b="1" dirty="0">
              <a:solidFill>
                <a:srgbClr val="00B050"/>
              </a:solidFill>
              <a:latin typeface="SimHei" panose="02010609060101010101" pitchFamily="49" charset="-122"/>
              <a:ea typeface="SimHei" panose="02010609060101010101" pitchFamily="49" charset="-122"/>
            </a:endParaRPr>
          </a:p>
          <a:p>
            <a:pPr marL="800100" lvl="1" indent="-342900" eaLnBrk="1" hangingPunct="1">
              <a:buFont typeface="Arial" panose="020B0604020202020204" pitchFamily="34" charset="0"/>
              <a:buChar char="•"/>
            </a:pPr>
            <a:r>
              <a:rPr lang="zh-CN" altLang="en-US" sz="2400" b="1" dirty="0">
                <a:solidFill>
                  <a:srgbClr val="FF3300"/>
                </a:solidFill>
                <a:latin typeface="SimHei" panose="02010609060101010101" pitchFamily="49" charset="-122"/>
                <a:ea typeface="SimHei" panose="02010609060101010101" pitchFamily="49" charset="-122"/>
              </a:rPr>
              <a:t>布尔变量求反</a:t>
            </a:r>
            <a:endParaRPr lang="en-US" altLang="zh-CN" sz="2400" b="1" dirty="0">
              <a:solidFill>
                <a:srgbClr val="FF3300"/>
              </a:solidFill>
              <a:latin typeface="SimHei" panose="02010609060101010101" pitchFamily="49" charset="-122"/>
              <a:ea typeface="SimHei" panose="02010609060101010101" pitchFamily="49" charset="-122"/>
            </a:endParaRPr>
          </a:p>
        </p:txBody>
      </p:sp>
      <p:sp>
        <p:nvSpPr>
          <p:cNvPr id="5" name="标题 4">
            <a:extLst>
              <a:ext uri="{FF2B5EF4-FFF2-40B4-BE49-F238E27FC236}">
                <a16:creationId xmlns:a16="http://schemas.microsoft.com/office/drawing/2014/main" id="{FEF103B2-FABC-E1F9-9C59-B6F9A33C4EFB}"/>
              </a:ext>
            </a:extLst>
          </p:cNvPr>
          <p:cNvSpPr>
            <a:spLocks noGrp="1"/>
          </p:cNvSpPr>
          <p:nvPr>
            <p:ph type="title"/>
          </p:nvPr>
        </p:nvSpPr>
        <p:spPr/>
        <p:txBody>
          <a:bodyPr/>
          <a:lstStyle/>
          <a:p>
            <a:r>
              <a:rPr lang="zh-CN" altLang="en-US" b="1" dirty="0"/>
              <a:t>求反</a:t>
            </a:r>
            <a:endParaRPr lang="zh-CN" altLang="en-US" dirty="0"/>
          </a:p>
        </p:txBody>
      </p:sp>
    </p:spTree>
    <p:extLst>
      <p:ext uri="{BB962C8B-B14F-4D97-AF65-F5344CB8AC3E}">
        <p14:creationId xmlns:p14="http://schemas.microsoft.com/office/powerpoint/2010/main" val="1773471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BB53BEC-54A1-9C1E-9908-441C9BDBFF7C}"/>
              </a:ext>
            </a:extLst>
          </p:cNvPr>
          <p:cNvSpPr>
            <a:spLocks noGrp="1"/>
          </p:cNvSpPr>
          <p:nvPr>
            <p:ph type="sldNum" sz="quarter" idx="12"/>
          </p:nvPr>
        </p:nvSpPr>
        <p:spPr/>
        <p:txBody>
          <a:bodyPr/>
          <a:lstStyle/>
          <a:p>
            <a:fld id="{14659731-6BD7-46E7-8D3C-2F3AC07E20B1}" type="slidenum">
              <a:rPr lang="en-US" altLang="zh-CN" smtClean="0"/>
              <a:pPr/>
              <a:t>47</a:t>
            </a:fld>
            <a:endParaRPr lang="en-US" altLang="zh-CN" dirty="0"/>
          </a:p>
        </p:txBody>
      </p:sp>
      <p:graphicFrame>
        <p:nvGraphicFramePr>
          <p:cNvPr id="38" name="Object 4">
            <a:extLst>
              <a:ext uri="{FF2B5EF4-FFF2-40B4-BE49-F238E27FC236}">
                <a16:creationId xmlns:a16="http://schemas.microsoft.com/office/drawing/2014/main" id="{60338844-6498-0C51-9C69-F4E88986D202}"/>
              </a:ext>
            </a:extLst>
          </p:cNvPr>
          <p:cNvGraphicFramePr>
            <a:graphicFrameLocks noChangeAspect="1"/>
          </p:cNvGraphicFramePr>
          <p:nvPr>
            <p:extLst>
              <p:ext uri="{D42A27DB-BD31-4B8C-83A1-F6EECF244321}">
                <p14:modId xmlns:p14="http://schemas.microsoft.com/office/powerpoint/2010/main" val="1546519198"/>
              </p:ext>
            </p:extLst>
          </p:nvPr>
        </p:nvGraphicFramePr>
        <p:xfrm>
          <a:off x="899592" y="1881294"/>
          <a:ext cx="2757500" cy="401522"/>
        </p:xfrm>
        <a:graphic>
          <a:graphicData uri="http://schemas.openxmlformats.org/presentationml/2006/ole">
            <mc:AlternateContent xmlns:mc="http://schemas.openxmlformats.org/markup-compatibility/2006">
              <mc:Choice xmlns:v="urn:schemas-microsoft-com:vml" Requires="v">
                <p:oleObj name="Visio" r:id="rId3" imgW="2000572" imgH="247924" progId="Visio.Drawing.11">
                  <p:embed/>
                </p:oleObj>
              </mc:Choice>
              <mc:Fallback>
                <p:oleObj name="Visio" r:id="rId3" imgW="2000572" imgH="247924" progId="Visio.Drawing.11">
                  <p:embed/>
                  <p:pic>
                    <p:nvPicPr>
                      <p:cNvPr id="6072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881294"/>
                        <a:ext cx="2757500" cy="401522"/>
                      </a:xfrm>
                      <a:prstGeom prst="rect">
                        <a:avLst/>
                      </a:prstGeom>
                      <a:noFill/>
                      <a:ln>
                        <a:noFill/>
                      </a:ln>
                      <a:effectLst/>
                    </p:spPr>
                  </p:pic>
                </p:oleObj>
              </mc:Fallback>
            </mc:AlternateContent>
          </a:graphicData>
        </a:graphic>
      </p:graphicFrame>
      <p:graphicFrame>
        <p:nvGraphicFramePr>
          <p:cNvPr id="39" name="Object 5">
            <a:extLst>
              <a:ext uri="{FF2B5EF4-FFF2-40B4-BE49-F238E27FC236}">
                <a16:creationId xmlns:a16="http://schemas.microsoft.com/office/drawing/2014/main" id="{1D50D91D-95AE-6001-17A9-4D662970F400}"/>
              </a:ext>
            </a:extLst>
          </p:cNvPr>
          <p:cNvGraphicFramePr>
            <a:graphicFrameLocks noChangeAspect="1"/>
          </p:cNvGraphicFramePr>
          <p:nvPr>
            <p:extLst>
              <p:ext uri="{D42A27DB-BD31-4B8C-83A1-F6EECF244321}">
                <p14:modId xmlns:p14="http://schemas.microsoft.com/office/powerpoint/2010/main" val="1965687400"/>
              </p:ext>
            </p:extLst>
          </p:nvPr>
        </p:nvGraphicFramePr>
        <p:xfrm>
          <a:off x="899592" y="2645173"/>
          <a:ext cx="2757500" cy="665119"/>
        </p:xfrm>
        <a:graphic>
          <a:graphicData uri="http://schemas.openxmlformats.org/presentationml/2006/ole">
            <mc:AlternateContent xmlns:mc="http://schemas.openxmlformats.org/markup-compatibility/2006">
              <mc:Choice xmlns:v="urn:schemas-microsoft-com:vml" Requires="v">
                <p:oleObj name="Visio" r:id="rId5" imgW="2000572" imgH="482155" progId="Visio.Drawing.11">
                  <p:embed/>
                </p:oleObj>
              </mc:Choice>
              <mc:Fallback>
                <p:oleObj name="Visio" r:id="rId5" imgW="2000572" imgH="482155" progId="Visio.Drawing.11">
                  <p:embed/>
                  <p:pic>
                    <p:nvPicPr>
                      <p:cNvPr id="60723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2645173"/>
                        <a:ext cx="2757500" cy="665119"/>
                      </a:xfrm>
                      <a:prstGeom prst="rect">
                        <a:avLst/>
                      </a:prstGeom>
                      <a:noFill/>
                      <a:ln>
                        <a:noFill/>
                      </a:ln>
                      <a:effectLst/>
                    </p:spPr>
                  </p:pic>
                </p:oleObj>
              </mc:Fallback>
            </mc:AlternateContent>
          </a:graphicData>
        </a:graphic>
      </p:graphicFrame>
      <p:graphicFrame>
        <p:nvGraphicFramePr>
          <p:cNvPr id="40" name="Object 6">
            <a:extLst>
              <a:ext uri="{FF2B5EF4-FFF2-40B4-BE49-F238E27FC236}">
                <a16:creationId xmlns:a16="http://schemas.microsoft.com/office/drawing/2014/main" id="{D1A053F9-42AA-F7EF-F439-7280C291A955}"/>
              </a:ext>
            </a:extLst>
          </p:cNvPr>
          <p:cNvGraphicFramePr>
            <a:graphicFrameLocks noChangeAspect="1"/>
          </p:cNvGraphicFramePr>
          <p:nvPr>
            <p:extLst>
              <p:ext uri="{D42A27DB-BD31-4B8C-83A1-F6EECF244321}">
                <p14:modId xmlns:p14="http://schemas.microsoft.com/office/powerpoint/2010/main" val="1118662458"/>
              </p:ext>
            </p:extLst>
          </p:nvPr>
        </p:nvGraphicFramePr>
        <p:xfrm>
          <a:off x="1313638" y="1293930"/>
          <a:ext cx="2044824" cy="511206"/>
        </p:xfrm>
        <a:graphic>
          <a:graphicData uri="http://schemas.openxmlformats.org/presentationml/2006/ole">
            <mc:AlternateContent xmlns:mc="http://schemas.openxmlformats.org/markup-compatibility/2006">
              <mc:Choice xmlns:v="urn:schemas-microsoft-com:vml" Requires="v">
                <p:oleObj name="Equation" r:id="rId7" imgW="711000" imgH="177480" progId="Equation.DSMT4">
                  <p:embed/>
                </p:oleObj>
              </mc:Choice>
              <mc:Fallback>
                <p:oleObj name="Equation" r:id="rId7" imgW="711000" imgH="177480" progId="Equation.DSMT4">
                  <p:embed/>
                  <p:pic>
                    <p:nvPicPr>
                      <p:cNvPr id="5124"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13638" y="1293930"/>
                        <a:ext cx="2044824" cy="511206"/>
                      </a:xfrm>
                      <a:prstGeom prst="rect">
                        <a:avLst/>
                      </a:prstGeom>
                      <a:noFill/>
                      <a:ln>
                        <a:noFill/>
                      </a:ln>
                      <a:effectLst/>
                    </p:spPr>
                  </p:pic>
                </p:oleObj>
              </mc:Fallback>
            </mc:AlternateContent>
          </a:graphicData>
        </a:graphic>
      </p:graphicFrame>
      <p:sp>
        <p:nvSpPr>
          <p:cNvPr id="41" name="Line 7">
            <a:extLst>
              <a:ext uri="{FF2B5EF4-FFF2-40B4-BE49-F238E27FC236}">
                <a16:creationId xmlns:a16="http://schemas.microsoft.com/office/drawing/2014/main" id="{031F1D86-00DE-403C-892E-E7EF4F5ED60E}"/>
              </a:ext>
            </a:extLst>
          </p:cNvPr>
          <p:cNvSpPr>
            <a:spLocks noChangeShapeType="1"/>
          </p:cNvSpPr>
          <p:nvPr/>
        </p:nvSpPr>
        <p:spPr bwMode="auto">
          <a:xfrm>
            <a:off x="2336050" y="2282816"/>
            <a:ext cx="0" cy="398589"/>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a typeface="+mn-ea"/>
            </a:endParaRPr>
          </a:p>
        </p:txBody>
      </p:sp>
      <p:sp>
        <p:nvSpPr>
          <p:cNvPr id="42" name="TextBox 9">
            <a:extLst>
              <a:ext uri="{FF2B5EF4-FFF2-40B4-BE49-F238E27FC236}">
                <a16:creationId xmlns:a16="http://schemas.microsoft.com/office/drawing/2014/main" id="{543883AA-8979-591F-A5C8-B19DBF008A2D}"/>
              </a:ext>
            </a:extLst>
          </p:cNvPr>
          <p:cNvSpPr txBox="1">
            <a:spLocks noChangeArrowheads="1"/>
          </p:cNvSpPr>
          <p:nvPr/>
        </p:nvSpPr>
        <p:spPr bwMode="auto">
          <a:xfrm>
            <a:off x="467544" y="3346296"/>
            <a:ext cx="38879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ctr" eaLnBrk="1" hangingPunct="1"/>
            <a:r>
              <a:rPr lang="zh-CN" altLang="en-US" sz="2000" dirty="0">
                <a:solidFill>
                  <a:schemeClr val="tx1"/>
                </a:solidFill>
                <a:latin typeface="+mn-ea"/>
                <a:ea typeface="+mn-ea"/>
              </a:rPr>
              <a:t>与非门等价于对输入取反的或门</a:t>
            </a:r>
          </a:p>
        </p:txBody>
      </p:sp>
      <p:graphicFrame>
        <p:nvGraphicFramePr>
          <p:cNvPr id="43" name="Object 6">
            <a:extLst>
              <a:ext uri="{FF2B5EF4-FFF2-40B4-BE49-F238E27FC236}">
                <a16:creationId xmlns:a16="http://schemas.microsoft.com/office/drawing/2014/main" id="{27009EE3-9218-9845-1596-8094161A0462}"/>
              </a:ext>
            </a:extLst>
          </p:cNvPr>
          <p:cNvGraphicFramePr>
            <a:graphicFrameLocks noChangeAspect="1"/>
          </p:cNvGraphicFramePr>
          <p:nvPr>
            <p:extLst>
              <p:ext uri="{D42A27DB-BD31-4B8C-83A1-F6EECF244321}">
                <p14:modId xmlns:p14="http://schemas.microsoft.com/office/powerpoint/2010/main" val="3177239206"/>
              </p:ext>
            </p:extLst>
          </p:nvPr>
        </p:nvGraphicFramePr>
        <p:xfrm>
          <a:off x="5862384" y="1238531"/>
          <a:ext cx="2116947" cy="566605"/>
        </p:xfrm>
        <a:graphic>
          <a:graphicData uri="http://schemas.openxmlformats.org/presentationml/2006/ole">
            <mc:AlternateContent xmlns:mc="http://schemas.openxmlformats.org/markup-compatibility/2006">
              <mc:Choice xmlns:v="urn:schemas-microsoft-com:vml" Requires="v">
                <p:oleObj name="Equation" r:id="rId9" imgW="711000" imgH="190440" progId="Equation.DSMT4">
                  <p:embed/>
                </p:oleObj>
              </mc:Choice>
              <mc:Fallback>
                <p:oleObj name="Equation" r:id="rId9" imgW="711000" imgH="190440" progId="Equation.DSMT4">
                  <p:embed/>
                  <p:pic>
                    <p:nvPicPr>
                      <p:cNvPr id="9" name="Object 6">
                        <a:extLst>
                          <a:ext uri="{FF2B5EF4-FFF2-40B4-BE49-F238E27FC236}">
                            <a16:creationId xmlns:a16="http://schemas.microsoft.com/office/drawing/2014/main" id="{DC4DD598-FFB7-1944-825F-E32AF99813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2384" y="1238531"/>
                        <a:ext cx="2116947" cy="566605"/>
                      </a:xfrm>
                      <a:prstGeom prst="rect">
                        <a:avLst/>
                      </a:prstGeom>
                      <a:noFill/>
                      <a:ln>
                        <a:noFill/>
                      </a:ln>
                      <a:effectLst/>
                    </p:spPr>
                  </p:pic>
                </p:oleObj>
              </mc:Fallback>
            </mc:AlternateContent>
          </a:graphicData>
        </a:graphic>
      </p:graphicFrame>
      <p:graphicFrame>
        <p:nvGraphicFramePr>
          <p:cNvPr id="44" name="Object 5">
            <a:extLst>
              <a:ext uri="{FF2B5EF4-FFF2-40B4-BE49-F238E27FC236}">
                <a16:creationId xmlns:a16="http://schemas.microsoft.com/office/drawing/2014/main" id="{23FDA273-1FFF-7C6F-7DD2-4E61BC935571}"/>
              </a:ext>
            </a:extLst>
          </p:cNvPr>
          <p:cNvGraphicFramePr>
            <a:graphicFrameLocks noChangeAspect="1"/>
          </p:cNvGraphicFramePr>
          <p:nvPr>
            <p:extLst>
              <p:ext uri="{D42A27DB-BD31-4B8C-83A1-F6EECF244321}">
                <p14:modId xmlns:p14="http://schemas.microsoft.com/office/powerpoint/2010/main" val="2339707499"/>
              </p:ext>
            </p:extLst>
          </p:nvPr>
        </p:nvGraphicFramePr>
        <p:xfrm>
          <a:off x="5508049" y="2092764"/>
          <a:ext cx="1160660" cy="1110353"/>
        </p:xfrm>
        <a:graphic>
          <a:graphicData uri="http://schemas.openxmlformats.org/presentationml/2006/ole">
            <mc:AlternateContent xmlns:mc="http://schemas.openxmlformats.org/markup-compatibility/2006">
              <mc:Choice xmlns:v="urn:schemas-microsoft-com:vml" Requires="v">
                <p:oleObj name="Visio" r:id="rId11" imgW="545592" imgH="522427" progId="Visio.Drawing.11">
                  <p:embed/>
                </p:oleObj>
              </mc:Choice>
              <mc:Fallback>
                <p:oleObj name="Visio" r:id="rId11" imgW="545592" imgH="522427" progId="Visio.Drawing.11">
                  <p:embed/>
                  <p:pic>
                    <p:nvPicPr>
                      <p:cNvPr id="10" name="Object 5">
                        <a:extLst>
                          <a:ext uri="{FF2B5EF4-FFF2-40B4-BE49-F238E27FC236}">
                            <a16:creationId xmlns:a16="http://schemas.microsoft.com/office/drawing/2014/main" id="{3290DBEA-A30E-3A4B-B563-954CB3DBCDA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08049" y="2092764"/>
                        <a:ext cx="1160660" cy="1110353"/>
                      </a:xfrm>
                      <a:prstGeom prst="rect">
                        <a:avLst/>
                      </a:prstGeom>
                      <a:noFill/>
                      <a:ln>
                        <a:noFill/>
                      </a:ln>
                      <a:effectLst/>
                    </p:spPr>
                  </p:pic>
                </p:oleObj>
              </mc:Fallback>
            </mc:AlternateContent>
          </a:graphicData>
        </a:graphic>
      </p:graphicFrame>
      <p:graphicFrame>
        <p:nvGraphicFramePr>
          <p:cNvPr id="45" name="Object 7">
            <a:extLst>
              <a:ext uri="{FF2B5EF4-FFF2-40B4-BE49-F238E27FC236}">
                <a16:creationId xmlns:a16="http://schemas.microsoft.com/office/drawing/2014/main" id="{C22623CB-0695-7A1A-B1AB-BCF63393FBC7}"/>
              </a:ext>
            </a:extLst>
          </p:cNvPr>
          <p:cNvGraphicFramePr>
            <a:graphicFrameLocks noChangeAspect="1"/>
          </p:cNvGraphicFramePr>
          <p:nvPr>
            <p:extLst>
              <p:ext uri="{D42A27DB-BD31-4B8C-83A1-F6EECF244321}">
                <p14:modId xmlns:p14="http://schemas.microsoft.com/office/powerpoint/2010/main" val="1506286502"/>
              </p:ext>
            </p:extLst>
          </p:nvPr>
        </p:nvGraphicFramePr>
        <p:xfrm>
          <a:off x="7323072" y="1999496"/>
          <a:ext cx="1196594" cy="1260376"/>
        </p:xfrm>
        <a:graphic>
          <a:graphicData uri="http://schemas.openxmlformats.org/presentationml/2006/ole">
            <mc:AlternateContent xmlns:mc="http://schemas.openxmlformats.org/markup-compatibility/2006">
              <mc:Choice xmlns:v="urn:schemas-microsoft-com:vml" Requires="v">
                <p:oleObj name="Visio" r:id="rId13" imgW="510845" imgH="522427" progId="Visio.Drawing.11">
                  <p:embed/>
                </p:oleObj>
              </mc:Choice>
              <mc:Fallback>
                <p:oleObj name="Visio" r:id="rId13" imgW="510845" imgH="522427" progId="Visio.Drawing.11">
                  <p:embed/>
                  <p:pic>
                    <p:nvPicPr>
                      <p:cNvPr id="11" name="Object 7">
                        <a:extLst>
                          <a:ext uri="{FF2B5EF4-FFF2-40B4-BE49-F238E27FC236}">
                            <a16:creationId xmlns:a16="http://schemas.microsoft.com/office/drawing/2014/main" id="{E0DCD0D5-C9B4-0D41-8BEE-84AE4D71C19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23072" y="1999496"/>
                        <a:ext cx="1196594" cy="1260376"/>
                      </a:xfrm>
                      <a:prstGeom prst="rect">
                        <a:avLst/>
                      </a:prstGeom>
                      <a:noFill/>
                      <a:ln>
                        <a:noFill/>
                      </a:ln>
                      <a:effectLst/>
                    </p:spPr>
                  </p:pic>
                </p:oleObj>
              </mc:Fallback>
            </mc:AlternateContent>
          </a:graphicData>
        </a:graphic>
      </p:graphicFrame>
      <p:sp>
        <p:nvSpPr>
          <p:cNvPr id="46" name="Line 8">
            <a:extLst>
              <a:ext uri="{FF2B5EF4-FFF2-40B4-BE49-F238E27FC236}">
                <a16:creationId xmlns:a16="http://schemas.microsoft.com/office/drawing/2014/main" id="{61A6FE71-1A9C-3770-01CB-60DFC2DE365A}"/>
              </a:ext>
            </a:extLst>
          </p:cNvPr>
          <p:cNvSpPr>
            <a:spLocks noChangeShapeType="1"/>
          </p:cNvSpPr>
          <p:nvPr/>
        </p:nvSpPr>
        <p:spPr bwMode="auto">
          <a:xfrm>
            <a:off x="6668709" y="2634335"/>
            <a:ext cx="421458"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a typeface="+mn-ea"/>
            </a:endParaRPr>
          </a:p>
        </p:txBody>
      </p:sp>
      <p:sp>
        <p:nvSpPr>
          <p:cNvPr id="47" name="TextBox 9">
            <a:extLst>
              <a:ext uri="{FF2B5EF4-FFF2-40B4-BE49-F238E27FC236}">
                <a16:creationId xmlns:a16="http://schemas.microsoft.com/office/drawing/2014/main" id="{405E8502-F5C5-D0B4-8CF5-BB9EF0D5C670}"/>
              </a:ext>
            </a:extLst>
          </p:cNvPr>
          <p:cNvSpPr txBox="1">
            <a:spLocks noChangeArrowheads="1"/>
          </p:cNvSpPr>
          <p:nvPr/>
        </p:nvSpPr>
        <p:spPr bwMode="auto">
          <a:xfrm>
            <a:off x="4572000" y="3377483"/>
            <a:ext cx="42612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ctr" eaLnBrk="1" hangingPunct="1"/>
            <a:r>
              <a:rPr lang="zh-CN" altLang="en-US" sz="2000" dirty="0">
                <a:solidFill>
                  <a:schemeClr val="tx1"/>
                </a:solidFill>
                <a:latin typeface="+mn-ea"/>
                <a:ea typeface="+mn-ea"/>
              </a:rPr>
              <a:t>或门等价于对输入取反的与非门</a:t>
            </a:r>
          </a:p>
        </p:txBody>
      </p:sp>
      <p:graphicFrame>
        <p:nvGraphicFramePr>
          <p:cNvPr id="48" name="Object 4">
            <a:extLst>
              <a:ext uri="{FF2B5EF4-FFF2-40B4-BE49-F238E27FC236}">
                <a16:creationId xmlns:a16="http://schemas.microsoft.com/office/drawing/2014/main" id="{26A67322-39C3-067D-2DFA-432AEAC23B85}"/>
              </a:ext>
            </a:extLst>
          </p:cNvPr>
          <p:cNvGraphicFramePr>
            <a:graphicFrameLocks noChangeAspect="1"/>
          </p:cNvGraphicFramePr>
          <p:nvPr>
            <p:extLst>
              <p:ext uri="{D42A27DB-BD31-4B8C-83A1-F6EECF244321}">
                <p14:modId xmlns:p14="http://schemas.microsoft.com/office/powerpoint/2010/main" val="3678470549"/>
              </p:ext>
            </p:extLst>
          </p:nvPr>
        </p:nvGraphicFramePr>
        <p:xfrm>
          <a:off x="1009131" y="4498424"/>
          <a:ext cx="2865512" cy="412926"/>
        </p:xfrm>
        <a:graphic>
          <a:graphicData uri="http://schemas.openxmlformats.org/presentationml/2006/ole">
            <mc:AlternateContent xmlns:mc="http://schemas.openxmlformats.org/markup-compatibility/2006">
              <mc:Choice xmlns:v="urn:schemas-microsoft-com:vml" Requires="v">
                <p:oleObj name="Visio" r:id="rId15" imgW="2000572" imgH="247924" progId="Visio.Drawing.11">
                  <p:embed/>
                </p:oleObj>
              </mc:Choice>
              <mc:Fallback>
                <p:oleObj name="Visio" r:id="rId15" imgW="2000572" imgH="247924" progId="Visio.Drawing.11">
                  <p:embed/>
                  <p:pic>
                    <p:nvPicPr>
                      <p:cNvPr id="17" name="Object 4">
                        <a:extLst>
                          <a:ext uri="{FF2B5EF4-FFF2-40B4-BE49-F238E27FC236}">
                            <a16:creationId xmlns:a16="http://schemas.microsoft.com/office/drawing/2014/main" id="{3FD65578-9163-AB4D-9487-1216D173873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09131" y="4498424"/>
                        <a:ext cx="2865512" cy="412926"/>
                      </a:xfrm>
                      <a:prstGeom prst="rect">
                        <a:avLst/>
                      </a:prstGeom>
                      <a:noFill/>
                      <a:ln>
                        <a:noFill/>
                      </a:ln>
                      <a:effectLst/>
                    </p:spPr>
                  </p:pic>
                </p:oleObj>
              </mc:Fallback>
            </mc:AlternateContent>
          </a:graphicData>
        </a:graphic>
      </p:graphicFrame>
      <p:graphicFrame>
        <p:nvGraphicFramePr>
          <p:cNvPr id="49" name="Object 6">
            <a:extLst>
              <a:ext uri="{FF2B5EF4-FFF2-40B4-BE49-F238E27FC236}">
                <a16:creationId xmlns:a16="http://schemas.microsoft.com/office/drawing/2014/main" id="{A9B44B81-2CDD-0FAB-0391-0B26F1681D1C}"/>
              </a:ext>
            </a:extLst>
          </p:cNvPr>
          <p:cNvGraphicFramePr>
            <a:graphicFrameLocks noChangeAspect="1"/>
          </p:cNvGraphicFramePr>
          <p:nvPr>
            <p:extLst>
              <p:ext uri="{D42A27DB-BD31-4B8C-83A1-F6EECF244321}">
                <p14:modId xmlns:p14="http://schemas.microsoft.com/office/powerpoint/2010/main" val="3804845164"/>
              </p:ext>
            </p:extLst>
          </p:nvPr>
        </p:nvGraphicFramePr>
        <p:xfrm>
          <a:off x="1009131" y="5275495"/>
          <a:ext cx="2865512" cy="691532"/>
        </p:xfrm>
        <a:graphic>
          <a:graphicData uri="http://schemas.openxmlformats.org/presentationml/2006/ole">
            <mc:AlternateContent xmlns:mc="http://schemas.openxmlformats.org/markup-compatibility/2006">
              <mc:Choice xmlns:v="urn:schemas-microsoft-com:vml" Requires="v">
                <p:oleObj name="Visio" r:id="rId17" imgW="2000572" imgH="482155" progId="Visio.Drawing.11">
                  <p:embed/>
                </p:oleObj>
              </mc:Choice>
              <mc:Fallback>
                <p:oleObj name="Visio" r:id="rId17" imgW="2000572" imgH="482155" progId="Visio.Drawing.11">
                  <p:embed/>
                  <p:pic>
                    <p:nvPicPr>
                      <p:cNvPr id="18" name="Object 6">
                        <a:extLst>
                          <a:ext uri="{FF2B5EF4-FFF2-40B4-BE49-F238E27FC236}">
                            <a16:creationId xmlns:a16="http://schemas.microsoft.com/office/drawing/2014/main" id="{3B762527-2104-F646-9BD8-352C60415F1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9131" y="5275495"/>
                        <a:ext cx="2865512" cy="691532"/>
                      </a:xfrm>
                      <a:prstGeom prst="rect">
                        <a:avLst/>
                      </a:prstGeom>
                      <a:noFill/>
                      <a:ln>
                        <a:noFill/>
                      </a:ln>
                      <a:effectLst/>
                    </p:spPr>
                  </p:pic>
                </p:oleObj>
              </mc:Fallback>
            </mc:AlternateContent>
          </a:graphicData>
        </a:graphic>
      </p:graphicFrame>
      <p:sp>
        <p:nvSpPr>
          <p:cNvPr id="50" name="Line 7">
            <a:extLst>
              <a:ext uri="{FF2B5EF4-FFF2-40B4-BE49-F238E27FC236}">
                <a16:creationId xmlns:a16="http://schemas.microsoft.com/office/drawing/2014/main" id="{2FCFB389-7D74-54B2-4343-DB185E6B4841}"/>
              </a:ext>
            </a:extLst>
          </p:cNvPr>
          <p:cNvSpPr>
            <a:spLocks noChangeShapeType="1"/>
          </p:cNvSpPr>
          <p:nvPr/>
        </p:nvSpPr>
        <p:spPr bwMode="auto">
          <a:xfrm>
            <a:off x="2495893" y="4911350"/>
            <a:ext cx="0" cy="398589"/>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a typeface="+mn-ea"/>
            </a:endParaRPr>
          </a:p>
        </p:txBody>
      </p:sp>
      <p:sp>
        <p:nvSpPr>
          <p:cNvPr id="51" name="TextBox 8">
            <a:extLst>
              <a:ext uri="{FF2B5EF4-FFF2-40B4-BE49-F238E27FC236}">
                <a16:creationId xmlns:a16="http://schemas.microsoft.com/office/drawing/2014/main" id="{8054ED15-BC5C-633F-3FE5-FDDB83AF1D77}"/>
              </a:ext>
            </a:extLst>
          </p:cNvPr>
          <p:cNvSpPr txBox="1">
            <a:spLocks noChangeArrowheads="1"/>
          </p:cNvSpPr>
          <p:nvPr/>
        </p:nvSpPr>
        <p:spPr bwMode="auto">
          <a:xfrm>
            <a:off x="577180" y="5945214"/>
            <a:ext cx="38879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ctr" eaLnBrk="1" hangingPunct="1"/>
            <a:r>
              <a:rPr lang="zh-CN" altLang="en-US" sz="2000" dirty="0">
                <a:solidFill>
                  <a:schemeClr val="tx1"/>
                </a:solidFill>
                <a:latin typeface="+mn-ea"/>
                <a:ea typeface="+mn-ea"/>
              </a:rPr>
              <a:t>或非门等价于对输入取反的与门</a:t>
            </a:r>
          </a:p>
        </p:txBody>
      </p:sp>
      <p:grpSp>
        <p:nvGrpSpPr>
          <p:cNvPr id="52" name="组合 51">
            <a:extLst>
              <a:ext uri="{FF2B5EF4-FFF2-40B4-BE49-F238E27FC236}">
                <a16:creationId xmlns:a16="http://schemas.microsoft.com/office/drawing/2014/main" id="{50BE6FF0-A851-184F-58D5-6F63D2D9E984}"/>
              </a:ext>
            </a:extLst>
          </p:cNvPr>
          <p:cNvGrpSpPr/>
          <p:nvPr/>
        </p:nvGrpSpPr>
        <p:grpSpPr>
          <a:xfrm>
            <a:off x="5364646" y="4547661"/>
            <a:ext cx="3180144" cy="1366726"/>
            <a:chOff x="5391697" y="4136001"/>
            <a:chExt cx="3180144" cy="1366726"/>
          </a:xfrm>
        </p:grpSpPr>
        <p:graphicFrame>
          <p:nvGraphicFramePr>
            <p:cNvPr id="53" name="Object 4">
              <a:extLst>
                <a:ext uri="{FF2B5EF4-FFF2-40B4-BE49-F238E27FC236}">
                  <a16:creationId xmlns:a16="http://schemas.microsoft.com/office/drawing/2014/main" id="{79DEB9E4-9960-CFA3-0FA2-D73E56581C1E}"/>
                </a:ext>
              </a:extLst>
            </p:cNvPr>
            <p:cNvGraphicFramePr>
              <a:graphicFrameLocks noChangeAspect="1"/>
            </p:cNvGraphicFramePr>
            <p:nvPr>
              <p:extLst>
                <p:ext uri="{D42A27DB-BD31-4B8C-83A1-F6EECF244321}">
                  <p14:modId xmlns:p14="http://schemas.microsoft.com/office/powerpoint/2010/main" val="1338641984"/>
                </p:ext>
              </p:extLst>
            </p:nvPr>
          </p:nvGraphicFramePr>
          <p:xfrm>
            <a:off x="5391697" y="4217343"/>
            <a:ext cx="1258595" cy="1204043"/>
          </p:xfrm>
          <a:graphic>
            <a:graphicData uri="http://schemas.openxmlformats.org/presentationml/2006/ole">
              <mc:AlternateContent xmlns:mc="http://schemas.openxmlformats.org/markup-compatibility/2006">
                <mc:Choice xmlns:v="urn:schemas-microsoft-com:vml" Requires="v">
                  <p:oleObj name="Visio" r:id="rId19" imgW="545592" imgH="522427" progId="Visio.Drawing.11">
                    <p:embed/>
                  </p:oleObj>
                </mc:Choice>
                <mc:Fallback>
                  <p:oleObj name="Visio" r:id="rId19" imgW="545592" imgH="522427" progId="Visio.Drawing.11">
                    <p:embed/>
                    <p:pic>
                      <p:nvPicPr>
                        <p:cNvPr id="22" name="Object 4">
                          <a:extLst>
                            <a:ext uri="{FF2B5EF4-FFF2-40B4-BE49-F238E27FC236}">
                              <a16:creationId xmlns:a16="http://schemas.microsoft.com/office/drawing/2014/main" id="{147EBE6B-B892-3A43-B8FC-8915C570EB9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91697" y="4217343"/>
                          <a:ext cx="1258595" cy="1204043"/>
                        </a:xfrm>
                        <a:prstGeom prst="rect">
                          <a:avLst/>
                        </a:prstGeom>
                        <a:noFill/>
                        <a:ln>
                          <a:noFill/>
                        </a:ln>
                        <a:effectLst/>
                      </p:spPr>
                    </p:pic>
                  </p:oleObj>
                </mc:Fallback>
              </mc:AlternateContent>
            </a:graphicData>
          </a:graphic>
        </p:graphicFrame>
        <p:graphicFrame>
          <p:nvGraphicFramePr>
            <p:cNvPr id="54" name="Object 6">
              <a:extLst>
                <a:ext uri="{FF2B5EF4-FFF2-40B4-BE49-F238E27FC236}">
                  <a16:creationId xmlns:a16="http://schemas.microsoft.com/office/drawing/2014/main" id="{3E68178A-1733-436A-3A2F-79686CFC52DD}"/>
                </a:ext>
              </a:extLst>
            </p:cNvPr>
            <p:cNvGraphicFramePr>
              <a:graphicFrameLocks noChangeAspect="1"/>
            </p:cNvGraphicFramePr>
            <p:nvPr>
              <p:extLst>
                <p:ext uri="{D42A27DB-BD31-4B8C-83A1-F6EECF244321}">
                  <p14:modId xmlns:p14="http://schemas.microsoft.com/office/powerpoint/2010/main" val="22664997"/>
                </p:ext>
              </p:extLst>
            </p:nvPr>
          </p:nvGraphicFramePr>
          <p:xfrm>
            <a:off x="7274280" y="4136001"/>
            <a:ext cx="1297561" cy="1366726"/>
          </p:xfrm>
          <a:graphic>
            <a:graphicData uri="http://schemas.openxmlformats.org/presentationml/2006/ole">
              <mc:AlternateContent xmlns:mc="http://schemas.openxmlformats.org/markup-compatibility/2006">
                <mc:Choice xmlns:v="urn:schemas-microsoft-com:vml" Requires="v">
                  <p:oleObj name="Visio" r:id="rId21" imgW="510845" imgH="522427" progId="Visio.Drawing.11">
                    <p:embed/>
                  </p:oleObj>
                </mc:Choice>
                <mc:Fallback>
                  <p:oleObj name="Visio" r:id="rId21" imgW="510845" imgH="522427" progId="Visio.Drawing.11">
                    <p:embed/>
                    <p:pic>
                      <p:nvPicPr>
                        <p:cNvPr id="23" name="Object 6">
                          <a:extLst>
                            <a:ext uri="{FF2B5EF4-FFF2-40B4-BE49-F238E27FC236}">
                              <a16:creationId xmlns:a16="http://schemas.microsoft.com/office/drawing/2014/main" id="{87E50372-9050-2C4F-9BC9-2944050A549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274280" y="4136001"/>
                          <a:ext cx="1297561" cy="1366726"/>
                        </a:xfrm>
                        <a:prstGeom prst="rect">
                          <a:avLst/>
                        </a:prstGeom>
                        <a:noFill/>
                        <a:ln>
                          <a:noFill/>
                        </a:ln>
                        <a:effectLst/>
                      </p:spPr>
                    </p:pic>
                  </p:oleObj>
                </mc:Fallback>
              </mc:AlternateContent>
            </a:graphicData>
          </a:graphic>
        </p:graphicFrame>
        <p:sp>
          <p:nvSpPr>
            <p:cNvPr id="55" name="Line 8">
              <a:extLst>
                <a:ext uri="{FF2B5EF4-FFF2-40B4-BE49-F238E27FC236}">
                  <a16:creationId xmlns:a16="http://schemas.microsoft.com/office/drawing/2014/main" id="{2CCB5E86-D325-A921-5D26-9D3B1D80682F}"/>
                </a:ext>
              </a:extLst>
            </p:cNvPr>
            <p:cNvSpPr>
              <a:spLocks noChangeShapeType="1"/>
            </p:cNvSpPr>
            <p:nvPr/>
          </p:nvSpPr>
          <p:spPr bwMode="auto">
            <a:xfrm>
              <a:off x="6684225" y="4819364"/>
              <a:ext cx="421458"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mn-ea"/>
                <a:ea typeface="+mn-ea"/>
              </a:endParaRPr>
            </a:p>
          </p:txBody>
        </p:sp>
      </p:grpSp>
      <p:sp>
        <p:nvSpPr>
          <p:cNvPr id="56" name="TextBox 8">
            <a:extLst>
              <a:ext uri="{FF2B5EF4-FFF2-40B4-BE49-F238E27FC236}">
                <a16:creationId xmlns:a16="http://schemas.microsoft.com/office/drawing/2014/main" id="{513F289A-FE52-E563-B8BA-B6584F8CDF89}"/>
              </a:ext>
            </a:extLst>
          </p:cNvPr>
          <p:cNvSpPr txBox="1">
            <a:spLocks noChangeArrowheads="1"/>
          </p:cNvSpPr>
          <p:nvPr/>
        </p:nvSpPr>
        <p:spPr bwMode="auto">
          <a:xfrm>
            <a:off x="4553583" y="5945214"/>
            <a:ext cx="42612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ctr" eaLnBrk="1" hangingPunct="1"/>
            <a:r>
              <a:rPr lang="zh-CN" altLang="en-US" sz="2000" dirty="0">
                <a:solidFill>
                  <a:schemeClr val="tx1"/>
                </a:solidFill>
                <a:latin typeface="+mn-ea"/>
                <a:ea typeface="+mn-ea"/>
              </a:rPr>
              <a:t>与门等价于对输入取反的或非门</a:t>
            </a:r>
          </a:p>
        </p:txBody>
      </p:sp>
      <p:graphicFrame>
        <p:nvGraphicFramePr>
          <p:cNvPr id="57" name="Object 5">
            <a:extLst>
              <a:ext uri="{FF2B5EF4-FFF2-40B4-BE49-F238E27FC236}">
                <a16:creationId xmlns:a16="http://schemas.microsoft.com/office/drawing/2014/main" id="{D7589CEF-9A6F-E208-8192-E35DB428180C}"/>
              </a:ext>
            </a:extLst>
          </p:cNvPr>
          <p:cNvGraphicFramePr>
            <a:graphicFrameLocks noChangeAspect="1"/>
          </p:cNvGraphicFramePr>
          <p:nvPr>
            <p:extLst>
              <p:ext uri="{D42A27DB-BD31-4B8C-83A1-F6EECF244321}">
                <p14:modId xmlns:p14="http://schemas.microsoft.com/office/powerpoint/2010/main" val="3880267069"/>
              </p:ext>
            </p:extLst>
          </p:nvPr>
        </p:nvGraphicFramePr>
        <p:xfrm>
          <a:off x="1410352" y="3857628"/>
          <a:ext cx="2002308" cy="500787"/>
        </p:xfrm>
        <a:graphic>
          <a:graphicData uri="http://schemas.openxmlformats.org/presentationml/2006/ole">
            <mc:AlternateContent xmlns:mc="http://schemas.openxmlformats.org/markup-compatibility/2006">
              <mc:Choice xmlns:v="urn:schemas-microsoft-com:vml" Requires="v">
                <p:oleObj name="Equation" r:id="rId23" imgW="711000" imgH="177480" progId="Equation.DSMT4">
                  <p:embed/>
                </p:oleObj>
              </mc:Choice>
              <mc:Fallback>
                <p:oleObj name="Equation" r:id="rId23" imgW="711000" imgH="177480" progId="Equation.DSMT4">
                  <p:embed/>
                  <p:pic>
                    <p:nvPicPr>
                      <p:cNvPr id="24" name="Object 5">
                        <a:extLst>
                          <a:ext uri="{FF2B5EF4-FFF2-40B4-BE49-F238E27FC236}">
                            <a16:creationId xmlns:a16="http://schemas.microsoft.com/office/drawing/2014/main" id="{6145B477-3665-584B-886B-A065DD6A178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10352" y="3857628"/>
                        <a:ext cx="2002308" cy="500787"/>
                      </a:xfrm>
                      <a:prstGeom prst="rect">
                        <a:avLst/>
                      </a:prstGeom>
                      <a:noFill/>
                      <a:ln>
                        <a:noFill/>
                      </a:ln>
                      <a:effectLst/>
                    </p:spPr>
                  </p:pic>
                </p:oleObj>
              </mc:Fallback>
            </mc:AlternateContent>
          </a:graphicData>
        </a:graphic>
      </p:graphicFrame>
      <p:graphicFrame>
        <p:nvGraphicFramePr>
          <p:cNvPr id="58" name="Object 5">
            <a:extLst>
              <a:ext uri="{FF2B5EF4-FFF2-40B4-BE49-F238E27FC236}">
                <a16:creationId xmlns:a16="http://schemas.microsoft.com/office/drawing/2014/main" id="{5B41209B-2D36-CBC5-3D81-4C1E0B10A0F8}"/>
              </a:ext>
            </a:extLst>
          </p:cNvPr>
          <p:cNvGraphicFramePr>
            <a:graphicFrameLocks noChangeAspect="1"/>
          </p:cNvGraphicFramePr>
          <p:nvPr>
            <p:extLst>
              <p:ext uri="{D42A27DB-BD31-4B8C-83A1-F6EECF244321}">
                <p14:modId xmlns:p14="http://schemas.microsoft.com/office/powerpoint/2010/main" val="2184237231"/>
              </p:ext>
            </p:extLst>
          </p:nvPr>
        </p:nvGraphicFramePr>
        <p:xfrm>
          <a:off x="5606139" y="3844952"/>
          <a:ext cx="2289870" cy="612888"/>
        </p:xfrm>
        <a:graphic>
          <a:graphicData uri="http://schemas.openxmlformats.org/presentationml/2006/ole">
            <mc:AlternateContent xmlns:mc="http://schemas.openxmlformats.org/markup-compatibility/2006">
              <mc:Choice xmlns:v="urn:schemas-microsoft-com:vml" Requires="v">
                <p:oleObj name="Equation" r:id="rId25" imgW="711000" imgH="190440" progId="Equation.DSMT4">
                  <p:embed/>
                </p:oleObj>
              </mc:Choice>
              <mc:Fallback>
                <p:oleObj name="Equation" r:id="rId25" imgW="711000" imgH="190440" progId="Equation.DSMT4">
                  <p:embed/>
                  <p:pic>
                    <p:nvPicPr>
                      <p:cNvPr id="27" name="Object 5">
                        <a:extLst>
                          <a:ext uri="{FF2B5EF4-FFF2-40B4-BE49-F238E27FC236}">
                            <a16:creationId xmlns:a16="http://schemas.microsoft.com/office/drawing/2014/main" id="{F7D90A7A-DB5D-AD4D-BCF2-782742E8102F}"/>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606139" y="3844952"/>
                        <a:ext cx="2289870" cy="612888"/>
                      </a:xfrm>
                      <a:prstGeom prst="rect">
                        <a:avLst/>
                      </a:prstGeom>
                      <a:noFill/>
                      <a:ln>
                        <a:noFill/>
                      </a:ln>
                      <a:effectLst/>
                    </p:spPr>
                  </p:pic>
                </p:oleObj>
              </mc:Fallback>
            </mc:AlternateContent>
          </a:graphicData>
        </a:graphic>
      </p:graphicFrame>
      <p:sp>
        <p:nvSpPr>
          <p:cNvPr id="60" name="标题 59">
            <a:extLst>
              <a:ext uri="{FF2B5EF4-FFF2-40B4-BE49-F238E27FC236}">
                <a16:creationId xmlns:a16="http://schemas.microsoft.com/office/drawing/2014/main" id="{C35BD6C6-66B1-42A5-B9AD-7EAEF7FA087E}"/>
              </a:ext>
            </a:extLst>
          </p:cNvPr>
          <p:cNvSpPr>
            <a:spLocks noGrp="1"/>
          </p:cNvSpPr>
          <p:nvPr>
            <p:ph type="title"/>
          </p:nvPr>
        </p:nvSpPr>
        <p:spPr>
          <a:xfrm>
            <a:off x="310716" y="136525"/>
            <a:ext cx="8522568" cy="1143000"/>
          </a:xfrm>
        </p:spPr>
        <p:txBody>
          <a:bodyPr/>
          <a:lstStyle/>
          <a:p>
            <a:r>
              <a:rPr lang="zh-CN" altLang="en-US" sz="4000" dirty="0"/>
              <a:t>用德摩根定律变换逻辑门电路的形式</a:t>
            </a:r>
            <a:endParaRPr lang="zh-CN" altLang="en-US" dirty="0"/>
          </a:p>
        </p:txBody>
      </p:sp>
    </p:spTree>
    <p:extLst>
      <p:ext uri="{BB962C8B-B14F-4D97-AF65-F5344CB8AC3E}">
        <p14:creationId xmlns:p14="http://schemas.microsoft.com/office/powerpoint/2010/main" val="1349411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33E6346-94CC-2F23-0D36-611F53072C7F}"/>
              </a:ext>
            </a:extLst>
          </p:cNvPr>
          <p:cNvSpPr>
            <a:spLocks noGrp="1"/>
          </p:cNvSpPr>
          <p:nvPr>
            <p:ph type="sldNum" sz="quarter" idx="12"/>
          </p:nvPr>
        </p:nvSpPr>
        <p:spPr/>
        <p:txBody>
          <a:bodyPr/>
          <a:lstStyle/>
          <a:p>
            <a:pPr>
              <a:defRPr/>
            </a:pPr>
            <a:fld id="{A338B9D4-5D11-464B-BDF0-A23355FE4558}" type="slidenum">
              <a:rPr lang="en-US" altLang="zh-CN" smtClean="0"/>
              <a:pPr>
                <a:defRPr/>
              </a:pPr>
              <a:t>48</a:t>
            </a:fld>
            <a:endParaRPr lang="en-US" altLang="zh-CN" dirty="0"/>
          </a:p>
        </p:txBody>
      </p:sp>
      <p:sp>
        <p:nvSpPr>
          <p:cNvPr id="4" name="标题 3">
            <a:extLst>
              <a:ext uri="{FF2B5EF4-FFF2-40B4-BE49-F238E27FC236}">
                <a16:creationId xmlns:a16="http://schemas.microsoft.com/office/drawing/2014/main" id="{6AB10041-15A7-DCF4-15E5-8DF07825D9AA}"/>
              </a:ext>
            </a:extLst>
          </p:cNvPr>
          <p:cNvSpPr>
            <a:spLocks noGrp="1"/>
          </p:cNvSpPr>
          <p:nvPr>
            <p:ph type="title"/>
          </p:nvPr>
        </p:nvSpPr>
        <p:spPr>
          <a:xfrm>
            <a:off x="195263" y="228600"/>
            <a:ext cx="8769225" cy="914400"/>
          </a:xfrm>
        </p:spPr>
        <p:txBody>
          <a:bodyPr/>
          <a:lstStyle/>
          <a:p>
            <a:r>
              <a:rPr lang="zh-CN" altLang="en-US" sz="4000" dirty="0"/>
              <a:t>将与或表达式变换成仅用与非门实现</a:t>
            </a:r>
            <a:endParaRPr lang="zh-CN" altLang="en-US" dirty="0"/>
          </a:p>
        </p:txBody>
      </p:sp>
      <p:graphicFrame>
        <p:nvGraphicFramePr>
          <p:cNvPr id="8" name="Object 4">
            <a:extLst>
              <a:ext uri="{FF2B5EF4-FFF2-40B4-BE49-F238E27FC236}">
                <a16:creationId xmlns:a16="http://schemas.microsoft.com/office/drawing/2014/main" id="{9239D11E-DBBF-9126-3970-874EF1C6E0DB}"/>
              </a:ext>
            </a:extLst>
          </p:cNvPr>
          <p:cNvGraphicFramePr>
            <a:graphicFrameLocks noGrp="1" noChangeAspect="1"/>
          </p:cNvGraphicFramePr>
          <p:nvPr>
            <p:ph sz="half" idx="1"/>
            <p:extLst>
              <p:ext uri="{D42A27DB-BD31-4B8C-83A1-F6EECF244321}">
                <p14:modId xmlns:p14="http://schemas.microsoft.com/office/powerpoint/2010/main" val="1017913394"/>
              </p:ext>
            </p:extLst>
          </p:nvPr>
        </p:nvGraphicFramePr>
        <p:xfrm>
          <a:off x="668798" y="2301086"/>
          <a:ext cx="4267200" cy="3232150"/>
        </p:xfrm>
        <a:graphic>
          <a:graphicData uri="http://schemas.openxmlformats.org/presentationml/2006/ole">
            <mc:AlternateContent xmlns:mc="http://schemas.openxmlformats.org/markup-compatibility/2006">
              <mc:Choice xmlns:v="urn:schemas-microsoft-com:vml" Requires="v">
                <p:oleObj name="Visio" r:id="rId3" imgW="1484986" imgH="1124102" progId="Visio.Drawing.11">
                  <p:embed/>
                </p:oleObj>
              </mc:Choice>
              <mc:Fallback>
                <p:oleObj name="Visio" r:id="rId3" imgW="1484986" imgH="1124102" progId="Visio.Drawing.11">
                  <p:embed/>
                  <p:pic>
                    <p:nvPicPr>
                      <p:cNvPr id="63181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798" y="2301086"/>
                        <a:ext cx="4267200" cy="323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10">
            <a:extLst>
              <a:ext uri="{FF2B5EF4-FFF2-40B4-BE49-F238E27FC236}">
                <a16:creationId xmlns:a16="http://schemas.microsoft.com/office/drawing/2014/main" id="{2E37F0C1-6593-4507-B20A-65CDA5BAA27D}"/>
              </a:ext>
            </a:extLst>
          </p:cNvPr>
          <p:cNvSpPr txBox="1">
            <a:spLocks noChangeArrowheads="1"/>
          </p:cNvSpPr>
          <p:nvPr/>
        </p:nvSpPr>
        <p:spPr bwMode="auto">
          <a:xfrm>
            <a:off x="897398" y="1494636"/>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solidFill>
                  <a:srgbClr val="3333FF"/>
                </a:solidFill>
                <a:latin typeface="+mn-lt"/>
              </a:rPr>
              <a:t>Y=AB’C’+A’C+BC</a:t>
            </a:r>
          </a:p>
        </p:txBody>
      </p:sp>
      <p:sp>
        <p:nvSpPr>
          <p:cNvPr id="10" name="Text Box 11">
            <a:extLst>
              <a:ext uri="{FF2B5EF4-FFF2-40B4-BE49-F238E27FC236}">
                <a16:creationId xmlns:a16="http://schemas.microsoft.com/office/drawing/2014/main" id="{68500357-261B-17E1-34B8-2233BB12E24A}"/>
              </a:ext>
            </a:extLst>
          </p:cNvPr>
          <p:cNvSpPr txBox="1">
            <a:spLocks noChangeArrowheads="1"/>
          </p:cNvSpPr>
          <p:nvPr/>
        </p:nvSpPr>
        <p:spPr bwMode="auto">
          <a:xfrm>
            <a:off x="744998" y="5838036"/>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a:solidFill>
                  <a:srgbClr val="3333FF"/>
                </a:solidFill>
                <a:latin typeface="+mn-lt"/>
              </a:rPr>
              <a:t>Y=[(AB’C’)’(A’C)’(BC)’]’</a:t>
            </a:r>
          </a:p>
        </p:txBody>
      </p:sp>
      <p:graphicFrame>
        <p:nvGraphicFramePr>
          <p:cNvPr id="11" name="Object 6">
            <a:extLst>
              <a:ext uri="{FF2B5EF4-FFF2-40B4-BE49-F238E27FC236}">
                <a16:creationId xmlns:a16="http://schemas.microsoft.com/office/drawing/2014/main" id="{90643B32-D62E-496B-70E1-2C9EDA0EF09A}"/>
              </a:ext>
            </a:extLst>
          </p:cNvPr>
          <p:cNvGraphicFramePr>
            <a:graphicFrameLocks noGrp="1" noChangeAspect="1"/>
          </p:cNvGraphicFramePr>
          <p:nvPr>
            <p:ph sz="quarter" idx="2"/>
            <p:extLst>
              <p:ext uri="{D42A27DB-BD31-4B8C-83A1-F6EECF244321}">
                <p14:modId xmlns:p14="http://schemas.microsoft.com/office/powerpoint/2010/main" val="3158416316"/>
              </p:ext>
            </p:extLst>
          </p:nvPr>
        </p:nvGraphicFramePr>
        <p:xfrm>
          <a:off x="5448250" y="1366165"/>
          <a:ext cx="3051855" cy="2311889"/>
        </p:xfrm>
        <a:graphic>
          <a:graphicData uri="http://schemas.openxmlformats.org/presentationml/2006/ole">
            <mc:AlternateContent xmlns:mc="http://schemas.openxmlformats.org/markup-compatibility/2006">
              <mc:Choice xmlns:v="urn:schemas-microsoft-com:vml" Requires="v">
                <p:oleObj name="Visio" r:id="rId5" imgW="1484986" imgH="1124102" progId="Visio.Drawing.11">
                  <p:embed/>
                </p:oleObj>
              </mc:Choice>
              <mc:Fallback>
                <p:oleObj name="Visio" r:id="rId5" imgW="1484986" imgH="1124102" progId="Visio.Drawing.11">
                  <p:embed/>
                  <p:pic>
                    <p:nvPicPr>
                      <p:cNvPr id="15" name="Object 6">
                        <a:extLst>
                          <a:ext uri="{FF2B5EF4-FFF2-40B4-BE49-F238E27FC236}">
                            <a16:creationId xmlns:a16="http://schemas.microsoft.com/office/drawing/2014/main" id="{DCD711B2-6571-C249-BE72-E7CEBC75A1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8250" y="1366165"/>
                        <a:ext cx="3051855" cy="2311889"/>
                      </a:xfrm>
                      <a:prstGeom prst="rect">
                        <a:avLst/>
                      </a:prstGeom>
                      <a:solidFill>
                        <a:schemeClr val="bg1">
                          <a:lumMod val="95000"/>
                        </a:schemeClr>
                      </a:solidFill>
                      <a:ln>
                        <a:solidFill>
                          <a:schemeClr val="bg1"/>
                        </a:solidFill>
                      </a:ln>
                      <a:effectLst/>
                    </p:spPr>
                  </p:pic>
                </p:oleObj>
              </mc:Fallback>
            </mc:AlternateContent>
          </a:graphicData>
        </a:graphic>
      </p:graphicFrame>
      <p:graphicFrame>
        <p:nvGraphicFramePr>
          <p:cNvPr id="12" name="Object 8">
            <a:extLst>
              <a:ext uri="{FF2B5EF4-FFF2-40B4-BE49-F238E27FC236}">
                <a16:creationId xmlns:a16="http://schemas.microsoft.com/office/drawing/2014/main" id="{A028D4D3-48D1-D16B-FE16-52D1576DAD97}"/>
              </a:ext>
            </a:extLst>
          </p:cNvPr>
          <p:cNvGraphicFramePr>
            <a:graphicFrameLocks noGrp="1" noChangeAspect="1"/>
          </p:cNvGraphicFramePr>
          <p:nvPr>
            <p:ph sz="quarter" idx="3"/>
            <p:extLst>
              <p:ext uri="{D42A27DB-BD31-4B8C-83A1-F6EECF244321}">
                <p14:modId xmlns:p14="http://schemas.microsoft.com/office/powerpoint/2010/main" val="2971401278"/>
              </p:ext>
            </p:extLst>
          </p:nvPr>
        </p:nvGraphicFramePr>
        <p:xfrm>
          <a:off x="5436096" y="3935140"/>
          <a:ext cx="3051855" cy="2310085"/>
        </p:xfrm>
        <a:graphic>
          <a:graphicData uri="http://schemas.openxmlformats.org/presentationml/2006/ole">
            <mc:AlternateContent xmlns:mc="http://schemas.openxmlformats.org/markup-compatibility/2006">
              <mc:Choice xmlns:v="urn:schemas-microsoft-com:vml" Requires="v">
                <p:oleObj name="Visio" r:id="rId7" imgW="1484986" imgH="1124102" progId="Visio.Drawing.11">
                  <p:embed/>
                </p:oleObj>
              </mc:Choice>
              <mc:Fallback>
                <p:oleObj name="Visio" r:id="rId7" imgW="1484986" imgH="1124102" progId="Visio.Drawing.11">
                  <p:embed/>
                  <p:pic>
                    <p:nvPicPr>
                      <p:cNvPr id="16" name="Object 8">
                        <a:extLst>
                          <a:ext uri="{FF2B5EF4-FFF2-40B4-BE49-F238E27FC236}">
                            <a16:creationId xmlns:a16="http://schemas.microsoft.com/office/drawing/2014/main" id="{AC6ACDD1-098A-224F-AB64-573F94A9EF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36096" y="3935140"/>
                        <a:ext cx="3051855" cy="2310085"/>
                      </a:xfrm>
                      <a:prstGeom prst="rect">
                        <a:avLst/>
                      </a:prstGeom>
                      <a:solidFill>
                        <a:schemeClr val="bg1">
                          <a:lumMod val="95000"/>
                        </a:schemeClr>
                      </a:solidFill>
                      <a:ln>
                        <a:noFill/>
                      </a:ln>
                      <a:effectLst/>
                    </p:spPr>
                  </p:pic>
                </p:oleObj>
              </mc:Fallback>
            </mc:AlternateContent>
          </a:graphicData>
        </a:graphic>
      </p:graphicFrame>
    </p:spTree>
    <p:extLst>
      <p:ext uri="{BB962C8B-B14F-4D97-AF65-F5344CB8AC3E}">
        <p14:creationId xmlns:p14="http://schemas.microsoft.com/office/powerpoint/2010/main" val="20391087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00F9897D-465D-4C81-BADE-A82E62EC4F3A}"/>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如何仅用</a:t>
            </a:r>
            <a:r>
              <a:rPr kumimoji="0" lang="zh-CN" altLang="en-US" sz="2600" b="0" i="0" u="none" strike="noStrike" kern="1200" cap="none" spc="0" normalizeH="0" baseline="0" noProof="0" dirty="0">
                <a:ln>
                  <a:noFill/>
                </a:ln>
                <a:solidFill>
                  <a:srgbClr val="3333FF"/>
                </a:solidFill>
                <a:effectLst/>
                <a:uLnTx/>
                <a:uFillTx/>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或非门</a:t>
            </a:r>
            <a:r>
              <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实现</a:t>
            </a:r>
            <a:r>
              <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Y=AB’C’+A’C+BC</a:t>
            </a:r>
            <a:r>
              <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rPr>
              <a:t>？</a:t>
            </a:r>
          </a:p>
        </p:txBody>
      </p:sp>
      <p:sp>
        <p:nvSpPr>
          <p:cNvPr id="10" name="文本框 9">
            <a:extLst>
              <a:ext uri="{FF2B5EF4-FFF2-40B4-BE49-F238E27FC236}">
                <a16:creationId xmlns:a16="http://schemas.microsoft.com/office/drawing/2014/main" id="{5B7C78A2-7170-4BEA-98E9-C83EF14BE46D}"/>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Y=[(A+B’+C’)’+(A’+C)’+(B+C)’]’</a:t>
            </a:r>
            <a:endPar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endParaRPr>
          </a:p>
        </p:txBody>
      </p:sp>
      <p:sp>
        <p:nvSpPr>
          <p:cNvPr id="11" name="文本框 10">
            <a:extLst>
              <a:ext uri="{FF2B5EF4-FFF2-40B4-BE49-F238E27FC236}">
                <a16:creationId xmlns:a16="http://schemas.microsoft.com/office/drawing/2014/main" id="{56522FE7-B184-4B48-A42A-A8EF85479390}"/>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Y={[(A’+B+C)’+(A+C’)’+(B’+C’)’]’+0}’</a:t>
            </a:r>
            <a:endPar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endParaRPr>
          </a:p>
        </p:txBody>
      </p:sp>
      <p:sp>
        <p:nvSpPr>
          <p:cNvPr id="12" name="文本框 11">
            <a:extLst>
              <a:ext uri="{FF2B5EF4-FFF2-40B4-BE49-F238E27FC236}">
                <a16:creationId xmlns:a16="http://schemas.microsoft.com/office/drawing/2014/main" id="{55CCBA23-3EC5-4BC9-8886-D6FF70D8B215}"/>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Arial" panose="020B0604020202020204" pitchFamily="34" charset="0"/>
              </a:rPr>
              <a:t>Y=(A’+B+C)’+(A+C’)’+(B’+C’)’</a:t>
            </a:r>
            <a:endParaRPr kumimoji="0" lang="zh-CN" altLang="en-US" sz="2600" b="0" i="0" u="none" strike="noStrike" kern="1200" cap="none" spc="0" normalizeH="0" baseline="0" noProof="0" dirty="0">
              <a:ln>
                <a:noFill/>
              </a:ln>
              <a:solidFill>
                <a:srgbClr val="000000"/>
              </a:solidFill>
              <a:effectLst/>
              <a:uLnTx/>
              <a:uFillTx/>
              <a:latin typeface="Arial" panose="020B0604020202020204" pitchFamily="34" charset="0"/>
              <a:ea typeface="Microsoft Yahei" panose="020B0503020204020204" pitchFamily="34" charset="-122"/>
              <a:cs typeface="Arial" panose="020B0604020202020204" pitchFamily="34" charset="0"/>
              <a:sym typeface="Microsoft Yahei" panose="020B0503020204020204" pitchFamily="34" charset="-122"/>
            </a:endParaRPr>
          </a:p>
        </p:txBody>
      </p:sp>
      <p:sp>
        <p:nvSpPr>
          <p:cNvPr id="14" name="椭圆 13">
            <a:extLst>
              <a:ext uri="{FF2B5EF4-FFF2-40B4-BE49-F238E27FC236}">
                <a16:creationId xmlns:a16="http://schemas.microsoft.com/office/drawing/2014/main" id="{FD7F2FB1-1D2D-47A0-9759-26065B2E0069}"/>
              </a:ext>
            </a:extLst>
          </p:cNvPr>
          <p:cNvSpPr>
            <a:spLocks noChangeAspect="1"/>
          </p:cNvSpPr>
          <p:nvPr>
            <p:custDataLst>
              <p:tags r:id="rId6"/>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5" name="椭圆 14">
            <a:extLst>
              <a:ext uri="{FF2B5EF4-FFF2-40B4-BE49-F238E27FC236}">
                <a16:creationId xmlns:a16="http://schemas.microsoft.com/office/drawing/2014/main" id="{E0D5727A-078F-4928-A74E-59E7AF71F49A}"/>
              </a:ext>
            </a:extLst>
          </p:cNvPr>
          <p:cNvSpPr>
            <a:spLocks noChangeAspect="1"/>
          </p:cNvSpPr>
          <p:nvPr>
            <p:custDataLst>
              <p:tags r:id="rId7"/>
            </p:custDataLst>
          </p:nvPr>
        </p:nvSpPr>
        <p:spPr bwMode="auto">
          <a:xfrm>
            <a:off x="1114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6" name="椭圆 15">
            <a:extLst>
              <a:ext uri="{FF2B5EF4-FFF2-40B4-BE49-F238E27FC236}">
                <a16:creationId xmlns:a16="http://schemas.microsoft.com/office/drawing/2014/main" id="{965E9367-1242-4DD3-96D6-652C5E71AA4E}"/>
              </a:ext>
            </a:extLst>
          </p:cNvPr>
          <p:cNvSpPr>
            <a:spLocks noChangeAspect="1"/>
          </p:cNvSpPr>
          <p:nvPr>
            <p:custDataLst>
              <p:tags r:id="rId8"/>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3" name="矩形: 圆角 2">
            <a:extLst>
              <a:ext uri="{FF2B5EF4-FFF2-40B4-BE49-F238E27FC236}">
                <a16:creationId xmlns:a16="http://schemas.microsoft.com/office/drawing/2014/main" id="{DA1DFBB7-7F0F-AA10-E00C-30D8F5528C5C}"/>
              </a:ext>
            </a:extLst>
          </p:cNvPr>
          <p:cNvSpPr/>
          <p:nvPr>
            <p:custDataLst>
              <p:tags r:id="rId9"/>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mc:AlternateContent xmlns:mc="http://schemas.openxmlformats.org/markup-compatibility/2006" xmlns:p14="http://schemas.microsoft.com/office/powerpoint/2010/main">
        <mc:Choice Requires="p14">
          <p:contentPart p14:bwMode="auto" r:id="rId18">
            <p14:nvContentPartPr>
              <p14:cNvPr id="2" name="墨迹 1">
                <a:extLst>
                  <a:ext uri="{FF2B5EF4-FFF2-40B4-BE49-F238E27FC236}">
                    <a16:creationId xmlns:a16="http://schemas.microsoft.com/office/drawing/2014/main" id="{C84E4929-5985-4519-B597-6E3E8600DAE5}"/>
                  </a:ext>
                </a:extLst>
              </p14:cNvPr>
              <p14:cNvContentPartPr/>
              <p14:nvPr/>
            </p14:nvContentPartPr>
            <p14:xfrm>
              <a:off x="6962400" y="6489720"/>
              <a:ext cx="360" cy="5400"/>
            </p14:xfrm>
          </p:contentPart>
        </mc:Choice>
        <mc:Fallback xmlns="">
          <p:pic>
            <p:nvPicPr>
              <p:cNvPr id="2" name="墨迹 1">
                <a:extLst>
                  <a:ext uri="{FF2B5EF4-FFF2-40B4-BE49-F238E27FC236}">
                    <a16:creationId xmlns:a16="http://schemas.microsoft.com/office/drawing/2014/main" id="{C84E4929-5985-4519-B597-6E3E8600DAE5}"/>
                  </a:ext>
                </a:extLst>
              </p:cNvPr>
              <p:cNvPicPr/>
              <p:nvPr/>
            </p:nvPicPr>
            <p:blipFill>
              <a:blip r:embed="rId19"/>
              <a:stretch>
                <a:fillRect/>
              </a:stretch>
            </p:blipFill>
            <p:spPr>
              <a:xfrm>
                <a:off x="6953040" y="6480360"/>
                <a:ext cx="19080" cy="24120"/>
              </a:xfrm>
              <a:prstGeom prst="rect">
                <a:avLst/>
              </a:prstGeom>
            </p:spPr>
          </p:pic>
        </mc:Fallback>
      </mc:AlternateContent>
      <p:grpSp>
        <p:nvGrpSpPr>
          <p:cNvPr id="13" name="组合 12">
            <a:extLst>
              <a:ext uri="{FF2B5EF4-FFF2-40B4-BE49-F238E27FC236}">
                <a16:creationId xmlns:a16="http://schemas.microsoft.com/office/drawing/2014/main" id="{443133BB-9E9C-A864-303B-A2674F23F3F9}"/>
              </a:ext>
            </a:extLst>
          </p:cNvPr>
          <p:cNvGrpSpPr/>
          <p:nvPr>
            <p:custDataLst>
              <p:tags r:id="rId10"/>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09C91FCB-9CE2-482D-A959-987CF681FD08}"/>
                </a:ext>
              </a:extLst>
            </p:cNvPr>
            <p:cNvSpPr/>
            <p:nvPr>
              <p:custDataLst>
                <p:tags r:id="rId12"/>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20" name="ColorBlock">
              <a:extLst>
                <a:ext uri="{FF2B5EF4-FFF2-40B4-BE49-F238E27FC236}">
                  <a16:creationId xmlns:a16="http://schemas.microsoft.com/office/drawing/2014/main" id="{B9743A5A-A847-4D1B-99F6-CA32506283F9}"/>
                </a:ext>
              </a:extLst>
            </p:cNvPr>
            <p:cNvSpPr/>
            <p:nvPr>
              <p:custDataLst>
                <p:tags r:id="rId13"/>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21" name="TypeText">
              <a:extLst>
                <a:ext uri="{FF2B5EF4-FFF2-40B4-BE49-F238E27FC236}">
                  <a16:creationId xmlns:a16="http://schemas.microsoft.com/office/drawing/2014/main" id="{4020F562-5770-419D-A4A6-7B86EE4648DE}"/>
                </a:ext>
              </a:extLst>
            </p:cNvPr>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8" name="TipText">
              <a:extLst>
                <a:ext uri="{FF2B5EF4-FFF2-40B4-BE49-F238E27FC236}">
                  <a16:creationId xmlns:a16="http://schemas.microsoft.com/office/drawing/2014/main" id="{C90C6D0C-7F09-3C1A-1E10-739F6833F247}"/>
                </a:ext>
              </a:extLst>
            </p:cNvPr>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A5DD7E15-7B33-ACFB-51F6-01511A5815BD}"/>
              </a:ext>
            </a:extLst>
          </p:cNvPr>
          <p:cNvPicPr>
            <a:picLocks/>
          </p:cNvPicPr>
          <p:nvPr>
            <p:custDataLst>
              <p:tags r:id="rId11"/>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9715120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AE45CC-AC31-68FF-30F7-717B9F63A9C7}"/>
              </a:ext>
            </a:extLst>
          </p:cNvPr>
          <p:cNvSpPr>
            <a:spLocks noGrp="1"/>
          </p:cNvSpPr>
          <p:nvPr>
            <p:ph type="title"/>
          </p:nvPr>
        </p:nvSpPr>
        <p:spPr/>
        <p:txBody>
          <a:bodyPr/>
          <a:lstStyle/>
          <a:p>
            <a:r>
              <a:rPr kumimoji="1" lang="zh-CN" altLang="en-US" dirty="0"/>
              <a:t>答案解析</a:t>
            </a:r>
          </a:p>
        </p:txBody>
      </p:sp>
      <p:sp>
        <p:nvSpPr>
          <p:cNvPr id="3" name="内容占位符 2">
            <a:extLst>
              <a:ext uri="{FF2B5EF4-FFF2-40B4-BE49-F238E27FC236}">
                <a16:creationId xmlns:a16="http://schemas.microsoft.com/office/drawing/2014/main" id="{75CDCA2D-E3B0-A499-3F18-9AB12AEC4FA3}"/>
              </a:ext>
            </a:extLst>
          </p:cNvPr>
          <p:cNvSpPr>
            <a:spLocks noGrp="1"/>
          </p:cNvSpPr>
          <p:nvPr>
            <p:ph idx="1"/>
          </p:nvPr>
        </p:nvSpPr>
        <p:spPr>
          <a:xfrm>
            <a:off x="457200" y="1375456"/>
            <a:ext cx="8229600" cy="4525963"/>
          </a:xfrm>
        </p:spPr>
        <p:txBody>
          <a:bodyPr/>
          <a:lstStyle/>
          <a:p>
            <a:r>
              <a:rPr kumimoji="1" lang="zh-CN" altLang="en-US" sz="2400" dirty="0"/>
              <a:t>如何仅用或非门实现</a:t>
            </a:r>
            <a:r>
              <a:rPr kumimoji="1" lang="en" altLang="zh-CN" sz="2400" dirty="0"/>
              <a:t>Y=AB’C’+A’C+BC</a:t>
            </a:r>
            <a:r>
              <a:rPr kumimoji="1" lang="zh-CN" altLang="en" sz="2400" dirty="0"/>
              <a:t>？</a:t>
            </a:r>
          </a:p>
          <a:p>
            <a:pPr lvl="1"/>
            <a:r>
              <a:rPr kumimoji="1" lang="en-US" altLang="zh-CN" sz="2000" dirty="0"/>
              <a:t>A. Y=[(A+B’+C’)’+(A’+C)’+(B+C)’]’</a:t>
            </a:r>
          </a:p>
          <a:p>
            <a:pPr lvl="1"/>
            <a:r>
              <a:rPr kumimoji="1" lang="en-US" altLang="zh-CN" sz="2000" dirty="0">
                <a:solidFill>
                  <a:srgbClr val="3333FF"/>
                </a:solidFill>
              </a:rPr>
              <a:t>B. Y={[(A’+B+C)’+(A+C’)’+(B’+C’)’]’+0}’</a:t>
            </a:r>
          </a:p>
          <a:p>
            <a:pPr lvl="1"/>
            <a:r>
              <a:rPr kumimoji="1" lang="en-US" altLang="zh-CN" sz="2000" dirty="0"/>
              <a:t>C. Y=(A’+B+C)’+(A+C’)’+(B’+C’)’</a:t>
            </a:r>
          </a:p>
          <a:p>
            <a:pPr lvl="1"/>
            <a:endParaRPr kumimoji="1" lang="en-US" altLang="zh-CN" sz="2000" dirty="0"/>
          </a:p>
          <a:p>
            <a:r>
              <a:rPr kumimoji="1" lang="zh-CN" altLang="en-US" sz="2400" dirty="0">
                <a:solidFill>
                  <a:srgbClr val="3333FF"/>
                </a:solidFill>
              </a:rPr>
              <a:t>解答：</a:t>
            </a:r>
            <a:r>
              <a:rPr kumimoji="1" lang="en-US" altLang="zh-CN" sz="2400" dirty="0">
                <a:solidFill>
                  <a:srgbClr val="3333FF"/>
                </a:solidFill>
              </a:rPr>
              <a:t>B</a:t>
            </a:r>
          </a:p>
          <a:p>
            <a:pPr lvl="1"/>
            <a:r>
              <a:rPr kumimoji="1" lang="zh-CN" altLang="en-US" sz="2000" dirty="0"/>
              <a:t>利用德摩根律，可以得到：</a:t>
            </a:r>
          </a:p>
          <a:p>
            <a:pPr lvl="1"/>
            <a:r>
              <a:rPr kumimoji="1" lang="en-US" altLang="zh-CN" sz="2000" dirty="0"/>
              <a:t>Y = AB’C’+A’C+BC = (A’+B+C)’+(A+C’)’+(B’+C’)’</a:t>
            </a:r>
          </a:p>
          <a:p>
            <a:pPr lvl="1"/>
            <a:r>
              <a:rPr kumimoji="1" lang="zh-CN" altLang="en-US" sz="2000" dirty="0"/>
              <a:t>由于只使用或非门，故转换为：</a:t>
            </a:r>
          </a:p>
          <a:p>
            <a:pPr lvl="1"/>
            <a:r>
              <a:rPr kumimoji="1" lang="en-US" altLang="zh-CN" sz="2000" dirty="0"/>
              <a:t>Y = {[ (A’+B+C)’+(A+C’)’+(B’+C’)’ ]’+0}’</a:t>
            </a:r>
          </a:p>
          <a:p>
            <a:endParaRPr kumimoji="1" lang="en-US" altLang="zh-CN" sz="2400" dirty="0"/>
          </a:p>
          <a:p>
            <a:pPr lvl="1"/>
            <a:endParaRPr kumimoji="1" lang="en-US" altLang="zh-CN" sz="2000" dirty="0"/>
          </a:p>
          <a:p>
            <a:pPr lvl="1"/>
            <a:endParaRPr kumimoji="1" lang="zh-CN" altLang="en" sz="2000" dirty="0"/>
          </a:p>
          <a:p>
            <a:endParaRPr kumimoji="1" lang="zh-CN" altLang="en-US" sz="2400" dirty="0"/>
          </a:p>
        </p:txBody>
      </p:sp>
      <p:sp>
        <p:nvSpPr>
          <p:cNvPr id="4" name="灯片编号占位符 3">
            <a:extLst>
              <a:ext uri="{FF2B5EF4-FFF2-40B4-BE49-F238E27FC236}">
                <a16:creationId xmlns:a16="http://schemas.microsoft.com/office/drawing/2014/main" id="{4F4E1673-1683-2BA0-9D19-F9FE385EA4F9}"/>
              </a:ext>
            </a:extLst>
          </p:cNvPr>
          <p:cNvSpPr>
            <a:spLocks noGrp="1"/>
          </p:cNvSpPr>
          <p:nvPr>
            <p:ph type="sldNum" sz="quarter" idx="12"/>
          </p:nvPr>
        </p:nvSpPr>
        <p:spPr/>
        <p:txBody>
          <a:bodyPr/>
          <a:lstStyle/>
          <a:p>
            <a:fld id="{14659731-6BD7-46E7-8D3C-2F3AC07E20B1}" type="slidenum">
              <a:rPr lang="en-US" altLang="zh-CN" smtClean="0"/>
              <a:pPr/>
              <a:t>50</a:t>
            </a:fld>
            <a:endParaRPr lang="en-US" altLang="zh-CN"/>
          </a:p>
        </p:txBody>
      </p:sp>
      <p:sp>
        <p:nvSpPr>
          <p:cNvPr id="5" name="文本框 12">
            <a:extLst>
              <a:ext uri="{FF2B5EF4-FFF2-40B4-BE49-F238E27FC236}">
                <a16:creationId xmlns:a16="http://schemas.microsoft.com/office/drawing/2014/main" id="{72F91083-AA36-DA6A-6AF0-9587914B706E}"/>
              </a:ext>
            </a:extLst>
          </p:cNvPr>
          <p:cNvSpPr txBox="1"/>
          <p:nvPr>
            <p:custDataLst>
              <p:tags r:id="rId1"/>
            </p:custDataLst>
          </p:nvPr>
        </p:nvSpPr>
        <p:spPr>
          <a:xfrm>
            <a:off x="791580" y="5229200"/>
            <a:ext cx="7632848" cy="1332148"/>
          </a:xfrm>
          <a:prstGeom prst="rect">
            <a:avLst/>
          </a:prstGeom>
          <a:noFill/>
        </p:spPr>
        <p:txBody>
          <a:bodyPr vert="horz" rtlCol="0" anchor="ctr" anchorCtr="0">
            <a:noAutofit/>
          </a:bodyPr>
          <a:lstStyle/>
          <a:p>
            <a:r>
              <a:rPr lang="zh-CN" altLang="en-US" sz="2400" b="1" dirty="0">
                <a:ea typeface="黑体" panose="02010609060101010101" pitchFamily="49" charset="-122"/>
              </a:rPr>
              <a:t>延伸思考：仅用与门、异或门等单独的一个门实现呢？</a:t>
            </a:r>
            <a:endParaRPr lang="en-US" altLang="zh-CN" sz="2400" b="1" dirty="0">
              <a:ea typeface="黑体" panose="02010609060101010101" pitchFamily="49" charset="-122"/>
            </a:endParaRPr>
          </a:p>
          <a:p>
            <a:r>
              <a:rPr lang="zh-CN" altLang="en-US" sz="2400" b="1" dirty="0">
                <a:ea typeface="黑体" panose="02010609060101010101" pitchFamily="49" charset="-122"/>
              </a:rPr>
              <a:t>有哪些门可以通过组合和输入限制实现任意逻辑</a:t>
            </a:r>
            <a:r>
              <a:rPr lang="en-US" altLang="zh-CN" sz="2400" b="1" dirty="0">
                <a:ea typeface="黑体" panose="02010609060101010101" pitchFamily="49" charset="-122"/>
              </a:rPr>
              <a:t>(Universal Gate)?</a:t>
            </a:r>
            <a:endParaRPr lang="zh-CN" altLang="en-US" sz="2400" b="1" dirty="0">
              <a:ea typeface="黑体" panose="02010609060101010101" pitchFamily="49" charset="-122"/>
            </a:endParaRPr>
          </a:p>
        </p:txBody>
      </p:sp>
    </p:spTree>
    <p:extLst>
      <p:ext uri="{BB962C8B-B14F-4D97-AF65-F5344CB8AC3E}">
        <p14:creationId xmlns:p14="http://schemas.microsoft.com/office/powerpoint/2010/main" val="2888392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pPr eaLnBrk="1" hangingPunct="1"/>
            <a:r>
              <a:rPr lang="zh-CN" altLang="en-US" dirty="0">
                <a:solidFill>
                  <a:schemeClr val="tx1"/>
                </a:solidFill>
              </a:rPr>
              <a:t>其他布尔函数</a:t>
            </a:r>
          </a:p>
        </p:txBody>
      </p:sp>
      <p:sp>
        <p:nvSpPr>
          <p:cNvPr id="2" name="灯片编号占位符 1">
            <a:extLst>
              <a:ext uri="{FF2B5EF4-FFF2-40B4-BE49-F238E27FC236}">
                <a16:creationId xmlns:a16="http://schemas.microsoft.com/office/drawing/2014/main" id="{D6228A81-9E9F-04EA-9E04-99C44E6D27DB}"/>
              </a:ext>
            </a:extLst>
          </p:cNvPr>
          <p:cNvSpPr>
            <a:spLocks noGrp="1"/>
          </p:cNvSpPr>
          <p:nvPr>
            <p:ph type="sldNum" sz="quarter" idx="12"/>
          </p:nvPr>
        </p:nvSpPr>
        <p:spPr/>
        <p:txBody>
          <a:bodyPr/>
          <a:lstStyle/>
          <a:p>
            <a:fld id="{14659731-6BD7-46E7-8D3C-2F3AC07E20B1}" type="slidenum">
              <a:rPr lang="en-US" altLang="zh-CN" smtClean="0"/>
              <a:pPr/>
              <a:t>51</a:t>
            </a:fld>
            <a:endParaRPr lang="en-US" altLang="zh-CN" dirty="0"/>
          </a:p>
        </p:txBody>
      </p:sp>
      <p:sp>
        <p:nvSpPr>
          <p:cNvPr id="5" name="Rectangle 3">
            <a:extLst>
              <a:ext uri="{FF2B5EF4-FFF2-40B4-BE49-F238E27FC236}">
                <a16:creationId xmlns:a16="http://schemas.microsoft.com/office/drawing/2014/main" id="{BCCB5D92-049D-2C0E-DA1E-5013C4C0A8CF}"/>
              </a:ext>
            </a:extLst>
          </p:cNvPr>
          <p:cNvSpPr>
            <a:spLocks noGrp="1" noChangeArrowheads="1"/>
          </p:cNvSpPr>
          <p:nvPr>
            <p:ph idx="1"/>
          </p:nvPr>
        </p:nvSpPr>
        <p:spPr>
          <a:xfrm>
            <a:off x="457200" y="1536340"/>
            <a:ext cx="4043363" cy="4525963"/>
          </a:xfrm>
        </p:spPr>
        <p:txBody>
          <a:bodyPr/>
          <a:lstStyle/>
          <a:p>
            <a:pPr>
              <a:lnSpc>
                <a:spcPct val="80000"/>
              </a:lnSpc>
            </a:pPr>
            <a:r>
              <a:rPr lang="zh-CN" altLang="en-US" sz="2400"/>
              <a:t>与</a:t>
            </a:r>
          </a:p>
          <a:p>
            <a:pPr lvl="1">
              <a:lnSpc>
                <a:spcPct val="80000"/>
              </a:lnSpc>
              <a:buFontTx/>
              <a:buNone/>
            </a:pPr>
            <a:r>
              <a:rPr lang="en-US" altLang="zh-CN" sz="2000"/>
              <a:t>0</a:t>
            </a:r>
            <a:r>
              <a:rPr lang="en-US" altLang="zh-CN" sz="2000">
                <a:sym typeface="MT Extra" pitchFamily="18" charset="2"/>
              </a:rPr>
              <a:t>0=0</a:t>
            </a:r>
          </a:p>
          <a:p>
            <a:pPr lvl="1">
              <a:lnSpc>
                <a:spcPct val="80000"/>
              </a:lnSpc>
              <a:buFontTx/>
              <a:buNone/>
            </a:pPr>
            <a:r>
              <a:rPr lang="en-US" altLang="zh-CN" sz="2000"/>
              <a:t>0</a:t>
            </a:r>
            <a:r>
              <a:rPr lang="en-US" altLang="zh-CN" sz="2000">
                <a:sym typeface="MT Extra" pitchFamily="18" charset="2"/>
              </a:rPr>
              <a:t>1=0</a:t>
            </a:r>
          </a:p>
          <a:p>
            <a:pPr lvl="1">
              <a:lnSpc>
                <a:spcPct val="80000"/>
              </a:lnSpc>
              <a:buFontTx/>
              <a:buNone/>
            </a:pPr>
            <a:r>
              <a:rPr lang="en-US" altLang="zh-CN" sz="2000"/>
              <a:t>1</a:t>
            </a:r>
            <a:r>
              <a:rPr lang="en-US" altLang="zh-CN" sz="2000">
                <a:sym typeface="MT Extra" pitchFamily="18" charset="2"/>
              </a:rPr>
              <a:t>0=0</a:t>
            </a:r>
          </a:p>
          <a:p>
            <a:pPr lvl="1">
              <a:lnSpc>
                <a:spcPct val="80000"/>
              </a:lnSpc>
              <a:buFontTx/>
              <a:buNone/>
            </a:pPr>
            <a:r>
              <a:rPr lang="en-US" altLang="zh-CN" sz="2000"/>
              <a:t>1</a:t>
            </a:r>
            <a:r>
              <a:rPr lang="en-US" altLang="zh-CN" sz="2000">
                <a:sym typeface="MT Extra" pitchFamily="18" charset="2"/>
              </a:rPr>
              <a:t>1=1</a:t>
            </a:r>
          </a:p>
          <a:p>
            <a:pPr>
              <a:lnSpc>
                <a:spcPct val="80000"/>
              </a:lnSpc>
            </a:pPr>
            <a:r>
              <a:rPr lang="zh-CN" altLang="en-US" sz="2400"/>
              <a:t>或</a:t>
            </a:r>
          </a:p>
          <a:p>
            <a:pPr lvl="1">
              <a:lnSpc>
                <a:spcPct val="80000"/>
              </a:lnSpc>
              <a:buFontTx/>
              <a:buNone/>
            </a:pPr>
            <a:r>
              <a:rPr lang="en-US" altLang="zh-CN" sz="2000">
                <a:sym typeface="MT Extra" pitchFamily="18" charset="2"/>
              </a:rPr>
              <a:t>00=0</a:t>
            </a:r>
          </a:p>
          <a:p>
            <a:pPr lvl="1">
              <a:lnSpc>
                <a:spcPct val="80000"/>
              </a:lnSpc>
              <a:buFontTx/>
              <a:buNone/>
            </a:pPr>
            <a:r>
              <a:rPr lang="en-US" altLang="zh-CN" sz="2000">
                <a:sym typeface="MT Extra" pitchFamily="18" charset="2"/>
              </a:rPr>
              <a:t>01=1</a:t>
            </a:r>
          </a:p>
          <a:p>
            <a:pPr lvl="1">
              <a:lnSpc>
                <a:spcPct val="80000"/>
              </a:lnSpc>
              <a:buFontTx/>
              <a:buNone/>
            </a:pPr>
            <a:r>
              <a:rPr lang="en-US" altLang="zh-CN" sz="2000">
                <a:sym typeface="MT Extra" pitchFamily="18" charset="2"/>
              </a:rPr>
              <a:t>10=1</a:t>
            </a:r>
          </a:p>
          <a:p>
            <a:pPr lvl="1">
              <a:lnSpc>
                <a:spcPct val="80000"/>
              </a:lnSpc>
              <a:buFontTx/>
              <a:buNone/>
            </a:pPr>
            <a:r>
              <a:rPr lang="en-US" altLang="zh-CN" sz="2000">
                <a:sym typeface="MT Extra" pitchFamily="18" charset="2"/>
              </a:rPr>
              <a:t>11=1</a:t>
            </a:r>
          </a:p>
          <a:p>
            <a:pPr>
              <a:lnSpc>
                <a:spcPct val="80000"/>
              </a:lnSpc>
            </a:pPr>
            <a:r>
              <a:rPr lang="zh-CN" altLang="en-US" sz="2400"/>
              <a:t>非</a:t>
            </a:r>
          </a:p>
          <a:p>
            <a:pPr lvl="1">
              <a:lnSpc>
                <a:spcPct val="80000"/>
              </a:lnSpc>
              <a:buFontTx/>
              <a:buNone/>
            </a:pPr>
            <a:r>
              <a:rPr lang="en-US" altLang="zh-CN" sz="2000">
                <a:sym typeface="MT Extra" pitchFamily="18" charset="2"/>
              </a:rPr>
              <a:t>0’=1</a:t>
            </a:r>
          </a:p>
          <a:p>
            <a:pPr lvl="1">
              <a:lnSpc>
                <a:spcPct val="80000"/>
              </a:lnSpc>
              <a:buFontTx/>
              <a:buNone/>
            </a:pPr>
            <a:r>
              <a:rPr lang="en-US" altLang="zh-CN" sz="2000">
                <a:sym typeface="MT Extra" pitchFamily="18" charset="2"/>
              </a:rPr>
              <a:t>1’=0</a:t>
            </a:r>
          </a:p>
        </p:txBody>
      </p:sp>
      <p:sp>
        <p:nvSpPr>
          <p:cNvPr id="6" name="Rectangle 4">
            <a:extLst>
              <a:ext uri="{FF2B5EF4-FFF2-40B4-BE49-F238E27FC236}">
                <a16:creationId xmlns:a16="http://schemas.microsoft.com/office/drawing/2014/main" id="{18B28657-5F86-DBCC-4BC5-BBD05C288D1F}"/>
              </a:ext>
            </a:extLst>
          </p:cNvPr>
          <p:cNvSpPr>
            <a:spLocks noChangeArrowheads="1"/>
          </p:cNvSpPr>
          <p:nvPr/>
        </p:nvSpPr>
        <p:spPr bwMode="auto">
          <a:xfrm>
            <a:off x="6391275" y="1683630"/>
            <a:ext cx="268623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lnSpc>
                <a:spcPct val="90000"/>
              </a:lnSpc>
              <a:spcBef>
                <a:spcPct val="20000"/>
              </a:spcBef>
              <a:buFontTx/>
              <a:buChar char="•"/>
            </a:pPr>
            <a:r>
              <a:rPr lang="zh-CN" altLang="en-US" sz="2400" b="1" dirty="0">
                <a:solidFill>
                  <a:srgbClr val="333300"/>
                </a:solidFill>
                <a:ea typeface="黑体" panose="02010609060101010101" pitchFamily="49" charset="-122"/>
              </a:rPr>
              <a:t>乘法</a:t>
            </a:r>
            <a:r>
              <a:rPr lang="en-US" altLang="zh-CN" sz="2400" b="1" dirty="0" err="1">
                <a:solidFill>
                  <a:srgbClr val="333300"/>
                </a:solidFill>
                <a:ea typeface="黑体" panose="02010609060101010101" pitchFamily="49" charset="-122"/>
              </a:rPr>
              <a:t>a×b</a:t>
            </a:r>
            <a:r>
              <a:rPr lang="en-US" altLang="zh-CN" sz="2400" b="1" dirty="0">
                <a:solidFill>
                  <a:srgbClr val="333300"/>
                </a:solidFill>
                <a:ea typeface="黑体" panose="02010609060101010101" pitchFamily="49" charset="-122"/>
              </a:rPr>
              <a:t>=f</a:t>
            </a:r>
            <a:endParaRPr lang="zh-CN" altLang="en-US" sz="2400" b="1" dirty="0">
              <a:solidFill>
                <a:srgbClr val="333300"/>
              </a:solidFill>
              <a:ea typeface="黑体" panose="02010609060101010101" pitchFamily="49" charset="-122"/>
            </a:endParaRPr>
          </a:p>
          <a:p>
            <a:pPr marL="742950" lvl="1" indent="-285750" algn="l">
              <a:lnSpc>
                <a:spcPct val="90000"/>
              </a:lnSpc>
              <a:spcBef>
                <a:spcPct val="20000"/>
              </a:spcBef>
            </a:pPr>
            <a:r>
              <a:rPr lang="en-US" altLang="zh-CN" sz="2000" b="1" dirty="0">
                <a:solidFill>
                  <a:srgbClr val="333300"/>
                </a:solidFill>
                <a:ea typeface="黑体" panose="02010609060101010101" pitchFamily="49" charset="-122"/>
              </a:rPr>
              <a:t>0×0=0</a:t>
            </a:r>
          </a:p>
          <a:p>
            <a:pPr marL="742950" lvl="1" indent="-285750" algn="l">
              <a:lnSpc>
                <a:spcPct val="90000"/>
              </a:lnSpc>
              <a:spcBef>
                <a:spcPct val="20000"/>
              </a:spcBef>
            </a:pPr>
            <a:r>
              <a:rPr lang="en-US" altLang="zh-CN" sz="2000" b="1" dirty="0">
                <a:solidFill>
                  <a:srgbClr val="333300"/>
                </a:solidFill>
                <a:ea typeface="黑体" panose="02010609060101010101" pitchFamily="49" charset="-122"/>
              </a:rPr>
              <a:t>0×1=0</a:t>
            </a:r>
          </a:p>
          <a:p>
            <a:pPr marL="742950" lvl="1" indent="-285750" algn="l">
              <a:lnSpc>
                <a:spcPct val="90000"/>
              </a:lnSpc>
              <a:spcBef>
                <a:spcPct val="20000"/>
              </a:spcBef>
            </a:pPr>
            <a:r>
              <a:rPr lang="en-US" altLang="zh-CN" sz="2000" b="1" dirty="0">
                <a:solidFill>
                  <a:srgbClr val="333300"/>
                </a:solidFill>
                <a:ea typeface="黑体" panose="02010609060101010101" pitchFamily="49" charset="-122"/>
              </a:rPr>
              <a:t>1×0=0</a:t>
            </a:r>
          </a:p>
          <a:p>
            <a:pPr marL="742950" lvl="1" indent="-285750" algn="l">
              <a:lnSpc>
                <a:spcPct val="90000"/>
              </a:lnSpc>
              <a:spcBef>
                <a:spcPct val="20000"/>
              </a:spcBef>
            </a:pPr>
            <a:r>
              <a:rPr lang="en-US" altLang="zh-CN" sz="2000" b="1" dirty="0">
                <a:solidFill>
                  <a:srgbClr val="333300"/>
                </a:solidFill>
                <a:ea typeface="黑体" panose="02010609060101010101" pitchFamily="49" charset="-122"/>
              </a:rPr>
              <a:t>1×1=1</a:t>
            </a:r>
          </a:p>
          <a:p>
            <a:pPr marL="742950" lvl="1" indent="-285750" algn="l">
              <a:lnSpc>
                <a:spcPct val="90000"/>
              </a:lnSpc>
              <a:spcBef>
                <a:spcPct val="20000"/>
              </a:spcBef>
            </a:pPr>
            <a:endParaRPr lang="en-US" altLang="zh-CN" sz="2000" b="1" dirty="0">
              <a:solidFill>
                <a:srgbClr val="333300"/>
              </a:solidFill>
              <a:ea typeface="黑体" panose="02010609060101010101" pitchFamily="49" charset="-122"/>
            </a:endParaRPr>
          </a:p>
          <a:p>
            <a:pPr marL="342900" indent="-342900" algn="l">
              <a:lnSpc>
                <a:spcPct val="90000"/>
              </a:lnSpc>
              <a:spcBef>
                <a:spcPct val="20000"/>
              </a:spcBef>
              <a:buFontTx/>
              <a:buChar char="•"/>
            </a:pPr>
            <a:r>
              <a:rPr lang="zh-CN" altLang="en-US" sz="2400" b="1" dirty="0">
                <a:solidFill>
                  <a:srgbClr val="333300"/>
                </a:solidFill>
                <a:ea typeface="黑体" panose="02010609060101010101" pitchFamily="49" charset="-122"/>
              </a:rPr>
              <a:t>加法</a:t>
            </a:r>
            <a:r>
              <a:rPr lang="en-US" altLang="zh-CN" sz="2400" b="1" dirty="0" err="1">
                <a:solidFill>
                  <a:srgbClr val="333300"/>
                </a:solidFill>
                <a:ea typeface="黑体" panose="02010609060101010101" pitchFamily="49" charset="-122"/>
              </a:rPr>
              <a:t>a+b</a:t>
            </a:r>
            <a:r>
              <a:rPr lang="en-US" altLang="zh-CN" sz="2400" b="1" dirty="0">
                <a:solidFill>
                  <a:srgbClr val="333300"/>
                </a:solidFill>
                <a:ea typeface="黑体" panose="02010609060101010101" pitchFamily="49" charset="-122"/>
              </a:rPr>
              <a:t>=cs</a:t>
            </a:r>
            <a:endParaRPr lang="zh-CN" altLang="en-US" sz="2400" b="1" dirty="0">
              <a:solidFill>
                <a:srgbClr val="333300"/>
              </a:solidFill>
              <a:ea typeface="黑体" panose="02010609060101010101" pitchFamily="49" charset="-122"/>
            </a:endParaRPr>
          </a:p>
          <a:p>
            <a:pPr marL="742950" lvl="1" indent="-285750" algn="l">
              <a:lnSpc>
                <a:spcPct val="90000"/>
              </a:lnSpc>
              <a:spcBef>
                <a:spcPct val="20000"/>
              </a:spcBef>
            </a:pPr>
            <a:r>
              <a:rPr lang="en-US" altLang="zh-CN" sz="2000" b="1" dirty="0">
                <a:solidFill>
                  <a:srgbClr val="333300"/>
                </a:solidFill>
                <a:ea typeface="黑体" panose="02010609060101010101" pitchFamily="49" charset="-122"/>
              </a:rPr>
              <a:t>0+0=</a:t>
            </a:r>
            <a:r>
              <a:rPr lang="en-US" altLang="zh-CN" sz="2000" b="1" dirty="0">
                <a:solidFill>
                  <a:srgbClr val="3333FF"/>
                </a:solidFill>
                <a:ea typeface="黑体" panose="02010609060101010101" pitchFamily="49" charset="-122"/>
              </a:rPr>
              <a:t>0</a:t>
            </a:r>
            <a:r>
              <a:rPr lang="en-US" altLang="zh-CN" sz="2000" b="1" dirty="0">
                <a:solidFill>
                  <a:srgbClr val="333300"/>
                </a:solidFill>
                <a:ea typeface="黑体" panose="02010609060101010101" pitchFamily="49" charset="-122"/>
              </a:rPr>
              <a:t>0</a:t>
            </a:r>
          </a:p>
          <a:p>
            <a:pPr marL="742950" lvl="1" indent="-285750" algn="l">
              <a:lnSpc>
                <a:spcPct val="90000"/>
              </a:lnSpc>
              <a:spcBef>
                <a:spcPct val="20000"/>
              </a:spcBef>
            </a:pPr>
            <a:r>
              <a:rPr lang="en-US" altLang="zh-CN" sz="2000" b="1" dirty="0">
                <a:solidFill>
                  <a:srgbClr val="333300"/>
                </a:solidFill>
                <a:ea typeface="黑体" panose="02010609060101010101" pitchFamily="49" charset="-122"/>
              </a:rPr>
              <a:t>0+1=</a:t>
            </a:r>
            <a:r>
              <a:rPr lang="en-US" altLang="zh-CN" sz="2000" b="1" dirty="0">
                <a:solidFill>
                  <a:srgbClr val="3333FF"/>
                </a:solidFill>
                <a:ea typeface="黑体" panose="02010609060101010101" pitchFamily="49" charset="-122"/>
              </a:rPr>
              <a:t>0</a:t>
            </a:r>
            <a:r>
              <a:rPr lang="en-US" altLang="zh-CN" sz="2000" b="1" dirty="0">
                <a:solidFill>
                  <a:srgbClr val="333300"/>
                </a:solidFill>
                <a:ea typeface="黑体" panose="02010609060101010101" pitchFamily="49" charset="-122"/>
              </a:rPr>
              <a:t>1</a:t>
            </a:r>
          </a:p>
          <a:p>
            <a:pPr marL="742950" lvl="1" indent="-285750" algn="l">
              <a:lnSpc>
                <a:spcPct val="90000"/>
              </a:lnSpc>
              <a:spcBef>
                <a:spcPct val="20000"/>
              </a:spcBef>
            </a:pPr>
            <a:r>
              <a:rPr lang="en-US" altLang="zh-CN" sz="2000" b="1" dirty="0">
                <a:solidFill>
                  <a:srgbClr val="333300"/>
                </a:solidFill>
                <a:ea typeface="黑体" panose="02010609060101010101" pitchFamily="49" charset="-122"/>
              </a:rPr>
              <a:t>1+0=</a:t>
            </a:r>
            <a:r>
              <a:rPr lang="en-US" altLang="zh-CN" sz="2000" b="1" dirty="0">
                <a:solidFill>
                  <a:srgbClr val="3333FF"/>
                </a:solidFill>
                <a:ea typeface="黑体" panose="02010609060101010101" pitchFamily="49" charset="-122"/>
              </a:rPr>
              <a:t>0</a:t>
            </a:r>
            <a:r>
              <a:rPr lang="en-US" altLang="zh-CN" sz="2000" b="1" dirty="0">
                <a:solidFill>
                  <a:srgbClr val="333300"/>
                </a:solidFill>
                <a:ea typeface="黑体" panose="02010609060101010101" pitchFamily="49" charset="-122"/>
              </a:rPr>
              <a:t>1</a:t>
            </a:r>
          </a:p>
          <a:p>
            <a:pPr marL="742950" lvl="1" indent="-285750" algn="l">
              <a:lnSpc>
                <a:spcPct val="90000"/>
              </a:lnSpc>
              <a:spcBef>
                <a:spcPct val="20000"/>
              </a:spcBef>
            </a:pPr>
            <a:r>
              <a:rPr lang="en-US" altLang="zh-CN" sz="2000" b="1" dirty="0">
                <a:solidFill>
                  <a:srgbClr val="333300"/>
                </a:solidFill>
                <a:ea typeface="黑体" panose="02010609060101010101" pitchFamily="49" charset="-122"/>
              </a:rPr>
              <a:t>1+1=</a:t>
            </a:r>
            <a:r>
              <a:rPr lang="en-US" altLang="zh-CN" sz="2000" b="1" dirty="0">
                <a:solidFill>
                  <a:srgbClr val="3333FF"/>
                </a:solidFill>
                <a:ea typeface="黑体" panose="02010609060101010101" pitchFamily="49" charset="-122"/>
              </a:rPr>
              <a:t>1</a:t>
            </a:r>
            <a:r>
              <a:rPr lang="en-US" altLang="zh-CN" sz="2000" b="1" dirty="0">
                <a:solidFill>
                  <a:srgbClr val="333300"/>
                </a:solidFill>
                <a:ea typeface="黑体" panose="02010609060101010101" pitchFamily="49" charset="-122"/>
              </a:rPr>
              <a:t>0</a:t>
            </a:r>
          </a:p>
        </p:txBody>
      </p:sp>
      <p:sp>
        <p:nvSpPr>
          <p:cNvPr id="7" name="Line 5">
            <a:extLst>
              <a:ext uri="{FF2B5EF4-FFF2-40B4-BE49-F238E27FC236}">
                <a16:creationId xmlns:a16="http://schemas.microsoft.com/office/drawing/2014/main" id="{A1A6EF3A-CFB9-B0D2-81CF-BB83E0CD1638}"/>
              </a:ext>
            </a:extLst>
          </p:cNvPr>
          <p:cNvSpPr>
            <a:spLocks noChangeShapeType="1"/>
          </p:cNvSpPr>
          <p:nvPr/>
        </p:nvSpPr>
        <p:spPr bwMode="auto">
          <a:xfrm>
            <a:off x="2268538" y="2501540"/>
            <a:ext cx="4319587" cy="287338"/>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8" name="AutoShape 6">
            <a:extLst>
              <a:ext uri="{FF2B5EF4-FFF2-40B4-BE49-F238E27FC236}">
                <a16:creationId xmlns:a16="http://schemas.microsoft.com/office/drawing/2014/main" id="{F4905BB9-FFBF-D02E-877C-EFC50F60770D}"/>
              </a:ext>
            </a:extLst>
          </p:cNvPr>
          <p:cNvSpPr>
            <a:spLocks/>
          </p:cNvSpPr>
          <p:nvPr/>
        </p:nvSpPr>
        <p:spPr bwMode="auto">
          <a:xfrm>
            <a:off x="6661151" y="4228740"/>
            <a:ext cx="144462" cy="1223963"/>
          </a:xfrm>
          <a:prstGeom prst="leftBrace">
            <a:avLst>
              <a:gd name="adj1" fmla="val 70605"/>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9" name="AutoShape 7">
            <a:extLst>
              <a:ext uri="{FF2B5EF4-FFF2-40B4-BE49-F238E27FC236}">
                <a16:creationId xmlns:a16="http://schemas.microsoft.com/office/drawing/2014/main" id="{8650A7AD-C05F-870C-30C3-47C5CCAD0F9A}"/>
              </a:ext>
            </a:extLst>
          </p:cNvPr>
          <p:cNvSpPr>
            <a:spLocks/>
          </p:cNvSpPr>
          <p:nvPr/>
        </p:nvSpPr>
        <p:spPr bwMode="auto">
          <a:xfrm>
            <a:off x="2195513" y="1925278"/>
            <a:ext cx="73025" cy="1152525"/>
          </a:xfrm>
          <a:prstGeom prst="rightBrace">
            <a:avLst>
              <a:gd name="adj1" fmla="val 131522"/>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0" name="Text Box 8">
            <a:extLst>
              <a:ext uri="{FF2B5EF4-FFF2-40B4-BE49-F238E27FC236}">
                <a16:creationId xmlns:a16="http://schemas.microsoft.com/office/drawing/2014/main" id="{771EBDD6-64D8-94F0-DB4C-AAF8DECA5710}"/>
              </a:ext>
            </a:extLst>
          </p:cNvPr>
          <p:cNvSpPr txBox="1">
            <a:spLocks noChangeArrowheads="1"/>
          </p:cNvSpPr>
          <p:nvPr/>
        </p:nvSpPr>
        <p:spPr bwMode="auto">
          <a:xfrm>
            <a:off x="3851275" y="2247540"/>
            <a:ext cx="1152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r>
              <a:rPr lang="zh-CN" altLang="en-US" sz="2000" dirty="0">
                <a:solidFill>
                  <a:srgbClr val="FF0000"/>
                </a:solidFill>
                <a:ea typeface="黑体" panose="02010609060101010101" pitchFamily="49" charset="-122"/>
                <a:sym typeface="MT Extra" pitchFamily="18" charset="2"/>
              </a:rPr>
              <a:t>与</a:t>
            </a:r>
            <a:r>
              <a:rPr lang="en-US" altLang="zh-CN" sz="2000" dirty="0">
                <a:solidFill>
                  <a:srgbClr val="FF0000"/>
                </a:solidFill>
                <a:ea typeface="黑体" panose="02010609060101010101" pitchFamily="49" charset="-122"/>
                <a:sym typeface="MT Extra" pitchFamily="18" charset="2"/>
              </a:rPr>
              <a:t>=</a:t>
            </a:r>
            <a:r>
              <a:rPr lang="zh-CN" altLang="en-US" sz="2000" dirty="0">
                <a:solidFill>
                  <a:srgbClr val="FF0000"/>
                </a:solidFill>
                <a:ea typeface="黑体" panose="02010609060101010101" pitchFamily="49" charset="-122"/>
                <a:sym typeface="MT Extra" pitchFamily="18" charset="2"/>
              </a:rPr>
              <a:t>乘</a:t>
            </a:r>
          </a:p>
        </p:txBody>
      </p:sp>
      <p:sp>
        <p:nvSpPr>
          <p:cNvPr id="11" name="AutoShape 9">
            <a:extLst>
              <a:ext uri="{FF2B5EF4-FFF2-40B4-BE49-F238E27FC236}">
                <a16:creationId xmlns:a16="http://schemas.microsoft.com/office/drawing/2014/main" id="{5B95395C-374A-105D-810B-4D01937EE596}"/>
              </a:ext>
            </a:extLst>
          </p:cNvPr>
          <p:cNvSpPr>
            <a:spLocks/>
          </p:cNvSpPr>
          <p:nvPr/>
        </p:nvSpPr>
        <p:spPr bwMode="auto">
          <a:xfrm>
            <a:off x="6661150" y="2212615"/>
            <a:ext cx="144463" cy="1223963"/>
          </a:xfrm>
          <a:prstGeom prst="leftBrace">
            <a:avLst>
              <a:gd name="adj1" fmla="val 70604"/>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2" name="AutoShape 10">
            <a:extLst>
              <a:ext uri="{FF2B5EF4-FFF2-40B4-BE49-F238E27FC236}">
                <a16:creationId xmlns:a16="http://schemas.microsoft.com/office/drawing/2014/main" id="{0A0F440A-8569-8E1F-C326-D085ADD55997}"/>
              </a:ext>
            </a:extLst>
          </p:cNvPr>
          <p:cNvSpPr>
            <a:spLocks/>
          </p:cNvSpPr>
          <p:nvPr/>
        </p:nvSpPr>
        <p:spPr bwMode="auto">
          <a:xfrm>
            <a:off x="2195513" y="3573066"/>
            <a:ext cx="73025" cy="1008062"/>
          </a:xfrm>
          <a:prstGeom prst="rightBrace">
            <a:avLst>
              <a:gd name="adj1" fmla="val 115036"/>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3" name="AutoShape 13">
            <a:extLst>
              <a:ext uri="{FF2B5EF4-FFF2-40B4-BE49-F238E27FC236}">
                <a16:creationId xmlns:a16="http://schemas.microsoft.com/office/drawing/2014/main" id="{91B20B96-A3C5-3FB5-1ABD-17610ACBEEFB}"/>
              </a:ext>
            </a:extLst>
          </p:cNvPr>
          <p:cNvSpPr>
            <a:spLocks/>
          </p:cNvSpPr>
          <p:nvPr/>
        </p:nvSpPr>
        <p:spPr bwMode="auto">
          <a:xfrm>
            <a:off x="2124075" y="5121436"/>
            <a:ext cx="144463" cy="431800"/>
          </a:xfrm>
          <a:prstGeom prst="rightBrace">
            <a:avLst>
              <a:gd name="adj1" fmla="val 24908"/>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4" name="Line 15">
            <a:extLst>
              <a:ext uri="{FF2B5EF4-FFF2-40B4-BE49-F238E27FC236}">
                <a16:creationId xmlns:a16="http://schemas.microsoft.com/office/drawing/2014/main" id="{38131923-83D2-000A-9D5D-776E013C4B47}"/>
              </a:ext>
            </a:extLst>
          </p:cNvPr>
          <p:cNvSpPr>
            <a:spLocks noChangeShapeType="1"/>
          </p:cNvSpPr>
          <p:nvPr/>
        </p:nvSpPr>
        <p:spPr bwMode="auto">
          <a:xfrm flipH="1" flipV="1">
            <a:off x="2555875" y="3796940"/>
            <a:ext cx="4032250" cy="936625"/>
          </a:xfrm>
          <a:prstGeom prst="line">
            <a:avLst/>
          </a:prstGeom>
          <a:noFill/>
          <a:ln w="9525">
            <a:solidFill>
              <a:srgbClr val="00B05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solidFill>
                <a:srgbClr val="00B050"/>
              </a:solidFill>
              <a:ea typeface="黑体" panose="02010609060101010101" pitchFamily="49" charset="-122"/>
            </a:endParaRPr>
          </a:p>
        </p:txBody>
      </p:sp>
      <p:sp>
        <p:nvSpPr>
          <p:cNvPr id="15" name="Text Box 16">
            <a:extLst>
              <a:ext uri="{FF2B5EF4-FFF2-40B4-BE49-F238E27FC236}">
                <a16:creationId xmlns:a16="http://schemas.microsoft.com/office/drawing/2014/main" id="{51FDC60A-B4F8-C39D-9A4B-A3930BE9CE79}"/>
              </a:ext>
            </a:extLst>
          </p:cNvPr>
          <p:cNvSpPr txBox="1">
            <a:spLocks noChangeArrowheads="1"/>
          </p:cNvSpPr>
          <p:nvPr/>
        </p:nvSpPr>
        <p:spPr bwMode="auto">
          <a:xfrm rot="736547">
            <a:off x="2700338" y="4301765"/>
            <a:ext cx="34893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r>
              <a:rPr lang="zh-CN" altLang="en-US" sz="2000" dirty="0">
                <a:solidFill>
                  <a:srgbClr val="00B050"/>
                </a:solidFill>
                <a:latin typeface="+mn-lt"/>
                <a:ea typeface="黑体" panose="02010609060101010101" pitchFamily="49" charset="-122"/>
                <a:sym typeface="MT Extra" pitchFamily="18" charset="2"/>
              </a:rPr>
              <a:t>异或</a:t>
            </a:r>
            <a:r>
              <a:rPr lang="en-US" altLang="zh-CN" sz="2000" dirty="0">
                <a:solidFill>
                  <a:srgbClr val="00B050"/>
                </a:solidFill>
                <a:latin typeface="+mn-lt"/>
                <a:ea typeface="黑体" panose="02010609060101010101" pitchFamily="49" charset="-122"/>
                <a:sym typeface="MT Extra" pitchFamily="18" charset="2"/>
              </a:rPr>
              <a:t>=</a:t>
            </a:r>
            <a:r>
              <a:rPr lang="zh-CN" altLang="en-US" sz="2000" dirty="0">
                <a:solidFill>
                  <a:srgbClr val="00B050"/>
                </a:solidFill>
                <a:latin typeface="+mn-lt"/>
                <a:ea typeface="黑体" panose="02010609060101010101" pitchFamily="49" charset="-122"/>
                <a:sym typeface="MT Extra" pitchFamily="18" charset="2"/>
              </a:rPr>
              <a:t>和</a:t>
            </a:r>
          </a:p>
          <a:p>
            <a:pPr algn="l" eaLnBrk="1" hangingPunct="1"/>
            <a:r>
              <a:rPr lang="zh-CN" altLang="en-US" sz="2000" dirty="0">
                <a:solidFill>
                  <a:srgbClr val="00B050"/>
                </a:solidFill>
                <a:latin typeface="+mn-lt"/>
                <a:ea typeface="黑体" panose="02010609060101010101" pitchFamily="49" charset="-122"/>
                <a:sym typeface="MT Extra" pitchFamily="18" charset="2"/>
              </a:rPr>
              <a:t>异或：</a:t>
            </a:r>
            <a:r>
              <a:rPr lang="en-US" altLang="zh-CN" sz="2000" dirty="0" err="1">
                <a:solidFill>
                  <a:srgbClr val="00B050"/>
                </a:solidFill>
                <a:latin typeface="+mn-lt"/>
                <a:ea typeface="黑体" panose="02010609060101010101" pitchFamily="49" charset="-122"/>
                <a:sym typeface="MT Extra" pitchFamily="18" charset="2"/>
              </a:rPr>
              <a:t>a⊕b</a:t>
            </a:r>
            <a:r>
              <a:rPr lang="en-US" altLang="zh-CN" sz="2000" dirty="0">
                <a:solidFill>
                  <a:srgbClr val="00B050"/>
                </a:solidFill>
                <a:latin typeface="+mn-lt"/>
                <a:ea typeface="黑体" panose="02010609060101010101" pitchFamily="49" charset="-122"/>
                <a:sym typeface="MT Extra" pitchFamily="18" charset="2"/>
              </a:rPr>
              <a:t>=(</a:t>
            </a:r>
            <a:r>
              <a:rPr lang="zh-CN" altLang="en-US" sz="2000" dirty="0">
                <a:solidFill>
                  <a:srgbClr val="00B050"/>
                </a:solidFill>
                <a:latin typeface="+mn-lt"/>
                <a:ea typeface="黑体" panose="02010609060101010101" pitchFamily="49" charset="-122"/>
                <a:sym typeface="MT Extra" pitchFamily="18" charset="2"/>
              </a:rPr>
              <a:t>～</a:t>
            </a:r>
            <a:r>
              <a:rPr lang="en-US" altLang="zh-CN" sz="2000" dirty="0" err="1">
                <a:solidFill>
                  <a:srgbClr val="00B050"/>
                </a:solidFill>
                <a:latin typeface="+mn-lt"/>
                <a:ea typeface="黑体" panose="02010609060101010101" pitchFamily="49" charset="-122"/>
                <a:sym typeface="MT Extra" pitchFamily="18" charset="2"/>
              </a:rPr>
              <a:t>ab</a:t>
            </a:r>
            <a:r>
              <a:rPr lang="en-US" altLang="zh-CN" sz="2000" dirty="0">
                <a:solidFill>
                  <a:srgbClr val="00B050"/>
                </a:solidFill>
                <a:latin typeface="+mn-lt"/>
                <a:ea typeface="黑体" panose="02010609060101010101" pitchFamily="49" charset="-122"/>
                <a:sym typeface="MT Extra" pitchFamily="18" charset="2"/>
              </a:rPr>
              <a:t>)(a~b)</a:t>
            </a:r>
          </a:p>
        </p:txBody>
      </p:sp>
      <p:sp>
        <p:nvSpPr>
          <p:cNvPr id="16" name="Line 17">
            <a:extLst>
              <a:ext uri="{FF2B5EF4-FFF2-40B4-BE49-F238E27FC236}">
                <a16:creationId xmlns:a16="http://schemas.microsoft.com/office/drawing/2014/main" id="{D9511C78-00D5-2457-F53E-4E703AFB9970}"/>
              </a:ext>
            </a:extLst>
          </p:cNvPr>
          <p:cNvSpPr>
            <a:spLocks noChangeShapeType="1"/>
          </p:cNvSpPr>
          <p:nvPr/>
        </p:nvSpPr>
        <p:spPr bwMode="auto">
          <a:xfrm flipH="1" flipV="1">
            <a:off x="2268538" y="2572978"/>
            <a:ext cx="4319587" cy="1800225"/>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7" name="Text Box 18">
            <a:extLst>
              <a:ext uri="{FF2B5EF4-FFF2-40B4-BE49-F238E27FC236}">
                <a16:creationId xmlns:a16="http://schemas.microsoft.com/office/drawing/2014/main" id="{D3B311F9-5092-13D7-126B-8B3CE70E58FA}"/>
              </a:ext>
            </a:extLst>
          </p:cNvPr>
          <p:cNvSpPr txBox="1">
            <a:spLocks noChangeArrowheads="1"/>
          </p:cNvSpPr>
          <p:nvPr/>
        </p:nvSpPr>
        <p:spPr bwMode="auto">
          <a:xfrm rot="1175537">
            <a:off x="3924300" y="3149240"/>
            <a:ext cx="1098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algn="l" eaLnBrk="1" hangingPunct="1"/>
            <a:r>
              <a:rPr lang="zh-CN" altLang="en-US" sz="2000" dirty="0">
                <a:solidFill>
                  <a:srgbClr val="3333FF"/>
                </a:solidFill>
                <a:ea typeface="黑体" panose="02010609060101010101" pitchFamily="49" charset="-122"/>
                <a:sym typeface="MT Extra" pitchFamily="18" charset="2"/>
              </a:rPr>
              <a:t>与</a:t>
            </a:r>
            <a:r>
              <a:rPr lang="en-US" altLang="zh-CN" sz="2000" dirty="0">
                <a:solidFill>
                  <a:srgbClr val="3333FF"/>
                </a:solidFill>
                <a:ea typeface="黑体" panose="02010609060101010101" pitchFamily="49" charset="-122"/>
                <a:sym typeface="MT Extra" pitchFamily="18" charset="2"/>
              </a:rPr>
              <a:t>=</a:t>
            </a:r>
            <a:r>
              <a:rPr lang="zh-CN" altLang="en-US" sz="2000" dirty="0">
                <a:solidFill>
                  <a:srgbClr val="3333FF"/>
                </a:solidFill>
                <a:ea typeface="黑体" panose="02010609060101010101" pitchFamily="49" charset="-122"/>
                <a:sym typeface="MT Extra" pitchFamily="18" charset="2"/>
              </a:rPr>
              <a:t>进位</a:t>
            </a:r>
          </a:p>
        </p:txBody>
      </p:sp>
      <p:sp>
        <p:nvSpPr>
          <p:cNvPr id="18" name="AutoShape 19">
            <a:extLst>
              <a:ext uri="{FF2B5EF4-FFF2-40B4-BE49-F238E27FC236}">
                <a16:creationId xmlns:a16="http://schemas.microsoft.com/office/drawing/2014/main" id="{F8757B87-173F-C62B-4C9E-D980A7DCD723}"/>
              </a:ext>
            </a:extLst>
          </p:cNvPr>
          <p:cNvSpPr>
            <a:spLocks/>
          </p:cNvSpPr>
          <p:nvPr/>
        </p:nvSpPr>
        <p:spPr bwMode="auto">
          <a:xfrm>
            <a:off x="2411413" y="1925278"/>
            <a:ext cx="144462" cy="3671887"/>
          </a:xfrm>
          <a:prstGeom prst="rightBrace">
            <a:avLst>
              <a:gd name="adj1" fmla="val 211814"/>
              <a:gd name="adj2" fmla="val 50000"/>
            </a:avLst>
          </a:prstGeom>
          <a:noFill/>
          <a:ln w="9525">
            <a:solidFill>
              <a:srgbClr val="00B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solidFill>
                <a:srgbClr val="00B050"/>
              </a:solidFill>
              <a:ea typeface="黑体" panose="02010609060101010101" pitchFamily="49" charset="-122"/>
            </a:endParaRPr>
          </a:p>
        </p:txBody>
      </p:sp>
      <p:sp>
        <p:nvSpPr>
          <p:cNvPr id="19" name="Rectangle 4">
            <a:extLst>
              <a:ext uri="{FF2B5EF4-FFF2-40B4-BE49-F238E27FC236}">
                <a16:creationId xmlns:a16="http://schemas.microsoft.com/office/drawing/2014/main" id="{EC82A0EF-BA56-8DDE-4325-A6CA3AB6E75E}"/>
              </a:ext>
            </a:extLst>
          </p:cNvPr>
          <p:cNvSpPr>
            <a:spLocks noChangeArrowheads="1"/>
          </p:cNvSpPr>
          <p:nvPr/>
        </p:nvSpPr>
        <p:spPr bwMode="auto">
          <a:xfrm>
            <a:off x="2667000" y="5193940"/>
            <a:ext cx="4038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lnSpc>
                <a:spcPct val="90000"/>
              </a:lnSpc>
              <a:spcBef>
                <a:spcPct val="20000"/>
              </a:spcBef>
              <a:buFontTx/>
              <a:buChar char="•"/>
            </a:pPr>
            <a:r>
              <a:rPr lang="en-US" altLang="zh-CN" sz="2400" b="1" dirty="0">
                <a:solidFill>
                  <a:srgbClr val="333300"/>
                </a:solidFill>
                <a:ea typeface="黑体" panose="02010609060101010101" pitchFamily="49" charset="-122"/>
              </a:rPr>
              <a:t>f=</a:t>
            </a:r>
            <a:r>
              <a:rPr lang="en-US" altLang="zh-CN" sz="2400" b="1" dirty="0" err="1">
                <a:solidFill>
                  <a:srgbClr val="333300"/>
                </a:solidFill>
                <a:ea typeface="黑体" panose="02010609060101010101" pitchFamily="49" charset="-122"/>
              </a:rPr>
              <a:t>a</a:t>
            </a:r>
            <a:r>
              <a:rPr lang="en-US" altLang="zh-CN" sz="2400" b="1" dirty="0" err="1">
                <a:solidFill>
                  <a:srgbClr val="333300"/>
                </a:solidFill>
                <a:ea typeface="黑体" panose="02010609060101010101" pitchFamily="49" charset="-122"/>
                <a:sym typeface="Symbol" pitchFamily="18" charset="2"/>
              </a:rPr>
              <a:t></a:t>
            </a:r>
            <a:r>
              <a:rPr lang="en-US" altLang="zh-CN" sz="2400" b="1" dirty="0" err="1">
                <a:solidFill>
                  <a:srgbClr val="333300"/>
                </a:solidFill>
                <a:ea typeface="黑体" panose="02010609060101010101" pitchFamily="49" charset="-122"/>
              </a:rPr>
              <a:t>b</a:t>
            </a:r>
            <a:endParaRPr lang="zh-CN" altLang="en-US" sz="2400" b="1" dirty="0">
              <a:solidFill>
                <a:srgbClr val="333300"/>
              </a:solidFill>
              <a:ea typeface="黑体" panose="02010609060101010101" pitchFamily="49" charset="-122"/>
            </a:endParaRPr>
          </a:p>
          <a:p>
            <a:pPr marL="342900" indent="-342900" algn="l">
              <a:lnSpc>
                <a:spcPct val="90000"/>
              </a:lnSpc>
              <a:spcBef>
                <a:spcPct val="20000"/>
              </a:spcBef>
              <a:buFontTx/>
              <a:buChar char="•"/>
            </a:pPr>
            <a:r>
              <a:rPr lang="en-US" altLang="zh-CN" sz="2400" b="1" dirty="0">
                <a:solidFill>
                  <a:srgbClr val="333300"/>
                </a:solidFill>
                <a:ea typeface="黑体" panose="02010609060101010101" pitchFamily="49" charset="-122"/>
              </a:rPr>
              <a:t>c=</a:t>
            </a:r>
            <a:r>
              <a:rPr lang="en-US" altLang="zh-CN" sz="2400" b="1" dirty="0" err="1">
                <a:solidFill>
                  <a:srgbClr val="333300"/>
                </a:solidFill>
                <a:ea typeface="黑体" panose="02010609060101010101" pitchFamily="49" charset="-122"/>
              </a:rPr>
              <a:t>a</a:t>
            </a:r>
            <a:r>
              <a:rPr lang="en-US" altLang="zh-CN" sz="2400" b="1" dirty="0" err="1">
                <a:solidFill>
                  <a:srgbClr val="333300"/>
                </a:solidFill>
                <a:ea typeface="黑体" panose="02010609060101010101" pitchFamily="49" charset="-122"/>
                <a:sym typeface="Symbol" pitchFamily="18" charset="2"/>
              </a:rPr>
              <a:t></a:t>
            </a:r>
            <a:r>
              <a:rPr lang="en-US" altLang="zh-CN" sz="2400" b="1" dirty="0" err="1">
                <a:solidFill>
                  <a:srgbClr val="333300"/>
                </a:solidFill>
                <a:ea typeface="黑体" panose="02010609060101010101" pitchFamily="49" charset="-122"/>
              </a:rPr>
              <a:t>b</a:t>
            </a:r>
            <a:endParaRPr lang="zh-CN" altLang="en-US" sz="2400" b="1" dirty="0">
              <a:solidFill>
                <a:srgbClr val="333300"/>
              </a:solidFill>
              <a:ea typeface="黑体" panose="02010609060101010101" pitchFamily="49" charset="-122"/>
            </a:endParaRPr>
          </a:p>
          <a:p>
            <a:pPr marL="342900" indent="-342900" algn="l">
              <a:lnSpc>
                <a:spcPct val="90000"/>
              </a:lnSpc>
              <a:spcBef>
                <a:spcPct val="20000"/>
              </a:spcBef>
              <a:buFontTx/>
              <a:buChar char="•"/>
            </a:pPr>
            <a:r>
              <a:rPr lang="en-US" altLang="zh-CN" sz="2400" b="1" dirty="0">
                <a:solidFill>
                  <a:srgbClr val="333300"/>
                </a:solidFill>
                <a:ea typeface="黑体" panose="02010609060101010101" pitchFamily="49" charset="-122"/>
              </a:rPr>
              <a:t>s=ab’+</a:t>
            </a:r>
            <a:r>
              <a:rPr lang="en-US" altLang="zh-CN" sz="2400" b="1" dirty="0" err="1">
                <a:solidFill>
                  <a:srgbClr val="333300"/>
                </a:solidFill>
                <a:ea typeface="黑体" panose="02010609060101010101" pitchFamily="49" charset="-122"/>
              </a:rPr>
              <a:t>a’b</a:t>
            </a:r>
            <a:r>
              <a:rPr lang="en-US" altLang="zh-CN" sz="2400" b="1" dirty="0">
                <a:solidFill>
                  <a:srgbClr val="333300"/>
                </a:solidFill>
                <a:ea typeface="黑体" panose="02010609060101010101" pitchFamily="49" charset="-122"/>
              </a:rPr>
              <a:t>=</a:t>
            </a:r>
            <a:r>
              <a:rPr lang="en-US" altLang="zh-CN" sz="2400" b="1" dirty="0" err="1">
                <a:solidFill>
                  <a:srgbClr val="333300"/>
                </a:solidFill>
                <a:ea typeface="黑体" panose="02010609060101010101" pitchFamily="49" charset="-122"/>
              </a:rPr>
              <a:t>a</a:t>
            </a:r>
            <a:r>
              <a:rPr lang="en-US" altLang="zh-CN" sz="2400" b="1" dirty="0" err="1">
                <a:solidFill>
                  <a:srgbClr val="333300"/>
                </a:solidFill>
                <a:ea typeface="黑体" panose="02010609060101010101" pitchFamily="49" charset="-122"/>
                <a:sym typeface="Symbol" pitchFamily="18" charset="2"/>
              </a:rPr>
              <a:t></a:t>
            </a:r>
            <a:r>
              <a:rPr lang="en-US" altLang="zh-CN" sz="2400" b="1" dirty="0" err="1">
                <a:solidFill>
                  <a:srgbClr val="333300"/>
                </a:solidFill>
                <a:ea typeface="黑体" panose="02010609060101010101" pitchFamily="49" charset="-122"/>
              </a:rPr>
              <a:t>b</a:t>
            </a:r>
            <a:endParaRPr lang="zh-CN" altLang="en-US" sz="2400" b="1" dirty="0">
              <a:solidFill>
                <a:srgbClr val="333300"/>
              </a:solidFill>
              <a:ea typeface="黑体" panose="02010609060101010101" pitchFamily="49" charset="-122"/>
            </a:endParaRPr>
          </a:p>
        </p:txBody>
      </p:sp>
    </p:spTree>
    <p:extLst>
      <p:ext uri="{BB962C8B-B14F-4D97-AF65-F5344CB8AC3E}">
        <p14:creationId xmlns:p14="http://schemas.microsoft.com/office/powerpoint/2010/main" val="20907815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圆角矩形 50">
            <a:extLst>
              <a:ext uri="{FF2B5EF4-FFF2-40B4-BE49-F238E27FC236}">
                <a16:creationId xmlns:a16="http://schemas.microsoft.com/office/drawing/2014/main" id="{EB413186-ED73-FB44-BD45-3CAC385790F3}"/>
              </a:ext>
            </a:extLst>
          </p:cNvPr>
          <p:cNvSpPr/>
          <p:nvPr/>
        </p:nvSpPr>
        <p:spPr bwMode="auto">
          <a:xfrm>
            <a:off x="539552" y="4884994"/>
            <a:ext cx="1120806" cy="524226"/>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ea typeface="黑体" panose="02010609060101010101" pitchFamily="49" charset="-122"/>
              </a:rPr>
              <a:t>布尔代数</a:t>
            </a:r>
          </a:p>
        </p:txBody>
      </p:sp>
      <p:sp>
        <p:nvSpPr>
          <p:cNvPr id="53" name="圆角矩形 52">
            <a:extLst>
              <a:ext uri="{FF2B5EF4-FFF2-40B4-BE49-F238E27FC236}">
                <a16:creationId xmlns:a16="http://schemas.microsoft.com/office/drawing/2014/main" id="{BCD5C7DE-245E-1641-8639-CD950B0C02A8}"/>
              </a:ext>
            </a:extLst>
          </p:cNvPr>
          <p:cNvSpPr/>
          <p:nvPr/>
        </p:nvSpPr>
        <p:spPr bwMode="auto">
          <a:xfrm>
            <a:off x="2036273" y="4048621"/>
            <a:ext cx="999100" cy="524226"/>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布尔代数</a:t>
            </a:r>
          </a:p>
        </p:txBody>
      </p:sp>
      <p:sp>
        <p:nvSpPr>
          <p:cNvPr id="54" name="圆角矩形 53">
            <a:extLst>
              <a:ext uri="{FF2B5EF4-FFF2-40B4-BE49-F238E27FC236}">
                <a16:creationId xmlns:a16="http://schemas.microsoft.com/office/drawing/2014/main" id="{04C3BD68-4C52-9C4A-BE68-573CC5D48754}"/>
              </a:ext>
            </a:extLst>
          </p:cNvPr>
          <p:cNvSpPr/>
          <p:nvPr/>
        </p:nvSpPr>
        <p:spPr bwMode="auto">
          <a:xfrm>
            <a:off x="2042075" y="4885774"/>
            <a:ext cx="1011205" cy="524228"/>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描述</a:t>
            </a:r>
          </a:p>
        </p:txBody>
      </p:sp>
      <p:sp>
        <p:nvSpPr>
          <p:cNvPr id="55" name="圆角矩形 54">
            <a:extLst>
              <a:ext uri="{FF2B5EF4-FFF2-40B4-BE49-F238E27FC236}">
                <a16:creationId xmlns:a16="http://schemas.microsoft.com/office/drawing/2014/main" id="{01D8FC52-AA7D-6F4E-9741-819E103077E4}"/>
              </a:ext>
            </a:extLst>
          </p:cNvPr>
          <p:cNvSpPr/>
          <p:nvPr/>
        </p:nvSpPr>
        <p:spPr bwMode="auto">
          <a:xfrm>
            <a:off x="2043186" y="6114579"/>
            <a:ext cx="1452315" cy="524228"/>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ea typeface="黑体" panose="02010609060101010101" pitchFamily="49" charset="-122"/>
              </a:rPr>
              <a:t>化简</a:t>
            </a:r>
          </a:p>
        </p:txBody>
      </p:sp>
      <p:sp>
        <p:nvSpPr>
          <p:cNvPr id="56" name="圆角矩形 55">
            <a:extLst>
              <a:ext uri="{FF2B5EF4-FFF2-40B4-BE49-F238E27FC236}">
                <a16:creationId xmlns:a16="http://schemas.microsoft.com/office/drawing/2014/main" id="{A4121B91-FC1C-584C-A1ED-CB0A3E57693B}"/>
              </a:ext>
            </a:extLst>
          </p:cNvPr>
          <p:cNvSpPr/>
          <p:nvPr/>
        </p:nvSpPr>
        <p:spPr bwMode="auto">
          <a:xfrm>
            <a:off x="3652676" y="4132438"/>
            <a:ext cx="1637172" cy="356593"/>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布尔逻辑</a:t>
            </a:r>
          </a:p>
        </p:txBody>
      </p:sp>
      <p:sp>
        <p:nvSpPr>
          <p:cNvPr id="37" name="圆角矩形 36">
            <a:extLst>
              <a:ext uri="{FF2B5EF4-FFF2-40B4-BE49-F238E27FC236}">
                <a16:creationId xmlns:a16="http://schemas.microsoft.com/office/drawing/2014/main" id="{6FDCD4E8-56AA-CB46-8846-A97ED3A9AE53}"/>
              </a:ext>
            </a:extLst>
          </p:cNvPr>
          <p:cNvSpPr/>
          <p:nvPr/>
        </p:nvSpPr>
        <p:spPr bwMode="auto">
          <a:xfrm>
            <a:off x="539552" y="2386176"/>
            <a:ext cx="1120806" cy="524226"/>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数的表示</a:t>
            </a:r>
          </a:p>
        </p:txBody>
      </p:sp>
      <p:sp>
        <p:nvSpPr>
          <p:cNvPr id="38" name="圆角矩形 37">
            <a:extLst>
              <a:ext uri="{FF2B5EF4-FFF2-40B4-BE49-F238E27FC236}">
                <a16:creationId xmlns:a16="http://schemas.microsoft.com/office/drawing/2014/main" id="{A59BAAFB-A2FF-5F42-952A-D2F791B639B1}"/>
              </a:ext>
            </a:extLst>
          </p:cNvPr>
          <p:cNvSpPr/>
          <p:nvPr/>
        </p:nvSpPr>
        <p:spPr bwMode="auto">
          <a:xfrm>
            <a:off x="3652676" y="2729280"/>
            <a:ext cx="877789"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54000" tIns="45720" rIns="5400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Heiti SC Medium" pitchFamily="2" charset="-128"/>
                <a:ea typeface="Heiti SC Medium" pitchFamily="2" charset="-128"/>
              </a:rPr>
              <a:t>ASCII</a:t>
            </a:r>
            <a:endParaRPr kumimoji="0" lang="zh-CN" altLang="en-US" sz="1600" b="0" i="0" u="none" strike="noStrike" cap="none" normalizeH="0" baseline="0" dirty="0">
              <a:ln>
                <a:noFill/>
              </a:ln>
              <a:solidFill>
                <a:schemeClr val="tx1"/>
              </a:solidFill>
              <a:effectLst/>
              <a:latin typeface="Heiti SC Medium" pitchFamily="2" charset="-128"/>
              <a:ea typeface="Heiti SC Medium" pitchFamily="2" charset="-128"/>
            </a:endParaRPr>
          </a:p>
        </p:txBody>
      </p:sp>
      <p:sp>
        <p:nvSpPr>
          <p:cNvPr id="39" name="圆角矩形 38">
            <a:extLst>
              <a:ext uri="{FF2B5EF4-FFF2-40B4-BE49-F238E27FC236}">
                <a16:creationId xmlns:a16="http://schemas.microsoft.com/office/drawing/2014/main" id="{F877C2AA-45C1-FB42-9816-E6D531AABD71}"/>
              </a:ext>
            </a:extLst>
          </p:cNvPr>
          <p:cNvSpPr/>
          <p:nvPr/>
        </p:nvSpPr>
        <p:spPr bwMode="auto">
          <a:xfrm>
            <a:off x="2117062" y="1991138"/>
            <a:ext cx="918311" cy="535949"/>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二进制</a:t>
            </a:r>
          </a:p>
        </p:txBody>
      </p:sp>
      <p:sp>
        <p:nvSpPr>
          <p:cNvPr id="40" name="圆角矩形 39">
            <a:extLst>
              <a:ext uri="{FF2B5EF4-FFF2-40B4-BE49-F238E27FC236}">
                <a16:creationId xmlns:a16="http://schemas.microsoft.com/office/drawing/2014/main" id="{2930BEFA-E07E-504A-A34E-40381952A36B}"/>
              </a:ext>
            </a:extLst>
          </p:cNvPr>
          <p:cNvSpPr/>
          <p:nvPr/>
        </p:nvSpPr>
        <p:spPr bwMode="auto">
          <a:xfrm>
            <a:off x="3659385" y="3172624"/>
            <a:ext cx="871081"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Heiti SC Medium" pitchFamily="2" charset="-128"/>
                <a:ea typeface="Heiti SC Medium" pitchFamily="2" charset="-128"/>
              </a:rPr>
              <a:t>Gray</a:t>
            </a:r>
            <a:endParaRPr kumimoji="0" lang="zh-CN" altLang="en-US" sz="1600" b="0" i="0" u="none" strike="noStrike" cap="none" normalizeH="0" baseline="0" dirty="0">
              <a:ln>
                <a:noFill/>
              </a:ln>
              <a:solidFill>
                <a:schemeClr val="tx1"/>
              </a:solidFill>
              <a:effectLst/>
              <a:latin typeface="Heiti SC Medium" pitchFamily="2" charset="-128"/>
              <a:ea typeface="Heiti SC Medium" pitchFamily="2" charset="-128"/>
            </a:endParaRPr>
          </a:p>
        </p:txBody>
      </p:sp>
      <p:sp>
        <p:nvSpPr>
          <p:cNvPr id="41" name="圆角矩形 40">
            <a:extLst>
              <a:ext uri="{FF2B5EF4-FFF2-40B4-BE49-F238E27FC236}">
                <a16:creationId xmlns:a16="http://schemas.microsoft.com/office/drawing/2014/main" id="{E56A7668-40C8-D546-9328-7E59182723E1}"/>
              </a:ext>
            </a:extLst>
          </p:cNvPr>
          <p:cNvSpPr/>
          <p:nvPr/>
        </p:nvSpPr>
        <p:spPr bwMode="auto">
          <a:xfrm>
            <a:off x="3709904" y="2275300"/>
            <a:ext cx="918311" cy="346797"/>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ea typeface="黑体" panose="02010609060101010101" pitchFamily="49" charset="-122"/>
              </a:rPr>
              <a:t>小数</a:t>
            </a:r>
          </a:p>
        </p:txBody>
      </p:sp>
      <p:sp>
        <p:nvSpPr>
          <p:cNvPr id="42" name="圆角矩形 41">
            <a:extLst>
              <a:ext uri="{FF2B5EF4-FFF2-40B4-BE49-F238E27FC236}">
                <a16:creationId xmlns:a16="http://schemas.microsoft.com/office/drawing/2014/main" id="{40A66802-834E-A949-B91C-9C8858D44682}"/>
              </a:ext>
            </a:extLst>
          </p:cNvPr>
          <p:cNvSpPr/>
          <p:nvPr/>
        </p:nvSpPr>
        <p:spPr bwMode="auto">
          <a:xfrm>
            <a:off x="6838055" y="2477027"/>
            <a:ext cx="1689245" cy="48122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ea typeface="黑体" panose="02010609060101010101" pitchFamily="49" charset="-122"/>
              </a:rPr>
              <a:t>减法与溢出</a:t>
            </a:r>
          </a:p>
        </p:txBody>
      </p:sp>
      <p:sp>
        <p:nvSpPr>
          <p:cNvPr id="49" name="圆角矩形 48">
            <a:extLst>
              <a:ext uri="{FF2B5EF4-FFF2-40B4-BE49-F238E27FC236}">
                <a16:creationId xmlns:a16="http://schemas.microsoft.com/office/drawing/2014/main" id="{DB0386E3-5F63-8C43-ADF6-0B65D6546F42}"/>
              </a:ext>
            </a:extLst>
          </p:cNvPr>
          <p:cNvSpPr/>
          <p:nvPr/>
        </p:nvSpPr>
        <p:spPr bwMode="auto">
          <a:xfrm>
            <a:off x="6843195" y="1919130"/>
            <a:ext cx="1689245"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ea typeface="黑体" panose="02010609060101010101" pitchFamily="49" charset="-122"/>
              </a:rPr>
              <a:t>补码（</a:t>
            </a:r>
            <a:r>
              <a:rPr lang="en-US" altLang="zh-CN" sz="1600" b="1" dirty="0">
                <a:ea typeface="黑体" panose="02010609060101010101" pitchFamily="49" charset="-122"/>
              </a:rPr>
              <a:t>2</a:t>
            </a:r>
            <a:r>
              <a:rPr lang="zh-CN" altLang="en-US" sz="1600" b="1" dirty="0">
                <a:ea typeface="黑体" panose="02010609060101010101" pitchFamily="49" charset="-122"/>
              </a:rPr>
              <a:t>补码）</a:t>
            </a:r>
            <a:endParaRPr lang="en-US" sz="1600" b="1" dirty="0">
              <a:ea typeface="黑体" panose="02010609060101010101" pitchFamily="49" charset="-122"/>
            </a:endParaRPr>
          </a:p>
        </p:txBody>
      </p:sp>
      <p:cxnSp>
        <p:nvCxnSpPr>
          <p:cNvPr id="68" name="肘形连接符 67">
            <a:extLst>
              <a:ext uri="{FF2B5EF4-FFF2-40B4-BE49-F238E27FC236}">
                <a16:creationId xmlns:a16="http://schemas.microsoft.com/office/drawing/2014/main" id="{5C5F588E-F4E7-F946-A7CD-52FDBF2FA56A}"/>
              </a:ext>
            </a:extLst>
          </p:cNvPr>
          <p:cNvCxnSpPr>
            <a:cxnSpLocks/>
            <a:stCxn id="37" idx="3"/>
            <a:endCxn id="39" idx="1"/>
          </p:cNvCxnSpPr>
          <p:nvPr/>
        </p:nvCxnSpPr>
        <p:spPr bwMode="auto">
          <a:xfrm flipV="1">
            <a:off x="1660358" y="2259113"/>
            <a:ext cx="456704" cy="389176"/>
          </a:xfrm>
          <a:prstGeom prst="bentConnector3">
            <a:avLst/>
          </a:prstGeom>
          <a:solidFill>
            <a:schemeClr val="accent1"/>
          </a:solidFill>
          <a:ln w="38100" cap="flat" cmpd="sng" algn="ctr">
            <a:solidFill>
              <a:schemeClr val="tx1"/>
            </a:solidFill>
            <a:prstDash val="solid"/>
            <a:round/>
            <a:headEnd type="none" w="med" len="med"/>
            <a:tailEnd type="triangle"/>
          </a:ln>
          <a:effectLst/>
        </p:spPr>
      </p:cxnSp>
      <p:cxnSp>
        <p:nvCxnSpPr>
          <p:cNvPr id="71" name="肘形连接符 70">
            <a:extLst>
              <a:ext uri="{FF2B5EF4-FFF2-40B4-BE49-F238E27FC236}">
                <a16:creationId xmlns:a16="http://schemas.microsoft.com/office/drawing/2014/main" id="{55B6001B-0C73-2043-AD47-D60672D301C8}"/>
              </a:ext>
            </a:extLst>
          </p:cNvPr>
          <p:cNvCxnSpPr>
            <a:cxnSpLocks/>
            <a:stCxn id="37" idx="3"/>
            <a:endCxn id="85" idx="1"/>
          </p:cNvCxnSpPr>
          <p:nvPr/>
        </p:nvCxnSpPr>
        <p:spPr bwMode="auto">
          <a:xfrm>
            <a:off x="1660358" y="2648289"/>
            <a:ext cx="456704" cy="507952"/>
          </a:xfrm>
          <a:prstGeom prst="bentConnector3">
            <a:avLst/>
          </a:prstGeom>
          <a:solidFill>
            <a:schemeClr val="accent1"/>
          </a:solidFill>
          <a:ln w="38100" cap="flat" cmpd="sng" algn="ctr">
            <a:solidFill>
              <a:schemeClr val="tx1"/>
            </a:solidFill>
            <a:prstDash val="solid"/>
            <a:round/>
            <a:headEnd type="none" w="med" len="med"/>
            <a:tailEnd type="triangle"/>
          </a:ln>
          <a:effectLst/>
        </p:spPr>
      </p:cxnSp>
      <p:cxnSp>
        <p:nvCxnSpPr>
          <p:cNvPr id="74" name="肘形连接符 73">
            <a:extLst>
              <a:ext uri="{FF2B5EF4-FFF2-40B4-BE49-F238E27FC236}">
                <a16:creationId xmlns:a16="http://schemas.microsoft.com/office/drawing/2014/main" id="{A227A50F-F0B8-1944-9D45-2F91B98FCFA8}"/>
              </a:ext>
            </a:extLst>
          </p:cNvPr>
          <p:cNvCxnSpPr>
            <a:cxnSpLocks/>
            <a:stCxn id="39" idx="3"/>
            <a:endCxn id="41" idx="1"/>
          </p:cNvCxnSpPr>
          <p:nvPr/>
        </p:nvCxnSpPr>
        <p:spPr bwMode="auto">
          <a:xfrm>
            <a:off x="3035373" y="2259113"/>
            <a:ext cx="674531" cy="18958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80" name="肘形连接符 79">
            <a:extLst>
              <a:ext uri="{FF2B5EF4-FFF2-40B4-BE49-F238E27FC236}">
                <a16:creationId xmlns:a16="http://schemas.microsoft.com/office/drawing/2014/main" id="{6D084903-159D-6341-B002-C23B64821656}"/>
              </a:ext>
            </a:extLst>
          </p:cNvPr>
          <p:cNvCxnSpPr>
            <a:cxnSpLocks/>
            <a:stCxn id="102" idx="3"/>
            <a:endCxn id="49" idx="1"/>
          </p:cNvCxnSpPr>
          <p:nvPr/>
        </p:nvCxnSpPr>
        <p:spPr bwMode="auto">
          <a:xfrm>
            <a:off x="6288061" y="1901239"/>
            <a:ext cx="555134" cy="16305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96" name="肘形连接符 95">
            <a:extLst>
              <a:ext uri="{FF2B5EF4-FFF2-40B4-BE49-F238E27FC236}">
                <a16:creationId xmlns:a16="http://schemas.microsoft.com/office/drawing/2014/main" id="{B7C87EDF-4162-604D-B9BD-0231D350795B}"/>
              </a:ext>
            </a:extLst>
          </p:cNvPr>
          <p:cNvCxnSpPr>
            <a:cxnSpLocks/>
            <a:stCxn id="51" idx="3"/>
            <a:endCxn id="53" idx="1"/>
          </p:cNvCxnSpPr>
          <p:nvPr/>
        </p:nvCxnSpPr>
        <p:spPr bwMode="auto">
          <a:xfrm flipV="1">
            <a:off x="1660358" y="4310734"/>
            <a:ext cx="375915" cy="836373"/>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00" name="肘形连接符 99">
            <a:extLst>
              <a:ext uri="{FF2B5EF4-FFF2-40B4-BE49-F238E27FC236}">
                <a16:creationId xmlns:a16="http://schemas.microsoft.com/office/drawing/2014/main" id="{AAF7A1F1-7887-EE45-9020-AE2515880C9F}"/>
              </a:ext>
            </a:extLst>
          </p:cNvPr>
          <p:cNvCxnSpPr>
            <a:cxnSpLocks/>
            <a:stCxn id="51" idx="3"/>
            <a:endCxn id="55" idx="1"/>
          </p:cNvCxnSpPr>
          <p:nvPr/>
        </p:nvCxnSpPr>
        <p:spPr bwMode="auto">
          <a:xfrm>
            <a:off x="1660358" y="5147107"/>
            <a:ext cx="382828" cy="1229586"/>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01" name="肘形连接符 100">
            <a:extLst>
              <a:ext uri="{FF2B5EF4-FFF2-40B4-BE49-F238E27FC236}">
                <a16:creationId xmlns:a16="http://schemas.microsoft.com/office/drawing/2014/main" id="{09384EEE-1550-9C44-B7D2-81FA3230F83C}"/>
              </a:ext>
            </a:extLst>
          </p:cNvPr>
          <p:cNvCxnSpPr>
            <a:cxnSpLocks/>
            <a:stCxn id="51" idx="3"/>
            <a:endCxn id="54" idx="1"/>
          </p:cNvCxnSpPr>
          <p:nvPr/>
        </p:nvCxnSpPr>
        <p:spPr bwMode="auto">
          <a:xfrm>
            <a:off x="1660358" y="5147107"/>
            <a:ext cx="381717" cy="781"/>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08" name="肘形连接符 107">
            <a:extLst>
              <a:ext uri="{FF2B5EF4-FFF2-40B4-BE49-F238E27FC236}">
                <a16:creationId xmlns:a16="http://schemas.microsoft.com/office/drawing/2014/main" id="{D839AC2E-8574-6B4F-BBBD-F48B69B0693C}"/>
              </a:ext>
            </a:extLst>
          </p:cNvPr>
          <p:cNvCxnSpPr>
            <a:cxnSpLocks/>
            <a:stCxn id="53" idx="3"/>
            <a:endCxn id="56" idx="1"/>
          </p:cNvCxnSpPr>
          <p:nvPr/>
        </p:nvCxnSpPr>
        <p:spPr bwMode="auto">
          <a:xfrm>
            <a:off x="3035373" y="4310734"/>
            <a:ext cx="617303" cy="1"/>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70" name="肘形连接符 69">
            <a:extLst>
              <a:ext uri="{FF2B5EF4-FFF2-40B4-BE49-F238E27FC236}">
                <a16:creationId xmlns:a16="http://schemas.microsoft.com/office/drawing/2014/main" id="{2EB6DC23-6D93-C949-B9FB-D3F81FDDB6AC}"/>
              </a:ext>
            </a:extLst>
          </p:cNvPr>
          <p:cNvCxnSpPr>
            <a:cxnSpLocks/>
            <a:stCxn id="39" idx="3"/>
            <a:endCxn id="72" idx="1"/>
          </p:cNvCxnSpPr>
          <p:nvPr/>
        </p:nvCxnSpPr>
        <p:spPr bwMode="auto">
          <a:xfrm flipV="1">
            <a:off x="3035373" y="2036491"/>
            <a:ext cx="674531" cy="222622"/>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72" name="圆角矩形 71">
            <a:extLst>
              <a:ext uri="{FF2B5EF4-FFF2-40B4-BE49-F238E27FC236}">
                <a16:creationId xmlns:a16="http://schemas.microsoft.com/office/drawing/2014/main" id="{A197D3B6-1477-C348-80DF-9685994E21C1}"/>
              </a:ext>
            </a:extLst>
          </p:cNvPr>
          <p:cNvSpPr/>
          <p:nvPr/>
        </p:nvSpPr>
        <p:spPr bwMode="auto">
          <a:xfrm>
            <a:off x="3709904" y="1863092"/>
            <a:ext cx="922425" cy="346797"/>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整数</a:t>
            </a:r>
          </a:p>
        </p:txBody>
      </p:sp>
      <p:sp>
        <p:nvSpPr>
          <p:cNvPr id="85" name="圆角矩形 84">
            <a:extLst>
              <a:ext uri="{FF2B5EF4-FFF2-40B4-BE49-F238E27FC236}">
                <a16:creationId xmlns:a16="http://schemas.microsoft.com/office/drawing/2014/main" id="{FBDEF8A8-55AF-9F42-9EBF-C80C4D1E7A25}"/>
              </a:ext>
            </a:extLst>
          </p:cNvPr>
          <p:cNvSpPr/>
          <p:nvPr/>
        </p:nvSpPr>
        <p:spPr bwMode="auto">
          <a:xfrm>
            <a:off x="2117062" y="2888266"/>
            <a:ext cx="1050782" cy="535949"/>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其他表示</a:t>
            </a:r>
          </a:p>
        </p:txBody>
      </p:sp>
      <p:cxnSp>
        <p:nvCxnSpPr>
          <p:cNvPr id="87" name="肘形连接符 86">
            <a:extLst>
              <a:ext uri="{FF2B5EF4-FFF2-40B4-BE49-F238E27FC236}">
                <a16:creationId xmlns:a16="http://schemas.microsoft.com/office/drawing/2014/main" id="{A4F9E576-835C-3E4C-8B60-E37DB4AAC3AD}"/>
              </a:ext>
            </a:extLst>
          </p:cNvPr>
          <p:cNvCxnSpPr>
            <a:cxnSpLocks/>
            <a:stCxn id="85" idx="3"/>
            <a:endCxn id="40" idx="1"/>
          </p:cNvCxnSpPr>
          <p:nvPr/>
        </p:nvCxnSpPr>
        <p:spPr bwMode="auto">
          <a:xfrm>
            <a:off x="3167844" y="3156241"/>
            <a:ext cx="491541" cy="197505"/>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90" name="肘形连接符 89">
            <a:extLst>
              <a:ext uri="{FF2B5EF4-FFF2-40B4-BE49-F238E27FC236}">
                <a16:creationId xmlns:a16="http://schemas.microsoft.com/office/drawing/2014/main" id="{18CCD226-4B5C-BE4B-AAFC-D73E28AB2AB0}"/>
              </a:ext>
            </a:extLst>
          </p:cNvPr>
          <p:cNvCxnSpPr>
            <a:cxnSpLocks/>
            <a:stCxn id="85" idx="3"/>
            <a:endCxn id="38" idx="1"/>
          </p:cNvCxnSpPr>
          <p:nvPr/>
        </p:nvCxnSpPr>
        <p:spPr bwMode="auto">
          <a:xfrm flipV="1">
            <a:off x="3167844" y="2910402"/>
            <a:ext cx="484832" cy="24583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102" name="圆角矩形 101">
            <a:extLst>
              <a:ext uri="{FF2B5EF4-FFF2-40B4-BE49-F238E27FC236}">
                <a16:creationId xmlns:a16="http://schemas.microsoft.com/office/drawing/2014/main" id="{166123E9-5FEE-7848-B764-2F4069A9C746}"/>
              </a:ext>
            </a:extLst>
          </p:cNvPr>
          <p:cNvSpPr/>
          <p:nvPr/>
        </p:nvSpPr>
        <p:spPr bwMode="auto">
          <a:xfrm>
            <a:off x="5128071" y="1756074"/>
            <a:ext cx="1159990"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eaLnBrk="1" latinLnBrk="0" hangingPunct="1">
              <a:lnSpc>
                <a:spcPct val="100000"/>
              </a:lnSpc>
              <a:buClrTx/>
              <a:buSzTx/>
              <a:buFontTx/>
              <a:buNone/>
              <a:tabLst/>
            </a:pPr>
            <a:r>
              <a:rPr lang="zh-CN" altLang="en-US" sz="1600" dirty="0">
                <a:solidFill>
                  <a:schemeClr val="tx1"/>
                </a:solidFill>
                <a:ea typeface="黑体" panose="02010609060101010101" pitchFamily="49" charset="-122"/>
              </a:rPr>
              <a:t>有符号数</a:t>
            </a:r>
          </a:p>
        </p:txBody>
      </p:sp>
      <p:sp>
        <p:nvSpPr>
          <p:cNvPr id="103" name="圆角矩形 102">
            <a:extLst>
              <a:ext uri="{FF2B5EF4-FFF2-40B4-BE49-F238E27FC236}">
                <a16:creationId xmlns:a16="http://schemas.microsoft.com/office/drawing/2014/main" id="{ACC20271-3519-7A4E-AF1F-16EA6E6B48D1}"/>
              </a:ext>
            </a:extLst>
          </p:cNvPr>
          <p:cNvSpPr/>
          <p:nvPr/>
        </p:nvSpPr>
        <p:spPr bwMode="auto">
          <a:xfrm>
            <a:off x="5138650" y="2148447"/>
            <a:ext cx="1159990" cy="299563"/>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ea typeface="黑体" panose="02010609060101010101" pitchFamily="49" charset="-122"/>
              </a:rPr>
              <a:t>无符号数</a:t>
            </a:r>
          </a:p>
        </p:txBody>
      </p:sp>
      <p:cxnSp>
        <p:nvCxnSpPr>
          <p:cNvPr id="104" name="肘形连接符 103">
            <a:extLst>
              <a:ext uri="{FF2B5EF4-FFF2-40B4-BE49-F238E27FC236}">
                <a16:creationId xmlns:a16="http://schemas.microsoft.com/office/drawing/2014/main" id="{49127549-28F2-8D41-A48F-0AC799CB1E0B}"/>
              </a:ext>
            </a:extLst>
          </p:cNvPr>
          <p:cNvCxnSpPr>
            <a:cxnSpLocks/>
            <a:stCxn id="72" idx="3"/>
            <a:endCxn id="102" idx="1"/>
          </p:cNvCxnSpPr>
          <p:nvPr/>
        </p:nvCxnSpPr>
        <p:spPr bwMode="auto">
          <a:xfrm flipV="1">
            <a:off x="4632329" y="1901239"/>
            <a:ext cx="495742" cy="135252"/>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09" name="肘形连接符 108">
            <a:extLst>
              <a:ext uri="{FF2B5EF4-FFF2-40B4-BE49-F238E27FC236}">
                <a16:creationId xmlns:a16="http://schemas.microsoft.com/office/drawing/2014/main" id="{7F5FC52B-E5E7-D64C-AE13-E9C897E16C12}"/>
              </a:ext>
            </a:extLst>
          </p:cNvPr>
          <p:cNvCxnSpPr>
            <a:cxnSpLocks/>
            <a:stCxn id="72" idx="3"/>
            <a:endCxn id="103" idx="1"/>
          </p:cNvCxnSpPr>
          <p:nvPr/>
        </p:nvCxnSpPr>
        <p:spPr bwMode="auto">
          <a:xfrm>
            <a:off x="4632329" y="2036491"/>
            <a:ext cx="506321" cy="261738"/>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122" name="圆角矩形 121">
            <a:extLst>
              <a:ext uri="{FF2B5EF4-FFF2-40B4-BE49-F238E27FC236}">
                <a16:creationId xmlns:a16="http://schemas.microsoft.com/office/drawing/2014/main" id="{8E4FB77C-9AC2-6449-B785-E437AAA6E59E}"/>
              </a:ext>
            </a:extLst>
          </p:cNvPr>
          <p:cNvSpPr/>
          <p:nvPr/>
        </p:nvSpPr>
        <p:spPr bwMode="auto">
          <a:xfrm>
            <a:off x="6843195" y="1520788"/>
            <a:ext cx="1689245"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ea typeface="黑体" panose="02010609060101010101" pitchFamily="49" charset="-122"/>
              </a:rPr>
              <a:t>反码（</a:t>
            </a:r>
            <a:r>
              <a:rPr lang="en-US" altLang="zh-CN" sz="1600" b="1" dirty="0">
                <a:ea typeface="黑体" panose="02010609060101010101" pitchFamily="49" charset="-122"/>
              </a:rPr>
              <a:t>1</a:t>
            </a:r>
            <a:r>
              <a:rPr lang="zh-CN" altLang="en-US" sz="1600" b="1" dirty="0">
                <a:ea typeface="黑体" panose="02010609060101010101" pitchFamily="49" charset="-122"/>
              </a:rPr>
              <a:t>补码）</a:t>
            </a:r>
            <a:endParaRPr kumimoji="0" lang="zh-CN" altLang="en-US" sz="1600" b="0" i="0" u="none" strike="noStrike" cap="none" normalizeH="0" baseline="0" dirty="0">
              <a:ln>
                <a:noFill/>
              </a:ln>
              <a:solidFill>
                <a:schemeClr val="tx1"/>
              </a:solidFill>
              <a:effectLst/>
              <a:latin typeface="Heiti SC Medium" pitchFamily="2" charset="-128"/>
              <a:ea typeface="Heiti SC Medium" pitchFamily="2" charset="-128"/>
            </a:endParaRPr>
          </a:p>
        </p:txBody>
      </p:sp>
      <p:cxnSp>
        <p:nvCxnSpPr>
          <p:cNvPr id="124" name="肘形连接符 123">
            <a:extLst>
              <a:ext uri="{FF2B5EF4-FFF2-40B4-BE49-F238E27FC236}">
                <a16:creationId xmlns:a16="http://schemas.microsoft.com/office/drawing/2014/main" id="{F8BCBC49-E145-B747-AB18-A8999F8779B1}"/>
              </a:ext>
            </a:extLst>
          </p:cNvPr>
          <p:cNvCxnSpPr>
            <a:cxnSpLocks/>
            <a:stCxn id="102" idx="3"/>
            <a:endCxn id="122" idx="1"/>
          </p:cNvCxnSpPr>
          <p:nvPr/>
        </p:nvCxnSpPr>
        <p:spPr bwMode="auto">
          <a:xfrm flipV="1">
            <a:off x="6288061" y="1665953"/>
            <a:ext cx="555134" cy="23528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135" name="圆角矩形 134">
            <a:extLst>
              <a:ext uri="{FF2B5EF4-FFF2-40B4-BE49-F238E27FC236}">
                <a16:creationId xmlns:a16="http://schemas.microsoft.com/office/drawing/2014/main" id="{FA2E6AAC-28C3-2148-9383-C558165C84C4}"/>
              </a:ext>
            </a:extLst>
          </p:cNvPr>
          <p:cNvSpPr/>
          <p:nvPr/>
        </p:nvSpPr>
        <p:spPr bwMode="auto">
          <a:xfrm>
            <a:off x="5161112" y="2556241"/>
            <a:ext cx="1538410" cy="290330"/>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定点数</a:t>
            </a:r>
          </a:p>
        </p:txBody>
      </p:sp>
      <p:sp>
        <p:nvSpPr>
          <p:cNvPr id="139" name="圆角矩形 138">
            <a:extLst>
              <a:ext uri="{FF2B5EF4-FFF2-40B4-BE49-F238E27FC236}">
                <a16:creationId xmlns:a16="http://schemas.microsoft.com/office/drawing/2014/main" id="{EE1DFEC5-EC29-D448-9D44-75EB0388CD7E}"/>
              </a:ext>
            </a:extLst>
          </p:cNvPr>
          <p:cNvSpPr/>
          <p:nvPr/>
        </p:nvSpPr>
        <p:spPr bwMode="auto">
          <a:xfrm>
            <a:off x="5161113" y="2884417"/>
            <a:ext cx="1538410" cy="290330"/>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ea typeface="黑体" panose="02010609060101010101" pitchFamily="49" charset="-122"/>
              </a:rPr>
              <a:t>浮点数</a:t>
            </a:r>
          </a:p>
        </p:txBody>
      </p:sp>
      <p:sp>
        <p:nvSpPr>
          <p:cNvPr id="143" name="圆角矩形 142">
            <a:extLst>
              <a:ext uri="{FF2B5EF4-FFF2-40B4-BE49-F238E27FC236}">
                <a16:creationId xmlns:a16="http://schemas.microsoft.com/office/drawing/2014/main" id="{18C4CCA4-A12C-7943-8791-6C300FC6FAE6}"/>
              </a:ext>
            </a:extLst>
          </p:cNvPr>
          <p:cNvSpPr/>
          <p:nvPr/>
        </p:nvSpPr>
        <p:spPr bwMode="auto">
          <a:xfrm>
            <a:off x="3659385" y="3611758"/>
            <a:ext cx="871081"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Heiti SC Medium" pitchFamily="2" charset="-128"/>
                <a:ea typeface="Heiti SC Medium" pitchFamily="2" charset="-128"/>
              </a:rPr>
              <a:t>BCD</a:t>
            </a:r>
            <a:endParaRPr kumimoji="0" lang="zh-CN" altLang="en-US" sz="1600" b="0" i="0" u="none" strike="noStrike" cap="none" normalizeH="0" baseline="0" dirty="0">
              <a:ln>
                <a:noFill/>
              </a:ln>
              <a:solidFill>
                <a:schemeClr val="tx1"/>
              </a:solidFill>
              <a:effectLst/>
              <a:latin typeface="Heiti SC Medium" pitchFamily="2" charset="-128"/>
              <a:ea typeface="Heiti SC Medium" pitchFamily="2" charset="-128"/>
            </a:endParaRPr>
          </a:p>
        </p:txBody>
      </p:sp>
      <p:cxnSp>
        <p:nvCxnSpPr>
          <p:cNvPr id="150" name="肘形连接符 149">
            <a:extLst>
              <a:ext uri="{FF2B5EF4-FFF2-40B4-BE49-F238E27FC236}">
                <a16:creationId xmlns:a16="http://schemas.microsoft.com/office/drawing/2014/main" id="{9D093077-DBAA-C448-BEDC-781F57EC566E}"/>
              </a:ext>
            </a:extLst>
          </p:cNvPr>
          <p:cNvCxnSpPr>
            <a:cxnSpLocks/>
            <a:stCxn id="85" idx="3"/>
            <a:endCxn id="143" idx="1"/>
          </p:cNvCxnSpPr>
          <p:nvPr/>
        </p:nvCxnSpPr>
        <p:spPr bwMode="auto">
          <a:xfrm>
            <a:off x="3167844" y="3156241"/>
            <a:ext cx="491541" cy="63663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56" name="肘形连接符 155">
            <a:extLst>
              <a:ext uri="{FF2B5EF4-FFF2-40B4-BE49-F238E27FC236}">
                <a16:creationId xmlns:a16="http://schemas.microsoft.com/office/drawing/2014/main" id="{820C9306-46F3-404A-A355-1A7BFD692852}"/>
              </a:ext>
            </a:extLst>
          </p:cNvPr>
          <p:cNvCxnSpPr>
            <a:cxnSpLocks/>
            <a:stCxn id="49" idx="2"/>
          </p:cNvCxnSpPr>
          <p:nvPr/>
        </p:nvCxnSpPr>
        <p:spPr bwMode="auto">
          <a:xfrm rot="16200000" flipH="1">
            <a:off x="7555109" y="2342168"/>
            <a:ext cx="267567" cy="214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61" name="肘形连接符 160">
            <a:extLst>
              <a:ext uri="{FF2B5EF4-FFF2-40B4-BE49-F238E27FC236}">
                <a16:creationId xmlns:a16="http://schemas.microsoft.com/office/drawing/2014/main" id="{AB9EEBF9-BF02-EB49-AF3F-AD557DC49BDB}"/>
              </a:ext>
            </a:extLst>
          </p:cNvPr>
          <p:cNvCxnSpPr>
            <a:cxnSpLocks/>
            <a:stCxn id="41" idx="3"/>
            <a:endCxn id="135" idx="1"/>
          </p:cNvCxnSpPr>
          <p:nvPr/>
        </p:nvCxnSpPr>
        <p:spPr bwMode="auto">
          <a:xfrm>
            <a:off x="4628215" y="2448699"/>
            <a:ext cx="532897" cy="252707"/>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65" name="肘形连接符 164">
            <a:extLst>
              <a:ext uri="{FF2B5EF4-FFF2-40B4-BE49-F238E27FC236}">
                <a16:creationId xmlns:a16="http://schemas.microsoft.com/office/drawing/2014/main" id="{6A23179C-B90A-A147-A1C5-983A6F9CC9BE}"/>
              </a:ext>
            </a:extLst>
          </p:cNvPr>
          <p:cNvCxnSpPr>
            <a:cxnSpLocks/>
            <a:stCxn id="41" idx="3"/>
            <a:endCxn id="139" idx="1"/>
          </p:cNvCxnSpPr>
          <p:nvPr/>
        </p:nvCxnSpPr>
        <p:spPr bwMode="auto">
          <a:xfrm>
            <a:off x="4628215" y="2448699"/>
            <a:ext cx="532898" cy="580883"/>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172" name="圆角矩形 171">
            <a:extLst>
              <a:ext uri="{FF2B5EF4-FFF2-40B4-BE49-F238E27FC236}">
                <a16:creationId xmlns:a16="http://schemas.microsoft.com/office/drawing/2014/main" id="{FA1CDF4E-262D-6444-AE4A-C46329C9519F}"/>
              </a:ext>
            </a:extLst>
          </p:cNvPr>
          <p:cNvSpPr/>
          <p:nvPr/>
        </p:nvSpPr>
        <p:spPr bwMode="auto">
          <a:xfrm>
            <a:off x="6413723" y="3225817"/>
            <a:ext cx="2113576" cy="358054"/>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600" dirty="0">
                <a:solidFill>
                  <a:schemeClr val="tx1"/>
                </a:solidFill>
                <a:ea typeface="黑体" panose="02010609060101010101" pitchFamily="49" charset="-122"/>
              </a:rPr>
              <a:t>IEEE 754</a:t>
            </a:r>
            <a:r>
              <a:rPr lang="zh-CN" altLang="en-US" sz="1600" dirty="0">
                <a:solidFill>
                  <a:schemeClr val="tx1"/>
                </a:solidFill>
                <a:ea typeface="黑体" panose="02010609060101010101" pitchFamily="49" charset="-122"/>
              </a:rPr>
              <a:t>标准</a:t>
            </a:r>
          </a:p>
        </p:txBody>
      </p:sp>
      <p:cxnSp>
        <p:nvCxnSpPr>
          <p:cNvPr id="173" name="肘形连接符 172">
            <a:extLst>
              <a:ext uri="{FF2B5EF4-FFF2-40B4-BE49-F238E27FC236}">
                <a16:creationId xmlns:a16="http://schemas.microsoft.com/office/drawing/2014/main" id="{F579ABAC-61C9-E547-BDD8-704BE1F9D313}"/>
              </a:ext>
            </a:extLst>
          </p:cNvPr>
          <p:cNvCxnSpPr>
            <a:cxnSpLocks/>
            <a:stCxn id="139" idx="2"/>
            <a:endCxn id="172" idx="1"/>
          </p:cNvCxnSpPr>
          <p:nvPr/>
        </p:nvCxnSpPr>
        <p:spPr bwMode="auto">
          <a:xfrm rot="16200000" flipH="1">
            <a:off x="6056972" y="3048092"/>
            <a:ext cx="230097" cy="483405"/>
          </a:xfrm>
          <a:prstGeom prst="bentConnector2">
            <a:avLst/>
          </a:prstGeom>
          <a:solidFill>
            <a:schemeClr val="accent1"/>
          </a:solidFill>
          <a:ln w="38100" cap="flat" cmpd="sng" algn="ctr">
            <a:solidFill>
              <a:schemeClr val="tx1"/>
            </a:solidFill>
            <a:prstDash val="solid"/>
            <a:round/>
            <a:headEnd type="none" w="med" len="med"/>
            <a:tailEnd type="triangle"/>
          </a:ln>
          <a:effectLst/>
        </p:spPr>
      </p:cxnSp>
      <p:sp>
        <p:nvSpPr>
          <p:cNvPr id="179" name="圆角矩形 178">
            <a:extLst>
              <a:ext uri="{FF2B5EF4-FFF2-40B4-BE49-F238E27FC236}">
                <a16:creationId xmlns:a16="http://schemas.microsoft.com/office/drawing/2014/main" id="{FB943A09-2810-784C-AB93-40B0D9E1D689}"/>
              </a:ext>
            </a:extLst>
          </p:cNvPr>
          <p:cNvSpPr/>
          <p:nvPr/>
        </p:nvSpPr>
        <p:spPr bwMode="auto">
          <a:xfrm>
            <a:off x="6261956" y="4131707"/>
            <a:ext cx="1507054" cy="3580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ea typeface="黑体" panose="02010609060101010101" pitchFamily="49" charset="-122"/>
              </a:rPr>
              <a:t>逻辑门</a:t>
            </a:r>
          </a:p>
        </p:txBody>
      </p:sp>
      <p:cxnSp>
        <p:nvCxnSpPr>
          <p:cNvPr id="229" name="直线箭头连接符 228">
            <a:extLst>
              <a:ext uri="{FF2B5EF4-FFF2-40B4-BE49-F238E27FC236}">
                <a16:creationId xmlns:a16="http://schemas.microsoft.com/office/drawing/2014/main" id="{86CA4ACC-A128-D143-B0DE-D31B72AD47B1}"/>
              </a:ext>
            </a:extLst>
          </p:cNvPr>
          <p:cNvCxnSpPr>
            <a:cxnSpLocks/>
            <a:stCxn id="56" idx="3"/>
            <a:endCxn id="179" idx="1"/>
          </p:cNvCxnSpPr>
          <p:nvPr/>
        </p:nvCxnSpPr>
        <p:spPr bwMode="auto">
          <a:xfrm flipV="1">
            <a:off x="5289848" y="4310734"/>
            <a:ext cx="972108" cy="1"/>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 name="灯片编号占位符 1">
            <a:extLst>
              <a:ext uri="{FF2B5EF4-FFF2-40B4-BE49-F238E27FC236}">
                <a16:creationId xmlns:a16="http://schemas.microsoft.com/office/drawing/2014/main" id="{4CBFF207-3FE5-34BB-F193-B7CADDEAD9B0}"/>
              </a:ext>
            </a:extLst>
          </p:cNvPr>
          <p:cNvSpPr>
            <a:spLocks noGrp="1"/>
          </p:cNvSpPr>
          <p:nvPr>
            <p:ph type="sldNum" sz="quarter" idx="12"/>
          </p:nvPr>
        </p:nvSpPr>
        <p:spPr/>
        <p:txBody>
          <a:bodyPr/>
          <a:lstStyle/>
          <a:p>
            <a:fld id="{6C23D995-88A0-46FA-B356-FA459EF841CD}" type="slidenum">
              <a:rPr lang="en-US" altLang="zh-CN" smtClean="0"/>
              <a:pPr/>
              <a:t>52</a:t>
            </a:fld>
            <a:endParaRPr lang="en-US" altLang="zh-CN" dirty="0"/>
          </a:p>
        </p:txBody>
      </p:sp>
      <p:sp>
        <p:nvSpPr>
          <p:cNvPr id="3" name="Rectangle 2">
            <a:extLst>
              <a:ext uri="{FF2B5EF4-FFF2-40B4-BE49-F238E27FC236}">
                <a16:creationId xmlns:a16="http://schemas.microsoft.com/office/drawing/2014/main" id="{03A6E4F0-948A-6855-496F-730FB48D4375}"/>
              </a:ext>
            </a:extLst>
          </p:cNvPr>
          <p:cNvSpPr>
            <a:spLocks noGrp="1" noChangeArrowheads="1"/>
          </p:cNvSpPr>
          <p:nvPr>
            <p:ph type="title"/>
          </p:nvPr>
        </p:nvSpPr>
        <p:spPr>
          <a:xfrm>
            <a:off x="457200" y="136525"/>
            <a:ext cx="8229600" cy="1143000"/>
          </a:xfrm>
        </p:spPr>
        <p:txBody>
          <a:bodyPr/>
          <a:lstStyle/>
          <a:p>
            <a:r>
              <a:rPr lang="zh-CN" altLang="en-US" kern="0" dirty="0">
                <a:latin typeface="Arial" panose="020B0604020202020204" pitchFamily="34" charset="0"/>
                <a:ea typeface="SimHei" panose="02010609060101010101" pitchFamily="49" charset="-122"/>
                <a:cs typeface="Arial" panose="020B0604020202020204" pitchFamily="34" charset="0"/>
              </a:rPr>
              <a:t>数的表示与布尔代数</a:t>
            </a:r>
          </a:p>
        </p:txBody>
      </p:sp>
    </p:spTree>
    <p:extLst>
      <p:ext uri="{BB962C8B-B14F-4D97-AF65-F5344CB8AC3E}">
        <p14:creationId xmlns:p14="http://schemas.microsoft.com/office/powerpoint/2010/main" val="38976307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pPr eaLnBrk="1" hangingPunct="1"/>
            <a:r>
              <a:rPr lang="zh-CN" altLang="zh-CN" dirty="0">
                <a:solidFill>
                  <a:schemeClr val="tx1"/>
                </a:solidFill>
              </a:rPr>
              <a:t>函数的布尔代数描述</a:t>
            </a:r>
          </a:p>
        </p:txBody>
      </p:sp>
      <p:sp>
        <p:nvSpPr>
          <p:cNvPr id="69636" name="内容占位符 19"/>
          <p:cNvSpPr>
            <a:spLocks noGrp="1"/>
          </p:cNvSpPr>
          <p:nvPr>
            <p:ph idx="1"/>
          </p:nvPr>
        </p:nvSpPr>
        <p:spPr>
          <a:xfrm>
            <a:off x="431540" y="1520849"/>
            <a:ext cx="8208912" cy="4716463"/>
          </a:xfrm>
        </p:spPr>
        <p:txBody>
          <a:bodyPr/>
          <a:lstStyle/>
          <a:p>
            <a:r>
              <a:rPr lang="zh-CN" altLang="en-US" sz="2800" dirty="0"/>
              <a:t>二元域上函数的表示方法：</a:t>
            </a:r>
            <a:endParaRPr lang="en-US" altLang="zh-CN" sz="2800" dirty="0"/>
          </a:p>
          <a:p>
            <a:pPr lvl="1"/>
            <a:r>
              <a:rPr lang="zh-CN" altLang="en-US" sz="2800" dirty="0"/>
              <a:t>真值表（及卡诺图）</a:t>
            </a:r>
            <a:endParaRPr lang="en-US" altLang="zh-CN" sz="2800" dirty="0"/>
          </a:p>
          <a:p>
            <a:pPr lvl="1"/>
            <a:r>
              <a:rPr lang="zh-CN" altLang="en-US" sz="2800" dirty="0"/>
              <a:t>表达式</a:t>
            </a:r>
            <a:endParaRPr lang="en-US" altLang="zh-CN" sz="2800" dirty="0"/>
          </a:p>
          <a:p>
            <a:pPr lvl="1" algn="l"/>
            <a:r>
              <a:rPr lang="zh-CN" altLang="en-US" sz="2800" dirty="0"/>
              <a:t>其他方式（程序、</a:t>
            </a:r>
            <a:br>
              <a:rPr lang="en-US" altLang="zh-CN" sz="2800" dirty="0"/>
            </a:br>
            <a:r>
              <a:rPr lang="en-US" altLang="zh-CN" sz="2800" dirty="0"/>
              <a:t>Binary decision diagram</a:t>
            </a:r>
            <a:r>
              <a:rPr lang="zh-CN" altLang="en-US" sz="2800" dirty="0"/>
              <a:t> </a:t>
            </a:r>
            <a:r>
              <a:rPr lang="en-US" altLang="zh-CN" sz="2800" dirty="0"/>
              <a:t>-</a:t>
            </a:r>
            <a:r>
              <a:rPr lang="zh-CN" altLang="en-US" sz="2800" dirty="0"/>
              <a:t> </a:t>
            </a:r>
            <a:r>
              <a:rPr lang="en-US" altLang="zh-CN" sz="2800" dirty="0"/>
              <a:t>BDD</a:t>
            </a:r>
            <a:r>
              <a:rPr lang="zh-CN" altLang="en-US" sz="2800" dirty="0"/>
              <a:t>树）</a:t>
            </a:r>
            <a:endParaRPr lang="en-US" altLang="zh-CN" sz="2800" dirty="0"/>
          </a:p>
          <a:p>
            <a:r>
              <a:rPr lang="zh-CN" altLang="en-US" sz="2800" dirty="0"/>
              <a:t>例：日历子系统</a:t>
            </a:r>
            <a:endParaRPr lang="en-US" altLang="zh-CN" sz="2800" dirty="0"/>
          </a:p>
          <a:p>
            <a:pPr lvl="1"/>
            <a:r>
              <a:rPr lang="zh-CN" altLang="en-US" sz="2800" dirty="0"/>
              <a:t>根据</a:t>
            </a:r>
            <a:r>
              <a:rPr lang="zh-CN" altLang="en-US" sz="2800" dirty="0">
                <a:solidFill>
                  <a:srgbClr val="3333FF"/>
                </a:solidFill>
              </a:rPr>
              <a:t>月份</a:t>
            </a:r>
            <a:r>
              <a:rPr lang="zh-CN" altLang="en-US" sz="2800" dirty="0"/>
              <a:t>和</a:t>
            </a:r>
            <a:r>
              <a:rPr lang="zh-CN" altLang="en-US" sz="2800" dirty="0">
                <a:solidFill>
                  <a:srgbClr val="3333FF"/>
                </a:solidFill>
              </a:rPr>
              <a:t>是否闰年的标志</a:t>
            </a:r>
            <a:r>
              <a:rPr lang="zh-CN" altLang="en-US" sz="2800" dirty="0"/>
              <a:t>，给出这个月份的天数</a:t>
            </a:r>
          </a:p>
        </p:txBody>
      </p:sp>
      <p:sp>
        <p:nvSpPr>
          <p:cNvPr id="2" name="灯片编号占位符 1">
            <a:extLst>
              <a:ext uri="{FF2B5EF4-FFF2-40B4-BE49-F238E27FC236}">
                <a16:creationId xmlns:a16="http://schemas.microsoft.com/office/drawing/2014/main" id="{D6228A81-9E9F-04EA-9E04-99C44E6D27DB}"/>
              </a:ext>
            </a:extLst>
          </p:cNvPr>
          <p:cNvSpPr>
            <a:spLocks noGrp="1"/>
          </p:cNvSpPr>
          <p:nvPr>
            <p:ph type="sldNum" sz="quarter" idx="12"/>
          </p:nvPr>
        </p:nvSpPr>
        <p:spPr/>
        <p:txBody>
          <a:bodyPr/>
          <a:lstStyle/>
          <a:p>
            <a:fld id="{14659731-6BD7-46E7-8D3C-2F3AC07E20B1}" type="slidenum">
              <a:rPr lang="en-US" altLang="zh-CN" smtClean="0"/>
              <a:pPr/>
              <a:t>53</a:t>
            </a:fld>
            <a:endParaRPr lang="en-US" altLang="zh-CN" dirty="0"/>
          </a:p>
        </p:txBody>
      </p:sp>
    </p:spTree>
    <p:extLst>
      <p:ext uri="{BB962C8B-B14F-4D97-AF65-F5344CB8AC3E}">
        <p14:creationId xmlns:p14="http://schemas.microsoft.com/office/powerpoint/2010/main" val="11269423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zh-CN" altLang="en-US"/>
              <a:t>日历子系统的</a:t>
            </a:r>
            <a:r>
              <a:rPr lang="en-US" altLang="zh-CN"/>
              <a:t>C</a:t>
            </a:r>
            <a:r>
              <a:rPr lang="zh-CN" altLang="en-US"/>
              <a:t>程序</a:t>
            </a:r>
            <a:endParaRPr lang="en-US" altLang="zh-CN"/>
          </a:p>
        </p:txBody>
      </p:sp>
      <p:sp>
        <p:nvSpPr>
          <p:cNvPr id="70659" name="Rectangle 3"/>
          <p:cNvSpPr>
            <a:spLocks noGrp="1" noChangeArrowheads="1"/>
          </p:cNvSpPr>
          <p:nvPr>
            <p:ph idx="1"/>
          </p:nvPr>
        </p:nvSpPr>
        <p:spPr>
          <a:xfrm>
            <a:off x="343880" y="1568152"/>
            <a:ext cx="8456240" cy="5029200"/>
          </a:xfrm>
          <a:noFill/>
        </p:spPr>
        <p:txBody>
          <a:bodyPr/>
          <a:lstStyle/>
          <a:p>
            <a:pPr marL="0" indent="0">
              <a:lnSpc>
                <a:spcPct val="90000"/>
              </a:lnSpc>
              <a:spcBef>
                <a:spcPct val="0"/>
              </a:spcBef>
              <a:buNone/>
            </a:pPr>
            <a:r>
              <a:rPr lang="en-US" altLang="zh-CN" sz="2000" dirty="0"/>
              <a:t>Integer </a:t>
            </a:r>
            <a:r>
              <a:rPr lang="en-US" altLang="zh-CN" sz="2000" dirty="0" err="1"/>
              <a:t>number_of_days</a:t>
            </a:r>
            <a:r>
              <a:rPr lang="en-US" altLang="zh-CN" sz="2000" dirty="0"/>
              <a:t> (month, </a:t>
            </a:r>
            <a:r>
              <a:rPr lang="en-US" altLang="zh-CN" sz="2000" dirty="0" err="1">
                <a:solidFill>
                  <a:srgbClr val="3333FF"/>
                </a:solidFill>
              </a:rPr>
              <a:t>leap_flag</a:t>
            </a:r>
            <a:r>
              <a:rPr lang="en-US" altLang="zh-CN" sz="2000" dirty="0"/>
              <a:t>) {</a:t>
            </a:r>
          </a:p>
          <a:p>
            <a:pPr marL="457200" lvl="1" indent="0">
              <a:lnSpc>
                <a:spcPct val="90000"/>
              </a:lnSpc>
              <a:spcBef>
                <a:spcPct val="0"/>
              </a:spcBef>
              <a:buNone/>
            </a:pPr>
            <a:r>
              <a:rPr lang="en-US" altLang="zh-CN" sz="2000" dirty="0"/>
              <a:t>switch (month){</a:t>
            </a:r>
          </a:p>
          <a:p>
            <a:pPr marL="914400" lvl="2" indent="0" eaLnBrk="1" hangingPunct="1">
              <a:lnSpc>
                <a:spcPct val="90000"/>
              </a:lnSpc>
              <a:spcBef>
                <a:spcPct val="0"/>
              </a:spcBef>
              <a:buNone/>
            </a:pPr>
            <a:r>
              <a:rPr lang="en-US" altLang="zh-CN" sz="2000" dirty="0"/>
              <a:t>case ‘</a:t>
            </a:r>
            <a:r>
              <a:rPr lang="en-US" altLang="zh-CN" sz="2000" dirty="0" err="1"/>
              <a:t>january</a:t>
            </a:r>
            <a:r>
              <a:rPr lang="en-US" altLang="zh-CN" sz="2000" dirty="0"/>
              <a:t>’: return (31);</a:t>
            </a:r>
          </a:p>
          <a:p>
            <a:pPr marL="914400" lvl="2" indent="0" eaLnBrk="1" hangingPunct="1">
              <a:lnSpc>
                <a:spcPct val="90000"/>
              </a:lnSpc>
              <a:spcBef>
                <a:spcPct val="0"/>
              </a:spcBef>
              <a:buNone/>
            </a:pPr>
            <a:r>
              <a:rPr lang="en-US" altLang="zh-CN" sz="2000" dirty="0"/>
              <a:t>case ‘</a:t>
            </a:r>
            <a:r>
              <a:rPr lang="en-US" altLang="zh-CN" sz="2000" dirty="0" err="1"/>
              <a:t>february</a:t>
            </a:r>
            <a:r>
              <a:rPr lang="en-US" altLang="zh-CN" sz="2000" dirty="0"/>
              <a:t>’: if (</a:t>
            </a:r>
            <a:r>
              <a:rPr lang="en-US" altLang="zh-CN" sz="2000" dirty="0" err="1">
                <a:solidFill>
                  <a:srgbClr val="3333FF"/>
                </a:solidFill>
              </a:rPr>
              <a:t>leap_flag</a:t>
            </a:r>
            <a:r>
              <a:rPr lang="en-US" altLang="zh-CN" sz="2000" dirty="0">
                <a:solidFill>
                  <a:srgbClr val="3333FF"/>
                </a:solidFill>
              </a:rPr>
              <a:t> </a:t>
            </a:r>
            <a:r>
              <a:rPr lang="en-US" altLang="zh-CN" sz="2000" dirty="0"/>
              <a:t>==1) then return (29) else return (28);</a:t>
            </a:r>
          </a:p>
          <a:p>
            <a:pPr marL="914400" lvl="2" indent="0" eaLnBrk="1" hangingPunct="1">
              <a:lnSpc>
                <a:spcPct val="90000"/>
              </a:lnSpc>
              <a:spcBef>
                <a:spcPct val="0"/>
              </a:spcBef>
              <a:buNone/>
            </a:pPr>
            <a:r>
              <a:rPr lang="en-US" altLang="zh-CN" sz="2000" dirty="0"/>
              <a:t>case ‘march’: return (31);</a:t>
            </a:r>
          </a:p>
          <a:p>
            <a:pPr marL="914400" lvl="2" indent="0" eaLnBrk="1" hangingPunct="1">
              <a:lnSpc>
                <a:spcPct val="90000"/>
              </a:lnSpc>
              <a:spcBef>
                <a:spcPct val="0"/>
              </a:spcBef>
              <a:buNone/>
            </a:pPr>
            <a:r>
              <a:rPr lang="en-US" altLang="zh-CN" sz="2000" dirty="0"/>
              <a:t>case ‘</a:t>
            </a:r>
            <a:r>
              <a:rPr lang="en-US" altLang="zh-CN" sz="2000" dirty="0" err="1"/>
              <a:t>april</a:t>
            </a:r>
            <a:r>
              <a:rPr lang="en-US" altLang="zh-CN" sz="2000" dirty="0"/>
              <a:t>’: return (30);</a:t>
            </a:r>
          </a:p>
          <a:p>
            <a:pPr marL="914400" lvl="2" indent="0" eaLnBrk="1" hangingPunct="1">
              <a:lnSpc>
                <a:spcPct val="90000"/>
              </a:lnSpc>
              <a:spcBef>
                <a:spcPct val="0"/>
              </a:spcBef>
              <a:buNone/>
            </a:pPr>
            <a:r>
              <a:rPr lang="en-US" altLang="zh-CN" sz="2000" dirty="0"/>
              <a:t>case ‘may’: return (31);</a:t>
            </a:r>
          </a:p>
          <a:p>
            <a:pPr marL="914400" lvl="2" indent="0" eaLnBrk="1" hangingPunct="1">
              <a:lnSpc>
                <a:spcPct val="90000"/>
              </a:lnSpc>
              <a:spcBef>
                <a:spcPct val="0"/>
              </a:spcBef>
              <a:buNone/>
            </a:pPr>
            <a:r>
              <a:rPr lang="en-US" altLang="zh-CN" sz="2000" dirty="0"/>
              <a:t>case ‘</a:t>
            </a:r>
            <a:r>
              <a:rPr lang="en-US" altLang="zh-CN" sz="2000" dirty="0" err="1"/>
              <a:t>june</a:t>
            </a:r>
            <a:r>
              <a:rPr lang="en-US" altLang="zh-CN" sz="2000" dirty="0"/>
              <a:t>’: return (30);</a:t>
            </a:r>
          </a:p>
          <a:p>
            <a:pPr marL="914400" lvl="2" indent="0" eaLnBrk="1" hangingPunct="1">
              <a:lnSpc>
                <a:spcPct val="90000"/>
              </a:lnSpc>
              <a:spcBef>
                <a:spcPct val="0"/>
              </a:spcBef>
              <a:buNone/>
            </a:pPr>
            <a:r>
              <a:rPr lang="en-US" altLang="zh-CN" sz="2000" dirty="0"/>
              <a:t>case ‘</a:t>
            </a:r>
            <a:r>
              <a:rPr lang="en-US" altLang="zh-CN" sz="2000" dirty="0" err="1"/>
              <a:t>july</a:t>
            </a:r>
            <a:r>
              <a:rPr lang="en-US" altLang="zh-CN" sz="2000" dirty="0"/>
              <a:t>’: return (31);</a:t>
            </a:r>
          </a:p>
          <a:p>
            <a:pPr marL="914400" lvl="2" indent="0" eaLnBrk="1" hangingPunct="1">
              <a:lnSpc>
                <a:spcPct val="90000"/>
              </a:lnSpc>
              <a:spcBef>
                <a:spcPct val="0"/>
              </a:spcBef>
              <a:buNone/>
            </a:pPr>
            <a:r>
              <a:rPr lang="en-US" altLang="zh-CN" sz="2000" dirty="0"/>
              <a:t>case ‘august’: return (31);</a:t>
            </a:r>
          </a:p>
          <a:p>
            <a:pPr marL="914400" lvl="2" indent="0" eaLnBrk="1" hangingPunct="1">
              <a:lnSpc>
                <a:spcPct val="90000"/>
              </a:lnSpc>
              <a:spcBef>
                <a:spcPct val="0"/>
              </a:spcBef>
              <a:buNone/>
            </a:pPr>
            <a:r>
              <a:rPr lang="en-US" altLang="zh-CN" sz="2000" dirty="0"/>
              <a:t>case ‘</a:t>
            </a:r>
            <a:r>
              <a:rPr lang="en-US" altLang="zh-CN" sz="2000" dirty="0" err="1"/>
              <a:t>september</a:t>
            </a:r>
            <a:r>
              <a:rPr lang="en-US" altLang="zh-CN" sz="2000" dirty="0"/>
              <a:t>’: return (30);</a:t>
            </a:r>
          </a:p>
          <a:p>
            <a:pPr marL="914400" lvl="2" indent="0" eaLnBrk="1" hangingPunct="1">
              <a:lnSpc>
                <a:spcPct val="90000"/>
              </a:lnSpc>
              <a:spcBef>
                <a:spcPct val="0"/>
              </a:spcBef>
              <a:buNone/>
            </a:pPr>
            <a:r>
              <a:rPr lang="en-US" altLang="zh-CN" sz="2000" dirty="0"/>
              <a:t>case ‘</a:t>
            </a:r>
            <a:r>
              <a:rPr lang="en-US" altLang="zh-CN" sz="2000" dirty="0" err="1"/>
              <a:t>october</a:t>
            </a:r>
            <a:r>
              <a:rPr lang="en-US" altLang="zh-CN" sz="2000" dirty="0"/>
              <a:t>’: return (31);</a:t>
            </a:r>
          </a:p>
          <a:p>
            <a:pPr marL="914400" lvl="2" indent="0" eaLnBrk="1" hangingPunct="1">
              <a:lnSpc>
                <a:spcPct val="90000"/>
              </a:lnSpc>
              <a:spcBef>
                <a:spcPct val="0"/>
              </a:spcBef>
              <a:buNone/>
            </a:pPr>
            <a:r>
              <a:rPr lang="en-US" altLang="zh-CN" sz="2000" dirty="0"/>
              <a:t>case ‘</a:t>
            </a:r>
            <a:r>
              <a:rPr lang="en-US" altLang="zh-CN" sz="2000" dirty="0" err="1"/>
              <a:t>november</a:t>
            </a:r>
            <a:r>
              <a:rPr lang="en-US" altLang="zh-CN" sz="2000" dirty="0"/>
              <a:t>’: return (30);</a:t>
            </a:r>
          </a:p>
          <a:p>
            <a:pPr marL="914400" lvl="2" indent="0" eaLnBrk="1" hangingPunct="1">
              <a:lnSpc>
                <a:spcPct val="90000"/>
              </a:lnSpc>
              <a:spcBef>
                <a:spcPct val="0"/>
              </a:spcBef>
              <a:buNone/>
            </a:pPr>
            <a:r>
              <a:rPr lang="en-US" altLang="zh-CN" sz="2000" dirty="0"/>
              <a:t>case ‘</a:t>
            </a:r>
            <a:r>
              <a:rPr lang="en-US" altLang="zh-CN" sz="2000" dirty="0" err="1"/>
              <a:t>december</a:t>
            </a:r>
            <a:r>
              <a:rPr lang="en-US" altLang="zh-CN" sz="2000" dirty="0"/>
              <a:t>’: return (31);</a:t>
            </a:r>
          </a:p>
          <a:p>
            <a:pPr marL="914400" lvl="2" indent="0" eaLnBrk="1" hangingPunct="1">
              <a:lnSpc>
                <a:spcPct val="90000"/>
              </a:lnSpc>
              <a:spcBef>
                <a:spcPct val="0"/>
              </a:spcBef>
              <a:buNone/>
            </a:pPr>
            <a:r>
              <a:rPr lang="en-US" altLang="zh-CN" sz="2000" dirty="0"/>
              <a:t>default: return (0);</a:t>
            </a:r>
          </a:p>
          <a:p>
            <a:pPr marL="457200" lvl="1" indent="0" eaLnBrk="1" hangingPunct="1">
              <a:lnSpc>
                <a:spcPct val="90000"/>
              </a:lnSpc>
              <a:spcBef>
                <a:spcPct val="0"/>
              </a:spcBef>
              <a:buNone/>
            </a:pPr>
            <a:r>
              <a:rPr lang="en-US" altLang="zh-CN" sz="2000" dirty="0"/>
              <a:t>}</a:t>
            </a:r>
          </a:p>
          <a:p>
            <a:pPr marL="0" indent="0" eaLnBrk="1" hangingPunct="1">
              <a:lnSpc>
                <a:spcPct val="90000"/>
              </a:lnSpc>
              <a:spcBef>
                <a:spcPct val="0"/>
              </a:spcBef>
              <a:buNone/>
            </a:pPr>
            <a:r>
              <a:rPr lang="en-US" altLang="zh-CN" sz="2000" dirty="0"/>
              <a:t>}</a:t>
            </a:r>
          </a:p>
        </p:txBody>
      </p:sp>
      <p:sp>
        <p:nvSpPr>
          <p:cNvPr id="2" name="灯片编号占位符 1">
            <a:extLst>
              <a:ext uri="{FF2B5EF4-FFF2-40B4-BE49-F238E27FC236}">
                <a16:creationId xmlns:a16="http://schemas.microsoft.com/office/drawing/2014/main" id="{BCDC02A5-190C-295C-9D71-79A4DA6AA245}"/>
              </a:ext>
            </a:extLst>
          </p:cNvPr>
          <p:cNvSpPr>
            <a:spLocks noGrp="1"/>
          </p:cNvSpPr>
          <p:nvPr>
            <p:ph type="sldNum" sz="quarter" idx="12"/>
          </p:nvPr>
        </p:nvSpPr>
        <p:spPr/>
        <p:txBody>
          <a:bodyPr/>
          <a:lstStyle/>
          <a:p>
            <a:fld id="{14659731-6BD7-46E7-8D3C-2F3AC07E20B1}" type="slidenum">
              <a:rPr lang="en-US" altLang="zh-CN" smtClean="0"/>
              <a:pPr/>
              <a:t>54</a:t>
            </a:fld>
            <a:endParaRPr lang="en-US" altLang="zh-CN" dirty="0"/>
          </a:p>
        </p:txBody>
      </p:sp>
    </p:spTree>
    <p:extLst>
      <p:ext uri="{BB962C8B-B14F-4D97-AF65-F5344CB8AC3E}">
        <p14:creationId xmlns:p14="http://schemas.microsoft.com/office/powerpoint/2010/main" val="3387025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dirty="0"/>
              <a:t>日历子系统的逻辑实现</a:t>
            </a:r>
            <a:endParaRPr lang="en-US" altLang="zh-CN" dirty="0"/>
          </a:p>
        </p:txBody>
      </p:sp>
      <p:sp>
        <p:nvSpPr>
          <p:cNvPr id="71683" name="Rectangle 3"/>
          <p:cNvSpPr>
            <a:spLocks noGrp="1" noChangeArrowheads="1"/>
          </p:cNvSpPr>
          <p:nvPr>
            <p:ph idx="1"/>
          </p:nvPr>
        </p:nvSpPr>
        <p:spPr>
          <a:xfrm>
            <a:off x="431540" y="1491447"/>
            <a:ext cx="8229600" cy="5249921"/>
          </a:xfrm>
        </p:spPr>
        <p:txBody>
          <a:bodyPr/>
          <a:lstStyle/>
          <a:p>
            <a:pPr eaLnBrk="1" hangingPunct="1"/>
            <a:r>
              <a:rPr lang="zh-CN" altLang="en-US" sz="3200" dirty="0"/>
              <a:t>组合逻辑实现过程</a:t>
            </a:r>
            <a:endParaRPr lang="en-US" altLang="zh-CN" sz="3200" dirty="0"/>
          </a:p>
          <a:p>
            <a:pPr lvl="1" eaLnBrk="1" hangingPunct="1"/>
            <a:r>
              <a:rPr lang="zh-CN" altLang="en-US" sz="3200" dirty="0"/>
              <a:t>逻辑抽象</a:t>
            </a:r>
            <a:endParaRPr lang="en-US" altLang="zh-CN" sz="3200" dirty="0"/>
          </a:p>
          <a:p>
            <a:pPr lvl="2" hangingPunct="1"/>
            <a:r>
              <a:rPr lang="zh-CN" altLang="en-US" sz="2800" dirty="0"/>
              <a:t>输入</a:t>
            </a:r>
            <a:r>
              <a:rPr lang="en-US" altLang="zh-CN" sz="2800" dirty="0"/>
              <a:t>: month</a:t>
            </a:r>
            <a:r>
              <a:rPr lang="en-US" altLang="zh-CN" sz="2800" dirty="0">
                <a:cs typeface="+mn-cs"/>
              </a:rPr>
              <a:t>(a</a:t>
            </a:r>
            <a:r>
              <a:rPr lang="en-US" altLang="zh-CN" sz="2800" baseline="-25000" dirty="0">
                <a:cs typeface="+mn-cs"/>
              </a:rPr>
              <a:t>8</a:t>
            </a:r>
            <a:r>
              <a:rPr lang="en-US" altLang="zh-CN" sz="2800" dirty="0">
                <a:cs typeface="+mn-cs"/>
              </a:rPr>
              <a:t>, a</a:t>
            </a:r>
            <a:r>
              <a:rPr lang="en-US" altLang="zh-CN" sz="2800" baseline="-25000" dirty="0">
                <a:cs typeface="+mn-cs"/>
              </a:rPr>
              <a:t>4</a:t>
            </a:r>
            <a:r>
              <a:rPr lang="en-US" altLang="zh-CN" sz="2800" dirty="0">
                <a:cs typeface="+mn-cs"/>
              </a:rPr>
              <a:t>, a</a:t>
            </a:r>
            <a:r>
              <a:rPr lang="en-US" altLang="zh-CN" sz="2800" baseline="-25000" dirty="0">
                <a:cs typeface="+mn-cs"/>
              </a:rPr>
              <a:t>2</a:t>
            </a:r>
            <a:r>
              <a:rPr lang="en-US" altLang="zh-CN" sz="2800" dirty="0">
                <a:cs typeface="+mn-cs"/>
              </a:rPr>
              <a:t>, a</a:t>
            </a:r>
            <a:r>
              <a:rPr lang="en-US" altLang="zh-CN" sz="2800" baseline="-25000" dirty="0">
                <a:cs typeface="+mn-cs"/>
              </a:rPr>
              <a:t>1</a:t>
            </a:r>
            <a:r>
              <a:rPr lang="en-US" altLang="zh-CN" sz="2800" dirty="0">
                <a:cs typeface="+mn-cs"/>
              </a:rPr>
              <a:t>)</a:t>
            </a:r>
            <a:r>
              <a:rPr lang="en-US" altLang="zh-CN" sz="2800" dirty="0"/>
              <a:t>, </a:t>
            </a:r>
            <a:r>
              <a:rPr lang="en-US" altLang="zh-CN" sz="2800" dirty="0" err="1"/>
              <a:t>leap_flag</a:t>
            </a:r>
            <a:endParaRPr lang="en-US" altLang="zh-CN" sz="2800" dirty="0"/>
          </a:p>
          <a:p>
            <a:pPr lvl="2" eaLnBrk="1" hangingPunct="1"/>
            <a:r>
              <a:rPr lang="zh-CN" altLang="en-US" sz="2800" dirty="0"/>
              <a:t>输出</a:t>
            </a:r>
            <a:r>
              <a:rPr lang="en-US" altLang="zh-CN" sz="2800" dirty="0"/>
              <a:t>: d28, d29, d30, d31</a:t>
            </a:r>
          </a:p>
          <a:p>
            <a:pPr lvl="1" eaLnBrk="1" hangingPunct="1"/>
            <a:r>
              <a:rPr lang="zh-CN" altLang="en-US" sz="3200" dirty="0"/>
              <a:t>逻辑函数：真值表</a:t>
            </a:r>
            <a:endParaRPr lang="en-US" altLang="zh-CN" sz="3200" dirty="0"/>
          </a:p>
          <a:p>
            <a:pPr lvl="1" eaLnBrk="1" hangingPunct="1"/>
            <a:r>
              <a:rPr lang="zh-CN" altLang="en-US" sz="3200" dirty="0">
                <a:solidFill>
                  <a:schemeClr val="tx1"/>
                </a:solidFill>
              </a:rPr>
              <a:t>逻辑表达式与化简</a:t>
            </a:r>
            <a:endParaRPr lang="en-US" altLang="zh-CN" sz="3200" dirty="0">
              <a:solidFill>
                <a:schemeClr val="tx1"/>
              </a:solidFill>
            </a:endParaRPr>
          </a:p>
          <a:p>
            <a:pPr lvl="1" eaLnBrk="1" hangingPunct="1"/>
            <a:r>
              <a:rPr lang="zh-CN" altLang="en-US" sz="3200" dirty="0"/>
              <a:t>逻辑电路</a:t>
            </a:r>
            <a:endParaRPr lang="en-US" altLang="zh-CN" sz="3200" dirty="0"/>
          </a:p>
        </p:txBody>
      </p:sp>
      <p:sp>
        <p:nvSpPr>
          <p:cNvPr id="2" name="灯片编号占位符 1">
            <a:extLst>
              <a:ext uri="{FF2B5EF4-FFF2-40B4-BE49-F238E27FC236}">
                <a16:creationId xmlns:a16="http://schemas.microsoft.com/office/drawing/2014/main" id="{FDA6D4BD-3D50-F8B0-E3EF-005FE2495716}"/>
              </a:ext>
            </a:extLst>
          </p:cNvPr>
          <p:cNvSpPr>
            <a:spLocks noGrp="1"/>
          </p:cNvSpPr>
          <p:nvPr>
            <p:ph type="sldNum" sz="quarter" idx="12"/>
          </p:nvPr>
        </p:nvSpPr>
        <p:spPr/>
        <p:txBody>
          <a:bodyPr/>
          <a:lstStyle/>
          <a:p>
            <a:fld id="{14659731-6BD7-46E7-8D3C-2F3AC07E20B1}" type="slidenum">
              <a:rPr lang="en-US" altLang="zh-CN" smtClean="0"/>
              <a:pPr/>
              <a:t>55</a:t>
            </a:fld>
            <a:endParaRPr lang="en-US" altLang="zh-CN" dirty="0"/>
          </a:p>
        </p:txBody>
      </p:sp>
    </p:spTree>
    <p:extLst>
      <p:ext uri="{BB962C8B-B14F-4D97-AF65-F5344CB8AC3E}">
        <p14:creationId xmlns:p14="http://schemas.microsoft.com/office/powerpoint/2010/main" val="13595210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9593" name="Group 185"/>
          <p:cNvGraphicFramePr>
            <a:graphicFrameLocks noGrp="1"/>
          </p:cNvGraphicFramePr>
          <p:nvPr>
            <p:ph type="tbl" idx="1"/>
            <p:extLst>
              <p:ext uri="{D42A27DB-BD31-4B8C-83A1-F6EECF244321}">
                <p14:modId xmlns:p14="http://schemas.microsoft.com/office/powerpoint/2010/main" val="1820043106"/>
              </p:ext>
            </p:extLst>
          </p:nvPr>
        </p:nvGraphicFramePr>
        <p:xfrm>
          <a:off x="2992273" y="1465928"/>
          <a:ext cx="5319473" cy="5275440"/>
        </p:xfrm>
        <a:graphic>
          <a:graphicData uri="http://schemas.openxmlformats.org/drawingml/2006/table">
            <a:tbl>
              <a:tblPr/>
              <a:tblGrid>
                <a:gridCol w="1069253">
                  <a:extLst>
                    <a:ext uri="{9D8B030D-6E8A-4147-A177-3AD203B41FA5}">
                      <a16:colId xmlns:a16="http://schemas.microsoft.com/office/drawing/2014/main" val="20000"/>
                    </a:ext>
                  </a:extLst>
                </a:gridCol>
                <a:gridCol w="876836">
                  <a:extLst>
                    <a:ext uri="{9D8B030D-6E8A-4147-A177-3AD203B41FA5}">
                      <a16:colId xmlns:a16="http://schemas.microsoft.com/office/drawing/2014/main" val="20001"/>
                    </a:ext>
                  </a:extLst>
                </a:gridCol>
                <a:gridCol w="701469">
                  <a:extLst>
                    <a:ext uri="{9D8B030D-6E8A-4147-A177-3AD203B41FA5}">
                      <a16:colId xmlns:a16="http://schemas.microsoft.com/office/drawing/2014/main" val="20002"/>
                    </a:ext>
                  </a:extLst>
                </a:gridCol>
                <a:gridCol w="935292">
                  <a:extLst>
                    <a:ext uri="{9D8B030D-6E8A-4147-A177-3AD203B41FA5}">
                      <a16:colId xmlns:a16="http://schemas.microsoft.com/office/drawing/2014/main" val="20003"/>
                    </a:ext>
                  </a:extLst>
                </a:gridCol>
                <a:gridCol w="876836">
                  <a:extLst>
                    <a:ext uri="{9D8B030D-6E8A-4147-A177-3AD203B41FA5}">
                      <a16:colId xmlns:a16="http://schemas.microsoft.com/office/drawing/2014/main" val="20004"/>
                    </a:ext>
                  </a:extLst>
                </a:gridCol>
                <a:gridCol w="859787">
                  <a:extLst>
                    <a:ext uri="{9D8B030D-6E8A-4147-A177-3AD203B41FA5}">
                      <a16:colId xmlns:a16="http://schemas.microsoft.com/office/drawing/2014/main" val="20005"/>
                    </a:ext>
                  </a:extLst>
                </a:gridCol>
              </a:tblGrid>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Month</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Leap</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d28</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d29</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d30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d31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1"/>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2"/>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3"/>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4"/>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5"/>
                  </a:ext>
                </a:extLst>
              </a:tr>
              <a:tr h="30490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6"/>
                  </a:ext>
                </a:extLst>
              </a:tr>
            </a:tbl>
          </a:graphicData>
        </a:graphic>
      </p:graphicFrame>
      <p:sp>
        <p:nvSpPr>
          <p:cNvPr id="3" name="灯片编号占位符 2">
            <a:extLst>
              <a:ext uri="{FF2B5EF4-FFF2-40B4-BE49-F238E27FC236}">
                <a16:creationId xmlns:a16="http://schemas.microsoft.com/office/drawing/2014/main" id="{88F9095C-B450-4A56-8208-2D749BE1866F}"/>
              </a:ext>
            </a:extLst>
          </p:cNvPr>
          <p:cNvSpPr>
            <a:spLocks noGrp="1"/>
          </p:cNvSpPr>
          <p:nvPr>
            <p:ph type="sldNum" sz="quarter" idx="11"/>
          </p:nvPr>
        </p:nvSpPr>
        <p:spPr/>
        <p:txBody>
          <a:bodyPr/>
          <a:lstStyle/>
          <a:p>
            <a:pPr>
              <a:defRPr/>
            </a:pPr>
            <a:fld id="{2EA1E184-7EFF-4B48-9C82-609CF6442F2C}" type="slidenum">
              <a:rPr lang="zh-CN" altLang="en-US" smtClean="0"/>
              <a:pPr>
                <a:defRPr/>
              </a:pPr>
              <a:t>56</a:t>
            </a:fld>
            <a:endParaRPr lang="en-US" altLang="zh-CN"/>
          </a:p>
        </p:txBody>
      </p:sp>
      <p:sp>
        <p:nvSpPr>
          <p:cNvPr id="529595" name="Rectangle 187"/>
          <p:cNvSpPr>
            <a:spLocks noChangeArrowheads="1"/>
          </p:cNvSpPr>
          <p:nvPr/>
        </p:nvSpPr>
        <p:spPr bwMode="auto">
          <a:xfrm>
            <a:off x="881094" y="1981717"/>
            <a:ext cx="1589384" cy="523220"/>
          </a:xfrm>
          <a:prstGeom prst="rect">
            <a:avLst/>
          </a:prstGeom>
          <a:solidFill>
            <a:schemeClr val="bg1">
              <a:lumMod val="95000"/>
            </a:schemeClr>
          </a:solidFill>
          <a:ln>
            <a:noFill/>
          </a:ln>
        </p:spPr>
        <p:txBody>
          <a:bodyPr wrap="square">
            <a:spAutoFit/>
          </a:bodyPr>
          <a:lstStyle/>
          <a:p>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a</a:t>
            </a:r>
            <a:r>
              <a:rPr lang="en-US" altLang="zh-CN" sz="2800" baseline="-25000" dirty="0">
                <a:solidFill>
                  <a:schemeClr val="tx1"/>
                </a:solidFill>
                <a:latin typeface="Arial" panose="020B0604020202020204" pitchFamily="34" charset="0"/>
                <a:ea typeface="黑体" panose="02010609060101010101" pitchFamily="49" charset="-122"/>
                <a:cs typeface="Arial" panose="020B0604020202020204" pitchFamily="34" charset="0"/>
              </a:rPr>
              <a:t>8</a:t>
            </a:r>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a</a:t>
            </a:r>
            <a:r>
              <a:rPr lang="en-US" altLang="zh-CN" sz="2800" baseline="-25000" dirty="0">
                <a:solidFill>
                  <a:schemeClr val="tx1"/>
                </a:solidFill>
                <a:latin typeface="Arial" panose="020B0604020202020204" pitchFamily="34" charset="0"/>
                <a:ea typeface="黑体" panose="02010609060101010101" pitchFamily="49" charset="-122"/>
                <a:cs typeface="Arial" panose="020B0604020202020204" pitchFamily="34" charset="0"/>
              </a:rPr>
              <a:t>4</a:t>
            </a:r>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a</a:t>
            </a:r>
            <a:r>
              <a:rPr lang="en-US" altLang="zh-CN" sz="2800" baseline="-25000" dirty="0">
                <a:solidFill>
                  <a:schemeClr val="tx1"/>
                </a:solidFill>
                <a:latin typeface="Arial" panose="020B0604020202020204" pitchFamily="34" charset="0"/>
                <a:ea typeface="黑体" panose="02010609060101010101" pitchFamily="49" charset="-122"/>
                <a:cs typeface="Arial" panose="020B0604020202020204" pitchFamily="34" charset="0"/>
              </a:rPr>
              <a:t>2</a:t>
            </a:r>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a</a:t>
            </a:r>
            <a:r>
              <a:rPr lang="en-US" altLang="zh-CN" sz="2800" baseline="-25000" dirty="0">
                <a:solidFill>
                  <a:schemeClr val="tx1"/>
                </a:solidFill>
                <a:latin typeface="Arial" panose="020B0604020202020204" pitchFamily="34" charset="0"/>
                <a:ea typeface="黑体" panose="02010609060101010101" pitchFamily="49" charset="-122"/>
                <a:cs typeface="Arial" panose="020B0604020202020204" pitchFamily="34" charset="0"/>
              </a:rPr>
              <a:t>1</a:t>
            </a:r>
          </a:p>
        </p:txBody>
      </p:sp>
      <p:sp>
        <p:nvSpPr>
          <p:cNvPr id="529596" name="Line 188"/>
          <p:cNvSpPr>
            <a:spLocks noChangeShapeType="1"/>
          </p:cNvSpPr>
          <p:nvPr/>
        </p:nvSpPr>
        <p:spPr bwMode="auto">
          <a:xfrm flipV="1">
            <a:off x="2470478" y="1881110"/>
            <a:ext cx="720080" cy="3103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grpSp>
        <p:nvGrpSpPr>
          <p:cNvPr id="4" name="Group 3">
            <a:extLst>
              <a:ext uri="{FF2B5EF4-FFF2-40B4-BE49-F238E27FC236}">
                <a16:creationId xmlns:a16="http://schemas.microsoft.com/office/drawing/2014/main" id="{EBCB4237-512A-7946-A579-949E0FEB1109}"/>
              </a:ext>
            </a:extLst>
          </p:cNvPr>
          <p:cNvGrpSpPr/>
          <p:nvPr/>
        </p:nvGrpSpPr>
        <p:grpSpPr>
          <a:xfrm>
            <a:off x="503548" y="1765694"/>
            <a:ext cx="7808198" cy="4975674"/>
            <a:chOff x="192802" y="1484784"/>
            <a:chExt cx="7808198" cy="4975674"/>
          </a:xfrm>
        </p:grpSpPr>
        <p:sp>
          <p:nvSpPr>
            <p:cNvPr id="529597" name="Text Box 189"/>
            <p:cNvSpPr txBox="1">
              <a:spLocks noChangeArrowheads="1"/>
            </p:cNvSpPr>
            <p:nvPr/>
          </p:nvSpPr>
          <p:spPr bwMode="auto">
            <a:xfrm>
              <a:off x="192802" y="2854883"/>
              <a:ext cx="250254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r>
                <a:rPr lang="zh-CN" altLang="en-US" sz="2800" dirty="0">
                  <a:solidFill>
                    <a:srgbClr val="3333FF"/>
                  </a:solidFill>
                  <a:latin typeface="Arial" panose="020B0604020202020204" pitchFamily="34" charset="0"/>
                  <a:ea typeface="黑体" panose="02010609060101010101" pitchFamily="49" charset="-122"/>
                  <a:cs typeface="Arial" panose="020B0604020202020204" pitchFamily="34" charset="0"/>
                </a:rPr>
                <a:t>无关项</a:t>
              </a:r>
              <a:endParaRPr lang="en-US" altLang="zh-CN" sz="2800" dirty="0">
                <a:solidFill>
                  <a:srgbClr val="3333FF"/>
                </a:solidFill>
                <a:latin typeface="Arial" panose="020B0604020202020204" pitchFamily="34" charset="0"/>
                <a:ea typeface="黑体" panose="02010609060101010101" pitchFamily="49" charset="-122"/>
                <a:cs typeface="Arial" panose="020B0604020202020204" pitchFamily="34" charset="0"/>
              </a:endParaRPr>
            </a:p>
            <a:p>
              <a:pPr marL="230188" indent="-230188" eaLnBrk="1" hangingPunct="1">
                <a:buFont typeface="Arial" panose="020B0604020202020204" pitchFamily="34" charset="0"/>
                <a:buChar char="•"/>
              </a:pPr>
              <a:r>
                <a:rPr lang="zh-CN" altLang="en-US" sz="2000" dirty="0">
                  <a:solidFill>
                    <a:srgbClr val="3333FF"/>
                  </a:solidFill>
                  <a:latin typeface="Arial" panose="020B0604020202020204" pitchFamily="34" charset="0"/>
                  <a:ea typeface="黑体" panose="02010609060101010101" pitchFamily="49" charset="-122"/>
                  <a:cs typeface="Arial" panose="020B0604020202020204" pitchFamily="34" charset="0"/>
                </a:rPr>
                <a:t>输出不随输入变化</a:t>
              </a:r>
              <a:endParaRPr lang="en-US" altLang="zh-CN" sz="2000" dirty="0">
                <a:solidFill>
                  <a:srgbClr val="3333FF"/>
                </a:solidFill>
                <a:latin typeface="Arial" panose="020B0604020202020204" pitchFamily="34" charset="0"/>
                <a:ea typeface="黑体" panose="02010609060101010101" pitchFamily="49" charset="-122"/>
                <a:cs typeface="Arial" panose="020B0604020202020204" pitchFamily="34" charset="0"/>
              </a:endParaRPr>
            </a:p>
            <a:p>
              <a:pPr marL="230188" indent="-230188" eaLnBrk="1" hangingPunct="1">
                <a:buFont typeface="Arial" panose="020B0604020202020204" pitchFamily="34" charset="0"/>
                <a:buChar char="•"/>
              </a:pPr>
              <a:r>
                <a:rPr lang="zh-CN" altLang="en-US" sz="2000" dirty="0">
                  <a:solidFill>
                    <a:srgbClr val="3333FF"/>
                  </a:solidFill>
                  <a:latin typeface="Arial" panose="020B0604020202020204" pitchFamily="34" charset="0"/>
                  <a:ea typeface="黑体" panose="02010609060101010101" pitchFamily="49" charset="-122"/>
                  <a:cs typeface="Arial" panose="020B0604020202020204" pitchFamily="34" charset="0"/>
                </a:rPr>
                <a:t>实际情况中不存在</a:t>
              </a:r>
              <a:endParaRPr lang="en-US" altLang="zh-CN" sz="2000" dirty="0">
                <a:solidFill>
                  <a:srgbClr val="3333FF"/>
                </a:solidFill>
                <a:latin typeface="Arial" panose="020B0604020202020204" pitchFamily="34" charset="0"/>
                <a:ea typeface="黑体" panose="02010609060101010101" pitchFamily="49" charset="-122"/>
                <a:cs typeface="Arial" panose="020B0604020202020204" pitchFamily="34" charset="0"/>
              </a:endParaRPr>
            </a:p>
            <a:p>
              <a:pPr marL="230188" indent="-230188" eaLnBrk="1" hangingPunct="1">
                <a:buFont typeface="Arial" panose="020B0604020202020204" pitchFamily="34" charset="0"/>
                <a:buChar char="•"/>
              </a:pPr>
              <a:r>
                <a:rPr lang="zh-CN" altLang="en-US" sz="2000" dirty="0">
                  <a:solidFill>
                    <a:srgbClr val="3333FF"/>
                  </a:solidFill>
                  <a:latin typeface="Arial" panose="020B0604020202020204" pitchFamily="34" charset="0"/>
                  <a:ea typeface="黑体" panose="02010609060101010101" pitchFamily="49" charset="-122"/>
                  <a:cs typeface="Arial" panose="020B0604020202020204" pitchFamily="34" charset="0"/>
                </a:rPr>
                <a:t>不影响功能</a:t>
              </a:r>
              <a:endParaRPr lang="en-US" altLang="zh-CN" sz="2000" dirty="0">
                <a:solidFill>
                  <a:srgbClr val="3333FF"/>
                </a:solidFill>
                <a:latin typeface="Arial" panose="020B0604020202020204" pitchFamily="34" charset="0"/>
                <a:ea typeface="黑体" panose="02010609060101010101" pitchFamily="49" charset="-122"/>
                <a:cs typeface="Arial" panose="020B0604020202020204" pitchFamily="34" charset="0"/>
              </a:endParaRPr>
            </a:p>
          </p:txBody>
        </p:sp>
        <p:sp>
          <p:nvSpPr>
            <p:cNvPr id="2" name="椭圆 1">
              <a:extLst>
                <a:ext uri="{FF2B5EF4-FFF2-40B4-BE49-F238E27FC236}">
                  <a16:creationId xmlns:a16="http://schemas.microsoft.com/office/drawing/2014/main" id="{39020E20-0269-9C4B-80F4-8995A8669268}"/>
                </a:ext>
              </a:extLst>
            </p:cNvPr>
            <p:cNvSpPr/>
            <p:nvPr/>
          </p:nvSpPr>
          <p:spPr bwMode="auto">
            <a:xfrm>
              <a:off x="3946612" y="2702573"/>
              <a:ext cx="521795" cy="3757885"/>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0" name="椭圆 9">
              <a:extLst>
                <a:ext uri="{FF2B5EF4-FFF2-40B4-BE49-F238E27FC236}">
                  <a16:creationId xmlns:a16="http://schemas.microsoft.com/office/drawing/2014/main" id="{E4539CB4-BA39-BE4D-AE0A-93E41235B25C}"/>
                </a:ext>
              </a:extLst>
            </p:cNvPr>
            <p:cNvSpPr/>
            <p:nvPr/>
          </p:nvSpPr>
          <p:spPr bwMode="auto">
            <a:xfrm>
              <a:off x="3851920" y="1484784"/>
              <a:ext cx="720080" cy="678833"/>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1" name="Line 190">
              <a:extLst>
                <a:ext uri="{FF2B5EF4-FFF2-40B4-BE49-F238E27FC236}">
                  <a16:creationId xmlns:a16="http://schemas.microsoft.com/office/drawing/2014/main" id="{1BC8FF00-A9FE-1641-872E-B56FA8205ED9}"/>
                </a:ext>
              </a:extLst>
            </p:cNvPr>
            <p:cNvSpPr>
              <a:spLocks noChangeShapeType="1"/>
            </p:cNvSpPr>
            <p:nvPr/>
          </p:nvSpPr>
          <p:spPr bwMode="auto">
            <a:xfrm flipV="1">
              <a:off x="2564892" y="2032915"/>
              <a:ext cx="1381719" cy="1542269"/>
            </a:xfrm>
            <a:prstGeom prst="line">
              <a:avLst/>
            </a:prstGeom>
            <a:noFill/>
            <a:ln w="28575">
              <a:solidFill>
                <a:srgbClr val="3333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2" name="Line 190">
              <a:extLst>
                <a:ext uri="{FF2B5EF4-FFF2-40B4-BE49-F238E27FC236}">
                  <a16:creationId xmlns:a16="http://schemas.microsoft.com/office/drawing/2014/main" id="{C0C0902E-09D6-1F48-94C9-9263469EBF4B}"/>
                </a:ext>
              </a:extLst>
            </p:cNvPr>
            <p:cNvSpPr>
              <a:spLocks noChangeShapeType="1"/>
            </p:cNvSpPr>
            <p:nvPr/>
          </p:nvSpPr>
          <p:spPr bwMode="auto">
            <a:xfrm flipV="1">
              <a:off x="2564894" y="3243320"/>
              <a:ext cx="1381718" cy="331865"/>
            </a:xfrm>
            <a:prstGeom prst="line">
              <a:avLst/>
            </a:prstGeom>
            <a:noFill/>
            <a:ln w="28575">
              <a:solidFill>
                <a:srgbClr val="3333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3" name="椭圆 9">
              <a:extLst>
                <a:ext uri="{FF2B5EF4-FFF2-40B4-BE49-F238E27FC236}">
                  <a16:creationId xmlns:a16="http://schemas.microsoft.com/office/drawing/2014/main" id="{4E5C3A78-D6D8-814D-B928-80E96DCFFE07}"/>
                </a:ext>
              </a:extLst>
            </p:cNvPr>
            <p:cNvSpPr/>
            <p:nvPr/>
          </p:nvSpPr>
          <p:spPr bwMode="auto">
            <a:xfrm>
              <a:off x="4626302" y="1496384"/>
              <a:ext cx="3258065" cy="276432"/>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4" name="椭圆 9">
              <a:extLst>
                <a:ext uri="{FF2B5EF4-FFF2-40B4-BE49-F238E27FC236}">
                  <a16:creationId xmlns:a16="http://schemas.microsoft.com/office/drawing/2014/main" id="{E8574C57-8A69-9E4B-A0BE-414ACEB9A51A}"/>
                </a:ext>
              </a:extLst>
            </p:cNvPr>
            <p:cNvSpPr/>
            <p:nvPr/>
          </p:nvSpPr>
          <p:spPr bwMode="auto">
            <a:xfrm>
              <a:off x="3712230" y="5865250"/>
              <a:ext cx="4288770" cy="516500"/>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5" name="Line 190">
              <a:extLst>
                <a:ext uri="{FF2B5EF4-FFF2-40B4-BE49-F238E27FC236}">
                  <a16:creationId xmlns:a16="http://schemas.microsoft.com/office/drawing/2014/main" id="{215B3C75-41CC-9341-9EDD-34D55A209DE6}"/>
                </a:ext>
              </a:extLst>
            </p:cNvPr>
            <p:cNvSpPr>
              <a:spLocks noChangeShapeType="1"/>
            </p:cNvSpPr>
            <p:nvPr/>
          </p:nvSpPr>
          <p:spPr bwMode="auto">
            <a:xfrm flipV="1">
              <a:off x="2564894" y="1772814"/>
              <a:ext cx="2907206" cy="1802372"/>
            </a:xfrm>
            <a:prstGeom prst="line">
              <a:avLst/>
            </a:prstGeom>
            <a:noFill/>
            <a:ln w="28575">
              <a:solidFill>
                <a:srgbClr val="3333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16" name="Line 190">
              <a:extLst>
                <a:ext uri="{FF2B5EF4-FFF2-40B4-BE49-F238E27FC236}">
                  <a16:creationId xmlns:a16="http://schemas.microsoft.com/office/drawing/2014/main" id="{DF9438F0-D969-A84E-8E9F-A1B23AF49BFD}"/>
                </a:ext>
              </a:extLst>
            </p:cNvPr>
            <p:cNvSpPr>
              <a:spLocks noChangeShapeType="1"/>
            </p:cNvSpPr>
            <p:nvPr/>
          </p:nvSpPr>
          <p:spPr bwMode="auto">
            <a:xfrm>
              <a:off x="2564894" y="3575187"/>
              <a:ext cx="1381717" cy="2427804"/>
            </a:xfrm>
            <a:prstGeom prst="line">
              <a:avLst/>
            </a:prstGeom>
            <a:noFill/>
            <a:ln w="28575">
              <a:solidFill>
                <a:srgbClr val="3333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grpSp>
      <p:sp>
        <p:nvSpPr>
          <p:cNvPr id="9" name="Rectangle 2">
            <a:extLst>
              <a:ext uri="{FF2B5EF4-FFF2-40B4-BE49-F238E27FC236}">
                <a16:creationId xmlns:a16="http://schemas.microsoft.com/office/drawing/2014/main" id="{87BBD806-FBC2-8784-712A-A864E9BF2094}"/>
              </a:ext>
            </a:extLst>
          </p:cNvPr>
          <p:cNvSpPr>
            <a:spLocks noGrp="1" noChangeArrowheads="1"/>
          </p:cNvSpPr>
          <p:nvPr>
            <p:ph type="title"/>
          </p:nvPr>
        </p:nvSpPr>
        <p:spPr>
          <a:xfrm>
            <a:off x="251520" y="136525"/>
            <a:ext cx="8640960" cy="1143000"/>
          </a:xfrm>
        </p:spPr>
        <p:txBody>
          <a:bodyPr/>
          <a:lstStyle/>
          <a:p>
            <a:pPr eaLnBrk="1" hangingPunct="1"/>
            <a:r>
              <a:rPr lang="zh-CN" altLang="en-US" dirty="0"/>
              <a:t>真值表</a:t>
            </a:r>
            <a:r>
              <a:rPr lang="en-US" altLang="zh-CN" dirty="0"/>
              <a:t>—</a:t>
            </a:r>
            <a:r>
              <a:rPr lang="zh-CN" altLang="en-US" dirty="0"/>
              <a:t>输出与输入之间的逻辑关系</a:t>
            </a:r>
            <a:endParaRPr lang="en-US" altLang="zh-CN" dirty="0"/>
          </a:p>
        </p:txBody>
      </p:sp>
    </p:spTree>
    <p:extLst>
      <p:ext uri="{BB962C8B-B14F-4D97-AF65-F5344CB8AC3E}">
        <p14:creationId xmlns:p14="http://schemas.microsoft.com/office/powerpoint/2010/main" val="4103977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zh-CN" altLang="en-US" dirty="0"/>
              <a:t>逻辑函数</a:t>
            </a:r>
            <a:endParaRPr lang="en-US" altLang="zh-CN" b="1" dirty="0"/>
          </a:p>
        </p:txBody>
      </p:sp>
      <p:sp>
        <p:nvSpPr>
          <p:cNvPr id="73731" name="Rectangle 3"/>
          <p:cNvSpPr>
            <a:spLocks noGrp="1" noChangeArrowheads="1"/>
          </p:cNvSpPr>
          <p:nvPr>
            <p:ph idx="1"/>
          </p:nvPr>
        </p:nvSpPr>
        <p:spPr/>
        <p:txBody>
          <a:bodyPr/>
          <a:lstStyle/>
          <a:p>
            <a:pPr eaLnBrk="1" hangingPunct="1"/>
            <a:r>
              <a:rPr lang="en-US" altLang="zh-CN" dirty="0">
                <a:highlight>
                  <a:srgbClr val="55E727"/>
                </a:highlight>
              </a:rPr>
              <a:t>d28</a:t>
            </a:r>
            <a:r>
              <a:rPr lang="en-US" altLang="zh-CN" dirty="0"/>
              <a:t> = a</a:t>
            </a:r>
            <a:r>
              <a:rPr lang="en-US" altLang="zh-CN" baseline="-25000" dirty="0"/>
              <a:t>8</a:t>
            </a:r>
            <a:r>
              <a:rPr lang="en-US" altLang="zh-CN" dirty="0"/>
              <a:t>’ </a:t>
            </a:r>
            <a:r>
              <a:rPr lang="en-US" altLang="zh-CN" dirty="0">
                <a:solidFill>
                  <a:srgbClr val="FF00FF"/>
                </a:solidFill>
              </a:rPr>
              <a:t>and </a:t>
            </a:r>
            <a:r>
              <a:rPr lang="en-US" altLang="zh-CN" dirty="0"/>
              <a:t>a</a:t>
            </a:r>
            <a:r>
              <a:rPr lang="en-US" altLang="zh-CN" baseline="-25000" dirty="0"/>
              <a:t>4</a:t>
            </a:r>
            <a:r>
              <a:rPr lang="en-US" altLang="zh-CN" dirty="0"/>
              <a:t>’ </a:t>
            </a:r>
            <a:r>
              <a:rPr lang="en-US" altLang="zh-CN" dirty="0">
                <a:solidFill>
                  <a:srgbClr val="FF00FF"/>
                </a:solidFill>
              </a:rPr>
              <a:t>and </a:t>
            </a:r>
            <a:r>
              <a:rPr lang="en-US" altLang="zh-CN" dirty="0"/>
              <a:t>a</a:t>
            </a:r>
            <a:r>
              <a:rPr lang="en-US" altLang="zh-CN" baseline="-25000" dirty="0"/>
              <a:t>2 </a:t>
            </a:r>
            <a:r>
              <a:rPr lang="en-US" altLang="zh-CN" dirty="0">
                <a:solidFill>
                  <a:srgbClr val="FF00FF"/>
                </a:solidFill>
              </a:rPr>
              <a:t>and </a:t>
            </a:r>
            <a:r>
              <a:rPr lang="en-US" altLang="zh-CN" dirty="0"/>
              <a:t>a</a:t>
            </a:r>
            <a:r>
              <a:rPr lang="en-US" altLang="zh-CN" baseline="-25000" dirty="0"/>
              <a:t>1</a:t>
            </a:r>
            <a:r>
              <a:rPr lang="en-US" altLang="zh-CN" dirty="0"/>
              <a:t>’ </a:t>
            </a:r>
            <a:r>
              <a:rPr lang="en-US" altLang="zh-CN" dirty="0">
                <a:solidFill>
                  <a:srgbClr val="FF00FF"/>
                </a:solidFill>
              </a:rPr>
              <a:t>and </a:t>
            </a:r>
            <a:r>
              <a:rPr lang="en-US" altLang="zh-CN" dirty="0"/>
              <a:t>leap’</a:t>
            </a:r>
          </a:p>
          <a:p>
            <a:pPr eaLnBrk="1" hangingPunct="1"/>
            <a:r>
              <a:rPr lang="en-US" altLang="zh-CN" dirty="0">
                <a:highlight>
                  <a:srgbClr val="2990E5"/>
                </a:highlight>
              </a:rPr>
              <a:t>d29</a:t>
            </a:r>
            <a:r>
              <a:rPr lang="en-US" altLang="zh-CN" dirty="0"/>
              <a:t> = a</a:t>
            </a:r>
            <a:r>
              <a:rPr lang="en-US" altLang="zh-CN" baseline="-25000" dirty="0"/>
              <a:t>8</a:t>
            </a:r>
            <a:r>
              <a:rPr lang="en-US" altLang="zh-CN" dirty="0"/>
              <a:t>’ </a:t>
            </a:r>
            <a:r>
              <a:rPr lang="en-US" altLang="zh-CN" dirty="0">
                <a:solidFill>
                  <a:srgbClr val="FF00FF"/>
                </a:solidFill>
              </a:rPr>
              <a:t>and </a:t>
            </a:r>
            <a:r>
              <a:rPr lang="en-US" altLang="zh-CN" dirty="0"/>
              <a:t>a</a:t>
            </a:r>
            <a:r>
              <a:rPr lang="en-US" altLang="zh-CN" baseline="-25000" dirty="0"/>
              <a:t>4</a:t>
            </a:r>
            <a:r>
              <a:rPr lang="en-US" altLang="zh-CN" dirty="0"/>
              <a:t>’ </a:t>
            </a:r>
            <a:r>
              <a:rPr lang="en-US" altLang="zh-CN" dirty="0">
                <a:solidFill>
                  <a:srgbClr val="FF00FF"/>
                </a:solidFill>
              </a:rPr>
              <a:t>and </a:t>
            </a:r>
            <a:r>
              <a:rPr lang="en-US" altLang="zh-CN" dirty="0"/>
              <a:t>a</a:t>
            </a:r>
            <a:r>
              <a:rPr lang="en-US" altLang="zh-CN" baseline="-25000" dirty="0"/>
              <a:t>2 </a:t>
            </a:r>
            <a:r>
              <a:rPr lang="en-US" altLang="zh-CN" dirty="0">
                <a:solidFill>
                  <a:srgbClr val="FF00FF"/>
                </a:solidFill>
              </a:rPr>
              <a:t>and </a:t>
            </a:r>
            <a:r>
              <a:rPr lang="en-US" altLang="zh-CN" dirty="0"/>
              <a:t>a</a:t>
            </a:r>
            <a:r>
              <a:rPr lang="en-US" altLang="zh-CN" baseline="-25000" dirty="0"/>
              <a:t>1</a:t>
            </a:r>
            <a:r>
              <a:rPr lang="en-US" altLang="zh-CN" dirty="0"/>
              <a:t>’ </a:t>
            </a:r>
            <a:r>
              <a:rPr lang="en-US" altLang="zh-CN" dirty="0">
                <a:solidFill>
                  <a:srgbClr val="FF00FF"/>
                </a:solidFill>
              </a:rPr>
              <a:t>and </a:t>
            </a:r>
            <a:r>
              <a:rPr lang="en-US" altLang="zh-CN" dirty="0"/>
              <a:t>leap</a:t>
            </a:r>
          </a:p>
          <a:p>
            <a:pPr eaLnBrk="1" hangingPunct="1"/>
            <a:endParaRPr lang="en-US" altLang="zh-CN" dirty="0"/>
          </a:p>
        </p:txBody>
      </p:sp>
      <p:sp>
        <p:nvSpPr>
          <p:cNvPr id="2" name="灯片编号占位符 1">
            <a:extLst>
              <a:ext uri="{FF2B5EF4-FFF2-40B4-BE49-F238E27FC236}">
                <a16:creationId xmlns:a16="http://schemas.microsoft.com/office/drawing/2014/main" id="{D6D3083D-6804-ECF3-6C6F-D3D2E3EE0D8D}"/>
              </a:ext>
            </a:extLst>
          </p:cNvPr>
          <p:cNvSpPr>
            <a:spLocks noGrp="1"/>
          </p:cNvSpPr>
          <p:nvPr>
            <p:ph type="sldNum" sz="quarter" idx="12"/>
          </p:nvPr>
        </p:nvSpPr>
        <p:spPr/>
        <p:txBody>
          <a:bodyPr/>
          <a:lstStyle/>
          <a:p>
            <a:fld id="{14659731-6BD7-46E7-8D3C-2F3AC07E20B1}" type="slidenum">
              <a:rPr lang="en-US" altLang="zh-CN" smtClean="0"/>
              <a:pPr/>
              <a:t>57</a:t>
            </a:fld>
            <a:endParaRPr lang="en-US" altLang="zh-CN" dirty="0"/>
          </a:p>
        </p:txBody>
      </p:sp>
      <p:graphicFrame>
        <p:nvGraphicFramePr>
          <p:cNvPr id="4" name="Table 2">
            <a:extLst>
              <a:ext uri="{FF2B5EF4-FFF2-40B4-BE49-F238E27FC236}">
                <a16:creationId xmlns:a16="http://schemas.microsoft.com/office/drawing/2014/main" id="{48BF59EC-1F4A-D9C7-6B34-0ECBCD76A255}"/>
              </a:ext>
            </a:extLst>
          </p:cNvPr>
          <p:cNvGraphicFramePr>
            <a:graphicFrameLocks noGrp="1"/>
          </p:cNvGraphicFramePr>
          <p:nvPr/>
        </p:nvGraphicFramePr>
        <p:xfrm>
          <a:off x="2816579" y="4010573"/>
          <a:ext cx="3582850" cy="1551600"/>
        </p:xfrm>
        <a:graphic>
          <a:graphicData uri="http://schemas.openxmlformats.org/drawingml/2006/table">
            <a:tbl>
              <a:tblPr/>
              <a:tblGrid>
                <a:gridCol w="1069253">
                  <a:extLst>
                    <a:ext uri="{9D8B030D-6E8A-4147-A177-3AD203B41FA5}">
                      <a16:colId xmlns:a16="http://schemas.microsoft.com/office/drawing/2014/main" val="211426663"/>
                    </a:ext>
                  </a:extLst>
                </a:gridCol>
                <a:gridCol w="876836">
                  <a:extLst>
                    <a:ext uri="{9D8B030D-6E8A-4147-A177-3AD203B41FA5}">
                      <a16:colId xmlns:a16="http://schemas.microsoft.com/office/drawing/2014/main" val="1649926413"/>
                    </a:ext>
                  </a:extLst>
                </a:gridCol>
                <a:gridCol w="701469">
                  <a:extLst>
                    <a:ext uri="{9D8B030D-6E8A-4147-A177-3AD203B41FA5}">
                      <a16:colId xmlns:a16="http://schemas.microsoft.com/office/drawing/2014/main" val="4003792721"/>
                    </a:ext>
                  </a:extLst>
                </a:gridCol>
                <a:gridCol w="935292">
                  <a:extLst>
                    <a:ext uri="{9D8B030D-6E8A-4147-A177-3AD203B41FA5}">
                      <a16:colId xmlns:a16="http://schemas.microsoft.com/office/drawing/2014/main" val="2535448174"/>
                    </a:ext>
                  </a:extLst>
                </a:gridCol>
              </a:tblGrid>
              <a:tr h="3049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Month</a:t>
                      </a:r>
                    </a:p>
                  </a:txBody>
                  <a:tcPr marL="36000" marR="36000"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Leap</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d28</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d29</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882794663"/>
                  </a:ext>
                </a:extLst>
              </a:tr>
              <a:tr h="3049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0000</a:t>
                      </a:r>
                    </a:p>
                  </a:txBody>
                  <a:tcPr marL="36000" marR="36000"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3139475436"/>
                  </a:ext>
                </a:extLst>
              </a:tr>
              <a:tr h="3049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0001</a:t>
                      </a:r>
                    </a:p>
                  </a:txBody>
                  <a:tcPr marL="36000" marR="36000"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0</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0</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1017793260"/>
                  </a:ext>
                </a:extLst>
              </a:tr>
              <a:tr h="3049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0010</a:t>
                      </a:r>
                    </a:p>
                  </a:txBody>
                  <a:tcPr marL="36000" marR="36000"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0</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1</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9C22">
                        <a:lumMod val="40000"/>
                        <a:lumOff val="6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0</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2138907115"/>
                  </a:ext>
                </a:extLst>
              </a:tr>
              <a:tr h="30490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0010</a:t>
                      </a:r>
                    </a:p>
                  </a:txBody>
                  <a:tcPr marL="36000" marR="36000" marT="18000" marB="1800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0</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lumMod val="95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1</a:t>
                      </a:r>
                    </a:p>
                  </a:txBody>
                  <a:tcPr marL="36000" marR="36000" marT="18000" marB="1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2990E5">
                        <a:lumMod val="20000"/>
                        <a:lumOff val="80000"/>
                      </a:srgbClr>
                    </a:solidFill>
                  </a:tcPr>
                </a:tc>
                <a:extLst>
                  <a:ext uri="{0D108BD9-81ED-4DB2-BD59-A6C34878D82A}">
                    <a16:rowId xmlns:a16="http://schemas.microsoft.com/office/drawing/2014/main" val="3414605099"/>
                  </a:ext>
                </a:extLst>
              </a:tr>
            </a:tbl>
          </a:graphicData>
        </a:graphic>
      </p:graphicFrame>
      <p:sp>
        <p:nvSpPr>
          <p:cNvPr id="5" name="Rectangle 187">
            <a:extLst>
              <a:ext uri="{FF2B5EF4-FFF2-40B4-BE49-F238E27FC236}">
                <a16:creationId xmlns:a16="http://schemas.microsoft.com/office/drawing/2014/main" id="{3FA59BB2-18FE-62DC-D146-AAAB1FE3C1F7}"/>
              </a:ext>
            </a:extLst>
          </p:cNvPr>
          <p:cNvSpPr>
            <a:spLocks noChangeArrowheads="1"/>
          </p:cNvSpPr>
          <p:nvPr/>
        </p:nvSpPr>
        <p:spPr bwMode="auto">
          <a:xfrm>
            <a:off x="791580" y="4886980"/>
            <a:ext cx="1548172" cy="523220"/>
          </a:xfrm>
          <a:prstGeom prst="rect">
            <a:avLst/>
          </a:prstGeom>
          <a:solidFill>
            <a:srgbClr val="FFFFFF">
              <a:lumMod val="95000"/>
            </a:srgbClr>
          </a:solidFill>
          <a:ln>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a:t>
            </a:r>
            <a:r>
              <a:rPr kumimoji="0" lang="en-US" altLang="zh-CN" sz="2800" b="0" i="0" u="none" strike="noStrike" kern="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rPr>
              <a:t>8</a:t>
            </a:r>
            <a:r>
              <a:rPr kumimoji="0" lang="en-US" altLang="zh-CN" sz="2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a:t>
            </a:r>
            <a:r>
              <a:rPr kumimoji="0" lang="en-US" altLang="zh-CN" sz="2800" b="0" i="0" u="none" strike="noStrike" kern="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rPr>
              <a:t>4</a:t>
            </a:r>
            <a:r>
              <a:rPr kumimoji="0" lang="en-US" altLang="zh-CN" sz="2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a:t>
            </a:r>
            <a:r>
              <a:rPr kumimoji="0" lang="en-US" altLang="zh-CN" sz="2800" b="0" i="0" u="none" strike="noStrike" kern="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rPr>
              <a:t>2</a:t>
            </a:r>
            <a:r>
              <a:rPr kumimoji="0" lang="en-US" altLang="zh-CN" sz="2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a:t>
            </a:r>
            <a:r>
              <a:rPr kumimoji="0" lang="en-US" altLang="zh-CN" sz="2800" b="0" i="0" u="none" strike="noStrike" kern="0" cap="none" spc="0" normalizeH="0" baseline="-25000" noProof="0" dirty="0">
                <a:ln>
                  <a:noFill/>
                </a:ln>
                <a:solidFill>
                  <a:srgbClr val="000000"/>
                </a:solidFill>
                <a:effectLst/>
                <a:uLnTx/>
                <a:uFillTx/>
                <a:latin typeface="Arial" panose="020B0604020202020204" pitchFamily="34" charset="0"/>
                <a:cs typeface="Arial" panose="020B0604020202020204" pitchFamily="34" charset="0"/>
              </a:rPr>
              <a:t>1</a:t>
            </a:r>
          </a:p>
        </p:txBody>
      </p:sp>
      <p:sp>
        <p:nvSpPr>
          <p:cNvPr id="8" name="Line 188">
            <a:extLst>
              <a:ext uri="{FF2B5EF4-FFF2-40B4-BE49-F238E27FC236}">
                <a16:creationId xmlns:a16="http://schemas.microsoft.com/office/drawing/2014/main" id="{59D78C51-FF34-8040-7412-72ED42839297}"/>
              </a:ext>
            </a:extLst>
          </p:cNvPr>
          <p:cNvSpPr>
            <a:spLocks noChangeShapeType="1"/>
          </p:cNvSpPr>
          <p:nvPr/>
        </p:nvSpPr>
        <p:spPr bwMode="auto">
          <a:xfrm flipV="1">
            <a:off x="2339752" y="4786373"/>
            <a:ext cx="720080" cy="31035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1030887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3748" name="Object 4"/>
          <p:cNvGraphicFramePr>
            <a:graphicFrameLocks noGrp="1" noChangeAspect="1"/>
          </p:cNvGraphicFramePr>
          <p:nvPr>
            <p:ph sz="half" idx="1"/>
            <p:extLst>
              <p:ext uri="{D42A27DB-BD31-4B8C-83A1-F6EECF244321}">
                <p14:modId xmlns:p14="http://schemas.microsoft.com/office/powerpoint/2010/main" val="705135994"/>
              </p:ext>
            </p:extLst>
          </p:nvPr>
        </p:nvGraphicFramePr>
        <p:xfrm>
          <a:off x="1328738" y="1614488"/>
          <a:ext cx="2551112" cy="2192337"/>
        </p:xfrm>
        <a:graphic>
          <a:graphicData uri="http://schemas.openxmlformats.org/presentationml/2006/ole">
            <mc:AlternateContent xmlns:mc="http://schemas.openxmlformats.org/markup-compatibility/2006">
              <mc:Choice xmlns:v="urn:schemas-microsoft-com:vml" Requires="v">
                <p:oleObj name="Visio" r:id="rId3" imgW="1556004" imgH="1337462" progId="Visio.Drawing.11">
                  <p:embed/>
                </p:oleObj>
              </mc:Choice>
              <mc:Fallback>
                <p:oleObj name="Visio" r:id="rId3" imgW="1556004" imgH="1337462" progId="Visio.Drawing.11">
                  <p:embed/>
                  <p:pic>
                    <p:nvPicPr>
                      <p:cNvPr id="5437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8738" y="1614488"/>
                        <a:ext cx="2551112" cy="2192337"/>
                      </a:xfrm>
                      <a:prstGeom prst="rect">
                        <a:avLst/>
                      </a:prstGeom>
                      <a:noFill/>
                      <a:ln>
                        <a:noFill/>
                      </a:ln>
                      <a:effectLst/>
                    </p:spPr>
                  </p:pic>
                </p:oleObj>
              </mc:Fallback>
            </mc:AlternateContent>
          </a:graphicData>
        </a:graphic>
      </p:graphicFrame>
      <p:graphicFrame>
        <p:nvGraphicFramePr>
          <p:cNvPr id="543752" name="Object 8"/>
          <p:cNvGraphicFramePr>
            <a:graphicFrameLocks noGrp="1" noChangeAspect="1"/>
          </p:cNvGraphicFramePr>
          <p:nvPr>
            <p:ph sz="quarter" idx="2"/>
            <p:extLst>
              <p:ext uri="{D42A27DB-BD31-4B8C-83A1-F6EECF244321}">
                <p14:modId xmlns:p14="http://schemas.microsoft.com/office/powerpoint/2010/main" val="4054224936"/>
              </p:ext>
            </p:extLst>
          </p:nvPr>
        </p:nvGraphicFramePr>
        <p:xfrm>
          <a:off x="1046163" y="4745503"/>
          <a:ext cx="3121025" cy="1763713"/>
        </p:xfrm>
        <a:graphic>
          <a:graphicData uri="http://schemas.openxmlformats.org/presentationml/2006/ole">
            <mc:AlternateContent xmlns:mc="http://schemas.openxmlformats.org/markup-compatibility/2006">
              <mc:Choice xmlns:v="urn:schemas-microsoft-com:vml" Requires="v">
                <p:oleObj name="Visio" r:id="rId5" imgW="2142744" imgH="1210970" progId="Visio.Drawing.11">
                  <p:embed/>
                </p:oleObj>
              </mc:Choice>
              <mc:Fallback>
                <p:oleObj name="Visio" r:id="rId5" imgW="2142744" imgH="1210970" progId="Visio.Drawing.11">
                  <p:embed/>
                  <p:pic>
                    <p:nvPicPr>
                      <p:cNvPr id="54375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6163" y="4745503"/>
                        <a:ext cx="3121025" cy="1763713"/>
                      </a:xfrm>
                      <a:prstGeom prst="rect">
                        <a:avLst/>
                      </a:prstGeom>
                      <a:noFill/>
                      <a:ln>
                        <a:noFill/>
                      </a:ln>
                      <a:effectLst/>
                    </p:spPr>
                  </p:pic>
                </p:oleObj>
              </mc:Fallback>
            </mc:AlternateContent>
          </a:graphicData>
        </a:graphic>
      </p:graphicFrame>
      <p:sp>
        <p:nvSpPr>
          <p:cNvPr id="4" name="灯片编号占位符 3">
            <a:extLst>
              <a:ext uri="{FF2B5EF4-FFF2-40B4-BE49-F238E27FC236}">
                <a16:creationId xmlns:a16="http://schemas.microsoft.com/office/drawing/2014/main" id="{1AB82B57-3567-0FF7-7558-12432A6F6824}"/>
              </a:ext>
            </a:extLst>
          </p:cNvPr>
          <p:cNvSpPr>
            <a:spLocks noGrp="1"/>
          </p:cNvSpPr>
          <p:nvPr>
            <p:ph type="sldNum" sz="quarter" idx="12"/>
          </p:nvPr>
        </p:nvSpPr>
        <p:spPr/>
        <p:txBody>
          <a:bodyPr/>
          <a:lstStyle/>
          <a:p>
            <a:pPr>
              <a:defRPr/>
            </a:pPr>
            <a:fld id="{A338B9D4-5D11-464B-BDF0-A23355FE4558}" type="slidenum">
              <a:rPr lang="en-US" altLang="zh-CN" smtClean="0"/>
              <a:pPr>
                <a:defRPr/>
              </a:pPr>
              <a:t>58</a:t>
            </a:fld>
            <a:endParaRPr lang="en-US" altLang="zh-CN" dirty="0"/>
          </a:p>
        </p:txBody>
      </p:sp>
      <p:sp>
        <p:nvSpPr>
          <p:cNvPr id="543754" name="Rectangle 10"/>
          <p:cNvSpPr>
            <a:spLocks noChangeArrowheads="1"/>
          </p:cNvSpPr>
          <p:nvPr/>
        </p:nvSpPr>
        <p:spPr bwMode="auto">
          <a:xfrm>
            <a:off x="3634408" y="2283505"/>
            <a:ext cx="6126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d28</a:t>
            </a:r>
          </a:p>
        </p:txBody>
      </p:sp>
      <p:sp>
        <p:nvSpPr>
          <p:cNvPr id="543756" name="Rectangle 12"/>
          <p:cNvSpPr>
            <a:spLocks noChangeArrowheads="1"/>
          </p:cNvSpPr>
          <p:nvPr/>
        </p:nvSpPr>
        <p:spPr bwMode="auto">
          <a:xfrm>
            <a:off x="586408" y="1521505"/>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a8</a:t>
            </a:r>
          </a:p>
        </p:txBody>
      </p:sp>
      <p:sp>
        <p:nvSpPr>
          <p:cNvPr id="543757" name="Rectangle 13"/>
          <p:cNvSpPr>
            <a:spLocks noChangeArrowheads="1"/>
          </p:cNvSpPr>
          <p:nvPr/>
        </p:nvSpPr>
        <p:spPr bwMode="auto">
          <a:xfrm>
            <a:off x="557833" y="2007250"/>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a4</a:t>
            </a:r>
          </a:p>
        </p:txBody>
      </p:sp>
      <p:sp>
        <p:nvSpPr>
          <p:cNvPr id="543758" name="Rectangle 14"/>
          <p:cNvSpPr>
            <a:spLocks noChangeArrowheads="1"/>
          </p:cNvSpPr>
          <p:nvPr/>
        </p:nvSpPr>
        <p:spPr bwMode="auto">
          <a:xfrm>
            <a:off x="565877" y="2435905"/>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a2</a:t>
            </a:r>
          </a:p>
        </p:txBody>
      </p:sp>
      <p:sp>
        <p:nvSpPr>
          <p:cNvPr id="543759" name="Rectangle 15"/>
          <p:cNvSpPr>
            <a:spLocks noChangeArrowheads="1"/>
          </p:cNvSpPr>
          <p:nvPr/>
        </p:nvSpPr>
        <p:spPr bwMode="auto">
          <a:xfrm>
            <a:off x="565876" y="300653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a1</a:t>
            </a:r>
          </a:p>
        </p:txBody>
      </p:sp>
      <p:sp>
        <p:nvSpPr>
          <p:cNvPr id="543760" name="Rectangle 16"/>
          <p:cNvSpPr>
            <a:spLocks noChangeArrowheads="1"/>
          </p:cNvSpPr>
          <p:nvPr/>
        </p:nvSpPr>
        <p:spPr bwMode="auto">
          <a:xfrm>
            <a:off x="473419" y="3435193"/>
            <a:ext cx="6703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leap</a:t>
            </a:r>
          </a:p>
        </p:txBody>
      </p:sp>
      <p:sp>
        <p:nvSpPr>
          <p:cNvPr id="2" name="下箭头 1">
            <a:extLst>
              <a:ext uri="{FF2B5EF4-FFF2-40B4-BE49-F238E27FC236}">
                <a16:creationId xmlns:a16="http://schemas.microsoft.com/office/drawing/2014/main" id="{E15DB563-7390-D446-AC60-0F918893EFA5}"/>
              </a:ext>
            </a:extLst>
          </p:cNvPr>
          <p:cNvSpPr/>
          <p:nvPr/>
        </p:nvSpPr>
        <p:spPr bwMode="auto">
          <a:xfrm>
            <a:off x="2256706" y="4016638"/>
            <a:ext cx="698004" cy="455810"/>
          </a:xfrm>
          <a:prstGeom prst="down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8" name="Rectangle 12">
            <a:extLst>
              <a:ext uri="{FF2B5EF4-FFF2-40B4-BE49-F238E27FC236}">
                <a16:creationId xmlns:a16="http://schemas.microsoft.com/office/drawing/2014/main" id="{9ADD35FE-2B7E-314D-BF19-84C34AA4E659}"/>
              </a:ext>
            </a:extLst>
          </p:cNvPr>
          <p:cNvSpPr>
            <a:spLocks noChangeArrowheads="1"/>
          </p:cNvSpPr>
          <p:nvPr/>
        </p:nvSpPr>
        <p:spPr bwMode="auto">
          <a:xfrm>
            <a:off x="557833" y="4339783"/>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a8</a:t>
            </a:r>
          </a:p>
        </p:txBody>
      </p:sp>
      <p:sp>
        <p:nvSpPr>
          <p:cNvPr id="19" name="Rectangle 13">
            <a:extLst>
              <a:ext uri="{FF2B5EF4-FFF2-40B4-BE49-F238E27FC236}">
                <a16:creationId xmlns:a16="http://schemas.microsoft.com/office/drawing/2014/main" id="{71EB2FD1-5337-4C45-8800-01990DE8F4D1}"/>
              </a:ext>
            </a:extLst>
          </p:cNvPr>
          <p:cNvSpPr>
            <a:spLocks noChangeArrowheads="1"/>
          </p:cNvSpPr>
          <p:nvPr/>
        </p:nvSpPr>
        <p:spPr bwMode="auto">
          <a:xfrm>
            <a:off x="560099" y="4896987"/>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a4</a:t>
            </a:r>
          </a:p>
        </p:txBody>
      </p:sp>
      <p:sp>
        <p:nvSpPr>
          <p:cNvPr id="20" name="Rectangle 14">
            <a:extLst>
              <a:ext uri="{FF2B5EF4-FFF2-40B4-BE49-F238E27FC236}">
                <a16:creationId xmlns:a16="http://schemas.microsoft.com/office/drawing/2014/main" id="{6D6A9BAF-C2FE-674B-AD0A-207EF3CA4549}"/>
              </a:ext>
            </a:extLst>
          </p:cNvPr>
          <p:cNvSpPr>
            <a:spLocks noChangeArrowheads="1"/>
          </p:cNvSpPr>
          <p:nvPr/>
        </p:nvSpPr>
        <p:spPr bwMode="auto">
          <a:xfrm>
            <a:off x="538341" y="5483730"/>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a2</a:t>
            </a:r>
          </a:p>
        </p:txBody>
      </p:sp>
      <p:sp>
        <p:nvSpPr>
          <p:cNvPr id="21" name="Rectangle 15">
            <a:extLst>
              <a:ext uri="{FF2B5EF4-FFF2-40B4-BE49-F238E27FC236}">
                <a16:creationId xmlns:a16="http://schemas.microsoft.com/office/drawing/2014/main" id="{58AB4459-AB04-FC44-B6D6-E9EB858005C4}"/>
              </a:ext>
            </a:extLst>
          </p:cNvPr>
          <p:cNvSpPr>
            <a:spLocks noChangeArrowheads="1"/>
          </p:cNvSpPr>
          <p:nvPr/>
        </p:nvSpPr>
        <p:spPr bwMode="auto">
          <a:xfrm>
            <a:off x="549412" y="5817895"/>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a1</a:t>
            </a:r>
          </a:p>
        </p:txBody>
      </p:sp>
      <p:sp>
        <p:nvSpPr>
          <p:cNvPr id="22" name="Rectangle 16">
            <a:extLst>
              <a:ext uri="{FF2B5EF4-FFF2-40B4-BE49-F238E27FC236}">
                <a16:creationId xmlns:a16="http://schemas.microsoft.com/office/drawing/2014/main" id="{31AE2842-A4F9-934F-A1B7-A83B21261EAD}"/>
              </a:ext>
            </a:extLst>
          </p:cNvPr>
          <p:cNvSpPr>
            <a:spLocks noChangeArrowheads="1"/>
          </p:cNvSpPr>
          <p:nvPr/>
        </p:nvSpPr>
        <p:spPr bwMode="auto">
          <a:xfrm>
            <a:off x="499125" y="6291556"/>
            <a:ext cx="6703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leap</a:t>
            </a:r>
          </a:p>
        </p:txBody>
      </p:sp>
      <p:sp>
        <p:nvSpPr>
          <p:cNvPr id="23" name="Rectangle 10">
            <a:extLst>
              <a:ext uri="{FF2B5EF4-FFF2-40B4-BE49-F238E27FC236}">
                <a16:creationId xmlns:a16="http://schemas.microsoft.com/office/drawing/2014/main" id="{220D4150-7A38-A041-97B2-160C25D09104}"/>
              </a:ext>
            </a:extLst>
          </p:cNvPr>
          <p:cNvSpPr>
            <a:spLocks noChangeArrowheads="1"/>
          </p:cNvSpPr>
          <p:nvPr/>
        </p:nvSpPr>
        <p:spPr bwMode="auto">
          <a:xfrm>
            <a:off x="3634408" y="5617840"/>
            <a:ext cx="6126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d28</a:t>
            </a:r>
          </a:p>
        </p:txBody>
      </p:sp>
      <p:sp>
        <p:nvSpPr>
          <p:cNvPr id="24" name="Rectangle 15">
            <a:extLst>
              <a:ext uri="{FF2B5EF4-FFF2-40B4-BE49-F238E27FC236}">
                <a16:creationId xmlns:a16="http://schemas.microsoft.com/office/drawing/2014/main" id="{5665F79B-9188-0A4C-BE50-A8C303CC9805}"/>
              </a:ext>
            </a:extLst>
          </p:cNvPr>
          <p:cNvSpPr>
            <a:spLocks noChangeArrowheads="1"/>
          </p:cNvSpPr>
          <p:nvPr/>
        </p:nvSpPr>
        <p:spPr bwMode="auto">
          <a:xfrm>
            <a:off x="1621632" y="1366585"/>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a:t>
            </a:r>
            <a:r>
              <a:rPr lang="en-US" altLang="zh-CN" sz="2000" b="0" dirty="0">
                <a:solidFill>
                  <a:schemeClr val="tx1"/>
                </a:solidFill>
                <a:ea typeface="黑体" panose="02010609060101010101" pitchFamily="49" charset="-122"/>
              </a:rPr>
              <a:t>1</a:t>
            </a:r>
          </a:p>
        </p:txBody>
      </p:sp>
      <p:sp>
        <p:nvSpPr>
          <p:cNvPr id="25" name="Rectangle 15">
            <a:extLst>
              <a:ext uri="{FF2B5EF4-FFF2-40B4-BE49-F238E27FC236}">
                <a16:creationId xmlns:a16="http://schemas.microsoft.com/office/drawing/2014/main" id="{B02D8783-D94B-A945-960C-96F056E1329D}"/>
              </a:ext>
            </a:extLst>
          </p:cNvPr>
          <p:cNvSpPr>
            <a:spLocks noChangeArrowheads="1"/>
          </p:cNvSpPr>
          <p:nvPr/>
        </p:nvSpPr>
        <p:spPr bwMode="auto">
          <a:xfrm>
            <a:off x="1631716" y="186035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n2</a:t>
            </a:r>
            <a:endParaRPr lang="en-US" altLang="zh-CN" sz="2000" b="0" dirty="0">
              <a:solidFill>
                <a:schemeClr val="tx1"/>
              </a:solidFill>
              <a:ea typeface="黑体" panose="02010609060101010101" pitchFamily="49" charset="-122"/>
            </a:endParaRPr>
          </a:p>
        </p:txBody>
      </p:sp>
      <p:sp>
        <p:nvSpPr>
          <p:cNvPr id="26" name="Rectangle 15">
            <a:extLst>
              <a:ext uri="{FF2B5EF4-FFF2-40B4-BE49-F238E27FC236}">
                <a16:creationId xmlns:a16="http://schemas.microsoft.com/office/drawing/2014/main" id="{BDE06619-11F2-084B-B8A2-3C3E1A68772A}"/>
              </a:ext>
            </a:extLst>
          </p:cNvPr>
          <p:cNvSpPr>
            <a:spLocks noChangeArrowheads="1"/>
          </p:cNvSpPr>
          <p:nvPr/>
        </p:nvSpPr>
        <p:spPr bwMode="auto">
          <a:xfrm>
            <a:off x="1656437" y="3131200"/>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n3</a:t>
            </a:r>
            <a:endParaRPr lang="en-US" altLang="zh-CN" sz="2000" b="0" dirty="0">
              <a:solidFill>
                <a:schemeClr val="tx1"/>
              </a:solidFill>
              <a:ea typeface="黑体" panose="02010609060101010101" pitchFamily="49" charset="-122"/>
            </a:endParaRPr>
          </a:p>
        </p:txBody>
      </p:sp>
      <p:sp>
        <p:nvSpPr>
          <p:cNvPr id="27" name="Rectangle 15">
            <a:extLst>
              <a:ext uri="{FF2B5EF4-FFF2-40B4-BE49-F238E27FC236}">
                <a16:creationId xmlns:a16="http://schemas.microsoft.com/office/drawing/2014/main" id="{ACF211A1-79C5-F044-9ECA-9F864587C537}"/>
              </a:ext>
            </a:extLst>
          </p:cNvPr>
          <p:cNvSpPr>
            <a:spLocks noChangeArrowheads="1"/>
          </p:cNvSpPr>
          <p:nvPr/>
        </p:nvSpPr>
        <p:spPr bwMode="auto">
          <a:xfrm>
            <a:off x="1656437" y="3604946"/>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n4</a:t>
            </a:r>
            <a:endParaRPr lang="en-US" altLang="zh-CN" sz="2000" b="0" dirty="0">
              <a:solidFill>
                <a:schemeClr val="tx1"/>
              </a:solidFill>
              <a:ea typeface="黑体" panose="02010609060101010101" pitchFamily="49" charset="-122"/>
            </a:endParaRPr>
          </a:p>
        </p:txBody>
      </p:sp>
      <p:sp>
        <p:nvSpPr>
          <p:cNvPr id="28" name="Rectangle 15">
            <a:extLst>
              <a:ext uri="{FF2B5EF4-FFF2-40B4-BE49-F238E27FC236}">
                <a16:creationId xmlns:a16="http://schemas.microsoft.com/office/drawing/2014/main" id="{46E573A1-8AF9-B346-A3B6-F93188E0C2B1}"/>
              </a:ext>
            </a:extLst>
          </p:cNvPr>
          <p:cNvSpPr>
            <a:spLocks noChangeArrowheads="1"/>
          </p:cNvSpPr>
          <p:nvPr/>
        </p:nvSpPr>
        <p:spPr bwMode="auto">
          <a:xfrm>
            <a:off x="2429762" y="449953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n1</a:t>
            </a:r>
            <a:endParaRPr lang="en-US" altLang="zh-CN" sz="2000" b="0" dirty="0">
              <a:solidFill>
                <a:schemeClr val="tx1"/>
              </a:solidFill>
              <a:ea typeface="黑体" panose="02010609060101010101" pitchFamily="49" charset="-122"/>
            </a:endParaRPr>
          </a:p>
        </p:txBody>
      </p:sp>
      <p:sp>
        <p:nvSpPr>
          <p:cNvPr id="33" name="Rectangle 15">
            <a:extLst>
              <a:ext uri="{FF2B5EF4-FFF2-40B4-BE49-F238E27FC236}">
                <a16:creationId xmlns:a16="http://schemas.microsoft.com/office/drawing/2014/main" id="{89B60428-B01E-484C-8F03-DB015CC08948}"/>
              </a:ext>
            </a:extLst>
          </p:cNvPr>
          <p:cNvSpPr>
            <a:spLocks noChangeArrowheads="1"/>
          </p:cNvSpPr>
          <p:nvPr/>
        </p:nvSpPr>
        <p:spPr bwMode="auto">
          <a:xfrm>
            <a:off x="2429762" y="5705396"/>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n2</a:t>
            </a:r>
            <a:endParaRPr lang="en-US" altLang="zh-CN" sz="2000" b="0" dirty="0">
              <a:solidFill>
                <a:schemeClr val="tx1"/>
              </a:solidFill>
              <a:ea typeface="黑体" panose="02010609060101010101" pitchFamily="49" charset="-122"/>
            </a:endParaRPr>
          </a:p>
        </p:txBody>
      </p:sp>
      <p:sp>
        <p:nvSpPr>
          <p:cNvPr id="34" name="Rectangle 15">
            <a:extLst>
              <a:ext uri="{FF2B5EF4-FFF2-40B4-BE49-F238E27FC236}">
                <a16:creationId xmlns:a16="http://schemas.microsoft.com/office/drawing/2014/main" id="{7FAF69B3-93A7-604B-8ADA-192901C0925C}"/>
              </a:ext>
            </a:extLst>
          </p:cNvPr>
          <p:cNvSpPr>
            <a:spLocks noChangeArrowheads="1"/>
          </p:cNvSpPr>
          <p:nvPr/>
        </p:nvSpPr>
        <p:spPr bwMode="auto">
          <a:xfrm>
            <a:off x="3003451" y="5083620"/>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n3</a:t>
            </a:r>
            <a:endParaRPr lang="en-US" altLang="zh-CN" sz="2000" b="0" dirty="0">
              <a:solidFill>
                <a:schemeClr val="tx1"/>
              </a:solidFill>
              <a:ea typeface="黑体" panose="02010609060101010101" pitchFamily="49" charset="-122"/>
            </a:endParaRPr>
          </a:p>
        </p:txBody>
      </p:sp>
      <p:sp>
        <p:nvSpPr>
          <p:cNvPr id="3" name="文本框 2">
            <a:extLst>
              <a:ext uri="{FF2B5EF4-FFF2-40B4-BE49-F238E27FC236}">
                <a16:creationId xmlns:a16="http://schemas.microsoft.com/office/drawing/2014/main" id="{D272C660-264F-7E46-B7FB-F80DD3D9ACC1}"/>
              </a:ext>
            </a:extLst>
          </p:cNvPr>
          <p:cNvSpPr txBox="1"/>
          <p:nvPr/>
        </p:nvSpPr>
        <p:spPr>
          <a:xfrm>
            <a:off x="4572000" y="1436628"/>
            <a:ext cx="4251379" cy="5416868"/>
          </a:xfrm>
          <a:prstGeom prst="rect">
            <a:avLst/>
          </a:prstGeom>
          <a:noFill/>
        </p:spPr>
        <p:txBody>
          <a:bodyPr wrap="square" rtlCol="0">
            <a:spAutoFit/>
          </a:bodyPr>
          <a:lstStyle/>
          <a:p>
            <a:pPr algn="ctr"/>
            <a:r>
              <a:rPr lang="en-US" altLang="zh-CN" sz="1600" b="1" dirty="0">
                <a:ea typeface="黑体" panose="02010609060101010101" pitchFamily="49" charset="-122"/>
              </a:rPr>
              <a:t>Verilog:</a:t>
            </a:r>
            <a:r>
              <a:rPr lang="zh-CN" altLang="en-US" sz="1600" b="1" dirty="0">
                <a:ea typeface="黑体" panose="02010609060101010101" pitchFamily="49" charset="-122"/>
              </a:rPr>
              <a:t> 一种硬件描述语言</a:t>
            </a:r>
            <a:endParaRPr lang="en" altLang="zh-CN" sz="1600" b="1" dirty="0">
              <a:ea typeface="黑体" panose="02010609060101010101" pitchFamily="49" charset="-122"/>
            </a:endParaRPr>
          </a:p>
          <a:p>
            <a:endParaRPr lang="en" altLang="zh-CN" sz="1400" dirty="0">
              <a:solidFill>
                <a:srgbClr val="0000FF"/>
              </a:solidFill>
              <a:latin typeface="Courier New,Bold" pitchFamily="2" charset="0"/>
              <a:ea typeface="黑体" panose="02010609060101010101" pitchFamily="49" charset="-122"/>
            </a:endParaRPr>
          </a:p>
          <a:p>
            <a:r>
              <a:rPr lang="en" altLang="zh-CN" sz="1400" dirty="0">
                <a:solidFill>
                  <a:srgbClr val="0000FF"/>
                </a:solidFill>
                <a:latin typeface="Courier New,Bold" pitchFamily="2" charset="0"/>
                <a:ea typeface="黑体" panose="02010609060101010101" pitchFamily="49" charset="-122"/>
              </a:rPr>
              <a:t>module</a:t>
            </a:r>
            <a:r>
              <a:rPr lang="en" altLang="zh-CN" sz="1400" dirty="0">
                <a:ea typeface="黑体" panose="02010609060101010101" pitchFamily="49" charset="-122"/>
              </a:rPr>
              <a:t> </a:t>
            </a:r>
            <a:r>
              <a:rPr lang="en" altLang="zh-CN" sz="1400" dirty="0">
                <a:latin typeface="Courier New" panose="02070309020205020404" pitchFamily="49" charset="0"/>
                <a:ea typeface="黑体" panose="02010609060101010101" pitchFamily="49" charset="-122"/>
              </a:rPr>
              <a:t>CalD28</a:t>
            </a:r>
            <a:r>
              <a:rPr lang="en" altLang="zh-CN" sz="1400" dirty="0">
                <a:ea typeface="黑体" panose="02010609060101010101" pitchFamily="49" charset="-122"/>
              </a:rPr>
              <a:t> </a:t>
            </a:r>
            <a:r>
              <a:rPr lang="en" altLang="zh-CN" sz="1400" dirty="0">
                <a:latin typeface="Courier New" panose="02070309020205020404" pitchFamily="49" charset="0"/>
                <a:ea typeface="黑体" panose="02010609060101010101" pitchFamily="49" charset="-122"/>
              </a:rPr>
              <a:t>(a8,a4,a2,a1,leap,d28);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input</a:t>
            </a:r>
            <a:r>
              <a:rPr lang="en" altLang="zh-CN" sz="1400" dirty="0">
                <a:latin typeface="Courier New" panose="02070309020205020404" pitchFamily="49" charset="0"/>
                <a:ea typeface="黑体" panose="02010609060101010101" pitchFamily="49" charset="-122"/>
              </a:rPr>
              <a:t> a8,a4,a2,a1,leap; </a:t>
            </a:r>
          </a:p>
          <a:p>
            <a:r>
              <a:rPr lang="zh-CN" altLang="en-US" sz="1400" dirty="0">
                <a:solidFill>
                  <a:srgbClr val="0000FF"/>
                </a:solidFill>
                <a:latin typeface="Courier New" panose="02070309020205020404" pitchFamily="49"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output</a:t>
            </a:r>
            <a:r>
              <a:rPr lang="en" altLang="zh-CN" sz="1400" dirty="0">
                <a:latin typeface="Courier New" panose="02070309020205020404" pitchFamily="49" charset="0"/>
                <a:ea typeface="黑体" panose="02010609060101010101" pitchFamily="49" charset="-122"/>
              </a:rPr>
              <a:t> d28;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not</a:t>
            </a:r>
            <a:r>
              <a:rPr lang="en" altLang="zh-CN" sz="1400" dirty="0">
                <a:latin typeface="Courier New" panose="02070309020205020404" pitchFamily="49" charset="0"/>
                <a:ea typeface="黑体" panose="02010609060101010101" pitchFamily="49" charset="-122"/>
              </a:rPr>
              <a:t> u1(n1, a8);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not</a:t>
            </a:r>
            <a:r>
              <a:rPr lang="en" altLang="zh-CN" sz="1400" dirty="0">
                <a:latin typeface="Courier New" panose="02070309020205020404" pitchFamily="49" charset="0"/>
                <a:ea typeface="黑体" panose="02010609060101010101" pitchFamily="49" charset="-122"/>
              </a:rPr>
              <a:t> u2(n2, a4);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not</a:t>
            </a:r>
            <a:r>
              <a:rPr lang="en" altLang="zh-CN" sz="1400" dirty="0">
                <a:latin typeface="Courier New" panose="02070309020205020404" pitchFamily="49" charset="0"/>
                <a:ea typeface="黑体" panose="02010609060101010101" pitchFamily="49" charset="-122"/>
              </a:rPr>
              <a:t> u3(n3, a1);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not</a:t>
            </a:r>
            <a:r>
              <a:rPr lang="en" altLang="zh-CN" sz="1400" dirty="0">
                <a:latin typeface="Courier New" panose="02070309020205020404" pitchFamily="49" charset="0"/>
                <a:ea typeface="黑体" panose="02010609060101010101" pitchFamily="49" charset="-122"/>
              </a:rPr>
              <a:t> u4(n4, leap);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and</a:t>
            </a:r>
            <a:r>
              <a:rPr lang="en" altLang="zh-CN" sz="1400" dirty="0">
                <a:latin typeface="Courier New" panose="02070309020205020404" pitchFamily="49" charset="0"/>
                <a:ea typeface="黑体" panose="02010609060101010101" pitchFamily="49" charset="-122"/>
              </a:rPr>
              <a:t> u5(d28, n1, n2, a2, n3, n4); </a:t>
            </a:r>
          </a:p>
          <a:p>
            <a:r>
              <a:rPr lang="en" altLang="zh-CN" sz="1400" dirty="0" err="1">
                <a:solidFill>
                  <a:srgbClr val="0000FF"/>
                </a:solidFill>
                <a:latin typeface="Courier New,Bold" pitchFamily="2" charset="0"/>
                <a:ea typeface="黑体" panose="02010609060101010101" pitchFamily="49" charset="-122"/>
              </a:rPr>
              <a:t>endmodule</a:t>
            </a:r>
            <a:endParaRPr lang="en" altLang="zh-CN" sz="1400" dirty="0">
              <a:latin typeface="Courier New" panose="02070309020205020404" pitchFamily="49" charset="0"/>
              <a:ea typeface="黑体" panose="02010609060101010101" pitchFamily="49" charset="-122"/>
            </a:endParaRPr>
          </a:p>
          <a:p>
            <a:endParaRPr kumimoji="1" lang="en-US" altLang="zh-CN" sz="1600" dirty="0">
              <a:ea typeface="黑体" panose="02010609060101010101" pitchFamily="49" charset="-122"/>
            </a:endParaRPr>
          </a:p>
          <a:p>
            <a:endParaRPr kumimoji="1" lang="en-US" altLang="zh-CN" sz="1600" dirty="0">
              <a:ea typeface="黑体" panose="02010609060101010101" pitchFamily="49" charset="-122"/>
            </a:endParaRPr>
          </a:p>
          <a:p>
            <a:endParaRPr kumimoji="1" lang="en-US" altLang="zh-CN" sz="1600" dirty="0">
              <a:ea typeface="黑体" panose="02010609060101010101" pitchFamily="49" charset="-122"/>
            </a:endParaRPr>
          </a:p>
          <a:p>
            <a:pPr lvl="0"/>
            <a:r>
              <a:rPr lang="en" altLang="zh-CN" sz="1400" dirty="0">
                <a:solidFill>
                  <a:srgbClr val="0000FF"/>
                </a:solidFill>
                <a:latin typeface="Courier New,Bold" pitchFamily="2" charset="0"/>
                <a:ea typeface="黑体" panose="02010609060101010101" pitchFamily="49" charset="-122"/>
              </a:rPr>
              <a:t>module</a:t>
            </a:r>
            <a:r>
              <a:rPr lang="en" altLang="zh-CN" sz="1400" dirty="0">
                <a:solidFill>
                  <a:srgbClr val="000000"/>
                </a:solidFill>
                <a:ea typeface="黑体" panose="02010609060101010101" pitchFamily="49" charset="-122"/>
              </a:rPr>
              <a:t> </a:t>
            </a:r>
            <a:r>
              <a:rPr lang="en" altLang="zh-CN" sz="1400" dirty="0">
                <a:solidFill>
                  <a:srgbClr val="000000"/>
                </a:solidFill>
                <a:latin typeface="Courier New" panose="02070309020205020404" pitchFamily="49" charset="0"/>
                <a:ea typeface="黑体" panose="02010609060101010101" pitchFamily="49" charset="-122"/>
              </a:rPr>
              <a:t>CalD28</a:t>
            </a:r>
            <a:r>
              <a:rPr lang="en" altLang="zh-CN" sz="1400" dirty="0">
                <a:solidFill>
                  <a:srgbClr val="000000"/>
                </a:solidFill>
                <a:ea typeface="黑体" panose="02010609060101010101" pitchFamily="49" charset="-122"/>
              </a:rPr>
              <a:t> </a:t>
            </a:r>
            <a:r>
              <a:rPr lang="en" altLang="zh-CN" sz="1400" dirty="0">
                <a:solidFill>
                  <a:srgbClr val="000000"/>
                </a:solidFill>
                <a:latin typeface="Courier New" panose="02070309020205020404" pitchFamily="49" charset="0"/>
                <a:ea typeface="黑体" panose="02010609060101010101" pitchFamily="49" charset="-122"/>
              </a:rPr>
              <a:t>(a8,a4,a2,a1,leap,d28); </a:t>
            </a:r>
          </a:p>
          <a:p>
            <a:pPr lvl="0"/>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input</a:t>
            </a:r>
            <a:r>
              <a:rPr lang="en" altLang="zh-CN" sz="1400" dirty="0">
                <a:solidFill>
                  <a:srgbClr val="000000"/>
                </a:solidFill>
                <a:latin typeface="Courier New" panose="02070309020205020404" pitchFamily="49" charset="0"/>
                <a:ea typeface="黑体" panose="02010609060101010101" pitchFamily="49" charset="-122"/>
              </a:rPr>
              <a:t> a8,a4,a2,a1,leap; </a:t>
            </a:r>
          </a:p>
          <a:p>
            <a:pPr lvl="0"/>
            <a:r>
              <a:rPr lang="zh-CN" altLang="en-US" sz="1400" dirty="0">
                <a:solidFill>
                  <a:srgbClr val="0000FF"/>
                </a:solidFill>
                <a:latin typeface="Courier New" panose="02070309020205020404" pitchFamily="49"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output</a:t>
            </a:r>
            <a:r>
              <a:rPr lang="en" altLang="zh-CN" sz="1400" dirty="0">
                <a:solidFill>
                  <a:srgbClr val="000000"/>
                </a:solidFill>
                <a:latin typeface="Courier New" panose="02070309020205020404" pitchFamily="49" charset="0"/>
                <a:ea typeface="黑体" panose="02010609060101010101" pitchFamily="49" charset="-122"/>
              </a:rPr>
              <a:t> d28; </a:t>
            </a:r>
          </a:p>
          <a:p>
            <a:pPr lvl="0"/>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wire</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n1,n2,n3;</a:t>
            </a:r>
            <a:endParaRPr lang="en-US" altLang="zh-CN" sz="1400" dirty="0">
              <a:solidFill>
                <a:srgbClr val="0000FF"/>
              </a:solidFill>
              <a:latin typeface="Courier New,Bold" pitchFamily="2" charset="0"/>
              <a:ea typeface="黑体" panose="02010609060101010101" pitchFamily="49" charset="-122"/>
            </a:endParaRPr>
          </a:p>
          <a:p>
            <a:pPr lvl="0"/>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assign</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n1=(~a8)&amp;(~a4);</a:t>
            </a:r>
          </a:p>
          <a:p>
            <a:pPr lvl="0"/>
            <a:r>
              <a:rPr lang="zh-CN" altLang="en-US" sz="1400" dirty="0">
                <a:solidFill>
                  <a:srgbClr val="000000"/>
                </a:solidFill>
                <a:latin typeface="Courier New" panose="02070309020205020404" pitchFamily="49"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assign</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n2=a2&amp;(~a1);</a:t>
            </a:r>
          </a:p>
          <a:p>
            <a:pPr lvl="0"/>
            <a:r>
              <a:rPr lang="zh-CN" altLang="en-US" sz="1400" dirty="0">
                <a:solidFill>
                  <a:srgbClr val="000000"/>
                </a:solidFill>
                <a:latin typeface="Courier New" panose="02070309020205020404" pitchFamily="49"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assign</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n3=n1&amp;n2;</a:t>
            </a:r>
          </a:p>
          <a:p>
            <a:r>
              <a:rPr lang="zh-CN" altLang="en-US" sz="1400" dirty="0">
                <a:solidFill>
                  <a:srgbClr val="000000"/>
                </a:solidFill>
                <a:latin typeface="Courier New" panose="02070309020205020404" pitchFamily="49"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assign</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d28=n3&amp;(~leap);</a:t>
            </a:r>
            <a:endParaRPr lang="en" altLang="zh-CN" sz="1400" dirty="0">
              <a:solidFill>
                <a:srgbClr val="000000"/>
              </a:solidFill>
              <a:latin typeface="Courier New" panose="02070309020205020404" pitchFamily="49" charset="0"/>
              <a:ea typeface="黑体" panose="02010609060101010101" pitchFamily="49" charset="-122"/>
            </a:endParaRPr>
          </a:p>
          <a:p>
            <a:pPr lvl="0"/>
            <a:r>
              <a:rPr lang="en" altLang="zh-CN" sz="1400" dirty="0" err="1">
                <a:solidFill>
                  <a:srgbClr val="0000FF"/>
                </a:solidFill>
                <a:latin typeface="Courier New,Bold" pitchFamily="2" charset="0"/>
                <a:ea typeface="黑体" panose="02010609060101010101" pitchFamily="49" charset="-122"/>
              </a:rPr>
              <a:t>endmodule</a:t>
            </a:r>
            <a:endParaRPr lang="en" altLang="zh-CN" sz="1400" dirty="0">
              <a:solidFill>
                <a:srgbClr val="000000"/>
              </a:solidFill>
              <a:latin typeface="Courier New" panose="02070309020205020404" pitchFamily="49" charset="0"/>
              <a:ea typeface="黑体" panose="02010609060101010101" pitchFamily="49" charset="-122"/>
            </a:endParaRPr>
          </a:p>
          <a:p>
            <a:endParaRPr kumimoji="1" lang="zh-CN" altLang="en-US" sz="1600" dirty="0">
              <a:ea typeface="黑体" panose="02010609060101010101" pitchFamily="49" charset="-122"/>
            </a:endParaRPr>
          </a:p>
        </p:txBody>
      </p:sp>
      <p:sp>
        <p:nvSpPr>
          <p:cNvPr id="6" name="标题 5">
            <a:extLst>
              <a:ext uri="{FF2B5EF4-FFF2-40B4-BE49-F238E27FC236}">
                <a16:creationId xmlns:a16="http://schemas.microsoft.com/office/drawing/2014/main" id="{17CEA234-0B3F-E6E5-DBB3-2D5C630F50BA}"/>
              </a:ext>
            </a:extLst>
          </p:cNvPr>
          <p:cNvSpPr>
            <a:spLocks noGrp="1"/>
          </p:cNvSpPr>
          <p:nvPr>
            <p:ph type="title"/>
          </p:nvPr>
        </p:nvSpPr>
        <p:spPr>
          <a:xfrm>
            <a:off x="195263" y="228600"/>
            <a:ext cx="8805229" cy="914400"/>
          </a:xfrm>
        </p:spPr>
        <p:txBody>
          <a:bodyPr/>
          <a:lstStyle/>
          <a:p>
            <a:r>
              <a:rPr lang="en-US" altLang="zh-CN" dirty="0"/>
              <a:t>d28</a:t>
            </a:r>
            <a:r>
              <a:rPr lang="zh-CN" altLang="en-US" dirty="0"/>
              <a:t>的逻辑电路</a:t>
            </a:r>
          </a:p>
        </p:txBody>
      </p:sp>
    </p:spTree>
    <p:extLst>
      <p:ext uri="{BB962C8B-B14F-4D97-AF65-F5344CB8AC3E}">
        <p14:creationId xmlns:p14="http://schemas.microsoft.com/office/powerpoint/2010/main" val="11268433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6035" name="Object 3"/>
          <p:cNvGraphicFramePr>
            <a:graphicFrameLocks noGrp="1" noChangeAspect="1"/>
          </p:cNvGraphicFramePr>
          <p:nvPr>
            <p:ph sz="half" idx="1"/>
            <p:extLst>
              <p:ext uri="{D42A27DB-BD31-4B8C-83A1-F6EECF244321}">
                <p14:modId xmlns:p14="http://schemas.microsoft.com/office/powerpoint/2010/main" val="155365167"/>
              </p:ext>
            </p:extLst>
          </p:nvPr>
        </p:nvGraphicFramePr>
        <p:xfrm>
          <a:off x="1187450" y="1563688"/>
          <a:ext cx="2889250" cy="2684462"/>
        </p:xfrm>
        <a:graphic>
          <a:graphicData uri="http://schemas.openxmlformats.org/presentationml/2006/ole">
            <mc:AlternateContent xmlns:mc="http://schemas.openxmlformats.org/markup-compatibility/2006">
              <mc:Choice xmlns:v="urn:schemas-microsoft-com:vml" Requires="v">
                <p:oleObj name="Visio" r:id="rId3" imgW="1563624" imgH="1452067" progId="Visio.Drawing.11">
                  <p:embed/>
                </p:oleObj>
              </mc:Choice>
              <mc:Fallback>
                <p:oleObj name="Visio" r:id="rId3" imgW="1563624" imgH="1452067" progId="Visio.Drawing.11">
                  <p:embed/>
                  <p:pic>
                    <p:nvPicPr>
                      <p:cNvPr id="55603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563688"/>
                        <a:ext cx="2889250" cy="268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6037" name="Object 5"/>
          <p:cNvGraphicFramePr>
            <a:graphicFrameLocks noGrp="1" noChangeAspect="1"/>
          </p:cNvGraphicFramePr>
          <p:nvPr>
            <p:ph sz="quarter" idx="2"/>
            <p:extLst>
              <p:ext uri="{D42A27DB-BD31-4B8C-83A1-F6EECF244321}">
                <p14:modId xmlns:p14="http://schemas.microsoft.com/office/powerpoint/2010/main" val="280513693"/>
              </p:ext>
            </p:extLst>
          </p:nvPr>
        </p:nvGraphicFramePr>
        <p:xfrm>
          <a:off x="1133475" y="4584700"/>
          <a:ext cx="3275013" cy="1851025"/>
        </p:xfrm>
        <a:graphic>
          <a:graphicData uri="http://schemas.openxmlformats.org/presentationml/2006/ole">
            <mc:AlternateContent xmlns:mc="http://schemas.openxmlformats.org/markup-compatibility/2006">
              <mc:Choice xmlns:v="urn:schemas-microsoft-com:vml" Requires="v">
                <p:oleObj name="Visio" r:id="rId5" imgW="2142744" imgH="1210970" progId="Visio.Drawing.11">
                  <p:embed/>
                </p:oleObj>
              </mc:Choice>
              <mc:Fallback>
                <p:oleObj name="Visio" r:id="rId5" imgW="2142744" imgH="1210970" progId="Visio.Drawing.11">
                  <p:embed/>
                  <p:pic>
                    <p:nvPicPr>
                      <p:cNvPr id="55603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3475" y="4584700"/>
                        <a:ext cx="3275013" cy="1851025"/>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3CF9E5D3-AE3B-56FD-25A5-8DD87C9B67F8}"/>
              </a:ext>
            </a:extLst>
          </p:cNvPr>
          <p:cNvSpPr>
            <a:spLocks noGrp="1"/>
          </p:cNvSpPr>
          <p:nvPr>
            <p:ph type="sldNum" sz="quarter" idx="12"/>
          </p:nvPr>
        </p:nvSpPr>
        <p:spPr/>
        <p:txBody>
          <a:bodyPr/>
          <a:lstStyle/>
          <a:p>
            <a:pPr>
              <a:defRPr/>
            </a:pPr>
            <a:fld id="{A338B9D4-5D11-464B-BDF0-A23355FE4558}" type="slidenum">
              <a:rPr lang="en-US" altLang="zh-CN" smtClean="0"/>
              <a:pPr>
                <a:defRPr/>
              </a:pPr>
              <a:t>59</a:t>
            </a:fld>
            <a:endParaRPr lang="en-US" altLang="zh-CN" dirty="0"/>
          </a:p>
        </p:txBody>
      </p:sp>
      <p:sp>
        <p:nvSpPr>
          <p:cNvPr id="556038" name="Rectangle 6"/>
          <p:cNvSpPr>
            <a:spLocks noChangeArrowheads="1"/>
          </p:cNvSpPr>
          <p:nvPr/>
        </p:nvSpPr>
        <p:spPr bwMode="auto">
          <a:xfrm>
            <a:off x="3660949" y="2232253"/>
            <a:ext cx="6126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d29</a:t>
            </a:r>
          </a:p>
        </p:txBody>
      </p:sp>
      <p:sp>
        <p:nvSpPr>
          <p:cNvPr id="556039" name="Rectangle 7"/>
          <p:cNvSpPr>
            <a:spLocks noChangeArrowheads="1"/>
          </p:cNvSpPr>
          <p:nvPr/>
        </p:nvSpPr>
        <p:spPr bwMode="auto">
          <a:xfrm>
            <a:off x="612949" y="1434249"/>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a8</a:t>
            </a:r>
          </a:p>
        </p:txBody>
      </p:sp>
      <p:sp>
        <p:nvSpPr>
          <p:cNvPr id="556040" name="Rectangle 8"/>
          <p:cNvSpPr>
            <a:spLocks noChangeArrowheads="1"/>
          </p:cNvSpPr>
          <p:nvPr/>
        </p:nvSpPr>
        <p:spPr bwMode="auto">
          <a:xfrm>
            <a:off x="584374" y="2003653"/>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a4</a:t>
            </a:r>
          </a:p>
        </p:txBody>
      </p:sp>
      <p:sp>
        <p:nvSpPr>
          <p:cNvPr id="556041" name="Rectangle 9"/>
          <p:cNvSpPr>
            <a:spLocks noChangeArrowheads="1"/>
          </p:cNvSpPr>
          <p:nvPr/>
        </p:nvSpPr>
        <p:spPr bwMode="auto">
          <a:xfrm>
            <a:off x="584374" y="2537053"/>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a2</a:t>
            </a:r>
          </a:p>
        </p:txBody>
      </p:sp>
      <p:sp>
        <p:nvSpPr>
          <p:cNvPr id="556042" name="Rectangle 10"/>
          <p:cNvSpPr>
            <a:spLocks noChangeArrowheads="1"/>
          </p:cNvSpPr>
          <p:nvPr/>
        </p:nvSpPr>
        <p:spPr bwMode="auto">
          <a:xfrm>
            <a:off x="612949" y="3222853"/>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a1</a:t>
            </a:r>
          </a:p>
        </p:txBody>
      </p:sp>
      <p:sp>
        <p:nvSpPr>
          <p:cNvPr id="556043" name="Rectangle 11"/>
          <p:cNvSpPr>
            <a:spLocks noChangeArrowheads="1"/>
          </p:cNvSpPr>
          <p:nvPr/>
        </p:nvSpPr>
        <p:spPr bwMode="auto">
          <a:xfrm>
            <a:off x="536749" y="3756253"/>
            <a:ext cx="6703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leap</a:t>
            </a:r>
          </a:p>
        </p:txBody>
      </p:sp>
      <p:sp>
        <p:nvSpPr>
          <p:cNvPr id="12" name="Rectangle 7">
            <a:extLst>
              <a:ext uri="{FF2B5EF4-FFF2-40B4-BE49-F238E27FC236}">
                <a16:creationId xmlns:a16="http://schemas.microsoft.com/office/drawing/2014/main" id="{96CE5439-6F40-054D-A812-238D57F59A05}"/>
              </a:ext>
            </a:extLst>
          </p:cNvPr>
          <p:cNvSpPr>
            <a:spLocks noChangeArrowheads="1"/>
          </p:cNvSpPr>
          <p:nvPr/>
        </p:nvSpPr>
        <p:spPr bwMode="auto">
          <a:xfrm>
            <a:off x="640878" y="421894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a8</a:t>
            </a:r>
          </a:p>
        </p:txBody>
      </p:sp>
      <p:sp>
        <p:nvSpPr>
          <p:cNvPr id="13" name="Rectangle 8">
            <a:extLst>
              <a:ext uri="{FF2B5EF4-FFF2-40B4-BE49-F238E27FC236}">
                <a16:creationId xmlns:a16="http://schemas.microsoft.com/office/drawing/2014/main" id="{8BCF565F-0C92-E644-B45D-DA15D0BB1F79}"/>
              </a:ext>
            </a:extLst>
          </p:cNvPr>
          <p:cNvSpPr>
            <a:spLocks noChangeArrowheads="1"/>
          </p:cNvSpPr>
          <p:nvPr/>
        </p:nvSpPr>
        <p:spPr bwMode="auto">
          <a:xfrm>
            <a:off x="612303" y="475234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a4</a:t>
            </a:r>
          </a:p>
        </p:txBody>
      </p:sp>
      <p:sp>
        <p:nvSpPr>
          <p:cNvPr id="14" name="Rectangle 9">
            <a:extLst>
              <a:ext uri="{FF2B5EF4-FFF2-40B4-BE49-F238E27FC236}">
                <a16:creationId xmlns:a16="http://schemas.microsoft.com/office/drawing/2014/main" id="{0FBFAE71-EDC1-BA4C-A1BD-B5D3E6E7D8B5}"/>
              </a:ext>
            </a:extLst>
          </p:cNvPr>
          <p:cNvSpPr>
            <a:spLocks noChangeArrowheads="1"/>
          </p:cNvSpPr>
          <p:nvPr/>
        </p:nvSpPr>
        <p:spPr bwMode="auto">
          <a:xfrm>
            <a:off x="612303" y="528574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a2</a:t>
            </a:r>
          </a:p>
        </p:txBody>
      </p:sp>
      <p:sp>
        <p:nvSpPr>
          <p:cNvPr id="15" name="Rectangle 10">
            <a:extLst>
              <a:ext uri="{FF2B5EF4-FFF2-40B4-BE49-F238E27FC236}">
                <a16:creationId xmlns:a16="http://schemas.microsoft.com/office/drawing/2014/main" id="{A3BD7912-C6F0-A242-9A80-28C39AF6C8A7}"/>
              </a:ext>
            </a:extLst>
          </p:cNvPr>
          <p:cNvSpPr>
            <a:spLocks noChangeArrowheads="1"/>
          </p:cNvSpPr>
          <p:nvPr/>
        </p:nvSpPr>
        <p:spPr bwMode="auto">
          <a:xfrm>
            <a:off x="612303" y="567947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a1</a:t>
            </a:r>
          </a:p>
        </p:txBody>
      </p:sp>
      <p:sp>
        <p:nvSpPr>
          <p:cNvPr id="16" name="Rectangle 11">
            <a:extLst>
              <a:ext uri="{FF2B5EF4-FFF2-40B4-BE49-F238E27FC236}">
                <a16:creationId xmlns:a16="http://schemas.microsoft.com/office/drawing/2014/main" id="{7B96AEA4-970A-D94A-8115-434DCE039B1E}"/>
              </a:ext>
            </a:extLst>
          </p:cNvPr>
          <p:cNvSpPr>
            <a:spLocks noChangeArrowheads="1"/>
          </p:cNvSpPr>
          <p:nvPr/>
        </p:nvSpPr>
        <p:spPr bwMode="auto">
          <a:xfrm>
            <a:off x="575956" y="6202652"/>
            <a:ext cx="6703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leap</a:t>
            </a:r>
          </a:p>
        </p:txBody>
      </p:sp>
      <p:sp>
        <p:nvSpPr>
          <p:cNvPr id="17" name="Rectangle 7">
            <a:extLst>
              <a:ext uri="{FF2B5EF4-FFF2-40B4-BE49-F238E27FC236}">
                <a16:creationId xmlns:a16="http://schemas.microsoft.com/office/drawing/2014/main" id="{32504B48-9392-304F-97D4-A8F205D1E578}"/>
              </a:ext>
            </a:extLst>
          </p:cNvPr>
          <p:cNvSpPr>
            <a:spLocks noChangeArrowheads="1"/>
          </p:cNvSpPr>
          <p:nvPr/>
        </p:nvSpPr>
        <p:spPr bwMode="auto">
          <a:xfrm>
            <a:off x="1789633" y="1327857"/>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n1</a:t>
            </a:r>
            <a:endParaRPr lang="en-US" altLang="zh-CN" sz="2000" b="0" dirty="0">
              <a:solidFill>
                <a:schemeClr val="tx1"/>
              </a:solidFill>
              <a:ea typeface="黑体" panose="02010609060101010101" pitchFamily="49" charset="-122"/>
            </a:endParaRPr>
          </a:p>
        </p:txBody>
      </p:sp>
      <p:sp>
        <p:nvSpPr>
          <p:cNvPr id="18" name="Rectangle 7">
            <a:extLst>
              <a:ext uri="{FF2B5EF4-FFF2-40B4-BE49-F238E27FC236}">
                <a16:creationId xmlns:a16="http://schemas.microsoft.com/office/drawing/2014/main" id="{5F753079-102B-034B-AF94-9823B3A4D5EB}"/>
              </a:ext>
            </a:extLst>
          </p:cNvPr>
          <p:cNvSpPr>
            <a:spLocks noChangeArrowheads="1"/>
          </p:cNvSpPr>
          <p:nvPr/>
        </p:nvSpPr>
        <p:spPr bwMode="auto">
          <a:xfrm>
            <a:off x="1789633" y="1870363"/>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n2</a:t>
            </a:r>
            <a:endParaRPr lang="en-US" altLang="zh-CN" sz="2000" b="0" dirty="0">
              <a:solidFill>
                <a:schemeClr val="tx1"/>
              </a:solidFill>
              <a:ea typeface="黑体" panose="02010609060101010101" pitchFamily="49" charset="-122"/>
            </a:endParaRPr>
          </a:p>
        </p:txBody>
      </p:sp>
      <p:sp>
        <p:nvSpPr>
          <p:cNvPr id="19" name="Rectangle 7">
            <a:extLst>
              <a:ext uri="{FF2B5EF4-FFF2-40B4-BE49-F238E27FC236}">
                <a16:creationId xmlns:a16="http://schemas.microsoft.com/office/drawing/2014/main" id="{AA2085D3-F8A0-EF4B-B8AD-A4E7B9990A12}"/>
              </a:ext>
            </a:extLst>
          </p:cNvPr>
          <p:cNvSpPr>
            <a:spLocks noChangeArrowheads="1"/>
          </p:cNvSpPr>
          <p:nvPr/>
        </p:nvSpPr>
        <p:spPr bwMode="auto">
          <a:xfrm>
            <a:off x="1774989" y="3347562"/>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n3</a:t>
            </a:r>
            <a:endParaRPr lang="en-US" altLang="zh-CN" sz="2000" b="0" dirty="0">
              <a:solidFill>
                <a:schemeClr val="tx1"/>
              </a:solidFill>
              <a:ea typeface="黑体" panose="02010609060101010101" pitchFamily="49" charset="-122"/>
            </a:endParaRPr>
          </a:p>
        </p:txBody>
      </p:sp>
      <p:sp>
        <p:nvSpPr>
          <p:cNvPr id="20" name="Rectangle 7">
            <a:extLst>
              <a:ext uri="{FF2B5EF4-FFF2-40B4-BE49-F238E27FC236}">
                <a16:creationId xmlns:a16="http://schemas.microsoft.com/office/drawing/2014/main" id="{EAF559A1-94D2-9646-8E91-3A74A8921093}"/>
              </a:ext>
            </a:extLst>
          </p:cNvPr>
          <p:cNvSpPr>
            <a:spLocks noChangeArrowheads="1"/>
          </p:cNvSpPr>
          <p:nvPr/>
        </p:nvSpPr>
        <p:spPr bwMode="auto">
          <a:xfrm>
            <a:off x="2531081" y="435223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n1</a:t>
            </a:r>
            <a:endParaRPr lang="en-US" altLang="zh-CN" sz="2000" b="0" dirty="0">
              <a:solidFill>
                <a:schemeClr val="tx1"/>
              </a:solidFill>
              <a:ea typeface="黑体" panose="02010609060101010101" pitchFamily="49" charset="-122"/>
            </a:endParaRPr>
          </a:p>
        </p:txBody>
      </p:sp>
      <p:sp>
        <p:nvSpPr>
          <p:cNvPr id="21" name="Rectangle 7">
            <a:extLst>
              <a:ext uri="{FF2B5EF4-FFF2-40B4-BE49-F238E27FC236}">
                <a16:creationId xmlns:a16="http://schemas.microsoft.com/office/drawing/2014/main" id="{3482D71E-42CC-CD48-9167-51220E4B8AE3}"/>
              </a:ext>
            </a:extLst>
          </p:cNvPr>
          <p:cNvSpPr>
            <a:spLocks noChangeArrowheads="1"/>
          </p:cNvSpPr>
          <p:nvPr/>
        </p:nvSpPr>
        <p:spPr bwMode="auto">
          <a:xfrm>
            <a:off x="2531081" y="5634908"/>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n2</a:t>
            </a:r>
            <a:endParaRPr lang="en-US" altLang="zh-CN" sz="2000" b="0" dirty="0">
              <a:solidFill>
                <a:schemeClr val="tx1"/>
              </a:solidFill>
              <a:ea typeface="黑体" panose="02010609060101010101" pitchFamily="49" charset="-122"/>
            </a:endParaRPr>
          </a:p>
        </p:txBody>
      </p:sp>
      <p:sp>
        <p:nvSpPr>
          <p:cNvPr id="22" name="Rectangle 7">
            <a:extLst>
              <a:ext uri="{FF2B5EF4-FFF2-40B4-BE49-F238E27FC236}">
                <a16:creationId xmlns:a16="http://schemas.microsoft.com/office/drawing/2014/main" id="{8EED1547-28CB-D942-B37A-FF3FBE37BE70}"/>
              </a:ext>
            </a:extLst>
          </p:cNvPr>
          <p:cNvSpPr>
            <a:spLocks noChangeArrowheads="1"/>
          </p:cNvSpPr>
          <p:nvPr/>
        </p:nvSpPr>
        <p:spPr bwMode="auto">
          <a:xfrm>
            <a:off x="3469491" y="5424502"/>
            <a:ext cx="47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dirty="0">
                <a:ea typeface="黑体" panose="02010609060101010101" pitchFamily="49" charset="-122"/>
              </a:rPr>
              <a:t>n3</a:t>
            </a:r>
            <a:endParaRPr lang="en-US" altLang="zh-CN" sz="2000" b="0" dirty="0">
              <a:solidFill>
                <a:schemeClr val="tx1"/>
              </a:solidFill>
              <a:ea typeface="黑体" panose="02010609060101010101" pitchFamily="49" charset="-122"/>
            </a:endParaRPr>
          </a:p>
        </p:txBody>
      </p:sp>
      <p:sp>
        <p:nvSpPr>
          <p:cNvPr id="23" name="文本框 22">
            <a:extLst>
              <a:ext uri="{FF2B5EF4-FFF2-40B4-BE49-F238E27FC236}">
                <a16:creationId xmlns:a16="http://schemas.microsoft.com/office/drawing/2014/main" id="{E53EC7BB-65B1-E44F-A22C-F1078FFAF78C}"/>
              </a:ext>
            </a:extLst>
          </p:cNvPr>
          <p:cNvSpPr txBox="1"/>
          <p:nvPr/>
        </p:nvSpPr>
        <p:spPr>
          <a:xfrm>
            <a:off x="4561180" y="1539944"/>
            <a:ext cx="4251379" cy="5201424"/>
          </a:xfrm>
          <a:prstGeom prst="rect">
            <a:avLst/>
          </a:prstGeom>
          <a:noFill/>
        </p:spPr>
        <p:txBody>
          <a:bodyPr wrap="square" rtlCol="0">
            <a:spAutoFit/>
          </a:bodyPr>
          <a:lstStyle/>
          <a:p>
            <a:pPr algn="ctr"/>
            <a:r>
              <a:rPr lang="en-US" altLang="zh-CN" sz="1600" b="1" dirty="0">
                <a:ea typeface="黑体" panose="02010609060101010101" pitchFamily="49" charset="-122"/>
              </a:rPr>
              <a:t>Verilog</a:t>
            </a:r>
            <a:r>
              <a:rPr lang="zh-CN" altLang="en-US" sz="1600" b="1" dirty="0">
                <a:ea typeface="黑体" panose="02010609060101010101" pitchFamily="49" charset="-122"/>
              </a:rPr>
              <a:t>代码</a:t>
            </a:r>
            <a:endParaRPr lang="en" altLang="zh-CN" sz="1600" b="1" dirty="0">
              <a:ea typeface="黑体" panose="02010609060101010101" pitchFamily="49" charset="-122"/>
            </a:endParaRPr>
          </a:p>
          <a:p>
            <a:endParaRPr lang="en" altLang="zh-CN" sz="1400" dirty="0">
              <a:solidFill>
                <a:srgbClr val="0000FF"/>
              </a:solidFill>
              <a:latin typeface="Courier New,Bold" pitchFamily="2" charset="0"/>
              <a:ea typeface="黑体" panose="02010609060101010101" pitchFamily="49" charset="-122"/>
            </a:endParaRPr>
          </a:p>
          <a:p>
            <a:r>
              <a:rPr lang="en" altLang="zh-CN" sz="1400" dirty="0">
                <a:solidFill>
                  <a:srgbClr val="0000FF"/>
                </a:solidFill>
                <a:latin typeface="Courier New,Bold" pitchFamily="2" charset="0"/>
                <a:ea typeface="黑体" panose="02010609060101010101" pitchFamily="49" charset="-122"/>
              </a:rPr>
              <a:t>module</a:t>
            </a:r>
            <a:r>
              <a:rPr lang="en" altLang="zh-CN" sz="1400" dirty="0">
                <a:ea typeface="黑体" panose="02010609060101010101" pitchFamily="49" charset="-122"/>
              </a:rPr>
              <a:t> </a:t>
            </a:r>
            <a:r>
              <a:rPr lang="en" altLang="zh-CN" sz="1400" dirty="0">
                <a:latin typeface="Courier New" panose="02070309020205020404" pitchFamily="49" charset="0"/>
                <a:ea typeface="黑体" panose="02010609060101010101" pitchFamily="49" charset="-122"/>
              </a:rPr>
              <a:t>CalD2</a:t>
            </a:r>
            <a:r>
              <a:rPr lang="en-US" altLang="zh-CN" sz="1400" dirty="0">
                <a:latin typeface="Courier New" panose="02070309020205020404" pitchFamily="49" charset="0"/>
                <a:ea typeface="黑体" panose="02010609060101010101" pitchFamily="49" charset="-122"/>
              </a:rPr>
              <a:t>9</a:t>
            </a:r>
            <a:r>
              <a:rPr lang="en" altLang="zh-CN" sz="1400" dirty="0">
                <a:ea typeface="黑体" panose="02010609060101010101" pitchFamily="49" charset="-122"/>
              </a:rPr>
              <a:t> </a:t>
            </a:r>
            <a:r>
              <a:rPr lang="en" altLang="zh-CN" sz="1400" dirty="0">
                <a:latin typeface="Courier New" panose="02070309020205020404" pitchFamily="49" charset="0"/>
                <a:ea typeface="黑体" panose="02010609060101010101" pitchFamily="49" charset="-122"/>
              </a:rPr>
              <a:t>(a8,a4,a2,a1,leap,d2</a:t>
            </a:r>
            <a:r>
              <a:rPr lang="en-US" altLang="zh-CN" sz="1400" dirty="0">
                <a:latin typeface="Courier New" panose="02070309020205020404" pitchFamily="49" charset="0"/>
                <a:ea typeface="黑体" panose="02010609060101010101" pitchFamily="49" charset="-122"/>
              </a:rPr>
              <a:t>9</a:t>
            </a:r>
            <a:r>
              <a:rPr lang="en" altLang="zh-CN" sz="1400" dirty="0">
                <a:latin typeface="Courier New" panose="02070309020205020404" pitchFamily="49" charset="0"/>
                <a:ea typeface="黑体" panose="02010609060101010101" pitchFamily="49" charset="-122"/>
              </a:rPr>
              <a:t>);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input</a:t>
            </a:r>
            <a:r>
              <a:rPr lang="en" altLang="zh-CN" sz="1400" dirty="0">
                <a:latin typeface="Courier New" panose="02070309020205020404" pitchFamily="49" charset="0"/>
                <a:ea typeface="黑体" panose="02010609060101010101" pitchFamily="49" charset="-122"/>
              </a:rPr>
              <a:t> a8,a4,a2,a1,leap; </a:t>
            </a:r>
          </a:p>
          <a:p>
            <a:r>
              <a:rPr lang="zh-CN" altLang="en-US" sz="1400" dirty="0">
                <a:solidFill>
                  <a:srgbClr val="0000FF"/>
                </a:solidFill>
                <a:latin typeface="Courier New" panose="02070309020205020404" pitchFamily="49"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output</a:t>
            </a:r>
            <a:r>
              <a:rPr lang="en" altLang="zh-CN" sz="1400" dirty="0">
                <a:latin typeface="Courier New" panose="02070309020205020404" pitchFamily="49" charset="0"/>
                <a:ea typeface="黑体" panose="02010609060101010101" pitchFamily="49" charset="-122"/>
              </a:rPr>
              <a:t> d2</a:t>
            </a:r>
            <a:r>
              <a:rPr lang="en-US" altLang="zh-CN" sz="1400" dirty="0">
                <a:latin typeface="Courier New" panose="02070309020205020404" pitchFamily="49" charset="0"/>
                <a:ea typeface="黑体" panose="02010609060101010101" pitchFamily="49" charset="-122"/>
              </a:rPr>
              <a:t>9</a:t>
            </a:r>
            <a:r>
              <a:rPr lang="en" altLang="zh-CN" sz="1400" dirty="0">
                <a:latin typeface="Courier New" panose="02070309020205020404" pitchFamily="49" charset="0"/>
                <a:ea typeface="黑体" panose="02010609060101010101" pitchFamily="49" charset="-122"/>
              </a:rPr>
              <a:t>;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not</a:t>
            </a:r>
            <a:r>
              <a:rPr lang="en" altLang="zh-CN" sz="1400" dirty="0">
                <a:latin typeface="Courier New" panose="02070309020205020404" pitchFamily="49" charset="0"/>
                <a:ea typeface="黑体" panose="02010609060101010101" pitchFamily="49" charset="-122"/>
              </a:rPr>
              <a:t> u1(n1, a8);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not</a:t>
            </a:r>
            <a:r>
              <a:rPr lang="en" altLang="zh-CN" sz="1400" dirty="0">
                <a:latin typeface="Courier New" panose="02070309020205020404" pitchFamily="49" charset="0"/>
                <a:ea typeface="黑体" panose="02010609060101010101" pitchFamily="49" charset="-122"/>
              </a:rPr>
              <a:t> u2(n2, a4); </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not</a:t>
            </a:r>
            <a:r>
              <a:rPr lang="en" altLang="zh-CN" sz="1400" dirty="0">
                <a:latin typeface="Courier New" panose="02070309020205020404" pitchFamily="49" charset="0"/>
                <a:ea typeface="黑体" panose="02010609060101010101" pitchFamily="49" charset="-122"/>
              </a:rPr>
              <a:t> u3(n3, a1);</a:t>
            </a:r>
          </a:p>
          <a:p>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and</a:t>
            </a:r>
            <a:r>
              <a:rPr lang="en" altLang="zh-CN" sz="1400" dirty="0">
                <a:latin typeface="Courier New" panose="02070309020205020404" pitchFamily="49" charset="0"/>
                <a:ea typeface="黑体" panose="02010609060101010101" pitchFamily="49" charset="-122"/>
              </a:rPr>
              <a:t> u</a:t>
            </a:r>
            <a:r>
              <a:rPr lang="en-US" altLang="zh-CN" sz="1400" dirty="0">
                <a:latin typeface="Courier New" panose="02070309020205020404" pitchFamily="49" charset="0"/>
                <a:ea typeface="黑体" panose="02010609060101010101" pitchFamily="49" charset="-122"/>
              </a:rPr>
              <a:t>4</a:t>
            </a:r>
            <a:r>
              <a:rPr lang="en" altLang="zh-CN" sz="1400" dirty="0">
                <a:latin typeface="Courier New" panose="02070309020205020404" pitchFamily="49" charset="0"/>
                <a:ea typeface="黑体" panose="02010609060101010101" pitchFamily="49" charset="-122"/>
              </a:rPr>
              <a:t>(d2</a:t>
            </a:r>
            <a:r>
              <a:rPr lang="en-US" altLang="zh-CN" sz="1400" dirty="0">
                <a:latin typeface="Courier New" panose="02070309020205020404" pitchFamily="49" charset="0"/>
                <a:ea typeface="黑体" panose="02010609060101010101" pitchFamily="49" charset="-122"/>
              </a:rPr>
              <a:t>9</a:t>
            </a:r>
            <a:r>
              <a:rPr lang="en" altLang="zh-CN" sz="1400" dirty="0">
                <a:latin typeface="Courier New" panose="02070309020205020404" pitchFamily="49" charset="0"/>
                <a:ea typeface="黑体" panose="02010609060101010101" pitchFamily="49" charset="-122"/>
              </a:rPr>
              <a:t>, n1, n2, a2, n3, leap); </a:t>
            </a:r>
          </a:p>
          <a:p>
            <a:r>
              <a:rPr lang="en" altLang="zh-CN" sz="1400" dirty="0" err="1">
                <a:solidFill>
                  <a:srgbClr val="0000FF"/>
                </a:solidFill>
                <a:latin typeface="Courier New,Bold" pitchFamily="2" charset="0"/>
                <a:ea typeface="黑体" panose="02010609060101010101" pitchFamily="49" charset="-122"/>
              </a:rPr>
              <a:t>endmodule</a:t>
            </a:r>
            <a:endParaRPr lang="en" altLang="zh-CN" sz="1400" dirty="0">
              <a:latin typeface="Courier New" panose="02070309020205020404" pitchFamily="49" charset="0"/>
              <a:ea typeface="黑体" panose="02010609060101010101" pitchFamily="49" charset="-122"/>
            </a:endParaRPr>
          </a:p>
          <a:p>
            <a:endParaRPr kumimoji="1" lang="en-US" altLang="zh-CN" sz="1600" dirty="0">
              <a:ea typeface="黑体" panose="02010609060101010101" pitchFamily="49" charset="-122"/>
            </a:endParaRPr>
          </a:p>
          <a:p>
            <a:endParaRPr kumimoji="1" lang="en-US" altLang="zh-CN" sz="1600" dirty="0">
              <a:ea typeface="黑体" panose="02010609060101010101" pitchFamily="49" charset="-122"/>
            </a:endParaRPr>
          </a:p>
          <a:p>
            <a:endParaRPr kumimoji="1" lang="en-US" altLang="zh-CN" sz="1600" dirty="0">
              <a:ea typeface="黑体" panose="02010609060101010101" pitchFamily="49" charset="-122"/>
            </a:endParaRPr>
          </a:p>
          <a:p>
            <a:pPr lvl="0"/>
            <a:r>
              <a:rPr lang="en" altLang="zh-CN" sz="1400" dirty="0">
                <a:solidFill>
                  <a:srgbClr val="0000FF"/>
                </a:solidFill>
                <a:latin typeface="Courier New,Bold" pitchFamily="2" charset="0"/>
                <a:ea typeface="黑体" panose="02010609060101010101" pitchFamily="49" charset="-122"/>
              </a:rPr>
              <a:t>module</a:t>
            </a:r>
            <a:r>
              <a:rPr lang="en" altLang="zh-CN" sz="1400" dirty="0">
                <a:solidFill>
                  <a:srgbClr val="000000"/>
                </a:solidFill>
                <a:ea typeface="黑体" panose="02010609060101010101" pitchFamily="49" charset="-122"/>
              </a:rPr>
              <a:t> </a:t>
            </a:r>
            <a:r>
              <a:rPr lang="en" altLang="zh-CN" sz="1400" dirty="0">
                <a:solidFill>
                  <a:srgbClr val="000000"/>
                </a:solidFill>
                <a:latin typeface="Courier New" panose="02070309020205020404" pitchFamily="49" charset="0"/>
                <a:ea typeface="黑体" panose="02010609060101010101" pitchFamily="49" charset="-122"/>
              </a:rPr>
              <a:t>CalD2</a:t>
            </a:r>
            <a:r>
              <a:rPr lang="en-US" altLang="zh-CN" sz="1400" dirty="0">
                <a:solidFill>
                  <a:srgbClr val="000000"/>
                </a:solidFill>
                <a:latin typeface="Courier New" panose="02070309020205020404" pitchFamily="49" charset="0"/>
                <a:ea typeface="黑体" panose="02010609060101010101" pitchFamily="49" charset="-122"/>
              </a:rPr>
              <a:t>9</a:t>
            </a:r>
            <a:r>
              <a:rPr lang="en" altLang="zh-CN" sz="1400" dirty="0">
                <a:solidFill>
                  <a:srgbClr val="000000"/>
                </a:solidFill>
                <a:ea typeface="黑体" panose="02010609060101010101" pitchFamily="49" charset="-122"/>
              </a:rPr>
              <a:t> </a:t>
            </a:r>
            <a:r>
              <a:rPr lang="en" altLang="zh-CN" sz="1400" dirty="0">
                <a:solidFill>
                  <a:srgbClr val="000000"/>
                </a:solidFill>
                <a:latin typeface="Courier New" panose="02070309020205020404" pitchFamily="49" charset="0"/>
                <a:ea typeface="黑体" panose="02010609060101010101" pitchFamily="49" charset="-122"/>
              </a:rPr>
              <a:t>(a8,a4,a2,a1,leap,d2</a:t>
            </a:r>
            <a:r>
              <a:rPr lang="en-US" altLang="zh-CN" sz="1400" dirty="0">
                <a:solidFill>
                  <a:srgbClr val="000000"/>
                </a:solidFill>
                <a:latin typeface="Courier New" panose="02070309020205020404" pitchFamily="49" charset="0"/>
                <a:ea typeface="黑体" panose="02010609060101010101" pitchFamily="49" charset="-122"/>
              </a:rPr>
              <a:t>9</a:t>
            </a:r>
            <a:r>
              <a:rPr lang="en" altLang="zh-CN" sz="1400" dirty="0">
                <a:solidFill>
                  <a:srgbClr val="000000"/>
                </a:solidFill>
                <a:latin typeface="Courier New" panose="02070309020205020404" pitchFamily="49" charset="0"/>
                <a:ea typeface="黑体" panose="02010609060101010101" pitchFamily="49" charset="-122"/>
              </a:rPr>
              <a:t>); </a:t>
            </a:r>
          </a:p>
          <a:p>
            <a:pPr lvl="0"/>
            <a:r>
              <a:rPr lang="zh-CN" altLang="en-US" sz="1400" dirty="0">
                <a:solidFill>
                  <a:srgbClr val="0000FF"/>
                </a:solidFill>
                <a:latin typeface="Courier New,Bold" pitchFamily="2"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input</a:t>
            </a:r>
            <a:r>
              <a:rPr lang="en" altLang="zh-CN" sz="1400" dirty="0">
                <a:solidFill>
                  <a:srgbClr val="000000"/>
                </a:solidFill>
                <a:latin typeface="Courier New" panose="02070309020205020404" pitchFamily="49" charset="0"/>
                <a:ea typeface="黑体" panose="02010609060101010101" pitchFamily="49" charset="-122"/>
              </a:rPr>
              <a:t> a8,a4,a2,a1,leap; </a:t>
            </a:r>
          </a:p>
          <a:p>
            <a:pPr lvl="0"/>
            <a:r>
              <a:rPr lang="zh-CN" altLang="en-US" sz="1400" dirty="0">
                <a:solidFill>
                  <a:srgbClr val="0000FF"/>
                </a:solidFill>
                <a:latin typeface="Courier New" panose="02070309020205020404" pitchFamily="49" charset="0"/>
                <a:ea typeface="黑体" panose="02010609060101010101" pitchFamily="49" charset="-122"/>
              </a:rPr>
              <a:t>  </a:t>
            </a:r>
            <a:r>
              <a:rPr lang="en" altLang="zh-CN" sz="1400" dirty="0">
                <a:solidFill>
                  <a:srgbClr val="0000FF"/>
                </a:solidFill>
                <a:latin typeface="Courier New,Bold" pitchFamily="2" charset="0"/>
                <a:ea typeface="黑体" panose="02010609060101010101" pitchFamily="49" charset="-122"/>
              </a:rPr>
              <a:t>output</a:t>
            </a:r>
            <a:r>
              <a:rPr lang="en" altLang="zh-CN" sz="1400" dirty="0">
                <a:solidFill>
                  <a:srgbClr val="000000"/>
                </a:solidFill>
                <a:latin typeface="Courier New" panose="02070309020205020404" pitchFamily="49" charset="0"/>
                <a:ea typeface="黑体" panose="02010609060101010101" pitchFamily="49" charset="-122"/>
              </a:rPr>
              <a:t> d2</a:t>
            </a:r>
            <a:r>
              <a:rPr lang="en-US" altLang="zh-CN" sz="1400" dirty="0">
                <a:solidFill>
                  <a:srgbClr val="000000"/>
                </a:solidFill>
                <a:latin typeface="Courier New" panose="02070309020205020404" pitchFamily="49" charset="0"/>
                <a:ea typeface="黑体" panose="02010609060101010101" pitchFamily="49" charset="-122"/>
              </a:rPr>
              <a:t>9</a:t>
            </a:r>
            <a:r>
              <a:rPr lang="en" altLang="zh-CN" sz="1400" dirty="0">
                <a:solidFill>
                  <a:srgbClr val="000000"/>
                </a:solidFill>
                <a:latin typeface="Courier New" panose="02070309020205020404" pitchFamily="49" charset="0"/>
                <a:ea typeface="黑体" panose="02010609060101010101" pitchFamily="49" charset="-122"/>
              </a:rPr>
              <a:t>; </a:t>
            </a:r>
          </a:p>
          <a:p>
            <a:pPr lvl="0"/>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wire</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n1,n2,n3;</a:t>
            </a:r>
            <a:endParaRPr lang="en-US" altLang="zh-CN" sz="1400" dirty="0">
              <a:solidFill>
                <a:srgbClr val="0000FF"/>
              </a:solidFill>
              <a:latin typeface="Courier New,Bold" pitchFamily="2" charset="0"/>
              <a:ea typeface="黑体" panose="02010609060101010101" pitchFamily="49" charset="-122"/>
            </a:endParaRPr>
          </a:p>
          <a:p>
            <a:pPr lvl="0"/>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assign</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n1=(~a8)&amp;(~a4);</a:t>
            </a:r>
          </a:p>
          <a:p>
            <a:pPr lvl="0"/>
            <a:r>
              <a:rPr lang="zh-CN" altLang="en-US" sz="1400" dirty="0">
                <a:solidFill>
                  <a:srgbClr val="000000"/>
                </a:solidFill>
                <a:latin typeface="Courier New" panose="02070309020205020404" pitchFamily="49"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assign</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n2=a2&amp;(~a1);</a:t>
            </a:r>
          </a:p>
          <a:p>
            <a:pPr lvl="0"/>
            <a:r>
              <a:rPr lang="zh-CN" altLang="en-US" sz="1400" dirty="0">
                <a:solidFill>
                  <a:srgbClr val="000000"/>
                </a:solidFill>
                <a:latin typeface="Courier New" panose="02070309020205020404" pitchFamily="49"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assign</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n3=n1&amp;n2;</a:t>
            </a:r>
          </a:p>
          <a:p>
            <a:r>
              <a:rPr lang="zh-CN" altLang="en-US" sz="1400" dirty="0">
                <a:solidFill>
                  <a:srgbClr val="000000"/>
                </a:solidFill>
                <a:latin typeface="Courier New" panose="02070309020205020404" pitchFamily="49" charset="0"/>
                <a:ea typeface="黑体" panose="02010609060101010101" pitchFamily="49" charset="-122"/>
              </a:rPr>
              <a:t>  </a:t>
            </a:r>
            <a:r>
              <a:rPr lang="en-US" altLang="zh-CN" sz="1400" dirty="0">
                <a:solidFill>
                  <a:srgbClr val="0000FF"/>
                </a:solidFill>
                <a:latin typeface="Courier New,Bold" pitchFamily="2" charset="0"/>
                <a:ea typeface="黑体" panose="02010609060101010101" pitchFamily="49" charset="-122"/>
              </a:rPr>
              <a:t>assign</a:t>
            </a:r>
            <a:r>
              <a:rPr lang="zh-CN" altLang="en-US" sz="1400" dirty="0">
                <a:solidFill>
                  <a:srgbClr val="0000FF"/>
                </a:solidFill>
                <a:latin typeface="Courier New,Bold" pitchFamily="2" charset="0"/>
                <a:ea typeface="黑体" panose="02010609060101010101" pitchFamily="49" charset="-122"/>
              </a:rPr>
              <a:t> </a:t>
            </a:r>
            <a:r>
              <a:rPr lang="en-US" altLang="zh-CN" sz="1400" dirty="0">
                <a:solidFill>
                  <a:srgbClr val="000000"/>
                </a:solidFill>
                <a:latin typeface="Courier New" panose="02070309020205020404" pitchFamily="49" charset="0"/>
                <a:ea typeface="黑体" panose="02010609060101010101" pitchFamily="49" charset="-122"/>
              </a:rPr>
              <a:t>d28=n3&amp;leap;</a:t>
            </a:r>
            <a:endParaRPr lang="en" altLang="zh-CN" sz="1400" dirty="0">
              <a:solidFill>
                <a:srgbClr val="000000"/>
              </a:solidFill>
              <a:latin typeface="Courier New" panose="02070309020205020404" pitchFamily="49" charset="0"/>
              <a:ea typeface="黑体" panose="02010609060101010101" pitchFamily="49" charset="-122"/>
            </a:endParaRPr>
          </a:p>
          <a:p>
            <a:pPr lvl="0"/>
            <a:r>
              <a:rPr lang="en" altLang="zh-CN" sz="1400" dirty="0" err="1">
                <a:solidFill>
                  <a:srgbClr val="0000FF"/>
                </a:solidFill>
                <a:latin typeface="Courier New,Bold" pitchFamily="2" charset="0"/>
                <a:ea typeface="黑体" panose="02010609060101010101" pitchFamily="49" charset="-122"/>
              </a:rPr>
              <a:t>endmodule</a:t>
            </a:r>
            <a:endParaRPr lang="en" altLang="zh-CN" sz="1400" dirty="0">
              <a:solidFill>
                <a:srgbClr val="000000"/>
              </a:solidFill>
              <a:latin typeface="Courier New" panose="02070309020205020404" pitchFamily="49" charset="0"/>
              <a:ea typeface="黑体" panose="02010609060101010101" pitchFamily="49" charset="-122"/>
            </a:endParaRPr>
          </a:p>
          <a:p>
            <a:endParaRPr kumimoji="1" lang="zh-CN" altLang="en-US" sz="1600" dirty="0">
              <a:ea typeface="黑体" panose="02010609060101010101" pitchFamily="49" charset="-122"/>
            </a:endParaRPr>
          </a:p>
        </p:txBody>
      </p:sp>
      <p:sp>
        <p:nvSpPr>
          <p:cNvPr id="24" name="Rectangle 6">
            <a:extLst>
              <a:ext uri="{FF2B5EF4-FFF2-40B4-BE49-F238E27FC236}">
                <a16:creationId xmlns:a16="http://schemas.microsoft.com/office/drawing/2014/main" id="{744EF971-E2FE-5542-B2E7-B9D8D0FD7946}"/>
              </a:ext>
            </a:extLst>
          </p:cNvPr>
          <p:cNvSpPr>
            <a:spLocks noChangeArrowheads="1"/>
          </p:cNvSpPr>
          <p:nvPr/>
        </p:nvSpPr>
        <p:spPr bwMode="auto">
          <a:xfrm>
            <a:off x="3660949" y="6202652"/>
            <a:ext cx="6126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pPr>
              <a:spcBef>
                <a:spcPct val="20000"/>
              </a:spcBef>
              <a:buClr>
                <a:schemeClr val="hlink"/>
              </a:buClr>
              <a:buSzPct val="80000"/>
              <a:buFont typeface="Wingdings" pitchFamily="2" charset="2"/>
              <a:buNone/>
            </a:pPr>
            <a:r>
              <a:rPr lang="en-US" altLang="zh-CN" sz="2000" b="0" dirty="0">
                <a:solidFill>
                  <a:schemeClr val="tx1"/>
                </a:solidFill>
                <a:ea typeface="黑体" panose="02010609060101010101" pitchFamily="49" charset="-122"/>
              </a:rPr>
              <a:t>d29</a:t>
            </a:r>
          </a:p>
        </p:txBody>
      </p:sp>
      <p:sp>
        <p:nvSpPr>
          <p:cNvPr id="27" name="下箭头 26">
            <a:extLst>
              <a:ext uri="{FF2B5EF4-FFF2-40B4-BE49-F238E27FC236}">
                <a16:creationId xmlns:a16="http://schemas.microsoft.com/office/drawing/2014/main" id="{9DF2E9F8-8BF8-F941-8F49-FCBCA8C7B061}"/>
              </a:ext>
            </a:extLst>
          </p:cNvPr>
          <p:cNvSpPr/>
          <p:nvPr/>
        </p:nvSpPr>
        <p:spPr bwMode="auto">
          <a:xfrm>
            <a:off x="2256706" y="3965386"/>
            <a:ext cx="698004" cy="455810"/>
          </a:xfrm>
          <a:prstGeom prst="down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4" name="标题 3">
            <a:extLst>
              <a:ext uri="{FF2B5EF4-FFF2-40B4-BE49-F238E27FC236}">
                <a16:creationId xmlns:a16="http://schemas.microsoft.com/office/drawing/2014/main" id="{4E807C5A-6E68-CAD5-80E6-668365673307}"/>
              </a:ext>
            </a:extLst>
          </p:cNvPr>
          <p:cNvSpPr>
            <a:spLocks noGrp="1"/>
          </p:cNvSpPr>
          <p:nvPr>
            <p:ph type="title"/>
          </p:nvPr>
        </p:nvSpPr>
        <p:spPr>
          <a:xfrm>
            <a:off x="195263" y="228600"/>
            <a:ext cx="8769225" cy="914400"/>
          </a:xfrm>
        </p:spPr>
        <p:txBody>
          <a:bodyPr/>
          <a:lstStyle/>
          <a:p>
            <a:r>
              <a:rPr lang="en-US" altLang="zh-CN" dirty="0"/>
              <a:t>d29</a:t>
            </a:r>
            <a:r>
              <a:rPr lang="zh-CN" altLang="en-US" dirty="0"/>
              <a:t>的逻辑电路</a:t>
            </a:r>
          </a:p>
        </p:txBody>
      </p:sp>
    </p:spTree>
    <p:extLst>
      <p:ext uri="{BB962C8B-B14F-4D97-AF65-F5344CB8AC3E}">
        <p14:creationId xmlns:p14="http://schemas.microsoft.com/office/powerpoint/2010/main" val="2308015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6"/>
          <p:cNvSpPr>
            <a:spLocks noGrp="1"/>
          </p:cNvSpPr>
          <p:nvPr>
            <p:ph type="title"/>
          </p:nvPr>
        </p:nvSpPr>
        <p:spPr/>
        <p:txBody>
          <a:bodyPr/>
          <a:lstStyle/>
          <a:p>
            <a:r>
              <a:rPr lang="en-US" altLang="zh-CN" dirty="0"/>
              <a:t>d30</a:t>
            </a:r>
            <a:r>
              <a:rPr lang="zh-CN" altLang="en-US" dirty="0"/>
              <a:t>和</a:t>
            </a:r>
            <a:r>
              <a:rPr lang="en-US" altLang="zh-CN" dirty="0"/>
              <a:t>d31</a:t>
            </a:r>
            <a:r>
              <a:rPr lang="zh-CN" altLang="en-US" dirty="0"/>
              <a:t>呢？</a:t>
            </a:r>
          </a:p>
        </p:txBody>
      </p:sp>
      <p:sp>
        <p:nvSpPr>
          <p:cNvPr id="8" name="内容占位符 7"/>
          <p:cNvSpPr>
            <a:spLocks noGrp="1"/>
          </p:cNvSpPr>
          <p:nvPr>
            <p:ph idx="1"/>
          </p:nvPr>
        </p:nvSpPr>
        <p:spPr>
          <a:xfrm>
            <a:off x="457200" y="1471339"/>
            <a:ext cx="8610600" cy="2057400"/>
          </a:xfrm>
        </p:spPr>
        <p:txBody>
          <a:bodyPr/>
          <a:lstStyle/>
          <a:p>
            <a:pPr hangingPunct="1"/>
            <a:r>
              <a:rPr lang="en-US" altLang="zh-CN" sz="2400" dirty="0"/>
              <a:t>d30=a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 </a:t>
            </a:r>
            <a:r>
              <a:rPr lang="en-US" altLang="zh-CN" sz="2400" dirty="0">
                <a:solidFill>
                  <a:srgbClr val="FF00FF"/>
                </a:solidFill>
              </a:rPr>
              <a:t>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a:t>
            </a:r>
            <a:r>
              <a:rPr lang="en-US" altLang="zh-CN" sz="2400" dirty="0">
                <a:solidFill>
                  <a:srgbClr val="FF00FF"/>
                </a:solidFill>
              </a:rPr>
              <a:t> 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 </a:t>
            </a:r>
            <a:r>
              <a:rPr lang="en-US" altLang="zh-CN" sz="2400" dirty="0">
                <a:solidFill>
                  <a:srgbClr val="FF00FF"/>
                </a:solidFill>
              </a:rPr>
              <a:t>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p>
          <a:p>
            <a:pPr hangingPunct="1"/>
            <a:r>
              <a:rPr lang="en-US" altLang="zh-CN" sz="2400" dirty="0"/>
              <a:t>d31=a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 </a:t>
            </a:r>
            <a:r>
              <a:rPr lang="en-US" altLang="zh-CN" sz="2400" dirty="0">
                <a:solidFill>
                  <a:srgbClr val="FF00FF"/>
                </a:solidFill>
              </a:rPr>
              <a:t>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solidFill>
                  <a:srgbClr val="FF00FF"/>
                </a:solidFill>
              </a:rPr>
              <a:t> 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 </a:t>
            </a:r>
            <a:r>
              <a:rPr lang="en-US" altLang="zh-CN" sz="2400" dirty="0">
                <a:solidFill>
                  <a:srgbClr val="FF00FF"/>
                </a:solidFill>
              </a:rPr>
              <a:t>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 </a:t>
            </a:r>
            <a:r>
              <a:rPr lang="en-US" altLang="zh-CN" sz="2400" dirty="0">
                <a:solidFill>
                  <a:srgbClr val="FF00FF"/>
                </a:solidFill>
              </a:rPr>
              <a:t>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 </a:t>
            </a:r>
            <a:r>
              <a:rPr lang="en-US" altLang="zh-CN" sz="2400" dirty="0">
                <a:solidFill>
                  <a:srgbClr val="FF00FF"/>
                </a:solidFill>
              </a:rPr>
              <a:t>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 </a:t>
            </a:r>
            <a:r>
              <a:rPr lang="en-US" altLang="zh-CN" sz="2400" dirty="0">
                <a:solidFill>
                  <a:srgbClr val="FF00FF"/>
                </a:solidFill>
              </a:rPr>
              <a:t>or </a:t>
            </a:r>
            <a:r>
              <a:rPr lang="en-US" altLang="zh-CN" sz="2400" dirty="0"/>
              <a:t>a</a:t>
            </a:r>
            <a:r>
              <a:rPr lang="en-US" altLang="zh-CN" sz="2400" baseline="-25000" dirty="0"/>
              <a:t>8</a:t>
            </a:r>
            <a:r>
              <a:rPr lang="en-US" altLang="zh-CN" sz="2400" dirty="0"/>
              <a:t>·a</a:t>
            </a:r>
            <a:r>
              <a:rPr lang="en-US" altLang="zh-CN" sz="2400" baseline="-25000" dirty="0"/>
              <a:t>4</a:t>
            </a:r>
            <a:r>
              <a:rPr lang="en-US" altLang="zh-CN" sz="2400" dirty="0"/>
              <a:t>·a</a:t>
            </a:r>
            <a:r>
              <a:rPr lang="en-US" altLang="zh-CN" sz="2400" baseline="-25000" dirty="0"/>
              <a:t>2</a:t>
            </a:r>
            <a:r>
              <a:rPr lang="en-US" altLang="zh-CN" sz="2400" dirty="0"/>
              <a:t>’·a</a:t>
            </a:r>
            <a:r>
              <a:rPr lang="en-US" altLang="zh-CN" sz="2400" baseline="-25000" dirty="0"/>
              <a:t>1</a:t>
            </a:r>
            <a:r>
              <a:rPr lang="en-US" altLang="zh-CN" sz="2400" dirty="0"/>
              <a:t>’</a:t>
            </a:r>
            <a:endParaRPr lang="en-US" altLang="zh-CN" sz="3200" dirty="0"/>
          </a:p>
        </p:txBody>
      </p:sp>
      <p:sp>
        <p:nvSpPr>
          <p:cNvPr id="2" name="灯片编号占位符 1">
            <a:extLst>
              <a:ext uri="{FF2B5EF4-FFF2-40B4-BE49-F238E27FC236}">
                <a16:creationId xmlns:a16="http://schemas.microsoft.com/office/drawing/2014/main" id="{E47925B7-1372-BB92-BE21-BD92A8EAEDE8}"/>
              </a:ext>
            </a:extLst>
          </p:cNvPr>
          <p:cNvSpPr>
            <a:spLocks noGrp="1"/>
          </p:cNvSpPr>
          <p:nvPr>
            <p:ph type="sldNum" sz="quarter" idx="12"/>
          </p:nvPr>
        </p:nvSpPr>
        <p:spPr/>
        <p:txBody>
          <a:bodyPr/>
          <a:lstStyle/>
          <a:p>
            <a:fld id="{14659731-6BD7-46E7-8D3C-2F3AC07E20B1}" type="slidenum">
              <a:rPr lang="en-US" altLang="zh-CN" smtClean="0"/>
              <a:pPr/>
              <a:t>60</a:t>
            </a:fld>
            <a:endParaRPr lang="en-US" altLang="zh-CN" dirty="0"/>
          </a:p>
        </p:txBody>
      </p:sp>
      <p:sp>
        <p:nvSpPr>
          <p:cNvPr id="5" name="内容占位符 7"/>
          <p:cNvSpPr txBox="1">
            <a:spLocks/>
          </p:cNvSpPr>
          <p:nvPr/>
        </p:nvSpPr>
        <p:spPr bwMode="gray">
          <a:xfrm>
            <a:off x="-1076155" y="3969060"/>
            <a:ext cx="7931224" cy="2057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marL="0" indent="0" algn="ctr">
              <a:lnSpc>
                <a:spcPct val="150000"/>
              </a:lnSpc>
              <a:buFont typeface="Wingdings" pitchFamily="2" charset="2"/>
              <a:buNone/>
            </a:pPr>
            <a:r>
              <a:rPr lang="zh-CN" altLang="en-US" sz="2400" kern="0" dirty="0"/>
              <a:t>考虑电路，</a:t>
            </a:r>
            <a:br>
              <a:rPr lang="en-US" altLang="zh-CN" sz="2400" kern="0" dirty="0"/>
            </a:br>
            <a:r>
              <a:rPr lang="zh-CN" altLang="en-US" sz="2400" kern="0" dirty="0"/>
              <a:t>如何表示它们对应的布尔代数式？</a:t>
            </a:r>
            <a:endParaRPr lang="en-US" altLang="zh-CN" sz="2400" kern="0" dirty="0"/>
          </a:p>
          <a:p>
            <a:pPr marL="0" indent="0" algn="ctr">
              <a:lnSpc>
                <a:spcPct val="150000"/>
              </a:lnSpc>
              <a:buFont typeface="Wingdings" pitchFamily="2" charset="2"/>
              <a:buNone/>
            </a:pPr>
            <a:r>
              <a:rPr lang="en-US" altLang="zh-CN" sz="2400" kern="0" dirty="0"/>
              <a:t>——</a:t>
            </a:r>
            <a:r>
              <a:rPr lang="zh-CN" altLang="en-US" sz="2400" kern="0" dirty="0"/>
              <a:t>逻辑化简</a:t>
            </a:r>
          </a:p>
        </p:txBody>
      </p:sp>
      <p:graphicFrame>
        <p:nvGraphicFramePr>
          <p:cNvPr id="10" name="Group 185">
            <a:extLst>
              <a:ext uri="{FF2B5EF4-FFF2-40B4-BE49-F238E27FC236}">
                <a16:creationId xmlns:a16="http://schemas.microsoft.com/office/drawing/2014/main" id="{498BB2F0-00DB-4225-9BF4-E905C3DB183B}"/>
              </a:ext>
            </a:extLst>
          </p:cNvPr>
          <p:cNvGraphicFramePr>
            <a:graphicFrameLocks/>
          </p:cNvGraphicFramePr>
          <p:nvPr>
            <p:extLst>
              <p:ext uri="{D42A27DB-BD31-4B8C-83A1-F6EECF244321}">
                <p14:modId xmlns:p14="http://schemas.microsoft.com/office/powerpoint/2010/main" val="3326371791"/>
              </p:ext>
            </p:extLst>
          </p:nvPr>
        </p:nvGraphicFramePr>
        <p:xfrm>
          <a:off x="6336196" y="3181709"/>
          <a:ext cx="1955495" cy="3461880"/>
        </p:xfrm>
        <a:graphic>
          <a:graphicData uri="http://schemas.openxmlformats.org/drawingml/2006/table">
            <a:tbl>
              <a:tblPr/>
              <a:tblGrid>
                <a:gridCol w="745193">
                  <a:extLst>
                    <a:ext uri="{9D8B030D-6E8A-4147-A177-3AD203B41FA5}">
                      <a16:colId xmlns:a16="http://schemas.microsoft.com/office/drawing/2014/main" val="20000"/>
                    </a:ext>
                  </a:extLst>
                </a:gridCol>
                <a:gridCol w="611092">
                  <a:extLst>
                    <a:ext uri="{9D8B030D-6E8A-4147-A177-3AD203B41FA5}">
                      <a16:colId xmlns:a16="http://schemas.microsoft.com/office/drawing/2014/main" val="20004"/>
                    </a:ext>
                  </a:extLst>
                </a:gridCol>
                <a:gridCol w="599210">
                  <a:extLst>
                    <a:ext uri="{9D8B030D-6E8A-4147-A177-3AD203B41FA5}">
                      <a16:colId xmlns:a16="http://schemas.microsoft.com/office/drawing/2014/main" val="20005"/>
                    </a:ext>
                  </a:extLst>
                </a:gridCol>
              </a:tblGrid>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Month</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d30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d31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0110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1"/>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2"/>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3"/>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4"/>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5"/>
                  </a:ext>
                </a:extLst>
              </a:tr>
              <a:tr h="167338">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3382190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dirty="0"/>
              <a:t>布尔代数式的化简</a:t>
            </a:r>
            <a:endParaRPr lang="en-US" altLang="zh-CN" dirty="0"/>
          </a:p>
        </p:txBody>
      </p:sp>
      <p:sp>
        <p:nvSpPr>
          <p:cNvPr id="75779" name="Rectangle 3"/>
          <p:cNvSpPr>
            <a:spLocks noGrp="1" noChangeArrowheads="1"/>
          </p:cNvSpPr>
          <p:nvPr>
            <p:ph idx="1"/>
          </p:nvPr>
        </p:nvSpPr>
        <p:spPr/>
        <p:txBody>
          <a:bodyPr/>
          <a:lstStyle/>
          <a:p>
            <a:pPr eaLnBrk="1" hangingPunct="1"/>
            <a:r>
              <a:rPr lang="zh-CN" altLang="en-US" dirty="0"/>
              <a:t>两级逻辑</a:t>
            </a:r>
            <a:endParaRPr lang="en-US" altLang="zh-CN" dirty="0"/>
          </a:p>
          <a:p>
            <a:pPr lvl="1" eaLnBrk="1" hangingPunct="1"/>
            <a:r>
              <a:rPr lang="zh-CN" altLang="en-US" dirty="0"/>
              <a:t>规范形式</a:t>
            </a:r>
            <a:endParaRPr lang="en-US" altLang="zh-CN" dirty="0"/>
          </a:p>
          <a:p>
            <a:pPr lvl="1" eaLnBrk="1" hangingPunct="1"/>
            <a:r>
              <a:rPr lang="zh-CN" altLang="en-US" dirty="0"/>
              <a:t>卡诺图</a:t>
            </a:r>
          </a:p>
          <a:p>
            <a:pPr hangingPunct="1"/>
            <a:r>
              <a:rPr lang="zh-CN" altLang="en-US" dirty="0"/>
              <a:t>两级逻辑的化简</a:t>
            </a:r>
            <a:endParaRPr lang="en-US" altLang="zh-CN" dirty="0"/>
          </a:p>
          <a:p>
            <a:pPr lvl="1" hangingPunct="1"/>
            <a:r>
              <a:rPr lang="zh-CN" altLang="en-US" dirty="0"/>
              <a:t>卡诺图化简法</a:t>
            </a:r>
            <a:endParaRPr lang="en-US" altLang="zh-CN" dirty="0"/>
          </a:p>
          <a:p>
            <a:pPr lvl="1" hangingPunct="1"/>
            <a:r>
              <a:rPr lang="en-US" altLang="zh-CN" dirty="0"/>
              <a:t>Q-M </a:t>
            </a:r>
            <a:r>
              <a:rPr lang="zh-CN" altLang="en-US" dirty="0"/>
              <a:t>法</a:t>
            </a:r>
            <a:endParaRPr lang="en-US" altLang="zh-CN" dirty="0"/>
          </a:p>
        </p:txBody>
      </p:sp>
      <p:sp>
        <p:nvSpPr>
          <p:cNvPr id="2" name="灯片编号占位符 1">
            <a:extLst>
              <a:ext uri="{FF2B5EF4-FFF2-40B4-BE49-F238E27FC236}">
                <a16:creationId xmlns:a16="http://schemas.microsoft.com/office/drawing/2014/main" id="{3A2A78FF-FFA8-DE64-7752-558650DD480E}"/>
              </a:ext>
            </a:extLst>
          </p:cNvPr>
          <p:cNvSpPr>
            <a:spLocks noGrp="1"/>
          </p:cNvSpPr>
          <p:nvPr>
            <p:ph type="sldNum" sz="quarter" idx="12"/>
          </p:nvPr>
        </p:nvSpPr>
        <p:spPr/>
        <p:txBody>
          <a:bodyPr/>
          <a:lstStyle/>
          <a:p>
            <a:fld id="{14659731-6BD7-46E7-8D3C-2F3AC07E20B1}" type="slidenum">
              <a:rPr lang="en-US" altLang="zh-CN" smtClean="0"/>
              <a:pPr/>
              <a:t>61</a:t>
            </a:fld>
            <a:endParaRPr lang="en-US" altLang="zh-CN" dirty="0"/>
          </a:p>
        </p:txBody>
      </p:sp>
    </p:spTree>
    <p:extLst>
      <p:ext uri="{BB962C8B-B14F-4D97-AF65-F5344CB8AC3E}">
        <p14:creationId xmlns:p14="http://schemas.microsoft.com/office/powerpoint/2010/main" val="6733826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pPr eaLnBrk="1" hangingPunct="1"/>
            <a:r>
              <a:rPr lang="zh-CN" altLang="en-US" dirty="0"/>
              <a:t>标准形式：两级逻辑</a:t>
            </a:r>
            <a:endParaRPr lang="en-US" altLang="zh-CN" dirty="0"/>
          </a:p>
        </p:txBody>
      </p:sp>
      <p:graphicFrame>
        <p:nvGraphicFramePr>
          <p:cNvPr id="439300" name="Object 4"/>
          <p:cNvGraphicFramePr>
            <a:graphicFrameLocks noGrp="1" noChangeAspect="1"/>
          </p:cNvGraphicFramePr>
          <p:nvPr>
            <p:ph idx="1"/>
            <p:extLst>
              <p:ext uri="{D42A27DB-BD31-4B8C-83A1-F6EECF244321}">
                <p14:modId xmlns:p14="http://schemas.microsoft.com/office/powerpoint/2010/main" val="2849244936"/>
              </p:ext>
            </p:extLst>
          </p:nvPr>
        </p:nvGraphicFramePr>
        <p:xfrm>
          <a:off x="1295400" y="2641600"/>
          <a:ext cx="3816350" cy="530224"/>
        </p:xfrm>
        <a:graphic>
          <a:graphicData uri="http://schemas.openxmlformats.org/presentationml/2006/ole">
            <mc:AlternateContent xmlns:mc="http://schemas.openxmlformats.org/markup-compatibility/2006">
              <mc:Choice xmlns:v="urn:schemas-microsoft-com:vml" Requires="v">
                <p:oleObj name="Equation" r:id="rId3" imgW="1625400" imgH="203040" progId="Equation.DSMT4">
                  <p:embed/>
                </p:oleObj>
              </mc:Choice>
              <mc:Fallback>
                <p:oleObj name="Equation" r:id="rId3" imgW="1625400" imgH="203040" progId="Equation.DSMT4">
                  <p:embed/>
                  <p:pic>
                    <p:nvPicPr>
                      <p:cNvPr id="43930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641600"/>
                        <a:ext cx="3816350" cy="530224"/>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5456CFED-1F99-19D6-1CDF-15AEE8FCB1D0}"/>
              </a:ext>
            </a:extLst>
          </p:cNvPr>
          <p:cNvSpPr>
            <a:spLocks noGrp="1"/>
          </p:cNvSpPr>
          <p:nvPr>
            <p:ph type="sldNum" sz="quarter" idx="12"/>
          </p:nvPr>
        </p:nvSpPr>
        <p:spPr/>
        <p:txBody>
          <a:bodyPr/>
          <a:lstStyle/>
          <a:p>
            <a:fld id="{14659731-6BD7-46E7-8D3C-2F3AC07E20B1}" type="slidenum">
              <a:rPr lang="en-US" altLang="zh-CN" smtClean="0"/>
              <a:pPr/>
              <a:t>62</a:t>
            </a:fld>
            <a:endParaRPr lang="en-US" altLang="zh-CN" dirty="0"/>
          </a:p>
        </p:txBody>
      </p:sp>
      <p:sp>
        <p:nvSpPr>
          <p:cNvPr id="12293" name="Rectangle 3"/>
          <p:cNvSpPr>
            <a:spLocks noGrp="1" noChangeArrowheads="1"/>
          </p:cNvSpPr>
          <p:nvPr>
            <p:ph type="body" idx="4294967295"/>
          </p:nvPr>
        </p:nvSpPr>
        <p:spPr>
          <a:xfrm>
            <a:off x="0" y="1631950"/>
            <a:ext cx="8229600" cy="4716463"/>
          </a:xfrm>
        </p:spPr>
        <p:txBody>
          <a:bodyPr/>
          <a:lstStyle/>
          <a:p>
            <a:pPr eaLnBrk="1" hangingPunct="1"/>
            <a:r>
              <a:rPr lang="en-US" altLang="zh-CN" sz="2400" dirty="0"/>
              <a:t>SOP </a:t>
            </a:r>
            <a:r>
              <a:rPr lang="zh-CN" altLang="en-US" sz="2400" dirty="0"/>
              <a:t>和</a:t>
            </a:r>
            <a:r>
              <a:rPr lang="en-US" altLang="zh-CN" sz="2400" dirty="0"/>
              <a:t> POS</a:t>
            </a:r>
          </a:p>
          <a:p>
            <a:pPr lvl="1" eaLnBrk="1" hangingPunct="1"/>
            <a:r>
              <a:rPr lang="en-US" altLang="zh-CN" sz="2400" dirty="0"/>
              <a:t>Sum of Products</a:t>
            </a:r>
            <a:r>
              <a:rPr lang="zh-CN" altLang="en-US" sz="2400" dirty="0"/>
              <a:t> 与或表达式</a:t>
            </a:r>
            <a:endParaRPr lang="en-US" altLang="zh-CN" sz="2400" dirty="0"/>
          </a:p>
          <a:p>
            <a:pPr lvl="1" eaLnBrk="1" hangingPunct="1"/>
            <a:endParaRPr lang="en-US" altLang="zh-CN" sz="2400" dirty="0"/>
          </a:p>
          <a:p>
            <a:pPr lvl="1" eaLnBrk="1" hangingPunct="1"/>
            <a:endParaRPr lang="en-US" altLang="zh-CN" sz="2400" dirty="0"/>
          </a:p>
          <a:p>
            <a:pPr marL="457200" lvl="1" indent="0" eaLnBrk="1" hangingPunct="1">
              <a:buNone/>
            </a:pPr>
            <a:endParaRPr lang="en-US" altLang="zh-CN" sz="2400" dirty="0"/>
          </a:p>
          <a:p>
            <a:pPr lvl="1" eaLnBrk="1" hangingPunct="1"/>
            <a:r>
              <a:rPr lang="en-US" altLang="zh-CN" sz="2400" dirty="0"/>
              <a:t>Product of Sums</a:t>
            </a:r>
            <a:r>
              <a:rPr lang="zh-CN" altLang="en-US" sz="2400" dirty="0"/>
              <a:t> 或与表达式</a:t>
            </a:r>
            <a:endParaRPr lang="en-US" altLang="zh-CN" sz="2400" dirty="0"/>
          </a:p>
          <a:p>
            <a:pPr lvl="1" eaLnBrk="1" hangingPunct="1"/>
            <a:endParaRPr lang="en-US" altLang="zh-CN" sz="2400" dirty="0"/>
          </a:p>
        </p:txBody>
      </p:sp>
      <p:graphicFrame>
        <p:nvGraphicFramePr>
          <p:cNvPr id="439301" name="Object 5"/>
          <p:cNvGraphicFramePr>
            <a:graphicFrameLocks noGrp="1" noChangeAspect="1"/>
          </p:cNvGraphicFramePr>
          <p:nvPr>
            <p:ph sz="quarter" idx="4294967295"/>
            <p:extLst>
              <p:ext uri="{D42A27DB-BD31-4B8C-83A1-F6EECF244321}">
                <p14:modId xmlns:p14="http://schemas.microsoft.com/office/powerpoint/2010/main" val="3066516325"/>
              </p:ext>
            </p:extLst>
          </p:nvPr>
        </p:nvGraphicFramePr>
        <p:xfrm>
          <a:off x="829857" y="4475163"/>
          <a:ext cx="4281893" cy="530225"/>
        </p:xfrm>
        <a:graphic>
          <a:graphicData uri="http://schemas.openxmlformats.org/presentationml/2006/ole">
            <mc:AlternateContent xmlns:mc="http://schemas.openxmlformats.org/markup-compatibility/2006">
              <mc:Choice xmlns:v="urn:schemas-microsoft-com:vml" Requires="v">
                <p:oleObj name="Equation" r:id="rId5" imgW="1841400" imgH="203040" progId="Equation.DSMT4">
                  <p:embed/>
                </p:oleObj>
              </mc:Choice>
              <mc:Fallback>
                <p:oleObj name="Equation" r:id="rId5" imgW="1841400" imgH="203040" progId="Equation.DSMT4">
                  <p:embed/>
                  <p:pic>
                    <p:nvPicPr>
                      <p:cNvPr id="43930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9857" y="4475163"/>
                        <a:ext cx="4281893" cy="530225"/>
                      </a:xfrm>
                      <a:prstGeom prst="rect">
                        <a:avLst/>
                      </a:prstGeom>
                      <a:noFill/>
                      <a:ln>
                        <a:noFill/>
                      </a:ln>
                      <a:effectLst/>
                    </p:spPr>
                  </p:pic>
                </p:oleObj>
              </mc:Fallback>
            </mc:AlternateContent>
          </a:graphicData>
        </a:graphic>
      </p:graphicFrame>
      <p:graphicFrame>
        <p:nvGraphicFramePr>
          <p:cNvPr id="7" name="Group 185">
            <a:extLst>
              <a:ext uri="{FF2B5EF4-FFF2-40B4-BE49-F238E27FC236}">
                <a16:creationId xmlns:a16="http://schemas.microsoft.com/office/drawing/2014/main" id="{B778AF1F-FF01-8C41-BB26-BC657A6CA9E2}"/>
              </a:ext>
            </a:extLst>
          </p:cNvPr>
          <p:cNvGraphicFramePr>
            <a:graphicFrameLocks/>
          </p:cNvGraphicFramePr>
          <p:nvPr>
            <p:extLst>
              <p:ext uri="{D42A27DB-BD31-4B8C-83A1-F6EECF244321}">
                <p14:modId xmlns:p14="http://schemas.microsoft.com/office/powerpoint/2010/main" val="990282614"/>
              </p:ext>
            </p:extLst>
          </p:nvPr>
        </p:nvGraphicFramePr>
        <p:xfrm>
          <a:off x="6358648" y="2893243"/>
          <a:ext cx="1955495" cy="3632101"/>
        </p:xfrm>
        <a:graphic>
          <a:graphicData uri="http://schemas.openxmlformats.org/drawingml/2006/table">
            <a:tbl>
              <a:tblPr/>
              <a:tblGrid>
                <a:gridCol w="745193">
                  <a:extLst>
                    <a:ext uri="{9D8B030D-6E8A-4147-A177-3AD203B41FA5}">
                      <a16:colId xmlns:a16="http://schemas.microsoft.com/office/drawing/2014/main" val="20000"/>
                    </a:ext>
                  </a:extLst>
                </a:gridCol>
                <a:gridCol w="611092">
                  <a:extLst>
                    <a:ext uri="{9D8B030D-6E8A-4147-A177-3AD203B41FA5}">
                      <a16:colId xmlns:a16="http://schemas.microsoft.com/office/drawing/2014/main" val="20004"/>
                    </a:ext>
                  </a:extLst>
                </a:gridCol>
                <a:gridCol w="599210">
                  <a:extLst>
                    <a:ext uri="{9D8B030D-6E8A-4147-A177-3AD203B41FA5}">
                      <a16:colId xmlns:a16="http://schemas.microsoft.com/office/drawing/2014/main" val="20005"/>
                    </a:ext>
                  </a:extLst>
                </a:gridCol>
              </a:tblGrid>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Month</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d30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d31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0110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0111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1"/>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2"/>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3"/>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4"/>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5"/>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chemeClr val="tx1"/>
                          </a:solidFill>
                          <a:effectLst/>
                          <a:latin typeface="Arial" charset="0"/>
                          <a:ea typeface="黑体" panose="02010609060101010101" pitchFamily="49" charset="-122"/>
                        </a:rPr>
                        <a:t>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100" b="1" i="0" u="none" strike="noStrike" cap="none" normalizeH="0" baseline="0" dirty="0">
                          <a:ln>
                            <a:noFill/>
                          </a:ln>
                          <a:solidFill>
                            <a:srgbClr val="FF0066"/>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6"/>
                  </a:ext>
                </a:extLst>
              </a:tr>
            </a:tbl>
          </a:graphicData>
        </a:graphic>
      </p:graphicFrame>
      <p:grpSp>
        <p:nvGrpSpPr>
          <p:cNvPr id="8" name="Group 7">
            <a:extLst>
              <a:ext uri="{FF2B5EF4-FFF2-40B4-BE49-F238E27FC236}">
                <a16:creationId xmlns:a16="http://schemas.microsoft.com/office/drawing/2014/main" id="{4BAA2751-4F46-E947-B268-DC4F621A80D7}"/>
              </a:ext>
            </a:extLst>
          </p:cNvPr>
          <p:cNvGrpSpPr/>
          <p:nvPr/>
        </p:nvGrpSpPr>
        <p:grpSpPr>
          <a:xfrm>
            <a:off x="5310336" y="1560274"/>
            <a:ext cx="3438128" cy="1292662"/>
            <a:chOff x="3203848" y="926318"/>
            <a:chExt cx="3438128" cy="1292662"/>
          </a:xfrm>
        </p:grpSpPr>
        <p:sp>
          <p:nvSpPr>
            <p:cNvPr id="9" name="Rectangle 8">
              <a:extLst>
                <a:ext uri="{FF2B5EF4-FFF2-40B4-BE49-F238E27FC236}">
                  <a16:creationId xmlns:a16="http://schemas.microsoft.com/office/drawing/2014/main" id="{A8E75A93-13DA-894B-9C88-B88FD1F051CC}"/>
                </a:ext>
              </a:extLst>
            </p:cNvPr>
            <p:cNvSpPr/>
            <p:nvPr/>
          </p:nvSpPr>
          <p:spPr>
            <a:xfrm>
              <a:off x="3203848" y="926318"/>
              <a:ext cx="3438128" cy="1292662"/>
            </a:xfrm>
            <a:prstGeom prst="rect">
              <a:avLst/>
            </a:prstGeom>
          </p:spPr>
          <p:txBody>
            <a:bodyPr wrap="square">
              <a:spAutoFit/>
            </a:bodyPr>
            <a:lstStyle/>
            <a:p>
              <a:pPr hangingPunct="1"/>
              <a:r>
                <a:rPr lang="en-US" altLang="zh-CN" dirty="0">
                  <a:highlight>
                    <a:srgbClr val="C0C0C0"/>
                  </a:highlight>
                  <a:ea typeface="黑体" panose="02010609060101010101" pitchFamily="49" charset="-122"/>
                </a:rPr>
                <a:t>d31=a</a:t>
              </a:r>
              <a:r>
                <a:rPr lang="en-US" altLang="zh-CN" baseline="-25000" dirty="0">
                  <a:highlight>
                    <a:srgbClr val="C0C0C0"/>
                  </a:highlight>
                  <a:ea typeface="黑体" panose="02010609060101010101" pitchFamily="49" charset="-122"/>
                </a:rPr>
                <a:t>8</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4</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2</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1</a:t>
              </a:r>
              <a:r>
                <a:rPr lang="en-US" altLang="zh-CN" dirty="0">
                  <a:highlight>
                    <a:srgbClr val="C0C0C0"/>
                  </a:highlight>
                  <a:ea typeface="黑体" panose="02010609060101010101" pitchFamily="49" charset="-122"/>
                </a:rPr>
                <a:t> </a:t>
              </a:r>
              <a:r>
                <a:rPr lang="en-US" altLang="zh-CN" dirty="0">
                  <a:solidFill>
                    <a:srgbClr val="FF00FF"/>
                  </a:solidFill>
                  <a:highlight>
                    <a:srgbClr val="C0C0C0"/>
                  </a:highlight>
                  <a:ea typeface="黑体" panose="02010609060101010101" pitchFamily="49" charset="-122"/>
                </a:rPr>
                <a:t>or </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8</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4</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2</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1</a:t>
              </a:r>
              <a:r>
                <a:rPr lang="en-US" altLang="zh-CN" dirty="0">
                  <a:solidFill>
                    <a:srgbClr val="FF00FF"/>
                  </a:solidFill>
                  <a:highlight>
                    <a:srgbClr val="C0C0C0"/>
                  </a:highlight>
                  <a:ea typeface="黑体" panose="02010609060101010101" pitchFamily="49" charset="-122"/>
                </a:rPr>
                <a:t> or </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8</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4</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2</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1</a:t>
              </a:r>
              <a:r>
                <a:rPr lang="en-US" altLang="zh-CN" dirty="0">
                  <a:highlight>
                    <a:srgbClr val="C0C0C0"/>
                  </a:highlight>
                  <a:ea typeface="黑体" panose="02010609060101010101" pitchFamily="49" charset="-122"/>
                </a:rPr>
                <a:t> </a:t>
              </a:r>
              <a:r>
                <a:rPr lang="en-US" altLang="zh-CN" dirty="0">
                  <a:solidFill>
                    <a:srgbClr val="FF00FF"/>
                  </a:solidFill>
                  <a:highlight>
                    <a:srgbClr val="C0C0C0"/>
                  </a:highlight>
                  <a:ea typeface="黑体" panose="02010609060101010101" pitchFamily="49" charset="-122"/>
                </a:rPr>
                <a:t>or </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8</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4</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2</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1</a:t>
              </a:r>
              <a:r>
                <a:rPr lang="en-US" altLang="zh-CN" dirty="0">
                  <a:highlight>
                    <a:srgbClr val="C0C0C0"/>
                  </a:highlight>
                  <a:ea typeface="黑体" panose="02010609060101010101" pitchFamily="49" charset="-122"/>
                </a:rPr>
                <a:t> </a:t>
              </a:r>
              <a:r>
                <a:rPr lang="en-US" altLang="zh-CN" dirty="0">
                  <a:solidFill>
                    <a:srgbClr val="FF00FF"/>
                  </a:solidFill>
                  <a:highlight>
                    <a:srgbClr val="C0C0C0"/>
                  </a:highlight>
                  <a:ea typeface="黑体" panose="02010609060101010101" pitchFamily="49" charset="-122"/>
                </a:rPr>
                <a:t>or </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8</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4</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2</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1</a:t>
              </a:r>
              <a:r>
                <a:rPr lang="en-US" altLang="zh-CN" dirty="0">
                  <a:highlight>
                    <a:srgbClr val="C0C0C0"/>
                  </a:highlight>
                  <a:ea typeface="黑体" panose="02010609060101010101" pitchFamily="49" charset="-122"/>
                </a:rPr>
                <a:t>’ </a:t>
              </a:r>
              <a:r>
                <a:rPr lang="en-US" altLang="zh-CN" dirty="0">
                  <a:solidFill>
                    <a:srgbClr val="FF00FF"/>
                  </a:solidFill>
                  <a:highlight>
                    <a:srgbClr val="C0C0C0"/>
                  </a:highlight>
                  <a:ea typeface="黑体" panose="02010609060101010101" pitchFamily="49" charset="-122"/>
                </a:rPr>
                <a:t>or </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8</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4</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2</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1</a:t>
              </a:r>
              <a:r>
                <a:rPr lang="en-US" altLang="zh-CN" dirty="0">
                  <a:highlight>
                    <a:srgbClr val="C0C0C0"/>
                  </a:highlight>
                  <a:ea typeface="黑体" panose="02010609060101010101" pitchFamily="49" charset="-122"/>
                </a:rPr>
                <a:t>’ </a:t>
              </a:r>
              <a:r>
                <a:rPr lang="en-US" altLang="zh-CN" dirty="0">
                  <a:solidFill>
                    <a:srgbClr val="FF00FF"/>
                  </a:solidFill>
                  <a:highlight>
                    <a:srgbClr val="C0C0C0"/>
                  </a:highlight>
                  <a:ea typeface="黑体" panose="02010609060101010101" pitchFamily="49" charset="-122"/>
                </a:rPr>
                <a:t>or </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8</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4</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2</a:t>
              </a:r>
              <a:r>
                <a:rPr lang="en-US" altLang="zh-CN" dirty="0">
                  <a:highlight>
                    <a:srgbClr val="C0C0C0"/>
                  </a:highlight>
                  <a:ea typeface="黑体" panose="02010609060101010101" pitchFamily="49" charset="-122"/>
                </a:rPr>
                <a:t>’·a</a:t>
              </a:r>
              <a:r>
                <a:rPr lang="en-US" altLang="zh-CN" baseline="-25000" dirty="0">
                  <a:highlight>
                    <a:srgbClr val="C0C0C0"/>
                  </a:highlight>
                  <a:ea typeface="黑体" panose="02010609060101010101" pitchFamily="49" charset="-122"/>
                </a:rPr>
                <a:t>1</a:t>
              </a:r>
              <a:r>
                <a:rPr lang="en-US" altLang="zh-CN" dirty="0">
                  <a:highlight>
                    <a:srgbClr val="C0C0C0"/>
                  </a:highlight>
                  <a:ea typeface="黑体" panose="02010609060101010101" pitchFamily="49" charset="-122"/>
                </a:rPr>
                <a:t>’</a:t>
              </a:r>
              <a:endParaRPr lang="en-US" altLang="zh-CN" sz="2400" dirty="0">
                <a:highlight>
                  <a:srgbClr val="C0C0C0"/>
                </a:highlight>
                <a:ea typeface="黑体" panose="02010609060101010101" pitchFamily="49" charset="-122"/>
              </a:endParaRPr>
            </a:p>
          </p:txBody>
        </p:sp>
        <p:sp>
          <p:nvSpPr>
            <p:cNvPr id="10" name="Rectangle 9">
              <a:extLst>
                <a:ext uri="{FF2B5EF4-FFF2-40B4-BE49-F238E27FC236}">
                  <a16:creationId xmlns:a16="http://schemas.microsoft.com/office/drawing/2014/main" id="{14FF4A59-1BA8-FC4E-997A-DB6FBF0D4E51}"/>
                </a:ext>
              </a:extLst>
            </p:cNvPr>
            <p:cNvSpPr/>
            <p:nvPr/>
          </p:nvSpPr>
          <p:spPr>
            <a:xfrm>
              <a:off x="4922912" y="1849648"/>
              <a:ext cx="1369286" cy="369332"/>
            </a:xfrm>
            <a:prstGeom prst="rect">
              <a:avLst/>
            </a:prstGeom>
          </p:spPr>
          <p:txBody>
            <a:bodyPr wrap="none">
              <a:spAutoFit/>
            </a:bodyPr>
            <a:lstStyle/>
            <a:p>
              <a:r>
                <a:rPr lang="en-US" dirty="0">
                  <a:ea typeface="黑体" panose="02010609060101010101" pitchFamily="49" charset="-122"/>
                  <a:sym typeface="Wingdings" pitchFamily="2" charset="2"/>
                </a:rPr>
                <a:t></a:t>
              </a:r>
              <a:r>
                <a:rPr lang="el-GR" dirty="0">
                  <a:ea typeface="黑体" panose="02010609060101010101" pitchFamily="49" charset="-122"/>
                </a:rPr>
                <a:t>Σ(</a:t>
              </a:r>
              <a:r>
                <a:rPr lang="en-US" dirty="0">
                  <a:ea typeface="黑体" panose="02010609060101010101" pitchFamily="49" charset="-122"/>
                </a:rPr>
                <a:t>ABCD)</a:t>
              </a:r>
            </a:p>
          </p:txBody>
        </p:sp>
      </p:grpSp>
    </p:spTree>
    <p:extLst>
      <p:ext uri="{BB962C8B-B14F-4D97-AF65-F5344CB8AC3E}">
        <p14:creationId xmlns:p14="http://schemas.microsoft.com/office/powerpoint/2010/main" val="3110310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9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268068C-5FBA-7574-7CB8-B57B2174BAFE}"/>
              </a:ext>
            </a:extLst>
          </p:cNvPr>
          <p:cNvSpPr>
            <a:spLocks noGrp="1"/>
          </p:cNvSpPr>
          <p:nvPr>
            <p:ph type="sldNum" sz="quarter" idx="11"/>
          </p:nvPr>
        </p:nvSpPr>
        <p:spPr/>
        <p:txBody>
          <a:bodyPr/>
          <a:lstStyle/>
          <a:p>
            <a:pPr>
              <a:defRPr/>
            </a:pPr>
            <a:fld id="{2EA1E184-7EFF-4B48-9C82-609CF6442F2C}" type="slidenum">
              <a:rPr lang="zh-CN" altLang="en-US" smtClean="0"/>
              <a:pPr>
                <a:defRPr/>
              </a:pPr>
              <a:t>63</a:t>
            </a:fld>
            <a:endParaRPr lang="en-US" altLang="zh-CN"/>
          </a:p>
        </p:txBody>
      </p:sp>
      <p:sp>
        <p:nvSpPr>
          <p:cNvPr id="3" name="Rectangle 2">
            <a:extLst>
              <a:ext uri="{FF2B5EF4-FFF2-40B4-BE49-F238E27FC236}">
                <a16:creationId xmlns:a16="http://schemas.microsoft.com/office/drawing/2014/main" id="{C3CA2F18-F642-204E-B527-CD77B8E0D80A}"/>
              </a:ext>
            </a:extLst>
          </p:cNvPr>
          <p:cNvSpPr/>
          <p:nvPr/>
        </p:nvSpPr>
        <p:spPr>
          <a:xfrm>
            <a:off x="859143" y="1340768"/>
            <a:ext cx="7425714" cy="830997"/>
          </a:xfrm>
          <a:prstGeom prst="rect">
            <a:avLst/>
          </a:prstGeom>
        </p:spPr>
        <p:txBody>
          <a:bodyPr wrap="square">
            <a:spAutoFit/>
          </a:bodyPr>
          <a:lstStyle/>
          <a:p>
            <a:r>
              <a:rPr lang="zh-CN" altLang="en-US" sz="2400" kern="0" dirty="0">
                <a:solidFill>
                  <a:srgbClr val="080808"/>
                </a:solidFill>
                <a:latin typeface="Arial" panose="020B0604020202020204" pitchFamily="34" charset="0"/>
                <a:ea typeface="黑体" pitchFamily="49" charset="-122"/>
              </a:rPr>
              <a:t>在</a:t>
            </a:r>
            <a:r>
              <a:rPr lang="en-US" altLang="zh-CN" sz="2400" kern="0" dirty="0">
                <a:solidFill>
                  <a:srgbClr val="080808"/>
                </a:solidFill>
                <a:latin typeface="Arial" panose="020B0604020202020204" pitchFamily="34" charset="0"/>
                <a:ea typeface="黑体" pitchFamily="49" charset="-122"/>
              </a:rPr>
              <a:t>n</a:t>
            </a:r>
            <a:r>
              <a:rPr lang="zh-CN" altLang="en-US" sz="2400" kern="0" dirty="0">
                <a:solidFill>
                  <a:srgbClr val="080808"/>
                </a:solidFill>
                <a:latin typeface="Arial" panose="020B0604020202020204" pitchFamily="34" charset="0"/>
                <a:ea typeface="黑体" pitchFamily="49" charset="-122"/>
              </a:rPr>
              <a:t>变量逻辑函数中，包含</a:t>
            </a:r>
            <a:r>
              <a:rPr lang="zh-CN" altLang="en-US" sz="2400" kern="0" dirty="0">
                <a:solidFill>
                  <a:srgbClr val="3333FF"/>
                </a:solidFill>
                <a:latin typeface="Arial" panose="020B0604020202020204" pitchFamily="34" charset="0"/>
                <a:ea typeface="黑体" pitchFamily="49" charset="-122"/>
              </a:rPr>
              <a:t>全部</a:t>
            </a:r>
            <a:r>
              <a:rPr lang="en-US" altLang="zh-CN" sz="2400" kern="0" dirty="0">
                <a:solidFill>
                  <a:srgbClr val="3333FF"/>
                </a:solidFill>
                <a:latin typeface="Arial" panose="020B0604020202020204" pitchFamily="34" charset="0"/>
                <a:ea typeface="黑体" pitchFamily="49" charset="-122"/>
              </a:rPr>
              <a:t>n</a:t>
            </a:r>
            <a:r>
              <a:rPr lang="zh-CN" altLang="en-US" sz="2400" kern="0" dirty="0">
                <a:solidFill>
                  <a:srgbClr val="3333FF"/>
                </a:solidFill>
                <a:latin typeface="Arial" panose="020B0604020202020204" pitchFamily="34" charset="0"/>
                <a:ea typeface="黑体" pitchFamily="49" charset="-122"/>
              </a:rPr>
              <a:t>个变量的与项</a:t>
            </a:r>
            <a:r>
              <a:rPr lang="zh-CN" altLang="en-US" sz="2400" kern="0" dirty="0">
                <a:solidFill>
                  <a:srgbClr val="080808"/>
                </a:solidFill>
                <a:latin typeface="Arial" panose="020B0604020202020204" pitchFamily="34" charset="0"/>
                <a:ea typeface="黑体" pitchFamily="49" charset="-122"/>
              </a:rPr>
              <a:t>，其中每个变量必须且只以原变量或反变量的形式</a:t>
            </a:r>
            <a:r>
              <a:rPr lang="zh-CN" altLang="en-US" sz="2400" kern="0" dirty="0">
                <a:solidFill>
                  <a:srgbClr val="3333FF"/>
                </a:solidFill>
                <a:latin typeface="Arial" panose="020B0604020202020204" pitchFamily="34" charset="0"/>
                <a:ea typeface="黑体" pitchFamily="49" charset="-122"/>
              </a:rPr>
              <a:t>出现一次</a:t>
            </a:r>
            <a:endParaRPr lang="en-CN" sz="1600" dirty="0">
              <a:ea typeface="黑体" panose="02010609060101010101" pitchFamily="49" charset="-122"/>
            </a:endParaRPr>
          </a:p>
        </p:txBody>
      </p:sp>
      <p:graphicFrame>
        <p:nvGraphicFramePr>
          <p:cNvPr id="11" name="Group 211">
            <a:extLst>
              <a:ext uri="{FF2B5EF4-FFF2-40B4-BE49-F238E27FC236}">
                <a16:creationId xmlns:a16="http://schemas.microsoft.com/office/drawing/2014/main" id="{74B511EB-39B1-6D77-A9C4-25D5B7E57A88}"/>
              </a:ext>
            </a:extLst>
          </p:cNvPr>
          <p:cNvGraphicFramePr>
            <a:graphicFrameLocks/>
          </p:cNvGraphicFramePr>
          <p:nvPr>
            <p:extLst>
              <p:ext uri="{D42A27DB-BD31-4B8C-83A1-F6EECF244321}">
                <p14:modId xmlns:p14="http://schemas.microsoft.com/office/powerpoint/2010/main" val="1860872978"/>
              </p:ext>
            </p:extLst>
          </p:nvPr>
        </p:nvGraphicFramePr>
        <p:xfrm>
          <a:off x="859143" y="2189258"/>
          <a:ext cx="7279324" cy="4328292"/>
        </p:xfrm>
        <a:graphic>
          <a:graphicData uri="http://schemas.openxmlformats.org/drawingml/2006/table">
            <a:tbl>
              <a:tblPr/>
              <a:tblGrid>
                <a:gridCol w="1276553">
                  <a:extLst>
                    <a:ext uri="{9D8B030D-6E8A-4147-A177-3AD203B41FA5}">
                      <a16:colId xmlns:a16="http://schemas.microsoft.com/office/drawing/2014/main" val="20000"/>
                    </a:ext>
                  </a:extLst>
                </a:gridCol>
                <a:gridCol w="1276553">
                  <a:extLst>
                    <a:ext uri="{9D8B030D-6E8A-4147-A177-3AD203B41FA5}">
                      <a16:colId xmlns:a16="http://schemas.microsoft.com/office/drawing/2014/main" val="3751353857"/>
                    </a:ext>
                  </a:extLst>
                </a:gridCol>
                <a:gridCol w="1099579">
                  <a:extLst>
                    <a:ext uri="{9D8B030D-6E8A-4147-A177-3AD203B41FA5}">
                      <a16:colId xmlns:a16="http://schemas.microsoft.com/office/drawing/2014/main" val="20001"/>
                    </a:ext>
                  </a:extLst>
                </a:gridCol>
                <a:gridCol w="1099580">
                  <a:extLst>
                    <a:ext uri="{9D8B030D-6E8A-4147-A177-3AD203B41FA5}">
                      <a16:colId xmlns:a16="http://schemas.microsoft.com/office/drawing/2014/main" val="20002"/>
                    </a:ext>
                  </a:extLst>
                </a:gridCol>
                <a:gridCol w="1099579">
                  <a:extLst>
                    <a:ext uri="{9D8B030D-6E8A-4147-A177-3AD203B41FA5}">
                      <a16:colId xmlns:a16="http://schemas.microsoft.com/office/drawing/2014/main" val="20003"/>
                    </a:ext>
                  </a:extLst>
                </a:gridCol>
                <a:gridCol w="1427480">
                  <a:extLst>
                    <a:ext uri="{9D8B030D-6E8A-4147-A177-3AD203B41FA5}">
                      <a16:colId xmlns:a16="http://schemas.microsoft.com/office/drawing/2014/main" val="20004"/>
                    </a:ext>
                  </a:extLst>
                </a:gridCol>
              </a:tblGrid>
              <a:tr h="327942">
                <a:tc rowSpan="2">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Minterm</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rowSpan="2">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i</a:t>
                      </a:r>
                      <a:endPar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B4C6E8"/>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Logic values of variables</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Subscript</a:t>
                      </a:r>
                      <a:r>
                        <a:rPr kumimoji="0" lang="zh-CN" altLang="en-US"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 </a:t>
                      </a:r>
                      <a:r>
                        <a:rPr kumimoji="0" lang="en-US" altLang="zh-CN" sz="1800" b="1" i="0" u="none" strike="noStrike" cap="none" normalizeH="0" baseline="0" dirty="0" err="1">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i</a:t>
                      </a:r>
                      <a:endParaRPr kumimoji="0" lang="en-US" altLang="zh-CN"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extLst>
                  <a:ext uri="{0D108BD9-81ED-4DB2-BD59-A6C34878D82A}">
                    <a16:rowId xmlns:a16="http://schemas.microsoft.com/office/drawing/2014/main" val="10000"/>
                  </a:ext>
                </a:extLst>
              </a:tr>
              <a:tr h="355270">
                <a:tc vMerge="1">
                  <a:txBody>
                    <a:bodyPr/>
                    <a:lstStyle/>
                    <a:p>
                      <a:endParaRPr lang="zh-CN" altLang="en-US"/>
                    </a:p>
                  </a:txBody>
                  <a:tcPr/>
                </a:tc>
                <a:tc vMerge="1">
                  <a:txBody>
                    <a:bodyPr/>
                    <a:lstStyle/>
                    <a:p>
                      <a:endParaRPr lang="zh-CN" altLang="en-US" dirty="0"/>
                    </a:p>
                  </a:txBody>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a:t>
                      </a:r>
                    </a:p>
                  </a:txBody>
                  <a:tcPr marT="45726" marB="45726"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B</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vMerge="1">
                  <a:txBody>
                    <a:bodyPr/>
                    <a:lstStyle/>
                    <a:p>
                      <a:endParaRPr lang="zh-CN" altLang="en-US"/>
                    </a:p>
                  </a:txBody>
                  <a:tcPr/>
                </a:tc>
                <a:extLst>
                  <a:ext uri="{0D108BD9-81ED-4DB2-BD59-A6C34878D82A}">
                    <a16:rowId xmlns:a16="http://schemas.microsoft.com/office/drawing/2014/main" val="10001"/>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3</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3</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4</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5</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5</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6</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6</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7</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7</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5527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Weight</a:t>
                      </a:r>
                      <a:endParaRPr kumimoji="0" lang="zh-CN"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marT="45726" marB="4572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marT="45726" marB="4572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T="45726" marB="4572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sp>
        <p:nvSpPr>
          <p:cNvPr id="12" name="Text Box 13">
            <a:extLst>
              <a:ext uri="{FF2B5EF4-FFF2-40B4-BE49-F238E27FC236}">
                <a16:creationId xmlns:a16="http://schemas.microsoft.com/office/drawing/2014/main" id="{873FE8E1-D4F2-4759-6E09-710832EFDA0B}"/>
              </a:ext>
            </a:extLst>
          </p:cNvPr>
          <p:cNvSpPr txBox="1">
            <a:spLocks noChangeArrowheads="1"/>
          </p:cNvSpPr>
          <p:nvPr/>
        </p:nvSpPr>
        <p:spPr bwMode="auto">
          <a:xfrm>
            <a:off x="3478186" y="6402275"/>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latin typeface="+mn-lt"/>
                <a:ea typeface="黑体" panose="02010609060101010101" pitchFamily="49" charset="-122"/>
              </a:rPr>
              <a:t>MSB</a:t>
            </a:r>
          </a:p>
        </p:txBody>
      </p:sp>
      <p:sp>
        <p:nvSpPr>
          <p:cNvPr id="13" name="Text Box 15">
            <a:extLst>
              <a:ext uri="{FF2B5EF4-FFF2-40B4-BE49-F238E27FC236}">
                <a16:creationId xmlns:a16="http://schemas.microsoft.com/office/drawing/2014/main" id="{CC154661-B37D-EF26-B867-3D3760128541}"/>
              </a:ext>
            </a:extLst>
          </p:cNvPr>
          <p:cNvSpPr txBox="1">
            <a:spLocks noChangeArrowheads="1"/>
          </p:cNvSpPr>
          <p:nvPr/>
        </p:nvSpPr>
        <p:spPr bwMode="auto">
          <a:xfrm>
            <a:off x="5807291" y="6402275"/>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latin typeface="+mn-lt"/>
                <a:ea typeface="黑体" panose="02010609060101010101" pitchFamily="49" charset="-122"/>
              </a:rPr>
              <a:t>LSB</a:t>
            </a:r>
          </a:p>
        </p:txBody>
      </p:sp>
      <p:sp>
        <p:nvSpPr>
          <p:cNvPr id="8" name="Rectangle 2">
            <a:extLst>
              <a:ext uri="{FF2B5EF4-FFF2-40B4-BE49-F238E27FC236}">
                <a16:creationId xmlns:a16="http://schemas.microsoft.com/office/drawing/2014/main" id="{FFEAFCD5-4256-F255-2250-FB972677BC69}"/>
              </a:ext>
            </a:extLst>
          </p:cNvPr>
          <p:cNvSpPr>
            <a:spLocks noGrp="1" noChangeArrowheads="1"/>
          </p:cNvSpPr>
          <p:nvPr>
            <p:ph type="title"/>
          </p:nvPr>
        </p:nvSpPr>
        <p:spPr>
          <a:xfrm>
            <a:off x="457200" y="136525"/>
            <a:ext cx="8229600" cy="1143000"/>
          </a:xfrm>
        </p:spPr>
        <p:txBody>
          <a:bodyPr/>
          <a:lstStyle/>
          <a:p>
            <a:pPr eaLnBrk="1" hangingPunct="1"/>
            <a:r>
              <a:rPr lang="zh-CN" altLang="en-US" dirty="0"/>
              <a:t>逻辑函数的最小项，记为</a:t>
            </a:r>
            <a:r>
              <a:rPr lang="en" altLang="zh-CN" dirty="0"/>
              <a:t>m</a:t>
            </a:r>
            <a:endParaRPr lang="en-US" altLang="zh-CN" dirty="0"/>
          </a:p>
        </p:txBody>
      </p:sp>
    </p:spTree>
    <p:extLst>
      <p:ext uri="{BB962C8B-B14F-4D97-AF65-F5344CB8AC3E}">
        <p14:creationId xmlns:p14="http://schemas.microsoft.com/office/powerpoint/2010/main" val="24489910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8">
            <a:extLst>
              <a:ext uri="{FF2B5EF4-FFF2-40B4-BE49-F238E27FC236}">
                <a16:creationId xmlns:a16="http://schemas.microsoft.com/office/drawing/2014/main" id="{73E53FF0-0C66-3B41-AEDC-19931216FEA5}"/>
              </a:ext>
            </a:extLst>
          </p:cNvPr>
          <p:cNvSpPr txBox="1">
            <a:spLocks noChangeArrowheads="1"/>
          </p:cNvSpPr>
          <p:nvPr/>
        </p:nvSpPr>
        <p:spPr bwMode="auto">
          <a:xfrm>
            <a:off x="1151620" y="3893678"/>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3200" dirty="0">
                <a:solidFill>
                  <a:schemeClr val="tx1"/>
                </a:solidFill>
                <a:ea typeface="黑体" panose="02010609060101010101" pitchFamily="49" charset="-122"/>
              </a:rPr>
              <a:t>011</a:t>
            </a:r>
            <a:r>
              <a:rPr lang="en-US" altLang="zh-CN" sz="3200" baseline="-25000" dirty="0">
                <a:solidFill>
                  <a:schemeClr val="tx1"/>
                </a:solidFill>
                <a:ea typeface="黑体" panose="02010609060101010101" pitchFamily="49" charset="-122"/>
              </a:rPr>
              <a:t>2</a:t>
            </a:r>
            <a:r>
              <a:rPr lang="en-US" altLang="zh-CN" sz="3200" dirty="0">
                <a:solidFill>
                  <a:schemeClr val="tx1"/>
                </a:solidFill>
                <a:ea typeface="黑体" panose="02010609060101010101" pitchFamily="49" charset="-122"/>
              </a:rPr>
              <a:t>=3</a:t>
            </a:r>
            <a:r>
              <a:rPr lang="en-US" altLang="zh-CN" sz="3200" baseline="-25000" dirty="0">
                <a:solidFill>
                  <a:schemeClr val="tx1"/>
                </a:solidFill>
                <a:ea typeface="黑体" panose="02010609060101010101" pitchFamily="49" charset="-122"/>
              </a:rPr>
              <a:t>10</a:t>
            </a:r>
          </a:p>
        </p:txBody>
      </p:sp>
      <p:sp>
        <p:nvSpPr>
          <p:cNvPr id="23" name="Text Box 9">
            <a:extLst>
              <a:ext uri="{FF2B5EF4-FFF2-40B4-BE49-F238E27FC236}">
                <a16:creationId xmlns:a16="http://schemas.microsoft.com/office/drawing/2014/main" id="{935CB3D9-FAAF-D247-8ABB-5CD563E730B2}"/>
              </a:ext>
            </a:extLst>
          </p:cNvPr>
          <p:cNvSpPr txBox="1">
            <a:spLocks noChangeArrowheads="1"/>
          </p:cNvSpPr>
          <p:nvPr/>
        </p:nvSpPr>
        <p:spPr bwMode="auto">
          <a:xfrm>
            <a:off x="2743200" y="3893678"/>
            <a:ext cx="1600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3200" dirty="0">
                <a:solidFill>
                  <a:schemeClr val="tx1"/>
                </a:solidFill>
                <a:ea typeface="黑体" panose="02010609060101010101" pitchFamily="49" charset="-122"/>
              </a:rPr>
              <a:t>010</a:t>
            </a:r>
            <a:r>
              <a:rPr lang="en-US" altLang="zh-CN" sz="3200" baseline="-25000" dirty="0">
                <a:solidFill>
                  <a:schemeClr val="tx1"/>
                </a:solidFill>
                <a:ea typeface="黑体" panose="02010609060101010101" pitchFamily="49" charset="-122"/>
              </a:rPr>
              <a:t>2</a:t>
            </a:r>
            <a:r>
              <a:rPr lang="en-US" altLang="zh-CN" sz="3200" dirty="0">
                <a:solidFill>
                  <a:schemeClr val="tx1"/>
                </a:solidFill>
                <a:ea typeface="黑体" panose="02010609060101010101" pitchFamily="49" charset="-122"/>
              </a:rPr>
              <a:t>=2</a:t>
            </a:r>
            <a:r>
              <a:rPr lang="en-US" altLang="zh-CN" sz="3200" baseline="-25000" dirty="0">
                <a:solidFill>
                  <a:schemeClr val="tx1"/>
                </a:solidFill>
                <a:ea typeface="黑体" panose="02010609060101010101" pitchFamily="49" charset="-122"/>
              </a:rPr>
              <a:t>10</a:t>
            </a:r>
          </a:p>
        </p:txBody>
      </p:sp>
      <p:sp>
        <p:nvSpPr>
          <p:cNvPr id="24" name="Text Box 10">
            <a:extLst>
              <a:ext uri="{FF2B5EF4-FFF2-40B4-BE49-F238E27FC236}">
                <a16:creationId xmlns:a16="http://schemas.microsoft.com/office/drawing/2014/main" id="{367DA1AA-D38B-4841-9B74-96F76F1AE64A}"/>
              </a:ext>
            </a:extLst>
          </p:cNvPr>
          <p:cNvSpPr txBox="1">
            <a:spLocks noChangeArrowheads="1"/>
          </p:cNvSpPr>
          <p:nvPr/>
        </p:nvSpPr>
        <p:spPr bwMode="auto">
          <a:xfrm>
            <a:off x="4411960" y="3893678"/>
            <a:ext cx="1600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3200" dirty="0">
                <a:solidFill>
                  <a:schemeClr val="tx1"/>
                </a:solidFill>
                <a:ea typeface="黑体" panose="02010609060101010101" pitchFamily="49" charset="-122"/>
              </a:rPr>
              <a:t>111</a:t>
            </a:r>
            <a:r>
              <a:rPr lang="en-US" altLang="zh-CN" sz="3200" baseline="-25000" dirty="0">
                <a:solidFill>
                  <a:schemeClr val="tx1"/>
                </a:solidFill>
                <a:ea typeface="黑体" panose="02010609060101010101" pitchFamily="49" charset="-122"/>
              </a:rPr>
              <a:t>2</a:t>
            </a:r>
            <a:r>
              <a:rPr lang="en-US" altLang="zh-CN" sz="3200" dirty="0">
                <a:solidFill>
                  <a:schemeClr val="tx1"/>
                </a:solidFill>
                <a:ea typeface="黑体" panose="02010609060101010101" pitchFamily="49" charset="-122"/>
              </a:rPr>
              <a:t>=7</a:t>
            </a:r>
            <a:r>
              <a:rPr lang="en-US" altLang="zh-CN" sz="3200" baseline="-25000" dirty="0">
                <a:solidFill>
                  <a:schemeClr val="tx1"/>
                </a:solidFill>
                <a:ea typeface="黑体" panose="02010609060101010101" pitchFamily="49" charset="-122"/>
              </a:rPr>
              <a:t>10</a:t>
            </a:r>
          </a:p>
        </p:txBody>
      </p:sp>
      <p:sp>
        <p:nvSpPr>
          <p:cNvPr id="25" name="Text Box 11">
            <a:extLst>
              <a:ext uri="{FF2B5EF4-FFF2-40B4-BE49-F238E27FC236}">
                <a16:creationId xmlns:a16="http://schemas.microsoft.com/office/drawing/2014/main" id="{ADA8EE12-1752-E945-9ED4-6B8CAADC1506}"/>
              </a:ext>
            </a:extLst>
          </p:cNvPr>
          <p:cNvSpPr txBox="1">
            <a:spLocks noChangeArrowheads="1"/>
          </p:cNvSpPr>
          <p:nvPr/>
        </p:nvSpPr>
        <p:spPr bwMode="auto">
          <a:xfrm>
            <a:off x="6572200" y="3893678"/>
            <a:ext cx="1600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3200" dirty="0">
                <a:solidFill>
                  <a:schemeClr val="tx1"/>
                </a:solidFill>
                <a:ea typeface="黑体" panose="02010609060101010101" pitchFamily="49" charset="-122"/>
              </a:rPr>
              <a:t>100</a:t>
            </a:r>
            <a:r>
              <a:rPr lang="en-US" altLang="zh-CN" sz="3200" baseline="-25000" dirty="0">
                <a:solidFill>
                  <a:schemeClr val="tx1"/>
                </a:solidFill>
                <a:ea typeface="黑体" panose="02010609060101010101" pitchFamily="49" charset="-122"/>
              </a:rPr>
              <a:t>2</a:t>
            </a:r>
            <a:r>
              <a:rPr lang="en-US" altLang="zh-CN" sz="3200" dirty="0">
                <a:solidFill>
                  <a:schemeClr val="tx1"/>
                </a:solidFill>
                <a:ea typeface="黑体" panose="02010609060101010101" pitchFamily="49" charset="-122"/>
              </a:rPr>
              <a:t>=4</a:t>
            </a:r>
            <a:r>
              <a:rPr lang="en-US" altLang="zh-CN" sz="3200" baseline="-25000" dirty="0">
                <a:solidFill>
                  <a:schemeClr val="tx1"/>
                </a:solidFill>
                <a:ea typeface="黑体" panose="02010609060101010101" pitchFamily="49" charset="-122"/>
              </a:rPr>
              <a:t>10</a:t>
            </a:r>
          </a:p>
        </p:txBody>
      </p:sp>
      <p:sp>
        <p:nvSpPr>
          <p:cNvPr id="26" name="Line 12">
            <a:extLst>
              <a:ext uri="{FF2B5EF4-FFF2-40B4-BE49-F238E27FC236}">
                <a16:creationId xmlns:a16="http://schemas.microsoft.com/office/drawing/2014/main" id="{C238427A-EC3D-2241-8B7C-F510D33E24C0}"/>
              </a:ext>
            </a:extLst>
          </p:cNvPr>
          <p:cNvSpPr>
            <a:spLocks noChangeShapeType="1"/>
          </p:cNvSpPr>
          <p:nvPr/>
        </p:nvSpPr>
        <p:spPr bwMode="auto">
          <a:xfrm flipV="1">
            <a:off x="1126704" y="3428999"/>
            <a:ext cx="528972" cy="28971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27" name="Text Box 13">
            <a:extLst>
              <a:ext uri="{FF2B5EF4-FFF2-40B4-BE49-F238E27FC236}">
                <a16:creationId xmlns:a16="http://schemas.microsoft.com/office/drawing/2014/main" id="{2DD95F69-D264-F040-B6D8-4FF48A66AFEE}"/>
              </a:ext>
            </a:extLst>
          </p:cNvPr>
          <p:cNvSpPr txBox="1">
            <a:spLocks noChangeArrowheads="1"/>
          </p:cNvSpPr>
          <p:nvPr/>
        </p:nvSpPr>
        <p:spPr bwMode="auto">
          <a:xfrm>
            <a:off x="228600" y="3449947"/>
            <a:ext cx="114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ea typeface="黑体" panose="02010609060101010101" pitchFamily="49" charset="-122"/>
              </a:rPr>
              <a:t>MSB</a:t>
            </a:r>
          </a:p>
        </p:txBody>
      </p:sp>
      <p:sp>
        <p:nvSpPr>
          <p:cNvPr id="28" name="Line 14">
            <a:extLst>
              <a:ext uri="{FF2B5EF4-FFF2-40B4-BE49-F238E27FC236}">
                <a16:creationId xmlns:a16="http://schemas.microsoft.com/office/drawing/2014/main" id="{15D5AA7A-2873-DD4E-A6D1-1108212166E7}"/>
              </a:ext>
            </a:extLst>
          </p:cNvPr>
          <p:cNvSpPr>
            <a:spLocks noChangeShapeType="1"/>
          </p:cNvSpPr>
          <p:nvPr/>
        </p:nvSpPr>
        <p:spPr bwMode="auto">
          <a:xfrm flipH="1" flipV="1">
            <a:off x="7452320" y="3449946"/>
            <a:ext cx="320080" cy="192573"/>
          </a:xfrm>
          <a:prstGeom prst="line">
            <a:avLst/>
          </a:prstGeom>
          <a:noFill/>
          <a:ln w="28575">
            <a:solidFill>
              <a:srgbClr val="7030A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29" name="Text Box 15">
            <a:extLst>
              <a:ext uri="{FF2B5EF4-FFF2-40B4-BE49-F238E27FC236}">
                <a16:creationId xmlns:a16="http://schemas.microsoft.com/office/drawing/2014/main" id="{F3134ADF-7A7F-9A40-AB5C-0E5AE712970D}"/>
              </a:ext>
            </a:extLst>
          </p:cNvPr>
          <p:cNvSpPr txBox="1">
            <a:spLocks noChangeArrowheads="1"/>
          </p:cNvSpPr>
          <p:nvPr/>
        </p:nvSpPr>
        <p:spPr bwMode="auto">
          <a:xfrm>
            <a:off x="7772400" y="3373747"/>
            <a:ext cx="114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solidFill>
                  <a:srgbClr val="7030A0"/>
                </a:solidFill>
                <a:ea typeface="黑体" panose="02010609060101010101" pitchFamily="49" charset="-122"/>
              </a:rPr>
              <a:t>LSB</a:t>
            </a:r>
          </a:p>
        </p:txBody>
      </p:sp>
      <p:sp>
        <p:nvSpPr>
          <p:cNvPr id="30" name="下箭头 2">
            <a:extLst>
              <a:ext uri="{FF2B5EF4-FFF2-40B4-BE49-F238E27FC236}">
                <a16:creationId xmlns:a16="http://schemas.microsoft.com/office/drawing/2014/main" id="{204CA80E-8234-BF49-A4EA-88E2CE9FA03D}"/>
              </a:ext>
            </a:extLst>
          </p:cNvPr>
          <p:cNvSpPr/>
          <p:nvPr/>
        </p:nvSpPr>
        <p:spPr bwMode="auto">
          <a:xfrm>
            <a:off x="1907704" y="3608177"/>
            <a:ext cx="144016" cy="289719"/>
          </a:xfrm>
          <a:prstGeom prst="down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31" name="下箭头 18">
            <a:extLst>
              <a:ext uri="{FF2B5EF4-FFF2-40B4-BE49-F238E27FC236}">
                <a16:creationId xmlns:a16="http://schemas.microsoft.com/office/drawing/2014/main" id="{F5B1B021-171E-2042-9BEB-CDC12903595C}"/>
              </a:ext>
            </a:extLst>
          </p:cNvPr>
          <p:cNvSpPr/>
          <p:nvPr/>
        </p:nvSpPr>
        <p:spPr bwMode="auto">
          <a:xfrm>
            <a:off x="3095836" y="3608177"/>
            <a:ext cx="144016" cy="289719"/>
          </a:xfrm>
          <a:prstGeom prst="down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32" name="下箭头 19">
            <a:extLst>
              <a:ext uri="{FF2B5EF4-FFF2-40B4-BE49-F238E27FC236}">
                <a16:creationId xmlns:a16="http://schemas.microsoft.com/office/drawing/2014/main" id="{DF64E2E7-435B-DA4F-91D7-9B8E6625969D}"/>
              </a:ext>
            </a:extLst>
          </p:cNvPr>
          <p:cNvSpPr/>
          <p:nvPr/>
        </p:nvSpPr>
        <p:spPr bwMode="auto">
          <a:xfrm>
            <a:off x="4572000" y="3608177"/>
            <a:ext cx="144016" cy="289719"/>
          </a:xfrm>
          <a:prstGeom prst="down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33" name="下箭头 20">
            <a:extLst>
              <a:ext uri="{FF2B5EF4-FFF2-40B4-BE49-F238E27FC236}">
                <a16:creationId xmlns:a16="http://schemas.microsoft.com/office/drawing/2014/main" id="{322C77EF-2CBF-0645-8016-BAC64451CB71}"/>
              </a:ext>
            </a:extLst>
          </p:cNvPr>
          <p:cNvSpPr/>
          <p:nvPr/>
        </p:nvSpPr>
        <p:spPr bwMode="auto">
          <a:xfrm>
            <a:off x="6984032" y="3608177"/>
            <a:ext cx="144016" cy="289719"/>
          </a:xfrm>
          <a:prstGeom prst="down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34" name="文本框 1">
                <a:extLst>
                  <a:ext uri="{FF2B5EF4-FFF2-40B4-BE49-F238E27FC236}">
                    <a16:creationId xmlns:a16="http://schemas.microsoft.com/office/drawing/2014/main" id="{22F10152-7430-E84C-BFEE-8415F0B9D24E}"/>
                  </a:ext>
                </a:extLst>
              </p:cNvPr>
              <p:cNvSpPr txBox="1"/>
              <p:nvPr/>
            </p:nvSpPr>
            <p:spPr>
              <a:xfrm>
                <a:off x="1144667" y="1421334"/>
                <a:ext cx="6487673" cy="2221185"/>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kumimoji="1" lang="en-US" altLang="zh-CN" sz="3200" i="1" smtClean="0">
                          <a:latin typeface="Cambria Math" panose="02040503050406030204" pitchFamily="18" charset="0"/>
                        </a:rPr>
                        <m:t>Y</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𝑓</m:t>
                      </m:r>
                      <m:d>
                        <m:dPr>
                          <m:ctrlPr>
                            <a:rPr kumimoji="1" lang="en-US" altLang="zh-CN" sz="3200" b="0" i="1" smtClean="0">
                              <a:latin typeface="Cambria Math" panose="02040503050406030204" pitchFamily="18" charset="0"/>
                            </a:rPr>
                          </m:ctrlPr>
                        </m:dPr>
                        <m:e>
                          <m:r>
                            <a:rPr kumimoji="1" lang="en-US" altLang="zh-CN" sz="3200" b="0" i="1" smtClean="0">
                              <a:latin typeface="Cambria Math" panose="02040503050406030204" pitchFamily="18" charset="0"/>
                            </a:rPr>
                            <m:t>𝐴</m:t>
                          </m:r>
                          <m:r>
                            <a:rPr kumimoji="1" lang="en-US" altLang="zh-CN" sz="3200" b="0" i="1" smtClean="0">
                              <a:latin typeface="Cambria Math" panose="02040503050406030204" pitchFamily="18" charset="0"/>
                            </a:rPr>
                            <m:t>, </m:t>
                          </m:r>
                          <m:r>
                            <a:rPr kumimoji="1" lang="en-US" altLang="zh-CN" sz="3200" b="0" i="1" smtClean="0">
                              <a:latin typeface="Cambria Math" panose="02040503050406030204" pitchFamily="18" charset="0"/>
                            </a:rPr>
                            <m:t>𝐵</m:t>
                          </m:r>
                          <m:r>
                            <a:rPr kumimoji="1" lang="en-US" altLang="zh-CN" sz="3200" b="0" i="1" smtClean="0">
                              <a:latin typeface="Cambria Math" panose="02040503050406030204" pitchFamily="18" charset="0"/>
                            </a:rPr>
                            <m:t>, </m:t>
                          </m:r>
                          <m:r>
                            <a:rPr kumimoji="1" lang="en-US" altLang="zh-CN" sz="3200" b="0" i="1" smtClean="0">
                              <a:latin typeface="Cambria Math" panose="02040503050406030204" pitchFamily="18" charset="0"/>
                            </a:rPr>
                            <m:t>𝐶</m:t>
                          </m:r>
                        </m:e>
                      </m:d>
                      <m:r>
                        <a:rPr kumimoji="1" lang="en-US" altLang="zh-CN" sz="3200" b="0" i="1" smtClean="0">
                          <a:latin typeface="Cambria Math" panose="02040503050406030204" pitchFamily="18" charset="0"/>
                        </a:rPr>
                        <m:t>=</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𝐴</m:t>
                          </m:r>
                        </m:e>
                      </m:acc>
                      <m:r>
                        <a:rPr kumimoji="1" lang="en-US" altLang="zh-CN" sz="3200" b="0" i="1" smtClean="0">
                          <a:latin typeface="Cambria Math" panose="02040503050406030204" pitchFamily="18" charset="0"/>
                        </a:rPr>
                        <m:t>𝐵</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𝐵𝐶</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𝐴</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𝐵</m:t>
                          </m:r>
                        </m:e>
                      </m:acc>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𝐶</m:t>
                          </m:r>
                        </m:e>
                      </m:acc>
                    </m:oMath>
                    <m:oMath xmlns:m="http://schemas.openxmlformats.org/officeDocument/2006/math">
                      <m:r>
                        <a:rPr kumimoji="1" lang="en-US" altLang="zh-CN" sz="3200" b="0" i="1" smtClean="0">
                          <a:latin typeface="Cambria Math" panose="02040503050406030204" pitchFamily="18" charset="0"/>
                        </a:rPr>
                        <m:t>=</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𝐴</m:t>
                          </m:r>
                        </m:e>
                      </m:acc>
                      <m:r>
                        <a:rPr kumimoji="1" lang="en-US" altLang="zh-CN" sz="3200" b="0" i="1" smtClean="0">
                          <a:latin typeface="Cambria Math" panose="02040503050406030204" pitchFamily="18" charset="0"/>
                        </a:rPr>
                        <m:t>𝐵</m:t>
                      </m:r>
                      <m:d>
                        <m:dPr>
                          <m:ctrlPr>
                            <a:rPr kumimoji="1" lang="en-US" altLang="zh-CN" sz="3200" b="0" i="1" smtClean="0">
                              <a:latin typeface="Cambria Math" panose="02040503050406030204" pitchFamily="18" charset="0"/>
                            </a:rPr>
                          </m:ctrlPr>
                        </m:dPr>
                        <m:e>
                          <m:r>
                            <a:rPr kumimoji="1" lang="en-US" altLang="zh-CN" sz="3200" b="0" i="1" smtClean="0">
                              <a:latin typeface="Cambria Math" panose="02040503050406030204" pitchFamily="18" charset="0"/>
                            </a:rPr>
                            <m:t>𝐶</m:t>
                          </m:r>
                          <m:r>
                            <a:rPr kumimoji="1" lang="en-US" altLang="zh-CN" sz="3200" b="0" i="1" smtClean="0">
                              <a:latin typeface="Cambria Math" panose="02040503050406030204" pitchFamily="18" charset="0"/>
                            </a:rPr>
                            <m:t>+</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𝐶</m:t>
                              </m:r>
                            </m:e>
                          </m:acc>
                        </m:e>
                      </m:d>
                      <m:r>
                        <a:rPr kumimoji="1" lang="en-US" altLang="zh-CN" sz="3200" b="0" i="1" smtClean="0">
                          <a:latin typeface="Cambria Math" panose="02040503050406030204" pitchFamily="18" charset="0"/>
                        </a:rPr>
                        <m:t>+</m:t>
                      </m:r>
                      <m:d>
                        <m:dPr>
                          <m:ctrlPr>
                            <a:rPr kumimoji="1" lang="en-US" altLang="zh-CN" sz="3200" b="0" i="1" smtClean="0">
                              <a:latin typeface="Cambria Math" panose="02040503050406030204" pitchFamily="18" charset="0"/>
                            </a:rPr>
                          </m:ctrlPr>
                        </m:dPr>
                        <m:e>
                          <m:r>
                            <a:rPr kumimoji="1" lang="en-US" altLang="zh-CN" sz="3200" b="0" i="1" smtClean="0">
                              <a:latin typeface="Cambria Math" panose="02040503050406030204" pitchFamily="18" charset="0"/>
                            </a:rPr>
                            <m:t>𝐴</m:t>
                          </m:r>
                          <m:r>
                            <a:rPr kumimoji="1" lang="en-US" altLang="zh-CN" sz="3200" b="0" i="1" smtClean="0">
                              <a:latin typeface="Cambria Math" panose="02040503050406030204" pitchFamily="18" charset="0"/>
                            </a:rPr>
                            <m:t>+</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𝐴</m:t>
                              </m:r>
                            </m:e>
                          </m:acc>
                        </m:e>
                      </m:d>
                      <m:r>
                        <a:rPr kumimoji="1" lang="en-US" altLang="zh-CN" sz="3200" b="0" i="1" smtClean="0">
                          <a:latin typeface="Cambria Math" panose="02040503050406030204" pitchFamily="18" charset="0"/>
                        </a:rPr>
                        <m:t>𝐵𝐶</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𝐴</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𝐵</m:t>
                          </m:r>
                        </m:e>
                      </m:acc>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𝐶</m:t>
                          </m:r>
                        </m:e>
                      </m:acc>
                    </m:oMath>
                    <m:oMath xmlns:m="http://schemas.openxmlformats.org/officeDocument/2006/math">
                      <m:r>
                        <a:rPr kumimoji="1" lang="en-US" altLang="zh-CN" sz="3200" b="0" i="1" smtClean="0">
                          <a:latin typeface="Cambria Math" panose="02040503050406030204" pitchFamily="18" charset="0"/>
                        </a:rPr>
                        <m:t>=</m:t>
                      </m:r>
                      <m:acc>
                        <m:accPr>
                          <m:chr m:val="̅"/>
                          <m:ctrlPr>
                            <a:rPr kumimoji="1" lang="en-US" altLang="zh-CN" sz="3200" b="0" i="1" smtClean="0">
                              <a:solidFill>
                                <a:srgbClr val="FF0000"/>
                              </a:solidFill>
                              <a:latin typeface="Cambria Math" panose="02040503050406030204" pitchFamily="18" charset="0"/>
                            </a:rPr>
                          </m:ctrlPr>
                        </m:accPr>
                        <m:e>
                          <m:r>
                            <a:rPr kumimoji="1" lang="en-US" altLang="zh-CN" sz="3200" b="0" i="1" smtClean="0">
                              <a:solidFill>
                                <a:srgbClr val="FF0000"/>
                              </a:solidFill>
                              <a:latin typeface="Cambria Math" panose="02040503050406030204" pitchFamily="18" charset="0"/>
                            </a:rPr>
                            <m:t>𝐴</m:t>
                          </m:r>
                        </m:e>
                      </m:acc>
                      <m:r>
                        <a:rPr kumimoji="1" lang="en-US" altLang="zh-CN" sz="3200" b="0" i="1" smtClean="0">
                          <a:latin typeface="Cambria Math" panose="02040503050406030204" pitchFamily="18" charset="0"/>
                        </a:rPr>
                        <m:t>𝐵</m:t>
                      </m:r>
                      <m:r>
                        <a:rPr kumimoji="1" lang="en-US" altLang="zh-CN" sz="3200" b="0" i="1" smtClean="0">
                          <a:solidFill>
                            <a:srgbClr val="7030A0"/>
                          </a:solidFill>
                          <a:latin typeface="Cambria Math" panose="02040503050406030204" pitchFamily="18" charset="0"/>
                        </a:rPr>
                        <m:t>𝐶</m:t>
                      </m:r>
                      <m:r>
                        <a:rPr kumimoji="1" lang="en-US" altLang="zh-CN" sz="3200" b="0" i="1" smtClean="0">
                          <a:latin typeface="Cambria Math" panose="02040503050406030204" pitchFamily="18" charset="0"/>
                        </a:rPr>
                        <m:t>+</m:t>
                      </m:r>
                      <m:acc>
                        <m:accPr>
                          <m:chr m:val="̅"/>
                          <m:ctrlPr>
                            <a:rPr kumimoji="1" lang="en-US" altLang="zh-CN" sz="3200" b="0" i="1" smtClean="0">
                              <a:solidFill>
                                <a:srgbClr val="FF0000"/>
                              </a:solidFill>
                              <a:latin typeface="Cambria Math" panose="02040503050406030204" pitchFamily="18" charset="0"/>
                            </a:rPr>
                          </m:ctrlPr>
                        </m:accPr>
                        <m:e>
                          <m:r>
                            <a:rPr kumimoji="1" lang="en-US" altLang="zh-CN" sz="3200" b="0" i="1" smtClean="0">
                              <a:solidFill>
                                <a:srgbClr val="FF0000"/>
                              </a:solidFill>
                              <a:latin typeface="Cambria Math" panose="02040503050406030204" pitchFamily="18" charset="0"/>
                            </a:rPr>
                            <m:t>𝐴</m:t>
                          </m:r>
                        </m:e>
                      </m:acc>
                      <m:r>
                        <a:rPr kumimoji="1" lang="en-US" altLang="zh-CN" sz="3200" b="0" i="1" smtClean="0">
                          <a:latin typeface="Cambria Math" panose="02040503050406030204" pitchFamily="18" charset="0"/>
                        </a:rPr>
                        <m:t>𝐵</m:t>
                      </m:r>
                      <m:acc>
                        <m:accPr>
                          <m:chr m:val="̅"/>
                          <m:ctrlPr>
                            <a:rPr kumimoji="1" lang="en-US" altLang="zh-CN" sz="3200" b="0" i="1" smtClean="0">
                              <a:solidFill>
                                <a:srgbClr val="7030A0"/>
                              </a:solidFill>
                              <a:latin typeface="Cambria Math" panose="02040503050406030204" pitchFamily="18" charset="0"/>
                            </a:rPr>
                          </m:ctrlPr>
                        </m:accPr>
                        <m:e>
                          <m:r>
                            <a:rPr kumimoji="1" lang="en-US" altLang="zh-CN" sz="3200" b="0" i="1" smtClean="0">
                              <a:solidFill>
                                <a:srgbClr val="7030A0"/>
                              </a:solidFill>
                              <a:latin typeface="Cambria Math" panose="02040503050406030204" pitchFamily="18" charset="0"/>
                            </a:rPr>
                            <m:t>𝐶</m:t>
                          </m:r>
                        </m:e>
                      </m:acc>
                      <m:r>
                        <a:rPr kumimoji="1" lang="en-US" altLang="zh-CN" sz="3200" b="0" i="1" smtClean="0">
                          <a:latin typeface="Cambria Math" panose="02040503050406030204" pitchFamily="18" charset="0"/>
                        </a:rPr>
                        <m:t>+</m:t>
                      </m:r>
                      <m:r>
                        <a:rPr kumimoji="1" lang="en-US" altLang="zh-CN" sz="3200" b="0" i="1" smtClean="0">
                          <a:solidFill>
                            <a:srgbClr val="FF0000"/>
                          </a:solidFill>
                          <a:latin typeface="Cambria Math" panose="02040503050406030204" pitchFamily="18" charset="0"/>
                        </a:rPr>
                        <m:t>𝐴</m:t>
                      </m:r>
                      <m:r>
                        <a:rPr kumimoji="1" lang="en-US" altLang="zh-CN" sz="3200" b="0" i="1" smtClean="0">
                          <a:latin typeface="Cambria Math" panose="02040503050406030204" pitchFamily="18" charset="0"/>
                        </a:rPr>
                        <m:t>𝐵</m:t>
                      </m:r>
                      <m:r>
                        <a:rPr kumimoji="1" lang="en-US" altLang="zh-CN" sz="3200" b="0" i="1" smtClean="0">
                          <a:solidFill>
                            <a:srgbClr val="7030A0"/>
                          </a:solidFill>
                          <a:latin typeface="Cambria Math" panose="02040503050406030204" pitchFamily="18" charset="0"/>
                        </a:rPr>
                        <m:t>𝐶</m:t>
                      </m:r>
                      <m:r>
                        <a:rPr kumimoji="1" lang="en-US" altLang="zh-CN" sz="3200" b="0" i="1" smtClean="0">
                          <a:latin typeface="Cambria Math" panose="02040503050406030204" pitchFamily="18" charset="0"/>
                        </a:rPr>
                        <m:t>+</m:t>
                      </m:r>
                      <m:acc>
                        <m:accPr>
                          <m:chr m:val="̅"/>
                          <m:ctrlPr>
                            <a:rPr kumimoji="1" lang="en-US" altLang="zh-CN" sz="3200" b="0" i="1" smtClean="0">
                              <a:solidFill>
                                <a:srgbClr val="FF0000"/>
                              </a:solidFill>
                              <a:latin typeface="Cambria Math" panose="02040503050406030204" pitchFamily="18" charset="0"/>
                            </a:rPr>
                          </m:ctrlPr>
                        </m:accPr>
                        <m:e>
                          <m:r>
                            <a:rPr kumimoji="1" lang="en-US" altLang="zh-CN" sz="3200" b="0" i="1" smtClean="0">
                              <a:solidFill>
                                <a:srgbClr val="FF0000"/>
                              </a:solidFill>
                              <a:latin typeface="Cambria Math" panose="02040503050406030204" pitchFamily="18" charset="0"/>
                            </a:rPr>
                            <m:t>𝐴</m:t>
                          </m:r>
                        </m:e>
                      </m:acc>
                      <m:r>
                        <a:rPr kumimoji="1" lang="en-US" altLang="zh-CN" sz="3200" b="0" i="1" smtClean="0">
                          <a:latin typeface="Cambria Math" panose="02040503050406030204" pitchFamily="18" charset="0"/>
                        </a:rPr>
                        <m:t>𝐵</m:t>
                      </m:r>
                      <m:r>
                        <a:rPr kumimoji="1" lang="en-US" altLang="zh-CN" sz="3200" b="0" i="1" smtClean="0">
                          <a:solidFill>
                            <a:srgbClr val="7030A0"/>
                          </a:solidFill>
                          <a:latin typeface="Cambria Math" panose="02040503050406030204" pitchFamily="18" charset="0"/>
                        </a:rPr>
                        <m:t>𝐶</m:t>
                      </m:r>
                      <m:r>
                        <a:rPr kumimoji="1" lang="en-US" altLang="zh-CN" sz="3200" b="0" i="1" smtClean="0">
                          <a:latin typeface="Cambria Math" panose="02040503050406030204" pitchFamily="18" charset="0"/>
                        </a:rPr>
                        <m:t>+</m:t>
                      </m:r>
                      <m:r>
                        <a:rPr kumimoji="1" lang="en-US" altLang="zh-CN" sz="3200" b="0" i="1" smtClean="0">
                          <a:solidFill>
                            <a:srgbClr val="FF0000"/>
                          </a:solidFill>
                          <a:latin typeface="Cambria Math" panose="02040503050406030204" pitchFamily="18" charset="0"/>
                        </a:rPr>
                        <m:t>𝐴</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𝐵</m:t>
                          </m:r>
                        </m:e>
                      </m:acc>
                      <m:acc>
                        <m:accPr>
                          <m:chr m:val="̅"/>
                          <m:ctrlPr>
                            <a:rPr kumimoji="1" lang="en-US" altLang="zh-CN" sz="3200" b="0" i="1" smtClean="0">
                              <a:solidFill>
                                <a:srgbClr val="7030A0"/>
                              </a:solidFill>
                              <a:latin typeface="Cambria Math" panose="02040503050406030204" pitchFamily="18" charset="0"/>
                            </a:rPr>
                          </m:ctrlPr>
                        </m:accPr>
                        <m:e>
                          <m:r>
                            <a:rPr kumimoji="1" lang="en-US" altLang="zh-CN" sz="3200" b="0" i="1" smtClean="0">
                              <a:solidFill>
                                <a:srgbClr val="7030A0"/>
                              </a:solidFill>
                              <a:latin typeface="Cambria Math" panose="02040503050406030204" pitchFamily="18" charset="0"/>
                            </a:rPr>
                            <m:t>𝐶</m:t>
                          </m:r>
                        </m:e>
                      </m:acc>
                    </m:oMath>
                  </m:oMathPara>
                </a14:m>
                <a:endParaRPr kumimoji="1" lang="zh-CN" altLang="en-US" sz="3200" dirty="0">
                  <a:ea typeface="黑体" panose="02010609060101010101" pitchFamily="49" charset="-122"/>
                </a:endParaRPr>
              </a:p>
            </p:txBody>
          </p:sp>
        </mc:Choice>
        <mc:Fallback xmlns="">
          <p:sp>
            <p:nvSpPr>
              <p:cNvPr id="34" name="文本框 1">
                <a:extLst>
                  <a:ext uri="{FF2B5EF4-FFF2-40B4-BE49-F238E27FC236}">
                    <a16:creationId xmlns:a16="http://schemas.microsoft.com/office/drawing/2014/main" id="{22F10152-7430-E84C-BFEE-8415F0B9D24E}"/>
                  </a:ext>
                </a:extLst>
              </p:cNvPr>
              <p:cNvSpPr txBox="1">
                <a:spLocks noRot="1" noChangeAspect="1" noMove="1" noResize="1" noEditPoints="1" noAdjustHandles="1" noChangeArrowheads="1" noChangeShapeType="1" noTextEdit="1"/>
              </p:cNvSpPr>
              <p:nvPr/>
            </p:nvSpPr>
            <p:spPr>
              <a:xfrm>
                <a:off x="1144667" y="1421334"/>
                <a:ext cx="6487673" cy="222118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23">
                <a:extLst>
                  <a:ext uri="{FF2B5EF4-FFF2-40B4-BE49-F238E27FC236}">
                    <a16:creationId xmlns:a16="http://schemas.microsoft.com/office/drawing/2014/main" id="{582B25E0-7C53-A44F-98A5-F4CC2B60991C}"/>
                  </a:ext>
                </a:extLst>
              </p:cNvPr>
              <p:cNvSpPr txBox="1"/>
              <p:nvPr/>
            </p:nvSpPr>
            <p:spPr>
              <a:xfrm>
                <a:off x="1233133" y="4398070"/>
                <a:ext cx="5175071" cy="1386085"/>
              </a:xfrm>
              <a:prstGeom prst="rect">
                <a:avLst/>
              </a:prstGeom>
              <a:noFill/>
            </p:spPr>
            <p:txBody>
              <a:bodyPr wrap="none" lIns="0" tIns="0" rIns="0" bIns="0" rtlCol="0">
                <a:spAutoFit/>
              </a:bodyPr>
              <a:lstStyle/>
              <a:p>
                <a:pPr>
                  <a:lnSpc>
                    <a:spcPct val="150000"/>
                  </a:lnSpc>
                </a:pPr>
                <a14:m>
                  <m:oMath xmlns:m="http://schemas.openxmlformats.org/officeDocument/2006/math">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𝑚</m:t>
                        </m:r>
                      </m:e>
                      <m:sub>
                        <m:r>
                          <a:rPr kumimoji="1" lang="en-US" altLang="zh-CN" sz="3200" b="0" i="1" smtClean="0">
                            <a:latin typeface="Cambria Math" panose="02040503050406030204" pitchFamily="18" charset="0"/>
                          </a:rPr>
                          <m:t>3</m:t>
                        </m:r>
                      </m:sub>
                    </m:sSub>
                    <m:r>
                      <a:rPr kumimoji="1" lang="en-US" altLang="zh-CN" sz="3200" b="0" i="1" smtClean="0">
                        <a:latin typeface="Cambria Math" panose="02040503050406030204" pitchFamily="18" charset="0"/>
                      </a:rPr>
                      <m:t>+</m:t>
                    </m:r>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𝑚</m:t>
                        </m:r>
                      </m:e>
                      <m:sub>
                        <m:r>
                          <a:rPr kumimoji="1" lang="en-US" altLang="zh-CN" sz="3200" b="0" i="1" smtClean="0">
                            <a:latin typeface="Cambria Math" panose="02040503050406030204" pitchFamily="18" charset="0"/>
                          </a:rPr>
                          <m:t>2</m:t>
                        </m:r>
                      </m:sub>
                    </m:sSub>
                    <m:r>
                      <a:rPr kumimoji="1" lang="en-US" altLang="zh-CN" sz="3200" b="0" i="1" smtClean="0">
                        <a:latin typeface="Cambria Math" panose="02040503050406030204" pitchFamily="18" charset="0"/>
                      </a:rPr>
                      <m:t>+</m:t>
                    </m:r>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𝑚</m:t>
                        </m:r>
                      </m:e>
                      <m:sub>
                        <m:r>
                          <a:rPr kumimoji="1" lang="en-US" altLang="zh-CN" sz="3200" b="0" i="1" smtClean="0">
                            <a:latin typeface="Cambria Math" panose="02040503050406030204" pitchFamily="18" charset="0"/>
                          </a:rPr>
                          <m:t>7</m:t>
                        </m:r>
                      </m:sub>
                    </m:sSub>
                    <m:r>
                      <a:rPr kumimoji="1" lang="en-US" altLang="zh-CN" sz="3200" b="0" i="1" smtClean="0">
                        <a:latin typeface="Cambria Math" panose="02040503050406030204" pitchFamily="18" charset="0"/>
                      </a:rPr>
                      <m:t>+</m:t>
                    </m:r>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𝑚</m:t>
                        </m:r>
                      </m:e>
                      <m:sub>
                        <m:r>
                          <a:rPr kumimoji="1" lang="en-US" altLang="zh-CN" sz="3200" b="0" i="1" smtClean="0">
                            <a:latin typeface="Cambria Math" panose="02040503050406030204" pitchFamily="18" charset="0"/>
                          </a:rPr>
                          <m:t>3</m:t>
                        </m:r>
                      </m:sub>
                    </m:sSub>
                    <m:r>
                      <a:rPr kumimoji="1" lang="en-US" altLang="zh-CN" sz="3200" b="0" i="1" smtClean="0">
                        <a:latin typeface="Cambria Math" panose="02040503050406030204" pitchFamily="18" charset="0"/>
                      </a:rPr>
                      <m:t>+</m:t>
                    </m:r>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𝑚</m:t>
                        </m:r>
                      </m:e>
                      <m:sub>
                        <m:r>
                          <a:rPr kumimoji="1" lang="en-US" altLang="zh-CN" sz="3200" b="0" i="1" smtClean="0">
                            <a:latin typeface="Cambria Math" panose="02040503050406030204" pitchFamily="18" charset="0"/>
                          </a:rPr>
                          <m:t>4</m:t>
                        </m:r>
                      </m:sub>
                    </m:sSub>
                  </m:oMath>
                </a14:m>
                <a:r>
                  <a:rPr kumimoji="1" lang="en-US" altLang="zh-CN" sz="3200" b="0" dirty="0">
                    <a:ea typeface="黑体" panose="02010609060101010101" pitchFamily="49" charset="-122"/>
                  </a:rPr>
                  <a:t> </a:t>
                </a:r>
                <a:br>
                  <a:rPr kumimoji="1" lang="en-US" altLang="zh-CN" sz="3200" b="0" dirty="0">
                    <a:ea typeface="黑体" panose="02010609060101010101" pitchFamily="49" charset="-122"/>
                  </a:rPr>
                </a:br>
                <a14:m>
                  <m:oMath xmlns:m="http://schemas.openxmlformats.org/officeDocument/2006/math">
                    <m:r>
                      <a:rPr kumimoji="1" lang="en-US" altLang="zh-CN" sz="3200" b="0" i="1" smtClean="0">
                        <a:latin typeface="Cambria Math" panose="02040503050406030204" pitchFamily="18" charset="0"/>
                      </a:rPr>
                      <m:t>=</m:t>
                    </m:r>
                    <m:nary>
                      <m:naryPr>
                        <m:chr m:val="∑"/>
                        <m:subHide m:val="on"/>
                        <m:supHide m:val="on"/>
                        <m:ctrlPr>
                          <a:rPr kumimoji="1" lang="en-US" altLang="zh-CN" sz="3200" b="0" i="1" smtClean="0">
                            <a:latin typeface="Cambria Math" panose="02040503050406030204" pitchFamily="18" charset="0"/>
                          </a:rPr>
                        </m:ctrlPr>
                      </m:naryPr>
                      <m:sub/>
                      <m:sup/>
                      <m:e>
                        <m:r>
                          <a:rPr kumimoji="1" lang="en-US" altLang="zh-CN" sz="3200" b="0" i="1" smtClean="0">
                            <a:latin typeface="Cambria Math" panose="02040503050406030204" pitchFamily="18" charset="0"/>
                          </a:rPr>
                          <m:t>𝑚</m:t>
                        </m:r>
                        <m:r>
                          <a:rPr kumimoji="1" lang="en-US" altLang="zh-CN" sz="3200" b="0" i="1" smtClean="0">
                            <a:latin typeface="Cambria Math" panose="02040503050406030204" pitchFamily="18" charset="0"/>
                          </a:rPr>
                          <m:t>(2, 3, 4, 7)</m:t>
                        </m:r>
                      </m:e>
                    </m:nary>
                  </m:oMath>
                </a14:m>
                <a:r>
                  <a:rPr kumimoji="1" lang="en-US" altLang="zh-CN" sz="3200" dirty="0">
                    <a:ea typeface="黑体" panose="02010609060101010101" pitchFamily="49" charset="-122"/>
                  </a:rPr>
                  <a:t> </a:t>
                </a:r>
                <a:endParaRPr kumimoji="1" lang="zh-CN" altLang="en-US" sz="3200" dirty="0">
                  <a:ea typeface="黑体" panose="02010609060101010101" pitchFamily="49" charset="-122"/>
                </a:endParaRPr>
              </a:p>
            </p:txBody>
          </p:sp>
        </mc:Choice>
        <mc:Fallback xmlns="">
          <p:sp>
            <p:nvSpPr>
              <p:cNvPr id="35" name="文本框 23">
                <a:extLst>
                  <a:ext uri="{FF2B5EF4-FFF2-40B4-BE49-F238E27FC236}">
                    <a16:creationId xmlns:a16="http://schemas.microsoft.com/office/drawing/2014/main" id="{582B25E0-7C53-A44F-98A5-F4CC2B60991C}"/>
                  </a:ext>
                </a:extLst>
              </p:cNvPr>
              <p:cNvSpPr txBox="1">
                <a:spLocks noRot="1" noChangeAspect="1" noMove="1" noResize="1" noEditPoints="1" noAdjustHandles="1" noChangeArrowheads="1" noChangeShapeType="1" noTextEdit="1"/>
              </p:cNvSpPr>
              <p:nvPr/>
            </p:nvSpPr>
            <p:spPr>
              <a:xfrm>
                <a:off x="1233133" y="4398070"/>
                <a:ext cx="5175071" cy="1386085"/>
              </a:xfrm>
              <a:prstGeom prst="rect">
                <a:avLst/>
              </a:prstGeom>
              <a:blipFill>
                <a:blip r:embed="rId4"/>
                <a:stretch>
                  <a:fillRect/>
                </a:stretch>
              </a:blipFill>
            </p:spPr>
            <p:txBody>
              <a:bodyPr/>
              <a:lstStyle/>
              <a:p>
                <a:r>
                  <a:rPr lang="zh-CN" altLang="en-US">
                    <a:noFill/>
                  </a:rPr>
                  <a:t> </a:t>
                </a:r>
              </a:p>
            </p:txBody>
          </p:sp>
        </mc:Fallback>
      </mc:AlternateContent>
      <p:sp>
        <p:nvSpPr>
          <p:cNvPr id="7" name="Rectangle 2"/>
          <p:cNvSpPr>
            <a:spLocks noGrp="1" noChangeArrowheads="1"/>
          </p:cNvSpPr>
          <p:nvPr>
            <p:ph type="title"/>
          </p:nvPr>
        </p:nvSpPr>
        <p:spPr/>
        <p:txBody>
          <a:bodyPr/>
          <a:lstStyle/>
          <a:p>
            <a:pPr eaLnBrk="1" hangingPunct="1"/>
            <a:r>
              <a:rPr lang="zh-CN" altLang="en-US" dirty="0"/>
              <a:t>用最小项表示逻辑函数</a:t>
            </a:r>
            <a:r>
              <a:rPr lang="en-US" altLang="zh-CN" dirty="0"/>
              <a:t>(SOP)</a:t>
            </a:r>
            <a:endParaRPr lang="en-US" altLang="zh-CN" b="1" dirty="0"/>
          </a:p>
        </p:txBody>
      </p:sp>
      <p:sp>
        <p:nvSpPr>
          <p:cNvPr id="2" name="灯片编号占位符 1">
            <a:extLst>
              <a:ext uri="{FF2B5EF4-FFF2-40B4-BE49-F238E27FC236}">
                <a16:creationId xmlns:a16="http://schemas.microsoft.com/office/drawing/2014/main" id="{F368F649-0C11-2517-CB2E-429814B2D033}"/>
              </a:ext>
            </a:extLst>
          </p:cNvPr>
          <p:cNvSpPr>
            <a:spLocks noGrp="1"/>
          </p:cNvSpPr>
          <p:nvPr>
            <p:ph type="sldNum" sz="quarter" idx="12"/>
          </p:nvPr>
        </p:nvSpPr>
        <p:spPr/>
        <p:txBody>
          <a:bodyPr/>
          <a:lstStyle/>
          <a:p>
            <a:fld id="{6C23D995-88A0-46FA-B356-FA459EF841CD}" type="slidenum">
              <a:rPr lang="en-US" altLang="zh-CN" smtClean="0"/>
              <a:pPr/>
              <a:t>64</a:t>
            </a:fld>
            <a:endParaRPr lang="en-US" altLang="zh-CN" dirty="0"/>
          </a:p>
        </p:txBody>
      </p:sp>
    </p:spTree>
    <p:extLst>
      <p:ext uri="{BB962C8B-B14F-4D97-AF65-F5344CB8AC3E}">
        <p14:creationId xmlns:p14="http://schemas.microsoft.com/office/powerpoint/2010/main" val="41410061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85">
            <a:extLst>
              <a:ext uri="{FF2B5EF4-FFF2-40B4-BE49-F238E27FC236}">
                <a16:creationId xmlns:a16="http://schemas.microsoft.com/office/drawing/2014/main" id="{E161275A-C99B-3E42-ADE9-C7FC33CFA43E}"/>
              </a:ext>
            </a:extLst>
          </p:cNvPr>
          <p:cNvGraphicFramePr>
            <a:graphicFrameLocks/>
          </p:cNvGraphicFramePr>
          <p:nvPr>
            <p:extLst>
              <p:ext uri="{D42A27DB-BD31-4B8C-83A1-F6EECF244321}">
                <p14:modId xmlns:p14="http://schemas.microsoft.com/office/powerpoint/2010/main" val="3389818167"/>
              </p:ext>
            </p:extLst>
          </p:nvPr>
        </p:nvGraphicFramePr>
        <p:xfrm>
          <a:off x="1619672" y="1524220"/>
          <a:ext cx="1570504" cy="4965120"/>
        </p:xfrm>
        <a:graphic>
          <a:graphicData uri="http://schemas.openxmlformats.org/drawingml/2006/table">
            <a:tbl>
              <a:tblPr/>
              <a:tblGrid>
                <a:gridCol w="959412">
                  <a:extLst>
                    <a:ext uri="{9D8B030D-6E8A-4147-A177-3AD203B41FA5}">
                      <a16:colId xmlns:a16="http://schemas.microsoft.com/office/drawing/2014/main" val="20000"/>
                    </a:ext>
                  </a:extLst>
                </a:gridCol>
                <a:gridCol w="611092">
                  <a:extLst>
                    <a:ext uri="{9D8B030D-6E8A-4147-A177-3AD203B41FA5}">
                      <a16:colId xmlns:a16="http://schemas.microsoft.com/office/drawing/2014/main" val="20004"/>
                    </a:ext>
                  </a:extLst>
                </a:gridCol>
              </a:tblGrid>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1800" b="1" i="0" u="none" strike="noStrike" cap="none" normalizeH="0" baseline="-25000" dirty="0">
                          <a:ln>
                            <a:noFill/>
                          </a:ln>
                          <a:solidFill>
                            <a:schemeClr val="tx1"/>
                          </a:solidFill>
                          <a:effectLst/>
                          <a:latin typeface="Arial" charset="0"/>
                          <a:ea typeface="黑体" panose="02010609060101010101" pitchFamily="49" charset="-122"/>
                        </a:rPr>
                        <a:t>8</a:t>
                      </a: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1800" b="1" i="0" u="none" strike="noStrike" cap="none" normalizeH="0" baseline="-25000" dirty="0">
                          <a:ln>
                            <a:noFill/>
                          </a:ln>
                          <a:solidFill>
                            <a:schemeClr val="tx1"/>
                          </a:solidFill>
                          <a:effectLst/>
                          <a:latin typeface="Arial" charset="0"/>
                          <a:ea typeface="黑体" panose="02010609060101010101" pitchFamily="49" charset="-122"/>
                        </a:rPr>
                        <a:t>4</a:t>
                      </a: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1800" b="1" i="0" u="none" strike="noStrike" cap="none" normalizeH="0" baseline="-25000" dirty="0">
                          <a:ln>
                            <a:noFill/>
                          </a:ln>
                          <a:solidFill>
                            <a:schemeClr val="tx1"/>
                          </a:solidFill>
                          <a:effectLst/>
                          <a:latin typeface="Arial" charset="0"/>
                          <a:ea typeface="黑体" panose="02010609060101010101" pitchFamily="49" charset="-122"/>
                        </a:rPr>
                        <a:t>2</a:t>
                      </a: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1800" b="1" i="0" u="none" strike="noStrike" cap="none" normalizeH="0" baseline="-25000" dirty="0">
                          <a:ln>
                            <a:noFill/>
                          </a:ln>
                          <a:solidFill>
                            <a:schemeClr val="tx1"/>
                          </a:solidFill>
                          <a:effectLst/>
                          <a:latin typeface="Arial" charset="0"/>
                          <a:ea typeface="黑体" panose="02010609060101010101" pitchFamily="49" charset="-122"/>
                        </a:rPr>
                        <a:t>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d30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1"/>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2"/>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3"/>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4"/>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5"/>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6"/>
                  </a:ext>
                </a:extLst>
              </a:tr>
            </a:tbl>
          </a:graphicData>
        </a:graphic>
      </p:graphicFrame>
      <p:graphicFrame>
        <p:nvGraphicFramePr>
          <p:cNvPr id="5" name="Group 185">
            <a:extLst>
              <a:ext uri="{FF2B5EF4-FFF2-40B4-BE49-F238E27FC236}">
                <a16:creationId xmlns:a16="http://schemas.microsoft.com/office/drawing/2014/main" id="{353D0B16-01D0-244F-AE73-C0D60FE94528}"/>
              </a:ext>
            </a:extLst>
          </p:cNvPr>
          <p:cNvGraphicFramePr>
            <a:graphicFrameLocks/>
          </p:cNvGraphicFramePr>
          <p:nvPr>
            <p:extLst>
              <p:ext uri="{D42A27DB-BD31-4B8C-83A1-F6EECF244321}">
                <p14:modId xmlns:p14="http://schemas.microsoft.com/office/powerpoint/2010/main" val="3486384201"/>
              </p:ext>
            </p:extLst>
          </p:nvPr>
        </p:nvGraphicFramePr>
        <p:xfrm>
          <a:off x="4958232" y="1524220"/>
          <a:ext cx="2589312" cy="4965120"/>
        </p:xfrm>
        <a:graphic>
          <a:graphicData uri="http://schemas.openxmlformats.org/drawingml/2006/table">
            <a:tbl>
              <a:tblPr/>
              <a:tblGrid>
                <a:gridCol w="959412">
                  <a:extLst>
                    <a:ext uri="{9D8B030D-6E8A-4147-A177-3AD203B41FA5}">
                      <a16:colId xmlns:a16="http://schemas.microsoft.com/office/drawing/2014/main" val="20000"/>
                    </a:ext>
                  </a:extLst>
                </a:gridCol>
                <a:gridCol w="1100700">
                  <a:extLst>
                    <a:ext uri="{9D8B030D-6E8A-4147-A177-3AD203B41FA5}">
                      <a16:colId xmlns:a16="http://schemas.microsoft.com/office/drawing/2014/main" val="2297084915"/>
                    </a:ext>
                  </a:extLst>
                </a:gridCol>
                <a:gridCol w="529200">
                  <a:extLst>
                    <a:ext uri="{9D8B030D-6E8A-4147-A177-3AD203B41FA5}">
                      <a16:colId xmlns:a16="http://schemas.microsoft.com/office/drawing/2014/main" val="20004"/>
                    </a:ext>
                  </a:extLst>
                </a:gridCol>
              </a:tblGrid>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1800" b="1" i="0" u="none" strike="noStrike" cap="none" normalizeH="0" baseline="-25000" dirty="0">
                          <a:ln>
                            <a:noFill/>
                          </a:ln>
                          <a:solidFill>
                            <a:schemeClr val="tx1"/>
                          </a:solidFill>
                          <a:effectLst/>
                          <a:latin typeface="Arial" charset="0"/>
                          <a:ea typeface="黑体" panose="02010609060101010101" pitchFamily="49" charset="-122"/>
                        </a:rPr>
                        <a:t>8</a:t>
                      </a: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1800" b="1" i="0" u="none" strike="noStrike" cap="none" normalizeH="0" baseline="-25000" dirty="0">
                          <a:ln>
                            <a:noFill/>
                          </a:ln>
                          <a:solidFill>
                            <a:schemeClr val="tx1"/>
                          </a:solidFill>
                          <a:effectLst/>
                          <a:latin typeface="Arial" charset="0"/>
                          <a:ea typeface="黑体" panose="02010609060101010101" pitchFamily="49" charset="-122"/>
                        </a:rPr>
                        <a:t>4</a:t>
                      </a: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1800" b="1" i="0" u="none" strike="noStrike" cap="none" normalizeH="0" baseline="-25000" dirty="0">
                          <a:ln>
                            <a:noFill/>
                          </a:ln>
                          <a:solidFill>
                            <a:schemeClr val="tx1"/>
                          </a:solidFill>
                          <a:effectLst/>
                          <a:latin typeface="Arial" charset="0"/>
                          <a:ea typeface="黑体" panose="02010609060101010101" pitchFamily="49" charset="-122"/>
                        </a:rPr>
                        <a:t>2</a:t>
                      </a: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1800" b="1" i="0" u="none" strike="noStrike" cap="none" normalizeH="0" baseline="-25000" dirty="0">
                          <a:ln>
                            <a:noFill/>
                          </a:ln>
                          <a:solidFill>
                            <a:schemeClr val="tx1"/>
                          </a:solidFill>
                          <a:effectLst/>
                          <a:latin typeface="Arial" charset="0"/>
                          <a:ea typeface="黑体" panose="02010609060101010101" pitchFamily="49" charset="-122"/>
                        </a:rPr>
                        <a:t>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Min-term</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d30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m2</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m3</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m4</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m5</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m6</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0111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m7</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9"/>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m8</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m9</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1"/>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1010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m10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2"/>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1011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m11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33FF"/>
                          </a:solidFill>
                          <a:effectLst/>
                          <a:latin typeface="Arial" charset="0"/>
                          <a:ea typeface="黑体" panose="02010609060101010101" pitchFamily="49" charset="-122"/>
                        </a:rPr>
                        <a:t>1</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3"/>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1100</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m12</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0</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4"/>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1101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m13</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5"/>
                  </a:ext>
                </a:extLst>
              </a:tr>
              <a:tr h="213653">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111-</a:t>
                      </a:r>
                    </a:p>
                  </a:txBody>
                  <a:tcPr marL="36000" marR="36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m14-m15</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rgbClr val="3399FF"/>
                          </a:solidFill>
                          <a:effectLst/>
                          <a:latin typeface="Arial" charset="0"/>
                          <a:ea typeface="黑体" panose="02010609060101010101" pitchFamily="49" charset="-122"/>
                        </a:rPr>
                        <a:t>-</a:t>
                      </a:r>
                    </a:p>
                  </a:txBody>
                  <a:tcPr marL="36000" marR="36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6"/>
                  </a:ext>
                </a:extLst>
              </a:tr>
            </a:tbl>
          </a:graphicData>
        </a:graphic>
      </p:graphicFrame>
      <p:sp>
        <p:nvSpPr>
          <p:cNvPr id="6" name="Right Arrow 5">
            <a:extLst>
              <a:ext uri="{FF2B5EF4-FFF2-40B4-BE49-F238E27FC236}">
                <a16:creationId xmlns:a16="http://schemas.microsoft.com/office/drawing/2014/main" id="{D6140BF1-799A-6940-8FEC-3546569AEFFA}"/>
              </a:ext>
            </a:extLst>
          </p:cNvPr>
          <p:cNvSpPr/>
          <p:nvPr/>
        </p:nvSpPr>
        <p:spPr bwMode="auto">
          <a:xfrm>
            <a:off x="3752098" y="3618576"/>
            <a:ext cx="576064" cy="388204"/>
          </a:xfrm>
          <a:prstGeom prst="right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1" name="Title 1">
            <a:extLst>
              <a:ext uri="{FF2B5EF4-FFF2-40B4-BE49-F238E27FC236}">
                <a16:creationId xmlns:a16="http://schemas.microsoft.com/office/drawing/2014/main" id="{C0C84191-E4F8-3649-BB42-27E1B333968F}"/>
              </a:ext>
            </a:extLst>
          </p:cNvPr>
          <p:cNvSpPr>
            <a:spLocks noGrp="1"/>
          </p:cNvSpPr>
          <p:nvPr>
            <p:ph type="title"/>
          </p:nvPr>
        </p:nvSpPr>
        <p:spPr/>
        <p:txBody>
          <a:bodyPr/>
          <a:lstStyle/>
          <a:p>
            <a:r>
              <a:rPr lang="zh-CN" altLang="en-US" dirty="0"/>
              <a:t>在真值表中使用最小项</a:t>
            </a:r>
            <a:endParaRPr lang="en-CN" dirty="0"/>
          </a:p>
        </p:txBody>
      </p:sp>
      <p:sp>
        <p:nvSpPr>
          <p:cNvPr id="2" name="灯片编号占位符 1">
            <a:extLst>
              <a:ext uri="{FF2B5EF4-FFF2-40B4-BE49-F238E27FC236}">
                <a16:creationId xmlns:a16="http://schemas.microsoft.com/office/drawing/2014/main" id="{B5B7F683-2B4B-298C-AC29-5A2365927326}"/>
              </a:ext>
            </a:extLst>
          </p:cNvPr>
          <p:cNvSpPr>
            <a:spLocks noGrp="1"/>
          </p:cNvSpPr>
          <p:nvPr>
            <p:ph type="sldNum" sz="quarter" idx="12"/>
          </p:nvPr>
        </p:nvSpPr>
        <p:spPr/>
        <p:txBody>
          <a:bodyPr/>
          <a:lstStyle/>
          <a:p>
            <a:fld id="{6C23D995-88A0-46FA-B356-FA459EF841CD}" type="slidenum">
              <a:rPr lang="en-US" altLang="zh-CN" smtClean="0"/>
              <a:pPr/>
              <a:t>65</a:t>
            </a:fld>
            <a:endParaRPr lang="en-US" altLang="zh-CN" dirty="0"/>
          </a:p>
        </p:txBody>
      </p:sp>
    </p:spTree>
    <p:extLst>
      <p:ext uri="{BB962C8B-B14F-4D97-AF65-F5344CB8AC3E}">
        <p14:creationId xmlns:p14="http://schemas.microsoft.com/office/powerpoint/2010/main" val="41704338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p:txBody>
          <a:bodyPr/>
          <a:lstStyle/>
          <a:p>
            <a:pPr eaLnBrk="1" hangingPunct="1"/>
            <a:r>
              <a:rPr lang="en-CN" altLang="zh-CN" dirty="0"/>
              <a:t>POS</a:t>
            </a:r>
            <a:r>
              <a:rPr lang="zh-CN" altLang="en-CN" dirty="0"/>
              <a:t>逻辑</a:t>
            </a:r>
            <a:r>
              <a:rPr lang="zh-CN" altLang="en-US" dirty="0"/>
              <a:t>表示</a:t>
            </a:r>
            <a:endParaRPr lang="en-US" altLang="zh-CN" dirty="0"/>
          </a:p>
        </p:txBody>
      </p:sp>
      <p:sp>
        <p:nvSpPr>
          <p:cNvPr id="2" name="灯片编号占位符 1">
            <a:extLst>
              <a:ext uri="{FF2B5EF4-FFF2-40B4-BE49-F238E27FC236}">
                <a16:creationId xmlns:a16="http://schemas.microsoft.com/office/drawing/2014/main" id="{CB400650-98EE-CAF4-3121-BB52B80B7D8C}"/>
              </a:ext>
            </a:extLst>
          </p:cNvPr>
          <p:cNvSpPr>
            <a:spLocks noGrp="1"/>
          </p:cNvSpPr>
          <p:nvPr>
            <p:ph type="sldNum" sz="quarter" idx="12"/>
          </p:nvPr>
        </p:nvSpPr>
        <p:spPr/>
        <p:txBody>
          <a:bodyPr/>
          <a:lstStyle/>
          <a:p>
            <a:fld id="{6C23D995-88A0-46FA-B356-FA459EF841CD}" type="slidenum">
              <a:rPr lang="en-US" altLang="zh-CN" smtClean="0"/>
              <a:pPr/>
              <a:t>66</a:t>
            </a:fld>
            <a:endParaRPr lang="en-US" altLang="zh-CN" dirty="0"/>
          </a:p>
        </p:txBody>
      </p:sp>
      <p:graphicFrame>
        <p:nvGraphicFramePr>
          <p:cNvPr id="443395" name="Object 3"/>
          <p:cNvGraphicFramePr>
            <a:graphicFrameLocks noGrp="1" noChangeAspect="1"/>
          </p:cNvGraphicFramePr>
          <p:nvPr>
            <p:ph idx="4294967295"/>
            <p:extLst>
              <p:ext uri="{D42A27DB-BD31-4B8C-83A1-F6EECF244321}">
                <p14:modId xmlns:p14="http://schemas.microsoft.com/office/powerpoint/2010/main" val="3641483156"/>
              </p:ext>
            </p:extLst>
          </p:nvPr>
        </p:nvGraphicFramePr>
        <p:xfrm>
          <a:off x="1187624" y="1905000"/>
          <a:ext cx="7194550" cy="3611563"/>
        </p:xfrm>
        <a:graphic>
          <a:graphicData uri="http://schemas.openxmlformats.org/presentationml/2006/ole">
            <mc:AlternateContent xmlns:mc="http://schemas.openxmlformats.org/markup-compatibility/2006">
              <mc:Choice xmlns:v="urn:schemas-microsoft-com:vml" Requires="v">
                <p:oleObj name="Equation" r:id="rId3" imgW="3035160" imgH="1523880" progId="Equation.DSMT4">
                  <p:embed/>
                </p:oleObj>
              </mc:Choice>
              <mc:Fallback>
                <p:oleObj name="Equation" r:id="rId3" imgW="3035160" imgH="1523880" progId="Equation.DSMT4">
                  <p:embed/>
                  <p:pic>
                    <p:nvPicPr>
                      <p:cNvPr id="44339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905000"/>
                        <a:ext cx="7194550" cy="361156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366227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268068C-5FBA-7574-7CB8-B57B2174BAFE}"/>
              </a:ext>
            </a:extLst>
          </p:cNvPr>
          <p:cNvSpPr>
            <a:spLocks noGrp="1"/>
          </p:cNvSpPr>
          <p:nvPr>
            <p:ph type="sldNum" sz="quarter" idx="11"/>
          </p:nvPr>
        </p:nvSpPr>
        <p:spPr/>
        <p:txBody>
          <a:bodyPr/>
          <a:lstStyle/>
          <a:p>
            <a:pPr>
              <a:defRPr/>
            </a:pPr>
            <a:fld id="{2EA1E184-7EFF-4B48-9C82-609CF6442F2C}" type="slidenum">
              <a:rPr lang="zh-CN" altLang="en-US" smtClean="0"/>
              <a:pPr>
                <a:defRPr/>
              </a:pPr>
              <a:t>67</a:t>
            </a:fld>
            <a:endParaRPr lang="en-US" altLang="zh-CN"/>
          </a:p>
        </p:txBody>
      </p:sp>
      <p:sp>
        <p:nvSpPr>
          <p:cNvPr id="3" name="Rectangle 2">
            <a:extLst>
              <a:ext uri="{FF2B5EF4-FFF2-40B4-BE49-F238E27FC236}">
                <a16:creationId xmlns:a16="http://schemas.microsoft.com/office/drawing/2014/main" id="{C3CA2F18-F642-204E-B527-CD77B8E0D80A}"/>
              </a:ext>
            </a:extLst>
          </p:cNvPr>
          <p:cNvSpPr/>
          <p:nvPr/>
        </p:nvSpPr>
        <p:spPr>
          <a:xfrm>
            <a:off x="859143" y="1340768"/>
            <a:ext cx="7425714" cy="830997"/>
          </a:xfrm>
          <a:prstGeom prst="rect">
            <a:avLst/>
          </a:prstGeom>
        </p:spPr>
        <p:txBody>
          <a:bodyPr wrap="square">
            <a:spAutoFit/>
          </a:bodyPr>
          <a:lstStyle/>
          <a:p>
            <a:r>
              <a:rPr lang="zh-CN" altLang="en-US" sz="2400" kern="0" dirty="0">
                <a:solidFill>
                  <a:srgbClr val="080808"/>
                </a:solidFill>
                <a:latin typeface="Arial" panose="020B0604020202020204" pitchFamily="34" charset="0"/>
                <a:ea typeface="黑体" pitchFamily="49" charset="-122"/>
              </a:rPr>
              <a:t>在</a:t>
            </a:r>
            <a:r>
              <a:rPr lang="en-US" altLang="zh-CN" sz="2400" kern="0" dirty="0">
                <a:solidFill>
                  <a:srgbClr val="080808"/>
                </a:solidFill>
                <a:latin typeface="Arial" panose="020B0604020202020204" pitchFamily="34" charset="0"/>
                <a:ea typeface="黑体" pitchFamily="49" charset="-122"/>
              </a:rPr>
              <a:t>n</a:t>
            </a:r>
            <a:r>
              <a:rPr lang="zh-CN" altLang="en-US" sz="2400" kern="0" dirty="0">
                <a:solidFill>
                  <a:srgbClr val="080808"/>
                </a:solidFill>
                <a:latin typeface="Arial" panose="020B0604020202020204" pitchFamily="34" charset="0"/>
                <a:ea typeface="黑体" pitchFamily="49" charset="-122"/>
              </a:rPr>
              <a:t>变量逻辑函数中，包含</a:t>
            </a:r>
            <a:r>
              <a:rPr lang="zh-CN" altLang="en-US" sz="2400" kern="0" dirty="0">
                <a:solidFill>
                  <a:srgbClr val="3333FF"/>
                </a:solidFill>
                <a:latin typeface="Arial" panose="020B0604020202020204" pitchFamily="34" charset="0"/>
                <a:ea typeface="黑体" pitchFamily="49" charset="-122"/>
              </a:rPr>
              <a:t>全部</a:t>
            </a:r>
            <a:r>
              <a:rPr lang="en-US" altLang="zh-CN" sz="2400" kern="0" dirty="0">
                <a:solidFill>
                  <a:srgbClr val="3333FF"/>
                </a:solidFill>
                <a:latin typeface="Arial" panose="020B0604020202020204" pitchFamily="34" charset="0"/>
                <a:ea typeface="黑体" pitchFamily="49" charset="-122"/>
              </a:rPr>
              <a:t>n</a:t>
            </a:r>
            <a:r>
              <a:rPr lang="zh-CN" altLang="en-US" sz="2400" kern="0" dirty="0">
                <a:solidFill>
                  <a:srgbClr val="3333FF"/>
                </a:solidFill>
                <a:latin typeface="Arial" panose="020B0604020202020204" pitchFamily="34" charset="0"/>
                <a:ea typeface="黑体" pitchFamily="49" charset="-122"/>
              </a:rPr>
              <a:t>个变量的或项</a:t>
            </a:r>
            <a:r>
              <a:rPr lang="zh-CN" altLang="en-US" sz="2400" kern="0" dirty="0">
                <a:solidFill>
                  <a:srgbClr val="080808"/>
                </a:solidFill>
                <a:latin typeface="Arial" panose="020B0604020202020204" pitchFamily="34" charset="0"/>
                <a:ea typeface="黑体" pitchFamily="49" charset="-122"/>
              </a:rPr>
              <a:t>，其中每个变量必须且只以原变量或反变量的形式</a:t>
            </a:r>
            <a:r>
              <a:rPr lang="zh-CN" altLang="en-US" sz="2400" kern="0" dirty="0">
                <a:solidFill>
                  <a:srgbClr val="3333FF"/>
                </a:solidFill>
                <a:latin typeface="Arial" panose="020B0604020202020204" pitchFamily="34" charset="0"/>
                <a:ea typeface="黑体" pitchFamily="49" charset="-122"/>
              </a:rPr>
              <a:t>出现一次</a:t>
            </a:r>
            <a:endParaRPr lang="en-CN" altLang="zh-CN" sz="2400" dirty="0">
              <a:ea typeface="黑体" panose="02010609060101010101" pitchFamily="49" charset="-122"/>
            </a:endParaRPr>
          </a:p>
        </p:txBody>
      </p:sp>
      <p:sp>
        <p:nvSpPr>
          <p:cNvPr id="8" name="Rectangle 2">
            <a:extLst>
              <a:ext uri="{FF2B5EF4-FFF2-40B4-BE49-F238E27FC236}">
                <a16:creationId xmlns:a16="http://schemas.microsoft.com/office/drawing/2014/main" id="{FFEAFCD5-4256-F255-2250-FB972677BC69}"/>
              </a:ext>
            </a:extLst>
          </p:cNvPr>
          <p:cNvSpPr>
            <a:spLocks noGrp="1" noChangeArrowheads="1"/>
          </p:cNvSpPr>
          <p:nvPr>
            <p:ph type="title"/>
          </p:nvPr>
        </p:nvSpPr>
        <p:spPr>
          <a:xfrm>
            <a:off x="457200" y="136525"/>
            <a:ext cx="8229600" cy="1143000"/>
          </a:xfrm>
        </p:spPr>
        <p:txBody>
          <a:bodyPr/>
          <a:lstStyle/>
          <a:p>
            <a:pPr eaLnBrk="1" hangingPunct="1"/>
            <a:r>
              <a:rPr lang="zh-CN" altLang="en-US" dirty="0"/>
              <a:t>逻辑函数的最大项，记为</a:t>
            </a:r>
            <a:r>
              <a:rPr lang="en" altLang="zh-CN" dirty="0"/>
              <a:t>M</a:t>
            </a:r>
            <a:endParaRPr lang="en-US" altLang="zh-CN" dirty="0"/>
          </a:p>
        </p:txBody>
      </p:sp>
      <p:graphicFrame>
        <p:nvGraphicFramePr>
          <p:cNvPr id="4" name="Group 102">
            <a:extLst>
              <a:ext uri="{FF2B5EF4-FFF2-40B4-BE49-F238E27FC236}">
                <a16:creationId xmlns:a16="http://schemas.microsoft.com/office/drawing/2014/main" id="{A7E829EA-4058-B018-223E-22B00F0E0FE8}"/>
              </a:ext>
            </a:extLst>
          </p:cNvPr>
          <p:cNvGraphicFramePr>
            <a:graphicFrameLocks/>
          </p:cNvGraphicFramePr>
          <p:nvPr>
            <p:extLst>
              <p:ext uri="{D42A27DB-BD31-4B8C-83A1-F6EECF244321}">
                <p14:modId xmlns:p14="http://schemas.microsoft.com/office/powerpoint/2010/main" val="2715320627"/>
              </p:ext>
            </p:extLst>
          </p:nvPr>
        </p:nvGraphicFramePr>
        <p:xfrm>
          <a:off x="816486" y="2202708"/>
          <a:ext cx="7535934" cy="4358640"/>
        </p:xfrm>
        <a:graphic>
          <a:graphicData uri="http://schemas.openxmlformats.org/drawingml/2006/table">
            <a:tbl>
              <a:tblPr/>
              <a:tblGrid>
                <a:gridCol w="1262380">
                  <a:extLst>
                    <a:ext uri="{9D8B030D-6E8A-4147-A177-3AD203B41FA5}">
                      <a16:colId xmlns:a16="http://schemas.microsoft.com/office/drawing/2014/main" val="20000"/>
                    </a:ext>
                  </a:extLst>
                </a:gridCol>
                <a:gridCol w="1062697">
                  <a:extLst>
                    <a:ext uri="{9D8B030D-6E8A-4147-A177-3AD203B41FA5}">
                      <a16:colId xmlns:a16="http://schemas.microsoft.com/office/drawing/2014/main" val="887064206"/>
                    </a:ext>
                  </a:extLst>
                </a:gridCol>
                <a:gridCol w="1219278">
                  <a:extLst>
                    <a:ext uri="{9D8B030D-6E8A-4147-A177-3AD203B41FA5}">
                      <a16:colId xmlns:a16="http://schemas.microsoft.com/office/drawing/2014/main" val="20001"/>
                    </a:ext>
                  </a:extLst>
                </a:gridCol>
                <a:gridCol w="1216599">
                  <a:extLst>
                    <a:ext uri="{9D8B030D-6E8A-4147-A177-3AD203B41FA5}">
                      <a16:colId xmlns:a16="http://schemas.microsoft.com/office/drawing/2014/main" val="20002"/>
                    </a:ext>
                  </a:extLst>
                </a:gridCol>
                <a:gridCol w="1337607">
                  <a:extLst>
                    <a:ext uri="{9D8B030D-6E8A-4147-A177-3AD203B41FA5}">
                      <a16:colId xmlns:a16="http://schemas.microsoft.com/office/drawing/2014/main" val="20003"/>
                    </a:ext>
                  </a:extLst>
                </a:gridCol>
                <a:gridCol w="1437373">
                  <a:extLst>
                    <a:ext uri="{9D8B030D-6E8A-4147-A177-3AD203B41FA5}">
                      <a16:colId xmlns:a16="http://schemas.microsoft.com/office/drawing/2014/main" val="20004"/>
                    </a:ext>
                  </a:extLst>
                </a:gridCol>
              </a:tblGrid>
              <a:tr h="336550">
                <a:tc rowSpan="2">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Max-term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rowSpan="2">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1"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i</a:t>
                      </a:r>
                      <a:endPar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B4C6E8"/>
                    </a:solidFill>
                  </a:tcPr>
                </a:tc>
                <a:tc gridSpan="3">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defRPr/>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Logic values of variables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0" fontAlgn="base" latinLnBrk="0" hangingPunct="0">
                        <a:lnSpc>
                          <a:spcPct val="100000"/>
                        </a:lnSpc>
                        <a:spcBef>
                          <a:spcPct val="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Subscript </a:t>
                      </a:r>
                      <a:r>
                        <a:rPr kumimoji="0" lang="en-US" altLang="zh-CN" sz="1800" b="1" i="0" u="none" strike="noStrike" cap="none" normalizeH="0" baseline="0" dirty="0" err="1">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i</a:t>
                      </a:r>
                      <a:endParaRPr kumimoji="0" lang="en-US" altLang="zh-CN" sz="18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extLst>
                  <a:ext uri="{0D108BD9-81ED-4DB2-BD59-A6C34878D82A}">
                    <a16:rowId xmlns:a16="http://schemas.microsoft.com/office/drawing/2014/main" val="10000"/>
                  </a:ext>
                </a:extLst>
              </a:tr>
              <a:tr h="243793">
                <a:tc vMerge="1">
                  <a:txBody>
                    <a:bodyPr/>
                    <a:lstStyle/>
                    <a:p>
                      <a:endParaRPr lang="zh-CN" altLang="en-US"/>
                    </a:p>
                  </a:txBody>
                  <a:tcPr/>
                </a:tc>
                <a:tc vMerge="1">
                  <a:txBody>
                    <a:bodyPr/>
                    <a:lstStyle/>
                    <a:p>
                      <a:endParaRPr lang="zh-CN" altLang="en-US" dirty="0"/>
                    </a:p>
                  </a:txBody>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a:t>
                      </a:r>
                    </a:p>
                  </a:txBody>
                  <a:tcPr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4C6E8"/>
                    </a:solidFill>
                  </a:tcPr>
                </a:tc>
                <a:tc vMerge="1">
                  <a:txBody>
                    <a:bodyPr/>
                    <a:lstStyle/>
                    <a:p>
                      <a:endParaRPr lang="zh-CN" altLang="en-US"/>
                    </a:p>
                  </a:txBody>
                  <a:tcPr/>
                </a:tc>
                <a:extLst>
                  <a:ext uri="{0D108BD9-81ED-4DB2-BD59-A6C34878D82A}">
                    <a16:rowId xmlns:a16="http://schemas.microsoft.com/office/drawing/2014/main" val="10001"/>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3</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4</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5</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6</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A’+B’+C’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M</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7</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365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defRPr/>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Weight</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endPar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r>
                        <a:rPr kumimoji="0" lang="en-US"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2</a:t>
                      </a:r>
                      <a:r>
                        <a:rPr kumimoji="0" lang="en-US" altLang="zh-CN" sz="2000" b="0" i="0" u="none" strike="noStrike" cap="none" normalizeH="0" baseline="3000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
                          <a:schemeClr val="bg1"/>
                        </a:buClr>
                        <a:buSzPct val="80000"/>
                        <a:buFontTx/>
                        <a:buNone/>
                        <a:tabLst/>
                      </a:pPr>
                      <a:endParaRPr kumimoji="0" lang="zh-CN" altLang="zh-CN" sz="20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sp>
        <p:nvSpPr>
          <p:cNvPr id="12" name="Text Box 13">
            <a:extLst>
              <a:ext uri="{FF2B5EF4-FFF2-40B4-BE49-F238E27FC236}">
                <a16:creationId xmlns:a16="http://schemas.microsoft.com/office/drawing/2014/main" id="{873FE8E1-D4F2-4759-6E09-710832EFDA0B}"/>
              </a:ext>
            </a:extLst>
          </p:cNvPr>
          <p:cNvSpPr txBox="1">
            <a:spLocks noChangeArrowheads="1"/>
          </p:cNvSpPr>
          <p:nvPr/>
        </p:nvSpPr>
        <p:spPr bwMode="auto">
          <a:xfrm>
            <a:off x="3478186" y="6402275"/>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latin typeface="+mn-lt"/>
                <a:ea typeface="黑体" panose="02010609060101010101" pitchFamily="49" charset="-122"/>
              </a:rPr>
              <a:t>MSB</a:t>
            </a:r>
          </a:p>
        </p:txBody>
      </p:sp>
      <p:sp>
        <p:nvSpPr>
          <p:cNvPr id="13" name="Text Box 15">
            <a:extLst>
              <a:ext uri="{FF2B5EF4-FFF2-40B4-BE49-F238E27FC236}">
                <a16:creationId xmlns:a16="http://schemas.microsoft.com/office/drawing/2014/main" id="{CC154661-B37D-EF26-B867-3D3760128541}"/>
              </a:ext>
            </a:extLst>
          </p:cNvPr>
          <p:cNvSpPr txBox="1">
            <a:spLocks noChangeArrowheads="1"/>
          </p:cNvSpPr>
          <p:nvPr/>
        </p:nvSpPr>
        <p:spPr bwMode="auto">
          <a:xfrm>
            <a:off x="5807291" y="6402275"/>
            <a:ext cx="11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400" dirty="0">
                <a:latin typeface="+mn-lt"/>
                <a:ea typeface="黑体" panose="02010609060101010101" pitchFamily="49" charset="-122"/>
              </a:rPr>
              <a:t>LSB</a:t>
            </a:r>
          </a:p>
        </p:txBody>
      </p:sp>
    </p:spTree>
    <p:extLst>
      <p:ext uri="{BB962C8B-B14F-4D97-AF65-F5344CB8AC3E}">
        <p14:creationId xmlns:p14="http://schemas.microsoft.com/office/powerpoint/2010/main" val="21738364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4419" name="Object 3"/>
          <p:cNvGraphicFramePr>
            <a:graphicFrameLocks noChangeAspect="1"/>
          </p:cNvGraphicFramePr>
          <p:nvPr>
            <p:extLst>
              <p:ext uri="{D42A27DB-BD31-4B8C-83A1-F6EECF244321}">
                <p14:modId xmlns:p14="http://schemas.microsoft.com/office/powerpoint/2010/main" val="3781679186"/>
              </p:ext>
            </p:extLst>
          </p:nvPr>
        </p:nvGraphicFramePr>
        <p:xfrm>
          <a:off x="333185" y="2566394"/>
          <a:ext cx="3295464" cy="624764"/>
        </p:xfrm>
        <a:graphic>
          <a:graphicData uri="http://schemas.openxmlformats.org/presentationml/2006/ole">
            <mc:AlternateContent xmlns:mc="http://schemas.openxmlformats.org/markup-compatibility/2006">
              <mc:Choice xmlns:v="urn:schemas-microsoft-com:vml" Requires="v">
                <p:oleObj name="Equation" r:id="rId3" imgW="990360" imgH="215640" progId="Equation.DSMT4">
                  <p:embed/>
                </p:oleObj>
              </mc:Choice>
              <mc:Fallback>
                <p:oleObj name="Equation" r:id="rId3" imgW="990360" imgH="215640" progId="Equation.DSMT4">
                  <p:embed/>
                  <p:pic>
                    <p:nvPicPr>
                      <p:cNvPr id="44441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185" y="2566394"/>
                        <a:ext cx="3295464" cy="624764"/>
                      </a:xfrm>
                      <a:prstGeom prst="rect">
                        <a:avLst/>
                      </a:prstGeom>
                      <a:noFill/>
                      <a:ln>
                        <a:noFill/>
                      </a:ln>
                      <a:effectLst/>
                    </p:spPr>
                  </p:pic>
                </p:oleObj>
              </mc:Fallback>
            </mc:AlternateContent>
          </a:graphicData>
        </a:graphic>
      </p:graphicFrame>
      <p:graphicFrame>
        <p:nvGraphicFramePr>
          <p:cNvPr id="444420" name="Object 4"/>
          <p:cNvGraphicFramePr>
            <a:graphicFrameLocks noChangeAspect="1"/>
          </p:cNvGraphicFramePr>
          <p:nvPr>
            <p:extLst>
              <p:ext uri="{D42A27DB-BD31-4B8C-83A1-F6EECF244321}">
                <p14:modId xmlns:p14="http://schemas.microsoft.com/office/powerpoint/2010/main" val="1897407185"/>
              </p:ext>
            </p:extLst>
          </p:nvPr>
        </p:nvGraphicFramePr>
        <p:xfrm>
          <a:off x="1856432" y="1495210"/>
          <a:ext cx="6604000" cy="722312"/>
        </p:xfrm>
        <a:graphic>
          <a:graphicData uri="http://schemas.openxmlformats.org/presentationml/2006/ole">
            <mc:AlternateContent xmlns:mc="http://schemas.openxmlformats.org/markup-compatibility/2006">
              <mc:Choice xmlns:v="urn:schemas-microsoft-com:vml" Requires="v">
                <p:oleObj name="Equation" r:id="rId5" imgW="3022560" imgH="342720" progId="Equation.DSMT4">
                  <p:embed/>
                </p:oleObj>
              </mc:Choice>
              <mc:Fallback>
                <p:oleObj name="Equation" r:id="rId5" imgW="3022560" imgH="342720" progId="Equation.DSMT4">
                  <p:embed/>
                  <p:pic>
                    <p:nvPicPr>
                      <p:cNvPr id="44442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6432" y="1495210"/>
                        <a:ext cx="6604000" cy="7223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4422" name="Object 6"/>
          <p:cNvGraphicFramePr>
            <a:graphicFrameLocks noChangeAspect="1"/>
          </p:cNvGraphicFramePr>
          <p:nvPr>
            <p:extLst>
              <p:ext uri="{D42A27DB-BD31-4B8C-83A1-F6EECF244321}">
                <p14:modId xmlns:p14="http://schemas.microsoft.com/office/powerpoint/2010/main" val="196969526"/>
              </p:ext>
            </p:extLst>
          </p:nvPr>
        </p:nvGraphicFramePr>
        <p:xfrm>
          <a:off x="5392845" y="3221350"/>
          <a:ext cx="2936656" cy="592339"/>
        </p:xfrm>
        <a:graphic>
          <a:graphicData uri="http://schemas.openxmlformats.org/presentationml/2006/ole">
            <mc:AlternateContent xmlns:mc="http://schemas.openxmlformats.org/markup-compatibility/2006">
              <mc:Choice xmlns:v="urn:schemas-microsoft-com:vml" Requires="v">
                <p:oleObj name="Equation" r:id="rId7" imgW="1409400" imgH="266400" progId="Equation.DSMT4">
                  <p:embed/>
                </p:oleObj>
              </mc:Choice>
              <mc:Fallback>
                <p:oleObj name="Equation" r:id="rId7" imgW="1409400" imgH="266400" progId="Equation.DSMT4">
                  <p:embed/>
                  <p:pic>
                    <p:nvPicPr>
                      <p:cNvPr id="444422"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2845" y="3221350"/>
                        <a:ext cx="2936656" cy="592339"/>
                      </a:xfrm>
                      <a:prstGeom prst="rect">
                        <a:avLst/>
                      </a:prstGeom>
                      <a:noFill/>
                      <a:ln>
                        <a:noFill/>
                      </a:ln>
                      <a:effectLst/>
                    </p:spPr>
                  </p:pic>
                </p:oleObj>
              </mc:Fallback>
            </mc:AlternateContent>
          </a:graphicData>
        </a:graphic>
      </p:graphicFrame>
      <p:graphicFrame>
        <p:nvGraphicFramePr>
          <p:cNvPr id="444423" name="Object 7"/>
          <p:cNvGraphicFramePr>
            <a:graphicFrameLocks noChangeAspect="1"/>
          </p:cNvGraphicFramePr>
          <p:nvPr>
            <p:extLst>
              <p:ext uri="{D42A27DB-BD31-4B8C-83A1-F6EECF244321}">
                <p14:modId xmlns:p14="http://schemas.microsoft.com/office/powerpoint/2010/main" val="3142202482"/>
              </p:ext>
            </p:extLst>
          </p:nvPr>
        </p:nvGraphicFramePr>
        <p:xfrm>
          <a:off x="5392845" y="4571696"/>
          <a:ext cx="3037879" cy="1017544"/>
        </p:xfrm>
        <a:graphic>
          <a:graphicData uri="http://schemas.openxmlformats.org/presentationml/2006/ole">
            <mc:AlternateContent xmlns:mc="http://schemas.openxmlformats.org/markup-compatibility/2006">
              <mc:Choice xmlns:v="urn:schemas-microsoft-com:vml" Requires="v">
                <p:oleObj name="Equation" r:id="rId9" imgW="1206360" imgH="457200" progId="Equation.DSMT4">
                  <p:embed/>
                </p:oleObj>
              </mc:Choice>
              <mc:Fallback>
                <p:oleObj name="Equation" r:id="rId9" imgW="1206360" imgH="457200" progId="Equation.DSMT4">
                  <p:embed/>
                  <p:pic>
                    <p:nvPicPr>
                      <p:cNvPr id="44442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2845" y="4571696"/>
                        <a:ext cx="3037879" cy="1017544"/>
                      </a:xfrm>
                      <a:prstGeom prst="rect">
                        <a:avLst/>
                      </a:prstGeom>
                      <a:noFill/>
                      <a:ln>
                        <a:noFill/>
                      </a:ln>
                      <a:effectLst/>
                    </p:spPr>
                  </p:pic>
                </p:oleObj>
              </mc:Fallback>
            </mc:AlternateContent>
          </a:graphicData>
        </a:graphic>
      </p:graphicFrame>
      <p:graphicFrame>
        <p:nvGraphicFramePr>
          <p:cNvPr id="11" name="Object 11"/>
          <p:cNvGraphicFramePr>
            <a:graphicFrameLocks noChangeAspect="1"/>
          </p:cNvGraphicFramePr>
          <p:nvPr>
            <p:extLst>
              <p:ext uri="{D42A27DB-BD31-4B8C-83A1-F6EECF244321}">
                <p14:modId xmlns:p14="http://schemas.microsoft.com/office/powerpoint/2010/main" val="2295748986"/>
              </p:ext>
            </p:extLst>
          </p:nvPr>
        </p:nvGraphicFramePr>
        <p:xfrm>
          <a:off x="5399905" y="3881905"/>
          <a:ext cx="2846508" cy="641108"/>
        </p:xfrm>
        <a:graphic>
          <a:graphicData uri="http://schemas.openxmlformats.org/presentationml/2006/ole">
            <mc:AlternateContent xmlns:mc="http://schemas.openxmlformats.org/markup-compatibility/2006">
              <mc:Choice xmlns:v="urn:schemas-microsoft-com:vml" Requires="v">
                <p:oleObj name="Equation" r:id="rId11" imgW="1333440" imgH="279360" progId="Equation.DSMT4">
                  <p:embed/>
                </p:oleObj>
              </mc:Choice>
              <mc:Fallback>
                <p:oleObj name="Equation" r:id="rId11" imgW="1333440" imgH="279360" progId="Equation.DSMT4">
                  <p:embed/>
                  <p:pic>
                    <p:nvPicPr>
                      <p:cNvPr id="11"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9905" y="3881905"/>
                        <a:ext cx="2846508" cy="641108"/>
                      </a:xfrm>
                      <a:prstGeom prst="rect">
                        <a:avLst/>
                      </a:prstGeom>
                      <a:noFill/>
                      <a:ln>
                        <a:noFill/>
                      </a:ln>
                      <a:effectLst/>
                    </p:spPr>
                  </p:pic>
                </p:oleObj>
              </mc:Fallback>
            </mc:AlternateContent>
          </a:graphicData>
        </a:graphic>
      </p:graphicFrame>
      <p:sp>
        <p:nvSpPr>
          <p:cNvPr id="2" name="Right Arrow 1">
            <a:extLst>
              <a:ext uri="{FF2B5EF4-FFF2-40B4-BE49-F238E27FC236}">
                <a16:creationId xmlns:a16="http://schemas.microsoft.com/office/drawing/2014/main" id="{D531770D-6FEE-8946-B179-984FC9459A20}"/>
              </a:ext>
            </a:extLst>
          </p:cNvPr>
          <p:cNvSpPr/>
          <p:nvPr/>
        </p:nvSpPr>
        <p:spPr bwMode="auto">
          <a:xfrm>
            <a:off x="3779912" y="2746414"/>
            <a:ext cx="1080120" cy="252028"/>
          </a:xfrm>
          <a:prstGeom prst="right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pic>
        <p:nvPicPr>
          <p:cNvPr id="5" name="Picture 4">
            <a:extLst>
              <a:ext uri="{FF2B5EF4-FFF2-40B4-BE49-F238E27FC236}">
                <a16:creationId xmlns:a16="http://schemas.microsoft.com/office/drawing/2014/main" id="{2513EC5B-C585-B24D-A5F0-0740011180B3}"/>
              </a:ext>
            </a:extLst>
          </p:cNvPr>
          <p:cNvPicPr>
            <a:picLocks noChangeAspect="1"/>
          </p:cNvPicPr>
          <p:nvPr/>
        </p:nvPicPr>
        <p:blipFill rotWithShape="1">
          <a:blip r:embed="rId13">
            <a:extLst>
              <a:ext uri="{28A0092B-C50C-407E-A947-70E740481C1C}">
                <a14:useLocalDpi xmlns:a14="http://schemas.microsoft.com/office/drawing/2010/main" val="0"/>
              </a:ext>
            </a:extLst>
          </a:blip>
          <a:srcRect b="43094"/>
          <a:stretch/>
        </p:blipFill>
        <p:spPr>
          <a:xfrm>
            <a:off x="5008784" y="2577927"/>
            <a:ext cx="3429000" cy="635979"/>
          </a:xfrm>
          <a:prstGeom prst="rect">
            <a:avLst/>
          </a:prstGeom>
        </p:spPr>
      </p:pic>
      <p:sp>
        <p:nvSpPr>
          <p:cNvPr id="6" name="TextBox 5">
            <a:extLst>
              <a:ext uri="{FF2B5EF4-FFF2-40B4-BE49-F238E27FC236}">
                <a16:creationId xmlns:a16="http://schemas.microsoft.com/office/drawing/2014/main" id="{A26205DB-C7D4-8042-BA05-3F60B4C2389C}"/>
              </a:ext>
            </a:extLst>
          </p:cNvPr>
          <p:cNvSpPr txBox="1"/>
          <p:nvPr/>
        </p:nvSpPr>
        <p:spPr>
          <a:xfrm>
            <a:off x="565145" y="1643777"/>
            <a:ext cx="1415772" cy="584775"/>
          </a:xfrm>
          <a:prstGeom prst="rect">
            <a:avLst/>
          </a:prstGeom>
          <a:noFill/>
        </p:spPr>
        <p:txBody>
          <a:bodyPr wrap="none" rtlCol="0">
            <a:spAutoFit/>
          </a:bodyPr>
          <a:lstStyle/>
          <a:p>
            <a:r>
              <a:rPr lang="zh-CN" altLang="en-US" sz="3200" dirty="0">
                <a:latin typeface="Microsoft YaHei UI" panose="020B0503020204020204" pitchFamily="34" charset="-122"/>
                <a:ea typeface="Microsoft YaHei UI" panose="020B0503020204020204" pitchFamily="34" charset="-122"/>
              </a:rPr>
              <a:t>规律：</a:t>
            </a:r>
            <a:endParaRPr lang="en-CN" sz="3200" dirty="0">
              <a:latin typeface="Microsoft YaHei UI" panose="020B0503020204020204" pitchFamily="34" charset="-122"/>
              <a:ea typeface="Microsoft YaHei UI" panose="020B0503020204020204" pitchFamily="34" charset="-122"/>
            </a:endParaRPr>
          </a:p>
        </p:txBody>
      </p:sp>
      <p:sp>
        <p:nvSpPr>
          <p:cNvPr id="12" name="Rectangle 2"/>
          <p:cNvSpPr>
            <a:spLocks noGrp="1" noChangeArrowheads="1"/>
          </p:cNvSpPr>
          <p:nvPr>
            <p:ph type="title"/>
          </p:nvPr>
        </p:nvSpPr>
        <p:spPr/>
        <p:txBody>
          <a:bodyPr/>
          <a:lstStyle/>
          <a:p>
            <a:pPr eaLnBrk="1" hangingPunct="1"/>
            <a:r>
              <a:rPr lang="zh-CN" altLang="en-US" dirty="0"/>
              <a:t>最小项</a:t>
            </a:r>
            <a:r>
              <a:rPr lang="en-US" altLang="zh-CN" dirty="0"/>
              <a:t>m</a:t>
            </a:r>
            <a:r>
              <a:rPr lang="en-US" altLang="zh-CN" baseline="-25000" dirty="0"/>
              <a:t>i</a:t>
            </a:r>
            <a:r>
              <a:rPr lang="en-US" altLang="zh-CN" dirty="0"/>
              <a:t> &amp; </a:t>
            </a:r>
            <a:r>
              <a:rPr lang="zh-CN" altLang="en-US" dirty="0"/>
              <a:t>最大项</a:t>
            </a:r>
            <a:r>
              <a:rPr lang="en-US" altLang="zh-CN" dirty="0"/>
              <a:t>M</a:t>
            </a:r>
            <a:r>
              <a:rPr lang="en-US" altLang="zh-CN" baseline="-25000" dirty="0"/>
              <a:t>i</a:t>
            </a:r>
          </a:p>
        </p:txBody>
      </p:sp>
      <p:sp>
        <p:nvSpPr>
          <p:cNvPr id="4" name="灯片编号占位符 3">
            <a:extLst>
              <a:ext uri="{FF2B5EF4-FFF2-40B4-BE49-F238E27FC236}">
                <a16:creationId xmlns:a16="http://schemas.microsoft.com/office/drawing/2014/main" id="{B97A67BD-52CB-C1D7-D97F-EEF2C4A1E7C2}"/>
              </a:ext>
            </a:extLst>
          </p:cNvPr>
          <p:cNvSpPr>
            <a:spLocks noGrp="1"/>
          </p:cNvSpPr>
          <p:nvPr>
            <p:ph type="sldNum" sz="quarter" idx="12"/>
          </p:nvPr>
        </p:nvSpPr>
        <p:spPr/>
        <p:txBody>
          <a:bodyPr/>
          <a:lstStyle/>
          <a:p>
            <a:fld id="{6C23D995-88A0-46FA-B356-FA459EF841CD}" type="slidenum">
              <a:rPr lang="en-US" altLang="zh-CN" smtClean="0"/>
              <a:pPr/>
              <a:t>68</a:t>
            </a:fld>
            <a:endParaRPr lang="en-US" altLang="zh-CN" dirty="0"/>
          </a:p>
        </p:txBody>
      </p:sp>
      <mc:AlternateContent xmlns:mc="http://schemas.openxmlformats.org/markup-compatibility/2006" xmlns:p14="http://schemas.microsoft.com/office/powerpoint/2010/main">
        <mc:Choice Requires="p14">
          <p:contentPart p14:bwMode="auto" r:id="rId14">
            <p14:nvContentPartPr>
              <p14:cNvPr id="7" name="Ink 12">
                <a:extLst>
                  <a:ext uri="{FF2B5EF4-FFF2-40B4-BE49-F238E27FC236}">
                    <a16:creationId xmlns:a16="http://schemas.microsoft.com/office/drawing/2014/main" id="{F71B3A97-6A2E-1DE5-60AF-E2092940EED2}"/>
                  </a:ext>
                </a:extLst>
              </p14:cNvPr>
              <p14:cNvContentPartPr/>
              <p14:nvPr/>
            </p14:nvContentPartPr>
            <p14:xfrm>
              <a:off x="646316" y="2528272"/>
              <a:ext cx="8210160" cy="4069080"/>
            </p14:xfrm>
          </p:contentPart>
        </mc:Choice>
        <mc:Fallback xmlns="">
          <p:pic>
            <p:nvPicPr>
              <p:cNvPr id="7" name="Ink 12">
                <a:extLst>
                  <a:ext uri="{FF2B5EF4-FFF2-40B4-BE49-F238E27FC236}">
                    <a16:creationId xmlns:a16="http://schemas.microsoft.com/office/drawing/2014/main" id="{F71B3A97-6A2E-1DE5-60AF-E2092940EED2}"/>
                  </a:ext>
                </a:extLst>
              </p:cNvPr>
              <p:cNvPicPr/>
              <p:nvPr/>
            </p:nvPicPr>
            <p:blipFill>
              <a:blip r:embed="rId15"/>
              <a:stretch>
                <a:fillRect/>
              </a:stretch>
            </p:blipFill>
            <p:spPr>
              <a:xfrm>
                <a:off x="630115" y="2512072"/>
                <a:ext cx="8242561" cy="4101480"/>
              </a:xfrm>
              <a:prstGeom prst="rect">
                <a:avLst/>
              </a:prstGeom>
            </p:spPr>
          </p:pic>
        </mc:Fallback>
      </mc:AlternateContent>
      <p:sp>
        <p:nvSpPr>
          <p:cNvPr id="8" name="文本框 7">
            <a:extLst>
              <a:ext uri="{FF2B5EF4-FFF2-40B4-BE49-F238E27FC236}">
                <a16:creationId xmlns:a16="http://schemas.microsoft.com/office/drawing/2014/main" id="{8F1C8A67-0027-0EEA-2CF8-569C19D4E60F}"/>
              </a:ext>
            </a:extLst>
          </p:cNvPr>
          <p:cNvSpPr txBox="1"/>
          <p:nvPr/>
        </p:nvSpPr>
        <p:spPr>
          <a:xfrm>
            <a:off x="2472152" y="3140968"/>
            <a:ext cx="1415772" cy="461665"/>
          </a:xfrm>
          <a:prstGeom prst="rect">
            <a:avLst/>
          </a:prstGeom>
          <a:noFill/>
        </p:spPr>
        <p:txBody>
          <a:bodyPr wrap="none" rtlCol="0">
            <a:spAutoFit/>
          </a:bodyPr>
          <a:lstStyle/>
          <a:p>
            <a:r>
              <a:rPr kumimoji="1" lang="zh-CN" altLang="en-US" sz="2400" dirty="0">
                <a:solidFill>
                  <a:srgbClr val="FF0000"/>
                </a:solidFill>
                <a:latin typeface="STKaiti" panose="02010600040101010101" pitchFamily="2" charset="-122"/>
                <a:ea typeface="STKaiti" panose="02010600040101010101" pitchFamily="2" charset="-122"/>
              </a:rPr>
              <a:t>为什么？</a:t>
            </a:r>
          </a:p>
        </p:txBody>
      </p:sp>
    </p:spTree>
    <p:extLst>
      <p:ext uri="{BB962C8B-B14F-4D97-AF65-F5344CB8AC3E}">
        <p14:creationId xmlns:p14="http://schemas.microsoft.com/office/powerpoint/2010/main" val="34589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711396E-7277-9248-999E-0C9F01BC270B}"/>
                  </a:ext>
                </a:extLst>
              </p:cNvPr>
              <p:cNvSpPr txBox="1"/>
              <p:nvPr/>
            </p:nvSpPr>
            <p:spPr>
              <a:xfrm>
                <a:off x="5508250" y="2531632"/>
                <a:ext cx="3276218" cy="3081228"/>
              </a:xfrm>
              <a:prstGeom prst="rect">
                <a:avLst/>
              </a:prstGeom>
              <a:noFill/>
            </p:spPr>
            <p:txBody>
              <a:bodyPr wrap="square" lIns="0" tIns="0" rIns="0" bIns="0" rtlCol="0">
                <a:spAutoFit/>
              </a:bodyPr>
              <a:lstStyle/>
              <a:p>
                <a:pPr>
                  <a:lnSpc>
                    <a:spcPct val="150000"/>
                  </a:lnSpc>
                </a:pPr>
                <a14:m>
                  <m:oMath xmlns:m="http://schemas.openxmlformats.org/officeDocument/2006/math">
                    <m:acc>
                      <m:accPr>
                        <m:chr m:val="̅"/>
                        <m:ctrlPr>
                          <a:rPr kumimoji="1" lang="en-US" altLang="zh-CN" sz="2600" b="0" i="1" smtClean="0">
                            <a:solidFill>
                              <a:schemeClr val="tx1"/>
                            </a:solidFill>
                            <a:latin typeface="Cambria Math" panose="02040503050406030204" pitchFamily="18" charset="0"/>
                          </a:rPr>
                        </m:ctrlPr>
                      </m:accPr>
                      <m:e>
                        <m:r>
                          <a:rPr kumimoji="1" lang="en-US" altLang="zh-CN" sz="2600" b="0" i="1" smtClean="0">
                            <a:solidFill>
                              <a:schemeClr val="tx1"/>
                            </a:solidFill>
                            <a:latin typeface="Cambria Math" panose="02040503050406030204" pitchFamily="18" charset="0"/>
                          </a:rPr>
                          <m:t>𝑌</m:t>
                        </m:r>
                      </m:e>
                    </m:acc>
                    <m:r>
                      <a:rPr kumimoji="1" lang="en-US" altLang="zh-CN" sz="2600" b="0" i="1" smtClean="0">
                        <a:solidFill>
                          <a:schemeClr val="tx1"/>
                        </a:solidFill>
                        <a:latin typeface="Cambria Math" panose="02040503050406030204" pitchFamily="18" charset="0"/>
                      </a:rPr>
                      <m:t>=</m:t>
                    </m:r>
                    <m:acc>
                      <m:accPr>
                        <m:chr m:val="̅"/>
                        <m:ctrlPr>
                          <a:rPr kumimoji="1" lang="en-US" altLang="zh-CN" sz="2600" b="0" i="1" smtClean="0">
                            <a:solidFill>
                              <a:schemeClr val="tx1"/>
                            </a:solidFill>
                            <a:latin typeface="Cambria Math" panose="02040503050406030204" pitchFamily="18" charset="0"/>
                          </a:rPr>
                        </m:ctrlPr>
                      </m:accPr>
                      <m:e>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𝑚</m:t>
                            </m:r>
                          </m:e>
                          <m:sub>
                            <m:r>
                              <a:rPr kumimoji="1" lang="en-US" altLang="zh-CN" sz="2600" b="0" i="1" smtClean="0">
                                <a:solidFill>
                                  <a:schemeClr val="tx1"/>
                                </a:solidFill>
                                <a:latin typeface="Cambria Math" panose="02040503050406030204" pitchFamily="18" charset="0"/>
                              </a:rPr>
                              <m:t>2</m:t>
                            </m:r>
                          </m:sub>
                        </m:sSub>
                        <m:r>
                          <a:rPr kumimoji="1" lang="en-US" altLang="zh-CN" sz="2600" b="0" i="1" smtClean="0">
                            <a:solidFill>
                              <a:schemeClr val="tx1"/>
                            </a:solidFill>
                            <a:latin typeface="Cambria Math" panose="02040503050406030204" pitchFamily="18" charset="0"/>
                          </a:rPr>
                          <m:t>+</m:t>
                        </m:r>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𝑚</m:t>
                            </m:r>
                          </m:e>
                          <m:sub>
                            <m:r>
                              <a:rPr kumimoji="1" lang="en-US" altLang="zh-CN" sz="2600" b="0" i="1" smtClean="0">
                                <a:solidFill>
                                  <a:schemeClr val="tx1"/>
                                </a:solidFill>
                                <a:latin typeface="Cambria Math" panose="02040503050406030204" pitchFamily="18" charset="0"/>
                              </a:rPr>
                              <m:t>3</m:t>
                            </m:r>
                          </m:sub>
                        </m:sSub>
                        <m:r>
                          <a:rPr kumimoji="1" lang="en-US" altLang="zh-CN" sz="2600" b="0" i="1" smtClean="0">
                            <a:solidFill>
                              <a:schemeClr val="tx1"/>
                            </a:solidFill>
                            <a:latin typeface="Cambria Math" panose="02040503050406030204" pitchFamily="18" charset="0"/>
                          </a:rPr>
                          <m:t>+</m:t>
                        </m:r>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𝑚</m:t>
                            </m:r>
                          </m:e>
                          <m:sub>
                            <m:r>
                              <a:rPr kumimoji="1" lang="en-US" altLang="zh-CN" sz="2600" b="0" i="1" smtClean="0">
                                <a:solidFill>
                                  <a:schemeClr val="tx1"/>
                                </a:solidFill>
                                <a:latin typeface="Cambria Math" panose="02040503050406030204" pitchFamily="18" charset="0"/>
                              </a:rPr>
                              <m:t>7</m:t>
                            </m:r>
                          </m:sub>
                        </m:sSub>
                      </m:e>
                    </m:acc>
                  </m:oMath>
                </a14:m>
                <a: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t> </a:t>
                </a:r>
                <a:b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br>
                <a14:m>
                  <m:oMath xmlns:m="http://schemas.openxmlformats.org/officeDocument/2006/math">
                    <m:r>
                      <a:rPr kumimoji="1" lang="en-US" altLang="zh-CN" sz="2600" b="0" i="1" smtClean="0">
                        <a:solidFill>
                          <a:schemeClr val="tx1"/>
                        </a:solidFill>
                        <a:latin typeface="Cambria Math" panose="02040503050406030204" pitchFamily="18" charset="0"/>
                      </a:rPr>
                      <m:t>=</m:t>
                    </m:r>
                    <m:acc>
                      <m:accPr>
                        <m:chr m:val="̅"/>
                        <m:ctrlPr>
                          <a:rPr kumimoji="1" lang="en-US" altLang="zh-CN" sz="2600" b="0" i="1" smtClean="0">
                            <a:solidFill>
                              <a:schemeClr val="tx1"/>
                            </a:solidFill>
                            <a:latin typeface="Cambria Math" panose="02040503050406030204" pitchFamily="18" charset="0"/>
                          </a:rPr>
                        </m:ctrlPr>
                      </m:accPr>
                      <m:e>
                        <m:acc>
                          <m:accPr>
                            <m:chr m:val="̅"/>
                            <m:ctrlPr>
                              <a:rPr kumimoji="1" lang="en-US" altLang="zh-CN" sz="2600" b="0" i="1" smtClean="0">
                                <a:solidFill>
                                  <a:schemeClr val="tx1"/>
                                </a:solidFill>
                                <a:latin typeface="Cambria Math" panose="02040503050406030204" pitchFamily="18" charset="0"/>
                              </a:rPr>
                            </m:ctrlPr>
                          </m:accPr>
                          <m:e>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2</m:t>
                                </m:r>
                              </m:sub>
                            </m:sSub>
                          </m:e>
                        </m:acc>
                        <m:r>
                          <a:rPr kumimoji="1" lang="en-US" altLang="zh-CN" sz="2600" b="0" i="1" smtClean="0">
                            <a:solidFill>
                              <a:schemeClr val="tx1"/>
                            </a:solidFill>
                            <a:latin typeface="Cambria Math" panose="02040503050406030204" pitchFamily="18" charset="0"/>
                          </a:rPr>
                          <m:t>+</m:t>
                        </m:r>
                        <m:acc>
                          <m:accPr>
                            <m:chr m:val="̅"/>
                            <m:ctrlPr>
                              <a:rPr kumimoji="1" lang="en-US" altLang="zh-CN" sz="2600" b="0" i="1" smtClean="0">
                                <a:solidFill>
                                  <a:schemeClr val="tx1"/>
                                </a:solidFill>
                                <a:latin typeface="Cambria Math" panose="02040503050406030204" pitchFamily="18" charset="0"/>
                              </a:rPr>
                            </m:ctrlPr>
                          </m:accPr>
                          <m:e>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3</m:t>
                                </m:r>
                              </m:sub>
                            </m:sSub>
                          </m:e>
                        </m:acc>
                        <m:r>
                          <a:rPr kumimoji="1" lang="en-US" altLang="zh-CN" sz="2600" b="0" i="1" smtClean="0">
                            <a:solidFill>
                              <a:schemeClr val="tx1"/>
                            </a:solidFill>
                            <a:latin typeface="Cambria Math" panose="02040503050406030204" pitchFamily="18" charset="0"/>
                          </a:rPr>
                          <m:t>+</m:t>
                        </m:r>
                        <m:acc>
                          <m:accPr>
                            <m:chr m:val="̅"/>
                            <m:ctrlPr>
                              <a:rPr kumimoji="1" lang="en-US" altLang="zh-CN" sz="2600" b="0" i="1" smtClean="0">
                                <a:solidFill>
                                  <a:schemeClr val="tx1"/>
                                </a:solidFill>
                                <a:latin typeface="Cambria Math" panose="02040503050406030204" pitchFamily="18" charset="0"/>
                              </a:rPr>
                            </m:ctrlPr>
                          </m:accPr>
                          <m:e>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7</m:t>
                                </m:r>
                              </m:sub>
                            </m:sSub>
                          </m:e>
                        </m:acc>
                      </m:e>
                    </m:acc>
                  </m:oMath>
                </a14:m>
                <a: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t> </a:t>
                </a:r>
                <a:b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br>
                <a14:m>
                  <m:oMath xmlns:m="http://schemas.openxmlformats.org/officeDocument/2006/math">
                    <m:r>
                      <a:rPr kumimoji="1" lang="en-US" altLang="zh-CN" sz="2600" b="0" i="1" smtClean="0">
                        <a:solidFill>
                          <a:schemeClr val="tx1"/>
                        </a:solidFill>
                        <a:latin typeface="Cambria Math" panose="02040503050406030204" pitchFamily="18" charset="0"/>
                      </a:rPr>
                      <m:t>=</m:t>
                    </m:r>
                    <m:acc>
                      <m:accPr>
                        <m:chr m:val="̅"/>
                        <m:ctrlPr>
                          <a:rPr kumimoji="1" lang="en-US" altLang="zh-CN" sz="2600" b="0" i="1" smtClean="0">
                            <a:solidFill>
                              <a:schemeClr val="tx1"/>
                            </a:solidFill>
                            <a:latin typeface="Cambria Math" panose="02040503050406030204" pitchFamily="18" charset="0"/>
                          </a:rPr>
                        </m:ctrlPr>
                      </m:accPr>
                      <m:e>
                        <m:acc>
                          <m:accPr>
                            <m:chr m:val="̅"/>
                            <m:ctrlPr>
                              <a:rPr kumimoji="1" lang="en-US" altLang="zh-CN" sz="2600" b="0" i="1" smtClean="0">
                                <a:solidFill>
                                  <a:schemeClr val="tx1"/>
                                </a:solidFill>
                                <a:latin typeface="Cambria Math" panose="02040503050406030204" pitchFamily="18" charset="0"/>
                              </a:rPr>
                            </m:ctrlPr>
                          </m:accPr>
                          <m:e>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2</m:t>
                                </m:r>
                              </m:sub>
                            </m:sSub>
                          </m:e>
                        </m:acc>
                      </m:e>
                    </m:acc>
                    <m:r>
                      <a:rPr kumimoji="1" lang="en-US" altLang="zh-CN" sz="2600" b="0" i="1" smtClean="0">
                        <a:solidFill>
                          <a:schemeClr val="tx1"/>
                        </a:solidFill>
                        <a:latin typeface="Cambria Math" panose="02040503050406030204" pitchFamily="18" charset="0"/>
                      </a:rPr>
                      <m:t> ∙</m:t>
                    </m:r>
                    <m:acc>
                      <m:accPr>
                        <m:chr m:val="̅"/>
                        <m:ctrlPr>
                          <a:rPr kumimoji="1" lang="en-US" altLang="zh-CN" sz="2600" b="0" i="1" smtClean="0">
                            <a:solidFill>
                              <a:schemeClr val="tx1"/>
                            </a:solidFill>
                            <a:latin typeface="Cambria Math" panose="02040503050406030204" pitchFamily="18" charset="0"/>
                          </a:rPr>
                        </m:ctrlPr>
                      </m:accPr>
                      <m:e>
                        <m:acc>
                          <m:accPr>
                            <m:chr m:val="̅"/>
                            <m:ctrlPr>
                              <a:rPr kumimoji="1" lang="en-US" altLang="zh-CN" sz="2600" b="0" i="1" smtClean="0">
                                <a:solidFill>
                                  <a:schemeClr val="tx1"/>
                                </a:solidFill>
                                <a:latin typeface="Cambria Math" panose="02040503050406030204" pitchFamily="18" charset="0"/>
                              </a:rPr>
                            </m:ctrlPr>
                          </m:accPr>
                          <m:e>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3</m:t>
                                </m:r>
                              </m:sub>
                            </m:sSub>
                          </m:e>
                        </m:acc>
                      </m:e>
                    </m:acc>
                    <m:r>
                      <a:rPr kumimoji="1" lang="en-US" altLang="zh-CN" sz="2600" b="0" i="1" smtClean="0">
                        <a:solidFill>
                          <a:schemeClr val="tx1"/>
                        </a:solidFill>
                        <a:latin typeface="Cambria Math" panose="02040503050406030204" pitchFamily="18" charset="0"/>
                      </a:rPr>
                      <m:t>∙</m:t>
                    </m:r>
                    <m:acc>
                      <m:accPr>
                        <m:chr m:val="̅"/>
                        <m:ctrlPr>
                          <a:rPr kumimoji="1" lang="en-US" altLang="zh-CN" sz="2600" b="0" i="1" smtClean="0">
                            <a:solidFill>
                              <a:schemeClr val="tx1"/>
                            </a:solidFill>
                            <a:latin typeface="Cambria Math" panose="02040503050406030204" pitchFamily="18" charset="0"/>
                          </a:rPr>
                        </m:ctrlPr>
                      </m:accPr>
                      <m:e>
                        <m:acc>
                          <m:accPr>
                            <m:chr m:val="̅"/>
                            <m:ctrlPr>
                              <a:rPr kumimoji="1" lang="en-US" altLang="zh-CN" sz="2600" b="0" i="1" smtClean="0">
                                <a:solidFill>
                                  <a:schemeClr val="tx1"/>
                                </a:solidFill>
                                <a:latin typeface="Cambria Math" panose="02040503050406030204" pitchFamily="18" charset="0"/>
                              </a:rPr>
                            </m:ctrlPr>
                          </m:accPr>
                          <m:e>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7</m:t>
                                </m:r>
                              </m:sub>
                            </m:sSub>
                          </m:e>
                        </m:acc>
                      </m:e>
                    </m:acc>
                  </m:oMath>
                </a14:m>
                <a: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t> </a:t>
                </a:r>
                <a:b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br>
                <a14:m>
                  <m:oMath xmlns:m="http://schemas.openxmlformats.org/officeDocument/2006/math">
                    <m:r>
                      <a:rPr kumimoji="1" lang="en-US" altLang="zh-CN" sz="2600" b="0" i="1" smtClean="0">
                        <a:solidFill>
                          <a:schemeClr val="tx1"/>
                        </a:solidFill>
                        <a:latin typeface="Cambria Math" panose="02040503050406030204" pitchFamily="18" charset="0"/>
                      </a:rPr>
                      <m:t>=</m:t>
                    </m:r>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2</m:t>
                        </m:r>
                      </m:sub>
                    </m:sSub>
                    <m:r>
                      <a:rPr kumimoji="1" lang="en-US" altLang="zh-CN" sz="2600" b="0" i="1" smtClean="0">
                        <a:solidFill>
                          <a:schemeClr val="tx1"/>
                        </a:solidFill>
                        <a:latin typeface="Cambria Math" panose="02040503050406030204" pitchFamily="18" charset="0"/>
                      </a:rPr>
                      <m:t>∙</m:t>
                    </m:r>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3</m:t>
                        </m:r>
                      </m:sub>
                    </m:sSub>
                    <m:r>
                      <a:rPr kumimoji="1" lang="en-US" altLang="zh-CN" sz="2600" b="0" i="1" smtClean="0">
                        <a:solidFill>
                          <a:schemeClr val="tx1"/>
                        </a:solidFill>
                        <a:latin typeface="Cambria Math" panose="02040503050406030204" pitchFamily="18" charset="0"/>
                      </a:rPr>
                      <m:t>∙</m:t>
                    </m:r>
                    <m:sSub>
                      <m:sSubPr>
                        <m:ctrlPr>
                          <a:rPr kumimoji="1" lang="en-US" altLang="zh-CN" sz="2600" b="0" i="1" smtClean="0">
                            <a:solidFill>
                              <a:schemeClr val="tx1"/>
                            </a:solidFill>
                            <a:latin typeface="Cambria Math" panose="02040503050406030204" pitchFamily="18" charset="0"/>
                          </a:rPr>
                        </m:ctrlPr>
                      </m:sSubPr>
                      <m:e>
                        <m:r>
                          <a:rPr kumimoji="1" lang="en-US" altLang="zh-CN" sz="2600" b="0" i="1" smtClean="0">
                            <a:solidFill>
                              <a:schemeClr val="tx1"/>
                            </a:solidFill>
                            <a:latin typeface="Cambria Math" panose="02040503050406030204" pitchFamily="18" charset="0"/>
                          </a:rPr>
                          <m:t>𝑀</m:t>
                        </m:r>
                      </m:e>
                      <m:sub>
                        <m:r>
                          <a:rPr kumimoji="1" lang="en-US" altLang="zh-CN" sz="2600" b="0" i="1" smtClean="0">
                            <a:solidFill>
                              <a:schemeClr val="tx1"/>
                            </a:solidFill>
                            <a:latin typeface="Cambria Math" panose="02040503050406030204" pitchFamily="18" charset="0"/>
                          </a:rPr>
                          <m:t>7</m:t>
                        </m:r>
                      </m:sub>
                    </m:sSub>
                  </m:oMath>
                </a14:m>
                <a: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t> </a:t>
                </a:r>
                <a:b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br>
                <a14:m>
                  <m:oMath xmlns:m="http://schemas.openxmlformats.org/officeDocument/2006/math">
                    <m:r>
                      <a:rPr kumimoji="1" lang="en-US" altLang="zh-CN" sz="2600" b="0" i="1" smtClean="0">
                        <a:solidFill>
                          <a:schemeClr val="tx1"/>
                        </a:solidFill>
                        <a:latin typeface="Cambria Math" panose="02040503050406030204" pitchFamily="18" charset="0"/>
                      </a:rPr>
                      <m:t>=</m:t>
                    </m:r>
                    <m:nary>
                      <m:naryPr>
                        <m:chr m:val="∏"/>
                        <m:subHide m:val="on"/>
                        <m:supHide m:val="on"/>
                        <m:ctrlPr>
                          <a:rPr kumimoji="1" lang="en-US" altLang="zh-CN" sz="2600" b="0" i="1" smtClean="0">
                            <a:solidFill>
                              <a:schemeClr val="tx1"/>
                            </a:solidFill>
                            <a:latin typeface="Cambria Math" panose="02040503050406030204" pitchFamily="18" charset="0"/>
                          </a:rPr>
                        </m:ctrlPr>
                      </m:naryPr>
                      <m:sub/>
                      <m:sup/>
                      <m:e>
                        <m:r>
                          <a:rPr kumimoji="1" lang="en-US" altLang="zh-CN" sz="2600" b="0" i="1" smtClean="0">
                            <a:solidFill>
                              <a:schemeClr val="tx1"/>
                            </a:solidFill>
                            <a:latin typeface="Cambria Math" panose="02040503050406030204" pitchFamily="18" charset="0"/>
                          </a:rPr>
                          <m:t>𝑀</m:t>
                        </m:r>
                        <m:r>
                          <a:rPr kumimoji="1" lang="en-US" altLang="zh-CN" sz="2600" b="0" i="1" smtClean="0">
                            <a:solidFill>
                              <a:schemeClr val="tx1"/>
                            </a:solidFill>
                            <a:latin typeface="Cambria Math" panose="02040503050406030204" pitchFamily="18" charset="0"/>
                          </a:rPr>
                          <m:t>(2, 3, 7)</m:t>
                        </m:r>
                      </m:e>
                    </m:nary>
                  </m:oMath>
                </a14:m>
                <a:r>
                  <a:rPr kumimoji="1" lang="en-US" altLang="zh-CN" sz="2600" b="0" i="1" dirty="0">
                    <a:solidFill>
                      <a:schemeClr val="tx1"/>
                    </a:solidFill>
                    <a:latin typeface="Arial" panose="020B0604020202020204" pitchFamily="34" charset="0"/>
                    <a:ea typeface="黑体" panose="02010609060101010101" pitchFamily="49" charset="-122"/>
                    <a:cs typeface="Arial" panose="020B0604020202020204" pitchFamily="34" charset="0"/>
                  </a:rPr>
                  <a:t> </a:t>
                </a:r>
              </a:p>
            </p:txBody>
          </p:sp>
        </mc:Choice>
        <mc:Fallback xmlns="">
          <p:sp>
            <p:nvSpPr>
              <p:cNvPr id="15" name="文本框 14">
                <a:extLst>
                  <a:ext uri="{FF2B5EF4-FFF2-40B4-BE49-F238E27FC236}">
                    <a16:creationId xmlns:a16="http://schemas.microsoft.com/office/drawing/2014/main" id="{D711396E-7277-9248-999E-0C9F01BC270B}"/>
                  </a:ext>
                </a:extLst>
              </p:cNvPr>
              <p:cNvSpPr txBox="1">
                <a:spLocks noRot="1" noChangeAspect="1" noMove="1" noResize="1" noEditPoints="1" noAdjustHandles="1" noChangeArrowheads="1" noChangeShapeType="1" noTextEdit="1"/>
              </p:cNvSpPr>
              <p:nvPr/>
            </p:nvSpPr>
            <p:spPr>
              <a:xfrm>
                <a:off x="5508250" y="2531632"/>
                <a:ext cx="3276218" cy="308122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C6FD521F-B99C-084D-93CA-00E7562F7DF8}"/>
                  </a:ext>
                </a:extLst>
              </p:cNvPr>
              <p:cNvSpPr/>
              <p:nvPr/>
            </p:nvSpPr>
            <p:spPr>
              <a:xfrm>
                <a:off x="1027676" y="2622221"/>
                <a:ext cx="2575064" cy="492443"/>
              </a:xfrm>
              <a:prstGeom prst="rect">
                <a:avLst/>
              </a:prstGeom>
            </p:spPr>
            <p:txBody>
              <a:bodyPr wrap="none">
                <a:spAutoFit/>
              </a:bodyPr>
              <a:lstStyle/>
              <a:p>
                <a14:m>
                  <m:oMath xmlns:m="http://schemas.openxmlformats.org/officeDocument/2006/math">
                    <m:r>
                      <a:rPr kumimoji="1" lang="en-US" altLang="zh-CN" sz="2600" i="1">
                        <a:solidFill>
                          <a:srgbClr val="000000"/>
                        </a:solidFill>
                        <a:latin typeface="Cambria Math" panose="02040503050406030204" pitchFamily="18" charset="0"/>
                      </a:rPr>
                      <m:t>𝑌</m:t>
                    </m:r>
                    <m:r>
                      <a:rPr kumimoji="1" lang="en-US" altLang="zh-CN" sz="2600" i="1">
                        <a:solidFill>
                          <a:srgbClr val="000000"/>
                        </a:solidFill>
                        <a:latin typeface="Cambria Math" panose="02040503050406030204" pitchFamily="18" charset="0"/>
                      </a:rPr>
                      <m:t>=</m:t>
                    </m:r>
                    <m:nary>
                      <m:naryPr>
                        <m:chr m:val="∑"/>
                        <m:subHide m:val="on"/>
                        <m:supHide m:val="on"/>
                        <m:ctrlPr>
                          <a:rPr kumimoji="1" lang="en-US" altLang="zh-CN" sz="2600" i="1">
                            <a:solidFill>
                              <a:srgbClr val="000000"/>
                            </a:solidFill>
                            <a:latin typeface="Cambria Math" panose="02040503050406030204" pitchFamily="18" charset="0"/>
                          </a:rPr>
                        </m:ctrlPr>
                      </m:naryPr>
                      <m:sub/>
                      <m:sup/>
                      <m:e>
                        <m:r>
                          <a:rPr kumimoji="1" lang="en-US" altLang="zh-CN" sz="2600" i="1">
                            <a:solidFill>
                              <a:srgbClr val="000000"/>
                            </a:solidFill>
                            <a:latin typeface="Cambria Math" panose="02040503050406030204" pitchFamily="18" charset="0"/>
                          </a:rPr>
                          <m:t>𝑚</m:t>
                        </m:r>
                        <m:d>
                          <m:dPr>
                            <m:ctrlPr>
                              <a:rPr kumimoji="1" lang="en-US" altLang="zh-CN" sz="2600" i="1">
                                <a:solidFill>
                                  <a:srgbClr val="000000"/>
                                </a:solidFill>
                                <a:latin typeface="Cambria Math" panose="02040503050406030204" pitchFamily="18" charset="0"/>
                              </a:rPr>
                            </m:ctrlPr>
                          </m:dPr>
                          <m:e>
                            <m:r>
                              <a:rPr kumimoji="1" lang="en-US" altLang="zh-CN" sz="2600" i="1">
                                <a:solidFill>
                                  <a:srgbClr val="000000"/>
                                </a:solidFill>
                                <a:latin typeface="Cambria Math" panose="02040503050406030204" pitchFamily="18" charset="0"/>
                              </a:rPr>
                              <m:t>2, 3, 7</m:t>
                            </m:r>
                          </m:e>
                        </m:d>
                      </m:e>
                    </m:nary>
                  </m:oMath>
                </a14:m>
                <a:r>
                  <a:rPr kumimoji="1" lang="en-US" altLang="zh-CN" sz="2600" i="1" dirty="0">
                    <a:solidFill>
                      <a:srgbClr val="000000"/>
                    </a:solidFill>
                    <a:latin typeface="Arial" panose="020B0604020202020204" pitchFamily="34" charset="0"/>
                    <a:ea typeface="黑体" panose="02010609060101010101" pitchFamily="49" charset="-122"/>
                    <a:cs typeface="Arial" panose="020B0604020202020204" pitchFamily="34" charset="0"/>
                  </a:rPr>
                  <a:t> </a:t>
                </a:r>
                <a:endParaRPr lang="en-CN" dirty="0">
                  <a:ea typeface="黑体" panose="02010609060101010101" pitchFamily="49" charset="-122"/>
                </a:endParaRPr>
              </a:p>
            </p:txBody>
          </p:sp>
        </mc:Choice>
        <mc:Fallback xmlns="">
          <p:sp>
            <p:nvSpPr>
              <p:cNvPr id="3" name="Rectangle 2">
                <a:extLst>
                  <a:ext uri="{FF2B5EF4-FFF2-40B4-BE49-F238E27FC236}">
                    <a16:creationId xmlns:a16="http://schemas.microsoft.com/office/drawing/2014/main" id="{C6FD521F-B99C-084D-93CA-00E7562F7DF8}"/>
                  </a:ext>
                </a:extLst>
              </p:cNvPr>
              <p:cNvSpPr>
                <a:spLocks noRot="1" noChangeAspect="1" noMove="1" noResize="1" noEditPoints="1" noAdjustHandles="1" noChangeArrowheads="1" noChangeShapeType="1" noTextEdit="1"/>
              </p:cNvSpPr>
              <p:nvPr/>
            </p:nvSpPr>
            <p:spPr>
              <a:xfrm>
                <a:off x="1027676" y="2622221"/>
                <a:ext cx="2575064" cy="49244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87D2DE0-E84D-9B45-A29C-AFC5939FEAC4}"/>
                  </a:ext>
                </a:extLst>
              </p:cNvPr>
              <p:cNvSpPr/>
              <p:nvPr/>
            </p:nvSpPr>
            <p:spPr>
              <a:xfrm>
                <a:off x="577583" y="4071245"/>
                <a:ext cx="4347363" cy="1292662"/>
              </a:xfrm>
              <a:prstGeom prst="rect">
                <a:avLst/>
              </a:prstGeom>
            </p:spPr>
            <p:txBody>
              <a:bodyPr wrap="square">
                <a:spAutoFit/>
              </a:bodyPr>
              <a:lstStyle/>
              <a:p>
                <a:pPr/>
                <a14:m>
                  <m:oMath xmlns:m="http://schemas.openxmlformats.org/officeDocument/2006/math">
                    <m:acc>
                      <m:accPr>
                        <m:chr m:val="̅"/>
                        <m:ctrlPr>
                          <a:rPr kumimoji="1" lang="en-US" altLang="zh-CN" sz="2600" i="1" smtClean="0">
                            <a:solidFill>
                              <a:srgbClr val="000000"/>
                            </a:solidFill>
                            <a:latin typeface="Cambria Math" panose="02040503050406030204" pitchFamily="18" charset="0"/>
                          </a:rPr>
                        </m:ctrlPr>
                      </m:accPr>
                      <m:e>
                        <m:r>
                          <a:rPr kumimoji="1" lang="en-US" altLang="zh-CN" sz="2600" i="1">
                            <a:solidFill>
                              <a:srgbClr val="000000"/>
                            </a:solidFill>
                            <a:latin typeface="Cambria Math" panose="02040503050406030204" pitchFamily="18" charset="0"/>
                          </a:rPr>
                          <m:t>𝑌</m:t>
                        </m:r>
                      </m:e>
                    </m:acc>
                    <m:r>
                      <a:rPr kumimoji="1" lang="en-US" altLang="zh-CN" sz="2600" i="1">
                        <a:solidFill>
                          <a:srgbClr val="000000"/>
                        </a:solidFill>
                        <a:latin typeface="Cambria Math" panose="02040503050406030204" pitchFamily="18" charset="0"/>
                      </a:rPr>
                      <m:t>=</m:t>
                    </m:r>
                    <m:acc>
                      <m:accPr>
                        <m:chr m:val="̅"/>
                        <m:ctrlPr>
                          <a:rPr kumimoji="1" lang="en-US" altLang="zh-CN" sz="2600" i="1">
                            <a:solidFill>
                              <a:srgbClr val="000000"/>
                            </a:solidFill>
                            <a:latin typeface="Cambria Math" panose="02040503050406030204" pitchFamily="18" charset="0"/>
                          </a:rPr>
                        </m:ctrlPr>
                      </m:accPr>
                      <m:e>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𝑚</m:t>
                            </m:r>
                          </m:e>
                          <m:sub>
                            <m:r>
                              <a:rPr kumimoji="1" lang="en-US" altLang="zh-CN" sz="2600" i="1">
                                <a:solidFill>
                                  <a:srgbClr val="000000"/>
                                </a:solidFill>
                                <a:latin typeface="Cambria Math" panose="02040503050406030204" pitchFamily="18" charset="0"/>
                              </a:rPr>
                              <m:t>2</m:t>
                            </m:r>
                          </m:sub>
                        </m:sSub>
                        <m:r>
                          <a:rPr kumimoji="1" lang="en-US" altLang="zh-CN"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𝑚</m:t>
                            </m:r>
                          </m:e>
                          <m:sub>
                            <m:r>
                              <a:rPr kumimoji="1" lang="en-US" altLang="zh-CN" sz="2600" i="1">
                                <a:solidFill>
                                  <a:srgbClr val="000000"/>
                                </a:solidFill>
                                <a:latin typeface="Cambria Math" panose="02040503050406030204" pitchFamily="18" charset="0"/>
                              </a:rPr>
                              <m:t>3</m:t>
                            </m:r>
                          </m:sub>
                        </m:sSub>
                        <m:r>
                          <a:rPr kumimoji="1" lang="en-US" altLang="zh-CN"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𝑚</m:t>
                            </m:r>
                          </m:e>
                          <m:sub>
                            <m:r>
                              <a:rPr kumimoji="1" lang="en-US" altLang="zh-CN" sz="2600" i="1">
                                <a:solidFill>
                                  <a:srgbClr val="000000"/>
                                </a:solidFill>
                                <a:latin typeface="Cambria Math" panose="02040503050406030204" pitchFamily="18" charset="0"/>
                              </a:rPr>
                              <m:t>7</m:t>
                            </m:r>
                          </m:sub>
                        </m:sSub>
                      </m:e>
                    </m:acc>
                  </m:oMath>
                </a14:m>
                <a:r>
                  <a:rPr kumimoji="1" lang="en-US" altLang="zh-CN" sz="2600" i="1" dirty="0">
                    <a:solidFill>
                      <a:srgbClr val="000000"/>
                    </a:solidFill>
                    <a:latin typeface="Arial" panose="020B0604020202020204" pitchFamily="34" charset="0"/>
                    <a:ea typeface="黑体" panose="02010609060101010101" pitchFamily="49" charset="-122"/>
                    <a:cs typeface="Arial" panose="020B0604020202020204" pitchFamily="34" charset="0"/>
                  </a:rPr>
                  <a:t> </a:t>
                </a:r>
                <a:br>
                  <a:rPr kumimoji="1" lang="en-US" altLang="zh-CN" sz="2600" i="1" dirty="0">
                    <a:solidFill>
                      <a:srgbClr val="000000"/>
                    </a:solidFill>
                    <a:latin typeface="Arial" panose="020B0604020202020204" pitchFamily="34" charset="0"/>
                    <a:ea typeface="黑体" panose="02010609060101010101" pitchFamily="49" charset="-122"/>
                    <a:cs typeface="Arial" panose="020B0604020202020204" pitchFamily="34" charset="0"/>
                  </a:rPr>
                </a:br>
                <a14:m>
                  <m:oMathPara xmlns:m="http://schemas.openxmlformats.org/officeDocument/2006/math">
                    <m:oMathParaPr>
                      <m:jc m:val="centerGroup"/>
                    </m:oMathParaPr>
                    <m:oMath xmlns:m="http://schemas.openxmlformats.org/officeDocument/2006/math">
                      <m:r>
                        <a:rPr kumimoji="1" lang="en-US" altLang="zh-CN"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𝑚</m:t>
                          </m:r>
                        </m:e>
                        <m:sub>
                          <m:r>
                            <a:rPr kumimoji="1" lang="en-US" altLang="zh-CN" sz="2600" i="1">
                              <a:solidFill>
                                <a:srgbClr val="000000"/>
                              </a:solidFill>
                              <a:latin typeface="Cambria Math" panose="02040503050406030204" pitchFamily="18" charset="0"/>
                            </a:rPr>
                            <m:t>0</m:t>
                          </m:r>
                        </m:sub>
                      </m:sSub>
                      <m:r>
                        <a:rPr kumimoji="1" lang="en-US" altLang="zh-CN"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𝑚</m:t>
                          </m:r>
                        </m:e>
                        <m:sub>
                          <m:r>
                            <a:rPr kumimoji="1" lang="en-US" altLang="zh-CN" sz="2600" i="1">
                              <a:solidFill>
                                <a:srgbClr val="000000"/>
                              </a:solidFill>
                              <a:latin typeface="Cambria Math" panose="02040503050406030204" pitchFamily="18" charset="0"/>
                            </a:rPr>
                            <m:t>1</m:t>
                          </m:r>
                        </m:sub>
                      </m:sSub>
                      <m:r>
                        <a:rPr kumimoji="1" lang="en-US" altLang="zh-CN"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𝑚</m:t>
                          </m:r>
                        </m:e>
                        <m:sub>
                          <m:r>
                            <a:rPr kumimoji="1" lang="en-US" altLang="zh-CN" sz="2600" i="1">
                              <a:solidFill>
                                <a:srgbClr val="000000"/>
                              </a:solidFill>
                              <a:latin typeface="Cambria Math" panose="02040503050406030204" pitchFamily="18" charset="0"/>
                            </a:rPr>
                            <m:t>4</m:t>
                          </m:r>
                        </m:sub>
                      </m:sSub>
                      <m:r>
                        <a:rPr kumimoji="1" lang="en-US" altLang="zh-CN"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𝑚</m:t>
                          </m:r>
                        </m:e>
                        <m:sub>
                          <m:r>
                            <a:rPr kumimoji="1" lang="en-US" altLang="zh-CN" sz="2600" i="1">
                              <a:solidFill>
                                <a:srgbClr val="000000"/>
                              </a:solidFill>
                              <a:latin typeface="Cambria Math" panose="02040503050406030204" pitchFamily="18" charset="0"/>
                            </a:rPr>
                            <m:t>5</m:t>
                          </m:r>
                        </m:sub>
                      </m:sSub>
                      <m:r>
                        <a:rPr kumimoji="1" lang="en-US" altLang="zh-CN" sz="2600" i="1">
                          <a:solidFill>
                            <a:srgbClr val="000000"/>
                          </a:solidFill>
                          <a:latin typeface="Cambria Math" panose="02040503050406030204" pitchFamily="18" charset="0"/>
                        </a:rPr>
                        <m:t>+</m:t>
                      </m:r>
                      <m:sSub>
                        <m:sSubPr>
                          <m:ctrlPr>
                            <a:rPr kumimoji="1" lang="en-US" altLang="zh-CN" sz="2600" i="1">
                              <a:solidFill>
                                <a:srgbClr val="000000"/>
                              </a:solidFill>
                              <a:latin typeface="Cambria Math" panose="02040503050406030204" pitchFamily="18" charset="0"/>
                            </a:rPr>
                          </m:ctrlPr>
                        </m:sSubPr>
                        <m:e>
                          <m:r>
                            <a:rPr kumimoji="1" lang="en-US" altLang="zh-CN" sz="2600" i="1">
                              <a:solidFill>
                                <a:srgbClr val="000000"/>
                              </a:solidFill>
                              <a:latin typeface="Cambria Math" panose="02040503050406030204" pitchFamily="18" charset="0"/>
                            </a:rPr>
                            <m:t>𝑚</m:t>
                          </m:r>
                        </m:e>
                        <m:sub>
                          <m:r>
                            <a:rPr kumimoji="1" lang="en-US" altLang="zh-CN" sz="2600" i="1">
                              <a:solidFill>
                                <a:srgbClr val="000000"/>
                              </a:solidFill>
                              <a:latin typeface="Cambria Math" panose="02040503050406030204" pitchFamily="18" charset="0"/>
                            </a:rPr>
                            <m:t>6</m:t>
                          </m:r>
                        </m:sub>
                      </m:sSub>
                    </m:oMath>
                  </m:oMathPara>
                </a14:m>
                <a:endParaRPr kumimoji="1" lang="en-US" altLang="zh-CN" sz="2600" i="1" dirty="0">
                  <a:solidFill>
                    <a:srgbClr val="000000"/>
                  </a:solidFill>
                  <a:latin typeface="Arial" panose="020B0604020202020204" pitchFamily="34" charset="0"/>
                  <a:ea typeface="黑体" panose="02010609060101010101" pitchFamily="49" charset="-122"/>
                </a:endParaRPr>
              </a:p>
              <a:p>
                <a14:m>
                  <m:oMath xmlns:m="http://schemas.openxmlformats.org/officeDocument/2006/math">
                    <m:r>
                      <a:rPr kumimoji="1" lang="en-US" altLang="zh-CN" sz="2600" b="0" i="1" smtClean="0">
                        <a:solidFill>
                          <a:srgbClr val="000000"/>
                        </a:solidFill>
                        <a:latin typeface="Cambria Math" panose="02040503050406030204" pitchFamily="18" charset="0"/>
                      </a:rPr>
                      <m:t>=</m:t>
                    </m:r>
                    <m:nary>
                      <m:naryPr>
                        <m:chr m:val="∑"/>
                        <m:subHide m:val="on"/>
                        <m:supHide m:val="on"/>
                        <m:ctrlPr>
                          <a:rPr kumimoji="1" lang="en-US" altLang="zh-CN" sz="2600" i="1">
                            <a:solidFill>
                              <a:srgbClr val="000000"/>
                            </a:solidFill>
                            <a:latin typeface="Cambria Math" panose="02040503050406030204" pitchFamily="18" charset="0"/>
                          </a:rPr>
                        </m:ctrlPr>
                      </m:naryPr>
                      <m:sub/>
                      <m:sup/>
                      <m:e>
                        <m:r>
                          <a:rPr kumimoji="1" lang="en-US" altLang="zh-CN" sz="2600" i="1">
                            <a:solidFill>
                              <a:srgbClr val="000000"/>
                            </a:solidFill>
                            <a:latin typeface="Cambria Math" panose="02040503050406030204" pitchFamily="18" charset="0"/>
                          </a:rPr>
                          <m:t>𝑚</m:t>
                        </m:r>
                        <m:d>
                          <m:dPr>
                            <m:ctrlPr>
                              <a:rPr kumimoji="1" lang="en-US" altLang="zh-CN" sz="2600" i="1">
                                <a:solidFill>
                                  <a:srgbClr val="000000"/>
                                </a:solidFill>
                                <a:latin typeface="Cambria Math" panose="02040503050406030204" pitchFamily="18" charset="0"/>
                              </a:rPr>
                            </m:ctrlPr>
                          </m:dPr>
                          <m:e>
                            <m:r>
                              <a:rPr kumimoji="1" lang="en-US" altLang="zh-CN" sz="2600" i="1">
                                <a:solidFill>
                                  <a:srgbClr val="000000"/>
                                </a:solidFill>
                                <a:latin typeface="Cambria Math" panose="02040503050406030204" pitchFamily="18" charset="0"/>
                              </a:rPr>
                              <m:t>0, 1, 4, 5, 6</m:t>
                            </m:r>
                          </m:e>
                        </m:d>
                      </m:e>
                    </m:nary>
                  </m:oMath>
                </a14:m>
                <a:r>
                  <a:rPr kumimoji="1" lang="en-US" altLang="zh-CN" sz="2600" i="1" dirty="0">
                    <a:solidFill>
                      <a:srgbClr val="000000"/>
                    </a:solidFill>
                    <a:latin typeface="Arial" panose="020B0604020202020204" pitchFamily="34" charset="0"/>
                    <a:ea typeface="黑体" panose="02010609060101010101" pitchFamily="49" charset="-122"/>
                    <a:cs typeface="Arial" panose="020B0604020202020204" pitchFamily="34" charset="0"/>
                  </a:rPr>
                  <a:t> </a:t>
                </a:r>
                <a:endParaRPr lang="en-CN" dirty="0">
                  <a:ea typeface="黑体" panose="02010609060101010101" pitchFamily="49" charset="-122"/>
                </a:endParaRPr>
              </a:p>
            </p:txBody>
          </p:sp>
        </mc:Choice>
        <mc:Fallback xmlns="">
          <p:sp>
            <p:nvSpPr>
              <p:cNvPr id="4" name="Rectangle 3">
                <a:extLst>
                  <a:ext uri="{FF2B5EF4-FFF2-40B4-BE49-F238E27FC236}">
                    <a16:creationId xmlns:a16="http://schemas.microsoft.com/office/drawing/2014/main" id="{C87D2DE0-E84D-9B45-A29C-AFC5939FEAC4}"/>
                  </a:ext>
                </a:extLst>
              </p:cNvPr>
              <p:cNvSpPr>
                <a:spLocks noRot="1" noChangeAspect="1" noMove="1" noResize="1" noEditPoints="1" noAdjustHandles="1" noChangeArrowheads="1" noChangeShapeType="1" noTextEdit="1"/>
              </p:cNvSpPr>
              <p:nvPr/>
            </p:nvSpPr>
            <p:spPr>
              <a:xfrm>
                <a:off x="577583" y="4071245"/>
                <a:ext cx="4347363" cy="129266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8906F25-D134-A441-8310-36C0FF85AA37}"/>
                  </a:ext>
                </a:extLst>
              </p:cNvPr>
              <p:cNvSpPr/>
              <p:nvPr/>
            </p:nvSpPr>
            <p:spPr>
              <a:xfrm>
                <a:off x="2315208" y="6095374"/>
                <a:ext cx="4680256" cy="492443"/>
              </a:xfrm>
              <a:prstGeom prst="rect">
                <a:avLst/>
              </a:prstGeom>
            </p:spPr>
            <p:txBody>
              <a:bodyPr wrap="none">
                <a:spAutoFit/>
              </a:bodyPr>
              <a:lstStyle/>
              <a:p>
                <a14:m>
                  <m:oMath xmlns:m="http://schemas.openxmlformats.org/officeDocument/2006/math">
                    <m:nary>
                      <m:naryPr>
                        <m:chr m:val="∑"/>
                        <m:subHide m:val="on"/>
                        <m:supHide m:val="on"/>
                        <m:ctrlPr>
                          <a:rPr kumimoji="1" lang="en-US" altLang="zh-CN" sz="2600" i="1" smtClean="0">
                            <a:solidFill>
                              <a:srgbClr val="000000"/>
                            </a:solidFill>
                            <a:latin typeface="Cambria Math" panose="02040503050406030204" pitchFamily="18" charset="0"/>
                          </a:rPr>
                        </m:ctrlPr>
                      </m:naryPr>
                      <m:sub/>
                      <m:sup/>
                      <m:e>
                        <m:r>
                          <a:rPr kumimoji="1" lang="en-US" altLang="zh-CN" sz="2600" i="1">
                            <a:solidFill>
                              <a:srgbClr val="000000"/>
                            </a:solidFill>
                            <a:latin typeface="Cambria Math" panose="02040503050406030204" pitchFamily="18" charset="0"/>
                          </a:rPr>
                          <m:t>𝑚</m:t>
                        </m:r>
                        <m:d>
                          <m:dPr>
                            <m:ctrlPr>
                              <a:rPr kumimoji="1" lang="en-US" altLang="zh-CN" sz="2600" i="1">
                                <a:solidFill>
                                  <a:srgbClr val="000000"/>
                                </a:solidFill>
                                <a:latin typeface="Cambria Math" panose="02040503050406030204" pitchFamily="18" charset="0"/>
                              </a:rPr>
                            </m:ctrlPr>
                          </m:dPr>
                          <m:e>
                            <m:r>
                              <a:rPr kumimoji="1" lang="en-US" altLang="zh-CN" sz="2600" b="0" i="1" smtClean="0">
                                <a:solidFill>
                                  <a:srgbClr val="000000"/>
                                </a:solidFill>
                                <a:latin typeface="Cambria Math" panose="02040503050406030204" pitchFamily="18" charset="0"/>
                              </a:rPr>
                              <m:t>0, 1, 4, 5, 6</m:t>
                            </m:r>
                          </m:e>
                        </m:d>
                      </m:e>
                    </m:nary>
                    <m:r>
                      <a:rPr kumimoji="1" lang="en-US" altLang="zh-CN" sz="2600" i="1">
                        <a:solidFill>
                          <a:srgbClr val="000000"/>
                        </a:solidFill>
                        <a:latin typeface="Cambria Math" panose="02040503050406030204" pitchFamily="18" charset="0"/>
                      </a:rPr>
                      <m:t>=</m:t>
                    </m:r>
                    <m:nary>
                      <m:naryPr>
                        <m:chr m:val="∏"/>
                        <m:subHide m:val="on"/>
                        <m:supHide m:val="on"/>
                        <m:ctrlPr>
                          <a:rPr kumimoji="1" lang="en-US" altLang="zh-CN" sz="2600" i="1">
                            <a:solidFill>
                              <a:srgbClr val="000000"/>
                            </a:solidFill>
                            <a:latin typeface="Cambria Math" panose="02040503050406030204" pitchFamily="18" charset="0"/>
                          </a:rPr>
                        </m:ctrlPr>
                      </m:naryPr>
                      <m:sub/>
                      <m:sup/>
                      <m:e>
                        <m:r>
                          <a:rPr kumimoji="1" lang="en-US" altLang="zh-CN" sz="2600" i="1">
                            <a:solidFill>
                              <a:srgbClr val="000000"/>
                            </a:solidFill>
                            <a:latin typeface="Cambria Math" panose="02040503050406030204" pitchFamily="18" charset="0"/>
                          </a:rPr>
                          <m:t>𝑀</m:t>
                        </m:r>
                        <m:r>
                          <a:rPr kumimoji="1" lang="en-US" altLang="zh-CN" sz="2600" i="1">
                            <a:solidFill>
                              <a:srgbClr val="000000"/>
                            </a:solidFill>
                            <a:latin typeface="Cambria Math" panose="02040503050406030204" pitchFamily="18" charset="0"/>
                          </a:rPr>
                          <m:t>(2, 3, 7)</m:t>
                        </m:r>
                      </m:e>
                    </m:nary>
                  </m:oMath>
                </a14:m>
                <a:r>
                  <a:rPr kumimoji="1" lang="en-US" altLang="zh-CN" sz="2600" i="1" dirty="0">
                    <a:solidFill>
                      <a:srgbClr val="000000"/>
                    </a:solidFill>
                    <a:latin typeface="Arial" panose="020B0604020202020204" pitchFamily="34" charset="0"/>
                    <a:ea typeface="黑体" panose="02010609060101010101" pitchFamily="49" charset="-122"/>
                    <a:cs typeface="Arial" panose="020B0604020202020204" pitchFamily="34" charset="0"/>
                  </a:rPr>
                  <a:t> </a:t>
                </a:r>
                <a:endParaRPr lang="en-CN" dirty="0">
                  <a:ea typeface="黑体" panose="02010609060101010101" pitchFamily="49" charset="-122"/>
                </a:endParaRPr>
              </a:p>
            </p:txBody>
          </p:sp>
        </mc:Choice>
        <mc:Fallback xmlns="">
          <p:sp>
            <p:nvSpPr>
              <p:cNvPr id="5" name="Rectangle 4">
                <a:extLst>
                  <a:ext uri="{FF2B5EF4-FFF2-40B4-BE49-F238E27FC236}">
                    <a16:creationId xmlns:a16="http://schemas.microsoft.com/office/drawing/2014/main" id="{38906F25-D134-A441-8310-36C0FF85AA37}"/>
                  </a:ext>
                </a:extLst>
              </p:cNvPr>
              <p:cNvSpPr>
                <a:spLocks noRot="1" noChangeAspect="1" noMove="1" noResize="1" noEditPoints="1" noAdjustHandles="1" noChangeArrowheads="1" noChangeShapeType="1" noTextEdit="1"/>
              </p:cNvSpPr>
              <p:nvPr/>
            </p:nvSpPr>
            <p:spPr>
              <a:xfrm>
                <a:off x="2315208" y="6095374"/>
                <a:ext cx="4680256" cy="492443"/>
              </a:xfrm>
              <a:prstGeom prst="rect">
                <a:avLst/>
              </a:prstGeom>
              <a:blipFill>
                <a:blip r:embed="rId8"/>
                <a:stretch>
                  <a:fillRect/>
                </a:stretch>
              </a:blipFill>
            </p:spPr>
            <p:txBody>
              <a:bodyPr/>
              <a:lstStyle/>
              <a:p>
                <a:r>
                  <a:rPr lang="zh-CN" altLang="en-US">
                    <a:noFill/>
                  </a:rPr>
                  <a:t> </a:t>
                </a:r>
              </a:p>
            </p:txBody>
          </p:sp>
        </mc:Fallback>
      </mc:AlternateContent>
      <p:sp>
        <p:nvSpPr>
          <p:cNvPr id="6" name="Down Arrow 5">
            <a:extLst>
              <a:ext uri="{FF2B5EF4-FFF2-40B4-BE49-F238E27FC236}">
                <a16:creationId xmlns:a16="http://schemas.microsoft.com/office/drawing/2014/main" id="{98FA2A5D-B91A-6C40-8B67-C57C6CB10DE6}"/>
              </a:ext>
            </a:extLst>
          </p:cNvPr>
          <p:cNvSpPr/>
          <p:nvPr/>
        </p:nvSpPr>
        <p:spPr bwMode="auto">
          <a:xfrm>
            <a:off x="1991172" y="3179167"/>
            <a:ext cx="390642" cy="652051"/>
          </a:xfrm>
          <a:prstGeom prst="down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7" name="Right Arrow 6">
            <a:extLst>
              <a:ext uri="{FF2B5EF4-FFF2-40B4-BE49-F238E27FC236}">
                <a16:creationId xmlns:a16="http://schemas.microsoft.com/office/drawing/2014/main" id="{5F9AF2E8-4A8D-1D41-A5B4-26E16305C020}"/>
              </a:ext>
            </a:extLst>
          </p:cNvPr>
          <p:cNvSpPr/>
          <p:nvPr/>
        </p:nvSpPr>
        <p:spPr bwMode="auto">
          <a:xfrm>
            <a:off x="3953942" y="2679090"/>
            <a:ext cx="1061566" cy="399570"/>
          </a:xfrm>
          <a:prstGeom prst="right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3" name="Rectangle 2"/>
          <p:cNvSpPr>
            <a:spLocks noGrp="1" noChangeArrowheads="1"/>
          </p:cNvSpPr>
          <p:nvPr>
            <p:ph type="title"/>
          </p:nvPr>
        </p:nvSpPr>
        <p:spPr/>
        <p:txBody>
          <a:bodyPr/>
          <a:lstStyle/>
          <a:p>
            <a:pPr eaLnBrk="1" hangingPunct="1"/>
            <a:r>
              <a:rPr lang="zh-CN" altLang="en-US" dirty="0"/>
              <a:t>最小项</a:t>
            </a:r>
            <a:r>
              <a:rPr lang="en-US" altLang="zh-CN" dirty="0"/>
              <a:t>m</a:t>
            </a:r>
            <a:r>
              <a:rPr lang="en-US" altLang="zh-CN" baseline="-25000" dirty="0"/>
              <a:t>i</a:t>
            </a:r>
            <a:r>
              <a:rPr lang="en-US" altLang="zh-CN" dirty="0"/>
              <a:t> &amp; </a:t>
            </a:r>
            <a:r>
              <a:rPr lang="zh-CN" altLang="en-US" dirty="0"/>
              <a:t>最大项</a:t>
            </a:r>
            <a:r>
              <a:rPr lang="en-US" altLang="zh-CN" dirty="0"/>
              <a:t>M</a:t>
            </a:r>
            <a:r>
              <a:rPr lang="en-US" altLang="zh-CN" baseline="-25000" dirty="0"/>
              <a:t>i</a:t>
            </a:r>
            <a:endParaRPr lang="en-US" altLang="zh-CN" baseline="-25000" dirty="0">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80515B65-95EE-ADF5-78EA-EBADEED9B455}"/>
              </a:ext>
            </a:extLst>
          </p:cNvPr>
          <p:cNvSpPr>
            <a:spLocks noGrp="1"/>
          </p:cNvSpPr>
          <p:nvPr>
            <p:ph type="sldNum" sz="quarter" idx="12"/>
          </p:nvPr>
        </p:nvSpPr>
        <p:spPr/>
        <p:txBody>
          <a:bodyPr/>
          <a:lstStyle/>
          <a:p>
            <a:fld id="{6C23D995-88A0-46FA-B356-FA459EF841CD}" type="slidenum">
              <a:rPr lang="en-US" altLang="zh-CN" smtClean="0"/>
              <a:pPr/>
              <a:t>69</a:t>
            </a:fld>
            <a:endParaRPr lang="en-US" altLang="zh-CN" dirty="0"/>
          </a:p>
        </p:txBody>
      </p:sp>
      <p:graphicFrame>
        <p:nvGraphicFramePr>
          <p:cNvPr id="9" name="Object 4">
            <a:extLst>
              <a:ext uri="{FF2B5EF4-FFF2-40B4-BE49-F238E27FC236}">
                <a16:creationId xmlns:a16="http://schemas.microsoft.com/office/drawing/2014/main" id="{D8E253C0-2DE7-4A97-CB42-20065CE46BB9}"/>
              </a:ext>
            </a:extLst>
          </p:cNvPr>
          <p:cNvGraphicFramePr>
            <a:graphicFrameLocks noChangeAspect="1"/>
          </p:cNvGraphicFramePr>
          <p:nvPr>
            <p:extLst>
              <p:ext uri="{D42A27DB-BD31-4B8C-83A1-F6EECF244321}">
                <p14:modId xmlns:p14="http://schemas.microsoft.com/office/powerpoint/2010/main" val="3941067433"/>
              </p:ext>
            </p:extLst>
          </p:nvPr>
        </p:nvGraphicFramePr>
        <p:xfrm>
          <a:off x="1856432" y="1495210"/>
          <a:ext cx="6604000" cy="722312"/>
        </p:xfrm>
        <a:graphic>
          <a:graphicData uri="http://schemas.openxmlformats.org/presentationml/2006/ole">
            <mc:AlternateContent xmlns:mc="http://schemas.openxmlformats.org/markup-compatibility/2006">
              <mc:Choice xmlns:v="urn:schemas-microsoft-com:vml" Requires="v">
                <p:oleObj name="Equation" r:id="rId9" imgW="3022560" imgH="342720" progId="Equation.DSMT4">
                  <p:embed/>
                </p:oleObj>
              </mc:Choice>
              <mc:Fallback>
                <p:oleObj name="Equation" r:id="rId9" imgW="3022560" imgH="342720" progId="Equation.DSMT4">
                  <p:embed/>
                  <p:pic>
                    <p:nvPicPr>
                      <p:cNvPr id="44442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6432" y="1495210"/>
                        <a:ext cx="6604000" cy="7223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Box 5">
            <a:extLst>
              <a:ext uri="{FF2B5EF4-FFF2-40B4-BE49-F238E27FC236}">
                <a16:creationId xmlns:a16="http://schemas.microsoft.com/office/drawing/2014/main" id="{D161CCC4-CC37-DABB-D998-B6A967810FE8}"/>
              </a:ext>
            </a:extLst>
          </p:cNvPr>
          <p:cNvSpPr txBox="1"/>
          <p:nvPr/>
        </p:nvSpPr>
        <p:spPr>
          <a:xfrm>
            <a:off x="565145" y="1643777"/>
            <a:ext cx="1415772" cy="584775"/>
          </a:xfrm>
          <a:prstGeom prst="rect">
            <a:avLst/>
          </a:prstGeom>
          <a:noFill/>
        </p:spPr>
        <p:txBody>
          <a:bodyPr wrap="none" rtlCol="0">
            <a:spAutoFit/>
          </a:bodyPr>
          <a:lstStyle/>
          <a:p>
            <a:r>
              <a:rPr lang="zh-CN" altLang="en-US" sz="3200" dirty="0">
                <a:latin typeface="Microsoft YaHei UI" panose="020B0503020204020204" pitchFamily="34" charset="-122"/>
                <a:ea typeface="Microsoft YaHei UI" panose="020B0503020204020204" pitchFamily="34" charset="-122"/>
              </a:rPr>
              <a:t>规律：</a:t>
            </a:r>
            <a:endParaRPr lang="en-CN" sz="32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1163564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968044" y="1496612"/>
            <a:ext cx="1836204" cy="1681615"/>
            <a:chOff x="6210735" y="842591"/>
            <a:chExt cx="2568497" cy="2406389"/>
          </a:xfrm>
        </p:grpSpPr>
        <p:sp>
          <p:nvSpPr>
            <p:cNvPr id="3" name="椭圆 2"/>
            <p:cNvSpPr/>
            <p:nvPr/>
          </p:nvSpPr>
          <p:spPr bwMode="auto">
            <a:xfrm>
              <a:off x="7277535" y="842591"/>
              <a:ext cx="1501697" cy="1466284"/>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黑体" panose="02010609060101010101" pitchFamily="49" charset="-122"/>
                </a:rPr>
                <a:t>游泳</a:t>
              </a:r>
            </a:p>
          </p:txBody>
        </p:sp>
        <p:sp>
          <p:nvSpPr>
            <p:cNvPr id="16" name="椭圆 15"/>
            <p:cNvSpPr/>
            <p:nvPr/>
          </p:nvSpPr>
          <p:spPr bwMode="auto">
            <a:xfrm>
              <a:off x="6210735" y="1232756"/>
              <a:ext cx="1501697" cy="1466284"/>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黑体" panose="02010609060101010101" pitchFamily="49" charset="-122"/>
                </a:rPr>
                <a:t>跑步</a:t>
              </a:r>
            </a:p>
          </p:txBody>
        </p:sp>
        <p:sp>
          <p:nvSpPr>
            <p:cNvPr id="17" name="椭圆 16"/>
            <p:cNvSpPr/>
            <p:nvPr/>
          </p:nvSpPr>
          <p:spPr bwMode="auto">
            <a:xfrm>
              <a:off x="7138754" y="1782696"/>
              <a:ext cx="1501697" cy="1466284"/>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charset="0"/>
                <a:ea typeface="黑体" panose="02010609060101010101" pitchFamily="49" charset="-122"/>
              </a:endParaRPr>
            </a:p>
            <a:p>
              <a:pPr marL="0" marR="0" indent="0" algn="r" defTabSz="914400" rtl="0" eaLnBrk="1" fontAlgn="base" latinLnBrk="0" hangingPunct="1">
                <a:lnSpc>
                  <a:spcPct val="100000"/>
                </a:lnSpc>
                <a:spcBef>
                  <a:spcPct val="0"/>
                </a:spcBef>
                <a:spcAft>
                  <a:spcPct val="0"/>
                </a:spcAft>
                <a:buClrTx/>
                <a:buSzTx/>
                <a:buFontTx/>
                <a:buNone/>
                <a:tabLst/>
              </a:pPr>
              <a:endParaRPr lang="en-US" altLang="zh-CN" dirty="0">
                <a:ea typeface="黑体" panose="02010609060101010101" pitchFamily="49" charset="-122"/>
              </a:endParaRPr>
            </a:p>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charset="0"/>
                  <a:ea typeface="黑体" panose="02010609060101010101" pitchFamily="49" charset="-122"/>
                </a:rPr>
                <a:t>足球</a:t>
              </a:r>
            </a:p>
          </p:txBody>
        </p:sp>
      </p:grpSp>
      <p:sp>
        <p:nvSpPr>
          <p:cNvPr id="19" name="内容占位符 7">
            <a:extLst>
              <a:ext uri="{FF2B5EF4-FFF2-40B4-BE49-F238E27FC236}">
                <a16:creationId xmlns:a16="http://schemas.microsoft.com/office/drawing/2014/main" id="{F5619125-289F-1540-83B2-0401FB160427}"/>
              </a:ext>
            </a:extLst>
          </p:cNvPr>
          <p:cNvSpPr txBox="1">
            <a:spLocks/>
          </p:cNvSpPr>
          <p:nvPr/>
        </p:nvSpPr>
        <p:spPr>
          <a:xfrm>
            <a:off x="457200" y="1335596"/>
            <a:ext cx="4978896" cy="2057400"/>
          </a:xfrm>
          <a:prstGeom prst="rect">
            <a:avLst/>
          </a:prstGeom>
        </p:spPr>
        <p:txBody>
          <a:bodyPr/>
          <a:lstStyle>
            <a:lvl1pPr marL="342900" indent="-342900" algn="l" rtl="0" eaLnBrk="1" fontAlgn="base" hangingPunct="0">
              <a:lnSpc>
                <a:spcPct val="120000"/>
              </a:lnSpc>
              <a:spcBef>
                <a:spcPct val="20000"/>
              </a:spcBef>
              <a:spcAft>
                <a:spcPct val="0"/>
              </a:spcAft>
              <a:buClr>
                <a:schemeClr val="hlink"/>
              </a:buClr>
              <a:buFont typeface="Wingdings" pitchFamily="2" charset="2"/>
              <a:buChar char="v"/>
              <a:defRPr sz="3600" baseline="0">
                <a:solidFill>
                  <a:srgbClr val="080808"/>
                </a:solidFill>
                <a:latin typeface="+mn-lt"/>
                <a:ea typeface="黑体" pitchFamily="49" charset="-122"/>
                <a:cs typeface="+mn-cs"/>
              </a:defRPr>
            </a:lvl1pPr>
            <a:lvl2pPr marL="742950" indent="-285750" algn="l" rtl="0" eaLnBrk="1" fontAlgn="base" hangingPunct="0">
              <a:lnSpc>
                <a:spcPct val="120000"/>
              </a:lnSpc>
              <a:spcBef>
                <a:spcPct val="20000"/>
              </a:spcBef>
              <a:spcAft>
                <a:spcPct val="0"/>
              </a:spcAft>
              <a:buClr>
                <a:schemeClr val="accent1"/>
              </a:buClr>
              <a:buFont typeface="Wingdings" pitchFamily="2" charset="2"/>
              <a:buChar char="§"/>
              <a:defRPr sz="3600" baseline="0">
                <a:solidFill>
                  <a:srgbClr val="080808"/>
                </a:solidFill>
                <a:latin typeface="+mn-lt"/>
                <a:ea typeface="黑体" pitchFamily="49" charset="-122"/>
              </a:defRPr>
            </a:lvl2pPr>
            <a:lvl3pPr marL="1143000" indent="-228600" algn="l" rtl="0" eaLnBrk="1" fontAlgn="base" hangingPunct="0">
              <a:lnSpc>
                <a:spcPct val="120000"/>
              </a:lnSpc>
              <a:spcBef>
                <a:spcPct val="20000"/>
              </a:spcBef>
              <a:spcAft>
                <a:spcPct val="0"/>
              </a:spcAft>
              <a:buClr>
                <a:schemeClr val="tx1"/>
              </a:buClr>
              <a:buChar char="•"/>
              <a:defRPr sz="3200" baseline="0">
                <a:solidFill>
                  <a:srgbClr val="080808"/>
                </a:solidFill>
                <a:latin typeface="+mn-lt"/>
                <a:ea typeface="黑体" pitchFamily="49" charset="-122"/>
              </a:defRPr>
            </a:lvl3pPr>
            <a:lvl4pPr marL="16002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4pPr>
            <a:lvl5pPr marL="2057400" indent="-228600" algn="l" rtl="0" eaLnBrk="1" fontAlgn="base" hangingPunct="0">
              <a:lnSpc>
                <a:spcPct val="120000"/>
              </a:lnSpc>
              <a:spcBef>
                <a:spcPct val="20000"/>
              </a:spcBef>
              <a:spcAft>
                <a:spcPct val="0"/>
              </a:spcAft>
              <a:buChar char="»"/>
              <a:defRPr sz="2800" baseline="0">
                <a:solidFill>
                  <a:srgbClr val="080808"/>
                </a:solidFill>
                <a:latin typeface="+mn-lt"/>
                <a:ea typeface="黑体" pitchFamily="49" charset="-122"/>
              </a:defRPr>
            </a:lvl5pPr>
            <a:lvl6pPr marL="2514600" indent="-228600" algn="l" rtl="0" fontAlgn="base">
              <a:lnSpc>
                <a:spcPct val="120000"/>
              </a:lnSpc>
              <a:spcBef>
                <a:spcPct val="20000"/>
              </a:spcBef>
              <a:spcAft>
                <a:spcPct val="0"/>
              </a:spcAft>
              <a:buChar char="»"/>
              <a:defRPr sz="2800">
                <a:solidFill>
                  <a:srgbClr val="080808"/>
                </a:solidFill>
                <a:latin typeface="+mn-lt"/>
                <a:ea typeface="+mn-ea"/>
              </a:defRPr>
            </a:lvl6pPr>
            <a:lvl7pPr marL="2971800" indent="-228600" algn="l" rtl="0" fontAlgn="base">
              <a:lnSpc>
                <a:spcPct val="120000"/>
              </a:lnSpc>
              <a:spcBef>
                <a:spcPct val="20000"/>
              </a:spcBef>
              <a:spcAft>
                <a:spcPct val="0"/>
              </a:spcAft>
              <a:buChar char="»"/>
              <a:defRPr sz="2800">
                <a:solidFill>
                  <a:srgbClr val="080808"/>
                </a:solidFill>
                <a:latin typeface="+mn-lt"/>
                <a:ea typeface="+mn-ea"/>
              </a:defRPr>
            </a:lvl7pPr>
            <a:lvl8pPr marL="3429000" indent="-228600" algn="l" rtl="0" fontAlgn="base">
              <a:lnSpc>
                <a:spcPct val="120000"/>
              </a:lnSpc>
              <a:spcBef>
                <a:spcPct val="20000"/>
              </a:spcBef>
              <a:spcAft>
                <a:spcPct val="0"/>
              </a:spcAft>
              <a:buChar char="»"/>
              <a:defRPr sz="2800">
                <a:solidFill>
                  <a:srgbClr val="080808"/>
                </a:solidFill>
                <a:latin typeface="+mn-lt"/>
                <a:ea typeface="+mn-ea"/>
              </a:defRPr>
            </a:lvl8pPr>
            <a:lvl9pPr marL="3886200" indent="-228600" algn="l" rtl="0" fontAlgn="base">
              <a:lnSpc>
                <a:spcPct val="120000"/>
              </a:lnSpc>
              <a:spcBef>
                <a:spcPct val="20000"/>
              </a:spcBef>
              <a:spcAft>
                <a:spcPct val="0"/>
              </a:spcAft>
              <a:buChar char="»"/>
              <a:defRPr sz="2800">
                <a:solidFill>
                  <a:srgbClr val="080808"/>
                </a:solidFill>
                <a:latin typeface="+mn-lt"/>
                <a:ea typeface="+mn-ea"/>
              </a:defRPr>
            </a:lvl9pPr>
          </a:lstStyle>
          <a:p>
            <a:pPr hangingPunct="1">
              <a:buClrTx/>
              <a:buFont typeface="Arial" panose="020B0604020202020204" pitchFamily="34" charset="0"/>
              <a:buChar char="•"/>
            </a:pPr>
            <a:r>
              <a:rPr lang="zh-CN" altLang="en-US" sz="3200" kern="0" dirty="0"/>
              <a:t>逻辑表示图的发展</a:t>
            </a:r>
            <a:endParaRPr lang="en-US" altLang="zh-CN" sz="3200" kern="0" dirty="0"/>
          </a:p>
          <a:p>
            <a:pPr lvl="1" hangingPunct="1">
              <a:buClrTx/>
              <a:buFont typeface="Arial" panose="020B0604020202020204" pitchFamily="34" charset="0"/>
              <a:buChar char="–"/>
            </a:pPr>
            <a:r>
              <a:rPr lang="zh-CN" altLang="en-US" sz="2400" dirty="0"/>
              <a:t>文氏图，</a:t>
            </a:r>
            <a:r>
              <a:rPr lang="en-US" altLang="zh-CN" sz="2400" dirty="0"/>
              <a:t>1881</a:t>
            </a:r>
            <a:r>
              <a:rPr lang="zh-CN" altLang="en-US" sz="2400" dirty="0"/>
              <a:t>年，</a:t>
            </a:r>
            <a:br>
              <a:rPr lang="en-US" altLang="zh-CN" sz="2400" dirty="0"/>
            </a:br>
            <a:r>
              <a:rPr lang="zh-CN" altLang="en-US" sz="2400" dirty="0"/>
              <a:t>表示集合关系</a:t>
            </a:r>
            <a:endParaRPr lang="en-US" altLang="zh-CN" sz="2400" dirty="0"/>
          </a:p>
          <a:p>
            <a:pPr lvl="1" hangingPunct="1">
              <a:buClrTx/>
              <a:buFont typeface="Arial" panose="020B0604020202020204" pitchFamily="34" charset="0"/>
              <a:buChar char="–"/>
            </a:pPr>
            <a:r>
              <a:rPr lang="zh-CN" altLang="en-US" sz="2400" dirty="0"/>
              <a:t>维奇图</a:t>
            </a:r>
            <a:r>
              <a:rPr lang="en-US" altLang="zh-CN" sz="2400" dirty="0"/>
              <a:t>(Veitch</a:t>
            </a:r>
            <a:r>
              <a:rPr lang="zh-CN" altLang="en-US" sz="2400" dirty="0"/>
              <a:t> </a:t>
            </a:r>
            <a:r>
              <a:rPr lang="en-US" altLang="zh-CN" sz="2400" dirty="0"/>
              <a:t>Diagram)</a:t>
            </a:r>
            <a:r>
              <a:rPr lang="zh-CN" altLang="en-US" sz="2400" dirty="0"/>
              <a:t>，</a:t>
            </a:r>
            <a:r>
              <a:rPr lang="en-US" altLang="zh-CN" sz="2400" dirty="0"/>
              <a:t>1952</a:t>
            </a:r>
            <a:r>
              <a:rPr lang="zh-CN" altLang="en-US" sz="2400" dirty="0"/>
              <a:t>年，爱德华</a:t>
            </a:r>
            <a:r>
              <a:rPr lang="en-US" altLang="zh-CN" sz="2400" dirty="0"/>
              <a:t>·</a:t>
            </a:r>
            <a:r>
              <a:rPr lang="zh-CN" altLang="en-US" sz="2400" dirty="0"/>
              <a:t>维奇提出后用以描述并最小化布尔表达式</a:t>
            </a:r>
            <a:endParaRPr lang="en-US" altLang="zh-CN" sz="2400" dirty="0"/>
          </a:p>
          <a:p>
            <a:pPr lvl="1" hangingPunct="1">
              <a:buClrTx/>
              <a:buFont typeface="Arial" panose="020B0604020202020204" pitchFamily="34" charset="0"/>
              <a:buChar char="–"/>
            </a:pPr>
            <a:r>
              <a:rPr lang="zh-CN" altLang="en-US" sz="2400" dirty="0"/>
              <a:t>卡诺图，</a:t>
            </a:r>
            <a:r>
              <a:rPr lang="en-US" altLang="zh-CN" sz="2400" dirty="0"/>
              <a:t>1953</a:t>
            </a:r>
            <a:r>
              <a:rPr lang="zh-CN" altLang="en-US" sz="2400" dirty="0"/>
              <a:t>年，美国贝尔实验室的电信工程师莫里斯</a:t>
            </a:r>
            <a:r>
              <a:rPr lang="en-US" altLang="zh-CN" sz="2400" dirty="0"/>
              <a:t>·</a:t>
            </a:r>
            <a:r>
              <a:rPr lang="zh-CN" altLang="en-US" sz="2400" dirty="0"/>
              <a:t>卡诺</a:t>
            </a:r>
            <a:r>
              <a:rPr lang="en-US" altLang="zh-CN" sz="2400" dirty="0"/>
              <a:t>(Maurice Karnaugh)</a:t>
            </a:r>
            <a:r>
              <a:rPr lang="zh-CN" altLang="en-US" sz="2400" dirty="0"/>
              <a:t>在</a:t>
            </a:r>
            <a:br>
              <a:rPr lang="en-US" altLang="zh-CN" sz="2400" dirty="0"/>
            </a:br>
            <a:r>
              <a:rPr lang="en-US" altLang="zh-CN" sz="2400" dirty="0"/>
              <a:t>1953</a:t>
            </a:r>
            <a:r>
              <a:rPr lang="zh-CN" altLang="en-US" sz="2400" dirty="0"/>
              <a:t>年根据维奇图改进。</a:t>
            </a:r>
          </a:p>
          <a:p>
            <a:pPr lvl="1" hangingPunct="1">
              <a:buClrTx/>
              <a:buFont typeface="Arial" panose="020B0604020202020204" pitchFamily="34" charset="0"/>
              <a:buChar char="–"/>
            </a:pPr>
            <a:endParaRPr lang="zh-CN" altLang="en-US" sz="2400" dirty="0"/>
          </a:p>
          <a:p>
            <a:pPr lvl="1" hangingPunct="1"/>
            <a:endParaRPr lang="en-US" altLang="zh-CN" sz="3200" kern="0" dirty="0"/>
          </a:p>
        </p:txBody>
      </p:sp>
      <p:pic>
        <p:nvPicPr>
          <p:cNvPr id="7" name="图片 6">
            <a:extLst>
              <a:ext uri="{FF2B5EF4-FFF2-40B4-BE49-F238E27FC236}">
                <a16:creationId xmlns:a16="http://schemas.microsoft.com/office/drawing/2014/main" id="{3E123613-038F-8149-80E6-84D55CCAAC02}"/>
              </a:ext>
            </a:extLst>
          </p:cNvPr>
          <p:cNvPicPr>
            <a:picLocks noChangeAspect="1"/>
          </p:cNvPicPr>
          <p:nvPr/>
        </p:nvPicPr>
        <p:blipFill>
          <a:blip r:embed="rId3"/>
          <a:stretch>
            <a:fillRect/>
          </a:stretch>
        </p:blipFill>
        <p:spPr>
          <a:xfrm>
            <a:off x="6709677" y="2722361"/>
            <a:ext cx="2218807" cy="2218807"/>
          </a:xfrm>
          <a:prstGeom prst="rect">
            <a:avLst/>
          </a:prstGeom>
        </p:spPr>
      </p:pic>
      <p:pic>
        <p:nvPicPr>
          <p:cNvPr id="8" name="图片 7">
            <a:extLst>
              <a:ext uri="{FF2B5EF4-FFF2-40B4-BE49-F238E27FC236}">
                <a16:creationId xmlns:a16="http://schemas.microsoft.com/office/drawing/2014/main" id="{047E1A67-A4E4-0F42-BD3F-DAD09F640260}"/>
              </a:ext>
            </a:extLst>
          </p:cNvPr>
          <p:cNvPicPr>
            <a:picLocks noChangeAspect="1"/>
          </p:cNvPicPr>
          <p:nvPr/>
        </p:nvPicPr>
        <p:blipFill>
          <a:blip r:embed="rId4"/>
          <a:stretch>
            <a:fillRect/>
          </a:stretch>
        </p:blipFill>
        <p:spPr>
          <a:xfrm>
            <a:off x="5243102" y="4970691"/>
            <a:ext cx="3613374" cy="1626661"/>
          </a:xfrm>
          <a:prstGeom prst="rect">
            <a:avLst/>
          </a:prstGeom>
        </p:spPr>
      </p:pic>
      <p:sp>
        <p:nvSpPr>
          <p:cNvPr id="11" name="Rectangle 2"/>
          <p:cNvSpPr>
            <a:spLocks noGrp="1" noChangeArrowheads="1"/>
          </p:cNvSpPr>
          <p:nvPr>
            <p:ph type="title"/>
          </p:nvPr>
        </p:nvSpPr>
        <p:spPr/>
        <p:txBody>
          <a:bodyPr/>
          <a:lstStyle/>
          <a:p>
            <a:pPr eaLnBrk="1" hangingPunct="1"/>
            <a:r>
              <a:rPr lang="zh-CN" altLang="en-US" dirty="0"/>
              <a:t>卡诺图</a:t>
            </a:r>
            <a:endParaRPr lang="en-US" altLang="zh-CN" baseline="-25000" dirty="0"/>
          </a:p>
        </p:txBody>
      </p:sp>
      <p:sp>
        <p:nvSpPr>
          <p:cNvPr id="2" name="灯片编号占位符 1">
            <a:extLst>
              <a:ext uri="{FF2B5EF4-FFF2-40B4-BE49-F238E27FC236}">
                <a16:creationId xmlns:a16="http://schemas.microsoft.com/office/drawing/2014/main" id="{EB18A4ED-5C5E-9C0F-C816-02B871E9238A}"/>
              </a:ext>
            </a:extLst>
          </p:cNvPr>
          <p:cNvSpPr>
            <a:spLocks noGrp="1"/>
          </p:cNvSpPr>
          <p:nvPr>
            <p:ph type="sldNum" sz="quarter" idx="12"/>
          </p:nvPr>
        </p:nvSpPr>
        <p:spPr/>
        <p:txBody>
          <a:bodyPr/>
          <a:lstStyle/>
          <a:p>
            <a:fld id="{6C23D995-88A0-46FA-B356-FA459EF841CD}" type="slidenum">
              <a:rPr lang="en-US" altLang="zh-CN" smtClean="0"/>
              <a:pPr/>
              <a:t>70</a:t>
            </a:fld>
            <a:endParaRPr lang="en-US" altLang="zh-CN" dirty="0"/>
          </a:p>
        </p:txBody>
      </p:sp>
    </p:spTree>
    <p:extLst>
      <p:ext uri="{BB962C8B-B14F-4D97-AF65-F5344CB8AC3E}">
        <p14:creationId xmlns:p14="http://schemas.microsoft.com/office/powerpoint/2010/main" val="3986647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6467" name="Group 3"/>
          <p:cNvGraphicFramePr>
            <a:graphicFrameLocks noGrp="1"/>
          </p:cNvGraphicFramePr>
          <p:nvPr>
            <p:ph type="tbl" idx="1"/>
            <p:extLst>
              <p:ext uri="{D42A27DB-BD31-4B8C-83A1-F6EECF244321}">
                <p14:modId xmlns:p14="http://schemas.microsoft.com/office/powerpoint/2010/main" val="2932514087"/>
              </p:ext>
            </p:extLst>
          </p:nvPr>
        </p:nvGraphicFramePr>
        <p:xfrm>
          <a:off x="762000" y="2118540"/>
          <a:ext cx="2971800" cy="2066544"/>
        </p:xfrm>
        <a:graphic>
          <a:graphicData uri="http://schemas.openxmlformats.org/drawingml/2006/table">
            <a:tbl>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7540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4" name="灯片编号占位符 3">
            <a:extLst>
              <a:ext uri="{FF2B5EF4-FFF2-40B4-BE49-F238E27FC236}">
                <a16:creationId xmlns:a16="http://schemas.microsoft.com/office/drawing/2014/main" id="{6599B0D5-6624-A393-2B86-2F97F606EE78}"/>
              </a:ext>
            </a:extLst>
          </p:cNvPr>
          <p:cNvSpPr>
            <a:spLocks noGrp="1"/>
          </p:cNvSpPr>
          <p:nvPr>
            <p:ph type="sldNum" sz="quarter" idx="11"/>
          </p:nvPr>
        </p:nvSpPr>
        <p:spPr/>
        <p:txBody>
          <a:bodyPr/>
          <a:lstStyle/>
          <a:p>
            <a:pPr>
              <a:defRPr/>
            </a:pPr>
            <a:fld id="{2EA1E184-7EFF-4B48-9C82-609CF6442F2C}" type="slidenum">
              <a:rPr lang="zh-CN" altLang="en-US" smtClean="0"/>
              <a:pPr>
                <a:defRPr/>
              </a:pPr>
              <a:t>71</a:t>
            </a:fld>
            <a:endParaRPr lang="en-US" altLang="zh-CN"/>
          </a:p>
        </p:txBody>
      </p:sp>
      <p:graphicFrame>
        <p:nvGraphicFramePr>
          <p:cNvPr id="446485" name="Group 21"/>
          <p:cNvGraphicFramePr>
            <a:graphicFrameLocks noGrp="1"/>
          </p:cNvGraphicFramePr>
          <p:nvPr>
            <p:extLst>
              <p:ext uri="{D42A27DB-BD31-4B8C-83A1-F6EECF244321}">
                <p14:modId xmlns:p14="http://schemas.microsoft.com/office/powerpoint/2010/main" val="3320363156"/>
              </p:ext>
            </p:extLst>
          </p:nvPr>
        </p:nvGraphicFramePr>
        <p:xfrm>
          <a:off x="4343400" y="2118540"/>
          <a:ext cx="3810000" cy="2066544"/>
        </p:xfrm>
        <a:graphic>
          <a:graphicData uri="http://schemas.openxmlformats.org/drawingml/2006/table">
            <a:tbl>
              <a:tblPr/>
              <a:tblGrid>
                <a:gridCol w="914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7540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0</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1</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2</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800" b="0"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3</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800" b="0"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9911" name="Text Box 39"/>
          <p:cNvSpPr txBox="1">
            <a:spLocks noChangeArrowheads="1"/>
          </p:cNvSpPr>
          <p:nvPr/>
        </p:nvSpPr>
        <p:spPr bwMode="auto">
          <a:xfrm>
            <a:off x="5976156" y="1304764"/>
            <a:ext cx="3429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i="1" dirty="0">
                <a:solidFill>
                  <a:schemeClr val="tx1"/>
                </a:solidFill>
                <a:latin typeface="+mn-lt"/>
                <a:ea typeface="黑体" panose="02010609060101010101" pitchFamily="49" charset="-122"/>
              </a:rPr>
              <a:t>f </a:t>
            </a:r>
            <a:r>
              <a:rPr lang="en-US" altLang="zh-CN" dirty="0">
                <a:solidFill>
                  <a:schemeClr val="tx1"/>
                </a:solidFill>
                <a:latin typeface="+mn-lt"/>
                <a:ea typeface="黑体" panose="02010609060101010101" pitchFamily="49" charset="-122"/>
              </a:rPr>
              <a:t>(</a:t>
            </a:r>
            <a:r>
              <a:rPr lang="en-US" altLang="zh-CN" i="1" dirty="0">
                <a:solidFill>
                  <a:schemeClr val="tx1"/>
                </a:solidFill>
                <a:latin typeface="+mn-lt"/>
                <a:ea typeface="黑体" panose="02010609060101010101" pitchFamily="49" charset="-122"/>
              </a:rPr>
              <a:t>A</a:t>
            </a:r>
            <a:r>
              <a:rPr lang="en-US" altLang="zh-CN" dirty="0">
                <a:solidFill>
                  <a:schemeClr val="tx1"/>
                </a:solidFill>
                <a:latin typeface="+mn-lt"/>
                <a:ea typeface="黑体" panose="02010609060101010101" pitchFamily="49" charset="-122"/>
              </a:rPr>
              <a:t>, </a:t>
            </a:r>
            <a:r>
              <a:rPr lang="en-US" altLang="zh-CN" i="1" dirty="0">
                <a:solidFill>
                  <a:schemeClr val="tx1"/>
                </a:solidFill>
                <a:latin typeface="+mn-lt"/>
                <a:ea typeface="黑体" panose="02010609060101010101" pitchFamily="49" charset="-122"/>
              </a:rPr>
              <a:t>B</a:t>
            </a:r>
            <a:r>
              <a:rPr lang="en-US" altLang="zh-CN" dirty="0">
                <a:solidFill>
                  <a:schemeClr val="tx1"/>
                </a:solidFill>
                <a:latin typeface="+mn-lt"/>
                <a:ea typeface="黑体" panose="02010609060101010101" pitchFamily="49" charset="-122"/>
              </a:rPr>
              <a:t>)</a:t>
            </a:r>
          </a:p>
        </p:txBody>
      </p:sp>
      <p:sp>
        <p:nvSpPr>
          <p:cNvPr id="2" name="文本框 1">
            <a:extLst>
              <a:ext uri="{FF2B5EF4-FFF2-40B4-BE49-F238E27FC236}">
                <a16:creationId xmlns:a16="http://schemas.microsoft.com/office/drawing/2014/main" id="{053BC5D6-4AC2-95C2-A2B2-50D91C8F639B}"/>
              </a:ext>
            </a:extLst>
          </p:cNvPr>
          <p:cNvSpPr txBox="1"/>
          <p:nvPr/>
        </p:nvSpPr>
        <p:spPr>
          <a:xfrm>
            <a:off x="669516" y="5325737"/>
            <a:ext cx="2552302" cy="461665"/>
          </a:xfrm>
          <a:prstGeom prst="rect">
            <a:avLst/>
          </a:prstGeom>
          <a:noFill/>
        </p:spPr>
        <p:txBody>
          <a:bodyPr wrap="none" rtlCol="0">
            <a:spAutoFit/>
          </a:bodyPr>
          <a:lstStyle/>
          <a:p>
            <a:r>
              <a:rPr kumimoji="1" lang="zh-CN" altLang="en-US" sz="2400" dirty="0">
                <a:ea typeface="黑体" panose="02010609060101010101" pitchFamily="49" charset="-122"/>
              </a:rPr>
              <a:t>例如：</a:t>
            </a:r>
            <a:r>
              <a:rPr kumimoji="1" lang="en-US" altLang="zh-CN" sz="2400" dirty="0">
                <a:ea typeface="黑体" panose="02010609060101010101" pitchFamily="49" charset="-122"/>
              </a:rPr>
              <a:t>f(A,B)=AB’</a:t>
            </a:r>
            <a:endParaRPr kumimoji="1" lang="zh-CN" altLang="en-US" sz="2400" dirty="0">
              <a:ea typeface="黑体" panose="02010609060101010101" pitchFamily="49" charset="-122"/>
            </a:endParaRPr>
          </a:p>
        </p:txBody>
      </p:sp>
      <p:graphicFrame>
        <p:nvGraphicFramePr>
          <p:cNvPr id="3" name="Group 3">
            <a:extLst>
              <a:ext uri="{FF2B5EF4-FFF2-40B4-BE49-F238E27FC236}">
                <a16:creationId xmlns:a16="http://schemas.microsoft.com/office/drawing/2014/main" id="{53886F55-A464-7E5B-CB49-F198503EB569}"/>
              </a:ext>
            </a:extLst>
          </p:cNvPr>
          <p:cNvGraphicFramePr>
            <a:graphicFrameLocks/>
          </p:cNvGraphicFramePr>
          <p:nvPr>
            <p:extLst>
              <p:ext uri="{D42A27DB-BD31-4B8C-83A1-F6EECF244321}">
                <p14:modId xmlns:p14="http://schemas.microsoft.com/office/powerpoint/2010/main" val="1171231891"/>
              </p:ext>
            </p:extLst>
          </p:nvPr>
        </p:nvGraphicFramePr>
        <p:xfrm>
          <a:off x="3438686" y="4509120"/>
          <a:ext cx="2971800" cy="2066544"/>
        </p:xfrm>
        <a:graphic>
          <a:graphicData uri="http://schemas.openxmlformats.org/drawingml/2006/table">
            <a:tbl>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7540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4730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Rectangle 2">
            <a:extLst>
              <a:ext uri="{FF2B5EF4-FFF2-40B4-BE49-F238E27FC236}">
                <a16:creationId xmlns:a16="http://schemas.microsoft.com/office/drawing/2014/main" id="{3EAC8724-572E-DA9C-CC74-653F65883016}"/>
              </a:ext>
            </a:extLst>
          </p:cNvPr>
          <p:cNvSpPr>
            <a:spLocks noGrp="1" noChangeArrowheads="1"/>
          </p:cNvSpPr>
          <p:nvPr>
            <p:ph type="title"/>
          </p:nvPr>
        </p:nvSpPr>
        <p:spPr>
          <a:xfrm>
            <a:off x="457200" y="136525"/>
            <a:ext cx="8229600" cy="1143000"/>
          </a:xfrm>
        </p:spPr>
        <p:txBody>
          <a:bodyPr/>
          <a:lstStyle/>
          <a:p>
            <a:pPr eaLnBrk="1" hangingPunct="1"/>
            <a:r>
              <a:rPr lang="zh-CN" altLang="en-US" dirty="0"/>
              <a:t>两变量的卡诺图</a:t>
            </a:r>
            <a:endParaRPr lang="en-US" altLang="zh-CN" b="1" dirty="0"/>
          </a:p>
        </p:txBody>
      </p:sp>
    </p:spTree>
    <p:extLst>
      <p:ext uri="{BB962C8B-B14F-4D97-AF65-F5344CB8AC3E}">
        <p14:creationId xmlns:p14="http://schemas.microsoft.com/office/powerpoint/2010/main" val="20984536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dirty="0"/>
              <a:t>三变量的卡诺图</a:t>
            </a:r>
            <a:endParaRPr lang="en-US" altLang="zh-CN" b="1" dirty="0"/>
          </a:p>
        </p:txBody>
      </p:sp>
      <p:graphicFrame>
        <p:nvGraphicFramePr>
          <p:cNvPr id="447491" name="Group 3"/>
          <p:cNvGraphicFramePr>
            <a:graphicFrameLocks noGrp="1"/>
          </p:cNvGraphicFramePr>
          <p:nvPr>
            <p:ph sz="half" idx="1"/>
            <p:extLst>
              <p:ext uri="{D42A27DB-BD31-4B8C-83A1-F6EECF244321}">
                <p14:modId xmlns:p14="http://schemas.microsoft.com/office/powerpoint/2010/main" val="2291646977"/>
              </p:ext>
            </p:extLst>
          </p:nvPr>
        </p:nvGraphicFramePr>
        <p:xfrm>
          <a:off x="685800" y="1592263"/>
          <a:ext cx="3581400" cy="2066544"/>
        </p:xfrm>
        <a:graphic>
          <a:graphicData uri="http://schemas.openxmlformats.org/drawingml/2006/table">
            <a:tbl>
              <a:tblPr/>
              <a:tblGrid>
                <a:gridCol w="912813">
                  <a:extLst>
                    <a:ext uri="{9D8B030D-6E8A-4147-A177-3AD203B41FA5}">
                      <a16:colId xmlns:a16="http://schemas.microsoft.com/office/drawing/2014/main" val="20000"/>
                    </a:ext>
                  </a:extLst>
                </a:gridCol>
                <a:gridCol w="701675">
                  <a:extLst>
                    <a:ext uri="{9D8B030D-6E8A-4147-A177-3AD203B41FA5}">
                      <a16:colId xmlns:a16="http://schemas.microsoft.com/office/drawing/2014/main" val="20001"/>
                    </a:ext>
                  </a:extLst>
                </a:gridCol>
                <a:gridCol w="633412">
                  <a:extLst>
                    <a:ext uri="{9D8B030D-6E8A-4147-A177-3AD203B41FA5}">
                      <a16:colId xmlns:a16="http://schemas.microsoft.com/office/drawing/2014/main" val="20002"/>
                    </a:ext>
                  </a:extLst>
                </a:gridCol>
                <a:gridCol w="701675">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9144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3713">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95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447517" name="Group 29"/>
          <p:cNvGraphicFramePr>
            <a:graphicFrameLocks noGrp="1"/>
          </p:cNvGraphicFramePr>
          <p:nvPr>
            <p:ph sz="half" idx="2"/>
            <p:extLst>
              <p:ext uri="{D42A27DB-BD31-4B8C-83A1-F6EECF244321}">
                <p14:modId xmlns:p14="http://schemas.microsoft.com/office/powerpoint/2010/main" val="3211959469"/>
              </p:ext>
            </p:extLst>
          </p:nvPr>
        </p:nvGraphicFramePr>
        <p:xfrm>
          <a:off x="609600" y="3886200"/>
          <a:ext cx="7772400" cy="2066544"/>
        </p:xfrm>
        <a:graphic>
          <a:graphicData uri="http://schemas.openxmlformats.org/drawingml/2006/table">
            <a:tbl>
              <a:tblPr/>
              <a:tblGrid>
                <a:gridCol w="914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11313">
                  <a:extLst>
                    <a:ext uri="{9D8B030D-6E8A-4147-A177-3AD203B41FA5}">
                      <a16:colId xmlns:a16="http://schemas.microsoft.com/office/drawing/2014/main" val="20003"/>
                    </a:ext>
                  </a:extLst>
                </a:gridCol>
                <a:gridCol w="1817687">
                  <a:extLst>
                    <a:ext uri="{9D8B030D-6E8A-4147-A177-3AD203B41FA5}">
                      <a16:colId xmlns:a16="http://schemas.microsoft.com/office/drawing/2014/main" val="20004"/>
                    </a:ext>
                  </a:extLst>
                </a:gridCol>
              </a:tblGrid>
              <a:tr h="86201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1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0</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800" b="0"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1</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800" b="0"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3</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800" b="0"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2</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800" b="0"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003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4</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800" b="0"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800" b="0"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5</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800" b="0"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800" b="0"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800" b="0" i="0" u="none" strike="noStrike" cap="none" normalizeH="0" baseline="0" dirty="0">
                          <a:ln>
                            <a:noFill/>
                          </a:ln>
                          <a:solidFill>
                            <a:srgbClr val="FF0066"/>
                          </a:solidFill>
                          <a:effectLst/>
                          <a:latin typeface="Arial" charset="0"/>
                          <a:ea typeface="黑体" panose="02010609060101010101"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7</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800" b="0"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800" b="0"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800" b="0" i="0" u="none" strike="noStrike" cap="none" normalizeH="0" baseline="-25000" dirty="0">
                          <a:ln>
                            <a:noFill/>
                          </a:ln>
                          <a:solidFill>
                            <a:schemeClr val="tx1"/>
                          </a:solidFill>
                          <a:effectLst/>
                          <a:latin typeface="Arial" charset="0"/>
                          <a:ea typeface="黑体" panose="02010609060101010101" pitchFamily="49" charset="-122"/>
                        </a:rPr>
                        <a:t>6</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800" b="0"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800" b="0"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800" b="0"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灯片编号占位符 1">
            <a:extLst>
              <a:ext uri="{FF2B5EF4-FFF2-40B4-BE49-F238E27FC236}">
                <a16:creationId xmlns:a16="http://schemas.microsoft.com/office/drawing/2014/main" id="{14CD2C8D-1C98-0583-9722-A419CA3178C2}"/>
              </a:ext>
            </a:extLst>
          </p:cNvPr>
          <p:cNvSpPr>
            <a:spLocks noGrp="1"/>
          </p:cNvSpPr>
          <p:nvPr>
            <p:ph type="sldNum" sz="quarter" idx="12"/>
          </p:nvPr>
        </p:nvSpPr>
        <p:spPr/>
        <p:txBody>
          <a:bodyPr/>
          <a:lstStyle/>
          <a:p>
            <a:fld id="{8B93EBDF-DAB8-41D8-86B3-1BFF07A18FF9}" type="slidenum">
              <a:rPr lang="en-US" altLang="zh-CN" smtClean="0"/>
              <a:pPr/>
              <a:t>72</a:t>
            </a:fld>
            <a:endParaRPr lang="en-US" altLang="zh-CN" dirty="0"/>
          </a:p>
        </p:txBody>
      </p:sp>
      <p:sp>
        <p:nvSpPr>
          <p:cNvPr id="80951" name="Text Box 55"/>
          <p:cNvSpPr txBox="1">
            <a:spLocks noChangeArrowheads="1"/>
          </p:cNvSpPr>
          <p:nvPr/>
        </p:nvSpPr>
        <p:spPr bwMode="auto">
          <a:xfrm>
            <a:off x="4876802" y="1828800"/>
            <a:ext cx="3047998"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i="1" dirty="0">
                <a:solidFill>
                  <a:schemeClr val="tx1"/>
                </a:solidFill>
                <a:latin typeface="Arial" panose="020B0604020202020204" pitchFamily="34" charset="0"/>
                <a:ea typeface="黑体" panose="02010609060101010101" pitchFamily="49" charset="-122"/>
                <a:cs typeface="Arial" panose="020B0604020202020204" pitchFamily="34" charset="0"/>
              </a:rPr>
              <a:t>f</a:t>
            </a:r>
            <a:r>
              <a:rPr lang="en-US" altLang="zh-CN" dirty="0">
                <a:solidFill>
                  <a:schemeClr val="tx1"/>
                </a:solidFill>
                <a:latin typeface="Arial" panose="020B0604020202020204" pitchFamily="34" charset="0"/>
                <a:ea typeface="黑体" panose="02010609060101010101" pitchFamily="49" charset="-122"/>
                <a:cs typeface="Arial" panose="020B0604020202020204" pitchFamily="34" charset="0"/>
              </a:rPr>
              <a:t>(</a:t>
            </a:r>
            <a:r>
              <a:rPr lang="en-US" altLang="zh-CN" i="1" dirty="0">
                <a:solidFill>
                  <a:schemeClr val="tx1"/>
                </a:solidFill>
                <a:latin typeface="Arial" panose="020B0604020202020204" pitchFamily="34" charset="0"/>
                <a:ea typeface="黑体" panose="02010609060101010101" pitchFamily="49" charset="-122"/>
                <a:cs typeface="Arial" panose="020B0604020202020204" pitchFamily="34" charset="0"/>
              </a:rPr>
              <a:t>A</a:t>
            </a:r>
            <a:r>
              <a:rPr lang="en-US" altLang="zh-CN" dirty="0">
                <a:solidFill>
                  <a:schemeClr val="tx1"/>
                </a:solidFill>
                <a:latin typeface="Arial" panose="020B0604020202020204" pitchFamily="34" charset="0"/>
                <a:ea typeface="黑体" panose="02010609060101010101" pitchFamily="49" charset="-122"/>
                <a:cs typeface="Arial" panose="020B0604020202020204" pitchFamily="34" charset="0"/>
              </a:rPr>
              <a:t>, </a:t>
            </a:r>
            <a:r>
              <a:rPr lang="en-US" altLang="zh-CN" i="1" dirty="0">
                <a:solidFill>
                  <a:schemeClr val="tx1"/>
                </a:solidFill>
                <a:latin typeface="Arial" panose="020B0604020202020204" pitchFamily="34" charset="0"/>
                <a:ea typeface="黑体" panose="02010609060101010101" pitchFamily="49" charset="-122"/>
                <a:cs typeface="Arial" panose="020B0604020202020204" pitchFamily="34" charset="0"/>
              </a:rPr>
              <a:t>B</a:t>
            </a:r>
            <a:r>
              <a:rPr lang="en-US" altLang="zh-CN" dirty="0">
                <a:solidFill>
                  <a:schemeClr val="tx1"/>
                </a:solidFill>
                <a:latin typeface="Arial" panose="020B0604020202020204" pitchFamily="34" charset="0"/>
                <a:ea typeface="黑体" panose="02010609060101010101" pitchFamily="49" charset="-122"/>
                <a:cs typeface="Arial" panose="020B0604020202020204" pitchFamily="34" charset="0"/>
              </a:rPr>
              <a:t>, </a:t>
            </a:r>
            <a:r>
              <a:rPr lang="en-US" altLang="zh-CN" i="1" dirty="0">
                <a:solidFill>
                  <a:schemeClr val="tx1"/>
                </a:solidFill>
                <a:latin typeface="Arial" panose="020B0604020202020204" pitchFamily="34" charset="0"/>
                <a:ea typeface="黑体" panose="02010609060101010101" pitchFamily="49" charset="-122"/>
                <a:cs typeface="Arial" panose="020B0604020202020204" pitchFamily="34" charset="0"/>
              </a:rPr>
              <a:t>C</a:t>
            </a:r>
            <a:r>
              <a:rPr lang="en-US" altLang="zh-CN" dirty="0">
                <a:solidFill>
                  <a:schemeClr val="tx1"/>
                </a:solidFill>
                <a:latin typeface="Arial" panose="020B0604020202020204" pitchFamily="34" charset="0"/>
                <a:ea typeface="黑体" panose="02010609060101010101" pitchFamily="49" charset="-122"/>
                <a:cs typeface="Arial" panose="020B0604020202020204" pitchFamily="34" charset="0"/>
              </a:rPr>
              <a:t>)</a:t>
            </a:r>
          </a:p>
        </p:txBody>
      </p:sp>
      <p:sp>
        <p:nvSpPr>
          <p:cNvPr id="3" name="Left-Right Arrow 2">
            <a:extLst>
              <a:ext uri="{FF2B5EF4-FFF2-40B4-BE49-F238E27FC236}">
                <a16:creationId xmlns:a16="http://schemas.microsoft.com/office/drawing/2014/main" id="{9DB5A31F-4AE2-2B41-BB1A-04C7E5230427}"/>
              </a:ext>
            </a:extLst>
          </p:cNvPr>
          <p:cNvSpPr/>
          <p:nvPr/>
        </p:nvSpPr>
        <p:spPr bwMode="auto">
          <a:xfrm>
            <a:off x="1835696" y="2204864"/>
            <a:ext cx="2124236" cy="288032"/>
          </a:xfrm>
          <a:prstGeom prst="leftRightArrow">
            <a:avLst/>
          </a:prstGeom>
          <a:solidFill>
            <a:srgbClr val="B4C6E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6" name="TextBox 3">
            <a:extLst>
              <a:ext uri="{FF2B5EF4-FFF2-40B4-BE49-F238E27FC236}">
                <a16:creationId xmlns:a16="http://schemas.microsoft.com/office/drawing/2014/main" id="{46C1649D-BEE6-52C0-BD3F-1E59637C1A32}"/>
              </a:ext>
            </a:extLst>
          </p:cNvPr>
          <p:cNvSpPr txBox="1"/>
          <p:nvPr/>
        </p:nvSpPr>
        <p:spPr>
          <a:xfrm>
            <a:off x="2108175" y="2164214"/>
            <a:ext cx="1579278" cy="369332"/>
          </a:xfrm>
          <a:prstGeom prst="rect">
            <a:avLst/>
          </a:prstGeom>
          <a:noFill/>
        </p:spPr>
        <p:txBody>
          <a:bodyPr wrap="none" rtlCol="0">
            <a:spAutoFit/>
          </a:bodyPr>
          <a:lstStyle/>
          <a:p>
            <a:r>
              <a:rPr lang="zh-CN" altLang="en-US" b="1" dirty="0">
                <a:ea typeface="黑体" panose="02010609060101010101" pitchFamily="49" charset="-122"/>
              </a:rPr>
              <a:t>格雷码的应用</a:t>
            </a:r>
            <a:endParaRPr lang="en-CN" b="1" dirty="0">
              <a:ea typeface="黑体" panose="02010609060101010101" pitchFamily="49" charset="-122"/>
            </a:endParaRPr>
          </a:p>
        </p:txBody>
      </p:sp>
    </p:spTree>
    <p:extLst>
      <p:ext uri="{BB962C8B-B14F-4D97-AF65-F5344CB8AC3E}">
        <p14:creationId xmlns:p14="http://schemas.microsoft.com/office/powerpoint/2010/main" val="6540607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dirty="0"/>
              <a:t>四变量卡诺图的一种形式</a:t>
            </a:r>
            <a:endParaRPr lang="en-US" altLang="zh-CN" dirty="0"/>
          </a:p>
        </p:txBody>
      </p:sp>
      <p:graphicFrame>
        <p:nvGraphicFramePr>
          <p:cNvPr id="448553" name="Group 41"/>
          <p:cNvGraphicFramePr>
            <a:graphicFrameLocks noGrp="1"/>
          </p:cNvGraphicFramePr>
          <p:nvPr>
            <p:ph sz="half" idx="1"/>
            <p:extLst>
              <p:ext uri="{D42A27DB-BD31-4B8C-83A1-F6EECF244321}">
                <p14:modId xmlns:p14="http://schemas.microsoft.com/office/powerpoint/2010/main" val="2986270975"/>
              </p:ext>
            </p:extLst>
          </p:nvPr>
        </p:nvGraphicFramePr>
        <p:xfrm>
          <a:off x="457200" y="2667000"/>
          <a:ext cx="8305800" cy="2843213"/>
        </p:xfrm>
        <a:graphic>
          <a:graphicData uri="http://schemas.openxmlformats.org/drawingml/2006/table">
            <a:tbl>
              <a:tblPr/>
              <a:tblGrid>
                <a:gridCol w="914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101441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0</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3</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37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4</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5</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7</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6</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12</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13</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15</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14</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37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8</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9</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11</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10</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7325C632-11ED-EFC6-4704-0953F0CF5A0F}"/>
              </a:ext>
            </a:extLst>
          </p:cNvPr>
          <p:cNvSpPr>
            <a:spLocks noGrp="1"/>
          </p:cNvSpPr>
          <p:nvPr>
            <p:ph type="sldNum" sz="quarter" idx="12"/>
          </p:nvPr>
        </p:nvSpPr>
        <p:spPr/>
        <p:txBody>
          <a:bodyPr/>
          <a:lstStyle/>
          <a:p>
            <a:fld id="{8B93EBDF-DAB8-41D8-86B3-1BFF07A18FF9}" type="slidenum">
              <a:rPr lang="en-US" altLang="zh-CN" smtClean="0"/>
              <a:pPr/>
              <a:t>73</a:t>
            </a:fld>
            <a:endParaRPr lang="en-US" altLang="zh-CN" dirty="0"/>
          </a:p>
        </p:txBody>
      </p:sp>
      <p:sp>
        <p:nvSpPr>
          <p:cNvPr id="3" name="Text Box 41">
            <a:extLst>
              <a:ext uri="{FF2B5EF4-FFF2-40B4-BE49-F238E27FC236}">
                <a16:creationId xmlns:a16="http://schemas.microsoft.com/office/drawing/2014/main" id="{13385AE8-74AC-B9C8-8E86-2997441D336A}"/>
              </a:ext>
            </a:extLst>
          </p:cNvPr>
          <p:cNvSpPr txBox="1">
            <a:spLocks noChangeArrowheads="1"/>
          </p:cNvSpPr>
          <p:nvPr/>
        </p:nvSpPr>
        <p:spPr bwMode="auto">
          <a:xfrm>
            <a:off x="2438400" y="1600200"/>
            <a:ext cx="3429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i="1" dirty="0">
                <a:solidFill>
                  <a:schemeClr val="tx1"/>
                </a:solidFill>
                <a:latin typeface="+mn-lt"/>
                <a:ea typeface="黑体" panose="02010609060101010101" pitchFamily="49" charset="-122"/>
              </a:rPr>
              <a:t>f </a:t>
            </a:r>
            <a:r>
              <a:rPr lang="en-US" altLang="zh-CN" dirty="0">
                <a:solidFill>
                  <a:schemeClr val="tx1"/>
                </a:solidFill>
                <a:latin typeface="+mn-lt"/>
                <a:ea typeface="黑体" panose="02010609060101010101" pitchFamily="49" charset="-122"/>
              </a:rPr>
              <a:t>(</a:t>
            </a:r>
            <a:r>
              <a:rPr lang="en-US" altLang="zh-CN" i="1" dirty="0">
                <a:solidFill>
                  <a:schemeClr val="tx1"/>
                </a:solidFill>
                <a:latin typeface="+mn-lt"/>
                <a:ea typeface="黑体" panose="02010609060101010101" pitchFamily="49" charset="-122"/>
              </a:rPr>
              <a:t>A</a:t>
            </a:r>
            <a:r>
              <a:rPr lang="en-US" altLang="zh-CN" dirty="0">
                <a:solidFill>
                  <a:schemeClr val="tx1"/>
                </a:solidFill>
                <a:latin typeface="+mn-lt"/>
                <a:ea typeface="黑体" panose="02010609060101010101" pitchFamily="49" charset="-122"/>
              </a:rPr>
              <a:t>, </a:t>
            </a:r>
            <a:r>
              <a:rPr lang="en-US" altLang="zh-CN" i="1" dirty="0">
                <a:solidFill>
                  <a:schemeClr val="tx1"/>
                </a:solidFill>
                <a:latin typeface="+mn-lt"/>
                <a:ea typeface="黑体" panose="02010609060101010101" pitchFamily="49" charset="-122"/>
              </a:rPr>
              <a:t>B</a:t>
            </a:r>
            <a:r>
              <a:rPr lang="en-US" altLang="zh-CN" dirty="0">
                <a:solidFill>
                  <a:schemeClr val="tx1"/>
                </a:solidFill>
                <a:latin typeface="+mn-lt"/>
                <a:ea typeface="黑体" panose="02010609060101010101" pitchFamily="49" charset="-122"/>
              </a:rPr>
              <a:t>, </a:t>
            </a:r>
            <a:r>
              <a:rPr lang="en-US" altLang="zh-CN" i="1" dirty="0">
                <a:solidFill>
                  <a:schemeClr val="tx1"/>
                </a:solidFill>
                <a:latin typeface="+mn-lt"/>
                <a:ea typeface="黑体" panose="02010609060101010101" pitchFamily="49" charset="-122"/>
              </a:rPr>
              <a:t>C</a:t>
            </a:r>
            <a:r>
              <a:rPr lang="en-US" altLang="zh-CN" dirty="0">
                <a:solidFill>
                  <a:schemeClr val="tx1"/>
                </a:solidFill>
                <a:latin typeface="+mn-lt"/>
                <a:ea typeface="黑体" panose="02010609060101010101" pitchFamily="49" charset="-122"/>
              </a:rPr>
              <a:t>, </a:t>
            </a:r>
            <a:r>
              <a:rPr lang="en-US" altLang="zh-CN" i="1" dirty="0">
                <a:solidFill>
                  <a:schemeClr val="tx1"/>
                </a:solidFill>
                <a:latin typeface="+mn-lt"/>
                <a:ea typeface="黑体" panose="02010609060101010101" pitchFamily="49" charset="-122"/>
              </a:rPr>
              <a:t>D</a:t>
            </a:r>
            <a:r>
              <a:rPr lang="en-US" altLang="zh-CN" dirty="0">
                <a:solidFill>
                  <a:schemeClr val="tx1"/>
                </a:solidFill>
                <a:latin typeface="+mn-lt"/>
                <a:ea typeface="黑体" panose="02010609060101010101" pitchFamily="49" charset="-122"/>
              </a:rPr>
              <a:t>)</a:t>
            </a:r>
          </a:p>
        </p:txBody>
      </p:sp>
    </p:spTree>
    <p:extLst>
      <p:ext uri="{BB962C8B-B14F-4D97-AF65-F5344CB8AC3E}">
        <p14:creationId xmlns:p14="http://schemas.microsoft.com/office/powerpoint/2010/main" val="4071405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p:txBody>
          <a:bodyPr/>
          <a:lstStyle/>
          <a:p>
            <a:pPr eaLnBrk="1" hangingPunct="1"/>
            <a:r>
              <a:rPr lang="zh-CN" altLang="en-US" dirty="0"/>
              <a:t>四变量卡诺图的另一种形式</a:t>
            </a:r>
            <a:endParaRPr lang="en-US" altLang="zh-CN" dirty="0"/>
          </a:p>
        </p:txBody>
      </p:sp>
      <p:graphicFrame>
        <p:nvGraphicFramePr>
          <p:cNvPr id="449539" name="Group 3"/>
          <p:cNvGraphicFramePr>
            <a:graphicFrameLocks noGrp="1"/>
          </p:cNvGraphicFramePr>
          <p:nvPr>
            <p:ph sz="half" idx="1"/>
            <p:extLst>
              <p:ext uri="{D42A27DB-BD31-4B8C-83A1-F6EECF244321}">
                <p14:modId xmlns:p14="http://schemas.microsoft.com/office/powerpoint/2010/main" val="536223233"/>
              </p:ext>
            </p:extLst>
          </p:nvPr>
        </p:nvGraphicFramePr>
        <p:xfrm>
          <a:off x="457200" y="2667000"/>
          <a:ext cx="8229600" cy="2826265"/>
        </p:xfrm>
        <a:graphic>
          <a:graphicData uri="http://schemas.openxmlformats.org/drawingml/2006/table">
            <a:tbl>
              <a:tblPr/>
              <a:tblGrid>
                <a:gridCol w="6858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89587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 AB</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CD</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00</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01</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11</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10</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077">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00</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0</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4</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12</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8</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077">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01</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5</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13</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9</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rgbClr val="33CC33"/>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077">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11</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3</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7</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15</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11</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CCFF66"/>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8649">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10</a:t>
                      </a: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2</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6</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endParaRPr kumimoji="0" lang="en-US" altLang="zh-CN" sz="2400" b="1" i="0" u="none" strike="noStrike" cap="none" normalizeH="0" baseline="0" dirty="0">
                        <a:ln>
                          <a:noFill/>
                        </a:ln>
                        <a:solidFill>
                          <a:srgbClr val="FF0066"/>
                        </a:solidFill>
                        <a:effectLst/>
                        <a:latin typeface="Arial" charset="0"/>
                        <a:ea typeface="黑体" panose="02010609060101010101" pitchFamily="49"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14</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3399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m</a:t>
                      </a:r>
                      <a:r>
                        <a:rPr kumimoji="0" lang="en-US" altLang="zh-CN" sz="2400" b="1" i="0" u="none" strike="noStrike" cap="none" normalizeH="0" baseline="-25000" dirty="0">
                          <a:ln>
                            <a:noFill/>
                          </a:ln>
                          <a:solidFill>
                            <a:schemeClr val="tx1"/>
                          </a:solidFill>
                          <a:effectLst/>
                          <a:latin typeface="Arial" charset="0"/>
                          <a:ea typeface="黑体" panose="02010609060101010101" pitchFamily="49" charset="-122"/>
                        </a:rPr>
                        <a:t>10</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A</a:t>
                      </a:r>
                      <a:r>
                        <a:rPr kumimoji="0" lang="en-US" altLang="zh-CN" sz="2400" b="1" i="0" u="none" strike="noStrike" cap="none" normalizeH="0" baseline="0" dirty="0">
                          <a:ln>
                            <a:noFill/>
                          </a:ln>
                          <a:solidFill>
                            <a:srgbClr val="FF00FF"/>
                          </a:solidFill>
                          <a:effectLst/>
                          <a:latin typeface="Arial" charset="0"/>
                          <a:ea typeface="黑体" panose="02010609060101010101" pitchFamily="49" charset="-122"/>
                        </a:rPr>
                        <a:t>B’</a:t>
                      </a:r>
                      <a:r>
                        <a:rPr kumimoji="0" lang="en-US" altLang="zh-CN" sz="2400" b="1" i="0" u="none" strike="noStrike" cap="none" normalizeH="0" baseline="0" dirty="0">
                          <a:ln>
                            <a:noFill/>
                          </a:ln>
                          <a:solidFill>
                            <a:schemeClr val="hlink"/>
                          </a:solidFill>
                          <a:effectLst/>
                          <a:latin typeface="Arial" charset="0"/>
                          <a:ea typeface="黑体" panose="02010609060101010101" pitchFamily="49" charset="-122"/>
                        </a:rPr>
                        <a:t>C</a:t>
                      </a:r>
                      <a:r>
                        <a:rPr kumimoji="0" lang="en-US" altLang="zh-CN" sz="2400" b="1" i="0" u="none" strike="noStrike" cap="none" normalizeH="0" baseline="0" dirty="0">
                          <a:ln>
                            <a:noFill/>
                          </a:ln>
                          <a:solidFill>
                            <a:srgbClr val="9966FF"/>
                          </a:solidFill>
                          <a:effectLst/>
                          <a:latin typeface="Arial" charset="0"/>
                          <a:ea typeface="黑体" panose="02010609060101010101" pitchFamily="49" charset="-122"/>
                        </a:rPr>
                        <a:t>D’</a:t>
                      </a: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a:t>
                      </a: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713FFD71-3929-8F66-A826-74F5F5CB1C5C}"/>
              </a:ext>
            </a:extLst>
          </p:cNvPr>
          <p:cNvSpPr>
            <a:spLocks noGrp="1"/>
          </p:cNvSpPr>
          <p:nvPr>
            <p:ph type="sldNum" sz="quarter" idx="12"/>
          </p:nvPr>
        </p:nvSpPr>
        <p:spPr/>
        <p:txBody>
          <a:bodyPr/>
          <a:lstStyle/>
          <a:p>
            <a:fld id="{8B93EBDF-DAB8-41D8-86B3-1BFF07A18FF9}" type="slidenum">
              <a:rPr lang="en-US" altLang="zh-CN" smtClean="0"/>
              <a:pPr/>
              <a:t>74</a:t>
            </a:fld>
            <a:endParaRPr lang="en-US" altLang="zh-CN" dirty="0"/>
          </a:p>
        </p:txBody>
      </p:sp>
      <p:sp>
        <p:nvSpPr>
          <p:cNvPr id="82985" name="Text Box 41"/>
          <p:cNvSpPr txBox="1">
            <a:spLocks noChangeArrowheads="1"/>
          </p:cNvSpPr>
          <p:nvPr/>
        </p:nvSpPr>
        <p:spPr bwMode="auto">
          <a:xfrm>
            <a:off x="2438400" y="1600200"/>
            <a:ext cx="3429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i="1" dirty="0">
                <a:solidFill>
                  <a:schemeClr val="tx1"/>
                </a:solidFill>
                <a:latin typeface="+mn-lt"/>
                <a:ea typeface="黑体" panose="02010609060101010101" pitchFamily="49" charset="-122"/>
              </a:rPr>
              <a:t>f </a:t>
            </a:r>
            <a:r>
              <a:rPr lang="en-US" altLang="zh-CN" dirty="0">
                <a:solidFill>
                  <a:schemeClr val="tx1"/>
                </a:solidFill>
                <a:latin typeface="+mn-lt"/>
                <a:ea typeface="黑体" panose="02010609060101010101" pitchFamily="49" charset="-122"/>
              </a:rPr>
              <a:t>(</a:t>
            </a:r>
            <a:r>
              <a:rPr lang="en-US" altLang="zh-CN" i="1" dirty="0">
                <a:solidFill>
                  <a:schemeClr val="tx1"/>
                </a:solidFill>
                <a:latin typeface="+mn-lt"/>
                <a:ea typeface="黑体" panose="02010609060101010101" pitchFamily="49" charset="-122"/>
              </a:rPr>
              <a:t>A</a:t>
            </a:r>
            <a:r>
              <a:rPr lang="en-US" altLang="zh-CN" dirty="0">
                <a:solidFill>
                  <a:schemeClr val="tx1"/>
                </a:solidFill>
                <a:latin typeface="+mn-lt"/>
                <a:ea typeface="黑体" panose="02010609060101010101" pitchFamily="49" charset="-122"/>
              </a:rPr>
              <a:t>, </a:t>
            </a:r>
            <a:r>
              <a:rPr lang="en-US" altLang="zh-CN" i="1" dirty="0">
                <a:solidFill>
                  <a:schemeClr val="tx1"/>
                </a:solidFill>
                <a:latin typeface="+mn-lt"/>
                <a:ea typeface="黑体" panose="02010609060101010101" pitchFamily="49" charset="-122"/>
              </a:rPr>
              <a:t>B</a:t>
            </a:r>
            <a:r>
              <a:rPr lang="en-US" altLang="zh-CN" dirty="0">
                <a:solidFill>
                  <a:schemeClr val="tx1"/>
                </a:solidFill>
                <a:latin typeface="+mn-lt"/>
                <a:ea typeface="黑体" panose="02010609060101010101" pitchFamily="49" charset="-122"/>
              </a:rPr>
              <a:t>, </a:t>
            </a:r>
            <a:r>
              <a:rPr lang="en-US" altLang="zh-CN" i="1" dirty="0">
                <a:solidFill>
                  <a:schemeClr val="tx1"/>
                </a:solidFill>
                <a:latin typeface="+mn-lt"/>
                <a:ea typeface="黑体" panose="02010609060101010101" pitchFamily="49" charset="-122"/>
              </a:rPr>
              <a:t>C</a:t>
            </a:r>
            <a:r>
              <a:rPr lang="en-US" altLang="zh-CN" dirty="0">
                <a:solidFill>
                  <a:schemeClr val="tx1"/>
                </a:solidFill>
                <a:latin typeface="+mn-lt"/>
                <a:ea typeface="黑体" panose="02010609060101010101" pitchFamily="49" charset="-122"/>
              </a:rPr>
              <a:t>, </a:t>
            </a:r>
            <a:r>
              <a:rPr lang="en-US" altLang="zh-CN" i="1" dirty="0">
                <a:solidFill>
                  <a:schemeClr val="tx1"/>
                </a:solidFill>
                <a:latin typeface="+mn-lt"/>
                <a:ea typeface="黑体" panose="02010609060101010101" pitchFamily="49" charset="-122"/>
              </a:rPr>
              <a:t>D</a:t>
            </a:r>
            <a:r>
              <a:rPr lang="en-US" altLang="zh-CN" dirty="0">
                <a:solidFill>
                  <a:schemeClr val="tx1"/>
                </a:solidFill>
                <a:latin typeface="+mn-lt"/>
                <a:ea typeface="黑体" panose="02010609060101010101" pitchFamily="49" charset="-122"/>
              </a:rPr>
              <a:t>)</a:t>
            </a:r>
          </a:p>
        </p:txBody>
      </p:sp>
    </p:spTree>
    <p:extLst>
      <p:ext uri="{BB962C8B-B14F-4D97-AF65-F5344CB8AC3E}">
        <p14:creationId xmlns:p14="http://schemas.microsoft.com/office/powerpoint/2010/main" val="20690500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5">
                <a:extLst>
                  <a:ext uri="{FF2B5EF4-FFF2-40B4-BE49-F238E27FC236}">
                    <a16:creationId xmlns:a16="http://schemas.microsoft.com/office/drawing/2014/main" id="{E8BA5CD2-1227-F542-8DEB-845698AACCC6}"/>
                  </a:ext>
                </a:extLst>
              </p:cNvPr>
              <p:cNvSpPr txBox="1"/>
              <p:nvPr/>
            </p:nvSpPr>
            <p:spPr>
              <a:xfrm>
                <a:off x="791580" y="1458995"/>
                <a:ext cx="7920880" cy="546239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kumimoji="1" lang="en-US" altLang="zh-CN" sz="2800" i="1" smtClean="0">
                          <a:latin typeface="Cambria Math" panose="02040503050406030204" pitchFamily="18" charset="0"/>
                        </a:rPr>
                        <m:t>𝑌</m:t>
                      </m:r>
                      <m:r>
                        <a:rPr kumimoji="1" lang="en-US" altLang="zh-CN" sz="2800" b="0" i="1" smtClean="0">
                          <a:latin typeface="Cambria Math" panose="02040503050406030204" pitchFamily="18" charset="0"/>
                        </a:rPr>
                        <m:t>=</m:t>
                      </m:r>
                      <m:acc>
                        <m:accPr>
                          <m:chr m:val="̅"/>
                          <m:ctrlPr>
                            <a:rPr kumimoji="1" lang="en-US" altLang="zh-CN" sz="2800" b="0" i="1" smtClean="0">
                              <a:solidFill>
                                <a:schemeClr val="tx1"/>
                              </a:solidFill>
                              <a:latin typeface="Cambria Math" panose="02040503050406030204" pitchFamily="18" charset="0"/>
                            </a:rPr>
                          </m:ctrlPr>
                        </m:accPr>
                        <m:e>
                          <m:r>
                            <a:rPr kumimoji="1" lang="en-US" altLang="zh-CN" sz="2800" b="0" i="1" smtClean="0">
                              <a:solidFill>
                                <a:schemeClr val="tx1"/>
                              </a:solidFill>
                              <a:latin typeface="Cambria Math" panose="02040503050406030204" pitchFamily="18" charset="0"/>
                            </a:rPr>
                            <m:t>𝐴</m:t>
                          </m:r>
                        </m:e>
                      </m:acc>
                      <m:acc>
                        <m:accPr>
                          <m:chr m:val="̅"/>
                          <m:ctrlPr>
                            <a:rPr kumimoji="1" lang="en-US" altLang="zh-CN" sz="2800" b="0" i="1" smtClean="0">
                              <a:solidFill>
                                <a:schemeClr val="tx1"/>
                              </a:solidFill>
                              <a:latin typeface="Cambria Math" panose="02040503050406030204" pitchFamily="18" charset="0"/>
                            </a:rPr>
                          </m:ctrlPr>
                        </m:accPr>
                        <m:e>
                          <m:r>
                            <a:rPr kumimoji="1" lang="en-US" altLang="zh-CN" sz="2800" b="0" i="1" smtClean="0">
                              <a:solidFill>
                                <a:schemeClr val="tx1"/>
                              </a:solidFill>
                              <a:latin typeface="Cambria Math" panose="02040503050406030204" pitchFamily="18" charset="0"/>
                            </a:rPr>
                            <m:t>𝐵</m:t>
                          </m:r>
                        </m:e>
                      </m:acc>
                      <m:acc>
                        <m:accPr>
                          <m:chr m:val="̅"/>
                          <m:ctrlPr>
                            <a:rPr kumimoji="1" lang="en-US" altLang="zh-CN" sz="2800" b="0" i="1" smtClean="0">
                              <a:solidFill>
                                <a:schemeClr val="tx1"/>
                              </a:solidFill>
                              <a:latin typeface="Cambria Math" panose="02040503050406030204" pitchFamily="18" charset="0"/>
                            </a:rPr>
                          </m:ctrlPr>
                        </m:accPr>
                        <m:e>
                          <m:r>
                            <a:rPr kumimoji="1" lang="en-US" altLang="zh-CN" sz="2800" b="0" i="1" smtClean="0">
                              <a:solidFill>
                                <a:schemeClr val="tx1"/>
                              </a:solidFill>
                              <a:latin typeface="Cambria Math" panose="02040503050406030204" pitchFamily="18" charset="0"/>
                            </a:rPr>
                            <m:t>𝐶</m:t>
                          </m:r>
                        </m:e>
                      </m:acc>
                      <m:r>
                        <a:rPr kumimoji="1" lang="en-US" altLang="zh-CN" sz="2800" b="0" i="1" smtClean="0">
                          <a:solidFill>
                            <a:schemeClr val="tx1"/>
                          </a:solidFill>
                          <a:latin typeface="Cambria Math" panose="02040503050406030204" pitchFamily="18" charset="0"/>
                        </a:rPr>
                        <m:t>𝐷</m:t>
                      </m:r>
                      <m:r>
                        <a:rPr kumimoji="1" lang="en-US" altLang="zh-CN" sz="2800" b="0" i="1" smtClean="0">
                          <a:solidFill>
                            <a:schemeClr val="tx1"/>
                          </a:solidFill>
                          <a:latin typeface="Cambria Math" panose="02040503050406030204" pitchFamily="18" charset="0"/>
                        </a:rPr>
                        <m:t>+</m:t>
                      </m:r>
                      <m:acc>
                        <m:accPr>
                          <m:chr m:val="̅"/>
                          <m:ctrlPr>
                            <a:rPr kumimoji="1" lang="en-US" altLang="zh-CN" sz="2800" b="0" i="1" smtClean="0">
                              <a:solidFill>
                                <a:schemeClr val="tx1"/>
                              </a:solidFill>
                              <a:latin typeface="Cambria Math" panose="02040503050406030204" pitchFamily="18" charset="0"/>
                            </a:rPr>
                          </m:ctrlPr>
                        </m:accPr>
                        <m:e>
                          <m:r>
                            <a:rPr kumimoji="1" lang="en-US" altLang="zh-CN" sz="2800" b="0" i="1" smtClean="0">
                              <a:solidFill>
                                <a:schemeClr val="tx1"/>
                              </a:solidFill>
                              <a:latin typeface="Cambria Math" panose="02040503050406030204" pitchFamily="18" charset="0"/>
                            </a:rPr>
                            <m:t>𝐴</m:t>
                          </m:r>
                        </m:e>
                      </m:acc>
                      <m:r>
                        <a:rPr kumimoji="1" lang="en-US" altLang="zh-CN" sz="2800" b="0" i="1" smtClean="0">
                          <a:solidFill>
                            <a:schemeClr val="tx1"/>
                          </a:solidFill>
                          <a:latin typeface="Cambria Math" panose="02040503050406030204" pitchFamily="18" charset="0"/>
                        </a:rPr>
                        <m:t>𝐵</m:t>
                      </m:r>
                      <m:acc>
                        <m:accPr>
                          <m:chr m:val="̅"/>
                          <m:ctrlPr>
                            <a:rPr kumimoji="1" lang="en-US" altLang="zh-CN" sz="2800" b="0" i="1" smtClean="0">
                              <a:solidFill>
                                <a:schemeClr val="tx1"/>
                              </a:solidFill>
                              <a:latin typeface="Cambria Math" panose="02040503050406030204" pitchFamily="18" charset="0"/>
                            </a:rPr>
                          </m:ctrlPr>
                        </m:accPr>
                        <m:e>
                          <m:r>
                            <a:rPr kumimoji="1" lang="en-US" altLang="zh-CN" sz="2800" b="0" i="1" smtClean="0">
                              <a:solidFill>
                                <a:schemeClr val="tx1"/>
                              </a:solidFill>
                              <a:latin typeface="Cambria Math" panose="02040503050406030204" pitchFamily="18" charset="0"/>
                            </a:rPr>
                            <m:t>𝐷</m:t>
                          </m:r>
                        </m:e>
                      </m:acc>
                      <m:r>
                        <a:rPr kumimoji="1" lang="en-US" altLang="zh-CN" sz="2800" b="0" i="1" smtClean="0">
                          <a:solidFill>
                            <a:schemeClr val="tx1"/>
                          </a:solidFill>
                          <a:latin typeface="Cambria Math" panose="02040503050406030204" pitchFamily="18" charset="0"/>
                        </a:rPr>
                        <m:t>+</m:t>
                      </m:r>
                      <m:r>
                        <a:rPr kumimoji="1" lang="en-US" altLang="zh-CN" sz="2800" b="0" i="1" smtClean="0">
                          <a:solidFill>
                            <a:schemeClr val="tx1"/>
                          </a:solidFill>
                          <a:latin typeface="Cambria Math" panose="02040503050406030204" pitchFamily="18" charset="0"/>
                        </a:rPr>
                        <m:t>𝐴𝐶𝐷</m:t>
                      </m:r>
                      <m:r>
                        <a:rPr kumimoji="1" lang="en-US" altLang="zh-CN" sz="2800" b="0" i="1" smtClean="0">
                          <a:solidFill>
                            <a:schemeClr val="tx1"/>
                          </a:solidFill>
                          <a:latin typeface="Cambria Math" panose="02040503050406030204" pitchFamily="18" charset="0"/>
                        </a:rPr>
                        <m:t>+</m:t>
                      </m:r>
                      <m:r>
                        <a:rPr kumimoji="1" lang="en-US" altLang="zh-CN" sz="2800" b="0" i="1" smtClean="0">
                          <a:solidFill>
                            <a:schemeClr val="tx1"/>
                          </a:solidFill>
                          <a:latin typeface="Cambria Math" panose="02040503050406030204" pitchFamily="18" charset="0"/>
                        </a:rPr>
                        <m:t>𝐴</m:t>
                      </m:r>
                      <m:acc>
                        <m:accPr>
                          <m:chr m:val="̅"/>
                          <m:ctrlPr>
                            <a:rPr kumimoji="1" lang="en-US" altLang="zh-CN" sz="2800" b="0" i="1" smtClean="0">
                              <a:solidFill>
                                <a:schemeClr val="tx1"/>
                              </a:solidFill>
                              <a:latin typeface="Cambria Math" panose="02040503050406030204" pitchFamily="18" charset="0"/>
                            </a:rPr>
                          </m:ctrlPr>
                        </m:accPr>
                        <m:e>
                          <m:r>
                            <a:rPr kumimoji="1" lang="en-US" altLang="zh-CN" sz="2800" b="0" i="1" smtClean="0">
                              <a:solidFill>
                                <a:schemeClr val="tx1"/>
                              </a:solidFill>
                              <a:latin typeface="Cambria Math" panose="02040503050406030204" pitchFamily="18" charset="0"/>
                            </a:rPr>
                            <m:t>𝐵</m:t>
                          </m:r>
                        </m:e>
                      </m:acc>
                    </m:oMath>
                  </m:oMathPara>
                </a14:m>
                <a:endParaRPr kumimoji="1" lang="en-US" altLang="zh-CN" sz="2800" i="1" baseline="-25000" dirty="0">
                  <a:ea typeface="黑体" panose="02010609060101010101" pitchFamily="49" charset="-122"/>
                </a:endParaRPr>
              </a:p>
              <a:p>
                <a:endParaRPr kumimoji="1" lang="en-US" altLang="zh-CN" sz="2800" i="1" baseline="-25000" dirty="0">
                  <a:ea typeface="黑体" panose="02010609060101010101" pitchFamily="49" charset="-122"/>
                </a:endParaRPr>
              </a:p>
              <a:p>
                <a14:m>
                  <m:oMath xmlns:m="http://schemas.openxmlformats.org/officeDocument/2006/math">
                    <m:r>
                      <a:rPr kumimoji="1" lang="en-US" altLang="zh-CN" sz="2800" b="0" i="1" smtClean="0">
                        <a:solidFill>
                          <a:schemeClr val="tx1"/>
                        </a:solidFill>
                        <a:latin typeface="Cambria Math" panose="02040503050406030204" pitchFamily="18" charset="0"/>
                      </a:rPr>
                      <m:t>=</m:t>
                    </m:r>
                    <m:acc>
                      <m:accPr>
                        <m:chr m:val="̅"/>
                        <m:ctrlPr>
                          <a:rPr kumimoji="1" lang="en-US" altLang="zh-CN" sz="2800" i="1">
                            <a:latin typeface="Cambria Math" panose="02040503050406030204" pitchFamily="18" charset="0"/>
                          </a:rPr>
                        </m:ctrlPr>
                      </m:accPr>
                      <m:e>
                        <m:r>
                          <a:rPr kumimoji="1" lang="en-US" altLang="zh-CN" sz="2800" i="1">
                            <a:latin typeface="Cambria Math" panose="02040503050406030204" pitchFamily="18" charset="0"/>
                          </a:rPr>
                          <m:t>𝐴</m:t>
                        </m:r>
                      </m:e>
                    </m:acc>
                    <m:acc>
                      <m:accPr>
                        <m:chr m:val="̅"/>
                        <m:ctrlPr>
                          <a:rPr kumimoji="1" lang="en-US" altLang="zh-CN" sz="2800" i="1">
                            <a:latin typeface="Cambria Math" panose="02040503050406030204" pitchFamily="18" charset="0"/>
                          </a:rPr>
                        </m:ctrlPr>
                      </m:accPr>
                      <m:e>
                        <m:r>
                          <a:rPr kumimoji="1" lang="en-US" altLang="zh-CN" sz="2800" i="1">
                            <a:latin typeface="Cambria Math" panose="02040503050406030204" pitchFamily="18" charset="0"/>
                          </a:rPr>
                          <m:t>𝐵</m:t>
                        </m:r>
                      </m:e>
                    </m:acc>
                    <m:acc>
                      <m:accPr>
                        <m:chr m:val="̅"/>
                        <m:ctrlPr>
                          <a:rPr kumimoji="1" lang="en-US" altLang="zh-CN" sz="2800" i="1">
                            <a:latin typeface="Cambria Math" panose="02040503050406030204" pitchFamily="18" charset="0"/>
                          </a:rPr>
                        </m:ctrlPr>
                      </m:accPr>
                      <m:e>
                        <m:r>
                          <a:rPr kumimoji="1" lang="en-US" altLang="zh-CN" sz="2800" i="1">
                            <a:latin typeface="Cambria Math" panose="02040503050406030204" pitchFamily="18" charset="0"/>
                          </a:rPr>
                          <m:t>𝐶</m:t>
                        </m:r>
                      </m:e>
                    </m:acc>
                    <m:r>
                      <a:rPr kumimoji="1" lang="en-US" altLang="zh-CN" sz="2800" i="1">
                        <a:latin typeface="Cambria Math" panose="02040503050406030204" pitchFamily="18" charset="0"/>
                      </a:rPr>
                      <m:t>𝐷</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𝐴</m:t>
                        </m:r>
                      </m:e>
                    </m:acc>
                    <m:r>
                      <a:rPr kumimoji="1" lang="en-US" altLang="zh-CN" sz="2800" b="0" i="1" smtClean="0">
                        <a:latin typeface="Cambria Math" panose="02040503050406030204" pitchFamily="18" charset="0"/>
                      </a:rPr>
                      <m:t>𝐵</m:t>
                    </m:r>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𝐶</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𝐶</m:t>
                            </m:r>
                          </m:e>
                        </m:acc>
                      </m:e>
                    </m:d>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m:t>
                    </m:r>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𝐵</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e>
                    </m:d>
                    <m:r>
                      <a:rPr kumimoji="1" lang="en-US" altLang="zh-CN" sz="2800" b="0" i="1" smtClean="0">
                        <a:latin typeface="Cambria Math" panose="02040503050406030204" pitchFamily="18" charset="0"/>
                      </a:rPr>
                      <m:t>𝐶𝐷</m:t>
                    </m:r>
                  </m:oMath>
                </a14:m>
                <a:r>
                  <a:rPr kumimoji="1" lang="en-US" altLang="zh-CN" sz="2800" b="0" i="1" dirty="0">
                    <a:latin typeface="Cambria Math" panose="02040503050406030204" pitchFamily="18" charset="0"/>
                    <a:ea typeface="黑体" panose="02010609060101010101" pitchFamily="49" charset="-122"/>
                  </a:rPr>
                  <a:t> </a:t>
                </a:r>
                <a:br>
                  <a:rPr kumimoji="1" lang="en-US" altLang="zh-CN" sz="2800" b="0" i="1" dirty="0">
                    <a:latin typeface="Cambria Math" panose="02040503050406030204" pitchFamily="18" charset="0"/>
                    <a:ea typeface="黑体" panose="02010609060101010101" pitchFamily="49" charset="-122"/>
                  </a:rPr>
                </a:br>
                <a14:m>
                  <m:oMath xmlns:m="http://schemas.openxmlformats.org/officeDocument/2006/math">
                    <m:r>
                      <a:rPr kumimoji="1" lang="en-US" altLang="zh-CN" sz="2800" b="0" i="1" smtClean="0">
                        <a:latin typeface="Cambria Math" panose="02040503050406030204" pitchFamily="18" charset="0"/>
                      </a:rPr>
                      <m:t>    +</m:t>
                    </m:r>
                    <m:r>
                      <a:rPr kumimoji="1" lang="en-US" altLang="zh-CN" sz="2800" b="0" i="1" smtClean="0">
                        <a:latin typeface="Cambria Math" panose="02040503050406030204" pitchFamily="18" charset="0"/>
                      </a:rPr>
                      <m:t>𝐴</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𝐶</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𝐶</m:t>
                            </m:r>
                          </m:e>
                        </m:acc>
                      </m:e>
                    </m:d>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𝐷</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e>
                    </m:d>
                  </m:oMath>
                </a14:m>
                <a:r>
                  <a:rPr kumimoji="1" lang="en-US" altLang="zh-CN" sz="2800" b="0" i="1" dirty="0">
                    <a:latin typeface="Cambria Math" panose="02040503050406030204" pitchFamily="18" charset="0"/>
                    <a:ea typeface="黑体" panose="02010609060101010101" pitchFamily="49" charset="-122"/>
                  </a:rPr>
                  <a:t> </a:t>
                </a:r>
              </a:p>
              <a:p>
                <a:br>
                  <a:rPr kumimoji="1" lang="en-US" altLang="zh-CN" sz="2800" b="0" i="1" dirty="0">
                    <a:latin typeface="Cambria Math" panose="02040503050406030204" pitchFamily="18" charset="0"/>
                    <a:ea typeface="黑体" panose="02010609060101010101" pitchFamily="49" charset="-122"/>
                  </a:rPr>
                </a:br>
                <a14:m>
                  <m:oMath xmlns:m="http://schemas.openxmlformats.org/officeDocument/2006/math">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𝐴</m:t>
                        </m:r>
                      </m:e>
                    </m:acc>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𝐶</m:t>
                        </m:r>
                      </m:e>
                    </m:acc>
                    <m:r>
                      <a:rPr kumimoji="1" lang="en-US" altLang="zh-CN" sz="2800" b="0" i="1" smtClean="0">
                        <a:latin typeface="Cambria Math" panose="02040503050406030204" pitchFamily="18" charset="0"/>
                      </a:rPr>
                      <m:t>𝐷</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𝐴</m:t>
                        </m:r>
                      </m:e>
                    </m:acc>
                    <m:r>
                      <a:rPr kumimoji="1" lang="en-US" altLang="zh-CN" sz="2800" b="0" i="1" smtClean="0">
                        <a:latin typeface="Cambria Math" panose="02040503050406030204" pitchFamily="18" charset="0"/>
                      </a:rPr>
                      <m:t>𝐵𝐶</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r>
                      <a:rPr kumimoji="1" lang="en-US" altLang="zh-CN" sz="2800" b="0" i="1" smtClean="0">
                        <a:latin typeface="Cambria Math" panose="02040503050406030204" pitchFamily="18" charset="0"/>
                      </a:rPr>
                      <m:t>+</m:t>
                    </m:r>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𝐴</m:t>
                        </m:r>
                      </m:e>
                    </m:acc>
                    <m:r>
                      <a:rPr kumimoji="1" lang="en-US" altLang="zh-CN" sz="2800" i="1">
                        <a:latin typeface="Cambria Math" panose="02040503050406030204" pitchFamily="18" charset="0"/>
                      </a:rPr>
                      <m:t>𝐵</m:t>
                    </m:r>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𝐶</m:t>
                        </m:r>
                      </m:e>
                    </m:acc>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𝐷</m:t>
                        </m:r>
                      </m:e>
                    </m:acc>
                    <m:r>
                      <a:rPr kumimoji="1" lang="en-US" altLang="zh-CN" sz="2800" i="1">
                        <a:latin typeface="Cambria Math" panose="02040503050406030204" pitchFamily="18" charset="0"/>
                      </a:rPr>
                      <m:t>+</m:t>
                    </m:r>
                    <m:r>
                      <a:rPr kumimoji="1" lang="en-US" altLang="zh-CN" sz="2800" i="1">
                        <a:latin typeface="Cambria Math" panose="02040503050406030204" pitchFamily="18" charset="0"/>
                      </a:rPr>
                      <m:t>𝐴𝐵𝐶𝐷</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r>
                      <a:rPr kumimoji="1" lang="en-US" altLang="zh-CN" sz="2800" b="0" i="1" smtClean="0">
                        <a:latin typeface="Cambria Math" panose="02040503050406030204" pitchFamily="18" charset="0"/>
                      </a:rPr>
                      <m:t>𝐶𝐷</m:t>
                    </m:r>
                  </m:oMath>
                </a14:m>
                <a:r>
                  <a:rPr kumimoji="1" lang="en-US" altLang="zh-CN" sz="2800" i="1" dirty="0">
                    <a:latin typeface="Cambria Math" panose="02040503050406030204" pitchFamily="18" charset="0"/>
                    <a:ea typeface="黑体" panose="02010609060101010101" pitchFamily="49" charset="-122"/>
                  </a:rPr>
                  <a:t> </a:t>
                </a:r>
                <a:br>
                  <a:rPr kumimoji="1" lang="en-US" altLang="zh-CN" sz="2800" i="1" dirty="0">
                    <a:latin typeface="Cambria Math" panose="02040503050406030204" pitchFamily="18" charset="0"/>
                    <a:ea typeface="黑体" panose="02010609060101010101" pitchFamily="49" charset="-122"/>
                  </a:rPr>
                </a:br>
                <a14:m>
                  <m:oMath xmlns:m="http://schemas.openxmlformats.org/officeDocument/2006/math">
                    <m:r>
                      <a:rPr kumimoji="1" lang="en-US" altLang="zh-CN" sz="2800" b="0" i="1" smtClean="0">
                        <a:latin typeface="Cambria Math" panose="02040503050406030204" pitchFamily="18" charset="0"/>
                      </a:rPr>
                      <m:t>    +</m:t>
                    </m:r>
                    <m:r>
                      <a:rPr kumimoji="1" lang="en-US" altLang="zh-CN" sz="2800" i="1">
                        <a:latin typeface="Cambria Math" panose="02040503050406030204" pitchFamily="18" charset="0"/>
                      </a:rPr>
                      <m:t>𝐴</m:t>
                    </m:r>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𝐵</m:t>
                        </m:r>
                      </m:e>
                    </m:acc>
                    <m:r>
                      <a:rPr kumimoji="1" lang="en-US" altLang="zh-CN" sz="2800" i="1">
                        <a:latin typeface="Cambria Math" panose="02040503050406030204" pitchFamily="18" charset="0"/>
                      </a:rPr>
                      <m:t>𝐶𝐷</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𝐴</m:t>
                    </m:r>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𝐵</m:t>
                        </m:r>
                      </m:e>
                    </m:acc>
                    <m:r>
                      <a:rPr kumimoji="1" lang="en-US" altLang="zh-CN" sz="2800" i="1">
                        <a:latin typeface="Cambria Math" panose="02040503050406030204" pitchFamily="18" charset="0"/>
                      </a:rPr>
                      <m:t>𝐶</m:t>
                    </m:r>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𝐷</m:t>
                        </m:r>
                      </m:e>
                    </m:acc>
                    <m:r>
                      <a:rPr kumimoji="1" lang="en-US" altLang="zh-CN" sz="2800" i="1">
                        <a:latin typeface="Cambria Math" panose="02040503050406030204" pitchFamily="18" charset="0"/>
                      </a:rPr>
                      <m:t>+</m:t>
                    </m:r>
                    <m:r>
                      <a:rPr kumimoji="1" lang="en-US" altLang="zh-CN" sz="2800" i="1">
                        <a:latin typeface="Cambria Math" panose="02040503050406030204" pitchFamily="18" charset="0"/>
                      </a:rPr>
                      <m:t>𝐴</m:t>
                    </m:r>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𝐵</m:t>
                        </m:r>
                      </m:e>
                    </m:acc>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𝐶</m:t>
                        </m:r>
                      </m:e>
                    </m:acc>
                    <m:r>
                      <a:rPr kumimoji="1" lang="en-US" altLang="zh-CN" sz="2800" i="1">
                        <a:latin typeface="Cambria Math" panose="02040503050406030204" pitchFamily="18" charset="0"/>
                      </a:rPr>
                      <m:t>𝐷</m:t>
                    </m:r>
                    <m:r>
                      <a:rPr kumimoji="1" lang="en-US" altLang="zh-CN" sz="2800" i="1">
                        <a:latin typeface="Cambria Math" panose="02040503050406030204" pitchFamily="18" charset="0"/>
                      </a:rPr>
                      <m:t>+</m:t>
                    </m:r>
                    <m:r>
                      <a:rPr kumimoji="1" lang="en-US" altLang="zh-CN" sz="2800" i="1">
                        <a:latin typeface="Cambria Math" panose="02040503050406030204" pitchFamily="18" charset="0"/>
                      </a:rPr>
                      <m:t>𝐴</m:t>
                    </m:r>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𝐵</m:t>
                        </m:r>
                      </m:e>
                    </m:acc>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𝐶</m:t>
                        </m:r>
                      </m:e>
                    </m:acc>
                    <m:acc>
                      <m:accPr>
                        <m:chr m:val="̅"/>
                        <m:ctrlPr>
                          <a:rPr kumimoji="1" lang="en-US" altLang="zh-CN" sz="2800" i="1" smtClean="0">
                            <a:latin typeface="Cambria Math" panose="02040503050406030204" pitchFamily="18" charset="0"/>
                          </a:rPr>
                        </m:ctrlPr>
                      </m:accPr>
                      <m:e>
                        <m:r>
                          <a:rPr kumimoji="1" lang="en-US" altLang="zh-CN" sz="2800" i="1">
                            <a:latin typeface="Cambria Math" panose="02040503050406030204" pitchFamily="18" charset="0"/>
                          </a:rPr>
                          <m:t>𝐷</m:t>
                        </m:r>
                      </m:e>
                    </m:acc>
                  </m:oMath>
                </a14:m>
                <a:r>
                  <a:rPr kumimoji="1" lang="en-US" altLang="zh-CN" sz="2800" i="1" dirty="0">
                    <a:latin typeface="Cambria Math" panose="02040503050406030204" pitchFamily="18" charset="0"/>
                    <a:ea typeface="黑体" panose="02010609060101010101" pitchFamily="49" charset="-122"/>
                  </a:rPr>
                  <a:t> </a:t>
                </a:r>
              </a:p>
              <a:p>
                <a:br>
                  <a:rPr kumimoji="1" lang="en-US" altLang="zh-CN" sz="2800" i="1" dirty="0">
                    <a:latin typeface="Cambria Math" panose="02040503050406030204" pitchFamily="18" charset="0"/>
                    <a:ea typeface="黑体" panose="02010609060101010101" pitchFamily="49" charset="-122"/>
                  </a:rPr>
                </a:br>
                <a14:m>
                  <m:oMath xmlns:m="http://schemas.openxmlformats.org/officeDocument/2006/math">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1</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6</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4</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15</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11</m:t>
                        </m:r>
                      </m:sub>
                    </m:sSub>
                  </m:oMath>
                </a14:m>
                <a:r>
                  <a:rPr kumimoji="1" lang="en-US" altLang="zh-CN" sz="2800" b="0" i="1" dirty="0">
                    <a:latin typeface="Cambria Math" panose="02040503050406030204" pitchFamily="18" charset="0"/>
                    <a:ea typeface="黑体" panose="02010609060101010101" pitchFamily="49" charset="-122"/>
                  </a:rPr>
                  <a:t> </a:t>
                </a:r>
                <a:br>
                  <a:rPr kumimoji="1" lang="en-US" altLang="zh-CN" sz="2800" b="0" i="1" dirty="0">
                    <a:latin typeface="Cambria Math" panose="02040503050406030204" pitchFamily="18" charset="0"/>
                    <a:ea typeface="黑体" panose="02010609060101010101" pitchFamily="49" charset="-122"/>
                  </a:rPr>
                </a:br>
                <a14:m>
                  <m:oMath xmlns:m="http://schemas.openxmlformats.org/officeDocument/2006/math">
                    <m:r>
                      <a:rPr kumimoji="1" lang="en-US" altLang="zh-CN" sz="2800" b="0" i="1" smtClean="0">
                        <a:latin typeface="Cambria Math" panose="02040503050406030204" pitchFamily="18" charset="0"/>
                      </a:rPr>
                      <m:t>    +</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11</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10</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9</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𝑚</m:t>
                        </m:r>
                      </m:e>
                      <m:sub>
                        <m:r>
                          <a:rPr kumimoji="1" lang="en-US" altLang="zh-CN" sz="2800" b="0" i="1" smtClean="0">
                            <a:latin typeface="Cambria Math" panose="02040503050406030204" pitchFamily="18" charset="0"/>
                          </a:rPr>
                          <m:t>8</m:t>
                        </m:r>
                      </m:sub>
                    </m:sSub>
                  </m:oMath>
                </a14:m>
                <a:r>
                  <a:rPr kumimoji="1" lang="en-US" altLang="zh-CN" sz="2800" b="0" i="1" dirty="0">
                    <a:latin typeface="Cambria Math" panose="02040503050406030204" pitchFamily="18" charset="0"/>
                    <a:ea typeface="黑体" panose="02010609060101010101" pitchFamily="49" charset="-122"/>
                  </a:rPr>
                  <a:t> </a:t>
                </a:r>
              </a:p>
              <a:p>
                <a:br>
                  <a:rPr kumimoji="1" lang="en-US" altLang="zh-CN" sz="2800" b="0" i="1" dirty="0">
                    <a:latin typeface="Cambria Math" panose="02040503050406030204" pitchFamily="18" charset="0"/>
                    <a:ea typeface="黑体" panose="02010609060101010101" pitchFamily="49" charset="-122"/>
                  </a:rPr>
                </a:br>
                <a14:m>
                  <m:oMath xmlns:m="http://schemas.openxmlformats.org/officeDocument/2006/math">
                    <m:r>
                      <a:rPr kumimoji="1" lang="en-US" altLang="zh-CN" sz="2800" b="0" i="1" smtClean="0">
                        <a:latin typeface="Cambria Math" panose="02040503050406030204" pitchFamily="18" charset="0"/>
                      </a:rPr>
                      <m:t>=</m:t>
                    </m:r>
                    <m:nary>
                      <m:naryPr>
                        <m:chr m:val="∑"/>
                        <m:subHide m:val="on"/>
                        <m:supHide m:val="on"/>
                        <m:ctrlPr>
                          <a:rPr kumimoji="1" lang="en-US" altLang="zh-CN" sz="2800" b="0" i="1" smtClean="0">
                            <a:latin typeface="Cambria Math" panose="02040503050406030204" pitchFamily="18" charset="0"/>
                          </a:rPr>
                        </m:ctrlPr>
                      </m:naryPr>
                      <m:sub/>
                      <m:sup/>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𝑚</m:t>
                            </m:r>
                          </m:e>
                          <m:sub>
                            <m:r>
                              <a:rPr kumimoji="1" lang="en-US" altLang="zh-CN" sz="2800" i="1">
                                <a:latin typeface="Cambria Math" panose="02040503050406030204" pitchFamily="18" charset="0"/>
                              </a:rPr>
                              <m:t>𝑖</m:t>
                            </m:r>
                          </m:sub>
                        </m:sSub>
                        <m:r>
                          <a:rPr kumimoji="1" lang="en-US" altLang="zh-CN" sz="2800" i="1">
                            <a:latin typeface="Cambria Math" panose="02040503050406030204" pitchFamily="18" charset="0"/>
                          </a:rPr>
                          <m:t>(</m:t>
                        </m:r>
                        <m:r>
                          <a:rPr kumimoji="1" lang="en-US" altLang="zh-CN" sz="2800" i="1">
                            <a:latin typeface="Cambria Math" panose="02040503050406030204" pitchFamily="18" charset="0"/>
                          </a:rPr>
                          <m:t>𝑖</m:t>
                        </m:r>
                        <m:r>
                          <a:rPr kumimoji="1" lang="en-US" altLang="zh-CN" sz="2800" i="1">
                            <a:latin typeface="Cambria Math" panose="02040503050406030204" pitchFamily="18" charset="0"/>
                          </a:rPr>
                          <m:t>=1,4,6,8,9,10,11,15)</m:t>
                        </m:r>
                      </m:e>
                    </m:nary>
                  </m:oMath>
                </a14:m>
                <a:r>
                  <a:rPr kumimoji="1" lang="en-US" altLang="zh-CN" sz="2800" b="0" i="1" dirty="0">
                    <a:ea typeface="黑体" panose="02010609060101010101" pitchFamily="49" charset="-122"/>
                  </a:rPr>
                  <a:t> </a:t>
                </a:r>
              </a:p>
              <a:p>
                <a:endParaRPr kumimoji="1" lang="en-US" altLang="zh-CN" sz="2800" b="0" i="1" dirty="0">
                  <a:solidFill>
                    <a:schemeClr val="tx1"/>
                  </a:solidFill>
                  <a:ea typeface="黑体" panose="02010609060101010101" pitchFamily="49" charset="-122"/>
                </a:endParaRPr>
              </a:p>
            </p:txBody>
          </p:sp>
        </mc:Choice>
        <mc:Fallback xmlns="">
          <p:sp>
            <p:nvSpPr>
              <p:cNvPr id="5" name="文本框 5">
                <a:extLst>
                  <a:ext uri="{FF2B5EF4-FFF2-40B4-BE49-F238E27FC236}">
                    <a16:creationId xmlns:a16="http://schemas.microsoft.com/office/drawing/2014/main" id="{E8BA5CD2-1227-F542-8DEB-845698AACCC6}"/>
                  </a:ext>
                </a:extLst>
              </p:cNvPr>
              <p:cNvSpPr txBox="1">
                <a:spLocks noRot="1" noChangeAspect="1" noMove="1" noResize="1" noEditPoints="1" noAdjustHandles="1" noChangeArrowheads="1" noChangeShapeType="1" noTextEdit="1"/>
              </p:cNvSpPr>
              <p:nvPr/>
            </p:nvSpPr>
            <p:spPr>
              <a:xfrm>
                <a:off x="791580" y="1458995"/>
                <a:ext cx="7920880" cy="5462393"/>
              </a:xfrm>
              <a:prstGeom prst="rect">
                <a:avLst/>
              </a:prstGeom>
              <a:blipFill>
                <a:blip r:embed="rId3"/>
                <a:stretch>
                  <a:fillRect/>
                </a:stretch>
              </a:blipFill>
            </p:spPr>
            <p:txBody>
              <a:bodyPr/>
              <a:lstStyle/>
              <a:p>
                <a:r>
                  <a:rPr lang="zh-CN" altLang="en-US">
                    <a:noFill/>
                  </a:rPr>
                  <a:t> </a:t>
                </a:r>
              </a:p>
            </p:txBody>
          </p:sp>
        </mc:Fallback>
      </mc:AlternateContent>
      <p:sp>
        <p:nvSpPr>
          <p:cNvPr id="8" name="Rectangle 3"/>
          <p:cNvSpPr>
            <a:spLocks noGrp="1" noChangeArrowheads="1"/>
          </p:cNvSpPr>
          <p:nvPr>
            <p:ph type="title"/>
          </p:nvPr>
        </p:nvSpPr>
        <p:spPr/>
        <p:txBody>
          <a:bodyPr/>
          <a:lstStyle/>
          <a:p>
            <a:pPr eaLnBrk="1" hangingPunct="1"/>
            <a:r>
              <a:rPr lang="zh-CN" altLang="en-US" dirty="0"/>
              <a:t>将函数表示成最小项相或的形式</a:t>
            </a:r>
            <a:endParaRPr lang="en-US" altLang="zh-CN" b="1" dirty="0"/>
          </a:p>
        </p:txBody>
      </p:sp>
      <p:sp>
        <p:nvSpPr>
          <p:cNvPr id="2" name="灯片编号占位符 1">
            <a:extLst>
              <a:ext uri="{FF2B5EF4-FFF2-40B4-BE49-F238E27FC236}">
                <a16:creationId xmlns:a16="http://schemas.microsoft.com/office/drawing/2014/main" id="{79D137A0-5A33-6D7D-E1A7-0A371A2A54C7}"/>
              </a:ext>
            </a:extLst>
          </p:cNvPr>
          <p:cNvSpPr>
            <a:spLocks noGrp="1"/>
          </p:cNvSpPr>
          <p:nvPr>
            <p:ph type="sldNum" sz="quarter" idx="12"/>
          </p:nvPr>
        </p:nvSpPr>
        <p:spPr/>
        <p:txBody>
          <a:bodyPr/>
          <a:lstStyle/>
          <a:p>
            <a:fld id="{6C23D995-88A0-46FA-B356-FA459EF841CD}" type="slidenum">
              <a:rPr lang="en-US" altLang="zh-CN" smtClean="0"/>
              <a:pPr/>
              <a:t>75</a:t>
            </a:fld>
            <a:endParaRPr lang="en-US" altLang="zh-CN" dirty="0"/>
          </a:p>
        </p:txBody>
      </p:sp>
    </p:spTree>
    <p:extLst>
      <p:ext uri="{BB962C8B-B14F-4D97-AF65-F5344CB8AC3E}">
        <p14:creationId xmlns:p14="http://schemas.microsoft.com/office/powerpoint/2010/main" val="14263087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title"/>
          </p:nvPr>
        </p:nvSpPr>
        <p:spPr/>
        <p:txBody>
          <a:bodyPr/>
          <a:lstStyle/>
          <a:p>
            <a:pPr eaLnBrk="1" hangingPunct="1"/>
            <a:r>
              <a:rPr lang="zh-CN" altLang="en-US" dirty="0"/>
              <a:t>用卡诺图表示逻辑函数</a:t>
            </a:r>
            <a:endParaRPr lang="en-US" altLang="zh-CN" dirty="0"/>
          </a:p>
        </p:txBody>
      </p:sp>
      <p:sp>
        <p:nvSpPr>
          <p:cNvPr id="3" name="灯片编号占位符 2">
            <a:extLst>
              <a:ext uri="{FF2B5EF4-FFF2-40B4-BE49-F238E27FC236}">
                <a16:creationId xmlns:a16="http://schemas.microsoft.com/office/drawing/2014/main" id="{2442701E-810B-E5E5-FE47-AFDD5FB0CCC0}"/>
              </a:ext>
            </a:extLst>
          </p:cNvPr>
          <p:cNvSpPr>
            <a:spLocks noGrp="1"/>
          </p:cNvSpPr>
          <p:nvPr>
            <p:ph type="sldNum" sz="quarter" idx="12"/>
          </p:nvPr>
        </p:nvSpPr>
        <p:spPr/>
        <p:txBody>
          <a:bodyPr/>
          <a:lstStyle/>
          <a:p>
            <a:pPr>
              <a:defRPr/>
            </a:pPr>
            <a:fld id="{2EA1E184-7EFF-4B48-9C82-609CF6442F2C}" type="slidenum">
              <a:rPr lang="zh-CN" altLang="en-US" smtClean="0"/>
              <a:pPr>
                <a:defRPr/>
              </a:pPr>
              <a:t>76</a:t>
            </a:fld>
            <a:endParaRPr lang="en-US" altLang="zh-CN"/>
          </a:p>
        </p:txBody>
      </p:sp>
      <p:graphicFrame>
        <p:nvGraphicFramePr>
          <p:cNvPr id="453712" name="Group 80"/>
          <p:cNvGraphicFramePr>
            <a:graphicFrameLocks noGrp="1"/>
          </p:cNvGraphicFramePr>
          <p:nvPr>
            <p:extLst>
              <p:ext uri="{D42A27DB-BD31-4B8C-83A1-F6EECF244321}">
                <p14:modId xmlns:p14="http://schemas.microsoft.com/office/powerpoint/2010/main" val="1332843251"/>
              </p:ext>
            </p:extLst>
          </p:nvPr>
        </p:nvGraphicFramePr>
        <p:xfrm>
          <a:off x="4652156" y="3068960"/>
          <a:ext cx="3124200" cy="2798764"/>
        </p:xfrm>
        <a:graphic>
          <a:graphicData uri="http://schemas.openxmlformats.org/drawingml/2006/table">
            <a:tbl>
              <a:tblPr/>
              <a:tblGrid>
                <a:gridCol w="838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9144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94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3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87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2" name="Group 42">
            <a:extLst>
              <a:ext uri="{FF2B5EF4-FFF2-40B4-BE49-F238E27FC236}">
                <a16:creationId xmlns:a16="http://schemas.microsoft.com/office/drawing/2014/main" id="{F27CF38F-DD40-04BB-66C5-055263661660}"/>
              </a:ext>
            </a:extLst>
          </p:cNvPr>
          <p:cNvGraphicFramePr>
            <a:graphicFrameLocks noGrp="1"/>
          </p:cNvGraphicFramePr>
          <p:nvPr>
            <p:extLst>
              <p:ext uri="{D42A27DB-BD31-4B8C-83A1-F6EECF244321}">
                <p14:modId xmlns:p14="http://schemas.microsoft.com/office/powerpoint/2010/main" val="2923152696"/>
              </p:ext>
            </p:extLst>
          </p:nvPr>
        </p:nvGraphicFramePr>
        <p:xfrm>
          <a:off x="918356" y="3068960"/>
          <a:ext cx="3124200" cy="2798764"/>
        </p:xfrm>
        <a:graphic>
          <a:graphicData uri="http://schemas.openxmlformats.org/drawingml/2006/table">
            <a:tbl>
              <a:tblPr/>
              <a:tblGrid>
                <a:gridCol w="838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tblGrid>
              <a:tr h="9144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rgbClr val="FF000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94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accent2"/>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3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lumMod val="50000"/>
                              <a:lumOff val="50000"/>
                            </a:schemeClr>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87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rgbClr val="7030A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黑体" panose="02010609060101010101" pitchFamily="49" charset="-122"/>
                        </a:rPr>
                        <a:t>1</a:t>
                      </a:r>
                      <a:r>
                        <a:rPr kumimoji="0" lang="en-US" altLang="zh-CN" sz="2400" b="1" i="0" u="none" strike="noStrike" cap="none" normalizeH="0" baseline="0" dirty="0">
                          <a:ln>
                            <a:noFill/>
                          </a:ln>
                          <a:solidFill>
                            <a:srgbClr val="FF0066"/>
                          </a:solidFill>
                          <a:effectLst/>
                          <a:latin typeface="Arial" charset="0"/>
                          <a:ea typeface="黑体" panose="02010609060101010101"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rgbClr val="0070C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b="1" i="0" u="none" strike="noStrike" cap="none" normalizeH="0" baseline="0" dirty="0">
                          <a:ln>
                            <a:noFill/>
                          </a:ln>
                          <a:solidFill>
                            <a:srgbClr val="FFC00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8560C43-0311-7237-9CA6-B076C6286E5C}"/>
                  </a:ext>
                </a:extLst>
              </p:cNvPr>
              <p:cNvSpPr txBox="1"/>
              <p:nvPr/>
            </p:nvSpPr>
            <p:spPr>
              <a:xfrm>
                <a:off x="1821768" y="1500891"/>
                <a:ext cx="5500464" cy="954107"/>
              </a:xfrm>
              <a:prstGeom prst="rect">
                <a:avLst/>
              </a:prstGeom>
              <a:noFill/>
            </p:spPr>
            <p:txBody>
              <a:bodyPr wrap="square">
                <a:spAutoFit/>
              </a:bodyPr>
              <a:lstStyle/>
              <a:p>
                <a:pPr lvl="0"/>
                <a:br>
                  <a:rPr kumimoji="1" lang="en-US" altLang="zh-CN" sz="2800" i="1" dirty="0">
                    <a:solidFill>
                      <a:srgbClr val="000000"/>
                    </a:solidFill>
                    <a:latin typeface="Cambria Math" panose="02040503050406030204" pitchFamily="18" charset="0"/>
                    <a:ea typeface="黑体" panose="02010609060101010101" pitchFamily="49" charset="-122"/>
                  </a:rPr>
                </a:br>
                <a14:m>
                  <m:oMath xmlns:m="http://schemas.openxmlformats.org/officeDocument/2006/math">
                    <m:r>
                      <a:rPr kumimoji="1" lang="en-US" altLang="zh-CN" sz="2800" b="0" i="1" smtClean="0">
                        <a:solidFill>
                          <a:srgbClr val="000000"/>
                        </a:solidFill>
                        <a:latin typeface="Cambria Math" panose="02040503050406030204" pitchFamily="18" charset="0"/>
                      </a:rPr>
                      <m:t>𝑌</m:t>
                    </m:r>
                    <m:r>
                      <a:rPr kumimoji="1" lang="en-US" altLang="zh-CN" sz="2800" i="1">
                        <a:solidFill>
                          <a:srgbClr val="000000"/>
                        </a:solidFill>
                        <a:latin typeface="Cambria Math" panose="02040503050406030204" pitchFamily="18" charset="0"/>
                      </a:rPr>
                      <m:t>=</m:t>
                    </m:r>
                    <m:nary>
                      <m:naryPr>
                        <m:chr m:val="∑"/>
                        <m:subHide m:val="on"/>
                        <m:supHide m:val="on"/>
                        <m:ctrlPr>
                          <a:rPr kumimoji="1" lang="en-US" altLang="zh-CN" sz="2800" i="1">
                            <a:solidFill>
                              <a:srgbClr val="000000"/>
                            </a:solidFill>
                            <a:latin typeface="Cambria Math" panose="02040503050406030204" pitchFamily="18" charset="0"/>
                          </a:rPr>
                        </m:ctrlPr>
                      </m:naryPr>
                      <m:sub/>
                      <m:sup/>
                      <m:e>
                        <m:sSub>
                          <m:sSubPr>
                            <m:ctrlPr>
                              <a:rPr kumimoji="1" lang="en-US" altLang="zh-CN" sz="2800" i="1">
                                <a:solidFill>
                                  <a:srgbClr val="000000"/>
                                </a:solidFill>
                                <a:latin typeface="Cambria Math" panose="02040503050406030204" pitchFamily="18" charset="0"/>
                              </a:rPr>
                            </m:ctrlPr>
                          </m:sSubPr>
                          <m:e>
                            <m:r>
                              <a:rPr kumimoji="1" lang="en-US" altLang="zh-CN" sz="2800" i="1">
                                <a:solidFill>
                                  <a:srgbClr val="000000"/>
                                </a:solidFill>
                                <a:latin typeface="Cambria Math" panose="02040503050406030204" pitchFamily="18" charset="0"/>
                              </a:rPr>
                              <m:t>𝑚</m:t>
                            </m:r>
                          </m:e>
                          <m:sub>
                            <m:r>
                              <a:rPr kumimoji="1" lang="en-US" altLang="zh-CN" sz="2800" i="1">
                                <a:solidFill>
                                  <a:srgbClr val="000000"/>
                                </a:solidFill>
                                <a:latin typeface="Cambria Math" panose="02040503050406030204" pitchFamily="18" charset="0"/>
                              </a:rPr>
                              <m:t>𝑖</m:t>
                            </m:r>
                          </m:sub>
                        </m:sSub>
                        <m:r>
                          <a:rPr kumimoji="1" lang="en-US" altLang="zh-CN" sz="2800" i="1">
                            <a:solidFill>
                              <a:srgbClr val="000000"/>
                            </a:solidFill>
                            <a:latin typeface="Cambria Math" panose="02040503050406030204" pitchFamily="18" charset="0"/>
                          </a:rPr>
                          <m:t>(</m:t>
                        </m:r>
                        <m:r>
                          <a:rPr kumimoji="1" lang="en-US" altLang="zh-CN" sz="2800" i="1">
                            <a:solidFill>
                              <a:srgbClr val="000000"/>
                            </a:solidFill>
                            <a:latin typeface="Cambria Math" panose="02040503050406030204" pitchFamily="18" charset="0"/>
                          </a:rPr>
                          <m:t>𝑖</m:t>
                        </m:r>
                        <m:r>
                          <a:rPr kumimoji="1" lang="en-US" altLang="zh-CN" sz="2800" i="1">
                            <a:solidFill>
                              <a:srgbClr val="000000"/>
                            </a:solidFill>
                            <a:latin typeface="Cambria Math" panose="02040503050406030204" pitchFamily="18" charset="0"/>
                          </a:rPr>
                          <m:t>=1,4,6,8,9,10,11,15)</m:t>
                        </m:r>
                      </m:e>
                    </m:nary>
                  </m:oMath>
                </a14:m>
                <a:r>
                  <a:rPr kumimoji="1" lang="en-US" altLang="zh-CN" sz="2800" i="1" dirty="0">
                    <a:solidFill>
                      <a:srgbClr val="000000"/>
                    </a:solidFill>
                    <a:ea typeface="黑体" panose="02010609060101010101" pitchFamily="49" charset="-122"/>
                  </a:rPr>
                  <a:t> </a:t>
                </a:r>
              </a:p>
            </p:txBody>
          </p:sp>
        </mc:Choice>
        <mc:Fallback xmlns="">
          <p:sp>
            <p:nvSpPr>
              <p:cNvPr id="4" name="文本框 3">
                <a:extLst>
                  <a:ext uri="{FF2B5EF4-FFF2-40B4-BE49-F238E27FC236}">
                    <a16:creationId xmlns:a16="http://schemas.microsoft.com/office/drawing/2014/main" id="{98560C43-0311-7237-9CA6-B076C6286E5C}"/>
                  </a:ext>
                </a:extLst>
              </p:cNvPr>
              <p:cNvSpPr txBox="1">
                <a:spLocks noRot="1" noChangeAspect="1" noMove="1" noResize="1" noEditPoints="1" noAdjustHandles="1" noChangeArrowheads="1" noChangeShapeType="1" noTextEdit="1"/>
              </p:cNvSpPr>
              <p:nvPr/>
            </p:nvSpPr>
            <p:spPr>
              <a:xfrm>
                <a:off x="1821768" y="1500891"/>
                <a:ext cx="5500464" cy="954107"/>
              </a:xfrm>
              <a:prstGeom prst="rect">
                <a:avLst/>
              </a:prstGeom>
              <a:blipFill>
                <a:blip r:embed="rId3"/>
                <a:stretch>
                  <a:fillRect l="-461" t="-25000" b="-1078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91865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97BE5DD5-66F9-4C92-84A8-863E876F7EA4}"/>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布尔函数的描述方式包括：（多选题）</a:t>
            </a:r>
          </a:p>
        </p:txBody>
      </p:sp>
      <p:sp>
        <p:nvSpPr>
          <p:cNvPr id="8" name="文本框 7">
            <a:extLst>
              <a:ext uri="{FF2B5EF4-FFF2-40B4-BE49-F238E27FC236}">
                <a16:creationId xmlns:a16="http://schemas.microsoft.com/office/drawing/2014/main" id="{48D31172-02FC-45EF-AE93-E8656451EA29}"/>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逻辑表达式</a:t>
            </a:r>
          </a:p>
        </p:txBody>
      </p:sp>
      <p:sp>
        <p:nvSpPr>
          <p:cNvPr id="9" name="文本框 8">
            <a:extLst>
              <a:ext uri="{FF2B5EF4-FFF2-40B4-BE49-F238E27FC236}">
                <a16:creationId xmlns:a16="http://schemas.microsoft.com/office/drawing/2014/main" id="{977BB2FE-FDD5-4CAE-B96E-B4E691DD2A6E}"/>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真值表</a:t>
            </a:r>
          </a:p>
        </p:txBody>
      </p:sp>
      <p:sp>
        <p:nvSpPr>
          <p:cNvPr id="10" name="文本框 9">
            <a:extLst>
              <a:ext uri="{FF2B5EF4-FFF2-40B4-BE49-F238E27FC236}">
                <a16:creationId xmlns:a16="http://schemas.microsoft.com/office/drawing/2014/main" id="{F34BDE58-2DDB-427D-B60F-74E4A8BD88ED}"/>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卡诺图</a:t>
            </a:r>
          </a:p>
        </p:txBody>
      </p:sp>
      <p:sp>
        <p:nvSpPr>
          <p:cNvPr id="11" name="文本框 10">
            <a:extLst>
              <a:ext uri="{FF2B5EF4-FFF2-40B4-BE49-F238E27FC236}">
                <a16:creationId xmlns:a16="http://schemas.microsoft.com/office/drawing/2014/main" id="{7837E4CD-F560-48AF-A4A0-E39C2DFFD77F}"/>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二元决策图</a:t>
            </a:r>
          </a:p>
        </p:txBody>
      </p:sp>
      <p:sp>
        <p:nvSpPr>
          <p:cNvPr id="12" name="矩形 11">
            <a:extLst>
              <a:ext uri="{FF2B5EF4-FFF2-40B4-BE49-F238E27FC236}">
                <a16:creationId xmlns:a16="http://schemas.microsoft.com/office/drawing/2014/main" id="{CAD7492A-F4AA-47F3-88E2-B51B67C51AFE}"/>
              </a:ext>
            </a:extLst>
          </p:cNvPr>
          <p:cNvSpPr>
            <a:spLocks noChangeAspect="1"/>
          </p:cNvSpPr>
          <p:nvPr>
            <p:custDataLst>
              <p:tags r:id="rId7"/>
            </p:custDataLst>
          </p:nvPr>
        </p:nvSpPr>
        <p:spPr bwMode="auto">
          <a:xfrm>
            <a:off x="1114425" y="285035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矩形 12">
            <a:extLst>
              <a:ext uri="{FF2B5EF4-FFF2-40B4-BE49-F238E27FC236}">
                <a16:creationId xmlns:a16="http://schemas.microsoft.com/office/drawing/2014/main" id="{848D65FE-1582-4A7D-A442-F6EFC9CF7AB4}"/>
              </a:ext>
            </a:extLst>
          </p:cNvPr>
          <p:cNvSpPr>
            <a:spLocks noChangeAspect="1"/>
          </p:cNvSpPr>
          <p:nvPr>
            <p:custDataLst>
              <p:tags r:id="rId8"/>
            </p:custDataLst>
          </p:nvPr>
        </p:nvSpPr>
        <p:spPr bwMode="auto">
          <a:xfrm>
            <a:off x="1114425" y="370760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4" name="矩形 13">
            <a:extLst>
              <a:ext uri="{FF2B5EF4-FFF2-40B4-BE49-F238E27FC236}">
                <a16:creationId xmlns:a16="http://schemas.microsoft.com/office/drawing/2014/main" id="{E3C23C48-38E6-428C-ABDD-A9FF3EC222D7}"/>
              </a:ext>
            </a:extLst>
          </p:cNvPr>
          <p:cNvSpPr>
            <a:spLocks noChangeAspect="1"/>
          </p:cNvSpPr>
          <p:nvPr>
            <p:custDataLst>
              <p:tags r:id="rId9"/>
            </p:custDataLst>
          </p:nvPr>
        </p:nvSpPr>
        <p:spPr bwMode="auto">
          <a:xfrm>
            <a:off x="1114425" y="456485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5" name="矩形 14">
            <a:extLst>
              <a:ext uri="{FF2B5EF4-FFF2-40B4-BE49-F238E27FC236}">
                <a16:creationId xmlns:a16="http://schemas.microsoft.com/office/drawing/2014/main" id="{78646645-E398-4B17-9D93-3C4C60466442}"/>
              </a:ext>
            </a:extLst>
          </p:cNvPr>
          <p:cNvSpPr>
            <a:spLocks noChangeAspect="1"/>
          </p:cNvSpPr>
          <p:nvPr>
            <p:custDataLst>
              <p:tags r:id="rId10"/>
            </p:custDataLst>
          </p:nvPr>
        </p:nvSpPr>
        <p:spPr bwMode="auto">
          <a:xfrm>
            <a:off x="1114425" y="542210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22" name="TextBox 11">
            <a:extLst>
              <a:ext uri="{FF2B5EF4-FFF2-40B4-BE49-F238E27FC236}">
                <a16:creationId xmlns:a16="http://schemas.microsoft.com/office/drawing/2014/main" id="{7A86441B-67AB-584A-B9ED-BA7F79F54278}"/>
              </a:ext>
            </a:extLst>
          </p:cNvPr>
          <p:cNvSpPr txBox="1"/>
          <p:nvPr/>
        </p:nvSpPr>
        <p:spPr>
          <a:xfrm>
            <a:off x="6324267" y="287900"/>
            <a:ext cx="2165478" cy="461665"/>
          </a:xfrm>
          <a:prstGeom prst="rect">
            <a:avLst/>
          </a:prstGeom>
          <a:noFill/>
        </p:spPr>
        <p:txBody>
          <a:bodyPr wrap="square" rtlCol="0">
            <a:spAutoFit/>
          </a:bodyPr>
          <a:lstStyle/>
          <a:p>
            <a:r>
              <a:rPr lang="en-US" altLang="zh-CN" sz="2400" dirty="0">
                <a:latin typeface="Arial" panose="020B0604020202020204" pitchFamily="34" charset="0"/>
                <a:ea typeface="SimHei" panose="02010609060101010101" pitchFamily="49" charset="-122"/>
                <a:cs typeface="Arial" panose="020B0604020202020204" pitchFamily="34" charset="0"/>
              </a:rPr>
              <a:t>Time: 60s</a:t>
            </a:r>
            <a:endParaRPr lang="en-CN" sz="2400" dirty="0">
              <a:latin typeface="Arial" panose="020B0604020202020204" pitchFamily="34" charset="0"/>
              <a:ea typeface="SimHei" panose="02010609060101010101" pitchFamily="49" charset="-122"/>
              <a:cs typeface="Arial" panose="020B0604020202020204" pitchFamily="34" charset="0"/>
            </a:endParaRPr>
          </a:p>
        </p:txBody>
      </p:sp>
      <p:sp>
        <p:nvSpPr>
          <p:cNvPr id="3" name="矩形: 圆角 2">
            <a:extLst>
              <a:ext uri="{FF2B5EF4-FFF2-40B4-BE49-F238E27FC236}">
                <a16:creationId xmlns:a16="http://schemas.microsoft.com/office/drawing/2014/main" id="{45CDBB63-B045-659B-CC83-32F090046306}"/>
              </a:ext>
            </a:extLst>
          </p:cNvPr>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5" name="组合 24">
            <a:extLst>
              <a:ext uri="{FF2B5EF4-FFF2-40B4-BE49-F238E27FC236}">
                <a16:creationId xmlns:a16="http://schemas.microsoft.com/office/drawing/2014/main" id="{FFDC5A23-6114-F6B7-3A04-E941B9674EBB}"/>
              </a:ext>
            </a:extLst>
          </p:cNvPr>
          <p:cNvGrpSpPr/>
          <p:nvPr>
            <p:custDataLst>
              <p:tags r:id="rId12"/>
            </p:custDataLst>
          </p:nvPr>
        </p:nvGrpSpPr>
        <p:grpSpPr>
          <a:xfrm>
            <a:off x="0" y="0"/>
            <a:ext cx="9144000" cy="635000"/>
            <a:chOff x="0" y="0"/>
            <a:chExt cx="9144000" cy="635000"/>
          </a:xfrm>
        </p:grpSpPr>
        <p:sp>
          <p:nvSpPr>
            <p:cNvPr id="17" name="TitleBackground">
              <a:extLst>
                <a:ext uri="{FF2B5EF4-FFF2-40B4-BE49-F238E27FC236}">
                  <a16:creationId xmlns:a16="http://schemas.microsoft.com/office/drawing/2014/main" id="{3F6859EF-F30E-40BF-A175-C4EDE3780872}"/>
                </a:ext>
              </a:extLst>
            </p:cNvPr>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18" name="ColorBlock">
              <a:extLst>
                <a:ext uri="{FF2B5EF4-FFF2-40B4-BE49-F238E27FC236}">
                  <a16:creationId xmlns:a16="http://schemas.microsoft.com/office/drawing/2014/main" id="{655FF2B6-A175-4260-8185-ED65F8E1DA4A}"/>
                </a:ext>
              </a:extLst>
            </p:cNvPr>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19" name="TypeText">
              <a:extLst>
                <a:ext uri="{FF2B5EF4-FFF2-40B4-BE49-F238E27FC236}">
                  <a16:creationId xmlns:a16="http://schemas.microsoft.com/office/drawing/2014/main" id="{23D4B076-3A14-43A4-8B39-90E77069114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多选题</a:t>
              </a:r>
            </a:p>
          </p:txBody>
        </p:sp>
        <p:sp>
          <p:nvSpPr>
            <p:cNvPr id="24" name="TipText">
              <a:extLst>
                <a:ext uri="{FF2B5EF4-FFF2-40B4-BE49-F238E27FC236}">
                  <a16:creationId xmlns:a16="http://schemas.microsoft.com/office/drawing/2014/main" id="{56820009-63A0-A4FC-7A13-D12913E2311E}"/>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6" name="图片 5">
            <a:extLst>
              <a:ext uri="{FF2B5EF4-FFF2-40B4-BE49-F238E27FC236}">
                <a16:creationId xmlns:a16="http://schemas.microsoft.com/office/drawing/2014/main" id="{F9824051-5D2D-A942-CDEC-DE592B9576CA}"/>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021326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309BA-871D-668C-5930-8F63A814F0EA}"/>
              </a:ext>
            </a:extLst>
          </p:cNvPr>
          <p:cNvSpPr>
            <a:spLocks noGrp="1"/>
          </p:cNvSpPr>
          <p:nvPr>
            <p:ph type="title"/>
          </p:nvPr>
        </p:nvSpPr>
        <p:spPr/>
        <p:txBody>
          <a:bodyPr/>
          <a:lstStyle/>
          <a:p>
            <a:r>
              <a:rPr kumimoji="1" lang="zh-CN" altLang="en-US" dirty="0"/>
              <a:t>本节课目录</a:t>
            </a:r>
          </a:p>
        </p:txBody>
      </p:sp>
      <p:sp>
        <p:nvSpPr>
          <p:cNvPr id="3" name="内容占位符 2">
            <a:extLst>
              <a:ext uri="{FF2B5EF4-FFF2-40B4-BE49-F238E27FC236}">
                <a16:creationId xmlns:a16="http://schemas.microsoft.com/office/drawing/2014/main" id="{0233D71A-28BC-9EF3-A365-EFF9CE09BA82}"/>
              </a:ext>
            </a:extLst>
          </p:cNvPr>
          <p:cNvSpPr>
            <a:spLocks noGrp="1"/>
          </p:cNvSpPr>
          <p:nvPr>
            <p:ph idx="1"/>
          </p:nvPr>
        </p:nvSpPr>
        <p:spPr/>
        <p:txBody>
          <a:bodyPr/>
          <a:lstStyle/>
          <a:p>
            <a:r>
              <a:rPr kumimoji="1" lang="zh-CN" altLang="en-US" dirty="0"/>
              <a:t>数的编码与二进制表示</a:t>
            </a:r>
          </a:p>
          <a:p>
            <a:r>
              <a:rPr kumimoji="1" lang="zh-CN" altLang="en-US" dirty="0"/>
              <a:t>算术与函数的布尔代数表示</a:t>
            </a:r>
            <a:endParaRPr kumimoji="1" lang="en-US" altLang="zh-CN" dirty="0"/>
          </a:p>
          <a:p>
            <a:r>
              <a:rPr lang="zh-CN" altLang="en-US" b="1" dirty="0">
                <a:solidFill>
                  <a:srgbClr val="3333FF"/>
                </a:solidFill>
                <a:latin typeface="黑体" pitchFamily="2" charset="-122"/>
                <a:ea typeface="黑体" pitchFamily="2" charset="-122"/>
              </a:rPr>
              <a:t>布尔表达式的化简</a:t>
            </a:r>
            <a:endParaRPr kumimoji="1" lang="zh-CN" altLang="en-US" dirty="0">
              <a:solidFill>
                <a:srgbClr val="3333FF"/>
              </a:solidFill>
            </a:endParaRPr>
          </a:p>
          <a:p>
            <a:endParaRPr kumimoji="1" lang="zh-CN" altLang="en-US" dirty="0"/>
          </a:p>
        </p:txBody>
      </p:sp>
      <p:sp>
        <p:nvSpPr>
          <p:cNvPr id="4" name="灯片编号占位符 3">
            <a:extLst>
              <a:ext uri="{FF2B5EF4-FFF2-40B4-BE49-F238E27FC236}">
                <a16:creationId xmlns:a16="http://schemas.microsoft.com/office/drawing/2014/main" id="{7924AE40-C753-E5A4-F452-1455785A8083}"/>
              </a:ext>
            </a:extLst>
          </p:cNvPr>
          <p:cNvSpPr>
            <a:spLocks noGrp="1"/>
          </p:cNvSpPr>
          <p:nvPr>
            <p:ph type="sldNum" sz="quarter" idx="12"/>
          </p:nvPr>
        </p:nvSpPr>
        <p:spPr/>
        <p:txBody>
          <a:bodyPr/>
          <a:lstStyle/>
          <a:p>
            <a:fld id="{14659731-6BD7-46E7-8D3C-2F3AC07E20B1}" type="slidenum">
              <a:rPr lang="en-US" altLang="zh-CN" smtClean="0"/>
              <a:pPr/>
              <a:t>78</a:t>
            </a:fld>
            <a:endParaRPr lang="en-US" altLang="zh-CN"/>
          </a:p>
        </p:txBody>
      </p:sp>
    </p:spTree>
    <p:extLst>
      <p:ext uri="{BB962C8B-B14F-4D97-AF65-F5344CB8AC3E}">
        <p14:creationId xmlns:p14="http://schemas.microsoft.com/office/powerpoint/2010/main" val="20102506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98AB985-4310-564C-B325-E2985A6A162A}"/>
                  </a:ext>
                </a:extLst>
              </p:cNvPr>
              <p:cNvSpPr txBox="1"/>
              <p:nvPr/>
            </p:nvSpPr>
            <p:spPr>
              <a:xfrm>
                <a:off x="431540" y="1397080"/>
                <a:ext cx="8634993" cy="5056256"/>
              </a:xfrm>
              <a:prstGeom prst="rect">
                <a:avLst/>
              </a:prstGeom>
              <a:noFill/>
            </p:spPr>
            <p:txBody>
              <a:bodyPr wrap="none" lIns="0" tIns="0" rIns="0" bIns="0" rtlCol="0">
                <a:spAutoFit/>
              </a:bodyPr>
              <a:lstStyle/>
              <a:p>
                <a:pPr>
                  <a:lnSpc>
                    <a:spcPct val="130000"/>
                  </a:lnSpc>
                </a:pPr>
                <a14:m>
                  <m:oMath xmlns:m="http://schemas.openxmlformats.org/officeDocument/2006/math">
                    <m:r>
                      <a:rPr kumimoji="1" lang="en-US" altLang="zh-CN" sz="2800" i="1" smtClean="0">
                        <a:latin typeface="Cambria Math" panose="02040503050406030204" pitchFamily="18" charset="0"/>
                      </a:rPr>
                      <m:t>𝑌</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𝐴𝐶</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r>
                      <a:rPr kumimoji="1" lang="en-US" altLang="zh-CN" sz="2800" b="0" i="1" smtClean="0">
                        <a:latin typeface="Cambria Math" panose="02040503050406030204" pitchFamily="18" charset="0"/>
                      </a:rPr>
                      <m:t>𝐶</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𝐵</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solidFill>
                          <a:srgbClr val="C00000"/>
                        </a:solidFill>
                        <a:latin typeface="Cambria Math" panose="02040503050406030204" pitchFamily="18" charset="0"/>
                      </a:rPr>
                      <m:t>𝐶</m:t>
                    </m:r>
                    <m:acc>
                      <m:accPr>
                        <m:chr m:val="̅"/>
                        <m:ctrlPr>
                          <a:rPr kumimoji="1" lang="en-US" altLang="zh-CN" sz="2800" b="0" i="1" smtClean="0">
                            <a:solidFill>
                              <a:srgbClr val="C00000"/>
                            </a:solidFill>
                            <a:latin typeface="Cambria Math" panose="02040503050406030204" pitchFamily="18" charset="0"/>
                          </a:rPr>
                        </m:ctrlPr>
                      </m:accPr>
                      <m:e>
                        <m:r>
                          <a:rPr kumimoji="1" lang="en-US" altLang="zh-CN" sz="2800" b="0" i="1" smtClean="0">
                            <a:solidFill>
                              <a:srgbClr val="C00000"/>
                            </a:solidFill>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m:t>
                    </m:r>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𝐵</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𝐶</m:t>
                            </m:r>
                          </m:e>
                        </m:acc>
                      </m:e>
                    </m:d>
                    <m:r>
                      <a:rPr kumimoji="1" lang="en-US" altLang="zh-CN" sz="2800" b="0" i="1" smtClean="0">
                        <a:latin typeface="Cambria Math" panose="02040503050406030204" pitchFamily="18" charset="0"/>
                      </a:rPr>
                      <m:t>+</m:t>
                    </m:r>
                    <m:acc>
                      <m:accPr>
                        <m:chr m:val="̅"/>
                        <m:ctrlPr>
                          <a:rPr kumimoji="1" lang="en-US" altLang="zh-CN" sz="2800" b="0" i="1" smtClean="0">
                            <a:solidFill>
                              <a:srgbClr val="C00000"/>
                            </a:solidFill>
                            <a:latin typeface="Cambria Math" panose="02040503050406030204" pitchFamily="18" charset="0"/>
                          </a:rPr>
                        </m:ctrlPr>
                      </m:accPr>
                      <m:e>
                        <m:r>
                          <a:rPr kumimoji="1" lang="en-US" altLang="zh-CN" sz="2800" b="0" i="1" smtClean="0">
                            <a:solidFill>
                              <a:srgbClr val="C00000"/>
                            </a:solidFill>
                            <a:latin typeface="Cambria Math" panose="02040503050406030204" pitchFamily="18" charset="0"/>
                          </a:rPr>
                          <m:t>𝐴</m:t>
                        </m:r>
                      </m:e>
                    </m:acc>
                    <m:r>
                      <a:rPr kumimoji="1" lang="en-US" altLang="zh-CN" sz="2800" b="0" i="1" smtClean="0">
                        <a:solidFill>
                          <a:srgbClr val="C00000"/>
                        </a:solidFill>
                        <a:latin typeface="Cambria Math" panose="02040503050406030204" pitchFamily="18" charset="0"/>
                      </a:rPr>
                      <m:t>𝐵𝐶</m:t>
                    </m:r>
                    <m:acc>
                      <m:accPr>
                        <m:chr m:val="̅"/>
                        <m:ctrlPr>
                          <a:rPr kumimoji="1" lang="en-US" altLang="zh-CN" sz="2800" b="0" i="1" smtClean="0">
                            <a:solidFill>
                              <a:srgbClr val="C00000"/>
                            </a:solidFill>
                            <a:latin typeface="Cambria Math" panose="02040503050406030204" pitchFamily="18" charset="0"/>
                          </a:rPr>
                        </m:ctrlPr>
                      </m:accPr>
                      <m:e>
                        <m:r>
                          <a:rPr kumimoji="1" lang="en-US" altLang="zh-CN" sz="2800" b="0" i="1" smtClean="0">
                            <a:solidFill>
                              <a:srgbClr val="C00000"/>
                            </a:solidFill>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r>
                      <a:rPr kumimoji="1" lang="en-US" altLang="zh-CN" sz="2800" b="0" i="1" smtClean="0">
                        <a:latin typeface="Cambria Math" panose="02040503050406030204" pitchFamily="18" charset="0"/>
                      </a:rPr>
                      <m:t>𝐷𝐸</m:t>
                    </m:r>
                  </m:oMath>
                </a14:m>
                <a:r>
                  <a:rPr kumimoji="1" lang="en-US" altLang="zh-CN" sz="2800" b="0" i="1" dirty="0">
                    <a:ea typeface="黑体" panose="02010609060101010101" pitchFamily="49" charset="-122"/>
                  </a:rPr>
                  <a:t> </a:t>
                </a:r>
                <a:endParaRPr kumimoji="1" lang="en-US" altLang="zh-CN" sz="2800" b="0" i="1" dirty="0">
                  <a:latin typeface="Cambria Math" panose="02040503050406030204" pitchFamily="18" charset="0"/>
                  <a:ea typeface="黑体" panose="02010609060101010101" pitchFamily="49" charset="-122"/>
                </a:endParaRPr>
              </a:p>
              <a:p>
                <a:pPr>
                  <a:lnSpc>
                    <a:spcPct val="130000"/>
                  </a:lnSpc>
                </a:pPr>
                <a:endParaRPr kumimoji="1" lang="en-US" altLang="zh-CN" sz="2800" b="0" i="1" dirty="0">
                  <a:latin typeface="Cambria Math" panose="02040503050406030204" pitchFamily="18" charset="0"/>
                  <a:ea typeface="黑体" panose="02010609060101010101" pitchFamily="49" charset="-122"/>
                </a:endParaRPr>
              </a:p>
              <a:p>
                <a:pPr>
                  <a:lnSpc>
                    <a:spcPct val="130000"/>
                  </a:lnSpc>
                </a:pPr>
                <a14:m>
                  <m:oMath xmlns:m="http://schemas.openxmlformats.org/officeDocument/2006/math">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𝐴𝐶</m:t>
                    </m:r>
                    <m:r>
                      <a:rPr kumimoji="1" lang="en-US" altLang="zh-CN" sz="2800" b="0" i="1" smtClean="0">
                        <a:latin typeface="Cambria Math" panose="02040503050406030204" pitchFamily="18" charset="0"/>
                      </a:rPr>
                      <m:t>+</m:t>
                    </m:r>
                    <m:acc>
                      <m:accPr>
                        <m:chr m:val="̅"/>
                        <m:ctrlPr>
                          <a:rPr kumimoji="1" lang="en-US" altLang="zh-CN" sz="2800" b="0" i="1" smtClean="0">
                            <a:solidFill>
                              <a:srgbClr val="C00000"/>
                            </a:solidFill>
                            <a:latin typeface="Cambria Math" panose="02040503050406030204" pitchFamily="18" charset="0"/>
                          </a:rPr>
                        </m:ctrlPr>
                      </m:accPr>
                      <m:e>
                        <m:r>
                          <a:rPr kumimoji="1" lang="en-US" altLang="zh-CN" sz="2800" b="0" i="1" smtClean="0">
                            <a:solidFill>
                              <a:srgbClr val="C00000"/>
                            </a:solidFill>
                            <a:latin typeface="Cambria Math" panose="02040503050406030204" pitchFamily="18" charset="0"/>
                          </a:rPr>
                          <m:t>𝐵</m:t>
                        </m:r>
                      </m:e>
                    </m:acc>
                    <m:r>
                      <a:rPr kumimoji="1" lang="en-US" altLang="zh-CN" sz="2800" b="0" i="1" smtClean="0">
                        <a:solidFill>
                          <a:srgbClr val="C00000"/>
                        </a:solidFill>
                        <a:latin typeface="Cambria Math" panose="02040503050406030204" pitchFamily="18" charset="0"/>
                      </a:rPr>
                      <m:t>𝐶</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𝐵</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𝐶</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solidFill>
                          <a:srgbClr val="C00000"/>
                        </a:solidFill>
                        <a:latin typeface="Cambria Math" panose="02040503050406030204" pitchFamily="18" charset="0"/>
                      </a:rPr>
                      <m:t>𝐴</m:t>
                    </m:r>
                    <m:acc>
                      <m:accPr>
                        <m:chr m:val="̅"/>
                        <m:ctrlPr>
                          <a:rPr kumimoji="1" lang="en-US" altLang="zh-CN" sz="2800" b="0" i="1" smtClean="0">
                            <a:solidFill>
                              <a:srgbClr val="C00000"/>
                            </a:solidFill>
                            <a:latin typeface="Cambria Math" panose="02040503050406030204" pitchFamily="18" charset="0"/>
                          </a:rPr>
                        </m:ctrlPr>
                      </m:accPr>
                      <m:e>
                        <m:acc>
                          <m:accPr>
                            <m:chr m:val="̅"/>
                            <m:ctrlPr>
                              <a:rPr kumimoji="1" lang="en-US" altLang="zh-CN" sz="2800" b="0" i="1" smtClean="0">
                                <a:solidFill>
                                  <a:srgbClr val="C00000"/>
                                </a:solidFill>
                                <a:latin typeface="Cambria Math" panose="02040503050406030204" pitchFamily="18" charset="0"/>
                              </a:rPr>
                            </m:ctrlPr>
                          </m:accPr>
                          <m:e>
                            <m:r>
                              <a:rPr kumimoji="1" lang="en-US" altLang="zh-CN" sz="2800" b="0" i="1" smtClean="0">
                                <a:solidFill>
                                  <a:srgbClr val="C00000"/>
                                </a:solidFill>
                                <a:latin typeface="Cambria Math" panose="02040503050406030204" pitchFamily="18" charset="0"/>
                              </a:rPr>
                              <m:t>𝐵</m:t>
                            </m:r>
                          </m:e>
                        </m:acc>
                        <m:r>
                          <a:rPr kumimoji="1" lang="en-US" altLang="zh-CN" sz="2800" b="0" i="1" smtClean="0">
                            <a:solidFill>
                              <a:srgbClr val="C00000"/>
                            </a:solidFill>
                            <a:latin typeface="Cambria Math" panose="02040503050406030204" pitchFamily="18" charset="0"/>
                          </a:rPr>
                          <m:t>𝐶</m:t>
                        </m:r>
                      </m:e>
                    </m:acc>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r>
                      <a:rPr kumimoji="1" lang="en-US" altLang="zh-CN" sz="2800" b="0" i="1" smtClean="0">
                        <a:latin typeface="Cambria Math" panose="02040503050406030204" pitchFamily="18" charset="0"/>
                      </a:rPr>
                      <m:t>𝐷𝐸</m:t>
                    </m:r>
                  </m:oMath>
                </a14:m>
                <a:r>
                  <a:rPr kumimoji="1" lang="en-US" altLang="zh-CN" sz="2800" b="0" i="1" dirty="0">
                    <a:ea typeface="黑体" panose="02010609060101010101" pitchFamily="49" charset="-122"/>
                  </a:rPr>
                  <a:t> </a:t>
                </a:r>
                <a:br>
                  <a:rPr kumimoji="1" lang="en-US" altLang="zh-CN" sz="2800" b="0" i="1" dirty="0">
                    <a:ea typeface="黑体" panose="02010609060101010101" pitchFamily="49" charset="-122"/>
                  </a:rPr>
                </a:br>
                <a:endParaRPr kumimoji="1" lang="en-US" altLang="zh-CN" sz="2800" b="0" i="1" dirty="0">
                  <a:latin typeface="Cambria Math" panose="02040503050406030204" pitchFamily="18" charset="0"/>
                  <a:ea typeface="黑体" panose="02010609060101010101" pitchFamily="49" charset="-122"/>
                </a:endParaRPr>
              </a:p>
              <a:p>
                <a:pPr>
                  <a:lnSpc>
                    <a:spcPct val="130000"/>
                  </a:lnSpc>
                </a:pPr>
                <a14:m>
                  <m:oMath xmlns:m="http://schemas.openxmlformats.org/officeDocument/2006/math">
                    <m:r>
                      <a:rPr kumimoji="1" lang="en-US" altLang="zh-CN" sz="2800" b="0" i="1" smtClean="0">
                        <a:latin typeface="Cambria Math" panose="02040503050406030204" pitchFamily="18" charset="0"/>
                      </a:rPr>
                      <m:t>=</m:t>
                    </m:r>
                    <m:r>
                      <a:rPr kumimoji="1" lang="en-US" altLang="zh-CN" sz="2800" b="0" i="1" smtClean="0">
                        <a:solidFill>
                          <a:srgbClr val="C00000"/>
                        </a:solidFill>
                        <a:latin typeface="Cambria Math" panose="02040503050406030204" pitchFamily="18" charset="0"/>
                      </a:rPr>
                      <m:t>𝐴𝐶</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r>
                      <a:rPr kumimoji="1" lang="en-US" altLang="zh-CN" sz="2800" b="0" i="1" smtClean="0">
                        <a:latin typeface="Cambria Math" panose="02040503050406030204" pitchFamily="18" charset="0"/>
                      </a:rPr>
                      <m:t>𝐶</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𝐵</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𝐶</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solidFill>
                          <a:srgbClr val="C00000"/>
                        </a:solidFill>
                        <a:latin typeface="Cambria Math" panose="02040503050406030204" pitchFamily="18" charset="0"/>
                      </a:rPr>
                      <m:t>𝐴</m:t>
                    </m:r>
                    <m:r>
                      <a:rPr kumimoji="1" lang="en-US" altLang="zh-CN" sz="2800" b="0" i="1" smtClean="0">
                        <a:latin typeface="Cambria Math" panose="02040503050406030204" pitchFamily="18" charset="0"/>
                      </a:rPr>
                      <m:t>+</m:t>
                    </m:r>
                    <m:r>
                      <a:rPr kumimoji="1" lang="en-US" altLang="zh-CN" sz="2800" b="0" i="1" smtClean="0">
                        <a:solidFill>
                          <a:srgbClr val="C00000"/>
                        </a:solidFill>
                        <a:latin typeface="Cambria Math" panose="02040503050406030204" pitchFamily="18" charset="0"/>
                      </a:rPr>
                      <m:t>𝐴</m:t>
                    </m:r>
                    <m:acc>
                      <m:accPr>
                        <m:chr m:val="̅"/>
                        <m:ctrlPr>
                          <a:rPr kumimoji="1" lang="en-US" altLang="zh-CN" sz="2800" b="0" i="1" smtClean="0">
                            <a:solidFill>
                              <a:srgbClr val="C00000"/>
                            </a:solidFill>
                            <a:latin typeface="Cambria Math" panose="02040503050406030204" pitchFamily="18" charset="0"/>
                          </a:rPr>
                        </m:ctrlPr>
                      </m:accPr>
                      <m:e>
                        <m:r>
                          <a:rPr kumimoji="1" lang="en-US" altLang="zh-CN" sz="2800" b="0" i="1" smtClean="0">
                            <a:solidFill>
                              <a:srgbClr val="C00000"/>
                            </a:solidFill>
                            <a:latin typeface="Cambria Math" panose="02040503050406030204" pitchFamily="18" charset="0"/>
                          </a:rPr>
                          <m:t>𝐵</m:t>
                        </m:r>
                      </m:e>
                    </m:acc>
                    <m:r>
                      <a:rPr kumimoji="1" lang="en-US" altLang="zh-CN" sz="2800" b="0" i="1" smtClean="0">
                        <a:solidFill>
                          <a:srgbClr val="C00000"/>
                        </a:solidFill>
                        <a:latin typeface="Cambria Math" panose="02040503050406030204" pitchFamily="18" charset="0"/>
                      </a:rPr>
                      <m:t>𝐷𝐸</m:t>
                    </m:r>
                  </m:oMath>
                </a14:m>
                <a:r>
                  <a:rPr kumimoji="1" lang="en-US" altLang="zh-CN" sz="2800" b="0" i="1" dirty="0">
                    <a:solidFill>
                      <a:srgbClr val="C00000"/>
                    </a:solidFill>
                    <a:ea typeface="黑体" panose="02010609060101010101" pitchFamily="49" charset="-122"/>
                  </a:rPr>
                  <a:t> </a:t>
                </a:r>
                <a:endParaRPr kumimoji="1" lang="en-US" altLang="zh-CN" sz="2800" b="0" i="1" dirty="0">
                  <a:ea typeface="黑体" panose="02010609060101010101" pitchFamily="49" charset="-122"/>
                </a:endParaRPr>
              </a:p>
              <a:p>
                <a:pPr>
                  <a:lnSpc>
                    <a:spcPct val="130000"/>
                  </a:lnSpc>
                </a:pPr>
                <a:endParaRPr kumimoji="1" lang="en-US" altLang="zh-CN" sz="2800" i="1" dirty="0">
                  <a:latin typeface="Cambria Math" panose="02040503050406030204" pitchFamily="18" charset="0"/>
                  <a:ea typeface="黑体" panose="02010609060101010101" pitchFamily="49" charset="-122"/>
                </a:endParaRPr>
              </a:p>
              <a:p>
                <a:pPr>
                  <a:lnSpc>
                    <a:spcPct val="130000"/>
                  </a:lnSpc>
                </a:pPr>
                <a14:m>
                  <m:oMath xmlns:m="http://schemas.openxmlformats.org/officeDocument/2006/math">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𝐴</m:t>
                    </m:r>
                    <m:r>
                      <a:rPr kumimoji="1" lang="en-US" altLang="zh-CN" sz="2800" i="1">
                        <a:latin typeface="Cambria Math" panose="02040503050406030204" pitchFamily="18" charset="0"/>
                      </a:rPr>
                      <m:t>+</m:t>
                    </m:r>
                    <m:acc>
                      <m:accPr>
                        <m:chr m:val="̅"/>
                        <m:ctrlPr>
                          <a:rPr kumimoji="1" lang="en-US" altLang="zh-CN" sz="2800" b="0" i="1" smtClean="0">
                            <a:solidFill>
                              <a:srgbClr val="C00000"/>
                            </a:solidFill>
                            <a:latin typeface="Cambria Math" panose="02040503050406030204" pitchFamily="18" charset="0"/>
                          </a:rPr>
                        </m:ctrlPr>
                      </m:accPr>
                      <m:e>
                        <m:r>
                          <a:rPr kumimoji="1" lang="en-US" altLang="zh-CN" sz="2800" i="1">
                            <a:solidFill>
                              <a:srgbClr val="C00000"/>
                            </a:solidFill>
                            <a:latin typeface="Cambria Math" panose="02040503050406030204" pitchFamily="18" charset="0"/>
                          </a:rPr>
                          <m:t>𝐵</m:t>
                        </m:r>
                      </m:e>
                    </m:acc>
                    <m:r>
                      <a:rPr kumimoji="1" lang="en-US" altLang="zh-CN" sz="2800" b="0" i="1" smtClean="0">
                        <a:solidFill>
                          <a:srgbClr val="C00000"/>
                        </a:solidFill>
                        <a:latin typeface="Cambria Math" panose="02040503050406030204" pitchFamily="18" charset="0"/>
                      </a:rPr>
                      <m:t>𝐶</m:t>
                    </m:r>
                    <m:r>
                      <a:rPr kumimoji="1" lang="en-US" altLang="zh-CN" sz="2800" b="0" i="1" smtClean="0">
                        <a:latin typeface="Cambria Math" panose="02040503050406030204" pitchFamily="18" charset="0"/>
                      </a:rPr>
                      <m:t>+</m:t>
                    </m:r>
                    <m:r>
                      <a:rPr kumimoji="1" lang="en-US" altLang="zh-CN" sz="2800" b="0" i="1" smtClean="0">
                        <a:solidFill>
                          <a:srgbClr val="C00000"/>
                        </a:solidFill>
                        <a:latin typeface="Cambria Math" panose="02040503050406030204" pitchFamily="18" charset="0"/>
                      </a:rPr>
                      <m:t>𝐵</m:t>
                    </m:r>
                    <m:acc>
                      <m:accPr>
                        <m:chr m:val="̅"/>
                        <m:ctrlPr>
                          <a:rPr kumimoji="1" lang="en-US" altLang="zh-CN" sz="2800" b="0" i="1" smtClean="0">
                            <a:solidFill>
                              <a:srgbClr val="C00000"/>
                            </a:solidFill>
                            <a:latin typeface="Cambria Math" panose="02040503050406030204" pitchFamily="18" charset="0"/>
                          </a:rPr>
                        </m:ctrlPr>
                      </m:accPr>
                      <m:e>
                        <m:r>
                          <a:rPr kumimoji="1" lang="en-US" altLang="zh-CN" sz="2800" b="0" i="1" smtClean="0">
                            <a:solidFill>
                              <a:srgbClr val="C00000"/>
                            </a:solidFill>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solidFill>
                          <a:srgbClr val="C00000"/>
                        </a:solidFill>
                        <a:latin typeface="Cambria Math" panose="02040503050406030204" pitchFamily="18" charset="0"/>
                      </a:rPr>
                      <m:t>𝐶</m:t>
                    </m:r>
                    <m:acc>
                      <m:accPr>
                        <m:chr m:val="̅"/>
                        <m:ctrlPr>
                          <a:rPr kumimoji="1" lang="en-US" altLang="zh-CN" sz="2800" b="0" i="1" smtClean="0">
                            <a:solidFill>
                              <a:srgbClr val="C00000"/>
                            </a:solidFill>
                            <a:latin typeface="Cambria Math" panose="02040503050406030204" pitchFamily="18" charset="0"/>
                          </a:rPr>
                        </m:ctrlPr>
                      </m:accPr>
                      <m:e>
                        <m:r>
                          <a:rPr kumimoji="1" lang="en-US" altLang="zh-CN" sz="2800" b="0" i="1" smtClean="0">
                            <a:solidFill>
                              <a:srgbClr val="C00000"/>
                            </a:solidFill>
                            <a:latin typeface="Cambria Math" panose="02040503050406030204" pitchFamily="18" charset="0"/>
                          </a:rPr>
                          <m:t>𝐷</m:t>
                        </m:r>
                      </m:e>
                    </m:acc>
                  </m:oMath>
                </a14:m>
                <a:r>
                  <a:rPr kumimoji="1" lang="en-US" altLang="zh-CN" sz="2800" b="0" i="1" dirty="0">
                    <a:solidFill>
                      <a:srgbClr val="C00000"/>
                    </a:solidFill>
                    <a:ea typeface="黑体" panose="02010609060101010101" pitchFamily="49" charset="-122"/>
                  </a:rPr>
                  <a:t> </a:t>
                </a:r>
                <a:br>
                  <a:rPr kumimoji="1" lang="en-US" altLang="zh-CN" sz="2800" b="0" i="1" dirty="0">
                    <a:ea typeface="黑体" panose="02010609060101010101" pitchFamily="49" charset="-122"/>
                  </a:rPr>
                </a:br>
                <a:endParaRPr kumimoji="1" lang="en-US" altLang="zh-CN" sz="2800" b="0" i="1" dirty="0">
                  <a:latin typeface="Cambria Math" panose="02040503050406030204" pitchFamily="18" charset="0"/>
                  <a:ea typeface="黑体" panose="02010609060101010101" pitchFamily="49" charset="-122"/>
                </a:endParaRPr>
              </a:p>
              <a:p>
                <a:pPr>
                  <a:lnSpc>
                    <a:spcPct val="130000"/>
                  </a:lnSpc>
                </a:pPr>
                <a14:m>
                  <m:oMath xmlns:m="http://schemas.openxmlformats.org/officeDocument/2006/math">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𝐵</m:t>
                        </m:r>
                      </m:e>
                    </m:acc>
                    <m:r>
                      <a:rPr kumimoji="1" lang="en-US" altLang="zh-CN" sz="2800" b="0" i="1" smtClean="0">
                        <a:latin typeface="Cambria Math" panose="02040503050406030204" pitchFamily="18" charset="0"/>
                      </a:rPr>
                      <m:t>𝐶</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𝐵</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oMath>
                </a14:m>
                <a:r>
                  <a:rPr kumimoji="1" lang="en-US" altLang="zh-CN" sz="2800" b="0" i="1" dirty="0">
                    <a:ea typeface="黑体" panose="02010609060101010101" pitchFamily="49" charset="-122"/>
                  </a:rPr>
                  <a:t> </a:t>
                </a:r>
              </a:p>
            </p:txBody>
          </p:sp>
        </mc:Choice>
        <mc:Fallback xmlns="">
          <p:sp>
            <p:nvSpPr>
              <p:cNvPr id="2" name="文本框 1">
                <a:extLst>
                  <a:ext uri="{FF2B5EF4-FFF2-40B4-BE49-F238E27FC236}">
                    <a16:creationId xmlns:a16="http://schemas.microsoft.com/office/drawing/2014/main" id="{098AB985-4310-564C-B325-E2985A6A162A}"/>
                  </a:ext>
                </a:extLst>
              </p:cNvPr>
              <p:cNvSpPr txBox="1">
                <a:spLocks noRot="1" noChangeAspect="1" noMove="1" noResize="1" noEditPoints="1" noAdjustHandles="1" noChangeArrowheads="1" noChangeShapeType="1" noTextEdit="1"/>
              </p:cNvSpPr>
              <p:nvPr/>
            </p:nvSpPr>
            <p:spPr>
              <a:xfrm>
                <a:off x="431540" y="1397080"/>
                <a:ext cx="8634993" cy="5056256"/>
              </a:xfrm>
              <a:prstGeom prst="rect">
                <a:avLst/>
              </a:prstGeom>
              <a:blipFill>
                <a:blip r:embed="rId3"/>
                <a:stretch>
                  <a:fillRect/>
                </a:stretch>
              </a:blipFill>
            </p:spPr>
            <p:txBody>
              <a:bodyPr/>
              <a:lstStyle/>
              <a:p>
                <a:r>
                  <a:rPr lang="zh-CN" altLang="en-US">
                    <a:noFill/>
                  </a:rPr>
                  <a:t> </a:t>
                </a:r>
              </a:p>
            </p:txBody>
          </p:sp>
        </mc:Fallback>
      </mc:AlternateContent>
      <p:sp>
        <p:nvSpPr>
          <p:cNvPr id="19468" name="Rectangle 3"/>
          <p:cNvSpPr>
            <a:spLocks noChangeArrowheads="1"/>
          </p:cNvSpPr>
          <p:nvPr/>
        </p:nvSpPr>
        <p:spPr bwMode="auto">
          <a:xfrm>
            <a:off x="4341167" y="2857500"/>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sp>
        <p:nvSpPr>
          <p:cNvPr id="19469" name="Rectangle 4"/>
          <p:cNvSpPr>
            <a:spLocks noChangeArrowheads="1"/>
          </p:cNvSpPr>
          <p:nvPr/>
        </p:nvSpPr>
        <p:spPr bwMode="auto">
          <a:xfrm>
            <a:off x="4341167" y="3076575"/>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sp>
        <p:nvSpPr>
          <p:cNvPr id="19470" name="Rectangle 5"/>
          <p:cNvSpPr>
            <a:spLocks noChangeArrowheads="1"/>
          </p:cNvSpPr>
          <p:nvPr/>
        </p:nvSpPr>
        <p:spPr bwMode="auto">
          <a:xfrm>
            <a:off x="4341167" y="3267075"/>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sp>
        <p:nvSpPr>
          <p:cNvPr id="19471" name="Rectangle 6"/>
          <p:cNvSpPr>
            <a:spLocks noChangeArrowheads="1"/>
          </p:cNvSpPr>
          <p:nvPr/>
        </p:nvSpPr>
        <p:spPr bwMode="auto">
          <a:xfrm>
            <a:off x="4341167" y="3733800"/>
            <a:ext cx="461665" cy="9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anchor="ctr">
            <a:spAutoFit/>
          </a:bodyPr>
          <a:lstStyle/>
          <a:p>
            <a:endParaRPr lang="zh-CN" altLang="en-US" dirty="0">
              <a:ea typeface="黑体" panose="02010609060101010101" pitchFamily="49" charset="-122"/>
            </a:endParaRPr>
          </a:p>
        </p:txBody>
      </p:sp>
      <p:graphicFrame>
        <p:nvGraphicFramePr>
          <p:cNvPr id="647180" name="Object 12"/>
          <p:cNvGraphicFramePr>
            <a:graphicFrameLocks noChangeAspect="1"/>
          </p:cNvGraphicFramePr>
          <p:nvPr>
            <p:extLst>
              <p:ext uri="{D42A27DB-BD31-4B8C-83A1-F6EECF244321}">
                <p14:modId xmlns:p14="http://schemas.microsoft.com/office/powerpoint/2010/main" val="609162104"/>
              </p:ext>
            </p:extLst>
          </p:nvPr>
        </p:nvGraphicFramePr>
        <p:xfrm>
          <a:off x="1525588" y="4233500"/>
          <a:ext cx="2741612" cy="568325"/>
        </p:xfrm>
        <a:graphic>
          <a:graphicData uri="http://schemas.openxmlformats.org/presentationml/2006/ole">
            <mc:AlternateContent xmlns:mc="http://schemas.openxmlformats.org/markup-compatibility/2006">
              <mc:Choice xmlns:v="urn:schemas-microsoft-com:vml" Requires="v">
                <p:oleObj name="Equation" r:id="rId4" imgW="977900" imgH="190500" progId="Equation.DSMT4">
                  <p:embed/>
                </p:oleObj>
              </mc:Choice>
              <mc:Fallback>
                <p:oleObj name="Equation" r:id="rId4" imgW="977900" imgH="190500" progId="Equation.DSMT4">
                  <p:embed/>
                  <p:pic>
                    <p:nvPicPr>
                      <p:cNvPr id="64718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5588" y="4233500"/>
                        <a:ext cx="2741612" cy="568325"/>
                      </a:xfrm>
                      <a:prstGeom prst="rect">
                        <a:avLst/>
                      </a:prstGeom>
                      <a:solidFill>
                        <a:srgbClr val="CCCCCC"/>
                      </a:solidFill>
                      <a:ln>
                        <a:noFill/>
                      </a:ln>
                    </p:spPr>
                  </p:pic>
                </p:oleObj>
              </mc:Fallback>
            </mc:AlternateContent>
          </a:graphicData>
        </a:graphic>
      </p:graphicFrame>
      <p:graphicFrame>
        <p:nvGraphicFramePr>
          <p:cNvPr id="647181" name="Object 13"/>
          <p:cNvGraphicFramePr>
            <a:graphicFrameLocks noChangeAspect="1"/>
          </p:cNvGraphicFramePr>
          <p:nvPr>
            <p:extLst>
              <p:ext uri="{D42A27DB-BD31-4B8C-83A1-F6EECF244321}">
                <p14:modId xmlns:p14="http://schemas.microsoft.com/office/powerpoint/2010/main" val="3682796221"/>
              </p:ext>
            </p:extLst>
          </p:nvPr>
        </p:nvGraphicFramePr>
        <p:xfrm>
          <a:off x="1530350" y="2053937"/>
          <a:ext cx="2736850" cy="531813"/>
        </p:xfrm>
        <a:graphic>
          <a:graphicData uri="http://schemas.openxmlformats.org/presentationml/2006/ole">
            <mc:AlternateContent xmlns:mc="http://schemas.openxmlformats.org/markup-compatibility/2006">
              <mc:Choice xmlns:v="urn:schemas-microsoft-com:vml" Requires="v">
                <p:oleObj name="Equation" r:id="rId6" imgW="977900" imgH="190500" progId="Equation.DSMT4">
                  <p:embed/>
                </p:oleObj>
              </mc:Choice>
              <mc:Fallback>
                <p:oleObj name="Equation" r:id="rId6" imgW="977900" imgH="190500" progId="Equation.DSMT4">
                  <p:embed/>
                  <p:pic>
                    <p:nvPicPr>
                      <p:cNvPr id="647181"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0350" y="2053937"/>
                        <a:ext cx="2736850" cy="531813"/>
                      </a:xfrm>
                      <a:prstGeom prst="rect">
                        <a:avLst/>
                      </a:prstGeom>
                      <a:solidFill>
                        <a:srgbClr val="CCCCCC"/>
                      </a:solidFill>
                    </p:spPr>
                  </p:pic>
                </p:oleObj>
              </mc:Fallback>
            </mc:AlternateContent>
          </a:graphicData>
        </a:graphic>
      </p:graphicFrame>
      <p:graphicFrame>
        <p:nvGraphicFramePr>
          <p:cNvPr id="647182" name="Object 14"/>
          <p:cNvGraphicFramePr>
            <a:graphicFrameLocks noChangeAspect="1"/>
          </p:cNvGraphicFramePr>
          <p:nvPr>
            <p:extLst>
              <p:ext uri="{D42A27DB-BD31-4B8C-83A1-F6EECF244321}">
                <p14:modId xmlns:p14="http://schemas.microsoft.com/office/powerpoint/2010/main" val="3096031065"/>
              </p:ext>
            </p:extLst>
          </p:nvPr>
        </p:nvGraphicFramePr>
        <p:xfrm>
          <a:off x="1547813" y="3135025"/>
          <a:ext cx="3276600" cy="565150"/>
        </p:xfrm>
        <a:graphic>
          <a:graphicData uri="http://schemas.openxmlformats.org/presentationml/2006/ole">
            <mc:AlternateContent xmlns:mc="http://schemas.openxmlformats.org/markup-compatibility/2006">
              <mc:Choice xmlns:v="urn:schemas-microsoft-com:vml" Requires="v">
                <p:oleObj name="Equation" r:id="rId7" imgW="1320800" imgH="228600" progId="Equation.DSMT4">
                  <p:embed/>
                </p:oleObj>
              </mc:Choice>
              <mc:Fallback>
                <p:oleObj name="Equation" r:id="rId7" imgW="1320800" imgH="228600" progId="Equation.DSMT4">
                  <p:embed/>
                  <p:pic>
                    <p:nvPicPr>
                      <p:cNvPr id="647182"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3135025"/>
                        <a:ext cx="3276600" cy="565150"/>
                      </a:xfrm>
                      <a:prstGeom prst="rect">
                        <a:avLst/>
                      </a:prstGeom>
                      <a:solidFill>
                        <a:srgbClr val="CCCCCC"/>
                      </a:solidFill>
                    </p:spPr>
                  </p:pic>
                </p:oleObj>
              </mc:Fallback>
            </mc:AlternateContent>
          </a:graphicData>
        </a:graphic>
      </p:graphicFrame>
      <p:graphicFrame>
        <p:nvGraphicFramePr>
          <p:cNvPr id="647183" name="Object 15"/>
          <p:cNvGraphicFramePr>
            <a:graphicFrameLocks noChangeAspect="1"/>
          </p:cNvGraphicFramePr>
          <p:nvPr>
            <p:extLst>
              <p:ext uri="{D42A27DB-BD31-4B8C-83A1-F6EECF244321}">
                <p14:modId xmlns:p14="http://schemas.microsoft.com/office/powerpoint/2010/main" val="2273794819"/>
              </p:ext>
            </p:extLst>
          </p:nvPr>
        </p:nvGraphicFramePr>
        <p:xfrm>
          <a:off x="1547813" y="5282751"/>
          <a:ext cx="6048375" cy="642937"/>
        </p:xfrm>
        <a:graphic>
          <a:graphicData uri="http://schemas.openxmlformats.org/presentationml/2006/ole">
            <mc:AlternateContent xmlns:mc="http://schemas.openxmlformats.org/markup-compatibility/2006">
              <mc:Choice xmlns:v="urn:schemas-microsoft-com:vml" Requires="v">
                <p:oleObj name="Equation" r:id="rId9" imgW="2235200" imgH="241300" progId="Equation.DSMT4">
                  <p:embed/>
                </p:oleObj>
              </mc:Choice>
              <mc:Fallback>
                <p:oleObj name="Equation" r:id="rId9" imgW="2235200" imgH="241300" progId="Equation.DSMT4">
                  <p:embed/>
                  <p:pic>
                    <p:nvPicPr>
                      <p:cNvPr id="647183"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5282751"/>
                        <a:ext cx="6048375" cy="642937"/>
                      </a:xfrm>
                      <a:prstGeom prst="rect">
                        <a:avLst/>
                      </a:prstGeom>
                      <a:solidFill>
                        <a:srgbClr val="CCCCCC"/>
                      </a:solidFill>
                    </p:spPr>
                  </p:pic>
                </p:oleObj>
              </mc:Fallback>
            </mc:AlternateContent>
          </a:graphicData>
        </a:graphic>
      </p:graphicFrame>
      <p:sp>
        <p:nvSpPr>
          <p:cNvPr id="7" name="Rectangle 2"/>
          <p:cNvSpPr>
            <a:spLocks noGrp="1" noChangeArrowheads="1"/>
          </p:cNvSpPr>
          <p:nvPr>
            <p:ph type="title"/>
          </p:nvPr>
        </p:nvSpPr>
        <p:spPr/>
        <p:txBody>
          <a:bodyPr/>
          <a:lstStyle/>
          <a:p>
            <a:pPr eaLnBrk="1" hangingPunct="1"/>
            <a:r>
              <a:rPr lang="zh-CN" altLang="en-US" b="1" dirty="0"/>
              <a:t>逻辑化简举例</a:t>
            </a:r>
            <a:endParaRPr lang="en-US" altLang="zh-CN" b="1" dirty="0"/>
          </a:p>
        </p:txBody>
      </p:sp>
      <p:sp>
        <p:nvSpPr>
          <p:cNvPr id="3" name="灯片编号占位符 2">
            <a:extLst>
              <a:ext uri="{FF2B5EF4-FFF2-40B4-BE49-F238E27FC236}">
                <a16:creationId xmlns:a16="http://schemas.microsoft.com/office/drawing/2014/main" id="{466F1F80-CFBD-EB25-7E1E-B0EF966AD0D5}"/>
              </a:ext>
            </a:extLst>
          </p:cNvPr>
          <p:cNvSpPr>
            <a:spLocks noGrp="1"/>
          </p:cNvSpPr>
          <p:nvPr>
            <p:ph type="sldNum" sz="quarter" idx="12"/>
          </p:nvPr>
        </p:nvSpPr>
        <p:spPr/>
        <p:txBody>
          <a:bodyPr/>
          <a:lstStyle/>
          <a:p>
            <a:fld id="{6C23D995-88A0-46FA-B356-FA459EF841CD}" type="slidenum">
              <a:rPr lang="en-US" altLang="zh-CN" smtClean="0"/>
              <a:pPr/>
              <a:t>79</a:t>
            </a:fld>
            <a:endParaRPr lang="en-US" altLang="zh-CN" dirty="0"/>
          </a:p>
        </p:txBody>
      </p:sp>
      <p:sp>
        <p:nvSpPr>
          <p:cNvPr id="5" name="文本框 4">
            <a:extLst>
              <a:ext uri="{FF2B5EF4-FFF2-40B4-BE49-F238E27FC236}">
                <a16:creationId xmlns:a16="http://schemas.microsoft.com/office/drawing/2014/main" id="{205D08F0-0ACC-0D13-3F18-F4A1207B9058}"/>
              </a:ext>
            </a:extLst>
          </p:cNvPr>
          <p:cNvSpPr txBox="1"/>
          <p:nvPr/>
        </p:nvSpPr>
        <p:spPr>
          <a:xfrm>
            <a:off x="3347864" y="5962677"/>
            <a:ext cx="4572000" cy="369332"/>
          </a:xfrm>
          <a:prstGeom prst="rect">
            <a:avLst/>
          </a:prstGeom>
          <a:noFill/>
        </p:spPr>
        <p:txBody>
          <a:bodyPr wrap="square">
            <a:spAutoFit/>
          </a:bodyPr>
          <a:lstStyle/>
          <a:p>
            <a:r>
              <a:rPr lang="en-US" altLang="zh-CN" sz="1800" dirty="0"/>
              <a:t>Consensus theorem</a:t>
            </a:r>
            <a:r>
              <a:rPr lang="zh-CN" altLang="en-US" sz="1800" dirty="0"/>
              <a:t>一致性定理</a:t>
            </a:r>
            <a:r>
              <a:rPr lang="en-US" altLang="zh-CN" sz="1800" dirty="0"/>
              <a:t>(</a:t>
            </a:r>
            <a:r>
              <a:rPr lang="zh-CN" altLang="en-US" sz="1800" dirty="0"/>
              <a:t>多数定理</a:t>
            </a:r>
            <a:r>
              <a:rPr lang="en-US" altLang="zh-CN" sz="1800" dirty="0"/>
              <a:t>)</a:t>
            </a:r>
            <a:endParaRPr lang="zh-CN" altLang="en-US" dirty="0"/>
          </a:p>
        </p:txBody>
      </p:sp>
    </p:spTree>
    <p:extLst>
      <p:ext uri="{BB962C8B-B14F-4D97-AF65-F5344CB8AC3E}">
        <p14:creationId xmlns:p14="http://schemas.microsoft.com/office/powerpoint/2010/main" val="33899318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dirty="0"/>
              <a:t>化简动机</a:t>
            </a:r>
            <a:endParaRPr lang="en-US" altLang="zh-CN" dirty="0"/>
          </a:p>
        </p:txBody>
      </p:sp>
      <p:graphicFrame>
        <p:nvGraphicFramePr>
          <p:cNvPr id="613408" name="Group 32"/>
          <p:cNvGraphicFramePr>
            <a:graphicFrameLocks noGrp="1"/>
          </p:cNvGraphicFramePr>
          <p:nvPr>
            <p:ph idx="1"/>
            <p:extLst>
              <p:ext uri="{D42A27DB-BD31-4B8C-83A1-F6EECF244321}">
                <p14:modId xmlns:p14="http://schemas.microsoft.com/office/powerpoint/2010/main" val="2905998349"/>
              </p:ext>
            </p:extLst>
          </p:nvPr>
        </p:nvGraphicFramePr>
        <p:xfrm>
          <a:off x="990600" y="2819400"/>
          <a:ext cx="2667000" cy="2590800"/>
        </p:xfrm>
        <a:graphic>
          <a:graphicData uri="http://schemas.openxmlformats.org/drawingml/2006/table">
            <a:tbl>
              <a:tblPr/>
              <a:tblGrid>
                <a:gridCol w="889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tblGrid>
              <a:tr h="4111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1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1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1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E095400D-452C-0D79-AD0B-F40CF6DB93E2}"/>
              </a:ext>
            </a:extLst>
          </p:cNvPr>
          <p:cNvSpPr>
            <a:spLocks noGrp="1"/>
          </p:cNvSpPr>
          <p:nvPr>
            <p:ph type="sldNum" sz="quarter" idx="12"/>
          </p:nvPr>
        </p:nvSpPr>
        <p:spPr/>
        <p:txBody>
          <a:bodyPr/>
          <a:lstStyle/>
          <a:p>
            <a:fld id="{14659731-6BD7-46E7-8D3C-2F3AC07E20B1}" type="slidenum">
              <a:rPr lang="en-US" altLang="zh-CN" smtClean="0"/>
              <a:pPr/>
              <a:t>80</a:t>
            </a:fld>
            <a:endParaRPr lang="en-US" altLang="zh-CN" dirty="0"/>
          </a:p>
        </p:txBody>
      </p:sp>
      <p:sp>
        <p:nvSpPr>
          <p:cNvPr id="87043" name="Rectangle 3"/>
          <p:cNvSpPr>
            <a:spLocks noGrp="1" noChangeArrowheads="1"/>
          </p:cNvSpPr>
          <p:nvPr>
            <p:ph type="body" idx="4294967295"/>
          </p:nvPr>
        </p:nvSpPr>
        <p:spPr>
          <a:xfrm>
            <a:off x="457200" y="1519238"/>
            <a:ext cx="8229600" cy="4718050"/>
          </a:xfrm>
        </p:spPr>
        <p:txBody>
          <a:bodyPr/>
          <a:lstStyle/>
          <a:p>
            <a:pPr eaLnBrk="1" hangingPunct="1"/>
            <a:r>
              <a:rPr lang="zh-CN" altLang="en-US" dirty="0"/>
              <a:t>规范形式使得逻辑函数复杂化，其对应门电路也非常复杂</a:t>
            </a:r>
            <a:endParaRPr lang="en-US" altLang="zh-CN" dirty="0"/>
          </a:p>
        </p:txBody>
      </p:sp>
      <p:graphicFrame>
        <p:nvGraphicFramePr>
          <p:cNvPr id="613409" name="Group 33"/>
          <p:cNvGraphicFramePr>
            <a:graphicFrameLocks noGrp="1"/>
          </p:cNvGraphicFramePr>
          <p:nvPr>
            <p:extLst>
              <p:ext uri="{D42A27DB-BD31-4B8C-83A1-F6EECF244321}">
                <p14:modId xmlns:p14="http://schemas.microsoft.com/office/powerpoint/2010/main" val="598506588"/>
              </p:ext>
            </p:extLst>
          </p:nvPr>
        </p:nvGraphicFramePr>
        <p:xfrm>
          <a:off x="5029200" y="3200400"/>
          <a:ext cx="2667000" cy="2590800"/>
        </p:xfrm>
        <a:graphic>
          <a:graphicData uri="http://schemas.openxmlformats.org/drawingml/2006/table">
            <a:tbl>
              <a:tblPr/>
              <a:tblGrid>
                <a:gridCol w="889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tblGrid>
              <a:tr h="4111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1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1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33FF"/>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1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13435" name="Text Box 59"/>
          <p:cNvSpPr txBox="1">
            <a:spLocks noChangeArrowheads="1"/>
          </p:cNvSpPr>
          <p:nvPr/>
        </p:nvSpPr>
        <p:spPr bwMode="auto">
          <a:xfrm>
            <a:off x="457200" y="5715000"/>
            <a:ext cx="4191000" cy="519113"/>
          </a:xfrm>
          <a:prstGeom prst="rect">
            <a:avLst/>
          </a:prstGeom>
          <a:solidFill>
            <a:schemeClr val="accent2">
              <a:lumMod val="20000"/>
              <a:lumOff val="80000"/>
            </a:schemeClr>
          </a:solidFill>
          <a:ln>
            <a:noFill/>
          </a:ln>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solidFill>
                  <a:srgbClr val="3333FF"/>
                </a:solidFill>
                <a:ea typeface="黑体" panose="02010609060101010101" pitchFamily="49" charset="-122"/>
              </a:rPr>
              <a:t>F=AB</a:t>
            </a:r>
            <a:r>
              <a:rPr lang="en-US" altLang="zh-CN" sz="2800" dirty="0">
                <a:solidFill>
                  <a:srgbClr val="3333FF"/>
                </a:solidFill>
                <a:latin typeface="Arial" charset="0"/>
                <a:ea typeface="黑体" panose="02010609060101010101" pitchFamily="49" charset="-122"/>
              </a:rPr>
              <a:t>’</a:t>
            </a:r>
            <a:r>
              <a:rPr lang="en-US" altLang="zh-CN" sz="2800" dirty="0">
                <a:solidFill>
                  <a:srgbClr val="3333FF"/>
                </a:solidFill>
                <a:ea typeface="黑体" panose="02010609060101010101" pitchFamily="49" charset="-122"/>
              </a:rPr>
              <a:t>+AB=A(B</a:t>
            </a:r>
            <a:r>
              <a:rPr lang="en-US" altLang="zh-CN" sz="2800" dirty="0">
                <a:solidFill>
                  <a:srgbClr val="3333FF"/>
                </a:solidFill>
                <a:latin typeface="Arial" charset="0"/>
                <a:ea typeface="黑体" panose="02010609060101010101" pitchFamily="49" charset="-122"/>
              </a:rPr>
              <a:t>’</a:t>
            </a:r>
            <a:r>
              <a:rPr lang="en-US" altLang="zh-CN" sz="2800" dirty="0">
                <a:solidFill>
                  <a:srgbClr val="3333FF"/>
                </a:solidFill>
                <a:ea typeface="黑体" panose="02010609060101010101" pitchFamily="49" charset="-122"/>
              </a:rPr>
              <a:t>+B)=A</a:t>
            </a:r>
          </a:p>
        </p:txBody>
      </p:sp>
      <p:sp>
        <p:nvSpPr>
          <p:cNvPr id="613436" name="Text Box 60"/>
          <p:cNvSpPr txBox="1">
            <a:spLocks noChangeArrowheads="1"/>
          </p:cNvSpPr>
          <p:nvPr/>
        </p:nvSpPr>
        <p:spPr bwMode="auto">
          <a:xfrm>
            <a:off x="4266869" y="2559843"/>
            <a:ext cx="4419600" cy="519113"/>
          </a:xfrm>
          <a:prstGeom prst="rect">
            <a:avLst/>
          </a:prstGeom>
          <a:solidFill>
            <a:schemeClr val="accent2">
              <a:lumMod val="20000"/>
              <a:lumOff val="80000"/>
            </a:schemeClr>
          </a:solidFill>
          <a:ln>
            <a:noFill/>
          </a:ln>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solidFill>
                  <a:srgbClr val="3333FF"/>
                </a:solidFill>
                <a:ea typeface="黑体" panose="02010609060101010101" pitchFamily="49" charset="-122"/>
              </a:rPr>
              <a:t>F=A</a:t>
            </a:r>
            <a:r>
              <a:rPr lang="en-US" altLang="zh-CN" sz="2800" dirty="0">
                <a:solidFill>
                  <a:srgbClr val="3333FF"/>
                </a:solidFill>
                <a:latin typeface="Arial" charset="0"/>
                <a:ea typeface="黑体" panose="02010609060101010101" pitchFamily="49" charset="-122"/>
              </a:rPr>
              <a:t>’</a:t>
            </a:r>
            <a:r>
              <a:rPr lang="en-US" altLang="zh-CN" sz="2800" dirty="0">
                <a:solidFill>
                  <a:srgbClr val="3333FF"/>
                </a:solidFill>
                <a:ea typeface="黑体" panose="02010609060101010101" pitchFamily="49" charset="-122"/>
              </a:rPr>
              <a:t>B</a:t>
            </a:r>
            <a:r>
              <a:rPr lang="en-US" altLang="zh-CN" sz="2800" dirty="0">
                <a:solidFill>
                  <a:srgbClr val="3333FF"/>
                </a:solidFill>
                <a:latin typeface="Arial" charset="0"/>
                <a:ea typeface="黑体" panose="02010609060101010101" pitchFamily="49" charset="-122"/>
              </a:rPr>
              <a:t>’</a:t>
            </a:r>
            <a:r>
              <a:rPr lang="en-US" altLang="zh-CN" sz="2800" dirty="0">
                <a:solidFill>
                  <a:srgbClr val="3333FF"/>
                </a:solidFill>
                <a:ea typeface="黑体" panose="02010609060101010101" pitchFamily="49" charset="-122"/>
              </a:rPr>
              <a:t>+AB</a:t>
            </a:r>
            <a:r>
              <a:rPr lang="en-US" altLang="zh-CN" sz="2800" dirty="0">
                <a:solidFill>
                  <a:srgbClr val="3333FF"/>
                </a:solidFill>
                <a:latin typeface="Arial" charset="0"/>
                <a:ea typeface="黑体" panose="02010609060101010101" pitchFamily="49" charset="-122"/>
              </a:rPr>
              <a:t>’</a:t>
            </a:r>
            <a:r>
              <a:rPr lang="en-US" altLang="zh-CN" sz="2800" dirty="0">
                <a:solidFill>
                  <a:srgbClr val="3333FF"/>
                </a:solidFill>
                <a:ea typeface="黑体" panose="02010609060101010101" pitchFamily="49" charset="-122"/>
              </a:rPr>
              <a:t>=(A</a:t>
            </a:r>
            <a:r>
              <a:rPr lang="en-US" altLang="zh-CN" sz="2800" dirty="0">
                <a:solidFill>
                  <a:srgbClr val="3333FF"/>
                </a:solidFill>
                <a:latin typeface="Arial" charset="0"/>
                <a:ea typeface="黑体" panose="02010609060101010101" pitchFamily="49" charset="-122"/>
              </a:rPr>
              <a:t>’</a:t>
            </a:r>
            <a:r>
              <a:rPr lang="en-US" altLang="zh-CN" sz="2800" dirty="0">
                <a:solidFill>
                  <a:srgbClr val="3333FF"/>
                </a:solidFill>
                <a:ea typeface="黑体" panose="02010609060101010101" pitchFamily="49" charset="-122"/>
              </a:rPr>
              <a:t>+A)B</a:t>
            </a:r>
            <a:r>
              <a:rPr lang="en-US" altLang="zh-CN" sz="2800" dirty="0">
                <a:solidFill>
                  <a:srgbClr val="3333FF"/>
                </a:solidFill>
                <a:latin typeface="Arial" charset="0"/>
                <a:ea typeface="黑体" panose="02010609060101010101" pitchFamily="49" charset="-122"/>
              </a:rPr>
              <a:t>’</a:t>
            </a:r>
            <a:r>
              <a:rPr lang="en-US" altLang="zh-CN" sz="2800" dirty="0">
                <a:solidFill>
                  <a:srgbClr val="3333FF"/>
                </a:solidFill>
                <a:ea typeface="黑体" panose="02010609060101010101" pitchFamily="49" charset="-122"/>
              </a:rPr>
              <a:t>=B</a:t>
            </a:r>
            <a:r>
              <a:rPr lang="en-US" altLang="zh-CN" sz="2800" dirty="0">
                <a:solidFill>
                  <a:srgbClr val="3333FF"/>
                </a:solidFill>
                <a:latin typeface="Arial" charset="0"/>
                <a:ea typeface="黑体" panose="02010609060101010101" pitchFamily="49" charset="-122"/>
              </a:rPr>
              <a:t>’</a:t>
            </a:r>
            <a:endParaRPr lang="en-US" altLang="zh-CN" sz="2800" dirty="0">
              <a:solidFill>
                <a:srgbClr val="3333FF"/>
              </a:solidFill>
              <a:ea typeface="黑体" panose="02010609060101010101" pitchFamily="49" charset="-122"/>
            </a:endParaRPr>
          </a:p>
        </p:txBody>
      </p:sp>
    </p:spTree>
    <p:extLst>
      <p:ext uri="{BB962C8B-B14F-4D97-AF65-F5344CB8AC3E}">
        <p14:creationId xmlns:p14="http://schemas.microsoft.com/office/powerpoint/2010/main" val="1321524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CN" altLang="en-US" b="1" dirty="0"/>
              <a:t>两级逻辑化简</a:t>
            </a:r>
            <a:endParaRPr lang="en-US" altLang="zh-CN" b="1" dirty="0"/>
          </a:p>
        </p:txBody>
      </p:sp>
      <p:sp>
        <p:nvSpPr>
          <p:cNvPr id="86019" name="Rectangle 3"/>
          <p:cNvSpPr>
            <a:spLocks noGrp="1" noChangeArrowheads="1"/>
          </p:cNvSpPr>
          <p:nvPr>
            <p:ph idx="1"/>
          </p:nvPr>
        </p:nvSpPr>
        <p:spPr/>
        <p:txBody>
          <a:bodyPr/>
          <a:lstStyle/>
          <a:p>
            <a:pPr marL="0" indent="0" eaLnBrk="1" hangingPunct="1">
              <a:buNone/>
            </a:pPr>
            <a:r>
              <a:rPr lang="zh-CN" altLang="en-US" sz="3200" b="1" dirty="0"/>
              <a:t>有其他方法加速化简过程吗？</a:t>
            </a:r>
            <a:endParaRPr lang="en-US" altLang="zh-CN" sz="3200" b="1" dirty="0"/>
          </a:p>
          <a:p>
            <a:pPr eaLnBrk="1" hangingPunct="1"/>
            <a:r>
              <a:rPr lang="en-US" altLang="zh-CN" sz="3200" dirty="0"/>
              <a:t> </a:t>
            </a:r>
            <a:r>
              <a:rPr lang="zh-CN" altLang="en-US" sz="3200" dirty="0"/>
              <a:t>卡诺图</a:t>
            </a:r>
            <a:endParaRPr lang="en-US" altLang="zh-CN" sz="3200" dirty="0"/>
          </a:p>
          <a:p>
            <a:pPr eaLnBrk="1" hangingPunct="1"/>
            <a:r>
              <a:rPr lang="en-US" altLang="zh-CN" sz="3200" dirty="0"/>
              <a:t> </a:t>
            </a:r>
            <a:r>
              <a:rPr lang="zh-CN" altLang="en-US" sz="3200" dirty="0"/>
              <a:t>（可选）</a:t>
            </a:r>
            <a:r>
              <a:rPr lang="en-US" altLang="zh-CN" sz="3200" dirty="0"/>
              <a:t>CAD</a:t>
            </a:r>
            <a:r>
              <a:rPr lang="zh-CN" altLang="en-US" sz="3200" dirty="0"/>
              <a:t>工具</a:t>
            </a:r>
            <a:endParaRPr lang="en-US" altLang="zh-CN" sz="3200" dirty="0"/>
          </a:p>
          <a:p>
            <a:pPr lvl="1" hangingPunct="1"/>
            <a:r>
              <a:rPr lang="en-US" altLang="zh-CN" sz="3200" dirty="0"/>
              <a:t>Q-M</a:t>
            </a:r>
            <a:r>
              <a:rPr lang="zh-CN" altLang="en-US" sz="3200" dirty="0"/>
              <a:t>算法</a:t>
            </a:r>
            <a:endParaRPr lang="en-US" altLang="zh-CN" sz="3200" dirty="0"/>
          </a:p>
        </p:txBody>
      </p:sp>
      <p:sp>
        <p:nvSpPr>
          <p:cNvPr id="2" name="灯片编号占位符 1">
            <a:extLst>
              <a:ext uri="{FF2B5EF4-FFF2-40B4-BE49-F238E27FC236}">
                <a16:creationId xmlns:a16="http://schemas.microsoft.com/office/drawing/2014/main" id="{23131C77-49AC-B1DD-C0E1-8550D8326B9E}"/>
              </a:ext>
            </a:extLst>
          </p:cNvPr>
          <p:cNvSpPr>
            <a:spLocks noGrp="1"/>
          </p:cNvSpPr>
          <p:nvPr>
            <p:ph type="sldNum" sz="quarter" idx="12"/>
          </p:nvPr>
        </p:nvSpPr>
        <p:spPr/>
        <p:txBody>
          <a:bodyPr/>
          <a:lstStyle/>
          <a:p>
            <a:fld id="{14659731-6BD7-46E7-8D3C-2F3AC07E20B1}" type="slidenum">
              <a:rPr lang="en-US" altLang="zh-CN" smtClean="0"/>
              <a:pPr/>
              <a:t>81</a:t>
            </a:fld>
            <a:endParaRPr lang="en-US" altLang="zh-CN" dirty="0"/>
          </a:p>
        </p:txBody>
      </p:sp>
    </p:spTree>
    <p:extLst>
      <p:ext uri="{BB962C8B-B14F-4D97-AF65-F5344CB8AC3E}">
        <p14:creationId xmlns:p14="http://schemas.microsoft.com/office/powerpoint/2010/main" val="2940836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dirty="0"/>
              <a:t>卡诺图化简法</a:t>
            </a:r>
          </a:p>
        </p:txBody>
      </p:sp>
      <p:sp>
        <p:nvSpPr>
          <p:cNvPr id="88067" name="内容占位符 2"/>
          <p:cNvSpPr>
            <a:spLocks noGrp="1"/>
          </p:cNvSpPr>
          <p:nvPr>
            <p:ph idx="1"/>
          </p:nvPr>
        </p:nvSpPr>
        <p:spPr>
          <a:xfrm>
            <a:off x="457200" y="1787524"/>
            <a:ext cx="8229600" cy="4716463"/>
          </a:xfrm>
        </p:spPr>
        <p:txBody>
          <a:bodyPr/>
          <a:lstStyle/>
          <a:p>
            <a:r>
              <a:rPr lang="zh-CN" altLang="en-US" sz="2400" b="1" dirty="0">
                <a:solidFill>
                  <a:srgbClr val="3333FF"/>
                </a:solidFill>
              </a:rPr>
              <a:t>相邻</a:t>
            </a:r>
            <a:r>
              <a:rPr lang="zh-CN" altLang="en-US" sz="2400" dirty="0"/>
              <a:t>两个最小项仅有</a:t>
            </a:r>
            <a:r>
              <a:rPr lang="en-US" altLang="zh-CN" sz="2400" dirty="0"/>
              <a:t>1</a:t>
            </a:r>
            <a:r>
              <a:rPr lang="zh-CN" altLang="en-US" sz="2400" dirty="0"/>
              <a:t>个输入逻辑变量的取值不同，互补</a:t>
            </a:r>
            <a:endParaRPr lang="en-US" altLang="zh-CN" sz="2400" dirty="0"/>
          </a:p>
          <a:p>
            <a:endParaRPr lang="zh-CN" altLang="en-US" sz="2400" dirty="0">
              <a:solidFill>
                <a:srgbClr val="3333FF"/>
              </a:solidFill>
            </a:endParaRPr>
          </a:p>
        </p:txBody>
      </p:sp>
      <p:sp>
        <p:nvSpPr>
          <p:cNvPr id="2" name="灯片编号占位符 1">
            <a:extLst>
              <a:ext uri="{FF2B5EF4-FFF2-40B4-BE49-F238E27FC236}">
                <a16:creationId xmlns:a16="http://schemas.microsoft.com/office/drawing/2014/main" id="{A49563F7-F0C7-A313-F58E-60175479809A}"/>
              </a:ext>
            </a:extLst>
          </p:cNvPr>
          <p:cNvSpPr>
            <a:spLocks noGrp="1"/>
          </p:cNvSpPr>
          <p:nvPr>
            <p:ph type="sldNum" sz="quarter" idx="12"/>
          </p:nvPr>
        </p:nvSpPr>
        <p:spPr/>
        <p:txBody>
          <a:bodyPr/>
          <a:lstStyle/>
          <a:p>
            <a:fld id="{14659731-6BD7-46E7-8D3C-2F3AC07E20B1}" type="slidenum">
              <a:rPr lang="en-US" altLang="zh-CN" smtClean="0"/>
              <a:pPr/>
              <a:t>82</a:t>
            </a:fld>
            <a:endParaRPr lang="en-US" altLang="zh-CN" dirty="0"/>
          </a:p>
        </p:txBody>
      </p:sp>
      <p:sp>
        <p:nvSpPr>
          <p:cNvPr id="4" name="文本框 3">
            <a:extLst>
              <a:ext uri="{FF2B5EF4-FFF2-40B4-BE49-F238E27FC236}">
                <a16:creationId xmlns:a16="http://schemas.microsoft.com/office/drawing/2014/main" id="{39A428FA-F1A1-1540-899A-C90C656919CB}"/>
              </a:ext>
            </a:extLst>
          </p:cNvPr>
          <p:cNvSpPr txBox="1"/>
          <p:nvPr/>
        </p:nvSpPr>
        <p:spPr>
          <a:xfrm>
            <a:off x="5020627" y="4203085"/>
            <a:ext cx="3316934" cy="954107"/>
          </a:xfrm>
          <a:prstGeom prst="rect">
            <a:avLst/>
          </a:prstGeom>
          <a:noFill/>
        </p:spPr>
        <p:txBody>
          <a:bodyPr wrap="none" rtlCol="0">
            <a:spAutoFit/>
          </a:bodyPr>
          <a:lstStyle/>
          <a:p>
            <a:r>
              <a:rPr kumimoji="1" lang="zh-CN" altLang="en-US" sz="2800" dirty="0">
                <a:solidFill>
                  <a:srgbClr val="3333FF"/>
                </a:solidFill>
                <a:latin typeface="+mn-lt"/>
                <a:ea typeface="SimHei" panose="02010609060101010101" pitchFamily="49" charset="-122"/>
              </a:rPr>
              <a:t>只有</a:t>
            </a:r>
            <a:r>
              <a:rPr kumimoji="1" lang="en-US" altLang="zh-CN" sz="2800" dirty="0">
                <a:solidFill>
                  <a:srgbClr val="3333FF"/>
                </a:solidFill>
                <a:latin typeface="+mn-lt"/>
                <a:ea typeface="SimHei" panose="02010609060101010101" pitchFamily="49" charset="-122"/>
              </a:rPr>
              <a:t>C</a:t>
            </a:r>
            <a:r>
              <a:rPr kumimoji="1" lang="zh-CN" altLang="en-US" sz="2800" dirty="0">
                <a:solidFill>
                  <a:srgbClr val="3333FF"/>
                </a:solidFill>
                <a:latin typeface="+mn-lt"/>
                <a:ea typeface="SimHei" panose="02010609060101010101" pitchFamily="49" charset="-122"/>
              </a:rPr>
              <a:t>这一输入逻辑</a:t>
            </a:r>
            <a:endParaRPr kumimoji="1" lang="en-US" altLang="zh-CN" sz="2800" dirty="0">
              <a:solidFill>
                <a:srgbClr val="3333FF"/>
              </a:solidFill>
              <a:latin typeface="+mn-lt"/>
              <a:ea typeface="SimHei" panose="02010609060101010101" pitchFamily="49" charset="-122"/>
            </a:endParaRPr>
          </a:p>
          <a:p>
            <a:r>
              <a:rPr kumimoji="1" lang="zh-CN" altLang="en-US" sz="2800" dirty="0">
                <a:solidFill>
                  <a:srgbClr val="3333FF"/>
                </a:solidFill>
                <a:latin typeface="+mn-lt"/>
                <a:ea typeface="SimHei" panose="02010609060101010101" pitchFamily="49" charset="-122"/>
              </a:rPr>
              <a:t>变量取值不同</a:t>
            </a:r>
          </a:p>
        </p:txBody>
      </p:sp>
      <p:sp>
        <p:nvSpPr>
          <p:cNvPr id="10" name="文本框 3">
            <a:extLst>
              <a:ext uri="{FF2B5EF4-FFF2-40B4-BE49-F238E27FC236}">
                <a16:creationId xmlns:a16="http://schemas.microsoft.com/office/drawing/2014/main" id="{9F11C64D-85DF-4A4E-9CD5-421E2D7108F7}"/>
              </a:ext>
            </a:extLst>
          </p:cNvPr>
          <p:cNvSpPr txBox="1"/>
          <p:nvPr/>
        </p:nvSpPr>
        <p:spPr>
          <a:xfrm>
            <a:off x="1299854" y="5199527"/>
            <a:ext cx="5450531" cy="523220"/>
          </a:xfrm>
          <a:prstGeom prst="rect">
            <a:avLst/>
          </a:prstGeom>
          <a:noFill/>
        </p:spPr>
        <p:txBody>
          <a:bodyPr wrap="none" rtlCol="0">
            <a:spAutoFit/>
          </a:bodyPr>
          <a:lstStyle/>
          <a:p>
            <a:r>
              <a:rPr kumimoji="1" lang="zh-CN" altLang="en-US" sz="2800" dirty="0">
                <a:solidFill>
                  <a:srgbClr val="00B050"/>
                </a:solidFill>
                <a:latin typeface="+mn-lt"/>
                <a:ea typeface="SimHei" panose="02010609060101010101" pitchFamily="49" charset="-122"/>
              </a:rPr>
              <a:t>只有</a:t>
            </a:r>
            <a:r>
              <a:rPr kumimoji="1" lang="en-US" altLang="zh-CN" sz="2800" dirty="0">
                <a:solidFill>
                  <a:srgbClr val="00B050"/>
                </a:solidFill>
                <a:latin typeface="+mn-lt"/>
                <a:ea typeface="SimHei" panose="02010609060101010101" pitchFamily="49" charset="-122"/>
              </a:rPr>
              <a:t>A</a:t>
            </a:r>
            <a:r>
              <a:rPr kumimoji="1" lang="zh-CN" altLang="en-US" sz="2800" dirty="0">
                <a:solidFill>
                  <a:srgbClr val="00B050"/>
                </a:solidFill>
                <a:latin typeface="+mn-lt"/>
                <a:ea typeface="SimHei" panose="02010609060101010101" pitchFamily="49" charset="-122"/>
              </a:rPr>
              <a:t>这一输入逻辑变量取值不同</a:t>
            </a:r>
          </a:p>
        </p:txBody>
      </p:sp>
      <p:graphicFrame>
        <p:nvGraphicFramePr>
          <p:cNvPr id="12" name="Group 4">
            <a:extLst>
              <a:ext uri="{FF2B5EF4-FFF2-40B4-BE49-F238E27FC236}">
                <a16:creationId xmlns:a16="http://schemas.microsoft.com/office/drawing/2014/main" id="{E0D8F66F-E714-4134-9587-07CC35CFEFDB}"/>
              </a:ext>
            </a:extLst>
          </p:cNvPr>
          <p:cNvGraphicFramePr>
            <a:graphicFrameLocks noGrp="1"/>
          </p:cNvGraphicFramePr>
          <p:nvPr>
            <p:extLst>
              <p:ext uri="{D42A27DB-BD31-4B8C-83A1-F6EECF244321}">
                <p14:modId xmlns:p14="http://schemas.microsoft.com/office/powerpoint/2010/main" val="2794426144"/>
              </p:ext>
            </p:extLst>
          </p:nvPr>
        </p:nvGraphicFramePr>
        <p:xfrm>
          <a:off x="971600" y="3065393"/>
          <a:ext cx="3962400" cy="2133601"/>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1063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5" name="Group 1">
            <a:extLst>
              <a:ext uri="{FF2B5EF4-FFF2-40B4-BE49-F238E27FC236}">
                <a16:creationId xmlns:a16="http://schemas.microsoft.com/office/drawing/2014/main" id="{6A3B832A-D8A9-4F05-AE0D-805C159AF0D7}"/>
              </a:ext>
            </a:extLst>
          </p:cNvPr>
          <p:cNvGrpSpPr/>
          <p:nvPr/>
        </p:nvGrpSpPr>
        <p:grpSpPr>
          <a:xfrm>
            <a:off x="1944924" y="4149080"/>
            <a:ext cx="2796128" cy="992877"/>
            <a:chOff x="1944924" y="4149080"/>
            <a:chExt cx="2796128" cy="992877"/>
          </a:xfrm>
        </p:grpSpPr>
        <p:sp>
          <p:nvSpPr>
            <p:cNvPr id="16" name="椭圆 6">
              <a:extLst>
                <a:ext uri="{FF2B5EF4-FFF2-40B4-BE49-F238E27FC236}">
                  <a16:creationId xmlns:a16="http://schemas.microsoft.com/office/drawing/2014/main" id="{F8E0A572-0F1D-43E6-9F0B-CAF7E842DB0A}"/>
                </a:ext>
              </a:extLst>
            </p:cNvPr>
            <p:cNvSpPr/>
            <p:nvPr/>
          </p:nvSpPr>
          <p:spPr bwMode="auto">
            <a:xfrm>
              <a:off x="3491880" y="4149080"/>
              <a:ext cx="503584" cy="973089"/>
            </a:xfrm>
            <a:prstGeom prst="ellipse">
              <a:avLst/>
            </a:prstGeom>
            <a:noFill/>
            <a:ln w="603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p:txBody>
        </p:sp>
        <p:sp>
          <p:nvSpPr>
            <p:cNvPr id="17" name="椭圆 6">
              <a:extLst>
                <a:ext uri="{FF2B5EF4-FFF2-40B4-BE49-F238E27FC236}">
                  <a16:creationId xmlns:a16="http://schemas.microsoft.com/office/drawing/2014/main" id="{71715AB8-DBED-454A-8F4B-06A14256616E}"/>
                </a:ext>
              </a:extLst>
            </p:cNvPr>
            <p:cNvSpPr/>
            <p:nvPr/>
          </p:nvSpPr>
          <p:spPr bwMode="auto">
            <a:xfrm>
              <a:off x="4237467" y="4168868"/>
              <a:ext cx="503585" cy="973089"/>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p:txBody>
        </p:sp>
        <p:sp>
          <p:nvSpPr>
            <p:cNvPr id="18" name="椭圆 6">
              <a:extLst>
                <a:ext uri="{FF2B5EF4-FFF2-40B4-BE49-F238E27FC236}">
                  <a16:creationId xmlns:a16="http://schemas.microsoft.com/office/drawing/2014/main" id="{AB1D7DC2-0F46-4DB4-852A-BB4146478485}"/>
                </a:ext>
              </a:extLst>
            </p:cNvPr>
            <p:cNvSpPr/>
            <p:nvPr/>
          </p:nvSpPr>
          <p:spPr bwMode="auto">
            <a:xfrm>
              <a:off x="2733836" y="4168868"/>
              <a:ext cx="503585" cy="973089"/>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p:txBody>
        </p:sp>
        <p:sp>
          <p:nvSpPr>
            <p:cNvPr id="19" name="椭圆 6">
              <a:extLst>
                <a:ext uri="{FF2B5EF4-FFF2-40B4-BE49-F238E27FC236}">
                  <a16:creationId xmlns:a16="http://schemas.microsoft.com/office/drawing/2014/main" id="{0E750772-0A53-4810-BFCE-60D9B9035B77}"/>
                </a:ext>
              </a:extLst>
            </p:cNvPr>
            <p:cNvSpPr/>
            <p:nvPr/>
          </p:nvSpPr>
          <p:spPr bwMode="auto">
            <a:xfrm>
              <a:off x="1944924" y="4168868"/>
              <a:ext cx="503585" cy="973089"/>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p:txBody>
        </p:sp>
      </p:grpSp>
      <p:sp>
        <p:nvSpPr>
          <p:cNvPr id="20" name="椭圆 6">
            <a:extLst>
              <a:ext uri="{FF2B5EF4-FFF2-40B4-BE49-F238E27FC236}">
                <a16:creationId xmlns:a16="http://schemas.microsoft.com/office/drawing/2014/main" id="{1D4DF4D5-F823-4D80-86A1-BB752EA75433}"/>
              </a:ext>
            </a:extLst>
          </p:cNvPr>
          <p:cNvSpPr/>
          <p:nvPr/>
        </p:nvSpPr>
        <p:spPr bwMode="auto">
          <a:xfrm>
            <a:off x="3421832" y="4073505"/>
            <a:ext cx="1331676" cy="630898"/>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p:txBody>
      </p:sp>
      <p:grpSp>
        <p:nvGrpSpPr>
          <p:cNvPr id="3" name="组合 2">
            <a:extLst>
              <a:ext uri="{FF2B5EF4-FFF2-40B4-BE49-F238E27FC236}">
                <a16:creationId xmlns:a16="http://schemas.microsoft.com/office/drawing/2014/main" id="{AEE88168-31EE-A477-4232-BDC02692D5F1}"/>
              </a:ext>
            </a:extLst>
          </p:cNvPr>
          <p:cNvGrpSpPr/>
          <p:nvPr/>
        </p:nvGrpSpPr>
        <p:grpSpPr>
          <a:xfrm>
            <a:off x="1733790" y="3717032"/>
            <a:ext cx="7027615" cy="993185"/>
            <a:chOff x="1733790" y="3657379"/>
            <a:chExt cx="7027615" cy="993185"/>
          </a:xfrm>
        </p:grpSpPr>
        <p:sp>
          <p:nvSpPr>
            <p:cNvPr id="5" name="文本框 4">
              <a:extLst>
                <a:ext uri="{FF2B5EF4-FFF2-40B4-BE49-F238E27FC236}">
                  <a16:creationId xmlns:a16="http://schemas.microsoft.com/office/drawing/2014/main" id="{D9AD1C1D-E506-0B04-72B4-7DE4067741F5}"/>
                </a:ext>
              </a:extLst>
            </p:cNvPr>
            <p:cNvSpPr txBox="1"/>
            <p:nvPr/>
          </p:nvSpPr>
          <p:spPr>
            <a:xfrm>
              <a:off x="4867454" y="3657379"/>
              <a:ext cx="3893951" cy="523220"/>
            </a:xfrm>
            <a:prstGeom prst="rect">
              <a:avLst/>
            </a:prstGeom>
            <a:noFill/>
          </p:spPr>
          <p:txBody>
            <a:bodyPr wrap="none" rtlCol="0">
              <a:spAutoFit/>
            </a:bodyPr>
            <a:lstStyle/>
            <a:p>
              <a:r>
                <a:rPr kumimoji="1" lang="en-US" altLang="zh-CN" sz="2800" dirty="0">
                  <a:solidFill>
                    <a:srgbClr val="7030A0"/>
                  </a:solidFill>
                  <a:latin typeface="Arial" panose="020B0604020202020204" pitchFamily="34" charset="0"/>
                  <a:ea typeface="SimHei" panose="02010609060101010101" pitchFamily="49" charset="-122"/>
                  <a:cs typeface="Arial" panose="020B0604020202020204" pitchFamily="34" charset="0"/>
                </a:rPr>
                <a:t>Only B input is different</a:t>
              </a:r>
              <a:endParaRPr kumimoji="1" lang="zh-CN" altLang="en-US" sz="2800" dirty="0">
                <a:solidFill>
                  <a:srgbClr val="7030A0"/>
                </a:solidFill>
                <a:latin typeface="Arial" panose="020B0604020202020204" pitchFamily="34" charset="0"/>
                <a:ea typeface="SimHei" panose="02010609060101010101" pitchFamily="49" charset="-122"/>
                <a:cs typeface="Arial" panose="020B0604020202020204" pitchFamily="34" charset="0"/>
              </a:endParaRPr>
            </a:p>
          </p:txBody>
        </p:sp>
        <p:sp>
          <p:nvSpPr>
            <p:cNvPr id="6" name="弧 5">
              <a:extLst>
                <a:ext uri="{FF2B5EF4-FFF2-40B4-BE49-F238E27FC236}">
                  <a16:creationId xmlns:a16="http://schemas.microsoft.com/office/drawing/2014/main" id="{CC7EC069-A0A8-D179-B625-23C5078EC10A}"/>
                </a:ext>
              </a:extLst>
            </p:cNvPr>
            <p:cNvSpPr/>
            <p:nvPr/>
          </p:nvSpPr>
          <p:spPr bwMode="auto">
            <a:xfrm>
              <a:off x="1733790" y="4127344"/>
              <a:ext cx="637248" cy="523220"/>
            </a:xfrm>
            <a:prstGeom prst="arc">
              <a:avLst>
                <a:gd name="adj1" fmla="val 16200000"/>
                <a:gd name="adj2" fmla="val 5386991"/>
              </a:avLst>
            </a:prstGeom>
            <a:noFill/>
            <a:ln w="762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7" name="弧 6">
              <a:extLst>
                <a:ext uri="{FF2B5EF4-FFF2-40B4-BE49-F238E27FC236}">
                  <a16:creationId xmlns:a16="http://schemas.microsoft.com/office/drawing/2014/main" id="{C404A2FB-47DC-8004-F621-77128652B8F1}"/>
                </a:ext>
              </a:extLst>
            </p:cNvPr>
            <p:cNvSpPr/>
            <p:nvPr/>
          </p:nvSpPr>
          <p:spPr bwMode="auto">
            <a:xfrm flipH="1">
              <a:off x="4243700" y="4079293"/>
              <a:ext cx="637248" cy="523220"/>
            </a:xfrm>
            <a:prstGeom prst="arc">
              <a:avLst>
                <a:gd name="adj1" fmla="val 16200000"/>
                <a:gd name="adj2" fmla="val 5386991"/>
              </a:avLst>
            </a:prstGeom>
            <a:noFill/>
            <a:ln w="762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40000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p:txBody>
          <a:bodyPr/>
          <a:lstStyle/>
          <a:p>
            <a:r>
              <a:rPr lang="zh-CN" altLang="en-US" dirty="0"/>
              <a:t>卡诺图化简法</a:t>
            </a:r>
            <a:endParaRPr lang="zh-CN" altLang="en-US" dirty="0">
              <a:latin typeface="Arial" panose="020B0604020202020204" pitchFamily="34" charset="0"/>
              <a:cs typeface="Arial" panose="020B0604020202020204" pitchFamily="34" charset="0"/>
            </a:endParaRPr>
          </a:p>
        </p:txBody>
      </p:sp>
      <p:sp>
        <p:nvSpPr>
          <p:cNvPr id="88067" name="内容占位符 2"/>
          <p:cNvSpPr>
            <a:spLocks noGrp="1"/>
          </p:cNvSpPr>
          <p:nvPr>
            <p:ph idx="1"/>
          </p:nvPr>
        </p:nvSpPr>
        <p:spPr>
          <a:xfrm>
            <a:off x="457200" y="1470136"/>
            <a:ext cx="8229600" cy="5199224"/>
          </a:xfrm>
        </p:spPr>
        <p:txBody>
          <a:bodyPr/>
          <a:lstStyle/>
          <a:p>
            <a:r>
              <a:rPr lang="zh-CN" altLang="en-US" sz="2400" b="1" dirty="0">
                <a:solidFill>
                  <a:srgbClr val="3333FF"/>
                </a:solidFill>
              </a:rPr>
              <a:t>相邻</a:t>
            </a:r>
            <a:r>
              <a:rPr lang="zh-CN" altLang="en-US" sz="2400" dirty="0"/>
              <a:t>两个最小项仅有</a:t>
            </a:r>
            <a:r>
              <a:rPr lang="en-US" altLang="zh-CN" sz="2400" dirty="0"/>
              <a:t>1</a:t>
            </a:r>
            <a:r>
              <a:rPr lang="zh-CN" altLang="en-US" sz="2400" dirty="0"/>
              <a:t>个输入逻辑变量的取值不同，互补</a:t>
            </a:r>
            <a:endParaRPr lang="en-US" altLang="zh-CN" sz="2400" dirty="0"/>
          </a:p>
          <a:p>
            <a:r>
              <a:rPr lang="zh-CN" altLang="en-US" sz="2400" dirty="0"/>
              <a:t>如果这两个相邻最小项都使输出为</a:t>
            </a:r>
            <a:r>
              <a:rPr lang="en-US" altLang="zh-CN" sz="2400" dirty="0"/>
              <a:t>1</a:t>
            </a:r>
            <a:r>
              <a:rPr lang="zh-CN" altLang="en-US" sz="2400" dirty="0"/>
              <a:t>，则这两个最小项可合并，消除一个输入逻辑变量</a:t>
            </a:r>
            <a:endParaRPr lang="en-US" altLang="zh-CN" sz="2400" dirty="0"/>
          </a:p>
          <a:p>
            <a:endParaRPr lang="en-US" altLang="zh-CN" sz="2400" dirty="0"/>
          </a:p>
        </p:txBody>
      </p:sp>
      <p:sp>
        <p:nvSpPr>
          <p:cNvPr id="3" name="灯片编号占位符 2">
            <a:extLst>
              <a:ext uri="{FF2B5EF4-FFF2-40B4-BE49-F238E27FC236}">
                <a16:creationId xmlns:a16="http://schemas.microsoft.com/office/drawing/2014/main" id="{97693769-E05A-CD61-6E8E-DADFF5F37D20}"/>
              </a:ext>
            </a:extLst>
          </p:cNvPr>
          <p:cNvSpPr>
            <a:spLocks noGrp="1"/>
          </p:cNvSpPr>
          <p:nvPr>
            <p:ph type="sldNum" sz="quarter" idx="12"/>
          </p:nvPr>
        </p:nvSpPr>
        <p:spPr/>
        <p:txBody>
          <a:bodyPr/>
          <a:lstStyle/>
          <a:p>
            <a:fld id="{14659731-6BD7-46E7-8D3C-2F3AC07E20B1}" type="slidenum">
              <a:rPr lang="en-US" altLang="zh-CN" smtClean="0"/>
              <a:pPr/>
              <a:t>83</a:t>
            </a:fld>
            <a:endParaRPr lang="en-US" altLang="zh-CN" dirty="0"/>
          </a:p>
        </p:txBody>
      </p:sp>
      <p:graphicFrame>
        <p:nvGraphicFramePr>
          <p:cNvPr id="6" name="Group 4">
            <a:extLst>
              <a:ext uri="{FF2B5EF4-FFF2-40B4-BE49-F238E27FC236}">
                <a16:creationId xmlns:a16="http://schemas.microsoft.com/office/drawing/2014/main" id="{5358ED4C-04E2-0143-B7C6-0F1219F8A8DB}"/>
              </a:ext>
            </a:extLst>
          </p:cNvPr>
          <p:cNvGraphicFramePr>
            <a:graphicFrameLocks noGrp="1"/>
          </p:cNvGraphicFramePr>
          <p:nvPr>
            <p:extLst>
              <p:ext uri="{D42A27DB-BD31-4B8C-83A1-F6EECF244321}">
                <p14:modId xmlns:p14="http://schemas.microsoft.com/office/powerpoint/2010/main" val="1249334862"/>
              </p:ext>
            </p:extLst>
          </p:nvPr>
        </p:nvGraphicFramePr>
        <p:xfrm>
          <a:off x="1416330" y="2888940"/>
          <a:ext cx="3962400" cy="2133601"/>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1063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2" name="Group 1">
            <a:extLst>
              <a:ext uri="{FF2B5EF4-FFF2-40B4-BE49-F238E27FC236}">
                <a16:creationId xmlns:a16="http://schemas.microsoft.com/office/drawing/2014/main" id="{8C5A17E8-8E5B-4E47-AD82-74F20D05A630}"/>
              </a:ext>
            </a:extLst>
          </p:cNvPr>
          <p:cNvGrpSpPr/>
          <p:nvPr/>
        </p:nvGrpSpPr>
        <p:grpSpPr>
          <a:xfrm>
            <a:off x="1279003" y="4499321"/>
            <a:ext cx="4871847" cy="1819364"/>
            <a:chOff x="1295636" y="4211289"/>
            <a:chExt cx="4871847" cy="1819364"/>
          </a:xfrm>
        </p:grpSpPr>
        <p:sp>
          <p:nvSpPr>
            <p:cNvPr id="7" name="椭圆 6">
              <a:extLst>
                <a:ext uri="{FF2B5EF4-FFF2-40B4-BE49-F238E27FC236}">
                  <a16:creationId xmlns:a16="http://schemas.microsoft.com/office/drawing/2014/main" id="{433B9540-31AE-3A4E-9FB5-CEC5F0F0B3EB}"/>
                </a:ext>
              </a:extLst>
            </p:cNvPr>
            <p:cNvSpPr/>
            <p:nvPr/>
          </p:nvSpPr>
          <p:spPr bwMode="auto">
            <a:xfrm>
              <a:off x="3883195" y="4211289"/>
              <a:ext cx="1512168" cy="523220"/>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p:txBody>
        </p:sp>
        <p:sp>
          <p:nvSpPr>
            <p:cNvPr id="8" name="文本框 7">
              <a:extLst>
                <a:ext uri="{FF2B5EF4-FFF2-40B4-BE49-F238E27FC236}">
                  <a16:creationId xmlns:a16="http://schemas.microsoft.com/office/drawing/2014/main" id="{90A7D4ED-19B8-8943-94B9-A218D8B23B42}"/>
                </a:ext>
              </a:extLst>
            </p:cNvPr>
            <p:cNvSpPr txBox="1"/>
            <p:nvPr/>
          </p:nvSpPr>
          <p:spPr>
            <a:xfrm>
              <a:off x="1295636" y="5076546"/>
              <a:ext cx="4871847" cy="954107"/>
            </a:xfrm>
            <a:prstGeom prst="rect">
              <a:avLst/>
            </a:prstGeom>
            <a:noFill/>
          </p:spPr>
          <p:txBody>
            <a:bodyPr wrap="none" rtlCol="0">
              <a:spAutoFit/>
            </a:bodyPr>
            <a:lstStyle/>
            <a:p>
              <a:r>
                <a:rPr kumimoji="1" lang="en-US" altLang="zh-CN" sz="2800" dirty="0">
                  <a:solidFill>
                    <a:srgbClr val="3333FF"/>
                  </a:solidFill>
                  <a:latin typeface="+mn-lt"/>
                  <a:ea typeface="SimHei" panose="02010609060101010101" pitchFamily="49" charset="-122"/>
                  <a:cs typeface="Arial" panose="020B0604020202020204" pitchFamily="34" charset="0"/>
                </a:rPr>
                <a:t>ABC+ABC’ = AB </a:t>
              </a:r>
              <a:r>
                <a:rPr kumimoji="1" lang="en-US" altLang="zh-CN" sz="2800" dirty="0">
                  <a:solidFill>
                    <a:srgbClr val="3333FF"/>
                  </a:solidFill>
                  <a:latin typeface="+mn-lt"/>
                  <a:ea typeface="SimHei" panose="02010609060101010101" pitchFamily="49" charset="-122"/>
                  <a:cs typeface="Arial" panose="020B0604020202020204" pitchFamily="34" charset="0"/>
                  <a:sym typeface="Wingdings" pitchFamily="2" charset="2"/>
                </a:rPr>
                <a:t></a:t>
              </a:r>
              <a:endParaRPr kumimoji="1" lang="en-US" altLang="zh-CN" sz="2800" dirty="0">
                <a:solidFill>
                  <a:srgbClr val="3333FF"/>
                </a:solidFill>
                <a:latin typeface="+mn-lt"/>
                <a:ea typeface="SimHei" panose="02010609060101010101" pitchFamily="49" charset="-122"/>
                <a:cs typeface="Arial" panose="020B0604020202020204" pitchFamily="34" charset="0"/>
              </a:endParaRPr>
            </a:p>
            <a:p>
              <a:r>
                <a:rPr kumimoji="1" lang="zh-CN" altLang="en-US" sz="2800" dirty="0">
                  <a:solidFill>
                    <a:srgbClr val="3333FF"/>
                  </a:solidFill>
                  <a:latin typeface="+mn-lt"/>
                  <a:ea typeface="SimHei" panose="02010609060101010101" pitchFamily="49" charset="-122"/>
                </a:rPr>
                <a:t>可以合并为</a:t>
              </a:r>
              <a:r>
                <a:rPr kumimoji="1" lang="en-US" altLang="zh-CN" sz="2800" dirty="0">
                  <a:solidFill>
                    <a:srgbClr val="3333FF"/>
                  </a:solidFill>
                  <a:latin typeface="+mn-lt"/>
                  <a:ea typeface="SimHei" panose="02010609060101010101" pitchFamily="49" charset="-122"/>
                </a:rPr>
                <a:t>AB</a:t>
              </a:r>
              <a:r>
                <a:rPr kumimoji="1" lang="zh-CN" altLang="en-US" sz="2800" dirty="0">
                  <a:solidFill>
                    <a:srgbClr val="3333FF"/>
                  </a:solidFill>
                  <a:latin typeface="+mn-lt"/>
                  <a:ea typeface="SimHei" panose="02010609060101010101" pitchFamily="49" charset="-122"/>
                </a:rPr>
                <a:t>，与</a:t>
              </a:r>
              <a:r>
                <a:rPr kumimoji="1" lang="en-US" altLang="zh-CN" sz="2800" dirty="0">
                  <a:solidFill>
                    <a:srgbClr val="3333FF"/>
                  </a:solidFill>
                  <a:latin typeface="+mn-lt"/>
                  <a:ea typeface="SimHei" panose="02010609060101010101" pitchFamily="49" charset="-122"/>
                </a:rPr>
                <a:t>C</a:t>
              </a:r>
              <a:r>
                <a:rPr kumimoji="1" lang="zh-CN" altLang="en-US" sz="2800" dirty="0">
                  <a:solidFill>
                    <a:srgbClr val="3333FF"/>
                  </a:solidFill>
                  <a:latin typeface="+mn-lt"/>
                  <a:ea typeface="SimHei" panose="02010609060101010101" pitchFamily="49" charset="-122"/>
                </a:rPr>
                <a:t>的值无关</a:t>
              </a:r>
            </a:p>
          </p:txBody>
        </p:sp>
      </p:grpSp>
    </p:spTree>
    <p:extLst>
      <p:ext uri="{BB962C8B-B14F-4D97-AF65-F5344CB8AC3E}">
        <p14:creationId xmlns:p14="http://schemas.microsoft.com/office/powerpoint/2010/main" val="90489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p:cNvSpPr>
            <a:spLocks noGrp="1"/>
          </p:cNvSpPr>
          <p:nvPr>
            <p:ph type="title"/>
          </p:nvPr>
        </p:nvSpPr>
        <p:spPr/>
        <p:txBody>
          <a:bodyPr/>
          <a:lstStyle/>
          <a:p>
            <a:r>
              <a:rPr lang="zh-CN" altLang="en-US" dirty="0"/>
              <a:t>卡诺图化简法</a:t>
            </a:r>
            <a:endParaRPr lang="zh-CN" altLang="en-US" dirty="0">
              <a:latin typeface="Arial" panose="020B0604020202020204" pitchFamily="34" charset="0"/>
              <a:cs typeface="Arial" panose="020B0604020202020204" pitchFamily="34" charset="0"/>
            </a:endParaRPr>
          </a:p>
        </p:txBody>
      </p:sp>
      <p:sp>
        <p:nvSpPr>
          <p:cNvPr id="88067" name="内容占位符 2"/>
          <p:cNvSpPr>
            <a:spLocks noGrp="1"/>
          </p:cNvSpPr>
          <p:nvPr>
            <p:ph idx="1"/>
          </p:nvPr>
        </p:nvSpPr>
        <p:spPr>
          <a:xfrm>
            <a:off x="457200" y="1484784"/>
            <a:ext cx="8229600" cy="5199224"/>
          </a:xfrm>
        </p:spPr>
        <p:txBody>
          <a:bodyPr/>
          <a:lstStyle/>
          <a:p>
            <a:r>
              <a:rPr lang="zh-CN" altLang="en-US" sz="2400" b="1" dirty="0">
                <a:solidFill>
                  <a:srgbClr val="3333FF"/>
                </a:solidFill>
              </a:rPr>
              <a:t>相邻</a:t>
            </a:r>
            <a:r>
              <a:rPr lang="zh-CN" altLang="en-US" sz="2400" dirty="0"/>
              <a:t>两个最小项仅有</a:t>
            </a:r>
            <a:r>
              <a:rPr lang="en-US" altLang="zh-CN" sz="2400" dirty="0"/>
              <a:t>1</a:t>
            </a:r>
            <a:r>
              <a:rPr lang="zh-CN" altLang="en-US" sz="2400" dirty="0"/>
              <a:t>个输入逻辑变量的取值不同，互补</a:t>
            </a:r>
            <a:endParaRPr lang="en-US" altLang="zh-CN" sz="2400" dirty="0"/>
          </a:p>
          <a:p>
            <a:r>
              <a:rPr lang="zh-CN" altLang="en-US" sz="2400" dirty="0"/>
              <a:t>如果这两个相邻最小项都使输出为</a:t>
            </a:r>
            <a:r>
              <a:rPr lang="en-US" altLang="zh-CN" sz="2400" dirty="0"/>
              <a:t>1</a:t>
            </a:r>
            <a:r>
              <a:rPr lang="zh-CN" altLang="en-US" sz="2400" dirty="0"/>
              <a:t>，则这两个最小项可合并，消除一个输入逻辑变量</a:t>
            </a:r>
            <a:endParaRPr lang="en-US" altLang="zh-CN" sz="2400" dirty="0"/>
          </a:p>
          <a:p>
            <a:r>
              <a:rPr lang="zh-CN" altLang="en-US" sz="2400" dirty="0"/>
              <a:t>如果有四个相邻的最小项都使得输出函数取值为</a:t>
            </a:r>
            <a:r>
              <a:rPr lang="en-US" altLang="zh-CN" sz="2400" dirty="0"/>
              <a:t>1</a:t>
            </a:r>
            <a:r>
              <a:rPr lang="zh-CN" altLang="en-US" sz="2400" dirty="0"/>
              <a:t>，则这四个最小项可以合并，消除两个输入逻辑变量</a:t>
            </a:r>
            <a:endParaRPr lang="en-US" altLang="zh-CN" sz="2400" dirty="0"/>
          </a:p>
        </p:txBody>
      </p:sp>
      <p:sp>
        <p:nvSpPr>
          <p:cNvPr id="2" name="灯片编号占位符 1">
            <a:extLst>
              <a:ext uri="{FF2B5EF4-FFF2-40B4-BE49-F238E27FC236}">
                <a16:creationId xmlns:a16="http://schemas.microsoft.com/office/drawing/2014/main" id="{A7939796-5F11-AA40-BDE7-AD10BB73FD76}"/>
              </a:ext>
            </a:extLst>
          </p:cNvPr>
          <p:cNvSpPr>
            <a:spLocks noGrp="1"/>
          </p:cNvSpPr>
          <p:nvPr>
            <p:ph type="sldNum" sz="quarter" idx="12"/>
          </p:nvPr>
        </p:nvSpPr>
        <p:spPr/>
        <p:txBody>
          <a:bodyPr/>
          <a:lstStyle/>
          <a:p>
            <a:fld id="{14659731-6BD7-46E7-8D3C-2F3AC07E20B1}" type="slidenum">
              <a:rPr lang="en-US" altLang="zh-CN" smtClean="0"/>
              <a:pPr/>
              <a:t>84</a:t>
            </a:fld>
            <a:endParaRPr lang="en-US" altLang="zh-CN" dirty="0"/>
          </a:p>
        </p:txBody>
      </p:sp>
      <p:graphicFrame>
        <p:nvGraphicFramePr>
          <p:cNvPr id="6" name="Group 4">
            <a:extLst>
              <a:ext uri="{FF2B5EF4-FFF2-40B4-BE49-F238E27FC236}">
                <a16:creationId xmlns:a16="http://schemas.microsoft.com/office/drawing/2014/main" id="{5358ED4C-04E2-0143-B7C6-0F1219F8A8DB}"/>
              </a:ext>
            </a:extLst>
          </p:cNvPr>
          <p:cNvGraphicFramePr>
            <a:graphicFrameLocks noGrp="1"/>
          </p:cNvGraphicFramePr>
          <p:nvPr>
            <p:extLst>
              <p:ext uri="{D42A27DB-BD31-4B8C-83A1-F6EECF244321}">
                <p14:modId xmlns:p14="http://schemas.microsoft.com/office/powerpoint/2010/main" val="2417428593"/>
              </p:ext>
            </p:extLst>
          </p:nvPr>
        </p:nvGraphicFramePr>
        <p:xfrm>
          <a:off x="1329680" y="3904531"/>
          <a:ext cx="3962400" cy="2133601"/>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1063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椭圆 6">
            <a:extLst>
              <a:ext uri="{FF2B5EF4-FFF2-40B4-BE49-F238E27FC236}">
                <a16:creationId xmlns:a16="http://schemas.microsoft.com/office/drawing/2014/main" id="{433B9540-31AE-3A4E-9FB5-CEC5F0F0B3EB}"/>
              </a:ext>
            </a:extLst>
          </p:cNvPr>
          <p:cNvSpPr/>
          <p:nvPr/>
        </p:nvSpPr>
        <p:spPr bwMode="auto">
          <a:xfrm>
            <a:off x="3779912" y="5514912"/>
            <a:ext cx="1512168" cy="523220"/>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p:txBody>
      </p:sp>
      <p:sp>
        <p:nvSpPr>
          <p:cNvPr id="3" name="TextBox 2">
            <a:extLst>
              <a:ext uri="{FF2B5EF4-FFF2-40B4-BE49-F238E27FC236}">
                <a16:creationId xmlns:a16="http://schemas.microsoft.com/office/drawing/2014/main" id="{8145BF62-151B-5242-8485-1037851EE707}"/>
              </a:ext>
            </a:extLst>
          </p:cNvPr>
          <p:cNvSpPr txBox="1"/>
          <p:nvPr/>
        </p:nvSpPr>
        <p:spPr>
          <a:xfrm>
            <a:off x="4169549" y="6038132"/>
            <a:ext cx="732893" cy="584775"/>
          </a:xfrm>
          <a:prstGeom prst="rect">
            <a:avLst/>
          </a:prstGeom>
          <a:noFill/>
        </p:spPr>
        <p:txBody>
          <a:bodyPr wrap="none" rtlCol="0">
            <a:spAutoFit/>
          </a:bodyPr>
          <a:lstStyle/>
          <a:p>
            <a:r>
              <a:rPr lang="en-CN" sz="3200" dirty="0">
                <a:solidFill>
                  <a:srgbClr val="3333FF"/>
                </a:solidFill>
                <a:ea typeface="黑体" panose="02010609060101010101" pitchFamily="49" charset="-122"/>
              </a:rPr>
              <a:t>AB</a:t>
            </a:r>
          </a:p>
        </p:txBody>
      </p:sp>
      <p:sp>
        <p:nvSpPr>
          <p:cNvPr id="10" name="椭圆 6">
            <a:extLst>
              <a:ext uri="{FF2B5EF4-FFF2-40B4-BE49-F238E27FC236}">
                <a16:creationId xmlns:a16="http://schemas.microsoft.com/office/drawing/2014/main" id="{BAF27903-A37B-584D-AE03-54214C2F08AB}"/>
              </a:ext>
            </a:extLst>
          </p:cNvPr>
          <p:cNvSpPr/>
          <p:nvPr/>
        </p:nvSpPr>
        <p:spPr bwMode="auto">
          <a:xfrm>
            <a:off x="3779912" y="4983117"/>
            <a:ext cx="1512168" cy="523220"/>
          </a:xfrm>
          <a:prstGeom prst="ellipse">
            <a:avLst/>
          </a:prstGeom>
          <a:noFill/>
          <a:ln w="28575" cap="flat" cmpd="sng" algn="ctr">
            <a:solidFill>
              <a:srgbClr val="3333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endParaRPr>
          </a:p>
        </p:txBody>
      </p:sp>
      <p:sp>
        <p:nvSpPr>
          <p:cNvPr id="11" name="TextBox 10">
            <a:extLst>
              <a:ext uri="{FF2B5EF4-FFF2-40B4-BE49-F238E27FC236}">
                <a16:creationId xmlns:a16="http://schemas.microsoft.com/office/drawing/2014/main" id="{D9DA9F8E-4FBA-D045-A812-2959A589AD9D}"/>
              </a:ext>
            </a:extLst>
          </p:cNvPr>
          <p:cNvSpPr txBox="1"/>
          <p:nvPr/>
        </p:nvSpPr>
        <p:spPr>
          <a:xfrm>
            <a:off x="4169549" y="4420221"/>
            <a:ext cx="811441" cy="584775"/>
          </a:xfrm>
          <a:prstGeom prst="rect">
            <a:avLst/>
          </a:prstGeom>
          <a:noFill/>
        </p:spPr>
        <p:txBody>
          <a:bodyPr wrap="none" rtlCol="0">
            <a:spAutoFit/>
          </a:bodyPr>
          <a:lstStyle/>
          <a:p>
            <a:r>
              <a:rPr lang="en-CN" sz="3200" dirty="0">
                <a:solidFill>
                  <a:srgbClr val="3333FF"/>
                </a:solidFill>
                <a:ea typeface="黑体" panose="02010609060101010101" pitchFamily="49" charset="-122"/>
              </a:rPr>
              <a:t>A’B</a:t>
            </a:r>
          </a:p>
        </p:txBody>
      </p:sp>
      <p:grpSp>
        <p:nvGrpSpPr>
          <p:cNvPr id="12" name="Group 11">
            <a:extLst>
              <a:ext uri="{FF2B5EF4-FFF2-40B4-BE49-F238E27FC236}">
                <a16:creationId xmlns:a16="http://schemas.microsoft.com/office/drawing/2014/main" id="{04641FB9-D23B-CF43-BC6D-BD1059599F1E}"/>
              </a:ext>
            </a:extLst>
          </p:cNvPr>
          <p:cNvGrpSpPr/>
          <p:nvPr/>
        </p:nvGrpSpPr>
        <p:grpSpPr>
          <a:xfrm>
            <a:off x="3779912" y="4421853"/>
            <a:ext cx="4484143" cy="1616279"/>
            <a:chOff x="3883195" y="3388186"/>
            <a:chExt cx="4484143" cy="1616279"/>
          </a:xfrm>
        </p:grpSpPr>
        <p:sp>
          <p:nvSpPr>
            <p:cNvPr id="5" name="Rounded Rectangle 4">
              <a:extLst>
                <a:ext uri="{FF2B5EF4-FFF2-40B4-BE49-F238E27FC236}">
                  <a16:creationId xmlns:a16="http://schemas.microsoft.com/office/drawing/2014/main" id="{8A80E1E6-FD74-D34A-B648-2ED52D0CB5A8}"/>
                </a:ext>
              </a:extLst>
            </p:cNvPr>
            <p:cNvSpPr/>
            <p:nvPr/>
          </p:nvSpPr>
          <p:spPr bwMode="auto">
            <a:xfrm>
              <a:off x="3883195" y="3878976"/>
              <a:ext cx="1512168" cy="1125489"/>
            </a:xfrm>
            <a:prstGeom prst="roundRect">
              <a:avLst/>
            </a:prstGeom>
            <a:noFill/>
            <a:ln w="60325"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9" name="TextBox 8">
              <a:extLst>
                <a:ext uri="{FF2B5EF4-FFF2-40B4-BE49-F238E27FC236}">
                  <a16:creationId xmlns:a16="http://schemas.microsoft.com/office/drawing/2014/main" id="{484DAD9E-964D-3547-B92E-6804F14158DD}"/>
                </a:ext>
              </a:extLst>
            </p:cNvPr>
            <p:cNvSpPr txBox="1"/>
            <p:nvPr/>
          </p:nvSpPr>
          <p:spPr>
            <a:xfrm>
              <a:off x="5551512" y="3388186"/>
              <a:ext cx="2815826" cy="954107"/>
            </a:xfrm>
            <a:prstGeom prst="rect">
              <a:avLst/>
            </a:prstGeom>
            <a:noFill/>
          </p:spPr>
          <p:txBody>
            <a:bodyPr wrap="square" rtlCol="0">
              <a:spAutoFit/>
            </a:bodyPr>
            <a:lstStyle/>
            <a:p>
              <a:r>
                <a:rPr kumimoji="1" lang="zh-CN" altLang="en-US" sz="2800" dirty="0">
                  <a:solidFill>
                    <a:srgbClr val="3333FF"/>
                  </a:solidFill>
                  <a:latin typeface="+mn-lt"/>
                  <a:ea typeface="SimHei" panose="02010609060101010101" pitchFamily="49" charset="-122"/>
                </a:rPr>
                <a:t>可以合并为</a:t>
              </a:r>
              <a:r>
                <a:rPr kumimoji="1" lang="en-US" altLang="zh-CN" sz="2800" dirty="0">
                  <a:solidFill>
                    <a:srgbClr val="3333FF"/>
                  </a:solidFill>
                  <a:latin typeface="+mn-lt"/>
                  <a:ea typeface="SimHei" panose="02010609060101010101" pitchFamily="49" charset="-122"/>
                </a:rPr>
                <a:t>B</a:t>
              </a:r>
              <a:r>
                <a:rPr kumimoji="1" lang="zh-CN" altLang="en-US" sz="2800" dirty="0">
                  <a:solidFill>
                    <a:srgbClr val="3333FF"/>
                  </a:solidFill>
                  <a:latin typeface="+mn-lt"/>
                  <a:ea typeface="SimHei" panose="02010609060101010101" pitchFamily="49" charset="-122"/>
                </a:rPr>
                <a:t>，与</a:t>
              </a:r>
              <a:r>
                <a:rPr kumimoji="1" lang="en-US" altLang="zh-CN" sz="2800" dirty="0">
                  <a:solidFill>
                    <a:srgbClr val="3333FF"/>
                  </a:solidFill>
                  <a:latin typeface="+mn-lt"/>
                  <a:ea typeface="SimHei" panose="02010609060101010101" pitchFamily="49" charset="-122"/>
                </a:rPr>
                <a:t>A</a:t>
              </a:r>
              <a:r>
                <a:rPr kumimoji="1" lang="zh-CN" altLang="en-US" sz="2800" dirty="0">
                  <a:solidFill>
                    <a:srgbClr val="3333FF"/>
                  </a:solidFill>
                  <a:latin typeface="+mn-lt"/>
                  <a:ea typeface="SimHei" panose="02010609060101010101" pitchFamily="49" charset="-122"/>
                </a:rPr>
                <a:t>、</a:t>
              </a:r>
              <a:r>
                <a:rPr kumimoji="1" lang="en-US" altLang="zh-CN" sz="2800" dirty="0">
                  <a:solidFill>
                    <a:srgbClr val="3333FF"/>
                  </a:solidFill>
                  <a:latin typeface="+mn-lt"/>
                  <a:ea typeface="SimHei" panose="02010609060101010101" pitchFamily="49" charset="-122"/>
                </a:rPr>
                <a:t>C</a:t>
              </a:r>
              <a:r>
                <a:rPr kumimoji="1" lang="zh-CN" altLang="en-US" sz="2800" dirty="0">
                  <a:solidFill>
                    <a:srgbClr val="3333FF"/>
                  </a:solidFill>
                  <a:latin typeface="+mn-lt"/>
                  <a:ea typeface="SimHei" panose="02010609060101010101" pitchFamily="49" charset="-122"/>
                </a:rPr>
                <a:t>值无关</a:t>
              </a:r>
            </a:p>
          </p:txBody>
        </p:sp>
      </p:grpSp>
    </p:spTree>
    <p:extLst>
      <p:ext uri="{BB962C8B-B14F-4D97-AF65-F5344CB8AC3E}">
        <p14:creationId xmlns:p14="http://schemas.microsoft.com/office/powerpoint/2010/main" val="61438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B1E3CCFE-7136-FB48-9B3E-B54079E65EB3}"/>
              </a:ext>
            </a:extLst>
          </p:cNvPr>
          <p:cNvSpPr>
            <a:spLocks noGrp="1"/>
          </p:cNvSpPr>
          <p:nvPr>
            <p:ph type="title"/>
          </p:nvPr>
        </p:nvSpPr>
        <p:spPr/>
        <p:txBody>
          <a:bodyPr/>
          <a:lstStyle/>
          <a:p>
            <a:r>
              <a:rPr lang="zh-CN" altLang="en-US" dirty="0"/>
              <a:t>卡诺图化简法</a:t>
            </a:r>
          </a:p>
        </p:txBody>
      </p:sp>
      <p:sp>
        <p:nvSpPr>
          <p:cNvPr id="88067" name="内容占位符 2"/>
          <p:cNvSpPr>
            <a:spLocks noGrp="1"/>
          </p:cNvSpPr>
          <p:nvPr>
            <p:ph idx="1"/>
          </p:nvPr>
        </p:nvSpPr>
        <p:spPr>
          <a:xfrm>
            <a:off x="457200" y="1787524"/>
            <a:ext cx="8229600" cy="4716463"/>
          </a:xfrm>
        </p:spPr>
        <p:txBody>
          <a:bodyPr/>
          <a:lstStyle/>
          <a:p>
            <a:r>
              <a:rPr lang="zh-CN" altLang="en-US" sz="2400" dirty="0">
                <a:solidFill>
                  <a:schemeClr val="tx1"/>
                </a:solidFill>
              </a:rPr>
              <a:t>如何保证卡诺图化简结果是</a:t>
            </a:r>
            <a:r>
              <a:rPr lang="zh-CN" altLang="en-CN" sz="2400" dirty="0">
                <a:solidFill>
                  <a:schemeClr val="tx1"/>
                </a:solidFill>
              </a:rPr>
              <a:t>最简</a:t>
            </a:r>
            <a:r>
              <a:rPr lang="zh-CN" altLang="en-US" sz="2400" dirty="0">
                <a:solidFill>
                  <a:schemeClr val="tx1"/>
                </a:solidFill>
              </a:rPr>
              <a:t>的？</a:t>
            </a:r>
            <a:r>
              <a:rPr lang="en-US" altLang="zh-CN" sz="2400" b="1" dirty="0">
                <a:solidFill>
                  <a:schemeClr val="tx1"/>
                </a:solidFill>
                <a:sym typeface="Symbol"/>
              </a:rPr>
              <a:t> </a:t>
            </a:r>
            <a:r>
              <a:rPr lang="zh-CN" altLang="en-US" sz="2400" b="1" dirty="0">
                <a:solidFill>
                  <a:srgbClr val="3333FF"/>
                </a:solidFill>
                <a:sym typeface="Symbol"/>
              </a:rPr>
              <a:t>“蕴含”的概念</a:t>
            </a:r>
            <a:endParaRPr lang="zh-CN" altLang="en-US" sz="2400" dirty="0">
              <a:solidFill>
                <a:srgbClr val="3333FF"/>
              </a:solidFill>
            </a:endParaRPr>
          </a:p>
        </p:txBody>
      </p:sp>
      <p:sp>
        <p:nvSpPr>
          <p:cNvPr id="2" name="灯片编号占位符 1">
            <a:extLst>
              <a:ext uri="{FF2B5EF4-FFF2-40B4-BE49-F238E27FC236}">
                <a16:creationId xmlns:a16="http://schemas.microsoft.com/office/drawing/2014/main" id="{5FBEB557-D908-73C6-5240-8E6E10276EF5}"/>
              </a:ext>
            </a:extLst>
          </p:cNvPr>
          <p:cNvSpPr>
            <a:spLocks noGrp="1"/>
          </p:cNvSpPr>
          <p:nvPr>
            <p:ph type="sldNum" sz="quarter" idx="12"/>
          </p:nvPr>
        </p:nvSpPr>
        <p:spPr/>
        <p:txBody>
          <a:bodyPr/>
          <a:lstStyle/>
          <a:p>
            <a:fld id="{14659731-6BD7-46E7-8D3C-2F3AC07E20B1}" type="slidenum">
              <a:rPr lang="en-US" altLang="zh-CN" smtClean="0"/>
              <a:pPr/>
              <a:t>85</a:t>
            </a:fld>
            <a:endParaRPr lang="en-US" altLang="zh-CN" dirty="0"/>
          </a:p>
        </p:txBody>
      </p:sp>
      <p:graphicFrame>
        <p:nvGraphicFramePr>
          <p:cNvPr id="6" name="Group 4">
            <a:extLst>
              <a:ext uri="{FF2B5EF4-FFF2-40B4-BE49-F238E27FC236}">
                <a16:creationId xmlns:a16="http://schemas.microsoft.com/office/drawing/2014/main" id="{262E0426-093D-FC40-BAD6-9958F62946E2}"/>
              </a:ext>
            </a:extLst>
          </p:cNvPr>
          <p:cNvGraphicFramePr>
            <a:graphicFrameLocks noGrp="1"/>
          </p:cNvGraphicFramePr>
          <p:nvPr/>
        </p:nvGraphicFramePr>
        <p:xfrm>
          <a:off x="2375756" y="3364705"/>
          <a:ext cx="3962400" cy="2133601"/>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1063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Rounded Rectangle 7">
            <a:extLst>
              <a:ext uri="{FF2B5EF4-FFF2-40B4-BE49-F238E27FC236}">
                <a16:creationId xmlns:a16="http://schemas.microsoft.com/office/drawing/2014/main" id="{E4FDE0AB-AA70-BD49-8671-6A7FFE08BCF2}"/>
              </a:ext>
            </a:extLst>
          </p:cNvPr>
          <p:cNvSpPr/>
          <p:nvPr/>
        </p:nvSpPr>
        <p:spPr bwMode="auto">
          <a:xfrm>
            <a:off x="4825988" y="4367921"/>
            <a:ext cx="1512168" cy="1125489"/>
          </a:xfrm>
          <a:prstGeom prst="roundRect">
            <a:avLst/>
          </a:prstGeom>
          <a:noFill/>
          <a:ln w="60325" cap="flat" cmpd="sng" algn="ctr">
            <a:solidFill>
              <a:srgbClr val="7030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CN" sz="4800" b="0" i="0" u="none" strike="noStrike" cap="none" normalizeH="0" baseline="0" dirty="0">
                <a:ln>
                  <a:noFill/>
                </a:ln>
                <a:solidFill>
                  <a:srgbClr val="7030A0"/>
                </a:solidFill>
                <a:effectLst/>
                <a:latin typeface="Arial" charset="0"/>
                <a:ea typeface="黑体" panose="02010609060101010101" pitchFamily="49" charset="-122"/>
              </a:rPr>
              <a:t>B</a:t>
            </a:r>
          </a:p>
        </p:txBody>
      </p:sp>
    </p:spTree>
    <p:extLst>
      <p:ext uri="{BB962C8B-B14F-4D97-AF65-F5344CB8AC3E}">
        <p14:creationId xmlns:p14="http://schemas.microsoft.com/office/powerpoint/2010/main" val="412941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a:spLocks noGrp="1" noChangeArrowheads="1"/>
          </p:cNvSpPr>
          <p:nvPr>
            <p:ph type="title"/>
          </p:nvPr>
        </p:nvSpPr>
        <p:spPr/>
        <p:txBody>
          <a:bodyPr/>
          <a:lstStyle/>
          <a:p>
            <a:pPr eaLnBrk="1" hangingPunct="1"/>
            <a:r>
              <a:rPr lang="en-US" altLang="zh-CN" sz="4400" b="1" dirty="0"/>
              <a:t>Implicant</a:t>
            </a:r>
            <a:r>
              <a:rPr lang="zh-CN" altLang="en-US" sz="4400" b="1" dirty="0"/>
              <a:t> </a:t>
            </a:r>
            <a:r>
              <a:rPr lang="zh-CN" altLang="en-US" dirty="0"/>
              <a:t>蕴含项</a:t>
            </a:r>
            <a:endParaRPr lang="en-US" altLang="zh-CN" dirty="0"/>
          </a:p>
        </p:txBody>
      </p:sp>
      <p:sp>
        <p:nvSpPr>
          <p:cNvPr id="641027" name="Rectangle 3"/>
          <p:cNvSpPr>
            <a:spLocks noGrp="1" noChangeArrowheads="1"/>
          </p:cNvSpPr>
          <p:nvPr>
            <p:ph idx="1"/>
          </p:nvPr>
        </p:nvSpPr>
        <p:spPr>
          <a:xfrm>
            <a:off x="457200" y="1484262"/>
            <a:ext cx="8153400" cy="936626"/>
          </a:xfrm>
        </p:spPr>
        <p:txBody>
          <a:bodyPr>
            <a:normAutofit fontScale="92500"/>
          </a:bodyPr>
          <a:lstStyle/>
          <a:p>
            <a:pPr hangingPunct="1">
              <a:spcBef>
                <a:spcPct val="0"/>
              </a:spcBef>
            </a:pPr>
            <a:r>
              <a:rPr lang="zh-CN" altLang="en-CN" sz="2400" b="1" dirty="0"/>
              <a:t>如果</a:t>
            </a:r>
            <a:r>
              <a:rPr lang="en-US" altLang="zh-CN" sz="2400" b="1" dirty="0"/>
              <a:t>F=1</a:t>
            </a:r>
            <a:r>
              <a:rPr lang="zh-CN" altLang="en-US" sz="2400" b="1" dirty="0"/>
              <a:t>则</a:t>
            </a:r>
            <a:r>
              <a:rPr lang="en-US" altLang="zh-CN" sz="2400" b="1" dirty="0"/>
              <a:t>G=1</a:t>
            </a:r>
            <a:r>
              <a:rPr lang="zh-CN" altLang="en-US" sz="2400" b="1" dirty="0"/>
              <a:t>，那么</a:t>
            </a:r>
            <a:r>
              <a:rPr lang="en-US" altLang="zh-CN" sz="2400" b="1" dirty="0"/>
              <a:t>F</a:t>
            </a:r>
            <a:r>
              <a:rPr lang="zh-CN" altLang="en-US" sz="2400" b="1" dirty="0"/>
              <a:t>是</a:t>
            </a:r>
            <a:r>
              <a:rPr lang="en-US" altLang="zh-CN" sz="2400" b="1" dirty="0"/>
              <a:t>G</a:t>
            </a:r>
            <a:r>
              <a:rPr lang="zh-CN" altLang="en-US" sz="2400" b="1" dirty="0"/>
              <a:t>的蕴含项（</a:t>
            </a:r>
            <a:r>
              <a:rPr lang="en-US" altLang="zh-CN" sz="2400" b="1" dirty="0"/>
              <a:t>Implicant</a:t>
            </a:r>
            <a:r>
              <a:rPr lang="zh-CN" altLang="en-US" sz="2400" b="1" dirty="0"/>
              <a:t>）：</a:t>
            </a:r>
            <a:r>
              <a:rPr lang="en-US" altLang="zh-CN" sz="2400" b="1" dirty="0"/>
              <a:t>F</a:t>
            </a:r>
            <a:r>
              <a:rPr lang="en-US" altLang="zh-CN" sz="2400" b="1" dirty="0">
                <a:sym typeface="Symbol"/>
              </a:rPr>
              <a:t>  </a:t>
            </a:r>
            <a:r>
              <a:rPr lang="en-US" altLang="zh-CN" sz="2400" b="1" dirty="0">
                <a:sym typeface="Wingdings" pitchFamily="2" charset="2"/>
              </a:rPr>
              <a:t>G</a:t>
            </a:r>
            <a:endParaRPr lang="en-US" altLang="zh-CN" sz="2400" b="1" dirty="0"/>
          </a:p>
          <a:p>
            <a:pPr lvl="1" hangingPunct="1">
              <a:spcBef>
                <a:spcPct val="0"/>
              </a:spcBef>
            </a:pPr>
            <a:r>
              <a:rPr lang="zh-CN" altLang="en-US" sz="2400" b="1" dirty="0"/>
              <a:t>助记：</a:t>
            </a:r>
            <a:r>
              <a:rPr lang="en-US" altLang="zh-CN" sz="2400" b="1" dirty="0"/>
              <a:t>【F</a:t>
            </a:r>
            <a:r>
              <a:rPr lang="zh-CN" altLang="en-US" sz="2400" b="1" dirty="0"/>
              <a:t>有效</a:t>
            </a:r>
            <a:r>
              <a:rPr lang="en-US" altLang="zh-CN" sz="2400" b="1" dirty="0"/>
              <a:t>/</a:t>
            </a:r>
            <a:r>
              <a:rPr lang="zh-CN" altLang="en-US" sz="2400" b="1" dirty="0"/>
              <a:t>成立</a:t>
            </a:r>
            <a:r>
              <a:rPr lang="en-US" altLang="zh-CN" sz="2400" b="1" dirty="0"/>
              <a:t>】</a:t>
            </a:r>
            <a:r>
              <a:rPr lang="zh-CN" altLang="en-US" sz="2400" b="1" dirty="0"/>
              <a:t>“</a:t>
            </a:r>
            <a:r>
              <a:rPr lang="en-US" altLang="zh-CN" sz="2400" b="1" dirty="0"/>
              <a:t>implies</a:t>
            </a:r>
            <a:r>
              <a:rPr lang="zh-CN" altLang="en-US" sz="2400" b="1" dirty="0"/>
              <a:t>”</a:t>
            </a:r>
            <a:r>
              <a:rPr lang="en-US" altLang="zh-CN" sz="2400" b="1" dirty="0"/>
              <a:t>【G</a:t>
            </a:r>
            <a:r>
              <a:rPr lang="zh-CN" altLang="en-US" sz="2400" b="1" dirty="0"/>
              <a:t>有效</a:t>
            </a:r>
            <a:r>
              <a:rPr lang="en-US" altLang="zh-CN" sz="2400" b="1" dirty="0"/>
              <a:t>/</a:t>
            </a:r>
            <a:r>
              <a:rPr lang="zh-CN" altLang="en-US" sz="2400" b="1" dirty="0"/>
              <a:t>成立</a:t>
            </a:r>
            <a:r>
              <a:rPr lang="en-US" altLang="zh-CN" sz="2400" b="1" dirty="0"/>
              <a:t>】</a:t>
            </a:r>
          </a:p>
        </p:txBody>
      </p:sp>
      <p:sp>
        <p:nvSpPr>
          <p:cNvPr id="2" name="灯片编号占位符 1">
            <a:extLst>
              <a:ext uri="{FF2B5EF4-FFF2-40B4-BE49-F238E27FC236}">
                <a16:creationId xmlns:a16="http://schemas.microsoft.com/office/drawing/2014/main" id="{DF36A36D-B80A-3984-6B34-CFDB4C31D694}"/>
              </a:ext>
            </a:extLst>
          </p:cNvPr>
          <p:cNvSpPr>
            <a:spLocks noGrp="1"/>
          </p:cNvSpPr>
          <p:nvPr>
            <p:ph type="sldNum" sz="quarter" idx="12"/>
          </p:nvPr>
        </p:nvSpPr>
        <p:spPr/>
        <p:txBody>
          <a:bodyPr/>
          <a:lstStyle/>
          <a:p>
            <a:fld id="{14659731-6BD7-46E7-8D3C-2F3AC07E20B1}" type="slidenum">
              <a:rPr lang="en-US" altLang="zh-CN" smtClean="0"/>
              <a:pPr/>
              <a:t>86</a:t>
            </a:fld>
            <a:endParaRPr lang="en-US" altLang="zh-CN" dirty="0"/>
          </a:p>
        </p:txBody>
      </p:sp>
      <p:graphicFrame>
        <p:nvGraphicFramePr>
          <p:cNvPr id="5" name="Group 4">
            <a:extLst>
              <a:ext uri="{FF2B5EF4-FFF2-40B4-BE49-F238E27FC236}">
                <a16:creationId xmlns:a16="http://schemas.microsoft.com/office/drawing/2014/main" id="{55EB0F71-12F9-21EE-3999-5D1C9940CCBA}"/>
              </a:ext>
            </a:extLst>
          </p:cNvPr>
          <p:cNvGraphicFramePr>
            <a:graphicFrameLocks/>
          </p:cNvGraphicFramePr>
          <p:nvPr>
            <p:extLst>
              <p:ext uri="{D42A27DB-BD31-4B8C-83A1-F6EECF244321}">
                <p14:modId xmlns:p14="http://schemas.microsoft.com/office/powerpoint/2010/main" val="2344422845"/>
              </p:ext>
            </p:extLst>
          </p:nvPr>
        </p:nvGraphicFramePr>
        <p:xfrm>
          <a:off x="503548" y="2902362"/>
          <a:ext cx="3962400" cy="2133601"/>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1063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Rectangle 39">
            <a:extLst>
              <a:ext uri="{FF2B5EF4-FFF2-40B4-BE49-F238E27FC236}">
                <a16:creationId xmlns:a16="http://schemas.microsoft.com/office/drawing/2014/main" id="{ACC22FE8-61F9-D38B-97A3-96225982BA5A}"/>
              </a:ext>
            </a:extLst>
          </p:cNvPr>
          <p:cNvSpPr>
            <a:spLocks noChangeArrowheads="1"/>
          </p:cNvSpPr>
          <p:nvPr/>
        </p:nvSpPr>
        <p:spPr bwMode="auto">
          <a:xfrm>
            <a:off x="923625" y="5086766"/>
            <a:ext cx="362798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F=BC’ </a:t>
            </a:r>
            <a:r>
              <a:rPr lang="en-US" altLang="zh-CN" sz="2800" dirty="0">
                <a:latin typeface="Arial" panose="020B0604020202020204" pitchFamily="34" charset="0"/>
                <a:ea typeface="黑体" panose="02010609060101010101" pitchFamily="49" charset="-122"/>
                <a:cs typeface="Arial" panose="020B0604020202020204" pitchFamily="34" charset="0"/>
              </a:rPr>
              <a:t>(</a:t>
            </a:r>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=A’BC’+ABC’)</a:t>
            </a:r>
          </a:p>
        </p:txBody>
      </p:sp>
      <p:sp>
        <p:nvSpPr>
          <p:cNvPr id="8" name="文本框 7">
            <a:extLst>
              <a:ext uri="{FF2B5EF4-FFF2-40B4-BE49-F238E27FC236}">
                <a16:creationId xmlns:a16="http://schemas.microsoft.com/office/drawing/2014/main" id="{6F8D2008-E499-F45A-5784-8D5E56ADA62F}"/>
              </a:ext>
            </a:extLst>
          </p:cNvPr>
          <p:cNvSpPr txBox="1"/>
          <p:nvPr/>
        </p:nvSpPr>
        <p:spPr>
          <a:xfrm>
            <a:off x="1720329" y="2445817"/>
            <a:ext cx="1364476" cy="369332"/>
          </a:xfrm>
          <a:prstGeom prst="rect">
            <a:avLst/>
          </a:prstGeom>
          <a:noFill/>
        </p:spPr>
        <p:txBody>
          <a:bodyPr wrap="none" rtlCol="0">
            <a:spAutoFit/>
          </a:bodyPr>
          <a:lstStyle/>
          <a:p>
            <a:r>
              <a:rPr kumimoji="1" lang="en-US" altLang="zh-CN" b="1" dirty="0">
                <a:ea typeface="黑体" panose="02010609060101010101" pitchFamily="49" charset="-122"/>
              </a:rPr>
              <a:t>Function F</a:t>
            </a:r>
            <a:endParaRPr kumimoji="1" lang="zh-CN" altLang="en-US" b="1" dirty="0">
              <a:ea typeface="黑体" panose="02010609060101010101" pitchFamily="49" charset="-122"/>
            </a:endParaRPr>
          </a:p>
        </p:txBody>
      </p:sp>
      <p:graphicFrame>
        <p:nvGraphicFramePr>
          <p:cNvPr id="9" name="Group 4">
            <a:extLst>
              <a:ext uri="{FF2B5EF4-FFF2-40B4-BE49-F238E27FC236}">
                <a16:creationId xmlns:a16="http://schemas.microsoft.com/office/drawing/2014/main" id="{0C62D35B-DB21-D0B5-6C9B-FEAE8F4014D1}"/>
              </a:ext>
            </a:extLst>
          </p:cNvPr>
          <p:cNvGraphicFramePr>
            <a:graphicFrameLocks/>
          </p:cNvGraphicFramePr>
          <p:nvPr>
            <p:extLst>
              <p:ext uri="{D42A27DB-BD31-4B8C-83A1-F6EECF244321}">
                <p14:modId xmlns:p14="http://schemas.microsoft.com/office/powerpoint/2010/main" val="161582658"/>
              </p:ext>
            </p:extLst>
          </p:nvPr>
        </p:nvGraphicFramePr>
        <p:xfrm>
          <a:off x="4708661" y="2902362"/>
          <a:ext cx="3962400" cy="2133601"/>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1063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0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文本框 9">
            <a:extLst>
              <a:ext uri="{FF2B5EF4-FFF2-40B4-BE49-F238E27FC236}">
                <a16:creationId xmlns:a16="http://schemas.microsoft.com/office/drawing/2014/main" id="{651858B8-02F6-0841-A1AC-6DC035F76E6C}"/>
              </a:ext>
            </a:extLst>
          </p:cNvPr>
          <p:cNvSpPr txBox="1"/>
          <p:nvPr/>
        </p:nvSpPr>
        <p:spPr>
          <a:xfrm>
            <a:off x="5925442" y="2445817"/>
            <a:ext cx="1402948" cy="369332"/>
          </a:xfrm>
          <a:prstGeom prst="rect">
            <a:avLst/>
          </a:prstGeom>
          <a:noFill/>
        </p:spPr>
        <p:txBody>
          <a:bodyPr wrap="none" rtlCol="0">
            <a:spAutoFit/>
          </a:bodyPr>
          <a:lstStyle/>
          <a:p>
            <a:r>
              <a:rPr kumimoji="1" lang="en-US" altLang="zh-CN" b="1" dirty="0">
                <a:ea typeface="黑体" panose="02010609060101010101" pitchFamily="49" charset="-122"/>
              </a:rPr>
              <a:t>Function G</a:t>
            </a:r>
            <a:endParaRPr kumimoji="1" lang="zh-CN" altLang="en-US" b="1" dirty="0">
              <a:ea typeface="黑体" panose="02010609060101010101" pitchFamily="49" charset="-122"/>
            </a:endParaRPr>
          </a:p>
        </p:txBody>
      </p:sp>
      <p:sp>
        <p:nvSpPr>
          <p:cNvPr id="11" name="Rectangle 39">
            <a:extLst>
              <a:ext uri="{FF2B5EF4-FFF2-40B4-BE49-F238E27FC236}">
                <a16:creationId xmlns:a16="http://schemas.microsoft.com/office/drawing/2014/main" id="{FB07E380-01BF-12AE-B760-9C1CA717D6CC}"/>
              </a:ext>
            </a:extLst>
          </p:cNvPr>
          <p:cNvSpPr>
            <a:spLocks noChangeArrowheads="1"/>
          </p:cNvSpPr>
          <p:nvPr/>
        </p:nvSpPr>
        <p:spPr bwMode="auto">
          <a:xfrm>
            <a:off x="5549965" y="5086766"/>
            <a:ext cx="22797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G=BC’</a:t>
            </a:r>
            <a:r>
              <a:rPr lang="en-US" altLang="zh-CN" sz="2800" dirty="0">
                <a:solidFill>
                  <a:srgbClr val="FF0000"/>
                </a:solidFill>
                <a:latin typeface="Arial" panose="020B0604020202020204" pitchFamily="34" charset="0"/>
                <a:ea typeface="黑体" panose="02010609060101010101" pitchFamily="49" charset="-122"/>
                <a:cs typeface="Arial" panose="020B0604020202020204" pitchFamily="34" charset="0"/>
              </a:rPr>
              <a:t>+ABC</a:t>
            </a:r>
          </a:p>
        </p:txBody>
      </p:sp>
      <p:sp>
        <p:nvSpPr>
          <p:cNvPr id="13" name="Rectangle 39">
            <a:extLst>
              <a:ext uri="{FF2B5EF4-FFF2-40B4-BE49-F238E27FC236}">
                <a16:creationId xmlns:a16="http://schemas.microsoft.com/office/drawing/2014/main" id="{7F78EA0A-8B67-CF97-8E80-5CE36FD53BAC}"/>
              </a:ext>
            </a:extLst>
          </p:cNvPr>
          <p:cNvSpPr>
            <a:spLocks noChangeArrowheads="1"/>
          </p:cNvSpPr>
          <p:nvPr/>
        </p:nvSpPr>
        <p:spPr bwMode="auto">
          <a:xfrm>
            <a:off x="3505413" y="5784881"/>
            <a:ext cx="205697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F=1 </a:t>
            </a:r>
            <a:r>
              <a:rPr lang="en-US" altLang="zh-CN" sz="2800" dirty="0">
                <a:ea typeface="黑体" panose="02010609060101010101" pitchFamily="49" charset="-122"/>
                <a:sym typeface="Symbol"/>
              </a:rPr>
              <a:t> </a:t>
            </a:r>
            <a:r>
              <a:rPr lang="en-US" altLang="zh-CN" sz="2800" dirty="0">
                <a:ea typeface="黑体" panose="02010609060101010101" pitchFamily="49" charset="-122"/>
                <a:sym typeface="Wingdings" pitchFamily="2" charset="2"/>
              </a:rPr>
              <a:t>G</a:t>
            </a:r>
            <a:r>
              <a:rPr lang="en-US" altLang="zh-CN" sz="2800" dirty="0">
                <a:latin typeface="Arial" panose="020B0604020202020204" pitchFamily="34" charset="0"/>
                <a:ea typeface="黑体" panose="02010609060101010101" pitchFamily="49" charset="-122"/>
                <a:cs typeface="Arial" panose="020B0604020202020204" pitchFamily="34" charset="0"/>
                <a:sym typeface="Wingdings" pitchFamily="2" charset="2"/>
              </a:rPr>
              <a:t>=1</a:t>
            </a:r>
            <a:endParaRPr lang="en-US" altLang="zh-CN" sz="2800" dirty="0">
              <a:ea typeface="黑体" panose="02010609060101010101" pitchFamily="49" charset="-122"/>
            </a:endParaRPr>
          </a:p>
        </p:txBody>
      </p:sp>
    </p:spTree>
    <p:extLst>
      <p:ext uri="{BB962C8B-B14F-4D97-AF65-F5344CB8AC3E}">
        <p14:creationId xmlns:p14="http://schemas.microsoft.com/office/powerpoint/2010/main" val="4096674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ltLang="zh-CN" dirty="0"/>
              <a:t>Prime Implicant </a:t>
            </a:r>
            <a:r>
              <a:rPr lang="zh-CN" altLang="en-US" dirty="0"/>
              <a:t>本原蕴含项</a:t>
            </a:r>
          </a:p>
        </p:txBody>
      </p:sp>
      <p:graphicFrame>
        <p:nvGraphicFramePr>
          <p:cNvPr id="643076" name="Group 4"/>
          <p:cNvGraphicFramePr>
            <a:graphicFrameLocks noGrp="1"/>
          </p:cNvGraphicFramePr>
          <p:nvPr>
            <p:ph idx="1"/>
            <p:extLst>
              <p:ext uri="{D42A27DB-BD31-4B8C-83A1-F6EECF244321}">
                <p14:modId xmlns:p14="http://schemas.microsoft.com/office/powerpoint/2010/main" val="2291764114"/>
              </p:ext>
            </p:extLst>
          </p:nvPr>
        </p:nvGraphicFramePr>
        <p:xfrm>
          <a:off x="2123728" y="2601709"/>
          <a:ext cx="3962400" cy="2133601"/>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1063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灯片编号占位符 1">
            <a:extLst>
              <a:ext uri="{FF2B5EF4-FFF2-40B4-BE49-F238E27FC236}">
                <a16:creationId xmlns:a16="http://schemas.microsoft.com/office/drawing/2014/main" id="{9AD47974-252B-65E4-F472-2E33152828EA}"/>
              </a:ext>
            </a:extLst>
          </p:cNvPr>
          <p:cNvSpPr>
            <a:spLocks noGrp="1"/>
          </p:cNvSpPr>
          <p:nvPr>
            <p:ph type="sldNum" sz="quarter" idx="12"/>
          </p:nvPr>
        </p:nvSpPr>
        <p:spPr/>
        <p:txBody>
          <a:bodyPr/>
          <a:lstStyle/>
          <a:p>
            <a:fld id="{14659731-6BD7-46E7-8D3C-2F3AC07E20B1}" type="slidenum">
              <a:rPr lang="en-US" altLang="zh-CN" smtClean="0"/>
              <a:pPr/>
              <a:t>87</a:t>
            </a:fld>
            <a:endParaRPr lang="en-US" altLang="zh-CN" dirty="0"/>
          </a:p>
        </p:txBody>
      </p:sp>
      <p:sp>
        <p:nvSpPr>
          <p:cNvPr id="91139" name="Rectangle 3"/>
          <p:cNvSpPr>
            <a:spLocks noGrp="1" noChangeArrowheads="1"/>
          </p:cNvSpPr>
          <p:nvPr>
            <p:ph type="body" idx="4294967295"/>
          </p:nvPr>
        </p:nvSpPr>
        <p:spPr>
          <a:xfrm>
            <a:off x="523528" y="1471613"/>
            <a:ext cx="8229600" cy="1381125"/>
          </a:xfrm>
        </p:spPr>
        <p:txBody>
          <a:bodyPr/>
          <a:lstStyle/>
          <a:p>
            <a:pPr eaLnBrk="1" hangingPunct="1">
              <a:spcBef>
                <a:spcPct val="0"/>
              </a:spcBef>
            </a:pPr>
            <a:r>
              <a:rPr lang="zh-CN" altLang="en-US" sz="2800" b="1" dirty="0">
                <a:sym typeface="Symbol" pitchFamily="18" charset="2"/>
              </a:rPr>
              <a:t>函数</a:t>
            </a:r>
            <a:r>
              <a:rPr lang="en-US" altLang="zh-CN" sz="2800" b="1" dirty="0">
                <a:sym typeface="Symbol" pitchFamily="18" charset="2"/>
              </a:rPr>
              <a:t>F</a:t>
            </a:r>
            <a:r>
              <a:rPr lang="zh-CN" altLang="en-US" sz="2800" b="1" dirty="0">
                <a:sym typeface="Symbol" pitchFamily="18" charset="2"/>
              </a:rPr>
              <a:t>的蕴含项</a:t>
            </a:r>
            <a:r>
              <a:rPr lang="en-US" altLang="zh-CN" sz="2800" b="1" dirty="0">
                <a:sym typeface="Symbol" pitchFamily="18" charset="2"/>
              </a:rPr>
              <a:t>P</a:t>
            </a:r>
            <a:r>
              <a:rPr lang="zh-CN" altLang="en-US" sz="2800" b="1" dirty="0">
                <a:sym typeface="Symbol" pitchFamily="18" charset="2"/>
              </a:rPr>
              <a:t>，如果不存在一个蕴含项</a:t>
            </a:r>
            <a:r>
              <a:rPr lang="en-US" altLang="zh-CN" sz="2800" b="1" dirty="0">
                <a:sym typeface="Symbol" pitchFamily="18" charset="2"/>
              </a:rPr>
              <a:t>Q</a:t>
            </a:r>
            <a:r>
              <a:rPr lang="en-US" altLang="zh-CN" sz="2800" b="1" dirty="0">
                <a:sym typeface="Symbol"/>
              </a:rPr>
              <a:t>P</a:t>
            </a:r>
            <a:r>
              <a:rPr lang="zh-CN" altLang="en-US" sz="2800" b="1" dirty="0">
                <a:sym typeface="Symbol"/>
              </a:rPr>
              <a:t>，使得</a:t>
            </a:r>
            <a:r>
              <a:rPr lang="en-US" altLang="zh-CN" sz="2800" b="1" dirty="0">
                <a:sym typeface="Symbol" pitchFamily="18" charset="2"/>
              </a:rPr>
              <a:t>P</a:t>
            </a:r>
            <a:r>
              <a:rPr lang="en-US" altLang="zh-CN" sz="2800" b="1" dirty="0">
                <a:sym typeface="Symbol"/>
              </a:rPr>
              <a:t>  Q  F</a:t>
            </a:r>
            <a:r>
              <a:rPr lang="zh-CN" altLang="en-US" sz="2800" b="1" dirty="0">
                <a:sym typeface="Symbol"/>
              </a:rPr>
              <a:t>，则称</a:t>
            </a:r>
            <a:r>
              <a:rPr lang="en-US" altLang="zh-CN" sz="2800" b="1" dirty="0">
                <a:sym typeface="Symbol"/>
              </a:rPr>
              <a:t>P</a:t>
            </a:r>
            <a:r>
              <a:rPr lang="zh-CN" altLang="en-US" sz="2800" b="1" dirty="0">
                <a:sym typeface="Symbol"/>
              </a:rPr>
              <a:t>为本原蕴含项</a:t>
            </a:r>
            <a:endParaRPr lang="en-US" altLang="zh-CN" sz="2800" b="1" dirty="0">
              <a:sym typeface="Symbol" pitchFamily="18" charset="2"/>
            </a:endParaRPr>
          </a:p>
        </p:txBody>
      </p:sp>
      <p:sp>
        <p:nvSpPr>
          <p:cNvPr id="643102" name="Oval 30"/>
          <p:cNvSpPr>
            <a:spLocks noChangeArrowheads="1"/>
          </p:cNvSpPr>
          <p:nvPr/>
        </p:nvSpPr>
        <p:spPr bwMode="auto">
          <a:xfrm>
            <a:off x="5400328" y="3744709"/>
            <a:ext cx="457200" cy="381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3103" name="Rectangle 31"/>
          <p:cNvSpPr>
            <a:spLocks noChangeArrowheads="1"/>
          </p:cNvSpPr>
          <p:nvPr/>
        </p:nvSpPr>
        <p:spPr bwMode="auto">
          <a:xfrm>
            <a:off x="5476528" y="3744709"/>
            <a:ext cx="457200" cy="914400"/>
          </a:xfrm>
          <a:prstGeom prst="rect">
            <a:avLst/>
          </a:prstGeom>
          <a:noFill/>
          <a:ln w="2857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3104" name="Rectangle 32"/>
          <p:cNvSpPr>
            <a:spLocks noChangeArrowheads="1"/>
          </p:cNvSpPr>
          <p:nvPr/>
        </p:nvSpPr>
        <p:spPr bwMode="auto">
          <a:xfrm>
            <a:off x="4638328" y="4278109"/>
            <a:ext cx="1219200" cy="381000"/>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dirty="0">
              <a:ea typeface="黑体" panose="02010609060101010101" pitchFamily="49" charset="-122"/>
            </a:endParaRPr>
          </a:p>
        </p:txBody>
      </p:sp>
      <p:sp>
        <p:nvSpPr>
          <p:cNvPr id="643105" name="Line 33"/>
          <p:cNvSpPr>
            <a:spLocks noChangeShapeType="1"/>
          </p:cNvSpPr>
          <p:nvPr/>
        </p:nvSpPr>
        <p:spPr bwMode="auto">
          <a:xfrm flipH="1">
            <a:off x="5857528" y="3439909"/>
            <a:ext cx="685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43106" name="Text Box 34"/>
          <p:cNvSpPr txBox="1">
            <a:spLocks noChangeArrowheads="1"/>
          </p:cNvSpPr>
          <p:nvPr/>
        </p:nvSpPr>
        <p:spPr bwMode="auto">
          <a:xfrm>
            <a:off x="6467128" y="2982709"/>
            <a:ext cx="6858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dirty="0">
                <a:solidFill>
                  <a:schemeClr val="tx1"/>
                </a:solidFill>
                <a:latin typeface="黑体" panose="02010609060101010101" pitchFamily="49" charset="-122"/>
                <a:ea typeface="黑体" panose="02010609060101010101" pitchFamily="49" charset="-122"/>
              </a:rPr>
              <a:t>①</a:t>
            </a:r>
          </a:p>
        </p:txBody>
      </p:sp>
      <p:sp>
        <p:nvSpPr>
          <p:cNvPr id="643107" name="Line 35"/>
          <p:cNvSpPr>
            <a:spLocks noChangeShapeType="1"/>
          </p:cNvSpPr>
          <p:nvPr/>
        </p:nvSpPr>
        <p:spPr bwMode="auto">
          <a:xfrm>
            <a:off x="5933728" y="4430509"/>
            <a:ext cx="990600" cy="228600"/>
          </a:xfrm>
          <a:prstGeom prst="line">
            <a:avLst/>
          </a:prstGeom>
          <a:noFill/>
          <a:ln w="952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43108" name="Text Box 36"/>
          <p:cNvSpPr txBox="1">
            <a:spLocks noChangeArrowheads="1"/>
          </p:cNvSpPr>
          <p:nvPr/>
        </p:nvSpPr>
        <p:spPr bwMode="auto">
          <a:xfrm>
            <a:off x="6771928" y="4246359"/>
            <a:ext cx="762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dirty="0">
                <a:latin typeface="黑体" panose="02010609060101010101" pitchFamily="49" charset="-122"/>
                <a:ea typeface="黑体" panose="02010609060101010101" pitchFamily="49" charset="-122"/>
              </a:rPr>
              <a:t>②</a:t>
            </a:r>
          </a:p>
        </p:txBody>
      </p:sp>
      <p:sp>
        <p:nvSpPr>
          <p:cNvPr id="643109" name="Line 37"/>
          <p:cNvSpPr>
            <a:spLocks noChangeShapeType="1"/>
          </p:cNvSpPr>
          <p:nvPr/>
        </p:nvSpPr>
        <p:spPr bwMode="auto">
          <a:xfrm>
            <a:off x="4943128" y="4659109"/>
            <a:ext cx="228600" cy="381000"/>
          </a:xfrm>
          <a:prstGeom prst="line">
            <a:avLst/>
          </a:prstGeom>
          <a:noFill/>
          <a:ln w="9525">
            <a:solidFill>
              <a:srgbClr val="33CC33"/>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643110" name="Text Box 38"/>
          <p:cNvSpPr txBox="1">
            <a:spLocks noChangeArrowheads="1"/>
          </p:cNvSpPr>
          <p:nvPr/>
        </p:nvSpPr>
        <p:spPr bwMode="auto">
          <a:xfrm>
            <a:off x="5019328" y="4811509"/>
            <a:ext cx="762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dirty="0">
                <a:solidFill>
                  <a:srgbClr val="33CC33"/>
                </a:solidFill>
                <a:latin typeface="黑体" panose="02010609060101010101" pitchFamily="49" charset="-122"/>
                <a:ea typeface="黑体" panose="02010609060101010101" pitchFamily="49" charset="-122"/>
              </a:rPr>
              <a:t>③</a:t>
            </a:r>
          </a:p>
        </p:txBody>
      </p:sp>
      <p:sp>
        <p:nvSpPr>
          <p:cNvPr id="643111" name="Rectangle 39"/>
          <p:cNvSpPr>
            <a:spLocks noChangeArrowheads="1"/>
          </p:cNvSpPr>
          <p:nvPr/>
        </p:nvSpPr>
        <p:spPr bwMode="auto">
          <a:xfrm>
            <a:off x="1302271" y="5800521"/>
            <a:ext cx="4493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en-US" altLang="zh-CN" sz="2800" dirty="0">
                <a:solidFill>
                  <a:schemeClr val="tx1"/>
                </a:solidFill>
                <a:latin typeface="黑体" panose="02010609060101010101" pitchFamily="49" charset="-122"/>
                <a:ea typeface="黑体" panose="02010609060101010101" pitchFamily="49" charset="-122"/>
              </a:rPr>
              <a:t>①</a:t>
            </a:r>
            <a:r>
              <a:rPr lang="en-US" altLang="zh-CN" sz="2800" dirty="0">
                <a:latin typeface="黑体" panose="02010609060101010101" pitchFamily="49" charset="-122"/>
                <a:ea typeface="黑体" panose="02010609060101010101" pitchFamily="49" charset="-122"/>
              </a:rPr>
              <a:t>: </a:t>
            </a:r>
            <a:r>
              <a:rPr lang="zh-CN" altLang="en-US" sz="2800" dirty="0">
                <a:solidFill>
                  <a:schemeClr val="tx1"/>
                </a:solidFill>
                <a:latin typeface="黑体" panose="02010609060101010101" pitchFamily="49" charset="-122"/>
                <a:ea typeface="黑体" panose="02010609060101010101" pitchFamily="49" charset="-122"/>
              </a:rPr>
              <a:t>蕴含</a:t>
            </a:r>
            <a:r>
              <a:rPr lang="zh-CN" altLang="en-US" sz="2800" dirty="0">
                <a:latin typeface="黑体" panose="02010609060101010101" pitchFamily="49" charset="-122"/>
                <a:ea typeface="黑体" panose="02010609060101010101" pitchFamily="49" charset="-122"/>
              </a:rPr>
              <a:t>项，</a:t>
            </a:r>
            <a:r>
              <a:rPr lang="zh-CN" altLang="en-US" sz="2800" dirty="0">
                <a:solidFill>
                  <a:schemeClr val="tx1"/>
                </a:solidFill>
                <a:latin typeface="黑体" panose="02010609060101010101" pitchFamily="49" charset="-122"/>
                <a:ea typeface="黑体" panose="02010609060101010101" pitchFamily="49" charset="-122"/>
              </a:rPr>
              <a:t>非本原蕴含项</a:t>
            </a:r>
            <a:endParaRPr lang="en-US" altLang="zh-CN" sz="2800" dirty="0">
              <a:solidFill>
                <a:schemeClr val="tx1"/>
              </a:solidFill>
              <a:ea typeface="黑体" panose="02010609060101010101" pitchFamily="49" charset="-122"/>
            </a:endParaRPr>
          </a:p>
        </p:txBody>
      </p:sp>
      <p:sp>
        <p:nvSpPr>
          <p:cNvPr id="643112" name="Rectangle 40"/>
          <p:cNvSpPr>
            <a:spLocks noChangeArrowheads="1"/>
          </p:cNvSpPr>
          <p:nvPr/>
        </p:nvSpPr>
        <p:spPr bwMode="auto">
          <a:xfrm>
            <a:off x="1300237" y="5343321"/>
            <a:ext cx="3071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en-US" altLang="zh-CN" sz="2800" dirty="0">
                <a:solidFill>
                  <a:schemeClr val="tx1"/>
                </a:solidFill>
                <a:latin typeface="黑体" panose="02010609060101010101" pitchFamily="49" charset="-122"/>
                <a:ea typeface="黑体" panose="02010609060101010101" pitchFamily="49" charset="-122"/>
              </a:rPr>
              <a:t>②/③:</a:t>
            </a:r>
            <a:r>
              <a:rPr lang="zh-CN" altLang="en-US" sz="2800" dirty="0">
                <a:solidFill>
                  <a:schemeClr val="tx1"/>
                </a:solidFill>
                <a:latin typeface="黑体" panose="02010609060101010101" pitchFamily="49" charset="-122"/>
                <a:ea typeface="黑体" panose="02010609060101010101" pitchFamily="49" charset="-122"/>
              </a:rPr>
              <a:t>本原蕴含项</a:t>
            </a:r>
            <a:endParaRPr lang="en-US" altLang="zh-CN" sz="2800" dirty="0">
              <a:solidFill>
                <a:schemeClr val="tx1"/>
              </a:solidFill>
              <a:ea typeface="黑体" panose="02010609060101010101" pitchFamily="49" charset="-122"/>
            </a:endParaRPr>
          </a:p>
        </p:txBody>
      </p:sp>
    </p:spTree>
    <p:extLst>
      <p:ext uri="{BB962C8B-B14F-4D97-AF65-F5344CB8AC3E}">
        <p14:creationId xmlns:p14="http://schemas.microsoft.com/office/powerpoint/2010/main" val="16308401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p:txBody>
          <a:bodyPr/>
          <a:lstStyle/>
          <a:p>
            <a:pPr eaLnBrk="1" hangingPunct="1"/>
            <a:r>
              <a:rPr lang="en-US" altLang="zh-CN" sz="3200" dirty="0"/>
              <a:t>Essential Prime Implicant</a:t>
            </a:r>
            <a:r>
              <a:rPr lang="zh-CN" altLang="en-US" sz="3200" dirty="0"/>
              <a:t>本质本原蕴含项</a:t>
            </a:r>
            <a:endParaRPr lang="en-US" altLang="zh-CN" sz="3200" dirty="0"/>
          </a:p>
        </p:txBody>
      </p:sp>
      <p:sp>
        <p:nvSpPr>
          <p:cNvPr id="92163" name="Rectangle 3"/>
          <p:cNvSpPr>
            <a:spLocks noGrp="1" noChangeArrowheads="1"/>
          </p:cNvSpPr>
          <p:nvPr>
            <p:ph idx="1"/>
          </p:nvPr>
        </p:nvSpPr>
        <p:spPr/>
        <p:txBody>
          <a:bodyPr/>
          <a:lstStyle/>
          <a:p>
            <a:pPr eaLnBrk="1" hangingPunct="1"/>
            <a:r>
              <a:rPr lang="zh-CN" altLang="en-US" sz="2800" b="1" dirty="0"/>
              <a:t>如果一个函数中某个元素</a:t>
            </a:r>
            <a:r>
              <a:rPr lang="en-US" altLang="zh-CN" sz="2800" b="1" dirty="0"/>
              <a:t>(</a:t>
            </a:r>
            <a:r>
              <a:rPr lang="zh-CN" altLang="en-US" sz="2800" b="1" dirty="0"/>
              <a:t>最小项</a:t>
            </a:r>
            <a:r>
              <a:rPr lang="en-US" altLang="zh-CN" sz="2800" b="1" dirty="0"/>
              <a:t>)</a:t>
            </a:r>
            <a:r>
              <a:rPr lang="zh-CN" altLang="en-US" sz="2800" b="1" dirty="0"/>
              <a:t>仅由一个本原蕴含项覆盖，则该本原蕴含项为本质本原蕴含项</a:t>
            </a:r>
            <a:endParaRPr lang="en-US" altLang="zh-CN" sz="2800" b="1" dirty="0"/>
          </a:p>
        </p:txBody>
      </p:sp>
      <p:sp>
        <p:nvSpPr>
          <p:cNvPr id="2" name="灯片编号占位符 1">
            <a:extLst>
              <a:ext uri="{FF2B5EF4-FFF2-40B4-BE49-F238E27FC236}">
                <a16:creationId xmlns:a16="http://schemas.microsoft.com/office/drawing/2014/main" id="{4419EA75-B5A7-0728-5F81-697ED948683E}"/>
              </a:ext>
            </a:extLst>
          </p:cNvPr>
          <p:cNvSpPr>
            <a:spLocks noGrp="1"/>
          </p:cNvSpPr>
          <p:nvPr>
            <p:ph type="sldNum" sz="quarter" idx="12"/>
          </p:nvPr>
        </p:nvSpPr>
        <p:spPr/>
        <p:txBody>
          <a:bodyPr/>
          <a:lstStyle/>
          <a:p>
            <a:fld id="{14659731-6BD7-46E7-8D3C-2F3AC07E20B1}" type="slidenum">
              <a:rPr lang="en-US" altLang="zh-CN" smtClean="0"/>
              <a:pPr/>
              <a:t>88</a:t>
            </a:fld>
            <a:endParaRPr lang="en-US" altLang="zh-CN" dirty="0"/>
          </a:p>
        </p:txBody>
      </p:sp>
      <p:graphicFrame>
        <p:nvGraphicFramePr>
          <p:cNvPr id="644100" name="Group 4"/>
          <p:cNvGraphicFramePr>
            <a:graphicFrameLocks noGrp="1"/>
          </p:cNvGraphicFramePr>
          <p:nvPr>
            <p:extLst>
              <p:ext uri="{D42A27DB-BD31-4B8C-83A1-F6EECF244321}">
                <p14:modId xmlns:p14="http://schemas.microsoft.com/office/powerpoint/2010/main" val="2230372682"/>
              </p:ext>
            </p:extLst>
          </p:nvPr>
        </p:nvGraphicFramePr>
        <p:xfrm>
          <a:off x="3518284" y="3017738"/>
          <a:ext cx="3962400" cy="2133601"/>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10636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49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2190" name="Rectangle 30"/>
          <p:cNvSpPr>
            <a:spLocks noChangeArrowheads="1"/>
          </p:cNvSpPr>
          <p:nvPr/>
        </p:nvSpPr>
        <p:spPr bwMode="auto">
          <a:xfrm>
            <a:off x="6871084" y="4160738"/>
            <a:ext cx="457200" cy="914400"/>
          </a:xfrm>
          <a:prstGeom prst="rect">
            <a:avLst/>
          </a:prstGeom>
          <a:noFill/>
          <a:ln w="2857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92191" name="Rectangle 31"/>
          <p:cNvSpPr>
            <a:spLocks noChangeArrowheads="1"/>
          </p:cNvSpPr>
          <p:nvPr/>
        </p:nvSpPr>
        <p:spPr bwMode="auto">
          <a:xfrm>
            <a:off x="6032884" y="4694138"/>
            <a:ext cx="1219200" cy="381000"/>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zh-CN" dirty="0">
              <a:ea typeface="黑体" panose="02010609060101010101" pitchFamily="49" charset="-122"/>
            </a:endParaRPr>
          </a:p>
        </p:txBody>
      </p:sp>
      <p:sp>
        <p:nvSpPr>
          <p:cNvPr id="92192" name="Line 32"/>
          <p:cNvSpPr>
            <a:spLocks noChangeShapeType="1"/>
          </p:cNvSpPr>
          <p:nvPr/>
        </p:nvSpPr>
        <p:spPr bwMode="auto">
          <a:xfrm>
            <a:off x="7328284" y="4846538"/>
            <a:ext cx="990600" cy="228600"/>
          </a:xfrm>
          <a:prstGeom prst="line">
            <a:avLst/>
          </a:prstGeom>
          <a:noFill/>
          <a:ln w="952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2193" name="Text Box 33"/>
          <p:cNvSpPr txBox="1">
            <a:spLocks noChangeArrowheads="1"/>
          </p:cNvSpPr>
          <p:nvPr/>
        </p:nvSpPr>
        <p:spPr bwMode="auto">
          <a:xfrm>
            <a:off x="8166484" y="4662388"/>
            <a:ext cx="762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dirty="0">
                <a:latin typeface="黑体" panose="02010609060101010101" pitchFamily="49" charset="-122"/>
                <a:ea typeface="黑体" panose="02010609060101010101" pitchFamily="49" charset="-122"/>
              </a:rPr>
              <a:t>②</a:t>
            </a:r>
          </a:p>
        </p:txBody>
      </p:sp>
      <p:sp>
        <p:nvSpPr>
          <p:cNvPr id="92194" name="Line 34"/>
          <p:cNvSpPr>
            <a:spLocks noChangeShapeType="1"/>
          </p:cNvSpPr>
          <p:nvPr/>
        </p:nvSpPr>
        <p:spPr bwMode="auto">
          <a:xfrm>
            <a:off x="7099684" y="5075138"/>
            <a:ext cx="228600" cy="381000"/>
          </a:xfrm>
          <a:prstGeom prst="line">
            <a:avLst/>
          </a:prstGeom>
          <a:noFill/>
          <a:ln w="9525">
            <a:solidFill>
              <a:srgbClr val="33CC33"/>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2195" name="Text Box 35"/>
          <p:cNvSpPr txBox="1">
            <a:spLocks noChangeArrowheads="1"/>
          </p:cNvSpPr>
          <p:nvPr/>
        </p:nvSpPr>
        <p:spPr bwMode="auto">
          <a:xfrm>
            <a:off x="7175884" y="5227538"/>
            <a:ext cx="762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dirty="0">
                <a:solidFill>
                  <a:srgbClr val="33CC33"/>
                </a:solidFill>
                <a:latin typeface="黑体" panose="02010609060101010101" pitchFamily="49" charset="-122"/>
                <a:ea typeface="黑体" panose="02010609060101010101" pitchFamily="49" charset="-122"/>
              </a:rPr>
              <a:t>③</a:t>
            </a:r>
          </a:p>
        </p:txBody>
      </p:sp>
      <p:sp>
        <p:nvSpPr>
          <p:cNvPr id="644132" name="Rectangle 36"/>
          <p:cNvSpPr>
            <a:spLocks noChangeArrowheads="1"/>
          </p:cNvSpPr>
          <p:nvPr/>
        </p:nvSpPr>
        <p:spPr bwMode="auto">
          <a:xfrm>
            <a:off x="566699" y="5390346"/>
            <a:ext cx="602152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②/③:</a:t>
            </a:r>
            <a:r>
              <a:rPr lang="zh-CN" altLang="en-US" sz="2800" dirty="0">
                <a:solidFill>
                  <a:schemeClr val="tx1"/>
                </a:solidFill>
                <a:latin typeface="Arial" panose="020B0604020202020204" pitchFamily="34" charset="0"/>
                <a:ea typeface="黑体" panose="02010609060101010101" pitchFamily="49" charset="-122"/>
                <a:cs typeface="Arial" panose="020B0604020202020204" pitchFamily="34" charset="0"/>
              </a:rPr>
              <a:t>本质本原蕴含项，因为</a:t>
            </a:r>
            <a:b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br>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A’BC’</a:t>
            </a:r>
            <a:r>
              <a:rPr lang="zh-CN" altLang="en-US" sz="2800" dirty="0">
                <a:solidFill>
                  <a:schemeClr val="tx1"/>
                </a:solidFill>
                <a:latin typeface="Arial" panose="020B0604020202020204" pitchFamily="34" charset="0"/>
                <a:ea typeface="黑体" panose="02010609060101010101" pitchFamily="49" charset="-122"/>
                <a:cs typeface="Arial" panose="020B0604020202020204" pitchFamily="34" charset="0"/>
              </a:rPr>
              <a:t>和</a:t>
            </a:r>
            <a:r>
              <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rPr>
              <a:t>ABC</a:t>
            </a:r>
            <a:r>
              <a:rPr lang="zh-CN" altLang="en-US" sz="2800" dirty="0">
                <a:solidFill>
                  <a:schemeClr val="tx1"/>
                </a:solidFill>
                <a:latin typeface="Arial" panose="020B0604020202020204" pitchFamily="34" charset="0"/>
                <a:ea typeface="黑体" panose="02010609060101010101" pitchFamily="49" charset="-122"/>
                <a:cs typeface="Arial" panose="020B0604020202020204" pitchFamily="34" charset="0"/>
              </a:rPr>
              <a:t>分别只能由</a:t>
            </a:r>
            <a:r>
              <a:rPr lang="en-US" altLang="zh-CN" sz="2800" dirty="0">
                <a:latin typeface="Arial" panose="020B0604020202020204" pitchFamily="34" charset="0"/>
                <a:ea typeface="黑体" panose="02010609060101010101" pitchFamily="49" charset="-122"/>
                <a:cs typeface="Arial" panose="020B0604020202020204" pitchFamily="34" charset="0"/>
              </a:rPr>
              <a:t>②</a:t>
            </a:r>
            <a:r>
              <a:rPr lang="zh-CN" altLang="en-US" sz="2800" dirty="0">
                <a:solidFill>
                  <a:schemeClr val="tx1"/>
                </a:solidFill>
                <a:latin typeface="Arial" panose="020B0604020202020204" pitchFamily="34" charset="0"/>
                <a:ea typeface="黑体" panose="02010609060101010101" pitchFamily="49" charset="-122"/>
                <a:cs typeface="Arial" panose="020B0604020202020204" pitchFamily="34" charset="0"/>
              </a:rPr>
              <a:t>和</a:t>
            </a:r>
            <a:r>
              <a:rPr lang="en-US" altLang="zh-CN" sz="2800" dirty="0">
                <a:latin typeface="Arial" panose="020B0604020202020204" pitchFamily="34" charset="0"/>
                <a:ea typeface="黑体" panose="02010609060101010101" pitchFamily="49" charset="-122"/>
                <a:cs typeface="Arial" panose="020B0604020202020204" pitchFamily="34" charset="0"/>
              </a:rPr>
              <a:t>③</a:t>
            </a:r>
            <a:r>
              <a:rPr lang="zh-CN" altLang="en-US" sz="2800" dirty="0">
                <a:solidFill>
                  <a:schemeClr val="tx1"/>
                </a:solidFill>
                <a:latin typeface="Arial" panose="020B0604020202020204" pitchFamily="34" charset="0"/>
                <a:ea typeface="黑体" panose="02010609060101010101" pitchFamily="49" charset="-122"/>
                <a:cs typeface="Arial" panose="020B0604020202020204" pitchFamily="34" charset="0"/>
              </a:rPr>
              <a:t>覆盖</a:t>
            </a:r>
            <a:endParaRPr lang="en-US" altLang="zh-CN" sz="2800" dirty="0">
              <a:solidFill>
                <a:schemeClr val="tx1"/>
              </a:solidFill>
              <a:latin typeface="Arial" panose="020B0604020202020204" pitchFamily="34" charset="0"/>
              <a:ea typeface="黑体" panose="02010609060101010101" pitchFamily="49" charset="-122"/>
              <a:cs typeface="Arial" panose="020B0604020202020204" pitchFamily="34" charset="0"/>
            </a:endParaRPr>
          </a:p>
        </p:txBody>
      </p:sp>
      <p:sp>
        <p:nvSpPr>
          <p:cNvPr id="644133" name="Oval 37"/>
          <p:cNvSpPr>
            <a:spLocks noChangeArrowheads="1"/>
          </p:cNvSpPr>
          <p:nvPr/>
        </p:nvSpPr>
        <p:spPr bwMode="auto">
          <a:xfrm>
            <a:off x="6794884" y="4192488"/>
            <a:ext cx="457200" cy="381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4134" name="Oval 38"/>
          <p:cNvSpPr>
            <a:spLocks noChangeArrowheads="1"/>
          </p:cNvSpPr>
          <p:nvPr/>
        </p:nvSpPr>
        <p:spPr bwMode="auto">
          <a:xfrm>
            <a:off x="6032884" y="4725888"/>
            <a:ext cx="457200" cy="381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4135" name="Text Box 39"/>
          <p:cNvSpPr txBox="1">
            <a:spLocks noChangeArrowheads="1"/>
          </p:cNvSpPr>
          <p:nvPr/>
        </p:nvSpPr>
        <p:spPr bwMode="auto">
          <a:xfrm>
            <a:off x="453262" y="3504565"/>
            <a:ext cx="3124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4000" dirty="0">
                <a:solidFill>
                  <a:schemeClr val="tx1"/>
                </a:solidFill>
                <a:latin typeface="+mn-lt"/>
                <a:ea typeface="黑体" panose="02010609060101010101" pitchFamily="49" charset="-122"/>
              </a:rPr>
              <a:t>Y=</a:t>
            </a:r>
            <a:r>
              <a:rPr lang="en-US" altLang="zh-CN" sz="4000" dirty="0">
                <a:latin typeface="+mn-lt"/>
                <a:ea typeface="黑体" panose="02010609060101010101" pitchFamily="49" charset="-122"/>
              </a:rPr>
              <a:t>BC’</a:t>
            </a:r>
            <a:r>
              <a:rPr lang="en-US" altLang="zh-CN" sz="4000" dirty="0">
                <a:solidFill>
                  <a:schemeClr val="tx1"/>
                </a:solidFill>
                <a:latin typeface="+mn-lt"/>
                <a:ea typeface="黑体" panose="02010609060101010101" pitchFamily="49" charset="-122"/>
              </a:rPr>
              <a:t>+</a:t>
            </a:r>
            <a:r>
              <a:rPr lang="en-US" altLang="zh-CN" sz="4000" dirty="0">
                <a:solidFill>
                  <a:srgbClr val="33CC33"/>
                </a:solidFill>
                <a:latin typeface="+mn-lt"/>
                <a:ea typeface="黑体" panose="02010609060101010101" pitchFamily="49" charset="-122"/>
              </a:rPr>
              <a:t>AB</a:t>
            </a:r>
          </a:p>
        </p:txBody>
      </p:sp>
      <p:sp>
        <p:nvSpPr>
          <p:cNvPr id="18" name="Rectangle 40">
            <a:extLst>
              <a:ext uri="{FF2B5EF4-FFF2-40B4-BE49-F238E27FC236}">
                <a16:creationId xmlns:a16="http://schemas.microsoft.com/office/drawing/2014/main" id="{FD2289C3-3EF1-8B4A-8A59-4EFD365147F6}"/>
              </a:ext>
            </a:extLst>
          </p:cNvPr>
          <p:cNvSpPr>
            <a:spLocks noChangeArrowheads="1"/>
          </p:cNvSpPr>
          <p:nvPr/>
        </p:nvSpPr>
        <p:spPr bwMode="auto">
          <a:xfrm>
            <a:off x="319087" y="4206875"/>
            <a:ext cx="3071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en-US" altLang="zh-CN" sz="2800" dirty="0">
                <a:solidFill>
                  <a:schemeClr val="tx1"/>
                </a:solidFill>
                <a:latin typeface="黑体" panose="02010609060101010101" pitchFamily="49" charset="-122"/>
                <a:ea typeface="黑体" panose="02010609060101010101" pitchFamily="49" charset="-122"/>
              </a:rPr>
              <a:t>②/③:</a:t>
            </a:r>
            <a:r>
              <a:rPr lang="zh-CN" altLang="en-US" sz="2800" dirty="0">
                <a:solidFill>
                  <a:schemeClr val="tx1"/>
                </a:solidFill>
                <a:latin typeface="黑体" panose="02010609060101010101" pitchFamily="49" charset="-122"/>
                <a:ea typeface="黑体" panose="02010609060101010101" pitchFamily="49" charset="-122"/>
              </a:rPr>
              <a:t>本原蕴含项</a:t>
            </a:r>
            <a:endParaRPr lang="en-US" altLang="zh-CN" sz="2800" dirty="0">
              <a:solidFill>
                <a:schemeClr val="tx1"/>
              </a:solidFill>
              <a:ea typeface="黑体" panose="02010609060101010101" pitchFamily="49" charset="-122"/>
            </a:endParaRPr>
          </a:p>
        </p:txBody>
      </p:sp>
    </p:spTree>
    <p:extLst>
      <p:ext uri="{BB962C8B-B14F-4D97-AF65-F5344CB8AC3E}">
        <p14:creationId xmlns:p14="http://schemas.microsoft.com/office/powerpoint/2010/main" val="12155873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Grp="1" noChangeArrowheads="1"/>
          </p:cNvSpPr>
          <p:nvPr>
            <p:ph type="title"/>
          </p:nvPr>
        </p:nvSpPr>
        <p:spPr/>
        <p:txBody>
          <a:bodyPr/>
          <a:lstStyle/>
          <a:p>
            <a:pPr eaLnBrk="1" hangingPunct="1"/>
            <a:r>
              <a:rPr lang="zh-CN" altLang="en-US" dirty="0"/>
              <a:t>寻找本质本原蕴含项举例</a:t>
            </a:r>
            <a:r>
              <a:rPr lang="en-US" altLang="zh-CN" dirty="0"/>
              <a:t>1</a:t>
            </a:r>
          </a:p>
        </p:txBody>
      </p:sp>
      <p:sp>
        <p:nvSpPr>
          <p:cNvPr id="7" name="灯片编号占位符 6">
            <a:extLst>
              <a:ext uri="{FF2B5EF4-FFF2-40B4-BE49-F238E27FC236}">
                <a16:creationId xmlns:a16="http://schemas.microsoft.com/office/drawing/2014/main" id="{CFBA0CF0-6414-FE6F-3985-11B86241EBFC}"/>
              </a:ext>
            </a:extLst>
          </p:cNvPr>
          <p:cNvSpPr>
            <a:spLocks noGrp="1"/>
          </p:cNvSpPr>
          <p:nvPr>
            <p:ph type="sldNum" sz="quarter" idx="12"/>
          </p:nvPr>
        </p:nvSpPr>
        <p:spPr/>
        <p:txBody>
          <a:bodyPr/>
          <a:lstStyle/>
          <a:p>
            <a:pPr>
              <a:defRPr/>
            </a:pPr>
            <a:fld id="{2EA1E184-7EFF-4B48-9C82-609CF6442F2C}" type="slidenum">
              <a:rPr lang="zh-CN" altLang="en-US" smtClean="0"/>
              <a:pPr>
                <a:defRPr/>
              </a:pPr>
              <a:t>89</a:t>
            </a:fld>
            <a:endParaRPr lang="en-US" altLang="zh-CN"/>
          </a:p>
        </p:txBody>
      </p:sp>
      <p:sp>
        <p:nvSpPr>
          <p:cNvPr id="650285" name="Rectangle 45"/>
          <p:cNvSpPr>
            <a:spLocks noChangeArrowheads="1"/>
          </p:cNvSpPr>
          <p:nvPr/>
        </p:nvSpPr>
        <p:spPr bwMode="auto">
          <a:xfrm>
            <a:off x="2209800" y="2541892"/>
            <a:ext cx="1102060" cy="1165619"/>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0286" name="Rectangle 46"/>
          <p:cNvSpPr>
            <a:spLocks noChangeArrowheads="1"/>
          </p:cNvSpPr>
          <p:nvPr/>
        </p:nvSpPr>
        <p:spPr bwMode="auto">
          <a:xfrm>
            <a:off x="2875130" y="3681757"/>
            <a:ext cx="1192814" cy="1144941"/>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0287" name="Rectangle 47"/>
          <p:cNvSpPr>
            <a:spLocks noChangeArrowheads="1"/>
          </p:cNvSpPr>
          <p:nvPr/>
        </p:nvSpPr>
        <p:spPr bwMode="auto">
          <a:xfrm>
            <a:off x="2971800" y="2719388"/>
            <a:ext cx="457200" cy="1905000"/>
          </a:xfrm>
          <a:prstGeom prst="rect">
            <a:avLst/>
          </a:prstGeom>
          <a:noFill/>
          <a:ln w="2857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0288" name="Rectangle 48"/>
          <p:cNvSpPr>
            <a:spLocks noChangeArrowheads="1"/>
          </p:cNvSpPr>
          <p:nvPr/>
        </p:nvSpPr>
        <p:spPr bwMode="auto">
          <a:xfrm>
            <a:off x="1600200" y="3176588"/>
            <a:ext cx="381000" cy="914400"/>
          </a:xfrm>
          <a:prstGeom prst="rect">
            <a:avLst/>
          </a:prstGeom>
          <a:noFill/>
          <a:ln w="2857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0289" name="Rectangle 49"/>
          <p:cNvSpPr>
            <a:spLocks noChangeArrowheads="1"/>
          </p:cNvSpPr>
          <p:nvPr/>
        </p:nvSpPr>
        <p:spPr bwMode="auto">
          <a:xfrm>
            <a:off x="1676400" y="3252788"/>
            <a:ext cx="914400" cy="304800"/>
          </a:xfrm>
          <a:prstGeom prst="rect">
            <a:avLst/>
          </a:prstGeom>
          <a:noFill/>
          <a:ln w="2857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grpSp>
        <p:nvGrpSpPr>
          <p:cNvPr id="2" name="Group 53"/>
          <p:cNvGrpSpPr>
            <a:grpSpLocks/>
          </p:cNvGrpSpPr>
          <p:nvPr/>
        </p:nvGrpSpPr>
        <p:grpSpPr bwMode="auto">
          <a:xfrm>
            <a:off x="1447800" y="3786188"/>
            <a:ext cx="457200" cy="304800"/>
            <a:chOff x="1056" y="3744"/>
            <a:chExt cx="240" cy="192"/>
          </a:xfrm>
        </p:grpSpPr>
        <p:sp>
          <p:nvSpPr>
            <p:cNvPr id="93242" name="Line 50"/>
            <p:cNvSpPr>
              <a:spLocks noChangeShapeType="1"/>
            </p:cNvSpPr>
            <p:nvPr/>
          </p:nvSpPr>
          <p:spPr bwMode="auto">
            <a:xfrm>
              <a:off x="1056" y="3744"/>
              <a:ext cx="2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3243" name="Line 51"/>
            <p:cNvSpPr>
              <a:spLocks noChangeShapeType="1"/>
            </p:cNvSpPr>
            <p:nvPr/>
          </p:nvSpPr>
          <p:spPr bwMode="auto">
            <a:xfrm>
              <a:off x="1056" y="3936"/>
              <a:ext cx="2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3244" name="Line 52"/>
            <p:cNvSpPr>
              <a:spLocks noChangeShapeType="1"/>
            </p:cNvSpPr>
            <p:nvPr/>
          </p:nvSpPr>
          <p:spPr bwMode="auto">
            <a:xfrm flipV="1">
              <a:off x="1296" y="3744"/>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grpSp>
      <p:grpSp>
        <p:nvGrpSpPr>
          <p:cNvPr id="3" name="Group 54"/>
          <p:cNvGrpSpPr>
            <a:grpSpLocks/>
          </p:cNvGrpSpPr>
          <p:nvPr/>
        </p:nvGrpSpPr>
        <p:grpSpPr bwMode="auto">
          <a:xfrm flipH="1">
            <a:off x="3733800" y="3786188"/>
            <a:ext cx="457200" cy="304800"/>
            <a:chOff x="1056" y="3744"/>
            <a:chExt cx="240" cy="192"/>
          </a:xfrm>
        </p:grpSpPr>
        <p:sp>
          <p:nvSpPr>
            <p:cNvPr id="93239" name="Line 55"/>
            <p:cNvSpPr>
              <a:spLocks noChangeShapeType="1"/>
            </p:cNvSpPr>
            <p:nvPr/>
          </p:nvSpPr>
          <p:spPr bwMode="auto">
            <a:xfrm>
              <a:off x="1056" y="3744"/>
              <a:ext cx="2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3240" name="Line 56"/>
            <p:cNvSpPr>
              <a:spLocks noChangeShapeType="1"/>
            </p:cNvSpPr>
            <p:nvPr/>
          </p:nvSpPr>
          <p:spPr bwMode="auto">
            <a:xfrm>
              <a:off x="1056" y="3936"/>
              <a:ext cx="24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93241" name="Line 57"/>
            <p:cNvSpPr>
              <a:spLocks noChangeShapeType="1"/>
            </p:cNvSpPr>
            <p:nvPr/>
          </p:nvSpPr>
          <p:spPr bwMode="auto">
            <a:xfrm flipV="1">
              <a:off x="1296" y="3744"/>
              <a:ext cx="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grpSp>
      <p:sp>
        <p:nvSpPr>
          <p:cNvPr id="650298" name="Rectangle 58"/>
          <p:cNvSpPr>
            <a:spLocks noChangeArrowheads="1"/>
          </p:cNvSpPr>
          <p:nvPr/>
        </p:nvSpPr>
        <p:spPr bwMode="auto">
          <a:xfrm>
            <a:off x="877888" y="4876800"/>
            <a:ext cx="7499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zh-CN" altLang="en-US" sz="2800" dirty="0">
                <a:solidFill>
                  <a:schemeClr val="tx1"/>
                </a:solidFill>
                <a:ea typeface="黑体" panose="02010609060101010101" pitchFamily="49" charset="-122"/>
              </a:rPr>
              <a:t>本原蕴含项</a:t>
            </a:r>
            <a:r>
              <a:rPr lang="en-US" altLang="zh-CN" sz="2800" dirty="0">
                <a:solidFill>
                  <a:schemeClr val="tx1"/>
                </a:solidFill>
                <a:ea typeface="黑体" panose="02010609060101010101" pitchFamily="49" charset="-122"/>
              </a:rPr>
              <a:t>: BC</a:t>
            </a:r>
            <a:r>
              <a:rPr lang="en-US" altLang="zh-CN" sz="2800" dirty="0">
                <a:solidFill>
                  <a:schemeClr val="tx1"/>
                </a:solidFill>
                <a:latin typeface="Arial" charset="0"/>
                <a:ea typeface="黑体" panose="02010609060101010101" pitchFamily="49" charset="-122"/>
              </a:rPr>
              <a:t>’</a:t>
            </a:r>
            <a:r>
              <a:rPr lang="en-US" altLang="zh-CN" sz="2800" dirty="0">
                <a:solidFill>
                  <a:schemeClr val="tx1"/>
                </a:solidFill>
                <a:ea typeface="黑体" panose="02010609060101010101" pitchFamily="49" charset="-122"/>
              </a:rPr>
              <a:t>, </a:t>
            </a:r>
            <a:r>
              <a:rPr lang="en-US" altLang="zh-CN" sz="2800" dirty="0">
                <a:solidFill>
                  <a:srgbClr val="33CC33"/>
                </a:solidFill>
                <a:ea typeface="黑体" panose="02010609060101010101" pitchFamily="49" charset="-122"/>
              </a:rPr>
              <a:t>AC</a:t>
            </a:r>
            <a:r>
              <a:rPr lang="en-US" altLang="zh-CN" sz="2800" dirty="0">
                <a:solidFill>
                  <a:schemeClr val="tx1"/>
                </a:solidFill>
                <a:ea typeface="黑体" panose="02010609060101010101" pitchFamily="49" charset="-122"/>
              </a:rPr>
              <a:t>, </a:t>
            </a:r>
            <a:r>
              <a:rPr lang="en-US" altLang="zh-CN" sz="2800" dirty="0">
                <a:solidFill>
                  <a:srgbClr val="FF00FF"/>
                </a:solidFill>
                <a:ea typeface="黑体" panose="02010609060101010101" pitchFamily="49" charset="-122"/>
              </a:rPr>
              <a:t>AB</a:t>
            </a:r>
            <a:r>
              <a:rPr lang="en-US" altLang="zh-CN" sz="2800" dirty="0">
                <a:solidFill>
                  <a:schemeClr val="tx1"/>
                </a:solidFill>
                <a:ea typeface="黑体" panose="02010609060101010101" pitchFamily="49" charset="-122"/>
              </a:rPr>
              <a:t>, </a:t>
            </a:r>
            <a:r>
              <a:rPr lang="en-US" altLang="zh-CN" sz="2800" dirty="0">
                <a:solidFill>
                  <a:srgbClr val="2990E5"/>
                </a:solidFill>
                <a:ea typeface="黑体" panose="02010609060101010101" pitchFamily="49" charset="-122"/>
              </a:rPr>
              <a:t>A</a:t>
            </a:r>
            <a:r>
              <a:rPr lang="en-US" altLang="zh-CN" sz="2800" dirty="0">
                <a:solidFill>
                  <a:srgbClr val="2990E5"/>
                </a:solidFill>
                <a:latin typeface="Arial" charset="0"/>
                <a:ea typeface="黑体" panose="02010609060101010101" pitchFamily="49" charset="-122"/>
              </a:rPr>
              <a:t>’</a:t>
            </a:r>
            <a:r>
              <a:rPr lang="en-US" altLang="zh-CN" sz="2800" dirty="0">
                <a:solidFill>
                  <a:srgbClr val="2990E5"/>
                </a:solidFill>
                <a:ea typeface="黑体" panose="02010609060101010101" pitchFamily="49" charset="-122"/>
              </a:rPr>
              <a:t>C</a:t>
            </a:r>
            <a:r>
              <a:rPr lang="en-US" altLang="zh-CN" sz="2800" dirty="0">
                <a:solidFill>
                  <a:srgbClr val="2990E5"/>
                </a:solidFill>
                <a:latin typeface="Arial" charset="0"/>
                <a:ea typeface="黑体" panose="02010609060101010101" pitchFamily="49" charset="-122"/>
              </a:rPr>
              <a:t>’</a:t>
            </a:r>
            <a:r>
              <a:rPr lang="en-US" altLang="zh-CN" sz="2800" dirty="0">
                <a:solidFill>
                  <a:srgbClr val="2990E5"/>
                </a:solidFill>
                <a:ea typeface="黑体" panose="02010609060101010101" pitchFamily="49" charset="-122"/>
              </a:rPr>
              <a:t>D</a:t>
            </a:r>
            <a:r>
              <a:rPr lang="en-US" altLang="zh-CN" sz="2800" dirty="0">
                <a:solidFill>
                  <a:schemeClr val="folHlink"/>
                </a:solidFill>
                <a:ea typeface="黑体" panose="02010609060101010101" pitchFamily="49" charset="-122"/>
              </a:rPr>
              <a:t>,</a:t>
            </a:r>
            <a:r>
              <a:rPr lang="en-US" altLang="zh-CN" sz="2800" dirty="0">
                <a:solidFill>
                  <a:schemeClr val="tx1"/>
                </a:solidFill>
                <a:ea typeface="黑体" panose="02010609060101010101" pitchFamily="49" charset="-122"/>
              </a:rPr>
              <a:t> </a:t>
            </a:r>
            <a:r>
              <a:rPr lang="en-US" altLang="zh-CN" sz="2800" dirty="0">
                <a:solidFill>
                  <a:srgbClr val="FF0066"/>
                </a:solidFill>
                <a:ea typeface="黑体" panose="02010609060101010101" pitchFamily="49" charset="-122"/>
              </a:rPr>
              <a:t>A</a:t>
            </a:r>
            <a:r>
              <a:rPr lang="en-US" altLang="zh-CN" sz="2800" dirty="0">
                <a:solidFill>
                  <a:srgbClr val="FF0066"/>
                </a:solidFill>
                <a:latin typeface="Arial" charset="0"/>
                <a:ea typeface="黑体" panose="02010609060101010101" pitchFamily="49" charset="-122"/>
              </a:rPr>
              <a:t>’</a:t>
            </a:r>
            <a:r>
              <a:rPr lang="en-US" altLang="zh-CN" sz="2800" dirty="0">
                <a:solidFill>
                  <a:srgbClr val="FF0066"/>
                </a:solidFill>
                <a:ea typeface="黑体" panose="02010609060101010101" pitchFamily="49" charset="-122"/>
              </a:rPr>
              <a:t>B</a:t>
            </a:r>
            <a:r>
              <a:rPr lang="en-US" altLang="zh-CN" sz="2800" dirty="0">
                <a:solidFill>
                  <a:srgbClr val="FF0066"/>
                </a:solidFill>
                <a:latin typeface="Arial" charset="0"/>
                <a:ea typeface="黑体" panose="02010609060101010101" pitchFamily="49" charset="-122"/>
              </a:rPr>
              <a:t>’</a:t>
            </a:r>
            <a:r>
              <a:rPr lang="en-US" altLang="zh-CN" sz="2800" dirty="0">
                <a:solidFill>
                  <a:srgbClr val="FF0066"/>
                </a:solidFill>
                <a:ea typeface="黑体" panose="02010609060101010101" pitchFamily="49" charset="-122"/>
              </a:rPr>
              <a:t>D</a:t>
            </a:r>
            <a:r>
              <a:rPr lang="en-US" altLang="zh-CN" sz="2800" dirty="0">
                <a:solidFill>
                  <a:schemeClr val="tx1"/>
                </a:solidFill>
                <a:ea typeface="黑体" panose="02010609060101010101" pitchFamily="49" charset="-122"/>
              </a:rPr>
              <a:t>, B</a:t>
            </a:r>
            <a:r>
              <a:rPr lang="en-US" altLang="zh-CN" sz="2800" dirty="0">
                <a:solidFill>
                  <a:schemeClr val="tx1"/>
                </a:solidFill>
                <a:latin typeface="Arial" charset="0"/>
                <a:ea typeface="黑体" panose="02010609060101010101" pitchFamily="49" charset="-122"/>
              </a:rPr>
              <a:t>’</a:t>
            </a:r>
            <a:r>
              <a:rPr lang="en-US" altLang="zh-CN" sz="2800" dirty="0">
                <a:solidFill>
                  <a:schemeClr val="tx1"/>
                </a:solidFill>
                <a:ea typeface="黑体" panose="02010609060101010101" pitchFamily="49" charset="-122"/>
              </a:rPr>
              <a:t>CD </a:t>
            </a:r>
          </a:p>
        </p:txBody>
      </p:sp>
      <p:sp>
        <p:nvSpPr>
          <p:cNvPr id="650299" name="Rectangle 59"/>
          <p:cNvSpPr>
            <a:spLocks noChangeArrowheads="1"/>
          </p:cNvSpPr>
          <p:nvPr/>
        </p:nvSpPr>
        <p:spPr bwMode="auto">
          <a:xfrm>
            <a:off x="2578100" y="5410200"/>
            <a:ext cx="36166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zh-CN" altLang="en-US" sz="2800" dirty="0">
                <a:solidFill>
                  <a:schemeClr val="tx1"/>
                </a:solidFill>
                <a:ea typeface="黑体" panose="02010609060101010101" pitchFamily="49" charset="-122"/>
              </a:rPr>
              <a:t>谁是本质本原蕴含项</a:t>
            </a:r>
            <a:r>
              <a:rPr lang="en-US" altLang="zh-CN" sz="2800" dirty="0">
                <a:solidFill>
                  <a:schemeClr val="tx1"/>
                </a:solidFill>
                <a:ea typeface="黑体" panose="02010609060101010101" pitchFamily="49" charset="-122"/>
              </a:rPr>
              <a:t>?</a:t>
            </a:r>
            <a:endParaRPr lang="en-US" altLang="zh-CN" sz="2800" dirty="0">
              <a:solidFill>
                <a:schemeClr val="folHlink"/>
              </a:solidFill>
              <a:ea typeface="黑体" panose="02010609060101010101" pitchFamily="49" charset="-122"/>
            </a:endParaRPr>
          </a:p>
        </p:txBody>
      </p:sp>
      <p:sp>
        <p:nvSpPr>
          <p:cNvPr id="650302" name="Rectangle 62"/>
          <p:cNvSpPr>
            <a:spLocks noChangeArrowheads="1"/>
          </p:cNvSpPr>
          <p:nvPr/>
        </p:nvSpPr>
        <p:spPr bwMode="auto">
          <a:xfrm>
            <a:off x="2303463" y="5881688"/>
            <a:ext cx="4229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zh-CN" altLang="en-US" sz="2800" dirty="0">
                <a:solidFill>
                  <a:schemeClr val="tx1"/>
                </a:solidFill>
                <a:ea typeface="黑体" panose="02010609060101010101" pitchFamily="49" charset="-122"/>
              </a:rPr>
              <a:t>本质本原蕴含项</a:t>
            </a:r>
            <a:r>
              <a:rPr lang="en-US" altLang="zh-CN" sz="2800" dirty="0">
                <a:solidFill>
                  <a:schemeClr val="tx1"/>
                </a:solidFill>
                <a:ea typeface="黑体" panose="02010609060101010101" pitchFamily="49" charset="-122"/>
              </a:rPr>
              <a:t>: BC</a:t>
            </a:r>
            <a:r>
              <a:rPr lang="en-US" altLang="zh-CN" sz="2800" dirty="0">
                <a:solidFill>
                  <a:schemeClr val="tx1"/>
                </a:solidFill>
                <a:latin typeface="Arial" charset="0"/>
                <a:ea typeface="黑体" panose="02010609060101010101" pitchFamily="49" charset="-122"/>
              </a:rPr>
              <a:t>’</a:t>
            </a:r>
            <a:r>
              <a:rPr lang="en-US" altLang="zh-CN" sz="2800" dirty="0">
                <a:solidFill>
                  <a:schemeClr val="tx1"/>
                </a:solidFill>
                <a:ea typeface="黑体" panose="02010609060101010101" pitchFamily="49" charset="-122"/>
              </a:rPr>
              <a:t>, </a:t>
            </a:r>
            <a:r>
              <a:rPr lang="en-US" altLang="zh-CN" sz="2800" dirty="0">
                <a:solidFill>
                  <a:srgbClr val="33CC33"/>
                </a:solidFill>
                <a:ea typeface="黑体" panose="02010609060101010101" pitchFamily="49" charset="-122"/>
              </a:rPr>
              <a:t>AC</a:t>
            </a:r>
            <a:r>
              <a:rPr lang="en-US" altLang="zh-CN" sz="2800" dirty="0">
                <a:solidFill>
                  <a:schemeClr val="tx1"/>
                </a:solidFill>
                <a:ea typeface="黑体" panose="02010609060101010101" pitchFamily="49" charset="-122"/>
              </a:rPr>
              <a:t> </a:t>
            </a:r>
          </a:p>
        </p:txBody>
      </p:sp>
      <p:sp>
        <p:nvSpPr>
          <p:cNvPr id="650303" name="Text Box 63"/>
          <p:cNvSpPr txBox="1">
            <a:spLocks noChangeArrowheads="1"/>
          </p:cNvSpPr>
          <p:nvPr/>
        </p:nvSpPr>
        <p:spPr bwMode="auto">
          <a:xfrm>
            <a:off x="4691436" y="2583966"/>
            <a:ext cx="3006720" cy="523220"/>
          </a:xfrm>
          <a:prstGeom prst="rect">
            <a:avLst/>
          </a:prstGeom>
          <a:solidFill>
            <a:srgbClr val="F2F2F2"/>
          </a:solidFill>
          <a:ln>
            <a:noFill/>
          </a:ln>
        </p:spPr>
        <p:txBody>
          <a:bodyPr wrap="square">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b="0" dirty="0">
                <a:solidFill>
                  <a:schemeClr val="tx1"/>
                </a:solidFill>
                <a:latin typeface="+mn-lt"/>
                <a:ea typeface="黑体" panose="02010609060101010101" pitchFamily="49" charset="-122"/>
              </a:rPr>
              <a:t>Y=BC’+</a:t>
            </a:r>
            <a:r>
              <a:rPr lang="en-US" altLang="zh-CN" sz="2800" b="0" dirty="0">
                <a:solidFill>
                  <a:srgbClr val="33CC33"/>
                </a:solidFill>
                <a:latin typeface="+mn-lt"/>
                <a:ea typeface="黑体" panose="02010609060101010101" pitchFamily="49" charset="-122"/>
              </a:rPr>
              <a:t>AC</a:t>
            </a:r>
            <a:r>
              <a:rPr lang="en-US" altLang="zh-CN" sz="2800" b="0" dirty="0">
                <a:solidFill>
                  <a:schemeClr val="tx1"/>
                </a:solidFill>
                <a:latin typeface="+mn-lt"/>
                <a:ea typeface="黑体" panose="02010609060101010101" pitchFamily="49" charset="-122"/>
              </a:rPr>
              <a:t>+</a:t>
            </a:r>
            <a:r>
              <a:rPr lang="en-US" altLang="zh-CN" sz="2800" b="0" dirty="0">
                <a:solidFill>
                  <a:srgbClr val="C00000"/>
                </a:solidFill>
                <a:latin typeface="+mn-lt"/>
                <a:ea typeface="黑体" panose="02010609060101010101" pitchFamily="49" charset="-122"/>
              </a:rPr>
              <a:t>A’B’D</a:t>
            </a:r>
          </a:p>
        </p:txBody>
      </p:sp>
      <p:sp>
        <p:nvSpPr>
          <p:cNvPr id="25" name="Oval 57"/>
          <p:cNvSpPr>
            <a:spLocks noChangeArrowheads="1"/>
          </p:cNvSpPr>
          <p:nvPr/>
        </p:nvSpPr>
        <p:spPr bwMode="auto">
          <a:xfrm>
            <a:off x="2221832" y="2706840"/>
            <a:ext cx="533400" cy="38100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26" name="Oval 57"/>
          <p:cNvSpPr>
            <a:spLocks noChangeArrowheads="1"/>
          </p:cNvSpPr>
          <p:nvPr/>
        </p:nvSpPr>
        <p:spPr bwMode="auto">
          <a:xfrm>
            <a:off x="3587316" y="4280249"/>
            <a:ext cx="533400" cy="38100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cxnSp>
        <p:nvCxnSpPr>
          <p:cNvPr id="5" name="直线箭头连接符 4"/>
          <p:cNvCxnSpPr>
            <a:stCxn id="26" idx="6"/>
          </p:cNvCxnSpPr>
          <p:nvPr/>
        </p:nvCxnSpPr>
        <p:spPr bwMode="auto">
          <a:xfrm flipV="1">
            <a:off x="4120716" y="4254227"/>
            <a:ext cx="739316" cy="21652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6" name="文本框 5"/>
          <p:cNvSpPr txBox="1"/>
          <p:nvPr/>
        </p:nvSpPr>
        <p:spPr>
          <a:xfrm>
            <a:off x="4860032" y="4063261"/>
            <a:ext cx="3262432" cy="400110"/>
          </a:xfrm>
          <a:prstGeom prst="rect">
            <a:avLst/>
          </a:prstGeom>
          <a:noFill/>
        </p:spPr>
        <p:txBody>
          <a:bodyPr wrap="none" rtlCol="0">
            <a:spAutoFit/>
          </a:bodyPr>
          <a:lstStyle/>
          <a:p>
            <a:r>
              <a:rPr kumimoji="1" lang="zh-CN" altLang="en-US" sz="2000" dirty="0">
                <a:ea typeface="黑体" panose="02010609060101010101" pitchFamily="49" charset="-122"/>
              </a:rPr>
              <a:t>不能被其它本原蕴含项覆盖</a:t>
            </a:r>
          </a:p>
        </p:txBody>
      </p:sp>
      <p:cxnSp>
        <p:nvCxnSpPr>
          <p:cNvPr id="29" name="直线箭头连接符 28"/>
          <p:cNvCxnSpPr/>
          <p:nvPr/>
        </p:nvCxnSpPr>
        <p:spPr bwMode="auto">
          <a:xfrm>
            <a:off x="2732221" y="2922766"/>
            <a:ext cx="2179839" cy="11274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12A3BA5D-F5AC-4C65-B5DB-028D84EE0D86}"/>
                  </a:ext>
                </a:extLst>
              </p14:cNvPr>
              <p14:cNvContentPartPr/>
              <p14:nvPr/>
            </p14:nvContentPartPr>
            <p14:xfrm>
              <a:off x="2890440" y="3137400"/>
              <a:ext cx="3006720" cy="1134000"/>
            </p14:xfrm>
          </p:contentPart>
        </mc:Choice>
        <mc:Fallback xmlns="">
          <p:pic>
            <p:nvPicPr>
              <p:cNvPr id="4" name="墨迹 3">
                <a:extLst>
                  <a:ext uri="{FF2B5EF4-FFF2-40B4-BE49-F238E27FC236}">
                    <a16:creationId xmlns:a16="http://schemas.microsoft.com/office/drawing/2014/main" id="{12A3BA5D-F5AC-4C65-B5DB-028D84EE0D86}"/>
                  </a:ext>
                </a:extLst>
              </p:cNvPr>
              <p:cNvPicPr/>
              <p:nvPr/>
            </p:nvPicPr>
            <p:blipFill>
              <a:blip r:embed="rId4"/>
              <a:stretch>
                <a:fillRect/>
              </a:stretch>
            </p:blipFill>
            <p:spPr>
              <a:xfrm>
                <a:off x="2881080" y="3128040"/>
                <a:ext cx="3025440" cy="1152720"/>
              </a:xfrm>
              <a:prstGeom prst="rect">
                <a:avLst/>
              </a:prstGeom>
            </p:spPr>
          </p:pic>
        </mc:Fallback>
      </mc:AlternateContent>
      <p:graphicFrame>
        <p:nvGraphicFramePr>
          <p:cNvPr id="10" name="Group 44">
            <a:extLst>
              <a:ext uri="{FF2B5EF4-FFF2-40B4-BE49-F238E27FC236}">
                <a16:creationId xmlns:a16="http://schemas.microsoft.com/office/drawing/2014/main" id="{BF6349E0-3435-79BF-19E1-90710FD85EAD}"/>
              </a:ext>
            </a:extLst>
          </p:cNvPr>
          <p:cNvGraphicFramePr>
            <a:graphicFrameLocks noGrp="1"/>
          </p:cNvGraphicFramePr>
          <p:nvPr>
            <p:ph idx="1"/>
          </p:nvPr>
        </p:nvGraphicFramePr>
        <p:xfrm>
          <a:off x="609600" y="1600200"/>
          <a:ext cx="3657600" cy="3102864"/>
        </p:xfrm>
        <a:graphic>
          <a:graphicData uri="http://schemas.openxmlformats.org/drawingml/2006/table">
            <a:tbl>
              <a:tblPr/>
              <a:tblGrid>
                <a:gridCol w="931863">
                  <a:extLst>
                    <a:ext uri="{9D8B030D-6E8A-4147-A177-3AD203B41FA5}">
                      <a16:colId xmlns:a16="http://schemas.microsoft.com/office/drawing/2014/main" val="20000"/>
                    </a:ext>
                  </a:extLst>
                </a:gridCol>
                <a:gridCol w="715962">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715963">
                  <a:extLst>
                    <a:ext uri="{9D8B030D-6E8A-4147-A177-3AD203B41FA5}">
                      <a16:colId xmlns:a16="http://schemas.microsoft.com/office/drawing/2014/main" val="20003"/>
                    </a:ext>
                  </a:extLst>
                </a:gridCol>
                <a:gridCol w="646112">
                  <a:extLst>
                    <a:ext uri="{9D8B030D-6E8A-4147-A177-3AD203B41FA5}">
                      <a16:colId xmlns:a16="http://schemas.microsoft.com/office/drawing/2014/main" val="20004"/>
                    </a:ext>
                  </a:extLst>
                </a:gridCol>
              </a:tblGrid>
              <a:tr h="8350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 AB</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CD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06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91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87298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3BBBB9E6-40F9-75CB-32DD-F971B62F68AD}"/>
              </a:ext>
            </a:extLst>
          </p:cNvPr>
          <p:cNvSpPr>
            <a:spLocks noGrp="1" noChangeArrowheads="1"/>
          </p:cNvSpPr>
          <p:nvPr>
            <p:ph type="title"/>
          </p:nvPr>
        </p:nvSpPr>
        <p:spPr/>
        <p:txBody>
          <a:bodyPr/>
          <a:lstStyle/>
          <a:p>
            <a:pPr eaLnBrk="1" hangingPunct="1"/>
            <a:r>
              <a:rPr lang="zh-CN" altLang="en-US" dirty="0"/>
              <a:t>寻找本质本原蕴含项举例</a:t>
            </a:r>
            <a:r>
              <a:rPr lang="en-US" altLang="zh-CN" dirty="0"/>
              <a:t>2</a:t>
            </a:r>
          </a:p>
        </p:txBody>
      </p:sp>
      <p:sp>
        <p:nvSpPr>
          <p:cNvPr id="2" name="灯片编号占位符 1">
            <a:extLst>
              <a:ext uri="{FF2B5EF4-FFF2-40B4-BE49-F238E27FC236}">
                <a16:creationId xmlns:a16="http://schemas.microsoft.com/office/drawing/2014/main" id="{19345062-BB41-A728-3678-36EDB1553FC3}"/>
              </a:ext>
            </a:extLst>
          </p:cNvPr>
          <p:cNvSpPr>
            <a:spLocks noGrp="1"/>
          </p:cNvSpPr>
          <p:nvPr>
            <p:ph type="sldNum" sz="quarter" idx="12"/>
          </p:nvPr>
        </p:nvSpPr>
        <p:spPr/>
        <p:txBody>
          <a:bodyPr/>
          <a:lstStyle/>
          <a:p>
            <a:pPr>
              <a:defRPr/>
            </a:pPr>
            <a:fld id="{2EA1E184-7EFF-4B48-9C82-609CF6442F2C}" type="slidenum">
              <a:rPr lang="zh-CN" altLang="en-US" smtClean="0"/>
              <a:pPr>
                <a:defRPr/>
              </a:pPr>
              <a:t>90</a:t>
            </a:fld>
            <a:endParaRPr lang="en-US" altLang="zh-CN"/>
          </a:p>
        </p:txBody>
      </p:sp>
      <p:sp>
        <p:nvSpPr>
          <p:cNvPr id="652329" name="Rectangle 41"/>
          <p:cNvSpPr>
            <a:spLocks noChangeArrowheads="1"/>
          </p:cNvSpPr>
          <p:nvPr/>
        </p:nvSpPr>
        <p:spPr bwMode="auto">
          <a:xfrm>
            <a:off x="2362200" y="3200400"/>
            <a:ext cx="990600" cy="838200"/>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30" name="Rectangle 42"/>
          <p:cNvSpPr>
            <a:spLocks noChangeArrowheads="1"/>
          </p:cNvSpPr>
          <p:nvPr/>
        </p:nvSpPr>
        <p:spPr bwMode="auto">
          <a:xfrm>
            <a:off x="3048000" y="3786188"/>
            <a:ext cx="990600" cy="3286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31" name="Rectangle 43"/>
          <p:cNvSpPr>
            <a:spLocks noChangeArrowheads="1"/>
          </p:cNvSpPr>
          <p:nvPr/>
        </p:nvSpPr>
        <p:spPr bwMode="auto">
          <a:xfrm>
            <a:off x="2971800" y="2719388"/>
            <a:ext cx="457200" cy="862012"/>
          </a:xfrm>
          <a:prstGeom prst="rect">
            <a:avLst/>
          </a:prstGeom>
          <a:noFill/>
          <a:ln w="2857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32" name="Rectangle 44"/>
          <p:cNvSpPr>
            <a:spLocks noChangeArrowheads="1"/>
          </p:cNvSpPr>
          <p:nvPr/>
        </p:nvSpPr>
        <p:spPr bwMode="auto">
          <a:xfrm>
            <a:off x="2362200" y="3733800"/>
            <a:ext cx="381000" cy="914400"/>
          </a:xfrm>
          <a:prstGeom prst="rect">
            <a:avLst/>
          </a:prstGeom>
          <a:noFill/>
          <a:ln w="2857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33" name="Rectangle 45"/>
          <p:cNvSpPr>
            <a:spLocks noChangeArrowheads="1"/>
          </p:cNvSpPr>
          <p:nvPr/>
        </p:nvSpPr>
        <p:spPr bwMode="auto">
          <a:xfrm>
            <a:off x="1676400" y="3252788"/>
            <a:ext cx="914400" cy="304800"/>
          </a:xfrm>
          <a:prstGeom prst="rect">
            <a:avLst/>
          </a:prstGeom>
          <a:noFill/>
          <a:ln w="2857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42" name="Rectangle 54"/>
          <p:cNvSpPr>
            <a:spLocks noChangeArrowheads="1"/>
          </p:cNvSpPr>
          <p:nvPr/>
        </p:nvSpPr>
        <p:spPr bwMode="auto">
          <a:xfrm>
            <a:off x="1244600" y="4876800"/>
            <a:ext cx="6767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zh-CN" altLang="en-US" sz="2800" dirty="0">
                <a:solidFill>
                  <a:schemeClr val="tx1"/>
                </a:solidFill>
                <a:ea typeface="黑体" panose="02010609060101010101" pitchFamily="49" charset="-122"/>
              </a:rPr>
              <a:t>本原蕴含项</a:t>
            </a:r>
            <a:r>
              <a:rPr lang="en-US" altLang="zh-CN" sz="2800" dirty="0">
                <a:solidFill>
                  <a:schemeClr val="tx1"/>
                </a:solidFill>
                <a:ea typeface="黑体" panose="02010609060101010101" pitchFamily="49" charset="-122"/>
              </a:rPr>
              <a:t>: BD, </a:t>
            </a:r>
            <a:r>
              <a:rPr lang="en-US" altLang="zh-CN" sz="2800" dirty="0">
                <a:solidFill>
                  <a:srgbClr val="33CC33"/>
                </a:solidFill>
                <a:ea typeface="黑体" panose="02010609060101010101" pitchFamily="49" charset="-122"/>
              </a:rPr>
              <a:t>ACD</a:t>
            </a:r>
            <a:r>
              <a:rPr lang="en-US" altLang="zh-CN" sz="2800" dirty="0">
                <a:solidFill>
                  <a:schemeClr val="tx1"/>
                </a:solidFill>
                <a:ea typeface="黑体" panose="02010609060101010101" pitchFamily="49" charset="-122"/>
              </a:rPr>
              <a:t>, </a:t>
            </a:r>
            <a:r>
              <a:rPr lang="en-US" altLang="zh-CN" sz="2800" dirty="0">
                <a:solidFill>
                  <a:srgbClr val="FF00FF"/>
                </a:solidFill>
                <a:ea typeface="黑体" panose="02010609060101010101" pitchFamily="49" charset="-122"/>
              </a:rPr>
              <a:t>ABC</a:t>
            </a:r>
            <a:r>
              <a:rPr lang="en-US" altLang="zh-CN" sz="2800" dirty="0">
                <a:solidFill>
                  <a:srgbClr val="FF00FF"/>
                </a:solidFill>
                <a:latin typeface="Arial" charset="0"/>
                <a:ea typeface="黑体" panose="02010609060101010101" pitchFamily="49" charset="-122"/>
              </a:rPr>
              <a:t>’</a:t>
            </a:r>
            <a:r>
              <a:rPr lang="en-US" altLang="zh-CN" sz="2800" dirty="0">
                <a:solidFill>
                  <a:schemeClr val="tx1"/>
                </a:solidFill>
                <a:ea typeface="黑体" panose="02010609060101010101" pitchFamily="49" charset="-122"/>
              </a:rPr>
              <a:t>, </a:t>
            </a:r>
            <a:r>
              <a:rPr lang="en-US" altLang="zh-CN" sz="2800" dirty="0">
                <a:solidFill>
                  <a:srgbClr val="2990E5"/>
                </a:solidFill>
                <a:ea typeface="黑体" panose="02010609060101010101" pitchFamily="49" charset="-122"/>
              </a:rPr>
              <a:t>A</a:t>
            </a:r>
            <a:r>
              <a:rPr lang="en-US" altLang="zh-CN" sz="2800" dirty="0">
                <a:solidFill>
                  <a:srgbClr val="2990E5"/>
                </a:solidFill>
                <a:latin typeface="Arial" charset="0"/>
                <a:ea typeface="黑体" panose="02010609060101010101" pitchFamily="49" charset="-122"/>
              </a:rPr>
              <a:t>’</a:t>
            </a:r>
            <a:r>
              <a:rPr lang="en-US" altLang="zh-CN" sz="2800" dirty="0">
                <a:solidFill>
                  <a:srgbClr val="2990E5"/>
                </a:solidFill>
                <a:ea typeface="黑体" panose="02010609060101010101" pitchFamily="49" charset="-122"/>
              </a:rPr>
              <a:t>C</a:t>
            </a:r>
            <a:r>
              <a:rPr lang="en-US" altLang="zh-CN" sz="2800" dirty="0">
                <a:solidFill>
                  <a:srgbClr val="2990E5"/>
                </a:solidFill>
                <a:latin typeface="Arial" charset="0"/>
                <a:ea typeface="黑体" panose="02010609060101010101" pitchFamily="49" charset="-122"/>
              </a:rPr>
              <a:t>’</a:t>
            </a:r>
            <a:r>
              <a:rPr lang="en-US" altLang="zh-CN" sz="2800" dirty="0">
                <a:solidFill>
                  <a:srgbClr val="2990E5"/>
                </a:solidFill>
                <a:ea typeface="黑体" panose="02010609060101010101" pitchFamily="49" charset="-122"/>
              </a:rPr>
              <a:t>D</a:t>
            </a:r>
            <a:r>
              <a:rPr lang="en-US" altLang="zh-CN" sz="2800" dirty="0">
                <a:solidFill>
                  <a:schemeClr val="folHlink"/>
                </a:solidFill>
                <a:ea typeface="黑体" panose="02010609060101010101" pitchFamily="49" charset="-122"/>
              </a:rPr>
              <a:t>,</a:t>
            </a:r>
            <a:r>
              <a:rPr lang="en-US" altLang="zh-CN" sz="2800" dirty="0">
                <a:solidFill>
                  <a:schemeClr val="tx1"/>
                </a:solidFill>
                <a:ea typeface="黑体" panose="02010609060101010101" pitchFamily="49" charset="-122"/>
              </a:rPr>
              <a:t> </a:t>
            </a:r>
            <a:r>
              <a:rPr lang="en-US" altLang="zh-CN" sz="2800" dirty="0">
                <a:solidFill>
                  <a:srgbClr val="FF0066"/>
                </a:solidFill>
                <a:ea typeface="黑体" panose="02010609060101010101" pitchFamily="49" charset="-122"/>
              </a:rPr>
              <a:t>A</a:t>
            </a:r>
            <a:r>
              <a:rPr lang="en-US" altLang="zh-CN" sz="2800" dirty="0">
                <a:solidFill>
                  <a:srgbClr val="FF0066"/>
                </a:solidFill>
                <a:latin typeface="Arial" charset="0"/>
                <a:ea typeface="黑体" panose="02010609060101010101" pitchFamily="49" charset="-122"/>
              </a:rPr>
              <a:t>’</a:t>
            </a:r>
            <a:r>
              <a:rPr lang="en-US" altLang="zh-CN" sz="2800" dirty="0">
                <a:solidFill>
                  <a:srgbClr val="FF0066"/>
                </a:solidFill>
                <a:ea typeface="黑体" panose="02010609060101010101" pitchFamily="49" charset="-122"/>
              </a:rPr>
              <a:t>BC</a:t>
            </a:r>
            <a:endParaRPr lang="en-US" altLang="zh-CN" sz="2800" dirty="0">
              <a:solidFill>
                <a:schemeClr val="tx1"/>
              </a:solidFill>
              <a:ea typeface="黑体" panose="02010609060101010101" pitchFamily="49" charset="-122"/>
            </a:endParaRPr>
          </a:p>
        </p:txBody>
      </p:sp>
      <p:sp>
        <p:nvSpPr>
          <p:cNvPr id="652343" name="Rectangle 55"/>
          <p:cNvSpPr>
            <a:spLocks noChangeArrowheads="1"/>
          </p:cNvSpPr>
          <p:nvPr/>
        </p:nvSpPr>
        <p:spPr bwMode="auto">
          <a:xfrm>
            <a:off x="2578100" y="5410200"/>
            <a:ext cx="36166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zh-CN" altLang="en-US" sz="2800" dirty="0">
                <a:solidFill>
                  <a:schemeClr val="tx1"/>
                </a:solidFill>
                <a:ea typeface="黑体" panose="02010609060101010101" pitchFamily="49" charset="-122"/>
              </a:rPr>
              <a:t>谁是本质本原蕴含项</a:t>
            </a:r>
            <a:r>
              <a:rPr lang="en-US" altLang="zh-CN" sz="2800" dirty="0">
                <a:solidFill>
                  <a:schemeClr val="tx1"/>
                </a:solidFill>
                <a:ea typeface="黑体" panose="02010609060101010101" pitchFamily="49" charset="-122"/>
              </a:rPr>
              <a:t>?</a:t>
            </a:r>
            <a:endParaRPr lang="en-US" altLang="zh-CN" sz="2800" dirty="0">
              <a:solidFill>
                <a:schemeClr val="folHlink"/>
              </a:solidFill>
              <a:ea typeface="黑体" panose="02010609060101010101" pitchFamily="49" charset="-122"/>
            </a:endParaRPr>
          </a:p>
        </p:txBody>
      </p:sp>
      <p:sp>
        <p:nvSpPr>
          <p:cNvPr id="652344" name="Oval 56"/>
          <p:cNvSpPr>
            <a:spLocks noChangeArrowheads="1"/>
          </p:cNvSpPr>
          <p:nvPr/>
        </p:nvSpPr>
        <p:spPr bwMode="auto">
          <a:xfrm>
            <a:off x="3581400" y="3733800"/>
            <a:ext cx="533400" cy="38100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45" name="Oval 57"/>
          <p:cNvSpPr>
            <a:spLocks noChangeArrowheads="1"/>
          </p:cNvSpPr>
          <p:nvPr/>
        </p:nvSpPr>
        <p:spPr bwMode="auto">
          <a:xfrm>
            <a:off x="2895600" y="2743200"/>
            <a:ext cx="533400" cy="38100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46" name="Rectangle 58"/>
          <p:cNvSpPr>
            <a:spLocks noChangeArrowheads="1"/>
          </p:cNvSpPr>
          <p:nvPr/>
        </p:nvSpPr>
        <p:spPr bwMode="auto">
          <a:xfrm>
            <a:off x="2486025" y="5884863"/>
            <a:ext cx="3867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zh-CN" altLang="en-US" sz="2800" dirty="0">
                <a:solidFill>
                  <a:schemeClr val="tx1"/>
                </a:solidFill>
                <a:ea typeface="黑体" panose="02010609060101010101" pitchFamily="49" charset="-122"/>
              </a:rPr>
              <a:t>非本质本原蕴含项</a:t>
            </a:r>
            <a:r>
              <a:rPr lang="en-US" altLang="zh-CN" sz="2800" dirty="0">
                <a:solidFill>
                  <a:schemeClr val="tx1"/>
                </a:solidFill>
                <a:ea typeface="黑体" panose="02010609060101010101" pitchFamily="49" charset="-122"/>
              </a:rPr>
              <a:t>: BD </a:t>
            </a:r>
          </a:p>
        </p:txBody>
      </p:sp>
      <p:sp>
        <p:nvSpPr>
          <p:cNvPr id="652348" name="Oval 60"/>
          <p:cNvSpPr>
            <a:spLocks noChangeArrowheads="1"/>
          </p:cNvSpPr>
          <p:nvPr/>
        </p:nvSpPr>
        <p:spPr bwMode="auto">
          <a:xfrm>
            <a:off x="1524000" y="3200400"/>
            <a:ext cx="533400" cy="38100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49" name="Oval 61"/>
          <p:cNvSpPr>
            <a:spLocks noChangeArrowheads="1"/>
          </p:cNvSpPr>
          <p:nvPr/>
        </p:nvSpPr>
        <p:spPr bwMode="auto">
          <a:xfrm>
            <a:off x="2209800" y="4267200"/>
            <a:ext cx="533400" cy="38100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52350" name="Rectangle 62"/>
          <p:cNvSpPr>
            <a:spLocks noChangeArrowheads="1"/>
          </p:cNvSpPr>
          <p:nvPr/>
        </p:nvSpPr>
        <p:spPr bwMode="auto">
          <a:xfrm>
            <a:off x="4297363" y="2438400"/>
            <a:ext cx="4694237" cy="519113"/>
          </a:xfrm>
          <a:prstGeom prst="rect">
            <a:avLst/>
          </a:prstGeom>
          <a:solidFill>
            <a:srgbClr val="F2F2F2"/>
          </a:solidFill>
          <a:ln>
            <a:noFill/>
          </a:ln>
        </p:spPr>
        <p:txBody>
          <a:bodyPr wrap="none">
            <a:spAutoFit/>
          </a:bodyPr>
          <a:lstStyle/>
          <a:p>
            <a:r>
              <a:rPr lang="en-US" altLang="zh-CN" sz="2800" dirty="0">
                <a:solidFill>
                  <a:schemeClr val="tx1"/>
                </a:solidFill>
                <a:ea typeface="黑体" panose="02010609060101010101" pitchFamily="49" charset="-122"/>
              </a:rPr>
              <a:t>Y=</a:t>
            </a:r>
            <a:r>
              <a:rPr lang="en-US" altLang="zh-CN" sz="2800" dirty="0">
                <a:solidFill>
                  <a:srgbClr val="33CC33"/>
                </a:solidFill>
                <a:ea typeface="黑体" panose="02010609060101010101" pitchFamily="49" charset="-122"/>
              </a:rPr>
              <a:t>ACD</a:t>
            </a:r>
            <a:r>
              <a:rPr lang="en-US" altLang="zh-CN" sz="2800" dirty="0">
                <a:solidFill>
                  <a:schemeClr val="tx1"/>
                </a:solidFill>
                <a:ea typeface="黑体" panose="02010609060101010101" pitchFamily="49" charset="-122"/>
              </a:rPr>
              <a:t>+</a:t>
            </a:r>
            <a:r>
              <a:rPr lang="en-US" altLang="zh-CN" sz="2800" dirty="0">
                <a:solidFill>
                  <a:srgbClr val="FF00FF"/>
                </a:solidFill>
                <a:ea typeface="黑体" panose="02010609060101010101" pitchFamily="49" charset="-122"/>
              </a:rPr>
              <a:t>ABC</a:t>
            </a:r>
            <a:r>
              <a:rPr lang="en-US" altLang="zh-CN" sz="2800" dirty="0">
                <a:solidFill>
                  <a:srgbClr val="FF00FF"/>
                </a:solidFill>
                <a:latin typeface="Arial" charset="0"/>
                <a:ea typeface="黑体" panose="02010609060101010101" pitchFamily="49" charset="-122"/>
              </a:rPr>
              <a:t>’</a:t>
            </a:r>
            <a:r>
              <a:rPr lang="en-US" altLang="zh-CN" sz="2800" dirty="0">
                <a:solidFill>
                  <a:schemeClr val="tx1"/>
                </a:solidFill>
                <a:ea typeface="黑体" panose="02010609060101010101" pitchFamily="49" charset="-122"/>
              </a:rPr>
              <a:t>+</a:t>
            </a:r>
            <a:r>
              <a:rPr lang="en-US" altLang="zh-CN" sz="2800" dirty="0">
                <a:solidFill>
                  <a:srgbClr val="2990E5"/>
                </a:solidFill>
                <a:ea typeface="黑体" panose="02010609060101010101" pitchFamily="49" charset="-122"/>
              </a:rPr>
              <a:t>A</a:t>
            </a:r>
            <a:r>
              <a:rPr lang="en-US" altLang="zh-CN" sz="2800" dirty="0">
                <a:solidFill>
                  <a:srgbClr val="2990E5"/>
                </a:solidFill>
                <a:latin typeface="Arial" charset="0"/>
                <a:ea typeface="黑体" panose="02010609060101010101" pitchFamily="49" charset="-122"/>
              </a:rPr>
              <a:t>’</a:t>
            </a:r>
            <a:r>
              <a:rPr lang="en-US" altLang="zh-CN" sz="2800" dirty="0">
                <a:solidFill>
                  <a:srgbClr val="2990E5"/>
                </a:solidFill>
                <a:ea typeface="黑体" panose="02010609060101010101" pitchFamily="49" charset="-122"/>
              </a:rPr>
              <a:t>C</a:t>
            </a:r>
            <a:r>
              <a:rPr lang="en-US" altLang="zh-CN" sz="2800" dirty="0">
                <a:solidFill>
                  <a:srgbClr val="2990E5"/>
                </a:solidFill>
                <a:latin typeface="Arial" charset="0"/>
                <a:ea typeface="黑体" panose="02010609060101010101" pitchFamily="49" charset="-122"/>
              </a:rPr>
              <a:t>’</a:t>
            </a:r>
            <a:r>
              <a:rPr lang="en-US" altLang="zh-CN" sz="2800" dirty="0">
                <a:solidFill>
                  <a:srgbClr val="2990E5"/>
                </a:solidFill>
                <a:ea typeface="黑体" panose="02010609060101010101" pitchFamily="49" charset="-122"/>
              </a:rPr>
              <a:t>D</a:t>
            </a:r>
            <a:r>
              <a:rPr lang="en-US" altLang="zh-CN" sz="2800" dirty="0">
                <a:solidFill>
                  <a:schemeClr val="tx1"/>
                </a:solidFill>
                <a:ea typeface="黑体" panose="02010609060101010101" pitchFamily="49" charset="-122"/>
              </a:rPr>
              <a:t>+</a:t>
            </a:r>
            <a:r>
              <a:rPr lang="en-US" altLang="zh-CN" sz="2800" dirty="0">
                <a:solidFill>
                  <a:srgbClr val="FF0066"/>
                </a:solidFill>
                <a:ea typeface="黑体" panose="02010609060101010101" pitchFamily="49" charset="-122"/>
              </a:rPr>
              <a:t>A</a:t>
            </a:r>
            <a:r>
              <a:rPr lang="en-US" altLang="zh-CN" sz="2800" dirty="0">
                <a:solidFill>
                  <a:srgbClr val="FF0066"/>
                </a:solidFill>
                <a:latin typeface="Arial" charset="0"/>
                <a:ea typeface="黑体" panose="02010609060101010101" pitchFamily="49" charset="-122"/>
              </a:rPr>
              <a:t>’</a:t>
            </a:r>
            <a:r>
              <a:rPr lang="en-US" altLang="zh-CN" sz="2800" dirty="0">
                <a:solidFill>
                  <a:srgbClr val="FF0066"/>
                </a:solidFill>
                <a:ea typeface="黑体" panose="02010609060101010101" pitchFamily="49" charset="-122"/>
              </a:rPr>
              <a:t>BC</a:t>
            </a:r>
            <a:endParaRPr lang="en-US" altLang="zh-CN" sz="2800" dirty="0">
              <a:solidFill>
                <a:schemeClr val="tx1"/>
              </a:solidFill>
              <a:ea typeface="黑体" panose="02010609060101010101" pitchFamily="49" charset="-122"/>
            </a:endParaRPr>
          </a:p>
        </p:txBody>
      </p:sp>
      <p:sp>
        <p:nvSpPr>
          <p:cNvPr id="20" name="文本框 19"/>
          <p:cNvSpPr txBox="1"/>
          <p:nvPr/>
        </p:nvSpPr>
        <p:spPr>
          <a:xfrm>
            <a:off x="5014528" y="4217022"/>
            <a:ext cx="3262432" cy="400110"/>
          </a:xfrm>
          <a:prstGeom prst="rect">
            <a:avLst/>
          </a:prstGeom>
          <a:noFill/>
        </p:spPr>
        <p:txBody>
          <a:bodyPr wrap="square" rtlCol="0">
            <a:spAutoFit/>
          </a:bodyPr>
          <a:lstStyle/>
          <a:p>
            <a:r>
              <a:rPr kumimoji="1" lang="zh-CN" altLang="en-US" sz="2000" dirty="0">
                <a:ea typeface="黑体" panose="02010609060101010101" pitchFamily="49" charset="-122"/>
              </a:rPr>
              <a:t>只能被一个本原蕴含项覆盖</a:t>
            </a:r>
          </a:p>
        </p:txBody>
      </p:sp>
      <p:sp>
        <p:nvSpPr>
          <p:cNvPr id="25" name="Oval 60"/>
          <p:cNvSpPr>
            <a:spLocks noChangeArrowheads="1"/>
          </p:cNvSpPr>
          <p:nvPr/>
        </p:nvSpPr>
        <p:spPr bwMode="auto">
          <a:xfrm>
            <a:off x="4754116" y="4305786"/>
            <a:ext cx="252028" cy="256942"/>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graphicFrame>
        <p:nvGraphicFramePr>
          <p:cNvPr id="5" name="Group 3">
            <a:extLst>
              <a:ext uri="{FF2B5EF4-FFF2-40B4-BE49-F238E27FC236}">
                <a16:creationId xmlns:a16="http://schemas.microsoft.com/office/drawing/2014/main" id="{9D527875-4E91-7F94-84EF-4464B52E546E}"/>
              </a:ext>
            </a:extLst>
          </p:cNvPr>
          <p:cNvGraphicFramePr>
            <a:graphicFrameLocks noGrp="1"/>
          </p:cNvGraphicFramePr>
          <p:nvPr>
            <p:ph idx="1"/>
          </p:nvPr>
        </p:nvGraphicFramePr>
        <p:xfrm>
          <a:off x="609600" y="1600200"/>
          <a:ext cx="3657600" cy="3102864"/>
        </p:xfrm>
        <a:graphic>
          <a:graphicData uri="http://schemas.openxmlformats.org/drawingml/2006/table">
            <a:tbl>
              <a:tblPr/>
              <a:tblGrid>
                <a:gridCol w="931863">
                  <a:extLst>
                    <a:ext uri="{9D8B030D-6E8A-4147-A177-3AD203B41FA5}">
                      <a16:colId xmlns:a16="http://schemas.microsoft.com/office/drawing/2014/main" val="20000"/>
                    </a:ext>
                  </a:extLst>
                </a:gridCol>
                <a:gridCol w="715962">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715963">
                  <a:extLst>
                    <a:ext uri="{9D8B030D-6E8A-4147-A177-3AD203B41FA5}">
                      <a16:colId xmlns:a16="http://schemas.microsoft.com/office/drawing/2014/main" val="20003"/>
                    </a:ext>
                  </a:extLst>
                </a:gridCol>
                <a:gridCol w="646112">
                  <a:extLst>
                    <a:ext uri="{9D8B030D-6E8A-4147-A177-3AD203B41FA5}">
                      <a16:colId xmlns:a16="http://schemas.microsoft.com/office/drawing/2014/main" val="20004"/>
                    </a:ext>
                  </a:extLst>
                </a:gridCol>
              </a:tblGrid>
              <a:tr h="835025">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 AB</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CD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068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91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238893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8755" name="Object 3"/>
          <p:cNvGraphicFramePr>
            <a:graphicFrameLocks noChangeAspect="1"/>
          </p:cNvGraphicFramePr>
          <p:nvPr>
            <p:extLst>
              <p:ext uri="{D42A27DB-BD31-4B8C-83A1-F6EECF244321}">
                <p14:modId xmlns:p14="http://schemas.microsoft.com/office/powerpoint/2010/main" val="3177835315"/>
              </p:ext>
            </p:extLst>
          </p:nvPr>
        </p:nvGraphicFramePr>
        <p:xfrm>
          <a:off x="485775" y="1367272"/>
          <a:ext cx="8172450" cy="2817812"/>
        </p:xfrm>
        <a:graphic>
          <a:graphicData uri="http://schemas.openxmlformats.org/presentationml/2006/ole">
            <mc:AlternateContent xmlns:mc="http://schemas.openxmlformats.org/markup-compatibility/2006">
              <mc:Choice xmlns:v="urn:schemas-microsoft-com:vml" Requires="v">
                <p:oleObj name="Equation" r:id="rId3" imgW="3022560" imgH="1041120" progId="Equation.DSMT4">
                  <p:embed/>
                </p:oleObj>
              </mc:Choice>
              <mc:Fallback>
                <p:oleObj name="Equation" r:id="rId3" imgW="3022560" imgH="1041120" progId="Equation.DSMT4">
                  <p:embed/>
                  <p:pic>
                    <p:nvPicPr>
                      <p:cNvPr id="45875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 y="1367272"/>
                        <a:ext cx="8172450" cy="28178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Group 6">
            <a:extLst>
              <a:ext uri="{FF2B5EF4-FFF2-40B4-BE49-F238E27FC236}">
                <a16:creationId xmlns:a16="http://schemas.microsoft.com/office/drawing/2014/main" id="{F15BD964-CFA0-B34D-BCE6-C920117F9180}"/>
              </a:ext>
            </a:extLst>
          </p:cNvPr>
          <p:cNvGraphicFramePr>
            <a:graphicFrameLocks/>
          </p:cNvGraphicFramePr>
          <p:nvPr>
            <p:extLst>
              <p:ext uri="{D42A27DB-BD31-4B8C-83A1-F6EECF244321}">
                <p14:modId xmlns:p14="http://schemas.microsoft.com/office/powerpoint/2010/main" val="2707696113"/>
              </p:ext>
            </p:extLst>
          </p:nvPr>
        </p:nvGraphicFramePr>
        <p:xfrm>
          <a:off x="4139952" y="3779540"/>
          <a:ext cx="3962400" cy="2066544"/>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79851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00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3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Rectangle 58">
            <a:extLst>
              <a:ext uri="{FF2B5EF4-FFF2-40B4-BE49-F238E27FC236}">
                <a16:creationId xmlns:a16="http://schemas.microsoft.com/office/drawing/2014/main" id="{F8017E39-30CD-1340-B6A5-BCBCEF3E563A}"/>
              </a:ext>
            </a:extLst>
          </p:cNvPr>
          <p:cNvSpPr>
            <a:spLocks noChangeArrowheads="1"/>
          </p:cNvSpPr>
          <p:nvPr/>
        </p:nvSpPr>
        <p:spPr bwMode="auto">
          <a:xfrm>
            <a:off x="5206752" y="5311476"/>
            <a:ext cx="1219200" cy="534607"/>
          </a:xfrm>
          <a:prstGeom prst="rect">
            <a:avLst/>
          </a:prstGeom>
          <a:noFill/>
          <a:ln w="28575" algn="ctr">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7" name="Rectangle 59">
            <a:extLst>
              <a:ext uri="{FF2B5EF4-FFF2-40B4-BE49-F238E27FC236}">
                <a16:creationId xmlns:a16="http://schemas.microsoft.com/office/drawing/2014/main" id="{A9665D80-A91D-E646-9E91-F1B13CF82910}"/>
              </a:ext>
            </a:extLst>
          </p:cNvPr>
          <p:cNvSpPr>
            <a:spLocks noChangeArrowheads="1"/>
          </p:cNvSpPr>
          <p:nvPr/>
        </p:nvSpPr>
        <p:spPr bwMode="auto">
          <a:xfrm>
            <a:off x="5968752" y="4854277"/>
            <a:ext cx="1143000" cy="381000"/>
          </a:xfrm>
          <a:prstGeom prst="rect">
            <a:avLst/>
          </a:prstGeom>
          <a:noFill/>
          <a:ln w="2857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8" name="Rectangle 60">
            <a:extLst>
              <a:ext uri="{FF2B5EF4-FFF2-40B4-BE49-F238E27FC236}">
                <a16:creationId xmlns:a16="http://schemas.microsoft.com/office/drawing/2014/main" id="{3F17D6E3-0914-E344-8947-2B203B9D1B2F}"/>
              </a:ext>
            </a:extLst>
          </p:cNvPr>
          <p:cNvSpPr>
            <a:spLocks noChangeArrowheads="1"/>
          </p:cNvSpPr>
          <p:nvPr/>
        </p:nvSpPr>
        <p:spPr bwMode="auto">
          <a:xfrm>
            <a:off x="7492752" y="4854277"/>
            <a:ext cx="381000" cy="914400"/>
          </a:xfrm>
          <a:prstGeom prst="rect">
            <a:avLst/>
          </a:prstGeom>
          <a:noFill/>
          <a:ln w="28575" algn="ctr">
            <a:solidFill>
              <a:srgbClr val="3399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9" name="Rectangle 62">
            <a:extLst>
              <a:ext uri="{FF2B5EF4-FFF2-40B4-BE49-F238E27FC236}">
                <a16:creationId xmlns:a16="http://schemas.microsoft.com/office/drawing/2014/main" id="{57CDAFAE-F1D6-6546-9801-E8C9B5ABE570}"/>
              </a:ext>
            </a:extLst>
          </p:cNvPr>
          <p:cNvSpPr>
            <a:spLocks noChangeArrowheads="1"/>
          </p:cNvSpPr>
          <p:nvPr/>
        </p:nvSpPr>
        <p:spPr bwMode="auto">
          <a:xfrm>
            <a:off x="6044952" y="4930477"/>
            <a:ext cx="381000" cy="762000"/>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0" name="Rectangle 65">
            <a:extLst>
              <a:ext uri="{FF2B5EF4-FFF2-40B4-BE49-F238E27FC236}">
                <a16:creationId xmlns:a16="http://schemas.microsoft.com/office/drawing/2014/main" id="{9D4506B4-D76C-1346-A2D0-591B49AABAAC}"/>
              </a:ext>
            </a:extLst>
          </p:cNvPr>
          <p:cNvSpPr>
            <a:spLocks noChangeArrowheads="1"/>
          </p:cNvSpPr>
          <p:nvPr/>
        </p:nvSpPr>
        <p:spPr bwMode="auto">
          <a:xfrm>
            <a:off x="7492752" y="5387677"/>
            <a:ext cx="533400" cy="381000"/>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1" name="Rectangle 66">
            <a:extLst>
              <a:ext uri="{FF2B5EF4-FFF2-40B4-BE49-F238E27FC236}">
                <a16:creationId xmlns:a16="http://schemas.microsoft.com/office/drawing/2014/main" id="{30BDD781-3246-5F44-A34A-A56DF7E584B7}"/>
              </a:ext>
            </a:extLst>
          </p:cNvPr>
          <p:cNvSpPr>
            <a:spLocks noChangeArrowheads="1"/>
          </p:cNvSpPr>
          <p:nvPr/>
        </p:nvSpPr>
        <p:spPr bwMode="auto">
          <a:xfrm>
            <a:off x="5206752" y="5387677"/>
            <a:ext cx="533400" cy="381000"/>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2" name="Rectangle 68">
            <a:extLst>
              <a:ext uri="{FF2B5EF4-FFF2-40B4-BE49-F238E27FC236}">
                <a16:creationId xmlns:a16="http://schemas.microsoft.com/office/drawing/2014/main" id="{F318D8A8-B21E-4744-82E1-9D5428ECB867}"/>
              </a:ext>
            </a:extLst>
          </p:cNvPr>
          <p:cNvSpPr>
            <a:spLocks noChangeArrowheads="1"/>
          </p:cNvSpPr>
          <p:nvPr/>
        </p:nvSpPr>
        <p:spPr bwMode="auto">
          <a:xfrm>
            <a:off x="6654552" y="4776870"/>
            <a:ext cx="1143000" cy="533399"/>
          </a:xfrm>
          <a:prstGeom prst="rect">
            <a:avLst/>
          </a:prstGeom>
          <a:noFill/>
          <a:ln w="28575" algn="ctr">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3" name="Rectangle 69">
            <a:extLst>
              <a:ext uri="{FF2B5EF4-FFF2-40B4-BE49-F238E27FC236}">
                <a16:creationId xmlns:a16="http://schemas.microsoft.com/office/drawing/2014/main" id="{3B3D3B99-BE4E-374F-94BD-28133B93A99B}"/>
              </a:ext>
            </a:extLst>
          </p:cNvPr>
          <p:cNvSpPr>
            <a:spLocks noChangeArrowheads="1"/>
          </p:cNvSpPr>
          <p:nvPr/>
        </p:nvSpPr>
        <p:spPr bwMode="auto">
          <a:xfrm>
            <a:off x="789386" y="6074132"/>
            <a:ext cx="6556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zh-CN" altLang="en-US" sz="2800" dirty="0">
                <a:ea typeface="黑体" panose="02010609060101010101" pitchFamily="49" charset="-122"/>
              </a:rPr>
              <a:t>本原蕴含项</a:t>
            </a:r>
            <a:r>
              <a:rPr lang="en-US" altLang="zh-CN" sz="2800" dirty="0">
                <a:solidFill>
                  <a:schemeClr val="tx1"/>
                </a:solidFill>
                <a:ea typeface="黑体" panose="02010609060101010101" pitchFamily="49" charset="-122"/>
              </a:rPr>
              <a:t>: </a:t>
            </a:r>
            <a:r>
              <a:rPr lang="en-US" altLang="zh-CN" sz="2800" dirty="0">
                <a:solidFill>
                  <a:srgbClr val="FF00FF"/>
                </a:solidFill>
                <a:ea typeface="黑体" panose="02010609060101010101" pitchFamily="49" charset="-122"/>
              </a:rPr>
              <a:t>A</a:t>
            </a:r>
            <a:r>
              <a:rPr lang="en-US" altLang="zh-CN" sz="2800" dirty="0">
                <a:solidFill>
                  <a:srgbClr val="FF00FF"/>
                </a:solidFill>
                <a:latin typeface="Arial" charset="0"/>
                <a:ea typeface="黑体" panose="02010609060101010101" pitchFamily="49" charset="-122"/>
              </a:rPr>
              <a:t>’</a:t>
            </a:r>
            <a:r>
              <a:rPr lang="en-US" altLang="zh-CN" sz="2800" dirty="0">
                <a:solidFill>
                  <a:srgbClr val="FF00FF"/>
                </a:solidFill>
                <a:ea typeface="黑体" panose="02010609060101010101" pitchFamily="49" charset="-122"/>
              </a:rPr>
              <a:t>C</a:t>
            </a:r>
            <a:r>
              <a:rPr lang="en-US" altLang="zh-CN" sz="2800" dirty="0">
                <a:solidFill>
                  <a:schemeClr val="tx1"/>
                </a:solidFill>
                <a:ea typeface="黑体" panose="02010609060101010101" pitchFamily="49" charset="-122"/>
              </a:rPr>
              <a:t>, </a:t>
            </a:r>
            <a:r>
              <a:rPr lang="en-US" altLang="zh-CN" sz="2800" dirty="0">
                <a:solidFill>
                  <a:srgbClr val="000099"/>
                </a:solidFill>
                <a:ea typeface="黑体" panose="02010609060101010101" pitchFamily="49" charset="-122"/>
              </a:rPr>
              <a:t>A</a:t>
            </a:r>
            <a:r>
              <a:rPr lang="en-US" altLang="zh-CN" sz="2800" dirty="0">
                <a:solidFill>
                  <a:srgbClr val="000099"/>
                </a:solidFill>
                <a:latin typeface="Arial" charset="0"/>
                <a:ea typeface="黑体" panose="02010609060101010101" pitchFamily="49" charset="-122"/>
              </a:rPr>
              <a:t>’</a:t>
            </a:r>
            <a:r>
              <a:rPr lang="en-US" altLang="zh-CN" sz="2800" dirty="0">
                <a:solidFill>
                  <a:srgbClr val="000099"/>
                </a:solidFill>
                <a:ea typeface="黑体" panose="02010609060101010101" pitchFamily="49" charset="-122"/>
              </a:rPr>
              <a:t>B</a:t>
            </a:r>
            <a:r>
              <a:rPr lang="en-US" altLang="zh-CN" sz="2800" dirty="0">
                <a:solidFill>
                  <a:schemeClr val="tx1"/>
                </a:solidFill>
                <a:ea typeface="黑体" panose="02010609060101010101" pitchFamily="49" charset="-122"/>
              </a:rPr>
              <a:t>, </a:t>
            </a:r>
            <a:r>
              <a:rPr lang="en-US" altLang="zh-CN" sz="2800" dirty="0">
                <a:solidFill>
                  <a:srgbClr val="33CC33"/>
                </a:solidFill>
                <a:ea typeface="黑体" panose="02010609060101010101" pitchFamily="49" charset="-122"/>
              </a:rPr>
              <a:t>AB</a:t>
            </a:r>
            <a:r>
              <a:rPr lang="en-US" altLang="zh-CN" sz="2800" dirty="0">
                <a:solidFill>
                  <a:srgbClr val="33CC33"/>
                </a:solidFill>
                <a:latin typeface="Arial" charset="0"/>
                <a:ea typeface="黑体" panose="02010609060101010101" pitchFamily="49" charset="-122"/>
              </a:rPr>
              <a:t>’</a:t>
            </a:r>
            <a:r>
              <a:rPr lang="en-US" altLang="zh-CN" sz="2800" dirty="0">
                <a:solidFill>
                  <a:schemeClr val="tx1"/>
                </a:solidFill>
                <a:ea typeface="黑体" panose="02010609060101010101" pitchFamily="49" charset="-122"/>
              </a:rPr>
              <a:t>, </a:t>
            </a:r>
            <a:r>
              <a:rPr lang="en-US" altLang="zh-CN" sz="2800" dirty="0">
                <a:solidFill>
                  <a:schemeClr val="hlink"/>
                </a:solidFill>
                <a:ea typeface="黑体" panose="02010609060101010101" pitchFamily="49" charset="-122"/>
              </a:rPr>
              <a:t>AC</a:t>
            </a:r>
            <a:r>
              <a:rPr lang="en-US" altLang="zh-CN" sz="2800" dirty="0">
                <a:solidFill>
                  <a:schemeClr val="hlink"/>
                </a:solidFill>
                <a:latin typeface="Arial" charset="0"/>
                <a:ea typeface="黑体" panose="02010609060101010101" pitchFamily="49" charset="-122"/>
              </a:rPr>
              <a:t>’</a:t>
            </a:r>
            <a:r>
              <a:rPr lang="en-US" altLang="zh-CN" sz="2800" dirty="0">
                <a:solidFill>
                  <a:schemeClr val="tx1"/>
                </a:solidFill>
                <a:ea typeface="黑体" panose="02010609060101010101" pitchFamily="49" charset="-122"/>
              </a:rPr>
              <a:t> , B</a:t>
            </a:r>
            <a:r>
              <a:rPr lang="en-US" altLang="zh-CN" sz="2800" dirty="0">
                <a:solidFill>
                  <a:schemeClr val="tx1"/>
                </a:solidFill>
                <a:latin typeface="Arial" charset="0"/>
                <a:ea typeface="黑体" panose="02010609060101010101" pitchFamily="49" charset="-122"/>
              </a:rPr>
              <a:t>’</a:t>
            </a:r>
            <a:r>
              <a:rPr lang="en-US" altLang="zh-CN" sz="2800" dirty="0">
                <a:solidFill>
                  <a:schemeClr val="tx1"/>
                </a:solidFill>
                <a:ea typeface="黑体" panose="02010609060101010101" pitchFamily="49" charset="-122"/>
              </a:rPr>
              <a:t>C, </a:t>
            </a:r>
            <a:r>
              <a:rPr lang="en-US" altLang="zh-CN" sz="2800" dirty="0">
                <a:solidFill>
                  <a:schemeClr val="folHlink"/>
                </a:solidFill>
                <a:ea typeface="黑体" panose="02010609060101010101" pitchFamily="49" charset="-122"/>
              </a:rPr>
              <a:t>BC</a:t>
            </a:r>
            <a:r>
              <a:rPr lang="en-US" altLang="zh-CN" sz="2800" dirty="0">
                <a:solidFill>
                  <a:schemeClr val="folHlink"/>
                </a:solidFill>
                <a:latin typeface="Arial" charset="0"/>
                <a:ea typeface="黑体" panose="02010609060101010101" pitchFamily="49" charset="-122"/>
              </a:rPr>
              <a:t>’</a:t>
            </a:r>
            <a:endParaRPr lang="en-US" altLang="zh-CN" sz="2800" dirty="0">
              <a:solidFill>
                <a:schemeClr val="folHlink"/>
              </a:solidFill>
              <a:ea typeface="黑体" panose="02010609060101010101" pitchFamily="49" charset="-122"/>
            </a:endParaRPr>
          </a:p>
        </p:txBody>
      </p:sp>
      <p:sp>
        <p:nvSpPr>
          <p:cNvPr id="14" name="Rectangle 70">
            <a:extLst>
              <a:ext uri="{FF2B5EF4-FFF2-40B4-BE49-F238E27FC236}">
                <a16:creationId xmlns:a16="http://schemas.microsoft.com/office/drawing/2014/main" id="{93B38FC2-54FD-3F42-8671-42DB4B1FE7C0}"/>
              </a:ext>
            </a:extLst>
          </p:cNvPr>
          <p:cNvSpPr>
            <a:spLocks noChangeArrowheads="1"/>
          </p:cNvSpPr>
          <p:nvPr/>
        </p:nvSpPr>
        <p:spPr bwMode="auto">
          <a:xfrm>
            <a:off x="704525" y="4624070"/>
            <a:ext cx="3112928" cy="954107"/>
          </a:xfrm>
          <a:prstGeom prst="rect">
            <a:avLst/>
          </a:prstGeom>
          <a:solidFill>
            <a:schemeClr val="bg1">
              <a:lumMod val="95000"/>
            </a:schemeClr>
          </a:solidFill>
          <a:ln>
            <a:noFill/>
          </a:ln>
        </p:spPr>
        <p:txBody>
          <a:bodyPr wrap="square">
            <a:spAutoFit/>
          </a:bodyPr>
          <a:lstStyle/>
          <a:p>
            <a:r>
              <a:rPr lang="zh-CN" altLang="en-US" sz="2800" dirty="0">
                <a:ea typeface="黑体" panose="02010609060101010101" pitchFamily="49" charset="-122"/>
              </a:rPr>
              <a:t>谁是本质本原蕴含项</a:t>
            </a:r>
            <a:r>
              <a:rPr lang="en-US" altLang="zh-CN" sz="2800" dirty="0">
                <a:ea typeface="黑体" panose="02010609060101010101" pitchFamily="49" charset="-122"/>
              </a:rPr>
              <a:t>?</a:t>
            </a:r>
            <a:r>
              <a:rPr lang="zh-CN" altLang="en-US" sz="2800" dirty="0">
                <a:ea typeface="黑体" panose="02010609060101010101" pitchFamily="49" charset="-122"/>
              </a:rPr>
              <a:t>      无！</a:t>
            </a:r>
            <a:endParaRPr lang="en-US" altLang="zh-CN" sz="2800" dirty="0">
              <a:solidFill>
                <a:schemeClr val="folHlink"/>
              </a:solidFill>
              <a:ea typeface="黑体" panose="02010609060101010101" pitchFamily="49" charset="-122"/>
            </a:endParaRPr>
          </a:p>
        </p:txBody>
      </p:sp>
      <p:sp>
        <p:nvSpPr>
          <p:cNvPr id="18" name="标题 15">
            <a:extLst>
              <a:ext uri="{FF2B5EF4-FFF2-40B4-BE49-F238E27FC236}">
                <a16:creationId xmlns:a16="http://schemas.microsoft.com/office/drawing/2014/main" id="{95149972-59B7-7254-ABEE-DB2002C4118D}"/>
              </a:ext>
            </a:extLst>
          </p:cNvPr>
          <p:cNvSpPr>
            <a:spLocks noGrp="1"/>
          </p:cNvSpPr>
          <p:nvPr>
            <p:ph type="title"/>
          </p:nvPr>
        </p:nvSpPr>
        <p:spPr/>
        <p:txBody>
          <a:bodyPr/>
          <a:lstStyle/>
          <a:p>
            <a:r>
              <a:rPr lang="zh-CN" altLang="en-US" dirty="0"/>
              <a:t>寻找本质本原蕴含项举例</a:t>
            </a:r>
            <a:r>
              <a:rPr lang="en-US" altLang="zh-CN" dirty="0"/>
              <a:t>3</a:t>
            </a:r>
            <a:endParaRPr lang="zh-CN" altLang="en-US" dirty="0"/>
          </a:p>
        </p:txBody>
      </p:sp>
      <p:sp>
        <p:nvSpPr>
          <p:cNvPr id="2" name="灯片编号占位符 1">
            <a:extLst>
              <a:ext uri="{FF2B5EF4-FFF2-40B4-BE49-F238E27FC236}">
                <a16:creationId xmlns:a16="http://schemas.microsoft.com/office/drawing/2014/main" id="{66FB51CE-E6B3-5016-8E0D-1F9F01B6F3A5}"/>
              </a:ext>
            </a:extLst>
          </p:cNvPr>
          <p:cNvSpPr>
            <a:spLocks noGrp="1"/>
          </p:cNvSpPr>
          <p:nvPr>
            <p:ph type="sldNum" sz="quarter" idx="12"/>
          </p:nvPr>
        </p:nvSpPr>
        <p:spPr/>
        <p:txBody>
          <a:bodyPr/>
          <a:lstStyle/>
          <a:p>
            <a:fld id="{6C23D995-88A0-46FA-B356-FA459EF841CD}" type="slidenum">
              <a:rPr lang="en-US" altLang="zh-CN" smtClean="0"/>
              <a:pPr/>
              <a:t>91</a:t>
            </a:fld>
            <a:endParaRPr lang="en-US" altLang="zh-CN" dirty="0"/>
          </a:p>
        </p:txBody>
      </p:sp>
    </p:spTree>
    <p:extLst>
      <p:ext uri="{BB962C8B-B14F-4D97-AF65-F5344CB8AC3E}">
        <p14:creationId xmlns:p14="http://schemas.microsoft.com/office/powerpoint/2010/main" val="826556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9222" name="Group 6"/>
          <p:cNvGraphicFramePr>
            <a:graphicFrameLocks noGrp="1"/>
          </p:cNvGraphicFramePr>
          <p:nvPr>
            <p:ph type="tbl" idx="1"/>
            <p:extLst>
              <p:ext uri="{D42A27DB-BD31-4B8C-83A1-F6EECF244321}">
                <p14:modId xmlns:p14="http://schemas.microsoft.com/office/powerpoint/2010/main" val="1181393423"/>
              </p:ext>
            </p:extLst>
          </p:nvPr>
        </p:nvGraphicFramePr>
        <p:xfrm>
          <a:off x="537721" y="3157438"/>
          <a:ext cx="3962400" cy="2066544"/>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79851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00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3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灯片编号占位符 1">
            <a:extLst>
              <a:ext uri="{FF2B5EF4-FFF2-40B4-BE49-F238E27FC236}">
                <a16:creationId xmlns:a16="http://schemas.microsoft.com/office/drawing/2014/main" id="{6F6CB40A-8101-5025-50CE-B0449C1A017C}"/>
              </a:ext>
            </a:extLst>
          </p:cNvPr>
          <p:cNvSpPr>
            <a:spLocks noGrp="1"/>
          </p:cNvSpPr>
          <p:nvPr>
            <p:ph type="sldNum" sz="quarter" idx="11"/>
          </p:nvPr>
        </p:nvSpPr>
        <p:spPr/>
        <p:txBody>
          <a:bodyPr/>
          <a:lstStyle/>
          <a:p>
            <a:pPr>
              <a:defRPr/>
            </a:pPr>
            <a:fld id="{2EA1E184-7EFF-4B48-9C82-609CF6442F2C}" type="slidenum">
              <a:rPr lang="zh-CN" altLang="en-US" smtClean="0"/>
              <a:pPr>
                <a:defRPr/>
              </a:pPr>
              <a:t>92</a:t>
            </a:fld>
            <a:endParaRPr lang="en-US" altLang="zh-CN"/>
          </a:p>
        </p:txBody>
      </p:sp>
      <p:graphicFrame>
        <p:nvGraphicFramePr>
          <p:cNvPr id="649248" name="Group 32"/>
          <p:cNvGraphicFramePr>
            <a:graphicFrameLocks noGrp="1"/>
          </p:cNvGraphicFramePr>
          <p:nvPr>
            <p:extLst>
              <p:ext uri="{D42A27DB-BD31-4B8C-83A1-F6EECF244321}">
                <p14:modId xmlns:p14="http://schemas.microsoft.com/office/powerpoint/2010/main" val="2758313346"/>
              </p:ext>
            </p:extLst>
          </p:nvPr>
        </p:nvGraphicFramePr>
        <p:xfrm>
          <a:off x="4728721" y="3157438"/>
          <a:ext cx="3962400" cy="2066544"/>
        </p:xfrm>
        <a:graphic>
          <a:graphicData uri="http://schemas.openxmlformats.org/drawingml/2006/table">
            <a:tbl>
              <a:tblPr/>
              <a:tblGrid>
                <a:gridCol w="1009650">
                  <a:extLst>
                    <a:ext uri="{9D8B030D-6E8A-4147-A177-3AD203B41FA5}">
                      <a16:colId xmlns:a16="http://schemas.microsoft.com/office/drawing/2014/main" val="20000"/>
                    </a:ext>
                  </a:extLst>
                </a:gridCol>
                <a:gridCol w="776288">
                  <a:extLst>
                    <a:ext uri="{9D8B030D-6E8A-4147-A177-3AD203B41FA5}">
                      <a16:colId xmlns:a16="http://schemas.microsoft.com/office/drawing/2014/main" val="20001"/>
                    </a:ext>
                  </a:extLst>
                </a:gridCol>
                <a:gridCol w="701675">
                  <a:extLst>
                    <a:ext uri="{9D8B030D-6E8A-4147-A177-3AD203B41FA5}">
                      <a16:colId xmlns:a16="http://schemas.microsoft.com/office/drawing/2014/main" val="20002"/>
                    </a:ext>
                  </a:extLst>
                </a:gridCol>
                <a:gridCol w="776287">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79851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BC</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00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38">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49274" name="Rectangle 58"/>
          <p:cNvSpPr>
            <a:spLocks noChangeArrowheads="1"/>
          </p:cNvSpPr>
          <p:nvPr/>
        </p:nvSpPr>
        <p:spPr bwMode="auto">
          <a:xfrm>
            <a:off x="1604521" y="4765575"/>
            <a:ext cx="1219200" cy="381000"/>
          </a:xfrm>
          <a:prstGeom prst="rect">
            <a:avLst/>
          </a:prstGeom>
          <a:noFill/>
          <a:ln w="28575" algn="ctr">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9275" name="Rectangle 59"/>
          <p:cNvSpPr>
            <a:spLocks noChangeArrowheads="1"/>
          </p:cNvSpPr>
          <p:nvPr/>
        </p:nvSpPr>
        <p:spPr bwMode="auto">
          <a:xfrm>
            <a:off x="2366521" y="4232175"/>
            <a:ext cx="1143000" cy="381000"/>
          </a:xfrm>
          <a:prstGeom prst="rect">
            <a:avLst/>
          </a:prstGeom>
          <a:noFill/>
          <a:ln w="2857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9276" name="Rectangle 60"/>
          <p:cNvSpPr>
            <a:spLocks noChangeArrowheads="1"/>
          </p:cNvSpPr>
          <p:nvPr/>
        </p:nvSpPr>
        <p:spPr bwMode="auto">
          <a:xfrm>
            <a:off x="3890521" y="4232175"/>
            <a:ext cx="381000" cy="914400"/>
          </a:xfrm>
          <a:prstGeom prst="rect">
            <a:avLst/>
          </a:prstGeom>
          <a:noFill/>
          <a:ln w="28575" algn="ctr">
            <a:solidFill>
              <a:srgbClr val="3399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9277" name="Rectangle 61"/>
          <p:cNvSpPr>
            <a:spLocks noChangeArrowheads="1"/>
          </p:cNvSpPr>
          <p:nvPr/>
        </p:nvSpPr>
        <p:spPr bwMode="auto">
          <a:xfrm>
            <a:off x="5795521" y="4765575"/>
            <a:ext cx="381000" cy="381000"/>
          </a:xfrm>
          <a:prstGeom prst="rect">
            <a:avLst/>
          </a:prstGeom>
          <a:noFill/>
          <a:ln w="28575" algn="ctr">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9278" name="Rectangle 62"/>
          <p:cNvSpPr>
            <a:spLocks noChangeArrowheads="1"/>
          </p:cNvSpPr>
          <p:nvPr/>
        </p:nvSpPr>
        <p:spPr bwMode="auto">
          <a:xfrm>
            <a:off x="6557521" y="4308375"/>
            <a:ext cx="381000" cy="762000"/>
          </a:xfrm>
          <a:prstGeom prst="rect">
            <a:avLst/>
          </a:prstGeom>
          <a:noFill/>
          <a:ln w="2857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9279" name="Rectangle 63"/>
          <p:cNvSpPr>
            <a:spLocks noChangeArrowheads="1"/>
          </p:cNvSpPr>
          <p:nvPr/>
        </p:nvSpPr>
        <p:spPr bwMode="auto">
          <a:xfrm>
            <a:off x="7319521" y="4232175"/>
            <a:ext cx="1066800" cy="381000"/>
          </a:xfrm>
          <a:prstGeom prst="rect">
            <a:avLst/>
          </a:prstGeom>
          <a:noFill/>
          <a:ln w="28575" algn="ctr">
            <a:solidFill>
              <a:srgbClr val="3399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649280" name="Rectangle 64"/>
          <p:cNvSpPr>
            <a:spLocks noChangeArrowheads="1"/>
          </p:cNvSpPr>
          <p:nvPr/>
        </p:nvSpPr>
        <p:spPr bwMode="auto">
          <a:xfrm>
            <a:off x="8081521" y="4765575"/>
            <a:ext cx="381000" cy="381000"/>
          </a:xfrm>
          <a:prstGeom prst="rect">
            <a:avLst/>
          </a:prstGeom>
          <a:noFill/>
          <a:ln w="28575" algn="ctr">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6" name="Rectangle 71">
            <a:extLst>
              <a:ext uri="{FF2B5EF4-FFF2-40B4-BE49-F238E27FC236}">
                <a16:creationId xmlns:a16="http://schemas.microsoft.com/office/drawing/2014/main" id="{5B8C2251-D0D4-D84C-8550-860ADE4C1530}"/>
              </a:ext>
            </a:extLst>
          </p:cNvPr>
          <p:cNvSpPr>
            <a:spLocks noChangeArrowheads="1"/>
          </p:cNvSpPr>
          <p:nvPr/>
        </p:nvSpPr>
        <p:spPr bwMode="auto">
          <a:xfrm>
            <a:off x="310943" y="2179656"/>
            <a:ext cx="62889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p>
            <a:r>
              <a:rPr lang="zh-CN" altLang="en-US" sz="2800" dirty="0">
                <a:ea typeface="黑体" panose="02010609060101010101" pitchFamily="49" charset="-122"/>
              </a:rPr>
              <a:t>找到覆盖所有最小项的本质本原蕴含项</a:t>
            </a:r>
            <a:endParaRPr lang="en-US" altLang="zh-CN" sz="2800" dirty="0">
              <a:solidFill>
                <a:schemeClr val="folHlink"/>
              </a:solidFill>
              <a:ea typeface="黑体" panose="02010609060101010101" pitchFamily="49" charset="-122"/>
            </a:endParaRPr>
          </a:p>
        </p:txBody>
      </p:sp>
      <mc:AlternateContent xmlns:mc="http://schemas.openxmlformats.org/markup-compatibility/2006" xmlns:a14="http://schemas.microsoft.com/office/drawing/2010/main">
        <mc:Choice Requires="a14">
          <p:sp>
            <p:nvSpPr>
              <p:cNvPr id="17" name="文本框 1">
                <a:extLst>
                  <a:ext uri="{FF2B5EF4-FFF2-40B4-BE49-F238E27FC236}">
                    <a16:creationId xmlns:a16="http://schemas.microsoft.com/office/drawing/2014/main" id="{EB3D69B6-2C39-6947-A728-F7C793987E7B}"/>
                  </a:ext>
                </a:extLst>
              </p:cNvPr>
              <p:cNvSpPr txBox="1"/>
              <p:nvPr/>
            </p:nvSpPr>
            <p:spPr>
              <a:xfrm>
                <a:off x="487113" y="1501254"/>
                <a:ext cx="7864974" cy="493597"/>
              </a:xfrm>
              <a:prstGeom prst="rect">
                <a:avLst/>
              </a:prstGeom>
              <a:noFill/>
            </p:spPr>
            <p:txBody>
              <a:bodyPr wrap="none" lIns="0" tIns="0" rIns="0" bIns="0" rtlCol="0">
                <a:spAutoFit/>
              </a:bodyPr>
              <a:lstStyle/>
              <a:p>
                <a14:m>
                  <m:oMath xmlns:m="http://schemas.openxmlformats.org/officeDocument/2006/math">
                    <m:r>
                      <a:rPr kumimoji="1" lang="en-US" altLang="zh-CN" sz="3200" i="1" smtClean="0">
                        <a:latin typeface="Cambria Math" panose="02040503050406030204" pitchFamily="18" charset="0"/>
                      </a:rPr>
                      <m:t>𝑌</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𝐴</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𝐶</m:t>
                        </m:r>
                      </m:e>
                    </m:acc>
                    <m:r>
                      <a:rPr kumimoji="1" lang="en-US" altLang="zh-CN" sz="3200" b="0" i="1" smtClean="0">
                        <a:latin typeface="Cambria Math" panose="02040503050406030204" pitchFamily="18" charset="0"/>
                      </a:rPr>
                      <m:t>+</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𝐴</m:t>
                        </m:r>
                      </m:e>
                    </m:acc>
                    <m:r>
                      <a:rPr kumimoji="1" lang="en-US" altLang="zh-CN" sz="3200" b="0" i="1" smtClean="0">
                        <a:latin typeface="Cambria Math" panose="02040503050406030204" pitchFamily="18" charset="0"/>
                      </a:rPr>
                      <m:t>𝐶</m:t>
                    </m:r>
                    <m:r>
                      <a:rPr kumimoji="1" lang="en-US" altLang="zh-CN" sz="3200" b="0" i="1" smtClean="0">
                        <a:latin typeface="Cambria Math" panose="02040503050406030204" pitchFamily="18" charset="0"/>
                      </a:rPr>
                      <m:t>+</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𝐵</m:t>
                        </m:r>
                      </m:e>
                    </m:acc>
                    <m:r>
                      <a:rPr kumimoji="1" lang="en-US" altLang="zh-CN" sz="3200" b="0" i="1" smtClean="0">
                        <a:latin typeface="Cambria Math" panose="02040503050406030204" pitchFamily="18" charset="0"/>
                      </a:rPr>
                      <m:t>𝐶</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𝐵</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𝐶</m:t>
                        </m:r>
                      </m:e>
                    </m:acc>
                    <m:r>
                      <a:rPr kumimoji="1" lang="en-US" altLang="zh-CN" sz="3200" b="0" i="1" smtClean="0">
                        <a:latin typeface="Cambria Math" panose="02040503050406030204" pitchFamily="18" charset="0"/>
                      </a:rPr>
                      <m:t>=</m:t>
                    </m:r>
                    <m:nary>
                      <m:naryPr>
                        <m:chr m:val="∑"/>
                        <m:subHide m:val="on"/>
                        <m:supHide m:val="on"/>
                        <m:ctrlPr>
                          <a:rPr kumimoji="1" lang="en-US" altLang="zh-CN" sz="3200" b="0" i="1" smtClean="0">
                            <a:latin typeface="Cambria Math" panose="02040503050406030204" pitchFamily="18" charset="0"/>
                          </a:rPr>
                        </m:ctrlPr>
                      </m:naryPr>
                      <m:sub/>
                      <m:sup/>
                      <m:e>
                        <m:r>
                          <a:rPr kumimoji="1" lang="en-US" altLang="zh-CN" sz="3200" b="0" i="1" smtClean="0">
                            <a:latin typeface="Cambria Math" panose="02040503050406030204" pitchFamily="18" charset="0"/>
                          </a:rPr>
                          <m:t>𝑚</m:t>
                        </m:r>
                        <m:d>
                          <m:dPr>
                            <m:ctrlPr>
                              <a:rPr kumimoji="1" lang="en-US" altLang="zh-CN" sz="3200" b="0" i="1" smtClean="0">
                                <a:latin typeface="Cambria Math" panose="02040503050406030204" pitchFamily="18" charset="0"/>
                              </a:rPr>
                            </m:ctrlPr>
                          </m:dPr>
                          <m:e>
                            <m:r>
                              <a:rPr kumimoji="1" lang="en-US" altLang="zh-CN" sz="3200" b="0" i="1" smtClean="0">
                                <a:latin typeface="Cambria Math" panose="02040503050406030204" pitchFamily="18" charset="0"/>
                              </a:rPr>
                              <m:t>1,2,3,4,5,6</m:t>
                            </m:r>
                          </m:e>
                        </m:d>
                      </m:e>
                    </m:nary>
                  </m:oMath>
                </a14:m>
                <a:r>
                  <a:rPr kumimoji="1" lang="en-US" altLang="zh-CN" sz="3200" i="1" dirty="0">
                    <a:ea typeface="黑体" panose="02010609060101010101" pitchFamily="49" charset="-122"/>
                  </a:rPr>
                  <a:t> </a:t>
                </a:r>
                <a:endParaRPr kumimoji="1" lang="zh-CN" altLang="en-US" sz="3200" i="1" dirty="0">
                  <a:ea typeface="黑体" panose="02010609060101010101" pitchFamily="49" charset="-122"/>
                </a:endParaRPr>
              </a:p>
            </p:txBody>
          </p:sp>
        </mc:Choice>
        <mc:Fallback xmlns="">
          <p:sp>
            <p:nvSpPr>
              <p:cNvPr id="17" name="文本框 1">
                <a:extLst>
                  <a:ext uri="{FF2B5EF4-FFF2-40B4-BE49-F238E27FC236}">
                    <a16:creationId xmlns:a16="http://schemas.microsoft.com/office/drawing/2014/main" id="{EB3D69B6-2C39-6947-A728-F7C793987E7B}"/>
                  </a:ext>
                </a:extLst>
              </p:cNvPr>
              <p:cNvSpPr txBox="1">
                <a:spLocks noRot="1" noChangeAspect="1" noMove="1" noResize="1" noEditPoints="1" noAdjustHandles="1" noChangeArrowheads="1" noChangeShapeType="1" noTextEdit="1"/>
              </p:cNvSpPr>
              <p:nvPr/>
            </p:nvSpPr>
            <p:spPr>
              <a:xfrm>
                <a:off x="487113" y="1501254"/>
                <a:ext cx="7864974" cy="49359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29CE736-5204-4E4D-A44F-E9755C48BB86}"/>
                  </a:ext>
                </a:extLst>
              </p:cNvPr>
              <p:cNvSpPr txBox="1"/>
              <p:nvPr/>
            </p:nvSpPr>
            <p:spPr>
              <a:xfrm>
                <a:off x="719592" y="5527691"/>
                <a:ext cx="3496598" cy="493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3200" i="1" smtClean="0">
                          <a:latin typeface="Cambria Math" panose="02040503050406030204" pitchFamily="18" charset="0"/>
                        </a:rPr>
                        <m:t>𝑌</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𝐴</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𝐵</m:t>
                          </m:r>
                        </m:e>
                      </m:acc>
                      <m:r>
                        <a:rPr kumimoji="1" lang="en-US" altLang="zh-CN" sz="3200" b="0" i="1" smtClean="0">
                          <a:latin typeface="Cambria Math" panose="02040503050406030204" pitchFamily="18" charset="0"/>
                        </a:rPr>
                        <m:t>+</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𝐴</m:t>
                          </m:r>
                        </m:e>
                      </m:acc>
                      <m:r>
                        <a:rPr kumimoji="1" lang="en-US" altLang="zh-CN" sz="3200" b="0" i="1" smtClean="0">
                          <a:latin typeface="Cambria Math" panose="02040503050406030204" pitchFamily="18" charset="0"/>
                        </a:rPr>
                        <m:t>𝐶</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𝐵</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𝐶</m:t>
                          </m:r>
                        </m:e>
                      </m:acc>
                    </m:oMath>
                  </m:oMathPara>
                </a14:m>
                <a:endParaRPr kumimoji="1" lang="zh-CN" altLang="en-US" sz="3200" i="1" dirty="0">
                  <a:ea typeface="黑体" panose="02010609060101010101" pitchFamily="49" charset="-122"/>
                </a:endParaRPr>
              </a:p>
            </p:txBody>
          </p:sp>
        </mc:Choice>
        <mc:Fallback xmlns="">
          <p:sp>
            <p:nvSpPr>
              <p:cNvPr id="18" name="文本框 17">
                <a:extLst>
                  <a:ext uri="{FF2B5EF4-FFF2-40B4-BE49-F238E27FC236}">
                    <a16:creationId xmlns:a16="http://schemas.microsoft.com/office/drawing/2014/main" id="{929CE736-5204-4E4D-A44F-E9755C48BB86}"/>
                  </a:ext>
                </a:extLst>
              </p:cNvPr>
              <p:cNvSpPr txBox="1">
                <a:spLocks noRot="1" noChangeAspect="1" noMove="1" noResize="1" noEditPoints="1" noAdjustHandles="1" noChangeArrowheads="1" noChangeShapeType="1" noTextEdit="1"/>
              </p:cNvSpPr>
              <p:nvPr/>
            </p:nvSpPr>
            <p:spPr>
              <a:xfrm>
                <a:off x="719592" y="5527691"/>
                <a:ext cx="3496598" cy="4935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274E3E7-43A4-1D41-BA93-41B13D531859}"/>
                  </a:ext>
                </a:extLst>
              </p:cNvPr>
              <p:cNvSpPr txBox="1"/>
              <p:nvPr/>
            </p:nvSpPr>
            <p:spPr>
              <a:xfrm>
                <a:off x="4809222" y="5517313"/>
                <a:ext cx="3496598" cy="493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3200" i="1" smtClean="0">
                          <a:latin typeface="Cambria Math" panose="02040503050406030204" pitchFamily="18" charset="0"/>
                        </a:rPr>
                        <m:t>𝑌</m:t>
                      </m:r>
                      <m:r>
                        <a:rPr kumimoji="1" lang="en-US" altLang="zh-CN" sz="3200" b="0" i="1" smtClean="0">
                          <a:latin typeface="Cambria Math" panose="02040503050406030204" pitchFamily="18" charset="0"/>
                        </a:rPr>
                        <m:t>=</m:t>
                      </m:r>
                      <m:r>
                        <a:rPr kumimoji="1" lang="en-US" altLang="zh-CN" sz="3200" b="0" i="1" smtClean="0">
                          <a:latin typeface="Cambria Math" panose="02040503050406030204" pitchFamily="18" charset="0"/>
                        </a:rPr>
                        <m:t>𝐴</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𝐶</m:t>
                          </m:r>
                        </m:e>
                      </m:acc>
                      <m:r>
                        <a:rPr kumimoji="1" lang="en-US" altLang="zh-CN" sz="3200" b="0" i="1" smtClean="0">
                          <a:latin typeface="Cambria Math" panose="02040503050406030204" pitchFamily="18" charset="0"/>
                        </a:rPr>
                        <m:t>+</m:t>
                      </m:r>
                      <m:acc>
                        <m:accPr>
                          <m:chr m:val="̅"/>
                          <m:ctrlPr>
                            <a:rPr kumimoji="1" lang="en-US" altLang="zh-CN" sz="3200" b="0" i="1" smtClean="0">
                              <a:latin typeface="Cambria Math" panose="02040503050406030204" pitchFamily="18" charset="0"/>
                            </a:rPr>
                          </m:ctrlPr>
                        </m:accPr>
                        <m:e>
                          <m:r>
                            <a:rPr kumimoji="1" lang="en-US" altLang="zh-CN" sz="3200" b="0" i="1" smtClean="0">
                              <a:latin typeface="Cambria Math" panose="02040503050406030204" pitchFamily="18" charset="0"/>
                            </a:rPr>
                            <m:t>𝐵</m:t>
                          </m:r>
                        </m:e>
                      </m:acc>
                      <m:r>
                        <a:rPr kumimoji="1" lang="en-US" altLang="zh-CN" sz="3200" b="0" i="1" smtClean="0">
                          <a:latin typeface="Cambria Math" panose="02040503050406030204" pitchFamily="18" charset="0"/>
                        </a:rPr>
                        <m:t>𝐶</m:t>
                      </m:r>
                      <m:r>
                        <a:rPr kumimoji="1" lang="en-US" altLang="zh-CN" sz="3200" b="0" i="1" smtClean="0">
                          <a:latin typeface="Cambria Math" panose="02040503050406030204" pitchFamily="18" charset="0"/>
                        </a:rPr>
                        <m:t>+</m:t>
                      </m:r>
                      <m:acc>
                        <m:accPr>
                          <m:chr m:val="̅"/>
                          <m:ctrlPr>
                            <a:rPr kumimoji="1" lang="en-US" altLang="zh-CN" sz="3200" i="1">
                              <a:latin typeface="Cambria Math" panose="02040503050406030204" pitchFamily="18" charset="0"/>
                            </a:rPr>
                          </m:ctrlPr>
                        </m:accPr>
                        <m:e>
                          <m:r>
                            <a:rPr kumimoji="1" lang="en-US" altLang="zh-CN" sz="3200" i="1">
                              <a:latin typeface="Cambria Math" panose="02040503050406030204" pitchFamily="18" charset="0"/>
                            </a:rPr>
                            <m:t>𝐴</m:t>
                          </m:r>
                        </m:e>
                      </m:acc>
                      <m:r>
                        <a:rPr kumimoji="1" lang="en-US" altLang="zh-CN" sz="3200" b="0" i="1" smtClean="0">
                          <a:latin typeface="Cambria Math" panose="02040503050406030204" pitchFamily="18" charset="0"/>
                        </a:rPr>
                        <m:t>𝐵</m:t>
                      </m:r>
                    </m:oMath>
                  </m:oMathPara>
                </a14:m>
                <a:endParaRPr kumimoji="1" lang="zh-CN" altLang="en-US" sz="3200" i="1" dirty="0">
                  <a:ea typeface="黑体" panose="02010609060101010101" pitchFamily="49" charset="-122"/>
                </a:endParaRPr>
              </a:p>
            </p:txBody>
          </p:sp>
        </mc:Choice>
        <mc:Fallback xmlns="">
          <p:sp>
            <p:nvSpPr>
              <p:cNvPr id="19" name="文本框 18">
                <a:extLst>
                  <a:ext uri="{FF2B5EF4-FFF2-40B4-BE49-F238E27FC236}">
                    <a16:creationId xmlns:a16="http://schemas.microsoft.com/office/drawing/2014/main" id="{B274E3E7-43A4-1D41-BA93-41B13D531859}"/>
                  </a:ext>
                </a:extLst>
              </p:cNvPr>
              <p:cNvSpPr txBox="1">
                <a:spLocks noRot="1" noChangeAspect="1" noMove="1" noResize="1" noEditPoints="1" noAdjustHandles="1" noChangeArrowheads="1" noChangeShapeType="1" noTextEdit="1"/>
              </p:cNvSpPr>
              <p:nvPr/>
            </p:nvSpPr>
            <p:spPr>
              <a:xfrm>
                <a:off x="4809222" y="5517313"/>
                <a:ext cx="3496598" cy="493597"/>
              </a:xfrm>
              <a:prstGeom prst="rect">
                <a:avLst/>
              </a:prstGeom>
              <a:blipFill>
                <a:blip r:embed="rId5"/>
                <a:stretch>
                  <a:fillRect/>
                </a:stretch>
              </a:blipFill>
            </p:spPr>
            <p:txBody>
              <a:bodyPr/>
              <a:lstStyle/>
              <a:p>
                <a:r>
                  <a:rPr lang="zh-CN" altLang="en-US">
                    <a:noFill/>
                  </a:rPr>
                  <a:t> </a:t>
                </a:r>
              </a:p>
            </p:txBody>
          </p:sp>
        </mc:Fallback>
      </mc:AlternateContent>
      <p:sp>
        <p:nvSpPr>
          <p:cNvPr id="4" name="标题 15">
            <a:extLst>
              <a:ext uri="{FF2B5EF4-FFF2-40B4-BE49-F238E27FC236}">
                <a16:creationId xmlns:a16="http://schemas.microsoft.com/office/drawing/2014/main" id="{2B1C4B94-8E5A-F488-B3FA-CB61B4D2FA43}"/>
              </a:ext>
            </a:extLst>
          </p:cNvPr>
          <p:cNvSpPr>
            <a:spLocks noGrp="1"/>
          </p:cNvSpPr>
          <p:nvPr>
            <p:ph type="title"/>
          </p:nvPr>
        </p:nvSpPr>
        <p:spPr>
          <a:xfrm>
            <a:off x="457200" y="136525"/>
            <a:ext cx="8229600" cy="1143000"/>
          </a:xfrm>
        </p:spPr>
        <p:txBody>
          <a:bodyPr/>
          <a:lstStyle/>
          <a:p>
            <a:r>
              <a:rPr lang="zh-CN" altLang="en-US" dirty="0"/>
              <a:t>寻找本质本原蕴含项举例</a:t>
            </a:r>
            <a:r>
              <a:rPr lang="en-US" altLang="zh-CN" dirty="0"/>
              <a:t>3</a:t>
            </a:r>
            <a:endParaRPr lang="zh-CN" altLang="en-US" dirty="0"/>
          </a:p>
        </p:txBody>
      </p:sp>
    </p:spTree>
    <p:extLst>
      <p:ext uri="{BB962C8B-B14F-4D97-AF65-F5344CB8AC3E}">
        <p14:creationId xmlns:p14="http://schemas.microsoft.com/office/powerpoint/2010/main" val="742794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50" name="Group 50"/>
          <p:cNvGraphicFramePr>
            <a:graphicFrameLocks noGrp="1"/>
          </p:cNvGraphicFramePr>
          <p:nvPr>
            <p:ph type="tbl" idx="1"/>
            <p:extLst>
              <p:ext uri="{D42A27DB-BD31-4B8C-83A1-F6EECF244321}">
                <p14:modId xmlns:p14="http://schemas.microsoft.com/office/powerpoint/2010/main" val="232257924"/>
              </p:ext>
            </p:extLst>
          </p:nvPr>
        </p:nvGraphicFramePr>
        <p:xfrm>
          <a:off x="2743200" y="2819400"/>
          <a:ext cx="3886200" cy="3103564"/>
        </p:xfrm>
        <a:graphic>
          <a:graphicData uri="http://schemas.openxmlformats.org/drawingml/2006/table">
            <a:tbl>
              <a:tblPr/>
              <a:tblGrid>
                <a:gridCol w="990600">
                  <a:extLst>
                    <a:ext uri="{9D8B030D-6E8A-4147-A177-3AD203B41FA5}">
                      <a16:colId xmlns:a16="http://schemas.microsoft.com/office/drawing/2014/main" val="20000"/>
                    </a:ext>
                  </a:extLst>
                </a:gridCol>
                <a:gridCol w="760413">
                  <a:extLst>
                    <a:ext uri="{9D8B030D-6E8A-4147-A177-3AD203B41FA5}">
                      <a16:colId xmlns:a16="http://schemas.microsoft.com/office/drawing/2014/main" val="20001"/>
                    </a:ext>
                  </a:extLst>
                </a:gridCol>
                <a:gridCol w="687387">
                  <a:extLst>
                    <a:ext uri="{9D8B030D-6E8A-4147-A177-3AD203B41FA5}">
                      <a16:colId xmlns:a16="http://schemas.microsoft.com/office/drawing/2014/main" val="20002"/>
                    </a:ext>
                  </a:extLst>
                </a:gridCol>
                <a:gridCol w="760413">
                  <a:extLst>
                    <a:ext uri="{9D8B030D-6E8A-4147-A177-3AD203B41FA5}">
                      <a16:colId xmlns:a16="http://schemas.microsoft.com/office/drawing/2014/main" val="20003"/>
                    </a:ext>
                  </a:extLst>
                </a:gridCol>
                <a:gridCol w="687387">
                  <a:extLst>
                    <a:ext uri="{9D8B030D-6E8A-4147-A177-3AD203B41FA5}">
                      <a16:colId xmlns:a16="http://schemas.microsoft.com/office/drawing/2014/main" val="20004"/>
                    </a:ext>
                  </a:extLst>
                </a:gridCol>
              </a:tblGrid>
              <a:tr h="1030456">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277">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1" u="none" strike="noStrike" cap="none" normalizeH="0" baseline="0" dirty="0">
                        <a:ln>
                          <a:noFill/>
                        </a:ln>
                        <a:solidFill>
                          <a:srgbClr val="FF6600"/>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77">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1" u="none" strike="noStrike" cap="none" normalizeH="0" baseline="0" dirty="0">
                        <a:ln>
                          <a:noFill/>
                        </a:ln>
                        <a:solidFill>
                          <a:srgbClr val="FF6600"/>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277">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rgbClr val="FF00FF"/>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rgbClr val="33CC33"/>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rgbClr val="FF3300"/>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277">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rgbClr val="FF00FF"/>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accent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accent1"/>
                        </a:solidFill>
                        <a:effectLst/>
                        <a:latin typeface="Arial" charset="0"/>
                        <a:ea typeface="黑体" panose="02010609060101010101" pitchFamily="49"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F655B0F2-6891-3A47-865A-4C003578267E}"/>
              </a:ext>
            </a:extLst>
          </p:cNvPr>
          <p:cNvSpPr>
            <a:spLocks noGrp="1"/>
          </p:cNvSpPr>
          <p:nvPr>
            <p:ph type="sldNum" sz="quarter" idx="11"/>
          </p:nvPr>
        </p:nvSpPr>
        <p:spPr/>
        <p:txBody>
          <a:bodyPr/>
          <a:lstStyle/>
          <a:p>
            <a:pPr>
              <a:defRPr/>
            </a:pPr>
            <a:fld id="{2EA1E184-7EFF-4B48-9C82-609CF6442F2C}" type="slidenum">
              <a:rPr lang="zh-CN" altLang="en-US" smtClean="0"/>
              <a:pPr>
                <a:defRPr/>
              </a:pPr>
              <a:t>93</a:t>
            </a:fld>
            <a:endParaRPr lang="en-US" altLang="zh-CN"/>
          </a:p>
        </p:txBody>
      </p:sp>
      <p:sp>
        <p:nvSpPr>
          <p:cNvPr id="460842" name="AutoShape 42"/>
          <p:cNvSpPr>
            <a:spLocks/>
          </p:cNvSpPr>
          <p:nvPr/>
        </p:nvSpPr>
        <p:spPr bwMode="auto">
          <a:xfrm>
            <a:off x="2590800" y="5029200"/>
            <a:ext cx="76200" cy="762000"/>
          </a:xfrm>
          <a:prstGeom prst="leftBracket">
            <a:avLst>
              <a:gd name="adj" fmla="val 83333"/>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0843" name="Text Box 43"/>
          <p:cNvSpPr txBox="1">
            <a:spLocks noChangeArrowheads="1"/>
          </p:cNvSpPr>
          <p:nvPr/>
        </p:nvSpPr>
        <p:spPr bwMode="auto">
          <a:xfrm>
            <a:off x="2133600" y="5181600"/>
            <a:ext cx="38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solidFill>
                  <a:schemeClr val="tx1"/>
                </a:solidFill>
                <a:ea typeface="黑体" panose="02010609060101010101" pitchFamily="49" charset="-122"/>
              </a:rPr>
              <a:t>A</a:t>
            </a:r>
          </a:p>
        </p:txBody>
      </p:sp>
      <p:sp>
        <p:nvSpPr>
          <p:cNvPr id="460844" name="AutoShape 44"/>
          <p:cNvSpPr>
            <a:spLocks/>
          </p:cNvSpPr>
          <p:nvPr/>
        </p:nvSpPr>
        <p:spPr bwMode="auto">
          <a:xfrm flipH="1">
            <a:off x="6705600" y="4495800"/>
            <a:ext cx="76200" cy="762000"/>
          </a:xfrm>
          <a:prstGeom prst="leftBracket">
            <a:avLst>
              <a:gd name="adj" fmla="val 83333"/>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0845" name="Text Box 45"/>
          <p:cNvSpPr txBox="1">
            <a:spLocks noChangeArrowheads="1"/>
          </p:cNvSpPr>
          <p:nvPr/>
        </p:nvSpPr>
        <p:spPr bwMode="auto">
          <a:xfrm flipH="1">
            <a:off x="6781800" y="4572000"/>
            <a:ext cx="38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solidFill>
                  <a:schemeClr val="tx1"/>
                </a:solidFill>
                <a:ea typeface="黑体" panose="02010609060101010101" pitchFamily="49" charset="-122"/>
              </a:rPr>
              <a:t>B</a:t>
            </a:r>
          </a:p>
        </p:txBody>
      </p:sp>
      <p:sp>
        <p:nvSpPr>
          <p:cNvPr id="460846" name="AutoShape 46"/>
          <p:cNvSpPr>
            <a:spLocks/>
          </p:cNvSpPr>
          <p:nvPr/>
        </p:nvSpPr>
        <p:spPr bwMode="auto">
          <a:xfrm rot="16200000" flipH="1">
            <a:off x="5219700" y="2324100"/>
            <a:ext cx="76200" cy="762000"/>
          </a:xfrm>
          <a:prstGeom prst="leftBracket">
            <a:avLst>
              <a:gd name="adj" fmla="val 83333"/>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0847" name="Text Box 47"/>
          <p:cNvSpPr txBox="1">
            <a:spLocks noChangeArrowheads="1"/>
          </p:cNvSpPr>
          <p:nvPr/>
        </p:nvSpPr>
        <p:spPr bwMode="auto">
          <a:xfrm flipH="1">
            <a:off x="5791200" y="6110288"/>
            <a:ext cx="381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solidFill>
                  <a:schemeClr val="tx1"/>
                </a:solidFill>
                <a:ea typeface="黑体" panose="02010609060101010101" pitchFamily="49" charset="-122"/>
              </a:rPr>
              <a:t>C</a:t>
            </a:r>
          </a:p>
        </p:txBody>
      </p:sp>
      <p:sp>
        <p:nvSpPr>
          <p:cNvPr id="460848" name="Text Box 48"/>
          <p:cNvSpPr txBox="1">
            <a:spLocks noChangeArrowheads="1"/>
          </p:cNvSpPr>
          <p:nvPr/>
        </p:nvSpPr>
        <p:spPr bwMode="auto">
          <a:xfrm flipH="1">
            <a:off x="5029200" y="2209800"/>
            <a:ext cx="38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spcBef>
                <a:spcPct val="50000"/>
              </a:spcBef>
            </a:pPr>
            <a:r>
              <a:rPr lang="en-US" altLang="zh-CN" sz="2800" dirty="0">
                <a:solidFill>
                  <a:schemeClr val="tx1"/>
                </a:solidFill>
                <a:ea typeface="黑体" panose="02010609060101010101" pitchFamily="49" charset="-122"/>
              </a:rPr>
              <a:t>D</a:t>
            </a:r>
          </a:p>
        </p:txBody>
      </p:sp>
      <p:sp>
        <p:nvSpPr>
          <p:cNvPr id="460849" name="AutoShape 49"/>
          <p:cNvSpPr>
            <a:spLocks/>
          </p:cNvSpPr>
          <p:nvPr/>
        </p:nvSpPr>
        <p:spPr bwMode="auto">
          <a:xfrm rot="5400000" flipH="1" flipV="1">
            <a:off x="5981700" y="5676900"/>
            <a:ext cx="76200" cy="762000"/>
          </a:xfrm>
          <a:prstGeom prst="leftBracket">
            <a:avLst>
              <a:gd name="adj" fmla="val 83333"/>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graphicFrame>
        <p:nvGraphicFramePr>
          <p:cNvPr id="460851" name="Group 51"/>
          <p:cNvGraphicFramePr>
            <a:graphicFrameLocks noGrp="1"/>
          </p:cNvGraphicFramePr>
          <p:nvPr>
            <p:extLst>
              <p:ext uri="{D42A27DB-BD31-4B8C-83A1-F6EECF244321}">
                <p14:modId xmlns:p14="http://schemas.microsoft.com/office/powerpoint/2010/main" val="933736954"/>
              </p:ext>
            </p:extLst>
          </p:nvPr>
        </p:nvGraphicFramePr>
        <p:xfrm>
          <a:off x="2743200" y="2816932"/>
          <a:ext cx="3886200" cy="3102864"/>
        </p:xfrm>
        <a:graphic>
          <a:graphicData uri="http://schemas.openxmlformats.org/drawingml/2006/table">
            <a:tbl>
              <a:tblPr/>
              <a:tblGrid>
                <a:gridCol w="990600">
                  <a:extLst>
                    <a:ext uri="{9D8B030D-6E8A-4147-A177-3AD203B41FA5}">
                      <a16:colId xmlns:a16="http://schemas.microsoft.com/office/drawing/2014/main" val="20000"/>
                    </a:ext>
                  </a:extLst>
                </a:gridCol>
                <a:gridCol w="760413">
                  <a:extLst>
                    <a:ext uri="{9D8B030D-6E8A-4147-A177-3AD203B41FA5}">
                      <a16:colId xmlns:a16="http://schemas.microsoft.com/office/drawing/2014/main" val="20001"/>
                    </a:ext>
                  </a:extLst>
                </a:gridCol>
                <a:gridCol w="687387">
                  <a:extLst>
                    <a:ext uri="{9D8B030D-6E8A-4147-A177-3AD203B41FA5}">
                      <a16:colId xmlns:a16="http://schemas.microsoft.com/office/drawing/2014/main" val="20002"/>
                    </a:ext>
                  </a:extLst>
                </a:gridCol>
                <a:gridCol w="760413">
                  <a:extLst>
                    <a:ext uri="{9D8B030D-6E8A-4147-A177-3AD203B41FA5}">
                      <a16:colId xmlns:a16="http://schemas.microsoft.com/office/drawing/2014/main" val="20003"/>
                    </a:ext>
                  </a:extLst>
                </a:gridCol>
                <a:gridCol w="687387">
                  <a:extLst>
                    <a:ext uri="{9D8B030D-6E8A-4147-A177-3AD203B41FA5}">
                      <a16:colId xmlns:a16="http://schemas.microsoft.com/office/drawing/2014/main" val="20004"/>
                    </a:ext>
                  </a:extLst>
                </a:gridCol>
              </a:tblGrid>
              <a:tr h="768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dirty="0">
                          <a:ln>
                            <a:noFill/>
                          </a:ln>
                          <a:solidFill>
                            <a:srgbClr val="FF660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1" u="none" strike="noStrike" cap="none" normalizeH="0" baseline="0" dirty="0">
                          <a:ln>
                            <a:noFill/>
                          </a:ln>
                          <a:solidFill>
                            <a:srgbClr val="FF660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33CC33"/>
                          </a:solidFill>
                          <a:effectLst/>
                          <a:latin typeface="Arial" charset="0"/>
                          <a:ea typeface="黑体" panose="02010609060101010101" pitchFamily="49" charset="-122"/>
                        </a:rPr>
                        <a:t>1</a:t>
                      </a:r>
                      <a:r>
                        <a:rPr kumimoji="0" lang="en-US" altLang="zh-CN" sz="2800" b="0" i="0" u="none" strike="noStrike" cap="none" normalizeH="0" baseline="0" dirty="0">
                          <a:ln>
                            <a:noFill/>
                          </a:ln>
                          <a:solidFill>
                            <a:srgbClr val="FF00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3300"/>
                          </a:solidFill>
                          <a:effectLst/>
                          <a:latin typeface="Arial" charset="0"/>
                          <a:ea typeface="黑体" panose="02010609060101010101" pitchFamily="49" charset="-122"/>
                        </a:rPr>
                        <a:t>1</a:t>
                      </a:r>
                      <a:r>
                        <a:rPr kumimoji="0" lang="en-US" altLang="zh-CN" sz="2800" b="0" i="0" u="none" strike="noStrike" cap="none" normalizeH="0" baseline="0" dirty="0">
                          <a:ln>
                            <a:noFill/>
                          </a:ln>
                          <a:solidFill>
                            <a:srgbClr val="33CC33"/>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3300"/>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rgbClr val="FF00FF"/>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accent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accent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15" name="文本框 15">
                <a:extLst>
                  <a:ext uri="{FF2B5EF4-FFF2-40B4-BE49-F238E27FC236}">
                    <a16:creationId xmlns:a16="http://schemas.microsoft.com/office/drawing/2014/main" id="{2C623264-9721-7240-A710-C79D0F28EBC1}"/>
                  </a:ext>
                </a:extLst>
              </p:cNvPr>
              <p:cNvSpPr txBox="1"/>
              <p:nvPr/>
            </p:nvSpPr>
            <p:spPr>
              <a:xfrm>
                <a:off x="1080980" y="1593059"/>
                <a:ext cx="6982040" cy="4317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rPr>
                        <m:t>𝑌</m:t>
                      </m:r>
                      <m:r>
                        <a:rPr kumimoji="1" lang="en-US" altLang="zh-CN" sz="2800" b="0" i="1" smtClean="0">
                          <a:latin typeface="Cambria Math" panose="02040503050406030204" pitchFamily="18" charset="0"/>
                        </a:rPr>
                        <m:t>=</m:t>
                      </m:r>
                      <m:r>
                        <a:rPr kumimoji="1" lang="en-US" altLang="zh-CN" sz="2800" b="0" i="1" smtClean="0">
                          <a:solidFill>
                            <a:srgbClr val="FF0000"/>
                          </a:solidFill>
                          <a:latin typeface="Cambria Math" panose="02040503050406030204" pitchFamily="18" charset="0"/>
                        </a:rPr>
                        <m:t>𝐴𝐵𝐶</m:t>
                      </m:r>
                      <m:r>
                        <a:rPr kumimoji="1" lang="en-US" altLang="zh-CN" sz="2800" b="0" i="1" smtClean="0">
                          <a:latin typeface="Cambria Math" panose="02040503050406030204" pitchFamily="18" charset="0"/>
                        </a:rPr>
                        <m:t>+</m:t>
                      </m:r>
                      <m:r>
                        <a:rPr kumimoji="1" lang="en-US" altLang="zh-CN" sz="2800" b="0" i="1" smtClean="0">
                          <a:solidFill>
                            <a:srgbClr val="34CC33"/>
                          </a:solidFill>
                          <a:latin typeface="Cambria Math" panose="02040503050406030204" pitchFamily="18" charset="0"/>
                        </a:rPr>
                        <m:t>𝐴𝐵𝐷</m:t>
                      </m:r>
                      <m:r>
                        <a:rPr kumimoji="1" lang="en-US" altLang="zh-CN" sz="2800" b="0" i="1" smtClean="0">
                          <a:latin typeface="Cambria Math" panose="02040503050406030204" pitchFamily="18" charset="0"/>
                        </a:rPr>
                        <m:t>+</m:t>
                      </m:r>
                      <m:r>
                        <a:rPr kumimoji="1" lang="en-US" altLang="zh-CN" sz="2800" b="0" i="1" smtClean="0">
                          <a:solidFill>
                            <a:srgbClr val="FF00FF"/>
                          </a:solidFill>
                          <a:latin typeface="Cambria Math" panose="02040503050406030204" pitchFamily="18" charset="0"/>
                        </a:rPr>
                        <m:t>𝐴</m:t>
                      </m:r>
                      <m:acc>
                        <m:accPr>
                          <m:chr m:val="̅"/>
                          <m:ctrlPr>
                            <a:rPr kumimoji="1" lang="en-US" altLang="zh-CN" sz="2800" b="0" i="1" smtClean="0">
                              <a:solidFill>
                                <a:srgbClr val="FF00FF"/>
                              </a:solidFill>
                              <a:latin typeface="Cambria Math" panose="02040503050406030204" pitchFamily="18" charset="0"/>
                            </a:rPr>
                          </m:ctrlPr>
                        </m:accPr>
                        <m:e>
                          <m:r>
                            <a:rPr kumimoji="1" lang="en-US" altLang="zh-CN" sz="2800" b="0" i="1" smtClean="0">
                              <a:solidFill>
                                <a:srgbClr val="FF00FF"/>
                              </a:solidFill>
                              <a:latin typeface="Cambria Math" panose="02040503050406030204" pitchFamily="18" charset="0"/>
                            </a:rPr>
                            <m:t>𝐶</m:t>
                          </m:r>
                        </m:e>
                      </m:acc>
                      <m:r>
                        <a:rPr kumimoji="1" lang="en-US" altLang="zh-CN" sz="2800" b="0" i="1" smtClean="0">
                          <a:solidFill>
                            <a:srgbClr val="FF00FF"/>
                          </a:solidFill>
                          <a:latin typeface="Cambria Math" panose="02040503050406030204" pitchFamily="18" charset="0"/>
                        </a:rPr>
                        <m:t>𝐷</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𝐶</m:t>
                          </m:r>
                        </m:e>
                      </m:acc>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r>
                        <a:rPr kumimoji="1" lang="en-US" altLang="zh-CN" sz="2800" b="0" i="1" smtClean="0">
                          <a:latin typeface="Cambria Math" panose="02040503050406030204" pitchFamily="18" charset="0"/>
                        </a:rPr>
                        <m:t>+</m:t>
                      </m:r>
                      <m:r>
                        <a:rPr kumimoji="1" lang="en-US" altLang="zh-CN" sz="2800" b="0" i="1" smtClean="0">
                          <a:solidFill>
                            <a:srgbClr val="4A66AC"/>
                          </a:solidFill>
                          <a:latin typeface="Cambria Math" panose="02040503050406030204" pitchFamily="18" charset="0"/>
                        </a:rPr>
                        <m:t>𝐴</m:t>
                      </m:r>
                      <m:acc>
                        <m:accPr>
                          <m:chr m:val="̅"/>
                          <m:ctrlPr>
                            <a:rPr kumimoji="1" lang="en-US" altLang="zh-CN" sz="2800" b="0" i="1" smtClean="0">
                              <a:solidFill>
                                <a:srgbClr val="4A66AC"/>
                              </a:solidFill>
                              <a:latin typeface="Cambria Math" panose="02040503050406030204" pitchFamily="18" charset="0"/>
                            </a:rPr>
                          </m:ctrlPr>
                        </m:accPr>
                        <m:e>
                          <m:r>
                            <a:rPr kumimoji="1" lang="en-US" altLang="zh-CN" sz="2800" b="0" i="1" smtClean="0">
                              <a:solidFill>
                                <a:srgbClr val="4A66AC"/>
                              </a:solidFill>
                              <a:latin typeface="Cambria Math" panose="02040503050406030204" pitchFamily="18" charset="0"/>
                            </a:rPr>
                            <m:t>𝐵</m:t>
                          </m:r>
                        </m:e>
                      </m:acc>
                      <m:r>
                        <a:rPr kumimoji="1" lang="en-US" altLang="zh-CN" sz="2800" b="0" i="1" smtClean="0">
                          <a:solidFill>
                            <a:srgbClr val="4A66AC"/>
                          </a:solidFill>
                          <a:latin typeface="Cambria Math" panose="02040503050406030204" pitchFamily="18" charset="0"/>
                        </a:rPr>
                        <m:t>𝐶</m:t>
                      </m:r>
                      <m:r>
                        <a:rPr kumimoji="1" lang="en-US" altLang="zh-CN" sz="2800" b="0" i="1" smtClean="0">
                          <a:latin typeface="Cambria Math" panose="02040503050406030204" pitchFamily="18" charset="0"/>
                        </a:rPr>
                        <m:t>+</m:t>
                      </m:r>
                      <m:acc>
                        <m:accPr>
                          <m:chr m:val="̅"/>
                          <m:ctrlPr>
                            <a:rPr kumimoji="1" lang="en-US" altLang="zh-CN" sz="2800" b="0" i="1" smtClean="0">
                              <a:solidFill>
                                <a:srgbClr val="FF6600"/>
                              </a:solidFill>
                              <a:latin typeface="Cambria Math" panose="02040503050406030204" pitchFamily="18" charset="0"/>
                            </a:rPr>
                          </m:ctrlPr>
                        </m:accPr>
                        <m:e>
                          <m:r>
                            <a:rPr kumimoji="1" lang="en-US" altLang="zh-CN" sz="2800" b="0" i="1" smtClean="0">
                              <a:solidFill>
                                <a:srgbClr val="FF6600"/>
                              </a:solidFill>
                              <a:latin typeface="Cambria Math" panose="02040503050406030204" pitchFamily="18" charset="0"/>
                            </a:rPr>
                            <m:t>𝐴</m:t>
                          </m:r>
                        </m:e>
                      </m:acc>
                      <m:r>
                        <a:rPr kumimoji="1" lang="en-US" altLang="zh-CN" sz="2800" b="0" i="1" smtClean="0">
                          <a:solidFill>
                            <a:srgbClr val="FF6600"/>
                          </a:solidFill>
                          <a:latin typeface="Cambria Math" panose="02040503050406030204" pitchFamily="18" charset="0"/>
                        </a:rPr>
                        <m:t>𝐶</m:t>
                      </m:r>
                      <m:acc>
                        <m:accPr>
                          <m:chr m:val="̅"/>
                          <m:ctrlPr>
                            <a:rPr kumimoji="1" lang="en-US" altLang="zh-CN" sz="2800" b="0" i="1" smtClean="0">
                              <a:solidFill>
                                <a:srgbClr val="FF6600"/>
                              </a:solidFill>
                              <a:latin typeface="Cambria Math" panose="02040503050406030204" pitchFamily="18" charset="0"/>
                            </a:rPr>
                          </m:ctrlPr>
                        </m:accPr>
                        <m:e>
                          <m:r>
                            <a:rPr kumimoji="1" lang="en-US" altLang="zh-CN" sz="2800" b="0" i="1" smtClean="0">
                              <a:solidFill>
                                <a:srgbClr val="FF6600"/>
                              </a:solidFill>
                              <a:latin typeface="Cambria Math" panose="02040503050406030204" pitchFamily="18" charset="0"/>
                            </a:rPr>
                            <m:t>𝐷</m:t>
                          </m:r>
                        </m:e>
                      </m:acc>
                    </m:oMath>
                  </m:oMathPara>
                </a14:m>
                <a:endParaRPr kumimoji="1" lang="zh-CN" altLang="en-US" sz="2800" i="1" dirty="0">
                  <a:ea typeface="黑体" panose="02010609060101010101" pitchFamily="49" charset="-122"/>
                </a:endParaRPr>
              </a:p>
            </p:txBody>
          </p:sp>
        </mc:Choice>
        <mc:Fallback xmlns="">
          <p:sp>
            <p:nvSpPr>
              <p:cNvPr id="15" name="文本框 15">
                <a:extLst>
                  <a:ext uri="{FF2B5EF4-FFF2-40B4-BE49-F238E27FC236}">
                    <a16:creationId xmlns:a16="http://schemas.microsoft.com/office/drawing/2014/main" id="{2C623264-9721-7240-A710-C79D0F28EBC1}"/>
                  </a:ext>
                </a:extLst>
              </p:cNvPr>
              <p:cNvSpPr txBox="1">
                <a:spLocks noRot="1" noChangeAspect="1" noMove="1" noResize="1" noEditPoints="1" noAdjustHandles="1" noChangeArrowheads="1" noChangeShapeType="1" noTextEdit="1"/>
              </p:cNvSpPr>
              <p:nvPr/>
            </p:nvSpPr>
            <p:spPr>
              <a:xfrm>
                <a:off x="1080980" y="1593059"/>
                <a:ext cx="6982040" cy="431785"/>
              </a:xfrm>
              <a:prstGeom prst="rect">
                <a:avLst/>
              </a:prstGeom>
              <a:blipFill>
                <a:blip r:embed="rId3"/>
                <a:stretch>
                  <a:fillRect/>
                </a:stretch>
              </a:blipFill>
            </p:spPr>
            <p:txBody>
              <a:bodyPr/>
              <a:lstStyle/>
              <a:p>
                <a:r>
                  <a:rPr lang="zh-CN" altLang="en-US">
                    <a:noFill/>
                  </a:rPr>
                  <a:t> </a:t>
                </a:r>
              </a:p>
            </p:txBody>
          </p:sp>
        </mc:Fallback>
      </mc:AlternateContent>
      <p:sp>
        <p:nvSpPr>
          <p:cNvPr id="3" name="标题 15">
            <a:extLst>
              <a:ext uri="{FF2B5EF4-FFF2-40B4-BE49-F238E27FC236}">
                <a16:creationId xmlns:a16="http://schemas.microsoft.com/office/drawing/2014/main" id="{F80E9D0F-1FA7-C15F-D18A-8AE48A797B32}"/>
              </a:ext>
            </a:extLst>
          </p:cNvPr>
          <p:cNvSpPr>
            <a:spLocks noGrp="1"/>
          </p:cNvSpPr>
          <p:nvPr>
            <p:ph type="title"/>
          </p:nvPr>
        </p:nvSpPr>
        <p:spPr>
          <a:xfrm>
            <a:off x="457200" y="136525"/>
            <a:ext cx="8229600" cy="1143000"/>
          </a:xfrm>
        </p:spPr>
        <p:txBody>
          <a:bodyPr/>
          <a:lstStyle/>
          <a:p>
            <a:r>
              <a:rPr lang="zh-CN" altLang="en-US" dirty="0"/>
              <a:t>寻找本质本原蕴含项举例</a:t>
            </a:r>
            <a:r>
              <a:rPr lang="en-US" altLang="zh-CN" dirty="0"/>
              <a:t>4</a:t>
            </a:r>
            <a:endParaRPr lang="zh-CN" altLang="en-US" dirty="0"/>
          </a:p>
        </p:txBody>
      </p:sp>
    </p:spTree>
    <p:extLst>
      <p:ext uri="{BB962C8B-B14F-4D97-AF65-F5344CB8AC3E}">
        <p14:creationId xmlns:p14="http://schemas.microsoft.com/office/powerpoint/2010/main" val="5403948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1827" name="Group 3"/>
          <p:cNvGraphicFramePr>
            <a:graphicFrameLocks noGrp="1"/>
          </p:cNvGraphicFramePr>
          <p:nvPr>
            <p:ph type="tbl" idx="1"/>
            <p:extLst>
              <p:ext uri="{D42A27DB-BD31-4B8C-83A1-F6EECF244321}">
                <p14:modId xmlns:p14="http://schemas.microsoft.com/office/powerpoint/2010/main" val="3364428064"/>
              </p:ext>
            </p:extLst>
          </p:nvPr>
        </p:nvGraphicFramePr>
        <p:xfrm>
          <a:off x="838200" y="1828800"/>
          <a:ext cx="4572000" cy="3102864"/>
        </p:xfrm>
        <a:graphic>
          <a:graphicData uri="http://schemas.openxmlformats.org/drawingml/2006/table">
            <a:tbl>
              <a:tblPr/>
              <a:tblGrid>
                <a:gridCol w="1165225">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08038">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gridCol w="808037">
                  <a:extLst>
                    <a:ext uri="{9D8B030D-6E8A-4147-A177-3AD203B41FA5}">
                      <a16:colId xmlns:a16="http://schemas.microsoft.com/office/drawing/2014/main" val="20004"/>
                    </a:ext>
                  </a:extLst>
                </a:gridCol>
              </a:tblGrid>
              <a:tr h="768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A5AD9D25-3AC5-A583-0CF6-E821828B6229}"/>
              </a:ext>
            </a:extLst>
          </p:cNvPr>
          <p:cNvSpPr>
            <a:spLocks noGrp="1"/>
          </p:cNvSpPr>
          <p:nvPr>
            <p:ph type="sldNum" sz="quarter" idx="11"/>
          </p:nvPr>
        </p:nvSpPr>
        <p:spPr/>
        <p:txBody>
          <a:bodyPr/>
          <a:lstStyle/>
          <a:p>
            <a:pPr>
              <a:defRPr/>
            </a:pPr>
            <a:fld id="{2EA1E184-7EFF-4B48-9C82-609CF6442F2C}" type="slidenum">
              <a:rPr lang="zh-CN" altLang="en-US" smtClean="0"/>
              <a:pPr>
                <a:defRPr/>
              </a:pPr>
              <a:t>94</a:t>
            </a:fld>
            <a:endParaRPr lang="en-US" altLang="zh-CN"/>
          </a:p>
        </p:txBody>
      </p:sp>
      <p:graphicFrame>
        <p:nvGraphicFramePr>
          <p:cNvPr id="461866" name="Object 42"/>
          <p:cNvGraphicFramePr>
            <a:graphicFrameLocks noChangeAspect="1"/>
          </p:cNvGraphicFramePr>
          <p:nvPr/>
        </p:nvGraphicFramePr>
        <p:xfrm>
          <a:off x="5651500" y="2471738"/>
          <a:ext cx="450850" cy="450850"/>
        </p:xfrm>
        <a:graphic>
          <a:graphicData uri="http://schemas.openxmlformats.org/presentationml/2006/ole">
            <mc:AlternateContent xmlns:mc="http://schemas.openxmlformats.org/markup-compatibility/2006">
              <mc:Choice xmlns:v="urn:schemas-microsoft-com:vml" Requires="v">
                <p:oleObj name="Equation" r:id="rId3" imgW="139680" imgH="139680" progId="Equation.DSMT4">
                  <p:embed/>
                </p:oleObj>
              </mc:Choice>
              <mc:Fallback>
                <p:oleObj name="Equation" r:id="rId3" imgW="139680" imgH="139680" progId="Equation.DSMT4">
                  <p:embed/>
                  <p:pic>
                    <p:nvPicPr>
                      <p:cNvPr id="461866" name="Object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2471738"/>
                        <a:ext cx="450850" cy="45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1868" name="Line 44"/>
          <p:cNvSpPr>
            <a:spLocks noChangeShapeType="1"/>
          </p:cNvSpPr>
          <p:nvPr/>
        </p:nvSpPr>
        <p:spPr bwMode="auto">
          <a:xfrm flipH="1">
            <a:off x="3708400" y="2687638"/>
            <a:ext cx="1943100" cy="1655762"/>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61869" name="Line 45"/>
          <p:cNvSpPr>
            <a:spLocks noChangeShapeType="1"/>
          </p:cNvSpPr>
          <p:nvPr/>
        </p:nvSpPr>
        <p:spPr bwMode="auto">
          <a:xfrm flipV="1">
            <a:off x="3508375" y="3810000"/>
            <a:ext cx="1368425" cy="2160588"/>
          </a:xfrm>
          <a:prstGeom prst="line">
            <a:avLst/>
          </a:prstGeom>
          <a:noFill/>
          <a:ln w="9525">
            <a:solidFill>
              <a:srgbClr val="7030A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61870" name="Line 46"/>
          <p:cNvSpPr>
            <a:spLocks noChangeShapeType="1"/>
          </p:cNvSpPr>
          <p:nvPr/>
        </p:nvSpPr>
        <p:spPr bwMode="auto">
          <a:xfrm flipH="1" flipV="1">
            <a:off x="2355850" y="4098925"/>
            <a:ext cx="1081088" cy="1800225"/>
          </a:xfrm>
          <a:prstGeom prst="line">
            <a:avLst/>
          </a:prstGeom>
          <a:noFill/>
          <a:ln w="9525">
            <a:solidFill>
              <a:srgbClr val="7030A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61871" name="Rectangle 47"/>
          <p:cNvSpPr>
            <a:spLocks noChangeArrowheads="1"/>
          </p:cNvSpPr>
          <p:nvPr/>
        </p:nvSpPr>
        <p:spPr bwMode="auto">
          <a:xfrm>
            <a:off x="2057400" y="3962400"/>
            <a:ext cx="3124200" cy="838200"/>
          </a:xfrm>
          <a:prstGeom prst="rect">
            <a:avLst/>
          </a:prstGeom>
          <a:noFill/>
          <a:ln w="2857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1872" name="Rectangle 48"/>
          <p:cNvSpPr>
            <a:spLocks noChangeArrowheads="1"/>
          </p:cNvSpPr>
          <p:nvPr/>
        </p:nvSpPr>
        <p:spPr bwMode="auto">
          <a:xfrm>
            <a:off x="2133600" y="2895600"/>
            <a:ext cx="381000" cy="1905000"/>
          </a:xfrm>
          <a:prstGeom prst="rect">
            <a:avLst/>
          </a:prstGeom>
          <a:noFill/>
          <a:ln w="28575" algn="ctr">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1873" name="Rectangle 49"/>
          <p:cNvSpPr>
            <a:spLocks noChangeArrowheads="1"/>
          </p:cNvSpPr>
          <p:nvPr/>
        </p:nvSpPr>
        <p:spPr bwMode="auto">
          <a:xfrm>
            <a:off x="4648200" y="2895600"/>
            <a:ext cx="381000" cy="1905000"/>
          </a:xfrm>
          <a:prstGeom prst="rect">
            <a:avLst/>
          </a:prstGeom>
          <a:noFill/>
          <a:ln w="28575" algn="ctr">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mc:AlternateContent xmlns:mc="http://schemas.openxmlformats.org/markup-compatibility/2006" xmlns:a14="http://schemas.microsoft.com/office/drawing/2010/main">
        <mc:Choice Requires="a14">
          <p:sp>
            <p:nvSpPr>
              <p:cNvPr id="16" name="文本框 1">
                <a:extLst>
                  <a:ext uri="{FF2B5EF4-FFF2-40B4-BE49-F238E27FC236}">
                    <a16:creationId xmlns:a16="http://schemas.microsoft.com/office/drawing/2014/main" id="{2E686519-36C5-9F43-8DDA-068CE2C15B04}"/>
                  </a:ext>
                </a:extLst>
              </p:cNvPr>
              <p:cNvSpPr txBox="1"/>
              <p:nvPr/>
            </p:nvSpPr>
            <p:spPr>
              <a:xfrm>
                <a:off x="3251606" y="5970588"/>
                <a:ext cx="513538"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zh-CN" altLang="en-US" sz="4000" i="1" smtClean="0">
                              <a:solidFill>
                                <a:srgbClr val="7030A0"/>
                              </a:solidFill>
                              <a:latin typeface="Cambria Math" panose="02040503050406030204" pitchFamily="18" charset="0"/>
                            </a:rPr>
                          </m:ctrlPr>
                        </m:accPr>
                        <m:e>
                          <m:r>
                            <a:rPr kumimoji="1" lang="en-US" altLang="zh-CN" sz="4000" b="0" i="1" smtClean="0">
                              <a:solidFill>
                                <a:srgbClr val="7030A0"/>
                              </a:solidFill>
                              <a:latin typeface="Cambria Math" panose="02040503050406030204" pitchFamily="18" charset="0"/>
                            </a:rPr>
                            <m:t>𝐷</m:t>
                          </m:r>
                        </m:e>
                      </m:acc>
                    </m:oMath>
                  </m:oMathPara>
                </a14:m>
                <a:endParaRPr kumimoji="1" lang="zh-CN" altLang="en-US" sz="4000" dirty="0">
                  <a:solidFill>
                    <a:srgbClr val="7030A0"/>
                  </a:solidFill>
                  <a:ea typeface="黑体" panose="02010609060101010101" pitchFamily="49" charset="-122"/>
                </a:endParaRPr>
              </a:p>
            </p:txBody>
          </p:sp>
        </mc:Choice>
        <mc:Fallback xmlns="">
          <p:sp>
            <p:nvSpPr>
              <p:cNvPr id="16" name="文本框 1">
                <a:extLst>
                  <a:ext uri="{FF2B5EF4-FFF2-40B4-BE49-F238E27FC236}">
                    <a16:creationId xmlns:a16="http://schemas.microsoft.com/office/drawing/2014/main" id="{2E686519-36C5-9F43-8DDA-068CE2C15B04}"/>
                  </a:ext>
                </a:extLst>
              </p:cNvPr>
              <p:cNvSpPr txBox="1">
                <a:spLocks noRot="1" noChangeAspect="1" noMove="1" noResize="1" noEditPoints="1" noAdjustHandles="1" noChangeArrowheads="1" noChangeShapeType="1" noTextEdit="1"/>
              </p:cNvSpPr>
              <p:nvPr/>
            </p:nvSpPr>
            <p:spPr>
              <a:xfrm>
                <a:off x="3251606" y="5970588"/>
                <a:ext cx="513538" cy="61555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3">
                <a:extLst>
                  <a:ext uri="{FF2B5EF4-FFF2-40B4-BE49-F238E27FC236}">
                    <a16:creationId xmlns:a16="http://schemas.microsoft.com/office/drawing/2014/main" id="{56870B0F-C20E-1249-9B6A-ADA9AFEF1D1A}"/>
                  </a:ext>
                </a:extLst>
              </p:cNvPr>
              <p:cNvSpPr txBox="1"/>
              <p:nvPr/>
            </p:nvSpPr>
            <p:spPr>
              <a:xfrm>
                <a:off x="6427210" y="1268760"/>
                <a:ext cx="170918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latin typeface="Cambria Math" panose="02040503050406030204" pitchFamily="18" charset="0"/>
                        </a:rPr>
                        <m:t>𝑌</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oMath>
                  </m:oMathPara>
                </a14:m>
                <a:endParaRPr kumimoji="1" lang="zh-CN" altLang="en-US" sz="2800" dirty="0">
                  <a:ea typeface="黑体" panose="02010609060101010101" pitchFamily="49" charset="-122"/>
                </a:endParaRPr>
              </a:p>
            </p:txBody>
          </p:sp>
        </mc:Choice>
        <mc:Fallback xmlns="">
          <p:sp>
            <p:nvSpPr>
              <p:cNvPr id="17" name="文本框 3">
                <a:extLst>
                  <a:ext uri="{FF2B5EF4-FFF2-40B4-BE49-F238E27FC236}">
                    <a16:creationId xmlns:a16="http://schemas.microsoft.com/office/drawing/2014/main" id="{56870B0F-C20E-1249-9B6A-ADA9AFEF1D1A}"/>
                  </a:ext>
                </a:extLst>
              </p:cNvPr>
              <p:cNvSpPr txBox="1">
                <a:spLocks noRot="1" noChangeAspect="1" noMove="1" noResize="1" noEditPoints="1" noAdjustHandles="1" noChangeArrowheads="1" noChangeShapeType="1" noTextEdit="1"/>
              </p:cNvSpPr>
              <p:nvPr/>
            </p:nvSpPr>
            <p:spPr>
              <a:xfrm>
                <a:off x="6427210" y="1268760"/>
                <a:ext cx="1709186" cy="430887"/>
              </a:xfrm>
              <a:prstGeom prst="rect">
                <a:avLst/>
              </a:prstGeom>
              <a:blipFill>
                <a:blip r:embed="rId6"/>
                <a:stretch>
                  <a:fillRect/>
                </a:stretch>
              </a:blipFill>
            </p:spPr>
            <p:txBody>
              <a:bodyPr/>
              <a:lstStyle/>
              <a:p>
                <a:r>
                  <a:rPr lang="zh-CN" altLang="en-US">
                    <a:noFill/>
                  </a:rPr>
                  <a:t> </a:t>
                </a:r>
              </a:p>
            </p:txBody>
          </p:sp>
        </mc:Fallback>
      </mc:AlternateContent>
      <p:sp>
        <p:nvSpPr>
          <p:cNvPr id="3" name="标题 15">
            <a:extLst>
              <a:ext uri="{FF2B5EF4-FFF2-40B4-BE49-F238E27FC236}">
                <a16:creationId xmlns:a16="http://schemas.microsoft.com/office/drawing/2014/main" id="{C0A5F84A-9D0C-F40A-D266-FB089D9ED49C}"/>
              </a:ext>
            </a:extLst>
          </p:cNvPr>
          <p:cNvSpPr>
            <a:spLocks noGrp="1"/>
          </p:cNvSpPr>
          <p:nvPr>
            <p:ph type="title"/>
          </p:nvPr>
        </p:nvSpPr>
        <p:spPr>
          <a:xfrm>
            <a:off x="457200" y="136525"/>
            <a:ext cx="8229600" cy="1143000"/>
          </a:xfrm>
        </p:spPr>
        <p:txBody>
          <a:bodyPr/>
          <a:lstStyle/>
          <a:p>
            <a:r>
              <a:rPr lang="zh-CN" altLang="en-US" dirty="0"/>
              <a:t>寻找本质本原蕴含项举例</a:t>
            </a:r>
            <a:r>
              <a:rPr lang="en-US" altLang="zh-CN" dirty="0"/>
              <a:t>4</a:t>
            </a:r>
            <a:endParaRPr lang="zh-CN" altLang="en-US" dirty="0"/>
          </a:p>
        </p:txBody>
      </p:sp>
    </p:spTree>
    <p:extLst>
      <p:ext uri="{BB962C8B-B14F-4D97-AF65-F5344CB8AC3E}">
        <p14:creationId xmlns:p14="http://schemas.microsoft.com/office/powerpoint/2010/main" val="40268385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1827" name="Group 3"/>
          <p:cNvGraphicFramePr>
            <a:graphicFrameLocks noGrp="1"/>
          </p:cNvGraphicFramePr>
          <p:nvPr>
            <p:ph type="tbl" idx="1"/>
            <p:extLst>
              <p:ext uri="{D42A27DB-BD31-4B8C-83A1-F6EECF244321}">
                <p14:modId xmlns:p14="http://schemas.microsoft.com/office/powerpoint/2010/main" val="3916864711"/>
              </p:ext>
            </p:extLst>
          </p:nvPr>
        </p:nvGraphicFramePr>
        <p:xfrm>
          <a:off x="838200" y="1828800"/>
          <a:ext cx="4572000" cy="3102864"/>
        </p:xfrm>
        <a:graphic>
          <a:graphicData uri="http://schemas.openxmlformats.org/drawingml/2006/table">
            <a:tbl>
              <a:tblPr/>
              <a:tblGrid>
                <a:gridCol w="1165225">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08038">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gridCol w="808037">
                  <a:extLst>
                    <a:ext uri="{9D8B030D-6E8A-4147-A177-3AD203B41FA5}">
                      <a16:colId xmlns:a16="http://schemas.microsoft.com/office/drawing/2014/main" val="20004"/>
                    </a:ext>
                  </a:extLst>
                </a:gridCol>
              </a:tblGrid>
              <a:tr h="768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43B9CD8C-FF09-624A-E21B-D7E2A341AD17}"/>
              </a:ext>
            </a:extLst>
          </p:cNvPr>
          <p:cNvSpPr>
            <a:spLocks noGrp="1"/>
          </p:cNvSpPr>
          <p:nvPr>
            <p:ph type="sldNum" sz="quarter" idx="11"/>
          </p:nvPr>
        </p:nvSpPr>
        <p:spPr/>
        <p:txBody>
          <a:bodyPr/>
          <a:lstStyle/>
          <a:p>
            <a:pPr>
              <a:defRPr/>
            </a:pPr>
            <a:fld id="{2EA1E184-7EFF-4B48-9C82-609CF6442F2C}" type="slidenum">
              <a:rPr lang="zh-CN" altLang="en-US" smtClean="0"/>
              <a:pPr>
                <a:defRPr/>
              </a:pPr>
              <a:t>95</a:t>
            </a:fld>
            <a:endParaRPr lang="en-US" altLang="zh-CN"/>
          </a:p>
        </p:txBody>
      </p:sp>
      <p:graphicFrame>
        <p:nvGraphicFramePr>
          <p:cNvPr id="461866" name="Object 42"/>
          <p:cNvGraphicFramePr>
            <a:graphicFrameLocks noChangeAspect="1"/>
          </p:cNvGraphicFramePr>
          <p:nvPr/>
        </p:nvGraphicFramePr>
        <p:xfrm>
          <a:off x="5651500" y="2471738"/>
          <a:ext cx="450850" cy="450850"/>
        </p:xfrm>
        <a:graphic>
          <a:graphicData uri="http://schemas.openxmlformats.org/presentationml/2006/ole">
            <mc:AlternateContent xmlns:mc="http://schemas.openxmlformats.org/markup-compatibility/2006">
              <mc:Choice xmlns:v="urn:schemas-microsoft-com:vml" Requires="v">
                <p:oleObj name="Equation" r:id="rId3" imgW="139680" imgH="139680" progId="Equation.DSMT4">
                  <p:embed/>
                </p:oleObj>
              </mc:Choice>
              <mc:Fallback>
                <p:oleObj name="Equation" r:id="rId3" imgW="139680" imgH="139680" progId="Equation.DSMT4">
                  <p:embed/>
                  <p:pic>
                    <p:nvPicPr>
                      <p:cNvPr id="461866" name="Object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2471738"/>
                        <a:ext cx="450850" cy="45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1868" name="Line 44"/>
          <p:cNvSpPr>
            <a:spLocks noChangeShapeType="1"/>
          </p:cNvSpPr>
          <p:nvPr/>
        </p:nvSpPr>
        <p:spPr bwMode="auto">
          <a:xfrm flipH="1">
            <a:off x="3708400" y="2687638"/>
            <a:ext cx="1943100" cy="1655762"/>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61869" name="Line 45"/>
          <p:cNvSpPr>
            <a:spLocks noChangeShapeType="1"/>
          </p:cNvSpPr>
          <p:nvPr/>
        </p:nvSpPr>
        <p:spPr bwMode="auto">
          <a:xfrm flipV="1">
            <a:off x="3508375" y="3810000"/>
            <a:ext cx="1368425" cy="2160588"/>
          </a:xfrm>
          <a:prstGeom prst="line">
            <a:avLst/>
          </a:prstGeom>
          <a:noFill/>
          <a:ln w="9525">
            <a:solidFill>
              <a:srgbClr val="7030A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61870" name="Line 46"/>
          <p:cNvSpPr>
            <a:spLocks noChangeShapeType="1"/>
          </p:cNvSpPr>
          <p:nvPr/>
        </p:nvSpPr>
        <p:spPr bwMode="auto">
          <a:xfrm flipH="1" flipV="1">
            <a:off x="2355850" y="4098925"/>
            <a:ext cx="1081088" cy="1800225"/>
          </a:xfrm>
          <a:prstGeom prst="line">
            <a:avLst/>
          </a:prstGeom>
          <a:noFill/>
          <a:ln w="9525">
            <a:solidFill>
              <a:srgbClr val="7030A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ea typeface="黑体" panose="02010609060101010101" pitchFamily="49" charset="-122"/>
            </a:endParaRPr>
          </a:p>
        </p:txBody>
      </p:sp>
      <p:sp>
        <p:nvSpPr>
          <p:cNvPr id="461871" name="Rectangle 47"/>
          <p:cNvSpPr>
            <a:spLocks noChangeArrowheads="1"/>
          </p:cNvSpPr>
          <p:nvPr/>
        </p:nvSpPr>
        <p:spPr bwMode="auto">
          <a:xfrm>
            <a:off x="2057400" y="3962400"/>
            <a:ext cx="3124200" cy="838200"/>
          </a:xfrm>
          <a:prstGeom prst="rect">
            <a:avLst/>
          </a:prstGeom>
          <a:noFill/>
          <a:ln w="2857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1872" name="Rectangle 48"/>
          <p:cNvSpPr>
            <a:spLocks noChangeArrowheads="1"/>
          </p:cNvSpPr>
          <p:nvPr/>
        </p:nvSpPr>
        <p:spPr bwMode="auto">
          <a:xfrm>
            <a:off x="2133600" y="2895600"/>
            <a:ext cx="381000" cy="1905000"/>
          </a:xfrm>
          <a:prstGeom prst="rect">
            <a:avLst/>
          </a:prstGeom>
          <a:noFill/>
          <a:ln w="28575" algn="ctr">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1873" name="Rectangle 49"/>
          <p:cNvSpPr>
            <a:spLocks noChangeArrowheads="1"/>
          </p:cNvSpPr>
          <p:nvPr/>
        </p:nvSpPr>
        <p:spPr bwMode="auto">
          <a:xfrm>
            <a:off x="4648200" y="2895600"/>
            <a:ext cx="381000" cy="1905000"/>
          </a:xfrm>
          <a:prstGeom prst="rect">
            <a:avLst/>
          </a:prstGeom>
          <a:noFill/>
          <a:ln w="28575" algn="ctr">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mc:AlternateContent xmlns:mc="http://schemas.openxmlformats.org/markup-compatibility/2006" xmlns:a14="http://schemas.microsoft.com/office/drawing/2010/main">
        <mc:Choice Requires="a14">
          <p:sp>
            <p:nvSpPr>
              <p:cNvPr id="16" name="文本框 1">
                <a:extLst>
                  <a:ext uri="{FF2B5EF4-FFF2-40B4-BE49-F238E27FC236}">
                    <a16:creationId xmlns:a16="http://schemas.microsoft.com/office/drawing/2014/main" id="{2E686519-36C5-9F43-8DDA-068CE2C15B04}"/>
                  </a:ext>
                </a:extLst>
              </p:cNvPr>
              <p:cNvSpPr txBox="1"/>
              <p:nvPr/>
            </p:nvSpPr>
            <p:spPr>
              <a:xfrm>
                <a:off x="3251606" y="5970588"/>
                <a:ext cx="513538"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zh-CN" altLang="en-US" sz="4000" i="1" smtClean="0">
                              <a:solidFill>
                                <a:srgbClr val="7030A0"/>
                              </a:solidFill>
                              <a:latin typeface="Cambria Math" panose="02040503050406030204" pitchFamily="18" charset="0"/>
                            </a:rPr>
                          </m:ctrlPr>
                        </m:accPr>
                        <m:e>
                          <m:r>
                            <a:rPr kumimoji="1" lang="en-US" altLang="zh-CN" sz="4000" b="0" i="1" smtClean="0">
                              <a:solidFill>
                                <a:srgbClr val="7030A0"/>
                              </a:solidFill>
                              <a:latin typeface="Cambria Math" panose="02040503050406030204" pitchFamily="18" charset="0"/>
                            </a:rPr>
                            <m:t>𝐷</m:t>
                          </m:r>
                        </m:e>
                      </m:acc>
                    </m:oMath>
                  </m:oMathPara>
                </a14:m>
                <a:endParaRPr kumimoji="1" lang="zh-CN" altLang="en-US" sz="4000" dirty="0">
                  <a:solidFill>
                    <a:srgbClr val="7030A0"/>
                  </a:solidFill>
                  <a:ea typeface="黑体" panose="02010609060101010101" pitchFamily="49" charset="-122"/>
                </a:endParaRPr>
              </a:p>
            </p:txBody>
          </p:sp>
        </mc:Choice>
        <mc:Fallback xmlns="">
          <p:sp>
            <p:nvSpPr>
              <p:cNvPr id="16" name="文本框 1">
                <a:extLst>
                  <a:ext uri="{FF2B5EF4-FFF2-40B4-BE49-F238E27FC236}">
                    <a16:creationId xmlns:a16="http://schemas.microsoft.com/office/drawing/2014/main" id="{2E686519-36C5-9F43-8DDA-068CE2C15B04}"/>
                  </a:ext>
                </a:extLst>
              </p:cNvPr>
              <p:cNvSpPr txBox="1">
                <a:spLocks noRot="1" noChangeAspect="1" noMove="1" noResize="1" noEditPoints="1" noAdjustHandles="1" noChangeArrowheads="1" noChangeShapeType="1" noTextEdit="1"/>
              </p:cNvSpPr>
              <p:nvPr/>
            </p:nvSpPr>
            <p:spPr>
              <a:xfrm>
                <a:off x="3251606" y="5970588"/>
                <a:ext cx="513538" cy="61555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3">
                <a:extLst>
                  <a:ext uri="{FF2B5EF4-FFF2-40B4-BE49-F238E27FC236}">
                    <a16:creationId xmlns:a16="http://schemas.microsoft.com/office/drawing/2014/main" id="{56870B0F-C20E-1249-9B6A-ADA9AFEF1D1A}"/>
                  </a:ext>
                </a:extLst>
              </p:cNvPr>
              <p:cNvSpPr txBox="1"/>
              <p:nvPr/>
            </p:nvSpPr>
            <p:spPr>
              <a:xfrm>
                <a:off x="6427210" y="1268760"/>
                <a:ext cx="170918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latin typeface="Cambria Math" panose="02040503050406030204" pitchFamily="18" charset="0"/>
                        </a:rPr>
                        <m:t>𝑌</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𝐴</m:t>
                      </m:r>
                      <m:r>
                        <a:rPr kumimoji="1" lang="en-US" altLang="zh-CN" sz="2800" b="0" i="1" smtClean="0">
                          <a:latin typeface="Cambria Math" panose="02040503050406030204" pitchFamily="18" charset="0"/>
                        </a:rPr>
                        <m:t>+</m:t>
                      </m:r>
                      <m:acc>
                        <m:accPr>
                          <m:chr m:val="̅"/>
                          <m:ctrlPr>
                            <a:rPr kumimoji="1" lang="en-US" altLang="zh-CN" sz="2800" b="0" i="1" smtClean="0">
                              <a:latin typeface="Cambria Math" panose="02040503050406030204" pitchFamily="18" charset="0"/>
                            </a:rPr>
                          </m:ctrlPr>
                        </m:accPr>
                        <m:e>
                          <m:r>
                            <a:rPr kumimoji="1" lang="en-US" altLang="zh-CN" sz="2800" b="0" i="1" smtClean="0">
                              <a:latin typeface="Cambria Math" panose="02040503050406030204" pitchFamily="18" charset="0"/>
                            </a:rPr>
                            <m:t>𝐷</m:t>
                          </m:r>
                        </m:e>
                      </m:acc>
                    </m:oMath>
                  </m:oMathPara>
                </a14:m>
                <a:endParaRPr kumimoji="1" lang="zh-CN" altLang="en-US" sz="2800" dirty="0">
                  <a:ea typeface="黑体" panose="02010609060101010101" pitchFamily="49" charset="-122"/>
                </a:endParaRPr>
              </a:p>
            </p:txBody>
          </p:sp>
        </mc:Choice>
        <mc:Fallback xmlns="">
          <p:sp>
            <p:nvSpPr>
              <p:cNvPr id="17" name="文本框 3">
                <a:extLst>
                  <a:ext uri="{FF2B5EF4-FFF2-40B4-BE49-F238E27FC236}">
                    <a16:creationId xmlns:a16="http://schemas.microsoft.com/office/drawing/2014/main" id="{56870B0F-C20E-1249-9B6A-ADA9AFEF1D1A}"/>
                  </a:ext>
                </a:extLst>
              </p:cNvPr>
              <p:cNvSpPr txBox="1">
                <a:spLocks noRot="1" noChangeAspect="1" noMove="1" noResize="1" noEditPoints="1" noAdjustHandles="1" noChangeArrowheads="1" noChangeShapeType="1" noTextEdit="1"/>
              </p:cNvSpPr>
              <p:nvPr/>
            </p:nvSpPr>
            <p:spPr>
              <a:xfrm>
                <a:off x="6427210" y="1268760"/>
                <a:ext cx="1709186" cy="430887"/>
              </a:xfrm>
              <a:prstGeom prst="rect">
                <a:avLst/>
              </a:prstGeom>
              <a:blipFill>
                <a:blip r:embed="rId6"/>
                <a:stretch>
                  <a:fillRect/>
                </a:stretch>
              </a:blipFill>
            </p:spPr>
            <p:txBody>
              <a:bodyPr/>
              <a:lstStyle/>
              <a:p>
                <a:r>
                  <a:rPr lang="zh-CN" altLang="en-US">
                    <a:noFill/>
                  </a:rPr>
                  <a:t> </a:t>
                </a:r>
              </a:p>
            </p:txBody>
          </p:sp>
        </mc:Fallback>
      </mc:AlternateContent>
      <p:sp>
        <p:nvSpPr>
          <p:cNvPr id="14" name="Rectangle 52">
            <a:extLst>
              <a:ext uri="{FF2B5EF4-FFF2-40B4-BE49-F238E27FC236}">
                <a16:creationId xmlns:a16="http://schemas.microsoft.com/office/drawing/2014/main" id="{14FA9CF5-5953-5148-8E8F-29E0787B7BCC}"/>
              </a:ext>
            </a:extLst>
          </p:cNvPr>
          <p:cNvSpPr>
            <a:spLocks noChangeArrowheads="1"/>
          </p:cNvSpPr>
          <p:nvPr/>
        </p:nvSpPr>
        <p:spPr bwMode="auto">
          <a:xfrm>
            <a:off x="2971800" y="2971800"/>
            <a:ext cx="1219200" cy="838200"/>
          </a:xfrm>
          <a:prstGeom prst="rect">
            <a:avLst/>
          </a:prstGeom>
          <a:noFill/>
          <a:ln w="44450" algn="ctr">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mc:AlternateContent xmlns:mc="http://schemas.openxmlformats.org/markup-compatibility/2006" xmlns:a14="http://schemas.microsoft.com/office/drawing/2010/main">
        <mc:Choice Requires="a14">
          <p:sp>
            <p:nvSpPr>
              <p:cNvPr id="15" name="文本框 19">
                <a:extLst>
                  <a:ext uri="{FF2B5EF4-FFF2-40B4-BE49-F238E27FC236}">
                    <a16:creationId xmlns:a16="http://schemas.microsoft.com/office/drawing/2014/main" id="{B8DCED30-7988-6D45-A877-7F26D745F9CC}"/>
                  </a:ext>
                </a:extLst>
              </p:cNvPr>
              <p:cNvSpPr txBox="1"/>
              <p:nvPr/>
            </p:nvSpPr>
            <p:spPr>
              <a:xfrm>
                <a:off x="5680448" y="4584707"/>
                <a:ext cx="1281953" cy="4317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sz="2800" b="0" i="1" smtClean="0">
                              <a:solidFill>
                                <a:srgbClr val="3333FF"/>
                              </a:solidFill>
                              <a:latin typeface="Cambria Math" panose="02040503050406030204" pitchFamily="18" charset="0"/>
                            </a:rPr>
                          </m:ctrlPr>
                        </m:accPr>
                        <m:e>
                          <m:r>
                            <a:rPr kumimoji="1" lang="en-US" altLang="zh-CN" sz="2800" b="0" i="1" smtClean="0">
                              <a:solidFill>
                                <a:srgbClr val="3333FF"/>
                              </a:solidFill>
                              <a:latin typeface="Cambria Math" panose="02040503050406030204" pitchFamily="18" charset="0"/>
                            </a:rPr>
                            <m:t>𝑌</m:t>
                          </m:r>
                        </m:e>
                      </m:acc>
                      <m:r>
                        <a:rPr kumimoji="1" lang="en-US" altLang="zh-CN" sz="2800" b="0" i="1" smtClean="0">
                          <a:solidFill>
                            <a:srgbClr val="3333FF"/>
                          </a:solidFill>
                          <a:latin typeface="Cambria Math" panose="02040503050406030204" pitchFamily="18" charset="0"/>
                        </a:rPr>
                        <m:t>=</m:t>
                      </m:r>
                      <m:acc>
                        <m:accPr>
                          <m:chr m:val="̅"/>
                          <m:ctrlPr>
                            <a:rPr kumimoji="1" lang="en-US" altLang="zh-CN" sz="2800" b="0" i="1" smtClean="0">
                              <a:solidFill>
                                <a:srgbClr val="3333FF"/>
                              </a:solidFill>
                              <a:latin typeface="Cambria Math" panose="02040503050406030204" pitchFamily="18" charset="0"/>
                            </a:rPr>
                          </m:ctrlPr>
                        </m:accPr>
                        <m:e>
                          <m:r>
                            <a:rPr kumimoji="1" lang="en-US" altLang="zh-CN" sz="2800" b="0" i="1" smtClean="0">
                              <a:solidFill>
                                <a:srgbClr val="3333FF"/>
                              </a:solidFill>
                              <a:latin typeface="Cambria Math" panose="02040503050406030204" pitchFamily="18" charset="0"/>
                            </a:rPr>
                            <m:t>𝐴</m:t>
                          </m:r>
                        </m:e>
                      </m:acc>
                      <m:r>
                        <a:rPr kumimoji="1" lang="en-US" altLang="zh-CN" sz="2800" b="0" i="1" smtClean="0">
                          <a:solidFill>
                            <a:srgbClr val="3333FF"/>
                          </a:solidFill>
                          <a:latin typeface="Cambria Math" panose="02040503050406030204" pitchFamily="18" charset="0"/>
                        </a:rPr>
                        <m:t>𝐷</m:t>
                      </m:r>
                    </m:oMath>
                  </m:oMathPara>
                </a14:m>
                <a:endParaRPr kumimoji="1" lang="zh-CN" altLang="en-US" sz="2800" dirty="0">
                  <a:solidFill>
                    <a:srgbClr val="3333FF"/>
                  </a:solidFill>
                  <a:ea typeface="黑体" panose="02010609060101010101" pitchFamily="49" charset="-122"/>
                </a:endParaRPr>
              </a:p>
            </p:txBody>
          </p:sp>
        </mc:Choice>
        <mc:Fallback xmlns="">
          <p:sp>
            <p:nvSpPr>
              <p:cNvPr id="15" name="文本框 19">
                <a:extLst>
                  <a:ext uri="{FF2B5EF4-FFF2-40B4-BE49-F238E27FC236}">
                    <a16:creationId xmlns:a16="http://schemas.microsoft.com/office/drawing/2014/main" id="{B8DCED30-7988-6D45-A877-7F26D745F9CC}"/>
                  </a:ext>
                </a:extLst>
              </p:cNvPr>
              <p:cNvSpPr txBox="1">
                <a:spLocks noRot="1" noChangeAspect="1" noMove="1" noResize="1" noEditPoints="1" noAdjustHandles="1" noChangeArrowheads="1" noChangeShapeType="1" noTextEdit="1"/>
              </p:cNvSpPr>
              <p:nvPr/>
            </p:nvSpPr>
            <p:spPr>
              <a:xfrm>
                <a:off x="5680448" y="4584707"/>
                <a:ext cx="1281953" cy="43178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21">
                <a:extLst>
                  <a:ext uri="{FF2B5EF4-FFF2-40B4-BE49-F238E27FC236}">
                    <a16:creationId xmlns:a16="http://schemas.microsoft.com/office/drawing/2014/main" id="{3104A849-1C61-0E42-BA45-CD60AE02E917}"/>
                  </a:ext>
                </a:extLst>
              </p:cNvPr>
              <p:cNvSpPr txBox="1"/>
              <p:nvPr/>
            </p:nvSpPr>
            <p:spPr>
              <a:xfrm>
                <a:off x="5658700" y="5166806"/>
                <a:ext cx="3358996" cy="489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rgbClr val="3333FF"/>
                          </a:solidFill>
                          <a:latin typeface="Cambria Math" panose="02040503050406030204" pitchFamily="18" charset="0"/>
                        </a:rPr>
                        <m:t>𝑌</m:t>
                      </m:r>
                      <m:r>
                        <a:rPr kumimoji="1" lang="en-US" altLang="zh-CN" sz="2800" b="0" i="1" smtClean="0">
                          <a:solidFill>
                            <a:srgbClr val="3333FF"/>
                          </a:solidFill>
                          <a:latin typeface="Cambria Math" panose="02040503050406030204" pitchFamily="18" charset="0"/>
                        </a:rPr>
                        <m:t>=</m:t>
                      </m:r>
                      <m:acc>
                        <m:accPr>
                          <m:chr m:val="̅"/>
                          <m:ctrlPr>
                            <a:rPr kumimoji="1" lang="en-US" altLang="zh-CN" sz="2800" b="0" i="1" smtClean="0">
                              <a:solidFill>
                                <a:srgbClr val="3333FF"/>
                              </a:solidFill>
                              <a:latin typeface="Cambria Math" panose="02040503050406030204" pitchFamily="18" charset="0"/>
                            </a:rPr>
                          </m:ctrlPr>
                        </m:accPr>
                        <m:e>
                          <m:acc>
                            <m:accPr>
                              <m:chr m:val="̅"/>
                              <m:ctrlPr>
                                <a:rPr kumimoji="1" lang="en-US" altLang="zh-CN" sz="2800" b="0" i="1" smtClean="0">
                                  <a:solidFill>
                                    <a:srgbClr val="3333FF"/>
                                  </a:solidFill>
                                  <a:latin typeface="Cambria Math" panose="02040503050406030204" pitchFamily="18" charset="0"/>
                                </a:rPr>
                              </m:ctrlPr>
                            </m:accPr>
                            <m:e>
                              <m:r>
                                <a:rPr kumimoji="1" lang="en-US" altLang="zh-CN" sz="2800" b="0" i="1" smtClean="0">
                                  <a:solidFill>
                                    <a:srgbClr val="3333FF"/>
                                  </a:solidFill>
                                  <a:latin typeface="Cambria Math" panose="02040503050406030204" pitchFamily="18" charset="0"/>
                                </a:rPr>
                                <m:t>𝑌</m:t>
                              </m:r>
                            </m:e>
                          </m:acc>
                        </m:e>
                      </m:acc>
                      <m:r>
                        <a:rPr kumimoji="1" lang="en-US" altLang="zh-CN" sz="2800" b="0" i="1" smtClean="0">
                          <a:solidFill>
                            <a:srgbClr val="3333FF"/>
                          </a:solidFill>
                          <a:latin typeface="Cambria Math" panose="02040503050406030204" pitchFamily="18" charset="0"/>
                        </a:rPr>
                        <m:t>=</m:t>
                      </m:r>
                      <m:acc>
                        <m:accPr>
                          <m:chr m:val="̅"/>
                          <m:ctrlPr>
                            <a:rPr kumimoji="1" lang="en-US" altLang="zh-CN" sz="2800" b="0" i="1" smtClean="0">
                              <a:solidFill>
                                <a:srgbClr val="3333FF"/>
                              </a:solidFill>
                              <a:latin typeface="Cambria Math" panose="02040503050406030204" pitchFamily="18" charset="0"/>
                            </a:rPr>
                          </m:ctrlPr>
                        </m:accPr>
                        <m:e>
                          <m:acc>
                            <m:accPr>
                              <m:chr m:val="̅"/>
                              <m:ctrlPr>
                                <a:rPr kumimoji="1" lang="en-US" altLang="zh-CN" sz="2800" i="1">
                                  <a:solidFill>
                                    <a:srgbClr val="3333FF"/>
                                  </a:solidFill>
                                  <a:latin typeface="Cambria Math" panose="02040503050406030204" pitchFamily="18" charset="0"/>
                                </a:rPr>
                              </m:ctrlPr>
                            </m:accPr>
                            <m:e>
                              <m:r>
                                <a:rPr kumimoji="1" lang="en-US" altLang="zh-CN" sz="2800" i="1">
                                  <a:solidFill>
                                    <a:srgbClr val="3333FF"/>
                                  </a:solidFill>
                                  <a:latin typeface="Cambria Math" panose="02040503050406030204" pitchFamily="18" charset="0"/>
                                </a:rPr>
                                <m:t>𝐴</m:t>
                              </m:r>
                            </m:e>
                          </m:acc>
                          <m:r>
                            <a:rPr kumimoji="1" lang="en-US" altLang="zh-CN" sz="2800" i="1">
                              <a:solidFill>
                                <a:srgbClr val="3333FF"/>
                              </a:solidFill>
                              <a:latin typeface="Cambria Math" panose="02040503050406030204" pitchFamily="18" charset="0"/>
                            </a:rPr>
                            <m:t>𝐷</m:t>
                          </m:r>
                        </m:e>
                      </m:acc>
                      <m:r>
                        <a:rPr kumimoji="1" lang="en-US" altLang="zh-CN" sz="2800" b="0" i="1" smtClean="0">
                          <a:solidFill>
                            <a:srgbClr val="3333FF"/>
                          </a:solidFill>
                          <a:latin typeface="Cambria Math" panose="02040503050406030204" pitchFamily="18" charset="0"/>
                        </a:rPr>
                        <m:t>=</m:t>
                      </m:r>
                      <m:r>
                        <a:rPr kumimoji="1" lang="en-US" altLang="zh-CN" sz="2800" i="1">
                          <a:solidFill>
                            <a:srgbClr val="3333FF"/>
                          </a:solidFill>
                          <a:latin typeface="Cambria Math" panose="02040503050406030204" pitchFamily="18" charset="0"/>
                        </a:rPr>
                        <m:t>𝐴</m:t>
                      </m:r>
                      <m:r>
                        <a:rPr kumimoji="1" lang="en-US" altLang="zh-CN" sz="2800" i="1">
                          <a:solidFill>
                            <a:srgbClr val="3333FF"/>
                          </a:solidFill>
                          <a:latin typeface="Cambria Math" panose="02040503050406030204" pitchFamily="18" charset="0"/>
                        </a:rPr>
                        <m:t>+</m:t>
                      </m:r>
                      <m:acc>
                        <m:accPr>
                          <m:chr m:val="̅"/>
                          <m:ctrlPr>
                            <a:rPr kumimoji="1" lang="en-US" altLang="zh-CN" sz="2800" i="1">
                              <a:solidFill>
                                <a:srgbClr val="3333FF"/>
                              </a:solidFill>
                              <a:latin typeface="Cambria Math" panose="02040503050406030204" pitchFamily="18" charset="0"/>
                            </a:rPr>
                          </m:ctrlPr>
                        </m:accPr>
                        <m:e>
                          <m:r>
                            <a:rPr kumimoji="1" lang="en-US" altLang="zh-CN" sz="2800" i="1">
                              <a:solidFill>
                                <a:srgbClr val="3333FF"/>
                              </a:solidFill>
                              <a:latin typeface="Cambria Math" panose="02040503050406030204" pitchFamily="18" charset="0"/>
                            </a:rPr>
                            <m:t>𝐷</m:t>
                          </m:r>
                        </m:e>
                      </m:acc>
                    </m:oMath>
                  </m:oMathPara>
                </a14:m>
                <a:endParaRPr kumimoji="1" lang="zh-CN" altLang="en-US" sz="2800" dirty="0">
                  <a:solidFill>
                    <a:srgbClr val="3333FF"/>
                  </a:solidFill>
                  <a:ea typeface="黑体" panose="02010609060101010101" pitchFamily="49" charset="-122"/>
                </a:endParaRPr>
              </a:p>
            </p:txBody>
          </p:sp>
        </mc:Choice>
        <mc:Fallback xmlns="">
          <p:sp>
            <p:nvSpPr>
              <p:cNvPr id="19" name="文本框 21">
                <a:extLst>
                  <a:ext uri="{FF2B5EF4-FFF2-40B4-BE49-F238E27FC236}">
                    <a16:creationId xmlns:a16="http://schemas.microsoft.com/office/drawing/2014/main" id="{3104A849-1C61-0E42-BA45-CD60AE02E917}"/>
                  </a:ext>
                </a:extLst>
              </p:cNvPr>
              <p:cNvSpPr txBox="1">
                <a:spLocks noRot="1" noChangeAspect="1" noMove="1" noResize="1" noEditPoints="1" noAdjustHandles="1" noChangeArrowheads="1" noChangeShapeType="1" noTextEdit="1"/>
              </p:cNvSpPr>
              <p:nvPr/>
            </p:nvSpPr>
            <p:spPr>
              <a:xfrm>
                <a:off x="5658700" y="5166806"/>
                <a:ext cx="3358996" cy="489108"/>
              </a:xfrm>
              <a:prstGeom prst="rect">
                <a:avLst/>
              </a:prstGeom>
              <a:blipFill>
                <a:blip r:embed="rId8"/>
                <a:stretch>
                  <a:fillRect/>
                </a:stretch>
              </a:blipFill>
            </p:spPr>
            <p:txBody>
              <a:bodyPr/>
              <a:lstStyle/>
              <a:p>
                <a:r>
                  <a:rPr lang="zh-CN" altLang="en-US">
                    <a:noFill/>
                  </a:rPr>
                  <a:t> </a:t>
                </a:r>
              </a:p>
            </p:txBody>
          </p:sp>
        </mc:Fallback>
      </mc:AlternateContent>
      <p:sp>
        <p:nvSpPr>
          <p:cNvPr id="3" name="标题 15">
            <a:extLst>
              <a:ext uri="{FF2B5EF4-FFF2-40B4-BE49-F238E27FC236}">
                <a16:creationId xmlns:a16="http://schemas.microsoft.com/office/drawing/2014/main" id="{848333DF-4B9D-AD4A-076A-275F9E801DB5}"/>
              </a:ext>
            </a:extLst>
          </p:cNvPr>
          <p:cNvSpPr>
            <a:spLocks noGrp="1"/>
          </p:cNvSpPr>
          <p:nvPr>
            <p:ph type="title"/>
          </p:nvPr>
        </p:nvSpPr>
        <p:spPr>
          <a:xfrm>
            <a:off x="457200" y="136525"/>
            <a:ext cx="8229600" cy="1143000"/>
          </a:xfrm>
        </p:spPr>
        <p:txBody>
          <a:bodyPr/>
          <a:lstStyle/>
          <a:p>
            <a:r>
              <a:rPr lang="zh-CN" altLang="en-US" dirty="0"/>
              <a:t>寻找本质本原蕴含项举例</a:t>
            </a:r>
            <a:r>
              <a:rPr lang="en-US" altLang="zh-CN" dirty="0"/>
              <a:t>4</a:t>
            </a:r>
            <a:endParaRPr lang="zh-CN" altLang="en-US" dirty="0"/>
          </a:p>
        </p:txBody>
      </p:sp>
    </p:spTree>
    <p:extLst>
      <p:ext uri="{BB962C8B-B14F-4D97-AF65-F5344CB8AC3E}">
        <p14:creationId xmlns:p14="http://schemas.microsoft.com/office/powerpoint/2010/main" val="3394090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zh-CN" altLang="en-US"/>
              <a:t>用卡诺图化简举例</a:t>
            </a:r>
            <a:endParaRPr lang="en-US" altLang="zh-CN"/>
          </a:p>
        </p:txBody>
      </p:sp>
      <p:sp>
        <p:nvSpPr>
          <p:cNvPr id="2" name="灯片编号占位符 1">
            <a:extLst>
              <a:ext uri="{FF2B5EF4-FFF2-40B4-BE49-F238E27FC236}">
                <a16:creationId xmlns:a16="http://schemas.microsoft.com/office/drawing/2014/main" id="{1F98DABC-7710-6C2B-BB62-E3A86FBDBAF8}"/>
              </a:ext>
            </a:extLst>
          </p:cNvPr>
          <p:cNvSpPr>
            <a:spLocks noGrp="1"/>
          </p:cNvSpPr>
          <p:nvPr>
            <p:ph type="sldNum" sz="quarter" idx="12"/>
          </p:nvPr>
        </p:nvSpPr>
        <p:spPr/>
        <p:txBody>
          <a:bodyPr/>
          <a:lstStyle/>
          <a:p>
            <a:fld id="{6C23D995-88A0-46FA-B356-FA459EF841CD}" type="slidenum">
              <a:rPr lang="en-US" altLang="zh-CN" smtClean="0"/>
              <a:pPr/>
              <a:t>96</a:t>
            </a:fld>
            <a:endParaRPr lang="en-US" altLang="zh-CN" dirty="0"/>
          </a:p>
        </p:txBody>
      </p:sp>
      <p:graphicFrame>
        <p:nvGraphicFramePr>
          <p:cNvPr id="458755" name="Object 3"/>
          <p:cNvGraphicFramePr>
            <a:graphicFrameLocks noChangeAspect="1"/>
          </p:cNvGraphicFramePr>
          <p:nvPr/>
        </p:nvGraphicFramePr>
        <p:xfrm>
          <a:off x="503238" y="1979613"/>
          <a:ext cx="8172450" cy="2817812"/>
        </p:xfrm>
        <a:graphic>
          <a:graphicData uri="http://schemas.openxmlformats.org/presentationml/2006/ole">
            <mc:AlternateContent xmlns:mc="http://schemas.openxmlformats.org/markup-compatibility/2006">
              <mc:Choice xmlns:v="urn:schemas-microsoft-com:vml" Requires="v">
                <p:oleObj name="Equation" r:id="rId3" imgW="3022560" imgH="1041120" progId="Equation.DSMT4">
                  <p:embed/>
                </p:oleObj>
              </mc:Choice>
              <mc:Fallback>
                <p:oleObj name="Equation" r:id="rId3" imgW="3022560" imgH="1041120" progId="Equation.DSMT4">
                  <p:embed/>
                  <p:pic>
                    <p:nvPicPr>
                      <p:cNvPr id="45875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238" y="1979613"/>
                        <a:ext cx="8172450" cy="28178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2524699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AB9F0A1-C4E3-4C51-B93B-2E1F7F0F6CB6}"/>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观察卡诺图，以下哪些选项</a:t>
            </a:r>
            <a:endParaRPr kumimoji="0" lang="en-US" altLang="zh-CN"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不是</a:t>
            </a:r>
            <a:r>
              <a:rPr kumimoji="0" lang="zh-CN" altLang="en-US" sz="2600" b="1"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本原蕴含项？</a:t>
            </a:r>
          </a:p>
        </p:txBody>
      </p:sp>
      <p:sp>
        <p:nvSpPr>
          <p:cNvPr id="6" name="文本框 5">
            <a:extLst>
              <a:ext uri="{FF2B5EF4-FFF2-40B4-BE49-F238E27FC236}">
                <a16:creationId xmlns:a16="http://schemas.microsoft.com/office/drawing/2014/main" id="{9FC1DE37-0969-479F-AB75-49E9A2B8B71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0" cap="none" spc="0" normalizeH="0" baseline="0" noProof="0" dirty="0">
                <a:ln>
                  <a:noFill/>
                </a:ln>
                <a:solidFill>
                  <a:srgbClr val="000000"/>
                </a:solidFill>
                <a:effectLst/>
                <a:uLnTx/>
                <a:uFillTx/>
                <a:latin typeface="Arial" charset="0"/>
                <a:ea typeface="黑体" panose="02010609060101010101" pitchFamily="49" charset="-122"/>
                <a:cs typeface="+mn-cs"/>
              </a:rPr>
              <a:t>ac’</a:t>
            </a:r>
            <a:endParaRPr kumimoji="0" lang="zh-CN" alt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7" name="文本框 6">
            <a:extLst>
              <a:ext uri="{FF2B5EF4-FFF2-40B4-BE49-F238E27FC236}">
                <a16:creationId xmlns:a16="http://schemas.microsoft.com/office/drawing/2014/main" id="{31D83BF3-03BA-4678-B744-EA4FE98F7302}"/>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0" cap="none" spc="0" normalizeH="0" baseline="0" noProof="0" dirty="0" err="1">
                <a:ln>
                  <a:noFill/>
                </a:ln>
                <a:solidFill>
                  <a:srgbClr val="000000"/>
                </a:solidFill>
                <a:effectLst/>
                <a:uLnTx/>
                <a:uFillTx/>
                <a:latin typeface="Arial" charset="0"/>
                <a:ea typeface="黑体" panose="02010609060101010101" pitchFamily="49" charset="-122"/>
                <a:cs typeface="+mn-cs"/>
              </a:rPr>
              <a:t>a’bc</a:t>
            </a:r>
            <a:r>
              <a:rPr kumimoji="0" lang="en-US" altLang="zh-CN" sz="2800" b="0" i="0" u="none" strike="noStrike" kern="0" cap="none" spc="0" normalizeH="0" baseline="0" noProof="0" dirty="0">
                <a:ln>
                  <a:noFill/>
                </a:ln>
                <a:solidFill>
                  <a:srgbClr val="000000"/>
                </a:solidFill>
                <a:effectLst/>
                <a:uLnTx/>
                <a:uFillTx/>
                <a:latin typeface="Arial" charset="0"/>
                <a:ea typeface="黑体" panose="02010609060101010101" pitchFamily="49" charset="-122"/>
                <a:cs typeface="+mn-cs"/>
              </a:rPr>
              <a:t>’</a:t>
            </a:r>
            <a:endParaRPr kumimoji="0" lang="zh-CN" alt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8" name="文本框 7">
            <a:extLst>
              <a:ext uri="{FF2B5EF4-FFF2-40B4-BE49-F238E27FC236}">
                <a16:creationId xmlns:a16="http://schemas.microsoft.com/office/drawing/2014/main" id="{20CA0EAA-9628-4FD0-A6C0-E71C2BB4767E}"/>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0" cap="none" spc="0" normalizeH="0" baseline="0" noProof="0" dirty="0">
                <a:ln>
                  <a:noFill/>
                </a:ln>
                <a:solidFill>
                  <a:srgbClr val="000000"/>
                </a:solidFill>
                <a:effectLst/>
                <a:uLnTx/>
                <a:uFillTx/>
                <a:latin typeface="Arial" charset="0"/>
                <a:ea typeface="黑体" panose="02010609060101010101" pitchFamily="49" charset="-122"/>
                <a:cs typeface="+mn-cs"/>
              </a:rPr>
              <a:t>ab’</a:t>
            </a:r>
            <a:endParaRPr kumimoji="0" lang="zh-CN" alt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文本框 8">
            <a:extLst>
              <a:ext uri="{FF2B5EF4-FFF2-40B4-BE49-F238E27FC236}">
                <a16:creationId xmlns:a16="http://schemas.microsoft.com/office/drawing/2014/main" id="{B1DE6EE0-94FA-490F-BDA7-0D96560833F5}"/>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0" cap="none" spc="0" normalizeH="0" baseline="0" noProof="0" dirty="0" err="1">
                <a:ln>
                  <a:noFill/>
                </a:ln>
                <a:solidFill>
                  <a:srgbClr val="000000"/>
                </a:solidFill>
                <a:effectLst/>
                <a:uLnTx/>
                <a:uFillTx/>
                <a:latin typeface="Arial" charset="0"/>
                <a:ea typeface="黑体" panose="02010609060101010101" pitchFamily="49" charset="-122"/>
                <a:cs typeface="+mn-cs"/>
              </a:rPr>
              <a:t>a’b’d</a:t>
            </a:r>
            <a:r>
              <a:rPr kumimoji="0" lang="en-US" altLang="zh-CN" sz="2800" b="0" i="0" u="none" strike="noStrike" kern="0" cap="none" spc="0" normalizeH="0" baseline="0" noProof="0" dirty="0">
                <a:ln>
                  <a:noFill/>
                </a:ln>
                <a:solidFill>
                  <a:srgbClr val="000000"/>
                </a:solidFill>
                <a:effectLst/>
                <a:uLnTx/>
                <a:uFillTx/>
                <a:latin typeface="Arial" charset="0"/>
                <a:ea typeface="黑体" panose="02010609060101010101" pitchFamily="49" charset="-122"/>
                <a:cs typeface="+mn-cs"/>
              </a:rPr>
              <a:t>’</a:t>
            </a:r>
            <a:endParaRPr kumimoji="0" lang="zh-CN" altLang="en-US" sz="32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矩形 9">
            <a:extLst>
              <a:ext uri="{FF2B5EF4-FFF2-40B4-BE49-F238E27FC236}">
                <a16:creationId xmlns:a16="http://schemas.microsoft.com/office/drawing/2014/main" id="{763BB690-18B6-4181-9931-D2615B1BED1F}"/>
              </a:ext>
            </a:extLst>
          </p:cNvPr>
          <p:cNvSpPr>
            <a:spLocks noChangeAspect="1"/>
          </p:cNvSpPr>
          <p:nvPr>
            <p:custDataLst>
              <p:tags r:id="rId7"/>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矩形 10">
            <a:extLst>
              <a:ext uri="{FF2B5EF4-FFF2-40B4-BE49-F238E27FC236}">
                <a16:creationId xmlns:a16="http://schemas.microsoft.com/office/drawing/2014/main" id="{02E13D15-B03E-4A8C-967E-2F07B9686469}"/>
              </a:ext>
            </a:extLst>
          </p:cNvPr>
          <p:cNvSpPr>
            <a:spLocks noChangeAspect="1"/>
          </p:cNvSpPr>
          <p:nvPr>
            <p:custDataLst>
              <p:tags r:id="rId8"/>
            </p:custDataLst>
          </p:nvPr>
        </p:nvSpPr>
        <p:spPr bwMode="auto">
          <a:xfrm>
            <a:off x="1114425" y="370760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矩形 11">
            <a:extLst>
              <a:ext uri="{FF2B5EF4-FFF2-40B4-BE49-F238E27FC236}">
                <a16:creationId xmlns:a16="http://schemas.microsoft.com/office/drawing/2014/main" id="{12E310C5-2334-4260-8EED-423A92D64030}"/>
              </a:ext>
            </a:extLst>
          </p:cNvPr>
          <p:cNvSpPr>
            <a:spLocks noChangeAspect="1"/>
          </p:cNvSpPr>
          <p:nvPr>
            <p:custDataLst>
              <p:tags r:id="rId9"/>
            </p:custDataLst>
          </p:nvPr>
        </p:nvSpPr>
        <p:spPr bwMode="auto">
          <a:xfrm>
            <a:off x="1114425" y="4564856"/>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3" name="矩形 12">
            <a:extLst>
              <a:ext uri="{FF2B5EF4-FFF2-40B4-BE49-F238E27FC236}">
                <a16:creationId xmlns:a16="http://schemas.microsoft.com/office/drawing/2014/main" id="{542C23C1-9C07-481F-AB25-0B855279BE4E}"/>
              </a:ext>
            </a:extLst>
          </p:cNvPr>
          <p:cNvSpPr>
            <a:spLocks noChangeAspect="1"/>
          </p:cNvSpPr>
          <p:nvPr>
            <p:custDataLst>
              <p:tags r:id="rId10"/>
            </p:custDataLst>
          </p:nvPr>
        </p:nvSpPr>
        <p:spPr bwMode="auto">
          <a:xfrm>
            <a:off x="1114425" y="5422106"/>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aphicFrame>
        <p:nvGraphicFramePr>
          <p:cNvPr id="21" name="Group 51">
            <a:extLst>
              <a:ext uri="{FF2B5EF4-FFF2-40B4-BE49-F238E27FC236}">
                <a16:creationId xmlns:a16="http://schemas.microsoft.com/office/drawing/2014/main" id="{333C56B2-FA6E-445D-BA68-D808311BDE75}"/>
              </a:ext>
            </a:extLst>
          </p:cNvPr>
          <p:cNvGraphicFramePr>
            <a:graphicFrameLocks noGrp="1"/>
          </p:cNvGraphicFramePr>
          <p:nvPr/>
        </p:nvGraphicFramePr>
        <p:xfrm>
          <a:off x="4543425" y="2939742"/>
          <a:ext cx="3886200" cy="3102864"/>
        </p:xfrm>
        <a:graphic>
          <a:graphicData uri="http://schemas.openxmlformats.org/drawingml/2006/table">
            <a:tbl>
              <a:tblPr/>
              <a:tblGrid>
                <a:gridCol w="990600">
                  <a:extLst>
                    <a:ext uri="{9D8B030D-6E8A-4147-A177-3AD203B41FA5}">
                      <a16:colId xmlns:a16="http://schemas.microsoft.com/office/drawing/2014/main" val="20000"/>
                    </a:ext>
                  </a:extLst>
                </a:gridCol>
                <a:gridCol w="760413">
                  <a:extLst>
                    <a:ext uri="{9D8B030D-6E8A-4147-A177-3AD203B41FA5}">
                      <a16:colId xmlns:a16="http://schemas.microsoft.com/office/drawing/2014/main" val="20001"/>
                    </a:ext>
                  </a:extLst>
                </a:gridCol>
                <a:gridCol w="687387">
                  <a:extLst>
                    <a:ext uri="{9D8B030D-6E8A-4147-A177-3AD203B41FA5}">
                      <a16:colId xmlns:a16="http://schemas.microsoft.com/office/drawing/2014/main" val="20002"/>
                    </a:ext>
                  </a:extLst>
                </a:gridCol>
                <a:gridCol w="760413">
                  <a:extLst>
                    <a:ext uri="{9D8B030D-6E8A-4147-A177-3AD203B41FA5}">
                      <a16:colId xmlns:a16="http://schemas.microsoft.com/office/drawing/2014/main" val="20003"/>
                    </a:ext>
                  </a:extLst>
                </a:gridCol>
                <a:gridCol w="687387">
                  <a:extLst>
                    <a:ext uri="{9D8B030D-6E8A-4147-A177-3AD203B41FA5}">
                      <a16:colId xmlns:a16="http://schemas.microsoft.com/office/drawing/2014/main" val="20004"/>
                    </a:ext>
                  </a:extLst>
                </a:gridCol>
              </a:tblGrid>
              <a:tr h="768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97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 name="矩形 21">
            <a:extLst>
              <a:ext uri="{FF2B5EF4-FFF2-40B4-BE49-F238E27FC236}">
                <a16:creationId xmlns:a16="http://schemas.microsoft.com/office/drawing/2014/main" id="{FA066D9B-611A-477F-9AF8-3C8561FFB481}"/>
              </a:ext>
            </a:extLst>
          </p:cNvPr>
          <p:cNvSpPr/>
          <p:nvPr/>
        </p:nvSpPr>
        <p:spPr bwMode="auto">
          <a:xfrm>
            <a:off x="5587541" y="5063978"/>
            <a:ext cx="1078037" cy="864096"/>
          </a:xfrm>
          <a:prstGeom prst="rect">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23" name="文本框 22">
            <a:extLst>
              <a:ext uri="{FF2B5EF4-FFF2-40B4-BE49-F238E27FC236}">
                <a16:creationId xmlns:a16="http://schemas.microsoft.com/office/drawing/2014/main" id="{8DE7A00D-4245-41E2-BFA4-5143F30EC2DF}"/>
              </a:ext>
            </a:extLst>
          </p:cNvPr>
          <p:cNvSpPr txBox="1"/>
          <p:nvPr/>
        </p:nvSpPr>
        <p:spPr>
          <a:xfrm>
            <a:off x="5188620" y="4947952"/>
            <a:ext cx="509809"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70C0"/>
                </a:solidFill>
                <a:effectLst/>
                <a:uLnTx/>
                <a:uFillTx/>
                <a:latin typeface="Arial" charset="0"/>
                <a:ea typeface="黑体" panose="02010609060101010101" pitchFamily="49" charset="-122"/>
                <a:cs typeface="+mn-cs"/>
              </a:rPr>
              <a:t>A</a:t>
            </a:r>
            <a:endParaRPr kumimoji="1" lang="zh-CN" altLang="en-US" sz="2800" b="1" i="0" u="none" strike="noStrike" kern="1200" cap="none" spc="0" normalizeH="0" baseline="0" noProof="0" dirty="0">
              <a:ln>
                <a:noFill/>
              </a:ln>
              <a:solidFill>
                <a:srgbClr val="0070C0"/>
              </a:solidFill>
              <a:effectLst/>
              <a:uLnTx/>
              <a:uFillTx/>
              <a:latin typeface="Arial" charset="0"/>
              <a:ea typeface="黑体" panose="02010609060101010101" pitchFamily="49" charset="-122"/>
              <a:cs typeface="+mn-cs"/>
            </a:endParaRPr>
          </a:p>
        </p:txBody>
      </p:sp>
      <p:sp>
        <p:nvSpPr>
          <p:cNvPr id="24" name="矩形 23">
            <a:extLst>
              <a:ext uri="{FF2B5EF4-FFF2-40B4-BE49-F238E27FC236}">
                <a16:creationId xmlns:a16="http://schemas.microsoft.com/office/drawing/2014/main" id="{7EBA1F33-66E0-4C32-92B1-CDA9675DCB5E}"/>
              </a:ext>
            </a:extLst>
          </p:cNvPr>
          <p:cNvSpPr/>
          <p:nvPr/>
        </p:nvSpPr>
        <p:spPr bwMode="auto">
          <a:xfrm>
            <a:off x="5587541" y="4528448"/>
            <a:ext cx="1078037" cy="420998"/>
          </a:xfrm>
          <a:prstGeom prst="rect">
            <a:avLst/>
          </a:prstGeom>
          <a:noFill/>
          <a:ln w="28575" cap="flat" cmpd="sng" algn="ctr">
            <a:solidFill>
              <a:schemeClr val="accent2">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25" name="文本框 24">
            <a:extLst>
              <a:ext uri="{FF2B5EF4-FFF2-40B4-BE49-F238E27FC236}">
                <a16:creationId xmlns:a16="http://schemas.microsoft.com/office/drawing/2014/main" id="{0EA53418-A86F-4E49-B5CC-DA8CD3DCF20D}"/>
              </a:ext>
            </a:extLst>
          </p:cNvPr>
          <p:cNvSpPr txBox="1"/>
          <p:nvPr/>
        </p:nvSpPr>
        <p:spPr>
          <a:xfrm>
            <a:off x="6640299" y="4426226"/>
            <a:ext cx="509809"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57AD27">
                    <a:lumMod val="50000"/>
                  </a:srgbClr>
                </a:solidFill>
                <a:effectLst/>
                <a:uLnTx/>
                <a:uFillTx/>
                <a:latin typeface="Arial" charset="0"/>
                <a:ea typeface="黑体" panose="02010609060101010101" pitchFamily="49" charset="-122"/>
                <a:cs typeface="+mn-cs"/>
              </a:rPr>
              <a:t>B</a:t>
            </a:r>
          </a:p>
        </p:txBody>
      </p:sp>
      <p:sp>
        <p:nvSpPr>
          <p:cNvPr id="26" name="矩形 25">
            <a:extLst>
              <a:ext uri="{FF2B5EF4-FFF2-40B4-BE49-F238E27FC236}">
                <a16:creationId xmlns:a16="http://schemas.microsoft.com/office/drawing/2014/main" id="{CC220CD3-AB59-47FB-8F97-800F069A6C46}"/>
              </a:ext>
            </a:extLst>
          </p:cNvPr>
          <p:cNvSpPr/>
          <p:nvPr/>
        </p:nvSpPr>
        <p:spPr bwMode="auto">
          <a:xfrm>
            <a:off x="5443525" y="5568034"/>
            <a:ext cx="2808312" cy="420998"/>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27" name="Rectangle 61">
            <a:extLst>
              <a:ext uri="{FF2B5EF4-FFF2-40B4-BE49-F238E27FC236}">
                <a16:creationId xmlns:a16="http://schemas.microsoft.com/office/drawing/2014/main" id="{7CEB5F34-6AA6-465B-AD78-85C6B8FAA3B4}"/>
              </a:ext>
            </a:extLst>
          </p:cNvPr>
          <p:cNvSpPr>
            <a:spLocks noChangeArrowheads="1"/>
          </p:cNvSpPr>
          <p:nvPr/>
        </p:nvSpPr>
        <p:spPr bwMode="auto">
          <a:xfrm>
            <a:off x="5501151" y="4032690"/>
            <a:ext cx="381000" cy="381000"/>
          </a:xfrm>
          <a:prstGeom prst="rect">
            <a:avLst/>
          </a:prstGeom>
          <a:noFill/>
          <a:ln w="28575" algn="ctr">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28" name="Rectangle 64">
            <a:extLst>
              <a:ext uri="{FF2B5EF4-FFF2-40B4-BE49-F238E27FC236}">
                <a16:creationId xmlns:a16="http://schemas.microsoft.com/office/drawing/2014/main" id="{3FBD374B-C102-4808-8515-D17CBED554A1}"/>
              </a:ext>
            </a:extLst>
          </p:cNvPr>
          <p:cNvSpPr>
            <a:spLocks noChangeArrowheads="1"/>
          </p:cNvSpPr>
          <p:nvPr/>
        </p:nvSpPr>
        <p:spPr bwMode="auto">
          <a:xfrm>
            <a:off x="7787151" y="4032690"/>
            <a:ext cx="381000" cy="381000"/>
          </a:xfrm>
          <a:prstGeom prst="rect">
            <a:avLst/>
          </a:prstGeom>
          <a:noFill/>
          <a:ln w="28575" algn="ctr">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29" name="文本框 28">
            <a:extLst>
              <a:ext uri="{FF2B5EF4-FFF2-40B4-BE49-F238E27FC236}">
                <a16:creationId xmlns:a16="http://schemas.microsoft.com/office/drawing/2014/main" id="{BE3CB712-B5FB-4ED2-862C-28C90480403F}"/>
              </a:ext>
            </a:extLst>
          </p:cNvPr>
          <p:cNvSpPr txBox="1"/>
          <p:nvPr/>
        </p:nvSpPr>
        <p:spPr>
          <a:xfrm>
            <a:off x="8116739" y="3967954"/>
            <a:ext cx="509809"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FF00"/>
                </a:solidFill>
                <a:effectLst/>
                <a:uLnTx/>
                <a:uFillTx/>
                <a:latin typeface="Arial" charset="0"/>
                <a:ea typeface="黑体" panose="02010609060101010101" pitchFamily="49" charset="-122"/>
                <a:cs typeface="+mn-cs"/>
              </a:rPr>
              <a:t>D</a:t>
            </a:r>
            <a:endParaRPr kumimoji="1" lang="zh-CN" altLang="en-US" sz="2800" b="1" i="0" u="none" strike="noStrike" kern="1200" cap="none" spc="0" normalizeH="0" baseline="0" noProof="0" dirty="0">
              <a:ln>
                <a:noFill/>
              </a:ln>
              <a:solidFill>
                <a:srgbClr val="00FF00"/>
              </a:solidFill>
              <a:effectLst/>
              <a:uLnTx/>
              <a:uFillTx/>
              <a:latin typeface="Arial" charset="0"/>
              <a:ea typeface="黑体" panose="02010609060101010101" pitchFamily="49" charset="-122"/>
              <a:cs typeface="+mn-cs"/>
            </a:endParaRPr>
          </a:p>
        </p:txBody>
      </p:sp>
      <p:sp>
        <p:nvSpPr>
          <p:cNvPr id="30" name="文本框 29">
            <a:extLst>
              <a:ext uri="{FF2B5EF4-FFF2-40B4-BE49-F238E27FC236}">
                <a16:creationId xmlns:a16="http://schemas.microsoft.com/office/drawing/2014/main" id="{E4BAA396-3E8B-4478-883C-0062305B58F2}"/>
              </a:ext>
            </a:extLst>
          </p:cNvPr>
          <p:cNvSpPr txBox="1"/>
          <p:nvPr/>
        </p:nvSpPr>
        <p:spPr>
          <a:xfrm>
            <a:off x="7843245" y="5928074"/>
            <a:ext cx="509809"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Arial" charset="0"/>
                <a:ea typeface="黑体" panose="02010609060101010101" pitchFamily="49" charset="-122"/>
                <a:cs typeface="+mn-cs"/>
              </a:rPr>
              <a:t>C</a:t>
            </a:r>
            <a:endParaRPr kumimoji="1" lang="zh-CN" altLang="en-US" sz="2800" b="1" i="0" u="none" strike="noStrike" kern="1200" cap="none" spc="0" normalizeH="0" baseline="0" noProof="0" dirty="0">
              <a:ln>
                <a:noFill/>
              </a:ln>
              <a:solidFill>
                <a:srgbClr val="FF0000"/>
              </a:solidFill>
              <a:effectLst/>
              <a:uLnTx/>
              <a:uFillTx/>
              <a:latin typeface="Arial" charset="0"/>
              <a:ea typeface="黑体" panose="02010609060101010101" pitchFamily="49" charset="-122"/>
              <a:cs typeface="+mn-cs"/>
            </a:endParaRPr>
          </a:p>
        </p:txBody>
      </p:sp>
      <p:sp>
        <p:nvSpPr>
          <p:cNvPr id="14" name="矩形: 圆角 13">
            <a:extLst>
              <a:ext uri="{FF2B5EF4-FFF2-40B4-BE49-F238E27FC236}">
                <a16:creationId xmlns:a16="http://schemas.microsoft.com/office/drawing/2014/main" id="{6F1C07DE-3556-D8FA-6D73-EC4A78CABF9B}"/>
              </a:ext>
            </a:extLst>
          </p:cNvPr>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32" name="组合 31">
            <a:extLst>
              <a:ext uri="{FF2B5EF4-FFF2-40B4-BE49-F238E27FC236}">
                <a16:creationId xmlns:a16="http://schemas.microsoft.com/office/drawing/2014/main" id="{5BC455E1-DC07-0F34-73E0-E27A05FBB865}"/>
              </a:ext>
            </a:extLst>
          </p:cNvPr>
          <p:cNvGrpSpPr/>
          <p:nvPr>
            <p:custDataLst>
              <p:tags r:id="rId12"/>
            </p:custDataLst>
          </p:nvPr>
        </p:nvGrpSpPr>
        <p:grpSpPr>
          <a:xfrm>
            <a:off x="0" y="0"/>
            <a:ext cx="9144000" cy="635000"/>
            <a:chOff x="0" y="0"/>
            <a:chExt cx="9144000" cy="635000"/>
          </a:xfrm>
        </p:grpSpPr>
        <p:sp>
          <p:nvSpPr>
            <p:cNvPr id="15" name="TitleBackground">
              <a:extLst>
                <a:ext uri="{FF2B5EF4-FFF2-40B4-BE49-F238E27FC236}">
                  <a16:creationId xmlns:a16="http://schemas.microsoft.com/office/drawing/2014/main" id="{A163A0BD-3236-422B-81C9-BF63C5F42AF5}"/>
                </a:ext>
              </a:extLst>
            </p:cNvPr>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16" name="ColorBlock">
              <a:extLst>
                <a:ext uri="{FF2B5EF4-FFF2-40B4-BE49-F238E27FC236}">
                  <a16:creationId xmlns:a16="http://schemas.microsoft.com/office/drawing/2014/main" id="{CF81C8D4-3C7C-48DB-8D5D-6A7F1C5A6EFB}"/>
                </a:ext>
              </a:extLst>
            </p:cNvPr>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黑体" panose="02010609060101010101" pitchFamily="49" charset="-122"/>
                <a:cs typeface="+mn-cs"/>
              </a:endParaRPr>
            </a:p>
          </p:txBody>
        </p:sp>
        <p:sp>
          <p:nvSpPr>
            <p:cNvPr id="17" name="TypeText">
              <a:extLst>
                <a:ext uri="{FF2B5EF4-FFF2-40B4-BE49-F238E27FC236}">
                  <a16:creationId xmlns:a16="http://schemas.microsoft.com/office/drawing/2014/main" id="{9339D99C-0882-4FDD-B934-62FEE714C95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多选题</a:t>
              </a:r>
            </a:p>
          </p:txBody>
        </p:sp>
        <p:sp>
          <p:nvSpPr>
            <p:cNvPr id="31" name="TipText">
              <a:extLst>
                <a:ext uri="{FF2B5EF4-FFF2-40B4-BE49-F238E27FC236}">
                  <a16:creationId xmlns:a16="http://schemas.microsoft.com/office/drawing/2014/main" id="{4E5B71D1-D431-95B9-5021-2FA4C804EA63}"/>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0" name="图片 19">
            <a:extLst>
              <a:ext uri="{FF2B5EF4-FFF2-40B4-BE49-F238E27FC236}">
                <a16:creationId xmlns:a16="http://schemas.microsoft.com/office/drawing/2014/main" id="{5C9B2581-1C30-A023-22AA-D7115EC4BCD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3908747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2F77D-145F-D187-CE9C-1B7AC915DB1D}"/>
              </a:ext>
            </a:extLst>
          </p:cNvPr>
          <p:cNvSpPr>
            <a:spLocks noGrp="1"/>
          </p:cNvSpPr>
          <p:nvPr>
            <p:ph type="title"/>
          </p:nvPr>
        </p:nvSpPr>
        <p:spPr/>
        <p:txBody>
          <a:bodyPr/>
          <a:lstStyle/>
          <a:p>
            <a:r>
              <a:rPr kumimoji="1" lang="zh-CN" altLang="en-US" dirty="0"/>
              <a:t>答案解析</a:t>
            </a:r>
          </a:p>
        </p:txBody>
      </p:sp>
      <p:sp>
        <p:nvSpPr>
          <p:cNvPr id="3" name="内容占位符 2">
            <a:extLst>
              <a:ext uri="{FF2B5EF4-FFF2-40B4-BE49-F238E27FC236}">
                <a16:creationId xmlns:a16="http://schemas.microsoft.com/office/drawing/2014/main" id="{A1BC32B5-FB2B-5658-0871-9728D655F9C2}"/>
              </a:ext>
            </a:extLst>
          </p:cNvPr>
          <p:cNvSpPr>
            <a:spLocks noGrp="1"/>
          </p:cNvSpPr>
          <p:nvPr>
            <p:ph idx="1"/>
          </p:nvPr>
        </p:nvSpPr>
        <p:spPr>
          <a:xfrm>
            <a:off x="215516" y="1272727"/>
            <a:ext cx="8229600" cy="4525963"/>
          </a:xfrm>
        </p:spPr>
        <p:txBody>
          <a:bodyPr/>
          <a:lstStyle/>
          <a:p>
            <a:r>
              <a:rPr kumimoji="1" lang="zh-CN" altLang="en-US" sz="2800" dirty="0"/>
              <a:t>观察卡诺图，以下哪些选项不是本原蕴含项？</a:t>
            </a:r>
            <a:endParaRPr kumimoji="1" lang="en-US" altLang="zh-CN" sz="2800" dirty="0"/>
          </a:p>
          <a:p>
            <a:pPr lvl="1"/>
            <a:r>
              <a:rPr kumimoji="1" lang="en-US" altLang="zh-CN" sz="2400" dirty="0"/>
              <a:t>A. ac’; </a:t>
            </a:r>
            <a:r>
              <a:rPr kumimoji="1" lang="en-US" altLang="zh-CN" sz="2400" dirty="0">
                <a:solidFill>
                  <a:srgbClr val="3333FF"/>
                </a:solidFill>
              </a:rPr>
              <a:t>B. </a:t>
            </a:r>
            <a:r>
              <a:rPr kumimoji="1" lang="en-US" altLang="zh-CN" sz="2400" dirty="0" err="1">
                <a:solidFill>
                  <a:srgbClr val="3333FF"/>
                </a:solidFill>
              </a:rPr>
              <a:t>a’bc</a:t>
            </a:r>
            <a:r>
              <a:rPr kumimoji="1" lang="en-US" altLang="zh-CN" sz="2400" dirty="0">
                <a:solidFill>
                  <a:srgbClr val="3333FF"/>
                </a:solidFill>
              </a:rPr>
              <a:t>’</a:t>
            </a:r>
            <a:r>
              <a:rPr kumimoji="1" lang="en-US" altLang="zh-CN" sz="2400" dirty="0"/>
              <a:t>; C. ab’; </a:t>
            </a:r>
            <a:r>
              <a:rPr kumimoji="1" lang="en-US" altLang="zh-CN" sz="2400" dirty="0">
                <a:solidFill>
                  <a:srgbClr val="3333FF"/>
                </a:solidFill>
              </a:rPr>
              <a:t>D. </a:t>
            </a:r>
            <a:r>
              <a:rPr kumimoji="1" lang="en-US" altLang="zh-CN" sz="2400" dirty="0" err="1">
                <a:solidFill>
                  <a:srgbClr val="3333FF"/>
                </a:solidFill>
              </a:rPr>
              <a:t>a’b’d</a:t>
            </a:r>
            <a:r>
              <a:rPr kumimoji="1" lang="en-US" altLang="zh-CN" sz="2400" dirty="0">
                <a:solidFill>
                  <a:srgbClr val="3333FF"/>
                </a:solidFill>
              </a:rPr>
              <a:t>’</a:t>
            </a:r>
          </a:p>
          <a:p>
            <a:pPr lvl="1"/>
            <a:endParaRPr kumimoji="1" lang="en-US" altLang="zh-CN" sz="2400" dirty="0"/>
          </a:p>
          <a:p>
            <a:r>
              <a:rPr kumimoji="1" lang="zh-CN" altLang="en-US" sz="2800" dirty="0">
                <a:solidFill>
                  <a:srgbClr val="3333FF"/>
                </a:solidFill>
              </a:rPr>
              <a:t>解答：</a:t>
            </a:r>
            <a:r>
              <a:rPr kumimoji="1" lang="en-US" altLang="zh-CN" sz="2800" dirty="0">
                <a:solidFill>
                  <a:srgbClr val="3333FF"/>
                </a:solidFill>
              </a:rPr>
              <a:t>BD</a:t>
            </a:r>
          </a:p>
          <a:p>
            <a:pPr lvl="1"/>
            <a:r>
              <a:rPr kumimoji="1" lang="zh-CN" altLang="en-US" sz="2400" dirty="0"/>
              <a:t>可以看到</a:t>
            </a:r>
          </a:p>
          <a:p>
            <a:pPr lvl="1"/>
            <a:r>
              <a:rPr kumimoji="1" lang="en-US" altLang="zh-CN" sz="2400" dirty="0"/>
              <a:t>B</a:t>
            </a:r>
            <a:r>
              <a:rPr kumimoji="1" lang="zh-CN" altLang="en-US" sz="2400" dirty="0"/>
              <a:t>蕴含</a:t>
            </a:r>
            <a:r>
              <a:rPr kumimoji="1" lang="en-US" altLang="zh-CN" sz="2400" dirty="0"/>
              <a:t>E (</a:t>
            </a:r>
            <a:r>
              <a:rPr kumimoji="1" lang="en-US" altLang="zh-CN" sz="2400" dirty="0" err="1"/>
              <a:t>a’bc</a:t>
            </a:r>
            <a:r>
              <a:rPr kumimoji="1" lang="en-US" altLang="zh-CN" sz="2400" dirty="0"/>
              <a:t>’ =&gt; </a:t>
            </a:r>
            <a:r>
              <a:rPr kumimoji="1" lang="en-US" altLang="zh-CN" sz="2400" dirty="0" err="1"/>
              <a:t>bc</a:t>
            </a:r>
            <a:r>
              <a:rPr kumimoji="1" lang="en-US" altLang="zh-CN" sz="2400" dirty="0"/>
              <a:t>’)</a:t>
            </a:r>
          </a:p>
          <a:p>
            <a:pPr lvl="1"/>
            <a:r>
              <a:rPr kumimoji="1" lang="en-US" altLang="zh-CN" sz="2400" dirty="0"/>
              <a:t>D</a:t>
            </a:r>
            <a:r>
              <a:rPr kumimoji="1" lang="zh-CN" altLang="en-US" sz="2400" dirty="0"/>
              <a:t>蕴含</a:t>
            </a:r>
            <a:r>
              <a:rPr kumimoji="1" lang="en-US" altLang="zh-CN" sz="2400" dirty="0"/>
              <a:t>I (</a:t>
            </a:r>
            <a:r>
              <a:rPr kumimoji="1" lang="en-US" altLang="zh-CN" sz="2400" dirty="0" err="1"/>
              <a:t>a’b’d</a:t>
            </a:r>
            <a:r>
              <a:rPr kumimoji="1" lang="en-US" altLang="zh-CN" sz="2400" dirty="0"/>
              <a:t>’ =&gt; </a:t>
            </a:r>
            <a:r>
              <a:rPr kumimoji="1" lang="en-US" altLang="zh-CN" sz="2400" dirty="0" err="1"/>
              <a:t>b’d</a:t>
            </a:r>
            <a:r>
              <a:rPr kumimoji="1" lang="en-US" altLang="zh-CN" sz="2400" dirty="0"/>
              <a:t>’)</a:t>
            </a:r>
          </a:p>
          <a:p>
            <a:pPr lvl="1"/>
            <a:r>
              <a:rPr kumimoji="1" lang="zh-CN" altLang="en-US" sz="2400" dirty="0"/>
              <a:t>因此根据本原蕴含项的定义，</a:t>
            </a:r>
            <a:br>
              <a:rPr kumimoji="1" lang="en-US" altLang="zh-CN" sz="2400" dirty="0"/>
            </a:br>
            <a:r>
              <a:rPr kumimoji="1" lang="en-US" altLang="zh-CN" sz="2400" dirty="0"/>
              <a:t>BD</a:t>
            </a:r>
            <a:r>
              <a:rPr kumimoji="1" lang="zh-CN" altLang="en-US" sz="2400" dirty="0"/>
              <a:t>项都不是本原蕴含项</a:t>
            </a:r>
          </a:p>
          <a:p>
            <a:pPr lvl="1"/>
            <a:endParaRPr kumimoji="1" lang="zh-CN" altLang="en-US" sz="2400" dirty="0"/>
          </a:p>
          <a:p>
            <a:pPr lvl="1"/>
            <a:endParaRPr kumimoji="1" lang="zh-CN" altLang="en-US" sz="2400" dirty="0"/>
          </a:p>
          <a:p>
            <a:pPr lvl="1"/>
            <a:endParaRPr kumimoji="1" lang="zh-CN" altLang="en-US" sz="2400" dirty="0"/>
          </a:p>
          <a:p>
            <a:pPr lvl="1"/>
            <a:endParaRPr kumimoji="1" lang="en-US" altLang="zh-CN" sz="2400" dirty="0"/>
          </a:p>
          <a:p>
            <a:endParaRPr kumimoji="1" lang="en-US" altLang="zh-CN" sz="2800" dirty="0"/>
          </a:p>
        </p:txBody>
      </p:sp>
      <p:sp>
        <p:nvSpPr>
          <p:cNvPr id="4" name="灯片编号占位符 3">
            <a:extLst>
              <a:ext uri="{FF2B5EF4-FFF2-40B4-BE49-F238E27FC236}">
                <a16:creationId xmlns:a16="http://schemas.microsoft.com/office/drawing/2014/main" id="{899D2907-2ABD-7D08-FF29-F6922E378A17}"/>
              </a:ext>
            </a:extLst>
          </p:cNvPr>
          <p:cNvSpPr>
            <a:spLocks noGrp="1"/>
          </p:cNvSpPr>
          <p:nvPr>
            <p:ph type="sldNum" sz="quarter" idx="12"/>
          </p:nvPr>
        </p:nvSpPr>
        <p:spPr/>
        <p:txBody>
          <a:bodyPr/>
          <a:lstStyle/>
          <a:p>
            <a:fld id="{14659731-6BD7-46E7-8D3C-2F3AC07E20B1}" type="slidenum">
              <a:rPr lang="en-US" altLang="zh-CN" smtClean="0"/>
              <a:pPr/>
              <a:t>98</a:t>
            </a:fld>
            <a:endParaRPr lang="en-US" altLang="zh-CN"/>
          </a:p>
        </p:txBody>
      </p:sp>
      <p:sp>
        <p:nvSpPr>
          <p:cNvPr id="5" name="矩形 4">
            <a:extLst>
              <a:ext uri="{FF2B5EF4-FFF2-40B4-BE49-F238E27FC236}">
                <a16:creationId xmlns:a16="http://schemas.microsoft.com/office/drawing/2014/main" id="{5B9967FA-47EE-D164-85B4-F6D599646243}"/>
              </a:ext>
            </a:extLst>
          </p:cNvPr>
          <p:cNvSpPr/>
          <p:nvPr/>
        </p:nvSpPr>
        <p:spPr>
          <a:xfrm>
            <a:off x="943653" y="5337901"/>
            <a:ext cx="4130812" cy="1200329"/>
          </a:xfrm>
          <a:prstGeom prst="rect">
            <a:avLst/>
          </a:prstGeom>
        </p:spPr>
        <p:txBody>
          <a:bodyPr wrap="square">
            <a:spAutoFit/>
          </a:bodyPr>
          <a:lstStyle/>
          <a:p>
            <a:r>
              <a:rPr lang="zh-CN" altLang="en-US" sz="2400" dirty="0">
                <a:ea typeface="黑体" panose="02010609060101010101" pitchFamily="49" charset="-122"/>
                <a:sym typeface="Symbol" pitchFamily="18" charset="2"/>
              </a:rPr>
              <a:t>注：函数</a:t>
            </a:r>
            <a:r>
              <a:rPr lang="en-US" altLang="zh-CN" sz="2400" dirty="0">
                <a:ea typeface="黑体" panose="02010609060101010101" pitchFamily="49" charset="-122"/>
                <a:sym typeface="Symbol" pitchFamily="18" charset="2"/>
              </a:rPr>
              <a:t>F</a:t>
            </a:r>
            <a:r>
              <a:rPr lang="zh-CN" altLang="en-US" sz="2400" dirty="0">
                <a:ea typeface="黑体" panose="02010609060101010101" pitchFamily="49" charset="-122"/>
                <a:sym typeface="Symbol" pitchFamily="18" charset="2"/>
              </a:rPr>
              <a:t>的蕴含项</a:t>
            </a:r>
            <a:r>
              <a:rPr lang="en-US" altLang="zh-CN" sz="2400" dirty="0">
                <a:ea typeface="黑体" panose="02010609060101010101" pitchFamily="49" charset="-122"/>
                <a:sym typeface="Symbol" pitchFamily="18" charset="2"/>
              </a:rPr>
              <a:t>P</a:t>
            </a:r>
            <a:r>
              <a:rPr lang="zh-CN" altLang="en-US" sz="2400" dirty="0">
                <a:ea typeface="黑体" panose="02010609060101010101" pitchFamily="49" charset="-122"/>
                <a:sym typeface="Symbol" pitchFamily="18" charset="2"/>
              </a:rPr>
              <a:t>，如果不存在蕴含项</a:t>
            </a:r>
            <a:r>
              <a:rPr lang="en-US" altLang="zh-CN" sz="2400" dirty="0">
                <a:ea typeface="黑体" panose="02010609060101010101" pitchFamily="49" charset="-122"/>
                <a:sym typeface="Symbol" pitchFamily="18" charset="2"/>
              </a:rPr>
              <a:t>I</a:t>
            </a:r>
            <a:r>
              <a:rPr lang="en-US" altLang="zh-CN" sz="2400" dirty="0">
                <a:ea typeface="黑体" panose="02010609060101010101" pitchFamily="49" charset="-122"/>
                <a:sym typeface="Symbol"/>
              </a:rPr>
              <a:t>P</a:t>
            </a:r>
            <a:r>
              <a:rPr lang="zh-CN" altLang="en-US" sz="2400" dirty="0">
                <a:ea typeface="黑体" panose="02010609060101010101" pitchFamily="49" charset="-122"/>
                <a:sym typeface="Symbol"/>
              </a:rPr>
              <a:t>，使得</a:t>
            </a:r>
            <a:r>
              <a:rPr lang="en-US" altLang="zh-CN" sz="2400" dirty="0">
                <a:ea typeface="黑体" panose="02010609060101010101" pitchFamily="49" charset="-122"/>
                <a:sym typeface="Symbol" pitchFamily="18" charset="2"/>
              </a:rPr>
              <a:t>P</a:t>
            </a:r>
            <a:r>
              <a:rPr lang="en-US" altLang="zh-CN" sz="2400" b="1" dirty="0">
                <a:ea typeface="黑体" panose="02010609060101010101" pitchFamily="49" charset="-122"/>
                <a:sym typeface="Symbol"/>
              </a:rPr>
              <a:t>  </a:t>
            </a:r>
            <a:r>
              <a:rPr lang="en-US" altLang="zh-CN" sz="2400" dirty="0">
                <a:ea typeface="黑体" panose="02010609060101010101" pitchFamily="49" charset="-122"/>
                <a:sym typeface="Symbol"/>
              </a:rPr>
              <a:t>I </a:t>
            </a:r>
            <a:r>
              <a:rPr lang="en-US" altLang="zh-CN" sz="2400" b="1" dirty="0">
                <a:ea typeface="黑体" panose="02010609060101010101" pitchFamily="49" charset="-122"/>
                <a:sym typeface="Symbol"/>
              </a:rPr>
              <a:t> </a:t>
            </a:r>
            <a:r>
              <a:rPr lang="en-US" altLang="zh-CN" sz="2400" dirty="0">
                <a:ea typeface="黑体" panose="02010609060101010101" pitchFamily="49" charset="-122"/>
                <a:sym typeface="Symbol"/>
              </a:rPr>
              <a:t>F</a:t>
            </a:r>
            <a:r>
              <a:rPr lang="zh-CN" altLang="en-US" sz="2400" dirty="0">
                <a:ea typeface="黑体" panose="02010609060101010101" pitchFamily="49" charset="-122"/>
                <a:sym typeface="Symbol"/>
              </a:rPr>
              <a:t>，则称</a:t>
            </a:r>
            <a:r>
              <a:rPr lang="en-US" altLang="zh-CN" sz="2400" dirty="0">
                <a:ea typeface="黑体" panose="02010609060101010101" pitchFamily="49" charset="-122"/>
                <a:sym typeface="Symbol"/>
              </a:rPr>
              <a:t>P</a:t>
            </a:r>
            <a:r>
              <a:rPr lang="zh-CN" altLang="en-US" sz="2400" dirty="0">
                <a:ea typeface="黑体" panose="02010609060101010101" pitchFamily="49" charset="-122"/>
                <a:sym typeface="Symbol"/>
              </a:rPr>
              <a:t>为本原蕴含项</a:t>
            </a:r>
            <a:endParaRPr lang="en-US" altLang="zh-CN" sz="2400" dirty="0">
              <a:ea typeface="黑体" panose="02010609060101010101" pitchFamily="49" charset="-122"/>
              <a:sym typeface="Symbol" pitchFamily="18" charset="2"/>
            </a:endParaRPr>
          </a:p>
        </p:txBody>
      </p:sp>
      <p:graphicFrame>
        <p:nvGraphicFramePr>
          <p:cNvPr id="6" name="Group 51">
            <a:extLst>
              <a:ext uri="{FF2B5EF4-FFF2-40B4-BE49-F238E27FC236}">
                <a16:creationId xmlns:a16="http://schemas.microsoft.com/office/drawing/2014/main" id="{A4DBC370-876E-5D57-FE0D-A1453D2515AE}"/>
              </a:ext>
            </a:extLst>
          </p:cNvPr>
          <p:cNvGraphicFramePr>
            <a:graphicFrameLocks noGrp="1"/>
          </p:cNvGraphicFramePr>
          <p:nvPr>
            <p:extLst>
              <p:ext uri="{D42A27DB-BD31-4B8C-83A1-F6EECF244321}">
                <p14:modId xmlns:p14="http://schemas.microsoft.com/office/powerpoint/2010/main" val="1623012205"/>
              </p:ext>
            </p:extLst>
          </p:nvPr>
        </p:nvGraphicFramePr>
        <p:xfrm>
          <a:off x="5081416" y="2638693"/>
          <a:ext cx="3886200" cy="3102864"/>
        </p:xfrm>
        <a:graphic>
          <a:graphicData uri="http://schemas.openxmlformats.org/drawingml/2006/table">
            <a:tbl>
              <a:tblPr/>
              <a:tblGrid>
                <a:gridCol w="990600">
                  <a:extLst>
                    <a:ext uri="{9D8B030D-6E8A-4147-A177-3AD203B41FA5}">
                      <a16:colId xmlns:a16="http://schemas.microsoft.com/office/drawing/2014/main" val="20000"/>
                    </a:ext>
                  </a:extLst>
                </a:gridCol>
                <a:gridCol w="760413">
                  <a:extLst>
                    <a:ext uri="{9D8B030D-6E8A-4147-A177-3AD203B41FA5}">
                      <a16:colId xmlns:a16="http://schemas.microsoft.com/office/drawing/2014/main" val="20001"/>
                    </a:ext>
                  </a:extLst>
                </a:gridCol>
                <a:gridCol w="687387">
                  <a:extLst>
                    <a:ext uri="{9D8B030D-6E8A-4147-A177-3AD203B41FA5}">
                      <a16:colId xmlns:a16="http://schemas.microsoft.com/office/drawing/2014/main" val="20002"/>
                    </a:ext>
                  </a:extLst>
                </a:gridCol>
                <a:gridCol w="760413">
                  <a:extLst>
                    <a:ext uri="{9D8B030D-6E8A-4147-A177-3AD203B41FA5}">
                      <a16:colId xmlns:a16="http://schemas.microsoft.com/office/drawing/2014/main" val="20003"/>
                    </a:ext>
                  </a:extLst>
                </a:gridCol>
                <a:gridCol w="687387">
                  <a:extLst>
                    <a:ext uri="{9D8B030D-6E8A-4147-A177-3AD203B41FA5}">
                      <a16:colId xmlns:a16="http://schemas.microsoft.com/office/drawing/2014/main" val="20004"/>
                    </a:ext>
                  </a:extLst>
                </a:gridCol>
              </a:tblGrid>
              <a:tr h="768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endParaRPr kumimoji="0" lang="zh-CN" altLang="zh-CN" sz="2800" b="0" i="0" u="none" strike="noStrike" cap="none" normalizeH="0" baseline="0" dirty="0">
                        <a:ln>
                          <a:noFill/>
                        </a:ln>
                        <a:solidFill>
                          <a:schemeClr val="tx1"/>
                        </a:solidFill>
                        <a:effectLst/>
                        <a:latin typeface="Arial"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970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矩形 6">
            <a:extLst>
              <a:ext uri="{FF2B5EF4-FFF2-40B4-BE49-F238E27FC236}">
                <a16:creationId xmlns:a16="http://schemas.microsoft.com/office/drawing/2014/main" id="{6BB53EDF-0A0A-632F-6524-1F078F8B3DF7}"/>
              </a:ext>
            </a:extLst>
          </p:cNvPr>
          <p:cNvSpPr/>
          <p:nvPr/>
        </p:nvSpPr>
        <p:spPr bwMode="auto">
          <a:xfrm>
            <a:off x="6125532" y="4227399"/>
            <a:ext cx="1078037" cy="420998"/>
          </a:xfrm>
          <a:prstGeom prst="rect">
            <a:avLst/>
          </a:prstGeom>
          <a:noFill/>
          <a:ln w="28575" cap="flat" cmpd="sng" algn="ctr">
            <a:solidFill>
              <a:schemeClr val="accent2">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8" name="文本框 7">
            <a:extLst>
              <a:ext uri="{FF2B5EF4-FFF2-40B4-BE49-F238E27FC236}">
                <a16:creationId xmlns:a16="http://schemas.microsoft.com/office/drawing/2014/main" id="{0FD1B5EA-32E6-BD3F-A150-695B1D902606}"/>
              </a:ext>
            </a:extLst>
          </p:cNvPr>
          <p:cNvSpPr txBox="1"/>
          <p:nvPr/>
        </p:nvSpPr>
        <p:spPr>
          <a:xfrm>
            <a:off x="7178290" y="4125177"/>
            <a:ext cx="509809" cy="523220"/>
          </a:xfrm>
          <a:prstGeom prst="rect">
            <a:avLst/>
          </a:prstGeom>
          <a:noFill/>
        </p:spPr>
        <p:txBody>
          <a:bodyPr wrap="square" rtlCol="0">
            <a:spAutoFit/>
          </a:bodyPr>
          <a:lstStyle/>
          <a:p>
            <a:r>
              <a:rPr kumimoji="1" lang="en-US" altLang="zh-CN" sz="2800" b="1" dirty="0">
                <a:solidFill>
                  <a:schemeClr val="accent2">
                    <a:lumMod val="50000"/>
                  </a:schemeClr>
                </a:solidFill>
                <a:ea typeface="黑体" panose="02010609060101010101" pitchFamily="49" charset="-122"/>
              </a:rPr>
              <a:t>B</a:t>
            </a:r>
          </a:p>
        </p:txBody>
      </p:sp>
      <p:sp>
        <p:nvSpPr>
          <p:cNvPr id="9" name="Rectangle 61">
            <a:extLst>
              <a:ext uri="{FF2B5EF4-FFF2-40B4-BE49-F238E27FC236}">
                <a16:creationId xmlns:a16="http://schemas.microsoft.com/office/drawing/2014/main" id="{9FDB9F03-1E4B-5225-F6C2-0CD9FEC1FD52}"/>
              </a:ext>
            </a:extLst>
          </p:cNvPr>
          <p:cNvSpPr>
            <a:spLocks noChangeArrowheads="1"/>
          </p:cNvSpPr>
          <p:nvPr/>
        </p:nvSpPr>
        <p:spPr bwMode="auto">
          <a:xfrm>
            <a:off x="6039142" y="3731641"/>
            <a:ext cx="381000" cy="381000"/>
          </a:xfrm>
          <a:prstGeom prst="rect">
            <a:avLst/>
          </a:prstGeom>
          <a:noFill/>
          <a:ln w="28575" algn="ctr">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0" name="Rectangle 64">
            <a:extLst>
              <a:ext uri="{FF2B5EF4-FFF2-40B4-BE49-F238E27FC236}">
                <a16:creationId xmlns:a16="http://schemas.microsoft.com/office/drawing/2014/main" id="{F3861E4C-01BE-F446-D605-AAE39370D65F}"/>
              </a:ext>
            </a:extLst>
          </p:cNvPr>
          <p:cNvSpPr>
            <a:spLocks noChangeArrowheads="1"/>
          </p:cNvSpPr>
          <p:nvPr/>
        </p:nvSpPr>
        <p:spPr bwMode="auto">
          <a:xfrm>
            <a:off x="8325142" y="3731641"/>
            <a:ext cx="381000" cy="381000"/>
          </a:xfrm>
          <a:prstGeom prst="rect">
            <a:avLst/>
          </a:prstGeom>
          <a:noFill/>
          <a:ln w="28575" algn="ctr">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1" name="文本框 10">
            <a:extLst>
              <a:ext uri="{FF2B5EF4-FFF2-40B4-BE49-F238E27FC236}">
                <a16:creationId xmlns:a16="http://schemas.microsoft.com/office/drawing/2014/main" id="{356A7614-786F-8E05-7FBA-1ED989853F60}"/>
              </a:ext>
            </a:extLst>
          </p:cNvPr>
          <p:cNvSpPr txBox="1"/>
          <p:nvPr/>
        </p:nvSpPr>
        <p:spPr>
          <a:xfrm>
            <a:off x="8654730" y="3666905"/>
            <a:ext cx="509809" cy="523220"/>
          </a:xfrm>
          <a:prstGeom prst="rect">
            <a:avLst/>
          </a:prstGeom>
          <a:noFill/>
        </p:spPr>
        <p:txBody>
          <a:bodyPr wrap="square" rtlCol="0">
            <a:spAutoFit/>
          </a:bodyPr>
          <a:lstStyle/>
          <a:p>
            <a:r>
              <a:rPr kumimoji="1" lang="en-US" altLang="zh-CN" sz="2800" b="1" dirty="0">
                <a:solidFill>
                  <a:srgbClr val="00FF00"/>
                </a:solidFill>
                <a:ea typeface="黑体" panose="02010609060101010101" pitchFamily="49" charset="-122"/>
              </a:rPr>
              <a:t>D</a:t>
            </a:r>
            <a:endParaRPr kumimoji="1" lang="zh-CN" altLang="en-US" sz="2800" b="1" dirty="0">
              <a:solidFill>
                <a:srgbClr val="00FF00"/>
              </a:solidFill>
              <a:ea typeface="黑体" panose="02010609060101010101" pitchFamily="49" charset="-122"/>
            </a:endParaRPr>
          </a:p>
        </p:txBody>
      </p:sp>
      <p:sp>
        <p:nvSpPr>
          <p:cNvPr id="12" name="矩形 11">
            <a:extLst>
              <a:ext uri="{FF2B5EF4-FFF2-40B4-BE49-F238E27FC236}">
                <a16:creationId xmlns:a16="http://schemas.microsoft.com/office/drawing/2014/main" id="{905EA8C4-DAF0-8AF0-32FA-39CDB4C9BA83}"/>
              </a:ext>
            </a:extLst>
          </p:cNvPr>
          <p:cNvSpPr/>
          <p:nvPr/>
        </p:nvSpPr>
        <p:spPr bwMode="auto">
          <a:xfrm>
            <a:off x="5948763" y="4176287"/>
            <a:ext cx="1364901" cy="1029301"/>
          </a:xfrm>
          <a:prstGeom prst="rect">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zh-CN" altLang="en-US" dirty="0">
              <a:solidFill>
                <a:srgbClr val="000000"/>
              </a:solidFill>
              <a:ea typeface="黑体" panose="02010609060101010101" pitchFamily="49" charset="-122"/>
            </a:endParaRPr>
          </a:p>
        </p:txBody>
      </p:sp>
      <p:sp>
        <p:nvSpPr>
          <p:cNvPr id="13" name="文本框 12">
            <a:extLst>
              <a:ext uri="{FF2B5EF4-FFF2-40B4-BE49-F238E27FC236}">
                <a16:creationId xmlns:a16="http://schemas.microsoft.com/office/drawing/2014/main" id="{8F73834F-CB5E-7FAD-FD2E-E1EA41AADE8E}"/>
              </a:ext>
            </a:extLst>
          </p:cNvPr>
          <p:cNvSpPr txBox="1"/>
          <p:nvPr/>
        </p:nvSpPr>
        <p:spPr>
          <a:xfrm>
            <a:off x="5587659" y="4746014"/>
            <a:ext cx="423514" cy="523220"/>
          </a:xfrm>
          <a:prstGeom prst="rect">
            <a:avLst/>
          </a:prstGeom>
          <a:noFill/>
        </p:spPr>
        <p:txBody>
          <a:bodyPr wrap="none" rtlCol="0">
            <a:spAutoFit/>
          </a:bodyPr>
          <a:lstStyle/>
          <a:p>
            <a:r>
              <a:rPr kumimoji="1" lang="en-US" altLang="zh-CN" sz="2800" b="1" dirty="0">
                <a:solidFill>
                  <a:srgbClr val="0070C0"/>
                </a:solidFill>
                <a:ea typeface="黑体" panose="02010609060101010101" pitchFamily="49" charset="-122"/>
              </a:rPr>
              <a:t>E</a:t>
            </a:r>
            <a:endParaRPr kumimoji="1" lang="zh-CN" altLang="en-US" sz="2800" b="1" dirty="0">
              <a:solidFill>
                <a:srgbClr val="0070C0"/>
              </a:solidFill>
              <a:ea typeface="黑体" panose="02010609060101010101" pitchFamily="49" charset="-122"/>
            </a:endParaRPr>
          </a:p>
        </p:txBody>
      </p:sp>
      <p:sp>
        <p:nvSpPr>
          <p:cNvPr id="14" name="Rectangle 61">
            <a:extLst>
              <a:ext uri="{FF2B5EF4-FFF2-40B4-BE49-F238E27FC236}">
                <a16:creationId xmlns:a16="http://schemas.microsoft.com/office/drawing/2014/main" id="{F1017484-A8D7-6520-E16E-01FAEF9CE452}"/>
              </a:ext>
            </a:extLst>
          </p:cNvPr>
          <p:cNvSpPr>
            <a:spLocks noChangeArrowheads="1"/>
          </p:cNvSpPr>
          <p:nvPr/>
        </p:nvSpPr>
        <p:spPr bwMode="auto">
          <a:xfrm>
            <a:off x="5935032" y="3558567"/>
            <a:ext cx="622548" cy="668832"/>
          </a:xfrm>
          <a:prstGeom prst="rect">
            <a:avLst/>
          </a:prstGeom>
          <a:noFill/>
          <a:ln w="28575" algn="ctr">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5" name="Rectangle 61">
            <a:extLst>
              <a:ext uri="{FF2B5EF4-FFF2-40B4-BE49-F238E27FC236}">
                <a16:creationId xmlns:a16="http://schemas.microsoft.com/office/drawing/2014/main" id="{86348DBC-AD54-A931-57F4-28F143DA6A91}"/>
              </a:ext>
            </a:extLst>
          </p:cNvPr>
          <p:cNvSpPr>
            <a:spLocks noChangeArrowheads="1"/>
          </p:cNvSpPr>
          <p:nvPr/>
        </p:nvSpPr>
        <p:spPr bwMode="auto">
          <a:xfrm>
            <a:off x="8191137" y="3565107"/>
            <a:ext cx="622548" cy="668832"/>
          </a:xfrm>
          <a:prstGeom prst="rect">
            <a:avLst/>
          </a:prstGeom>
          <a:noFill/>
          <a:ln w="28575" algn="ctr">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6" name="Rectangle 61">
            <a:extLst>
              <a:ext uri="{FF2B5EF4-FFF2-40B4-BE49-F238E27FC236}">
                <a16:creationId xmlns:a16="http://schemas.microsoft.com/office/drawing/2014/main" id="{3F6C6FAC-47EB-C896-7CFC-672220FB1D1D}"/>
              </a:ext>
            </a:extLst>
          </p:cNvPr>
          <p:cNvSpPr>
            <a:spLocks noChangeArrowheads="1"/>
          </p:cNvSpPr>
          <p:nvPr/>
        </p:nvSpPr>
        <p:spPr bwMode="auto">
          <a:xfrm>
            <a:off x="5918368" y="5256698"/>
            <a:ext cx="622548" cy="668832"/>
          </a:xfrm>
          <a:prstGeom prst="rect">
            <a:avLst/>
          </a:prstGeom>
          <a:noFill/>
          <a:ln w="28575" algn="ctr">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7" name="Rectangle 61">
            <a:extLst>
              <a:ext uri="{FF2B5EF4-FFF2-40B4-BE49-F238E27FC236}">
                <a16:creationId xmlns:a16="http://schemas.microsoft.com/office/drawing/2014/main" id="{F5DD3208-8738-4D58-01C0-11C98985B999}"/>
              </a:ext>
            </a:extLst>
          </p:cNvPr>
          <p:cNvSpPr>
            <a:spLocks noChangeArrowheads="1"/>
          </p:cNvSpPr>
          <p:nvPr/>
        </p:nvSpPr>
        <p:spPr bwMode="auto">
          <a:xfrm>
            <a:off x="8186612" y="5269234"/>
            <a:ext cx="622548" cy="668832"/>
          </a:xfrm>
          <a:prstGeom prst="rect">
            <a:avLst/>
          </a:prstGeom>
          <a:noFill/>
          <a:ln w="28575" algn="ctr">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18" name="文本框 17">
            <a:extLst>
              <a:ext uri="{FF2B5EF4-FFF2-40B4-BE49-F238E27FC236}">
                <a16:creationId xmlns:a16="http://schemas.microsoft.com/office/drawing/2014/main" id="{1BFC542F-30DC-64FB-64A2-FCCD388273F6}"/>
              </a:ext>
            </a:extLst>
          </p:cNvPr>
          <p:cNvSpPr txBox="1"/>
          <p:nvPr/>
        </p:nvSpPr>
        <p:spPr>
          <a:xfrm>
            <a:off x="6307983" y="5836057"/>
            <a:ext cx="284052" cy="523220"/>
          </a:xfrm>
          <a:prstGeom prst="rect">
            <a:avLst/>
          </a:prstGeom>
          <a:noFill/>
        </p:spPr>
        <p:txBody>
          <a:bodyPr wrap="none" rtlCol="0">
            <a:spAutoFit/>
          </a:bodyPr>
          <a:lstStyle/>
          <a:p>
            <a:r>
              <a:rPr kumimoji="1" lang="en-US" altLang="zh-CN" sz="2800" b="1" dirty="0">
                <a:solidFill>
                  <a:srgbClr val="C00000"/>
                </a:solidFill>
                <a:ea typeface="黑体" panose="02010609060101010101" pitchFamily="49" charset="-122"/>
              </a:rPr>
              <a:t>I</a:t>
            </a:r>
            <a:endParaRPr kumimoji="1" lang="zh-CN" altLang="en-US" sz="2800" b="1" dirty="0">
              <a:solidFill>
                <a:srgbClr val="C00000"/>
              </a:solidFill>
              <a:ea typeface="黑体" panose="02010609060101010101" pitchFamily="49" charset="-122"/>
            </a:endParaRPr>
          </a:p>
        </p:txBody>
      </p:sp>
    </p:spTree>
    <p:extLst>
      <p:ext uri="{BB962C8B-B14F-4D97-AF65-F5344CB8AC3E}">
        <p14:creationId xmlns:p14="http://schemas.microsoft.com/office/powerpoint/2010/main" val="31062387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altLang="zh-CN"/>
              <a:t>Don’t care </a:t>
            </a:r>
            <a:r>
              <a:rPr lang="zh-CN" altLang="en-US"/>
              <a:t>无关项</a:t>
            </a:r>
            <a:endParaRPr lang="en-US" altLang="zh-CN"/>
          </a:p>
        </p:txBody>
      </p:sp>
      <p:sp>
        <p:nvSpPr>
          <p:cNvPr id="95235" name="Rectangle 3"/>
          <p:cNvSpPr>
            <a:spLocks noGrp="1" noChangeArrowheads="1"/>
          </p:cNvSpPr>
          <p:nvPr>
            <p:ph idx="1"/>
          </p:nvPr>
        </p:nvSpPr>
        <p:spPr/>
        <p:txBody>
          <a:bodyPr/>
          <a:lstStyle/>
          <a:p>
            <a:pPr eaLnBrk="1" hangingPunct="1"/>
            <a:r>
              <a:rPr lang="zh-CN" altLang="en-US" sz="2800" dirty="0"/>
              <a:t>一些例子</a:t>
            </a:r>
            <a:endParaRPr lang="en-US" altLang="zh-CN" sz="2800" dirty="0"/>
          </a:p>
          <a:p>
            <a:pPr lvl="1" eaLnBrk="1" hangingPunct="1"/>
            <a:r>
              <a:rPr lang="en-US" altLang="zh-CN" sz="2800" dirty="0"/>
              <a:t>BCD</a:t>
            </a:r>
            <a:r>
              <a:rPr lang="zh-CN" altLang="en-US" sz="2800" dirty="0"/>
              <a:t>累加电路</a:t>
            </a:r>
            <a:endParaRPr lang="en-US" altLang="zh-CN" sz="2800" dirty="0"/>
          </a:p>
          <a:p>
            <a:pPr lvl="1" eaLnBrk="1" hangingPunct="1"/>
            <a:r>
              <a:rPr lang="zh-CN" altLang="en-US" sz="2800" dirty="0"/>
              <a:t>十进制数字到七段显示译码电路</a:t>
            </a:r>
            <a:endParaRPr lang="en-US" altLang="zh-CN" sz="2800" dirty="0"/>
          </a:p>
          <a:p>
            <a:pPr lvl="1" eaLnBrk="1" hangingPunct="1"/>
            <a:r>
              <a:rPr lang="zh-CN" altLang="en-US" sz="2800" dirty="0"/>
              <a:t>输入取值组合</a:t>
            </a:r>
            <a:r>
              <a:rPr lang="en-US" altLang="zh-CN" sz="2800" dirty="0"/>
              <a:t>1010~1111</a:t>
            </a:r>
            <a:r>
              <a:rPr lang="zh-CN" altLang="en-US" sz="2800" dirty="0"/>
              <a:t>在实际电路中不出现</a:t>
            </a:r>
            <a:endParaRPr lang="en-US" altLang="zh-CN" sz="2800" dirty="0"/>
          </a:p>
          <a:p>
            <a:pPr hangingPunct="1"/>
            <a:r>
              <a:rPr lang="en-US" altLang="zh-CN" sz="2800" dirty="0">
                <a:solidFill>
                  <a:srgbClr val="3333FF"/>
                </a:solidFill>
              </a:rPr>
              <a:t>D</a:t>
            </a:r>
            <a:r>
              <a:rPr lang="zh-CN" altLang="en-US" sz="2800" dirty="0"/>
              <a:t>代表无关项表示的最大项</a:t>
            </a:r>
            <a:endParaRPr lang="en-US" altLang="zh-CN" sz="2800" dirty="0"/>
          </a:p>
          <a:p>
            <a:pPr eaLnBrk="1" hangingPunct="1"/>
            <a:r>
              <a:rPr lang="en-US" altLang="zh-CN" sz="2800" dirty="0">
                <a:solidFill>
                  <a:srgbClr val="3333FF"/>
                </a:solidFill>
              </a:rPr>
              <a:t>d</a:t>
            </a:r>
            <a:r>
              <a:rPr lang="zh-CN" altLang="en-US" sz="2800" dirty="0"/>
              <a:t>代表无关项表示的最小项</a:t>
            </a:r>
            <a:endParaRPr lang="en-US" altLang="zh-CN" sz="2800" dirty="0"/>
          </a:p>
          <a:p>
            <a:pPr eaLnBrk="1" hangingPunct="1"/>
            <a:endParaRPr lang="en-US" altLang="zh-CN" sz="2800" dirty="0"/>
          </a:p>
          <a:p>
            <a:pPr eaLnBrk="1" hangingPunct="1"/>
            <a:endParaRPr lang="en-US" altLang="zh-CN" sz="2800" dirty="0"/>
          </a:p>
        </p:txBody>
      </p:sp>
      <p:sp>
        <p:nvSpPr>
          <p:cNvPr id="2" name="灯片编号占位符 1">
            <a:extLst>
              <a:ext uri="{FF2B5EF4-FFF2-40B4-BE49-F238E27FC236}">
                <a16:creationId xmlns:a16="http://schemas.microsoft.com/office/drawing/2014/main" id="{578A4E14-CF91-C06A-55A4-F4CF74A280DB}"/>
              </a:ext>
            </a:extLst>
          </p:cNvPr>
          <p:cNvSpPr>
            <a:spLocks noGrp="1"/>
          </p:cNvSpPr>
          <p:nvPr>
            <p:ph type="sldNum" sz="quarter" idx="12"/>
          </p:nvPr>
        </p:nvSpPr>
        <p:spPr/>
        <p:txBody>
          <a:bodyPr/>
          <a:lstStyle/>
          <a:p>
            <a:fld id="{14659731-6BD7-46E7-8D3C-2F3AC07E20B1}" type="slidenum">
              <a:rPr lang="en-US" altLang="zh-CN" smtClean="0"/>
              <a:pPr/>
              <a:t>99</a:t>
            </a:fld>
            <a:endParaRPr lang="en-US" altLang="zh-CN" dirty="0"/>
          </a:p>
        </p:txBody>
      </p:sp>
      <p:pic>
        <p:nvPicPr>
          <p:cNvPr id="5" name="图片 4">
            <a:extLst>
              <a:ext uri="{FF2B5EF4-FFF2-40B4-BE49-F238E27FC236}">
                <a16:creationId xmlns:a16="http://schemas.microsoft.com/office/drawing/2014/main" id="{52904536-DC00-FC7A-0629-A25B0C0AE3C9}"/>
              </a:ext>
            </a:extLst>
          </p:cNvPr>
          <p:cNvPicPr>
            <a:picLocks noChangeAspect="1"/>
          </p:cNvPicPr>
          <p:nvPr/>
        </p:nvPicPr>
        <p:blipFill>
          <a:blip r:embed="rId3"/>
          <a:stretch>
            <a:fillRect/>
          </a:stretch>
        </p:blipFill>
        <p:spPr>
          <a:xfrm>
            <a:off x="6537954" y="1916832"/>
            <a:ext cx="922412" cy="1059066"/>
          </a:xfrm>
          <a:prstGeom prst="rect">
            <a:avLst/>
          </a:prstGeom>
        </p:spPr>
      </p:pic>
    </p:spTree>
    <p:extLst>
      <p:ext uri="{BB962C8B-B14F-4D97-AF65-F5344CB8AC3E}">
        <p14:creationId xmlns:p14="http://schemas.microsoft.com/office/powerpoint/2010/main" val="7693732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p:txBody>
          <a:bodyPr/>
          <a:lstStyle/>
          <a:p>
            <a:pPr marL="342900" indent="-342900" eaLnBrk="1" hangingPunct="1"/>
            <a:r>
              <a:rPr lang="en-US" altLang="zh-CN" dirty="0"/>
              <a:t>BCD</a:t>
            </a:r>
            <a:r>
              <a:rPr lang="zh-CN" altLang="en-US" dirty="0"/>
              <a:t>累加电路的真值表</a:t>
            </a:r>
            <a:endParaRPr lang="en-US" altLang="zh-CN" b="1" dirty="0"/>
          </a:p>
        </p:txBody>
      </p:sp>
      <p:graphicFrame>
        <p:nvGraphicFramePr>
          <p:cNvPr id="687107" name="Group 3"/>
          <p:cNvGraphicFramePr>
            <a:graphicFrameLocks noGrp="1"/>
          </p:cNvGraphicFramePr>
          <p:nvPr>
            <p:ph idx="1"/>
            <p:extLst>
              <p:ext uri="{D42A27DB-BD31-4B8C-83A1-F6EECF244321}">
                <p14:modId xmlns:p14="http://schemas.microsoft.com/office/powerpoint/2010/main" val="4100842285"/>
              </p:ext>
            </p:extLst>
          </p:nvPr>
        </p:nvGraphicFramePr>
        <p:xfrm>
          <a:off x="457200" y="1808820"/>
          <a:ext cx="8229589" cy="4480560"/>
        </p:xfrm>
        <a:graphic>
          <a:graphicData uri="http://schemas.openxmlformats.org/drawingml/2006/table">
            <a:tbl>
              <a:tblPr>
                <a:tableStyleId>{ED083AE6-46FA-4A59-8FB0-9F97EB10719F}</a:tableStyleId>
              </a:tblPr>
              <a:tblGrid>
                <a:gridCol w="514350">
                  <a:extLst>
                    <a:ext uri="{9D8B030D-6E8A-4147-A177-3AD203B41FA5}">
                      <a16:colId xmlns:a16="http://schemas.microsoft.com/office/drawing/2014/main" val="20000"/>
                    </a:ext>
                  </a:extLst>
                </a:gridCol>
                <a:gridCol w="514349">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49">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49">
                  <a:extLst>
                    <a:ext uri="{9D8B030D-6E8A-4147-A177-3AD203B41FA5}">
                      <a16:colId xmlns:a16="http://schemas.microsoft.com/office/drawing/2014/main" val="20005"/>
                    </a:ext>
                  </a:extLst>
                </a:gridCol>
                <a:gridCol w="515790">
                  <a:extLst>
                    <a:ext uri="{9D8B030D-6E8A-4147-A177-3AD203B41FA5}">
                      <a16:colId xmlns:a16="http://schemas.microsoft.com/office/drawing/2014/main" val="20006"/>
                    </a:ext>
                  </a:extLst>
                </a:gridCol>
                <a:gridCol w="512908">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gridCol w="515790">
                  <a:extLst>
                    <a:ext uri="{9D8B030D-6E8A-4147-A177-3AD203B41FA5}">
                      <a16:colId xmlns:a16="http://schemas.microsoft.com/office/drawing/2014/main" val="20009"/>
                    </a:ext>
                  </a:extLst>
                </a:gridCol>
                <a:gridCol w="512908">
                  <a:extLst>
                    <a:ext uri="{9D8B030D-6E8A-4147-A177-3AD203B41FA5}">
                      <a16:colId xmlns:a16="http://schemas.microsoft.com/office/drawing/2014/main" val="20010"/>
                    </a:ext>
                  </a:extLst>
                </a:gridCol>
                <a:gridCol w="515790">
                  <a:extLst>
                    <a:ext uri="{9D8B030D-6E8A-4147-A177-3AD203B41FA5}">
                      <a16:colId xmlns:a16="http://schemas.microsoft.com/office/drawing/2014/main" val="20011"/>
                    </a:ext>
                  </a:extLst>
                </a:gridCol>
                <a:gridCol w="512908">
                  <a:extLst>
                    <a:ext uri="{9D8B030D-6E8A-4147-A177-3AD203B41FA5}">
                      <a16:colId xmlns:a16="http://schemas.microsoft.com/office/drawing/2014/main" val="20012"/>
                    </a:ext>
                  </a:extLst>
                </a:gridCol>
                <a:gridCol w="514349">
                  <a:extLst>
                    <a:ext uri="{9D8B030D-6E8A-4147-A177-3AD203B41FA5}">
                      <a16:colId xmlns:a16="http://schemas.microsoft.com/office/drawing/2014/main" val="20013"/>
                    </a:ext>
                  </a:extLst>
                </a:gridCol>
                <a:gridCol w="514350">
                  <a:extLst>
                    <a:ext uri="{9D8B030D-6E8A-4147-A177-3AD203B41FA5}">
                      <a16:colId xmlns:a16="http://schemas.microsoft.com/office/drawing/2014/main" val="20014"/>
                    </a:ext>
                  </a:extLst>
                </a:gridCol>
                <a:gridCol w="514349">
                  <a:extLst>
                    <a:ext uri="{9D8B030D-6E8A-4147-A177-3AD203B41FA5}">
                      <a16:colId xmlns:a16="http://schemas.microsoft.com/office/drawing/2014/main" val="20015"/>
                    </a:ext>
                  </a:extLst>
                </a:gridCol>
              </a:tblGrid>
              <a:tr h="272637">
                <a:tc grid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Input</a:t>
                      </a:r>
                    </a:p>
                  </a:txBody>
                  <a:tcPr horzOverflow="overflow">
                    <a:solidFill>
                      <a:srgbClr val="B4C6E8"/>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grid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Output</a:t>
                      </a:r>
                    </a:p>
                  </a:txBody>
                  <a:tcPr horzOverflow="overflow">
                    <a:lnR w="38100" cap="flat" cmpd="sng" algn="ctr">
                      <a:solidFill>
                        <a:schemeClr val="tx1"/>
                      </a:solidFill>
                      <a:prstDash val="solid"/>
                      <a:round/>
                      <a:headEnd type="none" w="med" len="med"/>
                      <a:tailEnd type="none" w="med" len="med"/>
                    </a:lnR>
                    <a:solidFill>
                      <a:srgbClr val="B4C6E8"/>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2500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2500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25000" dirty="0">
                        <a:ln>
                          <a:noFill/>
                        </a:ln>
                        <a:solidFill>
                          <a:schemeClr val="tx2"/>
                        </a:solidFill>
                        <a:effectLst/>
                        <a:latin typeface="Arial" charset="0"/>
                        <a:ea typeface="宋体" pitchFamily="2" charset="-122"/>
                      </a:endParaRPr>
                    </a:p>
                  </a:txBody>
                  <a:tcPr horzOverflow="overflow">
                    <a:lnR w="38100" cap="flat" cmpd="sng" algn="ctr">
                      <a:solidFill>
                        <a:schemeClr val="tx1"/>
                      </a:solidFill>
                      <a:prstDash val="solid"/>
                      <a:round/>
                      <a:headEnd type="none" w="med" len="med"/>
                      <a:tailEnd type="none" w="med" len="med"/>
                    </a:lnR>
                    <a:solidFill>
                      <a:schemeClr val="accent1">
                        <a:lumMod val="20000"/>
                        <a:lumOff val="80000"/>
                      </a:schemeClr>
                    </a:solidFill>
                  </a:tcPr>
                </a:tc>
                <a:tc grid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Input</a:t>
                      </a:r>
                    </a:p>
                  </a:txBody>
                  <a:tcPr horzOverflow="overflow">
                    <a:lnL w="38100" cap="flat" cmpd="sng" algn="ctr">
                      <a:solidFill>
                        <a:schemeClr val="tx1"/>
                      </a:solidFill>
                      <a:prstDash val="solid"/>
                      <a:round/>
                      <a:headEnd type="none" w="med" len="med"/>
                      <a:tailEnd type="none" w="med" len="med"/>
                    </a:lnL>
                    <a:solidFill>
                      <a:srgbClr val="B4C6E8"/>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grid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黑体" panose="02010609060101010101" pitchFamily="49" charset="-122"/>
                        </a:rPr>
                        <a:t>Output</a:t>
                      </a:r>
                    </a:p>
                  </a:txBody>
                  <a:tcPr horzOverflow="overflow">
                    <a:solidFill>
                      <a:srgbClr val="B4C6E8"/>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2500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2500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altLang="zh-CN" sz="2800" b="1" i="0" u="none" strike="noStrike" cap="none" normalizeH="0" baseline="-25000" dirty="0">
                        <a:ln>
                          <a:noFill/>
                        </a:ln>
                        <a:solidFill>
                          <a:schemeClr val="tx2"/>
                        </a:solidFill>
                        <a:effectLst/>
                        <a:latin typeface="Arial" charset="0"/>
                        <a:ea typeface="宋体" pitchFamily="2" charset="-122"/>
                      </a:endParaRPr>
                    </a:p>
                  </a:txBody>
                  <a:tcPr horzOverflow="overflow">
                    <a:solidFill>
                      <a:schemeClr val="accent1">
                        <a:lumMod val="20000"/>
                        <a:lumOff val="80000"/>
                      </a:schemeClr>
                    </a:solidFill>
                  </a:tcPr>
                </a:tc>
                <a:extLst>
                  <a:ext uri="{0D108BD9-81ED-4DB2-BD59-A6C34878D82A}">
                    <a16:rowId xmlns:a16="http://schemas.microsoft.com/office/drawing/2014/main" val="4161140155"/>
                  </a:ext>
                </a:extLst>
              </a:tr>
              <a:tr h="35410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A</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B</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C</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D</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Y</a:t>
                      </a:r>
                      <a:r>
                        <a:rPr kumimoji="0" lang="en-US" altLang="zh-CN" sz="2400" u="none" strike="noStrike" cap="none" normalizeH="0" baseline="-25000" dirty="0">
                          <a:ln>
                            <a:noFill/>
                          </a:ln>
                          <a:effectLst/>
                        </a:rPr>
                        <a:t>8</a:t>
                      </a:r>
                      <a:endParaRPr kumimoji="0" lang="en-US" altLang="zh-CN" sz="2400" b="1" i="0" u="none" strike="noStrike" cap="none" normalizeH="0" baseline="-2500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Y</a:t>
                      </a:r>
                      <a:r>
                        <a:rPr kumimoji="0" lang="en-US" altLang="zh-CN" sz="2400" u="none" strike="noStrike" cap="none" normalizeH="0" baseline="-25000" dirty="0">
                          <a:ln>
                            <a:noFill/>
                          </a:ln>
                          <a:effectLst/>
                        </a:rPr>
                        <a:t>4</a:t>
                      </a:r>
                      <a:endParaRPr kumimoji="0" lang="en-US" altLang="zh-CN" sz="2400" b="1" i="0" u="none" strike="noStrike" cap="none" normalizeH="0" baseline="-2500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Y</a:t>
                      </a:r>
                      <a:r>
                        <a:rPr kumimoji="0" lang="en-US" altLang="zh-CN" sz="2400" u="none" strike="noStrike" cap="none" normalizeH="0" baseline="-25000" dirty="0">
                          <a:ln>
                            <a:noFill/>
                          </a:ln>
                          <a:effectLst/>
                        </a:rPr>
                        <a:t>2</a:t>
                      </a:r>
                      <a:endParaRPr kumimoji="0" lang="en-US" altLang="zh-CN" sz="2400" b="1" i="0" u="none" strike="noStrike" cap="none" normalizeH="0" baseline="-2500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Y</a:t>
                      </a:r>
                      <a:r>
                        <a:rPr kumimoji="0" lang="en-US" altLang="zh-CN" sz="2400" u="none" strike="noStrike" cap="none" normalizeH="0" baseline="-25000" dirty="0">
                          <a:ln>
                            <a:noFill/>
                          </a:ln>
                          <a:effectLst/>
                        </a:rPr>
                        <a:t>1</a:t>
                      </a:r>
                      <a:endParaRPr kumimoji="0" lang="en-US" altLang="zh-CN" sz="2400" b="1" i="0" u="none" strike="noStrike" cap="none" normalizeH="0" baseline="-2500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A</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B</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C</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D</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Y</a:t>
                      </a:r>
                      <a:r>
                        <a:rPr kumimoji="0" lang="en-US" altLang="zh-CN" sz="2400" u="none" strike="noStrike" cap="none" normalizeH="0" baseline="-25000" dirty="0">
                          <a:ln>
                            <a:noFill/>
                          </a:ln>
                          <a:effectLst/>
                        </a:rPr>
                        <a:t>8</a:t>
                      </a:r>
                      <a:endParaRPr kumimoji="0" lang="en-US" altLang="zh-CN" sz="2400" b="1" i="0" u="none" strike="noStrike" cap="none" normalizeH="0" baseline="-2500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Y</a:t>
                      </a:r>
                      <a:r>
                        <a:rPr kumimoji="0" lang="en-US" altLang="zh-CN" sz="2400" u="none" strike="noStrike" cap="none" normalizeH="0" baseline="-25000" dirty="0">
                          <a:ln>
                            <a:noFill/>
                          </a:ln>
                          <a:effectLst/>
                        </a:rPr>
                        <a:t>4</a:t>
                      </a:r>
                      <a:endParaRPr kumimoji="0" lang="en-US" altLang="zh-CN" sz="2400" b="1" i="0" u="none" strike="noStrike" cap="none" normalizeH="0" baseline="-2500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Y</a:t>
                      </a:r>
                      <a:r>
                        <a:rPr kumimoji="0" lang="en-US" altLang="zh-CN" sz="2400" u="none" strike="noStrike" cap="none" normalizeH="0" baseline="-25000" dirty="0">
                          <a:ln>
                            <a:noFill/>
                          </a:ln>
                          <a:effectLst/>
                        </a:rPr>
                        <a:t>2</a:t>
                      </a:r>
                      <a:endParaRPr kumimoji="0" lang="en-US" altLang="zh-CN" sz="2400" b="1" i="0" u="none" strike="noStrike" cap="none" normalizeH="0" baseline="-25000" dirty="0">
                        <a:ln>
                          <a:noFill/>
                        </a:ln>
                        <a:solidFill>
                          <a:schemeClr val="tx2"/>
                        </a:solidFill>
                        <a:effectLst/>
                        <a:latin typeface="Arial" charset="0"/>
                        <a:ea typeface="黑体" panose="02010609060101010101" pitchFamily="49" charset="-122"/>
                      </a:endParaRPr>
                    </a:p>
                  </a:txBody>
                  <a:tcPr horzOverflow="overflow">
                    <a:solidFill>
                      <a:srgbClr val="B4C6E8"/>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Y</a:t>
                      </a:r>
                      <a:r>
                        <a:rPr kumimoji="0" lang="en-US" altLang="zh-CN" sz="2400" u="none" strike="noStrike" cap="none" normalizeH="0" baseline="-25000" dirty="0">
                          <a:ln>
                            <a:noFill/>
                          </a:ln>
                          <a:effectLst/>
                        </a:rPr>
                        <a:t>1</a:t>
                      </a:r>
                      <a:endParaRPr kumimoji="0" lang="en-US" altLang="zh-CN" sz="2400" b="1" i="0" u="none" strike="noStrike" cap="none" normalizeH="0" baseline="-25000" dirty="0">
                        <a:ln>
                          <a:noFill/>
                        </a:ln>
                        <a:solidFill>
                          <a:schemeClr val="tx2"/>
                        </a:solidFill>
                        <a:effectLst/>
                        <a:latin typeface="Arial" charset="0"/>
                        <a:ea typeface="黑体" panose="02010609060101010101" pitchFamily="49" charset="-122"/>
                      </a:endParaRPr>
                    </a:p>
                  </a:txBody>
                  <a:tcPr horzOverflow="overflow">
                    <a:solidFill>
                      <a:srgbClr val="B4C6E8"/>
                    </a:solidFill>
                  </a:tcPr>
                </a:tc>
                <a:extLst>
                  <a:ext uri="{0D108BD9-81ED-4DB2-BD59-A6C34878D82A}">
                    <a16:rowId xmlns:a16="http://schemas.microsoft.com/office/drawing/2014/main" val="10000"/>
                  </a:ext>
                </a:extLst>
              </a:tr>
              <a:tr h="34079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extLst>
                  <a:ext uri="{0D108BD9-81ED-4DB2-BD59-A6C34878D82A}">
                    <a16:rowId xmlns:a16="http://schemas.microsoft.com/office/drawing/2014/main" val="10001"/>
                  </a:ext>
                </a:extLst>
              </a:tr>
              <a:tr h="34079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extLst>
                  <a:ext uri="{0D108BD9-81ED-4DB2-BD59-A6C34878D82A}">
                    <a16:rowId xmlns:a16="http://schemas.microsoft.com/office/drawing/2014/main" val="10002"/>
                  </a:ext>
                </a:extLst>
              </a:tr>
              <a:tr h="34079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0</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0</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extLst>
                  <a:ext uri="{0D108BD9-81ED-4DB2-BD59-A6C34878D82A}">
                    <a16:rowId xmlns:a16="http://schemas.microsoft.com/office/drawing/2014/main" val="10003"/>
                  </a:ext>
                </a:extLst>
              </a:tr>
              <a:tr h="34079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0</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extLst>
                  <a:ext uri="{0D108BD9-81ED-4DB2-BD59-A6C34878D82A}">
                    <a16:rowId xmlns:a16="http://schemas.microsoft.com/office/drawing/2014/main" val="10004"/>
                  </a:ext>
                </a:extLst>
              </a:tr>
              <a:tr h="34079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0</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0</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extLst>
                  <a:ext uri="{0D108BD9-81ED-4DB2-BD59-A6C34878D82A}">
                    <a16:rowId xmlns:a16="http://schemas.microsoft.com/office/drawing/2014/main" val="10005"/>
                  </a:ext>
                </a:extLst>
              </a:tr>
              <a:tr h="34079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0</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extLst>
                  <a:ext uri="{0D108BD9-81ED-4DB2-BD59-A6C34878D82A}">
                    <a16:rowId xmlns:a16="http://schemas.microsoft.com/office/drawing/2014/main" val="10006"/>
                  </a:ext>
                </a:extLst>
              </a:tr>
              <a:tr h="34079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0</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extLst>
                  <a:ext uri="{0D108BD9-81ED-4DB2-BD59-A6C34878D82A}">
                    <a16:rowId xmlns:a16="http://schemas.microsoft.com/office/drawing/2014/main" val="10007"/>
                  </a:ext>
                </a:extLst>
              </a:tr>
              <a:tr h="34079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0"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1</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effectLst/>
                          <a:ea typeface="黑体" panose="02010609060101010101" pitchFamily="49" charset="-122"/>
                        </a:rPr>
                        <a:t>0</a:t>
                      </a:r>
                      <a:endParaRPr kumimoji="0" lang="en-US" altLang="zh-CN" sz="2400" b="1" i="1" u="none" strike="noStrike" cap="none" normalizeH="0" baseline="0" dirty="0">
                        <a:ln>
                          <a:noFill/>
                        </a:ln>
                        <a:solidFill>
                          <a:schemeClr val="tx2"/>
                        </a:solidFill>
                        <a:effectLst/>
                        <a:latin typeface="Arial" charset="0"/>
                        <a:ea typeface="黑体" panose="02010609060101010101" pitchFamily="49" charset="-122"/>
                      </a:endParaRPr>
                    </a:p>
                  </a:txBody>
                  <a:tcPr horzOverflow="overflow">
                    <a:lnR w="38100" cap="flat" cmpd="sng" algn="ctr">
                      <a:solidFill>
                        <a:schemeClr val="tx1"/>
                      </a:solidFill>
                      <a:prstDash val="solid"/>
                      <a:round/>
                      <a:headEnd type="none" w="med" len="med"/>
                      <a:tailEnd type="none" w="med" len="med"/>
                    </a:ln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lnL w="38100" cap="flat" cmpd="sng" algn="ctr">
                      <a:solidFill>
                        <a:schemeClr val="tx1"/>
                      </a:solidFill>
                      <a:prstDash val="solid"/>
                      <a:round/>
                      <a:headEnd type="none" w="med" len="med"/>
                      <a:tailEnd type="none" w="med" len="med"/>
                    </a:ln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1</a:t>
                      </a:r>
                      <a:endParaRPr kumimoji="0" lang="en-US" altLang="zh-CN" sz="2400" b="1" i="0"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400" u="none" strike="noStrike" cap="none" normalizeH="0" baseline="0" dirty="0">
                          <a:ln>
                            <a:noFill/>
                          </a:ln>
                          <a:solidFill>
                            <a:srgbClr val="3333FF"/>
                          </a:solidFill>
                          <a:effectLst/>
                          <a:ea typeface="黑体" panose="02010609060101010101" pitchFamily="49" charset="-122"/>
                        </a:rPr>
                        <a:t>x</a:t>
                      </a:r>
                      <a:endParaRPr kumimoji="0" lang="en-US" altLang="zh-CN" sz="2400" b="1" i="1" u="none" strike="noStrike" cap="none" normalizeH="0" baseline="0" dirty="0">
                        <a:ln>
                          <a:noFill/>
                        </a:ln>
                        <a:solidFill>
                          <a:srgbClr val="3333FF"/>
                        </a:solidFill>
                        <a:effectLst/>
                        <a:latin typeface="Arial" charset="0"/>
                        <a:ea typeface="黑体" panose="02010609060101010101" pitchFamily="49" charset="-122"/>
                      </a:endParaRPr>
                    </a:p>
                  </a:txBody>
                  <a:tcPr horzOverflow="overflow"/>
                </a:tc>
                <a:extLst>
                  <a:ext uri="{0D108BD9-81ED-4DB2-BD59-A6C34878D82A}">
                    <a16:rowId xmlns:a16="http://schemas.microsoft.com/office/drawing/2014/main" val="10008"/>
                  </a:ext>
                </a:extLst>
              </a:tr>
            </a:tbl>
          </a:graphicData>
        </a:graphic>
      </p:graphicFrame>
      <p:sp>
        <p:nvSpPr>
          <p:cNvPr id="2" name="灯片编号占位符 1">
            <a:extLst>
              <a:ext uri="{FF2B5EF4-FFF2-40B4-BE49-F238E27FC236}">
                <a16:creationId xmlns:a16="http://schemas.microsoft.com/office/drawing/2014/main" id="{7BE50BCC-BA56-2155-7E33-6E7850909D62}"/>
              </a:ext>
            </a:extLst>
          </p:cNvPr>
          <p:cNvSpPr>
            <a:spLocks noGrp="1"/>
          </p:cNvSpPr>
          <p:nvPr>
            <p:ph type="sldNum" sz="quarter" idx="12"/>
          </p:nvPr>
        </p:nvSpPr>
        <p:spPr/>
        <p:txBody>
          <a:bodyPr/>
          <a:lstStyle/>
          <a:p>
            <a:pPr>
              <a:defRPr/>
            </a:pPr>
            <a:fld id="{2EA1E184-7EFF-4B48-9C82-609CF6442F2C}" type="slidenum">
              <a:rPr lang="zh-CN" altLang="en-US" smtClean="0"/>
              <a:pPr>
                <a:defRPr/>
              </a:pPr>
              <a:t>100</a:t>
            </a:fld>
            <a:endParaRPr lang="en-US" altLang="zh-CN"/>
          </a:p>
        </p:txBody>
      </p:sp>
      <p:sp>
        <p:nvSpPr>
          <p:cNvPr id="5" name="TextBox 4">
            <a:extLst>
              <a:ext uri="{FF2B5EF4-FFF2-40B4-BE49-F238E27FC236}">
                <a16:creationId xmlns:a16="http://schemas.microsoft.com/office/drawing/2014/main" id="{7E4F54D1-0741-744D-A8E4-F0C235C7AA56}"/>
              </a:ext>
            </a:extLst>
          </p:cNvPr>
          <p:cNvSpPr txBox="1"/>
          <p:nvPr/>
        </p:nvSpPr>
        <p:spPr>
          <a:xfrm>
            <a:off x="1367644" y="1299832"/>
            <a:ext cx="5888984" cy="461665"/>
          </a:xfrm>
          <a:prstGeom prst="rect">
            <a:avLst/>
          </a:prstGeom>
          <a:noFill/>
        </p:spPr>
        <p:txBody>
          <a:bodyPr wrap="none" rtlCol="0">
            <a:spAutoFit/>
          </a:bodyPr>
          <a:lstStyle/>
          <a:p>
            <a:r>
              <a:rPr lang="en-CN" sz="2400" b="1" dirty="0">
                <a:ea typeface="黑体" panose="02010609060101010101" pitchFamily="49" charset="-122"/>
              </a:rPr>
              <a:t>Function: Y</a:t>
            </a:r>
            <a:r>
              <a:rPr lang="en-CN" sz="2400" b="1" baseline="-25000" dirty="0">
                <a:ea typeface="黑体" panose="02010609060101010101" pitchFamily="49" charset="-122"/>
              </a:rPr>
              <a:t>8</a:t>
            </a:r>
            <a:r>
              <a:rPr lang="en-CN" sz="2400" b="1" dirty="0">
                <a:ea typeface="黑体" panose="02010609060101010101" pitchFamily="49" charset="-122"/>
              </a:rPr>
              <a:t>Y</a:t>
            </a:r>
            <a:r>
              <a:rPr lang="en-CN" sz="2400" b="1" baseline="-25000" dirty="0">
                <a:ea typeface="黑体" panose="02010609060101010101" pitchFamily="49" charset="-122"/>
              </a:rPr>
              <a:t>4</a:t>
            </a:r>
            <a:r>
              <a:rPr lang="en-CN" sz="2400" b="1" dirty="0">
                <a:ea typeface="黑体" panose="02010609060101010101" pitchFamily="49" charset="-122"/>
              </a:rPr>
              <a:t>Y</a:t>
            </a:r>
            <a:r>
              <a:rPr lang="en-CN" sz="2400" b="1" baseline="-25000" dirty="0">
                <a:ea typeface="黑体" panose="02010609060101010101" pitchFamily="49" charset="-122"/>
              </a:rPr>
              <a:t>2</a:t>
            </a:r>
            <a:r>
              <a:rPr lang="en-CN" sz="2400" b="1" dirty="0">
                <a:ea typeface="黑体" panose="02010609060101010101" pitchFamily="49" charset="-122"/>
              </a:rPr>
              <a:t>Y</a:t>
            </a:r>
            <a:r>
              <a:rPr lang="en-CN" sz="2400" b="1" baseline="-25000" dirty="0">
                <a:ea typeface="黑体" panose="02010609060101010101" pitchFamily="49" charset="-122"/>
              </a:rPr>
              <a:t>1</a:t>
            </a:r>
            <a:r>
              <a:rPr lang="en-CN" sz="2400" b="1" dirty="0">
                <a:ea typeface="黑体" panose="02010609060101010101" pitchFamily="49" charset="-122"/>
              </a:rPr>
              <a:t>=ABCD+1</a:t>
            </a:r>
            <a:r>
              <a:rPr lang="zh-CN" altLang="en-US" sz="2400" b="1" dirty="0">
                <a:ea typeface="黑体" panose="02010609060101010101" pitchFamily="49" charset="-122"/>
              </a:rPr>
              <a:t> </a:t>
            </a:r>
            <a:r>
              <a:rPr lang="en-US" altLang="zh-CN" sz="2400" b="1" dirty="0">
                <a:ea typeface="黑体" panose="02010609060101010101" pitchFamily="49" charset="-122"/>
              </a:rPr>
              <a:t>(</a:t>
            </a:r>
            <a:r>
              <a:rPr lang="zh-CN" altLang="en-CN" sz="2400" b="1" dirty="0">
                <a:ea typeface="黑体" panose="02010609060101010101" pitchFamily="49" charset="-122"/>
              </a:rPr>
              <a:t>循环</a:t>
            </a:r>
            <a:r>
              <a:rPr lang="zh-CN" altLang="en-US" sz="2400" b="1" dirty="0">
                <a:ea typeface="黑体" panose="02010609060101010101" pitchFamily="49" charset="-122"/>
              </a:rPr>
              <a:t>表示</a:t>
            </a:r>
            <a:r>
              <a:rPr lang="en-US" altLang="zh-CN" sz="2400" b="1" dirty="0">
                <a:ea typeface="黑体" panose="02010609060101010101" pitchFamily="49" charset="-122"/>
              </a:rPr>
              <a:t>)</a:t>
            </a:r>
            <a:endParaRPr lang="en-CN" sz="2400" b="1" dirty="0">
              <a:ea typeface="黑体" panose="02010609060101010101" pitchFamily="49" charset="-122"/>
            </a:endParaRPr>
          </a:p>
        </p:txBody>
      </p:sp>
    </p:spTree>
    <p:extLst>
      <p:ext uri="{BB962C8B-B14F-4D97-AF65-F5344CB8AC3E}">
        <p14:creationId xmlns:p14="http://schemas.microsoft.com/office/powerpoint/2010/main" val="170617221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1" name="Rectangle 3"/>
          <p:cNvSpPr>
            <a:spLocks noGrp="1" noChangeArrowheads="1"/>
          </p:cNvSpPr>
          <p:nvPr>
            <p:ph type="body" sz="half" idx="1"/>
          </p:nvPr>
        </p:nvSpPr>
        <p:spPr>
          <a:xfrm>
            <a:off x="354359" y="1447783"/>
            <a:ext cx="8394106" cy="1447800"/>
          </a:xfrm>
        </p:spPr>
        <p:txBody>
          <a:bodyPr/>
          <a:lstStyle/>
          <a:p>
            <a:pPr eaLnBrk="1" hangingPunct="1">
              <a:lnSpc>
                <a:spcPct val="90000"/>
              </a:lnSpc>
            </a:pPr>
            <a:r>
              <a:rPr lang="en-US" altLang="zh-CN" sz="2800" dirty="0">
                <a:solidFill>
                  <a:srgbClr val="3333FF"/>
                </a:solidFill>
              </a:rPr>
              <a:t>Y</a:t>
            </a:r>
            <a:r>
              <a:rPr lang="en-US" altLang="zh-CN" sz="2800" baseline="-25000" dirty="0">
                <a:solidFill>
                  <a:srgbClr val="3333FF"/>
                </a:solidFill>
              </a:rPr>
              <a:t>1</a:t>
            </a:r>
            <a:r>
              <a:rPr lang="en-US" altLang="zh-CN" sz="2800" dirty="0">
                <a:solidFill>
                  <a:srgbClr val="3333FF"/>
                </a:solidFill>
              </a:rPr>
              <a:t>=D’</a:t>
            </a:r>
          </a:p>
          <a:p>
            <a:pPr hangingPunct="1">
              <a:lnSpc>
                <a:spcPct val="90000"/>
              </a:lnSpc>
            </a:pPr>
            <a:r>
              <a:rPr lang="zh-CN" altLang="en-US" sz="2800" dirty="0"/>
              <a:t>电路的任何实际实现输入都会产生一定的输出（包括无关项）</a:t>
            </a:r>
            <a:endParaRPr lang="en-US" altLang="zh-CN" sz="2800" dirty="0"/>
          </a:p>
        </p:txBody>
      </p:sp>
      <p:graphicFrame>
        <p:nvGraphicFramePr>
          <p:cNvPr id="688132" name="Group 4"/>
          <p:cNvGraphicFramePr>
            <a:graphicFrameLocks noGrp="1"/>
          </p:cNvGraphicFramePr>
          <p:nvPr>
            <p:ph sz="half" idx="2"/>
            <p:extLst>
              <p:ext uri="{D42A27DB-BD31-4B8C-83A1-F6EECF244321}">
                <p14:modId xmlns:p14="http://schemas.microsoft.com/office/powerpoint/2010/main" val="3404280057"/>
              </p:ext>
            </p:extLst>
          </p:nvPr>
        </p:nvGraphicFramePr>
        <p:xfrm>
          <a:off x="3055404" y="3035448"/>
          <a:ext cx="5105400" cy="3417887"/>
        </p:xfrm>
        <a:graphic>
          <a:graphicData uri="http://schemas.openxmlformats.org/drawingml/2006/table">
            <a:tbl>
              <a:tblPr/>
              <a:tblGrid>
                <a:gridCol w="989013">
                  <a:extLst>
                    <a:ext uri="{9D8B030D-6E8A-4147-A177-3AD203B41FA5}">
                      <a16:colId xmlns:a16="http://schemas.microsoft.com/office/drawing/2014/main" val="20000"/>
                    </a:ext>
                  </a:extLst>
                </a:gridCol>
                <a:gridCol w="992187">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tblGrid>
              <a:tr h="103024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6911">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000</a:t>
                      </a:r>
                      <a:r>
                        <a:rPr kumimoji="0" lang="en-US" altLang="zh-CN" sz="2800" b="1" i="0" u="none" strike="noStrike" cap="none" normalizeH="0" baseline="0" dirty="0">
                          <a:ln>
                            <a:noFill/>
                          </a:ln>
                          <a:solidFill>
                            <a:srgbClr val="33CC33"/>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0010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0100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001</a:t>
                      </a:r>
                      <a:r>
                        <a:rPr kumimoji="0" lang="en-US" altLang="zh-CN" sz="2800" b="1" i="0" u="none" strike="noStrike" cap="none" normalizeH="0" baseline="0" dirty="0">
                          <a:ln>
                            <a:noFill/>
                          </a:ln>
                          <a:solidFill>
                            <a:srgbClr val="33CC33"/>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6911">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010</a:t>
                      </a:r>
                      <a:r>
                        <a:rPr kumimoji="0" lang="en-US" altLang="zh-CN" sz="2800" b="1" i="0" u="none" strike="noStrike" cap="none" normalizeH="0" baseline="0" dirty="0">
                          <a:ln>
                            <a:noFill/>
                          </a:ln>
                          <a:solidFill>
                            <a:srgbClr val="33CC33"/>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0110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1000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011</a:t>
                      </a:r>
                      <a:r>
                        <a:rPr kumimoji="0" lang="en-US" altLang="zh-CN" sz="2800" b="1" i="0" u="none" strike="noStrike" cap="none" normalizeH="0" baseline="0" dirty="0">
                          <a:ln>
                            <a:noFill/>
                          </a:ln>
                          <a:solidFill>
                            <a:srgbClr val="33CC33"/>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6911">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rgbClr val="FF3300"/>
                          </a:solidFill>
                          <a:effectLst/>
                          <a:latin typeface="Arial" charset="0"/>
                          <a:ea typeface="黑体" panose="02010609060101010101" pitchFamily="49" charset="-122"/>
                        </a:rPr>
                        <a:t>xxx</a:t>
                      </a:r>
                      <a:r>
                        <a:rPr kumimoji="0" lang="en-US" altLang="zh-CN" sz="2800" b="1" i="0" u="none" strike="noStrike" cap="none" normalizeH="0" baseline="0" dirty="0" err="1">
                          <a:ln>
                            <a:noFill/>
                          </a:ln>
                          <a:solidFill>
                            <a:srgbClr val="33CC33"/>
                          </a:solidFill>
                          <a:effectLst/>
                          <a:latin typeface="Arial" charset="0"/>
                          <a:ea typeface="黑体" panose="02010609060101010101" pitchFamily="49" charset="-122"/>
                        </a:rPr>
                        <a:t>x</a:t>
                      </a:r>
                      <a:endParaRPr kumimoji="0" lang="en-US" altLang="zh-CN" sz="2800" b="1" i="0" u="none" strike="noStrike" cap="none" normalizeH="0" baseline="0" dirty="0">
                        <a:ln>
                          <a:noFill/>
                        </a:ln>
                        <a:solidFill>
                          <a:srgbClr val="33CC33"/>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rgbClr val="FF3300"/>
                          </a:solidFill>
                          <a:effectLst/>
                          <a:latin typeface="Arial" charset="0"/>
                          <a:ea typeface="黑体" panose="02010609060101010101" pitchFamily="49" charset="-122"/>
                        </a:rPr>
                        <a:t>xxxx</a:t>
                      </a:r>
                      <a:endParaRPr kumimoji="0" lang="en-US" altLang="zh-CN" sz="2800" b="1" i="0" u="none" strike="noStrike" cap="none" normalizeH="0" baseline="0" dirty="0">
                        <a:ln>
                          <a:noFill/>
                        </a:ln>
                        <a:solidFill>
                          <a:srgbClr val="FF3300"/>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rgbClr val="FF3300"/>
                          </a:solidFill>
                          <a:effectLst/>
                          <a:latin typeface="Arial" charset="0"/>
                          <a:ea typeface="黑体" panose="02010609060101010101" pitchFamily="49" charset="-122"/>
                        </a:rPr>
                        <a:t>xxxx</a:t>
                      </a:r>
                      <a:endParaRPr kumimoji="0" lang="en-US" altLang="zh-CN" sz="2800" b="1" i="0" u="none" strike="noStrike" cap="none" normalizeH="0" baseline="0" dirty="0">
                        <a:ln>
                          <a:noFill/>
                        </a:ln>
                        <a:solidFill>
                          <a:srgbClr val="FF3300"/>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rgbClr val="FF3300"/>
                          </a:solidFill>
                          <a:effectLst/>
                          <a:latin typeface="Arial" charset="0"/>
                          <a:ea typeface="黑体" panose="02010609060101010101" pitchFamily="49" charset="-122"/>
                        </a:rPr>
                        <a:t>xxx</a:t>
                      </a:r>
                      <a:r>
                        <a:rPr kumimoji="0" lang="en-US" altLang="zh-CN" sz="2800" b="1" i="0" u="none" strike="noStrike" cap="none" normalizeH="0" baseline="0" dirty="0" err="1">
                          <a:ln>
                            <a:noFill/>
                          </a:ln>
                          <a:solidFill>
                            <a:srgbClr val="33CC33"/>
                          </a:solidFill>
                          <a:effectLst/>
                          <a:latin typeface="Arial" charset="0"/>
                          <a:ea typeface="黑体" panose="02010609060101010101" pitchFamily="49" charset="-122"/>
                        </a:rPr>
                        <a:t>x</a:t>
                      </a:r>
                      <a:endParaRPr kumimoji="0" lang="en-US" altLang="zh-CN" sz="2800" b="1" i="0" u="none" strike="noStrike" cap="none" normalizeH="0" baseline="0" dirty="0">
                        <a:ln>
                          <a:noFill/>
                        </a:ln>
                        <a:solidFill>
                          <a:srgbClr val="33CC33"/>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6911">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100</a:t>
                      </a:r>
                      <a:r>
                        <a:rPr kumimoji="0" lang="en-US" altLang="zh-CN" sz="2800" b="1" i="0" u="none" strike="noStrike" cap="none" normalizeH="0" baseline="0" dirty="0">
                          <a:ln>
                            <a:noFill/>
                          </a:ln>
                          <a:solidFill>
                            <a:srgbClr val="33CC33"/>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rgbClr val="FF3300"/>
                          </a:solidFill>
                          <a:effectLst/>
                          <a:latin typeface="Arial" charset="0"/>
                          <a:ea typeface="黑体" panose="02010609060101010101" pitchFamily="49" charset="-122"/>
                        </a:rPr>
                        <a:t>0000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rgbClr val="FF3300"/>
                          </a:solidFill>
                          <a:effectLst/>
                          <a:latin typeface="Arial" charset="0"/>
                          <a:ea typeface="黑体" panose="02010609060101010101" pitchFamily="49" charset="-122"/>
                        </a:rPr>
                        <a:t>xxxx</a:t>
                      </a:r>
                      <a:endParaRPr kumimoji="0" lang="en-US" altLang="zh-CN" sz="2800" b="1" i="0" u="none" strike="noStrike" cap="none" normalizeH="0" baseline="0" dirty="0">
                        <a:ln>
                          <a:noFill/>
                        </a:ln>
                        <a:solidFill>
                          <a:srgbClr val="FF3300"/>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rgbClr val="FF3300"/>
                          </a:solidFill>
                          <a:effectLst/>
                          <a:latin typeface="Arial" charset="0"/>
                          <a:ea typeface="黑体" panose="02010609060101010101" pitchFamily="49" charset="-122"/>
                        </a:rPr>
                        <a:t>xxx</a:t>
                      </a:r>
                      <a:r>
                        <a:rPr kumimoji="0" lang="en-US" altLang="zh-CN" sz="2800" b="1" i="0" u="none" strike="noStrike" cap="none" normalizeH="0" baseline="0" dirty="0" err="1">
                          <a:ln>
                            <a:noFill/>
                          </a:ln>
                          <a:solidFill>
                            <a:srgbClr val="33CC33"/>
                          </a:solidFill>
                          <a:effectLst/>
                          <a:latin typeface="Arial" charset="0"/>
                          <a:ea typeface="黑体" panose="02010609060101010101" pitchFamily="49" charset="-122"/>
                        </a:rPr>
                        <a:t>x</a:t>
                      </a:r>
                      <a:endParaRPr kumimoji="0" lang="en-US" altLang="zh-CN" sz="2800" b="1" i="0" u="none" strike="noStrike" cap="none" normalizeH="0" baseline="0" dirty="0">
                        <a:ln>
                          <a:noFill/>
                        </a:ln>
                        <a:solidFill>
                          <a:srgbClr val="33CC33"/>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0E237708-6AE0-E088-88E6-99F6476A98EB}"/>
              </a:ext>
            </a:extLst>
          </p:cNvPr>
          <p:cNvSpPr>
            <a:spLocks noGrp="1"/>
          </p:cNvSpPr>
          <p:nvPr>
            <p:ph type="sldNum" sz="quarter" idx="11"/>
          </p:nvPr>
        </p:nvSpPr>
        <p:spPr/>
        <p:txBody>
          <a:bodyPr/>
          <a:lstStyle/>
          <a:p>
            <a:pPr>
              <a:defRPr/>
            </a:pPr>
            <a:fld id="{C1262F62-C03C-45EC-8E1C-78F85E4B8487}" type="slidenum">
              <a:rPr lang="zh-CN" altLang="en-US" smtClean="0"/>
              <a:pPr>
                <a:defRPr/>
              </a:pPr>
              <a:t>101</a:t>
            </a:fld>
            <a:endParaRPr lang="en-US" altLang="zh-CN"/>
          </a:p>
        </p:txBody>
      </p:sp>
      <p:graphicFrame>
        <p:nvGraphicFramePr>
          <p:cNvPr id="688170" name="Group 42"/>
          <p:cNvGraphicFramePr>
            <a:graphicFrameLocks noGrp="1"/>
          </p:cNvGraphicFramePr>
          <p:nvPr>
            <p:extLst>
              <p:ext uri="{D42A27DB-BD31-4B8C-83A1-F6EECF244321}">
                <p14:modId xmlns:p14="http://schemas.microsoft.com/office/powerpoint/2010/main" val="3622828536"/>
              </p:ext>
            </p:extLst>
          </p:nvPr>
        </p:nvGraphicFramePr>
        <p:xfrm>
          <a:off x="3061665" y="3035449"/>
          <a:ext cx="5105400" cy="3417887"/>
        </p:xfrm>
        <a:graphic>
          <a:graphicData uri="http://schemas.openxmlformats.org/drawingml/2006/table">
            <a:tbl>
              <a:tblPr/>
              <a:tblGrid>
                <a:gridCol w="989013">
                  <a:extLst>
                    <a:ext uri="{9D8B030D-6E8A-4147-A177-3AD203B41FA5}">
                      <a16:colId xmlns:a16="http://schemas.microsoft.com/office/drawing/2014/main" val="20000"/>
                    </a:ext>
                  </a:extLst>
                </a:gridCol>
                <a:gridCol w="992187">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tblGrid>
              <a:tr h="103024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6911">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000</a:t>
                      </a: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0010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0100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001</a:t>
                      </a: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6911">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010</a:t>
                      </a: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0110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1000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011</a:t>
                      </a: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6911">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xxx</a:t>
                      </a: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chemeClr val="tx1"/>
                          </a:solidFill>
                          <a:effectLst/>
                          <a:latin typeface="Arial" charset="0"/>
                          <a:ea typeface="黑体" panose="02010609060101010101" pitchFamily="49" charset="-122"/>
                        </a:rPr>
                        <a:t>xxxx</a:t>
                      </a:r>
                      <a:endParaRPr kumimoji="0" lang="en-US" altLang="zh-CN" sz="2800" b="1" i="0" u="none" strike="noStrike" cap="none" normalizeH="0" baseline="0" dirty="0">
                        <a:ln>
                          <a:noFill/>
                        </a:ln>
                        <a:solidFill>
                          <a:schemeClr val="tx1"/>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chemeClr val="tx1"/>
                          </a:solidFill>
                          <a:effectLst/>
                          <a:latin typeface="Arial" charset="0"/>
                          <a:ea typeface="黑体" panose="02010609060101010101" pitchFamily="49" charset="-122"/>
                        </a:rPr>
                        <a:t>xxx</a:t>
                      </a:r>
                      <a:r>
                        <a:rPr kumimoji="0" lang="en-US" altLang="zh-CN" sz="2800" b="1" i="0" u="none" strike="noStrike" cap="none" normalizeH="0" baseline="0" dirty="0" err="1">
                          <a:ln>
                            <a:noFill/>
                          </a:ln>
                          <a:solidFill>
                            <a:srgbClr val="3333FF"/>
                          </a:solidFill>
                          <a:effectLst/>
                          <a:latin typeface="Arial" charset="0"/>
                          <a:ea typeface="黑体" panose="02010609060101010101" pitchFamily="49" charset="-122"/>
                        </a:rPr>
                        <a:t>x</a:t>
                      </a:r>
                      <a:endParaRPr kumimoji="0" lang="en-US" altLang="zh-CN" sz="2800" b="1" i="0" u="none" strike="noStrike" cap="none" normalizeH="0" baseline="0" dirty="0">
                        <a:ln>
                          <a:noFill/>
                        </a:ln>
                        <a:solidFill>
                          <a:srgbClr val="3333FF"/>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xxx</a:t>
                      </a: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6911">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100</a:t>
                      </a: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0000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err="1">
                          <a:ln>
                            <a:noFill/>
                          </a:ln>
                          <a:solidFill>
                            <a:schemeClr val="tx1"/>
                          </a:solidFill>
                          <a:effectLst/>
                          <a:latin typeface="Arial" charset="0"/>
                          <a:ea typeface="黑体" panose="02010609060101010101" pitchFamily="49" charset="-122"/>
                        </a:rPr>
                        <a:t>xxx</a:t>
                      </a:r>
                      <a:r>
                        <a:rPr kumimoji="0" lang="en-US" altLang="zh-CN" sz="2800" b="1" i="0" u="none" strike="noStrike" cap="none" normalizeH="0" baseline="0" dirty="0" err="1">
                          <a:ln>
                            <a:noFill/>
                          </a:ln>
                          <a:solidFill>
                            <a:srgbClr val="3333FF"/>
                          </a:solidFill>
                          <a:effectLst/>
                          <a:latin typeface="Arial" charset="0"/>
                          <a:ea typeface="黑体" panose="02010609060101010101" pitchFamily="49" charset="-122"/>
                        </a:rPr>
                        <a:t>x</a:t>
                      </a:r>
                      <a:endParaRPr kumimoji="0" lang="en-US" altLang="zh-CN" sz="2800" b="1" i="0" u="none" strike="noStrike" cap="none" normalizeH="0" baseline="0" dirty="0">
                        <a:ln>
                          <a:noFill/>
                        </a:ln>
                        <a:solidFill>
                          <a:srgbClr val="3333FF"/>
                        </a:solidFill>
                        <a:effectLst/>
                        <a:latin typeface="Arial" charset="0"/>
                        <a:ea typeface="黑体" panose="02010609060101010101" pitchFamily="49"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1" i="0" u="none" strike="noStrike" cap="none" normalizeH="0" baseline="0" dirty="0">
                          <a:ln>
                            <a:noFill/>
                          </a:ln>
                          <a:solidFill>
                            <a:schemeClr val="tx1"/>
                          </a:solidFill>
                          <a:effectLst/>
                          <a:latin typeface="Arial" charset="0"/>
                          <a:ea typeface="黑体" panose="02010609060101010101" pitchFamily="49" charset="-122"/>
                        </a:rPr>
                        <a:t>xxx</a:t>
                      </a:r>
                      <a:r>
                        <a:rPr kumimoji="0" lang="en-US" altLang="zh-CN" sz="2800" b="1" i="0" u="none" strike="noStrike" cap="none" normalizeH="0" baseline="0" dirty="0">
                          <a:ln>
                            <a:noFill/>
                          </a:ln>
                          <a:solidFill>
                            <a:srgbClr val="3333FF"/>
                          </a:solidFill>
                          <a:effectLst/>
                          <a:latin typeface="Arial" charset="0"/>
                          <a:ea typeface="黑体" panose="02010609060101010101" pitchFamily="49" charset="-122"/>
                        </a:rPr>
                        <a:t>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0C1856C0-C60B-8C47-8A6D-3D4EA79253C6}"/>
              </a:ext>
            </a:extLst>
          </p:cNvPr>
          <p:cNvSpPr txBox="1"/>
          <p:nvPr/>
        </p:nvSpPr>
        <p:spPr>
          <a:xfrm>
            <a:off x="271662" y="4858072"/>
            <a:ext cx="2777481" cy="1200329"/>
          </a:xfrm>
          <a:prstGeom prst="rect">
            <a:avLst/>
          </a:prstGeom>
          <a:noFill/>
        </p:spPr>
        <p:txBody>
          <a:bodyPr wrap="square" rtlCol="0">
            <a:spAutoFit/>
          </a:bodyPr>
          <a:lstStyle/>
          <a:p>
            <a:r>
              <a:rPr lang="zh-CN" altLang="en-US" sz="2400" b="1" dirty="0">
                <a:solidFill>
                  <a:srgbClr val="7030A0"/>
                </a:solidFill>
                <a:ea typeface="黑体" panose="02010609060101010101" pitchFamily="49" charset="-122"/>
              </a:rPr>
              <a:t>无关项在逻辑化简时，可以任意假设其为</a:t>
            </a:r>
            <a:r>
              <a:rPr lang="en-US" altLang="zh-CN" sz="2400" b="1" dirty="0">
                <a:solidFill>
                  <a:srgbClr val="7030A0"/>
                </a:solidFill>
                <a:ea typeface="黑体" panose="02010609060101010101" pitchFamily="49" charset="-122"/>
              </a:rPr>
              <a:t>0</a:t>
            </a:r>
            <a:r>
              <a:rPr lang="zh-CN" altLang="en-US" sz="2400" b="1" dirty="0">
                <a:solidFill>
                  <a:srgbClr val="7030A0"/>
                </a:solidFill>
                <a:ea typeface="黑体" panose="02010609060101010101" pitchFamily="49" charset="-122"/>
              </a:rPr>
              <a:t>或</a:t>
            </a:r>
            <a:r>
              <a:rPr lang="en-US" altLang="zh-CN" sz="2400" b="1" dirty="0">
                <a:solidFill>
                  <a:srgbClr val="7030A0"/>
                </a:solidFill>
                <a:ea typeface="黑体" panose="02010609060101010101" pitchFamily="49" charset="-122"/>
              </a:rPr>
              <a:t>1</a:t>
            </a:r>
            <a:endParaRPr lang="en-CN" sz="2400" b="1" dirty="0">
              <a:solidFill>
                <a:srgbClr val="7030A0"/>
              </a:solidFill>
              <a:ea typeface="黑体" panose="02010609060101010101" pitchFamily="49" charset="-122"/>
            </a:endParaRPr>
          </a:p>
        </p:txBody>
      </p:sp>
      <p:sp>
        <p:nvSpPr>
          <p:cNvPr id="5" name="Oval 4">
            <a:extLst>
              <a:ext uri="{FF2B5EF4-FFF2-40B4-BE49-F238E27FC236}">
                <a16:creationId xmlns:a16="http://schemas.microsoft.com/office/drawing/2014/main" id="{E3997ABA-AB19-1149-88FE-BEA02807F7D3}"/>
              </a:ext>
            </a:extLst>
          </p:cNvPr>
          <p:cNvSpPr/>
          <p:nvPr/>
        </p:nvSpPr>
        <p:spPr bwMode="auto">
          <a:xfrm>
            <a:off x="4716016" y="5218112"/>
            <a:ext cx="324036" cy="601977"/>
          </a:xfrm>
          <a:prstGeom prst="ellipse">
            <a:avLst/>
          </a:prstGeom>
          <a:noFill/>
          <a:ln w="762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10" name="Oval 9">
            <a:extLst>
              <a:ext uri="{FF2B5EF4-FFF2-40B4-BE49-F238E27FC236}">
                <a16:creationId xmlns:a16="http://schemas.microsoft.com/office/drawing/2014/main" id="{ED2C9DAB-5C2B-FA41-9BE5-9061131A53E2}"/>
              </a:ext>
            </a:extLst>
          </p:cNvPr>
          <p:cNvSpPr/>
          <p:nvPr/>
        </p:nvSpPr>
        <p:spPr bwMode="auto">
          <a:xfrm>
            <a:off x="7812360" y="5218112"/>
            <a:ext cx="324036" cy="601977"/>
          </a:xfrm>
          <a:prstGeom prst="ellipse">
            <a:avLst/>
          </a:prstGeom>
          <a:noFill/>
          <a:ln w="762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CN" sz="1800" b="0" i="0" u="none" strike="noStrike" cap="none" normalizeH="0" baseline="0" dirty="0">
              <a:ln>
                <a:noFill/>
              </a:ln>
              <a:solidFill>
                <a:schemeClr val="tx1"/>
              </a:solidFill>
              <a:effectLst/>
              <a:latin typeface="Arial" charset="0"/>
              <a:ea typeface="黑体" panose="02010609060101010101" pitchFamily="49" charset="-122"/>
            </a:endParaRPr>
          </a:p>
        </p:txBody>
      </p:sp>
      <p:sp>
        <p:nvSpPr>
          <p:cNvPr id="7" name="Rectangle 2">
            <a:extLst>
              <a:ext uri="{FF2B5EF4-FFF2-40B4-BE49-F238E27FC236}">
                <a16:creationId xmlns:a16="http://schemas.microsoft.com/office/drawing/2014/main" id="{FE90BB4E-2BA5-D6A3-CE7B-0DFF2F30E841}"/>
              </a:ext>
            </a:extLst>
          </p:cNvPr>
          <p:cNvSpPr>
            <a:spLocks noGrp="1" noChangeArrowheads="1"/>
          </p:cNvSpPr>
          <p:nvPr>
            <p:ph type="title"/>
          </p:nvPr>
        </p:nvSpPr>
        <p:spPr>
          <a:xfrm>
            <a:off x="457200" y="136525"/>
            <a:ext cx="8229600" cy="1143000"/>
          </a:xfrm>
        </p:spPr>
        <p:txBody>
          <a:bodyPr/>
          <a:lstStyle/>
          <a:p>
            <a:pPr marL="342900" indent="-342900" eaLnBrk="1" hangingPunct="1"/>
            <a:r>
              <a:rPr lang="en-US" altLang="zh-CN" dirty="0"/>
              <a:t>BCD</a:t>
            </a:r>
            <a:r>
              <a:rPr lang="zh-CN" altLang="en-US" dirty="0"/>
              <a:t>累加电路的布尔表达式</a:t>
            </a:r>
            <a:endParaRPr lang="en-US" altLang="zh-CN" b="1" dirty="0"/>
          </a:p>
        </p:txBody>
      </p:sp>
    </p:spTree>
    <p:extLst>
      <p:ext uri="{BB962C8B-B14F-4D97-AF65-F5344CB8AC3E}">
        <p14:creationId xmlns:p14="http://schemas.microsoft.com/office/powerpoint/2010/main" val="1295112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4899" name="Group 3"/>
          <p:cNvGraphicFramePr>
            <a:graphicFrameLocks noGrp="1"/>
          </p:cNvGraphicFramePr>
          <p:nvPr/>
        </p:nvGraphicFramePr>
        <p:xfrm>
          <a:off x="1752600" y="1600200"/>
          <a:ext cx="4267200" cy="3102864"/>
        </p:xfrm>
        <a:graphic>
          <a:graphicData uri="http://schemas.openxmlformats.org/drawingml/2006/table">
            <a:tbl>
              <a:tblPr/>
              <a:tblGrid>
                <a:gridCol w="1087438">
                  <a:extLst>
                    <a:ext uri="{9D8B030D-6E8A-4147-A177-3AD203B41FA5}">
                      <a16:colId xmlns:a16="http://schemas.microsoft.com/office/drawing/2014/main" val="20000"/>
                    </a:ext>
                  </a:extLst>
                </a:gridCol>
                <a:gridCol w="835025">
                  <a:extLst>
                    <a:ext uri="{9D8B030D-6E8A-4147-A177-3AD203B41FA5}">
                      <a16:colId xmlns:a16="http://schemas.microsoft.com/office/drawing/2014/main" val="20001"/>
                    </a:ext>
                  </a:extLst>
                </a:gridCol>
                <a:gridCol w="755650">
                  <a:extLst>
                    <a:ext uri="{9D8B030D-6E8A-4147-A177-3AD203B41FA5}">
                      <a16:colId xmlns:a16="http://schemas.microsoft.com/office/drawing/2014/main" val="20002"/>
                    </a:ext>
                  </a:extLst>
                </a:gridCol>
                <a:gridCol w="835025">
                  <a:extLst>
                    <a:ext uri="{9D8B030D-6E8A-4147-A177-3AD203B41FA5}">
                      <a16:colId xmlns:a16="http://schemas.microsoft.com/office/drawing/2014/main" val="20003"/>
                    </a:ext>
                  </a:extLst>
                </a:gridCol>
                <a:gridCol w="754062">
                  <a:extLst>
                    <a:ext uri="{9D8B030D-6E8A-4147-A177-3AD203B41FA5}">
                      <a16:colId xmlns:a16="http://schemas.microsoft.com/office/drawing/2014/main" val="20004"/>
                    </a:ext>
                  </a:extLst>
                </a:gridCol>
              </a:tblGrid>
              <a:tr h="768350">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 CD</a:t>
                      </a:r>
                    </a:p>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altLang="zh-CN" sz="2800" b="0" i="0" u="none" strike="noStrike" cap="none" normalizeH="0" baseline="0" dirty="0">
                          <a:ln>
                            <a:noFill/>
                          </a:ln>
                          <a:solidFill>
                            <a:schemeClr val="tx1"/>
                          </a:solidFill>
                          <a:effectLst/>
                          <a:latin typeface="Arial" charset="0"/>
                          <a:ea typeface="黑体" panose="02010609060101010101" pitchFamily="49" charset="-122"/>
                          <a:sym typeface="Symbol" pitchFamily="18" charset="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64937" name="Rectangle 41"/>
          <p:cNvSpPr>
            <a:spLocks noChangeArrowheads="1"/>
          </p:cNvSpPr>
          <p:nvPr/>
        </p:nvSpPr>
        <p:spPr bwMode="auto">
          <a:xfrm>
            <a:off x="2879812" y="2667000"/>
            <a:ext cx="1158788" cy="381000"/>
          </a:xfrm>
          <a:prstGeom prst="rect">
            <a:avLst/>
          </a:prstGeom>
          <a:noFill/>
          <a:ln w="28575" algn="ctr">
            <a:solidFill>
              <a:schemeClr val="accent6">
                <a:lumMod val="50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4938" name="Rectangle 42"/>
          <p:cNvSpPr>
            <a:spLocks noChangeArrowheads="1"/>
          </p:cNvSpPr>
          <p:nvPr/>
        </p:nvSpPr>
        <p:spPr bwMode="auto">
          <a:xfrm>
            <a:off x="4495800" y="3200400"/>
            <a:ext cx="304800" cy="914400"/>
          </a:xfrm>
          <a:prstGeom prst="rect">
            <a:avLst/>
          </a:prstGeom>
          <a:noFill/>
          <a:ln w="2857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黑体" panose="02010609060101010101" pitchFamily="49" charset="-122"/>
            </a:endParaRPr>
          </a:p>
        </p:txBody>
      </p:sp>
      <p:sp>
        <p:nvSpPr>
          <p:cNvPr id="464940" name="Rectangle 44"/>
          <p:cNvSpPr>
            <a:spLocks noChangeArrowheads="1"/>
          </p:cNvSpPr>
          <p:nvPr/>
        </p:nvSpPr>
        <p:spPr bwMode="auto">
          <a:xfrm>
            <a:off x="6324600" y="5562600"/>
            <a:ext cx="22336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spcBef>
                <a:spcPct val="20000"/>
              </a:spcBef>
              <a:buClr>
                <a:schemeClr val="hlink"/>
              </a:buClr>
              <a:buSzPct val="80000"/>
              <a:buFont typeface="Wingdings" pitchFamily="2" charset="2"/>
              <a:buNone/>
            </a:pPr>
            <a:r>
              <a:rPr lang="en-US" altLang="zh-CN" sz="2800" b="0" dirty="0">
                <a:solidFill>
                  <a:schemeClr val="tx1"/>
                </a:solidFill>
                <a:latin typeface="Arial" charset="0"/>
                <a:ea typeface="黑体" panose="02010609060101010101" pitchFamily="49" charset="-122"/>
              </a:rPr>
              <a:t>POS Form</a:t>
            </a:r>
          </a:p>
        </p:txBody>
      </p:sp>
      <p:sp>
        <p:nvSpPr>
          <p:cNvPr id="9" name="TextBox 8"/>
          <p:cNvSpPr txBox="1">
            <a:spLocks noChangeArrowheads="1"/>
          </p:cNvSpPr>
          <p:nvPr/>
        </p:nvSpPr>
        <p:spPr bwMode="auto">
          <a:xfrm>
            <a:off x="6781800" y="1981200"/>
            <a:ext cx="1524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600" b="1">
                <a:solidFill>
                  <a:srgbClr val="FF3300"/>
                </a:solidFill>
                <a:latin typeface="Garamond" pitchFamily="18" charset="0"/>
                <a:ea typeface="宋体" pitchFamily="2" charset="-122"/>
              </a:defRPr>
            </a:lvl1pPr>
            <a:lvl2pPr marL="742950" indent="-285750" eaLnBrk="0" hangingPunct="0">
              <a:defRPr sz="4600" b="1">
                <a:solidFill>
                  <a:srgbClr val="FF3300"/>
                </a:solidFill>
                <a:latin typeface="Garamond" pitchFamily="18" charset="0"/>
                <a:ea typeface="宋体" pitchFamily="2" charset="-122"/>
              </a:defRPr>
            </a:lvl2pPr>
            <a:lvl3pPr marL="1143000" indent="-228600" eaLnBrk="0" hangingPunct="0">
              <a:defRPr sz="4600" b="1">
                <a:solidFill>
                  <a:srgbClr val="FF3300"/>
                </a:solidFill>
                <a:latin typeface="Garamond" pitchFamily="18" charset="0"/>
                <a:ea typeface="宋体" pitchFamily="2" charset="-122"/>
              </a:defRPr>
            </a:lvl3pPr>
            <a:lvl4pPr marL="1600200" indent="-228600" eaLnBrk="0" hangingPunct="0">
              <a:defRPr sz="4600" b="1">
                <a:solidFill>
                  <a:srgbClr val="FF3300"/>
                </a:solidFill>
                <a:latin typeface="Garamond" pitchFamily="18" charset="0"/>
                <a:ea typeface="宋体" pitchFamily="2" charset="-122"/>
              </a:defRPr>
            </a:lvl4pPr>
            <a:lvl5pPr marL="2057400" indent="-228600" eaLnBrk="0" hangingPunct="0">
              <a:defRPr sz="4600" b="1">
                <a:solidFill>
                  <a:srgbClr val="FF3300"/>
                </a:solidFill>
                <a:latin typeface="Garamond" pitchFamily="18" charset="0"/>
                <a:ea typeface="宋体" pitchFamily="2" charset="-122"/>
              </a:defRPr>
            </a:lvl5pPr>
            <a:lvl6pPr marL="2514600" indent="-228600" algn="ctr" eaLnBrk="0" fontAlgn="base" hangingPunct="0">
              <a:spcBef>
                <a:spcPct val="0"/>
              </a:spcBef>
              <a:spcAft>
                <a:spcPct val="0"/>
              </a:spcAft>
              <a:defRPr sz="4600" b="1">
                <a:solidFill>
                  <a:srgbClr val="FF3300"/>
                </a:solidFill>
                <a:latin typeface="Garamond" pitchFamily="18" charset="0"/>
                <a:ea typeface="宋体" pitchFamily="2" charset="-122"/>
              </a:defRPr>
            </a:lvl6pPr>
            <a:lvl7pPr marL="2971800" indent="-228600" algn="ctr" eaLnBrk="0" fontAlgn="base" hangingPunct="0">
              <a:spcBef>
                <a:spcPct val="0"/>
              </a:spcBef>
              <a:spcAft>
                <a:spcPct val="0"/>
              </a:spcAft>
              <a:defRPr sz="4600" b="1">
                <a:solidFill>
                  <a:srgbClr val="FF3300"/>
                </a:solidFill>
                <a:latin typeface="Garamond" pitchFamily="18" charset="0"/>
                <a:ea typeface="宋体" pitchFamily="2" charset="-122"/>
              </a:defRPr>
            </a:lvl7pPr>
            <a:lvl8pPr marL="3429000" indent="-228600" algn="ctr" eaLnBrk="0" fontAlgn="base" hangingPunct="0">
              <a:spcBef>
                <a:spcPct val="0"/>
              </a:spcBef>
              <a:spcAft>
                <a:spcPct val="0"/>
              </a:spcAft>
              <a:defRPr sz="4600" b="1">
                <a:solidFill>
                  <a:srgbClr val="FF3300"/>
                </a:solidFill>
                <a:latin typeface="Garamond" pitchFamily="18" charset="0"/>
                <a:ea typeface="宋体" pitchFamily="2" charset="-122"/>
              </a:defRPr>
            </a:lvl8pPr>
            <a:lvl9pPr marL="3886200" indent="-228600" algn="ctr" eaLnBrk="0" fontAlgn="base" hangingPunct="0">
              <a:spcBef>
                <a:spcPct val="0"/>
              </a:spcBef>
              <a:spcAft>
                <a:spcPct val="0"/>
              </a:spcAft>
              <a:defRPr sz="4600" b="1">
                <a:solidFill>
                  <a:srgbClr val="FF3300"/>
                </a:solidFill>
                <a:latin typeface="Garamond" pitchFamily="18" charset="0"/>
                <a:ea typeface="宋体" pitchFamily="2" charset="-122"/>
              </a:defRPr>
            </a:lvl9pPr>
          </a:lstStyle>
          <a:p>
            <a:pPr eaLnBrk="1" hangingPunct="1"/>
            <a:r>
              <a:rPr lang="zh-CN" altLang="en-US" sz="2800" dirty="0">
                <a:solidFill>
                  <a:schemeClr val="tx1"/>
                </a:solidFill>
                <a:latin typeface="+mn-lt"/>
                <a:ea typeface="黑体" panose="02010609060101010101" pitchFamily="49" charset="-122"/>
              </a:rPr>
              <a:t>此例</a:t>
            </a:r>
            <a:endParaRPr lang="en-US" altLang="zh-CN" sz="2800" dirty="0">
              <a:solidFill>
                <a:schemeClr val="tx1"/>
              </a:solidFill>
              <a:latin typeface="+mn-lt"/>
              <a:ea typeface="黑体" panose="02010609060101010101" pitchFamily="49" charset="-122"/>
            </a:endParaRPr>
          </a:p>
          <a:p>
            <a:pPr eaLnBrk="1" hangingPunct="1"/>
            <a:r>
              <a:rPr lang="zh-CN" altLang="en-US" sz="2800" dirty="0">
                <a:solidFill>
                  <a:schemeClr val="tx1"/>
                </a:solidFill>
                <a:latin typeface="+mn-lt"/>
                <a:ea typeface="黑体" panose="02010609060101010101" pitchFamily="49" charset="-122"/>
              </a:rPr>
              <a:t>与前面的</a:t>
            </a:r>
            <a:r>
              <a:rPr lang="en-US" altLang="zh-CN" sz="2800" dirty="0">
                <a:solidFill>
                  <a:schemeClr val="tx1"/>
                </a:solidFill>
                <a:latin typeface="+mn-lt"/>
                <a:ea typeface="黑体" panose="02010609060101010101" pitchFamily="49" charset="-122"/>
              </a:rPr>
              <a:t>BCD</a:t>
            </a:r>
            <a:r>
              <a:rPr lang="zh-CN" altLang="en-US" sz="2800" dirty="0">
                <a:solidFill>
                  <a:schemeClr val="tx1"/>
                </a:solidFill>
                <a:latin typeface="+mn-lt"/>
                <a:ea typeface="黑体" panose="02010609060101010101" pitchFamily="49" charset="-122"/>
              </a:rPr>
              <a:t>累加器的例子无关</a:t>
            </a:r>
          </a:p>
        </p:txBody>
      </p:sp>
      <mc:AlternateContent xmlns:mc="http://schemas.openxmlformats.org/markup-compatibility/2006" xmlns:a14="http://schemas.microsoft.com/office/drawing/2010/main">
        <mc:Choice Requires="a14">
          <p:sp>
            <p:nvSpPr>
              <p:cNvPr id="13" name="文本框 11">
                <a:extLst>
                  <a:ext uri="{FF2B5EF4-FFF2-40B4-BE49-F238E27FC236}">
                    <a16:creationId xmlns:a16="http://schemas.microsoft.com/office/drawing/2014/main" id="{D73712F3-5B89-44C9-9485-6C0E5AE37505}"/>
                  </a:ext>
                </a:extLst>
              </p:cNvPr>
              <p:cNvSpPr txBox="1"/>
              <p:nvPr/>
            </p:nvSpPr>
            <p:spPr>
              <a:xfrm>
                <a:off x="749015" y="5153315"/>
                <a:ext cx="5620400" cy="8792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sz="2400" b="0" i="1" smtClean="0">
                              <a:latin typeface="Cambria Math" panose="02040503050406030204" pitchFamily="18" charset="0"/>
                            </a:rPr>
                          </m:ctrlPr>
                        </m:accPr>
                        <m:e>
                          <m:r>
                            <a:rPr kumimoji="1" lang="en-US" altLang="zh-CN" sz="2400" b="0" i="1" smtClean="0">
                              <a:latin typeface="Cambria Math" panose="02040503050406030204" pitchFamily="18" charset="0"/>
                            </a:rPr>
                            <m:t>𝑌</m:t>
                          </m:r>
                        </m:e>
                      </m:acc>
                      <m:r>
                        <a:rPr kumimoji="1" lang="en-US" altLang="zh-CN" sz="2400" b="0" i="1" smtClean="0">
                          <a:latin typeface="Cambria Math" panose="02040503050406030204" pitchFamily="18" charset="0"/>
                        </a:rPr>
                        <m:t>=</m:t>
                      </m:r>
                      <m:acc>
                        <m:accPr>
                          <m:chr m:val="̅"/>
                          <m:ctrlPr>
                            <a:rPr kumimoji="1" lang="en-US" altLang="zh-CN" sz="2400" b="0" i="1" smtClean="0">
                              <a:latin typeface="Cambria Math" panose="02040503050406030204" pitchFamily="18" charset="0"/>
                            </a:rPr>
                          </m:ctrlPr>
                        </m:accPr>
                        <m:e>
                          <m:r>
                            <a:rPr kumimoji="1" lang="en-US" altLang="zh-CN" sz="2400" b="0" i="1" smtClean="0">
                              <a:latin typeface="Cambria Math" panose="02040503050406030204" pitchFamily="18" charset="0"/>
                            </a:rPr>
                            <m:t>𝐴</m:t>
                          </m:r>
                        </m:e>
                      </m:acc>
                      <m:acc>
                        <m:accPr>
                          <m:chr m:val="̅"/>
                          <m:ctrlPr>
                            <a:rPr kumimoji="1" lang="en-US" altLang="zh-CN" sz="2400" b="0" i="1" smtClean="0">
                              <a:latin typeface="Cambria Math" panose="02040503050406030204" pitchFamily="18" charset="0"/>
                            </a:rPr>
                          </m:ctrlPr>
                        </m:accPr>
                        <m:e>
                          <m:r>
                            <a:rPr kumimoji="1" lang="en-US" altLang="zh-CN" sz="2400" b="0" i="1" smtClean="0">
                              <a:latin typeface="Cambria Math" panose="02040503050406030204" pitchFamily="18" charset="0"/>
                            </a:rPr>
                            <m:t>𝐵</m:t>
                          </m:r>
                        </m:e>
                      </m:acc>
                      <m:acc>
                        <m:accPr>
                          <m:chr m:val="̅"/>
                          <m:ctrlPr>
                            <a:rPr kumimoji="1" lang="en-US" altLang="zh-CN" sz="2400" b="0" i="1" smtClean="0">
                              <a:latin typeface="Cambria Math" panose="02040503050406030204" pitchFamily="18" charset="0"/>
                            </a:rPr>
                          </m:ctrlPr>
                        </m:accPr>
                        <m:e>
                          <m:r>
                            <a:rPr kumimoji="1" lang="en-US" altLang="zh-CN" sz="2400" b="0" i="1" smtClean="0">
                              <a:latin typeface="Cambria Math" panose="02040503050406030204" pitchFamily="18" charset="0"/>
                            </a:rPr>
                            <m:t>𝐶</m:t>
                          </m:r>
                        </m:e>
                      </m:acc>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𝐵𝐶𝐷</m:t>
                      </m:r>
                    </m:oMath>
                    <m:oMath xmlns:m="http://schemas.openxmlformats.org/officeDocument/2006/math">
                      <m:r>
                        <a:rPr kumimoji="1" lang="en-US" altLang="zh-CN" sz="2400" b="0" i="1" smtClean="0">
                          <a:latin typeface="Cambria Math" panose="02040503050406030204" pitchFamily="18" charset="0"/>
                        </a:rPr>
                        <m:t>𝑌</m:t>
                      </m:r>
                      <m:r>
                        <a:rPr kumimoji="1" lang="en-US" altLang="zh-CN" sz="2400" b="0" i="1" smtClean="0">
                          <a:latin typeface="Cambria Math" panose="02040503050406030204" pitchFamily="18" charset="0"/>
                        </a:rPr>
                        <m:t>=</m:t>
                      </m:r>
                      <m:acc>
                        <m:accPr>
                          <m:chr m:val="̅"/>
                          <m:ctrlPr>
                            <a:rPr kumimoji="1" lang="en-US" altLang="zh-CN" sz="2400" b="0" i="1" smtClean="0">
                              <a:latin typeface="Cambria Math" panose="02040503050406030204" pitchFamily="18" charset="0"/>
                            </a:rPr>
                          </m:ctrlPr>
                        </m:accPr>
                        <m:e>
                          <m:acc>
                            <m:accPr>
                              <m:chr m:val="̅"/>
                              <m:ctrlPr>
                                <a:rPr kumimoji="1" lang="en-US" altLang="zh-CN" sz="2400" b="0" i="1" smtClean="0">
                                  <a:latin typeface="Cambria Math" panose="02040503050406030204" pitchFamily="18" charset="0"/>
                                </a:rPr>
                              </m:ctrlPr>
                            </m:accPr>
                            <m:e>
                              <m:r>
                                <a:rPr kumimoji="1" lang="en-US" altLang="zh-CN" sz="2400" b="0" i="1" smtClean="0">
                                  <a:latin typeface="Cambria Math" panose="02040503050406030204" pitchFamily="18" charset="0"/>
                                </a:rPr>
                                <m:t>𝑌</m:t>
                              </m:r>
                            </m:e>
                          </m:acc>
                        </m:e>
                      </m:acc>
                      <m:r>
                        <a:rPr kumimoji="1" lang="en-US" altLang="zh-CN" sz="2400" b="0" i="1" smtClean="0">
                          <a:latin typeface="Cambria Math" panose="02040503050406030204" pitchFamily="18" charset="0"/>
                        </a:rPr>
                        <m:t>=</m:t>
                      </m:r>
                      <m:d>
                        <m:dPr>
                          <m:ctrlPr>
                            <a:rPr kumimoji="1" lang="en-US" altLang="zh-CN" sz="2400" b="0" i="1" smtClean="0">
                              <a:latin typeface="Cambria Math" panose="02040503050406030204" pitchFamily="18" charset="0"/>
                            </a:rPr>
                          </m:ctrlPr>
                        </m:dPr>
                        <m:e>
                          <m:r>
                            <a:rPr kumimoji="1" lang="en-US" altLang="zh-CN" sz="2400" b="0" i="1" smtClean="0">
                              <a:latin typeface="Cambria Math" panose="02040503050406030204" pitchFamily="18" charset="0"/>
                            </a:rPr>
                            <m:t>𝐴</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𝐵</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𝐶</m:t>
                          </m:r>
                        </m:e>
                      </m:d>
                      <m:r>
                        <a:rPr kumimoji="1" lang="en-US" altLang="zh-CN" sz="2400" b="0" i="1" smtClean="0">
                          <a:latin typeface="Cambria Math" panose="02040503050406030204" pitchFamily="18" charset="0"/>
                        </a:rPr>
                        <m:t>∙(</m:t>
                      </m:r>
                      <m:acc>
                        <m:accPr>
                          <m:chr m:val="̅"/>
                          <m:ctrlPr>
                            <a:rPr kumimoji="1" lang="en-US" altLang="zh-CN" sz="2400" b="0" i="1" smtClean="0">
                              <a:latin typeface="Cambria Math" panose="02040503050406030204" pitchFamily="18" charset="0"/>
                            </a:rPr>
                          </m:ctrlPr>
                        </m:accPr>
                        <m:e>
                          <m:r>
                            <a:rPr kumimoji="1" lang="en-US" altLang="zh-CN" sz="2400" b="0" i="1" smtClean="0">
                              <a:latin typeface="Cambria Math" panose="02040503050406030204" pitchFamily="18" charset="0"/>
                            </a:rPr>
                            <m:t>𝐵</m:t>
                          </m:r>
                        </m:e>
                      </m:acc>
                      <m:r>
                        <a:rPr kumimoji="1" lang="en-US" altLang="zh-CN" sz="2400" b="0" i="1" smtClean="0">
                          <a:latin typeface="Cambria Math" panose="02040503050406030204" pitchFamily="18" charset="0"/>
                        </a:rPr>
                        <m:t>+</m:t>
                      </m:r>
                      <m:acc>
                        <m:accPr>
                          <m:chr m:val="̅"/>
                          <m:ctrlPr>
                            <a:rPr kumimoji="1" lang="en-US" altLang="zh-CN" sz="2400" b="0" i="1" smtClean="0">
                              <a:latin typeface="Cambria Math" panose="02040503050406030204" pitchFamily="18" charset="0"/>
                            </a:rPr>
                          </m:ctrlPr>
                        </m:accPr>
                        <m:e>
                          <m:r>
                            <a:rPr kumimoji="1" lang="en-US" altLang="zh-CN" sz="2400" b="0" i="1" smtClean="0">
                              <a:latin typeface="Cambria Math" panose="02040503050406030204" pitchFamily="18" charset="0"/>
                            </a:rPr>
                            <m:t>𝐶</m:t>
                          </m:r>
                        </m:e>
                      </m:acc>
                      <m:r>
                        <a:rPr kumimoji="1" lang="en-US" altLang="zh-CN" sz="2400" b="0" i="1" smtClean="0">
                          <a:latin typeface="Cambria Math" panose="02040503050406030204" pitchFamily="18" charset="0"/>
                        </a:rPr>
                        <m:t>+</m:t>
                      </m:r>
                      <m:acc>
                        <m:accPr>
                          <m:chr m:val="̅"/>
                          <m:ctrlPr>
                            <a:rPr kumimoji="1" lang="en-US" altLang="zh-CN" sz="2400" b="0" i="1" smtClean="0">
                              <a:latin typeface="Cambria Math" panose="02040503050406030204" pitchFamily="18" charset="0"/>
                            </a:rPr>
                          </m:ctrlPr>
                        </m:accPr>
                        <m:e>
                          <m:r>
                            <a:rPr kumimoji="1" lang="en-US" altLang="zh-CN" sz="2400" b="0" i="1" smtClean="0">
                              <a:latin typeface="Cambria Math" panose="02040503050406030204" pitchFamily="18" charset="0"/>
                            </a:rPr>
                            <m:t>𝐷</m:t>
                          </m:r>
                        </m:e>
                      </m:acc>
                      <m:r>
                        <a:rPr kumimoji="1" lang="en-US" altLang="zh-CN" sz="2400" b="0" i="1" smtClean="0">
                          <a:latin typeface="Cambria Math" panose="02040503050406030204" pitchFamily="18" charset="0"/>
                        </a:rPr>
                        <m:t>)</m:t>
                      </m:r>
                    </m:oMath>
                  </m:oMathPara>
                </a14:m>
                <a:endParaRPr lang="zh-CN" altLang="en-US" sz="2400" dirty="0">
                  <a:ea typeface="黑体" panose="02010609060101010101" pitchFamily="49" charset="-122"/>
                </a:endParaRPr>
              </a:p>
            </p:txBody>
          </p:sp>
        </mc:Choice>
        <mc:Fallback xmlns="">
          <p:sp>
            <p:nvSpPr>
              <p:cNvPr id="13" name="文本框 11">
                <a:extLst>
                  <a:ext uri="{FF2B5EF4-FFF2-40B4-BE49-F238E27FC236}">
                    <a16:creationId xmlns:a16="http://schemas.microsoft.com/office/drawing/2014/main" id="{D73712F3-5B89-44C9-9485-6C0E5AE37505}"/>
                  </a:ext>
                </a:extLst>
              </p:cNvPr>
              <p:cNvSpPr txBox="1">
                <a:spLocks noRot="1" noChangeAspect="1" noMove="1" noResize="1" noEditPoints="1" noAdjustHandles="1" noChangeArrowheads="1" noChangeShapeType="1" noTextEdit="1"/>
              </p:cNvSpPr>
              <p:nvPr/>
            </p:nvSpPr>
            <p:spPr>
              <a:xfrm>
                <a:off x="749015" y="5153315"/>
                <a:ext cx="5620400" cy="879215"/>
              </a:xfrm>
              <a:prstGeom prst="rect">
                <a:avLst/>
              </a:prstGeom>
              <a:blipFill>
                <a:blip r:embed="rId3"/>
                <a:stretch>
                  <a:fillRect/>
                </a:stretch>
              </a:blipFill>
            </p:spPr>
            <p:txBody>
              <a:bodyPr/>
              <a:lstStyle/>
              <a:p>
                <a:r>
                  <a:rPr lang="zh-CN" altLang="en-US">
                    <a:noFill/>
                  </a:rPr>
                  <a:t> </a:t>
                </a:r>
              </a:p>
            </p:txBody>
          </p:sp>
        </mc:Fallback>
      </mc:AlternateContent>
      <p:sp>
        <p:nvSpPr>
          <p:cNvPr id="7" name="Rectangle 2"/>
          <p:cNvSpPr>
            <a:spLocks noGrp="1" noChangeArrowheads="1"/>
          </p:cNvSpPr>
          <p:nvPr>
            <p:ph type="title"/>
          </p:nvPr>
        </p:nvSpPr>
        <p:spPr/>
        <p:txBody>
          <a:bodyPr/>
          <a:lstStyle/>
          <a:p>
            <a:pPr eaLnBrk="1" hangingPunct="1"/>
            <a:r>
              <a:rPr lang="zh-CN" altLang="en-US" dirty="0"/>
              <a:t>用卡诺图得到最简或与表达式</a:t>
            </a:r>
            <a:endParaRPr lang="en-US" altLang="zh-CN" dirty="0"/>
          </a:p>
        </p:txBody>
      </p:sp>
      <p:sp>
        <p:nvSpPr>
          <p:cNvPr id="2" name="灯片编号占位符 1">
            <a:extLst>
              <a:ext uri="{FF2B5EF4-FFF2-40B4-BE49-F238E27FC236}">
                <a16:creationId xmlns:a16="http://schemas.microsoft.com/office/drawing/2014/main" id="{7CC767AF-77AB-8175-0013-A15483AF9E0F}"/>
              </a:ext>
            </a:extLst>
          </p:cNvPr>
          <p:cNvSpPr>
            <a:spLocks noGrp="1"/>
          </p:cNvSpPr>
          <p:nvPr>
            <p:ph type="sldNum" sz="quarter" idx="12"/>
          </p:nvPr>
        </p:nvSpPr>
        <p:spPr/>
        <p:txBody>
          <a:bodyPr/>
          <a:lstStyle/>
          <a:p>
            <a:fld id="{14659731-6BD7-46E7-8D3C-2F3AC07E20B1}" type="slidenum">
              <a:rPr lang="en-US" altLang="zh-CN" smtClean="0"/>
              <a:pPr/>
              <a:t>102</a:t>
            </a:fld>
            <a:endParaRPr lang="en-US" altLang="zh-CN" dirty="0"/>
          </a:p>
        </p:txBody>
      </p:sp>
    </p:spTree>
    <p:extLst>
      <p:ext uri="{BB962C8B-B14F-4D97-AF65-F5344CB8AC3E}">
        <p14:creationId xmlns:p14="http://schemas.microsoft.com/office/powerpoint/2010/main" val="13794874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a:lstStyle/>
          <a:p>
            <a:r>
              <a:rPr lang="en-US" altLang="zh-CN" dirty="0"/>
              <a:t>Quine-McCluskey</a:t>
            </a:r>
            <a:r>
              <a:rPr lang="zh-CN" altLang="en-US" dirty="0"/>
              <a:t>法</a:t>
            </a:r>
          </a:p>
        </p:txBody>
      </p:sp>
      <p:sp>
        <p:nvSpPr>
          <p:cNvPr id="98307" name="内容占位符 2"/>
          <p:cNvSpPr>
            <a:spLocks noGrp="1"/>
          </p:cNvSpPr>
          <p:nvPr>
            <p:ph idx="1"/>
          </p:nvPr>
        </p:nvSpPr>
        <p:spPr/>
        <p:txBody>
          <a:bodyPr/>
          <a:lstStyle/>
          <a:p>
            <a:pPr>
              <a:lnSpc>
                <a:spcPct val="150000"/>
              </a:lnSpc>
            </a:pPr>
            <a:r>
              <a:rPr lang="zh-CN" altLang="en-US" sz="2800" dirty="0"/>
              <a:t>由</a:t>
            </a:r>
            <a:r>
              <a:rPr lang="en-US" altLang="zh-CN" sz="2800" dirty="0"/>
              <a:t>W.V. </a:t>
            </a:r>
            <a:r>
              <a:rPr lang="en-US" altLang="zh-CN" sz="2800" dirty="0" err="1"/>
              <a:t>Quine</a:t>
            </a:r>
            <a:r>
              <a:rPr lang="zh-CN" altLang="en-US" sz="2800" dirty="0"/>
              <a:t>和</a:t>
            </a:r>
            <a:r>
              <a:rPr lang="en-US" altLang="zh-CN" sz="2800" dirty="0"/>
              <a:t>Edward J. </a:t>
            </a:r>
            <a:r>
              <a:rPr lang="en-US" altLang="zh-CN" sz="2800" dirty="0" err="1"/>
              <a:t>McCluskey</a:t>
            </a:r>
            <a:r>
              <a:rPr lang="zh-CN" altLang="en-US" sz="2800" dirty="0"/>
              <a:t>提出的表格形式的化简方法</a:t>
            </a:r>
            <a:endParaRPr lang="en-US" altLang="zh-CN" sz="2800" dirty="0"/>
          </a:p>
          <a:p>
            <a:pPr>
              <a:lnSpc>
                <a:spcPct val="150000"/>
              </a:lnSpc>
            </a:pPr>
            <a:r>
              <a:rPr lang="zh-CN" altLang="en-US" sz="2800" dirty="0"/>
              <a:t>可用计算机辅助设计</a:t>
            </a:r>
            <a:endParaRPr lang="en-US" altLang="zh-CN" sz="2800" dirty="0"/>
          </a:p>
          <a:p>
            <a:pPr>
              <a:lnSpc>
                <a:spcPct val="150000"/>
              </a:lnSpc>
            </a:pPr>
            <a:r>
              <a:rPr lang="zh-CN" altLang="en-US" sz="2800" dirty="0"/>
              <a:t>与卡诺图方法一致，找出相邻最小项，消除变量因子</a:t>
            </a:r>
            <a:r>
              <a:rPr lang="en-US" altLang="zh-CN" sz="2800" dirty="0"/>
              <a:t> </a:t>
            </a:r>
          </a:p>
          <a:p>
            <a:pPr>
              <a:lnSpc>
                <a:spcPct val="150000"/>
              </a:lnSpc>
            </a:pPr>
            <a:r>
              <a:rPr lang="zh-CN" altLang="en-US" sz="2800" dirty="0"/>
              <a:t>用于多输入变量的函数化简</a:t>
            </a:r>
          </a:p>
        </p:txBody>
      </p:sp>
      <p:sp>
        <p:nvSpPr>
          <p:cNvPr id="2" name="灯片编号占位符 1">
            <a:extLst>
              <a:ext uri="{FF2B5EF4-FFF2-40B4-BE49-F238E27FC236}">
                <a16:creationId xmlns:a16="http://schemas.microsoft.com/office/drawing/2014/main" id="{02F6FF6A-B6C8-7B88-4155-AB52BD176F1E}"/>
              </a:ext>
            </a:extLst>
          </p:cNvPr>
          <p:cNvSpPr>
            <a:spLocks noGrp="1"/>
          </p:cNvSpPr>
          <p:nvPr>
            <p:ph type="sldNum" sz="quarter" idx="12"/>
          </p:nvPr>
        </p:nvSpPr>
        <p:spPr/>
        <p:txBody>
          <a:bodyPr/>
          <a:lstStyle/>
          <a:p>
            <a:fld id="{14659731-6BD7-46E7-8D3C-2F3AC07E20B1}" type="slidenum">
              <a:rPr lang="en-US" altLang="zh-CN" smtClean="0"/>
              <a:pPr/>
              <a:t>103</a:t>
            </a:fld>
            <a:endParaRPr lang="en-US" altLang="zh-CN" dirty="0"/>
          </a:p>
        </p:txBody>
      </p:sp>
    </p:spTree>
    <p:extLst>
      <p:ext uri="{BB962C8B-B14F-4D97-AF65-F5344CB8AC3E}">
        <p14:creationId xmlns:p14="http://schemas.microsoft.com/office/powerpoint/2010/main" val="13505068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C442C7B1-E190-419A-69A6-A95A2A20179E}"/>
              </a:ext>
            </a:extLst>
          </p:cNvPr>
          <p:cNvGrpSpPr/>
          <p:nvPr/>
        </p:nvGrpSpPr>
        <p:grpSpPr>
          <a:xfrm>
            <a:off x="510154" y="1312318"/>
            <a:ext cx="8176646" cy="5409158"/>
            <a:chOff x="539552" y="1312317"/>
            <a:chExt cx="7992888" cy="5573067"/>
          </a:xfrm>
        </p:grpSpPr>
        <p:sp>
          <p:nvSpPr>
            <p:cNvPr id="51" name="圆角矩形 50">
              <a:extLst>
                <a:ext uri="{FF2B5EF4-FFF2-40B4-BE49-F238E27FC236}">
                  <a16:creationId xmlns:a16="http://schemas.microsoft.com/office/drawing/2014/main" id="{EB413186-ED73-FB44-BD45-3CAC385790F3}"/>
                </a:ext>
              </a:extLst>
            </p:cNvPr>
            <p:cNvSpPr/>
            <p:nvPr/>
          </p:nvSpPr>
          <p:spPr bwMode="auto">
            <a:xfrm>
              <a:off x="539552" y="4632966"/>
              <a:ext cx="1120806" cy="524226"/>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布尔代数</a:t>
              </a:r>
            </a:p>
          </p:txBody>
        </p:sp>
        <p:sp>
          <p:nvSpPr>
            <p:cNvPr id="53" name="圆角矩形 52">
              <a:extLst>
                <a:ext uri="{FF2B5EF4-FFF2-40B4-BE49-F238E27FC236}">
                  <a16:creationId xmlns:a16="http://schemas.microsoft.com/office/drawing/2014/main" id="{BCD5C7DE-245E-1641-8639-CD950B0C02A8}"/>
                </a:ext>
              </a:extLst>
            </p:cNvPr>
            <p:cNvSpPr/>
            <p:nvPr/>
          </p:nvSpPr>
          <p:spPr bwMode="auto">
            <a:xfrm>
              <a:off x="2036273" y="3796593"/>
              <a:ext cx="999100" cy="524226"/>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布尔代数</a:t>
              </a:r>
            </a:p>
          </p:txBody>
        </p:sp>
        <p:sp>
          <p:nvSpPr>
            <p:cNvPr id="54" name="圆角矩形 53">
              <a:extLst>
                <a:ext uri="{FF2B5EF4-FFF2-40B4-BE49-F238E27FC236}">
                  <a16:creationId xmlns:a16="http://schemas.microsoft.com/office/drawing/2014/main" id="{04C3BD68-4C52-9C4A-BE68-573CC5D48754}"/>
                </a:ext>
              </a:extLst>
            </p:cNvPr>
            <p:cNvSpPr/>
            <p:nvPr/>
          </p:nvSpPr>
          <p:spPr bwMode="auto">
            <a:xfrm>
              <a:off x="2042075" y="4633746"/>
              <a:ext cx="1011205" cy="524228"/>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描述</a:t>
              </a:r>
            </a:p>
          </p:txBody>
        </p:sp>
        <p:sp>
          <p:nvSpPr>
            <p:cNvPr id="55" name="圆角矩形 54">
              <a:extLst>
                <a:ext uri="{FF2B5EF4-FFF2-40B4-BE49-F238E27FC236}">
                  <a16:creationId xmlns:a16="http://schemas.microsoft.com/office/drawing/2014/main" id="{01D8FC52-AA7D-6F4E-9741-819E103077E4}"/>
                </a:ext>
              </a:extLst>
            </p:cNvPr>
            <p:cNvSpPr/>
            <p:nvPr/>
          </p:nvSpPr>
          <p:spPr bwMode="auto">
            <a:xfrm>
              <a:off x="2043186" y="5862551"/>
              <a:ext cx="1452315" cy="524228"/>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化简</a:t>
              </a:r>
            </a:p>
          </p:txBody>
        </p:sp>
        <p:sp>
          <p:nvSpPr>
            <p:cNvPr id="56" name="圆角矩形 55">
              <a:extLst>
                <a:ext uri="{FF2B5EF4-FFF2-40B4-BE49-F238E27FC236}">
                  <a16:creationId xmlns:a16="http://schemas.microsoft.com/office/drawing/2014/main" id="{A4121B91-FC1C-584C-A1ED-CB0A3E57693B}"/>
                </a:ext>
              </a:extLst>
            </p:cNvPr>
            <p:cNvSpPr/>
            <p:nvPr/>
          </p:nvSpPr>
          <p:spPr bwMode="auto">
            <a:xfrm>
              <a:off x="3652676" y="3880410"/>
              <a:ext cx="1637172" cy="356593"/>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布尔逻辑</a:t>
              </a:r>
            </a:p>
          </p:txBody>
        </p:sp>
        <p:sp>
          <p:nvSpPr>
            <p:cNvPr id="37" name="圆角矩形 36">
              <a:extLst>
                <a:ext uri="{FF2B5EF4-FFF2-40B4-BE49-F238E27FC236}">
                  <a16:creationId xmlns:a16="http://schemas.microsoft.com/office/drawing/2014/main" id="{6FDCD4E8-56AA-CB46-8846-A97ED3A9AE53}"/>
                </a:ext>
              </a:extLst>
            </p:cNvPr>
            <p:cNvSpPr/>
            <p:nvPr/>
          </p:nvSpPr>
          <p:spPr bwMode="auto">
            <a:xfrm>
              <a:off x="539552" y="2177705"/>
              <a:ext cx="1120806" cy="524226"/>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数的表示</a:t>
              </a:r>
            </a:p>
          </p:txBody>
        </p:sp>
        <p:sp>
          <p:nvSpPr>
            <p:cNvPr id="38" name="圆角矩形 37">
              <a:extLst>
                <a:ext uri="{FF2B5EF4-FFF2-40B4-BE49-F238E27FC236}">
                  <a16:creationId xmlns:a16="http://schemas.microsoft.com/office/drawing/2014/main" id="{A59BAAFB-A2FF-5F42-952A-D2F791B639B1}"/>
                </a:ext>
              </a:extLst>
            </p:cNvPr>
            <p:cNvSpPr/>
            <p:nvPr/>
          </p:nvSpPr>
          <p:spPr bwMode="auto">
            <a:xfrm>
              <a:off x="3652676" y="2520809"/>
              <a:ext cx="877789"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54000" tIns="45720" rIns="5400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ASCII</a:t>
              </a:r>
              <a:endParaRPr kumimoji="0" lang="zh-CN" altLang="en-US"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sp>
          <p:nvSpPr>
            <p:cNvPr id="39" name="圆角矩形 38">
              <a:extLst>
                <a:ext uri="{FF2B5EF4-FFF2-40B4-BE49-F238E27FC236}">
                  <a16:creationId xmlns:a16="http://schemas.microsoft.com/office/drawing/2014/main" id="{F877C2AA-45C1-FB42-9816-E6D531AABD71}"/>
                </a:ext>
              </a:extLst>
            </p:cNvPr>
            <p:cNvSpPr/>
            <p:nvPr/>
          </p:nvSpPr>
          <p:spPr bwMode="auto">
            <a:xfrm>
              <a:off x="2117062" y="1782667"/>
              <a:ext cx="918311" cy="535949"/>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二进制</a:t>
              </a:r>
            </a:p>
          </p:txBody>
        </p:sp>
        <p:sp>
          <p:nvSpPr>
            <p:cNvPr id="40" name="圆角矩形 39">
              <a:extLst>
                <a:ext uri="{FF2B5EF4-FFF2-40B4-BE49-F238E27FC236}">
                  <a16:creationId xmlns:a16="http://schemas.microsoft.com/office/drawing/2014/main" id="{2930BEFA-E07E-504A-A34E-40381952A36B}"/>
                </a:ext>
              </a:extLst>
            </p:cNvPr>
            <p:cNvSpPr/>
            <p:nvPr/>
          </p:nvSpPr>
          <p:spPr bwMode="auto">
            <a:xfrm>
              <a:off x="3659385" y="2964153"/>
              <a:ext cx="871081"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Gray</a:t>
              </a:r>
              <a:endParaRPr kumimoji="0" lang="zh-CN" altLang="en-US"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sp>
          <p:nvSpPr>
            <p:cNvPr id="41" name="圆角矩形 40">
              <a:extLst>
                <a:ext uri="{FF2B5EF4-FFF2-40B4-BE49-F238E27FC236}">
                  <a16:creationId xmlns:a16="http://schemas.microsoft.com/office/drawing/2014/main" id="{E56A7668-40C8-D546-9328-7E59182723E1}"/>
                </a:ext>
              </a:extLst>
            </p:cNvPr>
            <p:cNvSpPr/>
            <p:nvPr/>
          </p:nvSpPr>
          <p:spPr bwMode="auto">
            <a:xfrm>
              <a:off x="3709904" y="2066829"/>
              <a:ext cx="918311" cy="346797"/>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小数</a:t>
              </a:r>
            </a:p>
          </p:txBody>
        </p:sp>
        <p:sp>
          <p:nvSpPr>
            <p:cNvPr id="42" name="圆角矩形 41">
              <a:extLst>
                <a:ext uri="{FF2B5EF4-FFF2-40B4-BE49-F238E27FC236}">
                  <a16:creationId xmlns:a16="http://schemas.microsoft.com/office/drawing/2014/main" id="{40A66802-834E-A949-B91C-9C8858D44682}"/>
                </a:ext>
              </a:extLst>
            </p:cNvPr>
            <p:cNvSpPr/>
            <p:nvPr/>
          </p:nvSpPr>
          <p:spPr bwMode="auto">
            <a:xfrm>
              <a:off x="6838055" y="2268556"/>
              <a:ext cx="1689245" cy="48122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latin typeface="Arial" panose="020B0604020202020204" pitchFamily="34" charset="0"/>
                  <a:ea typeface="SimHei" panose="02010609060101010101" pitchFamily="49" charset="-122"/>
                  <a:cs typeface="Arial" panose="020B0604020202020204" pitchFamily="34" charset="0"/>
                </a:rPr>
                <a:t>减法与溢出</a:t>
              </a:r>
            </a:p>
          </p:txBody>
        </p:sp>
        <p:sp>
          <p:nvSpPr>
            <p:cNvPr id="49" name="圆角矩形 48">
              <a:extLst>
                <a:ext uri="{FF2B5EF4-FFF2-40B4-BE49-F238E27FC236}">
                  <a16:creationId xmlns:a16="http://schemas.microsoft.com/office/drawing/2014/main" id="{DB0386E3-5F63-8C43-ADF6-0B65D6546F42}"/>
                </a:ext>
              </a:extLst>
            </p:cNvPr>
            <p:cNvSpPr/>
            <p:nvPr/>
          </p:nvSpPr>
          <p:spPr bwMode="auto">
            <a:xfrm>
              <a:off x="6843195" y="1710659"/>
              <a:ext cx="1689245"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latin typeface="Arial" panose="020B0604020202020204" pitchFamily="34" charset="0"/>
                  <a:ea typeface="SimHei" panose="02010609060101010101" pitchFamily="49" charset="-122"/>
                  <a:cs typeface="Arial" panose="020B0604020202020204" pitchFamily="34" charset="0"/>
                </a:rPr>
                <a:t>补码（</a:t>
              </a:r>
              <a:r>
                <a:rPr lang="en-US" altLang="zh-CN" sz="1600" b="1" dirty="0">
                  <a:latin typeface="Arial" panose="020B0604020202020204" pitchFamily="34" charset="0"/>
                  <a:ea typeface="SimHei" panose="02010609060101010101" pitchFamily="49" charset="-122"/>
                  <a:cs typeface="Arial" panose="020B0604020202020204" pitchFamily="34" charset="0"/>
                </a:rPr>
                <a:t>2</a:t>
              </a:r>
              <a:r>
                <a:rPr lang="zh-CN" altLang="en-US" sz="1600" b="1" dirty="0">
                  <a:latin typeface="Arial" panose="020B0604020202020204" pitchFamily="34" charset="0"/>
                  <a:ea typeface="SimHei" panose="02010609060101010101" pitchFamily="49" charset="-122"/>
                  <a:cs typeface="Arial" panose="020B0604020202020204" pitchFamily="34" charset="0"/>
                </a:rPr>
                <a:t>补码）</a:t>
              </a:r>
              <a:endParaRPr lang="en-US" sz="1600" b="1" dirty="0">
                <a:latin typeface="Arial" panose="020B0604020202020204" pitchFamily="34" charset="0"/>
                <a:ea typeface="SimHei" panose="02010609060101010101" pitchFamily="49" charset="-122"/>
                <a:cs typeface="Arial" panose="020B0604020202020204" pitchFamily="34" charset="0"/>
              </a:endParaRPr>
            </a:p>
          </p:txBody>
        </p:sp>
        <p:cxnSp>
          <p:nvCxnSpPr>
            <p:cNvPr id="68" name="肘形连接符 67">
              <a:extLst>
                <a:ext uri="{FF2B5EF4-FFF2-40B4-BE49-F238E27FC236}">
                  <a16:creationId xmlns:a16="http://schemas.microsoft.com/office/drawing/2014/main" id="{5C5F588E-F4E7-F946-A7CD-52FDBF2FA56A}"/>
                </a:ext>
              </a:extLst>
            </p:cNvPr>
            <p:cNvCxnSpPr>
              <a:cxnSpLocks/>
              <a:stCxn id="37" idx="3"/>
              <a:endCxn id="39" idx="1"/>
            </p:cNvCxnSpPr>
            <p:nvPr/>
          </p:nvCxnSpPr>
          <p:spPr bwMode="auto">
            <a:xfrm flipV="1">
              <a:off x="1660358" y="2050642"/>
              <a:ext cx="456704" cy="389176"/>
            </a:xfrm>
            <a:prstGeom prst="bentConnector3">
              <a:avLst/>
            </a:prstGeom>
            <a:solidFill>
              <a:schemeClr val="accent1"/>
            </a:solidFill>
            <a:ln w="38100" cap="flat" cmpd="sng" algn="ctr">
              <a:solidFill>
                <a:schemeClr val="tx1"/>
              </a:solidFill>
              <a:prstDash val="solid"/>
              <a:round/>
              <a:headEnd type="none" w="med" len="med"/>
              <a:tailEnd type="triangle"/>
            </a:ln>
            <a:effectLst/>
          </p:spPr>
        </p:cxnSp>
        <p:cxnSp>
          <p:nvCxnSpPr>
            <p:cNvPr id="71" name="肘形连接符 70">
              <a:extLst>
                <a:ext uri="{FF2B5EF4-FFF2-40B4-BE49-F238E27FC236}">
                  <a16:creationId xmlns:a16="http://schemas.microsoft.com/office/drawing/2014/main" id="{55B6001B-0C73-2043-AD47-D60672D301C8}"/>
                </a:ext>
              </a:extLst>
            </p:cNvPr>
            <p:cNvCxnSpPr>
              <a:cxnSpLocks/>
              <a:stCxn id="37" idx="3"/>
              <a:endCxn id="85" idx="1"/>
            </p:cNvCxnSpPr>
            <p:nvPr/>
          </p:nvCxnSpPr>
          <p:spPr bwMode="auto">
            <a:xfrm>
              <a:off x="1660358" y="2439818"/>
              <a:ext cx="456704" cy="507952"/>
            </a:xfrm>
            <a:prstGeom prst="bentConnector3">
              <a:avLst/>
            </a:prstGeom>
            <a:solidFill>
              <a:schemeClr val="accent1"/>
            </a:solidFill>
            <a:ln w="38100" cap="flat" cmpd="sng" algn="ctr">
              <a:solidFill>
                <a:schemeClr val="tx1"/>
              </a:solidFill>
              <a:prstDash val="solid"/>
              <a:round/>
              <a:headEnd type="none" w="med" len="med"/>
              <a:tailEnd type="triangle"/>
            </a:ln>
            <a:effectLst/>
          </p:spPr>
        </p:cxnSp>
        <p:cxnSp>
          <p:nvCxnSpPr>
            <p:cNvPr id="74" name="肘形连接符 73">
              <a:extLst>
                <a:ext uri="{FF2B5EF4-FFF2-40B4-BE49-F238E27FC236}">
                  <a16:creationId xmlns:a16="http://schemas.microsoft.com/office/drawing/2014/main" id="{A227A50F-F0B8-1944-9D45-2F91B98FCFA8}"/>
                </a:ext>
              </a:extLst>
            </p:cNvPr>
            <p:cNvCxnSpPr>
              <a:cxnSpLocks/>
              <a:stCxn id="39" idx="3"/>
              <a:endCxn id="41" idx="1"/>
            </p:cNvCxnSpPr>
            <p:nvPr/>
          </p:nvCxnSpPr>
          <p:spPr bwMode="auto">
            <a:xfrm>
              <a:off x="3035373" y="2050642"/>
              <a:ext cx="674531" cy="18958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80" name="肘形连接符 79">
              <a:extLst>
                <a:ext uri="{FF2B5EF4-FFF2-40B4-BE49-F238E27FC236}">
                  <a16:creationId xmlns:a16="http://schemas.microsoft.com/office/drawing/2014/main" id="{6D084903-159D-6341-B002-C23B64821656}"/>
                </a:ext>
              </a:extLst>
            </p:cNvPr>
            <p:cNvCxnSpPr>
              <a:cxnSpLocks/>
              <a:stCxn id="102" idx="3"/>
              <a:endCxn id="49" idx="1"/>
            </p:cNvCxnSpPr>
            <p:nvPr/>
          </p:nvCxnSpPr>
          <p:spPr bwMode="auto">
            <a:xfrm>
              <a:off x="6288061" y="1692768"/>
              <a:ext cx="555134" cy="16305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96" name="肘形连接符 95">
              <a:extLst>
                <a:ext uri="{FF2B5EF4-FFF2-40B4-BE49-F238E27FC236}">
                  <a16:creationId xmlns:a16="http://schemas.microsoft.com/office/drawing/2014/main" id="{B7C87EDF-4162-604D-B9BD-0231D350795B}"/>
                </a:ext>
              </a:extLst>
            </p:cNvPr>
            <p:cNvCxnSpPr>
              <a:cxnSpLocks/>
              <a:stCxn id="51" idx="3"/>
              <a:endCxn id="53" idx="1"/>
            </p:cNvCxnSpPr>
            <p:nvPr/>
          </p:nvCxnSpPr>
          <p:spPr bwMode="auto">
            <a:xfrm flipV="1">
              <a:off x="1660358" y="4058706"/>
              <a:ext cx="375915" cy="836373"/>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00" name="肘形连接符 99">
              <a:extLst>
                <a:ext uri="{FF2B5EF4-FFF2-40B4-BE49-F238E27FC236}">
                  <a16:creationId xmlns:a16="http://schemas.microsoft.com/office/drawing/2014/main" id="{AAF7A1F1-7887-EE45-9020-AE2515880C9F}"/>
                </a:ext>
              </a:extLst>
            </p:cNvPr>
            <p:cNvCxnSpPr>
              <a:cxnSpLocks/>
              <a:stCxn id="51" idx="3"/>
              <a:endCxn id="55" idx="1"/>
            </p:cNvCxnSpPr>
            <p:nvPr/>
          </p:nvCxnSpPr>
          <p:spPr bwMode="auto">
            <a:xfrm>
              <a:off x="1660358" y="4895079"/>
              <a:ext cx="382828" cy="1229586"/>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01" name="肘形连接符 100">
              <a:extLst>
                <a:ext uri="{FF2B5EF4-FFF2-40B4-BE49-F238E27FC236}">
                  <a16:creationId xmlns:a16="http://schemas.microsoft.com/office/drawing/2014/main" id="{09384EEE-1550-9C44-B7D2-81FA3230F83C}"/>
                </a:ext>
              </a:extLst>
            </p:cNvPr>
            <p:cNvCxnSpPr>
              <a:cxnSpLocks/>
              <a:stCxn id="51" idx="3"/>
              <a:endCxn id="54" idx="1"/>
            </p:cNvCxnSpPr>
            <p:nvPr/>
          </p:nvCxnSpPr>
          <p:spPr bwMode="auto">
            <a:xfrm>
              <a:off x="1660358" y="4895079"/>
              <a:ext cx="381717" cy="781"/>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108" name="肘形连接符 107">
              <a:extLst>
                <a:ext uri="{FF2B5EF4-FFF2-40B4-BE49-F238E27FC236}">
                  <a16:creationId xmlns:a16="http://schemas.microsoft.com/office/drawing/2014/main" id="{D839AC2E-8574-6B4F-BBBD-F48B69B0693C}"/>
                </a:ext>
              </a:extLst>
            </p:cNvPr>
            <p:cNvCxnSpPr>
              <a:cxnSpLocks/>
              <a:stCxn id="53" idx="3"/>
              <a:endCxn id="56" idx="1"/>
            </p:cNvCxnSpPr>
            <p:nvPr/>
          </p:nvCxnSpPr>
          <p:spPr bwMode="auto">
            <a:xfrm>
              <a:off x="3035373" y="4058706"/>
              <a:ext cx="617303" cy="1"/>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70" name="肘形连接符 69">
              <a:extLst>
                <a:ext uri="{FF2B5EF4-FFF2-40B4-BE49-F238E27FC236}">
                  <a16:creationId xmlns:a16="http://schemas.microsoft.com/office/drawing/2014/main" id="{2EB6DC23-6D93-C949-B9FB-D3F81FDDB6AC}"/>
                </a:ext>
              </a:extLst>
            </p:cNvPr>
            <p:cNvCxnSpPr>
              <a:cxnSpLocks/>
              <a:stCxn id="39" idx="3"/>
              <a:endCxn id="72" idx="1"/>
            </p:cNvCxnSpPr>
            <p:nvPr/>
          </p:nvCxnSpPr>
          <p:spPr bwMode="auto">
            <a:xfrm flipV="1">
              <a:off x="3035373" y="1828020"/>
              <a:ext cx="674531" cy="222622"/>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72" name="圆角矩形 71">
              <a:extLst>
                <a:ext uri="{FF2B5EF4-FFF2-40B4-BE49-F238E27FC236}">
                  <a16:creationId xmlns:a16="http://schemas.microsoft.com/office/drawing/2014/main" id="{A197D3B6-1477-C348-80DF-9685994E21C1}"/>
                </a:ext>
              </a:extLst>
            </p:cNvPr>
            <p:cNvSpPr/>
            <p:nvPr/>
          </p:nvSpPr>
          <p:spPr bwMode="auto">
            <a:xfrm>
              <a:off x="3709904" y="1654621"/>
              <a:ext cx="922425" cy="346797"/>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整数</a:t>
              </a:r>
            </a:p>
          </p:txBody>
        </p:sp>
        <p:sp>
          <p:nvSpPr>
            <p:cNvPr id="85" name="圆角矩形 84">
              <a:extLst>
                <a:ext uri="{FF2B5EF4-FFF2-40B4-BE49-F238E27FC236}">
                  <a16:creationId xmlns:a16="http://schemas.microsoft.com/office/drawing/2014/main" id="{FBDEF8A8-55AF-9F42-9EBF-C80C4D1E7A25}"/>
                </a:ext>
              </a:extLst>
            </p:cNvPr>
            <p:cNvSpPr/>
            <p:nvPr/>
          </p:nvSpPr>
          <p:spPr bwMode="auto">
            <a:xfrm>
              <a:off x="2117062" y="2679795"/>
              <a:ext cx="1050782" cy="535949"/>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其他表示</a:t>
              </a:r>
            </a:p>
          </p:txBody>
        </p:sp>
        <p:cxnSp>
          <p:nvCxnSpPr>
            <p:cNvPr id="87" name="肘形连接符 86">
              <a:extLst>
                <a:ext uri="{FF2B5EF4-FFF2-40B4-BE49-F238E27FC236}">
                  <a16:creationId xmlns:a16="http://schemas.microsoft.com/office/drawing/2014/main" id="{A4F9E576-835C-3E4C-8B60-E37DB4AAC3AD}"/>
                </a:ext>
              </a:extLst>
            </p:cNvPr>
            <p:cNvCxnSpPr>
              <a:cxnSpLocks/>
              <a:stCxn id="85" idx="3"/>
              <a:endCxn id="40" idx="1"/>
            </p:cNvCxnSpPr>
            <p:nvPr/>
          </p:nvCxnSpPr>
          <p:spPr bwMode="auto">
            <a:xfrm>
              <a:off x="3167844" y="2947770"/>
              <a:ext cx="491541" cy="197505"/>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90" name="肘形连接符 89">
              <a:extLst>
                <a:ext uri="{FF2B5EF4-FFF2-40B4-BE49-F238E27FC236}">
                  <a16:creationId xmlns:a16="http://schemas.microsoft.com/office/drawing/2014/main" id="{18CCD226-4B5C-BE4B-AAFC-D73E28AB2AB0}"/>
                </a:ext>
              </a:extLst>
            </p:cNvPr>
            <p:cNvCxnSpPr>
              <a:cxnSpLocks/>
              <a:stCxn id="85" idx="3"/>
              <a:endCxn id="38" idx="1"/>
            </p:cNvCxnSpPr>
            <p:nvPr/>
          </p:nvCxnSpPr>
          <p:spPr bwMode="auto">
            <a:xfrm flipV="1">
              <a:off x="3167844" y="2701931"/>
              <a:ext cx="484832" cy="24583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102" name="圆角矩形 101">
              <a:extLst>
                <a:ext uri="{FF2B5EF4-FFF2-40B4-BE49-F238E27FC236}">
                  <a16:creationId xmlns:a16="http://schemas.microsoft.com/office/drawing/2014/main" id="{166123E9-5FEE-7848-B764-2F4069A9C746}"/>
                </a:ext>
              </a:extLst>
            </p:cNvPr>
            <p:cNvSpPr/>
            <p:nvPr/>
          </p:nvSpPr>
          <p:spPr bwMode="auto">
            <a:xfrm>
              <a:off x="5128071" y="1547603"/>
              <a:ext cx="1159990"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eaLnBrk="1" latinLnBrk="0" hangingPunct="1">
                <a:lnSpc>
                  <a:spcPct val="100000"/>
                </a:lnSpc>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有符号数</a:t>
              </a:r>
            </a:p>
          </p:txBody>
        </p:sp>
        <p:sp>
          <p:nvSpPr>
            <p:cNvPr id="103" name="圆角矩形 102">
              <a:extLst>
                <a:ext uri="{FF2B5EF4-FFF2-40B4-BE49-F238E27FC236}">
                  <a16:creationId xmlns:a16="http://schemas.microsoft.com/office/drawing/2014/main" id="{ACC20271-3519-7A4E-AF1F-16EA6E6B48D1}"/>
                </a:ext>
              </a:extLst>
            </p:cNvPr>
            <p:cNvSpPr/>
            <p:nvPr/>
          </p:nvSpPr>
          <p:spPr bwMode="auto">
            <a:xfrm>
              <a:off x="5138650" y="1939976"/>
              <a:ext cx="1159990" cy="299563"/>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无符号数</a:t>
              </a:r>
            </a:p>
          </p:txBody>
        </p:sp>
        <p:cxnSp>
          <p:nvCxnSpPr>
            <p:cNvPr id="104" name="肘形连接符 103">
              <a:extLst>
                <a:ext uri="{FF2B5EF4-FFF2-40B4-BE49-F238E27FC236}">
                  <a16:creationId xmlns:a16="http://schemas.microsoft.com/office/drawing/2014/main" id="{49127549-28F2-8D41-A48F-0AC799CB1E0B}"/>
                </a:ext>
              </a:extLst>
            </p:cNvPr>
            <p:cNvCxnSpPr>
              <a:cxnSpLocks/>
              <a:stCxn id="72" idx="3"/>
              <a:endCxn id="102" idx="1"/>
            </p:cNvCxnSpPr>
            <p:nvPr/>
          </p:nvCxnSpPr>
          <p:spPr bwMode="auto">
            <a:xfrm flipV="1">
              <a:off x="4632329" y="1692768"/>
              <a:ext cx="495742" cy="135252"/>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09" name="肘形连接符 108">
              <a:extLst>
                <a:ext uri="{FF2B5EF4-FFF2-40B4-BE49-F238E27FC236}">
                  <a16:creationId xmlns:a16="http://schemas.microsoft.com/office/drawing/2014/main" id="{7F5FC52B-E5E7-D64C-AE13-E9C897E16C12}"/>
                </a:ext>
              </a:extLst>
            </p:cNvPr>
            <p:cNvCxnSpPr>
              <a:cxnSpLocks/>
              <a:stCxn id="72" idx="3"/>
              <a:endCxn id="103" idx="1"/>
            </p:cNvCxnSpPr>
            <p:nvPr/>
          </p:nvCxnSpPr>
          <p:spPr bwMode="auto">
            <a:xfrm>
              <a:off x="4632329" y="1828020"/>
              <a:ext cx="506321" cy="261738"/>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122" name="圆角矩形 121">
              <a:extLst>
                <a:ext uri="{FF2B5EF4-FFF2-40B4-BE49-F238E27FC236}">
                  <a16:creationId xmlns:a16="http://schemas.microsoft.com/office/drawing/2014/main" id="{8E4FB77C-9AC2-6449-B785-E437AAA6E59E}"/>
                </a:ext>
              </a:extLst>
            </p:cNvPr>
            <p:cNvSpPr/>
            <p:nvPr/>
          </p:nvSpPr>
          <p:spPr bwMode="auto">
            <a:xfrm>
              <a:off x="6843195" y="1312317"/>
              <a:ext cx="1689245" cy="290330"/>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b="1" dirty="0">
                  <a:latin typeface="Arial" panose="020B0604020202020204" pitchFamily="34" charset="0"/>
                  <a:ea typeface="SimHei" panose="02010609060101010101" pitchFamily="49" charset="-122"/>
                  <a:cs typeface="Arial" panose="020B0604020202020204" pitchFamily="34" charset="0"/>
                </a:rPr>
                <a:t>反码（</a:t>
              </a:r>
              <a:r>
                <a:rPr lang="en-US" altLang="zh-CN" sz="1600" b="1" dirty="0">
                  <a:latin typeface="Arial" panose="020B0604020202020204" pitchFamily="34" charset="0"/>
                  <a:ea typeface="SimHei" panose="02010609060101010101" pitchFamily="49" charset="-122"/>
                  <a:cs typeface="Arial" panose="020B0604020202020204" pitchFamily="34" charset="0"/>
                </a:rPr>
                <a:t>1</a:t>
              </a:r>
              <a:r>
                <a:rPr lang="zh-CN" altLang="en-US" sz="1600" b="1" dirty="0">
                  <a:latin typeface="Arial" panose="020B0604020202020204" pitchFamily="34" charset="0"/>
                  <a:ea typeface="SimHei" panose="02010609060101010101" pitchFamily="49" charset="-122"/>
                  <a:cs typeface="Arial" panose="020B0604020202020204" pitchFamily="34" charset="0"/>
                </a:rPr>
                <a:t>补码）</a:t>
              </a:r>
              <a:endParaRPr kumimoji="0" lang="zh-CN" altLang="en-US"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124" name="肘形连接符 123">
              <a:extLst>
                <a:ext uri="{FF2B5EF4-FFF2-40B4-BE49-F238E27FC236}">
                  <a16:creationId xmlns:a16="http://schemas.microsoft.com/office/drawing/2014/main" id="{F8BCBC49-E145-B747-AB18-A8999F8779B1}"/>
                </a:ext>
              </a:extLst>
            </p:cNvPr>
            <p:cNvCxnSpPr>
              <a:cxnSpLocks/>
              <a:stCxn id="102" idx="3"/>
              <a:endCxn id="122" idx="1"/>
            </p:cNvCxnSpPr>
            <p:nvPr/>
          </p:nvCxnSpPr>
          <p:spPr bwMode="auto">
            <a:xfrm flipV="1">
              <a:off x="6288061" y="1457482"/>
              <a:ext cx="555134" cy="235286"/>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135" name="圆角矩形 134">
              <a:extLst>
                <a:ext uri="{FF2B5EF4-FFF2-40B4-BE49-F238E27FC236}">
                  <a16:creationId xmlns:a16="http://schemas.microsoft.com/office/drawing/2014/main" id="{FA2E6AAC-28C3-2148-9383-C558165C84C4}"/>
                </a:ext>
              </a:extLst>
            </p:cNvPr>
            <p:cNvSpPr/>
            <p:nvPr/>
          </p:nvSpPr>
          <p:spPr bwMode="auto">
            <a:xfrm>
              <a:off x="5161112" y="2347770"/>
              <a:ext cx="1538410" cy="290330"/>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定点数</a:t>
              </a:r>
            </a:p>
          </p:txBody>
        </p:sp>
        <p:sp>
          <p:nvSpPr>
            <p:cNvPr id="139" name="圆角矩形 138">
              <a:extLst>
                <a:ext uri="{FF2B5EF4-FFF2-40B4-BE49-F238E27FC236}">
                  <a16:creationId xmlns:a16="http://schemas.microsoft.com/office/drawing/2014/main" id="{EE1DFEC5-EC29-D448-9D44-75EB0388CD7E}"/>
                </a:ext>
              </a:extLst>
            </p:cNvPr>
            <p:cNvSpPr/>
            <p:nvPr/>
          </p:nvSpPr>
          <p:spPr bwMode="auto">
            <a:xfrm>
              <a:off x="5161113" y="2675946"/>
              <a:ext cx="1538410" cy="290330"/>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浮点数</a:t>
              </a:r>
            </a:p>
          </p:txBody>
        </p:sp>
        <p:sp>
          <p:nvSpPr>
            <p:cNvPr id="143" name="圆角矩形 142">
              <a:extLst>
                <a:ext uri="{FF2B5EF4-FFF2-40B4-BE49-F238E27FC236}">
                  <a16:creationId xmlns:a16="http://schemas.microsoft.com/office/drawing/2014/main" id="{18C4CCA4-A12C-7943-8791-6C300FC6FAE6}"/>
                </a:ext>
              </a:extLst>
            </p:cNvPr>
            <p:cNvSpPr/>
            <p:nvPr/>
          </p:nvSpPr>
          <p:spPr bwMode="auto">
            <a:xfrm>
              <a:off x="3659385" y="3403287"/>
              <a:ext cx="871081" cy="362244"/>
            </a:xfrm>
            <a:prstGeom prst="roundRect">
              <a:avLst/>
            </a:prstGeom>
            <a:ln w="19050">
              <a:solidFill>
                <a:schemeClr val="tx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rPr>
                <a:t>BCD</a:t>
              </a:r>
              <a:endParaRPr kumimoji="0" lang="zh-CN" altLang="en-US" sz="1600" b="0" i="0" u="none" strike="noStrike" cap="none" normalizeH="0" baseline="0" dirty="0">
                <a:ln>
                  <a:noFill/>
                </a:ln>
                <a:solidFill>
                  <a:schemeClr val="tx1"/>
                </a:solidFill>
                <a:effectLst/>
                <a:latin typeface="Arial" panose="020B0604020202020204" pitchFamily="34" charset="0"/>
                <a:ea typeface="SimHei" panose="02010609060101010101" pitchFamily="49" charset="-122"/>
                <a:cs typeface="Arial" panose="020B0604020202020204" pitchFamily="34" charset="0"/>
              </a:endParaRPr>
            </a:p>
          </p:txBody>
        </p:sp>
        <p:cxnSp>
          <p:nvCxnSpPr>
            <p:cNvPr id="150" name="肘形连接符 149">
              <a:extLst>
                <a:ext uri="{FF2B5EF4-FFF2-40B4-BE49-F238E27FC236}">
                  <a16:creationId xmlns:a16="http://schemas.microsoft.com/office/drawing/2014/main" id="{9D093077-DBAA-C448-BEDC-781F57EC566E}"/>
                </a:ext>
              </a:extLst>
            </p:cNvPr>
            <p:cNvCxnSpPr>
              <a:cxnSpLocks/>
              <a:stCxn id="85" idx="3"/>
              <a:endCxn id="143" idx="1"/>
            </p:cNvCxnSpPr>
            <p:nvPr/>
          </p:nvCxnSpPr>
          <p:spPr bwMode="auto">
            <a:xfrm>
              <a:off x="3167844" y="2947770"/>
              <a:ext cx="491541" cy="63663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56" name="肘形连接符 155">
              <a:extLst>
                <a:ext uri="{FF2B5EF4-FFF2-40B4-BE49-F238E27FC236}">
                  <a16:creationId xmlns:a16="http://schemas.microsoft.com/office/drawing/2014/main" id="{820C9306-46F3-404A-A355-1A7BFD692852}"/>
                </a:ext>
              </a:extLst>
            </p:cNvPr>
            <p:cNvCxnSpPr>
              <a:cxnSpLocks/>
              <a:stCxn id="49" idx="2"/>
            </p:cNvCxnSpPr>
            <p:nvPr/>
          </p:nvCxnSpPr>
          <p:spPr bwMode="auto">
            <a:xfrm rot="16200000" flipH="1">
              <a:off x="7555109" y="2133697"/>
              <a:ext cx="267567" cy="2149"/>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61" name="肘形连接符 160">
              <a:extLst>
                <a:ext uri="{FF2B5EF4-FFF2-40B4-BE49-F238E27FC236}">
                  <a16:creationId xmlns:a16="http://schemas.microsoft.com/office/drawing/2014/main" id="{AB9EEBF9-BF02-EB49-AF3F-AD557DC49BDB}"/>
                </a:ext>
              </a:extLst>
            </p:cNvPr>
            <p:cNvCxnSpPr>
              <a:cxnSpLocks/>
              <a:stCxn id="41" idx="3"/>
              <a:endCxn id="135" idx="1"/>
            </p:cNvCxnSpPr>
            <p:nvPr/>
          </p:nvCxnSpPr>
          <p:spPr bwMode="auto">
            <a:xfrm>
              <a:off x="4628215" y="2240228"/>
              <a:ext cx="532897" cy="252707"/>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cxnSp>
          <p:nvCxnSpPr>
            <p:cNvPr id="165" name="肘形连接符 164">
              <a:extLst>
                <a:ext uri="{FF2B5EF4-FFF2-40B4-BE49-F238E27FC236}">
                  <a16:creationId xmlns:a16="http://schemas.microsoft.com/office/drawing/2014/main" id="{6A23179C-B90A-A147-A1C5-983A6F9CC9BE}"/>
                </a:ext>
              </a:extLst>
            </p:cNvPr>
            <p:cNvCxnSpPr>
              <a:cxnSpLocks/>
              <a:stCxn id="41" idx="3"/>
              <a:endCxn id="139" idx="1"/>
            </p:cNvCxnSpPr>
            <p:nvPr/>
          </p:nvCxnSpPr>
          <p:spPr bwMode="auto">
            <a:xfrm>
              <a:off x="4628215" y="2240228"/>
              <a:ext cx="532898" cy="580883"/>
            </a:xfrm>
            <a:prstGeom prst="bentConnector3">
              <a:avLst>
                <a:gd name="adj1" fmla="val 50000"/>
              </a:avLst>
            </a:prstGeom>
            <a:solidFill>
              <a:schemeClr val="accent1"/>
            </a:solidFill>
            <a:ln w="38100" cap="flat" cmpd="sng" algn="ctr">
              <a:solidFill>
                <a:schemeClr val="tx1"/>
              </a:solidFill>
              <a:prstDash val="solid"/>
              <a:round/>
              <a:headEnd type="none" w="med" len="med"/>
              <a:tailEnd type="triangle"/>
            </a:ln>
            <a:effectLst/>
          </p:spPr>
        </p:cxnSp>
        <p:sp>
          <p:nvSpPr>
            <p:cNvPr id="172" name="圆角矩形 171">
              <a:extLst>
                <a:ext uri="{FF2B5EF4-FFF2-40B4-BE49-F238E27FC236}">
                  <a16:creationId xmlns:a16="http://schemas.microsoft.com/office/drawing/2014/main" id="{FA1CDF4E-262D-6444-AE4A-C46329C9519F}"/>
                </a:ext>
              </a:extLst>
            </p:cNvPr>
            <p:cNvSpPr/>
            <p:nvPr/>
          </p:nvSpPr>
          <p:spPr bwMode="auto">
            <a:xfrm>
              <a:off x="6413723" y="3017346"/>
              <a:ext cx="2113576" cy="358054"/>
            </a:xfrm>
            <a:prstGeom prst="roundRect">
              <a:avLst/>
            </a:prstGeom>
            <a:solidFill>
              <a:schemeClr val="accent2">
                <a:lumMod val="20000"/>
                <a:lumOff val="80000"/>
              </a:schemeClr>
            </a:solidFill>
            <a:ln w="19050">
              <a:solidFill>
                <a:schemeClr val="tx1"/>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1600" dirty="0">
                  <a:solidFill>
                    <a:schemeClr val="tx1"/>
                  </a:solidFill>
                  <a:latin typeface="Arial" panose="020B0604020202020204" pitchFamily="34" charset="0"/>
                  <a:ea typeface="SimHei" panose="02010609060101010101" pitchFamily="49" charset="-122"/>
                  <a:cs typeface="Arial" panose="020B0604020202020204" pitchFamily="34" charset="0"/>
                </a:rPr>
                <a:t>IEEE 754</a:t>
              </a: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标准</a:t>
              </a:r>
            </a:p>
          </p:txBody>
        </p:sp>
        <p:cxnSp>
          <p:nvCxnSpPr>
            <p:cNvPr id="173" name="肘形连接符 172">
              <a:extLst>
                <a:ext uri="{FF2B5EF4-FFF2-40B4-BE49-F238E27FC236}">
                  <a16:creationId xmlns:a16="http://schemas.microsoft.com/office/drawing/2014/main" id="{F579ABAC-61C9-E547-BDD8-704BE1F9D313}"/>
                </a:ext>
              </a:extLst>
            </p:cNvPr>
            <p:cNvCxnSpPr>
              <a:cxnSpLocks/>
              <a:stCxn id="139" idx="2"/>
              <a:endCxn id="172" idx="1"/>
            </p:cNvCxnSpPr>
            <p:nvPr/>
          </p:nvCxnSpPr>
          <p:spPr bwMode="auto">
            <a:xfrm rot="16200000" flipH="1">
              <a:off x="6056972" y="2839621"/>
              <a:ext cx="230097" cy="483405"/>
            </a:xfrm>
            <a:prstGeom prst="bentConnector2">
              <a:avLst/>
            </a:prstGeom>
            <a:solidFill>
              <a:schemeClr val="accent1"/>
            </a:solidFill>
            <a:ln w="38100" cap="flat" cmpd="sng" algn="ctr">
              <a:solidFill>
                <a:schemeClr val="tx1"/>
              </a:solidFill>
              <a:prstDash val="solid"/>
              <a:round/>
              <a:headEnd type="none" w="med" len="med"/>
              <a:tailEnd type="triangle"/>
            </a:ln>
            <a:effectLst/>
          </p:spPr>
        </p:cxnSp>
        <p:sp>
          <p:nvSpPr>
            <p:cNvPr id="179" name="圆角矩形 178">
              <a:extLst>
                <a:ext uri="{FF2B5EF4-FFF2-40B4-BE49-F238E27FC236}">
                  <a16:creationId xmlns:a16="http://schemas.microsoft.com/office/drawing/2014/main" id="{FB943A09-2810-784C-AB93-40B0D9E1D689}"/>
                </a:ext>
              </a:extLst>
            </p:cNvPr>
            <p:cNvSpPr/>
            <p:nvPr/>
          </p:nvSpPr>
          <p:spPr bwMode="auto">
            <a:xfrm>
              <a:off x="6261956" y="3879679"/>
              <a:ext cx="1507054" cy="3580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逻辑门</a:t>
              </a:r>
            </a:p>
          </p:txBody>
        </p:sp>
        <p:cxnSp>
          <p:nvCxnSpPr>
            <p:cNvPr id="229" name="直线箭头连接符 228">
              <a:extLst>
                <a:ext uri="{FF2B5EF4-FFF2-40B4-BE49-F238E27FC236}">
                  <a16:creationId xmlns:a16="http://schemas.microsoft.com/office/drawing/2014/main" id="{86CA4ACC-A128-D143-B0DE-D31B72AD47B1}"/>
                </a:ext>
              </a:extLst>
            </p:cNvPr>
            <p:cNvCxnSpPr>
              <a:cxnSpLocks/>
              <a:stCxn id="56" idx="3"/>
              <a:endCxn id="179" idx="1"/>
            </p:cNvCxnSpPr>
            <p:nvPr/>
          </p:nvCxnSpPr>
          <p:spPr bwMode="auto">
            <a:xfrm flipV="1">
              <a:off x="5289848" y="4058706"/>
              <a:ext cx="972108" cy="1"/>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46" name="圆角矩形 62">
              <a:extLst>
                <a:ext uri="{FF2B5EF4-FFF2-40B4-BE49-F238E27FC236}">
                  <a16:creationId xmlns:a16="http://schemas.microsoft.com/office/drawing/2014/main" id="{E0667930-6D9C-406F-AF22-35862D64101A}"/>
                </a:ext>
              </a:extLst>
            </p:cNvPr>
            <p:cNvSpPr/>
            <p:nvPr/>
          </p:nvSpPr>
          <p:spPr bwMode="auto">
            <a:xfrm>
              <a:off x="3651187" y="4392326"/>
              <a:ext cx="2036938" cy="3580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真值表</a:t>
              </a:r>
            </a:p>
          </p:txBody>
        </p:sp>
        <p:sp>
          <p:nvSpPr>
            <p:cNvPr id="47" name="圆角矩形 63">
              <a:extLst>
                <a:ext uri="{FF2B5EF4-FFF2-40B4-BE49-F238E27FC236}">
                  <a16:creationId xmlns:a16="http://schemas.microsoft.com/office/drawing/2014/main" id="{406145F1-CECB-4639-9C99-A3AB479B03B1}"/>
                </a:ext>
              </a:extLst>
            </p:cNvPr>
            <p:cNvSpPr/>
            <p:nvPr/>
          </p:nvSpPr>
          <p:spPr bwMode="auto">
            <a:xfrm>
              <a:off x="3651187" y="4840709"/>
              <a:ext cx="2036937" cy="3580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eaLnBrk="1" latinLnBrk="0" hangingPunct="1">
                <a:lnSpc>
                  <a:spcPct val="100000"/>
                </a:lnSpc>
                <a:buClrTx/>
                <a:buSzTx/>
                <a:buFontTx/>
                <a:buNone/>
                <a:tabLst/>
              </a:pPr>
              <a:r>
                <a:rPr lang="en-US" altLang="zh-CN" sz="1600" dirty="0">
                  <a:solidFill>
                    <a:schemeClr val="tx1"/>
                  </a:solidFill>
                  <a:latin typeface="Arial" panose="020B0604020202020204" pitchFamily="34" charset="0"/>
                  <a:ea typeface="SimHei" panose="02010609060101010101" pitchFamily="49" charset="-122"/>
                  <a:cs typeface="Arial" panose="020B0604020202020204" pitchFamily="34" charset="0"/>
                </a:rPr>
                <a:t>SOP &amp; POS</a:t>
              </a:r>
              <a:endPar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endParaRPr>
            </a:p>
          </p:txBody>
        </p:sp>
        <p:sp>
          <p:nvSpPr>
            <p:cNvPr id="50" name="圆角矩形 64">
              <a:extLst>
                <a:ext uri="{FF2B5EF4-FFF2-40B4-BE49-F238E27FC236}">
                  <a16:creationId xmlns:a16="http://schemas.microsoft.com/office/drawing/2014/main" id="{67717754-931E-4D74-AFBE-5B5CE960CEAF}"/>
                </a:ext>
              </a:extLst>
            </p:cNvPr>
            <p:cNvSpPr/>
            <p:nvPr/>
          </p:nvSpPr>
          <p:spPr bwMode="auto">
            <a:xfrm>
              <a:off x="3651188" y="5290877"/>
              <a:ext cx="2036936" cy="3580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卡诺图</a:t>
              </a:r>
            </a:p>
          </p:txBody>
        </p:sp>
        <p:cxnSp>
          <p:nvCxnSpPr>
            <p:cNvPr id="52" name="肘形连接符 122">
              <a:extLst>
                <a:ext uri="{FF2B5EF4-FFF2-40B4-BE49-F238E27FC236}">
                  <a16:creationId xmlns:a16="http://schemas.microsoft.com/office/drawing/2014/main" id="{95BE9EB5-054C-4661-B1CD-3A994D8D9729}"/>
                </a:ext>
              </a:extLst>
            </p:cNvPr>
            <p:cNvCxnSpPr>
              <a:cxnSpLocks/>
              <a:endCxn id="46" idx="1"/>
            </p:cNvCxnSpPr>
            <p:nvPr/>
          </p:nvCxnSpPr>
          <p:spPr bwMode="auto">
            <a:xfrm flipV="1">
              <a:off x="3053280" y="4571353"/>
              <a:ext cx="597907" cy="324507"/>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57" name="肘形连接符 125">
              <a:extLst>
                <a:ext uri="{FF2B5EF4-FFF2-40B4-BE49-F238E27FC236}">
                  <a16:creationId xmlns:a16="http://schemas.microsoft.com/office/drawing/2014/main" id="{62CC78A9-6DA4-4219-BBBC-61BC4E6C94F9}"/>
                </a:ext>
              </a:extLst>
            </p:cNvPr>
            <p:cNvCxnSpPr>
              <a:cxnSpLocks/>
              <a:endCxn id="47" idx="1"/>
            </p:cNvCxnSpPr>
            <p:nvPr/>
          </p:nvCxnSpPr>
          <p:spPr bwMode="auto">
            <a:xfrm>
              <a:off x="3053280" y="4895860"/>
              <a:ext cx="597907" cy="123876"/>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58" name="肘形连接符 128">
              <a:extLst>
                <a:ext uri="{FF2B5EF4-FFF2-40B4-BE49-F238E27FC236}">
                  <a16:creationId xmlns:a16="http://schemas.microsoft.com/office/drawing/2014/main" id="{807D478E-2DE5-4F4A-BD22-3B1E7244A655}"/>
                </a:ext>
              </a:extLst>
            </p:cNvPr>
            <p:cNvCxnSpPr>
              <a:cxnSpLocks/>
              <a:endCxn id="50" idx="1"/>
            </p:cNvCxnSpPr>
            <p:nvPr/>
          </p:nvCxnSpPr>
          <p:spPr bwMode="auto">
            <a:xfrm>
              <a:off x="3053280" y="4895860"/>
              <a:ext cx="597908" cy="574044"/>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sp>
          <p:nvSpPr>
            <p:cNvPr id="59" name="圆角矩形 135">
              <a:extLst>
                <a:ext uri="{FF2B5EF4-FFF2-40B4-BE49-F238E27FC236}">
                  <a16:creationId xmlns:a16="http://schemas.microsoft.com/office/drawing/2014/main" id="{9B279335-AAF8-4D76-B21A-517B4C6CBBD4}"/>
                </a:ext>
              </a:extLst>
            </p:cNvPr>
            <p:cNvSpPr/>
            <p:nvPr/>
          </p:nvSpPr>
          <p:spPr bwMode="auto">
            <a:xfrm>
              <a:off x="4059217" y="6244865"/>
              <a:ext cx="1246536" cy="32550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代数法</a:t>
              </a:r>
            </a:p>
          </p:txBody>
        </p:sp>
        <p:sp>
          <p:nvSpPr>
            <p:cNvPr id="60" name="圆角矩形 139">
              <a:extLst>
                <a:ext uri="{FF2B5EF4-FFF2-40B4-BE49-F238E27FC236}">
                  <a16:creationId xmlns:a16="http://schemas.microsoft.com/office/drawing/2014/main" id="{393D50A6-76C6-4EA7-8AFC-2A85F3BAE818}"/>
                </a:ext>
              </a:extLst>
            </p:cNvPr>
            <p:cNvSpPr/>
            <p:nvPr/>
          </p:nvSpPr>
          <p:spPr bwMode="auto">
            <a:xfrm>
              <a:off x="4059217" y="6640909"/>
              <a:ext cx="1246536" cy="244475"/>
            </a:xfrm>
            <a:prstGeom prst="roundRect">
              <a:avLst/>
            </a:prstGeom>
            <a:ln w="19050">
              <a:solidFill>
                <a:schemeClr val="accent5">
                  <a:lumMod val="25000"/>
                </a:schemeClr>
              </a:solidFill>
              <a:prstDash val="solid"/>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eaLnBrk="1" latinLnBrk="0" hangingPunct="1">
                <a:lnSpc>
                  <a:spcPct val="100000"/>
                </a:lnSpc>
                <a:buClrTx/>
                <a:buSzTx/>
                <a:buFontTx/>
                <a:buNone/>
                <a:tabLst/>
              </a:pPr>
              <a:r>
                <a:rPr lang="en-US" altLang="zh-CN" sz="1600" dirty="0">
                  <a:solidFill>
                    <a:schemeClr val="tx1"/>
                  </a:solidFill>
                  <a:latin typeface="Arial" panose="020B0604020202020204" pitchFamily="34" charset="0"/>
                  <a:ea typeface="SimHei" panose="02010609060101010101" pitchFamily="49" charset="-122"/>
                  <a:cs typeface="Arial" panose="020B0604020202020204" pitchFamily="34" charset="0"/>
                </a:rPr>
                <a:t>QM</a:t>
              </a:r>
              <a:endPar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endParaRPr>
            </a:p>
          </p:txBody>
        </p:sp>
        <p:sp>
          <p:nvSpPr>
            <p:cNvPr id="61" name="圆角矩形 140">
              <a:extLst>
                <a:ext uri="{FF2B5EF4-FFF2-40B4-BE49-F238E27FC236}">
                  <a16:creationId xmlns:a16="http://schemas.microsoft.com/office/drawing/2014/main" id="{D5D43711-456B-40EE-BD1D-1C37D32A81B2}"/>
                </a:ext>
              </a:extLst>
            </p:cNvPr>
            <p:cNvSpPr/>
            <p:nvPr/>
          </p:nvSpPr>
          <p:spPr bwMode="auto">
            <a:xfrm>
              <a:off x="4046445" y="5869229"/>
              <a:ext cx="1246536" cy="32550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eaLnBrk="1" latinLnBrk="0" hangingPunct="1">
                <a:lnSpc>
                  <a:spcPct val="100000"/>
                </a:lnSpc>
                <a:buClrTx/>
                <a:buSzTx/>
                <a:buFontTx/>
                <a:buNone/>
                <a:tabLst/>
              </a:pP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卡诺图</a:t>
              </a:r>
            </a:p>
          </p:txBody>
        </p:sp>
        <p:cxnSp>
          <p:nvCxnSpPr>
            <p:cNvPr id="62" name="肘形连接符 141">
              <a:extLst>
                <a:ext uri="{FF2B5EF4-FFF2-40B4-BE49-F238E27FC236}">
                  <a16:creationId xmlns:a16="http://schemas.microsoft.com/office/drawing/2014/main" id="{59AA9993-013B-483C-98C9-B1D5A718889F}"/>
                </a:ext>
              </a:extLst>
            </p:cNvPr>
            <p:cNvCxnSpPr>
              <a:cxnSpLocks/>
              <a:endCxn id="61" idx="1"/>
            </p:cNvCxnSpPr>
            <p:nvPr/>
          </p:nvCxnSpPr>
          <p:spPr bwMode="auto">
            <a:xfrm flipV="1">
              <a:off x="3495501" y="6031981"/>
              <a:ext cx="550944" cy="92684"/>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63" name="肘形连接符 145">
              <a:extLst>
                <a:ext uri="{FF2B5EF4-FFF2-40B4-BE49-F238E27FC236}">
                  <a16:creationId xmlns:a16="http://schemas.microsoft.com/office/drawing/2014/main" id="{95A59697-D1CB-4C4C-AF0C-3CEB2872561A}"/>
                </a:ext>
              </a:extLst>
            </p:cNvPr>
            <p:cNvCxnSpPr>
              <a:cxnSpLocks/>
              <a:endCxn id="59" idx="1"/>
            </p:cNvCxnSpPr>
            <p:nvPr/>
          </p:nvCxnSpPr>
          <p:spPr bwMode="auto">
            <a:xfrm>
              <a:off x="3495501" y="6124665"/>
              <a:ext cx="563716" cy="282952"/>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64" name="肘形连接符 148">
              <a:extLst>
                <a:ext uri="{FF2B5EF4-FFF2-40B4-BE49-F238E27FC236}">
                  <a16:creationId xmlns:a16="http://schemas.microsoft.com/office/drawing/2014/main" id="{5B561F12-63EF-4DE6-B810-ADAD4E5A0C57}"/>
                </a:ext>
              </a:extLst>
            </p:cNvPr>
            <p:cNvCxnSpPr>
              <a:cxnSpLocks/>
              <a:endCxn id="60" idx="1"/>
            </p:cNvCxnSpPr>
            <p:nvPr/>
          </p:nvCxnSpPr>
          <p:spPr bwMode="auto">
            <a:xfrm>
              <a:off x="3495501" y="6124665"/>
              <a:ext cx="563716" cy="638482"/>
            </a:xfrm>
            <a:prstGeom prst="bentConnector3">
              <a:avLst>
                <a:gd name="adj1" fmla="val 50000"/>
              </a:avLst>
            </a:prstGeom>
            <a:solidFill>
              <a:schemeClr val="accent1"/>
            </a:solidFill>
            <a:ln w="38100" cap="flat" cmpd="sng" algn="ctr">
              <a:solidFill>
                <a:schemeClr val="accent5">
                  <a:lumMod val="25000"/>
                </a:schemeClr>
              </a:solidFill>
              <a:prstDash val="solid"/>
              <a:round/>
              <a:headEnd type="none" w="med" len="med"/>
              <a:tailEnd type="triangle"/>
            </a:ln>
            <a:effectLst/>
          </p:spPr>
        </p:cxnSp>
        <p:cxnSp>
          <p:nvCxnSpPr>
            <p:cNvPr id="65" name="肘形连接符 154">
              <a:extLst>
                <a:ext uri="{FF2B5EF4-FFF2-40B4-BE49-F238E27FC236}">
                  <a16:creationId xmlns:a16="http://schemas.microsoft.com/office/drawing/2014/main" id="{75555AE1-28DE-4B57-8B07-A0C6736F07DC}"/>
                </a:ext>
              </a:extLst>
            </p:cNvPr>
            <p:cNvCxnSpPr>
              <a:cxnSpLocks/>
              <a:endCxn id="50" idx="3"/>
            </p:cNvCxnSpPr>
            <p:nvPr/>
          </p:nvCxnSpPr>
          <p:spPr bwMode="auto">
            <a:xfrm>
              <a:off x="4530466" y="3101718"/>
              <a:ext cx="1157658" cy="2368186"/>
            </a:xfrm>
            <a:prstGeom prst="bentConnector3">
              <a:avLst>
                <a:gd name="adj1" fmla="val 120747"/>
              </a:avLst>
            </a:prstGeom>
            <a:solidFill>
              <a:schemeClr val="accent1"/>
            </a:solidFill>
            <a:ln w="38100" cap="flat" cmpd="sng" algn="ctr">
              <a:solidFill>
                <a:srgbClr val="2990E5"/>
              </a:solidFill>
              <a:prstDash val="sysDash"/>
              <a:round/>
              <a:headEnd type="none" w="med" len="med"/>
              <a:tailEnd type="triangle"/>
            </a:ln>
            <a:effectLst/>
          </p:spPr>
        </p:cxnSp>
        <p:sp>
          <p:nvSpPr>
            <p:cNvPr id="66" name="圆角矩形 223">
              <a:extLst>
                <a:ext uri="{FF2B5EF4-FFF2-40B4-BE49-F238E27FC236}">
                  <a16:creationId xmlns:a16="http://schemas.microsoft.com/office/drawing/2014/main" id="{BD728756-AF89-457D-B372-AEA41E9FBED7}"/>
                </a:ext>
              </a:extLst>
            </p:cNvPr>
            <p:cNvSpPr/>
            <p:nvPr/>
          </p:nvSpPr>
          <p:spPr bwMode="auto">
            <a:xfrm>
              <a:off x="6436141" y="4832682"/>
              <a:ext cx="1246536" cy="358054"/>
            </a:xfrm>
            <a:prstGeom prst="roundRect">
              <a:avLst/>
            </a:prstGeom>
            <a:ln w="19050">
              <a:solidFill>
                <a:schemeClr val="accent5">
                  <a:lumMod val="25000"/>
                </a:schemeClr>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1600" dirty="0">
                  <a:solidFill>
                    <a:schemeClr val="tx1"/>
                  </a:solidFill>
                  <a:latin typeface="Arial" panose="020B0604020202020204" pitchFamily="34" charset="0"/>
                  <a:ea typeface="SimHei" panose="02010609060101010101" pitchFamily="49" charset="-122"/>
                  <a:cs typeface="Arial" panose="020B0604020202020204" pitchFamily="34" charset="0"/>
                </a:rPr>
                <a:t>二元决策图</a:t>
              </a:r>
            </a:p>
          </p:txBody>
        </p:sp>
        <p:cxnSp>
          <p:nvCxnSpPr>
            <p:cNvPr id="67" name="直线箭头连接符 231">
              <a:extLst>
                <a:ext uri="{FF2B5EF4-FFF2-40B4-BE49-F238E27FC236}">
                  <a16:creationId xmlns:a16="http://schemas.microsoft.com/office/drawing/2014/main" id="{850558DF-5024-49F1-82A6-15F3979DA2C6}"/>
                </a:ext>
              </a:extLst>
            </p:cNvPr>
            <p:cNvCxnSpPr>
              <a:cxnSpLocks/>
              <a:stCxn id="47" idx="3"/>
              <a:endCxn id="66" idx="1"/>
            </p:cNvCxnSpPr>
            <p:nvPr/>
          </p:nvCxnSpPr>
          <p:spPr bwMode="auto">
            <a:xfrm flipV="1">
              <a:off x="5688124" y="5011709"/>
              <a:ext cx="748017" cy="8027"/>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69" name="肘形连接符 254">
              <a:extLst>
                <a:ext uri="{FF2B5EF4-FFF2-40B4-BE49-F238E27FC236}">
                  <a16:creationId xmlns:a16="http://schemas.microsoft.com/office/drawing/2014/main" id="{CB1A653E-8778-428A-AAD7-32BCF182486E}"/>
                </a:ext>
              </a:extLst>
            </p:cNvPr>
            <p:cNvCxnSpPr>
              <a:cxnSpLocks/>
              <a:stCxn id="50" idx="2"/>
              <a:endCxn id="61" idx="0"/>
            </p:cNvCxnSpPr>
            <p:nvPr/>
          </p:nvCxnSpPr>
          <p:spPr bwMode="auto">
            <a:xfrm rot="16200000" flipH="1">
              <a:off x="4559535" y="5759051"/>
              <a:ext cx="220298" cy="57"/>
            </a:xfrm>
            <a:prstGeom prst="bentConnector3">
              <a:avLst>
                <a:gd name="adj1" fmla="val 50000"/>
              </a:avLst>
            </a:prstGeom>
            <a:solidFill>
              <a:schemeClr val="accent1"/>
            </a:solidFill>
            <a:ln w="38100" cap="flat" cmpd="sng" algn="ctr">
              <a:solidFill>
                <a:srgbClr val="2990E5"/>
              </a:solidFill>
              <a:prstDash val="sysDash"/>
              <a:round/>
              <a:headEnd type="none" w="med" len="med"/>
              <a:tailEnd type="triangle"/>
            </a:ln>
            <a:effectLst/>
          </p:spPr>
        </p:cxnSp>
        <p:cxnSp>
          <p:nvCxnSpPr>
            <p:cNvPr id="73" name="肘形连接符 257">
              <a:extLst>
                <a:ext uri="{FF2B5EF4-FFF2-40B4-BE49-F238E27FC236}">
                  <a16:creationId xmlns:a16="http://schemas.microsoft.com/office/drawing/2014/main" id="{207E2353-8DAB-4D2F-80EF-C64C73C13B34}"/>
                </a:ext>
              </a:extLst>
            </p:cNvPr>
            <p:cNvCxnSpPr>
              <a:cxnSpLocks/>
              <a:stCxn id="46" idx="3"/>
              <a:endCxn id="59" idx="3"/>
            </p:cNvCxnSpPr>
            <p:nvPr/>
          </p:nvCxnSpPr>
          <p:spPr bwMode="auto">
            <a:xfrm flipH="1">
              <a:off x="5305753" y="4571353"/>
              <a:ext cx="382372" cy="1836264"/>
            </a:xfrm>
            <a:prstGeom prst="bentConnector3">
              <a:avLst>
                <a:gd name="adj1" fmla="val -105191"/>
              </a:avLst>
            </a:prstGeom>
            <a:solidFill>
              <a:schemeClr val="accent1"/>
            </a:solidFill>
            <a:ln w="38100" cap="flat" cmpd="sng" algn="ctr">
              <a:solidFill>
                <a:srgbClr val="2990E5"/>
              </a:solidFill>
              <a:prstDash val="sysDash"/>
              <a:round/>
              <a:headEnd type="none" w="med" len="med"/>
              <a:tailEnd type="triangle"/>
            </a:ln>
            <a:effectLst/>
          </p:spPr>
        </p:cxnSp>
      </p:grpSp>
      <p:sp>
        <p:nvSpPr>
          <p:cNvPr id="3" name="标题 2">
            <a:extLst>
              <a:ext uri="{FF2B5EF4-FFF2-40B4-BE49-F238E27FC236}">
                <a16:creationId xmlns:a16="http://schemas.microsoft.com/office/drawing/2014/main" id="{5CB5F110-134A-E7A3-140F-7FA31C6AAF2D}"/>
              </a:ext>
            </a:extLst>
          </p:cNvPr>
          <p:cNvSpPr>
            <a:spLocks noGrp="1"/>
          </p:cNvSpPr>
          <p:nvPr>
            <p:ph type="title"/>
          </p:nvPr>
        </p:nvSpPr>
        <p:spPr/>
        <p:txBody>
          <a:bodyPr/>
          <a:lstStyle/>
          <a:p>
            <a:r>
              <a:rPr lang="zh-CN" altLang="en-US" dirty="0"/>
              <a:t>数的表示与布尔代数</a:t>
            </a:r>
          </a:p>
        </p:txBody>
      </p:sp>
      <p:sp>
        <p:nvSpPr>
          <p:cNvPr id="2" name="灯片编号占位符 1">
            <a:extLst>
              <a:ext uri="{FF2B5EF4-FFF2-40B4-BE49-F238E27FC236}">
                <a16:creationId xmlns:a16="http://schemas.microsoft.com/office/drawing/2014/main" id="{A2ADA61D-B9C3-F109-9418-2DCA8337E026}"/>
              </a:ext>
            </a:extLst>
          </p:cNvPr>
          <p:cNvSpPr>
            <a:spLocks noGrp="1"/>
          </p:cNvSpPr>
          <p:nvPr>
            <p:ph type="sldNum" sz="quarter" idx="12"/>
          </p:nvPr>
        </p:nvSpPr>
        <p:spPr/>
        <p:txBody>
          <a:bodyPr/>
          <a:lstStyle/>
          <a:p>
            <a:fld id="{6C23D995-88A0-46FA-B356-FA459EF841CD}" type="slidenum">
              <a:rPr lang="en-US" altLang="zh-CN" smtClean="0"/>
              <a:pPr/>
              <a:t>104</a:t>
            </a:fld>
            <a:endParaRPr lang="en-US" altLang="zh-CN" dirty="0"/>
          </a:p>
        </p:txBody>
      </p:sp>
    </p:spTree>
    <p:extLst>
      <p:ext uri="{BB962C8B-B14F-4D97-AF65-F5344CB8AC3E}">
        <p14:creationId xmlns:p14="http://schemas.microsoft.com/office/powerpoint/2010/main" val="42078836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81944-7EA1-7F48-9814-ED24761AD4F9}"/>
              </a:ext>
            </a:extLst>
          </p:cNvPr>
          <p:cNvSpPr>
            <a:spLocks noGrp="1"/>
          </p:cNvSpPr>
          <p:nvPr>
            <p:ph type="title"/>
          </p:nvPr>
        </p:nvSpPr>
        <p:spPr/>
        <p:txBody>
          <a:bodyPr/>
          <a:lstStyle/>
          <a:p>
            <a:r>
              <a:rPr lang="en-CN" b="1" dirty="0"/>
              <a:t>总结</a:t>
            </a:r>
          </a:p>
        </p:txBody>
      </p:sp>
      <p:sp>
        <p:nvSpPr>
          <p:cNvPr id="4" name="Content Placeholder 3">
            <a:extLst>
              <a:ext uri="{FF2B5EF4-FFF2-40B4-BE49-F238E27FC236}">
                <a16:creationId xmlns:a16="http://schemas.microsoft.com/office/drawing/2014/main" id="{A56E9C24-8068-3D40-9804-07CE680111CF}"/>
              </a:ext>
            </a:extLst>
          </p:cNvPr>
          <p:cNvSpPr>
            <a:spLocks noGrp="1"/>
          </p:cNvSpPr>
          <p:nvPr>
            <p:ph idx="1"/>
          </p:nvPr>
        </p:nvSpPr>
        <p:spPr/>
        <p:txBody>
          <a:bodyPr/>
          <a:lstStyle/>
          <a:p>
            <a:r>
              <a:rPr lang="en-CN" sz="2800" dirty="0"/>
              <a:t> To know</a:t>
            </a:r>
          </a:p>
          <a:p>
            <a:pPr lvl="1"/>
            <a:r>
              <a:rPr lang="en-CN" sz="2800" dirty="0"/>
              <a:t>Number system</a:t>
            </a:r>
          </a:p>
          <a:p>
            <a:r>
              <a:rPr lang="en-CN" sz="2800" dirty="0"/>
              <a:t> To design</a:t>
            </a:r>
          </a:p>
          <a:p>
            <a:pPr lvl="1"/>
            <a:r>
              <a:rPr lang="en-CN" sz="2800" dirty="0"/>
              <a:t>Simplified Boolean logic and circuits</a:t>
            </a:r>
          </a:p>
          <a:p>
            <a:r>
              <a:rPr lang="en-CN" sz="2800" dirty="0"/>
              <a:t> To celebrate</a:t>
            </a:r>
          </a:p>
          <a:p>
            <a:pPr lvl="1"/>
            <a:r>
              <a:rPr lang="en-CN" sz="2800" dirty="0"/>
              <a:t>The beauty of Boolean methodology</a:t>
            </a:r>
          </a:p>
        </p:txBody>
      </p:sp>
      <p:sp>
        <p:nvSpPr>
          <p:cNvPr id="3" name="灯片编号占位符 2">
            <a:extLst>
              <a:ext uri="{FF2B5EF4-FFF2-40B4-BE49-F238E27FC236}">
                <a16:creationId xmlns:a16="http://schemas.microsoft.com/office/drawing/2014/main" id="{0AC2F607-2267-3042-B3E8-A3672186A1AA}"/>
              </a:ext>
            </a:extLst>
          </p:cNvPr>
          <p:cNvSpPr>
            <a:spLocks noGrp="1"/>
          </p:cNvSpPr>
          <p:nvPr>
            <p:ph type="sldNum" sz="quarter" idx="12"/>
          </p:nvPr>
        </p:nvSpPr>
        <p:spPr/>
        <p:txBody>
          <a:bodyPr/>
          <a:lstStyle/>
          <a:p>
            <a:fld id="{14659731-6BD7-46E7-8D3C-2F3AC07E20B1}" type="slidenum">
              <a:rPr lang="en-US" altLang="zh-CN" smtClean="0"/>
              <a:pPr/>
              <a:t>105</a:t>
            </a:fld>
            <a:endParaRPr lang="en-US" altLang="zh-CN" dirty="0"/>
          </a:p>
        </p:txBody>
      </p:sp>
    </p:spTree>
    <p:extLst>
      <p:ext uri="{BB962C8B-B14F-4D97-AF65-F5344CB8AC3E}">
        <p14:creationId xmlns:p14="http://schemas.microsoft.com/office/powerpoint/2010/main" val="34391259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53C6B-B4FF-534B-A9B0-0B60624F9B38}"/>
              </a:ext>
            </a:extLst>
          </p:cNvPr>
          <p:cNvSpPr>
            <a:spLocks noGrp="1"/>
          </p:cNvSpPr>
          <p:nvPr>
            <p:ph type="title"/>
          </p:nvPr>
        </p:nvSpPr>
        <p:spPr/>
        <p:txBody>
          <a:bodyPr/>
          <a:lstStyle/>
          <a:p>
            <a:r>
              <a:rPr kumimoji="1" lang="zh-CN" altLang="en-US" b="1" dirty="0"/>
              <a:t>作业（</a:t>
            </a:r>
            <a:r>
              <a:rPr kumimoji="1" lang="en-US" altLang="zh-CN" b="1" dirty="0"/>
              <a:t>1/2</a:t>
            </a:r>
            <a:r>
              <a:rPr kumimoji="1" lang="zh-CN" altLang="en-US" b="1" dirty="0"/>
              <a:t>）</a:t>
            </a:r>
          </a:p>
        </p:txBody>
      </p:sp>
      <p:sp>
        <p:nvSpPr>
          <p:cNvPr id="3" name="内容占位符 2">
            <a:extLst>
              <a:ext uri="{FF2B5EF4-FFF2-40B4-BE49-F238E27FC236}">
                <a16:creationId xmlns:a16="http://schemas.microsoft.com/office/drawing/2014/main" id="{3EC6B101-2298-5344-B5EF-F38AD650EFE1}"/>
              </a:ext>
            </a:extLst>
          </p:cNvPr>
          <p:cNvSpPr>
            <a:spLocks noGrp="1"/>
          </p:cNvSpPr>
          <p:nvPr>
            <p:ph idx="1"/>
          </p:nvPr>
        </p:nvSpPr>
        <p:spPr>
          <a:xfrm>
            <a:off x="457200" y="1520849"/>
            <a:ext cx="8229600" cy="4716463"/>
          </a:xfrm>
        </p:spPr>
        <p:txBody>
          <a:bodyPr/>
          <a:lstStyle/>
          <a:p>
            <a:r>
              <a:rPr kumimoji="1" lang="zh-CN" altLang="en-US" sz="2000" dirty="0"/>
              <a:t>鼓励讨论问题，但请</a:t>
            </a:r>
            <a:r>
              <a:rPr kumimoji="1" lang="zh-CN" altLang="en-US" sz="2000" dirty="0">
                <a:solidFill>
                  <a:schemeClr val="tx1"/>
                </a:solidFill>
              </a:rPr>
              <a:t>独立完成作业</a:t>
            </a:r>
            <a:endParaRPr kumimoji="1" lang="en-US" altLang="zh-CN" sz="2000" dirty="0">
              <a:solidFill>
                <a:schemeClr val="tx1"/>
              </a:solidFill>
            </a:endParaRPr>
          </a:p>
          <a:p>
            <a:r>
              <a:rPr kumimoji="1" lang="zh-CN" altLang="en-US" sz="2000" dirty="0"/>
              <a:t>提交到网络学堂</a:t>
            </a:r>
            <a:endParaRPr kumimoji="1" lang="en-US" altLang="zh-CN" sz="2000" dirty="0"/>
          </a:p>
          <a:p>
            <a:r>
              <a:rPr kumimoji="1" lang="zh-CN" altLang="en-US" sz="2000" b="1" dirty="0"/>
              <a:t>作业</a:t>
            </a:r>
            <a:r>
              <a:rPr kumimoji="1" lang="en-US" altLang="zh-CN" sz="2000" b="1" dirty="0"/>
              <a:t>1</a:t>
            </a:r>
          </a:p>
          <a:p>
            <a:pPr lvl="1"/>
            <a:r>
              <a:rPr kumimoji="1" lang="zh-CN" altLang="en-US" sz="2000" dirty="0"/>
              <a:t>请计算并补全以下表格</a:t>
            </a:r>
            <a:endParaRPr kumimoji="1" lang="en-US" altLang="zh-CN" sz="2000" dirty="0"/>
          </a:p>
          <a:p>
            <a:pPr lvl="1"/>
            <a:endParaRPr kumimoji="1" lang="en-US" altLang="zh-CN" sz="2000" dirty="0"/>
          </a:p>
          <a:p>
            <a:pPr marL="457200" lvl="1" indent="0">
              <a:buNone/>
            </a:pPr>
            <a:endParaRPr kumimoji="1" lang="en-US" altLang="zh-CN" sz="2000" dirty="0"/>
          </a:p>
          <a:p>
            <a:pPr marL="457200" lvl="1" indent="0">
              <a:buNone/>
            </a:pPr>
            <a:endParaRPr kumimoji="1" lang="en-US" altLang="zh-CN" sz="2000" dirty="0"/>
          </a:p>
          <a:p>
            <a:pPr marL="457200" lvl="1" indent="0">
              <a:buNone/>
            </a:pPr>
            <a:endParaRPr kumimoji="1" lang="en-US" altLang="zh-CN" sz="2000" dirty="0"/>
          </a:p>
          <a:p>
            <a:pPr lvl="1"/>
            <a:endParaRPr kumimoji="1" lang="en-US" altLang="zh-CN" sz="2000" dirty="0"/>
          </a:p>
          <a:p>
            <a:pPr lvl="1"/>
            <a:endParaRPr kumimoji="1" lang="en-US" altLang="zh-CN" sz="2000" dirty="0"/>
          </a:p>
          <a:p>
            <a:pPr lvl="1"/>
            <a:r>
              <a:rPr kumimoji="1" lang="zh-CN" altLang="en-US" sz="2000" dirty="0"/>
              <a:t>用</a:t>
            </a:r>
            <a:r>
              <a:rPr kumimoji="1" lang="en-US" altLang="zh-CN" sz="2000" dirty="0"/>
              <a:t>8</a:t>
            </a:r>
            <a:r>
              <a:rPr kumimoji="1" lang="zh-CN" altLang="en-US" sz="2000" dirty="0"/>
              <a:t>位二进制有符号整数表示十进制数 </a:t>
            </a:r>
            <a:r>
              <a:rPr kumimoji="1" lang="en-US" altLang="zh-CN" sz="2000" dirty="0"/>
              <a:t>-34</a:t>
            </a:r>
            <a:r>
              <a:rPr kumimoji="1" lang="en-US" altLang="zh-CN" sz="2000" baseline="-25000" dirty="0"/>
              <a:t>10</a:t>
            </a:r>
            <a:r>
              <a:rPr kumimoji="1" lang="zh-CN" altLang="en-US" sz="2000" dirty="0"/>
              <a:t>，</a:t>
            </a:r>
            <a:r>
              <a:rPr kumimoji="1" lang="en-US" altLang="zh-CN" sz="2000" dirty="0"/>
              <a:t>59</a:t>
            </a:r>
            <a:r>
              <a:rPr kumimoji="1" lang="en-US" altLang="zh-CN" sz="2000" baseline="-25000" dirty="0"/>
              <a:t>10</a:t>
            </a:r>
            <a:r>
              <a:rPr kumimoji="1" lang="zh-CN" altLang="en-US" sz="2000" dirty="0"/>
              <a:t>的原码和</a:t>
            </a:r>
            <a:r>
              <a:rPr kumimoji="1" lang="en-US" altLang="zh-CN" sz="2000" dirty="0"/>
              <a:t>2</a:t>
            </a:r>
            <a:r>
              <a:rPr kumimoji="1" lang="zh-CN" altLang="en-US" sz="2000" dirty="0"/>
              <a:t>补码</a:t>
            </a:r>
            <a:endParaRPr kumimoji="1" lang="en-US" altLang="zh-CN" sz="2000" dirty="0"/>
          </a:p>
          <a:p>
            <a:pPr marL="457200" lvl="1" indent="0">
              <a:buNone/>
            </a:pPr>
            <a:endParaRPr kumimoji="1" lang="en-US" altLang="zh-CN" sz="2800" dirty="0"/>
          </a:p>
        </p:txBody>
      </p:sp>
      <p:sp>
        <p:nvSpPr>
          <p:cNvPr id="4" name="灯片编号占位符 3">
            <a:extLst>
              <a:ext uri="{FF2B5EF4-FFF2-40B4-BE49-F238E27FC236}">
                <a16:creationId xmlns:a16="http://schemas.microsoft.com/office/drawing/2014/main" id="{F70DDEC6-5C91-1B6C-FB15-D4DB24B52680}"/>
              </a:ext>
            </a:extLst>
          </p:cNvPr>
          <p:cNvSpPr>
            <a:spLocks noGrp="1"/>
          </p:cNvSpPr>
          <p:nvPr>
            <p:ph type="sldNum" sz="quarter" idx="12"/>
          </p:nvPr>
        </p:nvSpPr>
        <p:spPr/>
        <p:txBody>
          <a:bodyPr/>
          <a:lstStyle/>
          <a:p>
            <a:fld id="{14659731-6BD7-46E7-8D3C-2F3AC07E20B1}" type="slidenum">
              <a:rPr lang="en-US" altLang="zh-CN" smtClean="0"/>
              <a:pPr/>
              <a:t>106</a:t>
            </a:fld>
            <a:endParaRPr lang="en-US" altLang="zh-CN" dirty="0"/>
          </a:p>
        </p:txBody>
      </p:sp>
      <p:graphicFrame>
        <p:nvGraphicFramePr>
          <p:cNvPr id="6" name="表格 6">
            <a:extLst>
              <a:ext uri="{FF2B5EF4-FFF2-40B4-BE49-F238E27FC236}">
                <a16:creationId xmlns:a16="http://schemas.microsoft.com/office/drawing/2014/main" id="{13AE4944-DA72-7B45-882F-59AC433DFF0A}"/>
              </a:ext>
            </a:extLst>
          </p:cNvPr>
          <p:cNvGraphicFramePr>
            <a:graphicFrameLocks noGrp="1"/>
          </p:cNvGraphicFramePr>
          <p:nvPr>
            <p:extLst>
              <p:ext uri="{D42A27DB-BD31-4B8C-83A1-F6EECF244321}">
                <p14:modId xmlns:p14="http://schemas.microsoft.com/office/powerpoint/2010/main" val="2896686457"/>
              </p:ext>
            </p:extLst>
          </p:nvPr>
        </p:nvGraphicFramePr>
        <p:xfrm>
          <a:off x="1524000" y="3140968"/>
          <a:ext cx="6096000" cy="1854200"/>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2495543002"/>
                    </a:ext>
                  </a:extLst>
                </a:gridCol>
                <a:gridCol w="1524000">
                  <a:extLst>
                    <a:ext uri="{9D8B030D-6E8A-4147-A177-3AD203B41FA5}">
                      <a16:colId xmlns:a16="http://schemas.microsoft.com/office/drawing/2014/main" val="4274659089"/>
                    </a:ext>
                  </a:extLst>
                </a:gridCol>
                <a:gridCol w="1524000">
                  <a:extLst>
                    <a:ext uri="{9D8B030D-6E8A-4147-A177-3AD203B41FA5}">
                      <a16:colId xmlns:a16="http://schemas.microsoft.com/office/drawing/2014/main" val="1122562996"/>
                    </a:ext>
                  </a:extLst>
                </a:gridCol>
                <a:gridCol w="1524000">
                  <a:extLst>
                    <a:ext uri="{9D8B030D-6E8A-4147-A177-3AD203B41FA5}">
                      <a16:colId xmlns:a16="http://schemas.microsoft.com/office/drawing/2014/main" val="2816905088"/>
                    </a:ext>
                  </a:extLst>
                </a:gridCol>
              </a:tblGrid>
              <a:tr h="370840">
                <a:tc>
                  <a:txBody>
                    <a:bodyPr/>
                    <a:lstStyle/>
                    <a:p>
                      <a:r>
                        <a:rPr lang="zh-CN" altLang="en-US" dirty="0"/>
                        <a:t>十进制</a:t>
                      </a:r>
                      <a:endParaRPr lang="zh-CN" altLang="en-US" dirty="0">
                        <a:ea typeface="黑体" panose="02010609060101010101" pitchFamily="49" charset="-122"/>
                      </a:endParaRPr>
                    </a:p>
                  </a:txBody>
                  <a:tcPr>
                    <a:solidFill>
                      <a:srgbClr val="B4C6E8"/>
                    </a:solidFill>
                  </a:tcPr>
                </a:tc>
                <a:tc>
                  <a:txBody>
                    <a:bodyPr/>
                    <a:lstStyle/>
                    <a:p>
                      <a:r>
                        <a:rPr lang="zh-CN" altLang="en-US" dirty="0"/>
                        <a:t>二进制</a:t>
                      </a:r>
                      <a:endParaRPr lang="zh-CN" altLang="en-US" dirty="0">
                        <a:ea typeface="黑体" panose="02010609060101010101" pitchFamily="49" charset="-122"/>
                      </a:endParaRPr>
                    </a:p>
                  </a:txBody>
                  <a:tcPr>
                    <a:solidFill>
                      <a:srgbClr val="B4C6E8"/>
                    </a:solidFill>
                  </a:tcPr>
                </a:tc>
                <a:tc>
                  <a:txBody>
                    <a:bodyPr/>
                    <a:lstStyle/>
                    <a:p>
                      <a:r>
                        <a:rPr lang="zh-CN" altLang="en-US" dirty="0"/>
                        <a:t>十六进制</a:t>
                      </a:r>
                      <a:endParaRPr lang="zh-CN" altLang="en-US" dirty="0">
                        <a:ea typeface="黑体" panose="02010609060101010101" pitchFamily="49" charset="-122"/>
                      </a:endParaRPr>
                    </a:p>
                  </a:txBody>
                  <a:tcPr>
                    <a:solidFill>
                      <a:srgbClr val="B4C6E8"/>
                    </a:solidFill>
                  </a:tcPr>
                </a:tc>
                <a:tc>
                  <a:txBody>
                    <a:bodyPr/>
                    <a:lstStyle/>
                    <a:p>
                      <a:r>
                        <a:rPr lang="en-US" altLang="zh-CN" dirty="0"/>
                        <a:t>8421</a:t>
                      </a:r>
                      <a:r>
                        <a:rPr lang="zh-CN" altLang="en-US" dirty="0"/>
                        <a:t> </a:t>
                      </a:r>
                      <a:r>
                        <a:rPr lang="en-US" altLang="zh-CN" dirty="0"/>
                        <a:t>BCD</a:t>
                      </a:r>
                      <a:r>
                        <a:rPr lang="zh-CN" altLang="en-US" dirty="0"/>
                        <a:t>码</a:t>
                      </a:r>
                      <a:endParaRPr lang="zh-CN" altLang="en-US" dirty="0">
                        <a:ea typeface="黑体" panose="02010609060101010101" pitchFamily="49" charset="-122"/>
                      </a:endParaRPr>
                    </a:p>
                  </a:txBody>
                  <a:tcPr>
                    <a:solidFill>
                      <a:srgbClr val="B4C6E8"/>
                    </a:solidFill>
                  </a:tcPr>
                </a:tc>
                <a:extLst>
                  <a:ext uri="{0D108BD9-81ED-4DB2-BD59-A6C34878D82A}">
                    <a16:rowId xmlns:a16="http://schemas.microsoft.com/office/drawing/2014/main" val="3918025983"/>
                  </a:ext>
                </a:extLst>
              </a:tr>
              <a:tr h="370840">
                <a:tc>
                  <a:txBody>
                    <a:bodyPr/>
                    <a:lstStyle/>
                    <a:p>
                      <a:r>
                        <a:rPr lang="en-US" altLang="zh-CN" dirty="0"/>
                        <a:t>124</a:t>
                      </a:r>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extLst>
                  <a:ext uri="{0D108BD9-81ED-4DB2-BD59-A6C34878D82A}">
                    <a16:rowId xmlns:a16="http://schemas.microsoft.com/office/drawing/2014/main" val="3240905304"/>
                  </a:ext>
                </a:extLst>
              </a:tr>
              <a:tr h="370840">
                <a:tc>
                  <a:txBody>
                    <a:bodyPr/>
                    <a:lstStyle/>
                    <a:p>
                      <a:endParaRPr lang="zh-CN" altLang="en-US" dirty="0">
                        <a:ea typeface="黑体" panose="02010609060101010101" pitchFamily="49" charset="-122"/>
                      </a:endParaRPr>
                    </a:p>
                  </a:txBody>
                  <a:tcPr/>
                </a:tc>
                <a:tc>
                  <a:txBody>
                    <a:bodyPr/>
                    <a:lstStyle/>
                    <a:p>
                      <a:r>
                        <a:rPr lang="en-US" altLang="zh-CN" dirty="0"/>
                        <a:t>0011</a:t>
                      </a:r>
                      <a:r>
                        <a:rPr lang="zh-CN" altLang="en-US" dirty="0"/>
                        <a:t> </a:t>
                      </a:r>
                      <a:r>
                        <a:rPr lang="en-US" altLang="zh-CN" dirty="0"/>
                        <a:t>1011</a:t>
                      </a:r>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extLst>
                  <a:ext uri="{0D108BD9-81ED-4DB2-BD59-A6C34878D82A}">
                    <a16:rowId xmlns:a16="http://schemas.microsoft.com/office/drawing/2014/main" val="727237838"/>
                  </a:ext>
                </a:extLst>
              </a:tr>
              <a:tr h="370840">
                <a:tc>
                  <a:txBody>
                    <a:bodyPr/>
                    <a:lstStyle/>
                    <a:p>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tc>
                  <a:txBody>
                    <a:bodyPr/>
                    <a:lstStyle/>
                    <a:p>
                      <a:r>
                        <a:rPr lang="en-US" altLang="zh-CN" dirty="0"/>
                        <a:t>0xB1</a:t>
                      </a:r>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extLst>
                  <a:ext uri="{0D108BD9-81ED-4DB2-BD59-A6C34878D82A}">
                    <a16:rowId xmlns:a16="http://schemas.microsoft.com/office/drawing/2014/main" val="4068088646"/>
                  </a:ext>
                </a:extLst>
              </a:tr>
              <a:tr h="370840">
                <a:tc>
                  <a:txBody>
                    <a:bodyPr/>
                    <a:lstStyle/>
                    <a:p>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tc>
                  <a:txBody>
                    <a:bodyPr/>
                    <a:lstStyle/>
                    <a:p>
                      <a:endParaRPr lang="zh-CN" altLang="en-US" dirty="0">
                        <a:ea typeface="黑体" panose="02010609060101010101" pitchFamily="49" charset="-122"/>
                      </a:endParaRPr>
                    </a:p>
                  </a:txBody>
                  <a:tcPr/>
                </a:tc>
                <a:tc>
                  <a:txBody>
                    <a:bodyPr/>
                    <a:lstStyle/>
                    <a:p>
                      <a:r>
                        <a:rPr lang="en-US" altLang="zh-CN" dirty="0"/>
                        <a:t>0011</a:t>
                      </a:r>
                      <a:r>
                        <a:rPr lang="zh-CN" altLang="en-US" dirty="0"/>
                        <a:t> </a:t>
                      </a:r>
                      <a:r>
                        <a:rPr lang="en-US" altLang="zh-CN" dirty="0"/>
                        <a:t>1001</a:t>
                      </a:r>
                      <a:endParaRPr lang="zh-CN" altLang="en-US" dirty="0">
                        <a:ea typeface="黑体" panose="02010609060101010101" pitchFamily="49" charset="-122"/>
                      </a:endParaRPr>
                    </a:p>
                  </a:txBody>
                  <a:tcPr/>
                </a:tc>
                <a:extLst>
                  <a:ext uri="{0D108BD9-81ED-4DB2-BD59-A6C34878D82A}">
                    <a16:rowId xmlns:a16="http://schemas.microsoft.com/office/drawing/2014/main" val="716205187"/>
                  </a:ext>
                </a:extLst>
              </a:tr>
            </a:tbl>
          </a:graphicData>
        </a:graphic>
      </p:graphicFrame>
    </p:spTree>
    <p:extLst>
      <p:ext uri="{BB962C8B-B14F-4D97-AF65-F5344CB8AC3E}">
        <p14:creationId xmlns:p14="http://schemas.microsoft.com/office/powerpoint/2010/main" val="226668845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55DCB2D0-E4A1-CE18-D8EB-8A9D3DE94E79}"/>
              </a:ext>
            </a:extLst>
          </p:cNvPr>
          <p:cNvSpPr>
            <a:spLocks noGrp="1"/>
          </p:cNvSpPr>
          <p:nvPr>
            <p:ph type="title"/>
          </p:nvPr>
        </p:nvSpPr>
        <p:spPr/>
        <p:txBody>
          <a:bodyPr/>
          <a:lstStyle/>
          <a:p>
            <a:r>
              <a:rPr kumimoji="1" lang="zh-CN" altLang="en-US" b="1" dirty="0"/>
              <a:t>作业（</a:t>
            </a:r>
            <a:r>
              <a:rPr kumimoji="1" lang="en-US" altLang="zh-CN" b="1" dirty="0"/>
              <a:t>2/2</a:t>
            </a:r>
            <a:r>
              <a:rPr kumimoji="1" lang="zh-CN" altLang="en-US" b="1"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EC6B101-2298-5344-B5EF-F38AD650EFE1}"/>
                  </a:ext>
                </a:extLst>
              </p:cNvPr>
              <p:cNvSpPr>
                <a:spLocks noGrp="1"/>
              </p:cNvSpPr>
              <p:nvPr>
                <p:ph idx="1"/>
              </p:nvPr>
            </p:nvSpPr>
            <p:spPr>
              <a:xfrm>
                <a:off x="457200" y="1484845"/>
                <a:ext cx="8229600" cy="4716463"/>
              </a:xfrm>
            </p:spPr>
            <p:txBody>
              <a:bodyPr/>
              <a:lstStyle/>
              <a:p>
                <a:r>
                  <a:rPr kumimoji="1" lang="zh-CN" altLang="en-US" sz="2000" dirty="0"/>
                  <a:t>作业</a:t>
                </a:r>
                <a:r>
                  <a:rPr kumimoji="1" lang="en-US" altLang="zh-CN" sz="2000" dirty="0"/>
                  <a:t>2</a:t>
                </a:r>
              </a:p>
              <a:p>
                <a:pPr lvl="1"/>
                <a:r>
                  <a:rPr kumimoji="1" lang="zh-CN" altLang="en-US" sz="2000" dirty="0"/>
                  <a:t>分别用代数化简法和卡诺图化简法化简逻辑函数：</a:t>
                </a:r>
                <a:endParaRPr kumimoji="1" lang="en-US" altLang="zh-CN" sz="2000" dirty="0"/>
              </a:p>
              <a:p>
                <a:pPr marL="0" indent="0">
                  <a:buNone/>
                </a:pPr>
                <a14:m>
                  <m:oMathPara xmlns:m="http://schemas.openxmlformats.org/officeDocument/2006/math">
                    <m:oMathParaPr>
                      <m:jc m:val="centerGroup"/>
                    </m:oMathParaPr>
                    <m:oMath xmlns:m="http://schemas.openxmlformats.org/officeDocument/2006/math">
                      <m:r>
                        <m:rPr>
                          <m:sty m:val="p"/>
                        </m:rPr>
                        <a:rPr kumimoji="1" lang="en-US" altLang="zh-CN" sz="2000" i="1" dirty="0">
                          <a:latin typeface="Cambria Math" panose="02040503050406030204" pitchFamily="18" charset="0"/>
                        </a:rPr>
                        <m:t>F</m:t>
                      </m:r>
                      <m:r>
                        <a:rPr kumimoji="1" lang="en-US" altLang="zh-CN" sz="2000" b="0" i="1" dirty="0" smtClean="0">
                          <a:latin typeface="Cambria Math" panose="02040503050406030204" pitchFamily="18" charset="0"/>
                        </a:rPr>
                        <m:t>=</m:t>
                      </m:r>
                      <m:sSup>
                        <m:sSupPr>
                          <m:ctrlPr>
                            <a:rPr kumimoji="1" lang="en-US" altLang="zh-CN" sz="2000" b="0" i="1" dirty="0" smtClean="0">
                              <a:latin typeface="Cambria Math" panose="02040503050406030204" pitchFamily="18" charset="0"/>
                            </a:rPr>
                          </m:ctrlPr>
                        </m:sSupPr>
                        <m:e>
                          <m:r>
                            <a:rPr kumimoji="1" lang="en-US" altLang="zh-CN" sz="2000" b="0" i="1" dirty="0" smtClean="0">
                              <a:latin typeface="Cambria Math" panose="02040503050406030204" pitchFamily="18" charset="0"/>
                            </a:rPr>
                            <m:t>𝐴</m:t>
                          </m:r>
                        </m:e>
                        <m:sup>
                          <m:r>
                            <a:rPr kumimoji="1" lang="en-US" altLang="zh-CN" sz="2000" b="0" i="1" dirty="0" smtClean="0">
                              <a:latin typeface="Cambria Math" panose="02040503050406030204" pitchFamily="18" charset="0"/>
                            </a:rPr>
                            <m:t>′</m:t>
                          </m:r>
                        </m:sup>
                      </m:sSup>
                      <m:sSup>
                        <m:sSupPr>
                          <m:ctrlPr>
                            <a:rPr kumimoji="1" lang="en-US" altLang="zh-CN" sz="2000" b="0" i="1" dirty="0" smtClean="0">
                              <a:latin typeface="Cambria Math" panose="02040503050406030204" pitchFamily="18" charset="0"/>
                            </a:rPr>
                          </m:ctrlPr>
                        </m:sSupPr>
                        <m:e>
                          <m:r>
                            <a:rPr kumimoji="1" lang="en-US" altLang="zh-CN" sz="2000" b="0" i="1" dirty="0" smtClean="0">
                              <a:latin typeface="Cambria Math" panose="02040503050406030204" pitchFamily="18" charset="0"/>
                            </a:rPr>
                            <m:t>𝐵</m:t>
                          </m:r>
                        </m:e>
                        <m:sup>
                          <m:r>
                            <a:rPr kumimoji="1" lang="en-US" altLang="zh-CN" sz="2000" b="0" i="1" dirty="0" smtClean="0">
                              <a:latin typeface="Cambria Math" panose="02040503050406030204" pitchFamily="18" charset="0"/>
                            </a:rPr>
                            <m:t>′</m:t>
                          </m:r>
                        </m:sup>
                      </m:sSup>
                      <m:sSup>
                        <m:sSupPr>
                          <m:ctrlPr>
                            <a:rPr kumimoji="1" lang="en-US" altLang="zh-CN" sz="2000" b="0" i="1" dirty="0" smtClean="0">
                              <a:latin typeface="Cambria Math" panose="02040503050406030204" pitchFamily="18" charset="0"/>
                            </a:rPr>
                          </m:ctrlPr>
                        </m:sSupPr>
                        <m:e>
                          <m:r>
                            <a:rPr kumimoji="1" lang="en-US" altLang="zh-CN" sz="2000" b="0" i="1" dirty="0" smtClean="0">
                              <a:latin typeface="Cambria Math" panose="02040503050406030204" pitchFamily="18" charset="0"/>
                            </a:rPr>
                            <m:t>𝐶</m:t>
                          </m:r>
                        </m:e>
                        <m:sup>
                          <m:r>
                            <a:rPr kumimoji="1" lang="en-US" altLang="zh-CN" sz="2000" b="0" i="1" dirty="0" smtClean="0">
                              <a:latin typeface="Cambria Math" panose="02040503050406030204" pitchFamily="18" charset="0"/>
                            </a:rPr>
                            <m:t>′</m:t>
                          </m:r>
                        </m:sup>
                      </m:sSup>
                      <m:r>
                        <a:rPr kumimoji="1" lang="en-US" altLang="zh-CN" sz="2000" b="0" i="1" dirty="0" smtClean="0">
                          <a:latin typeface="Cambria Math" panose="02040503050406030204" pitchFamily="18" charset="0"/>
                        </a:rPr>
                        <m:t>+</m:t>
                      </m:r>
                      <m:sSup>
                        <m:sSupPr>
                          <m:ctrlPr>
                            <a:rPr kumimoji="1" lang="en-US" altLang="zh-CN" sz="2000" b="0" i="1" dirty="0" smtClean="0">
                              <a:latin typeface="Cambria Math" panose="02040503050406030204" pitchFamily="18" charset="0"/>
                            </a:rPr>
                          </m:ctrlPr>
                        </m:sSupPr>
                        <m:e>
                          <m:r>
                            <a:rPr kumimoji="1" lang="en-US" altLang="zh-CN" sz="2000" b="0" i="1" dirty="0" smtClean="0">
                              <a:latin typeface="Cambria Math" panose="02040503050406030204" pitchFamily="18" charset="0"/>
                            </a:rPr>
                            <m:t>𝐴</m:t>
                          </m:r>
                        </m:e>
                        <m:sup>
                          <m:r>
                            <a:rPr kumimoji="1" lang="en-US" altLang="zh-CN" sz="2000" b="0" i="1" dirty="0" smtClean="0">
                              <a:latin typeface="Cambria Math" panose="02040503050406030204" pitchFamily="18" charset="0"/>
                            </a:rPr>
                            <m:t>′</m:t>
                          </m:r>
                        </m:sup>
                      </m:sSup>
                      <m:sSup>
                        <m:sSupPr>
                          <m:ctrlPr>
                            <a:rPr kumimoji="1" lang="en-US" altLang="zh-CN" sz="2000" b="0" i="1" dirty="0" smtClean="0">
                              <a:latin typeface="Cambria Math" panose="02040503050406030204" pitchFamily="18" charset="0"/>
                            </a:rPr>
                          </m:ctrlPr>
                        </m:sSupPr>
                        <m:e>
                          <m:r>
                            <a:rPr kumimoji="1" lang="en-US" altLang="zh-CN" sz="2000" b="0" i="1" dirty="0" smtClean="0">
                              <a:latin typeface="Cambria Math" panose="02040503050406030204" pitchFamily="18" charset="0"/>
                            </a:rPr>
                            <m:t>𝐵</m:t>
                          </m:r>
                        </m:e>
                        <m:sup>
                          <m:r>
                            <a:rPr kumimoji="1" lang="en-US" altLang="zh-CN" sz="2000" b="0" i="1" dirty="0" smtClean="0">
                              <a:latin typeface="Cambria Math" panose="02040503050406030204" pitchFamily="18" charset="0"/>
                            </a:rPr>
                            <m:t>′</m:t>
                          </m:r>
                        </m:sup>
                      </m:sSup>
                      <m:r>
                        <a:rPr kumimoji="1" lang="en-US" altLang="zh-CN" sz="2000" b="0" i="1" dirty="0" smtClean="0">
                          <a:latin typeface="Cambria Math" panose="02040503050406030204" pitchFamily="18" charset="0"/>
                        </a:rPr>
                        <m:t>𝐶</m:t>
                      </m:r>
                      <m:r>
                        <a:rPr kumimoji="1" lang="en-US" altLang="zh-CN" sz="2000" b="0" i="1" dirty="0" smtClean="0">
                          <a:latin typeface="Cambria Math" panose="02040503050406030204" pitchFamily="18" charset="0"/>
                        </a:rPr>
                        <m:t>+</m:t>
                      </m:r>
                      <m:sSup>
                        <m:sSupPr>
                          <m:ctrlPr>
                            <a:rPr kumimoji="1" lang="en-US" altLang="zh-CN" sz="2000" b="0" i="1" dirty="0" smtClean="0">
                              <a:latin typeface="Cambria Math" panose="02040503050406030204" pitchFamily="18" charset="0"/>
                            </a:rPr>
                          </m:ctrlPr>
                        </m:sSupPr>
                        <m:e>
                          <m:r>
                            <a:rPr kumimoji="1" lang="en-US" altLang="zh-CN" sz="2000" b="0" i="1" dirty="0" smtClean="0">
                              <a:latin typeface="Cambria Math" panose="02040503050406030204" pitchFamily="18" charset="0"/>
                            </a:rPr>
                            <m:t>𝐴</m:t>
                          </m:r>
                        </m:e>
                        <m:sup>
                          <m:r>
                            <a:rPr kumimoji="1" lang="en-US" altLang="zh-CN" sz="2000" b="0" i="1" dirty="0" smtClean="0">
                              <a:latin typeface="Cambria Math" panose="02040503050406030204" pitchFamily="18" charset="0"/>
                            </a:rPr>
                            <m:t>′</m:t>
                          </m:r>
                        </m:sup>
                      </m:sSup>
                      <m:r>
                        <a:rPr kumimoji="1" lang="en-US" altLang="zh-CN" sz="2000" b="0" i="1" dirty="0" smtClean="0">
                          <a:latin typeface="Cambria Math" panose="02040503050406030204" pitchFamily="18" charset="0"/>
                        </a:rPr>
                        <m:t>𝐵𝐶</m:t>
                      </m:r>
                      <m:r>
                        <a:rPr kumimoji="1" lang="en-US" altLang="zh-CN" sz="2000" b="0" i="1" dirty="0" smtClean="0">
                          <a:latin typeface="Cambria Math" panose="02040503050406030204" pitchFamily="18" charset="0"/>
                        </a:rPr>
                        <m:t>+</m:t>
                      </m:r>
                      <m:r>
                        <a:rPr kumimoji="1" lang="en-US" altLang="zh-CN" sz="2000" b="0" i="1" dirty="0" smtClean="0">
                          <a:latin typeface="Cambria Math" panose="02040503050406030204" pitchFamily="18" charset="0"/>
                        </a:rPr>
                        <m:t>𝐴𝐵𝐶</m:t>
                      </m:r>
                      <m:r>
                        <a:rPr kumimoji="1" lang="en-US" altLang="zh-CN" sz="2000" b="0" i="1" dirty="0" smtClean="0">
                          <a:latin typeface="Cambria Math" panose="02040503050406030204" pitchFamily="18" charset="0"/>
                        </a:rPr>
                        <m:t>+</m:t>
                      </m:r>
                      <m:sSup>
                        <m:sSupPr>
                          <m:ctrlPr>
                            <a:rPr kumimoji="1" lang="en-US" altLang="zh-CN" sz="2000" b="0" i="1" dirty="0" smtClean="0">
                              <a:latin typeface="Cambria Math" panose="02040503050406030204" pitchFamily="18" charset="0"/>
                            </a:rPr>
                          </m:ctrlPr>
                        </m:sSupPr>
                        <m:e>
                          <m:r>
                            <a:rPr kumimoji="1" lang="en-US" altLang="zh-CN" sz="2000" b="0" i="1" dirty="0" smtClean="0">
                              <a:latin typeface="Cambria Math" panose="02040503050406030204" pitchFamily="18" charset="0"/>
                            </a:rPr>
                            <m:t>𝐴</m:t>
                          </m:r>
                        </m:e>
                        <m:sup>
                          <m:r>
                            <a:rPr kumimoji="1" lang="en-US" altLang="zh-CN" sz="2000" b="0" i="1" dirty="0" smtClean="0">
                              <a:latin typeface="Cambria Math" panose="02040503050406030204" pitchFamily="18" charset="0"/>
                            </a:rPr>
                            <m:t>′</m:t>
                          </m:r>
                        </m:sup>
                      </m:sSup>
                      <m:r>
                        <a:rPr kumimoji="1" lang="en-US" altLang="zh-CN" sz="2000" b="0" i="1" dirty="0" smtClean="0">
                          <a:latin typeface="Cambria Math" panose="02040503050406030204" pitchFamily="18" charset="0"/>
                        </a:rPr>
                        <m:t>𝐵𝐶</m:t>
                      </m:r>
                      <m:r>
                        <a:rPr kumimoji="1" lang="en-US" altLang="zh-CN" sz="2000" b="0" i="1" dirty="0" smtClean="0">
                          <a:latin typeface="Cambria Math" panose="02040503050406030204" pitchFamily="18" charset="0"/>
                        </a:rPr>
                        <m:t>′</m:t>
                      </m:r>
                    </m:oMath>
                  </m:oMathPara>
                </a14:m>
                <a:endParaRPr kumimoji="1" lang="en-US" altLang="zh-CN" sz="2000" dirty="0"/>
              </a:p>
              <a:p>
                <a:pPr lvl="1"/>
                <a:r>
                  <a:rPr kumimoji="1" lang="zh-CN" altLang="en-US" sz="2000" dirty="0"/>
                  <a:t>已知函数：</a:t>
                </a:r>
                <a14:m>
                  <m:oMath xmlns:m="http://schemas.openxmlformats.org/officeDocument/2006/math">
                    <m:r>
                      <a:rPr kumimoji="1" lang="en-US" altLang="zh-CN" sz="2000" b="0" i="1" smtClean="0">
                        <a:latin typeface="Cambria Math" panose="02040503050406030204" pitchFamily="18" charset="0"/>
                      </a:rPr>
                      <m:t>𝑓</m:t>
                    </m:r>
                    <m:d>
                      <m:dPr>
                        <m:ctrlPr>
                          <a:rPr kumimoji="1" lang="en-US" altLang="zh-CN" sz="2000" b="0" i="1" smtClean="0">
                            <a:latin typeface="Cambria Math" panose="02040503050406030204" pitchFamily="18" charset="0"/>
                          </a:rPr>
                        </m:ctrlPr>
                      </m:dPr>
                      <m:e>
                        <m:r>
                          <a:rPr kumimoji="1" lang="en-US" altLang="zh-CN" sz="2000" b="0" i="1" smtClean="0">
                            <a:latin typeface="Cambria Math" panose="02040503050406030204" pitchFamily="18" charset="0"/>
                          </a:rPr>
                          <m:t>𝐴</m:t>
                        </m:r>
                        <m:r>
                          <a:rPr kumimoji="1" lang="en-US" altLang="zh-CN" sz="2000" b="0" i="1" smtClean="0">
                            <a:latin typeface="Cambria Math" panose="02040503050406030204" pitchFamily="18" charset="0"/>
                          </a:rPr>
                          <m:t>, </m:t>
                        </m:r>
                        <m:r>
                          <a:rPr kumimoji="1" lang="en-US" altLang="zh-CN" sz="2000" b="0" i="1" smtClean="0">
                            <a:latin typeface="Cambria Math" panose="02040503050406030204" pitchFamily="18" charset="0"/>
                          </a:rPr>
                          <m:t>𝐵</m:t>
                        </m:r>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𝐶</m:t>
                        </m:r>
                      </m:e>
                    </m:d>
                    <m:r>
                      <a:rPr kumimoji="1" lang="en-US" altLang="zh-CN" sz="2000" b="0" i="1" smtClean="0">
                        <a:latin typeface="Cambria Math" panose="02040503050406030204" pitchFamily="18" charset="0"/>
                      </a:rPr>
                      <m:t>=</m:t>
                    </m:r>
                    <m:nary>
                      <m:naryPr>
                        <m:chr m:val="∑"/>
                        <m:subHide m:val="on"/>
                        <m:supHide m:val="on"/>
                        <m:ctrlPr>
                          <a:rPr kumimoji="1" lang="en-US" altLang="zh-CN" sz="2000" b="0" i="1" smtClean="0">
                            <a:latin typeface="Cambria Math" panose="02040503050406030204" pitchFamily="18" charset="0"/>
                          </a:rPr>
                        </m:ctrlPr>
                      </m:naryPr>
                      <m:sub/>
                      <m:sup/>
                      <m:e>
                        <m:r>
                          <a:rPr kumimoji="1" lang="en-US" altLang="zh-CN" sz="2000" b="0" i="1" smtClean="0">
                            <a:latin typeface="Cambria Math" panose="02040503050406030204" pitchFamily="18" charset="0"/>
                          </a:rPr>
                          <m:t>𝑚</m:t>
                        </m:r>
                        <m:r>
                          <a:rPr kumimoji="1" lang="en-US" altLang="zh-CN" sz="2000" b="0" i="1" smtClean="0">
                            <a:latin typeface="Cambria Math" panose="02040503050406030204" pitchFamily="18" charset="0"/>
                          </a:rPr>
                          <m:t>(0,1,2,4,5)</m:t>
                        </m:r>
                      </m:e>
                    </m:nary>
                  </m:oMath>
                </a14:m>
                <a:endParaRPr kumimoji="1" lang="en-US" altLang="zh-CN" sz="2000" b="0" dirty="0"/>
              </a:p>
              <a:p>
                <a:pPr lvl="2"/>
                <a:r>
                  <a:rPr kumimoji="1" lang="en-US" altLang="zh-CN" sz="1600" dirty="0"/>
                  <a:t>(1)</a:t>
                </a:r>
                <a:r>
                  <a:rPr kumimoji="1" lang="zh-CN" altLang="en-US" sz="1600" dirty="0"/>
                  <a:t>将该函数转化为最大项表示的</a:t>
                </a:r>
                <a:r>
                  <a:rPr kumimoji="1" lang="en-US" altLang="zh-CN" sz="1600" dirty="0"/>
                  <a:t>POS</a:t>
                </a:r>
                <a:r>
                  <a:rPr kumimoji="1" lang="zh-CN" altLang="en-US" sz="1600" dirty="0"/>
                  <a:t>形式</a:t>
                </a:r>
                <a:endParaRPr kumimoji="1" lang="en-US" altLang="zh-CN" sz="1600" dirty="0"/>
              </a:p>
              <a:p>
                <a:pPr lvl="2"/>
                <a:r>
                  <a:rPr kumimoji="1" lang="en-US" altLang="zh-CN" sz="1600" dirty="0"/>
                  <a:t>(2)</a:t>
                </a:r>
                <a:r>
                  <a:rPr kumimoji="1" lang="zh-CN" altLang="en-US" sz="1600" dirty="0"/>
                  <a:t>使用卡诺图将该函数化简为最简</a:t>
                </a:r>
                <a:r>
                  <a:rPr kumimoji="1" lang="en-US" altLang="zh-CN" sz="1600" dirty="0"/>
                  <a:t>SOP</a:t>
                </a:r>
                <a:r>
                  <a:rPr kumimoji="1" lang="zh-CN" altLang="en-US" sz="1600" dirty="0"/>
                  <a:t>形式</a:t>
                </a:r>
                <a:endParaRPr kumimoji="1" lang="en-US" altLang="zh-CN" sz="1600" dirty="0"/>
              </a:p>
              <a:p>
                <a:pPr lvl="2"/>
                <a:r>
                  <a:rPr kumimoji="1" lang="en-US" altLang="zh-CN" sz="1600" dirty="0"/>
                  <a:t>(3)</a:t>
                </a:r>
                <a:r>
                  <a:rPr kumimoji="1" lang="zh-CN" altLang="en-US" sz="1600" dirty="0"/>
                  <a:t>使用下表提供的逻辑门，如果要以最小面积实现该函数的计算功能应如何设计电路，此时面积是多少</a:t>
                </a:r>
                <a:r>
                  <a:rPr kumimoji="1" lang="en-US" altLang="zh-CN" sz="1600" dirty="0"/>
                  <a:t>?</a:t>
                </a:r>
                <a:r>
                  <a:rPr kumimoji="1" lang="zh-CN" altLang="en-US" sz="1600" dirty="0"/>
                  <a:t>如果考虑最小延时呢</a:t>
                </a:r>
                <a:r>
                  <a:rPr kumimoji="1" lang="en-US" altLang="zh-CN" sz="1600" dirty="0"/>
                  <a:t>?(</a:t>
                </a:r>
                <a:r>
                  <a:rPr kumimoji="1" lang="zh-CN" altLang="en-US" sz="1600" dirty="0"/>
                  <a:t>注</a:t>
                </a:r>
                <a:r>
                  <a:rPr kumimoji="1" lang="en-US" altLang="zh-CN" sz="1600" dirty="0"/>
                  <a:t>:</a:t>
                </a:r>
                <a:r>
                  <a:rPr kumimoji="1" lang="zh-CN" altLang="en-US" sz="1600" dirty="0"/>
                  <a:t>门名称后 的数字代表输入数；电路输入信号仅包括</a:t>
                </a:r>
                <a:r>
                  <a:rPr kumimoji="1" lang="en-US" altLang="zh-CN" sz="1600" dirty="0"/>
                  <a:t>A,B,C)</a:t>
                </a:r>
              </a:p>
            </p:txBody>
          </p:sp>
        </mc:Choice>
        <mc:Fallback xmlns="">
          <p:sp>
            <p:nvSpPr>
              <p:cNvPr id="3" name="内容占位符 2">
                <a:extLst>
                  <a:ext uri="{FF2B5EF4-FFF2-40B4-BE49-F238E27FC236}">
                    <a16:creationId xmlns:a16="http://schemas.microsoft.com/office/drawing/2014/main" id="{3EC6B101-2298-5344-B5EF-F38AD650EFE1}"/>
                  </a:ext>
                </a:extLst>
              </p:cNvPr>
              <p:cNvSpPr>
                <a:spLocks noGrp="1" noRot="1" noChangeAspect="1" noMove="1" noResize="1" noEditPoints="1" noAdjustHandles="1" noChangeArrowheads="1" noChangeShapeType="1" noTextEdit="1"/>
              </p:cNvSpPr>
              <p:nvPr>
                <p:ph idx="1"/>
              </p:nvPr>
            </p:nvSpPr>
            <p:spPr>
              <a:xfrm>
                <a:off x="457200" y="1484845"/>
                <a:ext cx="8229600" cy="4716463"/>
              </a:xfrm>
              <a:blipFill>
                <a:blip r:embed="rId2"/>
                <a:stretch>
                  <a:fillRect l="-667" t="-1035"/>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3CB4E43B-6428-3CE3-5C99-126D3930D33A}"/>
              </a:ext>
            </a:extLst>
          </p:cNvPr>
          <p:cNvSpPr>
            <a:spLocks noGrp="1"/>
          </p:cNvSpPr>
          <p:nvPr>
            <p:ph type="sldNum" sz="quarter" idx="12"/>
          </p:nvPr>
        </p:nvSpPr>
        <p:spPr/>
        <p:txBody>
          <a:bodyPr/>
          <a:lstStyle/>
          <a:p>
            <a:fld id="{14659731-6BD7-46E7-8D3C-2F3AC07E20B1}" type="slidenum">
              <a:rPr lang="en-US" altLang="zh-CN" smtClean="0"/>
              <a:pPr/>
              <a:t>107</a:t>
            </a:fld>
            <a:endParaRPr lang="en-US" altLang="zh-CN" dirty="0"/>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71D3B6B6-D5DC-2247-BCBB-F17903D5379A}"/>
                  </a:ext>
                </a:extLst>
              </p:cNvPr>
              <p:cNvGraphicFramePr>
                <a:graphicFrameLocks noGrp="1"/>
              </p:cNvGraphicFramePr>
              <p:nvPr>
                <p:extLst>
                  <p:ext uri="{D42A27DB-BD31-4B8C-83A1-F6EECF244321}">
                    <p14:modId xmlns:p14="http://schemas.microsoft.com/office/powerpoint/2010/main" val="234987577"/>
                  </p:ext>
                </p:extLst>
              </p:nvPr>
            </p:nvGraphicFramePr>
            <p:xfrm>
              <a:off x="1511660" y="4422065"/>
              <a:ext cx="3240360" cy="1824165"/>
            </p:xfrm>
            <a:graphic>
              <a:graphicData uri="http://schemas.openxmlformats.org/drawingml/2006/table">
                <a:tbl>
                  <a:tblPr firstRow="1" bandRow="1">
                    <a:tableStyleId>{5940675A-B579-460E-94D1-54222C63F5DA}</a:tableStyleId>
                  </a:tblPr>
                  <a:tblGrid>
                    <a:gridCol w="972108">
                      <a:extLst>
                        <a:ext uri="{9D8B030D-6E8A-4147-A177-3AD203B41FA5}">
                          <a16:colId xmlns:a16="http://schemas.microsoft.com/office/drawing/2014/main" val="1414215280"/>
                        </a:ext>
                      </a:extLst>
                    </a:gridCol>
                    <a:gridCol w="1008112">
                      <a:extLst>
                        <a:ext uri="{9D8B030D-6E8A-4147-A177-3AD203B41FA5}">
                          <a16:colId xmlns:a16="http://schemas.microsoft.com/office/drawing/2014/main" val="2058783995"/>
                        </a:ext>
                      </a:extLst>
                    </a:gridCol>
                    <a:gridCol w="1260140">
                      <a:extLst>
                        <a:ext uri="{9D8B030D-6E8A-4147-A177-3AD203B41FA5}">
                          <a16:colId xmlns:a16="http://schemas.microsoft.com/office/drawing/2014/main" val="542000954"/>
                        </a:ext>
                      </a:extLst>
                    </a:gridCol>
                  </a:tblGrid>
                  <a:tr h="334836">
                    <a:tc>
                      <a:txBody>
                        <a:bodyPr/>
                        <a:lstStyle/>
                        <a:p>
                          <a:r>
                            <a:rPr lang="zh-CN" altLang="en-US" sz="1600" dirty="0"/>
                            <a:t>逻辑门</a:t>
                          </a:r>
                          <a:endParaRPr lang="zh-CN" altLang="en-US" sz="1600" dirty="0">
                            <a:ea typeface="黑体" panose="02010609060101010101" pitchFamily="49" charset="-122"/>
                          </a:endParaRPr>
                        </a:p>
                      </a:txBody>
                      <a:tcPr>
                        <a:solidFill>
                          <a:srgbClr val="B4C6E8"/>
                        </a:solidFill>
                      </a:tcPr>
                    </a:tc>
                    <a:tc>
                      <a:txBody>
                        <a:bodyPr/>
                        <a:lstStyle/>
                        <a:p>
                          <a:r>
                            <a:rPr lang="zh-CN" altLang="en-US" sz="1600" dirty="0"/>
                            <a:t>延时</a:t>
                          </a:r>
                          <a:r>
                            <a:rPr lang="en-US" altLang="zh-CN" sz="1600" dirty="0"/>
                            <a:t>(</a:t>
                          </a:r>
                          <a:r>
                            <a:rPr lang="en-US" altLang="zh-CN" sz="1600" dirty="0" err="1"/>
                            <a:t>ps</a:t>
                          </a:r>
                          <a:r>
                            <a:rPr lang="en-US" altLang="zh-CN" sz="1600" dirty="0"/>
                            <a:t>)</a:t>
                          </a:r>
                          <a:endParaRPr lang="zh-CN" altLang="en-US" sz="1600" dirty="0"/>
                        </a:p>
                      </a:txBody>
                      <a:tcPr>
                        <a:solidFill>
                          <a:srgbClr val="B4C6E8"/>
                        </a:solidFill>
                      </a:tcPr>
                    </a:tc>
                    <a:tc>
                      <a:txBody>
                        <a:bodyPr/>
                        <a:lstStyle/>
                        <a:p>
                          <a:r>
                            <a:rPr lang="zh-CN" altLang="en-US" sz="1600" dirty="0"/>
                            <a:t>面积</a:t>
                          </a:r>
                          <a:r>
                            <a:rPr lang="en-US" altLang="zh-CN" sz="1600" dirty="0"/>
                            <a:t>(</a:t>
                          </a:r>
                          <a14:m>
                            <m:oMath xmlns:m="http://schemas.openxmlformats.org/officeDocument/2006/math">
                              <m:r>
                                <a:rPr lang="en-US" altLang="zh-CN" sz="1600" b="1" smtClean="0">
                                  <a:latin typeface="Cambria Math" panose="02040503050406030204" pitchFamily="18" charset="0"/>
                                </a:rPr>
                                <m:t>𝝁</m:t>
                              </m:r>
                              <m:sSup>
                                <m:sSupPr>
                                  <m:ctrlPr>
                                    <a:rPr lang="en-US" altLang="zh-CN" sz="1600" b="1" i="1" smtClean="0">
                                      <a:latin typeface="Cambria Math" panose="02040503050406030204" pitchFamily="18" charset="0"/>
                                    </a:rPr>
                                  </m:ctrlPr>
                                </m:sSupPr>
                                <m:e>
                                  <m:r>
                                    <a:rPr lang="en-US" altLang="zh-CN" sz="1600" b="1" smtClean="0">
                                      <a:latin typeface="Cambria Math" panose="02040503050406030204" pitchFamily="18" charset="0"/>
                                    </a:rPr>
                                    <m:t>𝒎</m:t>
                                  </m:r>
                                </m:e>
                                <m:sup>
                                  <m:r>
                                    <a:rPr lang="en-US" altLang="zh-CN" sz="1600" b="1" smtClean="0">
                                      <a:latin typeface="Cambria Math" panose="02040503050406030204" pitchFamily="18" charset="0"/>
                                    </a:rPr>
                                    <m:t>𝟐</m:t>
                                  </m:r>
                                </m:sup>
                              </m:sSup>
                            </m:oMath>
                          </a14:m>
                          <a:r>
                            <a:rPr lang="en-US" altLang="zh-CN" sz="1600" dirty="0"/>
                            <a:t>)</a:t>
                          </a:r>
                          <a:endParaRPr lang="zh-CN" altLang="en-US" sz="1600" dirty="0"/>
                        </a:p>
                      </a:txBody>
                      <a:tcPr>
                        <a:solidFill>
                          <a:srgbClr val="B4C6E8"/>
                        </a:solidFill>
                      </a:tcPr>
                    </a:tc>
                    <a:extLst>
                      <a:ext uri="{0D108BD9-81ED-4DB2-BD59-A6C34878D82A}">
                        <a16:rowId xmlns:a16="http://schemas.microsoft.com/office/drawing/2014/main" val="3091023345"/>
                      </a:ext>
                    </a:extLst>
                  </a:tr>
                  <a:tr h="370840">
                    <a:tc>
                      <a:txBody>
                        <a:bodyPr/>
                        <a:lstStyle/>
                        <a:p>
                          <a:r>
                            <a:rPr lang="en-US" altLang="zh-CN" sz="1600" dirty="0"/>
                            <a:t>NOT</a:t>
                          </a:r>
                          <a:endParaRPr lang="zh-CN" altLang="en-US" sz="1600" dirty="0"/>
                        </a:p>
                      </a:txBody>
                      <a:tcPr/>
                    </a:tc>
                    <a:tc>
                      <a:txBody>
                        <a:bodyPr/>
                        <a:lstStyle/>
                        <a:p>
                          <a:r>
                            <a:rPr lang="en-US" altLang="zh-CN" sz="1600" dirty="0"/>
                            <a:t>18</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3322785938"/>
                      </a:ext>
                    </a:extLst>
                  </a:tr>
                  <a:tr h="370840">
                    <a:tc>
                      <a:txBody>
                        <a:bodyPr/>
                        <a:lstStyle/>
                        <a:p>
                          <a:r>
                            <a:rPr lang="en-US" altLang="zh-CN" sz="1600" dirty="0"/>
                            <a:t>AND2</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25</a:t>
                          </a:r>
                          <a:endParaRPr lang="zh-CN" altLang="en-US" sz="1600" dirty="0"/>
                        </a:p>
                      </a:txBody>
                      <a:tcPr/>
                    </a:tc>
                    <a:extLst>
                      <a:ext uri="{0D108BD9-81ED-4DB2-BD59-A6C34878D82A}">
                        <a16:rowId xmlns:a16="http://schemas.microsoft.com/office/drawing/2014/main" val="4031465477"/>
                      </a:ext>
                    </a:extLst>
                  </a:tr>
                  <a:tr h="370840">
                    <a:tc>
                      <a:txBody>
                        <a:bodyPr/>
                        <a:lstStyle/>
                        <a:p>
                          <a:r>
                            <a:rPr lang="en-US" altLang="zh-CN" sz="1600" dirty="0"/>
                            <a:t>NAND2</a:t>
                          </a:r>
                          <a:endParaRPr lang="zh-CN" altLang="en-US" sz="1600" dirty="0"/>
                        </a:p>
                      </a:txBody>
                      <a:tcPr/>
                    </a:tc>
                    <a:tc>
                      <a:txBody>
                        <a:bodyPr/>
                        <a:lstStyle/>
                        <a:p>
                          <a:r>
                            <a:rPr lang="en-US" altLang="zh-CN" sz="1600" dirty="0"/>
                            <a:t>30</a:t>
                          </a:r>
                          <a:endParaRPr lang="zh-CN" altLang="en-US" sz="1600" dirty="0"/>
                        </a:p>
                      </a:txBody>
                      <a:tcPr/>
                    </a:tc>
                    <a:tc>
                      <a:txBody>
                        <a:bodyPr/>
                        <a:lstStyle/>
                        <a:p>
                          <a:r>
                            <a:rPr lang="en-US" altLang="zh-CN" sz="1600" dirty="0"/>
                            <a:t>15</a:t>
                          </a:r>
                          <a:endParaRPr lang="zh-CN" altLang="en-US" sz="1600" dirty="0"/>
                        </a:p>
                      </a:txBody>
                      <a:tcPr/>
                    </a:tc>
                    <a:extLst>
                      <a:ext uri="{0D108BD9-81ED-4DB2-BD59-A6C34878D82A}">
                        <a16:rowId xmlns:a16="http://schemas.microsoft.com/office/drawing/2014/main" val="1109922227"/>
                      </a:ext>
                    </a:extLst>
                  </a:tr>
                  <a:tr h="370840">
                    <a:tc>
                      <a:txBody>
                        <a:bodyPr/>
                        <a:lstStyle/>
                        <a:p>
                          <a:r>
                            <a:rPr lang="en-US" altLang="zh-CN" sz="1600" dirty="0"/>
                            <a:t>NAND4</a:t>
                          </a:r>
                          <a:endParaRPr lang="zh-CN" altLang="en-US" sz="1600" dirty="0"/>
                        </a:p>
                      </a:txBody>
                      <a:tcPr/>
                    </a:tc>
                    <a:tc>
                      <a:txBody>
                        <a:bodyPr/>
                        <a:lstStyle/>
                        <a:p>
                          <a:r>
                            <a:rPr lang="en-US" altLang="zh-CN" sz="1600" dirty="0"/>
                            <a:t>70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2639269921"/>
                      </a:ext>
                    </a:extLst>
                  </a:tr>
                </a:tbl>
              </a:graphicData>
            </a:graphic>
          </p:graphicFrame>
        </mc:Choice>
        <mc:Fallback xmlns="">
          <p:graphicFrame>
            <p:nvGraphicFramePr>
              <p:cNvPr id="5" name="表格 5">
                <a:extLst>
                  <a:ext uri="{FF2B5EF4-FFF2-40B4-BE49-F238E27FC236}">
                    <a16:creationId xmlns:a16="http://schemas.microsoft.com/office/drawing/2014/main" id="{71D3B6B6-D5DC-2247-BCBB-F17903D5379A}"/>
                  </a:ext>
                </a:extLst>
              </p:cNvPr>
              <p:cNvGraphicFramePr>
                <a:graphicFrameLocks noGrp="1"/>
              </p:cNvGraphicFramePr>
              <p:nvPr>
                <p:extLst>
                  <p:ext uri="{D42A27DB-BD31-4B8C-83A1-F6EECF244321}">
                    <p14:modId xmlns:p14="http://schemas.microsoft.com/office/powerpoint/2010/main" val="234987577"/>
                  </p:ext>
                </p:extLst>
              </p:nvPr>
            </p:nvGraphicFramePr>
            <p:xfrm>
              <a:off x="1511660" y="4422065"/>
              <a:ext cx="3240360" cy="1824165"/>
            </p:xfrm>
            <a:graphic>
              <a:graphicData uri="http://schemas.openxmlformats.org/drawingml/2006/table">
                <a:tbl>
                  <a:tblPr firstRow="1" bandRow="1">
                    <a:tableStyleId>{5940675A-B579-460E-94D1-54222C63F5DA}</a:tableStyleId>
                  </a:tblPr>
                  <a:tblGrid>
                    <a:gridCol w="972108">
                      <a:extLst>
                        <a:ext uri="{9D8B030D-6E8A-4147-A177-3AD203B41FA5}">
                          <a16:colId xmlns:a16="http://schemas.microsoft.com/office/drawing/2014/main" val="1414215280"/>
                        </a:ext>
                      </a:extLst>
                    </a:gridCol>
                    <a:gridCol w="1008112">
                      <a:extLst>
                        <a:ext uri="{9D8B030D-6E8A-4147-A177-3AD203B41FA5}">
                          <a16:colId xmlns:a16="http://schemas.microsoft.com/office/drawing/2014/main" val="2058783995"/>
                        </a:ext>
                      </a:extLst>
                    </a:gridCol>
                    <a:gridCol w="1260140">
                      <a:extLst>
                        <a:ext uri="{9D8B030D-6E8A-4147-A177-3AD203B41FA5}">
                          <a16:colId xmlns:a16="http://schemas.microsoft.com/office/drawing/2014/main" val="542000954"/>
                        </a:ext>
                      </a:extLst>
                    </a:gridCol>
                  </a:tblGrid>
                  <a:tr h="340805">
                    <a:tc>
                      <a:txBody>
                        <a:bodyPr/>
                        <a:lstStyle/>
                        <a:p>
                          <a:r>
                            <a:rPr lang="zh-CN" altLang="en-US" sz="1600" dirty="0"/>
                            <a:t>逻辑门</a:t>
                          </a:r>
                          <a:endParaRPr lang="zh-CN" altLang="en-US" sz="1600" dirty="0">
                            <a:ea typeface="黑体" panose="02010609060101010101" pitchFamily="49" charset="-122"/>
                          </a:endParaRPr>
                        </a:p>
                      </a:txBody>
                      <a:tcPr>
                        <a:solidFill>
                          <a:srgbClr val="B4C6E8"/>
                        </a:solidFill>
                      </a:tcPr>
                    </a:tc>
                    <a:tc>
                      <a:txBody>
                        <a:bodyPr/>
                        <a:lstStyle/>
                        <a:p>
                          <a:r>
                            <a:rPr lang="zh-CN" altLang="en-US" sz="1600" dirty="0"/>
                            <a:t>延时</a:t>
                          </a:r>
                          <a:r>
                            <a:rPr lang="en-US" altLang="zh-CN" sz="1600" dirty="0"/>
                            <a:t>(</a:t>
                          </a:r>
                          <a:r>
                            <a:rPr lang="en-US" altLang="zh-CN" sz="1600" dirty="0" err="1"/>
                            <a:t>ps</a:t>
                          </a:r>
                          <a:r>
                            <a:rPr lang="en-US" altLang="zh-CN" sz="1600" dirty="0"/>
                            <a:t>)</a:t>
                          </a:r>
                          <a:endParaRPr lang="zh-CN" altLang="en-US" sz="1600" dirty="0"/>
                        </a:p>
                      </a:txBody>
                      <a:tcPr>
                        <a:solidFill>
                          <a:srgbClr val="B4C6E8"/>
                        </a:solidFill>
                      </a:tcPr>
                    </a:tc>
                    <a:tc>
                      <a:txBody>
                        <a:bodyPr/>
                        <a:lstStyle/>
                        <a:p>
                          <a:endParaRPr lang="zh-CN"/>
                        </a:p>
                      </a:txBody>
                      <a:tcPr>
                        <a:blipFill>
                          <a:blip r:embed="rId3"/>
                          <a:stretch>
                            <a:fillRect l="-157000" t="-11111" r="-1000" b="-448148"/>
                          </a:stretch>
                        </a:blipFill>
                      </a:tcPr>
                    </a:tc>
                    <a:extLst>
                      <a:ext uri="{0D108BD9-81ED-4DB2-BD59-A6C34878D82A}">
                        <a16:rowId xmlns:a16="http://schemas.microsoft.com/office/drawing/2014/main" val="3091023345"/>
                      </a:ext>
                    </a:extLst>
                  </a:tr>
                  <a:tr h="370840">
                    <a:tc>
                      <a:txBody>
                        <a:bodyPr/>
                        <a:lstStyle/>
                        <a:p>
                          <a:r>
                            <a:rPr lang="en-US" altLang="zh-CN" sz="1600" dirty="0"/>
                            <a:t>NOT</a:t>
                          </a:r>
                          <a:endParaRPr lang="zh-CN" altLang="en-US" sz="1600" dirty="0"/>
                        </a:p>
                      </a:txBody>
                      <a:tcPr/>
                    </a:tc>
                    <a:tc>
                      <a:txBody>
                        <a:bodyPr/>
                        <a:lstStyle/>
                        <a:p>
                          <a:r>
                            <a:rPr lang="en-US" altLang="zh-CN" sz="1600" dirty="0"/>
                            <a:t>18</a:t>
                          </a:r>
                          <a:endParaRPr lang="zh-CN" altLang="en-US" sz="1600" dirty="0"/>
                        </a:p>
                      </a:txBody>
                      <a:tcPr/>
                    </a:tc>
                    <a:tc>
                      <a:txBody>
                        <a:bodyPr/>
                        <a:lstStyle/>
                        <a:p>
                          <a:r>
                            <a:rPr lang="en-US" altLang="zh-CN" sz="1600" dirty="0"/>
                            <a:t>8</a:t>
                          </a:r>
                          <a:endParaRPr lang="zh-CN" altLang="en-US" sz="1600" dirty="0"/>
                        </a:p>
                      </a:txBody>
                      <a:tcPr/>
                    </a:tc>
                    <a:extLst>
                      <a:ext uri="{0D108BD9-81ED-4DB2-BD59-A6C34878D82A}">
                        <a16:rowId xmlns:a16="http://schemas.microsoft.com/office/drawing/2014/main" val="3322785938"/>
                      </a:ext>
                    </a:extLst>
                  </a:tr>
                  <a:tr h="370840">
                    <a:tc>
                      <a:txBody>
                        <a:bodyPr/>
                        <a:lstStyle/>
                        <a:p>
                          <a:r>
                            <a:rPr lang="en-US" altLang="zh-CN" sz="1600" dirty="0"/>
                            <a:t>AND2</a:t>
                          </a:r>
                          <a:endParaRPr lang="zh-CN" altLang="en-US" sz="1600" dirty="0"/>
                        </a:p>
                      </a:txBody>
                      <a:tcPr/>
                    </a:tc>
                    <a:tc>
                      <a:txBody>
                        <a:bodyPr/>
                        <a:lstStyle/>
                        <a:p>
                          <a:r>
                            <a:rPr lang="en-US" altLang="zh-CN" sz="1600" dirty="0"/>
                            <a:t>50</a:t>
                          </a:r>
                          <a:endParaRPr lang="zh-CN" altLang="en-US" sz="1600" dirty="0"/>
                        </a:p>
                      </a:txBody>
                      <a:tcPr/>
                    </a:tc>
                    <a:tc>
                      <a:txBody>
                        <a:bodyPr/>
                        <a:lstStyle/>
                        <a:p>
                          <a:r>
                            <a:rPr lang="en-US" altLang="zh-CN" sz="1600" dirty="0"/>
                            <a:t>25</a:t>
                          </a:r>
                          <a:endParaRPr lang="zh-CN" altLang="en-US" sz="1600" dirty="0"/>
                        </a:p>
                      </a:txBody>
                      <a:tcPr/>
                    </a:tc>
                    <a:extLst>
                      <a:ext uri="{0D108BD9-81ED-4DB2-BD59-A6C34878D82A}">
                        <a16:rowId xmlns:a16="http://schemas.microsoft.com/office/drawing/2014/main" val="4031465477"/>
                      </a:ext>
                    </a:extLst>
                  </a:tr>
                  <a:tr h="370840">
                    <a:tc>
                      <a:txBody>
                        <a:bodyPr/>
                        <a:lstStyle/>
                        <a:p>
                          <a:r>
                            <a:rPr lang="en-US" altLang="zh-CN" sz="1600" dirty="0"/>
                            <a:t>NAND2</a:t>
                          </a:r>
                          <a:endParaRPr lang="zh-CN" altLang="en-US" sz="1600" dirty="0"/>
                        </a:p>
                      </a:txBody>
                      <a:tcPr/>
                    </a:tc>
                    <a:tc>
                      <a:txBody>
                        <a:bodyPr/>
                        <a:lstStyle/>
                        <a:p>
                          <a:r>
                            <a:rPr lang="en-US" altLang="zh-CN" sz="1600" dirty="0"/>
                            <a:t>30</a:t>
                          </a:r>
                          <a:endParaRPr lang="zh-CN" altLang="en-US" sz="1600" dirty="0"/>
                        </a:p>
                      </a:txBody>
                      <a:tcPr/>
                    </a:tc>
                    <a:tc>
                      <a:txBody>
                        <a:bodyPr/>
                        <a:lstStyle/>
                        <a:p>
                          <a:r>
                            <a:rPr lang="en-US" altLang="zh-CN" sz="1600" dirty="0"/>
                            <a:t>15</a:t>
                          </a:r>
                          <a:endParaRPr lang="zh-CN" altLang="en-US" sz="1600" dirty="0"/>
                        </a:p>
                      </a:txBody>
                      <a:tcPr/>
                    </a:tc>
                    <a:extLst>
                      <a:ext uri="{0D108BD9-81ED-4DB2-BD59-A6C34878D82A}">
                        <a16:rowId xmlns:a16="http://schemas.microsoft.com/office/drawing/2014/main" val="1109922227"/>
                      </a:ext>
                    </a:extLst>
                  </a:tr>
                  <a:tr h="370840">
                    <a:tc>
                      <a:txBody>
                        <a:bodyPr/>
                        <a:lstStyle/>
                        <a:p>
                          <a:r>
                            <a:rPr lang="en-US" altLang="zh-CN" sz="1600" dirty="0"/>
                            <a:t>NAND4</a:t>
                          </a:r>
                          <a:endParaRPr lang="zh-CN" altLang="en-US" sz="1600" dirty="0"/>
                        </a:p>
                      </a:txBody>
                      <a:tcPr/>
                    </a:tc>
                    <a:tc>
                      <a:txBody>
                        <a:bodyPr/>
                        <a:lstStyle/>
                        <a:p>
                          <a:r>
                            <a:rPr lang="en-US" altLang="zh-CN" sz="1600" dirty="0"/>
                            <a:t>70</a:t>
                          </a:r>
                          <a:endParaRPr lang="zh-CN" altLang="en-US" sz="1600" dirty="0"/>
                        </a:p>
                      </a:txBody>
                      <a:tcPr/>
                    </a:tc>
                    <a:tc>
                      <a:txBody>
                        <a:bodyPr/>
                        <a:lstStyle/>
                        <a:p>
                          <a:r>
                            <a:rPr lang="en-US" altLang="zh-CN" sz="1600" dirty="0"/>
                            <a:t>30</a:t>
                          </a:r>
                          <a:endParaRPr lang="zh-CN" altLang="en-US" sz="1600" dirty="0"/>
                        </a:p>
                      </a:txBody>
                      <a:tcPr/>
                    </a:tc>
                    <a:extLst>
                      <a:ext uri="{0D108BD9-81ED-4DB2-BD59-A6C34878D82A}">
                        <a16:rowId xmlns:a16="http://schemas.microsoft.com/office/drawing/2014/main" val="263926992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7F802598-1F70-A144-94D5-84C8AFF8E251}"/>
                  </a:ext>
                </a:extLst>
              </p:cNvPr>
              <p:cNvGraphicFramePr>
                <a:graphicFrameLocks noGrp="1"/>
              </p:cNvGraphicFramePr>
              <p:nvPr>
                <p:extLst>
                  <p:ext uri="{D42A27DB-BD31-4B8C-83A1-F6EECF244321}">
                    <p14:modId xmlns:p14="http://schemas.microsoft.com/office/powerpoint/2010/main" val="1305178127"/>
                  </p:ext>
                </p:extLst>
              </p:nvPr>
            </p:nvGraphicFramePr>
            <p:xfrm>
              <a:off x="5102835" y="4229025"/>
              <a:ext cx="3240360" cy="2017205"/>
            </p:xfrm>
            <a:graphic>
              <a:graphicData uri="http://schemas.openxmlformats.org/drawingml/2006/table">
                <a:tbl>
                  <a:tblPr firstRow="1" bandRow="1">
                    <a:tableStyleId>{5940675A-B579-460E-94D1-54222C63F5DA}</a:tableStyleId>
                  </a:tblPr>
                  <a:tblGrid>
                    <a:gridCol w="972108">
                      <a:extLst>
                        <a:ext uri="{9D8B030D-6E8A-4147-A177-3AD203B41FA5}">
                          <a16:colId xmlns:a16="http://schemas.microsoft.com/office/drawing/2014/main" val="1414215280"/>
                        </a:ext>
                      </a:extLst>
                    </a:gridCol>
                    <a:gridCol w="1008112">
                      <a:extLst>
                        <a:ext uri="{9D8B030D-6E8A-4147-A177-3AD203B41FA5}">
                          <a16:colId xmlns:a16="http://schemas.microsoft.com/office/drawing/2014/main" val="2058783995"/>
                        </a:ext>
                      </a:extLst>
                    </a:gridCol>
                    <a:gridCol w="1260140">
                      <a:extLst>
                        <a:ext uri="{9D8B030D-6E8A-4147-A177-3AD203B41FA5}">
                          <a16:colId xmlns:a16="http://schemas.microsoft.com/office/drawing/2014/main" val="542000954"/>
                        </a:ext>
                      </a:extLst>
                    </a:gridCol>
                  </a:tblGrid>
                  <a:tr h="283227">
                    <a:tc>
                      <a:txBody>
                        <a:bodyPr/>
                        <a:lstStyle/>
                        <a:p>
                          <a:r>
                            <a:rPr lang="zh-CN" altLang="en-US" sz="1600" dirty="0"/>
                            <a:t>逻辑门</a:t>
                          </a:r>
                          <a:endParaRPr lang="zh-CN" altLang="en-US" sz="1600" dirty="0">
                            <a:ea typeface="黑体" panose="02010609060101010101" pitchFamily="49" charset="-122"/>
                          </a:endParaRPr>
                        </a:p>
                      </a:txBody>
                      <a:tcPr>
                        <a:solidFill>
                          <a:srgbClr val="B4C6E8"/>
                        </a:solidFill>
                      </a:tcPr>
                    </a:tc>
                    <a:tc>
                      <a:txBody>
                        <a:bodyPr/>
                        <a:lstStyle/>
                        <a:p>
                          <a:r>
                            <a:rPr lang="zh-CN" altLang="en-US" sz="1600" dirty="0"/>
                            <a:t>延时</a:t>
                          </a:r>
                          <a:r>
                            <a:rPr lang="en-US" altLang="zh-CN" sz="1600" dirty="0"/>
                            <a:t>(</a:t>
                          </a:r>
                          <a:r>
                            <a:rPr lang="en-US" altLang="zh-CN" sz="1600" dirty="0" err="1"/>
                            <a:t>ps</a:t>
                          </a:r>
                          <a:r>
                            <a:rPr lang="en-US" altLang="zh-CN" sz="1600" dirty="0"/>
                            <a:t>)</a:t>
                          </a:r>
                          <a:endParaRPr lang="zh-CN" altLang="en-US" sz="1600" dirty="0"/>
                        </a:p>
                      </a:txBody>
                      <a:tcPr>
                        <a:solidFill>
                          <a:srgbClr val="B4C6E8"/>
                        </a:solidFill>
                      </a:tcPr>
                    </a:tc>
                    <a:tc>
                      <a:txBody>
                        <a:bodyPr/>
                        <a:lstStyle/>
                        <a:p>
                          <a:r>
                            <a:rPr lang="zh-CN" altLang="en-US" sz="1600" dirty="0"/>
                            <a:t>面积</a:t>
                          </a:r>
                          <a:r>
                            <a:rPr lang="en-US" altLang="zh-CN" sz="1600" dirty="0"/>
                            <a:t>(</a:t>
                          </a:r>
                          <a14:m>
                            <m:oMath xmlns:m="http://schemas.openxmlformats.org/officeDocument/2006/math">
                              <m:r>
                                <a:rPr lang="en-US" altLang="zh-CN" sz="1600" b="1" smtClean="0">
                                  <a:latin typeface="Cambria Math" panose="02040503050406030204" pitchFamily="18" charset="0"/>
                                </a:rPr>
                                <m:t>𝝁</m:t>
                              </m:r>
                              <m:sSup>
                                <m:sSupPr>
                                  <m:ctrlPr>
                                    <a:rPr lang="en-US" altLang="zh-CN" sz="1600" b="1" i="1" smtClean="0">
                                      <a:latin typeface="Cambria Math" panose="02040503050406030204" pitchFamily="18" charset="0"/>
                                    </a:rPr>
                                  </m:ctrlPr>
                                </m:sSupPr>
                                <m:e>
                                  <m:r>
                                    <a:rPr lang="en-US" altLang="zh-CN" sz="1600" b="1" smtClean="0">
                                      <a:latin typeface="Cambria Math" panose="02040503050406030204" pitchFamily="18" charset="0"/>
                                    </a:rPr>
                                    <m:t>𝒎</m:t>
                                  </m:r>
                                </m:e>
                                <m:sup>
                                  <m:r>
                                    <a:rPr lang="en-US" altLang="zh-CN" sz="1600" b="1" smtClean="0">
                                      <a:latin typeface="Cambria Math" panose="02040503050406030204" pitchFamily="18" charset="0"/>
                                    </a:rPr>
                                    <m:t>𝟐</m:t>
                                  </m:r>
                                </m:sup>
                              </m:sSup>
                            </m:oMath>
                          </a14:m>
                          <a:r>
                            <a:rPr lang="en-US" altLang="zh-CN" sz="1600" dirty="0"/>
                            <a:t>)</a:t>
                          </a:r>
                          <a:endParaRPr lang="zh-CN" altLang="en-US" sz="1600" dirty="0"/>
                        </a:p>
                      </a:txBody>
                      <a:tcPr>
                        <a:solidFill>
                          <a:srgbClr val="B4C6E8"/>
                        </a:solidFill>
                      </a:tcPr>
                    </a:tc>
                    <a:extLst>
                      <a:ext uri="{0D108BD9-81ED-4DB2-BD59-A6C34878D82A}">
                        <a16:rowId xmlns:a16="http://schemas.microsoft.com/office/drawing/2014/main" val="3091023345"/>
                      </a:ext>
                    </a:extLst>
                  </a:tr>
                  <a:tr h="308188">
                    <a:tc>
                      <a:txBody>
                        <a:bodyPr/>
                        <a:lstStyle/>
                        <a:p>
                          <a:r>
                            <a:rPr lang="en-US" altLang="zh-CN" sz="1600" dirty="0"/>
                            <a:t>OR2</a:t>
                          </a:r>
                          <a:endParaRPr lang="zh-CN" altLang="en-US" sz="1600" dirty="0"/>
                        </a:p>
                      </a:txBody>
                      <a:tcPr/>
                    </a:tc>
                    <a:tc>
                      <a:txBody>
                        <a:bodyPr/>
                        <a:lstStyle/>
                        <a:p>
                          <a:r>
                            <a:rPr lang="en-US" altLang="zh-CN" sz="1600" dirty="0"/>
                            <a:t>55</a:t>
                          </a:r>
                          <a:endParaRPr lang="zh-CN" altLang="en-US" sz="1600" dirty="0"/>
                        </a:p>
                      </a:txBody>
                      <a:tcPr/>
                    </a:tc>
                    <a:tc>
                      <a:txBody>
                        <a:bodyPr/>
                        <a:lstStyle/>
                        <a:p>
                          <a:r>
                            <a:rPr lang="en-US" altLang="zh-CN" sz="1600" dirty="0"/>
                            <a:t>26</a:t>
                          </a:r>
                          <a:endParaRPr lang="zh-CN" altLang="en-US" sz="1600" dirty="0"/>
                        </a:p>
                      </a:txBody>
                      <a:tcPr/>
                    </a:tc>
                    <a:extLst>
                      <a:ext uri="{0D108BD9-81ED-4DB2-BD59-A6C34878D82A}">
                        <a16:rowId xmlns:a16="http://schemas.microsoft.com/office/drawing/2014/main" val="3322785938"/>
                      </a:ext>
                    </a:extLst>
                  </a:tr>
                  <a:tr h="308188">
                    <a:tc>
                      <a:txBody>
                        <a:bodyPr/>
                        <a:lstStyle/>
                        <a:p>
                          <a:r>
                            <a:rPr lang="en-US" altLang="zh-CN" sz="1600" dirty="0"/>
                            <a:t>NOR2</a:t>
                          </a:r>
                          <a:endParaRPr lang="zh-CN" altLang="en-US" sz="1600" dirty="0"/>
                        </a:p>
                      </a:txBody>
                      <a:tcPr/>
                    </a:tc>
                    <a:tc>
                      <a:txBody>
                        <a:bodyPr/>
                        <a:lstStyle/>
                        <a:p>
                          <a:r>
                            <a:rPr lang="en-US" altLang="zh-CN" sz="1600" dirty="0"/>
                            <a:t>35</a:t>
                          </a:r>
                          <a:endParaRPr lang="zh-CN" altLang="en-US" sz="1600" dirty="0"/>
                        </a:p>
                      </a:txBody>
                      <a:tcPr/>
                    </a:tc>
                    <a:tc>
                      <a:txBody>
                        <a:bodyPr/>
                        <a:lstStyle/>
                        <a:p>
                          <a:r>
                            <a:rPr lang="en-US" altLang="zh-CN" sz="1600" dirty="0"/>
                            <a:t>16</a:t>
                          </a:r>
                          <a:endParaRPr lang="zh-CN" altLang="en-US" sz="1600" dirty="0"/>
                        </a:p>
                      </a:txBody>
                      <a:tcPr/>
                    </a:tc>
                    <a:extLst>
                      <a:ext uri="{0D108BD9-81ED-4DB2-BD59-A6C34878D82A}">
                        <a16:rowId xmlns:a16="http://schemas.microsoft.com/office/drawing/2014/main" val="4031465477"/>
                      </a:ext>
                    </a:extLst>
                  </a:tr>
                  <a:tr h="308188">
                    <a:tc>
                      <a:txBody>
                        <a:bodyPr/>
                        <a:lstStyle/>
                        <a:p>
                          <a:r>
                            <a:rPr lang="en-US" altLang="zh-CN" sz="1600" dirty="0"/>
                            <a:t>AND4</a:t>
                          </a:r>
                          <a:endParaRPr lang="zh-CN" altLang="en-US" sz="1600" dirty="0"/>
                        </a:p>
                      </a:txBody>
                      <a:tcPr/>
                    </a:tc>
                    <a:tc>
                      <a:txBody>
                        <a:bodyPr/>
                        <a:lstStyle/>
                        <a:p>
                          <a:r>
                            <a:rPr lang="en-US" altLang="zh-CN" sz="1600" dirty="0"/>
                            <a:t>90</a:t>
                          </a:r>
                          <a:endParaRPr lang="zh-CN" altLang="en-US" sz="1600" dirty="0"/>
                        </a:p>
                      </a:txBody>
                      <a:tcPr/>
                    </a:tc>
                    <a:tc>
                      <a:txBody>
                        <a:bodyPr/>
                        <a:lstStyle/>
                        <a:p>
                          <a:r>
                            <a:rPr lang="en-US" altLang="zh-CN" sz="1600" dirty="0"/>
                            <a:t>40</a:t>
                          </a:r>
                          <a:endParaRPr lang="zh-CN" altLang="en-US" sz="1600" dirty="0"/>
                        </a:p>
                      </a:txBody>
                      <a:tcPr/>
                    </a:tc>
                    <a:extLst>
                      <a:ext uri="{0D108BD9-81ED-4DB2-BD59-A6C34878D82A}">
                        <a16:rowId xmlns:a16="http://schemas.microsoft.com/office/drawing/2014/main" val="1109922227"/>
                      </a:ext>
                    </a:extLst>
                  </a:tr>
                  <a:tr h="308188">
                    <a:tc>
                      <a:txBody>
                        <a:bodyPr/>
                        <a:lstStyle/>
                        <a:p>
                          <a:r>
                            <a:rPr lang="en-US" altLang="zh-CN" sz="1600" dirty="0"/>
                            <a:t>OR4</a:t>
                          </a:r>
                          <a:endParaRPr lang="zh-CN" altLang="en-US" sz="1600" dirty="0"/>
                        </a:p>
                      </a:txBody>
                      <a:tcPr/>
                    </a:tc>
                    <a:tc>
                      <a:txBody>
                        <a:bodyPr/>
                        <a:lstStyle/>
                        <a:p>
                          <a:r>
                            <a:rPr lang="en-US" altLang="zh-CN" sz="1600" dirty="0"/>
                            <a:t>100</a:t>
                          </a:r>
                          <a:endParaRPr lang="zh-CN" altLang="en-US" sz="1600" dirty="0"/>
                        </a:p>
                      </a:txBody>
                      <a:tcPr/>
                    </a:tc>
                    <a:tc>
                      <a:txBody>
                        <a:bodyPr/>
                        <a:lstStyle/>
                        <a:p>
                          <a:r>
                            <a:rPr lang="en-US" altLang="zh-CN" sz="1600" dirty="0"/>
                            <a:t>42</a:t>
                          </a:r>
                          <a:endParaRPr lang="zh-CN" altLang="en-US" sz="1600" dirty="0"/>
                        </a:p>
                      </a:txBody>
                      <a:tcPr/>
                    </a:tc>
                    <a:extLst>
                      <a:ext uri="{0D108BD9-81ED-4DB2-BD59-A6C34878D82A}">
                        <a16:rowId xmlns:a16="http://schemas.microsoft.com/office/drawing/2014/main" val="4175948692"/>
                      </a:ext>
                    </a:extLst>
                  </a:tr>
                  <a:tr h="308188">
                    <a:tc>
                      <a:txBody>
                        <a:bodyPr/>
                        <a:lstStyle/>
                        <a:p>
                          <a:r>
                            <a:rPr lang="en-US" altLang="zh-CN" sz="1600" dirty="0"/>
                            <a:t>NOR4</a:t>
                          </a:r>
                          <a:endParaRPr lang="zh-CN" altLang="en-US" sz="1600" dirty="0"/>
                        </a:p>
                      </a:txBody>
                      <a:tcPr/>
                    </a:tc>
                    <a:tc>
                      <a:txBody>
                        <a:bodyPr/>
                        <a:lstStyle/>
                        <a:p>
                          <a:r>
                            <a:rPr lang="en-US" altLang="zh-CN" sz="1600" dirty="0"/>
                            <a:t>80 </a:t>
                          </a:r>
                          <a:endParaRPr lang="zh-CN" altLang="en-US" sz="1600" dirty="0"/>
                        </a:p>
                      </a:txBody>
                      <a:tcPr/>
                    </a:tc>
                    <a:tc>
                      <a:txBody>
                        <a:bodyPr/>
                        <a:lstStyle/>
                        <a:p>
                          <a:r>
                            <a:rPr lang="en-US" altLang="zh-CN" sz="1600" dirty="0"/>
                            <a:t>32</a:t>
                          </a:r>
                          <a:endParaRPr lang="zh-CN" altLang="en-US" sz="1600" dirty="0"/>
                        </a:p>
                      </a:txBody>
                      <a:tcPr/>
                    </a:tc>
                    <a:extLst>
                      <a:ext uri="{0D108BD9-81ED-4DB2-BD59-A6C34878D82A}">
                        <a16:rowId xmlns:a16="http://schemas.microsoft.com/office/drawing/2014/main" val="840160158"/>
                      </a:ext>
                    </a:extLst>
                  </a:tr>
                </a:tbl>
              </a:graphicData>
            </a:graphic>
          </p:graphicFrame>
        </mc:Choice>
        <mc:Fallback xmlns="">
          <p:graphicFrame>
            <p:nvGraphicFramePr>
              <p:cNvPr id="6" name="表格 5">
                <a:extLst>
                  <a:ext uri="{FF2B5EF4-FFF2-40B4-BE49-F238E27FC236}">
                    <a16:creationId xmlns:a16="http://schemas.microsoft.com/office/drawing/2014/main" id="{7F802598-1F70-A144-94D5-84C8AFF8E251}"/>
                  </a:ext>
                </a:extLst>
              </p:cNvPr>
              <p:cNvGraphicFramePr>
                <a:graphicFrameLocks noGrp="1"/>
              </p:cNvGraphicFramePr>
              <p:nvPr>
                <p:extLst>
                  <p:ext uri="{D42A27DB-BD31-4B8C-83A1-F6EECF244321}">
                    <p14:modId xmlns:p14="http://schemas.microsoft.com/office/powerpoint/2010/main" val="1305178127"/>
                  </p:ext>
                </p:extLst>
              </p:nvPr>
            </p:nvGraphicFramePr>
            <p:xfrm>
              <a:off x="5102835" y="4229025"/>
              <a:ext cx="3240360" cy="2017205"/>
            </p:xfrm>
            <a:graphic>
              <a:graphicData uri="http://schemas.openxmlformats.org/drawingml/2006/table">
                <a:tbl>
                  <a:tblPr firstRow="1" bandRow="1">
                    <a:tableStyleId>{5940675A-B579-460E-94D1-54222C63F5DA}</a:tableStyleId>
                  </a:tblPr>
                  <a:tblGrid>
                    <a:gridCol w="972108">
                      <a:extLst>
                        <a:ext uri="{9D8B030D-6E8A-4147-A177-3AD203B41FA5}">
                          <a16:colId xmlns:a16="http://schemas.microsoft.com/office/drawing/2014/main" val="1414215280"/>
                        </a:ext>
                      </a:extLst>
                    </a:gridCol>
                    <a:gridCol w="1008112">
                      <a:extLst>
                        <a:ext uri="{9D8B030D-6E8A-4147-A177-3AD203B41FA5}">
                          <a16:colId xmlns:a16="http://schemas.microsoft.com/office/drawing/2014/main" val="2058783995"/>
                        </a:ext>
                      </a:extLst>
                    </a:gridCol>
                    <a:gridCol w="1260140">
                      <a:extLst>
                        <a:ext uri="{9D8B030D-6E8A-4147-A177-3AD203B41FA5}">
                          <a16:colId xmlns:a16="http://schemas.microsoft.com/office/drawing/2014/main" val="542000954"/>
                        </a:ext>
                      </a:extLst>
                    </a:gridCol>
                  </a:tblGrid>
                  <a:tr h="340805">
                    <a:tc>
                      <a:txBody>
                        <a:bodyPr/>
                        <a:lstStyle/>
                        <a:p>
                          <a:r>
                            <a:rPr lang="zh-CN" altLang="en-US" sz="1600" dirty="0"/>
                            <a:t>逻辑门</a:t>
                          </a:r>
                          <a:endParaRPr lang="zh-CN" altLang="en-US" sz="1600" dirty="0">
                            <a:ea typeface="黑体" panose="02010609060101010101" pitchFamily="49" charset="-122"/>
                          </a:endParaRPr>
                        </a:p>
                      </a:txBody>
                      <a:tcPr>
                        <a:solidFill>
                          <a:srgbClr val="B4C6E8"/>
                        </a:solidFill>
                      </a:tcPr>
                    </a:tc>
                    <a:tc>
                      <a:txBody>
                        <a:bodyPr/>
                        <a:lstStyle/>
                        <a:p>
                          <a:r>
                            <a:rPr lang="zh-CN" altLang="en-US" sz="1600" dirty="0"/>
                            <a:t>延时</a:t>
                          </a:r>
                          <a:r>
                            <a:rPr lang="en-US" altLang="zh-CN" sz="1600" dirty="0"/>
                            <a:t>(</a:t>
                          </a:r>
                          <a:r>
                            <a:rPr lang="en-US" altLang="zh-CN" sz="1600" dirty="0" err="1"/>
                            <a:t>ps</a:t>
                          </a:r>
                          <a:r>
                            <a:rPr lang="en-US" altLang="zh-CN" sz="1600" dirty="0"/>
                            <a:t>)</a:t>
                          </a:r>
                          <a:endParaRPr lang="zh-CN" altLang="en-US" sz="1600" dirty="0"/>
                        </a:p>
                      </a:txBody>
                      <a:tcPr>
                        <a:solidFill>
                          <a:srgbClr val="B4C6E8"/>
                        </a:solidFill>
                      </a:tcPr>
                    </a:tc>
                    <a:tc>
                      <a:txBody>
                        <a:bodyPr/>
                        <a:lstStyle/>
                        <a:p>
                          <a:endParaRPr lang="zh-CN"/>
                        </a:p>
                      </a:txBody>
                      <a:tcPr>
                        <a:blipFill>
                          <a:blip r:embed="rId4"/>
                          <a:stretch>
                            <a:fillRect l="-156000" t="-7407" r="-2000" b="-518519"/>
                          </a:stretch>
                        </a:blipFill>
                      </a:tcPr>
                    </a:tc>
                    <a:extLst>
                      <a:ext uri="{0D108BD9-81ED-4DB2-BD59-A6C34878D82A}">
                        <a16:rowId xmlns:a16="http://schemas.microsoft.com/office/drawing/2014/main" val="3091023345"/>
                      </a:ext>
                    </a:extLst>
                  </a:tr>
                  <a:tr h="335280">
                    <a:tc>
                      <a:txBody>
                        <a:bodyPr/>
                        <a:lstStyle/>
                        <a:p>
                          <a:r>
                            <a:rPr lang="en-US" altLang="zh-CN" sz="1600" dirty="0"/>
                            <a:t>OR2</a:t>
                          </a:r>
                          <a:endParaRPr lang="zh-CN" altLang="en-US" sz="1600" dirty="0"/>
                        </a:p>
                      </a:txBody>
                      <a:tcPr/>
                    </a:tc>
                    <a:tc>
                      <a:txBody>
                        <a:bodyPr/>
                        <a:lstStyle/>
                        <a:p>
                          <a:r>
                            <a:rPr lang="en-US" altLang="zh-CN" sz="1600" dirty="0"/>
                            <a:t>55</a:t>
                          </a:r>
                          <a:endParaRPr lang="zh-CN" altLang="en-US" sz="1600" dirty="0"/>
                        </a:p>
                      </a:txBody>
                      <a:tcPr/>
                    </a:tc>
                    <a:tc>
                      <a:txBody>
                        <a:bodyPr/>
                        <a:lstStyle/>
                        <a:p>
                          <a:r>
                            <a:rPr lang="en-US" altLang="zh-CN" sz="1600" dirty="0"/>
                            <a:t>26</a:t>
                          </a:r>
                          <a:endParaRPr lang="zh-CN" altLang="en-US" sz="1600" dirty="0"/>
                        </a:p>
                      </a:txBody>
                      <a:tcPr/>
                    </a:tc>
                    <a:extLst>
                      <a:ext uri="{0D108BD9-81ED-4DB2-BD59-A6C34878D82A}">
                        <a16:rowId xmlns:a16="http://schemas.microsoft.com/office/drawing/2014/main" val="3322785938"/>
                      </a:ext>
                    </a:extLst>
                  </a:tr>
                  <a:tr h="335280">
                    <a:tc>
                      <a:txBody>
                        <a:bodyPr/>
                        <a:lstStyle/>
                        <a:p>
                          <a:r>
                            <a:rPr lang="en-US" altLang="zh-CN" sz="1600" dirty="0"/>
                            <a:t>NOR2</a:t>
                          </a:r>
                          <a:endParaRPr lang="zh-CN" altLang="en-US" sz="1600" dirty="0"/>
                        </a:p>
                      </a:txBody>
                      <a:tcPr/>
                    </a:tc>
                    <a:tc>
                      <a:txBody>
                        <a:bodyPr/>
                        <a:lstStyle/>
                        <a:p>
                          <a:r>
                            <a:rPr lang="en-US" altLang="zh-CN" sz="1600" dirty="0"/>
                            <a:t>35</a:t>
                          </a:r>
                          <a:endParaRPr lang="zh-CN" altLang="en-US" sz="1600" dirty="0"/>
                        </a:p>
                      </a:txBody>
                      <a:tcPr/>
                    </a:tc>
                    <a:tc>
                      <a:txBody>
                        <a:bodyPr/>
                        <a:lstStyle/>
                        <a:p>
                          <a:r>
                            <a:rPr lang="en-US" altLang="zh-CN" sz="1600" dirty="0"/>
                            <a:t>16</a:t>
                          </a:r>
                          <a:endParaRPr lang="zh-CN" altLang="en-US" sz="1600" dirty="0"/>
                        </a:p>
                      </a:txBody>
                      <a:tcPr/>
                    </a:tc>
                    <a:extLst>
                      <a:ext uri="{0D108BD9-81ED-4DB2-BD59-A6C34878D82A}">
                        <a16:rowId xmlns:a16="http://schemas.microsoft.com/office/drawing/2014/main" val="4031465477"/>
                      </a:ext>
                    </a:extLst>
                  </a:tr>
                  <a:tr h="335280">
                    <a:tc>
                      <a:txBody>
                        <a:bodyPr/>
                        <a:lstStyle/>
                        <a:p>
                          <a:r>
                            <a:rPr lang="en-US" altLang="zh-CN" sz="1600" dirty="0"/>
                            <a:t>AND4</a:t>
                          </a:r>
                          <a:endParaRPr lang="zh-CN" altLang="en-US" sz="1600" dirty="0"/>
                        </a:p>
                      </a:txBody>
                      <a:tcPr/>
                    </a:tc>
                    <a:tc>
                      <a:txBody>
                        <a:bodyPr/>
                        <a:lstStyle/>
                        <a:p>
                          <a:r>
                            <a:rPr lang="en-US" altLang="zh-CN" sz="1600" dirty="0"/>
                            <a:t>90</a:t>
                          </a:r>
                          <a:endParaRPr lang="zh-CN" altLang="en-US" sz="1600" dirty="0"/>
                        </a:p>
                      </a:txBody>
                      <a:tcPr/>
                    </a:tc>
                    <a:tc>
                      <a:txBody>
                        <a:bodyPr/>
                        <a:lstStyle/>
                        <a:p>
                          <a:r>
                            <a:rPr lang="en-US" altLang="zh-CN" sz="1600" dirty="0"/>
                            <a:t>40</a:t>
                          </a:r>
                          <a:endParaRPr lang="zh-CN" altLang="en-US" sz="1600" dirty="0"/>
                        </a:p>
                      </a:txBody>
                      <a:tcPr/>
                    </a:tc>
                    <a:extLst>
                      <a:ext uri="{0D108BD9-81ED-4DB2-BD59-A6C34878D82A}">
                        <a16:rowId xmlns:a16="http://schemas.microsoft.com/office/drawing/2014/main" val="1109922227"/>
                      </a:ext>
                    </a:extLst>
                  </a:tr>
                  <a:tr h="335280">
                    <a:tc>
                      <a:txBody>
                        <a:bodyPr/>
                        <a:lstStyle/>
                        <a:p>
                          <a:r>
                            <a:rPr lang="en-US" altLang="zh-CN" sz="1600" dirty="0"/>
                            <a:t>OR4</a:t>
                          </a:r>
                          <a:endParaRPr lang="zh-CN" altLang="en-US" sz="1600" dirty="0"/>
                        </a:p>
                      </a:txBody>
                      <a:tcPr/>
                    </a:tc>
                    <a:tc>
                      <a:txBody>
                        <a:bodyPr/>
                        <a:lstStyle/>
                        <a:p>
                          <a:r>
                            <a:rPr lang="en-US" altLang="zh-CN" sz="1600" dirty="0"/>
                            <a:t>100</a:t>
                          </a:r>
                          <a:endParaRPr lang="zh-CN" altLang="en-US" sz="1600" dirty="0"/>
                        </a:p>
                      </a:txBody>
                      <a:tcPr/>
                    </a:tc>
                    <a:tc>
                      <a:txBody>
                        <a:bodyPr/>
                        <a:lstStyle/>
                        <a:p>
                          <a:r>
                            <a:rPr lang="en-US" altLang="zh-CN" sz="1600" dirty="0"/>
                            <a:t>42</a:t>
                          </a:r>
                          <a:endParaRPr lang="zh-CN" altLang="en-US" sz="1600" dirty="0"/>
                        </a:p>
                      </a:txBody>
                      <a:tcPr/>
                    </a:tc>
                    <a:extLst>
                      <a:ext uri="{0D108BD9-81ED-4DB2-BD59-A6C34878D82A}">
                        <a16:rowId xmlns:a16="http://schemas.microsoft.com/office/drawing/2014/main" val="4175948692"/>
                      </a:ext>
                    </a:extLst>
                  </a:tr>
                  <a:tr h="335280">
                    <a:tc>
                      <a:txBody>
                        <a:bodyPr/>
                        <a:lstStyle/>
                        <a:p>
                          <a:r>
                            <a:rPr lang="en-US" altLang="zh-CN" sz="1600" dirty="0"/>
                            <a:t>NOR4</a:t>
                          </a:r>
                          <a:endParaRPr lang="zh-CN" altLang="en-US" sz="1600" dirty="0"/>
                        </a:p>
                      </a:txBody>
                      <a:tcPr/>
                    </a:tc>
                    <a:tc>
                      <a:txBody>
                        <a:bodyPr/>
                        <a:lstStyle/>
                        <a:p>
                          <a:r>
                            <a:rPr lang="en-US" altLang="zh-CN" sz="1600" dirty="0"/>
                            <a:t>80 </a:t>
                          </a:r>
                          <a:endParaRPr lang="zh-CN" altLang="en-US" sz="1600" dirty="0"/>
                        </a:p>
                      </a:txBody>
                      <a:tcPr/>
                    </a:tc>
                    <a:tc>
                      <a:txBody>
                        <a:bodyPr/>
                        <a:lstStyle/>
                        <a:p>
                          <a:r>
                            <a:rPr lang="en-US" altLang="zh-CN" sz="1600" dirty="0"/>
                            <a:t>32</a:t>
                          </a:r>
                          <a:endParaRPr lang="zh-CN" altLang="en-US" sz="1600" dirty="0"/>
                        </a:p>
                      </a:txBody>
                      <a:tcPr/>
                    </a:tc>
                    <a:extLst>
                      <a:ext uri="{0D108BD9-81ED-4DB2-BD59-A6C34878D82A}">
                        <a16:rowId xmlns:a16="http://schemas.microsoft.com/office/drawing/2014/main" val="840160158"/>
                      </a:ext>
                    </a:extLst>
                  </a:tr>
                </a:tbl>
              </a:graphicData>
            </a:graphic>
          </p:graphicFrame>
        </mc:Fallback>
      </mc:AlternateContent>
    </p:spTree>
    <p:extLst>
      <p:ext uri="{BB962C8B-B14F-4D97-AF65-F5344CB8AC3E}">
        <p14:creationId xmlns:p14="http://schemas.microsoft.com/office/powerpoint/2010/main" val="250355073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sz="3600"/>
              <a:t>自己练习：含</a:t>
            </a:r>
            <a:r>
              <a:rPr lang="zh-CN" altLang="en-US" sz="3600" dirty="0"/>
              <a:t>无关项的最大</a:t>
            </a:r>
            <a:r>
              <a:rPr lang="en-US" altLang="zh-CN" sz="3600" dirty="0"/>
              <a:t>/</a:t>
            </a:r>
            <a:r>
              <a:rPr lang="zh-CN" altLang="en-US" sz="3600" dirty="0"/>
              <a:t>小项表示</a:t>
            </a:r>
            <a:endParaRPr lang="en-US" altLang="zh-CN" sz="3600" dirty="0"/>
          </a:p>
        </p:txBody>
      </p:sp>
      <mc:AlternateContent xmlns:mc="http://schemas.openxmlformats.org/markup-compatibility/2006" xmlns:a14="http://schemas.microsoft.com/office/drawing/2010/main">
        <mc:Choice Requires="a14">
          <p:sp>
            <p:nvSpPr>
              <p:cNvPr id="512003" name="Rectangle 3"/>
              <p:cNvSpPr>
                <a:spLocks noGrp="1" noChangeArrowheads="1"/>
              </p:cNvSpPr>
              <p:nvPr>
                <p:ph idx="1"/>
              </p:nvPr>
            </p:nvSpPr>
            <p:spPr/>
            <p:txBody>
              <a:bodyPr/>
              <a:lstStyle/>
              <a:p>
                <a:pPr hangingPunct="1"/>
                <a:r>
                  <a:rPr lang="zh-CN" altLang="zh-CN" sz="2800" dirty="0"/>
                  <a:t>已知逻辑函数</a:t>
                </a:r>
                <a14:m>
                  <m:oMath xmlns:m="http://schemas.openxmlformats.org/officeDocument/2006/math">
                    <m:r>
                      <a:rPr lang="en-US" altLang="zh-CN" sz="2800" i="1">
                        <a:latin typeface="Cambria Math" panose="02040503050406030204" pitchFamily="18" charset="0"/>
                      </a:rPr>
                      <m:t>𝑓</m:t>
                    </m:r>
                    <m:d>
                      <m:dPr>
                        <m:ctrlPr>
                          <a:rPr lang="zh-CN" altLang="zh-CN" sz="2800" i="1">
                            <a:latin typeface="Cambria Math" panose="02040503050406030204" pitchFamily="18" charset="0"/>
                          </a:rPr>
                        </m:ctrlPr>
                      </m:dPr>
                      <m:e>
                        <m:r>
                          <a:rPr lang="en-US" altLang="zh-CN" sz="2800" i="1">
                            <a:latin typeface="Cambria Math" panose="02040503050406030204" pitchFamily="18" charset="0"/>
                          </a:rPr>
                          <m:t>𝑊</m:t>
                        </m:r>
                        <m:r>
                          <a:rPr lang="en-US" altLang="zh-CN" sz="2800">
                            <a:latin typeface="Cambria Math" panose="02040503050406030204" pitchFamily="18" charset="0"/>
                          </a:rPr>
                          <m:t>,</m:t>
                        </m:r>
                        <m:r>
                          <a:rPr lang="en-US" altLang="zh-CN" sz="2800" i="1">
                            <a:latin typeface="Cambria Math" panose="02040503050406030204" pitchFamily="18" charset="0"/>
                          </a:rPr>
                          <m:t>𝑋</m:t>
                        </m:r>
                        <m:r>
                          <a:rPr lang="en-US" altLang="zh-CN" sz="2800">
                            <a:latin typeface="Cambria Math" panose="02040503050406030204" pitchFamily="18" charset="0"/>
                          </a:rPr>
                          <m:t>,</m:t>
                        </m:r>
                        <m:r>
                          <a:rPr lang="en-US" altLang="zh-CN" sz="2800" i="1">
                            <a:latin typeface="Cambria Math" panose="02040503050406030204" pitchFamily="18" charset="0"/>
                          </a:rPr>
                          <m:t>𝑌</m:t>
                        </m:r>
                        <m:r>
                          <a:rPr lang="en-US" altLang="zh-CN" sz="2800">
                            <a:latin typeface="Cambria Math" panose="02040503050406030204" pitchFamily="18" charset="0"/>
                          </a:rPr>
                          <m:t>,</m:t>
                        </m:r>
                        <m:r>
                          <a:rPr lang="en-US" altLang="zh-CN" sz="2800" i="1">
                            <a:latin typeface="Cambria Math" panose="02040503050406030204" pitchFamily="18" charset="0"/>
                          </a:rPr>
                          <m:t>𝑍</m:t>
                        </m:r>
                      </m:e>
                    </m:d>
                    <m:r>
                      <a:rPr lang="en-US" altLang="zh-CN" sz="2800">
                        <a:latin typeface="Cambria Math" panose="02040503050406030204" pitchFamily="18" charset="0"/>
                      </a:rPr>
                      <m:t>= </m:t>
                    </m:r>
                    <m:nary>
                      <m:naryPr>
                        <m:chr m:val="∏"/>
                        <m:limLoc m:val="undOvr"/>
                        <m:subHide m:val="on"/>
                        <m:supHide m:val="on"/>
                        <m:ctrlPr>
                          <a:rPr lang="zh-CN" altLang="zh-CN" sz="2800" i="1">
                            <a:latin typeface="Cambria Math" panose="02040503050406030204" pitchFamily="18" charset="0"/>
                          </a:rPr>
                        </m:ctrlPr>
                      </m:naryPr>
                      <m:sub/>
                      <m:sup/>
                      <m:e>
                        <m:r>
                          <a:rPr lang="en-US" altLang="zh-CN" sz="2800" i="1">
                            <a:latin typeface="Cambria Math" panose="02040503050406030204" pitchFamily="18" charset="0"/>
                          </a:rPr>
                          <m:t>𝑀</m:t>
                        </m:r>
                        <m:r>
                          <a:rPr lang="en-US" altLang="zh-CN" sz="2800">
                            <a:latin typeface="Cambria Math" panose="02040503050406030204" pitchFamily="18" charset="0"/>
                          </a:rPr>
                          <m:t>(0,2,4,5,9,13,14)∙</m:t>
                        </m:r>
                        <m:r>
                          <a:rPr lang="en-US" altLang="zh-CN" sz="2800" i="1">
                            <a:latin typeface="Cambria Math" panose="02040503050406030204" pitchFamily="18" charset="0"/>
                          </a:rPr>
                          <m:t>𝐷</m:t>
                        </m:r>
                        <m:r>
                          <a:rPr lang="en-US" altLang="zh-CN" sz="2800">
                            <a:latin typeface="Cambria Math" panose="02040503050406030204" pitchFamily="18" charset="0"/>
                          </a:rPr>
                          <m:t>(7,10)</m:t>
                        </m:r>
                      </m:e>
                    </m:nary>
                  </m:oMath>
                </a14:m>
                <a:r>
                  <a:rPr lang="zh-CN" altLang="zh-CN" sz="2800" dirty="0"/>
                  <a:t>，其中</a:t>
                </a:r>
                <a14:m>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𝑀</m:t>
                        </m:r>
                      </m:e>
                      <m:sub>
                        <m:r>
                          <a:rPr lang="en-US" altLang="zh-CN" sz="2800" i="1">
                            <a:latin typeface="Cambria Math" panose="02040503050406030204" pitchFamily="18" charset="0"/>
                          </a:rPr>
                          <m:t>𝑖</m:t>
                        </m:r>
                      </m:sub>
                    </m:sSub>
                  </m:oMath>
                </a14:m>
                <a:r>
                  <a:rPr lang="zh-CN" altLang="zh-CN" sz="2800" dirty="0"/>
                  <a:t>是</a:t>
                </a:r>
                <a:r>
                  <a:rPr lang="zh-CN" altLang="zh-CN" sz="2800" b="1" u="sng" dirty="0"/>
                  <a:t>最大项</a:t>
                </a:r>
                <a:r>
                  <a:rPr lang="zh-CN" altLang="zh-CN" sz="2800" dirty="0"/>
                  <a:t>（例，</a:t>
                </a:r>
                <a14:m>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𝑀</m:t>
                        </m:r>
                      </m:e>
                      <m:sub>
                        <m:r>
                          <a:rPr lang="en-US" altLang="zh-CN" sz="2800" i="1">
                            <a:latin typeface="Cambria Math" panose="02040503050406030204" pitchFamily="18" charset="0"/>
                          </a:rPr>
                          <m:t>3</m:t>
                        </m:r>
                      </m:sub>
                    </m:sSub>
                    <m:r>
                      <a:rPr lang="en-US" altLang="zh-CN" sz="2800">
                        <a:latin typeface="Cambria Math" panose="02040503050406030204" pitchFamily="18" charset="0"/>
                      </a:rPr>
                      <m:t>=</m:t>
                    </m:r>
                    <m:r>
                      <a:rPr lang="en-US" altLang="zh-CN" sz="2800" i="1">
                        <a:latin typeface="Cambria Math" panose="02040503050406030204" pitchFamily="18" charset="0"/>
                      </a:rPr>
                      <m:t>𝑊</m:t>
                    </m:r>
                    <m:r>
                      <a:rPr lang="en-US" altLang="zh-CN" sz="2800" i="1">
                        <a:latin typeface="Cambria Math" panose="02040503050406030204" pitchFamily="18" charset="0"/>
                      </a:rPr>
                      <m:t>+</m:t>
                    </m:r>
                    <m:r>
                      <a:rPr lang="en-US" altLang="zh-CN" sz="2800" i="1">
                        <a:latin typeface="Cambria Math" panose="02040503050406030204" pitchFamily="18" charset="0"/>
                      </a:rPr>
                      <m:t>𝑋</m:t>
                    </m:r>
                    <m:r>
                      <a:rPr lang="en-US" altLang="zh-CN" sz="2800" i="1">
                        <a:latin typeface="Cambria Math" panose="02040503050406030204" pitchFamily="18" charset="0"/>
                      </a:rPr>
                      <m:t>+</m:t>
                    </m:r>
                    <m:r>
                      <a:rPr lang="en-US" altLang="zh-CN" sz="2800" i="1">
                        <a:latin typeface="Cambria Math" panose="02040503050406030204" pitchFamily="18" charset="0"/>
                      </a:rPr>
                      <m:t>𝑌</m:t>
                    </m:r>
                    <m:r>
                      <a:rPr lang="en-US" altLang="zh-CN" sz="2800" i="1">
                        <a:latin typeface="Cambria Math" panose="02040503050406030204" pitchFamily="18" charset="0"/>
                      </a:rPr>
                      <m:t>′+</m:t>
                    </m:r>
                    <m:r>
                      <a:rPr lang="en-US" altLang="zh-CN" sz="2800" i="1">
                        <a:latin typeface="Cambria Math" panose="02040503050406030204" pitchFamily="18" charset="0"/>
                      </a:rPr>
                      <m:t>𝑍</m:t>
                    </m:r>
                    <m:r>
                      <a:rPr lang="en-US" altLang="zh-CN" sz="2800" i="1">
                        <a:latin typeface="Cambria Math" panose="02040503050406030204" pitchFamily="18" charset="0"/>
                      </a:rPr>
                      <m:t>′</m:t>
                    </m:r>
                  </m:oMath>
                </a14:m>
                <a:r>
                  <a:rPr lang="zh-CN" altLang="zh-CN" sz="2800" dirty="0"/>
                  <a:t>），</a:t>
                </a:r>
                <a14:m>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𝐷</m:t>
                        </m:r>
                      </m:e>
                      <m:sub>
                        <m:r>
                          <a:rPr lang="en-US" altLang="zh-CN" sz="2800" i="1">
                            <a:latin typeface="Cambria Math" panose="02040503050406030204" pitchFamily="18" charset="0"/>
                          </a:rPr>
                          <m:t>𝑗</m:t>
                        </m:r>
                      </m:sub>
                    </m:sSub>
                  </m:oMath>
                </a14:m>
                <a:r>
                  <a:rPr lang="zh-CN" altLang="zh-CN" sz="2800" dirty="0"/>
                  <a:t>是无关项，将逻辑函数转换为</a:t>
                </a:r>
                <a:r>
                  <a:rPr lang="zh-CN" altLang="zh-CN" sz="2800" b="1" u="sng" dirty="0"/>
                  <a:t>最小项表达</a:t>
                </a:r>
                <a:r>
                  <a:rPr lang="zh-CN" altLang="zh-CN" sz="2800" dirty="0"/>
                  <a:t>的</a:t>
                </a:r>
                <a:r>
                  <a:rPr lang="en-US" altLang="zh-CN" sz="2800" dirty="0"/>
                  <a:t>SOP</a:t>
                </a:r>
                <a:r>
                  <a:rPr lang="zh-CN" altLang="zh-CN" sz="2800" dirty="0"/>
                  <a:t>形式</a:t>
                </a:r>
                <a:r>
                  <a:rPr lang="zh-CN" altLang="en-US" sz="2800" dirty="0"/>
                  <a:t>？</a:t>
                </a:r>
                <a:endParaRPr lang="en-US" altLang="zh-CN" sz="2800" dirty="0"/>
              </a:p>
              <a:p>
                <a:pPr hangingPunct="1"/>
                <a:endParaRPr lang="en-US" altLang="zh-CN" sz="2800" dirty="0"/>
              </a:p>
              <a:p>
                <a:pPr hangingPunct="1"/>
                <a:endParaRPr lang="zh-CN" altLang="zh-CN" sz="2800" dirty="0"/>
              </a:p>
            </p:txBody>
          </p:sp>
        </mc:Choice>
        <mc:Fallback xmlns="">
          <p:sp>
            <p:nvSpPr>
              <p:cNvPr id="512003" name="Rectangle 3"/>
              <p:cNvSpPr>
                <a:spLocks noGrp="1" noRot="1" noChangeAspect="1" noMove="1" noResize="1" noEditPoints="1" noAdjustHandles="1" noChangeArrowheads="1" noChangeShapeType="1" noTextEdit="1"/>
              </p:cNvSpPr>
              <p:nvPr>
                <p:ph idx="1"/>
              </p:nvPr>
            </p:nvSpPr>
            <p:spPr>
              <a:blipFill>
                <a:blip r:embed="rId3"/>
                <a:stretch>
                  <a:fillRect l="-1698" t="-5322" r="-1543"/>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3284D219-5732-CD83-2EFB-315A4FFC5D96}"/>
              </a:ext>
            </a:extLst>
          </p:cNvPr>
          <p:cNvSpPr>
            <a:spLocks noGrp="1"/>
          </p:cNvSpPr>
          <p:nvPr>
            <p:ph type="sldNum" sz="quarter" idx="12"/>
          </p:nvPr>
        </p:nvSpPr>
        <p:spPr/>
        <p:txBody>
          <a:bodyPr/>
          <a:lstStyle/>
          <a:p>
            <a:fld id="{14659731-6BD7-46E7-8D3C-2F3AC07E20B1}" type="slidenum">
              <a:rPr lang="en-US" altLang="zh-CN" smtClean="0"/>
              <a:pPr/>
              <a:t>108</a:t>
            </a:fld>
            <a:endParaRPr lang="en-US" altLang="zh-CN"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B6BC15E8-FEC5-1248-A10D-29FDB6AA35F9}"/>
                  </a:ext>
                </a:extLst>
              </p:cNvPr>
              <p:cNvSpPr txBox="1"/>
              <p:nvPr/>
            </p:nvSpPr>
            <p:spPr>
              <a:xfrm>
                <a:off x="1165194" y="4041698"/>
                <a:ext cx="6984776" cy="1765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latin typeface="Cambria Math" panose="02040503050406030204" pitchFamily="18" charset="0"/>
                        </a:rPr>
                        <m:t>𝑓</m:t>
                      </m:r>
                      <m:d>
                        <m:dPr>
                          <m:ctrlPr>
                            <a:rPr lang="zh-CN" altLang="en-US" sz="3200" i="1">
                              <a:solidFill>
                                <a:srgbClr val="836967"/>
                              </a:solidFill>
                              <a:latin typeface="Cambria Math" panose="02040503050406030204" pitchFamily="18" charset="0"/>
                            </a:rPr>
                          </m:ctrlPr>
                        </m:dPr>
                        <m:e>
                          <m:r>
                            <a:rPr lang="zh-CN" altLang="en-US" sz="3200" i="1">
                              <a:latin typeface="Cambria Math" panose="02040503050406030204" pitchFamily="18" charset="0"/>
                            </a:rPr>
                            <m:t>𝑊</m:t>
                          </m:r>
                          <m:r>
                            <a:rPr lang="zh-CN" altLang="en-US" sz="3200" i="0">
                              <a:latin typeface="Cambria Math" panose="02040503050406030204" pitchFamily="18" charset="0"/>
                            </a:rPr>
                            <m:t>,</m:t>
                          </m:r>
                          <m:r>
                            <a:rPr lang="zh-CN" altLang="en-US" sz="3200" i="1">
                              <a:latin typeface="Cambria Math" panose="02040503050406030204" pitchFamily="18" charset="0"/>
                            </a:rPr>
                            <m:t>𝑋</m:t>
                          </m:r>
                          <m:r>
                            <a:rPr lang="zh-CN" altLang="en-US" sz="3200" i="0">
                              <a:latin typeface="Cambria Math" panose="02040503050406030204" pitchFamily="18" charset="0"/>
                            </a:rPr>
                            <m:t>,</m:t>
                          </m:r>
                          <m:r>
                            <a:rPr lang="zh-CN" altLang="en-US" sz="3200" i="1">
                              <a:latin typeface="Cambria Math" panose="02040503050406030204" pitchFamily="18" charset="0"/>
                            </a:rPr>
                            <m:t>𝑌</m:t>
                          </m:r>
                          <m:r>
                            <a:rPr lang="zh-CN" altLang="en-US" sz="3200" i="0">
                              <a:latin typeface="Cambria Math" panose="02040503050406030204" pitchFamily="18" charset="0"/>
                            </a:rPr>
                            <m:t>,</m:t>
                          </m:r>
                          <m:r>
                            <a:rPr lang="zh-CN" altLang="en-US" sz="3200" i="1">
                              <a:latin typeface="Cambria Math" panose="02040503050406030204" pitchFamily="18" charset="0"/>
                            </a:rPr>
                            <m:t>𝑍</m:t>
                          </m:r>
                        </m:e>
                      </m:d>
                      <m:r>
                        <a:rPr lang="zh-CN" altLang="en-US" sz="3200" i="0">
                          <a:latin typeface="Cambria Math" panose="02040503050406030204" pitchFamily="18" charset="0"/>
                        </a:rPr>
                        <m:t>=</m:t>
                      </m:r>
                      <m:nary>
                        <m:naryPr>
                          <m:chr m:val="∑"/>
                          <m:subHide m:val="on"/>
                          <m:supHide m:val="on"/>
                          <m:ctrlPr>
                            <a:rPr lang="zh-CN" altLang="en-US" sz="3200" i="1">
                              <a:latin typeface="Cambria Math" panose="02040503050406030204" pitchFamily="18" charset="0"/>
                            </a:rPr>
                          </m:ctrlPr>
                        </m:naryPr>
                        <m:sub/>
                        <m:sup/>
                        <m:e>
                          <m:r>
                            <a:rPr lang="zh-CN" altLang="en-US" sz="3200" i="1">
                              <a:latin typeface="Cambria Math" panose="02040503050406030204" pitchFamily="18" charset="0"/>
                            </a:rPr>
                            <m:t>𝑚</m:t>
                          </m:r>
                          <m:d>
                            <m:dPr>
                              <m:ctrlPr>
                                <a:rPr lang="zh-CN" altLang="en-US" sz="3200" i="1">
                                  <a:solidFill>
                                    <a:srgbClr val="836967"/>
                                  </a:solidFill>
                                  <a:latin typeface="Cambria Math" panose="02040503050406030204" pitchFamily="18" charset="0"/>
                                </a:rPr>
                              </m:ctrlPr>
                            </m:dPr>
                            <m:e>
                              <m:r>
                                <a:rPr lang="zh-CN" altLang="en-US" sz="3200" i="0">
                                  <a:latin typeface="Cambria Math" panose="02040503050406030204" pitchFamily="18" charset="0"/>
                                </a:rPr>
                                <m:t>1,3,6,8,11,12,15</m:t>
                              </m:r>
                            </m:e>
                          </m:d>
                        </m:e>
                      </m:nary>
                      <m:r>
                        <a:rPr lang="zh-CN" altLang="en-US" sz="3200" i="0">
                          <a:latin typeface="Cambria Math" panose="02040503050406030204" pitchFamily="18" charset="0"/>
                        </a:rPr>
                        <m:t>+</m:t>
                      </m:r>
                      <m:r>
                        <a:rPr lang="zh-CN" altLang="en-US" sz="3200" i="1">
                          <a:latin typeface="Cambria Math" panose="02040503050406030204" pitchFamily="18" charset="0"/>
                        </a:rPr>
                        <m:t>𝑑</m:t>
                      </m:r>
                      <m:d>
                        <m:dPr>
                          <m:ctrlPr>
                            <a:rPr lang="zh-CN" altLang="en-US" sz="3200" i="1">
                              <a:solidFill>
                                <a:srgbClr val="836967"/>
                              </a:solidFill>
                              <a:latin typeface="Cambria Math" panose="02040503050406030204" pitchFamily="18" charset="0"/>
                            </a:rPr>
                          </m:ctrlPr>
                        </m:dPr>
                        <m:e>
                          <m:r>
                            <a:rPr lang="zh-CN" altLang="en-US" sz="3200" i="0">
                              <a:latin typeface="Cambria Math" panose="02040503050406030204" pitchFamily="18" charset="0"/>
                            </a:rPr>
                            <m:t>7,10</m:t>
                          </m:r>
                        </m:e>
                      </m:d>
                    </m:oMath>
                  </m:oMathPara>
                </a14:m>
                <a:endParaRPr lang="zh-CN" altLang="en-US" sz="3200" dirty="0">
                  <a:ea typeface="黑体" panose="02010609060101010101" pitchFamily="49" charset="-122"/>
                </a:endParaRPr>
              </a:p>
            </p:txBody>
          </p:sp>
        </mc:Choice>
        <mc:Fallback xmlns="">
          <p:sp>
            <p:nvSpPr>
              <p:cNvPr id="10" name="文本框 9">
                <a:extLst>
                  <a:ext uri="{FF2B5EF4-FFF2-40B4-BE49-F238E27FC236}">
                    <a16:creationId xmlns:a16="http://schemas.microsoft.com/office/drawing/2014/main" id="{B6BC15E8-FEC5-1248-A10D-29FDB6AA35F9}"/>
                  </a:ext>
                </a:extLst>
              </p:cNvPr>
              <p:cNvSpPr txBox="1">
                <a:spLocks noRot="1" noChangeAspect="1" noMove="1" noResize="1" noEditPoints="1" noAdjustHandles="1" noChangeArrowheads="1" noChangeShapeType="1" noTextEdit="1"/>
              </p:cNvSpPr>
              <p:nvPr/>
            </p:nvSpPr>
            <p:spPr>
              <a:xfrm>
                <a:off x="1165194" y="4041698"/>
                <a:ext cx="6984776" cy="1765804"/>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678194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OBLEMSCORE" val="5.0"/>
  <p:tag name="PROBLEMSCORE_HALF" val="0.0"/>
  <p:tag name="RAINPROBLEMTYPE" val="MultipleChoice"/>
  <p:tag name="RAINPROBLEM" val="MultipleChoice"/>
  <p:tag name="PROBLEMHASREMARK"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PROBLEMSCORE" val="5.0"/>
  <p:tag name="PROBLEMSCORE_HALF" val="0.0"/>
  <p:tag name="RAINPROBLEMTYPE" val="MultipleChoice"/>
  <p:tag name="RAINPROBLEM" val="MultipleChoice"/>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PROBLEMSCORE" val="5.0"/>
  <p:tag name="PROBLEMSCORE_HALF" val="0.0"/>
  <p:tag name="RAINPROBLEMTYPE" val="MultipleChoice"/>
  <p:tag name="RAINPROBLEM"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5.0"/>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默认设计模板">
  <a:themeElements>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E70303"/>
        </a:accent1>
        <a:accent2>
          <a:srgbClr val="333399"/>
        </a:accent2>
        <a:accent3>
          <a:srgbClr val="FFFFFF"/>
        </a:accent3>
        <a:accent4>
          <a:srgbClr val="000000"/>
        </a:accent4>
        <a:accent5>
          <a:srgbClr val="F1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41355</TotalTime>
  <Words>9269</Words>
  <Application>Microsoft Macintosh PowerPoint</Application>
  <PresentationFormat>全屏显示(4:3)</PresentationFormat>
  <Paragraphs>3138</Paragraphs>
  <Slides>108</Slides>
  <Notes>89</Notes>
  <HiddenSlides>0</HiddenSlides>
  <MMClips>1</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108</vt:i4>
      </vt:variant>
    </vt:vector>
  </HeadingPairs>
  <TitlesOfParts>
    <vt:vector size="127" baseType="lpstr">
      <vt:lpstr>SimHei</vt:lpstr>
      <vt:lpstr>SimHei</vt:lpstr>
      <vt:lpstr>STKaiti</vt:lpstr>
      <vt:lpstr>Microsoft Yahei</vt:lpstr>
      <vt:lpstr>Courier New,Bold</vt:lpstr>
      <vt:lpstr>Heiti SC Medium</vt:lpstr>
      <vt:lpstr>Microsoft YaHei UI</vt:lpstr>
      <vt:lpstr>Arial</vt:lpstr>
      <vt:lpstr>Calibri</vt:lpstr>
      <vt:lpstr>Cambria Math</vt:lpstr>
      <vt:lpstr>Courier New</vt:lpstr>
      <vt:lpstr>MT Extra</vt:lpstr>
      <vt:lpstr>Symbol</vt:lpstr>
      <vt:lpstr>Times New Roman</vt:lpstr>
      <vt:lpstr>Verdana</vt:lpstr>
      <vt:lpstr>Wingdings</vt:lpstr>
      <vt:lpstr>1_默认设计模板</vt:lpstr>
      <vt:lpstr>Visio</vt:lpstr>
      <vt:lpstr>Equation</vt:lpstr>
      <vt:lpstr>PowerPoint 演示文稿</vt:lpstr>
      <vt:lpstr>通知、答疑</vt:lpstr>
      <vt:lpstr>课程回顾</vt:lpstr>
      <vt:lpstr>布尔代数的定位</vt:lpstr>
      <vt:lpstr>本节课目录</vt:lpstr>
      <vt:lpstr>编码和解码</vt:lpstr>
      <vt:lpstr>为什么用二元编码/二进制？</vt:lpstr>
      <vt:lpstr>为什么用二元编码/二进制？</vt:lpstr>
      <vt:lpstr>为什么用二元编码/二进制？</vt:lpstr>
      <vt:lpstr>为什么用二元编码/二进制？</vt:lpstr>
      <vt:lpstr>二进制 Binary System</vt:lpstr>
      <vt:lpstr>4-bit 二进制整数</vt:lpstr>
      <vt:lpstr>左移与右移操作</vt:lpstr>
      <vt:lpstr>另一种十进制表示法？</vt:lpstr>
      <vt:lpstr>BCD码</vt:lpstr>
      <vt:lpstr>注意</vt:lpstr>
      <vt:lpstr>格雷码</vt:lpstr>
      <vt:lpstr>减法、负数</vt:lpstr>
      <vt:lpstr>数值空间的划分</vt:lpstr>
      <vt:lpstr>负数的表示方式</vt:lpstr>
      <vt:lpstr>比较</vt:lpstr>
      <vt:lpstr>理解2-补码</vt:lpstr>
      <vt:lpstr>PowerPoint 演示文稿</vt:lpstr>
      <vt:lpstr>答案解析</vt:lpstr>
      <vt:lpstr>理解2-补码</vt:lpstr>
      <vt:lpstr>补码的应用：用加法来实现减法！</vt:lpstr>
      <vt:lpstr>减法 与 调时钟</vt:lpstr>
      <vt:lpstr>用加法来实现减法</vt:lpstr>
      <vt:lpstr>PowerPoint 演示文稿</vt:lpstr>
      <vt:lpstr>溢出</vt:lpstr>
      <vt:lpstr>处理溢出</vt:lpstr>
      <vt:lpstr>处理溢出</vt:lpstr>
      <vt:lpstr>溢出的简单判断</vt:lpstr>
      <vt:lpstr>PowerPoint 演示文稿</vt:lpstr>
      <vt:lpstr>答案解析</vt:lpstr>
      <vt:lpstr>数的表示与布尔代数</vt:lpstr>
      <vt:lpstr>本节课目录</vt:lpstr>
      <vt:lpstr>布尔代数的定义</vt:lpstr>
      <vt:lpstr>基本定律 (1)</vt:lpstr>
      <vt:lpstr>基本定律 (2)</vt:lpstr>
      <vt:lpstr>基本定理 (3)</vt:lpstr>
      <vt:lpstr>布尔函数</vt:lpstr>
      <vt:lpstr>德摩根率(De Morgan’s Law)</vt:lpstr>
      <vt:lpstr>德摩根率(De Morgan’s Law)</vt:lpstr>
      <vt:lpstr>用真值表验证德摩根定律</vt:lpstr>
      <vt:lpstr>求反</vt:lpstr>
      <vt:lpstr>用德摩根定律变换逻辑门电路的形式</vt:lpstr>
      <vt:lpstr>将与或表达式变换成仅用与非门实现</vt:lpstr>
      <vt:lpstr>PowerPoint 演示文稿</vt:lpstr>
      <vt:lpstr>答案解析</vt:lpstr>
      <vt:lpstr>其他布尔函数</vt:lpstr>
      <vt:lpstr>数的表示与布尔代数</vt:lpstr>
      <vt:lpstr>函数的布尔代数描述</vt:lpstr>
      <vt:lpstr>日历子系统的C程序</vt:lpstr>
      <vt:lpstr>日历子系统的逻辑实现</vt:lpstr>
      <vt:lpstr>真值表—输出与输入之间的逻辑关系</vt:lpstr>
      <vt:lpstr>逻辑函数</vt:lpstr>
      <vt:lpstr>d28的逻辑电路</vt:lpstr>
      <vt:lpstr>d29的逻辑电路</vt:lpstr>
      <vt:lpstr>d30和d31呢？</vt:lpstr>
      <vt:lpstr>布尔代数式的化简</vt:lpstr>
      <vt:lpstr>标准形式：两级逻辑</vt:lpstr>
      <vt:lpstr>逻辑函数的最小项，记为m</vt:lpstr>
      <vt:lpstr>用最小项表示逻辑函数(SOP)</vt:lpstr>
      <vt:lpstr>在真值表中使用最小项</vt:lpstr>
      <vt:lpstr>POS逻辑表示</vt:lpstr>
      <vt:lpstr>逻辑函数的最大项，记为M</vt:lpstr>
      <vt:lpstr>最小项mi &amp; 最大项Mi</vt:lpstr>
      <vt:lpstr>最小项mi &amp; 最大项Mi</vt:lpstr>
      <vt:lpstr>卡诺图</vt:lpstr>
      <vt:lpstr>两变量的卡诺图</vt:lpstr>
      <vt:lpstr>三变量的卡诺图</vt:lpstr>
      <vt:lpstr>四变量卡诺图的一种形式</vt:lpstr>
      <vt:lpstr>四变量卡诺图的另一种形式</vt:lpstr>
      <vt:lpstr>将函数表示成最小项相或的形式</vt:lpstr>
      <vt:lpstr>用卡诺图表示逻辑函数</vt:lpstr>
      <vt:lpstr>PowerPoint 演示文稿</vt:lpstr>
      <vt:lpstr>本节课目录</vt:lpstr>
      <vt:lpstr>逻辑化简举例</vt:lpstr>
      <vt:lpstr>化简动机</vt:lpstr>
      <vt:lpstr>两级逻辑化简</vt:lpstr>
      <vt:lpstr>卡诺图化简法</vt:lpstr>
      <vt:lpstr>卡诺图化简法</vt:lpstr>
      <vt:lpstr>卡诺图化简法</vt:lpstr>
      <vt:lpstr>卡诺图化简法</vt:lpstr>
      <vt:lpstr>Implicant 蕴含项</vt:lpstr>
      <vt:lpstr>Prime Implicant 本原蕴含项</vt:lpstr>
      <vt:lpstr>Essential Prime Implicant本质本原蕴含项</vt:lpstr>
      <vt:lpstr>寻找本质本原蕴含项举例1</vt:lpstr>
      <vt:lpstr>寻找本质本原蕴含项举例2</vt:lpstr>
      <vt:lpstr>寻找本质本原蕴含项举例3</vt:lpstr>
      <vt:lpstr>寻找本质本原蕴含项举例3</vt:lpstr>
      <vt:lpstr>寻找本质本原蕴含项举例4</vt:lpstr>
      <vt:lpstr>寻找本质本原蕴含项举例4</vt:lpstr>
      <vt:lpstr>寻找本质本原蕴含项举例4</vt:lpstr>
      <vt:lpstr>用卡诺图化简举例</vt:lpstr>
      <vt:lpstr>PowerPoint 演示文稿</vt:lpstr>
      <vt:lpstr>答案解析</vt:lpstr>
      <vt:lpstr>Don’t care 无关项</vt:lpstr>
      <vt:lpstr>BCD累加电路的真值表</vt:lpstr>
      <vt:lpstr>BCD累加电路的布尔表达式</vt:lpstr>
      <vt:lpstr>用卡诺图得到最简或与表达式</vt:lpstr>
      <vt:lpstr>Quine-McCluskey法</vt:lpstr>
      <vt:lpstr>数的表示与布尔代数</vt:lpstr>
      <vt:lpstr>总结</vt:lpstr>
      <vt:lpstr>作业（1/2）</vt:lpstr>
      <vt:lpstr>作业（2/2）</vt:lpstr>
      <vt:lpstr>自己练习：含无关项的最大/小项表示</vt:lpstr>
    </vt:vector>
  </TitlesOfParts>
  <Manager/>
  <Company>清华大学</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超宽带重大专项</dc:title>
  <dc:subject/>
  <dc:creator>葛宁</dc:creator>
  <cp:keywords/>
  <dc:description/>
  <cp:lastModifiedBy>Xueqing Li</cp:lastModifiedBy>
  <cp:revision>4108</cp:revision>
  <dcterms:created xsi:type="dcterms:W3CDTF">2007-07-06T03:08:51Z</dcterms:created>
  <dcterms:modified xsi:type="dcterms:W3CDTF">2024-03-05T10:46:50Z</dcterms:modified>
  <cp:category/>
</cp:coreProperties>
</file>